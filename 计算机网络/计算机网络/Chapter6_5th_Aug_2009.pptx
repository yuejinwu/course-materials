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9"/>
  </p:handoutMasterIdLst>
  <p:sldIdLst>
    <p:sldId id="472" r:id="rId3"/>
    <p:sldId id="256" r:id="rId5"/>
    <p:sldId id="330" r:id="rId6"/>
    <p:sldId id="416" r:id="rId7"/>
    <p:sldId id="418" r:id="rId8"/>
    <p:sldId id="419" r:id="rId9"/>
    <p:sldId id="417" r:id="rId10"/>
    <p:sldId id="420" r:id="rId11"/>
    <p:sldId id="421" r:id="rId12"/>
    <p:sldId id="474" r:id="rId13"/>
    <p:sldId id="479" r:id="rId14"/>
    <p:sldId id="473" r:id="rId15"/>
    <p:sldId id="423" r:id="rId16"/>
    <p:sldId id="424" r:id="rId17"/>
    <p:sldId id="425" r:id="rId18"/>
    <p:sldId id="426" r:id="rId19"/>
    <p:sldId id="427" r:id="rId20"/>
    <p:sldId id="373" r:id="rId21"/>
    <p:sldId id="428" r:id="rId22"/>
    <p:sldId id="429" r:id="rId23"/>
    <p:sldId id="475" r:id="rId24"/>
    <p:sldId id="376" r:id="rId25"/>
    <p:sldId id="377" r:id="rId26"/>
    <p:sldId id="378" r:id="rId27"/>
    <p:sldId id="379" r:id="rId28"/>
    <p:sldId id="430" r:id="rId29"/>
    <p:sldId id="431" r:id="rId30"/>
    <p:sldId id="434" r:id="rId31"/>
    <p:sldId id="432" r:id="rId32"/>
    <p:sldId id="476" r:id="rId33"/>
    <p:sldId id="480" r:id="rId34"/>
    <p:sldId id="433" r:id="rId35"/>
    <p:sldId id="477" r:id="rId36"/>
    <p:sldId id="478" r:id="rId37"/>
    <p:sldId id="441" r:id="rId38"/>
    <p:sldId id="435" r:id="rId39"/>
    <p:sldId id="437" r:id="rId40"/>
    <p:sldId id="438" r:id="rId41"/>
    <p:sldId id="439" r:id="rId42"/>
    <p:sldId id="440" r:id="rId43"/>
    <p:sldId id="481" r:id="rId44"/>
    <p:sldId id="482" r:id="rId45"/>
    <p:sldId id="816" r:id="rId46"/>
    <p:sldId id="817" r:id="rId47"/>
    <p:sldId id="847" r:id="rId48"/>
    <p:sldId id="848" r:id="rId49"/>
    <p:sldId id="442" r:id="rId50"/>
    <p:sldId id="443" r:id="rId51"/>
    <p:sldId id="444" r:id="rId52"/>
    <p:sldId id="445" r:id="rId53"/>
    <p:sldId id="446" r:id="rId54"/>
    <p:sldId id="447" r:id="rId55"/>
    <p:sldId id="448" r:id="rId56"/>
    <p:sldId id="449" r:id="rId57"/>
    <p:sldId id="450" r:id="rId58"/>
    <p:sldId id="451" r:id="rId59"/>
    <p:sldId id="453" r:id="rId60"/>
    <p:sldId id="454" r:id="rId61"/>
    <p:sldId id="455" r:id="rId62"/>
    <p:sldId id="461" r:id="rId63"/>
    <p:sldId id="462" r:id="rId64"/>
    <p:sldId id="456" r:id="rId65"/>
    <p:sldId id="460" r:id="rId66"/>
    <p:sldId id="457" r:id="rId67"/>
    <p:sldId id="458" r:id="rId68"/>
    <p:sldId id="464" r:id="rId69"/>
    <p:sldId id="463" r:id="rId70"/>
    <p:sldId id="465" r:id="rId71"/>
    <p:sldId id="466" r:id="rId72"/>
    <p:sldId id="467" r:id="rId73"/>
    <p:sldId id="468" r:id="rId74"/>
    <p:sldId id="469" r:id="rId75"/>
    <p:sldId id="459" r:id="rId76"/>
    <p:sldId id="470" r:id="rId77"/>
    <p:sldId id="471" r:id="rId78"/>
  </p:sldIdLst>
  <p:sldSz cx="9144000" cy="6858000" type="screen4x3"/>
  <p:notesSz cx="7315200" cy="9601200"/>
  <p:custDataLst>
    <p:tags r:id="rId83"/>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FF3300"/>
    <a:srgbClr val="99CCFF"/>
    <a:srgbClr val="00FF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0251"/>
    <p:restoredTop sz="94682"/>
  </p:normalViewPr>
  <p:slideViewPr>
    <p:cSldViewPr snapToGrid="0" showGuides="1">
      <p:cViewPr varScale="1">
        <p:scale>
          <a:sx n="66" d="100"/>
          <a:sy n="66" d="100"/>
        </p:scale>
        <p:origin x="1497"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7734"/>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1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5650" name="Rectangle 2"/>
          <p:cNvSpPr>
            <a:spLocks noGrp="1" noChangeArrowheads="1"/>
          </p:cNvSpPr>
          <p:nvPr>
            <p:ph type="hdr" sz="quarter"/>
          </p:nvPr>
        </p:nvSpPr>
        <p:spPr bwMode="auto">
          <a:xfrm>
            <a:off x="0" y="0"/>
            <a:ext cx="3163888" cy="471488"/>
          </a:xfrm>
          <a:prstGeom prst="rect">
            <a:avLst/>
          </a:prstGeom>
          <a:noFill/>
          <a:ln>
            <a:noFill/>
          </a:ln>
          <a:effectLst/>
        </p:spPr>
        <p:txBody>
          <a:bodyPr vert="horz" wrap="none" lIns="94631" tIns="47316" rIns="94631" bIns="47316" numCol="1" anchor="t" anchorCtr="0" compatLnSpc="1"/>
          <a:lstStyle>
            <a:lvl1pPr defTabSz="946150">
              <a:defRPr sz="1200">
                <a:ea typeface="宋体" panose="02010600030101010101" pitchFamily="2" charset="-122"/>
              </a:defRPr>
            </a:lvl1pPr>
          </a:lstStyle>
          <a:p>
            <a:pPr marL="0" marR="0" lvl="0" indent="0" algn="l"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1" name="Rectangle 3"/>
          <p:cNvSpPr>
            <a:spLocks noGrp="1" noChangeArrowheads="1"/>
          </p:cNvSpPr>
          <p:nvPr>
            <p:ph type="dt" sz="quarter" idx="1"/>
          </p:nvPr>
        </p:nvSpPr>
        <p:spPr bwMode="auto">
          <a:xfrm>
            <a:off x="4111625" y="0"/>
            <a:ext cx="3163888" cy="471488"/>
          </a:xfrm>
          <a:prstGeom prst="rect">
            <a:avLst/>
          </a:prstGeom>
          <a:noFill/>
          <a:ln>
            <a:noFill/>
          </a:ln>
          <a:effectLst/>
        </p:spPr>
        <p:txBody>
          <a:bodyPr vert="horz" wrap="none" lIns="94631" tIns="47316" rIns="94631" bIns="47316" numCol="1" anchor="t" anchorCtr="0" compatLnSpc="1"/>
          <a:lstStyle>
            <a:lvl1pPr algn="r" defTabSz="946150">
              <a:defRPr sz="1200">
                <a:ea typeface="宋体" panose="02010600030101010101" pitchFamily="2" charset="-122"/>
              </a:defRPr>
            </a:lvl1pPr>
          </a:lstStyle>
          <a:p>
            <a:pPr marL="0" marR="0" lvl="0" indent="0" algn="r"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2" name="Rectangle 4"/>
          <p:cNvSpPr>
            <a:spLocks noGrp="1" noChangeArrowheads="1"/>
          </p:cNvSpPr>
          <p:nvPr>
            <p:ph type="ftr" sz="quarter" idx="2"/>
          </p:nvPr>
        </p:nvSpPr>
        <p:spPr bwMode="auto">
          <a:xfrm>
            <a:off x="0" y="9129713"/>
            <a:ext cx="3163888" cy="471488"/>
          </a:xfrm>
          <a:prstGeom prst="rect">
            <a:avLst/>
          </a:prstGeom>
          <a:noFill/>
          <a:ln>
            <a:noFill/>
          </a:ln>
          <a:effectLst/>
        </p:spPr>
        <p:txBody>
          <a:bodyPr vert="horz" wrap="none" lIns="94631" tIns="47316" rIns="94631" bIns="47316" numCol="1" anchor="b" anchorCtr="0" compatLnSpc="1"/>
          <a:lstStyle>
            <a:lvl1pPr defTabSz="946150">
              <a:defRPr sz="1200">
                <a:ea typeface="宋体" panose="02010600030101010101" pitchFamily="2" charset="-122"/>
              </a:defRPr>
            </a:lvl1pPr>
          </a:lstStyle>
          <a:p>
            <a:pPr marL="0" marR="0" lvl="0" indent="0" algn="l" defTabSz="94615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55653" name="Rectangle 5"/>
          <p:cNvSpPr>
            <a:spLocks noGrp="1" noChangeArrowheads="1"/>
          </p:cNvSpPr>
          <p:nvPr>
            <p:ph type="sldNum" sz="quarter" idx="3"/>
          </p:nvPr>
        </p:nvSpPr>
        <p:spPr bwMode="auto">
          <a:xfrm>
            <a:off x="4111625" y="9129713"/>
            <a:ext cx="3163888" cy="471488"/>
          </a:xfrm>
          <a:prstGeom prst="rect">
            <a:avLst/>
          </a:prstGeom>
          <a:noFill/>
          <a:ln>
            <a:noFill/>
          </a:ln>
          <a:effectLst/>
        </p:spPr>
        <p:txBody>
          <a:bodyPr vert="horz" wrap="none" lIns="94631" tIns="47316" rIns="94631" bIns="47316" numCol="1" anchor="b" anchorCtr="0" compatLnSpc="1"/>
          <a:p>
            <a:pPr lvl="0" algn="r" defTabSz="946150" fontAlgn="base">
              <a:buNone/>
            </a:pPr>
            <a:fld id="{9A0DB2DC-4C9A-4742-B13C-FB6460FD3503}" type="slidenum">
              <a:rPr lang="en-US" altLang="zh-CN" sz="1200" strike="noStrike" noProof="1" dirty="0">
                <a:latin typeface="Comic Sans MS" panose="030F0702030302020204" pitchFamily="66" charset="0"/>
                <a:ea typeface="宋体" panose="02010600030101010101" pitchFamily="2" charset="-122"/>
                <a:cs typeface="+mn-cs"/>
              </a:rPr>
            </a:fld>
            <a:endParaRPr lang="en-US" altLang="zh-CN"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3170238" cy="481013"/>
          </a:xfrm>
          <a:prstGeom prst="rect">
            <a:avLst/>
          </a:prstGeom>
          <a:noFill/>
          <a:ln>
            <a:noFill/>
          </a:ln>
          <a:effectLst/>
        </p:spPr>
        <p:txBody>
          <a:bodyPr vert="horz" wrap="square" lIns="96657" tIns="48328" rIns="96657" bIns="48328" numCol="1" anchor="t" anchorCtr="0" compatLnSpc="1"/>
          <a:lstStyle>
            <a:lvl1pPr defTabSz="967105">
              <a:defRPr sz="12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144963" y="0"/>
            <a:ext cx="3170238" cy="481013"/>
          </a:xfrm>
          <a:prstGeom prst="rect">
            <a:avLst/>
          </a:prstGeom>
          <a:noFill/>
          <a:ln>
            <a:noFill/>
          </a:ln>
          <a:effectLst/>
        </p:spPr>
        <p:txBody>
          <a:bodyPr vert="horz" wrap="square" lIns="96657" tIns="48328" rIns="96657" bIns="48328" numCol="1" anchor="t" anchorCtr="0" compatLnSpc="1"/>
          <a:lstStyle>
            <a:lvl1pPr algn="r" defTabSz="967105">
              <a:defRPr sz="1200">
                <a:latin typeface="Times New Roman" panose="02020603050405020304" pitchFamily="18" charset="0"/>
                <a:ea typeface="宋体" panose="02010600030101010101" pitchFamily="2" charset="-122"/>
              </a:defRPr>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TextEdit="1"/>
          </p:cNvSpPr>
          <p:nvPr>
            <p:ph type="sldImg"/>
          </p:nvPr>
        </p:nvSpPr>
        <p:spPr>
          <a:xfrm>
            <a:off x="1257300" y="719138"/>
            <a:ext cx="4800600" cy="360045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974725" y="4560888"/>
            <a:ext cx="5365750" cy="4321175"/>
          </a:xfrm>
          <a:prstGeom prst="rect">
            <a:avLst/>
          </a:prstGeom>
          <a:noFill/>
          <a:ln>
            <a:noFill/>
          </a:ln>
          <a:effectLst/>
        </p:spPr>
        <p:txBody>
          <a:bodyPr vert="horz" wrap="square" lIns="96657" tIns="48328" rIns="96657" bIns="4832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8" name="Rectangle 6"/>
          <p:cNvSpPr>
            <a:spLocks noGrp="1" noChangeArrowheads="1"/>
          </p:cNvSpPr>
          <p:nvPr>
            <p:ph type="ftr" sz="quarter" idx="4"/>
          </p:nvPr>
        </p:nvSpPr>
        <p:spPr bwMode="auto">
          <a:xfrm>
            <a:off x="0" y="9120188"/>
            <a:ext cx="3170238" cy="481013"/>
          </a:xfrm>
          <a:prstGeom prst="rect">
            <a:avLst/>
          </a:prstGeom>
          <a:noFill/>
          <a:ln>
            <a:noFill/>
          </a:ln>
          <a:effectLst/>
        </p:spPr>
        <p:txBody>
          <a:bodyPr vert="horz" wrap="square" lIns="96657" tIns="48328" rIns="96657" bIns="48328" numCol="1" anchor="b" anchorCtr="0" compatLnSpc="1"/>
          <a:lstStyle>
            <a:lvl1pPr defTabSz="967105">
              <a:defRPr sz="1200">
                <a:latin typeface="Times New Roman" panose="02020603050405020304" pitchFamily="18" charset="0"/>
                <a:ea typeface="宋体" panose="02010600030101010101" pitchFamily="2" charset="-122"/>
              </a:defRPr>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144963" y="9120188"/>
            <a:ext cx="3170238" cy="481013"/>
          </a:xfrm>
          <a:prstGeom prst="rect">
            <a:avLst/>
          </a:prstGeom>
          <a:noFill/>
          <a:ln>
            <a:noFill/>
          </a:ln>
          <a:effectLst/>
        </p:spPr>
        <p:txBody>
          <a:bodyPr vert="horz" wrap="square" lIns="96657" tIns="48328" rIns="96657" bIns="48328" numCol="1" anchor="b" anchorCtr="0" compatLnSpc="1"/>
          <a:p>
            <a:pPr lvl="0" algn="r" defTabSz="967105" fontAlgn="base">
              <a:buNone/>
            </a:pPr>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cs"/>
              </a:rPr>
            </a:fld>
            <a:endParaRPr lang="en-US" altLang="zh-CN" sz="1200" strike="noStrike" noProof="1"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122" name="Rectangle 2"/>
          <p:cNvSpPr>
            <a:spLocks noTextEdit="1"/>
          </p:cNvSpPr>
          <p:nvPr>
            <p:ph type="sldImg"/>
          </p:nvPr>
        </p:nvSpPr>
        <p:spPr>
          <a:ln/>
        </p:spPr>
      </p:sp>
      <p:sp>
        <p:nvSpPr>
          <p:cNvPr id="512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170" name="Rectangle 2"/>
          <p:cNvSpPr>
            <a:spLocks noTextEdit="1"/>
          </p:cNvSpPr>
          <p:nvPr>
            <p:ph type="sldImg"/>
          </p:nvPr>
        </p:nvSpPr>
        <p:spPr>
          <a:ln/>
        </p:spPr>
      </p:sp>
      <p:sp>
        <p:nvSpPr>
          <p:cNvPr id="717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9218" name="Rectangle 2"/>
          <p:cNvSpPr>
            <a:spLocks noTextEdit="1"/>
          </p:cNvSpPr>
          <p:nvPr>
            <p:ph type="sldImg"/>
          </p:nvPr>
        </p:nvSpPr>
        <p:spPr>
          <a:ln/>
        </p:spPr>
      </p:sp>
      <p:sp>
        <p:nvSpPr>
          <p:cNvPr id="92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266" name="Rectangle 2"/>
          <p:cNvSpPr>
            <a:spLocks noTextEdit="1"/>
          </p:cNvSpPr>
          <p:nvPr>
            <p:ph type="sldImg"/>
          </p:nvPr>
        </p:nvSpPr>
        <p:spPr>
          <a:ln/>
        </p:spPr>
      </p:sp>
      <p:sp>
        <p:nvSpPr>
          <p:cNvPr id="112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314" name="Rectangle 2"/>
          <p:cNvSpPr>
            <a:spLocks noTextEdit="1"/>
          </p:cNvSpPr>
          <p:nvPr>
            <p:ph type="sldImg"/>
          </p:nvPr>
        </p:nvSpPr>
        <p:spPr>
          <a:ln/>
        </p:spPr>
      </p:sp>
      <p:sp>
        <p:nvSpPr>
          <p:cNvPr id="13315" name="Rectangle 3"/>
          <p:cNvSpPr>
            <a:spLocks noGrp="1"/>
          </p:cNvSpPr>
          <p:nvPr>
            <p:ph type="body"/>
          </p:nvPr>
        </p:nvSpPr>
        <p:spPr>
          <a:ln/>
        </p:spPr>
        <p:txBody>
          <a:bodyPr wrap="square" lIns="96657" tIns="48328" rIns="96657" bIns="48328" anchor="t" anchorCtr="0"/>
          <a:p>
            <a:pPr lvl="0"/>
            <a:r>
              <a:rPr lang="en-US" altLang="zh-CN" dirty="0">
                <a:ea typeface="等线" panose="02010600030101010101" pitchFamily="2" charset="-122"/>
              </a:rPr>
              <a:t>relay </a:t>
            </a:r>
            <a:r>
              <a:rPr lang="zh-CN" altLang="en-US" dirty="0">
                <a:ea typeface="等线" panose="02010600030101010101" pitchFamily="2" charset="-122"/>
              </a:rPr>
              <a:t>中继</a:t>
            </a:r>
            <a:endParaRPr lang="zh-CN" altLang="en-US" dirty="0">
              <a:ea typeface="等线"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5362" name="Rectangle 2"/>
          <p:cNvSpPr>
            <a:spLocks noTextEdit="1"/>
          </p:cNvSpPr>
          <p:nvPr>
            <p:ph type="sldImg"/>
          </p:nvPr>
        </p:nvSpPr>
        <p:spPr>
          <a:ln/>
        </p:spPr>
      </p:sp>
      <p:sp>
        <p:nvSpPr>
          <p:cNvPr id="1536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7410" name="Rectangle 2"/>
          <p:cNvSpPr>
            <a:spLocks noTextEdit="1"/>
          </p:cNvSpPr>
          <p:nvPr>
            <p:ph type="sldImg"/>
          </p:nvPr>
        </p:nvSpPr>
        <p:spPr>
          <a:ln/>
        </p:spPr>
      </p:sp>
      <p:sp>
        <p:nvSpPr>
          <p:cNvPr id="1741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9458" name="Rectangle 2"/>
          <p:cNvSpPr>
            <a:spLocks noTextEdit="1"/>
          </p:cNvSpPr>
          <p:nvPr>
            <p:ph type="sldImg"/>
          </p:nvPr>
        </p:nvSpPr>
        <p:spPr>
          <a:ln/>
        </p:spPr>
      </p:sp>
      <p:sp>
        <p:nvSpPr>
          <p:cNvPr id="194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21506" name="Rectangle 2"/>
          <p:cNvSpPr>
            <a:spLocks noTextEdit="1"/>
          </p:cNvSpPr>
          <p:nvPr>
            <p:ph type="sldImg"/>
          </p:nvPr>
        </p:nvSpPr>
        <p:spPr>
          <a:ln/>
        </p:spPr>
      </p:sp>
      <p:sp>
        <p:nvSpPr>
          <p:cNvPr id="215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23554" name="Rectangle 2"/>
          <p:cNvSpPr>
            <a:spLocks noTextEdit="1"/>
          </p:cNvSpPr>
          <p:nvPr>
            <p:ph type="sldImg"/>
          </p:nvPr>
        </p:nvSpPr>
        <p:spPr>
          <a:ln/>
        </p:spPr>
      </p:sp>
      <p:sp>
        <p:nvSpPr>
          <p:cNvPr id="235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25602" name="Rectangle 2"/>
          <p:cNvSpPr>
            <a:spLocks noTextEdit="1"/>
          </p:cNvSpPr>
          <p:nvPr>
            <p:ph type="sldImg"/>
          </p:nvPr>
        </p:nvSpPr>
        <p:spPr>
          <a:ln/>
        </p:spPr>
      </p:sp>
      <p:sp>
        <p:nvSpPr>
          <p:cNvPr id="256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27650" name="Rectangle 2"/>
          <p:cNvSpPr>
            <a:spLocks noTextEdit="1"/>
          </p:cNvSpPr>
          <p:nvPr>
            <p:ph type="sldImg"/>
          </p:nvPr>
        </p:nvSpPr>
        <p:spPr>
          <a:ln/>
        </p:spPr>
      </p:sp>
      <p:sp>
        <p:nvSpPr>
          <p:cNvPr id="2765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29698" name="Rectangle 2"/>
          <p:cNvSpPr>
            <a:spLocks noTextEdit="1"/>
          </p:cNvSpPr>
          <p:nvPr>
            <p:ph type="sldImg"/>
          </p:nvPr>
        </p:nvSpPr>
        <p:spPr>
          <a:ln/>
        </p:spPr>
      </p:sp>
      <p:sp>
        <p:nvSpPr>
          <p:cNvPr id="296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31746" name="Rectangle 2"/>
          <p:cNvSpPr>
            <a:spLocks noTextEdit="1"/>
          </p:cNvSpPr>
          <p:nvPr>
            <p:ph type="sldImg"/>
          </p:nvPr>
        </p:nvSpPr>
        <p:spPr>
          <a:ln/>
        </p:spPr>
      </p:sp>
      <p:sp>
        <p:nvSpPr>
          <p:cNvPr id="317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33794" name="Rectangle 2"/>
          <p:cNvSpPr>
            <a:spLocks noTextEdit="1"/>
          </p:cNvSpPr>
          <p:nvPr>
            <p:ph type="sldImg"/>
          </p:nvPr>
        </p:nvSpPr>
        <p:spPr>
          <a:ln/>
        </p:spPr>
      </p:sp>
      <p:sp>
        <p:nvSpPr>
          <p:cNvPr id="337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35842" name="Rectangle 2"/>
          <p:cNvSpPr>
            <a:spLocks noTextEdit="1"/>
          </p:cNvSpPr>
          <p:nvPr>
            <p:ph type="sldImg"/>
          </p:nvPr>
        </p:nvSpPr>
        <p:spPr>
          <a:ln/>
        </p:spPr>
      </p:sp>
      <p:sp>
        <p:nvSpPr>
          <p:cNvPr id="3584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37890" name="Rectangle 2"/>
          <p:cNvSpPr>
            <a:spLocks noTextEdit="1"/>
          </p:cNvSpPr>
          <p:nvPr>
            <p:ph type="sldImg"/>
          </p:nvPr>
        </p:nvSpPr>
        <p:spPr>
          <a:ln/>
        </p:spPr>
      </p:sp>
      <p:sp>
        <p:nvSpPr>
          <p:cNvPr id="3789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39938" name="Rectangle 2"/>
          <p:cNvSpPr>
            <a:spLocks noTextEdit="1"/>
          </p:cNvSpPr>
          <p:nvPr>
            <p:ph type="sldImg"/>
          </p:nvPr>
        </p:nvSpPr>
        <p:spPr>
          <a:ln/>
        </p:spPr>
      </p:sp>
      <p:sp>
        <p:nvSpPr>
          <p:cNvPr id="3993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41986" name="Rectangle 2"/>
          <p:cNvSpPr>
            <a:spLocks noTextEdit="1"/>
          </p:cNvSpPr>
          <p:nvPr>
            <p:ph type="sldImg"/>
          </p:nvPr>
        </p:nvSpPr>
        <p:spPr>
          <a:ln/>
        </p:spPr>
      </p:sp>
      <p:sp>
        <p:nvSpPr>
          <p:cNvPr id="4198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44034" name="Rectangle 2"/>
          <p:cNvSpPr>
            <a:spLocks noTextEdit="1"/>
          </p:cNvSpPr>
          <p:nvPr>
            <p:ph type="sldImg"/>
          </p:nvPr>
        </p:nvSpPr>
        <p:spPr>
          <a:ln/>
        </p:spPr>
      </p:sp>
      <p:sp>
        <p:nvSpPr>
          <p:cNvPr id="4403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46082" name="Rectangle 2"/>
          <p:cNvSpPr>
            <a:spLocks noTextEdit="1"/>
          </p:cNvSpPr>
          <p:nvPr>
            <p:ph type="sldImg"/>
          </p:nvPr>
        </p:nvSpPr>
        <p:spPr>
          <a:ln/>
        </p:spPr>
      </p:sp>
      <p:sp>
        <p:nvSpPr>
          <p:cNvPr id="4608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48130" name="Rectangle 2"/>
          <p:cNvSpPr>
            <a:spLocks noTextEdit="1"/>
          </p:cNvSpPr>
          <p:nvPr>
            <p:ph type="sldImg"/>
          </p:nvPr>
        </p:nvSpPr>
        <p:spPr>
          <a:ln/>
        </p:spPr>
      </p:sp>
      <p:sp>
        <p:nvSpPr>
          <p:cNvPr id="4813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0178" name="Rectangle 2"/>
          <p:cNvSpPr>
            <a:spLocks noTextEdit="1"/>
          </p:cNvSpPr>
          <p:nvPr>
            <p:ph type="sldImg"/>
          </p:nvPr>
        </p:nvSpPr>
        <p:spPr>
          <a:ln/>
        </p:spPr>
      </p:sp>
      <p:sp>
        <p:nvSpPr>
          <p:cNvPr id="5017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2226" name="Rectangle 2"/>
          <p:cNvSpPr>
            <a:spLocks noTextEdit="1"/>
          </p:cNvSpPr>
          <p:nvPr>
            <p:ph type="sldImg"/>
          </p:nvPr>
        </p:nvSpPr>
        <p:spPr>
          <a:ln/>
        </p:spPr>
      </p:sp>
      <p:sp>
        <p:nvSpPr>
          <p:cNvPr id="5222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4274" name="Rectangle 2"/>
          <p:cNvSpPr>
            <a:spLocks noTextEdit="1"/>
          </p:cNvSpPr>
          <p:nvPr>
            <p:ph type="sldImg"/>
          </p:nvPr>
        </p:nvSpPr>
        <p:spPr>
          <a:ln/>
        </p:spPr>
      </p:sp>
      <p:sp>
        <p:nvSpPr>
          <p:cNvPr id="5427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6322" name="Rectangle 2"/>
          <p:cNvSpPr>
            <a:spLocks noTextEdit="1"/>
          </p:cNvSpPr>
          <p:nvPr>
            <p:ph type="sldImg"/>
          </p:nvPr>
        </p:nvSpPr>
        <p:spPr>
          <a:ln/>
        </p:spPr>
      </p:sp>
      <p:sp>
        <p:nvSpPr>
          <p:cNvPr id="5632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58370" name="Rectangle 2"/>
          <p:cNvSpPr>
            <a:spLocks noTextEdit="1"/>
          </p:cNvSpPr>
          <p:nvPr>
            <p:ph type="sldImg"/>
          </p:nvPr>
        </p:nvSpPr>
        <p:spPr>
          <a:ln/>
        </p:spPr>
      </p:sp>
      <p:sp>
        <p:nvSpPr>
          <p:cNvPr id="5837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60418" name="Rectangle 2"/>
          <p:cNvSpPr>
            <a:spLocks noTextEdit="1"/>
          </p:cNvSpPr>
          <p:nvPr>
            <p:ph type="sldImg"/>
          </p:nvPr>
        </p:nvSpPr>
        <p:spPr>
          <a:ln/>
        </p:spPr>
      </p:sp>
      <p:sp>
        <p:nvSpPr>
          <p:cNvPr id="6041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62466" name="Rectangle 2"/>
          <p:cNvSpPr>
            <a:spLocks noTextEdit="1"/>
          </p:cNvSpPr>
          <p:nvPr>
            <p:ph type="sldImg"/>
          </p:nvPr>
        </p:nvSpPr>
        <p:spPr>
          <a:ln/>
        </p:spPr>
      </p:sp>
      <p:sp>
        <p:nvSpPr>
          <p:cNvPr id="624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64514" name="Rectangle 2"/>
          <p:cNvSpPr>
            <a:spLocks noTextEdit="1"/>
          </p:cNvSpPr>
          <p:nvPr>
            <p:ph type="sldImg"/>
          </p:nvPr>
        </p:nvSpPr>
        <p:spPr>
          <a:ln/>
        </p:spPr>
      </p:sp>
      <p:sp>
        <p:nvSpPr>
          <p:cNvPr id="6451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66562" name="Rectangle 2"/>
          <p:cNvSpPr>
            <a:spLocks noTextEdit="1"/>
          </p:cNvSpPr>
          <p:nvPr>
            <p:ph type="sldImg"/>
          </p:nvPr>
        </p:nvSpPr>
        <p:spPr>
          <a:ln/>
        </p:spPr>
      </p:sp>
      <p:sp>
        <p:nvSpPr>
          <p:cNvPr id="6656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68610" name="Rectangle 2"/>
          <p:cNvSpPr>
            <a:spLocks noTextEdit="1"/>
          </p:cNvSpPr>
          <p:nvPr>
            <p:ph type="sldImg"/>
          </p:nvPr>
        </p:nvSpPr>
        <p:spPr>
          <a:ln/>
        </p:spPr>
      </p:sp>
      <p:sp>
        <p:nvSpPr>
          <p:cNvPr id="6861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0658" name="Rectangle 2"/>
          <p:cNvSpPr>
            <a:spLocks noTextEdit="1"/>
          </p:cNvSpPr>
          <p:nvPr>
            <p:ph type="sldImg"/>
          </p:nvPr>
        </p:nvSpPr>
        <p:spPr>
          <a:ln/>
        </p:spPr>
      </p:sp>
      <p:sp>
        <p:nvSpPr>
          <p:cNvPr id="706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2706" name="Rectangle 2"/>
          <p:cNvSpPr>
            <a:spLocks noTextEdit="1"/>
          </p:cNvSpPr>
          <p:nvPr>
            <p:ph type="sldImg"/>
          </p:nvPr>
        </p:nvSpPr>
        <p:spPr>
          <a:ln/>
        </p:spPr>
      </p:sp>
      <p:sp>
        <p:nvSpPr>
          <p:cNvPr id="727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4754" name="Rectangle 2"/>
          <p:cNvSpPr>
            <a:spLocks noTextEdit="1"/>
          </p:cNvSpPr>
          <p:nvPr>
            <p:ph type="sldImg"/>
          </p:nvPr>
        </p:nvSpPr>
        <p:spPr>
          <a:ln/>
        </p:spPr>
      </p:sp>
      <p:sp>
        <p:nvSpPr>
          <p:cNvPr id="747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6802" name="Rectangle 2"/>
          <p:cNvSpPr>
            <a:spLocks noTextEdit="1"/>
          </p:cNvSpPr>
          <p:nvPr>
            <p:ph type="sldImg"/>
          </p:nvPr>
        </p:nvSpPr>
        <p:spPr>
          <a:ln/>
        </p:spPr>
      </p:sp>
      <p:sp>
        <p:nvSpPr>
          <p:cNvPr id="768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78850" name="Rectangle 2"/>
          <p:cNvSpPr>
            <a:spLocks noTextEdit="1"/>
          </p:cNvSpPr>
          <p:nvPr>
            <p:ph type="sldImg"/>
          </p:nvPr>
        </p:nvSpPr>
        <p:spPr>
          <a:ln/>
        </p:spPr>
      </p:sp>
      <p:sp>
        <p:nvSpPr>
          <p:cNvPr id="7885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80898" name="Rectangle 2"/>
          <p:cNvSpPr>
            <a:spLocks noTextEdit="1"/>
          </p:cNvSpPr>
          <p:nvPr>
            <p:ph type="sldImg"/>
          </p:nvPr>
        </p:nvSpPr>
        <p:spPr>
          <a:ln/>
        </p:spPr>
      </p:sp>
      <p:sp>
        <p:nvSpPr>
          <p:cNvPr id="808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82946" name="Rectangle 2"/>
          <p:cNvSpPr>
            <a:spLocks noTextEdit="1"/>
          </p:cNvSpPr>
          <p:nvPr>
            <p:ph type="sldImg"/>
          </p:nvPr>
        </p:nvSpPr>
        <p:spPr>
          <a:ln/>
        </p:spPr>
      </p:sp>
      <p:sp>
        <p:nvSpPr>
          <p:cNvPr id="829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84994" name="Rectangle 2"/>
          <p:cNvSpPr>
            <a:spLocks noTextEdit="1"/>
          </p:cNvSpPr>
          <p:nvPr>
            <p:ph type="sldImg"/>
          </p:nvPr>
        </p:nvSpPr>
        <p:spPr>
          <a:ln/>
        </p:spPr>
      </p:sp>
      <p:sp>
        <p:nvSpPr>
          <p:cNvPr id="849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Slide Image Placeholder 1"/>
          <p:cNvSpPr>
            <a:spLocks noGrp="1" noRot="1" noChangeAspect="1" noTextEdit="1"/>
          </p:cNvSpPr>
          <p:nvPr>
            <p:ph type="sldImg"/>
          </p:nvPr>
        </p:nvSpPr>
        <p:spPr>
          <a:ln/>
        </p:spPr>
      </p:sp>
      <p:sp>
        <p:nvSpPr>
          <p:cNvPr id="92162" name="Notes Placeholder 2"/>
          <p:cNvSpPr>
            <a:spLocks noGrp="1"/>
          </p:cNvSpPr>
          <p:nvPr>
            <p:ph type="body"/>
          </p:nvPr>
        </p:nvSpPr>
        <p:spPr>
          <a:ln/>
        </p:spPr>
        <p:txBody>
          <a:bodyPr wrap="square" lIns="96657" tIns="48328" rIns="96657" bIns="48328" anchor="t" anchorCtr="0"/>
          <a:p>
            <a:pPr lvl="0"/>
            <a:endParaRPr lang="en-US" altLang="zh-CN" dirty="0">
              <a:ea typeface="宋体" panose="02010600030101010101" pitchFamily="2" charset="-122"/>
            </a:endParaRPr>
          </a:p>
        </p:txBody>
      </p:sp>
      <p:sp>
        <p:nvSpPr>
          <p:cNvPr id="92163" name="Slide Number Placeholder 3"/>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94210" name="Rectangle 2"/>
          <p:cNvSpPr>
            <a:spLocks noTextEdit="1"/>
          </p:cNvSpPr>
          <p:nvPr>
            <p:ph type="sldImg"/>
          </p:nvPr>
        </p:nvSpPr>
        <p:spPr>
          <a:ln/>
        </p:spPr>
      </p:sp>
      <p:sp>
        <p:nvSpPr>
          <p:cNvPr id="9421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96258" name="Rectangle 2"/>
          <p:cNvSpPr>
            <a:spLocks noTextEdit="1"/>
          </p:cNvSpPr>
          <p:nvPr>
            <p:ph type="sldImg"/>
          </p:nvPr>
        </p:nvSpPr>
        <p:spPr>
          <a:ln/>
        </p:spPr>
      </p:sp>
      <p:sp>
        <p:nvSpPr>
          <p:cNvPr id="962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98306" name="Rectangle 2"/>
          <p:cNvSpPr>
            <a:spLocks noTextEdit="1"/>
          </p:cNvSpPr>
          <p:nvPr>
            <p:ph type="sldImg"/>
          </p:nvPr>
        </p:nvSpPr>
        <p:spPr>
          <a:ln/>
        </p:spPr>
      </p:sp>
      <p:sp>
        <p:nvSpPr>
          <p:cNvPr id="98307"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注：</a:t>
            </a:r>
            <a:r>
              <a:rPr lang="en-US" altLang="zh-CN" dirty="0">
                <a:ea typeface="等线" panose="02010600030101010101" pitchFamily="2" charset="-122"/>
              </a:rPr>
              <a:t>Mobile IP</a:t>
            </a:r>
            <a:r>
              <a:rPr lang="zh-CN" altLang="en-US" dirty="0">
                <a:ea typeface="等线" panose="02010600030101010101" pitchFamily="2" charset="-122"/>
              </a:rPr>
              <a:t>其实没有发展起来，这是一种构想，和移动通信网的漫游思路很像</a:t>
            </a:r>
            <a:endParaRPr lang="zh-CN" altLang="en-US" dirty="0">
              <a:ea typeface="等线" panose="02010600030101010101" pitchFamily="2" charset="-122"/>
            </a:endParaRPr>
          </a:p>
          <a:p>
            <a:pPr lvl="0"/>
            <a:r>
              <a:rPr lang="en-US" altLang="zh-CN" dirty="0">
                <a:ea typeface="等线" panose="02010600030101010101" pitchFamily="2" charset="-122"/>
              </a:rPr>
              <a:t>https://www.zhihu.com/question/314835771</a:t>
            </a:r>
            <a:endParaRPr lang="en-US" altLang="zh-CN" dirty="0">
              <a:ea typeface="等线" panose="02010600030101010101" pitchFamily="2" charset="-122"/>
            </a:endParaRPr>
          </a:p>
          <a:p>
            <a:pPr lvl="0"/>
            <a:r>
              <a:rPr lang="zh-CN" altLang="en-US" dirty="0">
                <a:ea typeface="等线" panose="02010600030101010101" pitchFamily="2" charset="-122"/>
              </a:rPr>
              <a:t>关于计算机网络和通信网络的区别</a:t>
            </a:r>
            <a:endParaRPr lang="zh-CN" altLang="en-US" dirty="0">
              <a:ea typeface="等线"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00354" name="Rectangle 2"/>
          <p:cNvSpPr>
            <a:spLocks noTextEdit="1"/>
          </p:cNvSpPr>
          <p:nvPr>
            <p:ph type="sldImg"/>
          </p:nvPr>
        </p:nvSpPr>
        <p:spPr>
          <a:ln/>
        </p:spPr>
      </p:sp>
      <p:sp>
        <p:nvSpPr>
          <p:cNvPr id="1003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02402" name="Rectangle 2"/>
          <p:cNvSpPr>
            <a:spLocks noTextEdit="1"/>
          </p:cNvSpPr>
          <p:nvPr>
            <p:ph type="sldImg"/>
          </p:nvPr>
        </p:nvSpPr>
        <p:spPr>
          <a:ln/>
        </p:spPr>
      </p:sp>
      <p:sp>
        <p:nvSpPr>
          <p:cNvPr id="10240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04450" name="Rectangle 2"/>
          <p:cNvSpPr>
            <a:spLocks noTextEdit="1"/>
          </p:cNvSpPr>
          <p:nvPr>
            <p:ph type="sldImg"/>
          </p:nvPr>
        </p:nvSpPr>
        <p:spPr>
          <a:ln/>
        </p:spPr>
      </p:sp>
      <p:sp>
        <p:nvSpPr>
          <p:cNvPr id="10445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06498" name="Rectangle 2"/>
          <p:cNvSpPr>
            <a:spLocks noTextEdit="1"/>
          </p:cNvSpPr>
          <p:nvPr>
            <p:ph type="sldImg"/>
          </p:nvPr>
        </p:nvSpPr>
        <p:spPr>
          <a:ln/>
        </p:spPr>
      </p:sp>
      <p:sp>
        <p:nvSpPr>
          <p:cNvPr id="10649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08546" name="Rectangle 2"/>
          <p:cNvSpPr>
            <a:spLocks noTextEdit="1"/>
          </p:cNvSpPr>
          <p:nvPr>
            <p:ph type="sldImg"/>
          </p:nvPr>
        </p:nvSpPr>
        <p:spPr>
          <a:ln/>
        </p:spPr>
      </p:sp>
      <p:sp>
        <p:nvSpPr>
          <p:cNvPr id="10854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0594" name="Rectangle 2"/>
          <p:cNvSpPr>
            <a:spLocks noTextEdit="1"/>
          </p:cNvSpPr>
          <p:nvPr>
            <p:ph type="sldImg"/>
          </p:nvPr>
        </p:nvSpPr>
        <p:spPr>
          <a:ln/>
        </p:spPr>
      </p:sp>
      <p:sp>
        <p:nvSpPr>
          <p:cNvPr id="11059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2642" name="Rectangle 2"/>
          <p:cNvSpPr>
            <a:spLocks noTextEdit="1"/>
          </p:cNvSpPr>
          <p:nvPr>
            <p:ph type="sldImg"/>
          </p:nvPr>
        </p:nvSpPr>
        <p:spPr>
          <a:ln/>
        </p:spPr>
      </p:sp>
      <p:sp>
        <p:nvSpPr>
          <p:cNvPr id="11264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4690" name="Rectangle 2"/>
          <p:cNvSpPr>
            <a:spLocks noTextEdit="1"/>
          </p:cNvSpPr>
          <p:nvPr>
            <p:ph type="sldImg"/>
          </p:nvPr>
        </p:nvSpPr>
        <p:spPr>
          <a:ln/>
        </p:spPr>
      </p:sp>
      <p:sp>
        <p:nvSpPr>
          <p:cNvPr id="11469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6738" name="Rectangle 2"/>
          <p:cNvSpPr>
            <a:spLocks noTextEdit="1"/>
          </p:cNvSpPr>
          <p:nvPr>
            <p:ph type="sldImg"/>
          </p:nvPr>
        </p:nvSpPr>
        <p:spPr>
          <a:ln/>
        </p:spPr>
      </p:sp>
      <p:sp>
        <p:nvSpPr>
          <p:cNvPr id="11673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8786" name="Rectangle 2"/>
          <p:cNvSpPr>
            <a:spLocks noTextEdit="1"/>
          </p:cNvSpPr>
          <p:nvPr>
            <p:ph type="sldImg"/>
          </p:nvPr>
        </p:nvSpPr>
        <p:spPr>
          <a:ln/>
        </p:spPr>
      </p:sp>
      <p:sp>
        <p:nvSpPr>
          <p:cNvPr id="11878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20834" name="Rectangle 2"/>
          <p:cNvSpPr>
            <a:spLocks noTextEdit="1"/>
          </p:cNvSpPr>
          <p:nvPr>
            <p:ph type="sldImg"/>
          </p:nvPr>
        </p:nvSpPr>
        <p:spPr>
          <a:ln/>
        </p:spPr>
      </p:sp>
      <p:sp>
        <p:nvSpPr>
          <p:cNvPr id="12083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22882" name="Rectangle 2"/>
          <p:cNvSpPr>
            <a:spLocks noTextEdit="1"/>
          </p:cNvSpPr>
          <p:nvPr>
            <p:ph type="sldImg"/>
          </p:nvPr>
        </p:nvSpPr>
        <p:spPr>
          <a:ln/>
        </p:spPr>
      </p:sp>
      <p:sp>
        <p:nvSpPr>
          <p:cNvPr id="12288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24930" name="Rectangle 2"/>
          <p:cNvSpPr>
            <a:spLocks noTextEdit="1"/>
          </p:cNvSpPr>
          <p:nvPr>
            <p:ph type="sldImg"/>
          </p:nvPr>
        </p:nvSpPr>
        <p:spPr>
          <a:ln/>
        </p:spPr>
      </p:sp>
      <p:sp>
        <p:nvSpPr>
          <p:cNvPr id="12493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26978" name="Rectangle 2"/>
          <p:cNvSpPr>
            <a:spLocks noTextEdit="1"/>
          </p:cNvSpPr>
          <p:nvPr>
            <p:ph type="sldImg"/>
          </p:nvPr>
        </p:nvSpPr>
        <p:spPr>
          <a:ln/>
        </p:spPr>
      </p:sp>
      <p:sp>
        <p:nvSpPr>
          <p:cNvPr id="12697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29026" name="Rectangle 2"/>
          <p:cNvSpPr>
            <a:spLocks noTextEdit="1"/>
          </p:cNvSpPr>
          <p:nvPr>
            <p:ph type="sldImg"/>
          </p:nvPr>
        </p:nvSpPr>
        <p:spPr>
          <a:ln/>
        </p:spPr>
      </p:sp>
      <p:sp>
        <p:nvSpPr>
          <p:cNvPr id="12902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1074" name="Rectangle 2"/>
          <p:cNvSpPr>
            <a:spLocks noTextEdit="1"/>
          </p:cNvSpPr>
          <p:nvPr>
            <p:ph type="sldImg"/>
          </p:nvPr>
        </p:nvSpPr>
        <p:spPr>
          <a:ln/>
        </p:spPr>
      </p:sp>
      <p:sp>
        <p:nvSpPr>
          <p:cNvPr id="13107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3122" name="Rectangle 2"/>
          <p:cNvSpPr>
            <a:spLocks noTextEdit="1"/>
          </p:cNvSpPr>
          <p:nvPr>
            <p:ph type="sldImg"/>
          </p:nvPr>
        </p:nvSpPr>
        <p:spPr>
          <a:ln/>
        </p:spPr>
      </p:sp>
      <p:sp>
        <p:nvSpPr>
          <p:cNvPr id="133123"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MSC: 移动业务交换中心（mobile switching center），是网路的核心，它提供交换功能以及面向系统其他功能实体。MSC可以从三种数据库（HLR,VLR,AUC）获取处理用户位置登记和呼叫请求所需的全部数据。反之，MSC也根据其最新获取的信息请求更新数据库的部分数据。MSC具有号码储存译码、呼叫处理、路由选择、回波抵消、超负荷控制等功能；MSC作为网路核心，应能支持位置登记、越区切换和自动漫游等移动管理功能；MSC还应支持信道管理、数据传输，以及包括鉴权、信息加密、移动台设备识别等安全保密功能。</a:t>
            </a:r>
            <a:endParaRPr lang="zh-CN" altLang="zh-CN" dirty="0">
              <a:ea typeface="等线"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5170" name="Rectangle 2"/>
          <p:cNvSpPr>
            <a:spLocks noTextEdit="1"/>
          </p:cNvSpPr>
          <p:nvPr>
            <p:ph type="sldImg"/>
          </p:nvPr>
        </p:nvSpPr>
        <p:spPr>
          <a:ln/>
        </p:spPr>
      </p:sp>
      <p:sp>
        <p:nvSpPr>
          <p:cNvPr id="13517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7218" name="Rectangle 2"/>
          <p:cNvSpPr>
            <a:spLocks noTextEdit="1"/>
          </p:cNvSpPr>
          <p:nvPr>
            <p:ph type="sldImg"/>
          </p:nvPr>
        </p:nvSpPr>
        <p:spPr>
          <a:ln/>
        </p:spPr>
      </p:sp>
      <p:sp>
        <p:nvSpPr>
          <p:cNvPr id="137219" name="Rectangle 3"/>
          <p:cNvSpPr>
            <a:spLocks noGrp="1"/>
          </p:cNvSpPr>
          <p:nvPr>
            <p:ph type="body"/>
          </p:nvPr>
        </p:nvSpPr>
        <p:spPr>
          <a:ln/>
        </p:spPr>
        <p:txBody>
          <a:bodyPr wrap="square" lIns="96657" tIns="48328" rIns="96657" bIns="48328" anchor="t" anchorCtr="0"/>
          <a:p>
            <a:pPr lvl="0"/>
            <a:r>
              <a:rPr lang="zh-CN" altLang="zh-CN" dirty="0">
                <a:ea typeface="等线" panose="02010600030101010101" pitchFamily="2" charset="-122"/>
              </a:rPr>
              <a:t>MSC: 移动业务交换中心（mobile switching center），是网路的核心，它提供交换功能以及面向系统其他功能实体。MSC可以从三种数据库（HLR,VLR,AUC）获取处理用户位置登记和呼叫请求所需的全部数据。反之，MSC也根据其最新获取的信息请求更新数据库的部分数据。MSC具有号码储存译码、呼叫处理、路由选择、回波抵消、超负荷控制等功能；MSC作为网路核心，应能支持位置登记、越区切换和自动漫游等移动管理功能；MSC还应支持信道管理、数据传输，以及包括鉴权、信息加密、移动台设备识别等安全保密功能。</a:t>
            </a:r>
            <a:endParaRPr lang="zh-CN" altLang="zh-CN" dirty="0">
              <a:ea typeface="等线"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39266" name="Rectangle 2"/>
          <p:cNvSpPr>
            <a:spLocks noTextEdit="1"/>
          </p:cNvSpPr>
          <p:nvPr>
            <p:ph type="sldImg"/>
          </p:nvPr>
        </p:nvSpPr>
        <p:spPr>
          <a:ln/>
        </p:spPr>
      </p:sp>
      <p:sp>
        <p:nvSpPr>
          <p:cNvPr id="13926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41314" name="Rectangle 2"/>
          <p:cNvSpPr>
            <a:spLocks noTextEdit="1"/>
          </p:cNvSpPr>
          <p:nvPr>
            <p:ph type="sldImg"/>
          </p:nvPr>
        </p:nvSpPr>
        <p:spPr>
          <a:ln/>
        </p:spPr>
      </p:sp>
      <p:sp>
        <p:nvSpPr>
          <p:cNvPr id="14131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43362" name="Rectangle 2"/>
          <p:cNvSpPr>
            <a:spLocks noTextEdit="1"/>
          </p:cNvSpPr>
          <p:nvPr>
            <p:ph type="sldImg"/>
          </p:nvPr>
        </p:nvSpPr>
        <p:spPr>
          <a:ln/>
        </p:spPr>
      </p:sp>
      <p:sp>
        <p:nvSpPr>
          <p:cNvPr id="143363"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45410" name="Rectangle 2"/>
          <p:cNvSpPr>
            <a:spLocks noTextEdit="1"/>
          </p:cNvSpPr>
          <p:nvPr>
            <p:ph type="sldImg"/>
          </p:nvPr>
        </p:nvSpPr>
        <p:spPr>
          <a:ln/>
        </p:spPr>
      </p:sp>
      <p:sp>
        <p:nvSpPr>
          <p:cNvPr id="145411"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47458" name="Rectangle 2"/>
          <p:cNvSpPr>
            <a:spLocks noTextEdit="1"/>
          </p:cNvSpPr>
          <p:nvPr>
            <p:ph type="sldImg"/>
          </p:nvPr>
        </p:nvSpPr>
        <p:spPr>
          <a:ln/>
        </p:spPr>
      </p:sp>
      <p:sp>
        <p:nvSpPr>
          <p:cNvPr id="147459"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49506" name="Rectangle 2"/>
          <p:cNvSpPr>
            <a:spLocks noTextEdit="1"/>
          </p:cNvSpPr>
          <p:nvPr>
            <p:ph type="sldImg"/>
          </p:nvPr>
        </p:nvSpPr>
        <p:spPr>
          <a:ln/>
        </p:spPr>
      </p:sp>
      <p:sp>
        <p:nvSpPr>
          <p:cNvPr id="149507"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7"/>
          <p:cNvSpPr txBox="1">
            <a:spLocks noGrp="1"/>
          </p:cNvSpPr>
          <p:nvPr>
            <p:ph type="sldNum" sz="quarter"/>
          </p:nvPr>
        </p:nvSpPr>
        <p:spPr>
          <a:xfrm>
            <a:off x="4144963" y="9120188"/>
            <a:ext cx="3170237" cy="481012"/>
          </a:xfrm>
          <a:prstGeom prst="rect">
            <a:avLst/>
          </a:prstGeom>
          <a:noFill/>
          <a:ln w="9525">
            <a:noFill/>
          </a:ln>
        </p:spPr>
        <p:txBody>
          <a:bodyPr vert="horz" wrap="square" lIns="96657" tIns="48328" rIns="96657" bIns="48328" anchor="b" anchorCtr="0"/>
          <a:p>
            <a:pPr lvl="0" algn="r" defTabSz="967105"/>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51554" name="Rectangle 2"/>
          <p:cNvSpPr>
            <a:spLocks noTextEdit="1"/>
          </p:cNvSpPr>
          <p:nvPr>
            <p:ph type="sldImg"/>
          </p:nvPr>
        </p:nvSpPr>
        <p:spPr>
          <a:ln/>
        </p:spPr>
      </p:sp>
      <p:sp>
        <p:nvSpPr>
          <p:cNvPr id="151555" name="Rectangle 3"/>
          <p:cNvSpPr>
            <a:spLocks noGrp="1"/>
          </p:cNvSpPr>
          <p:nvPr>
            <p:ph type="body"/>
          </p:nvPr>
        </p:nvSpPr>
        <p:spPr>
          <a:ln/>
        </p:spPr>
        <p:txBody>
          <a:bodyPr wrap="square" lIns="96657" tIns="48328" rIns="96657" bIns="48328" anchor="t" anchorCtr="0"/>
          <a:p>
            <a:pPr lvl="0"/>
            <a:endParaRPr lang="zh-CN" altLang="zh-CN" dirty="0">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5334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4958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533400" y="228600"/>
            <a:ext cx="5676900" cy="60198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228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334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495800" y="1600200"/>
            <a:ext cx="3810000" cy="4648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33400" y="228600"/>
            <a:ext cx="77724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p:nvPr>
        </p:nvSpPr>
        <p:spPr>
          <a:xfrm>
            <a:off x="533400" y="1600200"/>
            <a:ext cx="7772400" cy="4648200"/>
          </a:xfrm>
          <a:prstGeom prst="rect">
            <a:avLst/>
          </a:prstGeom>
          <a:noFill/>
          <a:ln w="9525">
            <a:noFill/>
          </a:ln>
        </p:spPr>
        <p:txBody>
          <a:bodyPr anchor="t" anchorCtr="0"/>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sz="1400">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443413" y="6400800"/>
            <a:ext cx="3862388" cy="457200"/>
          </a:xfrm>
          <a:prstGeom prst="rect">
            <a:avLst/>
          </a:prstGeom>
          <a:noFill/>
          <a:ln>
            <a:noFill/>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6: Wireless and Mobile Networks</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162925" y="6400800"/>
            <a:ext cx="676275" cy="457200"/>
          </a:xfrm>
          <a:prstGeom prst="rect">
            <a:avLst/>
          </a:prstGeom>
          <a:noFill/>
          <a:ln>
            <a:noFill/>
          </a:ln>
          <a:effectLst/>
        </p:spPr>
        <p:txBody>
          <a:bodyPr vert="horz" wrap="square" lIns="91440" tIns="45720" rIns="91440" bIns="45720" numCol="1" anchor="t" anchorCtr="0" compatLnSpc="1"/>
          <a:lstStyle>
            <a:lvl1pPr algn="r">
              <a:defRPr sz="1400">
                <a:latin typeface="Times New Roman" panose="02020603050405020304" pitchFamily="18" charset="0"/>
                <a:ea typeface="宋体" panose="02010600030101010101" pitchFamily="2" charset="-122"/>
              </a:defRPr>
            </a:lvl1pPr>
          </a:lstStyle>
          <a:p>
            <a:pPr lvl="0" fontAlgn="base">
              <a:buNone/>
            </a:pPr>
            <a:r>
              <a:rPr lang="en-US" altLang="zh-CN" strike="noStrike" noProof="1" dirty="0">
                <a:latin typeface="Times New Roman" panose="02020603050405020304" pitchFamily="18" charset="0"/>
                <a:ea typeface="宋体" panose="02010600030101010101" pitchFamily="2" charset="-122"/>
                <a:cs typeface="+mn-cs"/>
              </a:rPr>
              <a:t>6-</a:t>
            </a:r>
            <a:fld id="{9A0DB2DC-4C9A-4742-B13C-FB6460FD3503}" type="slidenum">
              <a:rPr lang="en-US" altLang="zh-CN" sz="1400" strike="noStrike" noProof="1" dirty="0">
                <a:latin typeface="Times New Roman" panose="02020603050405020304" pitchFamily="18" charset="0"/>
                <a:ea typeface="宋体" panose="02010600030101010101" pitchFamily="2" charset="-122"/>
                <a:cs typeface="+mn-cs"/>
              </a:rPr>
            </a:fld>
            <a:endParaRPr lang="en-US" altLang="zh-CN" sz="1400" strike="noStrike" noProof="1"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4000" u="sng" kern="1200">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anose="030F0702030302020204" pitchFamily="66" charset="0"/>
        </a:defRPr>
      </a:lvl2pPr>
      <a:lvl3pPr algn="l" rtl="0" eaLnBrk="0" fontAlgn="base" hangingPunct="0">
        <a:spcBef>
          <a:spcPct val="0"/>
        </a:spcBef>
        <a:spcAft>
          <a:spcPct val="0"/>
        </a:spcAft>
        <a:defRPr sz="4000" u="sng">
          <a:solidFill>
            <a:schemeClr val="accent2"/>
          </a:solidFill>
          <a:latin typeface="Comic Sans MS" panose="030F0702030302020204" pitchFamily="66" charset="0"/>
        </a:defRPr>
      </a:lvl3pPr>
      <a:lvl4pPr algn="l" rtl="0" eaLnBrk="0" fontAlgn="base" hangingPunct="0">
        <a:spcBef>
          <a:spcPct val="0"/>
        </a:spcBef>
        <a:spcAft>
          <a:spcPct val="0"/>
        </a:spcAft>
        <a:defRPr sz="4000" u="sng">
          <a:solidFill>
            <a:schemeClr val="accent2"/>
          </a:solidFill>
          <a:latin typeface="Comic Sans MS" panose="030F0702030302020204" pitchFamily="66" charset="0"/>
        </a:defRPr>
      </a:lvl4pPr>
      <a:lvl5pPr algn="l" rtl="0" eaLnBrk="0" fontAlgn="base" hangingPunct="0">
        <a:spcBef>
          <a:spcPct val="0"/>
        </a:spcBef>
        <a:spcAft>
          <a:spcPct val="0"/>
        </a:spcAft>
        <a:defRPr sz="4000" u="sng">
          <a:solidFill>
            <a:schemeClr val="accent2"/>
          </a:solidFill>
          <a:latin typeface="Comic Sans MS" panose="030F0702030302020204" pitchFamily="66" charset="0"/>
        </a:defRPr>
      </a:lvl5pPr>
      <a:lvl6pPr marL="457200" algn="l" rtl="0" eaLnBrk="0" fontAlgn="base" hangingPunct="0">
        <a:spcBef>
          <a:spcPct val="0"/>
        </a:spcBef>
        <a:spcAft>
          <a:spcPct val="0"/>
        </a:spcAft>
        <a:defRPr sz="4000" u="sng">
          <a:solidFill>
            <a:schemeClr val="accent2"/>
          </a:solidFill>
          <a:latin typeface="Comic Sans MS" panose="030F0702030302020204" pitchFamily="66" charset="0"/>
        </a:defRPr>
      </a:lvl6pPr>
      <a:lvl7pPr marL="914400" algn="l" rtl="0" eaLnBrk="0" fontAlgn="base" hangingPunct="0">
        <a:spcBef>
          <a:spcPct val="0"/>
        </a:spcBef>
        <a:spcAft>
          <a:spcPct val="0"/>
        </a:spcAft>
        <a:defRPr sz="4000" u="sng">
          <a:solidFill>
            <a:schemeClr val="accent2"/>
          </a:solidFill>
          <a:latin typeface="Comic Sans MS" panose="030F0702030302020204" pitchFamily="66" charset="0"/>
        </a:defRPr>
      </a:lvl7pPr>
      <a:lvl8pPr marL="1371600" algn="l" rtl="0" eaLnBrk="0" fontAlgn="base" hangingPunct="0">
        <a:spcBef>
          <a:spcPct val="0"/>
        </a:spcBef>
        <a:spcAft>
          <a:spcPct val="0"/>
        </a:spcAft>
        <a:defRPr sz="4000" u="sng">
          <a:solidFill>
            <a:schemeClr val="accent2"/>
          </a:solidFill>
          <a:latin typeface="Comic Sans MS" panose="030F0702030302020204" pitchFamily="66" charset="0"/>
        </a:defRPr>
      </a:lvl8pPr>
      <a:lvl9pPr marL="1828800" algn="l" rtl="0" eaLnBrk="0" fontAlgn="base" hangingPunct="0">
        <a:spcBef>
          <a:spcPct val="0"/>
        </a:spcBef>
        <a:spcAft>
          <a:spcPct val="0"/>
        </a:spcAft>
        <a:defRPr sz="4000" u="sng">
          <a:solidFill>
            <a:schemeClr val="accent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oleObject" Target="../embeddings/oleObject4.bin"/><Relationship Id="rId7" Type="http://schemas.openxmlformats.org/officeDocument/2006/relationships/oleObject" Target="../embeddings/oleObject3.bin"/><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 Id="rId35" Type="http://schemas.openxmlformats.org/officeDocument/2006/relationships/notesSlide" Target="../notesSlides/notesSlide4.xml"/><Relationship Id="rId34" Type="http://schemas.openxmlformats.org/officeDocument/2006/relationships/vmlDrawing" Target="../drawings/vmlDrawing1.vml"/><Relationship Id="rId33" Type="http://schemas.openxmlformats.org/officeDocument/2006/relationships/slideLayout" Target="../slideLayouts/slideLayout6.xml"/><Relationship Id="rId32" Type="http://schemas.openxmlformats.org/officeDocument/2006/relationships/oleObject" Target="../embeddings/oleObject28.bin"/><Relationship Id="rId31" Type="http://schemas.openxmlformats.org/officeDocument/2006/relationships/oleObject" Target="../embeddings/oleObject27.bin"/><Relationship Id="rId30" Type="http://schemas.openxmlformats.org/officeDocument/2006/relationships/oleObject" Target="../embeddings/oleObject26.bin"/><Relationship Id="rId3" Type="http://schemas.openxmlformats.org/officeDocument/2006/relationships/oleObject" Target="../embeddings/oleObject1.bin"/><Relationship Id="rId29" Type="http://schemas.openxmlformats.org/officeDocument/2006/relationships/oleObject" Target="../embeddings/oleObject25.bin"/><Relationship Id="rId28" Type="http://schemas.openxmlformats.org/officeDocument/2006/relationships/oleObject" Target="../embeddings/oleObject24.bin"/><Relationship Id="rId27" Type="http://schemas.openxmlformats.org/officeDocument/2006/relationships/oleObject" Target="../embeddings/oleObject23.bin"/><Relationship Id="rId26" Type="http://schemas.openxmlformats.org/officeDocument/2006/relationships/oleObject" Target="../embeddings/oleObject22.bin"/><Relationship Id="rId25" Type="http://schemas.openxmlformats.org/officeDocument/2006/relationships/oleObject" Target="../embeddings/oleObject21.bin"/><Relationship Id="rId24" Type="http://schemas.openxmlformats.org/officeDocument/2006/relationships/oleObject" Target="../embeddings/oleObject20.bin"/><Relationship Id="rId23" Type="http://schemas.openxmlformats.org/officeDocument/2006/relationships/oleObject" Target="../embeddings/oleObject19.bin"/><Relationship Id="rId22" Type="http://schemas.openxmlformats.org/officeDocument/2006/relationships/oleObject" Target="../embeddings/oleObject18.bin"/><Relationship Id="rId21" Type="http://schemas.openxmlformats.org/officeDocument/2006/relationships/oleObject" Target="../embeddings/oleObject17.bin"/><Relationship Id="rId20" Type="http://schemas.openxmlformats.org/officeDocument/2006/relationships/oleObject" Target="../embeddings/oleObject16.bin"/><Relationship Id="rId2" Type="http://schemas.openxmlformats.org/officeDocument/2006/relationships/image" Target="../media/image3.png"/><Relationship Id="rId19" Type="http://schemas.openxmlformats.org/officeDocument/2006/relationships/oleObject" Target="../embeddings/oleObject15.bin"/><Relationship Id="rId18" Type="http://schemas.openxmlformats.org/officeDocument/2006/relationships/oleObject" Target="../embeddings/oleObject14.bin"/><Relationship Id="rId17" Type="http://schemas.openxmlformats.org/officeDocument/2006/relationships/oleObject" Target="../embeddings/oleObject13.bin"/><Relationship Id="rId16" Type="http://schemas.openxmlformats.org/officeDocument/2006/relationships/oleObject" Target="../embeddings/oleObject12.bin"/><Relationship Id="rId15" Type="http://schemas.openxmlformats.org/officeDocument/2006/relationships/oleObject" Target="../embeddings/oleObject11.bin"/><Relationship Id="rId14" Type="http://schemas.openxmlformats.org/officeDocument/2006/relationships/oleObject" Target="../embeddings/oleObject10.bin"/><Relationship Id="rId13" Type="http://schemas.openxmlformats.org/officeDocument/2006/relationships/oleObject" Target="../embeddings/oleObject9.bin"/><Relationship Id="rId12" Type="http://schemas.openxmlformats.org/officeDocument/2006/relationships/oleObject" Target="../embeddings/oleObject8.bin"/><Relationship Id="rId11" Type="http://schemas.openxmlformats.org/officeDocument/2006/relationships/oleObject" Target="../embeddings/oleObject7.bin"/><Relationship Id="rId10" Type="http://schemas.openxmlformats.org/officeDocument/2006/relationships/oleObject" Target="../embeddings/oleObject6.bin"/><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oleObject" Target="../embeddings/oleObject32.bin"/><Relationship Id="rId7" Type="http://schemas.openxmlformats.org/officeDocument/2006/relationships/oleObject" Target="../embeddings/oleObject31.bin"/><Relationship Id="rId6" Type="http://schemas.openxmlformats.org/officeDocument/2006/relationships/image" Target="../media/image5.wmf"/><Relationship Id="rId5" Type="http://schemas.openxmlformats.org/officeDocument/2006/relationships/oleObject" Target="../embeddings/oleObject30.bin"/><Relationship Id="rId4" Type="http://schemas.openxmlformats.org/officeDocument/2006/relationships/image" Target="../media/image4.wmf"/><Relationship Id="rId33" Type="http://schemas.openxmlformats.org/officeDocument/2006/relationships/notesSlide" Target="../notesSlides/notesSlide5.xml"/><Relationship Id="rId32" Type="http://schemas.openxmlformats.org/officeDocument/2006/relationships/vmlDrawing" Target="../drawings/vmlDrawing2.vml"/><Relationship Id="rId31" Type="http://schemas.openxmlformats.org/officeDocument/2006/relationships/slideLayout" Target="../slideLayouts/slideLayout6.xml"/><Relationship Id="rId30" Type="http://schemas.openxmlformats.org/officeDocument/2006/relationships/oleObject" Target="../embeddings/oleObject54.bin"/><Relationship Id="rId3" Type="http://schemas.openxmlformats.org/officeDocument/2006/relationships/oleObject" Target="../embeddings/oleObject29.bin"/><Relationship Id="rId29" Type="http://schemas.openxmlformats.org/officeDocument/2006/relationships/oleObject" Target="../embeddings/oleObject53.bin"/><Relationship Id="rId28" Type="http://schemas.openxmlformats.org/officeDocument/2006/relationships/oleObject" Target="../embeddings/oleObject52.bin"/><Relationship Id="rId27" Type="http://schemas.openxmlformats.org/officeDocument/2006/relationships/oleObject" Target="../embeddings/oleObject51.bin"/><Relationship Id="rId26" Type="http://schemas.openxmlformats.org/officeDocument/2006/relationships/oleObject" Target="../embeddings/oleObject50.bin"/><Relationship Id="rId25" Type="http://schemas.openxmlformats.org/officeDocument/2006/relationships/oleObject" Target="../embeddings/oleObject49.bin"/><Relationship Id="rId24" Type="http://schemas.openxmlformats.org/officeDocument/2006/relationships/oleObject" Target="../embeddings/oleObject48.bin"/><Relationship Id="rId23" Type="http://schemas.openxmlformats.org/officeDocument/2006/relationships/oleObject" Target="../embeddings/oleObject47.bin"/><Relationship Id="rId22" Type="http://schemas.openxmlformats.org/officeDocument/2006/relationships/oleObject" Target="../embeddings/oleObject46.bin"/><Relationship Id="rId21" Type="http://schemas.openxmlformats.org/officeDocument/2006/relationships/oleObject" Target="../embeddings/oleObject45.bin"/><Relationship Id="rId20" Type="http://schemas.openxmlformats.org/officeDocument/2006/relationships/oleObject" Target="../embeddings/oleObject44.bin"/><Relationship Id="rId2" Type="http://schemas.openxmlformats.org/officeDocument/2006/relationships/image" Target="../media/image3.png"/><Relationship Id="rId19" Type="http://schemas.openxmlformats.org/officeDocument/2006/relationships/oleObject" Target="../embeddings/oleObject43.bin"/><Relationship Id="rId18" Type="http://schemas.openxmlformats.org/officeDocument/2006/relationships/oleObject" Target="../embeddings/oleObject42.bin"/><Relationship Id="rId17" Type="http://schemas.openxmlformats.org/officeDocument/2006/relationships/oleObject" Target="../embeddings/oleObject41.bin"/><Relationship Id="rId16" Type="http://schemas.openxmlformats.org/officeDocument/2006/relationships/oleObject" Target="../embeddings/oleObject40.bin"/><Relationship Id="rId15" Type="http://schemas.openxmlformats.org/officeDocument/2006/relationships/oleObject" Target="../embeddings/oleObject39.bin"/><Relationship Id="rId14" Type="http://schemas.openxmlformats.org/officeDocument/2006/relationships/oleObject" Target="../embeddings/oleObject38.bin"/><Relationship Id="rId13" Type="http://schemas.openxmlformats.org/officeDocument/2006/relationships/oleObject" Target="../embeddings/oleObject37.bin"/><Relationship Id="rId12" Type="http://schemas.openxmlformats.org/officeDocument/2006/relationships/oleObject" Target="../embeddings/oleObject36.bin"/><Relationship Id="rId11" Type="http://schemas.openxmlformats.org/officeDocument/2006/relationships/oleObject" Target="../embeddings/oleObject35.bin"/><Relationship Id="rId10" Type="http://schemas.openxmlformats.org/officeDocument/2006/relationships/oleObject" Target="../embeddings/oleObject34.bin"/><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oleObject" Target="../embeddings/oleObject58.bin"/><Relationship Id="rId7" Type="http://schemas.openxmlformats.org/officeDocument/2006/relationships/oleObject" Target="../embeddings/oleObject57.bin"/><Relationship Id="rId6" Type="http://schemas.openxmlformats.org/officeDocument/2006/relationships/image" Target="../media/image5.wmf"/><Relationship Id="rId5" Type="http://schemas.openxmlformats.org/officeDocument/2006/relationships/oleObject" Target="../embeddings/oleObject56.bin"/><Relationship Id="rId4" Type="http://schemas.openxmlformats.org/officeDocument/2006/relationships/image" Target="../media/image4.wmf"/><Relationship Id="rId33" Type="http://schemas.openxmlformats.org/officeDocument/2006/relationships/notesSlide" Target="../notesSlides/notesSlide6.xml"/><Relationship Id="rId32" Type="http://schemas.openxmlformats.org/officeDocument/2006/relationships/vmlDrawing" Target="../drawings/vmlDrawing3.vml"/><Relationship Id="rId31" Type="http://schemas.openxmlformats.org/officeDocument/2006/relationships/slideLayout" Target="../slideLayouts/slideLayout6.xml"/><Relationship Id="rId30" Type="http://schemas.openxmlformats.org/officeDocument/2006/relationships/oleObject" Target="../embeddings/oleObject80.bin"/><Relationship Id="rId3" Type="http://schemas.openxmlformats.org/officeDocument/2006/relationships/oleObject" Target="../embeddings/oleObject55.bin"/><Relationship Id="rId29" Type="http://schemas.openxmlformats.org/officeDocument/2006/relationships/oleObject" Target="../embeddings/oleObject79.bin"/><Relationship Id="rId28" Type="http://schemas.openxmlformats.org/officeDocument/2006/relationships/oleObject" Target="../embeddings/oleObject78.bin"/><Relationship Id="rId27" Type="http://schemas.openxmlformats.org/officeDocument/2006/relationships/oleObject" Target="../embeddings/oleObject77.bin"/><Relationship Id="rId26" Type="http://schemas.openxmlformats.org/officeDocument/2006/relationships/oleObject" Target="../embeddings/oleObject76.bin"/><Relationship Id="rId25" Type="http://schemas.openxmlformats.org/officeDocument/2006/relationships/oleObject" Target="../embeddings/oleObject75.bin"/><Relationship Id="rId24" Type="http://schemas.openxmlformats.org/officeDocument/2006/relationships/oleObject" Target="../embeddings/oleObject74.bin"/><Relationship Id="rId23" Type="http://schemas.openxmlformats.org/officeDocument/2006/relationships/oleObject" Target="../embeddings/oleObject73.bin"/><Relationship Id="rId22" Type="http://schemas.openxmlformats.org/officeDocument/2006/relationships/oleObject" Target="../embeddings/oleObject72.bin"/><Relationship Id="rId21" Type="http://schemas.openxmlformats.org/officeDocument/2006/relationships/oleObject" Target="../embeddings/oleObject71.bin"/><Relationship Id="rId20" Type="http://schemas.openxmlformats.org/officeDocument/2006/relationships/oleObject" Target="../embeddings/oleObject70.bin"/><Relationship Id="rId2" Type="http://schemas.openxmlformats.org/officeDocument/2006/relationships/image" Target="../media/image3.png"/><Relationship Id="rId19" Type="http://schemas.openxmlformats.org/officeDocument/2006/relationships/oleObject" Target="../embeddings/oleObject69.bin"/><Relationship Id="rId18" Type="http://schemas.openxmlformats.org/officeDocument/2006/relationships/oleObject" Target="../embeddings/oleObject68.bin"/><Relationship Id="rId17" Type="http://schemas.openxmlformats.org/officeDocument/2006/relationships/oleObject" Target="../embeddings/oleObject67.bin"/><Relationship Id="rId16" Type="http://schemas.openxmlformats.org/officeDocument/2006/relationships/oleObject" Target="../embeddings/oleObject66.bin"/><Relationship Id="rId15" Type="http://schemas.openxmlformats.org/officeDocument/2006/relationships/oleObject" Target="../embeddings/oleObject65.bin"/><Relationship Id="rId14" Type="http://schemas.openxmlformats.org/officeDocument/2006/relationships/oleObject" Target="../embeddings/oleObject64.bin"/><Relationship Id="rId13" Type="http://schemas.openxmlformats.org/officeDocument/2006/relationships/oleObject" Target="../embeddings/oleObject63.bin"/><Relationship Id="rId12" Type="http://schemas.openxmlformats.org/officeDocument/2006/relationships/oleObject" Target="../embeddings/oleObject62.bin"/><Relationship Id="rId11" Type="http://schemas.openxmlformats.org/officeDocument/2006/relationships/oleObject" Target="../embeddings/oleObject61.bin"/><Relationship Id="rId10" Type="http://schemas.openxmlformats.org/officeDocument/2006/relationships/oleObject" Target="../embeddings/oleObject60.bin"/><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85.bin"/><Relationship Id="rId8" Type="http://schemas.openxmlformats.org/officeDocument/2006/relationships/oleObject" Target="../embeddings/oleObject84.bin"/><Relationship Id="rId7" Type="http://schemas.openxmlformats.org/officeDocument/2006/relationships/oleObject" Target="../embeddings/oleObject83.bin"/><Relationship Id="rId6" Type="http://schemas.openxmlformats.org/officeDocument/2006/relationships/image" Target="../media/image5.wmf"/><Relationship Id="rId5" Type="http://schemas.openxmlformats.org/officeDocument/2006/relationships/oleObject" Target="../embeddings/oleObject82.bin"/><Relationship Id="rId4" Type="http://schemas.openxmlformats.org/officeDocument/2006/relationships/image" Target="../media/image4.wmf"/><Relationship Id="rId33" Type="http://schemas.openxmlformats.org/officeDocument/2006/relationships/notesSlide" Target="../notesSlides/notesSlide8.xml"/><Relationship Id="rId32" Type="http://schemas.openxmlformats.org/officeDocument/2006/relationships/vmlDrawing" Target="../drawings/vmlDrawing4.vml"/><Relationship Id="rId31" Type="http://schemas.openxmlformats.org/officeDocument/2006/relationships/slideLayout" Target="../slideLayouts/slideLayout6.xml"/><Relationship Id="rId30" Type="http://schemas.openxmlformats.org/officeDocument/2006/relationships/oleObject" Target="../embeddings/oleObject106.bin"/><Relationship Id="rId3" Type="http://schemas.openxmlformats.org/officeDocument/2006/relationships/oleObject" Target="../embeddings/oleObject81.bin"/><Relationship Id="rId29" Type="http://schemas.openxmlformats.org/officeDocument/2006/relationships/oleObject" Target="../embeddings/oleObject105.bin"/><Relationship Id="rId28" Type="http://schemas.openxmlformats.org/officeDocument/2006/relationships/oleObject" Target="../embeddings/oleObject104.bin"/><Relationship Id="rId27" Type="http://schemas.openxmlformats.org/officeDocument/2006/relationships/oleObject" Target="../embeddings/oleObject103.bin"/><Relationship Id="rId26" Type="http://schemas.openxmlformats.org/officeDocument/2006/relationships/oleObject" Target="../embeddings/oleObject102.bin"/><Relationship Id="rId25" Type="http://schemas.openxmlformats.org/officeDocument/2006/relationships/oleObject" Target="../embeddings/oleObject101.bin"/><Relationship Id="rId24" Type="http://schemas.openxmlformats.org/officeDocument/2006/relationships/oleObject" Target="../embeddings/oleObject100.bin"/><Relationship Id="rId23" Type="http://schemas.openxmlformats.org/officeDocument/2006/relationships/oleObject" Target="../embeddings/oleObject99.bin"/><Relationship Id="rId22" Type="http://schemas.openxmlformats.org/officeDocument/2006/relationships/oleObject" Target="../embeddings/oleObject98.bin"/><Relationship Id="rId21" Type="http://schemas.openxmlformats.org/officeDocument/2006/relationships/oleObject" Target="../embeddings/oleObject97.bin"/><Relationship Id="rId20" Type="http://schemas.openxmlformats.org/officeDocument/2006/relationships/oleObject" Target="../embeddings/oleObject96.bin"/><Relationship Id="rId2" Type="http://schemas.openxmlformats.org/officeDocument/2006/relationships/image" Target="../media/image3.png"/><Relationship Id="rId19" Type="http://schemas.openxmlformats.org/officeDocument/2006/relationships/oleObject" Target="../embeddings/oleObject95.bin"/><Relationship Id="rId18" Type="http://schemas.openxmlformats.org/officeDocument/2006/relationships/oleObject" Target="../embeddings/oleObject94.bin"/><Relationship Id="rId17" Type="http://schemas.openxmlformats.org/officeDocument/2006/relationships/oleObject" Target="../embeddings/oleObject93.bin"/><Relationship Id="rId16" Type="http://schemas.openxmlformats.org/officeDocument/2006/relationships/oleObject" Target="../embeddings/oleObject92.bin"/><Relationship Id="rId15" Type="http://schemas.openxmlformats.org/officeDocument/2006/relationships/oleObject" Target="../embeddings/oleObject91.bin"/><Relationship Id="rId14" Type="http://schemas.openxmlformats.org/officeDocument/2006/relationships/oleObject" Target="../embeddings/oleObject90.bin"/><Relationship Id="rId13" Type="http://schemas.openxmlformats.org/officeDocument/2006/relationships/oleObject" Target="../embeddings/oleObject89.bin"/><Relationship Id="rId12" Type="http://schemas.openxmlformats.org/officeDocument/2006/relationships/oleObject" Target="../embeddings/oleObject88.bin"/><Relationship Id="rId11" Type="http://schemas.openxmlformats.org/officeDocument/2006/relationships/oleObject" Target="../embeddings/oleObject87.bin"/><Relationship Id="rId10" Type="http://schemas.openxmlformats.org/officeDocument/2006/relationships/oleObject" Target="../embeddings/oleObject86.bin"/><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13.bin"/><Relationship Id="rId8" Type="http://schemas.openxmlformats.org/officeDocument/2006/relationships/oleObject" Target="../embeddings/oleObject112.bin"/><Relationship Id="rId7" Type="http://schemas.openxmlformats.org/officeDocument/2006/relationships/oleObject" Target="../embeddings/oleObject111.bin"/><Relationship Id="rId6" Type="http://schemas.openxmlformats.org/officeDocument/2006/relationships/oleObject" Target="../embeddings/oleObject110.bin"/><Relationship Id="rId5" Type="http://schemas.openxmlformats.org/officeDocument/2006/relationships/oleObject" Target="../embeddings/oleObject109.bin"/><Relationship Id="rId4" Type="http://schemas.openxmlformats.org/officeDocument/2006/relationships/image" Target="../media/image5.wmf"/><Relationship Id="rId3" Type="http://schemas.openxmlformats.org/officeDocument/2006/relationships/oleObject" Target="../embeddings/oleObject108.bin"/><Relationship Id="rId25" Type="http://schemas.openxmlformats.org/officeDocument/2006/relationships/notesSlide" Target="../notesSlides/notesSlide9.xml"/><Relationship Id="rId24" Type="http://schemas.openxmlformats.org/officeDocument/2006/relationships/vmlDrawing" Target="../drawings/vmlDrawing5.vml"/><Relationship Id="rId23" Type="http://schemas.openxmlformats.org/officeDocument/2006/relationships/slideLayout" Target="../slideLayouts/slideLayout6.xml"/><Relationship Id="rId22" Type="http://schemas.openxmlformats.org/officeDocument/2006/relationships/oleObject" Target="../embeddings/oleObject126.bin"/><Relationship Id="rId21" Type="http://schemas.openxmlformats.org/officeDocument/2006/relationships/oleObject" Target="../embeddings/oleObject125.bin"/><Relationship Id="rId20" Type="http://schemas.openxmlformats.org/officeDocument/2006/relationships/oleObject" Target="../embeddings/oleObject124.bin"/><Relationship Id="rId2" Type="http://schemas.openxmlformats.org/officeDocument/2006/relationships/image" Target="../media/image4.wmf"/><Relationship Id="rId19" Type="http://schemas.openxmlformats.org/officeDocument/2006/relationships/oleObject" Target="../embeddings/oleObject123.bin"/><Relationship Id="rId18" Type="http://schemas.openxmlformats.org/officeDocument/2006/relationships/oleObject" Target="../embeddings/oleObject122.bin"/><Relationship Id="rId17" Type="http://schemas.openxmlformats.org/officeDocument/2006/relationships/oleObject" Target="../embeddings/oleObject121.bin"/><Relationship Id="rId16" Type="http://schemas.openxmlformats.org/officeDocument/2006/relationships/oleObject" Target="../embeddings/oleObject120.bin"/><Relationship Id="rId15" Type="http://schemas.openxmlformats.org/officeDocument/2006/relationships/oleObject" Target="../embeddings/oleObject119.bin"/><Relationship Id="rId14" Type="http://schemas.openxmlformats.org/officeDocument/2006/relationships/oleObject" Target="../embeddings/oleObject118.bin"/><Relationship Id="rId13" Type="http://schemas.openxmlformats.org/officeDocument/2006/relationships/oleObject" Target="../embeddings/oleObject117.bin"/><Relationship Id="rId12" Type="http://schemas.openxmlformats.org/officeDocument/2006/relationships/oleObject" Target="../embeddings/oleObject116.bin"/><Relationship Id="rId11" Type="http://schemas.openxmlformats.org/officeDocument/2006/relationships/oleObject" Target="../embeddings/oleObject115.bin"/><Relationship Id="rId10" Type="http://schemas.openxmlformats.org/officeDocument/2006/relationships/oleObject" Target="../embeddings/oleObject114.bin"/><Relationship Id="rId1" Type="http://schemas.openxmlformats.org/officeDocument/2006/relationships/oleObject" Target="../embeddings/oleObject107.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33.bin"/><Relationship Id="rId8" Type="http://schemas.openxmlformats.org/officeDocument/2006/relationships/oleObject" Target="../embeddings/oleObject132.bin"/><Relationship Id="rId7" Type="http://schemas.openxmlformats.org/officeDocument/2006/relationships/oleObject" Target="../embeddings/oleObject131.bin"/><Relationship Id="rId6" Type="http://schemas.openxmlformats.org/officeDocument/2006/relationships/oleObject" Target="../embeddings/oleObject130.bin"/><Relationship Id="rId5" Type="http://schemas.openxmlformats.org/officeDocument/2006/relationships/oleObject" Target="../embeddings/oleObject129.bin"/><Relationship Id="rId4" Type="http://schemas.openxmlformats.org/officeDocument/2006/relationships/image" Target="../media/image5.wmf"/><Relationship Id="rId3" Type="http://schemas.openxmlformats.org/officeDocument/2006/relationships/oleObject" Target="../embeddings/oleObject128.bin"/><Relationship Id="rId2" Type="http://schemas.openxmlformats.org/officeDocument/2006/relationships/image" Target="../media/image4.wmf"/><Relationship Id="rId17" Type="http://schemas.openxmlformats.org/officeDocument/2006/relationships/notesSlide" Target="../notesSlides/notesSlide13.xml"/><Relationship Id="rId16" Type="http://schemas.openxmlformats.org/officeDocument/2006/relationships/vmlDrawing" Target="../drawings/vmlDrawing6.vml"/><Relationship Id="rId15" Type="http://schemas.openxmlformats.org/officeDocument/2006/relationships/slideLayout" Target="../slideLayouts/slideLayout2.xml"/><Relationship Id="rId14" Type="http://schemas.openxmlformats.org/officeDocument/2006/relationships/oleObject" Target="../embeddings/oleObject138.bin"/><Relationship Id="rId13" Type="http://schemas.openxmlformats.org/officeDocument/2006/relationships/oleObject" Target="../embeddings/oleObject137.bin"/><Relationship Id="rId12" Type="http://schemas.openxmlformats.org/officeDocument/2006/relationships/oleObject" Target="../embeddings/oleObject136.bin"/><Relationship Id="rId11" Type="http://schemas.openxmlformats.org/officeDocument/2006/relationships/oleObject" Target="../embeddings/oleObject135.bin"/><Relationship Id="rId10" Type="http://schemas.openxmlformats.org/officeDocument/2006/relationships/oleObject" Target="../embeddings/oleObject134.bin"/><Relationship Id="rId1" Type="http://schemas.openxmlformats.org/officeDocument/2006/relationships/oleObject" Target="../embeddings/oleObject127.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44.bin"/><Relationship Id="rId8" Type="http://schemas.openxmlformats.org/officeDocument/2006/relationships/oleObject" Target="../embeddings/oleObject143.bin"/><Relationship Id="rId7" Type="http://schemas.openxmlformats.org/officeDocument/2006/relationships/oleObject" Target="../embeddings/oleObject142.bin"/><Relationship Id="rId6" Type="http://schemas.openxmlformats.org/officeDocument/2006/relationships/oleObject" Target="../embeddings/oleObject141.bin"/><Relationship Id="rId5" Type="http://schemas.openxmlformats.org/officeDocument/2006/relationships/image" Target="../media/image3.png"/><Relationship Id="rId4" Type="http://schemas.openxmlformats.org/officeDocument/2006/relationships/image" Target="../media/image5.wmf"/><Relationship Id="rId3" Type="http://schemas.openxmlformats.org/officeDocument/2006/relationships/oleObject" Target="../embeddings/oleObject140.bin"/><Relationship Id="rId20" Type="http://schemas.openxmlformats.org/officeDocument/2006/relationships/notesSlide" Target="../notesSlides/notesSlide19.xml"/><Relationship Id="rId2" Type="http://schemas.openxmlformats.org/officeDocument/2006/relationships/image" Target="../media/image4.wmf"/><Relationship Id="rId19" Type="http://schemas.openxmlformats.org/officeDocument/2006/relationships/vmlDrawing" Target="../drawings/vmlDrawing7.vml"/><Relationship Id="rId18" Type="http://schemas.openxmlformats.org/officeDocument/2006/relationships/slideLayout" Target="../slideLayouts/slideLayout2.xml"/><Relationship Id="rId17" Type="http://schemas.openxmlformats.org/officeDocument/2006/relationships/oleObject" Target="../embeddings/oleObject152.bin"/><Relationship Id="rId16" Type="http://schemas.openxmlformats.org/officeDocument/2006/relationships/oleObject" Target="../embeddings/oleObject151.bin"/><Relationship Id="rId15" Type="http://schemas.openxmlformats.org/officeDocument/2006/relationships/oleObject" Target="../embeddings/oleObject150.bin"/><Relationship Id="rId14" Type="http://schemas.openxmlformats.org/officeDocument/2006/relationships/oleObject" Target="../embeddings/oleObject149.bin"/><Relationship Id="rId13" Type="http://schemas.openxmlformats.org/officeDocument/2006/relationships/oleObject" Target="../embeddings/oleObject148.bin"/><Relationship Id="rId12" Type="http://schemas.openxmlformats.org/officeDocument/2006/relationships/oleObject" Target="../embeddings/oleObject147.bin"/><Relationship Id="rId11" Type="http://schemas.openxmlformats.org/officeDocument/2006/relationships/oleObject" Target="../embeddings/oleObject146.bin"/><Relationship Id="rId10" Type="http://schemas.openxmlformats.org/officeDocument/2006/relationships/oleObject" Target="../embeddings/oleObject145.bin"/><Relationship Id="rId1" Type="http://schemas.openxmlformats.org/officeDocument/2006/relationships/oleObject" Target="../embeddings/oleObject139.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oleObject" Target="../embeddings/oleObject156.bin"/><Relationship Id="rId6" Type="http://schemas.openxmlformats.org/officeDocument/2006/relationships/oleObject" Target="../embeddings/oleObject155.bin"/><Relationship Id="rId5" Type="http://schemas.openxmlformats.org/officeDocument/2006/relationships/image" Target="../media/image5.wmf"/><Relationship Id="rId4" Type="http://schemas.openxmlformats.org/officeDocument/2006/relationships/oleObject" Target="../embeddings/oleObject154.bin"/><Relationship Id="rId3" Type="http://schemas.openxmlformats.org/officeDocument/2006/relationships/image" Target="../media/image4.wmf"/><Relationship Id="rId2" Type="http://schemas.openxmlformats.org/officeDocument/2006/relationships/oleObject" Target="../embeddings/oleObject153.bin"/><Relationship Id="rId10" Type="http://schemas.openxmlformats.org/officeDocument/2006/relationships/notesSlide" Target="../notesSlides/notesSlide21.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63.bin"/><Relationship Id="rId8" Type="http://schemas.openxmlformats.org/officeDocument/2006/relationships/oleObject" Target="../embeddings/oleObject162.bin"/><Relationship Id="rId7" Type="http://schemas.openxmlformats.org/officeDocument/2006/relationships/oleObject" Target="../embeddings/oleObject161.bin"/><Relationship Id="rId6" Type="http://schemas.openxmlformats.org/officeDocument/2006/relationships/oleObject" Target="../embeddings/oleObject160.bin"/><Relationship Id="rId5" Type="http://schemas.openxmlformats.org/officeDocument/2006/relationships/oleObject" Target="../embeddings/oleObject159.bin"/><Relationship Id="rId4" Type="http://schemas.openxmlformats.org/officeDocument/2006/relationships/image" Target="../media/image5.wmf"/><Relationship Id="rId3" Type="http://schemas.openxmlformats.org/officeDocument/2006/relationships/oleObject" Target="../embeddings/oleObject158.bin"/><Relationship Id="rId2" Type="http://schemas.openxmlformats.org/officeDocument/2006/relationships/image" Target="../media/image4.wmf"/><Relationship Id="rId17" Type="http://schemas.openxmlformats.org/officeDocument/2006/relationships/notesSlide" Target="../notesSlides/notesSlide22.xml"/><Relationship Id="rId16" Type="http://schemas.openxmlformats.org/officeDocument/2006/relationships/vmlDrawing" Target="../drawings/vmlDrawing9.vml"/><Relationship Id="rId15" Type="http://schemas.openxmlformats.org/officeDocument/2006/relationships/slideLayout" Target="../slideLayouts/slideLayout2.xml"/><Relationship Id="rId14" Type="http://schemas.openxmlformats.org/officeDocument/2006/relationships/oleObject" Target="../embeddings/oleObject168.bin"/><Relationship Id="rId13" Type="http://schemas.openxmlformats.org/officeDocument/2006/relationships/oleObject" Target="../embeddings/oleObject167.bin"/><Relationship Id="rId12" Type="http://schemas.openxmlformats.org/officeDocument/2006/relationships/oleObject" Target="../embeddings/oleObject166.bin"/><Relationship Id="rId11" Type="http://schemas.openxmlformats.org/officeDocument/2006/relationships/oleObject" Target="../embeddings/oleObject165.bin"/><Relationship Id="rId10" Type="http://schemas.openxmlformats.org/officeDocument/2006/relationships/oleObject" Target="../embeddings/oleObject164.bin"/><Relationship Id="rId1" Type="http://schemas.openxmlformats.org/officeDocument/2006/relationships/oleObject" Target="../embeddings/oleObject157.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2.xml"/><Relationship Id="rId7" Type="http://schemas.openxmlformats.org/officeDocument/2006/relationships/oleObject" Target="../embeddings/oleObject172.bin"/><Relationship Id="rId6" Type="http://schemas.openxmlformats.org/officeDocument/2006/relationships/oleObject" Target="../embeddings/oleObject171.bin"/><Relationship Id="rId5" Type="http://schemas.openxmlformats.org/officeDocument/2006/relationships/image" Target="../media/image5.wmf"/><Relationship Id="rId4" Type="http://schemas.openxmlformats.org/officeDocument/2006/relationships/oleObject" Target="../embeddings/oleObject170.bin"/><Relationship Id="rId3" Type="http://schemas.openxmlformats.org/officeDocument/2006/relationships/image" Target="../media/image4.wmf"/><Relationship Id="rId2" Type="http://schemas.openxmlformats.org/officeDocument/2006/relationships/oleObject" Target="../embeddings/oleObject169.bin"/><Relationship Id="rId10" Type="http://schemas.openxmlformats.org/officeDocument/2006/relationships/notesSlide" Target="../notesSlides/notesSlide25.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7.xml"/><Relationship Id="rId7" Type="http://schemas.openxmlformats.org/officeDocument/2006/relationships/oleObject" Target="../embeddings/oleObject176.bin"/><Relationship Id="rId6" Type="http://schemas.openxmlformats.org/officeDocument/2006/relationships/oleObject" Target="../embeddings/oleObject175.bin"/><Relationship Id="rId5" Type="http://schemas.openxmlformats.org/officeDocument/2006/relationships/image" Target="../media/image5.wmf"/><Relationship Id="rId4" Type="http://schemas.openxmlformats.org/officeDocument/2006/relationships/oleObject" Target="../embeddings/oleObject174.bin"/><Relationship Id="rId3" Type="http://schemas.openxmlformats.org/officeDocument/2006/relationships/image" Target="../media/image4.wmf"/><Relationship Id="rId2" Type="http://schemas.openxmlformats.org/officeDocument/2006/relationships/oleObject" Target="../embeddings/oleObject173.bin"/><Relationship Id="rId10" Type="http://schemas.openxmlformats.org/officeDocument/2006/relationships/notesSlide" Target="../notesSlides/notesSlide27.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82.bin"/><Relationship Id="rId8" Type="http://schemas.openxmlformats.org/officeDocument/2006/relationships/oleObject" Target="../embeddings/oleObject181.bin"/><Relationship Id="rId7" Type="http://schemas.openxmlformats.org/officeDocument/2006/relationships/image" Target="../media/image3.png"/><Relationship Id="rId6" Type="http://schemas.openxmlformats.org/officeDocument/2006/relationships/oleObject" Target="../embeddings/oleObject180.bin"/><Relationship Id="rId5" Type="http://schemas.openxmlformats.org/officeDocument/2006/relationships/oleObject" Target="../embeddings/oleObject179.bin"/><Relationship Id="rId4" Type="http://schemas.openxmlformats.org/officeDocument/2006/relationships/image" Target="../media/image5.wmf"/><Relationship Id="rId3" Type="http://schemas.openxmlformats.org/officeDocument/2006/relationships/oleObject" Target="../embeddings/oleObject178.bin"/><Relationship Id="rId2" Type="http://schemas.openxmlformats.org/officeDocument/2006/relationships/image" Target="../media/image4.wmf"/><Relationship Id="rId12" Type="http://schemas.openxmlformats.org/officeDocument/2006/relationships/notesSlide" Target="../notesSlides/notesSlide29.xml"/><Relationship Id="rId11" Type="http://schemas.openxmlformats.org/officeDocument/2006/relationships/vmlDrawing" Target="../drawings/vmlDrawing12.vml"/><Relationship Id="rId10" Type="http://schemas.openxmlformats.org/officeDocument/2006/relationships/slideLayout" Target="../slideLayouts/slideLayout4.xml"/><Relationship Id="rId1" Type="http://schemas.openxmlformats.org/officeDocument/2006/relationships/oleObject" Target="../embeddings/oleObject177.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85.bin"/><Relationship Id="rId8" Type="http://schemas.openxmlformats.org/officeDocument/2006/relationships/image" Target="../media/image10.png"/><Relationship Id="rId7" Type="http://schemas.openxmlformats.org/officeDocument/2006/relationships/image" Target="../media/image9.wmf"/><Relationship Id="rId6" Type="http://schemas.openxmlformats.org/officeDocument/2006/relationships/image" Target="../media/image8.jpeg"/><Relationship Id="rId5" Type="http://schemas.openxmlformats.org/officeDocument/2006/relationships/image" Target="../media/image5.wmf"/><Relationship Id="rId4" Type="http://schemas.openxmlformats.org/officeDocument/2006/relationships/oleObject" Target="../embeddings/oleObject184.bin"/><Relationship Id="rId3" Type="http://schemas.openxmlformats.org/officeDocument/2006/relationships/image" Target="../media/image4.wmf"/><Relationship Id="rId2" Type="http://schemas.openxmlformats.org/officeDocument/2006/relationships/oleObject" Target="../embeddings/oleObject183.bin"/><Relationship Id="rId15" Type="http://schemas.openxmlformats.org/officeDocument/2006/relationships/notesSlide" Target="../notesSlides/notesSlide33.xml"/><Relationship Id="rId14" Type="http://schemas.openxmlformats.org/officeDocument/2006/relationships/vmlDrawing" Target="../drawings/vmlDrawing13.vml"/><Relationship Id="rId13" Type="http://schemas.openxmlformats.org/officeDocument/2006/relationships/slideLayout" Target="../slideLayouts/slideLayout2.xml"/><Relationship Id="rId12" Type="http://schemas.openxmlformats.org/officeDocument/2006/relationships/oleObject" Target="../embeddings/oleObject188.bin"/><Relationship Id="rId11" Type="http://schemas.openxmlformats.org/officeDocument/2006/relationships/oleObject" Target="../embeddings/oleObject187.bin"/><Relationship Id="rId10" Type="http://schemas.openxmlformats.org/officeDocument/2006/relationships/oleObject" Target="../embeddings/oleObject186.bin"/><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9.wmf"/><Relationship Id="rId1" Type="http://schemas.openxmlformats.org/officeDocument/2006/relationships/image" Target="../media/image10.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9.wmf"/><Relationship Id="rId1" Type="http://schemas.openxmlformats.org/officeDocument/2006/relationships/image" Target="../media/image10.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1.png"/><Relationship Id="rId2" Type="http://schemas.openxmlformats.org/officeDocument/2006/relationships/image" Target="../media/image9.wmf"/><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9.wmf"/><Relationship Id="rId2" Type="http://schemas.openxmlformats.org/officeDocument/2006/relationships/image" Target="../media/image10.png"/><Relationship Id="rId1" Type="http://schemas.openxmlformats.org/officeDocument/2006/relationships/image" Target="../media/image1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44.xml"/><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91.bin"/><Relationship Id="rId4" Type="http://schemas.openxmlformats.org/officeDocument/2006/relationships/image" Target="../media/image5.wmf"/><Relationship Id="rId3" Type="http://schemas.openxmlformats.org/officeDocument/2006/relationships/oleObject" Target="../embeddings/oleObject190.bin"/><Relationship Id="rId2" Type="http://schemas.openxmlformats.org/officeDocument/2006/relationships/image" Target="../media/image4.wmf"/><Relationship Id="rId1" Type="http://schemas.openxmlformats.org/officeDocument/2006/relationships/oleObject" Target="../embeddings/oleObject189.bin"/></Relationships>
</file>

<file path=ppt/slides/_rels/slide50.xml.rels><?xml version="1.0" encoding="UTF-8" standalone="yes"?>
<Relationships xmlns="http://schemas.openxmlformats.org/package/2006/relationships"><Relationship Id="rId9" Type="http://schemas.openxmlformats.org/officeDocument/2006/relationships/notesSlide" Target="../notesSlides/notesSlide45.xml"/><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94.bin"/><Relationship Id="rId4" Type="http://schemas.openxmlformats.org/officeDocument/2006/relationships/image" Target="../media/image5.wmf"/><Relationship Id="rId3" Type="http://schemas.openxmlformats.org/officeDocument/2006/relationships/oleObject" Target="../embeddings/oleObject193.bin"/><Relationship Id="rId2" Type="http://schemas.openxmlformats.org/officeDocument/2006/relationships/image" Target="../media/image4.wmf"/><Relationship Id="rId1" Type="http://schemas.openxmlformats.org/officeDocument/2006/relationships/oleObject" Target="../embeddings/oleObject192.bin"/></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196.bin"/><Relationship Id="rId2" Type="http://schemas.openxmlformats.org/officeDocument/2006/relationships/image" Target="../media/image4.wmf"/><Relationship Id="rId1" Type="http://schemas.openxmlformats.org/officeDocument/2006/relationships/oleObject" Target="../embeddings/oleObject195.bin"/></Relationships>
</file>

<file path=ppt/slides/_rels/slide55.xml.rels><?xml version="1.0" encoding="UTF-8" standalone="yes"?>
<Relationships xmlns="http://schemas.openxmlformats.org/package/2006/relationships"><Relationship Id="rId9" Type="http://schemas.openxmlformats.org/officeDocument/2006/relationships/notesSlide" Target="../notesSlides/notesSlide50.xml"/><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99.bin"/><Relationship Id="rId4" Type="http://schemas.openxmlformats.org/officeDocument/2006/relationships/image" Target="../media/image5.wmf"/><Relationship Id="rId3" Type="http://schemas.openxmlformats.org/officeDocument/2006/relationships/oleObject" Target="../embeddings/oleObject198.bin"/><Relationship Id="rId2" Type="http://schemas.openxmlformats.org/officeDocument/2006/relationships/image" Target="../media/image4.wmf"/><Relationship Id="rId1" Type="http://schemas.openxmlformats.org/officeDocument/2006/relationships/oleObject" Target="../embeddings/oleObject197.bin"/></Relationships>
</file>

<file path=ppt/slides/_rels/slide56.xml.rels><?xml version="1.0" encoding="UTF-8" standalone="yes"?>
<Relationships xmlns="http://schemas.openxmlformats.org/package/2006/relationships"><Relationship Id="rId9" Type="http://schemas.openxmlformats.org/officeDocument/2006/relationships/notesSlide" Target="../notesSlides/notesSlide51.xml"/><Relationship Id="rId8" Type="http://schemas.openxmlformats.org/officeDocument/2006/relationships/vmlDrawing" Target="../drawings/vmlDrawing18.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02.bin"/><Relationship Id="rId4" Type="http://schemas.openxmlformats.org/officeDocument/2006/relationships/image" Target="../media/image5.wmf"/><Relationship Id="rId3" Type="http://schemas.openxmlformats.org/officeDocument/2006/relationships/oleObject" Target="../embeddings/oleObject201.bin"/><Relationship Id="rId2" Type="http://schemas.openxmlformats.org/officeDocument/2006/relationships/image" Target="../media/image4.wmf"/><Relationship Id="rId1" Type="http://schemas.openxmlformats.org/officeDocument/2006/relationships/oleObject" Target="../embeddings/oleObject200.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9" Type="http://schemas.openxmlformats.org/officeDocument/2006/relationships/notesSlide" Target="../notesSlides/notesSlide53.xml"/><Relationship Id="rId8" Type="http://schemas.openxmlformats.org/officeDocument/2006/relationships/vmlDrawing" Target="../drawings/vmlDrawing19.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05.bin"/><Relationship Id="rId4" Type="http://schemas.openxmlformats.org/officeDocument/2006/relationships/image" Target="../media/image5.wmf"/><Relationship Id="rId3" Type="http://schemas.openxmlformats.org/officeDocument/2006/relationships/oleObject" Target="../embeddings/oleObject204.bin"/><Relationship Id="rId2" Type="http://schemas.openxmlformats.org/officeDocument/2006/relationships/image" Target="../media/image4.wmf"/><Relationship Id="rId1" Type="http://schemas.openxmlformats.org/officeDocument/2006/relationships/oleObject" Target="../embeddings/oleObject203.bin"/></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54.xml"/><Relationship Id="rId8" Type="http://schemas.openxmlformats.org/officeDocument/2006/relationships/vmlDrawing" Target="../drawings/vmlDrawing20.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08.bin"/><Relationship Id="rId4" Type="http://schemas.openxmlformats.org/officeDocument/2006/relationships/image" Target="../media/image5.wmf"/><Relationship Id="rId3" Type="http://schemas.openxmlformats.org/officeDocument/2006/relationships/oleObject" Target="../embeddings/oleObject207.bin"/><Relationship Id="rId2" Type="http://schemas.openxmlformats.org/officeDocument/2006/relationships/image" Target="../media/image4.wmf"/><Relationship Id="rId1" Type="http://schemas.openxmlformats.org/officeDocument/2006/relationships/oleObject" Target="../embeddings/oleObject206.bin"/></Relationships>
</file>

<file path=ppt/slides/_rels/slide60.xml.rels><?xml version="1.0" encoding="UTF-8" standalone="yes"?>
<Relationships xmlns="http://schemas.openxmlformats.org/package/2006/relationships"><Relationship Id="rId9" Type="http://schemas.openxmlformats.org/officeDocument/2006/relationships/notesSlide" Target="../notesSlides/notesSlide55.xml"/><Relationship Id="rId8" Type="http://schemas.openxmlformats.org/officeDocument/2006/relationships/vmlDrawing" Target="../drawings/vmlDrawing21.vml"/><Relationship Id="rId7"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11.bin"/><Relationship Id="rId4" Type="http://schemas.openxmlformats.org/officeDocument/2006/relationships/image" Target="../media/image4.wmf"/><Relationship Id="rId3" Type="http://schemas.openxmlformats.org/officeDocument/2006/relationships/oleObject" Target="../embeddings/oleObject210.bin"/><Relationship Id="rId2" Type="http://schemas.openxmlformats.org/officeDocument/2006/relationships/image" Target="../media/image16.wmf"/><Relationship Id="rId1" Type="http://schemas.openxmlformats.org/officeDocument/2006/relationships/oleObject" Target="../embeddings/oleObject209.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9" Type="http://schemas.openxmlformats.org/officeDocument/2006/relationships/notesSlide" Target="../notesSlides/notesSlide58.xml"/><Relationship Id="rId8" Type="http://schemas.openxmlformats.org/officeDocument/2006/relationships/vmlDrawing" Target="../drawings/vmlDrawing22.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14.bin"/><Relationship Id="rId4" Type="http://schemas.openxmlformats.org/officeDocument/2006/relationships/image" Target="../media/image5.wmf"/><Relationship Id="rId3" Type="http://schemas.openxmlformats.org/officeDocument/2006/relationships/oleObject" Target="../embeddings/oleObject213.bin"/><Relationship Id="rId2" Type="http://schemas.openxmlformats.org/officeDocument/2006/relationships/image" Target="../media/image4.wmf"/><Relationship Id="rId1" Type="http://schemas.openxmlformats.org/officeDocument/2006/relationships/oleObject" Target="../embeddings/oleObject212.bin"/></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vmlDrawing" Target="../drawings/vmlDrawing23.vml"/><Relationship Id="rId3" Type="http://schemas.openxmlformats.org/officeDocument/2006/relationships/slideLayout" Target="../slideLayouts/slideLayout12.xml"/><Relationship Id="rId2" Type="http://schemas.openxmlformats.org/officeDocument/2006/relationships/image" Target="../media/image20.wmf"/><Relationship Id="rId1" Type="http://schemas.openxmlformats.org/officeDocument/2006/relationships/oleObject" Target="../embeddings/oleObject215.bin"/></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16.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image" Target="../media/image22.w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7.xml"/><Relationship Id="rId3" Type="http://schemas.openxmlformats.org/officeDocument/2006/relationships/image" Target="../media/image22.wmf"/><Relationship Id="rId2" Type="http://schemas.openxmlformats.org/officeDocument/2006/relationships/image" Target="../media/image9.wmf"/><Relationship Id="rId1" Type="http://schemas.openxmlformats.org/officeDocument/2006/relationships/image" Target="../media/image10.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image" Target="../media/image9.w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image" Target="../media/image9.wmf"/></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4.xml"/><Relationship Id="rId2" Type="http://schemas.openxmlformats.org/officeDocument/2006/relationships/image" Target="../media/image22.wmf"/><Relationship Id="rId1" Type="http://schemas.openxmlformats.org/officeDocument/2006/relationships/image" Target="../media/image9.wmf"/></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image" Target="../media/image22.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09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099" name="Rectangle 2"/>
          <p:cNvSpPr/>
          <p:nvPr/>
        </p:nvSpPr>
        <p:spPr>
          <a:xfrm>
            <a:off x="382588" y="493713"/>
            <a:ext cx="5764212" cy="1724025"/>
          </a:xfrm>
          <a:prstGeom prst="rect">
            <a:avLst/>
          </a:prstGeom>
          <a:noFill/>
          <a:ln w="9525">
            <a:noFill/>
          </a:ln>
        </p:spPr>
        <p:txBody>
          <a:bodyPr anchor="ctr" anchorCtr="0"/>
          <a:p>
            <a:pPr eaLnBrk="0" hangingPunct="0">
              <a:buClrTx/>
              <a:buFontTx/>
            </a:pPr>
            <a:r>
              <a:rPr lang="en-US" altLang="zh-CN" sz="4000" dirty="0">
                <a:solidFill>
                  <a:schemeClr val="accent2"/>
                </a:solidFill>
                <a:latin typeface="Comic Sans MS" panose="030F0702030302020204" pitchFamily="66" charset="0"/>
                <a:ea typeface="宋体" panose="02010600030101010101" pitchFamily="2" charset="-122"/>
              </a:rPr>
              <a:t>Chapter 6</a:t>
            </a:r>
            <a:br>
              <a:rPr lang="en-US" altLang="zh-CN" sz="4000" dirty="0">
                <a:solidFill>
                  <a:schemeClr val="accent2"/>
                </a:solidFill>
                <a:latin typeface="Comic Sans MS" panose="030F0702030302020204" pitchFamily="66" charset="0"/>
                <a:ea typeface="宋体" panose="02010600030101010101" pitchFamily="2" charset="-122"/>
              </a:rPr>
            </a:br>
            <a:r>
              <a:rPr lang="en-US" altLang="zh-CN" sz="4000" dirty="0">
                <a:solidFill>
                  <a:schemeClr val="accent2"/>
                </a:solidFill>
                <a:latin typeface="Comic Sans MS" panose="030F0702030302020204" pitchFamily="66" charset="0"/>
                <a:ea typeface="宋体" panose="02010600030101010101" pitchFamily="2" charset="-122"/>
              </a:rPr>
              <a:t>Wireless and Mobile Networks</a:t>
            </a:r>
            <a:endParaRPr lang="en-US" altLang="zh-CN" sz="4000" dirty="0">
              <a:solidFill>
                <a:schemeClr val="accent2"/>
              </a:solidFill>
              <a:latin typeface="Comic Sans MS" panose="030F0702030302020204" pitchFamily="66" charset="0"/>
              <a:ea typeface="宋体" panose="02010600030101010101" pitchFamily="2" charset="-122"/>
            </a:endParaRPr>
          </a:p>
        </p:txBody>
      </p:sp>
      <p:sp>
        <p:nvSpPr>
          <p:cNvPr id="4100" name="Text Box 4"/>
          <p:cNvSpPr txBox="1"/>
          <p:nvPr/>
        </p:nvSpPr>
        <p:spPr>
          <a:xfrm>
            <a:off x="393700" y="3392488"/>
            <a:ext cx="5378450" cy="3135312"/>
          </a:xfrm>
          <a:prstGeom prst="rect">
            <a:avLst/>
          </a:prstGeom>
          <a:noFill/>
          <a:ln w="9525">
            <a:noFill/>
          </a:ln>
        </p:spPr>
        <p:txBody>
          <a:bodyPr anchor="t" anchorCtr="0">
            <a:spAutoFit/>
          </a:bodyPr>
          <a:p>
            <a:pPr eaLnBrk="0" hangingPunct="0">
              <a:buClrTx/>
              <a:buFontTx/>
            </a:pPr>
            <a:r>
              <a:rPr lang="en-US" altLang="zh-CN" sz="2000" dirty="0">
                <a:latin typeface="Arial" panose="020B0604020202020204" pitchFamily="34" charset="0"/>
                <a:ea typeface="宋体" panose="02010600030101010101" pitchFamily="2" charset="-122"/>
              </a:rPr>
              <a:t>A note on the use of these ppt slides:</a:t>
            </a:r>
            <a:endParaRPr lang="en-US" altLang="zh-CN" sz="2000" dirty="0">
              <a:latin typeface="Arial" panose="020B0604020202020204" pitchFamily="34" charset="0"/>
              <a:ea typeface="宋体" panose="02010600030101010101" pitchFamily="2" charset="-122"/>
            </a:endParaRPr>
          </a:p>
          <a:p>
            <a:pPr eaLnBrk="0" hangingPunct="0">
              <a:buClrTx/>
              <a:buFontTx/>
            </a:pPr>
            <a:r>
              <a:rPr lang="en-US" altLang="zh-CN" sz="1200" dirty="0">
                <a:latin typeface="Arial" panose="020B0604020202020204" pitchFamily="34" charset="0"/>
                <a:ea typeface="宋体" panose="02010600030101010101" pitchFamily="2" charset="-122"/>
              </a:rPr>
              <a:t>We’re making these slides freely available to all (faculty, students, readers). They’re in PowerPoint form so you can add, modify, and delete slides  (including this one) and slide content to suit your needs. They obviously represent a </a:t>
            </a:r>
            <a:r>
              <a:rPr lang="en-US" altLang="zh-CN" sz="1200" i="1" dirty="0">
                <a:latin typeface="Arial" panose="020B0604020202020204" pitchFamily="34" charset="0"/>
                <a:ea typeface="宋体" panose="02010600030101010101" pitchFamily="2" charset="-122"/>
              </a:rPr>
              <a:t>lot</a:t>
            </a:r>
            <a:r>
              <a:rPr lang="en-US" altLang="zh-CN" sz="1200" dirty="0">
                <a:latin typeface="Arial" panose="020B0604020202020204" pitchFamily="34" charset="0"/>
                <a:ea typeface="宋体" panose="02010600030101010101" pitchFamily="2" charset="-122"/>
              </a:rPr>
              <a:t> of work on our part. In return for use, we only ask the following:</a:t>
            </a:r>
            <a:endParaRPr lang="en-US" altLang="zh-CN" sz="120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use these slides (e.g., in a class) in substantially unaltered form, that you mention their source (after all, we’d like people to use our book!)</a:t>
            </a:r>
            <a:endParaRPr lang="en-US" altLang="zh-CN" sz="120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r>
              <a:rPr lang="en-US" altLang="zh-CN" sz="1200" dirty="0">
                <a:latin typeface="Arial" panose="020B0604020202020204" pitchFamily="34" charset="0"/>
                <a:ea typeface="宋体" panose="02010600030101010101" pitchFamily="2" charset="-122"/>
              </a:rPr>
              <a:t> If you post any slides in substantially unaltered form on a www site, that you note that they are adapted from (or perhaps identical to) our slides, and note our copyright of this material.</a:t>
            </a:r>
            <a:endParaRPr lang="en-US" altLang="zh-CN" sz="120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buChar char="q"/>
            </a:pPr>
            <a:endParaRPr lang="en-US" altLang="zh-CN" sz="1200" dirty="0">
              <a:latin typeface="Arial" panose="020B0604020202020204" pitchFamily="34" charset="0"/>
              <a:ea typeface="宋体" panose="02010600030101010101" pitchFamily="2" charset="-122"/>
            </a:endParaRPr>
          </a:p>
          <a:p>
            <a:pPr eaLnBrk="0" hangingPunct="0">
              <a:buClr>
                <a:schemeClr val="accent2"/>
              </a:buClr>
              <a:buFont typeface="Wingdings" panose="05000000000000000000" pitchFamily="2" charset="2"/>
            </a:pPr>
            <a:r>
              <a:rPr lang="en-US" altLang="zh-CN" sz="1200" dirty="0">
                <a:latin typeface="Arial" panose="020B0604020202020204" pitchFamily="34" charset="0"/>
                <a:ea typeface="宋体" panose="02010600030101010101" pitchFamily="2" charset="-122"/>
              </a:rPr>
              <a:t>Thanks and enjoy!  JFK/KWR</a:t>
            </a:r>
            <a:endParaRPr lang="en-US" altLang="zh-CN" sz="1200" dirty="0">
              <a:latin typeface="Arial" panose="020B0604020202020204" pitchFamily="34" charset="0"/>
              <a:ea typeface="宋体" panose="02010600030101010101" pitchFamily="2" charset="-122"/>
            </a:endParaRPr>
          </a:p>
          <a:p>
            <a:pPr eaLnBrk="0" hangingPunct="0">
              <a:buClrTx/>
              <a:buFontTx/>
            </a:pPr>
            <a:endParaRPr lang="en-US" altLang="zh-CN" sz="1200" dirty="0">
              <a:latin typeface="Arial" panose="020B0604020202020204" pitchFamily="34" charset="0"/>
              <a:ea typeface="宋体" panose="02010600030101010101" pitchFamily="2" charset="-122"/>
            </a:endParaRPr>
          </a:p>
          <a:p>
            <a:pPr eaLnBrk="0" hangingPunct="0">
              <a:buClrTx/>
              <a:buFontTx/>
            </a:pPr>
            <a:r>
              <a:rPr lang="en-US" altLang="zh-CN" sz="1200" dirty="0">
                <a:latin typeface="Arial" panose="020B0604020202020204" pitchFamily="34" charset="0"/>
                <a:ea typeface="宋体" panose="02010600030101010101" pitchFamily="2" charset="-122"/>
              </a:rPr>
              <a:t>All material copyright 1996-2009</a:t>
            </a:r>
            <a:endParaRPr lang="en-US" altLang="zh-CN" sz="1200" dirty="0">
              <a:latin typeface="Arial" panose="020B0604020202020204" pitchFamily="34" charset="0"/>
              <a:ea typeface="宋体" panose="02010600030101010101" pitchFamily="2" charset="-122"/>
            </a:endParaRPr>
          </a:p>
          <a:p>
            <a:pPr eaLnBrk="0" hangingPunct="0">
              <a:buClrTx/>
              <a:buFontTx/>
            </a:pPr>
            <a:r>
              <a:rPr lang="en-US" altLang="zh-CN" sz="1200" dirty="0">
                <a:latin typeface="Arial" panose="020B0604020202020204" pitchFamily="34" charset="0"/>
                <a:ea typeface="宋体" panose="02010600030101010101" pitchFamily="2" charset="-122"/>
              </a:rPr>
              <a:t>J.F Kurose and K.W. Ross, All Rights Reserved</a:t>
            </a:r>
            <a:endParaRPr lang="en-US" altLang="zh-CN" sz="1200" dirty="0">
              <a:latin typeface="Arial" panose="020B0604020202020204" pitchFamily="34" charset="0"/>
              <a:ea typeface="宋体" panose="02010600030101010101" pitchFamily="2" charset="-122"/>
            </a:endParaRPr>
          </a:p>
        </p:txBody>
      </p:sp>
      <p:sp>
        <p:nvSpPr>
          <p:cNvPr id="4101" name="Rectangle 6"/>
          <p:cNvSpPr/>
          <p:nvPr/>
        </p:nvSpPr>
        <p:spPr>
          <a:xfrm>
            <a:off x="6229350" y="3486150"/>
            <a:ext cx="2730500" cy="2860675"/>
          </a:xfrm>
          <a:prstGeom prst="rect">
            <a:avLst/>
          </a:prstGeom>
          <a:noFill/>
          <a:ln w="9525">
            <a:noFill/>
          </a:ln>
        </p:spPr>
        <p:txBody>
          <a:bodyPr anchor="ctr" anchorCtr="0"/>
          <a:p>
            <a:pPr eaLnBrk="0" hangingPunct="0">
              <a:buClrTx/>
              <a:buFontTx/>
            </a:pPr>
            <a:r>
              <a:rPr lang="en-US" altLang="zh-CN" i="1" dirty="0">
                <a:solidFill>
                  <a:schemeClr val="accent2"/>
                </a:solidFill>
                <a:latin typeface="Comic Sans MS" panose="030F0702030302020204" pitchFamily="66" charset="0"/>
                <a:ea typeface="宋体" panose="02010600030101010101" pitchFamily="2" charset="-122"/>
              </a:rPr>
              <a:t>Computer Networking: A Top Down Approach </a:t>
            </a:r>
            <a:br>
              <a:rPr lang="en-US" altLang="zh-CN" dirty="0">
                <a:solidFill>
                  <a:schemeClr val="accent2"/>
                </a:solidFill>
                <a:latin typeface="Comic Sans MS" panose="030F0702030302020204" pitchFamily="66" charset="0"/>
                <a:ea typeface="宋体" panose="02010600030101010101" pitchFamily="2" charset="-122"/>
              </a:rPr>
            </a:br>
            <a:r>
              <a:rPr lang="en-US" altLang="zh-CN" dirty="0">
                <a:solidFill>
                  <a:schemeClr val="accent2"/>
                </a:solidFill>
                <a:latin typeface="Comic Sans MS" panose="030F0702030302020204" pitchFamily="66" charset="0"/>
                <a:ea typeface="宋体" panose="02010600030101010101" pitchFamily="2" charset="-122"/>
              </a:rPr>
              <a:t>5</a:t>
            </a:r>
            <a:r>
              <a:rPr lang="en-US" altLang="zh-CN" baseline="30000" dirty="0">
                <a:solidFill>
                  <a:schemeClr val="accent2"/>
                </a:solidFill>
                <a:latin typeface="Comic Sans MS" panose="030F0702030302020204" pitchFamily="66" charset="0"/>
                <a:ea typeface="宋体" panose="02010600030101010101" pitchFamily="2" charset="-122"/>
              </a:rPr>
              <a:t>th</a:t>
            </a:r>
            <a:r>
              <a:rPr lang="en-US" altLang="zh-CN" dirty="0">
                <a:solidFill>
                  <a:schemeClr val="accent2"/>
                </a:solidFill>
                <a:latin typeface="Comic Sans MS" panose="030F0702030302020204" pitchFamily="66" charset="0"/>
                <a:ea typeface="宋体" panose="02010600030101010101" pitchFamily="2" charset="-122"/>
              </a:rPr>
              <a:t> edition. </a:t>
            </a:r>
            <a:br>
              <a:rPr lang="en-US" altLang="zh-CN" dirty="0">
                <a:solidFill>
                  <a:schemeClr val="accent2"/>
                </a:solidFill>
                <a:latin typeface="Comic Sans MS" panose="030F0702030302020204" pitchFamily="66" charset="0"/>
                <a:ea typeface="宋体" panose="02010600030101010101" pitchFamily="2" charset="-122"/>
              </a:rPr>
            </a:br>
            <a:r>
              <a:rPr lang="en-US" altLang="zh-CN" dirty="0">
                <a:solidFill>
                  <a:schemeClr val="accent2"/>
                </a:solidFill>
                <a:latin typeface="Comic Sans MS" panose="030F0702030302020204" pitchFamily="66" charset="0"/>
                <a:ea typeface="宋体" panose="02010600030101010101" pitchFamily="2" charset="-122"/>
              </a:rPr>
              <a:t>Jim Kurose, Keith Ross</a:t>
            </a:r>
            <a:br>
              <a:rPr lang="en-US" altLang="zh-CN" dirty="0">
                <a:solidFill>
                  <a:schemeClr val="accent2"/>
                </a:solidFill>
                <a:latin typeface="Comic Sans MS" panose="030F0702030302020204" pitchFamily="66" charset="0"/>
                <a:ea typeface="宋体" panose="02010600030101010101" pitchFamily="2" charset="-122"/>
              </a:rPr>
            </a:br>
            <a:r>
              <a:rPr lang="en-US" altLang="zh-CN" dirty="0">
                <a:solidFill>
                  <a:schemeClr val="accent2"/>
                </a:solidFill>
                <a:latin typeface="Comic Sans MS" panose="030F0702030302020204" pitchFamily="66" charset="0"/>
                <a:ea typeface="宋体" panose="02010600030101010101" pitchFamily="2" charset="-122"/>
              </a:rPr>
              <a:t>Addison-Wesley, April 2009. </a:t>
            </a:r>
            <a:br>
              <a:rPr lang="en-US" altLang="zh-CN" dirty="0">
                <a:solidFill>
                  <a:schemeClr val="accent2"/>
                </a:solidFill>
                <a:latin typeface="Comic Sans MS" panose="030F0702030302020204" pitchFamily="66" charset="0"/>
                <a:ea typeface="宋体" panose="02010600030101010101" pitchFamily="2" charset="-122"/>
              </a:rPr>
            </a:br>
            <a:endParaRPr lang="en-US" altLang="zh-CN" dirty="0">
              <a:solidFill>
                <a:schemeClr val="accent2"/>
              </a:solidFill>
              <a:latin typeface="Comic Sans MS" panose="030F0702030302020204" pitchFamily="66" charset="0"/>
              <a:ea typeface="宋体" panose="02010600030101010101" pitchFamily="2" charset="-122"/>
            </a:endParaRPr>
          </a:p>
        </p:txBody>
      </p:sp>
      <p:pic>
        <p:nvPicPr>
          <p:cNvPr id="4102" name="Picture 8"/>
          <p:cNvPicPr>
            <a:picLocks noChangeAspect="1"/>
          </p:cNvPicPr>
          <p:nvPr/>
        </p:nvPicPr>
        <p:blipFill>
          <a:blip r:embed="rId1"/>
          <a:stretch>
            <a:fillRect/>
          </a:stretch>
        </p:blipFill>
        <p:spPr>
          <a:xfrm>
            <a:off x="6289675" y="390525"/>
            <a:ext cx="2425700" cy="29940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14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147" name="Rectangle 2"/>
          <p:cNvSpPr>
            <a:spLocks noGrp="1"/>
          </p:cNvSpPr>
          <p:nvPr>
            <p:ph type="title"/>
          </p:nvPr>
        </p:nvSpPr>
        <p:spPr>
          <a:xfrm>
            <a:off x="246063" y="255588"/>
            <a:ext cx="8610600" cy="1143000"/>
          </a:xfrm>
          <a:ln/>
        </p:spPr>
        <p:txBody>
          <a:bodyPr vert="horz" wrap="square" lIns="91440" tIns="45720" rIns="91440" bIns="45720" anchor="ctr" anchorCtr="0"/>
          <a:p>
            <a:r>
              <a:rPr lang="en-US" altLang="zh-CN" sz="3200" dirty="0">
                <a:ea typeface="宋体" panose="02010600030101010101" pitchFamily="2" charset="-122"/>
              </a:rPr>
              <a:t>Chapter 6: Wireless and Mobile Networks</a:t>
            </a:r>
            <a:endParaRPr lang="en-US" altLang="zh-CN" sz="3200" dirty="0">
              <a:ea typeface="宋体" panose="02010600030101010101" pitchFamily="2" charset="-122"/>
            </a:endParaRPr>
          </a:p>
        </p:txBody>
      </p:sp>
      <p:sp>
        <p:nvSpPr>
          <p:cNvPr id="6148" name="Rectangle 3"/>
          <p:cNvSpPr>
            <a:spLocks noGrp="1"/>
          </p:cNvSpPr>
          <p:nvPr>
            <p:ph sz="half" idx="1"/>
          </p:nvPr>
        </p:nvSpPr>
        <p:spPr>
          <a:xfrm>
            <a:off x="533400" y="1371600"/>
            <a:ext cx="7305675" cy="4648200"/>
          </a:xfrm>
          <a:ln/>
        </p:spPr>
        <p:txBody>
          <a:bodyPr vert="horz" wrap="square" lIns="91440" tIns="45720" rIns="91440" bIns="45720" anchor="t" anchorCtr="0"/>
          <a:p>
            <a:pPr>
              <a:buClr>
                <a:schemeClr val="accent2"/>
              </a:buClr>
              <a:buSzPct val="85000"/>
              <a:buFont typeface="ZapfDingbats" pitchFamily="82" charset="2"/>
              <a:buNone/>
            </a:pPr>
            <a:r>
              <a:rPr lang="en-US" altLang="zh-CN" u="sng" dirty="0">
                <a:solidFill>
                  <a:srgbClr val="FF0000"/>
                </a:solidFill>
                <a:ea typeface="宋体" panose="02010600030101010101" pitchFamily="2" charset="-122"/>
              </a:rPr>
              <a:t>Background:</a:t>
            </a:r>
            <a:r>
              <a:rPr lang="en-US" altLang="zh-CN" sz="2400" dirty="0">
                <a:ea typeface="宋体" panose="02010600030101010101" pitchFamily="2" charset="-122"/>
              </a:rPr>
              <a:t> </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 wireless (mobile) phone subscribers now exceeds # wired phone subscribers!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computer nets: laptops, palmtops, PDAs, Internet-enabled phone promise anytime untethered Internet access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two important (but different) challenges</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i="1" dirty="0">
                <a:solidFill>
                  <a:srgbClr val="FF3300"/>
                </a:solidFill>
                <a:ea typeface="宋体" panose="02010600030101010101" pitchFamily="2" charset="-122"/>
              </a:rPr>
              <a:t>wireless:</a:t>
            </a:r>
            <a:r>
              <a:rPr lang="en-US" altLang="zh-CN" sz="2000" dirty="0">
                <a:ea typeface="宋体" panose="02010600030101010101" pitchFamily="2" charset="-122"/>
              </a:rPr>
              <a:t> communication over wireless link</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i="1" dirty="0">
                <a:solidFill>
                  <a:srgbClr val="FF3300"/>
                </a:solidFill>
                <a:ea typeface="宋体" panose="02010600030101010101" pitchFamily="2" charset="-122"/>
              </a:rPr>
              <a:t>mobility:</a:t>
            </a:r>
            <a:r>
              <a:rPr lang="en-US" altLang="zh-CN" sz="2000" dirty="0">
                <a:ea typeface="宋体" panose="02010600030101010101" pitchFamily="2" charset="-122"/>
              </a:rPr>
              <a:t> handling the mobile user who changes point of attachment to network</a:t>
            </a:r>
            <a:endParaRPr lang="en-US" altLang="zh-CN" sz="2000"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819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19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outline</a:t>
            </a:r>
            <a:endParaRPr lang="en-US" altLang="zh-CN" dirty="0">
              <a:ea typeface="宋体" panose="02010600030101010101" pitchFamily="2" charset="-122"/>
            </a:endParaRPr>
          </a:p>
        </p:txBody>
      </p:sp>
      <p:sp>
        <p:nvSpPr>
          <p:cNvPr id="8196"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FF0000"/>
                </a:solidFill>
                <a:ea typeface="宋体" panose="02010600030101010101" pitchFamily="2" charset="-122"/>
              </a:rPr>
              <a:t>6.1 Introduction </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buNone/>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Wireless</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6.2 </a:t>
            </a:r>
            <a:r>
              <a:rPr lang="en-US" altLang="zh-CN" sz="2400" dirty="0">
                <a:ea typeface="宋体" panose="02010600030101010101" pitchFamily="2" charset="-122"/>
              </a:rPr>
              <a:t>Wireless links, characteristics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6.3 </a:t>
            </a:r>
            <a:r>
              <a:rPr lang="en-US" altLang="zh-CN" sz="2400" dirty="0">
                <a:ea typeface="宋体" panose="02010600030101010101" pitchFamily="2" charset="-122"/>
              </a:rPr>
              <a:t>IEEE 802.11 wireless LANs (“wi-fi”)</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6.4</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Cellular Internet Access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a:t>
            </a:r>
            <a:endParaRPr lang="en-US" altLang="zh-CN" sz="2000" dirty="0">
              <a:ea typeface="宋体" panose="02010600030101010101" pitchFamily="2" charset="-122"/>
            </a:endParaRPr>
          </a:p>
        </p:txBody>
      </p:sp>
      <p:sp>
        <p:nvSpPr>
          <p:cNvPr id="8197" name="Rectangle 4"/>
          <p:cNvSpPr>
            <a:spLocks noGrp="1"/>
          </p:cNvSpPr>
          <p:nvPr>
            <p:ph sz="half" idx="2"/>
          </p:nvPr>
        </p:nvSpPr>
        <p:spPr>
          <a:xfrm>
            <a:off x="4495800" y="1600200"/>
            <a:ext cx="4054475"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Mobility</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6.5</a:t>
            </a:r>
            <a:r>
              <a:rPr lang="en-US" altLang="zh-CN" sz="2400" dirty="0">
                <a:ea typeface="宋体" panose="02010600030101010101" pitchFamily="2" charset="-122"/>
              </a:rPr>
              <a:t> Principles: addressing and routing to mobile users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6.6</a:t>
            </a:r>
            <a:r>
              <a:rPr lang="en-US" altLang="zh-CN" sz="2400" dirty="0">
                <a:ea typeface="宋体" panose="02010600030101010101" pitchFamily="2" charset="-122"/>
              </a:rPr>
              <a:t> Mobile IP</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6.7</a:t>
            </a:r>
            <a:r>
              <a:rPr lang="en-US" altLang="zh-CN" sz="2400" dirty="0">
                <a:ea typeface="宋体" panose="02010600030101010101" pitchFamily="2" charset="-122"/>
              </a:rPr>
              <a:t> Handling mobility in cellular networks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6.8</a:t>
            </a:r>
            <a:r>
              <a:rPr lang="en-US" altLang="zh-CN" sz="2400" dirty="0">
                <a:ea typeface="宋体" panose="02010600030101010101" pitchFamily="2" charset="-122"/>
              </a:rPr>
              <a:t> Mobility and higher-layer protocols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6.9</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Summary</a:t>
            </a:r>
            <a:endParaRPr lang="en-US" altLang="zh-CN" sz="2400"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242"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243" name="Rectangle 4"/>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Elements of a wireless network</a:t>
            </a:r>
            <a:endParaRPr lang="en-US" altLang="zh-CN" sz="3200" dirty="0">
              <a:ea typeface="宋体" panose="02010600030101010101" pitchFamily="2" charset="-122"/>
            </a:endParaRPr>
          </a:p>
        </p:txBody>
      </p:sp>
      <p:sp>
        <p:nvSpPr>
          <p:cNvPr id="10244" name="Oval 5"/>
          <p:cNvSpPr/>
          <p:nvPr/>
        </p:nvSpPr>
        <p:spPr>
          <a:xfrm>
            <a:off x="4940300" y="466725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245" name="Group 6"/>
          <p:cNvGrpSpPr/>
          <p:nvPr/>
        </p:nvGrpSpPr>
        <p:grpSpPr>
          <a:xfrm>
            <a:off x="3059113" y="2781300"/>
            <a:ext cx="2362200" cy="1762125"/>
            <a:chOff x="3839" y="1737"/>
            <a:chExt cx="1488" cy="1110"/>
          </a:xfrm>
        </p:grpSpPr>
        <p:sp>
          <p:nvSpPr>
            <p:cNvPr id="10246" name="Freeform 7"/>
            <p:cNvSpPr/>
            <p:nvPr/>
          </p:nvSpPr>
          <p:spPr>
            <a:xfrm>
              <a:off x="3839" y="1737"/>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10247" name="Text Box 8"/>
            <p:cNvSpPr txBox="1"/>
            <p:nvPr/>
          </p:nvSpPr>
          <p:spPr>
            <a:xfrm>
              <a:off x="4075" y="1947"/>
              <a:ext cx="1094" cy="404"/>
            </a:xfrm>
            <a:prstGeom prst="rect">
              <a:avLst/>
            </a:prstGeom>
            <a:noFill/>
            <a:ln w="9525">
              <a:noFill/>
            </a:ln>
          </p:spPr>
          <p:txBody>
            <a:bodyPr wrap="none" anchor="t" anchorCtr="0">
              <a:spAutoFit/>
            </a:bodyPr>
            <a:p>
              <a:pPr algn="ctr">
                <a:buClrTx/>
                <a:buFontTx/>
              </a:pPr>
              <a:r>
                <a:rPr lang="en-US" altLang="zh-CN" dirty="0">
                  <a:latin typeface="Comic Sans MS" panose="030F0702030302020204" pitchFamily="66" charset="0"/>
                  <a:ea typeface="宋体" panose="02010600030101010101" pitchFamily="2" charset="-122"/>
                </a:rPr>
                <a:t>network </a:t>
              </a:r>
              <a:endParaRPr lang="en-US" altLang="zh-CN" dirty="0">
                <a:latin typeface="Comic Sans MS" panose="030F0702030302020204" pitchFamily="66" charset="0"/>
                <a:ea typeface="宋体" panose="02010600030101010101" pitchFamily="2" charset="-122"/>
              </a:endParaRPr>
            </a:p>
            <a:p>
              <a:pPr algn="ctr">
                <a:buClrTx/>
                <a:buFontTx/>
              </a:pPr>
              <a:r>
                <a:rPr lang="en-US" altLang="zh-CN" dirty="0">
                  <a:latin typeface="Comic Sans MS" panose="030F0702030302020204" pitchFamily="66" charset="0"/>
                  <a:ea typeface="宋体" panose="02010600030101010101" pitchFamily="2" charset="-122"/>
                </a:rPr>
                <a:t>infrastructure</a:t>
              </a:r>
              <a:endParaRPr lang="en-US" altLang="zh-CN" dirty="0">
                <a:latin typeface="Comic Sans MS" panose="030F0702030302020204" pitchFamily="66" charset="0"/>
                <a:ea typeface="宋体" panose="02010600030101010101" pitchFamily="2" charset="-122"/>
              </a:endParaRPr>
            </a:p>
          </p:txBody>
        </p:sp>
      </p:grpSp>
      <p:pic>
        <p:nvPicPr>
          <p:cNvPr id="10248" name="Picture 9"/>
          <p:cNvPicPr>
            <a:picLocks noChangeAspect="1"/>
          </p:cNvPicPr>
          <p:nvPr/>
        </p:nvPicPr>
        <p:blipFill>
          <a:blip r:embed="rId1"/>
          <a:stretch>
            <a:fillRect/>
          </a:stretch>
        </p:blipFill>
        <p:spPr>
          <a:xfrm>
            <a:off x="5775325" y="5245100"/>
            <a:ext cx="214313" cy="336550"/>
          </a:xfrm>
          <a:prstGeom prst="rect">
            <a:avLst/>
          </a:prstGeom>
          <a:noFill/>
          <a:ln w="9525">
            <a:noFill/>
          </a:ln>
        </p:spPr>
      </p:pic>
      <p:grpSp>
        <p:nvGrpSpPr>
          <p:cNvPr id="10249" name="Group 10"/>
          <p:cNvGrpSpPr/>
          <p:nvPr/>
        </p:nvGrpSpPr>
        <p:grpSpPr>
          <a:xfrm>
            <a:off x="1147763" y="1709738"/>
            <a:ext cx="1755775" cy="1625600"/>
            <a:chOff x="567" y="1326"/>
            <a:chExt cx="1106" cy="1024"/>
          </a:xfrm>
        </p:grpSpPr>
        <p:sp>
          <p:nvSpPr>
            <p:cNvPr id="10250" name="Oval 11"/>
            <p:cNvSpPr/>
            <p:nvPr/>
          </p:nvSpPr>
          <p:spPr>
            <a:xfrm>
              <a:off x="567" y="1326"/>
              <a:ext cx="1106" cy="1024"/>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0251" name="Picture 12"/>
            <p:cNvPicPr>
              <a:picLocks noChangeAspect="1"/>
            </p:cNvPicPr>
            <p:nvPr/>
          </p:nvPicPr>
          <p:blipFill>
            <a:blip r:embed="rId2"/>
            <a:stretch>
              <a:fillRect/>
            </a:stretch>
          </p:blipFill>
          <p:spPr>
            <a:xfrm rot="-5400000">
              <a:off x="1032" y="1783"/>
              <a:ext cx="212" cy="135"/>
            </a:xfrm>
            <a:prstGeom prst="rect">
              <a:avLst/>
            </a:prstGeom>
            <a:solidFill>
              <a:srgbClr val="99CCFF"/>
            </a:solidFill>
            <a:ln w="9525">
              <a:noFill/>
            </a:ln>
          </p:spPr>
        </p:pic>
        <p:grpSp>
          <p:nvGrpSpPr>
            <p:cNvPr id="10252" name="Group 13"/>
            <p:cNvGrpSpPr/>
            <p:nvPr/>
          </p:nvGrpSpPr>
          <p:grpSpPr>
            <a:xfrm>
              <a:off x="1221" y="1447"/>
              <a:ext cx="252" cy="288"/>
              <a:chOff x="2870" y="1518"/>
              <a:chExt cx="292" cy="320"/>
            </a:xfrm>
          </p:grpSpPr>
          <p:graphicFrame>
            <p:nvGraphicFramePr>
              <p:cNvPr id="10253" name="Object 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8" name="" r:id="rId3" imgW="826770" imgH="840105" progId="MS_ClipArt_Gallery.2">
                      <p:embed/>
                    </p:oleObj>
                  </mc:Choice>
                  <mc:Fallback>
                    <p:oleObj name="" r:id="rId3" imgW="826770" imgH="840105" progId="MS_ClipArt_Gallery.2">
                      <p:embed/>
                      <p:pic>
                        <p:nvPicPr>
                          <p:cNvPr id="0" name="图片 3077"/>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0254" name="Object 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6" name="" r:id="rId5" imgW="1268095" imgH="1199515" progId="MS_ClipArt_Gallery.2">
                      <p:embed/>
                    </p:oleObj>
                  </mc:Choice>
                  <mc:Fallback>
                    <p:oleObj name="" r:id="rId5" imgW="1268095" imgH="1199515" progId="MS_ClipArt_Gallery.2">
                      <p:embed/>
                      <p:pic>
                        <p:nvPicPr>
                          <p:cNvPr id="0" name="图片 3075"/>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0255" name="Group 16"/>
            <p:cNvGrpSpPr/>
            <p:nvPr/>
          </p:nvGrpSpPr>
          <p:grpSpPr>
            <a:xfrm>
              <a:off x="869" y="1379"/>
              <a:ext cx="252" cy="288"/>
              <a:chOff x="2870" y="1518"/>
              <a:chExt cx="292" cy="320"/>
            </a:xfrm>
          </p:grpSpPr>
          <p:graphicFrame>
            <p:nvGraphicFramePr>
              <p:cNvPr id="10256" name="Object 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9" name="" r:id="rId7" imgW="826770" imgH="840105" progId="MS_ClipArt_Gallery.2">
                      <p:embed/>
                    </p:oleObj>
                  </mc:Choice>
                  <mc:Fallback>
                    <p:oleObj name="" r:id="rId7" imgW="826770" imgH="840105" progId="MS_ClipArt_Gallery.2">
                      <p:embed/>
                      <p:pic>
                        <p:nvPicPr>
                          <p:cNvPr id="0" name="图片 3078"/>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0257" name="Object 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0" name="" r:id="rId8" imgW="1268095" imgH="1199515" progId="MS_ClipArt_Gallery.2">
                      <p:embed/>
                    </p:oleObj>
                  </mc:Choice>
                  <mc:Fallback>
                    <p:oleObj name="" r:id="rId8" imgW="1268095" imgH="1199515" progId="MS_ClipArt_Gallery.2">
                      <p:embed/>
                      <p:pic>
                        <p:nvPicPr>
                          <p:cNvPr id="0" name="图片 3079"/>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0258" name="Group 19"/>
            <p:cNvGrpSpPr/>
            <p:nvPr/>
          </p:nvGrpSpPr>
          <p:grpSpPr>
            <a:xfrm>
              <a:off x="727" y="1878"/>
              <a:ext cx="252" cy="288"/>
              <a:chOff x="2870" y="1518"/>
              <a:chExt cx="292" cy="320"/>
            </a:xfrm>
          </p:grpSpPr>
          <p:graphicFrame>
            <p:nvGraphicFramePr>
              <p:cNvPr id="10259" name="Object 2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2" name="" r:id="rId9" imgW="826770" imgH="840105" progId="MS_ClipArt_Gallery.2">
                      <p:embed/>
                    </p:oleObj>
                  </mc:Choice>
                  <mc:Fallback>
                    <p:oleObj name="" r:id="rId9" imgW="826770" imgH="840105" progId="MS_ClipArt_Gallery.2">
                      <p:embed/>
                      <p:pic>
                        <p:nvPicPr>
                          <p:cNvPr id="0" name="图片 3081"/>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0260" name="Object 2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7" name="" r:id="rId10" imgW="1268095" imgH="1199515" progId="MS_ClipArt_Gallery.2">
                      <p:embed/>
                    </p:oleObj>
                  </mc:Choice>
                  <mc:Fallback>
                    <p:oleObj name="" r:id="rId10" imgW="1268095" imgH="1199515" progId="MS_ClipArt_Gallery.2">
                      <p:embed/>
                      <p:pic>
                        <p:nvPicPr>
                          <p:cNvPr id="0" name="图片 3076"/>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sp>
        <p:nvSpPr>
          <p:cNvPr id="10261" name="Line 22"/>
          <p:cNvSpPr/>
          <p:nvPr/>
        </p:nvSpPr>
        <p:spPr>
          <a:xfrm>
            <a:off x="2176463" y="2711450"/>
            <a:ext cx="900112" cy="392113"/>
          </a:xfrm>
          <a:prstGeom prst="line">
            <a:avLst/>
          </a:prstGeom>
          <a:ln w="9525" cap="flat" cmpd="sng">
            <a:solidFill>
              <a:schemeClr val="tx1"/>
            </a:solidFill>
            <a:prstDash val="solid"/>
            <a:round/>
            <a:headEnd type="none" w="med" len="med"/>
            <a:tailEnd type="none" w="med" len="med"/>
          </a:ln>
        </p:spPr>
      </p:sp>
      <p:sp>
        <p:nvSpPr>
          <p:cNvPr id="10262" name="Oval 23"/>
          <p:cNvSpPr/>
          <p:nvPr/>
        </p:nvSpPr>
        <p:spPr>
          <a:xfrm>
            <a:off x="1243013" y="363220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0263" name="Picture 24"/>
          <p:cNvPicPr>
            <a:picLocks noChangeAspect="1"/>
          </p:cNvPicPr>
          <p:nvPr/>
        </p:nvPicPr>
        <p:blipFill>
          <a:blip r:embed="rId1"/>
          <a:stretch>
            <a:fillRect/>
          </a:stretch>
        </p:blipFill>
        <p:spPr>
          <a:xfrm>
            <a:off x="2046288" y="4300538"/>
            <a:ext cx="214312" cy="336550"/>
          </a:xfrm>
          <a:prstGeom prst="rect">
            <a:avLst/>
          </a:prstGeom>
          <a:noFill/>
          <a:ln w="9525">
            <a:noFill/>
          </a:ln>
        </p:spPr>
      </p:pic>
      <p:grpSp>
        <p:nvGrpSpPr>
          <p:cNvPr id="10264" name="Group 25"/>
          <p:cNvGrpSpPr/>
          <p:nvPr/>
        </p:nvGrpSpPr>
        <p:grpSpPr>
          <a:xfrm>
            <a:off x="2033588" y="4651375"/>
            <a:ext cx="400050" cy="457200"/>
            <a:chOff x="2870" y="1518"/>
            <a:chExt cx="292" cy="320"/>
          </a:xfrm>
        </p:grpSpPr>
        <p:graphicFrame>
          <p:nvGraphicFramePr>
            <p:cNvPr id="10265" name="Object 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1" name="" r:id="rId11" imgW="826770" imgH="840105" progId="MS_ClipArt_Gallery.2">
                    <p:embed/>
                  </p:oleObj>
                </mc:Choice>
                <mc:Fallback>
                  <p:oleObj name="" r:id="rId11" imgW="826770" imgH="840105" progId="MS_ClipArt_Gallery.2">
                    <p:embed/>
                    <p:pic>
                      <p:nvPicPr>
                        <p:cNvPr id="0" name="图片 308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66" name="Object 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3" name="" r:id="rId12" imgW="1268095" imgH="1199515" progId="MS_ClipArt_Gallery.2">
                    <p:embed/>
                  </p:oleObj>
                </mc:Choice>
                <mc:Fallback>
                  <p:oleObj name="" r:id="rId12" imgW="1268095" imgH="1199515" progId="MS_ClipArt_Gallery.2">
                    <p:embed/>
                    <p:pic>
                      <p:nvPicPr>
                        <p:cNvPr id="0" name="图片 308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67" name="Group 28"/>
          <p:cNvGrpSpPr/>
          <p:nvPr/>
        </p:nvGrpSpPr>
        <p:grpSpPr>
          <a:xfrm>
            <a:off x="1882775" y="3702050"/>
            <a:ext cx="400050" cy="457200"/>
            <a:chOff x="2870" y="1518"/>
            <a:chExt cx="292" cy="320"/>
          </a:xfrm>
        </p:grpSpPr>
        <p:graphicFrame>
          <p:nvGraphicFramePr>
            <p:cNvPr id="10268" name="Object 2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2" name="" r:id="rId13" imgW="826770" imgH="840105" progId="MS_ClipArt_Gallery.2">
                    <p:embed/>
                  </p:oleObj>
                </mc:Choice>
                <mc:Fallback>
                  <p:oleObj name="" r:id="rId13" imgW="826770" imgH="840105" progId="MS_ClipArt_Gallery.2">
                    <p:embed/>
                    <p:pic>
                      <p:nvPicPr>
                        <p:cNvPr id="0" name="图片 3091"/>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69" name="Object 3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6" name="" r:id="rId14" imgW="1268095" imgH="1199515" progId="MS_ClipArt_Gallery.2">
                    <p:embed/>
                  </p:oleObj>
                </mc:Choice>
                <mc:Fallback>
                  <p:oleObj name="" r:id="rId14" imgW="1268095" imgH="1199515" progId="MS_ClipArt_Gallery.2">
                    <p:embed/>
                    <p:pic>
                      <p:nvPicPr>
                        <p:cNvPr id="0" name="图片 309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70" name="Group 31"/>
          <p:cNvGrpSpPr/>
          <p:nvPr/>
        </p:nvGrpSpPr>
        <p:grpSpPr>
          <a:xfrm>
            <a:off x="1497013" y="4508500"/>
            <a:ext cx="400050" cy="457200"/>
            <a:chOff x="2870" y="1518"/>
            <a:chExt cx="292" cy="320"/>
          </a:xfrm>
        </p:grpSpPr>
        <p:graphicFrame>
          <p:nvGraphicFramePr>
            <p:cNvPr id="10271" name="Object 3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7" name="" r:id="rId15" imgW="826770" imgH="840105" progId="MS_ClipArt_Gallery.2">
                    <p:embed/>
                  </p:oleObj>
                </mc:Choice>
                <mc:Fallback>
                  <p:oleObj name="" r:id="rId15" imgW="826770" imgH="840105" progId="MS_ClipArt_Gallery.2">
                    <p:embed/>
                    <p:pic>
                      <p:nvPicPr>
                        <p:cNvPr id="0" name="图片 309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72" name="Object 3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3" name="" r:id="rId16" imgW="1268095" imgH="1199515" progId="MS_ClipArt_Gallery.2">
                    <p:embed/>
                  </p:oleObj>
                </mc:Choice>
                <mc:Fallback>
                  <p:oleObj name="" r:id="rId16" imgW="1268095" imgH="1199515" progId="MS_ClipArt_Gallery.2">
                    <p:embed/>
                    <p:pic>
                      <p:nvPicPr>
                        <p:cNvPr id="0" name="图片 309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0273" name="Line 34"/>
          <p:cNvSpPr/>
          <p:nvPr/>
        </p:nvSpPr>
        <p:spPr>
          <a:xfrm flipV="1">
            <a:off x="2197100" y="3721100"/>
            <a:ext cx="974725" cy="725488"/>
          </a:xfrm>
          <a:prstGeom prst="line">
            <a:avLst/>
          </a:prstGeom>
          <a:ln w="9525" cap="flat" cmpd="sng">
            <a:solidFill>
              <a:schemeClr val="tx1"/>
            </a:solidFill>
            <a:prstDash val="solid"/>
            <a:round/>
            <a:headEnd type="none" w="med" len="med"/>
            <a:tailEnd type="none" w="med" len="med"/>
          </a:ln>
        </p:spPr>
      </p:sp>
      <p:grpSp>
        <p:nvGrpSpPr>
          <p:cNvPr id="10274" name="Group 35"/>
          <p:cNvGrpSpPr/>
          <p:nvPr/>
        </p:nvGrpSpPr>
        <p:grpSpPr>
          <a:xfrm>
            <a:off x="1373188" y="3960813"/>
            <a:ext cx="400050" cy="457200"/>
            <a:chOff x="2870" y="1518"/>
            <a:chExt cx="292" cy="320"/>
          </a:xfrm>
        </p:grpSpPr>
        <p:graphicFrame>
          <p:nvGraphicFramePr>
            <p:cNvPr id="10275" name="Object 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9" name="" r:id="rId17" imgW="826770" imgH="840105" progId="MS_ClipArt_Gallery.2">
                    <p:embed/>
                  </p:oleObj>
                </mc:Choice>
                <mc:Fallback>
                  <p:oleObj name="" r:id="rId17" imgW="826770" imgH="840105" progId="MS_ClipArt_Gallery.2">
                    <p:embed/>
                    <p:pic>
                      <p:nvPicPr>
                        <p:cNvPr id="0" name="图片 309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76" name="Object 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8" name="" r:id="rId18" imgW="1268095" imgH="1199515" progId="MS_ClipArt_Gallery.2">
                    <p:embed/>
                  </p:oleObj>
                </mc:Choice>
                <mc:Fallback>
                  <p:oleObj name="" r:id="rId18" imgW="1268095" imgH="1199515" progId="MS_ClipArt_Gallery.2">
                    <p:embed/>
                    <p:pic>
                      <p:nvPicPr>
                        <p:cNvPr id="0" name="图片 3097"/>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0277" name="Oval 38"/>
          <p:cNvSpPr/>
          <p:nvPr/>
        </p:nvSpPr>
        <p:spPr>
          <a:xfrm>
            <a:off x="3630613" y="4583113"/>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0278" name="Picture 39"/>
          <p:cNvPicPr>
            <a:picLocks noChangeAspect="1"/>
          </p:cNvPicPr>
          <p:nvPr/>
        </p:nvPicPr>
        <p:blipFill>
          <a:blip r:embed="rId1"/>
          <a:stretch>
            <a:fillRect/>
          </a:stretch>
        </p:blipFill>
        <p:spPr>
          <a:xfrm>
            <a:off x="4433888" y="5265738"/>
            <a:ext cx="214312" cy="336550"/>
          </a:xfrm>
          <a:prstGeom prst="rect">
            <a:avLst/>
          </a:prstGeom>
          <a:noFill/>
          <a:ln w="9525">
            <a:noFill/>
          </a:ln>
        </p:spPr>
      </p:pic>
      <p:grpSp>
        <p:nvGrpSpPr>
          <p:cNvPr id="10279" name="Group 40"/>
          <p:cNvGrpSpPr/>
          <p:nvPr/>
        </p:nvGrpSpPr>
        <p:grpSpPr>
          <a:xfrm>
            <a:off x="4421188" y="5616575"/>
            <a:ext cx="400050" cy="457200"/>
            <a:chOff x="2870" y="1518"/>
            <a:chExt cx="292" cy="320"/>
          </a:xfrm>
        </p:grpSpPr>
        <p:graphicFrame>
          <p:nvGraphicFramePr>
            <p:cNvPr id="10280" name="Object 4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0" name="" r:id="rId19" imgW="826770" imgH="840105" progId="MS_ClipArt_Gallery.2">
                    <p:embed/>
                  </p:oleObj>
                </mc:Choice>
                <mc:Fallback>
                  <p:oleObj name="" r:id="rId19" imgW="826770" imgH="840105" progId="MS_ClipArt_Gallery.2">
                    <p:embed/>
                    <p:pic>
                      <p:nvPicPr>
                        <p:cNvPr id="0" name="图片 309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81" name="Object 4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4" name="" r:id="rId20" imgW="1268095" imgH="1199515" progId="MS_ClipArt_Gallery.2">
                    <p:embed/>
                  </p:oleObj>
                </mc:Choice>
                <mc:Fallback>
                  <p:oleObj name="" r:id="rId20" imgW="1268095" imgH="1199515" progId="MS_ClipArt_Gallery.2">
                    <p:embed/>
                    <p:pic>
                      <p:nvPicPr>
                        <p:cNvPr id="0" name="图片 308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82" name="Group 43"/>
          <p:cNvGrpSpPr/>
          <p:nvPr/>
        </p:nvGrpSpPr>
        <p:grpSpPr>
          <a:xfrm>
            <a:off x="4622800" y="4672013"/>
            <a:ext cx="400050" cy="457200"/>
            <a:chOff x="2870" y="1518"/>
            <a:chExt cx="292" cy="320"/>
          </a:xfrm>
        </p:grpSpPr>
        <p:graphicFrame>
          <p:nvGraphicFramePr>
            <p:cNvPr id="10283" name="Object 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1" name="" r:id="rId21" imgW="826770" imgH="840105" progId="MS_ClipArt_Gallery.2">
                    <p:embed/>
                  </p:oleObj>
                </mc:Choice>
                <mc:Fallback>
                  <p:oleObj name="" r:id="rId21" imgW="826770" imgH="840105" progId="MS_ClipArt_Gallery.2">
                    <p:embed/>
                    <p:pic>
                      <p:nvPicPr>
                        <p:cNvPr id="0" name="图片 310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84" name="Object 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2" name="" r:id="rId22" imgW="1268095" imgH="1199515" progId="MS_ClipArt_Gallery.2">
                    <p:embed/>
                  </p:oleObj>
                </mc:Choice>
                <mc:Fallback>
                  <p:oleObj name="" r:id="rId22" imgW="1268095" imgH="1199515" progId="MS_ClipArt_Gallery.2">
                    <p:embed/>
                    <p:pic>
                      <p:nvPicPr>
                        <p:cNvPr id="0" name="图片 310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85" name="Group 46"/>
          <p:cNvGrpSpPr/>
          <p:nvPr/>
        </p:nvGrpSpPr>
        <p:grpSpPr>
          <a:xfrm>
            <a:off x="3884613" y="5473700"/>
            <a:ext cx="400050" cy="457200"/>
            <a:chOff x="2870" y="1518"/>
            <a:chExt cx="292" cy="320"/>
          </a:xfrm>
        </p:grpSpPr>
        <p:graphicFrame>
          <p:nvGraphicFramePr>
            <p:cNvPr id="10286" name="Object 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5" name="" r:id="rId23" imgW="826770" imgH="840105" progId="MS_ClipArt_Gallery.2">
                    <p:embed/>
                  </p:oleObj>
                </mc:Choice>
                <mc:Fallback>
                  <p:oleObj name="" r:id="rId23" imgW="826770" imgH="840105" progId="MS_ClipArt_Gallery.2">
                    <p:embed/>
                    <p:pic>
                      <p:nvPicPr>
                        <p:cNvPr id="0" name="图片 308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87" name="Object 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0" name="" r:id="rId24" imgW="1268095" imgH="1199515" progId="MS_ClipArt_Gallery.2">
                    <p:embed/>
                  </p:oleObj>
                </mc:Choice>
                <mc:Fallback>
                  <p:oleObj name="" r:id="rId24" imgW="1268095" imgH="1199515" progId="MS_ClipArt_Gallery.2">
                    <p:embed/>
                    <p:pic>
                      <p:nvPicPr>
                        <p:cNvPr id="0" name="图片 308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88" name="Group 49"/>
          <p:cNvGrpSpPr/>
          <p:nvPr/>
        </p:nvGrpSpPr>
        <p:grpSpPr>
          <a:xfrm>
            <a:off x="3760788" y="4926013"/>
            <a:ext cx="400050" cy="457200"/>
            <a:chOff x="2870" y="1518"/>
            <a:chExt cx="292" cy="320"/>
          </a:xfrm>
        </p:grpSpPr>
        <p:graphicFrame>
          <p:nvGraphicFramePr>
            <p:cNvPr id="10289" name="Object 5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4" name="" r:id="rId25" imgW="826770" imgH="840105" progId="MS_ClipArt_Gallery.2">
                    <p:embed/>
                  </p:oleObj>
                </mc:Choice>
                <mc:Fallback>
                  <p:oleObj name="" r:id="rId25" imgW="826770" imgH="840105" progId="MS_ClipArt_Gallery.2">
                    <p:embed/>
                    <p:pic>
                      <p:nvPicPr>
                        <p:cNvPr id="0" name="图片 3093"/>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90" name="Object 5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6" name="" r:id="rId26" imgW="1268095" imgH="1199515" progId="MS_ClipArt_Gallery.2">
                    <p:embed/>
                  </p:oleObj>
                </mc:Choice>
                <mc:Fallback>
                  <p:oleObj name="" r:id="rId26" imgW="1268095" imgH="1199515" progId="MS_ClipArt_Gallery.2">
                    <p:embed/>
                    <p:pic>
                      <p:nvPicPr>
                        <p:cNvPr id="0" name="图片 308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91" name="Group 52"/>
          <p:cNvGrpSpPr/>
          <p:nvPr/>
        </p:nvGrpSpPr>
        <p:grpSpPr>
          <a:xfrm>
            <a:off x="5837238" y="5697538"/>
            <a:ext cx="400050" cy="457200"/>
            <a:chOff x="2870" y="1518"/>
            <a:chExt cx="292" cy="320"/>
          </a:xfrm>
        </p:grpSpPr>
        <p:graphicFrame>
          <p:nvGraphicFramePr>
            <p:cNvPr id="10292" name="Object 5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5" name="" r:id="rId27" imgW="826770" imgH="840105" progId="MS_ClipArt_Gallery.2">
                    <p:embed/>
                  </p:oleObj>
                </mc:Choice>
                <mc:Fallback>
                  <p:oleObj name="" r:id="rId27" imgW="826770" imgH="840105" progId="MS_ClipArt_Gallery.2">
                    <p:embed/>
                    <p:pic>
                      <p:nvPicPr>
                        <p:cNvPr id="0" name="图片 309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93" name="Object 5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3" name="" r:id="rId28" imgW="1268095" imgH="1199515" progId="MS_ClipArt_Gallery.2">
                    <p:embed/>
                  </p:oleObj>
                </mc:Choice>
                <mc:Fallback>
                  <p:oleObj name="" r:id="rId28" imgW="1268095" imgH="1199515" progId="MS_ClipArt_Gallery.2">
                    <p:embed/>
                    <p:pic>
                      <p:nvPicPr>
                        <p:cNvPr id="0" name="图片 310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0294" name="Group 55"/>
          <p:cNvGrpSpPr/>
          <p:nvPr/>
        </p:nvGrpSpPr>
        <p:grpSpPr>
          <a:xfrm>
            <a:off x="4830763" y="5164138"/>
            <a:ext cx="835025" cy="457200"/>
            <a:chOff x="3345" y="3383"/>
            <a:chExt cx="526" cy="288"/>
          </a:xfrm>
        </p:grpSpPr>
        <p:grpSp>
          <p:nvGrpSpPr>
            <p:cNvPr id="10295" name="Group 56"/>
            <p:cNvGrpSpPr/>
            <p:nvPr/>
          </p:nvGrpSpPr>
          <p:grpSpPr>
            <a:xfrm>
              <a:off x="3426" y="3383"/>
              <a:ext cx="252" cy="288"/>
              <a:chOff x="2870" y="1518"/>
              <a:chExt cx="292" cy="320"/>
            </a:xfrm>
          </p:grpSpPr>
          <p:graphicFrame>
            <p:nvGraphicFramePr>
              <p:cNvPr id="10296" name="Object 5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7" name="" r:id="rId29" imgW="826770" imgH="840105" progId="MS_ClipArt_Gallery.2">
                      <p:embed/>
                    </p:oleObj>
                  </mc:Choice>
                  <mc:Fallback>
                    <p:oleObj name="" r:id="rId29" imgW="826770" imgH="840105" progId="MS_ClipArt_Gallery.2">
                      <p:embed/>
                      <p:pic>
                        <p:nvPicPr>
                          <p:cNvPr id="0" name="图片 308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297" name="Object 5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1" name="" r:id="rId30" imgW="1268095" imgH="1199515" progId="MS_ClipArt_Gallery.2">
                      <p:embed/>
                    </p:oleObj>
                  </mc:Choice>
                  <mc:Fallback>
                    <p:oleObj name="" r:id="rId30" imgW="1268095" imgH="1199515" progId="MS_ClipArt_Gallery.2">
                      <p:embed/>
                      <p:pic>
                        <p:nvPicPr>
                          <p:cNvPr id="0" name="图片 309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0298" name="Line 59"/>
            <p:cNvSpPr/>
            <p:nvPr/>
          </p:nvSpPr>
          <p:spPr>
            <a:xfrm>
              <a:off x="3679" y="3547"/>
              <a:ext cx="192" cy="0"/>
            </a:xfrm>
            <a:prstGeom prst="line">
              <a:avLst/>
            </a:prstGeom>
            <a:ln w="9525" cap="flat" cmpd="sng">
              <a:solidFill>
                <a:schemeClr val="tx1"/>
              </a:solidFill>
              <a:prstDash val="solid"/>
              <a:round/>
              <a:headEnd type="none" w="med" len="med"/>
              <a:tailEnd type="triangle" w="med" len="med"/>
            </a:ln>
          </p:spPr>
        </p:sp>
        <p:sp>
          <p:nvSpPr>
            <p:cNvPr id="10299" name="Line 60"/>
            <p:cNvSpPr/>
            <p:nvPr/>
          </p:nvSpPr>
          <p:spPr>
            <a:xfrm flipH="1">
              <a:off x="3372" y="3486"/>
              <a:ext cx="120" cy="0"/>
            </a:xfrm>
            <a:prstGeom prst="line">
              <a:avLst/>
            </a:prstGeom>
            <a:ln w="9525" cap="flat" cmpd="sng">
              <a:solidFill>
                <a:schemeClr val="tx1"/>
              </a:solidFill>
              <a:prstDash val="solid"/>
              <a:round/>
              <a:headEnd type="none" w="med" len="med"/>
              <a:tailEnd type="none" w="med" len="med"/>
            </a:ln>
          </p:spPr>
        </p:sp>
        <p:sp>
          <p:nvSpPr>
            <p:cNvPr id="10300" name="Line 61"/>
            <p:cNvSpPr/>
            <p:nvPr/>
          </p:nvSpPr>
          <p:spPr>
            <a:xfrm flipH="1">
              <a:off x="3381" y="3534"/>
              <a:ext cx="120" cy="0"/>
            </a:xfrm>
            <a:prstGeom prst="line">
              <a:avLst/>
            </a:prstGeom>
            <a:ln w="9525" cap="flat" cmpd="sng">
              <a:solidFill>
                <a:schemeClr val="tx1"/>
              </a:solidFill>
              <a:prstDash val="solid"/>
              <a:round/>
              <a:headEnd type="none" w="med" len="med"/>
              <a:tailEnd type="none" w="med" len="med"/>
            </a:ln>
          </p:spPr>
        </p:sp>
        <p:sp>
          <p:nvSpPr>
            <p:cNvPr id="10301" name="Line 62"/>
            <p:cNvSpPr/>
            <p:nvPr/>
          </p:nvSpPr>
          <p:spPr>
            <a:xfrm flipH="1">
              <a:off x="3345" y="3576"/>
              <a:ext cx="120" cy="0"/>
            </a:xfrm>
            <a:prstGeom prst="line">
              <a:avLst/>
            </a:prstGeom>
            <a:ln w="9525" cap="flat" cmpd="sng">
              <a:solidFill>
                <a:schemeClr val="tx1"/>
              </a:solidFill>
              <a:prstDash val="solid"/>
              <a:round/>
              <a:headEnd type="none" w="med" len="med"/>
              <a:tailEnd type="none" w="med" len="med"/>
            </a:ln>
          </p:spPr>
        </p:sp>
      </p:grpSp>
      <p:sp>
        <p:nvSpPr>
          <p:cNvPr id="10302" name="Line 63"/>
          <p:cNvSpPr/>
          <p:nvPr/>
        </p:nvSpPr>
        <p:spPr>
          <a:xfrm flipH="1" flipV="1">
            <a:off x="5068888" y="4303713"/>
            <a:ext cx="747712" cy="1095375"/>
          </a:xfrm>
          <a:prstGeom prst="line">
            <a:avLst/>
          </a:prstGeom>
          <a:ln w="9525" cap="flat" cmpd="sng">
            <a:solidFill>
              <a:schemeClr val="tx1"/>
            </a:solidFill>
            <a:prstDash val="solid"/>
            <a:round/>
            <a:headEnd type="none" w="med" len="med"/>
            <a:tailEnd type="none" w="med" len="med"/>
          </a:ln>
        </p:spPr>
      </p:sp>
      <p:sp>
        <p:nvSpPr>
          <p:cNvPr id="10303" name="Line 64"/>
          <p:cNvSpPr/>
          <p:nvPr/>
        </p:nvSpPr>
        <p:spPr>
          <a:xfrm flipH="1" flipV="1">
            <a:off x="4297363" y="4451350"/>
            <a:ext cx="176212" cy="990600"/>
          </a:xfrm>
          <a:prstGeom prst="line">
            <a:avLst/>
          </a:prstGeom>
          <a:ln w="9525" cap="flat" cmpd="sng">
            <a:solidFill>
              <a:schemeClr val="tx1"/>
            </a:solidFill>
            <a:prstDash val="solid"/>
            <a:round/>
            <a:headEnd type="none" w="med" len="med"/>
            <a:tailEnd type="none" w="med" len="med"/>
          </a:ln>
        </p:spPr>
      </p:sp>
      <p:grpSp>
        <p:nvGrpSpPr>
          <p:cNvPr id="394328" name="Group 88"/>
          <p:cNvGrpSpPr/>
          <p:nvPr/>
        </p:nvGrpSpPr>
        <p:grpSpPr>
          <a:xfrm>
            <a:off x="5257800" y="1228725"/>
            <a:ext cx="3633788" cy="4567238"/>
            <a:chOff x="3312" y="774"/>
            <a:chExt cx="2289" cy="2877"/>
          </a:xfrm>
        </p:grpSpPr>
        <p:sp>
          <p:nvSpPr>
            <p:cNvPr id="10305" name="Rectangle 84"/>
            <p:cNvSpPr/>
            <p:nvPr/>
          </p:nvSpPr>
          <p:spPr>
            <a:xfrm>
              <a:off x="3465" y="1125"/>
              <a:ext cx="2127" cy="1303"/>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06" name="Rectangle 85"/>
            <p:cNvSpPr/>
            <p:nvPr/>
          </p:nvSpPr>
          <p:spPr>
            <a:xfrm>
              <a:off x="3518" y="1028"/>
              <a:ext cx="1205" cy="177"/>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307" name="Rectangle 83"/>
            <p:cNvSpPr/>
            <p:nvPr/>
          </p:nvSpPr>
          <p:spPr>
            <a:xfrm>
              <a:off x="3517" y="1002"/>
              <a:ext cx="2084" cy="16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wireless hosts</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laptop, PDA, IP phone</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run applications</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may be stationary (non-mobile) or mobile</a:t>
              </a:r>
              <a:endParaRPr lang="en-US" altLang="zh-CN" sz="2000" dirty="0">
                <a:latin typeface="Comic Sans MS" panose="030F0702030302020204" pitchFamily="66" charset="0"/>
                <a:ea typeface="宋体" panose="02010600030101010101" pitchFamily="2" charset="-122"/>
              </a:endParaRPr>
            </a:p>
            <a:p>
              <a:pPr marL="742950" lvl="1" indent="-285750" algn="l" rtl="0" eaLnBrk="0" fontAlgn="base" hangingPunct="0">
                <a:lnSpc>
                  <a:spcPct val="90000"/>
                </a:lnSpc>
                <a:spcBef>
                  <a:spcPct val="20000"/>
                </a:spcBef>
                <a:spcAft>
                  <a:spcPct val="0"/>
                </a:spcAft>
                <a:buClr>
                  <a:schemeClr val="accent2"/>
                </a:buClr>
                <a:buSzPct val="75000"/>
                <a:buFont typeface="ZapfDingbats" pitchFamily="82" charset="2"/>
                <a:buChar char="m"/>
              </a:pPr>
              <a:r>
                <a:rPr lang="en-US" altLang="zh-CN" sz="1800" dirty="0">
                  <a:solidFill>
                    <a:schemeClr val="tx1"/>
                  </a:solidFill>
                  <a:latin typeface="Comic Sans MS" panose="030F0702030302020204" pitchFamily="66" charset="0"/>
                  <a:ea typeface="宋体" panose="02010600030101010101" pitchFamily="2" charset="-122"/>
                </a:rPr>
                <a:t>wireless does </a:t>
              </a:r>
              <a:r>
                <a:rPr lang="en-US" altLang="zh-CN" sz="1800" i="1" dirty="0">
                  <a:solidFill>
                    <a:schemeClr val="tx1"/>
                  </a:solidFill>
                  <a:latin typeface="Comic Sans MS" panose="030F0702030302020204" pitchFamily="66" charset="0"/>
                  <a:ea typeface="宋体" panose="02010600030101010101" pitchFamily="2" charset="-122"/>
                </a:rPr>
                <a:t>not</a:t>
              </a:r>
              <a:r>
                <a:rPr lang="en-US" altLang="zh-CN" sz="1800" dirty="0">
                  <a:solidFill>
                    <a:schemeClr val="tx1"/>
                  </a:solidFill>
                  <a:latin typeface="Comic Sans MS" panose="030F0702030302020204" pitchFamily="66" charset="0"/>
                  <a:ea typeface="宋体" panose="02010600030101010101" pitchFamily="2" charset="-122"/>
                </a:rPr>
                <a:t> always mean mobility</a:t>
              </a:r>
              <a:endParaRPr lang="en-US" altLang="zh-CN" sz="1800" dirty="0">
                <a:solidFill>
                  <a:schemeClr val="tx1"/>
                </a:solidFill>
                <a:latin typeface="Comic Sans MS" panose="030F0702030302020204" pitchFamily="66" charset="0"/>
                <a:ea typeface="宋体" panose="02010600030101010101" pitchFamily="2" charset="-122"/>
              </a:endParaRPr>
            </a:p>
          </p:txBody>
        </p:sp>
        <p:grpSp>
          <p:nvGrpSpPr>
            <p:cNvPr id="10308" name="Group 70"/>
            <p:cNvGrpSpPr/>
            <p:nvPr/>
          </p:nvGrpSpPr>
          <p:grpSpPr>
            <a:xfrm>
              <a:off x="4805" y="774"/>
              <a:ext cx="509" cy="421"/>
              <a:chOff x="2870" y="1518"/>
              <a:chExt cx="292" cy="320"/>
            </a:xfrm>
          </p:grpSpPr>
          <p:graphicFrame>
            <p:nvGraphicFramePr>
              <p:cNvPr id="10309" name="Object 7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8" name="" r:id="rId31" imgW="826770" imgH="840105" progId="MS_ClipArt_Gallery.2">
                      <p:embed/>
                    </p:oleObj>
                  </mc:Choice>
                  <mc:Fallback>
                    <p:oleObj name="" r:id="rId31" imgW="826770" imgH="840105" progId="MS_ClipArt_Gallery.2">
                      <p:embed/>
                      <p:pic>
                        <p:nvPicPr>
                          <p:cNvPr id="0" name="图片 308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310" name="Object 7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9" name="" r:id="rId32" imgW="1268095" imgH="1199515" progId="MS_ClipArt_Gallery.2">
                      <p:embed/>
                    </p:oleObj>
                  </mc:Choice>
                  <mc:Fallback>
                    <p:oleObj name="" r:id="rId32" imgW="1268095" imgH="1199515" progId="MS_ClipArt_Gallery.2">
                      <p:embed/>
                      <p:pic>
                        <p:nvPicPr>
                          <p:cNvPr id="0" name="图片 308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0311" name="Line 86"/>
            <p:cNvSpPr/>
            <p:nvPr/>
          </p:nvSpPr>
          <p:spPr>
            <a:xfrm flipH="1">
              <a:off x="3899" y="2464"/>
              <a:ext cx="603" cy="1187"/>
            </a:xfrm>
            <a:prstGeom prst="line">
              <a:avLst/>
            </a:prstGeom>
            <a:ln w="9525" cap="flat" cmpd="sng">
              <a:solidFill>
                <a:srgbClr val="FF0000"/>
              </a:solidFill>
              <a:prstDash val="solid"/>
              <a:round/>
              <a:headEnd type="none" w="med" len="med"/>
              <a:tailEnd type="triangle" w="med" len="med"/>
            </a:ln>
          </p:spPr>
        </p:sp>
        <p:sp>
          <p:nvSpPr>
            <p:cNvPr id="10312" name="Line 87"/>
            <p:cNvSpPr/>
            <p:nvPr/>
          </p:nvSpPr>
          <p:spPr>
            <a:xfrm flipH="1">
              <a:off x="3312" y="2454"/>
              <a:ext cx="1188" cy="859"/>
            </a:xfrm>
            <a:prstGeom prst="line">
              <a:avLst/>
            </a:prstGeom>
            <a:ln w="9525" cap="flat" cmpd="sng">
              <a:solidFill>
                <a:srgbClr val="FF000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4328"/>
                                        </p:tgtEl>
                                        <p:attrNameLst>
                                          <p:attrName>style.visibility</p:attrName>
                                        </p:attrNameLst>
                                      </p:cBhvr>
                                      <p:to>
                                        <p:strVal val="visible"/>
                                      </p:to>
                                    </p:set>
                                    <p:animEffect transition="in" filter="dissolve">
                                      <p:cBhvr>
                                        <p:cTn id="7" dur="500"/>
                                        <p:tgtEl>
                                          <p:spTgt spid="394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2290"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291"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Elements of a wireless network</a:t>
            </a:r>
            <a:endParaRPr lang="en-US" altLang="zh-CN" sz="3200" dirty="0">
              <a:ea typeface="宋体" panose="02010600030101010101" pitchFamily="2" charset="-122"/>
            </a:endParaRPr>
          </a:p>
        </p:txBody>
      </p:sp>
      <p:sp>
        <p:nvSpPr>
          <p:cNvPr id="12292" name="Oval 3"/>
          <p:cNvSpPr/>
          <p:nvPr/>
        </p:nvSpPr>
        <p:spPr>
          <a:xfrm>
            <a:off x="4940300" y="466725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2293" name="Group 4"/>
          <p:cNvGrpSpPr/>
          <p:nvPr/>
        </p:nvGrpSpPr>
        <p:grpSpPr>
          <a:xfrm>
            <a:off x="3059113" y="2781300"/>
            <a:ext cx="2362200" cy="1762125"/>
            <a:chOff x="3839" y="1737"/>
            <a:chExt cx="1488" cy="1110"/>
          </a:xfrm>
        </p:grpSpPr>
        <p:sp>
          <p:nvSpPr>
            <p:cNvPr id="12294" name="Freeform 5"/>
            <p:cNvSpPr/>
            <p:nvPr/>
          </p:nvSpPr>
          <p:spPr>
            <a:xfrm>
              <a:off x="3839" y="1737"/>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12295" name="Text Box 6"/>
            <p:cNvSpPr txBox="1"/>
            <p:nvPr/>
          </p:nvSpPr>
          <p:spPr>
            <a:xfrm>
              <a:off x="4075" y="1947"/>
              <a:ext cx="1094" cy="404"/>
            </a:xfrm>
            <a:prstGeom prst="rect">
              <a:avLst/>
            </a:prstGeom>
            <a:noFill/>
            <a:ln w="9525">
              <a:noFill/>
            </a:ln>
          </p:spPr>
          <p:txBody>
            <a:bodyPr wrap="none" anchor="t" anchorCtr="0">
              <a:spAutoFit/>
            </a:bodyPr>
            <a:p>
              <a:pPr algn="ctr">
                <a:buClrTx/>
                <a:buFontTx/>
              </a:pPr>
              <a:r>
                <a:rPr lang="en-US" altLang="zh-CN" dirty="0">
                  <a:latin typeface="Comic Sans MS" panose="030F0702030302020204" pitchFamily="66" charset="0"/>
                  <a:ea typeface="宋体" panose="02010600030101010101" pitchFamily="2" charset="-122"/>
                </a:rPr>
                <a:t>network </a:t>
              </a:r>
              <a:endParaRPr lang="en-US" altLang="zh-CN" dirty="0">
                <a:latin typeface="Comic Sans MS" panose="030F0702030302020204" pitchFamily="66" charset="0"/>
                <a:ea typeface="宋体" panose="02010600030101010101" pitchFamily="2" charset="-122"/>
              </a:endParaRPr>
            </a:p>
            <a:p>
              <a:pPr algn="ctr">
                <a:buClrTx/>
                <a:buFontTx/>
              </a:pPr>
              <a:r>
                <a:rPr lang="en-US" altLang="zh-CN" dirty="0">
                  <a:latin typeface="Comic Sans MS" panose="030F0702030302020204" pitchFamily="66" charset="0"/>
                  <a:ea typeface="宋体" panose="02010600030101010101" pitchFamily="2" charset="-122"/>
                </a:rPr>
                <a:t>infrastructure</a:t>
              </a:r>
              <a:endParaRPr lang="en-US" altLang="zh-CN" dirty="0">
                <a:latin typeface="Comic Sans MS" panose="030F0702030302020204" pitchFamily="66" charset="0"/>
                <a:ea typeface="宋体" panose="02010600030101010101" pitchFamily="2" charset="-122"/>
              </a:endParaRPr>
            </a:p>
          </p:txBody>
        </p:sp>
      </p:grpSp>
      <p:pic>
        <p:nvPicPr>
          <p:cNvPr id="12296" name="Picture 7"/>
          <p:cNvPicPr>
            <a:picLocks noChangeAspect="1"/>
          </p:cNvPicPr>
          <p:nvPr/>
        </p:nvPicPr>
        <p:blipFill>
          <a:blip r:embed="rId1"/>
          <a:stretch>
            <a:fillRect/>
          </a:stretch>
        </p:blipFill>
        <p:spPr>
          <a:xfrm>
            <a:off x="5775325" y="5245100"/>
            <a:ext cx="214313" cy="336550"/>
          </a:xfrm>
          <a:prstGeom prst="rect">
            <a:avLst/>
          </a:prstGeom>
          <a:noFill/>
          <a:ln w="9525">
            <a:noFill/>
          </a:ln>
        </p:spPr>
      </p:pic>
      <p:grpSp>
        <p:nvGrpSpPr>
          <p:cNvPr id="12297" name="Group 8"/>
          <p:cNvGrpSpPr/>
          <p:nvPr/>
        </p:nvGrpSpPr>
        <p:grpSpPr>
          <a:xfrm>
            <a:off x="1147763" y="1709738"/>
            <a:ext cx="1755775" cy="1625600"/>
            <a:chOff x="567" y="1326"/>
            <a:chExt cx="1106" cy="1024"/>
          </a:xfrm>
        </p:grpSpPr>
        <p:sp>
          <p:nvSpPr>
            <p:cNvPr id="12298" name="Oval 9"/>
            <p:cNvSpPr/>
            <p:nvPr/>
          </p:nvSpPr>
          <p:spPr>
            <a:xfrm>
              <a:off x="567" y="1326"/>
              <a:ext cx="1106" cy="1024"/>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2299" name="Picture 10"/>
            <p:cNvPicPr>
              <a:picLocks noChangeAspect="1"/>
            </p:cNvPicPr>
            <p:nvPr/>
          </p:nvPicPr>
          <p:blipFill>
            <a:blip r:embed="rId2"/>
            <a:stretch>
              <a:fillRect/>
            </a:stretch>
          </p:blipFill>
          <p:spPr>
            <a:xfrm rot="-5400000">
              <a:off x="1032" y="1783"/>
              <a:ext cx="212" cy="135"/>
            </a:xfrm>
            <a:prstGeom prst="rect">
              <a:avLst/>
            </a:prstGeom>
            <a:solidFill>
              <a:srgbClr val="99CCFF"/>
            </a:solidFill>
            <a:ln w="9525">
              <a:noFill/>
            </a:ln>
          </p:spPr>
        </p:pic>
        <p:grpSp>
          <p:nvGrpSpPr>
            <p:cNvPr id="12300" name="Group 11"/>
            <p:cNvGrpSpPr/>
            <p:nvPr/>
          </p:nvGrpSpPr>
          <p:grpSpPr>
            <a:xfrm>
              <a:off x="1221" y="1447"/>
              <a:ext cx="252" cy="288"/>
              <a:chOff x="2870" y="1518"/>
              <a:chExt cx="292" cy="320"/>
            </a:xfrm>
          </p:grpSpPr>
          <p:graphicFrame>
            <p:nvGraphicFramePr>
              <p:cNvPr id="12301" name="Object 1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2" name="" r:id="rId3" imgW="826770" imgH="840105" progId="MS_ClipArt_Gallery.2">
                      <p:embed/>
                    </p:oleObj>
                  </mc:Choice>
                  <mc:Fallback>
                    <p:oleObj name="" r:id="rId3" imgW="826770" imgH="840105" progId="MS_ClipArt_Gallery.2">
                      <p:embed/>
                      <p:pic>
                        <p:nvPicPr>
                          <p:cNvPr id="0" name="图片 3111"/>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2302" name="Object 1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3" name="" r:id="rId5" imgW="1268095" imgH="1199515" progId="MS_ClipArt_Gallery.2">
                      <p:embed/>
                    </p:oleObj>
                  </mc:Choice>
                  <mc:Fallback>
                    <p:oleObj name="" r:id="rId5" imgW="1268095" imgH="1199515" progId="MS_ClipArt_Gallery.2">
                      <p:embed/>
                      <p:pic>
                        <p:nvPicPr>
                          <p:cNvPr id="0" name="图片 3112"/>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2303" name="Group 14"/>
            <p:cNvGrpSpPr/>
            <p:nvPr/>
          </p:nvGrpSpPr>
          <p:grpSpPr>
            <a:xfrm>
              <a:off x="869" y="1379"/>
              <a:ext cx="252" cy="288"/>
              <a:chOff x="2870" y="1518"/>
              <a:chExt cx="292" cy="320"/>
            </a:xfrm>
          </p:grpSpPr>
          <p:graphicFrame>
            <p:nvGraphicFramePr>
              <p:cNvPr id="12304" name="Object 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4" name="" r:id="rId7" imgW="826770" imgH="840105" progId="MS_ClipArt_Gallery.2">
                      <p:embed/>
                    </p:oleObj>
                  </mc:Choice>
                  <mc:Fallback>
                    <p:oleObj name="" r:id="rId7" imgW="826770" imgH="840105" progId="MS_ClipArt_Gallery.2">
                      <p:embed/>
                      <p:pic>
                        <p:nvPicPr>
                          <p:cNvPr id="0" name="图片 3113"/>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2305" name="Object 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4" name="" r:id="rId8" imgW="1268095" imgH="1199515" progId="MS_ClipArt_Gallery.2">
                      <p:embed/>
                    </p:oleObj>
                  </mc:Choice>
                  <mc:Fallback>
                    <p:oleObj name="" r:id="rId8" imgW="1268095" imgH="1199515" progId="MS_ClipArt_Gallery.2">
                      <p:embed/>
                      <p:pic>
                        <p:nvPicPr>
                          <p:cNvPr id="0" name="图片 3103"/>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2306" name="Group 17"/>
            <p:cNvGrpSpPr/>
            <p:nvPr/>
          </p:nvGrpSpPr>
          <p:grpSpPr>
            <a:xfrm>
              <a:off x="727" y="1878"/>
              <a:ext cx="252" cy="288"/>
              <a:chOff x="2870" y="1518"/>
              <a:chExt cx="292" cy="320"/>
            </a:xfrm>
          </p:grpSpPr>
          <p:graphicFrame>
            <p:nvGraphicFramePr>
              <p:cNvPr id="12307" name="Object 1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5" name="" r:id="rId9" imgW="826770" imgH="840105" progId="MS_ClipArt_Gallery.2">
                      <p:embed/>
                    </p:oleObj>
                  </mc:Choice>
                  <mc:Fallback>
                    <p:oleObj name="" r:id="rId9" imgW="826770" imgH="840105" progId="MS_ClipArt_Gallery.2">
                      <p:embed/>
                      <p:pic>
                        <p:nvPicPr>
                          <p:cNvPr id="0" name="图片 3114"/>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2308" name="Object 1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7" name="" r:id="rId10" imgW="1268095" imgH="1199515" progId="MS_ClipArt_Gallery.2">
                      <p:embed/>
                    </p:oleObj>
                  </mc:Choice>
                  <mc:Fallback>
                    <p:oleObj name="" r:id="rId10" imgW="1268095" imgH="1199515" progId="MS_ClipArt_Gallery.2">
                      <p:embed/>
                      <p:pic>
                        <p:nvPicPr>
                          <p:cNvPr id="0" name="图片 3106"/>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sp>
        <p:nvSpPr>
          <p:cNvPr id="12309" name="Line 20"/>
          <p:cNvSpPr/>
          <p:nvPr/>
        </p:nvSpPr>
        <p:spPr>
          <a:xfrm>
            <a:off x="2176463" y="2711450"/>
            <a:ext cx="900112" cy="392113"/>
          </a:xfrm>
          <a:prstGeom prst="line">
            <a:avLst/>
          </a:prstGeom>
          <a:ln w="9525" cap="flat" cmpd="sng">
            <a:solidFill>
              <a:schemeClr val="tx1"/>
            </a:solidFill>
            <a:prstDash val="solid"/>
            <a:round/>
            <a:headEnd type="none" w="med" len="med"/>
            <a:tailEnd type="none" w="med" len="med"/>
          </a:ln>
        </p:spPr>
      </p:sp>
      <p:sp>
        <p:nvSpPr>
          <p:cNvPr id="12310" name="Oval 21"/>
          <p:cNvSpPr/>
          <p:nvPr/>
        </p:nvSpPr>
        <p:spPr>
          <a:xfrm>
            <a:off x="1243013" y="363220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2311" name="Picture 22"/>
          <p:cNvPicPr>
            <a:picLocks noChangeAspect="1"/>
          </p:cNvPicPr>
          <p:nvPr/>
        </p:nvPicPr>
        <p:blipFill>
          <a:blip r:embed="rId1"/>
          <a:stretch>
            <a:fillRect/>
          </a:stretch>
        </p:blipFill>
        <p:spPr>
          <a:xfrm>
            <a:off x="2046288" y="4300538"/>
            <a:ext cx="214312" cy="336550"/>
          </a:xfrm>
          <a:prstGeom prst="rect">
            <a:avLst/>
          </a:prstGeom>
          <a:noFill/>
          <a:ln w="9525">
            <a:noFill/>
          </a:ln>
        </p:spPr>
      </p:pic>
      <p:grpSp>
        <p:nvGrpSpPr>
          <p:cNvPr id="12312" name="Group 23"/>
          <p:cNvGrpSpPr/>
          <p:nvPr/>
        </p:nvGrpSpPr>
        <p:grpSpPr>
          <a:xfrm>
            <a:off x="2033588" y="4651375"/>
            <a:ext cx="400050" cy="457200"/>
            <a:chOff x="2870" y="1518"/>
            <a:chExt cx="292" cy="320"/>
          </a:xfrm>
        </p:grpSpPr>
        <p:graphicFrame>
          <p:nvGraphicFramePr>
            <p:cNvPr id="12313"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6" name="" r:id="rId11" imgW="826770" imgH="840105" progId="MS_ClipArt_Gallery.2">
                    <p:embed/>
                  </p:oleObj>
                </mc:Choice>
                <mc:Fallback>
                  <p:oleObj name="" r:id="rId11" imgW="826770" imgH="840105" progId="MS_ClipArt_Gallery.2">
                    <p:embed/>
                    <p:pic>
                      <p:nvPicPr>
                        <p:cNvPr id="0" name="图片 3115"/>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14"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5" name="" r:id="rId12" imgW="1268095" imgH="1199515" progId="MS_ClipArt_Gallery.2">
                    <p:embed/>
                  </p:oleObj>
                </mc:Choice>
                <mc:Fallback>
                  <p:oleObj name="" r:id="rId12" imgW="1268095" imgH="1199515" progId="MS_ClipArt_Gallery.2">
                    <p:embed/>
                    <p:pic>
                      <p:nvPicPr>
                        <p:cNvPr id="0" name="图片 3104"/>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15" name="Group 26"/>
          <p:cNvGrpSpPr/>
          <p:nvPr/>
        </p:nvGrpSpPr>
        <p:grpSpPr>
          <a:xfrm>
            <a:off x="1882775" y="3702050"/>
            <a:ext cx="400050" cy="457200"/>
            <a:chOff x="2870" y="1518"/>
            <a:chExt cx="292" cy="320"/>
          </a:xfrm>
        </p:grpSpPr>
        <p:graphicFrame>
          <p:nvGraphicFramePr>
            <p:cNvPr id="12316" name="Object 2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0" name="" r:id="rId13" imgW="826770" imgH="840105" progId="MS_ClipArt_Gallery.2">
                    <p:embed/>
                  </p:oleObj>
                </mc:Choice>
                <mc:Fallback>
                  <p:oleObj name="" r:id="rId13" imgW="826770" imgH="840105" progId="MS_ClipArt_Gallery.2">
                    <p:embed/>
                    <p:pic>
                      <p:nvPicPr>
                        <p:cNvPr id="0" name="图片 310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17" name="Object 2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6" name="" r:id="rId14" imgW="1268095" imgH="1199515" progId="MS_ClipArt_Gallery.2">
                    <p:embed/>
                  </p:oleObj>
                </mc:Choice>
                <mc:Fallback>
                  <p:oleObj name="" r:id="rId14" imgW="1268095" imgH="1199515" progId="MS_ClipArt_Gallery.2">
                    <p:embed/>
                    <p:pic>
                      <p:nvPicPr>
                        <p:cNvPr id="0" name="图片 310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18" name="Group 29"/>
          <p:cNvGrpSpPr/>
          <p:nvPr/>
        </p:nvGrpSpPr>
        <p:grpSpPr>
          <a:xfrm>
            <a:off x="1497013" y="4508500"/>
            <a:ext cx="400050" cy="457200"/>
            <a:chOff x="2870" y="1518"/>
            <a:chExt cx="292" cy="320"/>
          </a:xfrm>
        </p:grpSpPr>
        <p:graphicFrame>
          <p:nvGraphicFramePr>
            <p:cNvPr id="12319"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1" name="" r:id="rId15" imgW="826770" imgH="840105" progId="MS_ClipArt_Gallery.2">
                    <p:embed/>
                  </p:oleObj>
                </mc:Choice>
                <mc:Fallback>
                  <p:oleObj name="" r:id="rId15" imgW="826770" imgH="840105" progId="MS_ClipArt_Gallery.2">
                    <p:embed/>
                    <p:pic>
                      <p:nvPicPr>
                        <p:cNvPr id="0" name="图片 311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20"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9" name="" r:id="rId16" imgW="1268095" imgH="1199515" progId="MS_ClipArt_Gallery.2">
                    <p:embed/>
                  </p:oleObj>
                </mc:Choice>
                <mc:Fallback>
                  <p:oleObj name="" r:id="rId16" imgW="1268095" imgH="1199515" progId="MS_ClipArt_Gallery.2">
                    <p:embed/>
                    <p:pic>
                      <p:nvPicPr>
                        <p:cNvPr id="0" name="图片 310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2321" name="Line 32"/>
          <p:cNvSpPr/>
          <p:nvPr/>
        </p:nvSpPr>
        <p:spPr>
          <a:xfrm flipV="1">
            <a:off x="2197100" y="3721100"/>
            <a:ext cx="974725" cy="725488"/>
          </a:xfrm>
          <a:prstGeom prst="line">
            <a:avLst/>
          </a:prstGeom>
          <a:ln w="9525" cap="flat" cmpd="sng">
            <a:solidFill>
              <a:schemeClr val="tx1"/>
            </a:solidFill>
            <a:prstDash val="solid"/>
            <a:round/>
            <a:headEnd type="none" w="med" len="med"/>
            <a:tailEnd type="none" w="med" len="med"/>
          </a:ln>
        </p:spPr>
      </p:sp>
      <p:grpSp>
        <p:nvGrpSpPr>
          <p:cNvPr id="12322" name="Group 33"/>
          <p:cNvGrpSpPr/>
          <p:nvPr/>
        </p:nvGrpSpPr>
        <p:grpSpPr>
          <a:xfrm>
            <a:off x="1373188" y="3960813"/>
            <a:ext cx="400050" cy="457200"/>
            <a:chOff x="2870" y="1518"/>
            <a:chExt cx="292" cy="320"/>
          </a:xfrm>
        </p:grpSpPr>
        <p:graphicFrame>
          <p:nvGraphicFramePr>
            <p:cNvPr id="12323" name="Object 3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8" name="" r:id="rId17" imgW="826770" imgH="840105" progId="MS_ClipArt_Gallery.2">
                    <p:embed/>
                  </p:oleObj>
                </mc:Choice>
                <mc:Fallback>
                  <p:oleObj name="" r:id="rId17" imgW="826770" imgH="840105" progId="MS_ClipArt_Gallery.2">
                    <p:embed/>
                    <p:pic>
                      <p:nvPicPr>
                        <p:cNvPr id="0" name="图片 310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24" name="Object 3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7" name="" r:id="rId18" imgW="1268095" imgH="1199515" progId="MS_ClipArt_Gallery.2">
                    <p:embed/>
                  </p:oleObj>
                </mc:Choice>
                <mc:Fallback>
                  <p:oleObj name="" r:id="rId18" imgW="1268095" imgH="1199515" progId="MS_ClipArt_Gallery.2">
                    <p:embed/>
                    <p:pic>
                      <p:nvPicPr>
                        <p:cNvPr id="0" name="图片 311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2325" name="Oval 36"/>
          <p:cNvSpPr/>
          <p:nvPr/>
        </p:nvSpPr>
        <p:spPr>
          <a:xfrm>
            <a:off x="3630613" y="4583113"/>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2326" name="Picture 37"/>
          <p:cNvPicPr>
            <a:picLocks noChangeAspect="1"/>
          </p:cNvPicPr>
          <p:nvPr/>
        </p:nvPicPr>
        <p:blipFill>
          <a:blip r:embed="rId1"/>
          <a:stretch>
            <a:fillRect/>
          </a:stretch>
        </p:blipFill>
        <p:spPr>
          <a:xfrm>
            <a:off x="4433888" y="5265738"/>
            <a:ext cx="214312" cy="336550"/>
          </a:xfrm>
          <a:prstGeom prst="rect">
            <a:avLst/>
          </a:prstGeom>
          <a:noFill/>
          <a:ln w="9525">
            <a:noFill/>
          </a:ln>
        </p:spPr>
      </p:pic>
      <p:grpSp>
        <p:nvGrpSpPr>
          <p:cNvPr id="12327" name="Group 38"/>
          <p:cNvGrpSpPr/>
          <p:nvPr/>
        </p:nvGrpSpPr>
        <p:grpSpPr>
          <a:xfrm>
            <a:off x="4421188" y="5616575"/>
            <a:ext cx="400050" cy="457200"/>
            <a:chOff x="2870" y="1518"/>
            <a:chExt cx="292" cy="320"/>
          </a:xfrm>
        </p:grpSpPr>
        <p:graphicFrame>
          <p:nvGraphicFramePr>
            <p:cNvPr id="12328" name="Object 3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3" name="" r:id="rId19" imgW="826770" imgH="840105" progId="MS_ClipArt_Gallery.2">
                    <p:embed/>
                  </p:oleObj>
                </mc:Choice>
                <mc:Fallback>
                  <p:oleObj name="" r:id="rId19" imgW="826770" imgH="840105" progId="MS_ClipArt_Gallery.2">
                    <p:embed/>
                    <p:pic>
                      <p:nvPicPr>
                        <p:cNvPr id="0" name="图片 312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29" name="Object 4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5" name="" r:id="rId20" imgW="1268095" imgH="1199515" progId="MS_ClipArt_Gallery.2">
                    <p:embed/>
                  </p:oleObj>
                </mc:Choice>
                <mc:Fallback>
                  <p:oleObj name="" r:id="rId20" imgW="1268095" imgH="1199515" progId="MS_ClipArt_Gallery.2">
                    <p:embed/>
                    <p:pic>
                      <p:nvPicPr>
                        <p:cNvPr id="0" name="图片 3124"/>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30" name="Group 41"/>
          <p:cNvGrpSpPr/>
          <p:nvPr/>
        </p:nvGrpSpPr>
        <p:grpSpPr>
          <a:xfrm>
            <a:off x="4622800" y="4672013"/>
            <a:ext cx="400050" cy="457200"/>
            <a:chOff x="2870" y="1518"/>
            <a:chExt cx="292" cy="320"/>
          </a:xfrm>
        </p:grpSpPr>
        <p:graphicFrame>
          <p:nvGraphicFramePr>
            <p:cNvPr id="12331" name="Object 4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8" name="" r:id="rId21" imgW="826770" imgH="840105" progId="MS_ClipArt_Gallery.2">
                    <p:embed/>
                  </p:oleObj>
                </mc:Choice>
                <mc:Fallback>
                  <p:oleObj name="" r:id="rId21" imgW="826770" imgH="840105" progId="MS_ClipArt_Gallery.2">
                    <p:embed/>
                    <p:pic>
                      <p:nvPicPr>
                        <p:cNvPr id="0" name="图片 312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32" name="Object 4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6" name="" r:id="rId22" imgW="1268095" imgH="1199515" progId="MS_ClipArt_Gallery.2">
                    <p:embed/>
                  </p:oleObj>
                </mc:Choice>
                <mc:Fallback>
                  <p:oleObj name="" r:id="rId22" imgW="1268095" imgH="1199515" progId="MS_ClipArt_Gallery.2">
                    <p:embed/>
                    <p:pic>
                      <p:nvPicPr>
                        <p:cNvPr id="0" name="图片 3125"/>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33" name="Group 44"/>
          <p:cNvGrpSpPr/>
          <p:nvPr/>
        </p:nvGrpSpPr>
        <p:grpSpPr>
          <a:xfrm>
            <a:off x="3884613" y="5473700"/>
            <a:ext cx="400050" cy="457200"/>
            <a:chOff x="2870" y="1518"/>
            <a:chExt cx="292" cy="320"/>
          </a:xfrm>
        </p:grpSpPr>
        <p:graphicFrame>
          <p:nvGraphicFramePr>
            <p:cNvPr id="12334" name="Object 4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9" name="" r:id="rId23" imgW="826770" imgH="840105" progId="MS_ClipArt_Gallery.2">
                    <p:embed/>
                  </p:oleObj>
                </mc:Choice>
                <mc:Fallback>
                  <p:oleObj name="" r:id="rId23" imgW="826770" imgH="840105" progId="MS_ClipArt_Gallery.2">
                    <p:embed/>
                    <p:pic>
                      <p:nvPicPr>
                        <p:cNvPr id="0" name="图片 311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35" name="Object 4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9" name="" r:id="rId24" imgW="1268095" imgH="1199515" progId="MS_ClipArt_Gallery.2">
                    <p:embed/>
                  </p:oleObj>
                </mc:Choice>
                <mc:Fallback>
                  <p:oleObj name="" r:id="rId24" imgW="1268095" imgH="1199515" progId="MS_ClipArt_Gallery.2">
                    <p:embed/>
                    <p:pic>
                      <p:nvPicPr>
                        <p:cNvPr id="0" name="图片 312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36" name="Group 47"/>
          <p:cNvGrpSpPr/>
          <p:nvPr/>
        </p:nvGrpSpPr>
        <p:grpSpPr>
          <a:xfrm>
            <a:off x="3760788" y="4926013"/>
            <a:ext cx="400050" cy="457200"/>
            <a:chOff x="2870" y="1518"/>
            <a:chExt cx="292" cy="320"/>
          </a:xfrm>
        </p:grpSpPr>
        <p:graphicFrame>
          <p:nvGraphicFramePr>
            <p:cNvPr id="12337" name="Object 4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0" name="" r:id="rId25" imgW="826770" imgH="840105" progId="MS_ClipArt_Gallery.2">
                    <p:embed/>
                  </p:oleObj>
                </mc:Choice>
                <mc:Fallback>
                  <p:oleObj name="" r:id="rId25" imgW="826770" imgH="840105" progId="MS_ClipArt_Gallery.2">
                    <p:embed/>
                    <p:pic>
                      <p:nvPicPr>
                        <p:cNvPr id="0" name="图片 311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38" name="Object 4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7" name="" r:id="rId26" imgW="1268095" imgH="1199515" progId="MS_ClipArt_Gallery.2">
                    <p:embed/>
                  </p:oleObj>
                </mc:Choice>
                <mc:Fallback>
                  <p:oleObj name="" r:id="rId26" imgW="1268095" imgH="1199515" progId="MS_ClipArt_Gallery.2">
                    <p:embed/>
                    <p:pic>
                      <p:nvPicPr>
                        <p:cNvPr id="0" name="图片 312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39" name="Group 50"/>
          <p:cNvGrpSpPr/>
          <p:nvPr/>
        </p:nvGrpSpPr>
        <p:grpSpPr>
          <a:xfrm>
            <a:off x="5837238" y="5697538"/>
            <a:ext cx="400050" cy="457200"/>
            <a:chOff x="2870" y="1518"/>
            <a:chExt cx="292" cy="320"/>
          </a:xfrm>
        </p:grpSpPr>
        <p:graphicFrame>
          <p:nvGraphicFramePr>
            <p:cNvPr id="12340" name="Object 5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4" name="" r:id="rId27" imgW="826770" imgH="840105" progId="MS_ClipArt_Gallery.2">
                    <p:embed/>
                  </p:oleObj>
                </mc:Choice>
                <mc:Fallback>
                  <p:oleObj name="" r:id="rId27" imgW="826770" imgH="840105" progId="MS_ClipArt_Gallery.2">
                    <p:embed/>
                    <p:pic>
                      <p:nvPicPr>
                        <p:cNvPr id="0" name="图片 3123"/>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41" name="Object 5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2" name="" r:id="rId28" imgW="1268095" imgH="1199515" progId="MS_ClipArt_Gallery.2">
                    <p:embed/>
                  </p:oleObj>
                </mc:Choice>
                <mc:Fallback>
                  <p:oleObj name="" r:id="rId28" imgW="1268095" imgH="1199515" progId="MS_ClipArt_Gallery.2">
                    <p:embed/>
                    <p:pic>
                      <p:nvPicPr>
                        <p:cNvPr id="0" name="图片 312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2342" name="Group 53"/>
          <p:cNvGrpSpPr/>
          <p:nvPr/>
        </p:nvGrpSpPr>
        <p:grpSpPr>
          <a:xfrm>
            <a:off x="4830763" y="5164138"/>
            <a:ext cx="835025" cy="457200"/>
            <a:chOff x="3345" y="3383"/>
            <a:chExt cx="526" cy="288"/>
          </a:xfrm>
        </p:grpSpPr>
        <p:grpSp>
          <p:nvGrpSpPr>
            <p:cNvPr id="12343" name="Group 54"/>
            <p:cNvGrpSpPr/>
            <p:nvPr/>
          </p:nvGrpSpPr>
          <p:grpSpPr>
            <a:xfrm>
              <a:off x="3426" y="3383"/>
              <a:ext cx="252" cy="288"/>
              <a:chOff x="2870" y="1518"/>
              <a:chExt cx="292" cy="320"/>
            </a:xfrm>
          </p:grpSpPr>
          <p:graphicFrame>
            <p:nvGraphicFramePr>
              <p:cNvPr id="12344" name="Object 5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8" name="" r:id="rId29" imgW="826770" imgH="840105" progId="MS_ClipArt_Gallery.2">
                      <p:embed/>
                    </p:oleObj>
                  </mc:Choice>
                  <mc:Fallback>
                    <p:oleObj name="" r:id="rId29" imgW="826770" imgH="840105" progId="MS_ClipArt_Gallery.2">
                      <p:embed/>
                      <p:pic>
                        <p:nvPicPr>
                          <p:cNvPr id="0" name="图片 311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345" name="Object 5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1" name="" r:id="rId30" imgW="1268095" imgH="1199515" progId="MS_ClipArt_Gallery.2">
                      <p:embed/>
                    </p:oleObj>
                  </mc:Choice>
                  <mc:Fallback>
                    <p:oleObj name="" r:id="rId30" imgW="1268095" imgH="1199515" progId="MS_ClipArt_Gallery.2">
                      <p:embed/>
                      <p:pic>
                        <p:nvPicPr>
                          <p:cNvPr id="0" name="图片 312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2346" name="Line 57"/>
            <p:cNvSpPr/>
            <p:nvPr/>
          </p:nvSpPr>
          <p:spPr>
            <a:xfrm>
              <a:off x="3679" y="3547"/>
              <a:ext cx="192" cy="0"/>
            </a:xfrm>
            <a:prstGeom prst="line">
              <a:avLst/>
            </a:prstGeom>
            <a:ln w="9525" cap="flat" cmpd="sng">
              <a:solidFill>
                <a:schemeClr val="tx1"/>
              </a:solidFill>
              <a:prstDash val="solid"/>
              <a:round/>
              <a:headEnd type="none" w="med" len="med"/>
              <a:tailEnd type="triangle" w="med" len="med"/>
            </a:ln>
          </p:spPr>
        </p:sp>
        <p:sp>
          <p:nvSpPr>
            <p:cNvPr id="12347" name="Line 58"/>
            <p:cNvSpPr/>
            <p:nvPr/>
          </p:nvSpPr>
          <p:spPr>
            <a:xfrm flipH="1">
              <a:off x="3372" y="3486"/>
              <a:ext cx="120" cy="0"/>
            </a:xfrm>
            <a:prstGeom prst="line">
              <a:avLst/>
            </a:prstGeom>
            <a:ln w="9525" cap="flat" cmpd="sng">
              <a:solidFill>
                <a:schemeClr val="tx1"/>
              </a:solidFill>
              <a:prstDash val="solid"/>
              <a:round/>
              <a:headEnd type="none" w="med" len="med"/>
              <a:tailEnd type="none" w="med" len="med"/>
            </a:ln>
          </p:spPr>
        </p:sp>
        <p:sp>
          <p:nvSpPr>
            <p:cNvPr id="12348" name="Line 59"/>
            <p:cNvSpPr/>
            <p:nvPr/>
          </p:nvSpPr>
          <p:spPr>
            <a:xfrm flipH="1">
              <a:off x="3381" y="3534"/>
              <a:ext cx="120" cy="0"/>
            </a:xfrm>
            <a:prstGeom prst="line">
              <a:avLst/>
            </a:prstGeom>
            <a:ln w="9525" cap="flat" cmpd="sng">
              <a:solidFill>
                <a:schemeClr val="tx1"/>
              </a:solidFill>
              <a:prstDash val="solid"/>
              <a:round/>
              <a:headEnd type="none" w="med" len="med"/>
              <a:tailEnd type="none" w="med" len="med"/>
            </a:ln>
          </p:spPr>
        </p:sp>
        <p:sp>
          <p:nvSpPr>
            <p:cNvPr id="12349" name="Line 60"/>
            <p:cNvSpPr/>
            <p:nvPr/>
          </p:nvSpPr>
          <p:spPr>
            <a:xfrm flipH="1">
              <a:off x="3345" y="3576"/>
              <a:ext cx="120" cy="0"/>
            </a:xfrm>
            <a:prstGeom prst="line">
              <a:avLst/>
            </a:prstGeom>
            <a:ln w="9525" cap="flat" cmpd="sng">
              <a:solidFill>
                <a:schemeClr val="tx1"/>
              </a:solidFill>
              <a:prstDash val="solid"/>
              <a:round/>
              <a:headEnd type="none" w="med" len="med"/>
              <a:tailEnd type="none" w="med" len="med"/>
            </a:ln>
          </p:spPr>
        </p:sp>
      </p:grpSp>
      <p:sp>
        <p:nvSpPr>
          <p:cNvPr id="12350" name="Line 61"/>
          <p:cNvSpPr/>
          <p:nvPr/>
        </p:nvSpPr>
        <p:spPr>
          <a:xfrm flipH="1" flipV="1">
            <a:off x="5068888" y="4303713"/>
            <a:ext cx="747712" cy="1095375"/>
          </a:xfrm>
          <a:prstGeom prst="line">
            <a:avLst/>
          </a:prstGeom>
          <a:ln w="9525" cap="flat" cmpd="sng">
            <a:solidFill>
              <a:schemeClr val="tx1"/>
            </a:solidFill>
            <a:prstDash val="solid"/>
            <a:round/>
            <a:headEnd type="none" w="med" len="med"/>
            <a:tailEnd type="none" w="med" len="med"/>
          </a:ln>
        </p:spPr>
      </p:sp>
      <p:sp>
        <p:nvSpPr>
          <p:cNvPr id="12351" name="Line 62"/>
          <p:cNvSpPr/>
          <p:nvPr/>
        </p:nvSpPr>
        <p:spPr>
          <a:xfrm flipH="1" flipV="1">
            <a:off x="4297363" y="4451350"/>
            <a:ext cx="176212" cy="990600"/>
          </a:xfrm>
          <a:prstGeom prst="line">
            <a:avLst/>
          </a:prstGeom>
          <a:ln w="9525" cap="flat" cmpd="sng">
            <a:solidFill>
              <a:schemeClr val="tx1"/>
            </a:solidFill>
            <a:prstDash val="solid"/>
            <a:round/>
            <a:headEnd type="none" w="med" len="med"/>
            <a:tailEnd type="none" w="med" len="med"/>
          </a:ln>
        </p:spPr>
      </p:sp>
      <p:grpSp>
        <p:nvGrpSpPr>
          <p:cNvPr id="12352" name="Group 74"/>
          <p:cNvGrpSpPr/>
          <p:nvPr/>
        </p:nvGrpSpPr>
        <p:grpSpPr>
          <a:xfrm>
            <a:off x="5484813" y="1087438"/>
            <a:ext cx="3346450" cy="3651250"/>
            <a:chOff x="3369" y="569"/>
            <a:chExt cx="2108" cy="2300"/>
          </a:xfrm>
        </p:grpSpPr>
        <p:sp>
          <p:nvSpPr>
            <p:cNvPr id="12353" name="Rectangle 64"/>
            <p:cNvSpPr/>
            <p:nvPr/>
          </p:nvSpPr>
          <p:spPr>
            <a:xfrm>
              <a:off x="3369" y="865"/>
              <a:ext cx="2108" cy="2004"/>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354" name="Rectangle 65"/>
            <p:cNvSpPr/>
            <p:nvPr/>
          </p:nvSpPr>
          <p:spPr>
            <a:xfrm>
              <a:off x="3403" y="768"/>
              <a:ext cx="1205" cy="177"/>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355" name="Rectangle 66"/>
            <p:cNvSpPr/>
            <p:nvPr/>
          </p:nvSpPr>
          <p:spPr>
            <a:xfrm>
              <a:off x="3402" y="742"/>
              <a:ext cx="1984" cy="16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 base station</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typically connected to wired network</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relay - responsible for sending packets between wired network and wireless host(s) in its “area”</a:t>
              </a:r>
              <a:endParaRPr lang="en-US" altLang="zh-CN" sz="2000" dirty="0">
                <a:latin typeface="Comic Sans MS" panose="030F0702030302020204" pitchFamily="66" charset="0"/>
                <a:ea typeface="宋体" panose="02010600030101010101" pitchFamily="2" charset="-122"/>
              </a:endParaRPr>
            </a:p>
            <a:p>
              <a:pPr marL="742950" lvl="1" indent="-285750" algn="l" rtl="0" eaLnBrk="0" fontAlgn="base" hangingPunct="0">
                <a:lnSpc>
                  <a:spcPct val="90000"/>
                </a:lnSpc>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e.g., cell towers,  802.11 access points </a:t>
              </a:r>
              <a:endParaRPr lang="en-US" altLang="zh-CN" sz="2000" dirty="0">
                <a:solidFill>
                  <a:schemeClr val="tx1"/>
                </a:solidFill>
                <a:latin typeface="Comic Sans MS" panose="030F0702030302020204" pitchFamily="66" charset="0"/>
                <a:ea typeface="宋体" panose="02010600030101010101" pitchFamily="2" charset="-122"/>
              </a:endParaRPr>
            </a:p>
          </p:txBody>
        </p:sp>
        <p:pic>
          <p:nvPicPr>
            <p:cNvPr id="12356" name="Picture 72"/>
            <p:cNvPicPr>
              <a:picLocks noChangeAspect="1"/>
            </p:cNvPicPr>
            <p:nvPr/>
          </p:nvPicPr>
          <p:blipFill>
            <a:blip r:embed="rId1"/>
            <a:stretch>
              <a:fillRect/>
            </a:stretch>
          </p:blipFill>
          <p:spPr>
            <a:xfrm>
              <a:off x="4858" y="569"/>
              <a:ext cx="249" cy="391"/>
            </a:xfrm>
            <a:prstGeom prst="rect">
              <a:avLst/>
            </a:prstGeom>
            <a:noFill/>
            <a:ln w="9525">
              <a:noFill/>
            </a:ln>
          </p:spPr>
        </p:pic>
      </p:grpSp>
      <p:sp>
        <p:nvSpPr>
          <p:cNvPr id="12357" name="Line 75"/>
          <p:cNvSpPr/>
          <p:nvPr/>
        </p:nvSpPr>
        <p:spPr>
          <a:xfrm flipH="1">
            <a:off x="6019800" y="4754563"/>
            <a:ext cx="792163" cy="639762"/>
          </a:xfrm>
          <a:prstGeom prst="line">
            <a:avLst/>
          </a:prstGeom>
          <a:ln w="9525" cap="flat" cmpd="sng">
            <a:solidFill>
              <a:srgbClr val="FF0000"/>
            </a:solidFill>
            <a:prstDash val="solid"/>
            <a:round/>
            <a:headEnd type="none" w="med" len="med"/>
            <a:tailEnd type="triangle" w="med" len="me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338"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339"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Elements of a wireless network</a:t>
            </a:r>
            <a:endParaRPr lang="en-US" altLang="zh-CN" sz="3200" dirty="0">
              <a:ea typeface="宋体" panose="02010600030101010101" pitchFamily="2" charset="-122"/>
            </a:endParaRPr>
          </a:p>
        </p:txBody>
      </p:sp>
      <p:sp>
        <p:nvSpPr>
          <p:cNvPr id="14340" name="Oval 3"/>
          <p:cNvSpPr/>
          <p:nvPr/>
        </p:nvSpPr>
        <p:spPr>
          <a:xfrm>
            <a:off x="4940300" y="466725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341" name="Group 4"/>
          <p:cNvGrpSpPr/>
          <p:nvPr/>
        </p:nvGrpSpPr>
        <p:grpSpPr>
          <a:xfrm>
            <a:off x="3059113" y="2781300"/>
            <a:ext cx="2362200" cy="1762125"/>
            <a:chOff x="3839" y="1737"/>
            <a:chExt cx="1488" cy="1110"/>
          </a:xfrm>
        </p:grpSpPr>
        <p:sp>
          <p:nvSpPr>
            <p:cNvPr id="14342" name="Freeform 5"/>
            <p:cNvSpPr/>
            <p:nvPr/>
          </p:nvSpPr>
          <p:spPr>
            <a:xfrm>
              <a:off x="3839" y="1737"/>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14343" name="Text Box 6"/>
            <p:cNvSpPr txBox="1"/>
            <p:nvPr/>
          </p:nvSpPr>
          <p:spPr>
            <a:xfrm>
              <a:off x="4075" y="1947"/>
              <a:ext cx="1094" cy="404"/>
            </a:xfrm>
            <a:prstGeom prst="rect">
              <a:avLst/>
            </a:prstGeom>
            <a:noFill/>
            <a:ln w="9525">
              <a:noFill/>
            </a:ln>
          </p:spPr>
          <p:txBody>
            <a:bodyPr wrap="none" anchor="t" anchorCtr="0">
              <a:spAutoFit/>
            </a:bodyPr>
            <a:p>
              <a:pPr algn="ctr">
                <a:buClrTx/>
                <a:buFontTx/>
              </a:pPr>
              <a:r>
                <a:rPr lang="en-US" altLang="zh-CN" dirty="0">
                  <a:latin typeface="Comic Sans MS" panose="030F0702030302020204" pitchFamily="66" charset="0"/>
                  <a:ea typeface="宋体" panose="02010600030101010101" pitchFamily="2" charset="-122"/>
                </a:rPr>
                <a:t>network </a:t>
              </a:r>
              <a:endParaRPr lang="en-US" altLang="zh-CN" dirty="0">
                <a:latin typeface="Comic Sans MS" panose="030F0702030302020204" pitchFamily="66" charset="0"/>
                <a:ea typeface="宋体" panose="02010600030101010101" pitchFamily="2" charset="-122"/>
              </a:endParaRPr>
            </a:p>
            <a:p>
              <a:pPr algn="ctr">
                <a:buClrTx/>
                <a:buFontTx/>
              </a:pPr>
              <a:r>
                <a:rPr lang="en-US" altLang="zh-CN" dirty="0">
                  <a:latin typeface="Comic Sans MS" panose="030F0702030302020204" pitchFamily="66" charset="0"/>
                  <a:ea typeface="宋体" panose="02010600030101010101" pitchFamily="2" charset="-122"/>
                </a:rPr>
                <a:t>infrastructure</a:t>
              </a:r>
              <a:endParaRPr lang="en-US" altLang="zh-CN" dirty="0">
                <a:latin typeface="Comic Sans MS" panose="030F0702030302020204" pitchFamily="66" charset="0"/>
                <a:ea typeface="宋体" panose="02010600030101010101" pitchFamily="2" charset="-122"/>
              </a:endParaRPr>
            </a:p>
          </p:txBody>
        </p:sp>
      </p:grpSp>
      <p:pic>
        <p:nvPicPr>
          <p:cNvPr id="14344" name="Picture 7"/>
          <p:cNvPicPr>
            <a:picLocks noChangeAspect="1"/>
          </p:cNvPicPr>
          <p:nvPr/>
        </p:nvPicPr>
        <p:blipFill>
          <a:blip r:embed="rId1"/>
          <a:stretch>
            <a:fillRect/>
          </a:stretch>
        </p:blipFill>
        <p:spPr>
          <a:xfrm>
            <a:off x="5775325" y="5245100"/>
            <a:ext cx="214313" cy="336550"/>
          </a:xfrm>
          <a:prstGeom prst="rect">
            <a:avLst/>
          </a:prstGeom>
          <a:noFill/>
          <a:ln w="9525">
            <a:noFill/>
          </a:ln>
        </p:spPr>
      </p:pic>
      <p:grpSp>
        <p:nvGrpSpPr>
          <p:cNvPr id="14345" name="Group 8"/>
          <p:cNvGrpSpPr/>
          <p:nvPr/>
        </p:nvGrpSpPr>
        <p:grpSpPr>
          <a:xfrm>
            <a:off x="1147763" y="1709738"/>
            <a:ext cx="1755775" cy="1625600"/>
            <a:chOff x="567" y="1326"/>
            <a:chExt cx="1106" cy="1024"/>
          </a:xfrm>
        </p:grpSpPr>
        <p:sp>
          <p:nvSpPr>
            <p:cNvPr id="14346" name="Oval 9"/>
            <p:cNvSpPr/>
            <p:nvPr/>
          </p:nvSpPr>
          <p:spPr>
            <a:xfrm>
              <a:off x="567" y="1326"/>
              <a:ext cx="1106" cy="1024"/>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4347" name="Picture 10"/>
            <p:cNvPicPr>
              <a:picLocks noChangeAspect="1"/>
            </p:cNvPicPr>
            <p:nvPr/>
          </p:nvPicPr>
          <p:blipFill>
            <a:blip r:embed="rId2"/>
            <a:stretch>
              <a:fillRect/>
            </a:stretch>
          </p:blipFill>
          <p:spPr>
            <a:xfrm rot="-5400000">
              <a:off x="1032" y="1783"/>
              <a:ext cx="212" cy="135"/>
            </a:xfrm>
            <a:prstGeom prst="rect">
              <a:avLst/>
            </a:prstGeom>
            <a:solidFill>
              <a:srgbClr val="99CCFF"/>
            </a:solidFill>
            <a:ln w="9525">
              <a:noFill/>
            </a:ln>
          </p:spPr>
        </p:pic>
        <p:grpSp>
          <p:nvGrpSpPr>
            <p:cNvPr id="14348" name="Group 11"/>
            <p:cNvGrpSpPr/>
            <p:nvPr/>
          </p:nvGrpSpPr>
          <p:grpSpPr>
            <a:xfrm>
              <a:off x="1221" y="1447"/>
              <a:ext cx="252" cy="288"/>
              <a:chOff x="2870" y="1518"/>
              <a:chExt cx="292" cy="320"/>
            </a:xfrm>
          </p:grpSpPr>
          <p:graphicFrame>
            <p:nvGraphicFramePr>
              <p:cNvPr id="14349" name="Object 1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6" name="" r:id="rId3" imgW="826770" imgH="840105" progId="MS_ClipArt_Gallery.2">
                      <p:embed/>
                    </p:oleObj>
                  </mc:Choice>
                  <mc:Fallback>
                    <p:oleObj name="" r:id="rId3" imgW="826770" imgH="840105" progId="MS_ClipArt_Gallery.2">
                      <p:embed/>
                      <p:pic>
                        <p:nvPicPr>
                          <p:cNvPr id="0" name="图片 3135"/>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4350" name="Object 1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2" name="" r:id="rId5" imgW="1268095" imgH="1199515" progId="MS_ClipArt_Gallery.2">
                      <p:embed/>
                    </p:oleObj>
                  </mc:Choice>
                  <mc:Fallback>
                    <p:oleObj name="" r:id="rId5" imgW="1268095" imgH="1199515" progId="MS_ClipArt_Gallery.2">
                      <p:embed/>
                      <p:pic>
                        <p:nvPicPr>
                          <p:cNvPr id="0" name="图片 3141"/>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4351" name="Group 14"/>
            <p:cNvGrpSpPr/>
            <p:nvPr/>
          </p:nvGrpSpPr>
          <p:grpSpPr>
            <a:xfrm>
              <a:off x="869" y="1379"/>
              <a:ext cx="252" cy="288"/>
              <a:chOff x="2870" y="1518"/>
              <a:chExt cx="292" cy="320"/>
            </a:xfrm>
          </p:grpSpPr>
          <p:graphicFrame>
            <p:nvGraphicFramePr>
              <p:cNvPr id="14352" name="Object 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4" name="" r:id="rId7" imgW="826770" imgH="840105" progId="MS_ClipArt_Gallery.2">
                      <p:embed/>
                    </p:oleObj>
                  </mc:Choice>
                  <mc:Fallback>
                    <p:oleObj name="" r:id="rId7" imgW="826770" imgH="840105" progId="MS_ClipArt_Gallery.2">
                      <p:embed/>
                      <p:pic>
                        <p:nvPicPr>
                          <p:cNvPr id="0" name="图片 3143"/>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4353" name="Object 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4" name="" r:id="rId8" imgW="1268095" imgH="1199515" progId="MS_ClipArt_Gallery.2">
                      <p:embed/>
                    </p:oleObj>
                  </mc:Choice>
                  <mc:Fallback>
                    <p:oleObj name="" r:id="rId8" imgW="1268095" imgH="1199515" progId="MS_ClipArt_Gallery.2">
                      <p:embed/>
                      <p:pic>
                        <p:nvPicPr>
                          <p:cNvPr id="0" name="图片 3133"/>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nvGrpSpPr>
            <p:cNvPr id="14354" name="Group 17"/>
            <p:cNvGrpSpPr/>
            <p:nvPr/>
          </p:nvGrpSpPr>
          <p:grpSpPr>
            <a:xfrm>
              <a:off x="727" y="1878"/>
              <a:ext cx="252" cy="288"/>
              <a:chOff x="2870" y="1518"/>
              <a:chExt cx="292" cy="320"/>
            </a:xfrm>
          </p:grpSpPr>
          <p:graphicFrame>
            <p:nvGraphicFramePr>
              <p:cNvPr id="14355" name="Object 1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0" name="" r:id="rId9" imgW="826770" imgH="840105" progId="MS_ClipArt_Gallery.2">
                      <p:embed/>
                    </p:oleObj>
                  </mc:Choice>
                  <mc:Fallback>
                    <p:oleObj name="" r:id="rId9" imgW="826770" imgH="840105" progId="MS_ClipArt_Gallery.2">
                      <p:embed/>
                      <p:pic>
                        <p:nvPicPr>
                          <p:cNvPr id="0" name="图片 3139"/>
                          <p:cNvPicPr/>
                          <p:nvPr/>
                        </p:nvPicPr>
                        <p:blipFill>
                          <a:blip r:embed="rId4"/>
                          <a:stretch>
                            <a:fillRect/>
                          </a:stretch>
                        </p:blipFill>
                        <p:spPr>
                          <a:xfrm>
                            <a:off x="2870" y="1518"/>
                            <a:ext cx="272" cy="282"/>
                          </a:xfrm>
                          <a:prstGeom prst="rect">
                            <a:avLst/>
                          </a:prstGeom>
                          <a:solidFill>
                            <a:srgbClr val="99CCFF"/>
                          </a:solidFill>
                          <a:ln w="38100">
                            <a:noFill/>
                            <a:miter/>
                          </a:ln>
                        </p:spPr>
                      </p:pic>
                    </p:oleObj>
                  </mc:Fallback>
                </mc:AlternateContent>
              </a:graphicData>
            </a:graphic>
          </p:graphicFrame>
          <p:graphicFrame>
            <p:nvGraphicFramePr>
              <p:cNvPr id="14356" name="Object 1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9" name="" r:id="rId10" imgW="1268095" imgH="1199515" progId="MS_ClipArt_Gallery.2">
                      <p:embed/>
                    </p:oleObj>
                  </mc:Choice>
                  <mc:Fallback>
                    <p:oleObj name="" r:id="rId10" imgW="1268095" imgH="1199515" progId="MS_ClipArt_Gallery.2">
                      <p:embed/>
                      <p:pic>
                        <p:nvPicPr>
                          <p:cNvPr id="0" name="图片 3138"/>
                          <p:cNvPicPr/>
                          <p:nvPr/>
                        </p:nvPicPr>
                        <p:blipFill>
                          <a:blip r:embed="rId6"/>
                          <a:stretch>
                            <a:fillRect/>
                          </a:stretch>
                        </p:blipFill>
                        <p:spPr>
                          <a:xfrm>
                            <a:off x="2913" y="1602"/>
                            <a:ext cx="249" cy="236"/>
                          </a:xfrm>
                          <a:prstGeom prst="rect">
                            <a:avLst/>
                          </a:prstGeom>
                          <a:solidFill>
                            <a:srgbClr val="99CCFF"/>
                          </a:solidFill>
                          <a:ln w="38100">
                            <a:noFill/>
                            <a:miter/>
                          </a:ln>
                        </p:spPr>
                      </p:pic>
                    </p:oleObj>
                  </mc:Fallback>
                </mc:AlternateContent>
              </a:graphicData>
            </a:graphic>
          </p:graphicFrame>
        </p:grpSp>
      </p:grpSp>
      <p:sp>
        <p:nvSpPr>
          <p:cNvPr id="14357" name="Line 20"/>
          <p:cNvSpPr/>
          <p:nvPr/>
        </p:nvSpPr>
        <p:spPr>
          <a:xfrm>
            <a:off x="2176463" y="2711450"/>
            <a:ext cx="900112" cy="392113"/>
          </a:xfrm>
          <a:prstGeom prst="line">
            <a:avLst/>
          </a:prstGeom>
          <a:ln w="9525" cap="flat" cmpd="sng">
            <a:solidFill>
              <a:schemeClr val="tx1"/>
            </a:solidFill>
            <a:prstDash val="solid"/>
            <a:round/>
            <a:headEnd type="none" w="med" len="med"/>
            <a:tailEnd type="none" w="med" len="med"/>
          </a:ln>
        </p:spPr>
      </p:sp>
      <p:sp>
        <p:nvSpPr>
          <p:cNvPr id="14358" name="Oval 21"/>
          <p:cNvSpPr/>
          <p:nvPr/>
        </p:nvSpPr>
        <p:spPr>
          <a:xfrm>
            <a:off x="1243013" y="3632200"/>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4359" name="Picture 22"/>
          <p:cNvPicPr>
            <a:picLocks noChangeAspect="1"/>
          </p:cNvPicPr>
          <p:nvPr/>
        </p:nvPicPr>
        <p:blipFill>
          <a:blip r:embed="rId1"/>
          <a:stretch>
            <a:fillRect/>
          </a:stretch>
        </p:blipFill>
        <p:spPr>
          <a:xfrm>
            <a:off x="2046288" y="4300538"/>
            <a:ext cx="214312" cy="336550"/>
          </a:xfrm>
          <a:prstGeom prst="rect">
            <a:avLst/>
          </a:prstGeom>
          <a:noFill/>
          <a:ln w="9525">
            <a:noFill/>
          </a:ln>
        </p:spPr>
      </p:pic>
      <p:grpSp>
        <p:nvGrpSpPr>
          <p:cNvPr id="14360" name="Group 23"/>
          <p:cNvGrpSpPr/>
          <p:nvPr/>
        </p:nvGrpSpPr>
        <p:grpSpPr>
          <a:xfrm>
            <a:off x="2033588" y="4651375"/>
            <a:ext cx="400050" cy="457200"/>
            <a:chOff x="2870" y="1518"/>
            <a:chExt cx="292" cy="320"/>
          </a:xfrm>
        </p:grpSpPr>
        <p:graphicFrame>
          <p:nvGraphicFramePr>
            <p:cNvPr id="14361"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0" name="" r:id="rId11" imgW="826770" imgH="840105" progId="MS_ClipArt_Gallery.2">
                    <p:embed/>
                  </p:oleObj>
                </mc:Choice>
                <mc:Fallback>
                  <p:oleObj name="" r:id="rId11" imgW="826770" imgH="840105" progId="MS_ClipArt_Gallery.2">
                    <p:embed/>
                    <p:pic>
                      <p:nvPicPr>
                        <p:cNvPr id="0" name="图片 312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62"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1" name="" r:id="rId12" imgW="1268095" imgH="1199515" progId="MS_ClipArt_Gallery.2">
                    <p:embed/>
                  </p:oleObj>
                </mc:Choice>
                <mc:Fallback>
                  <p:oleObj name="" r:id="rId12" imgW="1268095" imgH="1199515" progId="MS_ClipArt_Gallery.2">
                    <p:embed/>
                    <p:pic>
                      <p:nvPicPr>
                        <p:cNvPr id="0" name="图片 3140"/>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63" name="Group 26"/>
          <p:cNvGrpSpPr/>
          <p:nvPr/>
        </p:nvGrpSpPr>
        <p:grpSpPr>
          <a:xfrm>
            <a:off x="1882775" y="3702050"/>
            <a:ext cx="400050" cy="457200"/>
            <a:chOff x="2870" y="1518"/>
            <a:chExt cx="292" cy="320"/>
          </a:xfrm>
        </p:grpSpPr>
        <p:graphicFrame>
          <p:nvGraphicFramePr>
            <p:cNvPr id="14364" name="Object 2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7" name="" r:id="rId13" imgW="826770" imgH="840105" progId="MS_ClipArt_Gallery.2">
                    <p:embed/>
                  </p:oleObj>
                </mc:Choice>
                <mc:Fallback>
                  <p:oleObj name="" r:id="rId13" imgW="826770" imgH="840105" progId="MS_ClipArt_Gallery.2">
                    <p:embed/>
                    <p:pic>
                      <p:nvPicPr>
                        <p:cNvPr id="0" name="图片 3136"/>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65" name="Object 2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3" name="" r:id="rId14" imgW="1268095" imgH="1199515" progId="MS_ClipArt_Gallery.2">
                    <p:embed/>
                  </p:oleObj>
                </mc:Choice>
                <mc:Fallback>
                  <p:oleObj name="" r:id="rId14" imgW="1268095" imgH="1199515" progId="MS_ClipArt_Gallery.2">
                    <p:embed/>
                    <p:pic>
                      <p:nvPicPr>
                        <p:cNvPr id="0" name="图片 314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66" name="Group 29"/>
          <p:cNvGrpSpPr/>
          <p:nvPr/>
        </p:nvGrpSpPr>
        <p:grpSpPr>
          <a:xfrm>
            <a:off x="1497013" y="4508500"/>
            <a:ext cx="400050" cy="457200"/>
            <a:chOff x="2870" y="1518"/>
            <a:chExt cx="292" cy="320"/>
          </a:xfrm>
        </p:grpSpPr>
        <p:graphicFrame>
          <p:nvGraphicFramePr>
            <p:cNvPr id="14367"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8" name="" r:id="rId15" imgW="826770" imgH="840105" progId="MS_ClipArt_Gallery.2">
                    <p:embed/>
                  </p:oleObj>
                </mc:Choice>
                <mc:Fallback>
                  <p:oleObj name="" r:id="rId15" imgW="826770" imgH="840105" progId="MS_ClipArt_Gallery.2">
                    <p:embed/>
                    <p:pic>
                      <p:nvPicPr>
                        <p:cNvPr id="0" name="图片 313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68"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5" name="" r:id="rId16" imgW="1268095" imgH="1199515" progId="MS_ClipArt_Gallery.2">
                    <p:embed/>
                  </p:oleObj>
                </mc:Choice>
                <mc:Fallback>
                  <p:oleObj name="" r:id="rId16" imgW="1268095" imgH="1199515" progId="MS_ClipArt_Gallery.2">
                    <p:embed/>
                    <p:pic>
                      <p:nvPicPr>
                        <p:cNvPr id="0" name="图片 3144"/>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4369" name="Line 32"/>
          <p:cNvSpPr/>
          <p:nvPr/>
        </p:nvSpPr>
        <p:spPr>
          <a:xfrm flipV="1">
            <a:off x="2197100" y="3721100"/>
            <a:ext cx="974725" cy="725488"/>
          </a:xfrm>
          <a:prstGeom prst="line">
            <a:avLst/>
          </a:prstGeom>
          <a:ln w="9525" cap="flat" cmpd="sng">
            <a:solidFill>
              <a:schemeClr val="tx1"/>
            </a:solidFill>
            <a:prstDash val="solid"/>
            <a:round/>
            <a:headEnd type="none" w="med" len="med"/>
            <a:tailEnd type="none" w="med" len="med"/>
          </a:ln>
        </p:spPr>
      </p:sp>
      <p:grpSp>
        <p:nvGrpSpPr>
          <p:cNvPr id="14370" name="Group 33"/>
          <p:cNvGrpSpPr/>
          <p:nvPr/>
        </p:nvGrpSpPr>
        <p:grpSpPr>
          <a:xfrm>
            <a:off x="1373188" y="3960813"/>
            <a:ext cx="400050" cy="457200"/>
            <a:chOff x="2870" y="1518"/>
            <a:chExt cx="292" cy="320"/>
          </a:xfrm>
        </p:grpSpPr>
        <p:graphicFrame>
          <p:nvGraphicFramePr>
            <p:cNvPr id="14371" name="Object 3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6" name="" r:id="rId17" imgW="826770" imgH="840105" progId="MS_ClipArt_Gallery.2">
                    <p:embed/>
                  </p:oleObj>
                </mc:Choice>
                <mc:Fallback>
                  <p:oleObj name="" r:id="rId17" imgW="826770" imgH="840105" progId="MS_ClipArt_Gallery.2">
                    <p:embed/>
                    <p:pic>
                      <p:nvPicPr>
                        <p:cNvPr id="0" name="图片 3145"/>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72" name="Object 3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7" name="" r:id="rId18" imgW="1268095" imgH="1199515" progId="MS_ClipArt_Gallery.2">
                    <p:embed/>
                  </p:oleObj>
                </mc:Choice>
                <mc:Fallback>
                  <p:oleObj name="" r:id="rId18" imgW="1268095" imgH="1199515" progId="MS_ClipArt_Gallery.2">
                    <p:embed/>
                    <p:pic>
                      <p:nvPicPr>
                        <p:cNvPr id="0" name="图片 314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4373" name="Oval 36"/>
          <p:cNvSpPr/>
          <p:nvPr/>
        </p:nvSpPr>
        <p:spPr>
          <a:xfrm>
            <a:off x="3630613" y="4583113"/>
            <a:ext cx="1755775" cy="1625600"/>
          </a:xfrm>
          <a:prstGeom prst="ellipse">
            <a:avLst/>
          </a:prstGeom>
          <a:solidFill>
            <a:srgbClr val="99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4374" name="Picture 37"/>
          <p:cNvPicPr>
            <a:picLocks noChangeAspect="1"/>
          </p:cNvPicPr>
          <p:nvPr/>
        </p:nvPicPr>
        <p:blipFill>
          <a:blip r:embed="rId1"/>
          <a:stretch>
            <a:fillRect/>
          </a:stretch>
        </p:blipFill>
        <p:spPr>
          <a:xfrm>
            <a:off x="4433888" y="5265738"/>
            <a:ext cx="214312" cy="336550"/>
          </a:xfrm>
          <a:prstGeom prst="rect">
            <a:avLst/>
          </a:prstGeom>
          <a:noFill/>
          <a:ln w="9525">
            <a:noFill/>
          </a:ln>
        </p:spPr>
      </p:pic>
      <p:grpSp>
        <p:nvGrpSpPr>
          <p:cNvPr id="14375" name="Group 38"/>
          <p:cNvGrpSpPr/>
          <p:nvPr/>
        </p:nvGrpSpPr>
        <p:grpSpPr>
          <a:xfrm>
            <a:off x="4421188" y="5616575"/>
            <a:ext cx="400050" cy="457200"/>
            <a:chOff x="2870" y="1518"/>
            <a:chExt cx="292" cy="320"/>
          </a:xfrm>
        </p:grpSpPr>
        <p:graphicFrame>
          <p:nvGraphicFramePr>
            <p:cNvPr id="14376" name="Object 3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1" name="" r:id="rId19" imgW="826770" imgH="840105" progId="MS_ClipArt_Gallery.2">
                    <p:embed/>
                  </p:oleObj>
                </mc:Choice>
                <mc:Fallback>
                  <p:oleObj name="" r:id="rId19" imgW="826770" imgH="840105" progId="MS_ClipArt_Gallery.2">
                    <p:embed/>
                    <p:pic>
                      <p:nvPicPr>
                        <p:cNvPr id="0" name="图片 313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77" name="Object 4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2" name="" r:id="rId20" imgW="1268095" imgH="1199515" progId="MS_ClipArt_Gallery.2">
                    <p:embed/>
                  </p:oleObj>
                </mc:Choice>
                <mc:Fallback>
                  <p:oleObj name="" r:id="rId20" imgW="1268095" imgH="1199515" progId="MS_ClipArt_Gallery.2">
                    <p:embed/>
                    <p:pic>
                      <p:nvPicPr>
                        <p:cNvPr id="0" name="图片 313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78" name="Group 41"/>
          <p:cNvGrpSpPr/>
          <p:nvPr/>
        </p:nvGrpSpPr>
        <p:grpSpPr>
          <a:xfrm>
            <a:off x="4622800" y="4672013"/>
            <a:ext cx="400050" cy="457200"/>
            <a:chOff x="2870" y="1518"/>
            <a:chExt cx="292" cy="320"/>
          </a:xfrm>
        </p:grpSpPr>
        <p:graphicFrame>
          <p:nvGraphicFramePr>
            <p:cNvPr id="14379" name="Object 4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3" name="" r:id="rId21" imgW="826770" imgH="840105" progId="MS_ClipArt_Gallery.2">
                    <p:embed/>
                  </p:oleObj>
                </mc:Choice>
                <mc:Fallback>
                  <p:oleObj name="" r:id="rId21" imgW="826770" imgH="840105" progId="MS_ClipArt_Gallery.2">
                    <p:embed/>
                    <p:pic>
                      <p:nvPicPr>
                        <p:cNvPr id="0" name="图片 3132"/>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80" name="Object 4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5" name="" r:id="rId22" imgW="1268095" imgH="1199515" progId="MS_ClipArt_Gallery.2">
                    <p:embed/>
                  </p:oleObj>
                </mc:Choice>
                <mc:Fallback>
                  <p:oleObj name="" r:id="rId22" imgW="1268095" imgH="1199515" progId="MS_ClipArt_Gallery.2">
                    <p:embed/>
                    <p:pic>
                      <p:nvPicPr>
                        <p:cNvPr id="0" name="图片 3134"/>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81" name="Group 44"/>
          <p:cNvGrpSpPr/>
          <p:nvPr/>
        </p:nvGrpSpPr>
        <p:grpSpPr>
          <a:xfrm>
            <a:off x="3884613" y="5473700"/>
            <a:ext cx="400050" cy="457200"/>
            <a:chOff x="2870" y="1518"/>
            <a:chExt cx="292" cy="320"/>
          </a:xfrm>
        </p:grpSpPr>
        <p:graphicFrame>
          <p:nvGraphicFramePr>
            <p:cNvPr id="14382" name="Object 4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2" name="" r:id="rId23" imgW="826770" imgH="840105" progId="MS_ClipArt_Gallery.2">
                    <p:embed/>
                  </p:oleObj>
                </mc:Choice>
                <mc:Fallback>
                  <p:oleObj name="" r:id="rId23" imgW="826770" imgH="840105" progId="MS_ClipArt_Gallery.2">
                    <p:embed/>
                    <p:pic>
                      <p:nvPicPr>
                        <p:cNvPr id="0" name="图片 3151"/>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83" name="Object 4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4" name="" r:id="rId24" imgW="1268095" imgH="1199515" progId="MS_ClipArt_Gallery.2">
                    <p:embed/>
                  </p:oleObj>
                </mc:Choice>
                <mc:Fallback>
                  <p:oleObj name="" r:id="rId24" imgW="1268095" imgH="1199515" progId="MS_ClipArt_Gallery.2">
                    <p:embed/>
                    <p:pic>
                      <p:nvPicPr>
                        <p:cNvPr id="0" name="图片 315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84" name="Group 47"/>
          <p:cNvGrpSpPr/>
          <p:nvPr/>
        </p:nvGrpSpPr>
        <p:grpSpPr>
          <a:xfrm>
            <a:off x="3760788" y="4926013"/>
            <a:ext cx="400050" cy="457200"/>
            <a:chOff x="2870" y="1518"/>
            <a:chExt cx="292" cy="320"/>
          </a:xfrm>
        </p:grpSpPr>
        <p:graphicFrame>
          <p:nvGraphicFramePr>
            <p:cNvPr id="14385" name="Object 4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1" name="" r:id="rId25" imgW="826770" imgH="840105" progId="MS_ClipArt_Gallery.2">
                    <p:embed/>
                  </p:oleObj>
                </mc:Choice>
                <mc:Fallback>
                  <p:oleObj name="" r:id="rId25" imgW="826770" imgH="840105" progId="MS_ClipArt_Gallery.2">
                    <p:embed/>
                    <p:pic>
                      <p:nvPicPr>
                        <p:cNvPr id="0" name="图片 315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86" name="Object 4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8" name="" r:id="rId26" imgW="1268095" imgH="1199515" progId="MS_ClipArt_Gallery.2">
                    <p:embed/>
                  </p:oleObj>
                </mc:Choice>
                <mc:Fallback>
                  <p:oleObj name="" r:id="rId26" imgW="1268095" imgH="1199515" progId="MS_ClipArt_Gallery.2">
                    <p:embed/>
                    <p:pic>
                      <p:nvPicPr>
                        <p:cNvPr id="0" name="图片 3147"/>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87" name="Group 50"/>
          <p:cNvGrpSpPr/>
          <p:nvPr/>
        </p:nvGrpSpPr>
        <p:grpSpPr>
          <a:xfrm>
            <a:off x="5837238" y="5697538"/>
            <a:ext cx="400050" cy="457200"/>
            <a:chOff x="2870" y="1518"/>
            <a:chExt cx="292" cy="320"/>
          </a:xfrm>
        </p:grpSpPr>
        <p:graphicFrame>
          <p:nvGraphicFramePr>
            <p:cNvPr id="14388" name="Object 5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9" name="" r:id="rId27" imgW="826770" imgH="840105" progId="MS_ClipArt_Gallery.2">
                    <p:embed/>
                  </p:oleObj>
                </mc:Choice>
                <mc:Fallback>
                  <p:oleObj name="" r:id="rId27" imgW="826770" imgH="840105" progId="MS_ClipArt_Gallery.2">
                    <p:embed/>
                    <p:pic>
                      <p:nvPicPr>
                        <p:cNvPr id="0" name="图片 314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89" name="Object 5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0" name="" r:id="rId28" imgW="1268095" imgH="1199515" progId="MS_ClipArt_Gallery.2">
                    <p:embed/>
                  </p:oleObj>
                </mc:Choice>
                <mc:Fallback>
                  <p:oleObj name="" r:id="rId28" imgW="1268095" imgH="1199515" progId="MS_ClipArt_Gallery.2">
                    <p:embed/>
                    <p:pic>
                      <p:nvPicPr>
                        <p:cNvPr id="0" name="图片 314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4390" name="Group 53"/>
          <p:cNvGrpSpPr/>
          <p:nvPr/>
        </p:nvGrpSpPr>
        <p:grpSpPr>
          <a:xfrm>
            <a:off x="4830763" y="5164138"/>
            <a:ext cx="835025" cy="457200"/>
            <a:chOff x="3345" y="3383"/>
            <a:chExt cx="526" cy="288"/>
          </a:xfrm>
        </p:grpSpPr>
        <p:grpSp>
          <p:nvGrpSpPr>
            <p:cNvPr id="14391" name="Group 54"/>
            <p:cNvGrpSpPr/>
            <p:nvPr/>
          </p:nvGrpSpPr>
          <p:grpSpPr>
            <a:xfrm>
              <a:off x="3426" y="3383"/>
              <a:ext cx="252" cy="288"/>
              <a:chOff x="2870" y="1518"/>
              <a:chExt cx="292" cy="320"/>
            </a:xfrm>
          </p:grpSpPr>
          <p:graphicFrame>
            <p:nvGraphicFramePr>
              <p:cNvPr id="14392" name="Object 5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5" name="" r:id="rId29" imgW="826770" imgH="840105" progId="MS_ClipArt_Gallery.2">
                      <p:embed/>
                    </p:oleObj>
                  </mc:Choice>
                  <mc:Fallback>
                    <p:oleObj name="" r:id="rId29" imgW="826770" imgH="840105" progId="MS_ClipArt_Gallery.2">
                      <p:embed/>
                      <p:pic>
                        <p:nvPicPr>
                          <p:cNvPr id="0" name="图片 315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4393" name="Object 5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3" name="" r:id="rId30" imgW="1268095" imgH="1199515" progId="MS_ClipArt_Gallery.2">
                      <p:embed/>
                    </p:oleObj>
                  </mc:Choice>
                  <mc:Fallback>
                    <p:oleObj name="" r:id="rId30" imgW="1268095" imgH="1199515" progId="MS_ClipArt_Gallery.2">
                      <p:embed/>
                      <p:pic>
                        <p:nvPicPr>
                          <p:cNvPr id="0" name="图片 315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4394" name="Line 57"/>
            <p:cNvSpPr/>
            <p:nvPr/>
          </p:nvSpPr>
          <p:spPr>
            <a:xfrm>
              <a:off x="3679" y="3547"/>
              <a:ext cx="192" cy="0"/>
            </a:xfrm>
            <a:prstGeom prst="line">
              <a:avLst/>
            </a:prstGeom>
            <a:ln w="9525" cap="flat" cmpd="sng">
              <a:solidFill>
                <a:schemeClr val="tx1"/>
              </a:solidFill>
              <a:prstDash val="solid"/>
              <a:round/>
              <a:headEnd type="none" w="med" len="med"/>
              <a:tailEnd type="triangle" w="med" len="med"/>
            </a:ln>
          </p:spPr>
        </p:sp>
        <p:sp>
          <p:nvSpPr>
            <p:cNvPr id="14395" name="Line 58"/>
            <p:cNvSpPr/>
            <p:nvPr/>
          </p:nvSpPr>
          <p:spPr>
            <a:xfrm flipH="1">
              <a:off x="3372" y="3486"/>
              <a:ext cx="120" cy="0"/>
            </a:xfrm>
            <a:prstGeom prst="line">
              <a:avLst/>
            </a:prstGeom>
            <a:ln w="9525" cap="flat" cmpd="sng">
              <a:solidFill>
                <a:schemeClr val="tx1"/>
              </a:solidFill>
              <a:prstDash val="solid"/>
              <a:round/>
              <a:headEnd type="none" w="med" len="med"/>
              <a:tailEnd type="none" w="med" len="med"/>
            </a:ln>
          </p:spPr>
        </p:sp>
        <p:sp>
          <p:nvSpPr>
            <p:cNvPr id="14396" name="Line 59"/>
            <p:cNvSpPr/>
            <p:nvPr/>
          </p:nvSpPr>
          <p:spPr>
            <a:xfrm flipH="1">
              <a:off x="3381" y="3534"/>
              <a:ext cx="120" cy="0"/>
            </a:xfrm>
            <a:prstGeom prst="line">
              <a:avLst/>
            </a:prstGeom>
            <a:ln w="9525" cap="flat" cmpd="sng">
              <a:solidFill>
                <a:schemeClr val="tx1"/>
              </a:solidFill>
              <a:prstDash val="solid"/>
              <a:round/>
              <a:headEnd type="none" w="med" len="med"/>
              <a:tailEnd type="none" w="med" len="med"/>
            </a:ln>
          </p:spPr>
        </p:sp>
        <p:sp>
          <p:nvSpPr>
            <p:cNvPr id="14397" name="Line 60"/>
            <p:cNvSpPr/>
            <p:nvPr/>
          </p:nvSpPr>
          <p:spPr>
            <a:xfrm flipH="1">
              <a:off x="3345" y="3576"/>
              <a:ext cx="120" cy="0"/>
            </a:xfrm>
            <a:prstGeom prst="line">
              <a:avLst/>
            </a:prstGeom>
            <a:ln w="9525" cap="flat" cmpd="sng">
              <a:solidFill>
                <a:schemeClr val="tx1"/>
              </a:solidFill>
              <a:prstDash val="solid"/>
              <a:round/>
              <a:headEnd type="none" w="med" len="med"/>
              <a:tailEnd type="none" w="med" len="med"/>
            </a:ln>
          </p:spPr>
        </p:sp>
      </p:grpSp>
      <p:sp>
        <p:nvSpPr>
          <p:cNvPr id="14398" name="Line 61"/>
          <p:cNvSpPr/>
          <p:nvPr/>
        </p:nvSpPr>
        <p:spPr>
          <a:xfrm flipH="1" flipV="1">
            <a:off x="5068888" y="4303713"/>
            <a:ext cx="747712" cy="1095375"/>
          </a:xfrm>
          <a:prstGeom prst="line">
            <a:avLst/>
          </a:prstGeom>
          <a:ln w="9525" cap="flat" cmpd="sng">
            <a:solidFill>
              <a:schemeClr val="tx1"/>
            </a:solidFill>
            <a:prstDash val="solid"/>
            <a:round/>
            <a:headEnd type="none" w="med" len="med"/>
            <a:tailEnd type="none" w="med" len="med"/>
          </a:ln>
        </p:spPr>
      </p:sp>
      <p:sp>
        <p:nvSpPr>
          <p:cNvPr id="14399" name="Line 62"/>
          <p:cNvSpPr/>
          <p:nvPr/>
        </p:nvSpPr>
        <p:spPr>
          <a:xfrm flipH="1" flipV="1">
            <a:off x="4297363" y="4451350"/>
            <a:ext cx="176212" cy="990600"/>
          </a:xfrm>
          <a:prstGeom prst="line">
            <a:avLst/>
          </a:prstGeom>
          <a:ln w="9525" cap="flat" cmpd="sng">
            <a:solidFill>
              <a:schemeClr val="tx1"/>
            </a:solidFill>
            <a:prstDash val="solid"/>
            <a:round/>
            <a:headEnd type="none" w="med" len="med"/>
            <a:tailEnd type="none" w="med" len="med"/>
          </a:ln>
        </p:spPr>
      </p:sp>
      <p:sp>
        <p:nvSpPr>
          <p:cNvPr id="14400" name="Rectangle 64"/>
          <p:cNvSpPr/>
          <p:nvPr/>
        </p:nvSpPr>
        <p:spPr>
          <a:xfrm>
            <a:off x="5484813" y="1557338"/>
            <a:ext cx="3346450" cy="3181350"/>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01" name="Rectangle 65"/>
          <p:cNvSpPr/>
          <p:nvPr/>
        </p:nvSpPr>
        <p:spPr>
          <a:xfrm>
            <a:off x="5538788" y="1403350"/>
            <a:ext cx="1912937" cy="28098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02" name="Rectangle 66"/>
          <p:cNvSpPr/>
          <p:nvPr/>
        </p:nvSpPr>
        <p:spPr>
          <a:xfrm>
            <a:off x="5537200" y="1362075"/>
            <a:ext cx="3149600" cy="257968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 wireless link</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typically used to connect mobile(s) to base station</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also used as backbone link </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multiple access protocol coordinates link access </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various data rates, transmission distance</a:t>
            </a:r>
            <a:endParaRPr lang="en-US" altLang="zh-CN" sz="2000" dirty="0">
              <a:latin typeface="Comic Sans MS" panose="030F0702030302020204" pitchFamily="66" charset="0"/>
              <a:ea typeface="宋体" panose="02010600030101010101" pitchFamily="2" charset="-122"/>
            </a:endParaRPr>
          </a:p>
        </p:txBody>
      </p:sp>
      <p:sp>
        <p:nvSpPr>
          <p:cNvPr id="14403" name="Line 68"/>
          <p:cNvSpPr/>
          <p:nvPr/>
        </p:nvSpPr>
        <p:spPr>
          <a:xfrm flipH="1">
            <a:off x="6019800" y="4754563"/>
            <a:ext cx="792163" cy="639762"/>
          </a:xfrm>
          <a:prstGeom prst="line">
            <a:avLst/>
          </a:prstGeom>
          <a:ln w="9525" cap="flat" cmpd="sng">
            <a:solidFill>
              <a:srgbClr val="FF0000"/>
            </a:solidFill>
            <a:prstDash val="solid"/>
            <a:round/>
            <a:headEnd type="none" w="med" len="med"/>
            <a:tailEnd type="triangle" w="med" len="med"/>
          </a:ln>
        </p:spPr>
      </p:sp>
      <p:sp>
        <p:nvSpPr>
          <p:cNvPr id="14404" name="AutoShape 72"/>
          <p:cNvSpPr>
            <a:spLocks noChangeAspect="1" noTextEdit="1"/>
          </p:cNvSpPr>
          <p:nvPr/>
        </p:nvSpPr>
        <p:spPr>
          <a:xfrm>
            <a:off x="7800975" y="1430338"/>
            <a:ext cx="735013" cy="220662"/>
          </a:xfrm>
          <a:prstGeom prst="rect">
            <a:avLst/>
          </a:prstGeom>
          <a:solidFill>
            <a:schemeClr val="bg1"/>
          </a:solidFill>
          <a:ln w="9525">
            <a:noFill/>
          </a:ln>
        </p:spPr>
        <p:txBody>
          <a:bodyPr anchor="t" anchorCtr="0"/>
          <a:p>
            <a:pPr eaLnBrk="0" hangingPunct="0"/>
            <a:endParaRPr lang="zh-CN" altLang="en-US">
              <a:latin typeface="Comic Sans MS" panose="030F0702030302020204" pitchFamily="66" charset="0"/>
            </a:endParaRPr>
          </a:p>
        </p:txBody>
      </p:sp>
      <p:grpSp>
        <p:nvGrpSpPr>
          <p:cNvPr id="14405" name="Group 137"/>
          <p:cNvGrpSpPr/>
          <p:nvPr/>
        </p:nvGrpSpPr>
        <p:grpSpPr>
          <a:xfrm>
            <a:off x="7815263" y="1347788"/>
            <a:ext cx="722312" cy="303212"/>
            <a:chOff x="4750" y="264"/>
            <a:chExt cx="455" cy="191"/>
          </a:xfrm>
        </p:grpSpPr>
        <p:sp>
          <p:nvSpPr>
            <p:cNvPr id="14406" name="Freeform 89"/>
            <p:cNvSpPr/>
            <p:nvPr/>
          </p:nvSpPr>
          <p:spPr>
            <a:xfrm>
              <a:off x="4872" y="298"/>
              <a:ext cx="82" cy="104"/>
            </a:xfrm>
            <a:custGeom>
              <a:avLst/>
              <a:gdLst/>
              <a:ahLst/>
              <a:cxnLst>
                <a:cxn ang="0">
                  <a:pos x="10" y="6"/>
                </a:cxn>
                <a:cxn ang="0">
                  <a:pos x="8" y="8"/>
                </a:cxn>
                <a:cxn ang="0">
                  <a:pos x="6" y="11"/>
                </a:cxn>
                <a:cxn ang="0">
                  <a:pos x="4" y="14"/>
                </a:cxn>
                <a:cxn ang="0">
                  <a:pos x="3" y="17"/>
                </a:cxn>
                <a:cxn ang="0">
                  <a:pos x="2" y="20"/>
                </a:cxn>
                <a:cxn ang="0">
                  <a:pos x="1" y="24"/>
                </a:cxn>
                <a:cxn ang="0">
                  <a:pos x="0" y="28"/>
                </a:cxn>
                <a:cxn ang="0">
                  <a:pos x="0" y="32"/>
                </a:cxn>
                <a:cxn ang="0">
                  <a:pos x="0" y="37"/>
                </a:cxn>
                <a:cxn ang="0">
                  <a:pos x="2" y="41"/>
                </a:cxn>
                <a:cxn ang="0">
                  <a:pos x="4" y="45"/>
                </a:cxn>
                <a:cxn ang="0">
                  <a:pos x="6" y="48"/>
                </a:cxn>
                <a:cxn ang="0">
                  <a:pos x="9" y="50"/>
                </a:cxn>
                <a:cxn ang="0">
                  <a:pos x="12" y="52"/>
                </a:cxn>
                <a:cxn ang="0">
                  <a:pos x="15" y="52"/>
                </a:cxn>
                <a:cxn ang="0">
                  <a:pos x="18" y="51"/>
                </a:cxn>
                <a:cxn ang="0">
                  <a:pos x="19" y="51"/>
                </a:cxn>
                <a:cxn ang="0">
                  <a:pos x="20" y="50"/>
                </a:cxn>
                <a:cxn ang="0">
                  <a:pos x="20" y="50"/>
                </a:cxn>
                <a:cxn ang="0">
                  <a:pos x="20" y="49"/>
                </a:cxn>
                <a:cxn ang="0">
                  <a:pos x="20" y="47"/>
                </a:cxn>
                <a:cxn ang="0">
                  <a:pos x="19" y="46"/>
                </a:cxn>
                <a:cxn ang="0">
                  <a:pos x="18" y="45"/>
                </a:cxn>
                <a:cxn ang="0">
                  <a:pos x="18" y="45"/>
                </a:cxn>
                <a:cxn ang="0">
                  <a:pos x="16" y="44"/>
                </a:cxn>
                <a:cxn ang="0">
                  <a:pos x="14" y="44"/>
                </a:cxn>
                <a:cxn ang="0">
                  <a:pos x="13" y="43"/>
                </a:cxn>
                <a:cxn ang="0">
                  <a:pos x="11" y="42"/>
                </a:cxn>
                <a:cxn ang="0">
                  <a:pos x="10" y="42"/>
                </a:cxn>
                <a:cxn ang="0">
                  <a:pos x="9" y="41"/>
                </a:cxn>
                <a:cxn ang="0">
                  <a:pos x="7" y="39"/>
                </a:cxn>
                <a:cxn ang="0">
                  <a:pos x="6" y="37"/>
                </a:cxn>
                <a:cxn ang="0">
                  <a:pos x="5" y="29"/>
                </a:cxn>
                <a:cxn ang="0">
                  <a:pos x="7" y="21"/>
                </a:cxn>
                <a:cxn ang="0">
                  <a:pos x="9" y="16"/>
                </a:cxn>
                <a:cxn ang="0">
                  <a:pos x="13" y="11"/>
                </a:cxn>
                <a:cxn ang="0">
                  <a:pos x="17" y="7"/>
                </a:cxn>
                <a:cxn ang="0">
                  <a:pos x="21" y="5"/>
                </a:cxn>
                <a:cxn ang="0">
                  <a:pos x="24" y="3"/>
                </a:cxn>
                <a:cxn ang="0">
                  <a:pos x="27" y="1"/>
                </a:cxn>
                <a:cxn ang="0">
                  <a:pos x="26" y="0"/>
                </a:cxn>
                <a:cxn ang="0">
                  <a:pos x="24" y="0"/>
                </a:cxn>
                <a:cxn ang="0">
                  <a:pos x="21" y="0"/>
                </a:cxn>
                <a:cxn ang="0">
                  <a:pos x="19" y="1"/>
                </a:cxn>
                <a:cxn ang="0">
                  <a:pos x="16" y="2"/>
                </a:cxn>
                <a:cxn ang="0">
                  <a:pos x="14" y="3"/>
                </a:cxn>
                <a:cxn ang="0">
                  <a:pos x="12" y="5"/>
                </a:cxn>
                <a:cxn ang="0">
                  <a:pos x="10" y="6"/>
                </a:cxn>
              </a:cxnLst>
              <a:pathLst>
                <a:path w="247" h="209">
                  <a:moveTo>
                    <a:pt x="87" y="27"/>
                  </a:moveTo>
                  <a:lnTo>
                    <a:pt x="68" y="35"/>
                  </a:lnTo>
                  <a:lnTo>
                    <a:pt x="52" y="46"/>
                  </a:lnTo>
                  <a:lnTo>
                    <a:pt x="37" y="57"/>
                  </a:lnTo>
                  <a:lnTo>
                    <a:pt x="24" y="69"/>
                  </a:lnTo>
                  <a:lnTo>
                    <a:pt x="14" y="83"/>
                  </a:lnTo>
                  <a:lnTo>
                    <a:pt x="7" y="97"/>
                  </a:lnTo>
                  <a:lnTo>
                    <a:pt x="2" y="113"/>
                  </a:lnTo>
                  <a:lnTo>
                    <a:pt x="0" y="128"/>
                  </a:lnTo>
                  <a:lnTo>
                    <a:pt x="2" y="150"/>
                  </a:lnTo>
                  <a:lnTo>
                    <a:pt x="14" y="167"/>
                  </a:lnTo>
                  <a:lnTo>
                    <a:pt x="32" y="183"/>
                  </a:lnTo>
                  <a:lnTo>
                    <a:pt x="55" y="194"/>
                  </a:lnTo>
                  <a:lnTo>
                    <a:pt x="81" y="203"/>
                  </a:lnTo>
                  <a:lnTo>
                    <a:pt x="109" y="208"/>
                  </a:lnTo>
                  <a:lnTo>
                    <a:pt x="138" y="209"/>
                  </a:lnTo>
                  <a:lnTo>
                    <a:pt x="165" y="206"/>
                  </a:lnTo>
                  <a:lnTo>
                    <a:pt x="171" y="206"/>
                  </a:lnTo>
                  <a:lnTo>
                    <a:pt x="177" y="203"/>
                  </a:lnTo>
                  <a:lnTo>
                    <a:pt x="181" y="200"/>
                  </a:lnTo>
                  <a:lnTo>
                    <a:pt x="183" y="196"/>
                  </a:lnTo>
                  <a:lnTo>
                    <a:pt x="180" y="191"/>
                  </a:lnTo>
                  <a:lnTo>
                    <a:pt x="174" y="187"/>
                  </a:lnTo>
                  <a:lnTo>
                    <a:pt x="167" y="183"/>
                  </a:lnTo>
                  <a:lnTo>
                    <a:pt x="159" y="181"/>
                  </a:lnTo>
                  <a:lnTo>
                    <a:pt x="145" y="178"/>
                  </a:lnTo>
                  <a:lnTo>
                    <a:pt x="130" y="176"/>
                  </a:lnTo>
                  <a:lnTo>
                    <a:pt x="116" y="174"/>
                  </a:lnTo>
                  <a:lnTo>
                    <a:pt x="103" y="171"/>
                  </a:lnTo>
                  <a:lnTo>
                    <a:pt x="90" y="168"/>
                  </a:lnTo>
                  <a:lnTo>
                    <a:pt x="77" y="164"/>
                  </a:lnTo>
                  <a:lnTo>
                    <a:pt x="65" y="159"/>
                  </a:lnTo>
                  <a:lnTo>
                    <a:pt x="53" y="151"/>
                  </a:lnTo>
                  <a:lnTo>
                    <a:pt x="49" y="116"/>
                  </a:lnTo>
                  <a:lnTo>
                    <a:pt x="61" y="87"/>
                  </a:lnTo>
                  <a:lnTo>
                    <a:pt x="84" y="64"/>
                  </a:lnTo>
                  <a:lnTo>
                    <a:pt x="116" y="46"/>
                  </a:lnTo>
                  <a:lnTo>
                    <a:pt x="151" y="31"/>
                  </a:lnTo>
                  <a:lnTo>
                    <a:pt x="187" y="20"/>
                  </a:lnTo>
                  <a:lnTo>
                    <a:pt x="220" y="12"/>
                  </a:lnTo>
                  <a:lnTo>
                    <a:pt x="247" y="5"/>
                  </a:lnTo>
                  <a:lnTo>
                    <a:pt x="231" y="1"/>
                  </a:lnTo>
                  <a:lnTo>
                    <a:pt x="213" y="0"/>
                  </a:lnTo>
                  <a:lnTo>
                    <a:pt x="193" y="2"/>
                  </a:lnTo>
                  <a:lnTo>
                    <a:pt x="171" y="5"/>
                  </a:lnTo>
                  <a:lnTo>
                    <a:pt x="149" y="10"/>
                  </a:lnTo>
                  <a:lnTo>
                    <a:pt x="127" y="15"/>
                  </a:lnTo>
                  <a:lnTo>
                    <a:pt x="106" y="21"/>
                  </a:lnTo>
                  <a:lnTo>
                    <a:pt x="87" y="27"/>
                  </a:lnTo>
                  <a:close/>
                </a:path>
              </a:pathLst>
            </a:custGeom>
            <a:solidFill>
              <a:srgbClr val="C9E8FF"/>
            </a:solidFill>
            <a:ln w="9525">
              <a:noFill/>
            </a:ln>
          </p:spPr>
          <p:txBody>
            <a:bodyPr/>
            <a:p>
              <a:endParaRPr lang="zh-CN" altLang="en-US"/>
            </a:p>
          </p:txBody>
        </p:sp>
        <p:sp>
          <p:nvSpPr>
            <p:cNvPr id="14407" name="Freeform 90"/>
            <p:cNvSpPr/>
            <p:nvPr/>
          </p:nvSpPr>
          <p:spPr>
            <a:xfrm>
              <a:off x="5012" y="297"/>
              <a:ext cx="53" cy="81"/>
            </a:xfrm>
            <a:custGeom>
              <a:avLst/>
              <a:gdLst/>
              <a:ahLst/>
              <a:cxnLst>
                <a:cxn ang="0">
                  <a:pos x="15" y="14"/>
                </a:cxn>
                <a:cxn ang="0">
                  <a:pos x="16" y="18"/>
                </a:cxn>
                <a:cxn ang="0">
                  <a:pos x="15" y="22"/>
                </a:cxn>
                <a:cxn ang="0">
                  <a:pos x="14" y="25"/>
                </a:cxn>
                <a:cxn ang="0">
                  <a:pos x="13" y="28"/>
                </a:cxn>
                <a:cxn ang="0">
                  <a:pos x="11" y="30"/>
                </a:cxn>
                <a:cxn ang="0">
                  <a:pos x="8" y="33"/>
                </a:cxn>
                <a:cxn ang="0">
                  <a:pos x="6" y="35"/>
                </a:cxn>
                <a:cxn ang="0">
                  <a:pos x="4" y="37"/>
                </a:cxn>
                <a:cxn ang="0">
                  <a:pos x="4" y="38"/>
                </a:cxn>
                <a:cxn ang="0">
                  <a:pos x="4" y="39"/>
                </a:cxn>
                <a:cxn ang="0">
                  <a:pos x="4" y="39"/>
                </a:cxn>
                <a:cxn ang="0">
                  <a:pos x="4" y="40"/>
                </a:cxn>
                <a:cxn ang="0">
                  <a:pos x="4" y="41"/>
                </a:cxn>
                <a:cxn ang="0">
                  <a:pos x="5" y="41"/>
                </a:cxn>
                <a:cxn ang="0">
                  <a:pos x="5" y="41"/>
                </a:cxn>
                <a:cxn ang="0">
                  <a:pos x="6" y="41"/>
                </a:cxn>
                <a:cxn ang="0">
                  <a:pos x="8" y="38"/>
                </a:cxn>
                <a:cxn ang="0">
                  <a:pos x="11" y="36"/>
                </a:cxn>
                <a:cxn ang="0">
                  <a:pos x="13" y="33"/>
                </a:cxn>
                <a:cxn ang="0">
                  <a:pos x="15" y="30"/>
                </a:cxn>
                <a:cxn ang="0">
                  <a:pos x="17" y="26"/>
                </a:cxn>
                <a:cxn ang="0">
                  <a:pos x="18" y="22"/>
                </a:cxn>
                <a:cxn ang="0">
                  <a:pos x="18" y="17"/>
                </a:cxn>
                <a:cxn ang="0">
                  <a:pos x="17" y="13"/>
                </a:cxn>
                <a:cxn ang="0">
                  <a:pos x="16" y="9"/>
                </a:cxn>
                <a:cxn ang="0">
                  <a:pos x="14"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1" y="7"/>
                </a:cxn>
                <a:cxn ang="0">
                  <a:pos x="12" y="9"/>
                </a:cxn>
                <a:cxn ang="0">
                  <a:pos x="14" y="11"/>
                </a:cxn>
                <a:cxn ang="0">
                  <a:pos x="15" y="14"/>
                </a:cxn>
              </a:cxnLst>
              <a:pathLst>
                <a:path w="158" h="162">
                  <a:moveTo>
                    <a:pt x="134" y="53"/>
                  </a:moveTo>
                  <a:lnTo>
                    <a:pt x="140" y="69"/>
                  </a:lnTo>
                  <a:lnTo>
                    <a:pt x="138" y="85"/>
                  </a:lnTo>
                  <a:lnTo>
                    <a:pt x="128" y="97"/>
                  </a:lnTo>
                  <a:lnTo>
                    <a:pt x="113" y="109"/>
                  </a:lnTo>
                  <a:lnTo>
                    <a:pt x="96" y="119"/>
                  </a:lnTo>
                  <a:lnTo>
                    <a:pt x="76" y="129"/>
                  </a:lnTo>
                  <a:lnTo>
                    <a:pt x="55" y="138"/>
                  </a:lnTo>
                  <a:lnTo>
                    <a:pt x="38" y="148"/>
                  </a:lnTo>
                  <a:lnTo>
                    <a:pt x="35" y="151"/>
                  </a:lnTo>
                  <a:lnTo>
                    <a:pt x="33" y="153"/>
                  </a:lnTo>
                  <a:lnTo>
                    <a:pt x="33" y="156"/>
                  </a:lnTo>
                  <a:lnTo>
                    <a:pt x="35" y="159"/>
                  </a:lnTo>
                  <a:lnTo>
                    <a:pt x="39" y="161"/>
                  </a:lnTo>
                  <a:lnTo>
                    <a:pt x="44" y="162"/>
                  </a:lnTo>
                  <a:lnTo>
                    <a:pt x="46" y="162"/>
                  </a:lnTo>
                  <a:lnTo>
                    <a:pt x="51" y="161"/>
                  </a:lnTo>
                  <a:lnTo>
                    <a:pt x="74" y="152"/>
                  </a:lnTo>
                  <a:lnTo>
                    <a:pt x="96" y="142"/>
                  </a:lnTo>
                  <a:lnTo>
                    <a:pt x="116" y="130"/>
                  </a:lnTo>
                  <a:lnTo>
                    <a:pt x="135" y="117"/>
                  </a:lnTo>
                  <a:lnTo>
                    <a:pt x="148" y="102"/>
                  </a:lnTo>
                  <a:lnTo>
                    <a:pt x="157" y="86"/>
                  </a:lnTo>
                  <a:lnTo>
                    <a:pt x="158" y="68"/>
                  </a:lnTo>
                  <a:lnTo>
                    <a:pt x="153" y="50"/>
                  </a:lnTo>
                  <a:lnTo>
                    <a:pt x="140" y="35"/>
                  </a:lnTo>
                  <a:lnTo>
                    <a:pt x="121" y="23"/>
                  </a:lnTo>
                  <a:lnTo>
                    <a:pt x="97" y="14"/>
                  </a:lnTo>
                  <a:lnTo>
                    <a:pt x="71" y="6"/>
                  </a:lnTo>
                  <a:lnTo>
                    <a:pt x="45" y="2"/>
                  </a:lnTo>
                  <a:lnTo>
                    <a:pt x="23" y="0"/>
                  </a:lnTo>
                  <a:lnTo>
                    <a:pt x="7" y="0"/>
                  </a:lnTo>
                  <a:lnTo>
                    <a:pt x="0" y="3"/>
                  </a:lnTo>
                  <a:lnTo>
                    <a:pt x="17" y="9"/>
                  </a:lnTo>
                  <a:lnTo>
                    <a:pt x="36" y="13"/>
                  </a:lnTo>
                  <a:lnTo>
                    <a:pt x="57" y="17"/>
                  </a:lnTo>
                  <a:lnTo>
                    <a:pt x="76" y="21"/>
                  </a:lnTo>
                  <a:lnTo>
                    <a:pt x="94" y="26"/>
                  </a:lnTo>
                  <a:lnTo>
                    <a:pt x="110" y="33"/>
                  </a:lnTo>
                  <a:lnTo>
                    <a:pt x="124" y="42"/>
                  </a:lnTo>
                  <a:lnTo>
                    <a:pt x="134" y="53"/>
                  </a:lnTo>
                  <a:close/>
                </a:path>
              </a:pathLst>
            </a:custGeom>
            <a:solidFill>
              <a:srgbClr val="C9E8FF"/>
            </a:solidFill>
            <a:ln w="9525">
              <a:noFill/>
            </a:ln>
          </p:spPr>
          <p:txBody>
            <a:bodyPr/>
            <a:p>
              <a:endParaRPr lang="zh-CN" altLang="en-US"/>
            </a:p>
          </p:txBody>
        </p:sp>
        <p:sp>
          <p:nvSpPr>
            <p:cNvPr id="14408" name="Freeform 91"/>
            <p:cNvSpPr/>
            <p:nvPr/>
          </p:nvSpPr>
          <p:spPr>
            <a:xfrm>
              <a:off x="4820" y="278"/>
              <a:ext cx="133" cy="169"/>
            </a:xfrm>
            <a:custGeom>
              <a:avLst/>
              <a:gdLst/>
              <a:ahLst/>
              <a:cxnLst>
                <a:cxn ang="0">
                  <a:pos x="14" y="15"/>
                </a:cxn>
                <a:cxn ang="0">
                  <a:pos x="7" y="25"/>
                </a:cxn>
                <a:cxn ang="0">
                  <a:pos x="2" y="37"/>
                </a:cxn>
                <a:cxn ang="0">
                  <a:pos x="0" y="50"/>
                </a:cxn>
                <a:cxn ang="0">
                  <a:pos x="0" y="59"/>
                </a:cxn>
                <a:cxn ang="0">
                  <a:pos x="1" y="63"/>
                </a:cxn>
                <a:cxn ang="0">
                  <a:pos x="3" y="66"/>
                </a:cxn>
                <a:cxn ang="0">
                  <a:pos x="5" y="69"/>
                </a:cxn>
                <a:cxn ang="0">
                  <a:pos x="8" y="72"/>
                </a:cxn>
                <a:cxn ang="0">
                  <a:pos x="12" y="76"/>
                </a:cxn>
                <a:cxn ang="0">
                  <a:pos x="16" y="78"/>
                </a:cxn>
                <a:cxn ang="0">
                  <a:pos x="21" y="80"/>
                </a:cxn>
                <a:cxn ang="0">
                  <a:pos x="26" y="82"/>
                </a:cxn>
                <a:cxn ang="0">
                  <a:pos x="30" y="83"/>
                </a:cxn>
                <a:cxn ang="0">
                  <a:pos x="35" y="84"/>
                </a:cxn>
                <a:cxn ang="0">
                  <a:pos x="40" y="84"/>
                </a:cxn>
                <a:cxn ang="0">
                  <a:pos x="43" y="84"/>
                </a:cxn>
                <a:cxn ang="0">
                  <a:pos x="44" y="83"/>
                </a:cxn>
                <a:cxn ang="0">
                  <a:pos x="44" y="81"/>
                </a:cxn>
                <a:cxn ang="0">
                  <a:pos x="43" y="79"/>
                </a:cxn>
                <a:cxn ang="0">
                  <a:pos x="40" y="77"/>
                </a:cxn>
                <a:cxn ang="0">
                  <a:pos x="36" y="76"/>
                </a:cxn>
                <a:cxn ang="0">
                  <a:pos x="32" y="75"/>
                </a:cxn>
                <a:cxn ang="0">
                  <a:pos x="28" y="74"/>
                </a:cxn>
                <a:cxn ang="0">
                  <a:pos x="23" y="73"/>
                </a:cxn>
                <a:cxn ang="0">
                  <a:pos x="19" y="71"/>
                </a:cxn>
                <a:cxn ang="0">
                  <a:pos x="15" y="69"/>
                </a:cxn>
                <a:cxn ang="0">
                  <a:pos x="11" y="66"/>
                </a:cxn>
                <a:cxn ang="0">
                  <a:pos x="8" y="63"/>
                </a:cxn>
                <a:cxn ang="0">
                  <a:pos x="5" y="58"/>
                </a:cxn>
                <a:cxn ang="0">
                  <a:pos x="5" y="52"/>
                </a:cxn>
                <a:cxn ang="0">
                  <a:pos x="5" y="45"/>
                </a:cxn>
                <a:cxn ang="0">
                  <a:pos x="7" y="38"/>
                </a:cxn>
                <a:cxn ang="0">
                  <a:pos x="10" y="31"/>
                </a:cxn>
                <a:cxn ang="0">
                  <a:pos x="13" y="24"/>
                </a:cxn>
                <a:cxn ang="0">
                  <a:pos x="17" y="18"/>
                </a:cxn>
                <a:cxn ang="0">
                  <a:pos x="21" y="13"/>
                </a:cxn>
                <a:cxn ang="0">
                  <a:pos x="27" y="8"/>
                </a:cxn>
                <a:cxn ang="0">
                  <a:pos x="33" y="4"/>
                </a:cxn>
                <a:cxn ang="0">
                  <a:pos x="36" y="1"/>
                </a:cxn>
                <a:cxn ang="0">
                  <a:pos x="35" y="0"/>
                </a:cxn>
                <a:cxn ang="0">
                  <a:pos x="30" y="1"/>
                </a:cxn>
                <a:cxn ang="0">
                  <a:pos x="25" y="4"/>
                </a:cxn>
                <a:cxn ang="0">
                  <a:pos x="20" y="8"/>
                </a:cxn>
              </a:cxnLst>
              <a:pathLst>
                <a:path w="400" h="339">
                  <a:moveTo>
                    <a:pt x="156" y="44"/>
                  </a:moveTo>
                  <a:lnTo>
                    <a:pt x="125" y="63"/>
                  </a:lnTo>
                  <a:lnTo>
                    <a:pt x="95" y="82"/>
                  </a:lnTo>
                  <a:lnTo>
                    <a:pt x="67" y="103"/>
                  </a:lnTo>
                  <a:lnTo>
                    <a:pt x="42" y="126"/>
                  </a:lnTo>
                  <a:lnTo>
                    <a:pt x="22" y="150"/>
                  </a:lnTo>
                  <a:lnTo>
                    <a:pt x="7" y="175"/>
                  </a:lnTo>
                  <a:lnTo>
                    <a:pt x="0" y="203"/>
                  </a:lnTo>
                  <a:lnTo>
                    <a:pt x="2" y="232"/>
                  </a:lnTo>
                  <a:lnTo>
                    <a:pt x="4" y="239"/>
                  </a:lnTo>
                  <a:lnTo>
                    <a:pt x="7" y="248"/>
                  </a:lnTo>
                  <a:lnTo>
                    <a:pt x="12" y="254"/>
                  </a:lnTo>
                  <a:lnTo>
                    <a:pt x="18" y="261"/>
                  </a:lnTo>
                  <a:lnTo>
                    <a:pt x="25" y="267"/>
                  </a:lnTo>
                  <a:lnTo>
                    <a:pt x="33" y="273"/>
                  </a:lnTo>
                  <a:lnTo>
                    <a:pt x="41" y="278"/>
                  </a:lnTo>
                  <a:lnTo>
                    <a:pt x="51" y="283"/>
                  </a:lnTo>
                  <a:lnTo>
                    <a:pt x="70" y="291"/>
                  </a:lnTo>
                  <a:lnTo>
                    <a:pt x="89" y="298"/>
                  </a:lnTo>
                  <a:lnTo>
                    <a:pt x="108" y="304"/>
                  </a:lnTo>
                  <a:lnTo>
                    <a:pt x="128" y="309"/>
                  </a:lnTo>
                  <a:lnTo>
                    <a:pt x="148" y="315"/>
                  </a:lnTo>
                  <a:lnTo>
                    <a:pt x="169" y="319"/>
                  </a:lnTo>
                  <a:lnTo>
                    <a:pt x="189" y="323"/>
                  </a:lnTo>
                  <a:lnTo>
                    <a:pt x="209" y="326"/>
                  </a:lnTo>
                  <a:lnTo>
                    <a:pt x="231" y="329"/>
                  </a:lnTo>
                  <a:lnTo>
                    <a:pt x="251" y="331"/>
                  </a:lnTo>
                  <a:lnTo>
                    <a:pt x="273" y="333"/>
                  </a:lnTo>
                  <a:lnTo>
                    <a:pt x="295" y="335"/>
                  </a:lnTo>
                  <a:lnTo>
                    <a:pt x="315" y="336"/>
                  </a:lnTo>
                  <a:lnTo>
                    <a:pt x="337" y="337"/>
                  </a:lnTo>
                  <a:lnTo>
                    <a:pt x="359" y="338"/>
                  </a:lnTo>
                  <a:lnTo>
                    <a:pt x="379" y="339"/>
                  </a:lnTo>
                  <a:lnTo>
                    <a:pt x="387" y="339"/>
                  </a:lnTo>
                  <a:lnTo>
                    <a:pt x="392" y="337"/>
                  </a:lnTo>
                  <a:lnTo>
                    <a:pt x="397" y="333"/>
                  </a:lnTo>
                  <a:lnTo>
                    <a:pt x="400" y="329"/>
                  </a:lnTo>
                  <a:lnTo>
                    <a:pt x="400" y="324"/>
                  </a:lnTo>
                  <a:lnTo>
                    <a:pt x="397" y="320"/>
                  </a:lnTo>
                  <a:lnTo>
                    <a:pt x="391" y="317"/>
                  </a:lnTo>
                  <a:lnTo>
                    <a:pt x="384" y="315"/>
                  </a:lnTo>
                  <a:lnTo>
                    <a:pt x="365" y="311"/>
                  </a:lnTo>
                  <a:lnTo>
                    <a:pt x="346" y="309"/>
                  </a:lnTo>
                  <a:lnTo>
                    <a:pt x="327" y="306"/>
                  </a:lnTo>
                  <a:lnTo>
                    <a:pt x="307" y="304"/>
                  </a:lnTo>
                  <a:lnTo>
                    <a:pt x="288" y="302"/>
                  </a:lnTo>
                  <a:lnTo>
                    <a:pt x="269" y="300"/>
                  </a:lnTo>
                  <a:lnTo>
                    <a:pt x="249" y="298"/>
                  </a:lnTo>
                  <a:lnTo>
                    <a:pt x="230" y="295"/>
                  </a:lnTo>
                  <a:lnTo>
                    <a:pt x="211" y="293"/>
                  </a:lnTo>
                  <a:lnTo>
                    <a:pt x="192" y="290"/>
                  </a:lnTo>
                  <a:lnTo>
                    <a:pt x="173" y="286"/>
                  </a:lnTo>
                  <a:lnTo>
                    <a:pt x="154" y="283"/>
                  </a:lnTo>
                  <a:lnTo>
                    <a:pt x="137" y="277"/>
                  </a:lnTo>
                  <a:lnTo>
                    <a:pt x="118" y="272"/>
                  </a:lnTo>
                  <a:lnTo>
                    <a:pt x="100" y="267"/>
                  </a:lnTo>
                  <a:lnTo>
                    <a:pt x="83" y="260"/>
                  </a:lnTo>
                  <a:lnTo>
                    <a:pt x="68" y="253"/>
                  </a:lnTo>
                  <a:lnTo>
                    <a:pt x="57" y="243"/>
                  </a:lnTo>
                  <a:lnTo>
                    <a:pt x="48" y="233"/>
                  </a:lnTo>
                  <a:lnTo>
                    <a:pt x="44" y="221"/>
                  </a:lnTo>
                  <a:lnTo>
                    <a:pt x="42" y="208"/>
                  </a:lnTo>
                  <a:lnTo>
                    <a:pt x="44" y="194"/>
                  </a:lnTo>
                  <a:lnTo>
                    <a:pt x="48" y="180"/>
                  </a:lnTo>
                  <a:lnTo>
                    <a:pt x="54" y="168"/>
                  </a:lnTo>
                  <a:lnTo>
                    <a:pt x="64" y="153"/>
                  </a:lnTo>
                  <a:lnTo>
                    <a:pt x="76" y="137"/>
                  </a:lnTo>
                  <a:lnTo>
                    <a:pt x="89" y="124"/>
                  </a:lnTo>
                  <a:lnTo>
                    <a:pt x="103" y="111"/>
                  </a:lnTo>
                  <a:lnTo>
                    <a:pt x="118" y="99"/>
                  </a:lnTo>
                  <a:lnTo>
                    <a:pt x="134" y="87"/>
                  </a:lnTo>
                  <a:lnTo>
                    <a:pt x="153" y="74"/>
                  </a:lnTo>
                  <a:lnTo>
                    <a:pt x="172" y="62"/>
                  </a:lnTo>
                  <a:lnTo>
                    <a:pt x="190" y="52"/>
                  </a:lnTo>
                  <a:lnTo>
                    <a:pt x="215" y="42"/>
                  </a:lnTo>
                  <a:lnTo>
                    <a:pt x="243" y="34"/>
                  </a:lnTo>
                  <a:lnTo>
                    <a:pt x="270" y="26"/>
                  </a:lnTo>
                  <a:lnTo>
                    <a:pt x="295" y="19"/>
                  </a:lnTo>
                  <a:lnTo>
                    <a:pt x="315" y="13"/>
                  </a:lnTo>
                  <a:lnTo>
                    <a:pt x="328" y="6"/>
                  </a:lnTo>
                  <a:lnTo>
                    <a:pt x="333" y="2"/>
                  </a:lnTo>
                  <a:lnTo>
                    <a:pt x="318" y="0"/>
                  </a:lnTo>
                  <a:lnTo>
                    <a:pt x="298" y="1"/>
                  </a:lnTo>
                  <a:lnTo>
                    <a:pt x="275" y="4"/>
                  </a:lnTo>
                  <a:lnTo>
                    <a:pt x="250" y="9"/>
                  </a:lnTo>
                  <a:lnTo>
                    <a:pt x="224" y="17"/>
                  </a:lnTo>
                  <a:lnTo>
                    <a:pt x="199" y="25"/>
                  </a:lnTo>
                  <a:lnTo>
                    <a:pt x="176" y="34"/>
                  </a:lnTo>
                  <a:lnTo>
                    <a:pt x="156" y="44"/>
                  </a:lnTo>
                  <a:close/>
                </a:path>
              </a:pathLst>
            </a:custGeom>
            <a:solidFill>
              <a:srgbClr val="C9E8FF"/>
            </a:solidFill>
            <a:ln w="9525">
              <a:noFill/>
            </a:ln>
          </p:spPr>
          <p:txBody>
            <a:bodyPr/>
            <a:p>
              <a:endParaRPr lang="zh-CN" altLang="en-US"/>
            </a:p>
          </p:txBody>
        </p:sp>
        <p:sp>
          <p:nvSpPr>
            <p:cNvPr id="14409" name="Freeform 92"/>
            <p:cNvSpPr/>
            <p:nvPr/>
          </p:nvSpPr>
          <p:spPr>
            <a:xfrm>
              <a:off x="5007" y="272"/>
              <a:ext cx="117" cy="113"/>
            </a:xfrm>
            <a:custGeom>
              <a:avLst/>
              <a:gdLst/>
              <a:ahLst/>
              <a:cxnLst>
                <a:cxn ang="0">
                  <a:pos x="32" y="18"/>
                </a:cxn>
                <a:cxn ang="0">
                  <a:pos x="34" y="21"/>
                </a:cxn>
                <a:cxn ang="0">
                  <a:pos x="35" y="24"/>
                </a:cxn>
                <a:cxn ang="0">
                  <a:pos x="36" y="28"/>
                </a:cxn>
                <a:cxn ang="0">
                  <a:pos x="36" y="32"/>
                </a:cxn>
                <a:cxn ang="0">
                  <a:pos x="35" y="36"/>
                </a:cxn>
                <a:cxn ang="0">
                  <a:pos x="35" y="38"/>
                </a:cxn>
                <a:cxn ang="0">
                  <a:pos x="34" y="41"/>
                </a:cxn>
                <a:cxn ang="0">
                  <a:pos x="33" y="44"/>
                </a:cxn>
                <a:cxn ang="0">
                  <a:pos x="31" y="46"/>
                </a:cxn>
                <a:cxn ang="0">
                  <a:pos x="30" y="48"/>
                </a:cxn>
                <a:cxn ang="0">
                  <a:pos x="28" y="51"/>
                </a:cxn>
                <a:cxn ang="0">
                  <a:pos x="27" y="53"/>
                </a:cxn>
                <a:cxn ang="0">
                  <a:pos x="26" y="54"/>
                </a:cxn>
                <a:cxn ang="0">
                  <a:pos x="26" y="54"/>
                </a:cxn>
                <a:cxn ang="0">
                  <a:pos x="26" y="55"/>
                </a:cxn>
                <a:cxn ang="0">
                  <a:pos x="27" y="56"/>
                </a:cxn>
                <a:cxn ang="0">
                  <a:pos x="27" y="57"/>
                </a:cxn>
                <a:cxn ang="0">
                  <a:pos x="28" y="57"/>
                </a:cxn>
                <a:cxn ang="0">
                  <a:pos x="28" y="57"/>
                </a:cxn>
                <a:cxn ang="0">
                  <a:pos x="29" y="56"/>
                </a:cxn>
                <a:cxn ang="0">
                  <a:pos x="32" y="53"/>
                </a:cxn>
                <a:cxn ang="0">
                  <a:pos x="35" y="48"/>
                </a:cxn>
                <a:cxn ang="0">
                  <a:pos x="37" y="43"/>
                </a:cxn>
                <a:cxn ang="0">
                  <a:pos x="38" y="38"/>
                </a:cxn>
                <a:cxn ang="0">
                  <a:pos x="39" y="32"/>
                </a:cxn>
                <a:cxn ang="0">
                  <a:pos x="39" y="26"/>
                </a:cxn>
                <a:cxn ang="0">
                  <a:pos x="37" y="21"/>
                </a:cxn>
                <a:cxn ang="0">
                  <a:pos x="35" y="16"/>
                </a:cxn>
                <a:cxn ang="0">
                  <a:pos x="33" y="13"/>
                </a:cxn>
                <a:cxn ang="0">
                  <a:pos x="31" y="11"/>
                </a:cxn>
                <a:cxn ang="0">
                  <a:pos x="28" y="9"/>
                </a:cxn>
                <a:cxn ang="0">
                  <a:pos x="25" y="7"/>
                </a:cxn>
                <a:cxn ang="0">
                  <a:pos x="23" y="5"/>
                </a:cxn>
                <a:cxn ang="0">
                  <a:pos x="20" y="4"/>
                </a:cxn>
                <a:cxn ang="0">
                  <a:pos x="17" y="3"/>
                </a:cxn>
                <a:cxn ang="0">
                  <a:pos x="14" y="2"/>
                </a:cxn>
                <a:cxn ang="0">
                  <a:pos x="12" y="1"/>
                </a:cxn>
                <a:cxn ang="0">
                  <a:pos x="9" y="1"/>
                </a:cxn>
                <a:cxn ang="0">
                  <a:pos x="7" y="0"/>
                </a:cxn>
                <a:cxn ang="0">
                  <a:pos x="5" y="0"/>
                </a:cxn>
                <a:cxn ang="0">
                  <a:pos x="3" y="0"/>
                </a:cxn>
                <a:cxn ang="0">
                  <a:pos x="2" y="0"/>
                </a:cxn>
                <a:cxn ang="0">
                  <a:pos x="1" y="1"/>
                </a:cxn>
                <a:cxn ang="0">
                  <a:pos x="0" y="1"/>
                </a:cxn>
                <a:cxn ang="0">
                  <a:pos x="2" y="2"/>
                </a:cxn>
                <a:cxn ang="0">
                  <a:pos x="3" y="2"/>
                </a:cxn>
                <a:cxn ang="0">
                  <a:pos x="5" y="3"/>
                </a:cxn>
                <a:cxn ang="0">
                  <a:pos x="7" y="3"/>
                </a:cxn>
                <a:cxn ang="0">
                  <a:pos x="9" y="4"/>
                </a:cxn>
                <a:cxn ang="0">
                  <a:pos x="11" y="4"/>
                </a:cxn>
                <a:cxn ang="0">
                  <a:pos x="13" y="5"/>
                </a:cxn>
                <a:cxn ang="0">
                  <a:pos x="16" y="6"/>
                </a:cxn>
                <a:cxn ang="0">
                  <a:pos x="18" y="7"/>
                </a:cxn>
                <a:cxn ang="0">
                  <a:pos x="20" y="8"/>
                </a:cxn>
                <a:cxn ang="0">
                  <a:pos x="22" y="9"/>
                </a:cxn>
                <a:cxn ang="0">
                  <a:pos x="24" y="10"/>
                </a:cxn>
                <a:cxn ang="0">
                  <a:pos x="27" y="12"/>
                </a:cxn>
                <a:cxn ang="0">
                  <a:pos x="29" y="14"/>
                </a:cxn>
                <a:cxn ang="0">
                  <a:pos x="31" y="16"/>
                </a:cxn>
                <a:cxn ang="0">
                  <a:pos x="32" y="18"/>
                </a:cxn>
              </a:cxnLst>
              <a:pathLst>
                <a:path w="351" h="226">
                  <a:moveTo>
                    <a:pt x="291" y="69"/>
                  </a:moveTo>
                  <a:lnTo>
                    <a:pt x="307" y="81"/>
                  </a:lnTo>
                  <a:lnTo>
                    <a:pt x="317" y="96"/>
                  </a:lnTo>
                  <a:lnTo>
                    <a:pt x="322" y="111"/>
                  </a:lnTo>
                  <a:lnTo>
                    <a:pt x="322" y="128"/>
                  </a:lnTo>
                  <a:lnTo>
                    <a:pt x="319" y="141"/>
                  </a:lnTo>
                  <a:lnTo>
                    <a:pt x="313" y="152"/>
                  </a:lnTo>
                  <a:lnTo>
                    <a:pt x="303" y="164"/>
                  </a:lnTo>
                  <a:lnTo>
                    <a:pt x="293" y="173"/>
                  </a:lnTo>
                  <a:lnTo>
                    <a:pt x="279" y="183"/>
                  </a:lnTo>
                  <a:lnTo>
                    <a:pt x="266" y="192"/>
                  </a:lnTo>
                  <a:lnTo>
                    <a:pt x="253" y="201"/>
                  </a:lnTo>
                  <a:lnTo>
                    <a:pt x="240" y="210"/>
                  </a:lnTo>
                  <a:lnTo>
                    <a:pt x="237" y="213"/>
                  </a:lnTo>
                  <a:lnTo>
                    <a:pt x="237" y="216"/>
                  </a:lnTo>
                  <a:lnTo>
                    <a:pt x="237" y="219"/>
                  </a:lnTo>
                  <a:lnTo>
                    <a:pt x="240" y="222"/>
                  </a:lnTo>
                  <a:lnTo>
                    <a:pt x="245" y="225"/>
                  </a:lnTo>
                  <a:lnTo>
                    <a:pt x="250" y="226"/>
                  </a:lnTo>
                  <a:lnTo>
                    <a:pt x="255" y="225"/>
                  </a:lnTo>
                  <a:lnTo>
                    <a:pt x="259" y="222"/>
                  </a:lnTo>
                  <a:lnTo>
                    <a:pt x="288" y="209"/>
                  </a:lnTo>
                  <a:lnTo>
                    <a:pt x="313" y="192"/>
                  </a:lnTo>
                  <a:lnTo>
                    <a:pt x="332" y="172"/>
                  </a:lnTo>
                  <a:lnTo>
                    <a:pt x="345" y="149"/>
                  </a:lnTo>
                  <a:lnTo>
                    <a:pt x="351" y="127"/>
                  </a:lnTo>
                  <a:lnTo>
                    <a:pt x="348" y="103"/>
                  </a:lnTo>
                  <a:lnTo>
                    <a:pt x="336" y="81"/>
                  </a:lnTo>
                  <a:lnTo>
                    <a:pt x="313" y="62"/>
                  </a:lnTo>
                  <a:lnTo>
                    <a:pt x="295" y="51"/>
                  </a:lnTo>
                  <a:lnTo>
                    <a:pt x="275" y="43"/>
                  </a:lnTo>
                  <a:lnTo>
                    <a:pt x="253" y="35"/>
                  </a:lnTo>
                  <a:lnTo>
                    <a:pt x="229" y="28"/>
                  </a:lnTo>
                  <a:lnTo>
                    <a:pt x="204" y="20"/>
                  </a:lnTo>
                  <a:lnTo>
                    <a:pt x="179" y="15"/>
                  </a:lnTo>
                  <a:lnTo>
                    <a:pt x="153" y="11"/>
                  </a:lnTo>
                  <a:lnTo>
                    <a:pt x="128" y="7"/>
                  </a:lnTo>
                  <a:lnTo>
                    <a:pt x="104" y="4"/>
                  </a:lnTo>
                  <a:lnTo>
                    <a:pt x="82" y="2"/>
                  </a:lnTo>
                  <a:lnTo>
                    <a:pt x="60" y="0"/>
                  </a:lnTo>
                  <a:lnTo>
                    <a:pt x="43" y="0"/>
                  </a:lnTo>
                  <a:lnTo>
                    <a:pt x="27" y="0"/>
                  </a:lnTo>
                  <a:lnTo>
                    <a:pt x="14" y="0"/>
                  </a:lnTo>
                  <a:lnTo>
                    <a:pt x="5" y="2"/>
                  </a:lnTo>
                  <a:lnTo>
                    <a:pt x="0" y="4"/>
                  </a:lnTo>
                  <a:lnTo>
                    <a:pt x="15" y="6"/>
                  </a:lnTo>
                  <a:lnTo>
                    <a:pt x="30" y="7"/>
                  </a:lnTo>
                  <a:lnTo>
                    <a:pt x="47" y="9"/>
                  </a:lnTo>
                  <a:lnTo>
                    <a:pt x="64" y="11"/>
                  </a:lnTo>
                  <a:lnTo>
                    <a:pt x="82" y="14"/>
                  </a:lnTo>
                  <a:lnTo>
                    <a:pt x="102" y="16"/>
                  </a:lnTo>
                  <a:lnTo>
                    <a:pt x="121" y="19"/>
                  </a:lnTo>
                  <a:lnTo>
                    <a:pt x="141" y="23"/>
                  </a:lnTo>
                  <a:lnTo>
                    <a:pt x="160" y="27"/>
                  </a:lnTo>
                  <a:lnTo>
                    <a:pt x="181" y="31"/>
                  </a:lnTo>
                  <a:lnTo>
                    <a:pt x="201" y="35"/>
                  </a:lnTo>
                  <a:lnTo>
                    <a:pt x="220" y="40"/>
                  </a:lnTo>
                  <a:lnTo>
                    <a:pt x="239" y="46"/>
                  </a:lnTo>
                  <a:lnTo>
                    <a:pt x="258" y="53"/>
                  </a:lnTo>
                  <a:lnTo>
                    <a:pt x="275" y="61"/>
                  </a:lnTo>
                  <a:lnTo>
                    <a:pt x="291" y="69"/>
                  </a:lnTo>
                  <a:close/>
                </a:path>
              </a:pathLst>
            </a:custGeom>
            <a:solidFill>
              <a:srgbClr val="C9E8FF"/>
            </a:solidFill>
            <a:ln w="9525">
              <a:noFill/>
            </a:ln>
          </p:spPr>
          <p:txBody>
            <a:bodyPr/>
            <a:p>
              <a:endParaRPr lang="zh-CN" altLang="en-US"/>
            </a:p>
          </p:txBody>
        </p:sp>
        <p:sp>
          <p:nvSpPr>
            <p:cNvPr id="14410" name="Freeform 93"/>
            <p:cNvSpPr/>
            <p:nvPr/>
          </p:nvSpPr>
          <p:spPr>
            <a:xfrm>
              <a:off x="4769" y="324"/>
              <a:ext cx="48" cy="107"/>
            </a:xfrm>
            <a:custGeom>
              <a:avLst/>
              <a:gdLst/>
              <a:ahLst/>
              <a:cxnLst>
                <a:cxn ang="0">
                  <a:pos x="0" y="29"/>
                </a:cxn>
                <a:cxn ang="0">
                  <a:pos x="0" y="34"/>
                </a:cxn>
                <a:cxn ang="0">
                  <a:pos x="1" y="38"/>
                </a:cxn>
                <a:cxn ang="0">
                  <a:pos x="2" y="42"/>
                </a:cxn>
                <a:cxn ang="0">
                  <a:pos x="3" y="45"/>
                </a:cxn>
                <a:cxn ang="0">
                  <a:pos x="5" y="48"/>
                </a:cxn>
                <a:cxn ang="0">
                  <a:pos x="8" y="51"/>
                </a:cxn>
                <a:cxn ang="0">
                  <a:pos x="10" y="52"/>
                </a:cxn>
                <a:cxn ang="0">
                  <a:pos x="13" y="53"/>
                </a:cxn>
                <a:cxn ang="0">
                  <a:pos x="14" y="54"/>
                </a:cxn>
                <a:cxn ang="0">
                  <a:pos x="15" y="53"/>
                </a:cxn>
                <a:cxn ang="0">
                  <a:pos x="16" y="52"/>
                </a:cxn>
                <a:cxn ang="0">
                  <a:pos x="16" y="51"/>
                </a:cxn>
                <a:cxn ang="0">
                  <a:pos x="16" y="50"/>
                </a:cxn>
                <a:cxn ang="0">
                  <a:pos x="16" y="49"/>
                </a:cxn>
                <a:cxn ang="0">
                  <a:pos x="15" y="48"/>
                </a:cxn>
                <a:cxn ang="0">
                  <a:pos x="14" y="47"/>
                </a:cxn>
                <a:cxn ang="0">
                  <a:pos x="11" y="46"/>
                </a:cxn>
                <a:cxn ang="0">
                  <a:pos x="9" y="44"/>
                </a:cxn>
                <a:cxn ang="0">
                  <a:pos x="7" y="41"/>
                </a:cxn>
                <a:cxn ang="0">
                  <a:pos x="6" y="38"/>
                </a:cxn>
                <a:cxn ang="0">
                  <a:pos x="5" y="34"/>
                </a:cxn>
                <a:cxn ang="0">
                  <a:pos x="4" y="30"/>
                </a:cxn>
                <a:cxn ang="0">
                  <a:pos x="4" y="25"/>
                </a:cxn>
                <a:cxn ang="0">
                  <a:pos x="5" y="21"/>
                </a:cxn>
                <a:cxn ang="0">
                  <a:pos x="6" y="17"/>
                </a:cxn>
                <a:cxn ang="0">
                  <a:pos x="7" y="14"/>
                </a:cxn>
                <a:cxn ang="0">
                  <a:pos x="9" y="11"/>
                </a:cxn>
                <a:cxn ang="0">
                  <a:pos x="10" y="9"/>
                </a:cxn>
                <a:cxn ang="0">
                  <a:pos x="12" y="7"/>
                </a:cxn>
                <a:cxn ang="0">
                  <a:pos x="14" y="4"/>
                </a:cxn>
                <a:cxn ang="0">
                  <a:pos x="15" y="2"/>
                </a:cxn>
                <a:cxn ang="0">
                  <a:pos x="16" y="1"/>
                </a:cxn>
                <a:cxn ang="0">
                  <a:pos x="15" y="0"/>
                </a:cxn>
                <a:cxn ang="0">
                  <a:pos x="13" y="2"/>
                </a:cxn>
                <a:cxn ang="0">
                  <a:pos x="11" y="4"/>
                </a:cxn>
                <a:cxn ang="0">
                  <a:pos x="8" y="8"/>
                </a:cxn>
                <a:cxn ang="0">
                  <a:pos x="5" y="13"/>
                </a:cxn>
                <a:cxn ang="0">
                  <a:pos x="3" y="18"/>
                </a:cxn>
                <a:cxn ang="0">
                  <a:pos x="1" y="24"/>
                </a:cxn>
                <a:cxn ang="0">
                  <a:pos x="0" y="29"/>
                </a:cxn>
              </a:cxnLst>
              <a:pathLst>
                <a:path w="142" h="213">
                  <a:moveTo>
                    <a:pt x="0" y="116"/>
                  </a:moveTo>
                  <a:lnTo>
                    <a:pt x="0" y="134"/>
                  </a:lnTo>
                  <a:lnTo>
                    <a:pt x="6" y="150"/>
                  </a:lnTo>
                  <a:lnTo>
                    <a:pt x="16" y="166"/>
                  </a:lnTo>
                  <a:lnTo>
                    <a:pt x="30" y="179"/>
                  </a:lnTo>
                  <a:lnTo>
                    <a:pt x="48" y="191"/>
                  </a:lnTo>
                  <a:lnTo>
                    <a:pt x="68" y="201"/>
                  </a:lnTo>
                  <a:lnTo>
                    <a:pt x="91" y="208"/>
                  </a:lnTo>
                  <a:lnTo>
                    <a:pt x="115" y="212"/>
                  </a:lnTo>
                  <a:lnTo>
                    <a:pt x="122" y="213"/>
                  </a:lnTo>
                  <a:lnTo>
                    <a:pt x="129" y="211"/>
                  </a:lnTo>
                  <a:lnTo>
                    <a:pt x="135" y="208"/>
                  </a:lnTo>
                  <a:lnTo>
                    <a:pt x="138" y="204"/>
                  </a:lnTo>
                  <a:lnTo>
                    <a:pt x="138" y="199"/>
                  </a:lnTo>
                  <a:lnTo>
                    <a:pt x="137" y="194"/>
                  </a:lnTo>
                  <a:lnTo>
                    <a:pt x="132" y="190"/>
                  </a:lnTo>
                  <a:lnTo>
                    <a:pt x="125" y="188"/>
                  </a:lnTo>
                  <a:lnTo>
                    <a:pt x="102" y="181"/>
                  </a:lnTo>
                  <a:lnTo>
                    <a:pt x="80" y="173"/>
                  </a:lnTo>
                  <a:lnTo>
                    <a:pt x="62" y="162"/>
                  </a:lnTo>
                  <a:lnTo>
                    <a:pt x="49" y="149"/>
                  </a:lnTo>
                  <a:lnTo>
                    <a:pt x="41" y="134"/>
                  </a:lnTo>
                  <a:lnTo>
                    <a:pt x="36" y="117"/>
                  </a:lnTo>
                  <a:lnTo>
                    <a:pt x="36" y="100"/>
                  </a:lnTo>
                  <a:lnTo>
                    <a:pt x="44" y="81"/>
                  </a:lnTo>
                  <a:lnTo>
                    <a:pt x="52" y="68"/>
                  </a:lnTo>
                  <a:lnTo>
                    <a:pt x="64" y="56"/>
                  </a:lnTo>
                  <a:lnTo>
                    <a:pt x="77" y="44"/>
                  </a:lnTo>
                  <a:lnTo>
                    <a:pt x="91" y="34"/>
                  </a:lnTo>
                  <a:lnTo>
                    <a:pt x="105" y="25"/>
                  </a:lnTo>
                  <a:lnTo>
                    <a:pt x="119" y="16"/>
                  </a:lnTo>
                  <a:lnTo>
                    <a:pt x="132" y="8"/>
                  </a:lnTo>
                  <a:lnTo>
                    <a:pt x="142" y="1"/>
                  </a:lnTo>
                  <a:lnTo>
                    <a:pt x="132" y="0"/>
                  </a:lnTo>
                  <a:lnTo>
                    <a:pt x="116" y="5"/>
                  </a:lnTo>
                  <a:lnTo>
                    <a:pt x="94" y="16"/>
                  </a:lnTo>
                  <a:lnTo>
                    <a:pt x="70" y="32"/>
                  </a:lnTo>
                  <a:lnTo>
                    <a:pt x="46" y="51"/>
                  </a:lnTo>
                  <a:lnTo>
                    <a:pt x="25" y="72"/>
                  </a:lnTo>
                  <a:lnTo>
                    <a:pt x="9" y="95"/>
                  </a:lnTo>
                  <a:lnTo>
                    <a:pt x="0" y="116"/>
                  </a:lnTo>
                  <a:close/>
                </a:path>
              </a:pathLst>
            </a:custGeom>
            <a:solidFill>
              <a:srgbClr val="C9E8FF"/>
            </a:solidFill>
            <a:ln w="9525">
              <a:noFill/>
            </a:ln>
          </p:spPr>
          <p:txBody>
            <a:bodyPr/>
            <a:p>
              <a:endParaRPr lang="zh-CN" altLang="en-US"/>
            </a:p>
          </p:txBody>
        </p:sp>
        <p:sp>
          <p:nvSpPr>
            <p:cNvPr id="14411" name="Freeform 94"/>
            <p:cNvSpPr/>
            <p:nvPr/>
          </p:nvSpPr>
          <p:spPr>
            <a:xfrm>
              <a:off x="5104" y="264"/>
              <a:ext cx="101" cy="139"/>
            </a:xfrm>
            <a:custGeom>
              <a:avLst/>
              <a:gdLst/>
              <a:ahLst/>
              <a:cxnLst>
                <a:cxn ang="0">
                  <a:pos x="28" y="28"/>
                </a:cxn>
                <a:cxn ang="0">
                  <a:pos x="30" y="32"/>
                </a:cxn>
                <a:cxn ang="0">
                  <a:pos x="30" y="37"/>
                </a:cxn>
                <a:cxn ang="0">
                  <a:pos x="30" y="42"/>
                </a:cxn>
                <a:cxn ang="0">
                  <a:pos x="28" y="47"/>
                </a:cxn>
                <a:cxn ang="0">
                  <a:pos x="25" y="51"/>
                </a:cxn>
                <a:cxn ang="0">
                  <a:pos x="23" y="55"/>
                </a:cxn>
                <a:cxn ang="0">
                  <a:pos x="20" y="59"/>
                </a:cxn>
                <a:cxn ang="0">
                  <a:pos x="18" y="62"/>
                </a:cxn>
                <a:cxn ang="0">
                  <a:pos x="17" y="64"/>
                </a:cxn>
                <a:cxn ang="0">
                  <a:pos x="16" y="66"/>
                </a:cxn>
                <a:cxn ang="0">
                  <a:pos x="17" y="68"/>
                </a:cxn>
                <a:cxn ang="0">
                  <a:pos x="18" y="69"/>
                </a:cxn>
                <a:cxn ang="0">
                  <a:pos x="19" y="69"/>
                </a:cxn>
                <a:cxn ang="0">
                  <a:pos x="21" y="65"/>
                </a:cxn>
                <a:cxn ang="0">
                  <a:pos x="25" y="60"/>
                </a:cxn>
                <a:cxn ang="0">
                  <a:pos x="28" y="55"/>
                </a:cxn>
                <a:cxn ang="0">
                  <a:pos x="31" y="49"/>
                </a:cxn>
                <a:cxn ang="0">
                  <a:pos x="33" y="42"/>
                </a:cxn>
                <a:cxn ang="0">
                  <a:pos x="33" y="34"/>
                </a:cxn>
                <a:cxn ang="0">
                  <a:pos x="31" y="27"/>
                </a:cxn>
                <a:cxn ang="0">
                  <a:pos x="27" y="21"/>
                </a:cxn>
                <a:cxn ang="0">
                  <a:pos x="24" y="16"/>
                </a:cxn>
                <a:cxn ang="0">
                  <a:pos x="21" y="13"/>
                </a:cxn>
                <a:cxn ang="0">
                  <a:pos x="17" y="10"/>
                </a:cxn>
                <a:cxn ang="0">
                  <a:pos x="13" y="6"/>
                </a:cxn>
                <a:cxn ang="0">
                  <a:pos x="10" y="3"/>
                </a:cxn>
                <a:cxn ang="0">
                  <a:pos x="6" y="1"/>
                </a:cxn>
                <a:cxn ang="0">
                  <a:pos x="3" y="0"/>
                </a:cxn>
                <a:cxn ang="0">
                  <a:pos x="1" y="0"/>
                </a:cxn>
                <a:cxn ang="0">
                  <a:pos x="1" y="1"/>
                </a:cxn>
                <a:cxn ang="0">
                  <a:pos x="4" y="3"/>
                </a:cxn>
                <a:cxn ang="0">
                  <a:pos x="7" y="5"/>
                </a:cxn>
                <a:cxn ang="0">
                  <a:pos x="11" y="8"/>
                </a:cxn>
                <a:cxn ang="0">
                  <a:pos x="15" y="11"/>
                </a:cxn>
                <a:cxn ang="0">
                  <a:pos x="18" y="15"/>
                </a:cxn>
                <a:cxn ang="0">
                  <a:pos x="22" y="19"/>
                </a:cxn>
                <a:cxn ang="0">
                  <a:pos x="25" y="23"/>
                </a:cxn>
              </a:cxnLst>
              <a:pathLst>
                <a:path w="305" h="279">
                  <a:moveTo>
                    <a:pt x="247" y="104"/>
                  </a:moveTo>
                  <a:lnTo>
                    <a:pt x="257" y="112"/>
                  </a:lnTo>
                  <a:lnTo>
                    <a:pt x="266" y="120"/>
                  </a:lnTo>
                  <a:lnTo>
                    <a:pt x="271" y="129"/>
                  </a:lnTo>
                  <a:lnTo>
                    <a:pt x="277" y="138"/>
                  </a:lnTo>
                  <a:lnTo>
                    <a:pt x="279" y="148"/>
                  </a:lnTo>
                  <a:lnTo>
                    <a:pt x="279" y="158"/>
                  </a:lnTo>
                  <a:lnTo>
                    <a:pt x="274" y="168"/>
                  </a:lnTo>
                  <a:lnTo>
                    <a:pt x="268" y="178"/>
                  </a:lnTo>
                  <a:lnTo>
                    <a:pt x="258" y="188"/>
                  </a:lnTo>
                  <a:lnTo>
                    <a:pt x="247" y="197"/>
                  </a:lnTo>
                  <a:lnTo>
                    <a:pt x="234" y="205"/>
                  </a:lnTo>
                  <a:lnTo>
                    <a:pt x="219" y="214"/>
                  </a:lnTo>
                  <a:lnTo>
                    <a:pt x="206" y="221"/>
                  </a:lnTo>
                  <a:lnTo>
                    <a:pt x="191" y="229"/>
                  </a:lnTo>
                  <a:lnTo>
                    <a:pt x="177" y="237"/>
                  </a:lnTo>
                  <a:lnTo>
                    <a:pt x="164" y="247"/>
                  </a:lnTo>
                  <a:lnTo>
                    <a:pt x="160" y="250"/>
                  </a:lnTo>
                  <a:lnTo>
                    <a:pt x="157" y="254"/>
                  </a:lnTo>
                  <a:lnTo>
                    <a:pt x="154" y="258"/>
                  </a:lnTo>
                  <a:lnTo>
                    <a:pt x="151" y="262"/>
                  </a:lnTo>
                  <a:lnTo>
                    <a:pt x="149" y="266"/>
                  </a:lnTo>
                  <a:lnTo>
                    <a:pt x="149" y="270"/>
                  </a:lnTo>
                  <a:lnTo>
                    <a:pt x="151" y="275"/>
                  </a:lnTo>
                  <a:lnTo>
                    <a:pt x="155" y="278"/>
                  </a:lnTo>
                  <a:lnTo>
                    <a:pt x="161" y="279"/>
                  </a:lnTo>
                  <a:lnTo>
                    <a:pt x="167" y="279"/>
                  </a:lnTo>
                  <a:lnTo>
                    <a:pt x="173" y="278"/>
                  </a:lnTo>
                  <a:lnTo>
                    <a:pt x="177" y="275"/>
                  </a:lnTo>
                  <a:lnTo>
                    <a:pt x="191" y="263"/>
                  </a:lnTo>
                  <a:lnTo>
                    <a:pt x="207" y="252"/>
                  </a:lnTo>
                  <a:lnTo>
                    <a:pt x="223" y="242"/>
                  </a:lnTo>
                  <a:lnTo>
                    <a:pt x="241" y="231"/>
                  </a:lnTo>
                  <a:lnTo>
                    <a:pt x="257" y="221"/>
                  </a:lnTo>
                  <a:lnTo>
                    <a:pt x="271" y="210"/>
                  </a:lnTo>
                  <a:lnTo>
                    <a:pt x="286" y="197"/>
                  </a:lnTo>
                  <a:lnTo>
                    <a:pt x="296" y="184"/>
                  </a:lnTo>
                  <a:lnTo>
                    <a:pt x="303" y="168"/>
                  </a:lnTo>
                  <a:lnTo>
                    <a:pt x="305" y="153"/>
                  </a:lnTo>
                  <a:lnTo>
                    <a:pt x="300" y="137"/>
                  </a:lnTo>
                  <a:lnTo>
                    <a:pt x="293" y="123"/>
                  </a:lnTo>
                  <a:lnTo>
                    <a:pt x="282" y="109"/>
                  </a:lnTo>
                  <a:lnTo>
                    <a:pt x="267" y="96"/>
                  </a:lnTo>
                  <a:lnTo>
                    <a:pt x="250" y="85"/>
                  </a:lnTo>
                  <a:lnTo>
                    <a:pt x="232" y="75"/>
                  </a:lnTo>
                  <a:lnTo>
                    <a:pt x="219" y="67"/>
                  </a:lnTo>
                  <a:lnTo>
                    <a:pt x="205" y="61"/>
                  </a:lnTo>
                  <a:lnTo>
                    <a:pt x="189" y="54"/>
                  </a:lnTo>
                  <a:lnTo>
                    <a:pt x="173" y="47"/>
                  </a:lnTo>
                  <a:lnTo>
                    <a:pt x="157" y="40"/>
                  </a:lnTo>
                  <a:lnTo>
                    <a:pt x="139" y="32"/>
                  </a:lnTo>
                  <a:lnTo>
                    <a:pt x="122" y="26"/>
                  </a:lnTo>
                  <a:lnTo>
                    <a:pt x="106" y="20"/>
                  </a:lnTo>
                  <a:lnTo>
                    <a:pt x="90" y="15"/>
                  </a:lnTo>
                  <a:lnTo>
                    <a:pt x="74" y="10"/>
                  </a:lnTo>
                  <a:lnTo>
                    <a:pt x="58" y="7"/>
                  </a:lnTo>
                  <a:lnTo>
                    <a:pt x="43" y="3"/>
                  </a:lnTo>
                  <a:lnTo>
                    <a:pt x="30" y="1"/>
                  </a:lnTo>
                  <a:lnTo>
                    <a:pt x="19" y="0"/>
                  </a:lnTo>
                  <a:lnTo>
                    <a:pt x="8" y="1"/>
                  </a:lnTo>
                  <a:lnTo>
                    <a:pt x="0" y="3"/>
                  </a:lnTo>
                  <a:lnTo>
                    <a:pt x="10" y="6"/>
                  </a:lnTo>
                  <a:lnTo>
                    <a:pt x="21" y="9"/>
                  </a:lnTo>
                  <a:lnTo>
                    <a:pt x="35" y="13"/>
                  </a:lnTo>
                  <a:lnTo>
                    <a:pt x="48" y="17"/>
                  </a:lnTo>
                  <a:lnTo>
                    <a:pt x="64" y="22"/>
                  </a:lnTo>
                  <a:lnTo>
                    <a:pt x="80" y="27"/>
                  </a:lnTo>
                  <a:lnTo>
                    <a:pt x="97" y="33"/>
                  </a:lnTo>
                  <a:lnTo>
                    <a:pt x="114" y="40"/>
                  </a:lnTo>
                  <a:lnTo>
                    <a:pt x="132" y="47"/>
                  </a:lnTo>
                  <a:lnTo>
                    <a:pt x="149" y="54"/>
                  </a:lnTo>
                  <a:lnTo>
                    <a:pt x="167" y="62"/>
                  </a:lnTo>
                  <a:lnTo>
                    <a:pt x="184" y="70"/>
                  </a:lnTo>
                  <a:lnTo>
                    <a:pt x="202" y="79"/>
                  </a:lnTo>
                  <a:lnTo>
                    <a:pt x="218" y="87"/>
                  </a:lnTo>
                  <a:lnTo>
                    <a:pt x="232" y="95"/>
                  </a:lnTo>
                  <a:lnTo>
                    <a:pt x="247" y="104"/>
                  </a:lnTo>
                  <a:close/>
                </a:path>
              </a:pathLst>
            </a:custGeom>
            <a:solidFill>
              <a:srgbClr val="C9E8FF"/>
            </a:solidFill>
            <a:ln w="9525">
              <a:noFill/>
            </a:ln>
          </p:spPr>
          <p:txBody>
            <a:bodyPr/>
            <a:p>
              <a:endParaRPr lang="zh-CN" altLang="en-US"/>
            </a:p>
          </p:txBody>
        </p:sp>
        <p:sp>
          <p:nvSpPr>
            <p:cNvPr id="14412" name="Freeform 99"/>
            <p:cNvSpPr/>
            <p:nvPr/>
          </p:nvSpPr>
          <p:spPr>
            <a:xfrm>
              <a:off x="4976" y="382"/>
              <a:ext cx="18" cy="42"/>
            </a:xfrm>
            <a:custGeom>
              <a:avLst/>
              <a:gdLst/>
              <a:ahLst/>
              <a:cxnLst>
                <a:cxn ang="0">
                  <a:pos x="3" y="2"/>
                </a:cxn>
                <a:cxn ang="0">
                  <a:pos x="3" y="1"/>
                </a:cxn>
                <a:cxn ang="0">
                  <a:pos x="2" y="0"/>
                </a:cxn>
                <a:cxn ang="0">
                  <a:pos x="2" y="0"/>
                </a:cxn>
                <a:cxn ang="0">
                  <a:pos x="1" y="0"/>
                </a:cxn>
                <a:cxn ang="0">
                  <a:pos x="1" y="0"/>
                </a:cxn>
                <a:cxn ang="0">
                  <a:pos x="0" y="0"/>
                </a:cxn>
                <a:cxn ang="0">
                  <a:pos x="0" y="1"/>
                </a:cxn>
                <a:cxn ang="0">
                  <a:pos x="0" y="2"/>
                </a:cxn>
                <a:cxn ang="0">
                  <a:pos x="0" y="5"/>
                </a:cxn>
                <a:cxn ang="0">
                  <a:pos x="1" y="8"/>
                </a:cxn>
                <a:cxn ang="0">
                  <a:pos x="1" y="11"/>
                </a:cxn>
                <a:cxn ang="0">
                  <a:pos x="2" y="14"/>
                </a:cxn>
                <a:cxn ang="0">
                  <a:pos x="3" y="17"/>
                </a:cxn>
                <a:cxn ang="0">
                  <a:pos x="4" y="19"/>
                </a:cxn>
                <a:cxn ang="0">
                  <a:pos x="5" y="21"/>
                </a:cxn>
                <a:cxn ang="0">
                  <a:pos x="6" y="21"/>
                </a:cxn>
                <a:cxn ang="0">
                  <a:pos x="6" y="17"/>
                </a:cxn>
                <a:cxn ang="0">
                  <a:pos x="5" y="12"/>
                </a:cxn>
                <a:cxn ang="0">
                  <a:pos x="4" y="7"/>
                </a:cxn>
                <a:cxn ang="0">
                  <a:pos x="3" y="2"/>
                </a:cxn>
              </a:cxnLst>
              <a:pathLst>
                <a:path w="54" h="85">
                  <a:moveTo>
                    <a:pt x="28" y="10"/>
                  </a:moveTo>
                  <a:lnTo>
                    <a:pt x="27" y="6"/>
                  </a:lnTo>
                  <a:lnTo>
                    <a:pt x="22" y="2"/>
                  </a:lnTo>
                  <a:lnTo>
                    <a:pt x="18" y="0"/>
                  </a:lnTo>
                  <a:lnTo>
                    <a:pt x="12" y="0"/>
                  </a:lnTo>
                  <a:lnTo>
                    <a:pt x="8" y="1"/>
                  </a:lnTo>
                  <a:lnTo>
                    <a:pt x="3" y="3"/>
                  </a:lnTo>
                  <a:lnTo>
                    <a:pt x="0" y="7"/>
                  </a:lnTo>
                  <a:lnTo>
                    <a:pt x="0" y="11"/>
                  </a:lnTo>
                  <a:lnTo>
                    <a:pt x="0" y="22"/>
                  </a:lnTo>
                  <a:lnTo>
                    <a:pt x="5" y="34"/>
                  </a:lnTo>
                  <a:lnTo>
                    <a:pt x="11" y="47"/>
                  </a:lnTo>
                  <a:lnTo>
                    <a:pt x="18" y="59"/>
                  </a:lnTo>
                  <a:lnTo>
                    <a:pt x="27" y="70"/>
                  </a:lnTo>
                  <a:lnTo>
                    <a:pt x="35" y="79"/>
                  </a:lnTo>
                  <a:lnTo>
                    <a:pt x="46" y="84"/>
                  </a:lnTo>
                  <a:lnTo>
                    <a:pt x="53" y="85"/>
                  </a:lnTo>
                  <a:lnTo>
                    <a:pt x="54" y="68"/>
                  </a:lnTo>
                  <a:lnTo>
                    <a:pt x="47" y="49"/>
                  </a:lnTo>
                  <a:lnTo>
                    <a:pt x="38" y="29"/>
                  </a:lnTo>
                  <a:lnTo>
                    <a:pt x="28" y="10"/>
                  </a:lnTo>
                  <a:close/>
                </a:path>
              </a:pathLst>
            </a:custGeom>
            <a:solidFill>
              <a:srgbClr val="000000"/>
            </a:solidFill>
            <a:ln w="9525">
              <a:noFill/>
            </a:ln>
          </p:spPr>
          <p:txBody>
            <a:bodyPr/>
            <a:p>
              <a:endParaRPr lang="zh-CN" altLang="en-US"/>
            </a:p>
          </p:txBody>
        </p:sp>
        <p:sp>
          <p:nvSpPr>
            <p:cNvPr id="14413" name="Freeform 100"/>
            <p:cNvSpPr/>
            <p:nvPr/>
          </p:nvSpPr>
          <p:spPr>
            <a:xfrm>
              <a:off x="4962" y="351"/>
              <a:ext cx="15"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1"/>
                </a:cxn>
                <a:cxn ang="0">
                  <a:pos x="4" y="12"/>
                </a:cxn>
                <a:cxn ang="0">
                  <a:pos x="4" y="12"/>
                </a:cxn>
                <a:cxn ang="0">
                  <a:pos x="5" y="12"/>
                </a:cxn>
                <a:cxn ang="0">
                  <a:pos x="5" y="10"/>
                </a:cxn>
                <a:cxn ang="0">
                  <a:pos x="4" y="7"/>
                </a:cxn>
                <a:cxn ang="0">
                  <a:pos x="3" y="4"/>
                </a:cxn>
                <a:cxn ang="0">
                  <a:pos x="3" y="2"/>
                </a:cxn>
              </a:cxnLst>
              <a:pathLst>
                <a:path w="46" h="48">
                  <a:moveTo>
                    <a:pt x="25" y="6"/>
                  </a:moveTo>
                  <a:lnTo>
                    <a:pt x="25" y="7"/>
                  </a:lnTo>
                  <a:lnTo>
                    <a:pt x="23" y="4"/>
                  </a:lnTo>
                  <a:lnTo>
                    <a:pt x="19" y="1"/>
                  </a:lnTo>
                  <a:lnTo>
                    <a:pt x="14" y="0"/>
                  </a:lnTo>
                  <a:lnTo>
                    <a:pt x="9" y="0"/>
                  </a:lnTo>
                  <a:lnTo>
                    <a:pt x="4" y="1"/>
                  </a:lnTo>
                  <a:lnTo>
                    <a:pt x="1" y="4"/>
                  </a:lnTo>
                  <a:lnTo>
                    <a:pt x="0" y="7"/>
                  </a:lnTo>
                  <a:lnTo>
                    <a:pt x="0" y="10"/>
                  </a:lnTo>
                  <a:lnTo>
                    <a:pt x="1" y="15"/>
                  </a:lnTo>
                  <a:lnTo>
                    <a:pt x="4" y="21"/>
                  </a:lnTo>
                  <a:lnTo>
                    <a:pt x="10" y="28"/>
                  </a:lnTo>
                  <a:lnTo>
                    <a:pt x="17" y="35"/>
                  </a:lnTo>
                  <a:lnTo>
                    <a:pt x="25" y="41"/>
                  </a:lnTo>
                  <a:lnTo>
                    <a:pt x="33" y="45"/>
                  </a:lnTo>
                  <a:lnTo>
                    <a:pt x="41" y="48"/>
                  </a:lnTo>
                  <a:lnTo>
                    <a:pt x="46" y="48"/>
                  </a:lnTo>
                  <a:lnTo>
                    <a:pt x="45" y="38"/>
                  </a:lnTo>
                  <a:lnTo>
                    <a:pt x="39" y="25"/>
                  </a:lnTo>
                  <a:lnTo>
                    <a:pt x="30" y="14"/>
                  </a:lnTo>
                  <a:lnTo>
                    <a:pt x="25" y="6"/>
                  </a:lnTo>
                  <a:close/>
                </a:path>
              </a:pathLst>
            </a:custGeom>
            <a:solidFill>
              <a:srgbClr val="000000"/>
            </a:solidFill>
            <a:ln w="9525">
              <a:noFill/>
            </a:ln>
          </p:spPr>
          <p:txBody>
            <a:bodyPr/>
            <a:p>
              <a:endParaRPr lang="zh-CN" altLang="en-US"/>
            </a:p>
          </p:txBody>
        </p:sp>
        <p:sp>
          <p:nvSpPr>
            <p:cNvPr id="14414" name="Freeform 101"/>
            <p:cNvSpPr/>
            <p:nvPr/>
          </p:nvSpPr>
          <p:spPr>
            <a:xfrm>
              <a:off x="4949" y="331"/>
              <a:ext cx="21" cy="16"/>
            </a:xfrm>
            <a:custGeom>
              <a:avLst/>
              <a:gdLst/>
              <a:ahLst/>
              <a:cxnLst>
                <a:cxn ang="0">
                  <a:pos x="5" y="6"/>
                </a:cxn>
                <a:cxn ang="0">
                  <a:pos x="6" y="6"/>
                </a:cxn>
                <a:cxn ang="0">
                  <a:pos x="7" y="5"/>
                </a:cxn>
                <a:cxn ang="0">
                  <a:pos x="7" y="4"/>
                </a:cxn>
                <a:cxn ang="0">
                  <a:pos x="7" y="3"/>
                </a:cxn>
                <a:cxn ang="0">
                  <a:pos x="7" y="2"/>
                </a:cxn>
                <a:cxn ang="0">
                  <a:pos x="6" y="1"/>
                </a:cxn>
                <a:cxn ang="0">
                  <a:pos x="5"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8"/>
                </a:cxn>
                <a:cxn ang="0">
                  <a:pos x="5" y="7"/>
                </a:cxn>
                <a:cxn ang="0">
                  <a:pos x="5" y="6"/>
                </a:cxn>
              </a:cxnLst>
              <a:pathLst>
                <a:path w="64" h="32">
                  <a:moveTo>
                    <a:pt x="50" y="24"/>
                  </a:moveTo>
                  <a:lnTo>
                    <a:pt x="56" y="22"/>
                  </a:lnTo>
                  <a:lnTo>
                    <a:pt x="62" y="19"/>
                  </a:lnTo>
                  <a:lnTo>
                    <a:pt x="64" y="15"/>
                  </a:lnTo>
                  <a:lnTo>
                    <a:pt x="64" y="11"/>
                  </a:lnTo>
                  <a:lnTo>
                    <a:pt x="61" y="6"/>
                  </a:lnTo>
                  <a:lnTo>
                    <a:pt x="56" y="2"/>
                  </a:lnTo>
                  <a:lnTo>
                    <a:pt x="50" y="0"/>
                  </a:lnTo>
                  <a:lnTo>
                    <a:pt x="43" y="0"/>
                  </a:lnTo>
                  <a:lnTo>
                    <a:pt x="40" y="0"/>
                  </a:lnTo>
                  <a:lnTo>
                    <a:pt x="35" y="1"/>
                  </a:lnTo>
                  <a:lnTo>
                    <a:pt x="26" y="3"/>
                  </a:lnTo>
                  <a:lnTo>
                    <a:pt x="16" y="8"/>
                  </a:lnTo>
                  <a:lnTo>
                    <a:pt x="7" y="14"/>
                  </a:lnTo>
                  <a:lnTo>
                    <a:pt x="3" y="20"/>
                  </a:lnTo>
                  <a:lnTo>
                    <a:pt x="0" y="26"/>
                  </a:lnTo>
                  <a:lnTo>
                    <a:pt x="0" y="28"/>
                  </a:lnTo>
                  <a:lnTo>
                    <a:pt x="4" y="30"/>
                  </a:lnTo>
                  <a:lnTo>
                    <a:pt x="10" y="32"/>
                  </a:lnTo>
                  <a:lnTo>
                    <a:pt x="16" y="32"/>
                  </a:lnTo>
                  <a:lnTo>
                    <a:pt x="21" y="32"/>
                  </a:lnTo>
                  <a:lnTo>
                    <a:pt x="29" y="30"/>
                  </a:lnTo>
                  <a:lnTo>
                    <a:pt x="36" y="29"/>
                  </a:lnTo>
                  <a:lnTo>
                    <a:pt x="43" y="27"/>
                  </a:lnTo>
                  <a:lnTo>
                    <a:pt x="50" y="24"/>
                  </a:lnTo>
                  <a:close/>
                </a:path>
              </a:pathLst>
            </a:custGeom>
            <a:solidFill>
              <a:srgbClr val="000000"/>
            </a:solidFill>
            <a:ln w="9525">
              <a:noFill/>
            </a:ln>
          </p:spPr>
          <p:txBody>
            <a:bodyPr/>
            <a:p>
              <a:endParaRPr lang="zh-CN" altLang="en-US"/>
            </a:p>
          </p:txBody>
        </p:sp>
        <p:sp>
          <p:nvSpPr>
            <p:cNvPr id="14415" name="Freeform 130"/>
            <p:cNvSpPr/>
            <p:nvPr/>
          </p:nvSpPr>
          <p:spPr>
            <a:xfrm>
              <a:off x="4849" y="304"/>
              <a:ext cx="82" cy="106"/>
            </a:xfrm>
            <a:custGeom>
              <a:avLst/>
              <a:gdLst/>
              <a:ahLst/>
              <a:cxnLst>
                <a:cxn ang="0">
                  <a:pos x="10" y="8"/>
                </a:cxn>
                <a:cxn ang="0">
                  <a:pos x="8" y="11"/>
                </a:cxn>
                <a:cxn ang="0">
                  <a:pos x="6" y="13"/>
                </a:cxn>
                <a:cxn ang="0">
                  <a:pos x="5" y="16"/>
                </a:cxn>
                <a:cxn ang="0">
                  <a:pos x="3" y="19"/>
                </a:cxn>
                <a:cxn ang="0">
                  <a:pos x="2" y="23"/>
                </a:cxn>
                <a:cxn ang="0">
                  <a:pos x="1" y="26"/>
                </a:cxn>
                <a:cxn ang="0">
                  <a:pos x="0" y="29"/>
                </a:cxn>
                <a:cxn ang="0">
                  <a:pos x="0" y="33"/>
                </a:cxn>
                <a:cxn ang="0">
                  <a:pos x="0" y="38"/>
                </a:cxn>
                <a:cxn ang="0">
                  <a:pos x="2" y="43"/>
                </a:cxn>
                <a:cxn ang="0">
                  <a:pos x="4" y="47"/>
                </a:cxn>
                <a:cxn ang="0">
                  <a:pos x="6" y="50"/>
                </a:cxn>
                <a:cxn ang="0">
                  <a:pos x="9" y="52"/>
                </a:cxn>
                <a:cxn ang="0">
                  <a:pos x="12" y="53"/>
                </a:cxn>
                <a:cxn ang="0">
                  <a:pos x="15" y="53"/>
                </a:cxn>
                <a:cxn ang="0">
                  <a:pos x="18" y="52"/>
                </a:cxn>
                <a:cxn ang="0">
                  <a:pos x="19" y="52"/>
                </a:cxn>
                <a:cxn ang="0">
                  <a:pos x="20" y="52"/>
                </a:cxn>
                <a:cxn ang="0">
                  <a:pos x="20" y="51"/>
                </a:cxn>
                <a:cxn ang="0">
                  <a:pos x="20" y="50"/>
                </a:cxn>
                <a:cxn ang="0">
                  <a:pos x="20" y="49"/>
                </a:cxn>
                <a:cxn ang="0">
                  <a:pos x="20" y="49"/>
                </a:cxn>
                <a:cxn ang="0">
                  <a:pos x="19" y="49"/>
                </a:cxn>
                <a:cxn ang="0">
                  <a:pos x="18" y="49"/>
                </a:cxn>
                <a:cxn ang="0">
                  <a:pos x="17" y="49"/>
                </a:cxn>
                <a:cxn ang="0">
                  <a:pos x="16" y="49"/>
                </a:cxn>
                <a:cxn ang="0">
                  <a:pos x="16" y="49"/>
                </a:cxn>
                <a:cxn ang="0">
                  <a:pos x="15" y="49"/>
                </a:cxn>
                <a:cxn ang="0">
                  <a:pos x="13" y="49"/>
                </a:cxn>
                <a:cxn ang="0">
                  <a:pos x="12" y="49"/>
                </a:cxn>
                <a:cxn ang="0">
                  <a:pos x="10" y="48"/>
                </a:cxn>
                <a:cxn ang="0">
                  <a:pos x="9" y="47"/>
                </a:cxn>
                <a:cxn ang="0">
                  <a:pos x="7" y="47"/>
                </a:cxn>
                <a:cxn ang="0">
                  <a:pos x="6" y="45"/>
                </a:cxn>
                <a:cxn ang="0">
                  <a:pos x="4" y="43"/>
                </a:cxn>
                <a:cxn ang="0">
                  <a:pos x="2" y="39"/>
                </a:cxn>
                <a:cxn ang="0">
                  <a:pos x="2" y="35"/>
                </a:cxn>
                <a:cxn ang="0">
                  <a:pos x="2" y="32"/>
                </a:cxn>
                <a:cxn ang="0">
                  <a:pos x="3" y="28"/>
                </a:cxn>
                <a:cxn ang="0">
                  <a:pos x="4" y="25"/>
                </a:cxn>
                <a:cxn ang="0">
                  <a:pos x="5" y="22"/>
                </a:cxn>
                <a:cxn ang="0">
                  <a:pos x="7" y="19"/>
                </a:cxn>
                <a:cxn ang="0">
                  <a:pos x="9" y="16"/>
                </a:cxn>
                <a:cxn ang="0">
                  <a:pos x="11" y="13"/>
                </a:cxn>
                <a:cxn ang="0">
                  <a:pos x="13" y="11"/>
                </a:cxn>
                <a:cxn ang="0">
                  <a:pos x="15" y="9"/>
                </a:cxn>
                <a:cxn ang="0">
                  <a:pos x="17" y="7"/>
                </a:cxn>
                <a:cxn ang="0">
                  <a:pos x="20" y="6"/>
                </a:cxn>
                <a:cxn ang="0">
                  <a:pos x="22" y="4"/>
                </a:cxn>
                <a:cxn ang="0">
                  <a:pos x="24" y="3"/>
                </a:cxn>
                <a:cxn ang="0">
                  <a:pos x="26" y="2"/>
                </a:cxn>
                <a:cxn ang="0">
                  <a:pos x="27" y="2"/>
                </a:cxn>
                <a:cxn ang="0">
                  <a:pos x="26" y="1"/>
                </a:cxn>
                <a:cxn ang="0">
                  <a:pos x="24" y="0"/>
                </a:cxn>
                <a:cxn ang="0">
                  <a:pos x="22" y="1"/>
                </a:cxn>
                <a:cxn ang="0">
                  <a:pos x="20" y="2"/>
                </a:cxn>
                <a:cxn ang="0">
                  <a:pos x="17" y="3"/>
                </a:cxn>
                <a:cxn ang="0">
                  <a:pos x="15" y="4"/>
                </a:cxn>
                <a:cxn ang="0">
                  <a:pos x="12" y="6"/>
                </a:cxn>
                <a:cxn ang="0">
                  <a:pos x="10" y="8"/>
                </a:cxn>
              </a:cxnLst>
              <a:pathLst>
                <a:path w="246" h="211">
                  <a:moveTo>
                    <a:pt x="90" y="32"/>
                  </a:moveTo>
                  <a:lnTo>
                    <a:pt x="73" y="41"/>
                  </a:lnTo>
                  <a:lnTo>
                    <a:pt x="57" y="51"/>
                  </a:lnTo>
                  <a:lnTo>
                    <a:pt x="41" y="64"/>
                  </a:lnTo>
                  <a:lnTo>
                    <a:pt x="28" y="76"/>
                  </a:lnTo>
                  <a:lnTo>
                    <a:pt x="18" y="89"/>
                  </a:lnTo>
                  <a:lnTo>
                    <a:pt x="9" y="103"/>
                  </a:lnTo>
                  <a:lnTo>
                    <a:pt x="3" y="116"/>
                  </a:lnTo>
                  <a:lnTo>
                    <a:pt x="0" y="131"/>
                  </a:lnTo>
                  <a:lnTo>
                    <a:pt x="3" y="152"/>
                  </a:lnTo>
                  <a:lnTo>
                    <a:pt x="15" y="170"/>
                  </a:lnTo>
                  <a:lnTo>
                    <a:pt x="32" y="185"/>
                  </a:lnTo>
                  <a:lnTo>
                    <a:pt x="54" y="197"/>
                  </a:lnTo>
                  <a:lnTo>
                    <a:pt x="80" y="205"/>
                  </a:lnTo>
                  <a:lnTo>
                    <a:pt x="109" y="210"/>
                  </a:lnTo>
                  <a:lnTo>
                    <a:pt x="137" y="211"/>
                  </a:lnTo>
                  <a:lnTo>
                    <a:pt x="164" y="208"/>
                  </a:lnTo>
                  <a:lnTo>
                    <a:pt x="170" y="208"/>
                  </a:lnTo>
                  <a:lnTo>
                    <a:pt x="176" y="206"/>
                  </a:lnTo>
                  <a:lnTo>
                    <a:pt x="180" y="202"/>
                  </a:lnTo>
                  <a:lnTo>
                    <a:pt x="182" y="198"/>
                  </a:lnTo>
                  <a:lnTo>
                    <a:pt x="180" y="196"/>
                  </a:lnTo>
                  <a:lnTo>
                    <a:pt x="176" y="196"/>
                  </a:lnTo>
                  <a:lnTo>
                    <a:pt x="170" y="195"/>
                  </a:lnTo>
                  <a:lnTo>
                    <a:pt x="163" y="195"/>
                  </a:lnTo>
                  <a:lnTo>
                    <a:pt x="154" y="195"/>
                  </a:lnTo>
                  <a:lnTo>
                    <a:pt x="147" y="195"/>
                  </a:lnTo>
                  <a:lnTo>
                    <a:pt x="140" y="195"/>
                  </a:lnTo>
                  <a:lnTo>
                    <a:pt x="135" y="195"/>
                  </a:lnTo>
                  <a:lnTo>
                    <a:pt x="121" y="194"/>
                  </a:lnTo>
                  <a:lnTo>
                    <a:pt x="108" y="193"/>
                  </a:lnTo>
                  <a:lnTo>
                    <a:pt x="93" y="191"/>
                  </a:lnTo>
                  <a:lnTo>
                    <a:pt x="79" y="188"/>
                  </a:lnTo>
                  <a:lnTo>
                    <a:pt x="64" y="185"/>
                  </a:lnTo>
                  <a:lnTo>
                    <a:pt x="50" y="178"/>
                  </a:lnTo>
                  <a:lnTo>
                    <a:pt x="37" y="169"/>
                  </a:lnTo>
                  <a:lnTo>
                    <a:pt x="22" y="155"/>
                  </a:lnTo>
                  <a:lnTo>
                    <a:pt x="19" y="140"/>
                  </a:lnTo>
                  <a:lnTo>
                    <a:pt x="21" y="126"/>
                  </a:lnTo>
                  <a:lnTo>
                    <a:pt x="26" y="111"/>
                  </a:lnTo>
                  <a:lnTo>
                    <a:pt x="35" y="98"/>
                  </a:lnTo>
                  <a:lnTo>
                    <a:pt x="48" y="85"/>
                  </a:lnTo>
                  <a:lnTo>
                    <a:pt x="63" y="73"/>
                  </a:lnTo>
                  <a:lnTo>
                    <a:pt x="79" y="63"/>
                  </a:lnTo>
                  <a:lnTo>
                    <a:pt x="98" y="52"/>
                  </a:lnTo>
                  <a:lnTo>
                    <a:pt x="117" y="43"/>
                  </a:lnTo>
                  <a:lnTo>
                    <a:pt x="137" y="35"/>
                  </a:lnTo>
                  <a:lnTo>
                    <a:pt x="157" y="28"/>
                  </a:lnTo>
                  <a:lnTo>
                    <a:pt x="176" y="21"/>
                  </a:lnTo>
                  <a:lnTo>
                    <a:pt x="196" y="16"/>
                  </a:lnTo>
                  <a:lnTo>
                    <a:pt x="214" y="11"/>
                  </a:lnTo>
                  <a:lnTo>
                    <a:pt x="231" y="8"/>
                  </a:lnTo>
                  <a:lnTo>
                    <a:pt x="246" y="6"/>
                  </a:lnTo>
                  <a:lnTo>
                    <a:pt x="236" y="2"/>
                  </a:lnTo>
                  <a:lnTo>
                    <a:pt x="220" y="0"/>
                  </a:lnTo>
                  <a:lnTo>
                    <a:pt x="201" y="2"/>
                  </a:lnTo>
                  <a:lnTo>
                    <a:pt x="179" y="5"/>
                  </a:lnTo>
                  <a:lnTo>
                    <a:pt x="154" y="10"/>
                  </a:lnTo>
                  <a:lnTo>
                    <a:pt x="131" y="16"/>
                  </a:lnTo>
                  <a:lnTo>
                    <a:pt x="109" y="24"/>
                  </a:lnTo>
                  <a:lnTo>
                    <a:pt x="90" y="32"/>
                  </a:lnTo>
                  <a:close/>
                </a:path>
              </a:pathLst>
            </a:custGeom>
            <a:solidFill>
              <a:srgbClr val="000000"/>
            </a:solidFill>
            <a:ln w="9525">
              <a:noFill/>
            </a:ln>
          </p:spPr>
          <p:txBody>
            <a:bodyPr/>
            <a:p>
              <a:endParaRPr lang="zh-CN" altLang="en-US"/>
            </a:p>
          </p:txBody>
        </p:sp>
        <p:sp>
          <p:nvSpPr>
            <p:cNvPr id="14416" name="Freeform 131"/>
            <p:cNvSpPr/>
            <p:nvPr/>
          </p:nvSpPr>
          <p:spPr>
            <a:xfrm>
              <a:off x="4989" y="303"/>
              <a:ext cx="53" cy="82"/>
            </a:xfrm>
            <a:custGeom>
              <a:avLst/>
              <a:gdLst/>
              <a:ahLst/>
              <a:cxnLst>
                <a:cxn ang="0">
                  <a:pos x="15" y="14"/>
                </a:cxn>
                <a:cxn ang="0">
                  <a:pos x="15" y="18"/>
                </a:cxn>
                <a:cxn ang="0">
                  <a:pos x="15" y="22"/>
                </a:cxn>
                <a:cxn ang="0">
                  <a:pos x="14" y="25"/>
                </a:cxn>
                <a:cxn ang="0">
                  <a:pos x="12" y="28"/>
                </a:cxn>
                <a:cxn ang="0">
                  <a:pos x="10" y="30"/>
                </a:cxn>
                <a:cxn ang="0">
                  <a:pos x="8" y="33"/>
                </a:cxn>
                <a:cxn ang="0">
                  <a:pos x="6" y="35"/>
                </a:cxn>
                <a:cxn ang="0">
                  <a:pos x="4" y="38"/>
                </a:cxn>
                <a:cxn ang="0">
                  <a:pos x="4" y="38"/>
                </a:cxn>
                <a:cxn ang="0">
                  <a:pos x="4" y="39"/>
                </a:cxn>
                <a:cxn ang="0">
                  <a:pos x="4" y="40"/>
                </a:cxn>
                <a:cxn ang="0">
                  <a:pos x="4" y="40"/>
                </a:cxn>
                <a:cxn ang="0">
                  <a:pos x="4" y="41"/>
                </a:cxn>
                <a:cxn ang="0">
                  <a:pos x="5" y="41"/>
                </a:cxn>
                <a:cxn ang="0">
                  <a:pos x="5" y="41"/>
                </a:cxn>
                <a:cxn ang="0">
                  <a:pos x="6" y="41"/>
                </a:cxn>
                <a:cxn ang="0">
                  <a:pos x="8" y="39"/>
                </a:cxn>
                <a:cxn ang="0">
                  <a:pos x="11" y="36"/>
                </a:cxn>
                <a:cxn ang="0">
                  <a:pos x="13" y="33"/>
                </a:cxn>
                <a:cxn ang="0">
                  <a:pos x="15" y="30"/>
                </a:cxn>
                <a:cxn ang="0">
                  <a:pos x="16" y="26"/>
                </a:cxn>
                <a:cxn ang="0">
                  <a:pos x="17" y="22"/>
                </a:cxn>
                <a:cxn ang="0">
                  <a:pos x="18" y="18"/>
                </a:cxn>
                <a:cxn ang="0">
                  <a:pos x="17" y="13"/>
                </a:cxn>
                <a:cxn ang="0">
                  <a:pos x="16" y="10"/>
                </a:cxn>
                <a:cxn ang="0">
                  <a:pos x="14" y="6"/>
                </a:cxn>
                <a:cxn ang="0">
                  <a:pos x="11" y="4"/>
                </a:cxn>
                <a:cxn ang="0">
                  <a:pos x="8" y="2"/>
                </a:cxn>
                <a:cxn ang="0">
                  <a:pos x="6" y="1"/>
                </a:cxn>
                <a:cxn ang="0">
                  <a:pos x="3" y="0"/>
                </a:cxn>
                <a:cxn ang="0">
                  <a:pos x="1" y="1"/>
                </a:cxn>
                <a:cxn ang="0">
                  <a:pos x="0" y="2"/>
                </a:cxn>
                <a:cxn ang="0">
                  <a:pos x="2" y="3"/>
                </a:cxn>
                <a:cxn ang="0">
                  <a:pos x="4" y="3"/>
                </a:cxn>
                <a:cxn ang="0">
                  <a:pos x="7" y="4"/>
                </a:cxn>
                <a:cxn ang="0">
                  <a:pos x="9" y="5"/>
                </a:cxn>
                <a:cxn ang="0">
                  <a:pos x="11" y="6"/>
                </a:cxn>
                <a:cxn ang="0">
                  <a:pos x="13" y="8"/>
                </a:cxn>
                <a:cxn ang="0">
                  <a:pos x="14" y="11"/>
                </a:cxn>
                <a:cxn ang="0">
                  <a:pos x="15" y="14"/>
                </a:cxn>
              </a:cxnLst>
              <a:pathLst>
                <a:path w="158" h="164">
                  <a:moveTo>
                    <a:pt x="133" y="54"/>
                  </a:moveTo>
                  <a:lnTo>
                    <a:pt x="138" y="72"/>
                  </a:lnTo>
                  <a:lnTo>
                    <a:pt x="135" y="86"/>
                  </a:lnTo>
                  <a:lnTo>
                    <a:pt x="125" y="99"/>
                  </a:lnTo>
                  <a:lnTo>
                    <a:pt x="110" y="110"/>
                  </a:lnTo>
                  <a:lnTo>
                    <a:pt x="93" y="120"/>
                  </a:lnTo>
                  <a:lnTo>
                    <a:pt x="74" y="130"/>
                  </a:lnTo>
                  <a:lnTo>
                    <a:pt x="53" y="140"/>
                  </a:lnTo>
                  <a:lnTo>
                    <a:pt x="36" y="149"/>
                  </a:lnTo>
                  <a:lnTo>
                    <a:pt x="33" y="152"/>
                  </a:lnTo>
                  <a:lnTo>
                    <a:pt x="32" y="154"/>
                  </a:lnTo>
                  <a:lnTo>
                    <a:pt x="32" y="157"/>
                  </a:lnTo>
                  <a:lnTo>
                    <a:pt x="35" y="160"/>
                  </a:lnTo>
                  <a:lnTo>
                    <a:pt x="37" y="163"/>
                  </a:lnTo>
                  <a:lnTo>
                    <a:pt x="42" y="164"/>
                  </a:lnTo>
                  <a:lnTo>
                    <a:pt x="46" y="164"/>
                  </a:lnTo>
                  <a:lnTo>
                    <a:pt x="51" y="163"/>
                  </a:lnTo>
                  <a:lnTo>
                    <a:pt x="72" y="153"/>
                  </a:lnTo>
                  <a:lnTo>
                    <a:pt x="94" y="143"/>
                  </a:lnTo>
                  <a:lnTo>
                    <a:pt x="114" y="132"/>
                  </a:lnTo>
                  <a:lnTo>
                    <a:pt x="133" y="118"/>
                  </a:lnTo>
                  <a:lnTo>
                    <a:pt x="146" y="104"/>
                  </a:lnTo>
                  <a:lnTo>
                    <a:pt x="155" y="87"/>
                  </a:lnTo>
                  <a:lnTo>
                    <a:pt x="158" y="70"/>
                  </a:lnTo>
                  <a:lnTo>
                    <a:pt x="152" y="51"/>
                  </a:lnTo>
                  <a:lnTo>
                    <a:pt x="139" y="37"/>
                  </a:lnTo>
                  <a:lnTo>
                    <a:pt x="122" y="24"/>
                  </a:lnTo>
                  <a:lnTo>
                    <a:pt x="99" y="14"/>
                  </a:lnTo>
                  <a:lnTo>
                    <a:pt x="75" y="7"/>
                  </a:lnTo>
                  <a:lnTo>
                    <a:pt x="51" y="2"/>
                  </a:lnTo>
                  <a:lnTo>
                    <a:pt x="29" y="0"/>
                  </a:lnTo>
                  <a:lnTo>
                    <a:pt x="11" y="1"/>
                  </a:lnTo>
                  <a:lnTo>
                    <a:pt x="0" y="5"/>
                  </a:lnTo>
                  <a:lnTo>
                    <a:pt x="20" y="9"/>
                  </a:lnTo>
                  <a:lnTo>
                    <a:pt x="40" y="12"/>
                  </a:lnTo>
                  <a:lnTo>
                    <a:pt x="59" y="15"/>
                  </a:lnTo>
                  <a:lnTo>
                    <a:pt x="78" y="19"/>
                  </a:lnTo>
                  <a:lnTo>
                    <a:pt x="96" y="24"/>
                  </a:lnTo>
                  <a:lnTo>
                    <a:pt x="112" y="32"/>
                  </a:lnTo>
                  <a:lnTo>
                    <a:pt x="125" y="41"/>
                  </a:lnTo>
                  <a:lnTo>
                    <a:pt x="133" y="54"/>
                  </a:lnTo>
                  <a:close/>
                </a:path>
              </a:pathLst>
            </a:custGeom>
            <a:solidFill>
              <a:srgbClr val="000000"/>
            </a:solidFill>
            <a:ln w="9525">
              <a:noFill/>
            </a:ln>
          </p:spPr>
          <p:txBody>
            <a:bodyPr/>
            <a:p>
              <a:endParaRPr lang="zh-CN" altLang="en-US"/>
            </a:p>
          </p:txBody>
        </p:sp>
        <p:sp>
          <p:nvSpPr>
            <p:cNvPr id="14417" name="Freeform 132"/>
            <p:cNvSpPr/>
            <p:nvPr/>
          </p:nvSpPr>
          <p:spPr>
            <a:xfrm>
              <a:off x="4796" y="285"/>
              <a:ext cx="134" cy="170"/>
            </a:xfrm>
            <a:custGeom>
              <a:avLst/>
              <a:gdLst/>
              <a:ahLst/>
              <a:cxnLst>
                <a:cxn ang="0">
                  <a:pos x="14" y="16"/>
                </a:cxn>
                <a:cxn ang="0">
                  <a:pos x="7" y="26"/>
                </a:cxn>
                <a:cxn ang="0">
                  <a:pos x="2" y="38"/>
                </a:cxn>
                <a:cxn ang="0">
                  <a:pos x="0" y="51"/>
                </a:cxn>
                <a:cxn ang="0">
                  <a:pos x="1" y="60"/>
                </a:cxn>
                <a:cxn ang="0">
                  <a:pos x="1" y="64"/>
                </a:cxn>
                <a:cxn ang="0">
                  <a:pos x="3" y="67"/>
                </a:cxn>
                <a:cxn ang="0">
                  <a:pos x="5" y="70"/>
                </a:cxn>
                <a:cxn ang="0">
                  <a:pos x="8" y="73"/>
                </a:cxn>
                <a:cxn ang="0">
                  <a:pos x="12" y="77"/>
                </a:cxn>
                <a:cxn ang="0">
                  <a:pos x="17" y="79"/>
                </a:cxn>
                <a:cxn ang="0">
                  <a:pos x="21" y="81"/>
                </a:cxn>
                <a:cxn ang="0">
                  <a:pos x="26" y="83"/>
                </a:cxn>
                <a:cxn ang="0">
                  <a:pos x="31" y="84"/>
                </a:cxn>
                <a:cxn ang="0">
                  <a:pos x="36" y="85"/>
                </a:cxn>
                <a:cxn ang="0">
                  <a:pos x="40" y="85"/>
                </a:cxn>
                <a:cxn ang="0">
                  <a:pos x="44" y="85"/>
                </a:cxn>
                <a:cxn ang="0">
                  <a:pos x="45" y="84"/>
                </a:cxn>
                <a:cxn ang="0">
                  <a:pos x="45" y="81"/>
                </a:cxn>
                <a:cxn ang="0">
                  <a:pos x="44" y="79"/>
                </a:cxn>
                <a:cxn ang="0">
                  <a:pos x="41" y="79"/>
                </a:cxn>
                <a:cxn ang="0">
                  <a:pos x="37" y="79"/>
                </a:cxn>
                <a:cxn ang="0">
                  <a:pos x="32" y="78"/>
                </a:cxn>
                <a:cxn ang="0">
                  <a:pos x="28" y="77"/>
                </a:cxn>
                <a:cxn ang="0">
                  <a:pos x="23" y="76"/>
                </a:cxn>
                <a:cxn ang="0">
                  <a:pos x="19" y="74"/>
                </a:cxn>
                <a:cxn ang="0">
                  <a:pos x="15" y="72"/>
                </a:cxn>
                <a:cxn ang="0">
                  <a:pos x="11" y="69"/>
                </a:cxn>
                <a:cxn ang="0">
                  <a:pos x="7" y="66"/>
                </a:cxn>
                <a:cxn ang="0">
                  <a:pos x="5" y="61"/>
                </a:cxn>
                <a:cxn ang="0">
                  <a:pos x="4" y="54"/>
                </a:cxn>
                <a:cxn ang="0">
                  <a:pos x="5" y="45"/>
                </a:cxn>
                <a:cxn ang="0">
                  <a:pos x="7" y="37"/>
                </a:cxn>
                <a:cxn ang="0">
                  <a:pos x="9" y="31"/>
                </a:cxn>
                <a:cxn ang="0">
                  <a:pos x="12" y="25"/>
                </a:cxn>
                <a:cxn ang="0">
                  <a:pos x="16" y="20"/>
                </a:cxn>
                <a:cxn ang="0">
                  <a:pos x="20" y="15"/>
                </a:cxn>
                <a:cxn ang="0">
                  <a:pos x="25" y="10"/>
                </a:cxn>
                <a:cxn ang="0">
                  <a:pos x="30" y="5"/>
                </a:cxn>
                <a:cxn ang="0">
                  <a:pos x="35" y="2"/>
                </a:cxn>
                <a:cxn ang="0">
                  <a:pos x="36" y="0"/>
                </a:cxn>
                <a:cxn ang="0">
                  <a:pos x="31" y="2"/>
                </a:cxn>
                <a:cxn ang="0">
                  <a:pos x="25" y="5"/>
                </a:cxn>
                <a:cxn ang="0">
                  <a:pos x="20" y="9"/>
                </a:cxn>
              </a:cxnLst>
              <a:pathLst>
                <a:path w="400" h="340">
                  <a:moveTo>
                    <a:pt x="156" y="45"/>
                  </a:moveTo>
                  <a:lnTo>
                    <a:pt x="125" y="62"/>
                  </a:lnTo>
                  <a:lnTo>
                    <a:pt x="95" y="82"/>
                  </a:lnTo>
                  <a:lnTo>
                    <a:pt x="67" y="103"/>
                  </a:lnTo>
                  <a:lnTo>
                    <a:pt x="42" y="125"/>
                  </a:lnTo>
                  <a:lnTo>
                    <a:pt x="22" y="150"/>
                  </a:lnTo>
                  <a:lnTo>
                    <a:pt x="8" y="176"/>
                  </a:lnTo>
                  <a:lnTo>
                    <a:pt x="0" y="204"/>
                  </a:lnTo>
                  <a:lnTo>
                    <a:pt x="2" y="233"/>
                  </a:lnTo>
                  <a:lnTo>
                    <a:pt x="5" y="240"/>
                  </a:lnTo>
                  <a:lnTo>
                    <a:pt x="9" y="248"/>
                  </a:lnTo>
                  <a:lnTo>
                    <a:pt x="13" y="254"/>
                  </a:lnTo>
                  <a:lnTo>
                    <a:pt x="19" y="261"/>
                  </a:lnTo>
                  <a:lnTo>
                    <a:pt x="26" y="268"/>
                  </a:lnTo>
                  <a:lnTo>
                    <a:pt x="34" y="274"/>
                  </a:lnTo>
                  <a:lnTo>
                    <a:pt x="42" y="279"/>
                  </a:lnTo>
                  <a:lnTo>
                    <a:pt x="51" y="283"/>
                  </a:lnTo>
                  <a:lnTo>
                    <a:pt x="70" y="291"/>
                  </a:lnTo>
                  <a:lnTo>
                    <a:pt x="89" y="298"/>
                  </a:lnTo>
                  <a:lnTo>
                    <a:pt x="108" y="305"/>
                  </a:lnTo>
                  <a:lnTo>
                    <a:pt x="128" y="310"/>
                  </a:lnTo>
                  <a:lnTo>
                    <a:pt x="149" y="315"/>
                  </a:lnTo>
                  <a:lnTo>
                    <a:pt x="169" y="319"/>
                  </a:lnTo>
                  <a:lnTo>
                    <a:pt x="189" y="323"/>
                  </a:lnTo>
                  <a:lnTo>
                    <a:pt x="210" y="326"/>
                  </a:lnTo>
                  <a:lnTo>
                    <a:pt x="231" y="329"/>
                  </a:lnTo>
                  <a:lnTo>
                    <a:pt x="253" y="331"/>
                  </a:lnTo>
                  <a:lnTo>
                    <a:pt x="274" y="334"/>
                  </a:lnTo>
                  <a:lnTo>
                    <a:pt x="295" y="336"/>
                  </a:lnTo>
                  <a:lnTo>
                    <a:pt x="317" y="337"/>
                  </a:lnTo>
                  <a:lnTo>
                    <a:pt x="339" y="338"/>
                  </a:lnTo>
                  <a:lnTo>
                    <a:pt x="359" y="339"/>
                  </a:lnTo>
                  <a:lnTo>
                    <a:pt x="381" y="340"/>
                  </a:lnTo>
                  <a:lnTo>
                    <a:pt x="387" y="340"/>
                  </a:lnTo>
                  <a:lnTo>
                    <a:pt x="393" y="337"/>
                  </a:lnTo>
                  <a:lnTo>
                    <a:pt x="397" y="334"/>
                  </a:lnTo>
                  <a:lnTo>
                    <a:pt x="400" y="328"/>
                  </a:lnTo>
                  <a:lnTo>
                    <a:pt x="400" y="323"/>
                  </a:lnTo>
                  <a:lnTo>
                    <a:pt x="397" y="319"/>
                  </a:lnTo>
                  <a:lnTo>
                    <a:pt x="391" y="316"/>
                  </a:lnTo>
                  <a:lnTo>
                    <a:pt x="385" y="315"/>
                  </a:lnTo>
                  <a:lnTo>
                    <a:pt x="365" y="315"/>
                  </a:lnTo>
                  <a:lnTo>
                    <a:pt x="346" y="315"/>
                  </a:lnTo>
                  <a:lnTo>
                    <a:pt x="326" y="314"/>
                  </a:lnTo>
                  <a:lnTo>
                    <a:pt x="307" y="313"/>
                  </a:lnTo>
                  <a:lnTo>
                    <a:pt x="287" y="312"/>
                  </a:lnTo>
                  <a:lnTo>
                    <a:pt x="266" y="310"/>
                  </a:lnTo>
                  <a:lnTo>
                    <a:pt x="247" y="308"/>
                  </a:lnTo>
                  <a:lnTo>
                    <a:pt x="227" y="306"/>
                  </a:lnTo>
                  <a:lnTo>
                    <a:pt x="208" y="303"/>
                  </a:lnTo>
                  <a:lnTo>
                    <a:pt x="188" y="300"/>
                  </a:lnTo>
                  <a:lnTo>
                    <a:pt x="169" y="295"/>
                  </a:lnTo>
                  <a:lnTo>
                    <a:pt x="150" y="291"/>
                  </a:lnTo>
                  <a:lnTo>
                    <a:pt x="131" y="287"/>
                  </a:lnTo>
                  <a:lnTo>
                    <a:pt x="114" y="281"/>
                  </a:lnTo>
                  <a:lnTo>
                    <a:pt x="95" y="275"/>
                  </a:lnTo>
                  <a:lnTo>
                    <a:pt x="77" y="269"/>
                  </a:lnTo>
                  <a:lnTo>
                    <a:pt x="63" y="261"/>
                  </a:lnTo>
                  <a:lnTo>
                    <a:pt x="51" y="251"/>
                  </a:lnTo>
                  <a:lnTo>
                    <a:pt x="44" y="241"/>
                  </a:lnTo>
                  <a:lnTo>
                    <a:pt x="38" y="228"/>
                  </a:lnTo>
                  <a:lnTo>
                    <a:pt x="38" y="214"/>
                  </a:lnTo>
                  <a:lnTo>
                    <a:pt x="41" y="195"/>
                  </a:lnTo>
                  <a:lnTo>
                    <a:pt x="47" y="177"/>
                  </a:lnTo>
                  <a:lnTo>
                    <a:pt x="53" y="163"/>
                  </a:lnTo>
                  <a:lnTo>
                    <a:pt x="63" y="148"/>
                  </a:lnTo>
                  <a:lnTo>
                    <a:pt x="74" y="135"/>
                  </a:lnTo>
                  <a:lnTo>
                    <a:pt x="85" y="122"/>
                  </a:lnTo>
                  <a:lnTo>
                    <a:pt x="98" y="111"/>
                  </a:lnTo>
                  <a:lnTo>
                    <a:pt x="111" y="100"/>
                  </a:lnTo>
                  <a:lnTo>
                    <a:pt x="125" y="89"/>
                  </a:lnTo>
                  <a:lnTo>
                    <a:pt x="141" y="79"/>
                  </a:lnTo>
                  <a:lnTo>
                    <a:pt x="160" y="68"/>
                  </a:lnTo>
                  <a:lnTo>
                    <a:pt x="179" y="57"/>
                  </a:lnTo>
                  <a:lnTo>
                    <a:pt x="201" y="47"/>
                  </a:lnTo>
                  <a:lnTo>
                    <a:pt x="224" y="37"/>
                  </a:lnTo>
                  <a:lnTo>
                    <a:pt x="249" y="27"/>
                  </a:lnTo>
                  <a:lnTo>
                    <a:pt x="272" y="19"/>
                  </a:lnTo>
                  <a:lnTo>
                    <a:pt x="294" y="12"/>
                  </a:lnTo>
                  <a:lnTo>
                    <a:pt x="314" y="6"/>
                  </a:lnTo>
                  <a:lnTo>
                    <a:pt x="332" y="1"/>
                  </a:lnTo>
                  <a:lnTo>
                    <a:pt x="316" y="0"/>
                  </a:lnTo>
                  <a:lnTo>
                    <a:pt x="295" y="1"/>
                  </a:lnTo>
                  <a:lnTo>
                    <a:pt x="274" y="5"/>
                  </a:lnTo>
                  <a:lnTo>
                    <a:pt x="249" y="10"/>
                  </a:lnTo>
                  <a:lnTo>
                    <a:pt x="224" y="17"/>
                  </a:lnTo>
                  <a:lnTo>
                    <a:pt x="199" y="25"/>
                  </a:lnTo>
                  <a:lnTo>
                    <a:pt x="176" y="35"/>
                  </a:lnTo>
                  <a:lnTo>
                    <a:pt x="156" y="45"/>
                  </a:lnTo>
                  <a:close/>
                </a:path>
              </a:pathLst>
            </a:custGeom>
            <a:solidFill>
              <a:srgbClr val="000000"/>
            </a:solidFill>
            <a:ln w="9525">
              <a:noFill/>
            </a:ln>
          </p:spPr>
          <p:txBody>
            <a:bodyPr/>
            <a:p>
              <a:endParaRPr lang="zh-CN" altLang="en-US"/>
            </a:p>
          </p:txBody>
        </p:sp>
        <p:sp>
          <p:nvSpPr>
            <p:cNvPr id="14418" name="Freeform 133"/>
            <p:cNvSpPr/>
            <p:nvPr/>
          </p:nvSpPr>
          <p:spPr>
            <a:xfrm>
              <a:off x="4984" y="279"/>
              <a:ext cx="117" cy="114"/>
            </a:xfrm>
            <a:custGeom>
              <a:avLst/>
              <a:gdLst/>
              <a:ahLst/>
              <a:cxnLst>
                <a:cxn ang="0">
                  <a:pos x="33" y="18"/>
                </a:cxn>
                <a:cxn ang="0">
                  <a:pos x="35" y="21"/>
                </a:cxn>
                <a:cxn ang="0">
                  <a:pos x="36" y="25"/>
                </a:cxn>
                <a:cxn ang="0">
                  <a:pos x="36" y="29"/>
                </a:cxn>
                <a:cxn ang="0">
                  <a:pos x="36" y="33"/>
                </a:cxn>
                <a:cxn ang="0">
                  <a:pos x="36" y="36"/>
                </a:cxn>
                <a:cxn ang="0">
                  <a:pos x="35" y="39"/>
                </a:cxn>
                <a:cxn ang="0">
                  <a:pos x="34" y="42"/>
                </a:cxn>
                <a:cxn ang="0">
                  <a:pos x="33" y="44"/>
                </a:cxn>
                <a:cxn ang="0">
                  <a:pos x="32" y="47"/>
                </a:cxn>
                <a:cxn ang="0">
                  <a:pos x="30" y="49"/>
                </a:cxn>
                <a:cxn ang="0">
                  <a:pos x="28" y="51"/>
                </a:cxn>
                <a:cxn ang="0">
                  <a:pos x="27" y="53"/>
                </a:cxn>
                <a:cxn ang="0">
                  <a:pos x="26" y="54"/>
                </a:cxn>
                <a:cxn ang="0">
                  <a:pos x="26" y="55"/>
                </a:cxn>
                <a:cxn ang="0">
                  <a:pos x="26" y="56"/>
                </a:cxn>
                <a:cxn ang="0">
                  <a:pos x="27" y="56"/>
                </a:cxn>
                <a:cxn ang="0">
                  <a:pos x="27" y="57"/>
                </a:cxn>
                <a:cxn ang="0">
                  <a:pos x="28" y="57"/>
                </a:cxn>
                <a:cxn ang="0">
                  <a:pos x="28" y="57"/>
                </a:cxn>
                <a:cxn ang="0">
                  <a:pos x="29" y="56"/>
                </a:cxn>
                <a:cxn ang="0">
                  <a:pos x="33" y="53"/>
                </a:cxn>
                <a:cxn ang="0">
                  <a:pos x="35" y="49"/>
                </a:cxn>
                <a:cxn ang="0">
                  <a:pos x="37" y="43"/>
                </a:cxn>
                <a:cxn ang="0">
                  <a:pos x="39" y="38"/>
                </a:cxn>
                <a:cxn ang="0">
                  <a:pos x="39" y="32"/>
                </a:cxn>
                <a:cxn ang="0">
                  <a:pos x="39" y="26"/>
                </a:cxn>
                <a:cxn ang="0">
                  <a:pos x="38" y="21"/>
                </a:cxn>
                <a:cxn ang="0">
                  <a:pos x="35" y="16"/>
                </a:cxn>
                <a:cxn ang="0">
                  <a:pos x="33" y="14"/>
                </a:cxn>
                <a:cxn ang="0">
                  <a:pos x="31" y="11"/>
                </a:cxn>
                <a:cxn ang="0">
                  <a:pos x="28" y="9"/>
                </a:cxn>
                <a:cxn ang="0">
                  <a:pos x="25" y="7"/>
                </a:cxn>
                <a:cxn ang="0">
                  <a:pos x="23" y="6"/>
                </a:cxn>
                <a:cxn ang="0">
                  <a:pos x="20" y="5"/>
                </a:cxn>
                <a:cxn ang="0">
                  <a:pos x="17" y="3"/>
                </a:cxn>
                <a:cxn ang="0">
                  <a:pos x="14" y="2"/>
                </a:cxn>
                <a:cxn ang="0">
                  <a:pos x="11" y="1"/>
                </a:cxn>
                <a:cxn ang="0">
                  <a:pos x="9" y="1"/>
                </a:cxn>
                <a:cxn ang="0">
                  <a:pos x="6" y="0"/>
                </a:cxn>
                <a:cxn ang="0">
                  <a:pos x="4" y="0"/>
                </a:cxn>
                <a:cxn ang="0">
                  <a:pos x="3" y="0"/>
                </a:cxn>
                <a:cxn ang="0">
                  <a:pos x="1" y="1"/>
                </a:cxn>
                <a:cxn ang="0">
                  <a:pos x="1" y="1"/>
                </a:cxn>
                <a:cxn ang="0">
                  <a:pos x="0" y="2"/>
                </a:cxn>
                <a:cxn ang="0">
                  <a:pos x="2" y="2"/>
                </a:cxn>
                <a:cxn ang="0">
                  <a:pos x="3" y="3"/>
                </a:cxn>
                <a:cxn ang="0">
                  <a:pos x="5" y="3"/>
                </a:cxn>
                <a:cxn ang="0">
                  <a:pos x="7" y="4"/>
                </a:cxn>
                <a:cxn ang="0">
                  <a:pos x="9" y="4"/>
                </a:cxn>
                <a:cxn ang="0">
                  <a:pos x="11" y="5"/>
                </a:cxn>
                <a:cxn ang="0">
                  <a:pos x="14" y="5"/>
                </a:cxn>
                <a:cxn ang="0">
                  <a:pos x="16" y="6"/>
                </a:cxn>
                <a:cxn ang="0">
                  <a:pos x="18" y="7"/>
                </a:cxn>
                <a:cxn ang="0">
                  <a:pos x="20" y="8"/>
                </a:cxn>
                <a:cxn ang="0">
                  <a:pos x="22" y="9"/>
                </a:cxn>
                <a:cxn ang="0">
                  <a:pos x="25" y="11"/>
                </a:cxn>
                <a:cxn ang="0">
                  <a:pos x="27" y="12"/>
                </a:cxn>
                <a:cxn ang="0">
                  <a:pos x="29" y="14"/>
                </a:cxn>
                <a:cxn ang="0">
                  <a:pos x="31" y="16"/>
                </a:cxn>
                <a:cxn ang="0">
                  <a:pos x="33" y="18"/>
                </a:cxn>
              </a:cxnLst>
              <a:pathLst>
                <a:path w="349" h="227">
                  <a:moveTo>
                    <a:pt x="291" y="70"/>
                  </a:moveTo>
                  <a:lnTo>
                    <a:pt x="307" y="83"/>
                  </a:lnTo>
                  <a:lnTo>
                    <a:pt x="316" y="97"/>
                  </a:lnTo>
                  <a:lnTo>
                    <a:pt x="321" y="113"/>
                  </a:lnTo>
                  <a:lnTo>
                    <a:pt x="321" y="129"/>
                  </a:lnTo>
                  <a:lnTo>
                    <a:pt x="318" y="142"/>
                  </a:lnTo>
                  <a:lnTo>
                    <a:pt x="313" y="154"/>
                  </a:lnTo>
                  <a:lnTo>
                    <a:pt x="302" y="165"/>
                  </a:lnTo>
                  <a:lnTo>
                    <a:pt x="292" y="174"/>
                  </a:lnTo>
                  <a:lnTo>
                    <a:pt x="279" y="185"/>
                  </a:lnTo>
                  <a:lnTo>
                    <a:pt x="266" y="193"/>
                  </a:lnTo>
                  <a:lnTo>
                    <a:pt x="253" y="202"/>
                  </a:lnTo>
                  <a:lnTo>
                    <a:pt x="240" y="212"/>
                  </a:lnTo>
                  <a:lnTo>
                    <a:pt x="237" y="215"/>
                  </a:lnTo>
                  <a:lnTo>
                    <a:pt x="236" y="218"/>
                  </a:lnTo>
                  <a:lnTo>
                    <a:pt x="237" y="221"/>
                  </a:lnTo>
                  <a:lnTo>
                    <a:pt x="240" y="224"/>
                  </a:lnTo>
                  <a:lnTo>
                    <a:pt x="244" y="226"/>
                  </a:lnTo>
                  <a:lnTo>
                    <a:pt x="249" y="227"/>
                  </a:lnTo>
                  <a:lnTo>
                    <a:pt x="254" y="226"/>
                  </a:lnTo>
                  <a:lnTo>
                    <a:pt x="259" y="224"/>
                  </a:lnTo>
                  <a:lnTo>
                    <a:pt x="288" y="211"/>
                  </a:lnTo>
                  <a:lnTo>
                    <a:pt x="311" y="193"/>
                  </a:lnTo>
                  <a:lnTo>
                    <a:pt x="331" y="172"/>
                  </a:lnTo>
                  <a:lnTo>
                    <a:pt x="345" y="151"/>
                  </a:lnTo>
                  <a:lnTo>
                    <a:pt x="349" y="127"/>
                  </a:lnTo>
                  <a:lnTo>
                    <a:pt x="346" y="104"/>
                  </a:lnTo>
                  <a:lnTo>
                    <a:pt x="334" y="83"/>
                  </a:lnTo>
                  <a:lnTo>
                    <a:pt x="311" y="63"/>
                  </a:lnTo>
                  <a:lnTo>
                    <a:pt x="294" y="53"/>
                  </a:lnTo>
                  <a:lnTo>
                    <a:pt x="273" y="44"/>
                  </a:lnTo>
                  <a:lnTo>
                    <a:pt x="250" y="35"/>
                  </a:lnTo>
                  <a:lnTo>
                    <a:pt x="227" y="28"/>
                  </a:lnTo>
                  <a:lnTo>
                    <a:pt x="202" y="22"/>
                  </a:lnTo>
                  <a:lnTo>
                    <a:pt x="176" y="17"/>
                  </a:lnTo>
                  <a:lnTo>
                    <a:pt x="151" y="12"/>
                  </a:lnTo>
                  <a:lnTo>
                    <a:pt x="125" y="7"/>
                  </a:lnTo>
                  <a:lnTo>
                    <a:pt x="102" y="4"/>
                  </a:lnTo>
                  <a:lnTo>
                    <a:pt x="79" y="2"/>
                  </a:lnTo>
                  <a:lnTo>
                    <a:pt x="58" y="0"/>
                  </a:lnTo>
                  <a:lnTo>
                    <a:pt x="39" y="0"/>
                  </a:lnTo>
                  <a:lnTo>
                    <a:pt x="23" y="0"/>
                  </a:lnTo>
                  <a:lnTo>
                    <a:pt x="12" y="1"/>
                  </a:lnTo>
                  <a:lnTo>
                    <a:pt x="5" y="3"/>
                  </a:lnTo>
                  <a:lnTo>
                    <a:pt x="0" y="5"/>
                  </a:lnTo>
                  <a:lnTo>
                    <a:pt x="15" y="7"/>
                  </a:lnTo>
                  <a:lnTo>
                    <a:pt x="31" y="9"/>
                  </a:lnTo>
                  <a:lnTo>
                    <a:pt x="47" y="11"/>
                  </a:lnTo>
                  <a:lnTo>
                    <a:pt x="64" y="13"/>
                  </a:lnTo>
                  <a:lnTo>
                    <a:pt x="83" y="15"/>
                  </a:lnTo>
                  <a:lnTo>
                    <a:pt x="102" y="17"/>
                  </a:lnTo>
                  <a:lnTo>
                    <a:pt x="121" y="20"/>
                  </a:lnTo>
                  <a:lnTo>
                    <a:pt x="141" y="23"/>
                  </a:lnTo>
                  <a:lnTo>
                    <a:pt x="160" y="27"/>
                  </a:lnTo>
                  <a:lnTo>
                    <a:pt x="180" y="31"/>
                  </a:lnTo>
                  <a:lnTo>
                    <a:pt x="201" y="36"/>
                  </a:lnTo>
                  <a:lnTo>
                    <a:pt x="220" y="41"/>
                  </a:lnTo>
                  <a:lnTo>
                    <a:pt x="238" y="48"/>
                  </a:lnTo>
                  <a:lnTo>
                    <a:pt x="257" y="54"/>
                  </a:lnTo>
                  <a:lnTo>
                    <a:pt x="275" y="62"/>
                  </a:lnTo>
                  <a:lnTo>
                    <a:pt x="291" y="70"/>
                  </a:lnTo>
                  <a:close/>
                </a:path>
              </a:pathLst>
            </a:custGeom>
            <a:solidFill>
              <a:srgbClr val="000000"/>
            </a:solidFill>
            <a:ln w="9525">
              <a:noFill/>
            </a:ln>
          </p:spPr>
          <p:txBody>
            <a:bodyPr/>
            <a:p>
              <a:endParaRPr lang="zh-CN" altLang="en-US"/>
            </a:p>
          </p:txBody>
        </p:sp>
        <p:sp>
          <p:nvSpPr>
            <p:cNvPr id="14419" name="Freeform 134"/>
            <p:cNvSpPr/>
            <p:nvPr/>
          </p:nvSpPr>
          <p:spPr>
            <a:xfrm>
              <a:off x="4750" y="340"/>
              <a:ext cx="48" cy="107"/>
            </a:xfrm>
            <a:custGeom>
              <a:avLst/>
              <a:gdLst/>
              <a:ahLst/>
              <a:cxnLst>
                <a:cxn ang="0">
                  <a:pos x="0" y="29"/>
                </a:cxn>
                <a:cxn ang="0">
                  <a:pos x="0" y="34"/>
                </a:cxn>
                <a:cxn ang="0">
                  <a:pos x="1" y="38"/>
                </a:cxn>
                <a:cxn ang="0">
                  <a:pos x="2" y="42"/>
                </a:cxn>
                <a:cxn ang="0">
                  <a:pos x="3" y="45"/>
                </a:cxn>
                <a:cxn ang="0">
                  <a:pos x="5" y="48"/>
                </a:cxn>
                <a:cxn ang="0">
                  <a:pos x="8" y="51"/>
                </a:cxn>
                <a:cxn ang="0">
                  <a:pos x="10" y="52"/>
                </a:cxn>
                <a:cxn ang="0">
                  <a:pos x="13" y="54"/>
                </a:cxn>
                <a:cxn ang="0">
                  <a:pos x="14" y="54"/>
                </a:cxn>
                <a:cxn ang="0">
                  <a:pos x="15" y="54"/>
                </a:cxn>
                <a:cxn ang="0">
                  <a:pos x="15" y="52"/>
                </a:cxn>
                <a:cxn ang="0">
                  <a:pos x="15" y="51"/>
                </a:cxn>
                <a:cxn ang="0">
                  <a:pos x="15" y="50"/>
                </a:cxn>
                <a:cxn ang="0">
                  <a:pos x="15" y="49"/>
                </a:cxn>
                <a:cxn ang="0">
                  <a:pos x="15" y="48"/>
                </a:cxn>
                <a:cxn ang="0">
                  <a:pos x="14" y="47"/>
                </a:cxn>
                <a:cxn ang="0">
                  <a:pos x="11" y="46"/>
                </a:cxn>
                <a:cxn ang="0">
                  <a:pos x="9" y="44"/>
                </a:cxn>
                <a:cxn ang="0">
                  <a:pos x="7" y="41"/>
                </a:cxn>
                <a:cxn ang="0">
                  <a:pos x="6" y="38"/>
                </a:cxn>
                <a:cxn ang="0">
                  <a:pos x="5" y="34"/>
                </a:cxn>
                <a:cxn ang="0">
                  <a:pos x="4" y="30"/>
                </a:cxn>
                <a:cxn ang="0">
                  <a:pos x="4" y="25"/>
                </a:cxn>
                <a:cxn ang="0">
                  <a:pos x="5" y="20"/>
                </a:cxn>
                <a:cxn ang="0">
                  <a:pos x="6" y="17"/>
                </a:cxn>
                <a:cxn ang="0">
                  <a:pos x="8" y="14"/>
                </a:cxn>
                <a:cxn ang="0">
                  <a:pos x="10" y="11"/>
                </a:cxn>
                <a:cxn ang="0">
                  <a:pos x="12" y="8"/>
                </a:cxn>
                <a:cxn ang="0">
                  <a:pos x="14" y="6"/>
                </a:cxn>
                <a:cxn ang="0">
                  <a:pos x="15" y="3"/>
                </a:cxn>
                <a:cxn ang="0">
                  <a:pos x="16" y="2"/>
                </a:cxn>
                <a:cxn ang="0">
                  <a:pos x="16" y="0"/>
                </a:cxn>
                <a:cxn ang="0">
                  <a:pos x="14" y="1"/>
                </a:cxn>
                <a:cxn ang="0">
                  <a:pos x="12" y="3"/>
                </a:cxn>
                <a:cxn ang="0">
                  <a:pos x="10" y="6"/>
                </a:cxn>
                <a:cxn ang="0">
                  <a:pos x="7" y="10"/>
                </a:cxn>
                <a:cxn ang="0">
                  <a:pos x="4" y="14"/>
                </a:cxn>
                <a:cxn ang="0">
                  <a:pos x="2" y="19"/>
                </a:cxn>
                <a:cxn ang="0">
                  <a:pos x="1" y="24"/>
                </a:cxn>
                <a:cxn ang="0">
                  <a:pos x="0" y="29"/>
                </a:cxn>
              </a:cxnLst>
              <a:pathLst>
                <a:path w="143" h="212">
                  <a:moveTo>
                    <a:pt x="0" y="115"/>
                  </a:moveTo>
                  <a:lnTo>
                    <a:pt x="0" y="133"/>
                  </a:lnTo>
                  <a:lnTo>
                    <a:pt x="6" y="149"/>
                  </a:lnTo>
                  <a:lnTo>
                    <a:pt x="16" y="165"/>
                  </a:lnTo>
                  <a:lnTo>
                    <a:pt x="31" y="178"/>
                  </a:lnTo>
                  <a:lnTo>
                    <a:pt x="48" y="190"/>
                  </a:lnTo>
                  <a:lnTo>
                    <a:pt x="69" y="200"/>
                  </a:lnTo>
                  <a:lnTo>
                    <a:pt x="92" y="207"/>
                  </a:lnTo>
                  <a:lnTo>
                    <a:pt x="115" y="211"/>
                  </a:lnTo>
                  <a:lnTo>
                    <a:pt x="122" y="212"/>
                  </a:lnTo>
                  <a:lnTo>
                    <a:pt x="130" y="210"/>
                  </a:lnTo>
                  <a:lnTo>
                    <a:pt x="135" y="207"/>
                  </a:lnTo>
                  <a:lnTo>
                    <a:pt x="138" y="203"/>
                  </a:lnTo>
                  <a:lnTo>
                    <a:pt x="138" y="198"/>
                  </a:lnTo>
                  <a:lnTo>
                    <a:pt x="137" y="193"/>
                  </a:lnTo>
                  <a:lnTo>
                    <a:pt x="133" y="189"/>
                  </a:lnTo>
                  <a:lnTo>
                    <a:pt x="125" y="186"/>
                  </a:lnTo>
                  <a:lnTo>
                    <a:pt x="102" y="180"/>
                  </a:lnTo>
                  <a:lnTo>
                    <a:pt x="80" y="172"/>
                  </a:lnTo>
                  <a:lnTo>
                    <a:pt x="63" y="161"/>
                  </a:lnTo>
                  <a:lnTo>
                    <a:pt x="50" y="148"/>
                  </a:lnTo>
                  <a:lnTo>
                    <a:pt x="41" y="133"/>
                  </a:lnTo>
                  <a:lnTo>
                    <a:pt x="37" y="116"/>
                  </a:lnTo>
                  <a:lnTo>
                    <a:pt x="37" y="99"/>
                  </a:lnTo>
                  <a:lnTo>
                    <a:pt x="44" y="80"/>
                  </a:lnTo>
                  <a:lnTo>
                    <a:pt x="54" y="67"/>
                  </a:lnTo>
                  <a:lnTo>
                    <a:pt x="70" y="54"/>
                  </a:lnTo>
                  <a:lnTo>
                    <a:pt x="87" y="41"/>
                  </a:lnTo>
                  <a:lnTo>
                    <a:pt x="106" y="30"/>
                  </a:lnTo>
                  <a:lnTo>
                    <a:pt x="122" y="21"/>
                  </a:lnTo>
                  <a:lnTo>
                    <a:pt x="135" y="11"/>
                  </a:lnTo>
                  <a:lnTo>
                    <a:pt x="143" y="5"/>
                  </a:lnTo>
                  <a:lnTo>
                    <a:pt x="143" y="0"/>
                  </a:lnTo>
                  <a:lnTo>
                    <a:pt x="127" y="4"/>
                  </a:lnTo>
                  <a:lnTo>
                    <a:pt x="106" y="11"/>
                  </a:lnTo>
                  <a:lnTo>
                    <a:pt x="85" y="24"/>
                  </a:lnTo>
                  <a:lnTo>
                    <a:pt x="61" y="38"/>
                  </a:lnTo>
                  <a:lnTo>
                    <a:pt x="40" y="55"/>
                  </a:lnTo>
                  <a:lnTo>
                    <a:pt x="22" y="74"/>
                  </a:lnTo>
                  <a:lnTo>
                    <a:pt x="8" y="95"/>
                  </a:lnTo>
                  <a:lnTo>
                    <a:pt x="0" y="115"/>
                  </a:lnTo>
                  <a:close/>
                </a:path>
              </a:pathLst>
            </a:custGeom>
            <a:solidFill>
              <a:srgbClr val="000000"/>
            </a:solidFill>
            <a:ln w="9525">
              <a:noFill/>
            </a:ln>
          </p:spPr>
          <p:txBody>
            <a:bodyPr/>
            <a:p>
              <a:endParaRPr lang="zh-CN" altLang="en-US"/>
            </a:p>
          </p:txBody>
        </p:sp>
        <p:sp>
          <p:nvSpPr>
            <p:cNvPr id="14420" name="Freeform 135"/>
            <p:cNvSpPr/>
            <p:nvPr/>
          </p:nvSpPr>
          <p:spPr>
            <a:xfrm>
              <a:off x="5081" y="272"/>
              <a:ext cx="101" cy="139"/>
            </a:xfrm>
            <a:custGeom>
              <a:avLst/>
              <a:gdLst/>
              <a:ahLst/>
              <a:cxnLst>
                <a:cxn ang="0">
                  <a:pos x="29" y="28"/>
                </a:cxn>
                <a:cxn ang="0">
                  <a:pos x="30" y="33"/>
                </a:cxn>
                <a:cxn ang="0">
                  <a:pos x="31" y="37"/>
                </a:cxn>
                <a:cxn ang="0">
                  <a:pos x="30" y="42"/>
                </a:cxn>
                <a:cxn ang="0">
                  <a:pos x="29" y="47"/>
                </a:cxn>
                <a:cxn ang="0">
                  <a:pos x="26" y="52"/>
                </a:cxn>
                <a:cxn ang="0">
                  <a:pos x="23" y="55"/>
                </a:cxn>
                <a:cxn ang="0">
                  <a:pos x="19" y="60"/>
                </a:cxn>
                <a:cxn ang="0">
                  <a:pos x="18" y="63"/>
                </a:cxn>
                <a:cxn ang="0">
                  <a:pos x="17" y="65"/>
                </a:cxn>
                <a:cxn ang="0">
                  <a:pos x="17" y="67"/>
                </a:cxn>
                <a:cxn ang="0">
                  <a:pos x="17" y="69"/>
                </a:cxn>
                <a:cxn ang="0">
                  <a:pos x="18" y="70"/>
                </a:cxn>
                <a:cxn ang="0">
                  <a:pos x="19" y="70"/>
                </a:cxn>
                <a:cxn ang="0">
                  <a:pos x="21" y="66"/>
                </a:cxn>
                <a:cxn ang="0">
                  <a:pos x="25" y="61"/>
                </a:cxn>
                <a:cxn ang="0">
                  <a:pos x="28" y="55"/>
                </a:cxn>
                <a:cxn ang="0">
                  <a:pos x="32" y="50"/>
                </a:cxn>
                <a:cxn ang="0">
                  <a:pos x="34" y="42"/>
                </a:cxn>
                <a:cxn ang="0">
                  <a:pos x="33" y="34"/>
                </a:cxn>
                <a:cxn ang="0">
                  <a:pos x="31" y="27"/>
                </a:cxn>
                <a:cxn ang="0">
                  <a:pos x="28" y="21"/>
                </a:cxn>
                <a:cxn ang="0">
                  <a:pos x="24" y="17"/>
                </a:cxn>
                <a:cxn ang="0">
                  <a:pos x="21" y="14"/>
                </a:cxn>
                <a:cxn ang="0">
                  <a:pos x="17" y="11"/>
                </a:cxn>
                <a:cxn ang="0">
                  <a:pos x="13" y="7"/>
                </a:cxn>
                <a:cxn ang="0">
                  <a:pos x="9" y="4"/>
                </a:cxn>
                <a:cxn ang="0">
                  <a:pos x="6" y="2"/>
                </a:cxn>
                <a:cxn ang="0">
                  <a:pos x="3" y="1"/>
                </a:cxn>
                <a:cxn ang="0">
                  <a:pos x="1" y="0"/>
                </a:cxn>
                <a:cxn ang="0">
                  <a:pos x="1" y="2"/>
                </a:cxn>
                <a:cxn ang="0">
                  <a:pos x="5" y="5"/>
                </a:cxn>
                <a:cxn ang="0">
                  <a:pos x="8" y="7"/>
                </a:cxn>
                <a:cxn ang="0">
                  <a:pos x="12" y="10"/>
                </a:cxn>
                <a:cxn ang="0">
                  <a:pos x="16" y="13"/>
                </a:cxn>
                <a:cxn ang="0">
                  <a:pos x="19" y="16"/>
                </a:cxn>
                <a:cxn ang="0">
                  <a:pos x="23" y="20"/>
                </a:cxn>
                <a:cxn ang="0">
                  <a:pos x="26" y="24"/>
                </a:cxn>
              </a:cxnLst>
              <a:pathLst>
                <a:path w="304" h="278">
                  <a:moveTo>
                    <a:pt x="247" y="104"/>
                  </a:moveTo>
                  <a:lnTo>
                    <a:pt x="258" y="111"/>
                  </a:lnTo>
                  <a:lnTo>
                    <a:pt x="265" y="119"/>
                  </a:lnTo>
                  <a:lnTo>
                    <a:pt x="272" y="129"/>
                  </a:lnTo>
                  <a:lnTo>
                    <a:pt x="276" y="138"/>
                  </a:lnTo>
                  <a:lnTo>
                    <a:pt x="279" y="147"/>
                  </a:lnTo>
                  <a:lnTo>
                    <a:pt x="278" y="158"/>
                  </a:lnTo>
                  <a:lnTo>
                    <a:pt x="275" y="168"/>
                  </a:lnTo>
                  <a:lnTo>
                    <a:pt x="268" y="177"/>
                  </a:lnTo>
                  <a:lnTo>
                    <a:pt x="258" y="187"/>
                  </a:lnTo>
                  <a:lnTo>
                    <a:pt x="246" y="197"/>
                  </a:lnTo>
                  <a:lnTo>
                    <a:pt x="233" y="205"/>
                  </a:lnTo>
                  <a:lnTo>
                    <a:pt x="220" y="213"/>
                  </a:lnTo>
                  <a:lnTo>
                    <a:pt x="205" y="220"/>
                  </a:lnTo>
                  <a:lnTo>
                    <a:pt x="191" y="229"/>
                  </a:lnTo>
                  <a:lnTo>
                    <a:pt x="176" y="237"/>
                  </a:lnTo>
                  <a:lnTo>
                    <a:pt x="163" y="246"/>
                  </a:lnTo>
                  <a:lnTo>
                    <a:pt x="159" y="249"/>
                  </a:lnTo>
                  <a:lnTo>
                    <a:pt x="156" y="253"/>
                  </a:lnTo>
                  <a:lnTo>
                    <a:pt x="153" y="258"/>
                  </a:lnTo>
                  <a:lnTo>
                    <a:pt x="150" y="262"/>
                  </a:lnTo>
                  <a:lnTo>
                    <a:pt x="149" y="266"/>
                  </a:lnTo>
                  <a:lnTo>
                    <a:pt x="149" y="270"/>
                  </a:lnTo>
                  <a:lnTo>
                    <a:pt x="151" y="274"/>
                  </a:lnTo>
                  <a:lnTo>
                    <a:pt x="156" y="277"/>
                  </a:lnTo>
                  <a:lnTo>
                    <a:pt x="162" y="278"/>
                  </a:lnTo>
                  <a:lnTo>
                    <a:pt x="167" y="278"/>
                  </a:lnTo>
                  <a:lnTo>
                    <a:pt x="172" y="277"/>
                  </a:lnTo>
                  <a:lnTo>
                    <a:pt x="176" y="274"/>
                  </a:lnTo>
                  <a:lnTo>
                    <a:pt x="191" y="262"/>
                  </a:lnTo>
                  <a:lnTo>
                    <a:pt x="207" y="251"/>
                  </a:lnTo>
                  <a:lnTo>
                    <a:pt x="223" y="241"/>
                  </a:lnTo>
                  <a:lnTo>
                    <a:pt x="240" y="231"/>
                  </a:lnTo>
                  <a:lnTo>
                    <a:pt x="256" y="220"/>
                  </a:lnTo>
                  <a:lnTo>
                    <a:pt x="272" y="209"/>
                  </a:lnTo>
                  <a:lnTo>
                    <a:pt x="285" y="197"/>
                  </a:lnTo>
                  <a:lnTo>
                    <a:pt x="295" y="183"/>
                  </a:lnTo>
                  <a:lnTo>
                    <a:pt x="303" y="167"/>
                  </a:lnTo>
                  <a:lnTo>
                    <a:pt x="304" y="151"/>
                  </a:lnTo>
                  <a:lnTo>
                    <a:pt x="301" y="136"/>
                  </a:lnTo>
                  <a:lnTo>
                    <a:pt x="294" y="120"/>
                  </a:lnTo>
                  <a:lnTo>
                    <a:pt x="282" y="107"/>
                  </a:lnTo>
                  <a:lnTo>
                    <a:pt x="269" y="94"/>
                  </a:lnTo>
                  <a:lnTo>
                    <a:pt x="252" y="83"/>
                  </a:lnTo>
                  <a:lnTo>
                    <a:pt x="233" y="74"/>
                  </a:lnTo>
                  <a:lnTo>
                    <a:pt x="218" y="68"/>
                  </a:lnTo>
                  <a:lnTo>
                    <a:pt x="202" y="62"/>
                  </a:lnTo>
                  <a:lnTo>
                    <a:pt x="186" y="54"/>
                  </a:lnTo>
                  <a:lnTo>
                    <a:pt x="169" y="48"/>
                  </a:lnTo>
                  <a:lnTo>
                    <a:pt x="151" y="41"/>
                  </a:lnTo>
                  <a:lnTo>
                    <a:pt x="133" y="35"/>
                  </a:lnTo>
                  <a:lnTo>
                    <a:pt x="115" y="28"/>
                  </a:lnTo>
                  <a:lnTo>
                    <a:pt x="98" y="21"/>
                  </a:lnTo>
                  <a:lnTo>
                    <a:pt x="82" y="16"/>
                  </a:lnTo>
                  <a:lnTo>
                    <a:pt x="66" y="11"/>
                  </a:lnTo>
                  <a:lnTo>
                    <a:pt x="50" y="7"/>
                  </a:lnTo>
                  <a:lnTo>
                    <a:pt x="37" y="4"/>
                  </a:lnTo>
                  <a:lnTo>
                    <a:pt x="25" y="1"/>
                  </a:lnTo>
                  <a:lnTo>
                    <a:pt x="15" y="0"/>
                  </a:lnTo>
                  <a:lnTo>
                    <a:pt x="6" y="0"/>
                  </a:lnTo>
                  <a:lnTo>
                    <a:pt x="0" y="2"/>
                  </a:lnTo>
                  <a:lnTo>
                    <a:pt x="13" y="7"/>
                  </a:lnTo>
                  <a:lnTo>
                    <a:pt x="28" y="12"/>
                  </a:lnTo>
                  <a:lnTo>
                    <a:pt x="44" y="17"/>
                  </a:lnTo>
                  <a:lnTo>
                    <a:pt x="58" y="23"/>
                  </a:lnTo>
                  <a:lnTo>
                    <a:pt x="74" y="28"/>
                  </a:lnTo>
                  <a:lnTo>
                    <a:pt x="90" y="33"/>
                  </a:lnTo>
                  <a:lnTo>
                    <a:pt x="106" y="39"/>
                  </a:lnTo>
                  <a:lnTo>
                    <a:pt x="122" y="45"/>
                  </a:lnTo>
                  <a:lnTo>
                    <a:pt x="140" y="51"/>
                  </a:lnTo>
                  <a:lnTo>
                    <a:pt x="156" y="58"/>
                  </a:lnTo>
                  <a:lnTo>
                    <a:pt x="172" y="64"/>
                  </a:lnTo>
                  <a:lnTo>
                    <a:pt x="188" y="71"/>
                  </a:lnTo>
                  <a:lnTo>
                    <a:pt x="204" y="79"/>
                  </a:lnTo>
                  <a:lnTo>
                    <a:pt x="218" y="86"/>
                  </a:lnTo>
                  <a:lnTo>
                    <a:pt x="233" y="95"/>
                  </a:lnTo>
                  <a:lnTo>
                    <a:pt x="247" y="104"/>
                  </a:lnTo>
                  <a:close/>
                </a:path>
              </a:pathLst>
            </a:custGeom>
            <a:solidFill>
              <a:srgbClr val="000000"/>
            </a:solidFill>
            <a:ln w="9525">
              <a:noFill/>
            </a:ln>
          </p:spPr>
          <p:txBody>
            <a:bodyPr/>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6386"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6387" name="Rectangle 2"/>
          <p:cNvSpPr>
            <a:spLocks noGrp="1"/>
          </p:cNvSpPr>
          <p:nvPr>
            <p:ph type="title"/>
          </p:nvPr>
        </p:nvSpPr>
        <p:spPr>
          <a:xfrm>
            <a:off x="533400" y="228600"/>
            <a:ext cx="8334375" cy="1143000"/>
          </a:xfrm>
          <a:ln/>
        </p:spPr>
        <p:txBody>
          <a:bodyPr vert="horz" wrap="square" lIns="91440" tIns="45720" rIns="91440" bIns="45720" anchor="ctr" anchorCtr="0"/>
          <a:p>
            <a:pPr algn="r"/>
            <a:r>
              <a:rPr lang="en-US" altLang="zh-CN" sz="3200" u="none" dirty="0">
                <a:solidFill>
                  <a:srgbClr val="3333CC"/>
                </a:solidFill>
                <a:ea typeface="宋体" panose="02010600030101010101" pitchFamily="2" charset="-122"/>
              </a:rPr>
              <a:t>Characteristics of selected wireless link  standards</a:t>
            </a:r>
            <a:endParaRPr lang="en-US" altLang="zh-CN" sz="3200" u="none" dirty="0">
              <a:solidFill>
                <a:srgbClr val="3333CC"/>
              </a:solidFill>
              <a:ea typeface="宋体" panose="02010600030101010101" pitchFamily="2" charset="-122"/>
            </a:endParaRPr>
          </a:p>
        </p:txBody>
      </p:sp>
      <p:sp>
        <p:nvSpPr>
          <p:cNvPr id="16388" name="Rectangle 108"/>
          <p:cNvSpPr/>
          <p:nvPr/>
        </p:nvSpPr>
        <p:spPr>
          <a:xfrm>
            <a:off x="2952750" y="1968500"/>
            <a:ext cx="1589088" cy="3454400"/>
          </a:xfrm>
          <a:prstGeom prst="rect">
            <a:avLst/>
          </a:prstGeom>
          <a:gradFill rotWithShape="1">
            <a:gsLst>
              <a:gs pos="0">
                <a:srgbClr val="DDDDDD"/>
              </a:gs>
              <a:gs pos="100000">
                <a:schemeClr val="bg2"/>
              </a:gs>
            </a:gsLst>
            <a:lin ang="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389" name="Rectangle 109"/>
          <p:cNvSpPr/>
          <p:nvPr/>
        </p:nvSpPr>
        <p:spPr>
          <a:xfrm>
            <a:off x="4578350" y="1982788"/>
            <a:ext cx="1589088" cy="3440112"/>
          </a:xfrm>
          <a:prstGeom prst="rect">
            <a:avLst/>
          </a:prstGeom>
          <a:gradFill rotWithShape="1">
            <a:gsLst>
              <a:gs pos="0">
                <a:srgbClr val="DDDDDD"/>
              </a:gs>
              <a:gs pos="100000">
                <a:schemeClr val="bg2"/>
              </a:gs>
            </a:gsLst>
            <a:lin ang="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390" name="Rectangle 110"/>
          <p:cNvSpPr/>
          <p:nvPr/>
        </p:nvSpPr>
        <p:spPr>
          <a:xfrm>
            <a:off x="6203950" y="1982788"/>
            <a:ext cx="1589088" cy="3440112"/>
          </a:xfrm>
          <a:prstGeom prst="rect">
            <a:avLst/>
          </a:prstGeom>
          <a:gradFill rotWithShape="1">
            <a:gsLst>
              <a:gs pos="0">
                <a:srgbClr val="DDDDDD"/>
              </a:gs>
              <a:gs pos="100000">
                <a:schemeClr val="bg2"/>
              </a:gs>
            </a:gsLst>
            <a:lin ang="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391" name="Rectangle 111"/>
          <p:cNvSpPr/>
          <p:nvPr/>
        </p:nvSpPr>
        <p:spPr>
          <a:xfrm>
            <a:off x="1327150" y="1955800"/>
            <a:ext cx="1589088" cy="3467100"/>
          </a:xfrm>
          <a:prstGeom prst="rect">
            <a:avLst/>
          </a:prstGeom>
          <a:gradFill rotWithShape="1">
            <a:gsLst>
              <a:gs pos="0">
                <a:srgbClr val="DDDDDD"/>
              </a:gs>
              <a:gs pos="100000">
                <a:schemeClr val="bg2"/>
              </a:gs>
            </a:gsLst>
            <a:lin ang="0" scaled="1"/>
            <a:tileRect/>
          </a:gra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392" name="Line 112"/>
          <p:cNvSpPr/>
          <p:nvPr/>
        </p:nvSpPr>
        <p:spPr>
          <a:xfrm>
            <a:off x="1327150" y="5422900"/>
            <a:ext cx="6626225" cy="0"/>
          </a:xfrm>
          <a:prstGeom prst="line">
            <a:avLst/>
          </a:prstGeom>
          <a:ln w="9525" cap="flat" cmpd="sng">
            <a:solidFill>
              <a:schemeClr val="tx1"/>
            </a:solidFill>
            <a:prstDash val="solid"/>
            <a:round/>
            <a:headEnd type="none" w="med" len="med"/>
            <a:tailEnd type="triangle" w="med" len="med"/>
          </a:ln>
        </p:spPr>
      </p:sp>
      <p:sp>
        <p:nvSpPr>
          <p:cNvPr id="16393" name="Text Box 113"/>
          <p:cNvSpPr txBox="1"/>
          <p:nvPr/>
        </p:nvSpPr>
        <p:spPr>
          <a:xfrm>
            <a:off x="1704975" y="5413375"/>
            <a:ext cx="831850" cy="579438"/>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Indoor</a:t>
            </a:r>
            <a:endParaRPr lang="en-US" altLang="zh-CN"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10-30m</a:t>
            </a:r>
            <a:endParaRPr lang="en-US" altLang="zh-CN" sz="1400" dirty="0">
              <a:latin typeface="Arial" panose="020B0604020202020204" pitchFamily="34" charset="0"/>
              <a:ea typeface="宋体" panose="02010600030101010101" pitchFamily="2" charset="-122"/>
            </a:endParaRPr>
          </a:p>
        </p:txBody>
      </p:sp>
      <p:sp>
        <p:nvSpPr>
          <p:cNvPr id="16394" name="Text Box 114"/>
          <p:cNvSpPr txBox="1"/>
          <p:nvPr/>
        </p:nvSpPr>
        <p:spPr>
          <a:xfrm>
            <a:off x="3217863" y="5416550"/>
            <a:ext cx="1009650" cy="579438"/>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Outdoor</a:t>
            </a:r>
            <a:endParaRPr lang="en-US" altLang="zh-CN"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50-200m</a:t>
            </a:r>
            <a:endParaRPr lang="en-US" altLang="zh-CN" sz="1400" dirty="0">
              <a:latin typeface="Arial" panose="020B0604020202020204" pitchFamily="34" charset="0"/>
              <a:ea typeface="宋体" panose="02010600030101010101" pitchFamily="2" charset="-122"/>
            </a:endParaRPr>
          </a:p>
        </p:txBody>
      </p:sp>
      <p:sp>
        <p:nvSpPr>
          <p:cNvPr id="16395" name="Text Box 115"/>
          <p:cNvSpPr txBox="1"/>
          <p:nvPr/>
        </p:nvSpPr>
        <p:spPr>
          <a:xfrm>
            <a:off x="4695825" y="5421313"/>
            <a:ext cx="1238250" cy="854075"/>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Mid-range</a:t>
            </a:r>
            <a:endParaRPr lang="en-US" altLang="zh-CN" dirty="0">
              <a:latin typeface="Arial" panose="020B0604020202020204" pitchFamily="34" charset="0"/>
              <a:ea typeface="宋体" panose="02010600030101010101" pitchFamily="2" charset="-122"/>
            </a:endParaRPr>
          </a:p>
          <a:p>
            <a:pPr algn="ctr">
              <a:buClrTx/>
              <a:buFontTx/>
            </a:pPr>
            <a:r>
              <a:rPr lang="en-US" altLang="zh-CN" dirty="0">
                <a:latin typeface="Arial" panose="020B0604020202020204" pitchFamily="34" charset="0"/>
                <a:ea typeface="宋体" panose="02010600030101010101" pitchFamily="2" charset="-122"/>
              </a:rPr>
              <a:t>outdoor</a:t>
            </a:r>
            <a:endParaRPr lang="en-US" altLang="zh-CN"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200m – 4 Km</a:t>
            </a:r>
            <a:endParaRPr lang="en-US" altLang="zh-CN" sz="1400" dirty="0">
              <a:latin typeface="Arial" panose="020B0604020202020204" pitchFamily="34" charset="0"/>
              <a:ea typeface="宋体" panose="02010600030101010101" pitchFamily="2" charset="-122"/>
            </a:endParaRPr>
          </a:p>
        </p:txBody>
      </p:sp>
      <p:sp>
        <p:nvSpPr>
          <p:cNvPr id="16396" name="Text Box 116"/>
          <p:cNvSpPr txBox="1"/>
          <p:nvPr/>
        </p:nvSpPr>
        <p:spPr>
          <a:xfrm>
            <a:off x="6200775" y="5421313"/>
            <a:ext cx="1352550" cy="854075"/>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Long-range</a:t>
            </a:r>
            <a:endParaRPr lang="en-US" altLang="zh-CN" dirty="0">
              <a:latin typeface="Arial" panose="020B0604020202020204" pitchFamily="34" charset="0"/>
              <a:ea typeface="宋体" panose="02010600030101010101" pitchFamily="2" charset="-122"/>
            </a:endParaRPr>
          </a:p>
          <a:p>
            <a:pPr algn="ctr">
              <a:buClrTx/>
              <a:buFontTx/>
            </a:pPr>
            <a:r>
              <a:rPr lang="en-US" altLang="zh-CN" dirty="0">
                <a:latin typeface="Arial" panose="020B0604020202020204" pitchFamily="34" charset="0"/>
                <a:ea typeface="宋体" panose="02010600030101010101" pitchFamily="2" charset="-122"/>
              </a:rPr>
              <a:t>outdoor</a:t>
            </a:r>
            <a:endParaRPr lang="en-US" altLang="zh-CN"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5Km – 20 Km</a:t>
            </a:r>
            <a:endParaRPr lang="en-US" altLang="zh-CN" sz="1400" dirty="0">
              <a:latin typeface="Arial" panose="020B0604020202020204" pitchFamily="34" charset="0"/>
              <a:ea typeface="宋体" panose="02010600030101010101" pitchFamily="2" charset="-122"/>
            </a:endParaRPr>
          </a:p>
        </p:txBody>
      </p:sp>
      <p:sp>
        <p:nvSpPr>
          <p:cNvPr id="16397" name="Text Box 117"/>
          <p:cNvSpPr txBox="1"/>
          <p:nvPr/>
        </p:nvSpPr>
        <p:spPr>
          <a:xfrm>
            <a:off x="679450" y="4800600"/>
            <a:ext cx="628650" cy="366713"/>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.056</a:t>
            </a:r>
            <a:endParaRPr lang="en-US" altLang="zh-CN" sz="1400" dirty="0">
              <a:latin typeface="Arial" panose="020B0604020202020204" pitchFamily="34" charset="0"/>
              <a:ea typeface="宋体" panose="02010600030101010101" pitchFamily="2" charset="-122"/>
            </a:endParaRPr>
          </a:p>
        </p:txBody>
      </p:sp>
      <p:sp>
        <p:nvSpPr>
          <p:cNvPr id="16398" name="Text Box 118"/>
          <p:cNvSpPr txBox="1"/>
          <p:nvPr/>
        </p:nvSpPr>
        <p:spPr>
          <a:xfrm>
            <a:off x="682625" y="4368800"/>
            <a:ext cx="628650" cy="366713"/>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.384</a:t>
            </a:r>
            <a:endParaRPr lang="en-US" altLang="zh-CN" sz="1400" dirty="0">
              <a:latin typeface="Arial" panose="020B0604020202020204" pitchFamily="34" charset="0"/>
              <a:ea typeface="宋体" panose="02010600030101010101" pitchFamily="2" charset="-122"/>
            </a:endParaRPr>
          </a:p>
        </p:txBody>
      </p:sp>
      <p:sp>
        <p:nvSpPr>
          <p:cNvPr id="16399" name="Text Box 119"/>
          <p:cNvSpPr txBox="1"/>
          <p:nvPr/>
        </p:nvSpPr>
        <p:spPr>
          <a:xfrm>
            <a:off x="923925" y="3678238"/>
            <a:ext cx="311150" cy="366712"/>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1</a:t>
            </a:r>
            <a:endParaRPr lang="en-US" altLang="zh-CN" sz="1400" dirty="0">
              <a:latin typeface="Arial" panose="020B0604020202020204" pitchFamily="34" charset="0"/>
              <a:ea typeface="宋体" panose="02010600030101010101" pitchFamily="2" charset="-122"/>
            </a:endParaRPr>
          </a:p>
        </p:txBody>
      </p:sp>
      <p:sp>
        <p:nvSpPr>
          <p:cNvPr id="16400" name="Text Box 120"/>
          <p:cNvSpPr txBox="1"/>
          <p:nvPr/>
        </p:nvSpPr>
        <p:spPr>
          <a:xfrm>
            <a:off x="922338" y="3246438"/>
            <a:ext cx="311150" cy="366712"/>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4</a:t>
            </a:r>
            <a:endParaRPr lang="en-US" altLang="zh-CN" sz="1400" dirty="0">
              <a:latin typeface="Arial" panose="020B0604020202020204" pitchFamily="34" charset="0"/>
              <a:ea typeface="宋体" panose="02010600030101010101" pitchFamily="2" charset="-122"/>
            </a:endParaRPr>
          </a:p>
        </p:txBody>
      </p:sp>
      <p:sp>
        <p:nvSpPr>
          <p:cNvPr id="16401" name="Text Box 121"/>
          <p:cNvSpPr txBox="1"/>
          <p:nvPr/>
        </p:nvSpPr>
        <p:spPr>
          <a:xfrm>
            <a:off x="625475" y="2851150"/>
            <a:ext cx="641350" cy="366713"/>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5-11</a:t>
            </a:r>
            <a:endParaRPr lang="en-US" altLang="zh-CN" sz="1400" dirty="0">
              <a:latin typeface="Arial" panose="020B0604020202020204" pitchFamily="34" charset="0"/>
              <a:ea typeface="宋体" panose="02010600030101010101" pitchFamily="2" charset="-122"/>
            </a:endParaRPr>
          </a:p>
        </p:txBody>
      </p:sp>
      <p:sp>
        <p:nvSpPr>
          <p:cNvPr id="16402" name="Text Box 122"/>
          <p:cNvSpPr txBox="1"/>
          <p:nvPr/>
        </p:nvSpPr>
        <p:spPr>
          <a:xfrm>
            <a:off x="814388" y="2435225"/>
            <a:ext cx="438150" cy="366713"/>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54</a:t>
            </a:r>
            <a:endParaRPr lang="en-US" altLang="zh-CN" sz="1400" dirty="0">
              <a:latin typeface="Arial" panose="020B0604020202020204" pitchFamily="34" charset="0"/>
              <a:ea typeface="宋体" panose="02010600030101010101" pitchFamily="2" charset="-122"/>
            </a:endParaRPr>
          </a:p>
        </p:txBody>
      </p:sp>
      <p:sp>
        <p:nvSpPr>
          <p:cNvPr id="16403" name="Rectangle 123"/>
          <p:cNvSpPr/>
          <p:nvPr/>
        </p:nvSpPr>
        <p:spPr>
          <a:xfrm>
            <a:off x="2662238" y="4852988"/>
            <a:ext cx="4676775" cy="284162"/>
          </a:xfrm>
          <a:prstGeom prst="rect">
            <a:avLst/>
          </a:prstGeom>
          <a:solidFill>
            <a:srgbClr val="3333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04" name="Text Box 124"/>
          <p:cNvSpPr txBox="1"/>
          <p:nvPr/>
        </p:nvSpPr>
        <p:spPr>
          <a:xfrm>
            <a:off x="3948113" y="4845050"/>
            <a:ext cx="1743075"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IS-95, CDMA, GSM</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05" name="Text Box 125"/>
          <p:cNvSpPr txBox="1"/>
          <p:nvPr/>
        </p:nvSpPr>
        <p:spPr>
          <a:xfrm>
            <a:off x="7750175" y="4795838"/>
            <a:ext cx="455613" cy="336550"/>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2G</a:t>
            </a:r>
            <a:endParaRPr lang="en-US" altLang="zh-CN" sz="1600" dirty="0">
              <a:latin typeface="Arial" panose="020B0604020202020204" pitchFamily="34" charset="0"/>
              <a:ea typeface="宋体" panose="02010600030101010101" pitchFamily="2" charset="-122"/>
            </a:endParaRPr>
          </a:p>
        </p:txBody>
      </p:sp>
      <p:sp>
        <p:nvSpPr>
          <p:cNvPr id="16406" name="Rectangle 126"/>
          <p:cNvSpPr/>
          <p:nvPr/>
        </p:nvSpPr>
        <p:spPr>
          <a:xfrm>
            <a:off x="2651125" y="4435475"/>
            <a:ext cx="4676775" cy="284163"/>
          </a:xfrm>
          <a:prstGeom prst="rect">
            <a:avLst/>
          </a:prstGeom>
          <a:solidFill>
            <a:srgbClr val="3333CC"/>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07" name="Text Box 127"/>
          <p:cNvSpPr txBox="1"/>
          <p:nvPr/>
        </p:nvSpPr>
        <p:spPr>
          <a:xfrm>
            <a:off x="3681413" y="4413250"/>
            <a:ext cx="2463800"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UMTS/WCDMA, CDMA2000</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08" name="Text Box 128"/>
          <p:cNvSpPr txBox="1"/>
          <p:nvPr/>
        </p:nvSpPr>
        <p:spPr>
          <a:xfrm>
            <a:off x="7751763" y="4406900"/>
            <a:ext cx="455612" cy="336550"/>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3G</a:t>
            </a:r>
            <a:endParaRPr lang="en-US" altLang="zh-CN" sz="1600" dirty="0">
              <a:latin typeface="Arial" panose="020B0604020202020204" pitchFamily="34" charset="0"/>
              <a:ea typeface="宋体" panose="02010600030101010101" pitchFamily="2" charset="-122"/>
            </a:endParaRPr>
          </a:p>
        </p:txBody>
      </p:sp>
      <p:sp>
        <p:nvSpPr>
          <p:cNvPr id="16409" name="Rectangle 129"/>
          <p:cNvSpPr/>
          <p:nvPr/>
        </p:nvSpPr>
        <p:spPr>
          <a:xfrm>
            <a:off x="1339850" y="3703638"/>
            <a:ext cx="928688" cy="284162"/>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10" name="Text Box 130"/>
          <p:cNvSpPr txBox="1"/>
          <p:nvPr/>
        </p:nvSpPr>
        <p:spPr>
          <a:xfrm>
            <a:off x="1422400" y="3711575"/>
            <a:ext cx="725488"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802.15</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11" name="Rectangle 131"/>
          <p:cNvSpPr/>
          <p:nvPr/>
        </p:nvSpPr>
        <p:spPr>
          <a:xfrm>
            <a:off x="1354138" y="2865438"/>
            <a:ext cx="1724025" cy="315912"/>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12" name="Text Box 132"/>
          <p:cNvSpPr txBox="1"/>
          <p:nvPr/>
        </p:nvSpPr>
        <p:spPr>
          <a:xfrm>
            <a:off x="1724025" y="2890838"/>
            <a:ext cx="833438"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802.11b</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13" name="Rectangle 133"/>
          <p:cNvSpPr/>
          <p:nvPr/>
        </p:nvSpPr>
        <p:spPr>
          <a:xfrm>
            <a:off x="1357313" y="2432050"/>
            <a:ext cx="1724025" cy="315913"/>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14" name="Text Box 134"/>
          <p:cNvSpPr txBox="1"/>
          <p:nvPr/>
        </p:nvSpPr>
        <p:spPr>
          <a:xfrm>
            <a:off x="1727200" y="2457450"/>
            <a:ext cx="981075"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802.11a,g</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15" name="Line 135"/>
          <p:cNvSpPr/>
          <p:nvPr/>
        </p:nvSpPr>
        <p:spPr>
          <a:xfrm flipV="1">
            <a:off x="1328738" y="2395538"/>
            <a:ext cx="0" cy="3027362"/>
          </a:xfrm>
          <a:prstGeom prst="line">
            <a:avLst/>
          </a:prstGeom>
          <a:ln w="9525" cap="flat" cmpd="sng">
            <a:solidFill>
              <a:schemeClr val="tx1"/>
            </a:solidFill>
            <a:prstDash val="solid"/>
            <a:round/>
            <a:headEnd type="none" w="med" len="med"/>
            <a:tailEnd type="triangle" w="med" len="med"/>
          </a:ln>
        </p:spPr>
      </p:sp>
      <p:sp>
        <p:nvSpPr>
          <p:cNvPr id="16416" name="Rectangle 136"/>
          <p:cNvSpPr/>
          <p:nvPr/>
        </p:nvSpPr>
        <p:spPr>
          <a:xfrm>
            <a:off x="2717800" y="2744788"/>
            <a:ext cx="5078413" cy="596900"/>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17" name="Rectangle 137"/>
          <p:cNvSpPr/>
          <p:nvPr/>
        </p:nvSpPr>
        <p:spPr>
          <a:xfrm>
            <a:off x="2654300" y="3297238"/>
            <a:ext cx="4676775" cy="284162"/>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18" name="Text Box 138"/>
          <p:cNvSpPr txBox="1"/>
          <p:nvPr/>
        </p:nvSpPr>
        <p:spPr>
          <a:xfrm>
            <a:off x="2965450" y="3305175"/>
            <a:ext cx="3906838"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UMTS/WCDMA-HSPDA, CDMA2000-1xEVDO</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19" name="Text Box 139"/>
          <p:cNvSpPr txBox="1"/>
          <p:nvPr/>
        </p:nvSpPr>
        <p:spPr>
          <a:xfrm>
            <a:off x="7729538" y="3230563"/>
            <a:ext cx="1154112" cy="581025"/>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3G cellular</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enhanced</a:t>
            </a:r>
            <a:endParaRPr lang="en-US" altLang="zh-CN" sz="1600" dirty="0">
              <a:latin typeface="Arial" panose="020B0604020202020204" pitchFamily="34" charset="0"/>
              <a:ea typeface="宋体" panose="02010600030101010101" pitchFamily="2" charset="-122"/>
            </a:endParaRPr>
          </a:p>
        </p:txBody>
      </p:sp>
      <p:sp>
        <p:nvSpPr>
          <p:cNvPr id="16420" name="Text Box 140"/>
          <p:cNvSpPr txBox="1"/>
          <p:nvPr/>
        </p:nvSpPr>
        <p:spPr>
          <a:xfrm>
            <a:off x="5013325" y="2922588"/>
            <a:ext cx="1504950"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802.16 (WiMAX)</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21" name="Rectangle 141"/>
          <p:cNvSpPr/>
          <p:nvPr/>
        </p:nvSpPr>
        <p:spPr>
          <a:xfrm>
            <a:off x="3133725" y="2536825"/>
            <a:ext cx="4062413" cy="284163"/>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22" name="Text Box 142"/>
          <p:cNvSpPr txBox="1"/>
          <p:nvPr/>
        </p:nvSpPr>
        <p:spPr>
          <a:xfrm>
            <a:off x="4164013" y="2514600"/>
            <a:ext cx="2178050"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802.11a,g point-to-point</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23" name="Line 143"/>
          <p:cNvSpPr/>
          <p:nvPr/>
        </p:nvSpPr>
        <p:spPr>
          <a:xfrm flipH="1">
            <a:off x="7900988" y="2700338"/>
            <a:ext cx="254000" cy="0"/>
          </a:xfrm>
          <a:prstGeom prst="line">
            <a:avLst/>
          </a:prstGeom>
          <a:ln w="9525" cap="flat" cmpd="sng">
            <a:solidFill>
              <a:schemeClr val="bg1"/>
            </a:solidFill>
            <a:prstDash val="solid"/>
            <a:round/>
            <a:headEnd type="none" w="med" len="med"/>
            <a:tailEnd type="triangle" w="med" len="med"/>
          </a:ln>
        </p:spPr>
      </p:sp>
      <p:sp>
        <p:nvSpPr>
          <p:cNvPr id="16424" name="Text Box 144"/>
          <p:cNvSpPr txBox="1"/>
          <p:nvPr/>
        </p:nvSpPr>
        <p:spPr>
          <a:xfrm>
            <a:off x="714375" y="2022475"/>
            <a:ext cx="565150" cy="366713"/>
          </a:xfrm>
          <a:prstGeom prst="rect">
            <a:avLst/>
          </a:prstGeom>
          <a:noFill/>
          <a:ln w="9525">
            <a:noFill/>
          </a:ln>
        </p:spPr>
        <p:txBody>
          <a:bodyPr wrap="none" anchor="t" anchorCtr="0">
            <a:spAutoFit/>
          </a:bodyPr>
          <a:p>
            <a:pPr algn="ctr">
              <a:buClrTx/>
              <a:buFontTx/>
            </a:pPr>
            <a:r>
              <a:rPr lang="en-US" altLang="zh-CN" dirty="0">
                <a:latin typeface="Arial" panose="020B0604020202020204" pitchFamily="34" charset="0"/>
                <a:ea typeface="宋体" panose="02010600030101010101" pitchFamily="2" charset="-122"/>
              </a:rPr>
              <a:t>200</a:t>
            </a:r>
            <a:endParaRPr lang="en-US" altLang="zh-CN" sz="1400" dirty="0">
              <a:latin typeface="Arial" panose="020B0604020202020204" pitchFamily="34" charset="0"/>
              <a:ea typeface="宋体" panose="02010600030101010101" pitchFamily="2" charset="-122"/>
            </a:endParaRPr>
          </a:p>
        </p:txBody>
      </p:sp>
      <p:sp>
        <p:nvSpPr>
          <p:cNvPr id="16425" name="Rectangle 145"/>
          <p:cNvSpPr/>
          <p:nvPr/>
        </p:nvSpPr>
        <p:spPr>
          <a:xfrm>
            <a:off x="1344613" y="2036763"/>
            <a:ext cx="1522412" cy="315912"/>
          </a:xfrm>
          <a:prstGeom prst="rect">
            <a:avLst/>
          </a:prstGeom>
          <a:solidFill>
            <a:srgbClr val="3333CC"/>
          </a:solidFill>
          <a:ln w="9525" cap="flat" cmpd="sng">
            <a:solidFill>
              <a:schemeClr val="bg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26" name="Text Box 146"/>
          <p:cNvSpPr txBox="1"/>
          <p:nvPr/>
        </p:nvSpPr>
        <p:spPr>
          <a:xfrm>
            <a:off x="1714500" y="2036763"/>
            <a:ext cx="833438" cy="304800"/>
          </a:xfrm>
          <a:prstGeom prst="rect">
            <a:avLst/>
          </a:prstGeom>
          <a:noFill/>
          <a:ln w="9525">
            <a:noFill/>
          </a:ln>
        </p:spPr>
        <p:txBody>
          <a:bodyPr wrap="none" anchor="t" anchorCtr="0">
            <a:spAutoFit/>
          </a:bodyPr>
          <a:p>
            <a:pPr>
              <a:buClrTx/>
              <a:buFontTx/>
            </a:pPr>
            <a:r>
              <a:rPr lang="en-US" altLang="zh-CN" sz="1400" b="1" dirty="0">
                <a:solidFill>
                  <a:schemeClr val="bg1"/>
                </a:solidFill>
                <a:latin typeface="Arial" panose="020B0604020202020204" pitchFamily="34" charset="0"/>
                <a:ea typeface="宋体" panose="02010600030101010101" pitchFamily="2" charset="-122"/>
              </a:rPr>
              <a:t>802.11n</a:t>
            </a:r>
            <a:endParaRPr lang="en-US" altLang="zh-CN" sz="1400" b="1" dirty="0">
              <a:solidFill>
                <a:schemeClr val="bg1"/>
              </a:solidFill>
              <a:latin typeface="Arial" panose="020B0604020202020204" pitchFamily="34" charset="0"/>
              <a:ea typeface="宋体" panose="02010600030101010101" pitchFamily="2" charset="-122"/>
            </a:endParaRPr>
          </a:p>
        </p:txBody>
      </p:sp>
      <p:sp>
        <p:nvSpPr>
          <p:cNvPr id="16427" name="Text Box 147"/>
          <p:cNvSpPr txBox="1"/>
          <p:nvPr/>
        </p:nvSpPr>
        <p:spPr>
          <a:xfrm rot="-5400000">
            <a:off x="-446087" y="3414713"/>
            <a:ext cx="1898650" cy="368300"/>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Data rate (Mbps)</a:t>
            </a:r>
            <a:endParaRPr lang="en-US" altLang="zh-CN" dirty="0">
              <a:latin typeface="Arial" panose="020B0604020202020204" pitchFamily="34" charset="0"/>
              <a:ea typeface="宋体" panose="02010600030101010101" pitchFamily="2" charset="-122"/>
            </a:endParaRPr>
          </a:p>
        </p:txBody>
      </p:sp>
      <p:sp>
        <p:nvSpPr>
          <p:cNvPr id="16428" name="AutoShape 148"/>
          <p:cNvSpPr/>
          <p:nvPr/>
        </p:nvSpPr>
        <p:spPr>
          <a:xfrm>
            <a:off x="7799388" y="2124075"/>
            <a:ext cx="152400" cy="1238250"/>
          </a:xfrm>
          <a:prstGeom prst="rightBrace">
            <a:avLst>
              <a:gd name="adj1" fmla="val 67633"/>
              <a:gd name="adj2" fmla="val 50000"/>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6429" name="Text Box 149"/>
          <p:cNvSpPr txBox="1"/>
          <p:nvPr/>
        </p:nvSpPr>
        <p:spPr>
          <a:xfrm>
            <a:off x="7937500" y="2541588"/>
            <a:ext cx="579438" cy="336550"/>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data</a:t>
            </a:r>
            <a:endParaRPr lang="en-US" altLang="zh-CN" sz="1600" dirty="0">
              <a:latin typeface="Arial" panose="020B0604020202020204" pitchFamily="34" charset="0"/>
              <a:ea typeface="宋体" panose="02010600030101010101" pitchFamily="2" charset="-122"/>
            </a:endParaRPr>
          </a:p>
        </p:txBody>
      </p:sp>
      <p:sp>
        <p:nvSpPr>
          <p:cNvPr id="16430" name="AutoShape 151"/>
          <p:cNvSpPr>
            <a:spLocks noChangeAspect="1" noTextEdit="1"/>
          </p:cNvSpPr>
          <p:nvPr/>
        </p:nvSpPr>
        <p:spPr>
          <a:xfrm>
            <a:off x="5991225" y="1011238"/>
            <a:ext cx="735013" cy="220662"/>
          </a:xfrm>
          <a:prstGeom prst="rect">
            <a:avLst/>
          </a:prstGeom>
          <a:solidFill>
            <a:schemeClr val="bg1"/>
          </a:solidFill>
          <a:ln w="9525">
            <a:noFill/>
          </a:ln>
        </p:spPr>
        <p:txBody>
          <a:bodyPr anchor="t" anchorCtr="0"/>
          <a:p>
            <a:pPr eaLnBrk="0" hangingPunct="0"/>
            <a:endParaRPr lang="zh-CN" altLang="en-US">
              <a:latin typeface="Comic Sans MS" panose="030F0702030302020204" pitchFamily="66" charset="0"/>
            </a:endParaRPr>
          </a:p>
        </p:txBody>
      </p:sp>
      <p:grpSp>
        <p:nvGrpSpPr>
          <p:cNvPr id="16431" name="Group 152"/>
          <p:cNvGrpSpPr/>
          <p:nvPr/>
        </p:nvGrpSpPr>
        <p:grpSpPr>
          <a:xfrm>
            <a:off x="6005513" y="928688"/>
            <a:ext cx="722312" cy="303212"/>
            <a:chOff x="4750" y="264"/>
            <a:chExt cx="455" cy="191"/>
          </a:xfrm>
        </p:grpSpPr>
        <p:sp>
          <p:nvSpPr>
            <p:cNvPr id="16432" name="Freeform 153"/>
            <p:cNvSpPr/>
            <p:nvPr/>
          </p:nvSpPr>
          <p:spPr>
            <a:xfrm>
              <a:off x="4872" y="298"/>
              <a:ext cx="82" cy="104"/>
            </a:xfrm>
            <a:custGeom>
              <a:avLst/>
              <a:gdLst/>
              <a:ahLst/>
              <a:cxnLst>
                <a:cxn ang="0">
                  <a:pos x="10" y="6"/>
                </a:cxn>
                <a:cxn ang="0">
                  <a:pos x="8" y="8"/>
                </a:cxn>
                <a:cxn ang="0">
                  <a:pos x="6" y="11"/>
                </a:cxn>
                <a:cxn ang="0">
                  <a:pos x="4" y="14"/>
                </a:cxn>
                <a:cxn ang="0">
                  <a:pos x="3" y="17"/>
                </a:cxn>
                <a:cxn ang="0">
                  <a:pos x="2" y="20"/>
                </a:cxn>
                <a:cxn ang="0">
                  <a:pos x="1" y="24"/>
                </a:cxn>
                <a:cxn ang="0">
                  <a:pos x="0" y="28"/>
                </a:cxn>
                <a:cxn ang="0">
                  <a:pos x="0" y="32"/>
                </a:cxn>
                <a:cxn ang="0">
                  <a:pos x="0" y="37"/>
                </a:cxn>
                <a:cxn ang="0">
                  <a:pos x="2" y="41"/>
                </a:cxn>
                <a:cxn ang="0">
                  <a:pos x="4" y="45"/>
                </a:cxn>
                <a:cxn ang="0">
                  <a:pos x="6" y="48"/>
                </a:cxn>
                <a:cxn ang="0">
                  <a:pos x="9" y="50"/>
                </a:cxn>
                <a:cxn ang="0">
                  <a:pos x="12" y="52"/>
                </a:cxn>
                <a:cxn ang="0">
                  <a:pos x="15" y="52"/>
                </a:cxn>
                <a:cxn ang="0">
                  <a:pos x="18" y="51"/>
                </a:cxn>
                <a:cxn ang="0">
                  <a:pos x="19" y="51"/>
                </a:cxn>
                <a:cxn ang="0">
                  <a:pos x="20" y="50"/>
                </a:cxn>
                <a:cxn ang="0">
                  <a:pos x="20" y="50"/>
                </a:cxn>
                <a:cxn ang="0">
                  <a:pos x="20" y="49"/>
                </a:cxn>
                <a:cxn ang="0">
                  <a:pos x="20" y="47"/>
                </a:cxn>
                <a:cxn ang="0">
                  <a:pos x="19" y="46"/>
                </a:cxn>
                <a:cxn ang="0">
                  <a:pos x="18" y="45"/>
                </a:cxn>
                <a:cxn ang="0">
                  <a:pos x="18" y="45"/>
                </a:cxn>
                <a:cxn ang="0">
                  <a:pos x="16" y="44"/>
                </a:cxn>
                <a:cxn ang="0">
                  <a:pos x="14" y="44"/>
                </a:cxn>
                <a:cxn ang="0">
                  <a:pos x="13" y="43"/>
                </a:cxn>
                <a:cxn ang="0">
                  <a:pos x="11" y="42"/>
                </a:cxn>
                <a:cxn ang="0">
                  <a:pos x="10" y="42"/>
                </a:cxn>
                <a:cxn ang="0">
                  <a:pos x="9" y="41"/>
                </a:cxn>
                <a:cxn ang="0">
                  <a:pos x="7" y="39"/>
                </a:cxn>
                <a:cxn ang="0">
                  <a:pos x="6" y="37"/>
                </a:cxn>
                <a:cxn ang="0">
                  <a:pos x="5" y="29"/>
                </a:cxn>
                <a:cxn ang="0">
                  <a:pos x="7" y="21"/>
                </a:cxn>
                <a:cxn ang="0">
                  <a:pos x="9" y="16"/>
                </a:cxn>
                <a:cxn ang="0">
                  <a:pos x="13" y="11"/>
                </a:cxn>
                <a:cxn ang="0">
                  <a:pos x="17" y="7"/>
                </a:cxn>
                <a:cxn ang="0">
                  <a:pos x="21" y="5"/>
                </a:cxn>
                <a:cxn ang="0">
                  <a:pos x="24" y="3"/>
                </a:cxn>
                <a:cxn ang="0">
                  <a:pos x="27" y="1"/>
                </a:cxn>
                <a:cxn ang="0">
                  <a:pos x="26" y="0"/>
                </a:cxn>
                <a:cxn ang="0">
                  <a:pos x="24" y="0"/>
                </a:cxn>
                <a:cxn ang="0">
                  <a:pos x="21" y="0"/>
                </a:cxn>
                <a:cxn ang="0">
                  <a:pos x="19" y="1"/>
                </a:cxn>
                <a:cxn ang="0">
                  <a:pos x="16" y="2"/>
                </a:cxn>
                <a:cxn ang="0">
                  <a:pos x="14" y="3"/>
                </a:cxn>
                <a:cxn ang="0">
                  <a:pos x="12" y="5"/>
                </a:cxn>
                <a:cxn ang="0">
                  <a:pos x="10" y="6"/>
                </a:cxn>
              </a:cxnLst>
              <a:pathLst>
                <a:path w="247" h="209">
                  <a:moveTo>
                    <a:pt x="87" y="27"/>
                  </a:moveTo>
                  <a:lnTo>
                    <a:pt x="68" y="35"/>
                  </a:lnTo>
                  <a:lnTo>
                    <a:pt x="52" y="46"/>
                  </a:lnTo>
                  <a:lnTo>
                    <a:pt x="37" y="57"/>
                  </a:lnTo>
                  <a:lnTo>
                    <a:pt x="24" y="69"/>
                  </a:lnTo>
                  <a:lnTo>
                    <a:pt x="14" y="83"/>
                  </a:lnTo>
                  <a:lnTo>
                    <a:pt x="7" y="97"/>
                  </a:lnTo>
                  <a:lnTo>
                    <a:pt x="2" y="113"/>
                  </a:lnTo>
                  <a:lnTo>
                    <a:pt x="0" y="128"/>
                  </a:lnTo>
                  <a:lnTo>
                    <a:pt x="2" y="150"/>
                  </a:lnTo>
                  <a:lnTo>
                    <a:pt x="14" y="167"/>
                  </a:lnTo>
                  <a:lnTo>
                    <a:pt x="32" y="183"/>
                  </a:lnTo>
                  <a:lnTo>
                    <a:pt x="55" y="194"/>
                  </a:lnTo>
                  <a:lnTo>
                    <a:pt x="81" y="203"/>
                  </a:lnTo>
                  <a:lnTo>
                    <a:pt x="109" y="208"/>
                  </a:lnTo>
                  <a:lnTo>
                    <a:pt x="138" y="209"/>
                  </a:lnTo>
                  <a:lnTo>
                    <a:pt x="165" y="206"/>
                  </a:lnTo>
                  <a:lnTo>
                    <a:pt x="171" y="206"/>
                  </a:lnTo>
                  <a:lnTo>
                    <a:pt x="177" y="203"/>
                  </a:lnTo>
                  <a:lnTo>
                    <a:pt x="181" y="200"/>
                  </a:lnTo>
                  <a:lnTo>
                    <a:pt x="183" y="196"/>
                  </a:lnTo>
                  <a:lnTo>
                    <a:pt x="180" y="191"/>
                  </a:lnTo>
                  <a:lnTo>
                    <a:pt x="174" y="187"/>
                  </a:lnTo>
                  <a:lnTo>
                    <a:pt x="167" y="183"/>
                  </a:lnTo>
                  <a:lnTo>
                    <a:pt x="159" y="181"/>
                  </a:lnTo>
                  <a:lnTo>
                    <a:pt x="145" y="178"/>
                  </a:lnTo>
                  <a:lnTo>
                    <a:pt x="130" y="176"/>
                  </a:lnTo>
                  <a:lnTo>
                    <a:pt x="116" y="174"/>
                  </a:lnTo>
                  <a:lnTo>
                    <a:pt x="103" y="171"/>
                  </a:lnTo>
                  <a:lnTo>
                    <a:pt x="90" y="168"/>
                  </a:lnTo>
                  <a:lnTo>
                    <a:pt x="77" y="164"/>
                  </a:lnTo>
                  <a:lnTo>
                    <a:pt x="65" y="159"/>
                  </a:lnTo>
                  <a:lnTo>
                    <a:pt x="53" y="151"/>
                  </a:lnTo>
                  <a:lnTo>
                    <a:pt x="49" y="116"/>
                  </a:lnTo>
                  <a:lnTo>
                    <a:pt x="61" y="87"/>
                  </a:lnTo>
                  <a:lnTo>
                    <a:pt x="84" y="64"/>
                  </a:lnTo>
                  <a:lnTo>
                    <a:pt x="116" y="46"/>
                  </a:lnTo>
                  <a:lnTo>
                    <a:pt x="151" y="31"/>
                  </a:lnTo>
                  <a:lnTo>
                    <a:pt x="187" y="20"/>
                  </a:lnTo>
                  <a:lnTo>
                    <a:pt x="220" y="12"/>
                  </a:lnTo>
                  <a:lnTo>
                    <a:pt x="247" y="5"/>
                  </a:lnTo>
                  <a:lnTo>
                    <a:pt x="231" y="1"/>
                  </a:lnTo>
                  <a:lnTo>
                    <a:pt x="213" y="0"/>
                  </a:lnTo>
                  <a:lnTo>
                    <a:pt x="193" y="2"/>
                  </a:lnTo>
                  <a:lnTo>
                    <a:pt x="171" y="5"/>
                  </a:lnTo>
                  <a:lnTo>
                    <a:pt x="149" y="10"/>
                  </a:lnTo>
                  <a:lnTo>
                    <a:pt x="127" y="15"/>
                  </a:lnTo>
                  <a:lnTo>
                    <a:pt x="106" y="21"/>
                  </a:lnTo>
                  <a:lnTo>
                    <a:pt x="87" y="27"/>
                  </a:lnTo>
                  <a:close/>
                </a:path>
              </a:pathLst>
            </a:custGeom>
            <a:solidFill>
              <a:srgbClr val="C9E8FF"/>
            </a:solidFill>
            <a:ln w="9525">
              <a:noFill/>
            </a:ln>
          </p:spPr>
          <p:txBody>
            <a:bodyPr/>
            <a:p>
              <a:endParaRPr lang="zh-CN" altLang="en-US"/>
            </a:p>
          </p:txBody>
        </p:sp>
        <p:sp>
          <p:nvSpPr>
            <p:cNvPr id="16433" name="Freeform 154"/>
            <p:cNvSpPr/>
            <p:nvPr/>
          </p:nvSpPr>
          <p:spPr>
            <a:xfrm>
              <a:off x="5012" y="297"/>
              <a:ext cx="53" cy="81"/>
            </a:xfrm>
            <a:custGeom>
              <a:avLst/>
              <a:gdLst/>
              <a:ahLst/>
              <a:cxnLst>
                <a:cxn ang="0">
                  <a:pos x="15" y="14"/>
                </a:cxn>
                <a:cxn ang="0">
                  <a:pos x="16" y="18"/>
                </a:cxn>
                <a:cxn ang="0">
                  <a:pos x="15" y="22"/>
                </a:cxn>
                <a:cxn ang="0">
                  <a:pos x="14" y="25"/>
                </a:cxn>
                <a:cxn ang="0">
                  <a:pos x="13" y="28"/>
                </a:cxn>
                <a:cxn ang="0">
                  <a:pos x="11" y="30"/>
                </a:cxn>
                <a:cxn ang="0">
                  <a:pos x="8" y="33"/>
                </a:cxn>
                <a:cxn ang="0">
                  <a:pos x="6" y="35"/>
                </a:cxn>
                <a:cxn ang="0">
                  <a:pos x="4" y="37"/>
                </a:cxn>
                <a:cxn ang="0">
                  <a:pos x="4" y="38"/>
                </a:cxn>
                <a:cxn ang="0">
                  <a:pos x="4" y="39"/>
                </a:cxn>
                <a:cxn ang="0">
                  <a:pos x="4" y="39"/>
                </a:cxn>
                <a:cxn ang="0">
                  <a:pos x="4" y="40"/>
                </a:cxn>
                <a:cxn ang="0">
                  <a:pos x="4" y="41"/>
                </a:cxn>
                <a:cxn ang="0">
                  <a:pos x="5" y="41"/>
                </a:cxn>
                <a:cxn ang="0">
                  <a:pos x="5" y="41"/>
                </a:cxn>
                <a:cxn ang="0">
                  <a:pos x="6" y="41"/>
                </a:cxn>
                <a:cxn ang="0">
                  <a:pos x="8" y="38"/>
                </a:cxn>
                <a:cxn ang="0">
                  <a:pos x="11" y="36"/>
                </a:cxn>
                <a:cxn ang="0">
                  <a:pos x="13" y="33"/>
                </a:cxn>
                <a:cxn ang="0">
                  <a:pos x="15" y="30"/>
                </a:cxn>
                <a:cxn ang="0">
                  <a:pos x="17" y="26"/>
                </a:cxn>
                <a:cxn ang="0">
                  <a:pos x="18" y="22"/>
                </a:cxn>
                <a:cxn ang="0">
                  <a:pos x="18" y="17"/>
                </a:cxn>
                <a:cxn ang="0">
                  <a:pos x="17" y="13"/>
                </a:cxn>
                <a:cxn ang="0">
                  <a:pos x="16" y="9"/>
                </a:cxn>
                <a:cxn ang="0">
                  <a:pos x="14"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1" y="7"/>
                </a:cxn>
                <a:cxn ang="0">
                  <a:pos x="12" y="9"/>
                </a:cxn>
                <a:cxn ang="0">
                  <a:pos x="14" y="11"/>
                </a:cxn>
                <a:cxn ang="0">
                  <a:pos x="15" y="14"/>
                </a:cxn>
              </a:cxnLst>
              <a:pathLst>
                <a:path w="158" h="162">
                  <a:moveTo>
                    <a:pt x="134" y="53"/>
                  </a:moveTo>
                  <a:lnTo>
                    <a:pt x="140" y="69"/>
                  </a:lnTo>
                  <a:lnTo>
                    <a:pt x="138" y="85"/>
                  </a:lnTo>
                  <a:lnTo>
                    <a:pt x="128" y="97"/>
                  </a:lnTo>
                  <a:lnTo>
                    <a:pt x="113" y="109"/>
                  </a:lnTo>
                  <a:lnTo>
                    <a:pt x="96" y="119"/>
                  </a:lnTo>
                  <a:lnTo>
                    <a:pt x="76" y="129"/>
                  </a:lnTo>
                  <a:lnTo>
                    <a:pt x="55" y="138"/>
                  </a:lnTo>
                  <a:lnTo>
                    <a:pt x="38" y="148"/>
                  </a:lnTo>
                  <a:lnTo>
                    <a:pt x="35" y="151"/>
                  </a:lnTo>
                  <a:lnTo>
                    <a:pt x="33" y="153"/>
                  </a:lnTo>
                  <a:lnTo>
                    <a:pt x="33" y="156"/>
                  </a:lnTo>
                  <a:lnTo>
                    <a:pt x="35" y="159"/>
                  </a:lnTo>
                  <a:lnTo>
                    <a:pt x="39" y="161"/>
                  </a:lnTo>
                  <a:lnTo>
                    <a:pt x="44" y="162"/>
                  </a:lnTo>
                  <a:lnTo>
                    <a:pt x="46" y="162"/>
                  </a:lnTo>
                  <a:lnTo>
                    <a:pt x="51" y="161"/>
                  </a:lnTo>
                  <a:lnTo>
                    <a:pt x="74" y="152"/>
                  </a:lnTo>
                  <a:lnTo>
                    <a:pt x="96" y="142"/>
                  </a:lnTo>
                  <a:lnTo>
                    <a:pt x="116" y="130"/>
                  </a:lnTo>
                  <a:lnTo>
                    <a:pt x="135" y="117"/>
                  </a:lnTo>
                  <a:lnTo>
                    <a:pt x="148" y="102"/>
                  </a:lnTo>
                  <a:lnTo>
                    <a:pt x="157" y="86"/>
                  </a:lnTo>
                  <a:lnTo>
                    <a:pt x="158" y="68"/>
                  </a:lnTo>
                  <a:lnTo>
                    <a:pt x="153" y="50"/>
                  </a:lnTo>
                  <a:lnTo>
                    <a:pt x="140" y="35"/>
                  </a:lnTo>
                  <a:lnTo>
                    <a:pt x="121" y="23"/>
                  </a:lnTo>
                  <a:lnTo>
                    <a:pt x="97" y="14"/>
                  </a:lnTo>
                  <a:lnTo>
                    <a:pt x="71" y="6"/>
                  </a:lnTo>
                  <a:lnTo>
                    <a:pt x="45" y="2"/>
                  </a:lnTo>
                  <a:lnTo>
                    <a:pt x="23" y="0"/>
                  </a:lnTo>
                  <a:lnTo>
                    <a:pt x="7" y="0"/>
                  </a:lnTo>
                  <a:lnTo>
                    <a:pt x="0" y="3"/>
                  </a:lnTo>
                  <a:lnTo>
                    <a:pt x="17" y="9"/>
                  </a:lnTo>
                  <a:lnTo>
                    <a:pt x="36" y="13"/>
                  </a:lnTo>
                  <a:lnTo>
                    <a:pt x="57" y="17"/>
                  </a:lnTo>
                  <a:lnTo>
                    <a:pt x="76" y="21"/>
                  </a:lnTo>
                  <a:lnTo>
                    <a:pt x="94" y="26"/>
                  </a:lnTo>
                  <a:lnTo>
                    <a:pt x="110" y="33"/>
                  </a:lnTo>
                  <a:lnTo>
                    <a:pt x="124" y="42"/>
                  </a:lnTo>
                  <a:lnTo>
                    <a:pt x="134" y="53"/>
                  </a:lnTo>
                  <a:close/>
                </a:path>
              </a:pathLst>
            </a:custGeom>
            <a:solidFill>
              <a:srgbClr val="C9E8FF"/>
            </a:solidFill>
            <a:ln w="9525">
              <a:noFill/>
            </a:ln>
          </p:spPr>
          <p:txBody>
            <a:bodyPr/>
            <a:p>
              <a:endParaRPr lang="zh-CN" altLang="en-US"/>
            </a:p>
          </p:txBody>
        </p:sp>
        <p:sp>
          <p:nvSpPr>
            <p:cNvPr id="16434" name="Freeform 155"/>
            <p:cNvSpPr/>
            <p:nvPr/>
          </p:nvSpPr>
          <p:spPr>
            <a:xfrm>
              <a:off x="4820" y="278"/>
              <a:ext cx="133" cy="169"/>
            </a:xfrm>
            <a:custGeom>
              <a:avLst/>
              <a:gdLst/>
              <a:ahLst/>
              <a:cxnLst>
                <a:cxn ang="0">
                  <a:pos x="14" y="15"/>
                </a:cxn>
                <a:cxn ang="0">
                  <a:pos x="7" y="25"/>
                </a:cxn>
                <a:cxn ang="0">
                  <a:pos x="2" y="37"/>
                </a:cxn>
                <a:cxn ang="0">
                  <a:pos x="0" y="50"/>
                </a:cxn>
                <a:cxn ang="0">
                  <a:pos x="0" y="59"/>
                </a:cxn>
                <a:cxn ang="0">
                  <a:pos x="1" y="63"/>
                </a:cxn>
                <a:cxn ang="0">
                  <a:pos x="3" y="66"/>
                </a:cxn>
                <a:cxn ang="0">
                  <a:pos x="5" y="69"/>
                </a:cxn>
                <a:cxn ang="0">
                  <a:pos x="8" y="72"/>
                </a:cxn>
                <a:cxn ang="0">
                  <a:pos x="12" y="76"/>
                </a:cxn>
                <a:cxn ang="0">
                  <a:pos x="16" y="78"/>
                </a:cxn>
                <a:cxn ang="0">
                  <a:pos x="21" y="80"/>
                </a:cxn>
                <a:cxn ang="0">
                  <a:pos x="26" y="82"/>
                </a:cxn>
                <a:cxn ang="0">
                  <a:pos x="30" y="83"/>
                </a:cxn>
                <a:cxn ang="0">
                  <a:pos x="35" y="84"/>
                </a:cxn>
                <a:cxn ang="0">
                  <a:pos x="40" y="84"/>
                </a:cxn>
                <a:cxn ang="0">
                  <a:pos x="43" y="84"/>
                </a:cxn>
                <a:cxn ang="0">
                  <a:pos x="44" y="83"/>
                </a:cxn>
                <a:cxn ang="0">
                  <a:pos x="44" y="81"/>
                </a:cxn>
                <a:cxn ang="0">
                  <a:pos x="43" y="79"/>
                </a:cxn>
                <a:cxn ang="0">
                  <a:pos x="40" y="77"/>
                </a:cxn>
                <a:cxn ang="0">
                  <a:pos x="36" y="76"/>
                </a:cxn>
                <a:cxn ang="0">
                  <a:pos x="32" y="75"/>
                </a:cxn>
                <a:cxn ang="0">
                  <a:pos x="28" y="74"/>
                </a:cxn>
                <a:cxn ang="0">
                  <a:pos x="23" y="73"/>
                </a:cxn>
                <a:cxn ang="0">
                  <a:pos x="19" y="71"/>
                </a:cxn>
                <a:cxn ang="0">
                  <a:pos x="15" y="69"/>
                </a:cxn>
                <a:cxn ang="0">
                  <a:pos x="11" y="66"/>
                </a:cxn>
                <a:cxn ang="0">
                  <a:pos x="8" y="63"/>
                </a:cxn>
                <a:cxn ang="0">
                  <a:pos x="5" y="58"/>
                </a:cxn>
                <a:cxn ang="0">
                  <a:pos x="5" y="52"/>
                </a:cxn>
                <a:cxn ang="0">
                  <a:pos x="5" y="45"/>
                </a:cxn>
                <a:cxn ang="0">
                  <a:pos x="7" y="38"/>
                </a:cxn>
                <a:cxn ang="0">
                  <a:pos x="10" y="31"/>
                </a:cxn>
                <a:cxn ang="0">
                  <a:pos x="13" y="24"/>
                </a:cxn>
                <a:cxn ang="0">
                  <a:pos x="17" y="18"/>
                </a:cxn>
                <a:cxn ang="0">
                  <a:pos x="21" y="13"/>
                </a:cxn>
                <a:cxn ang="0">
                  <a:pos x="27" y="8"/>
                </a:cxn>
                <a:cxn ang="0">
                  <a:pos x="33" y="4"/>
                </a:cxn>
                <a:cxn ang="0">
                  <a:pos x="36" y="1"/>
                </a:cxn>
                <a:cxn ang="0">
                  <a:pos x="35" y="0"/>
                </a:cxn>
                <a:cxn ang="0">
                  <a:pos x="30" y="1"/>
                </a:cxn>
                <a:cxn ang="0">
                  <a:pos x="25" y="4"/>
                </a:cxn>
                <a:cxn ang="0">
                  <a:pos x="20" y="8"/>
                </a:cxn>
              </a:cxnLst>
              <a:pathLst>
                <a:path w="400" h="339">
                  <a:moveTo>
                    <a:pt x="156" y="44"/>
                  </a:moveTo>
                  <a:lnTo>
                    <a:pt x="125" y="63"/>
                  </a:lnTo>
                  <a:lnTo>
                    <a:pt x="95" y="82"/>
                  </a:lnTo>
                  <a:lnTo>
                    <a:pt x="67" y="103"/>
                  </a:lnTo>
                  <a:lnTo>
                    <a:pt x="42" y="126"/>
                  </a:lnTo>
                  <a:lnTo>
                    <a:pt x="22" y="150"/>
                  </a:lnTo>
                  <a:lnTo>
                    <a:pt x="7" y="175"/>
                  </a:lnTo>
                  <a:lnTo>
                    <a:pt x="0" y="203"/>
                  </a:lnTo>
                  <a:lnTo>
                    <a:pt x="2" y="232"/>
                  </a:lnTo>
                  <a:lnTo>
                    <a:pt x="4" y="239"/>
                  </a:lnTo>
                  <a:lnTo>
                    <a:pt x="7" y="248"/>
                  </a:lnTo>
                  <a:lnTo>
                    <a:pt x="12" y="254"/>
                  </a:lnTo>
                  <a:lnTo>
                    <a:pt x="18" y="261"/>
                  </a:lnTo>
                  <a:lnTo>
                    <a:pt x="25" y="267"/>
                  </a:lnTo>
                  <a:lnTo>
                    <a:pt x="33" y="273"/>
                  </a:lnTo>
                  <a:lnTo>
                    <a:pt x="41" y="278"/>
                  </a:lnTo>
                  <a:lnTo>
                    <a:pt x="51" y="283"/>
                  </a:lnTo>
                  <a:lnTo>
                    <a:pt x="70" y="291"/>
                  </a:lnTo>
                  <a:lnTo>
                    <a:pt x="89" y="298"/>
                  </a:lnTo>
                  <a:lnTo>
                    <a:pt x="108" y="304"/>
                  </a:lnTo>
                  <a:lnTo>
                    <a:pt x="128" y="309"/>
                  </a:lnTo>
                  <a:lnTo>
                    <a:pt x="148" y="315"/>
                  </a:lnTo>
                  <a:lnTo>
                    <a:pt x="169" y="319"/>
                  </a:lnTo>
                  <a:lnTo>
                    <a:pt x="189" y="323"/>
                  </a:lnTo>
                  <a:lnTo>
                    <a:pt x="209" y="326"/>
                  </a:lnTo>
                  <a:lnTo>
                    <a:pt x="231" y="329"/>
                  </a:lnTo>
                  <a:lnTo>
                    <a:pt x="251" y="331"/>
                  </a:lnTo>
                  <a:lnTo>
                    <a:pt x="273" y="333"/>
                  </a:lnTo>
                  <a:lnTo>
                    <a:pt x="295" y="335"/>
                  </a:lnTo>
                  <a:lnTo>
                    <a:pt x="315" y="336"/>
                  </a:lnTo>
                  <a:lnTo>
                    <a:pt x="337" y="337"/>
                  </a:lnTo>
                  <a:lnTo>
                    <a:pt x="359" y="338"/>
                  </a:lnTo>
                  <a:lnTo>
                    <a:pt x="379" y="339"/>
                  </a:lnTo>
                  <a:lnTo>
                    <a:pt x="387" y="339"/>
                  </a:lnTo>
                  <a:lnTo>
                    <a:pt x="392" y="337"/>
                  </a:lnTo>
                  <a:lnTo>
                    <a:pt x="397" y="333"/>
                  </a:lnTo>
                  <a:lnTo>
                    <a:pt x="400" y="329"/>
                  </a:lnTo>
                  <a:lnTo>
                    <a:pt x="400" y="324"/>
                  </a:lnTo>
                  <a:lnTo>
                    <a:pt x="397" y="320"/>
                  </a:lnTo>
                  <a:lnTo>
                    <a:pt x="391" y="317"/>
                  </a:lnTo>
                  <a:lnTo>
                    <a:pt x="384" y="315"/>
                  </a:lnTo>
                  <a:lnTo>
                    <a:pt x="365" y="311"/>
                  </a:lnTo>
                  <a:lnTo>
                    <a:pt x="346" y="309"/>
                  </a:lnTo>
                  <a:lnTo>
                    <a:pt x="327" y="306"/>
                  </a:lnTo>
                  <a:lnTo>
                    <a:pt x="307" y="304"/>
                  </a:lnTo>
                  <a:lnTo>
                    <a:pt x="288" y="302"/>
                  </a:lnTo>
                  <a:lnTo>
                    <a:pt x="269" y="300"/>
                  </a:lnTo>
                  <a:lnTo>
                    <a:pt x="249" y="298"/>
                  </a:lnTo>
                  <a:lnTo>
                    <a:pt x="230" y="295"/>
                  </a:lnTo>
                  <a:lnTo>
                    <a:pt x="211" y="293"/>
                  </a:lnTo>
                  <a:lnTo>
                    <a:pt x="192" y="290"/>
                  </a:lnTo>
                  <a:lnTo>
                    <a:pt x="173" y="286"/>
                  </a:lnTo>
                  <a:lnTo>
                    <a:pt x="154" y="283"/>
                  </a:lnTo>
                  <a:lnTo>
                    <a:pt x="137" y="277"/>
                  </a:lnTo>
                  <a:lnTo>
                    <a:pt x="118" y="272"/>
                  </a:lnTo>
                  <a:lnTo>
                    <a:pt x="100" y="267"/>
                  </a:lnTo>
                  <a:lnTo>
                    <a:pt x="83" y="260"/>
                  </a:lnTo>
                  <a:lnTo>
                    <a:pt x="68" y="253"/>
                  </a:lnTo>
                  <a:lnTo>
                    <a:pt x="57" y="243"/>
                  </a:lnTo>
                  <a:lnTo>
                    <a:pt x="48" y="233"/>
                  </a:lnTo>
                  <a:lnTo>
                    <a:pt x="44" y="221"/>
                  </a:lnTo>
                  <a:lnTo>
                    <a:pt x="42" y="208"/>
                  </a:lnTo>
                  <a:lnTo>
                    <a:pt x="44" y="194"/>
                  </a:lnTo>
                  <a:lnTo>
                    <a:pt x="48" y="180"/>
                  </a:lnTo>
                  <a:lnTo>
                    <a:pt x="54" y="168"/>
                  </a:lnTo>
                  <a:lnTo>
                    <a:pt x="64" y="153"/>
                  </a:lnTo>
                  <a:lnTo>
                    <a:pt x="76" y="137"/>
                  </a:lnTo>
                  <a:lnTo>
                    <a:pt x="89" y="124"/>
                  </a:lnTo>
                  <a:lnTo>
                    <a:pt x="103" y="111"/>
                  </a:lnTo>
                  <a:lnTo>
                    <a:pt x="118" y="99"/>
                  </a:lnTo>
                  <a:lnTo>
                    <a:pt x="134" y="87"/>
                  </a:lnTo>
                  <a:lnTo>
                    <a:pt x="153" y="74"/>
                  </a:lnTo>
                  <a:lnTo>
                    <a:pt x="172" y="62"/>
                  </a:lnTo>
                  <a:lnTo>
                    <a:pt x="190" y="52"/>
                  </a:lnTo>
                  <a:lnTo>
                    <a:pt x="215" y="42"/>
                  </a:lnTo>
                  <a:lnTo>
                    <a:pt x="243" y="34"/>
                  </a:lnTo>
                  <a:lnTo>
                    <a:pt x="270" y="26"/>
                  </a:lnTo>
                  <a:lnTo>
                    <a:pt x="295" y="19"/>
                  </a:lnTo>
                  <a:lnTo>
                    <a:pt x="315" y="13"/>
                  </a:lnTo>
                  <a:lnTo>
                    <a:pt x="328" y="6"/>
                  </a:lnTo>
                  <a:lnTo>
                    <a:pt x="333" y="2"/>
                  </a:lnTo>
                  <a:lnTo>
                    <a:pt x="318" y="0"/>
                  </a:lnTo>
                  <a:lnTo>
                    <a:pt x="298" y="1"/>
                  </a:lnTo>
                  <a:lnTo>
                    <a:pt x="275" y="4"/>
                  </a:lnTo>
                  <a:lnTo>
                    <a:pt x="250" y="9"/>
                  </a:lnTo>
                  <a:lnTo>
                    <a:pt x="224" y="17"/>
                  </a:lnTo>
                  <a:lnTo>
                    <a:pt x="199" y="25"/>
                  </a:lnTo>
                  <a:lnTo>
                    <a:pt x="176" y="34"/>
                  </a:lnTo>
                  <a:lnTo>
                    <a:pt x="156" y="44"/>
                  </a:lnTo>
                  <a:close/>
                </a:path>
              </a:pathLst>
            </a:custGeom>
            <a:solidFill>
              <a:srgbClr val="C9E8FF"/>
            </a:solidFill>
            <a:ln w="9525">
              <a:noFill/>
            </a:ln>
          </p:spPr>
          <p:txBody>
            <a:bodyPr/>
            <a:p>
              <a:endParaRPr lang="zh-CN" altLang="en-US"/>
            </a:p>
          </p:txBody>
        </p:sp>
        <p:sp>
          <p:nvSpPr>
            <p:cNvPr id="16435" name="Freeform 156"/>
            <p:cNvSpPr/>
            <p:nvPr/>
          </p:nvSpPr>
          <p:spPr>
            <a:xfrm>
              <a:off x="5007" y="272"/>
              <a:ext cx="117" cy="113"/>
            </a:xfrm>
            <a:custGeom>
              <a:avLst/>
              <a:gdLst/>
              <a:ahLst/>
              <a:cxnLst>
                <a:cxn ang="0">
                  <a:pos x="32" y="18"/>
                </a:cxn>
                <a:cxn ang="0">
                  <a:pos x="34" y="21"/>
                </a:cxn>
                <a:cxn ang="0">
                  <a:pos x="35" y="24"/>
                </a:cxn>
                <a:cxn ang="0">
                  <a:pos x="36" y="28"/>
                </a:cxn>
                <a:cxn ang="0">
                  <a:pos x="36" y="32"/>
                </a:cxn>
                <a:cxn ang="0">
                  <a:pos x="35" y="36"/>
                </a:cxn>
                <a:cxn ang="0">
                  <a:pos x="35" y="38"/>
                </a:cxn>
                <a:cxn ang="0">
                  <a:pos x="34" y="41"/>
                </a:cxn>
                <a:cxn ang="0">
                  <a:pos x="33" y="44"/>
                </a:cxn>
                <a:cxn ang="0">
                  <a:pos x="31" y="46"/>
                </a:cxn>
                <a:cxn ang="0">
                  <a:pos x="30" y="48"/>
                </a:cxn>
                <a:cxn ang="0">
                  <a:pos x="28" y="51"/>
                </a:cxn>
                <a:cxn ang="0">
                  <a:pos x="27" y="53"/>
                </a:cxn>
                <a:cxn ang="0">
                  <a:pos x="26" y="54"/>
                </a:cxn>
                <a:cxn ang="0">
                  <a:pos x="26" y="54"/>
                </a:cxn>
                <a:cxn ang="0">
                  <a:pos x="26" y="55"/>
                </a:cxn>
                <a:cxn ang="0">
                  <a:pos x="27" y="56"/>
                </a:cxn>
                <a:cxn ang="0">
                  <a:pos x="27" y="57"/>
                </a:cxn>
                <a:cxn ang="0">
                  <a:pos x="28" y="57"/>
                </a:cxn>
                <a:cxn ang="0">
                  <a:pos x="28" y="57"/>
                </a:cxn>
                <a:cxn ang="0">
                  <a:pos x="29" y="56"/>
                </a:cxn>
                <a:cxn ang="0">
                  <a:pos x="32" y="53"/>
                </a:cxn>
                <a:cxn ang="0">
                  <a:pos x="35" y="48"/>
                </a:cxn>
                <a:cxn ang="0">
                  <a:pos x="37" y="43"/>
                </a:cxn>
                <a:cxn ang="0">
                  <a:pos x="38" y="38"/>
                </a:cxn>
                <a:cxn ang="0">
                  <a:pos x="39" y="32"/>
                </a:cxn>
                <a:cxn ang="0">
                  <a:pos x="39" y="26"/>
                </a:cxn>
                <a:cxn ang="0">
                  <a:pos x="37" y="21"/>
                </a:cxn>
                <a:cxn ang="0">
                  <a:pos x="35" y="16"/>
                </a:cxn>
                <a:cxn ang="0">
                  <a:pos x="33" y="13"/>
                </a:cxn>
                <a:cxn ang="0">
                  <a:pos x="31" y="11"/>
                </a:cxn>
                <a:cxn ang="0">
                  <a:pos x="28" y="9"/>
                </a:cxn>
                <a:cxn ang="0">
                  <a:pos x="25" y="7"/>
                </a:cxn>
                <a:cxn ang="0">
                  <a:pos x="23" y="5"/>
                </a:cxn>
                <a:cxn ang="0">
                  <a:pos x="20" y="4"/>
                </a:cxn>
                <a:cxn ang="0">
                  <a:pos x="17" y="3"/>
                </a:cxn>
                <a:cxn ang="0">
                  <a:pos x="14" y="2"/>
                </a:cxn>
                <a:cxn ang="0">
                  <a:pos x="12" y="1"/>
                </a:cxn>
                <a:cxn ang="0">
                  <a:pos x="9" y="1"/>
                </a:cxn>
                <a:cxn ang="0">
                  <a:pos x="7" y="0"/>
                </a:cxn>
                <a:cxn ang="0">
                  <a:pos x="5" y="0"/>
                </a:cxn>
                <a:cxn ang="0">
                  <a:pos x="3" y="0"/>
                </a:cxn>
                <a:cxn ang="0">
                  <a:pos x="2" y="0"/>
                </a:cxn>
                <a:cxn ang="0">
                  <a:pos x="1" y="1"/>
                </a:cxn>
                <a:cxn ang="0">
                  <a:pos x="0" y="1"/>
                </a:cxn>
                <a:cxn ang="0">
                  <a:pos x="2" y="2"/>
                </a:cxn>
                <a:cxn ang="0">
                  <a:pos x="3" y="2"/>
                </a:cxn>
                <a:cxn ang="0">
                  <a:pos x="5" y="3"/>
                </a:cxn>
                <a:cxn ang="0">
                  <a:pos x="7" y="3"/>
                </a:cxn>
                <a:cxn ang="0">
                  <a:pos x="9" y="4"/>
                </a:cxn>
                <a:cxn ang="0">
                  <a:pos x="11" y="4"/>
                </a:cxn>
                <a:cxn ang="0">
                  <a:pos x="13" y="5"/>
                </a:cxn>
                <a:cxn ang="0">
                  <a:pos x="16" y="6"/>
                </a:cxn>
                <a:cxn ang="0">
                  <a:pos x="18" y="7"/>
                </a:cxn>
                <a:cxn ang="0">
                  <a:pos x="20" y="8"/>
                </a:cxn>
                <a:cxn ang="0">
                  <a:pos x="22" y="9"/>
                </a:cxn>
                <a:cxn ang="0">
                  <a:pos x="24" y="10"/>
                </a:cxn>
                <a:cxn ang="0">
                  <a:pos x="27" y="12"/>
                </a:cxn>
                <a:cxn ang="0">
                  <a:pos x="29" y="14"/>
                </a:cxn>
                <a:cxn ang="0">
                  <a:pos x="31" y="16"/>
                </a:cxn>
                <a:cxn ang="0">
                  <a:pos x="32" y="18"/>
                </a:cxn>
              </a:cxnLst>
              <a:pathLst>
                <a:path w="351" h="226">
                  <a:moveTo>
                    <a:pt x="291" y="69"/>
                  </a:moveTo>
                  <a:lnTo>
                    <a:pt x="307" y="81"/>
                  </a:lnTo>
                  <a:lnTo>
                    <a:pt x="317" y="96"/>
                  </a:lnTo>
                  <a:lnTo>
                    <a:pt x="322" y="111"/>
                  </a:lnTo>
                  <a:lnTo>
                    <a:pt x="322" y="128"/>
                  </a:lnTo>
                  <a:lnTo>
                    <a:pt x="319" y="141"/>
                  </a:lnTo>
                  <a:lnTo>
                    <a:pt x="313" y="152"/>
                  </a:lnTo>
                  <a:lnTo>
                    <a:pt x="303" y="164"/>
                  </a:lnTo>
                  <a:lnTo>
                    <a:pt x="293" y="173"/>
                  </a:lnTo>
                  <a:lnTo>
                    <a:pt x="279" y="183"/>
                  </a:lnTo>
                  <a:lnTo>
                    <a:pt x="266" y="192"/>
                  </a:lnTo>
                  <a:lnTo>
                    <a:pt x="253" y="201"/>
                  </a:lnTo>
                  <a:lnTo>
                    <a:pt x="240" y="210"/>
                  </a:lnTo>
                  <a:lnTo>
                    <a:pt x="237" y="213"/>
                  </a:lnTo>
                  <a:lnTo>
                    <a:pt x="237" y="216"/>
                  </a:lnTo>
                  <a:lnTo>
                    <a:pt x="237" y="219"/>
                  </a:lnTo>
                  <a:lnTo>
                    <a:pt x="240" y="222"/>
                  </a:lnTo>
                  <a:lnTo>
                    <a:pt x="245" y="225"/>
                  </a:lnTo>
                  <a:lnTo>
                    <a:pt x="250" y="226"/>
                  </a:lnTo>
                  <a:lnTo>
                    <a:pt x="255" y="225"/>
                  </a:lnTo>
                  <a:lnTo>
                    <a:pt x="259" y="222"/>
                  </a:lnTo>
                  <a:lnTo>
                    <a:pt x="288" y="209"/>
                  </a:lnTo>
                  <a:lnTo>
                    <a:pt x="313" y="192"/>
                  </a:lnTo>
                  <a:lnTo>
                    <a:pt x="332" y="172"/>
                  </a:lnTo>
                  <a:lnTo>
                    <a:pt x="345" y="149"/>
                  </a:lnTo>
                  <a:lnTo>
                    <a:pt x="351" y="127"/>
                  </a:lnTo>
                  <a:lnTo>
                    <a:pt x="348" y="103"/>
                  </a:lnTo>
                  <a:lnTo>
                    <a:pt x="336" y="81"/>
                  </a:lnTo>
                  <a:lnTo>
                    <a:pt x="313" y="62"/>
                  </a:lnTo>
                  <a:lnTo>
                    <a:pt x="295" y="51"/>
                  </a:lnTo>
                  <a:lnTo>
                    <a:pt x="275" y="43"/>
                  </a:lnTo>
                  <a:lnTo>
                    <a:pt x="253" y="35"/>
                  </a:lnTo>
                  <a:lnTo>
                    <a:pt x="229" y="28"/>
                  </a:lnTo>
                  <a:lnTo>
                    <a:pt x="204" y="20"/>
                  </a:lnTo>
                  <a:lnTo>
                    <a:pt x="179" y="15"/>
                  </a:lnTo>
                  <a:lnTo>
                    <a:pt x="153" y="11"/>
                  </a:lnTo>
                  <a:lnTo>
                    <a:pt x="128" y="7"/>
                  </a:lnTo>
                  <a:lnTo>
                    <a:pt x="104" y="4"/>
                  </a:lnTo>
                  <a:lnTo>
                    <a:pt x="82" y="2"/>
                  </a:lnTo>
                  <a:lnTo>
                    <a:pt x="60" y="0"/>
                  </a:lnTo>
                  <a:lnTo>
                    <a:pt x="43" y="0"/>
                  </a:lnTo>
                  <a:lnTo>
                    <a:pt x="27" y="0"/>
                  </a:lnTo>
                  <a:lnTo>
                    <a:pt x="14" y="0"/>
                  </a:lnTo>
                  <a:lnTo>
                    <a:pt x="5" y="2"/>
                  </a:lnTo>
                  <a:lnTo>
                    <a:pt x="0" y="4"/>
                  </a:lnTo>
                  <a:lnTo>
                    <a:pt x="15" y="6"/>
                  </a:lnTo>
                  <a:lnTo>
                    <a:pt x="30" y="7"/>
                  </a:lnTo>
                  <a:lnTo>
                    <a:pt x="47" y="9"/>
                  </a:lnTo>
                  <a:lnTo>
                    <a:pt x="64" y="11"/>
                  </a:lnTo>
                  <a:lnTo>
                    <a:pt x="82" y="14"/>
                  </a:lnTo>
                  <a:lnTo>
                    <a:pt x="102" y="16"/>
                  </a:lnTo>
                  <a:lnTo>
                    <a:pt x="121" y="19"/>
                  </a:lnTo>
                  <a:lnTo>
                    <a:pt x="141" y="23"/>
                  </a:lnTo>
                  <a:lnTo>
                    <a:pt x="160" y="27"/>
                  </a:lnTo>
                  <a:lnTo>
                    <a:pt x="181" y="31"/>
                  </a:lnTo>
                  <a:lnTo>
                    <a:pt x="201" y="35"/>
                  </a:lnTo>
                  <a:lnTo>
                    <a:pt x="220" y="40"/>
                  </a:lnTo>
                  <a:lnTo>
                    <a:pt x="239" y="46"/>
                  </a:lnTo>
                  <a:lnTo>
                    <a:pt x="258" y="53"/>
                  </a:lnTo>
                  <a:lnTo>
                    <a:pt x="275" y="61"/>
                  </a:lnTo>
                  <a:lnTo>
                    <a:pt x="291" y="69"/>
                  </a:lnTo>
                  <a:close/>
                </a:path>
              </a:pathLst>
            </a:custGeom>
            <a:solidFill>
              <a:srgbClr val="C9E8FF"/>
            </a:solidFill>
            <a:ln w="9525">
              <a:noFill/>
            </a:ln>
          </p:spPr>
          <p:txBody>
            <a:bodyPr/>
            <a:p>
              <a:endParaRPr lang="zh-CN" altLang="en-US"/>
            </a:p>
          </p:txBody>
        </p:sp>
        <p:sp>
          <p:nvSpPr>
            <p:cNvPr id="16436" name="Freeform 157"/>
            <p:cNvSpPr/>
            <p:nvPr/>
          </p:nvSpPr>
          <p:spPr>
            <a:xfrm>
              <a:off x="4769" y="324"/>
              <a:ext cx="48" cy="107"/>
            </a:xfrm>
            <a:custGeom>
              <a:avLst/>
              <a:gdLst/>
              <a:ahLst/>
              <a:cxnLst>
                <a:cxn ang="0">
                  <a:pos x="0" y="29"/>
                </a:cxn>
                <a:cxn ang="0">
                  <a:pos x="0" y="34"/>
                </a:cxn>
                <a:cxn ang="0">
                  <a:pos x="1" y="38"/>
                </a:cxn>
                <a:cxn ang="0">
                  <a:pos x="2" y="42"/>
                </a:cxn>
                <a:cxn ang="0">
                  <a:pos x="3" y="45"/>
                </a:cxn>
                <a:cxn ang="0">
                  <a:pos x="5" y="48"/>
                </a:cxn>
                <a:cxn ang="0">
                  <a:pos x="8" y="51"/>
                </a:cxn>
                <a:cxn ang="0">
                  <a:pos x="10" y="52"/>
                </a:cxn>
                <a:cxn ang="0">
                  <a:pos x="13" y="53"/>
                </a:cxn>
                <a:cxn ang="0">
                  <a:pos x="14" y="54"/>
                </a:cxn>
                <a:cxn ang="0">
                  <a:pos x="15" y="53"/>
                </a:cxn>
                <a:cxn ang="0">
                  <a:pos x="16" y="52"/>
                </a:cxn>
                <a:cxn ang="0">
                  <a:pos x="16" y="51"/>
                </a:cxn>
                <a:cxn ang="0">
                  <a:pos x="16" y="50"/>
                </a:cxn>
                <a:cxn ang="0">
                  <a:pos x="16" y="49"/>
                </a:cxn>
                <a:cxn ang="0">
                  <a:pos x="15" y="48"/>
                </a:cxn>
                <a:cxn ang="0">
                  <a:pos x="14" y="47"/>
                </a:cxn>
                <a:cxn ang="0">
                  <a:pos x="11" y="46"/>
                </a:cxn>
                <a:cxn ang="0">
                  <a:pos x="9" y="44"/>
                </a:cxn>
                <a:cxn ang="0">
                  <a:pos x="7" y="41"/>
                </a:cxn>
                <a:cxn ang="0">
                  <a:pos x="6" y="38"/>
                </a:cxn>
                <a:cxn ang="0">
                  <a:pos x="5" y="34"/>
                </a:cxn>
                <a:cxn ang="0">
                  <a:pos x="4" y="30"/>
                </a:cxn>
                <a:cxn ang="0">
                  <a:pos x="4" y="25"/>
                </a:cxn>
                <a:cxn ang="0">
                  <a:pos x="5" y="21"/>
                </a:cxn>
                <a:cxn ang="0">
                  <a:pos x="6" y="17"/>
                </a:cxn>
                <a:cxn ang="0">
                  <a:pos x="7" y="14"/>
                </a:cxn>
                <a:cxn ang="0">
                  <a:pos x="9" y="11"/>
                </a:cxn>
                <a:cxn ang="0">
                  <a:pos x="10" y="9"/>
                </a:cxn>
                <a:cxn ang="0">
                  <a:pos x="12" y="7"/>
                </a:cxn>
                <a:cxn ang="0">
                  <a:pos x="14" y="4"/>
                </a:cxn>
                <a:cxn ang="0">
                  <a:pos x="15" y="2"/>
                </a:cxn>
                <a:cxn ang="0">
                  <a:pos x="16" y="1"/>
                </a:cxn>
                <a:cxn ang="0">
                  <a:pos x="15" y="0"/>
                </a:cxn>
                <a:cxn ang="0">
                  <a:pos x="13" y="2"/>
                </a:cxn>
                <a:cxn ang="0">
                  <a:pos x="11" y="4"/>
                </a:cxn>
                <a:cxn ang="0">
                  <a:pos x="8" y="8"/>
                </a:cxn>
                <a:cxn ang="0">
                  <a:pos x="5" y="13"/>
                </a:cxn>
                <a:cxn ang="0">
                  <a:pos x="3" y="18"/>
                </a:cxn>
                <a:cxn ang="0">
                  <a:pos x="1" y="24"/>
                </a:cxn>
                <a:cxn ang="0">
                  <a:pos x="0" y="29"/>
                </a:cxn>
              </a:cxnLst>
              <a:pathLst>
                <a:path w="142" h="213">
                  <a:moveTo>
                    <a:pt x="0" y="116"/>
                  </a:moveTo>
                  <a:lnTo>
                    <a:pt x="0" y="134"/>
                  </a:lnTo>
                  <a:lnTo>
                    <a:pt x="6" y="150"/>
                  </a:lnTo>
                  <a:lnTo>
                    <a:pt x="16" y="166"/>
                  </a:lnTo>
                  <a:lnTo>
                    <a:pt x="30" y="179"/>
                  </a:lnTo>
                  <a:lnTo>
                    <a:pt x="48" y="191"/>
                  </a:lnTo>
                  <a:lnTo>
                    <a:pt x="68" y="201"/>
                  </a:lnTo>
                  <a:lnTo>
                    <a:pt x="91" y="208"/>
                  </a:lnTo>
                  <a:lnTo>
                    <a:pt x="115" y="212"/>
                  </a:lnTo>
                  <a:lnTo>
                    <a:pt x="122" y="213"/>
                  </a:lnTo>
                  <a:lnTo>
                    <a:pt x="129" y="211"/>
                  </a:lnTo>
                  <a:lnTo>
                    <a:pt x="135" y="208"/>
                  </a:lnTo>
                  <a:lnTo>
                    <a:pt x="138" y="204"/>
                  </a:lnTo>
                  <a:lnTo>
                    <a:pt x="138" y="199"/>
                  </a:lnTo>
                  <a:lnTo>
                    <a:pt x="137" y="194"/>
                  </a:lnTo>
                  <a:lnTo>
                    <a:pt x="132" y="190"/>
                  </a:lnTo>
                  <a:lnTo>
                    <a:pt x="125" y="188"/>
                  </a:lnTo>
                  <a:lnTo>
                    <a:pt x="102" y="181"/>
                  </a:lnTo>
                  <a:lnTo>
                    <a:pt x="80" y="173"/>
                  </a:lnTo>
                  <a:lnTo>
                    <a:pt x="62" y="162"/>
                  </a:lnTo>
                  <a:lnTo>
                    <a:pt x="49" y="149"/>
                  </a:lnTo>
                  <a:lnTo>
                    <a:pt x="41" y="134"/>
                  </a:lnTo>
                  <a:lnTo>
                    <a:pt x="36" y="117"/>
                  </a:lnTo>
                  <a:lnTo>
                    <a:pt x="36" y="100"/>
                  </a:lnTo>
                  <a:lnTo>
                    <a:pt x="44" y="81"/>
                  </a:lnTo>
                  <a:lnTo>
                    <a:pt x="52" y="68"/>
                  </a:lnTo>
                  <a:lnTo>
                    <a:pt x="64" y="56"/>
                  </a:lnTo>
                  <a:lnTo>
                    <a:pt x="77" y="44"/>
                  </a:lnTo>
                  <a:lnTo>
                    <a:pt x="91" y="34"/>
                  </a:lnTo>
                  <a:lnTo>
                    <a:pt x="105" y="25"/>
                  </a:lnTo>
                  <a:lnTo>
                    <a:pt x="119" y="16"/>
                  </a:lnTo>
                  <a:lnTo>
                    <a:pt x="132" y="8"/>
                  </a:lnTo>
                  <a:lnTo>
                    <a:pt x="142" y="1"/>
                  </a:lnTo>
                  <a:lnTo>
                    <a:pt x="132" y="0"/>
                  </a:lnTo>
                  <a:lnTo>
                    <a:pt x="116" y="5"/>
                  </a:lnTo>
                  <a:lnTo>
                    <a:pt x="94" y="16"/>
                  </a:lnTo>
                  <a:lnTo>
                    <a:pt x="70" y="32"/>
                  </a:lnTo>
                  <a:lnTo>
                    <a:pt x="46" y="51"/>
                  </a:lnTo>
                  <a:lnTo>
                    <a:pt x="25" y="72"/>
                  </a:lnTo>
                  <a:lnTo>
                    <a:pt x="9" y="95"/>
                  </a:lnTo>
                  <a:lnTo>
                    <a:pt x="0" y="116"/>
                  </a:lnTo>
                  <a:close/>
                </a:path>
              </a:pathLst>
            </a:custGeom>
            <a:solidFill>
              <a:srgbClr val="C9E8FF"/>
            </a:solidFill>
            <a:ln w="9525">
              <a:noFill/>
            </a:ln>
          </p:spPr>
          <p:txBody>
            <a:bodyPr/>
            <a:p>
              <a:endParaRPr lang="zh-CN" altLang="en-US"/>
            </a:p>
          </p:txBody>
        </p:sp>
        <p:sp>
          <p:nvSpPr>
            <p:cNvPr id="16437" name="Freeform 158"/>
            <p:cNvSpPr/>
            <p:nvPr/>
          </p:nvSpPr>
          <p:spPr>
            <a:xfrm>
              <a:off x="5104" y="264"/>
              <a:ext cx="101" cy="139"/>
            </a:xfrm>
            <a:custGeom>
              <a:avLst/>
              <a:gdLst/>
              <a:ahLst/>
              <a:cxnLst>
                <a:cxn ang="0">
                  <a:pos x="28" y="28"/>
                </a:cxn>
                <a:cxn ang="0">
                  <a:pos x="30" y="32"/>
                </a:cxn>
                <a:cxn ang="0">
                  <a:pos x="30" y="37"/>
                </a:cxn>
                <a:cxn ang="0">
                  <a:pos x="30" y="42"/>
                </a:cxn>
                <a:cxn ang="0">
                  <a:pos x="28" y="47"/>
                </a:cxn>
                <a:cxn ang="0">
                  <a:pos x="25" y="51"/>
                </a:cxn>
                <a:cxn ang="0">
                  <a:pos x="23" y="55"/>
                </a:cxn>
                <a:cxn ang="0">
                  <a:pos x="20" y="59"/>
                </a:cxn>
                <a:cxn ang="0">
                  <a:pos x="18" y="62"/>
                </a:cxn>
                <a:cxn ang="0">
                  <a:pos x="17" y="64"/>
                </a:cxn>
                <a:cxn ang="0">
                  <a:pos x="16" y="66"/>
                </a:cxn>
                <a:cxn ang="0">
                  <a:pos x="17" y="68"/>
                </a:cxn>
                <a:cxn ang="0">
                  <a:pos x="18" y="69"/>
                </a:cxn>
                <a:cxn ang="0">
                  <a:pos x="19" y="69"/>
                </a:cxn>
                <a:cxn ang="0">
                  <a:pos x="21" y="65"/>
                </a:cxn>
                <a:cxn ang="0">
                  <a:pos x="25" y="60"/>
                </a:cxn>
                <a:cxn ang="0">
                  <a:pos x="28" y="55"/>
                </a:cxn>
                <a:cxn ang="0">
                  <a:pos x="31" y="49"/>
                </a:cxn>
                <a:cxn ang="0">
                  <a:pos x="33" y="42"/>
                </a:cxn>
                <a:cxn ang="0">
                  <a:pos x="33" y="34"/>
                </a:cxn>
                <a:cxn ang="0">
                  <a:pos x="31" y="27"/>
                </a:cxn>
                <a:cxn ang="0">
                  <a:pos x="27" y="21"/>
                </a:cxn>
                <a:cxn ang="0">
                  <a:pos x="24" y="16"/>
                </a:cxn>
                <a:cxn ang="0">
                  <a:pos x="21" y="13"/>
                </a:cxn>
                <a:cxn ang="0">
                  <a:pos x="17" y="10"/>
                </a:cxn>
                <a:cxn ang="0">
                  <a:pos x="13" y="6"/>
                </a:cxn>
                <a:cxn ang="0">
                  <a:pos x="10" y="3"/>
                </a:cxn>
                <a:cxn ang="0">
                  <a:pos x="6" y="1"/>
                </a:cxn>
                <a:cxn ang="0">
                  <a:pos x="3" y="0"/>
                </a:cxn>
                <a:cxn ang="0">
                  <a:pos x="1" y="0"/>
                </a:cxn>
                <a:cxn ang="0">
                  <a:pos x="1" y="1"/>
                </a:cxn>
                <a:cxn ang="0">
                  <a:pos x="4" y="3"/>
                </a:cxn>
                <a:cxn ang="0">
                  <a:pos x="7" y="5"/>
                </a:cxn>
                <a:cxn ang="0">
                  <a:pos x="11" y="8"/>
                </a:cxn>
                <a:cxn ang="0">
                  <a:pos x="15" y="11"/>
                </a:cxn>
                <a:cxn ang="0">
                  <a:pos x="18" y="15"/>
                </a:cxn>
                <a:cxn ang="0">
                  <a:pos x="22" y="19"/>
                </a:cxn>
                <a:cxn ang="0">
                  <a:pos x="25" y="23"/>
                </a:cxn>
              </a:cxnLst>
              <a:pathLst>
                <a:path w="305" h="279">
                  <a:moveTo>
                    <a:pt x="247" y="104"/>
                  </a:moveTo>
                  <a:lnTo>
                    <a:pt x="257" y="112"/>
                  </a:lnTo>
                  <a:lnTo>
                    <a:pt x="266" y="120"/>
                  </a:lnTo>
                  <a:lnTo>
                    <a:pt x="271" y="129"/>
                  </a:lnTo>
                  <a:lnTo>
                    <a:pt x="277" y="138"/>
                  </a:lnTo>
                  <a:lnTo>
                    <a:pt x="279" y="148"/>
                  </a:lnTo>
                  <a:lnTo>
                    <a:pt x="279" y="158"/>
                  </a:lnTo>
                  <a:lnTo>
                    <a:pt x="274" y="168"/>
                  </a:lnTo>
                  <a:lnTo>
                    <a:pt x="268" y="178"/>
                  </a:lnTo>
                  <a:lnTo>
                    <a:pt x="258" y="188"/>
                  </a:lnTo>
                  <a:lnTo>
                    <a:pt x="247" y="197"/>
                  </a:lnTo>
                  <a:lnTo>
                    <a:pt x="234" y="205"/>
                  </a:lnTo>
                  <a:lnTo>
                    <a:pt x="219" y="214"/>
                  </a:lnTo>
                  <a:lnTo>
                    <a:pt x="206" y="221"/>
                  </a:lnTo>
                  <a:lnTo>
                    <a:pt x="191" y="229"/>
                  </a:lnTo>
                  <a:lnTo>
                    <a:pt x="177" y="237"/>
                  </a:lnTo>
                  <a:lnTo>
                    <a:pt x="164" y="247"/>
                  </a:lnTo>
                  <a:lnTo>
                    <a:pt x="160" y="250"/>
                  </a:lnTo>
                  <a:lnTo>
                    <a:pt x="157" y="254"/>
                  </a:lnTo>
                  <a:lnTo>
                    <a:pt x="154" y="258"/>
                  </a:lnTo>
                  <a:lnTo>
                    <a:pt x="151" y="262"/>
                  </a:lnTo>
                  <a:lnTo>
                    <a:pt x="149" y="266"/>
                  </a:lnTo>
                  <a:lnTo>
                    <a:pt x="149" y="270"/>
                  </a:lnTo>
                  <a:lnTo>
                    <a:pt x="151" y="275"/>
                  </a:lnTo>
                  <a:lnTo>
                    <a:pt x="155" y="278"/>
                  </a:lnTo>
                  <a:lnTo>
                    <a:pt x="161" y="279"/>
                  </a:lnTo>
                  <a:lnTo>
                    <a:pt x="167" y="279"/>
                  </a:lnTo>
                  <a:lnTo>
                    <a:pt x="173" y="278"/>
                  </a:lnTo>
                  <a:lnTo>
                    <a:pt x="177" y="275"/>
                  </a:lnTo>
                  <a:lnTo>
                    <a:pt x="191" y="263"/>
                  </a:lnTo>
                  <a:lnTo>
                    <a:pt x="207" y="252"/>
                  </a:lnTo>
                  <a:lnTo>
                    <a:pt x="223" y="242"/>
                  </a:lnTo>
                  <a:lnTo>
                    <a:pt x="241" y="231"/>
                  </a:lnTo>
                  <a:lnTo>
                    <a:pt x="257" y="221"/>
                  </a:lnTo>
                  <a:lnTo>
                    <a:pt x="271" y="210"/>
                  </a:lnTo>
                  <a:lnTo>
                    <a:pt x="286" y="197"/>
                  </a:lnTo>
                  <a:lnTo>
                    <a:pt x="296" y="184"/>
                  </a:lnTo>
                  <a:lnTo>
                    <a:pt x="303" y="168"/>
                  </a:lnTo>
                  <a:lnTo>
                    <a:pt x="305" y="153"/>
                  </a:lnTo>
                  <a:lnTo>
                    <a:pt x="300" y="137"/>
                  </a:lnTo>
                  <a:lnTo>
                    <a:pt x="293" y="123"/>
                  </a:lnTo>
                  <a:lnTo>
                    <a:pt x="282" y="109"/>
                  </a:lnTo>
                  <a:lnTo>
                    <a:pt x="267" y="96"/>
                  </a:lnTo>
                  <a:lnTo>
                    <a:pt x="250" y="85"/>
                  </a:lnTo>
                  <a:lnTo>
                    <a:pt x="232" y="75"/>
                  </a:lnTo>
                  <a:lnTo>
                    <a:pt x="219" y="67"/>
                  </a:lnTo>
                  <a:lnTo>
                    <a:pt x="205" y="61"/>
                  </a:lnTo>
                  <a:lnTo>
                    <a:pt x="189" y="54"/>
                  </a:lnTo>
                  <a:lnTo>
                    <a:pt x="173" y="47"/>
                  </a:lnTo>
                  <a:lnTo>
                    <a:pt x="157" y="40"/>
                  </a:lnTo>
                  <a:lnTo>
                    <a:pt x="139" y="32"/>
                  </a:lnTo>
                  <a:lnTo>
                    <a:pt x="122" y="26"/>
                  </a:lnTo>
                  <a:lnTo>
                    <a:pt x="106" y="20"/>
                  </a:lnTo>
                  <a:lnTo>
                    <a:pt x="90" y="15"/>
                  </a:lnTo>
                  <a:lnTo>
                    <a:pt x="74" y="10"/>
                  </a:lnTo>
                  <a:lnTo>
                    <a:pt x="58" y="7"/>
                  </a:lnTo>
                  <a:lnTo>
                    <a:pt x="43" y="3"/>
                  </a:lnTo>
                  <a:lnTo>
                    <a:pt x="30" y="1"/>
                  </a:lnTo>
                  <a:lnTo>
                    <a:pt x="19" y="0"/>
                  </a:lnTo>
                  <a:lnTo>
                    <a:pt x="8" y="1"/>
                  </a:lnTo>
                  <a:lnTo>
                    <a:pt x="0" y="3"/>
                  </a:lnTo>
                  <a:lnTo>
                    <a:pt x="10" y="6"/>
                  </a:lnTo>
                  <a:lnTo>
                    <a:pt x="21" y="9"/>
                  </a:lnTo>
                  <a:lnTo>
                    <a:pt x="35" y="13"/>
                  </a:lnTo>
                  <a:lnTo>
                    <a:pt x="48" y="17"/>
                  </a:lnTo>
                  <a:lnTo>
                    <a:pt x="64" y="22"/>
                  </a:lnTo>
                  <a:lnTo>
                    <a:pt x="80" y="27"/>
                  </a:lnTo>
                  <a:lnTo>
                    <a:pt x="97" y="33"/>
                  </a:lnTo>
                  <a:lnTo>
                    <a:pt x="114" y="40"/>
                  </a:lnTo>
                  <a:lnTo>
                    <a:pt x="132" y="47"/>
                  </a:lnTo>
                  <a:lnTo>
                    <a:pt x="149" y="54"/>
                  </a:lnTo>
                  <a:lnTo>
                    <a:pt x="167" y="62"/>
                  </a:lnTo>
                  <a:lnTo>
                    <a:pt x="184" y="70"/>
                  </a:lnTo>
                  <a:lnTo>
                    <a:pt x="202" y="79"/>
                  </a:lnTo>
                  <a:lnTo>
                    <a:pt x="218" y="87"/>
                  </a:lnTo>
                  <a:lnTo>
                    <a:pt x="232" y="95"/>
                  </a:lnTo>
                  <a:lnTo>
                    <a:pt x="247" y="104"/>
                  </a:lnTo>
                  <a:close/>
                </a:path>
              </a:pathLst>
            </a:custGeom>
            <a:solidFill>
              <a:srgbClr val="C9E8FF"/>
            </a:solidFill>
            <a:ln w="9525">
              <a:noFill/>
            </a:ln>
          </p:spPr>
          <p:txBody>
            <a:bodyPr/>
            <a:p>
              <a:endParaRPr lang="zh-CN" altLang="en-US"/>
            </a:p>
          </p:txBody>
        </p:sp>
        <p:sp>
          <p:nvSpPr>
            <p:cNvPr id="16438" name="Freeform 159"/>
            <p:cNvSpPr/>
            <p:nvPr/>
          </p:nvSpPr>
          <p:spPr>
            <a:xfrm>
              <a:off x="4976" y="382"/>
              <a:ext cx="18" cy="42"/>
            </a:xfrm>
            <a:custGeom>
              <a:avLst/>
              <a:gdLst/>
              <a:ahLst/>
              <a:cxnLst>
                <a:cxn ang="0">
                  <a:pos x="3" y="2"/>
                </a:cxn>
                <a:cxn ang="0">
                  <a:pos x="3" y="1"/>
                </a:cxn>
                <a:cxn ang="0">
                  <a:pos x="2" y="0"/>
                </a:cxn>
                <a:cxn ang="0">
                  <a:pos x="2" y="0"/>
                </a:cxn>
                <a:cxn ang="0">
                  <a:pos x="1" y="0"/>
                </a:cxn>
                <a:cxn ang="0">
                  <a:pos x="1" y="0"/>
                </a:cxn>
                <a:cxn ang="0">
                  <a:pos x="0" y="0"/>
                </a:cxn>
                <a:cxn ang="0">
                  <a:pos x="0" y="1"/>
                </a:cxn>
                <a:cxn ang="0">
                  <a:pos x="0" y="2"/>
                </a:cxn>
                <a:cxn ang="0">
                  <a:pos x="0" y="5"/>
                </a:cxn>
                <a:cxn ang="0">
                  <a:pos x="1" y="8"/>
                </a:cxn>
                <a:cxn ang="0">
                  <a:pos x="1" y="11"/>
                </a:cxn>
                <a:cxn ang="0">
                  <a:pos x="2" y="14"/>
                </a:cxn>
                <a:cxn ang="0">
                  <a:pos x="3" y="17"/>
                </a:cxn>
                <a:cxn ang="0">
                  <a:pos x="4" y="19"/>
                </a:cxn>
                <a:cxn ang="0">
                  <a:pos x="5" y="21"/>
                </a:cxn>
                <a:cxn ang="0">
                  <a:pos x="6" y="21"/>
                </a:cxn>
                <a:cxn ang="0">
                  <a:pos x="6" y="17"/>
                </a:cxn>
                <a:cxn ang="0">
                  <a:pos x="5" y="12"/>
                </a:cxn>
                <a:cxn ang="0">
                  <a:pos x="4" y="7"/>
                </a:cxn>
                <a:cxn ang="0">
                  <a:pos x="3" y="2"/>
                </a:cxn>
              </a:cxnLst>
              <a:pathLst>
                <a:path w="54" h="85">
                  <a:moveTo>
                    <a:pt x="28" y="10"/>
                  </a:moveTo>
                  <a:lnTo>
                    <a:pt x="27" y="6"/>
                  </a:lnTo>
                  <a:lnTo>
                    <a:pt x="22" y="2"/>
                  </a:lnTo>
                  <a:lnTo>
                    <a:pt x="18" y="0"/>
                  </a:lnTo>
                  <a:lnTo>
                    <a:pt x="12" y="0"/>
                  </a:lnTo>
                  <a:lnTo>
                    <a:pt x="8" y="1"/>
                  </a:lnTo>
                  <a:lnTo>
                    <a:pt x="3" y="3"/>
                  </a:lnTo>
                  <a:lnTo>
                    <a:pt x="0" y="7"/>
                  </a:lnTo>
                  <a:lnTo>
                    <a:pt x="0" y="11"/>
                  </a:lnTo>
                  <a:lnTo>
                    <a:pt x="0" y="22"/>
                  </a:lnTo>
                  <a:lnTo>
                    <a:pt x="5" y="34"/>
                  </a:lnTo>
                  <a:lnTo>
                    <a:pt x="11" y="47"/>
                  </a:lnTo>
                  <a:lnTo>
                    <a:pt x="18" y="59"/>
                  </a:lnTo>
                  <a:lnTo>
                    <a:pt x="27" y="70"/>
                  </a:lnTo>
                  <a:lnTo>
                    <a:pt x="35" y="79"/>
                  </a:lnTo>
                  <a:lnTo>
                    <a:pt x="46" y="84"/>
                  </a:lnTo>
                  <a:lnTo>
                    <a:pt x="53" y="85"/>
                  </a:lnTo>
                  <a:lnTo>
                    <a:pt x="54" y="68"/>
                  </a:lnTo>
                  <a:lnTo>
                    <a:pt x="47" y="49"/>
                  </a:lnTo>
                  <a:lnTo>
                    <a:pt x="38" y="29"/>
                  </a:lnTo>
                  <a:lnTo>
                    <a:pt x="28" y="10"/>
                  </a:lnTo>
                  <a:close/>
                </a:path>
              </a:pathLst>
            </a:custGeom>
            <a:solidFill>
              <a:srgbClr val="000000"/>
            </a:solidFill>
            <a:ln w="9525">
              <a:noFill/>
            </a:ln>
          </p:spPr>
          <p:txBody>
            <a:bodyPr/>
            <a:p>
              <a:endParaRPr lang="zh-CN" altLang="en-US"/>
            </a:p>
          </p:txBody>
        </p:sp>
        <p:sp>
          <p:nvSpPr>
            <p:cNvPr id="16439" name="Freeform 160"/>
            <p:cNvSpPr/>
            <p:nvPr/>
          </p:nvSpPr>
          <p:spPr>
            <a:xfrm>
              <a:off x="4962" y="351"/>
              <a:ext cx="15"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1"/>
                </a:cxn>
                <a:cxn ang="0">
                  <a:pos x="4" y="12"/>
                </a:cxn>
                <a:cxn ang="0">
                  <a:pos x="4" y="12"/>
                </a:cxn>
                <a:cxn ang="0">
                  <a:pos x="5" y="12"/>
                </a:cxn>
                <a:cxn ang="0">
                  <a:pos x="5" y="10"/>
                </a:cxn>
                <a:cxn ang="0">
                  <a:pos x="4" y="7"/>
                </a:cxn>
                <a:cxn ang="0">
                  <a:pos x="3" y="4"/>
                </a:cxn>
                <a:cxn ang="0">
                  <a:pos x="3" y="2"/>
                </a:cxn>
              </a:cxnLst>
              <a:pathLst>
                <a:path w="46" h="48">
                  <a:moveTo>
                    <a:pt x="25" y="6"/>
                  </a:moveTo>
                  <a:lnTo>
                    <a:pt x="25" y="7"/>
                  </a:lnTo>
                  <a:lnTo>
                    <a:pt x="23" y="4"/>
                  </a:lnTo>
                  <a:lnTo>
                    <a:pt x="19" y="1"/>
                  </a:lnTo>
                  <a:lnTo>
                    <a:pt x="14" y="0"/>
                  </a:lnTo>
                  <a:lnTo>
                    <a:pt x="9" y="0"/>
                  </a:lnTo>
                  <a:lnTo>
                    <a:pt x="4" y="1"/>
                  </a:lnTo>
                  <a:lnTo>
                    <a:pt x="1" y="4"/>
                  </a:lnTo>
                  <a:lnTo>
                    <a:pt x="0" y="7"/>
                  </a:lnTo>
                  <a:lnTo>
                    <a:pt x="0" y="10"/>
                  </a:lnTo>
                  <a:lnTo>
                    <a:pt x="1" y="15"/>
                  </a:lnTo>
                  <a:lnTo>
                    <a:pt x="4" y="21"/>
                  </a:lnTo>
                  <a:lnTo>
                    <a:pt x="10" y="28"/>
                  </a:lnTo>
                  <a:lnTo>
                    <a:pt x="17" y="35"/>
                  </a:lnTo>
                  <a:lnTo>
                    <a:pt x="25" y="41"/>
                  </a:lnTo>
                  <a:lnTo>
                    <a:pt x="33" y="45"/>
                  </a:lnTo>
                  <a:lnTo>
                    <a:pt x="41" y="48"/>
                  </a:lnTo>
                  <a:lnTo>
                    <a:pt x="46" y="48"/>
                  </a:lnTo>
                  <a:lnTo>
                    <a:pt x="45" y="38"/>
                  </a:lnTo>
                  <a:lnTo>
                    <a:pt x="39" y="25"/>
                  </a:lnTo>
                  <a:lnTo>
                    <a:pt x="30" y="14"/>
                  </a:lnTo>
                  <a:lnTo>
                    <a:pt x="25" y="6"/>
                  </a:lnTo>
                  <a:close/>
                </a:path>
              </a:pathLst>
            </a:custGeom>
            <a:solidFill>
              <a:srgbClr val="000000"/>
            </a:solidFill>
            <a:ln w="9525">
              <a:noFill/>
            </a:ln>
          </p:spPr>
          <p:txBody>
            <a:bodyPr/>
            <a:p>
              <a:endParaRPr lang="zh-CN" altLang="en-US"/>
            </a:p>
          </p:txBody>
        </p:sp>
        <p:sp>
          <p:nvSpPr>
            <p:cNvPr id="16440" name="Freeform 161"/>
            <p:cNvSpPr/>
            <p:nvPr/>
          </p:nvSpPr>
          <p:spPr>
            <a:xfrm>
              <a:off x="4949" y="331"/>
              <a:ext cx="21" cy="16"/>
            </a:xfrm>
            <a:custGeom>
              <a:avLst/>
              <a:gdLst/>
              <a:ahLst/>
              <a:cxnLst>
                <a:cxn ang="0">
                  <a:pos x="5" y="6"/>
                </a:cxn>
                <a:cxn ang="0">
                  <a:pos x="6" y="6"/>
                </a:cxn>
                <a:cxn ang="0">
                  <a:pos x="7" y="5"/>
                </a:cxn>
                <a:cxn ang="0">
                  <a:pos x="7" y="4"/>
                </a:cxn>
                <a:cxn ang="0">
                  <a:pos x="7" y="3"/>
                </a:cxn>
                <a:cxn ang="0">
                  <a:pos x="7" y="2"/>
                </a:cxn>
                <a:cxn ang="0">
                  <a:pos x="6" y="1"/>
                </a:cxn>
                <a:cxn ang="0">
                  <a:pos x="5"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8"/>
                </a:cxn>
                <a:cxn ang="0">
                  <a:pos x="5" y="7"/>
                </a:cxn>
                <a:cxn ang="0">
                  <a:pos x="5" y="6"/>
                </a:cxn>
              </a:cxnLst>
              <a:pathLst>
                <a:path w="64" h="32">
                  <a:moveTo>
                    <a:pt x="50" y="24"/>
                  </a:moveTo>
                  <a:lnTo>
                    <a:pt x="56" y="22"/>
                  </a:lnTo>
                  <a:lnTo>
                    <a:pt x="62" y="19"/>
                  </a:lnTo>
                  <a:lnTo>
                    <a:pt x="64" y="15"/>
                  </a:lnTo>
                  <a:lnTo>
                    <a:pt x="64" y="11"/>
                  </a:lnTo>
                  <a:lnTo>
                    <a:pt x="61" y="6"/>
                  </a:lnTo>
                  <a:lnTo>
                    <a:pt x="56" y="2"/>
                  </a:lnTo>
                  <a:lnTo>
                    <a:pt x="50" y="0"/>
                  </a:lnTo>
                  <a:lnTo>
                    <a:pt x="43" y="0"/>
                  </a:lnTo>
                  <a:lnTo>
                    <a:pt x="40" y="0"/>
                  </a:lnTo>
                  <a:lnTo>
                    <a:pt x="35" y="1"/>
                  </a:lnTo>
                  <a:lnTo>
                    <a:pt x="26" y="3"/>
                  </a:lnTo>
                  <a:lnTo>
                    <a:pt x="16" y="8"/>
                  </a:lnTo>
                  <a:lnTo>
                    <a:pt x="7" y="14"/>
                  </a:lnTo>
                  <a:lnTo>
                    <a:pt x="3" y="20"/>
                  </a:lnTo>
                  <a:lnTo>
                    <a:pt x="0" y="26"/>
                  </a:lnTo>
                  <a:lnTo>
                    <a:pt x="0" y="28"/>
                  </a:lnTo>
                  <a:lnTo>
                    <a:pt x="4" y="30"/>
                  </a:lnTo>
                  <a:lnTo>
                    <a:pt x="10" y="32"/>
                  </a:lnTo>
                  <a:lnTo>
                    <a:pt x="16" y="32"/>
                  </a:lnTo>
                  <a:lnTo>
                    <a:pt x="21" y="32"/>
                  </a:lnTo>
                  <a:lnTo>
                    <a:pt x="29" y="30"/>
                  </a:lnTo>
                  <a:lnTo>
                    <a:pt x="36" y="29"/>
                  </a:lnTo>
                  <a:lnTo>
                    <a:pt x="43" y="27"/>
                  </a:lnTo>
                  <a:lnTo>
                    <a:pt x="50" y="24"/>
                  </a:lnTo>
                  <a:close/>
                </a:path>
              </a:pathLst>
            </a:custGeom>
            <a:solidFill>
              <a:srgbClr val="000000"/>
            </a:solidFill>
            <a:ln w="9525">
              <a:noFill/>
            </a:ln>
          </p:spPr>
          <p:txBody>
            <a:bodyPr/>
            <a:p>
              <a:endParaRPr lang="zh-CN" altLang="en-US"/>
            </a:p>
          </p:txBody>
        </p:sp>
        <p:sp>
          <p:nvSpPr>
            <p:cNvPr id="16441" name="Freeform 162"/>
            <p:cNvSpPr/>
            <p:nvPr/>
          </p:nvSpPr>
          <p:spPr>
            <a:xfrm>
              <a:off x="4849" y="304"/>
              <a:ext cx="82" cy="106"/>
            </a:xfrm>
            <a:custGeom>
              <a:avLst/>
              <a:gdLst/>
              <a:ahLst/>
              <a:cxnLst>
                <a:cxn ang="0">
                  <a:pos x="10" y="8"/>
                </a:cxn>
                <a:cxn ang="0">
                  <a:pos x="8" y="11"/>
                </a:cxn>
                <a:cxn ang="0">
                  <a:pos x="6" y="13"/>
                </a:cxn>
                <a:cxn ang="0">
                  <a:pos x="5" y="16"/>
                </a:cxn>
                <a:cxn ang="0">
                  <a:pos x="3" y="19"/>
                </a:cxn>
                <a:cxn ang="0">
                  <a:pos x="2" y="23"/>
                </a:cxn>
                <a:cxn ang="0">
                  <a:pos x="1" y="26"/>
                </a:cxn>
                <a:cxn ang="0">
                  <a:pos x="0" y="29"/>
                </a:cxn>
                <a:cxn ang="0">
                  <a:pos x="0" y="33"/>
                </a:cxn>
                <a:cxn ang="0">
                  <a:pos x="0" y="38"/>
                </a:cxn>
                <a:cxn ang="0">
                  <a:pos x="2" y="43"/>
                </a:cxn>
                <a:cxn ang="0">
                  <a:pos x="4" y="47"/>
                </a:cxn>
                <a:cxn ang="0">
                  <a:pos x="6" y="50"/>
                </a:cxn>
                <a:cxn ang="0">
                  <a:pos x="9" y="52"/>
                </a:cxn>
                <a:cxn ang="0">
                  <a:pos x="12" y="53"/>
                </a:cxn>
                <a:cxn ang="0">
                  <a:pos x="15" y="53"/>
                </a:cxn>
                <a:cxn ang="0">
                  <a:pos x="18" y="52"/>
                </a:cxn>
                <a:cxn ang="0">
                  <a:pos x="19" y="52"/>
                </a:cxn>
                <a:cxn ang="0">
                  <a:pos x="20" y="52"/>
                </a:cxn>
                <a:cxn ang="0">
                  <a:pos x="20" y="51"/>
                </a:cxn>
                <a:cxn ang="0">
                  <a:pos x="20" y="50"/>
                </a:cxn>
                <a:cxn ang="0">
                  <a:pos x="20" y="49"/>
                </a:cxn>
                <a:cxn ang="0">
                  <a:pos x="20" y="49"/>
                </a:cxn>
                <a:cxn ang="0">
                  <a:pos x="19" y="49"/>
                </a:cxn>
                <a:cxn ang="0">
                  <a:pos x="18" y="49"/>
                </a:cxn>
                <a:cxn ang="0">
                  <a:pos x="17" y="49"/>
                </a:cxn>
                <a:cxn ang="0">
                  <a:pos x="16" y="49"/>
                </a:cxn>
                <a:cxn ang="0">
                  <a:pos x="16" y="49"/>
                </a:cxn>
                <a:cxn ang="0">
                  <a:pos x="15" y="49"/>
                </a:cxn>
                <a:cxn ang="0">
                  <a:pos x="13" y="49"/>
                </a:cxn>
                <a:cxn ang="0">
                  <a:pos x="12" y="49"/>
                </a:cxn>
                <a:cxn ang="0">
                  <a:pos x="10" y="48"/>
                </a:cxn>
                <a:cxn ang="0">
                  <a:pos x="9" y="47"/>
                </a:cxn>
                <a:cxn ang="0">
                  <a:pos x="7" y="47"/>
                </a:cxn>
                <a:cxn ang="0">
                  <a:pos x="6" y="45"/>
                </a:cxn>
                <a:cxn ang="0">
                  <a:pos x="4" y="43"/>
                </a:cxn>
                <a:cxn ang="0">
                  <a:pos x="2" y="39"/>
                </a:cxn>
                <a:cxn ang="0">
                  <a:pos x="2" y="35"/>
                </a:cxn>
                <a:cxn ang="0">
                  <a:pos x="2" y="32"/>
                </a:cxn>
                <a:cxn ang="0">
                  <a:pos x="3" y="28"/>
                </a:cxn>
                <a:cxn ang="0">
                  <a:pos x="4" y="25"/>
                </a:cxn>
                <a:cxn ang="0">
                  <a:pos x="5" y="22"/>
                </a:cxn>
                <a:cxn ang="0">
                  <a:pos x="7" y="19"/>
                </a:cxn>
                <a:cxn ang="0">
                  <a:pos x="9" y="16"/>
                </a:cxn>
                <a:cxn ang="0">
                  <a:pos x="11" y="13"/>
                </a:cxn>
                <a:cxn ang="0">
                  <a:pos x="13" y="11"/>
                </a:cxn>
                <a:cxn ang="0">
                  <a:pos x="15" y="9"/>
                </a:cxn>
                <a:cxn ang="0">
                  <a:pos x="17" y="7"/>
                </a:cxn>
                <a:cxn ang="0">
                  <a:pos x="20" y="6"/>
                </a:cxn>
                <a:cxn ang="0">
                  <a:pos x="22" y="4"/>
                </a:cxn>
                <a:cxn ang="0">
                  <a:pos x="24" y="3"/>
                </a:cxn>
                <a:cxn ang="0">
                  <a:pos x="26" y="2"/>
                </a:cxn>
                <a:cxn ang="0">
                  <a:pos x="27" y="2"/>
                </a:cxn>
                <a:cxn ang="0">
                  <a:pos x="26" y="1"/>
                </a:cxn>
                <a:cxn ang="0">
                  <a:pos x="24" y="0"/>
                </a:cxn>
                <a:cxn ang="0">
                  <a:pos x="22" y="1"/>
                </a:cxn>
                <a:cxn ang="0">
                  <a:pos x="20" y="2"/>
                </a:cxn>
                <a:cxn ang="0">
                  <a:pos x="17" y="3"/>
                </a:cxn>
                <a:cxn ang="0">
                  <a:pos x="15" y="4"/>
                </a:cxn>
                <a:cxn ang="0">
                  <a:pos x="12" y="6"/>
                </a:cxn>
                <a:cxn ang="0">
                  <a:pos x="10" y="8"/>
                </a:cxn>
              </a:cxnLst>
              <a:pathLst>
                <a:path w="246" h="211">
                  <a:moveTo>
                    <a:pt x="90" y="32"/>
                  </a:moveTo>
                  <a:lnTo>
                    <a:pt x="73" y="41"/>
                  </a:lnTo>
                  <a:lnTo>
                    <a:pt x="57" y="51"/>
                  </a:lnTo>
                  <a:lnTo>
                    <a:pt x="41" y="64"/>
                  </a:lnTo>
                  <a:lnTo>
                    <a:pt x="28" y="76"/>
                  </a:lnTo>
                  <a:lnTo>
                    <a:pt x="18" y="89"/>
                  </a:lnTo>
                  <a:lnTo>
                    <a:pt x="9" y="103"/>
                  </a:lnTo>
                  <a:lnTo>
                    <a:pt x="3" y="116"/>
                  </a:lnTo>
                  <a:lnTo>
                    <a:pt x="0" y="131"/>
                  </a:lnTo>
                  <a:lnTo>
                    <a:pt x="3" y="152"/>
                  </a:lnTo>
                  <a:lnTo>
                    <a:pt x="15" y="170"/>
                  </a:lnTo>
                  <a:lnTo>
                    <a:pt x="32" y="185"/>
                  </a:lnTo>
                  <a:lnTo>
                    <a:pt x="54" y="197"/>
                  </a:lnTo>
                  <a:lnTo>
                    <a:pt x="80" y="205"/>
                  </a:lnTo>
                  <a:lnTo>
                    <a:pt x="109" y="210"/>
                  </a:lnTo>
                  <a:lnTo>
                    <a:pt x="137" y="211"/>
                  </a:lnTo>
                  <a:lnTo>
                    <a:pt x="164" y="208"/>
                  </a:lnTo>
                  <a:lnTo>
                    <a:pt x="170" y="208"/>
                  </a:lnTo>
                  <a:lnTo>
                    <a:pt x="176" y="206"/>
                  </a:lnTo>
                  <a:lnTo>
                    <a:pt x="180" y="202"/>
                  </a:lnTo>
                  <a:lnTo>
                    <a:pt x="182" y="198"/>
                  </a:lnTo>
                  <a:lnTo>
                    <a:pt x="180" y="196"/>
                  </a:lnTo>
                  <a:lnTo>
                    <a:pt x="176" y="196"/>
                  </a:lnTo>
                  <a:lnTo>
                    <a:pt x="170" y="195"/>
                  </a:lnTo>
                  <a:lnTo>
                    <a:pt x="163" y="195"/>
                  </a:lnTo>
                  <a:lnTo>
                    <a:pt x="154" y="195"/>
                  </a:lnTo>
                  <a:lnTo>
                    <a:pt x="147" y="195"/>
                  </a:lnTo>
                  <a:lnTo>
                    <a:pt x="140" y="195"/>
                  </a:lnTo>
                  <a:lnTo>
                    <a:pt x="135" y="195"/>
                  </a:lnTo>
                  <a:lnTo>
                    <a:pt x="121" y="194"/>
                  </a:lnTo>
                  <a:lnTo>
                    <a:pt x="108" y="193"/>
                  </a:lnTo>
                  <a:lnTo>
                    <a:pt x="93" y="191"/>
                  </a:lnTo>
                  <a:lnTo>
                    <a:pt x="79" y="188"/>
                  </a:lnTo>
                  <a:lnTo>
                    <a:pt x="64" y="185"/>
                  </a:lnTo>
                  <a:lnTo>
                    <a:pt x="50" y="178"/>
                  </a:lnTo>
                  <a:lnTo>
                    <a:pt x="37" y="169"/>
                  </a:lnTo>
                  <a:lnTo>
                    <a:pt x="22" y="155"/>
                  </a:lnTo>
                  <a:lnTo>
                    <a:pt x="19" y="140"/>
                  </a:lnTo>
                  <a:lnTo>
                    <a:pt x="21" y="126"/>
                  </a:lnTo>
                  <a:lnTo>
                    <a:pt x="26" y="111"/>
                  </a:lnTo>
                  <a:lnTo>
                    <a:pt x="35" y="98"/>
                  </a:lnTo>
                  <a:lnTo>
                    <a:pt x="48" y="85"/>
                  </a:lnTo>
                  <a:lnTo>
                    <a:pt x="63" y="73"/>
                  </a:lnTo>
                  <a:lnTo>
                    <a:pt x="79" y="63"/>
                  </a:lnTo>
                  <a:lnTo>
                    <a:pt x="98" y="52"/>
                  </a:lnTo>
                  <a:lnTo>
                    <a:pt x="117" y="43"/>
                  </a:lnTo>
                  <a:lnTo>
                    <a:pt x="137" y="35"/>
                  </a:lnTo>
                  <a:lnTo>
                    <a:pt x="157" y="28"/>
                  </a:lnTo>
                  <a:lnTo>
                    <a:pt x="176" y="21"/>
                  </a:lnTo>
                  <a:lnTo>
                    <a:pt x="196" y="16"/>
                  </a:lnTo>
                  <a:lnTo>
                    <a:pt x="214" y="11"/>
                  </a:lnTo>
                  <a:lnTo>
                    <a:pt x="231" y="8"/>
                  </a:lnTo>
                  <a:lnTo>
                    <a:pt x="246" y="6"/>
                  </a:lnTo>
                  <a:lnTo>
                    <a:pt x="236" y="2"/>
                  </a:lnTo>
                  <a:lnTo>
                    <a:pt x="220" y="0"/>
                  </a:lnTo>
                  <a:lnTo>
                    <a:pt x="201" y="2"/>
                  </a:lnTo>
                  <a:lnTo>
                    <a:pt x="179" y="5"/>
                  </a:lnTo>
                  <a:lnTo>
                    <a:pt x="154" y="10"/>
                  </a:lnTo>
                  <a:lnTo>
                    <a:pt x="131" y="16"/>
                  </a:lnTo>
                  <a:lnTo>
                    <a:pt x="109" y="24"/>
                  </a:lnTo>
                  <a:lnTo>
                    <a:pt x="90" y="32"/>
                  </a:lnTo>
                  <a:close/>
                </a:path>
              </a:pathLst>
            </a:custGeom>
            <a:solidFill>
              <a:srgbClr val="000000"/>
            </a:solidFill>
            <a:ln w="9525">
              <a:noFill/>
            </a:ln>
          </p:spPr>
          <p:txBody>
            <a:bodyPr/>
            <a:p>
              <a:endParaRPr lang="zh-CN" altLang="en-US"/>
            </a:p>
          </p:txBody>
        </p:sp>
        <p:sp>
          <p:nvSpPr>
            <p:cNvPr id="16442" name="Freeform 163"/>
            <p:cNvSpPr/>
            <p:nvPr/>
          </p:nvSpPr>
          <p:spPr>
            <a:xfrm>
              <a:off x="4989" y="303"/>
              <a:ext cx="53" cy="82"/>
            </a:xfrm>
            <a:custGeom>
              <a:avLst/>
              <a:gdLst/>
              <a:ahLst/>
              <a:cxnLst>
                <a:cxn ang="0">
                  <a:pos x="15" y="14"/>
                </a:cxn>
                <a:cxn ang="0">
                  <a:pos x="15" y="18"/>
                </a:cxn>
                <a:cxn ang="0">
                  <a:pos x="15" y="22"/>
                </a:cxn>
                <a:cxn ang="0">
                  <a:pos x="14" y="25"/>
                </a:cxn>
                <a:cxn ang="0">
                  <a:pos x="12" y="28"/>
                </a:cxn>
                <a:cxn ang="0">
                  <a:pos x="10" y="30"/>
                </a:cxn>
                <a:cxn ang="0">
                  <a:pos x="8" y="33"/>
                </a:cxn>
                <a:cxn ang="0">
                  <a:pos x="6" y="35"/>
                </a:cxn>
                <a:cxn ang="0">
                  <a:pos x="4" y="38"/>
                </a:cxn>
                <a:cxn ang="0">
                  <a:pos x="4" y="38"/>
                </a:cxn>
                <a:cxn ang="0">
                  <a:pos x="4" y="39"/>
                </a:cxn>
                <a:cxn ang="0">
                  <a:pos x="4" y="40"/>
                </a:cxn>
                <a:cxn ang="0">
                  <a:pos x="4" y="40"/>
                </a:cxn>
                <a:cxn ang="0">
                  <a:pos x="4" y="41"/>
                </a:cxn>
                <a:cxn ang="0">
                  <a:pos x="5" y="41"/>
                </a:cxn>
                <a:cxn ang="0">
                  <a:pos x="5" y="41"/>
                </a:cxn>
                <a:cxn ang="0">
                  <a:pos x="6" y="41"/>
                </a:cxn>
                <a:cxn ang="0">
                  <a:pos x="8" y="39"/>
                </a:cxn>
                <a:cxn ang="0">
                  <a:pos x="11" y="36"/>
                </a:cxn>
                <a:cxn ang="0">
                  <a:pos x="13" y="33"/>
                </a:cxn>
                <a:cxn ang="0">
                  <a:pos x="15" y="30"/>
                </a:cxn>
                <a:cxn ang="0">
                  <a:pos x="16" y="26"/>
                </a:cxn>
                <a:cxn ang="0">
                  <a:pos x="17" y="22"/>
                </a:cxn>
                <a:cxn ang="0">
                  <a:pos x="18" y="18"/>
                </a:cxn>
                <a:cxn ang="0">
                  <a:pos x="17" y="13"/>
                </a:cxn>
                <a:cxn ang="0">
                  <a:pos x="16" y="10"/>
                </a:cxn>
                <a:cxn ang="0">
                  <a:pos x="14" y="6"/>
                </a:cxn>
                <a:cxn ang="0">
                  <a:pos x="11" y="4"/>
                </a:cxn>
                <a:cxn ang="0">
                  <a:pos x="8" y="2"/>
                </a:cxn>
                <a:cxn ang="0">
                  <a:pos x="6" y="1"/>
                </a:cxn>
                <a:cxn ang="0">
                  <a:pos x="3" y="0"/>
                </a:cxn>
                <a:cxn ang="0">
                  <a:pos x="1" y="1"/>
                </a:cxn>
                <a:cxn ang="0">
                  <a:pos x="0" y="2"/>
                </a:cxn>
                <a:cxn ang="0">
                  <a:pos x="2" y="3"/>
                </a:cxn>
                <a:cxn ang="0">
                  <a:pos x="4" y="3"/>
                </a:cxn>
                <a:cxn ang="0">
                  <a:pos x="7" y="4"/>
                </a:cxn>
                <a:cxn ang="0">
                  <a:pos x="9" y="5"/>
                </a:cxn>
                <a:cxn ang="0">
                  <a:pos x="11" y="6"/>
                </a:cxn>
                <a:cxn ang="0">
                  <a:pos x="13" y="8"/>
                </a:cxn>
                <a:cxn ang="0">
                  <a:pos x="14" y="11"/>
                </a:cxn>
                <a:cxn ang="0">
                  <a:pos x="15" y="14"/>
                </a:cxn>
              </a:cxnLst>
              <a:pathLst>
                <a:path w="158" h="164">
                  <a:moveTo>
                    <a:pt x="133" y="54"/>
                  </a:moveTo>
                  <a:lnTo>
                    <a:pt x="138" y="72"/>
                  </a:lnTo>
                  <a:lnTo>
                    <a:pt x="135" y="86"/>
                  </a:lnTo>
                  <a:lnTo>
                    <a:pt x="125" y="99"/>
                  </a:lnTo>
                  <a:lnTo>
                    <a:pt x="110" y="110"/>
                  </a:lnTo>
                  <a:lnTo>
                    <a:pt x="93" y="120"/>
                  </a:lnTo>
                  <a:lnTo>
                    <a:pt x="74" y="130"/>
                  </a:lnTo>
                  <a:lnTo>
                    <a:pt x="53" y="140"/>
                  </a:lnTo>
                  <a:lnTo>
                    <a:pt x="36" y="149"/>
                  </a:lnTo>
                  <a:lnTo>
                    <a:pt x="33" y="152"/>
                  </a:lnTo>
                  <a:lnTo>
                    <a:pt x="32" y="154"/>
                  </a:lnTo>
                  <a:lnTo>
                    <a:pt x="32" y="157"/>
                  </a:lnTo>
                  <a:lnTo>
                    <a:pt x="35" y="160"/>
                  </a:lnTo>
                  <a:lnTo>
                    <a:pt x="37" y="163"/>
                  </a:lnTo>
                  <a:lnTo>
                    <a:pt x="42" y="164"/>
                  </a:lnTo>
                  <a:lnTo>
                    <a:pt x="46" y="164"/>
                  </a:lnTo>
                  <a:lnTo>
                    <a:pt x="51" y="163"/>
                  </a:lnTo>
                  <a:lnTo>
                    <a:pt x="72" y="153"/>
                  </a:lnTo>
                  <a:lnTo>
                    <a:pt x="94" y="143"/>
                  </a:lnTo>
                  <a:lnTo>
                    <a:pt x="114" y="132"/>
                  </a:lnTo>
                  <a:lnTo>
                    <a:pt x="133" y="118"/>
                  </a:lnTo>
                  <a:lnTo>
                    <a:pt x="146" y="104"/>
                  </a:lnTo>
                  <a:lnTo>
                    <a:pt x="155" y="87"/>
                  </a:lnTo>
                  <a:lnTo>
                    <a:pt x="158" y="70"/>
                  </a:lnTo>
                  <a:lnTo>
                    <a:pt x="152" y="51"/>
                  </a:lnTo>
                  <a:lnTo>
                    <a:pt x="139" y="37"/>
                  </a:lnTo>
                  <a:lnTo>
                    <a:pt x="122" y="24"/>
                  </a:lnTo>
                  <a:lnTo>
                    <a:pt x="99" y="14"/>
                  </a:lnTo>
                  <a:lnTo>
                    <a:pt x="75" y="7"/>
                  </a:lnTo>
                  <a:lnTo>
                    <a:pt x="51" y="2"/>
                  </a:lnTo>
                  <a:lnTo>
                    <a:pt x="29" y="0"/>
                  </a:lnTo>
                  <a:lnTo>
                    <a:pt x="11" y="1"/>
                  </a:lnTo>
                  <a:lnTo>
                    <a:pt x="0" y="5"/>
                  </a:lnTo>
                  <a:lnTo>
                    <a:pt x="20" y="9"/>
                  </a:lnTo>
                  <a:lnTo>
                    <a:pt x="40" y="12"/>
                  </a:lnTo>
                  <a:lnTo>
                    <a:pt x="59" y="15"/>
                  </a:lnTo>
                  <a:lnTo>
                    <a:pt x="78" y="19"/>
                  </a:lnTo>
                  <a:lnTo>
                    <a:pt x="96" y="24"/>
                  </a:lnTo>
                  <a:lnTo>
                    <a:pt x="112" y="32"/>
                  </a:lnTo>
                  <a:lnTo>
                    <a:pt x="125" y="41"/>
                  </a:lnTo>
                  <a:lnTo>
                    <a:pt x="133" y="54"/>
                  </a:lnTo>
                  <a:close/>
                </a:path>
              </a:pathLst>
            </a:custGeom>
            <a:solidFill>
              <a:srgbClr val="000000"/>
            </a:solidFill>
            <a:ln w="9525">
              <a:noFill/>
            </a:ln>
          </p:spPr>
          <p:txBody>
            <a:bodyPr/>
            <a:p>
              <a:endParaRPr lang="zh-CN" altLang="en-US"/>
            </a:p>
          </p:txBody>
        </p:sp>
        <p:sp>
          <p:nvSpPr>
            <p:cNvPr id="16443" name="Freeform 164"/>
            <p:cNvSpPr/>
            <p:nvPr/>
          </p:nvSpPr>
          <p:spPr>
            <a:xfrm>
              <a:off x="4796" y="285"/>
              <a:ext cx="134" cy="170"/>
            </a:xfrm>
            <a:custGeom>
              <a:avLst/>
              <a:gdLst/>
              <a:ahLst/>
              <a:cxnLst>
                <a:cxn ang="0">
                  <a:pos x="14" y="16"/>
                </a:cxn>
                <a:cxn ang="0">
                  <a:pos x="7" y="26"/>
                </a:cxn>
                <a:cxn ang="0">
                  <a:pos x="2" y="38"/>
                </a:cxn>
                <a:cxn ang="0">
                  <a:pos x="0" y="51"/>
                </a:cxn>
                <a:cxn ang="0">
                  <a:pos x="1" y="60"/>
                </a:cxn>
                <a:cxn ang="0">
                  <a:pos x="1" y="64"/>
                </a:cxn>
                <a:cxn ang="0">
                  <a:pos x="3" y="67"/>
                </a:cxn>
                <a:cxn ang="0">
                  <a:pos x="5" y="70"/>
                </a:cxn>
                <a:cxn ang="0">
                  <a:pos x="8" y="73"/>
                </a:cxn>
                <a:cxn ang="0">
                  <a:pos x="12" y="77"/>
                </a:cxn>
                <a:cxn ang="0">
                  <a:pos x="17" y="79"/>
                </a:cxn>
                <a:cxn ang="0">
                  <a:pos x="21" y="81"/>
                </a:cxn>
                <a:cxn ang="0">
                  <a:pos x="26" y="83"/>
                </a:cxn>
                <a:cxn ang="0">
                  <a:pos x="31" y="84"/>
                </a:cxn>
                <a:cxn ang="0">
                  <a:pos x="36" y="85"/>
                </a:cxn>
                <a:cxn ang="0">
                  <a:pos x="40" y="85"/>
                </a:cxn>
                <a:cxn ang="0">
                  <a:pos x="44" y="85"/>
                </a:cxn>
                <a:cxn ang="0">
                  <a:pos x="45" y="84"/>
                </a:cxn>
                <a:cxn ang="0">
                  <a:pos x="45" y="81"/>
                </a:cxn>
                <a:cxn ang="0">
                  <a:pos x="44" y="79"/>
                </a:cxn>
                <a:cxn ang="0">
                  <a:pos x="41" y="79"/>
                </a:cxn>
                <a:cxn ang="0">
                  <a:pos x="37" y="79"/>
                </a:cxn>
                <a:cxn ang="0">
                  <a:pos x="32" y="78"/>
                </a:cxn>
                <a:cxn ang="0">
                  <a:pos x="28" y="77"/>
                </a:cxn>
                <a:cxn ang="0">
                  <a:pos x="23" y="76"/>
                </a:cxn>
                <a:cxn ang="0">
                  <a:pos x="19" y="74"/>
                </a:cxn>
                <a:cxn ang="0">
                  <a:pos x="15" y="72"/>
                </a:cxn>
                <a:cxn ang="0">
                  <a:pos x="11" y="69"/>
                </a:cxn>
                <a:cxn ang="0">
                  <a:pos x="7" y="66"/>
                </a:cxn>
                <a:cxn ang="0">
                  <a:pos x="5" y="61"/>
                </a:cxn>
                <a:cxn ang="0">
                  <a:pos x="4" y="54"/>
                </a:cxn>
                <a:cxn ang="0">
                  <a:pos x="5" y="45"/>
                </a:cxn>
                <a:cxn ang="0">
                  <a:pos x="7" y="37"/>
                </a:cxn>
                <a:cxn ang="0">
                  <a:pos x="9" y="31"/>
                </a:cxn>
                <a:cxn ang="0">
                  <a:pos x="12" y="25"/>
                </a:cxn>
                <a:cxn ang="0">
                  <a:pos x="16" y="20"/>
                </a:cxn>
                <a:cxn ang="0">
                  <a:pos x="20" y="15"/>
                </a:cxn>
                <a:cxn ang="0">
                  <a:pos x="25" y="10"/>
                </a:cxn>
                <a:cxn ang="0">
                  <a:pos x="30" y="5"/>
                </a:cxn>
                <a:cxn ang="0">
                  <a:pos x="35" y="2"/>
                </a:cxn>
                <a:cxn ang="0">
                  <a:pos x="36" y="0"/>
                </a:cxn>
                <a:cxn ang="0">
                  <a:pos x="31" y="2"/>
                </a:cxn>
                <a:cxn ang="0">
                  <a:pos x="25" y="5"/>
                </a:cxn>
                <a:cxn ang="0">
                  <a:pos x="20" y="9"/>
                </a:cxn>
              </a:cxnLst>
              <a:pathLst>
                <a:path w="400" h="340">
                  <a:moveTo>
                    <a:pt x="156" y="45"/>
                  </a:moveTo>
                  <a:lnTo>
                    <a:pt x="125" y="62"/>
                  </a:lnTo>
                  <a:lnTo>
                    <a:pt x="95" y="82"/>
                  </a:lnTo>
                  <a:lnTo>
                    <a:pt x="67" y="103"/>
                  </a:lnTo>
                  <a:lnTo>
                    <a:pt x="42" y="125"/>
                  </a:lnTo>
                  <a:lnTo>
                    <a:pt x="22" y="150"/>
                  </a:lnTo>
                  <a:lnTo>
                    <a:pt x="8" y="176"/>
                  </a:lnTo>
                  <a:lnTo>
                    <a:pt x="0" y="204"/>
                  </a:lnTo>
                  <a:lnTo>
                    <a:pt x="2" y="233"/>
                  </a:lnTo>
                  <a:lnTo>
                    <a:pt x="5" y="240"/>
                  </a:lnTo>
                  <a:lnTo>
                    <a:pt x="9" y="248"/>
                  </a:lnTo>
                  <a:lnTo>
                    <a:pt x="13" y="254"/>
                  </a:lnTo>
                  <a:lnTo>
                    <a:pt x="19" y="261"/>
                  </a:lnTo>
                  <a:lnTo>
                    <a:pt x="26" y="268"/>
                  </a:lnTo>
                  <a:lnTo>
                    <a:pt x="34" y="274"/>
                  </a:lnTo>
                  <a:lnTo>
                    <a:pt x="42" y="279"/>
                  </a:lnTo>
                  <a:lnTo>
                    <a:pt x="51" y="283"/>
                  </a:lnTo>
                  <a:lnTo>
                    <a:pt x="70" y="291"/>
                  </a:lnTo>
                  <a:lnTo>
                    <a:pt x="89" y="298"/>
                  </a:lnTo>
                  <a:lnTo>
                    <a:pt x="108" y="305"/>
                  </a:lnTo>
                  <a:lnTo>
                    <a:pt x="128" y="310"/>
                  </a:lnTo>
                  <a:lnTo>
                    <a:pt x="149" y="315"/>
                  </a:lnTo>
                  <a:lnTo>
                    <a:pt x="169" y="319"/>
                  </a:lnTo>
                  <a:lnTo>
                    <a:pt x="189" y="323"/>
                  </a:lnTo>
                  <a:lnTo>
                    <a:pt x="210" y="326"/>
                  </a:lnTo>
                  <a:lnTo>
                    <a:pt x="231" y="329"/>
                  </a:lnTo>
                  <a:lnTo>
                    <a:pt x="253" y="331"/>
                  </a:lnTo>
                  <a:lnTo>
                    <a:pt x="274" y="334"/>
                  </a:lnTo>
                  <a:lnTo>
                    <a:pt x="295" y="336"/>
                  </a:lnTo>
                  <a:lnTo>
                    <a:pt x="317" y="337"/>
                  </a:lnTo>
                  <a:lnTo>
                    <a:pt x="339" y="338"/>
                  </a:lnTo>
                  <a:lnTo>
                    <a:pt x="359" y="339"/>
                  </a:lnTo>
                  <a:lnTo>
                    <a:pt x="381" y="340"/>
                  </a:lnTo>
                  <a:lnTo>
                    <a:pt x="387" y="340"/>
                  </a:lnTo>
                  <a:lnTo>
                    <a:pt x="393" y="337"/>
                  </a:lnTo>
                  <a:lnTo>
                    <a:pt x="397" y="334"/>
                  </a:lnTo>
                  <a:lnTo>
                    <a:pt x="400" y="328"/>
                  </a:lnTo>
                  <a:lnTo>
                    <a:pt x="400" y="323"/>
                  </a:lnTo>
                  <a:lnTo>
                    <a:pt x="397" y="319"/>
                  </a:lnTo>
                  <a:lnTo>
                    <a:pt x="391" y="316"/>
                  </a:lnTo>
                  <a:lnTo>
                    <a:pt x="385" y="315"/>
                  </a:lnTo>
                  <a:lnTo>
                    <a:pt x="365" y="315"/>
                  </a:lnTo>
                  <a:lnTo>
                    <a:pt x="346" y="315"/>
                  </a:lnTo>
                  <a:lnTo>
                    <a:pt x="326" y="314"/>
                  </a:lnTo>
                  <a:lnTo>
                    <a:pt x="307" y="313"/>
                  </a:lnTo>
                  <a:lnTo>
                    <a:pt x="287" y="312"/>
                  </a:lnTo>
                  <a:lnTo>
                    <a:pt x="266" y="310"/>
                  </a:lnTo>
                  <a:lnTo>
                    <a:pt x="247" y="308"/>
                  </a:lnTo>
                  <a:lnTo>
                    <a:pt x="227" y="306"/>
                  </a:lnTo>
                  <a:lnTo>
                    <a:pt x="208" y="303"/>
                  </a:lnTo>
                  <a:lnTo>
                    <a:pt x="188" y="300"/>
                  </a:lnTo>
                  <a:lnTo>
                    <a:pt x="169" y="295"/>
                  </a:lnTo>
                  <a:lnTo>
                    <a:pt x="150" y="291"/>
                  </a:lnTo>
                  <a:lnTo>
                    <a:pt x="131" y="287"/>
                  </a:lnTo>
                  <a:lnTo>
                    <a:pt x="114" y="281"/>
                  </a:lnTo>
                  <a:lnTo>
                    <a:pt x="95" y="275"/>
                  </a:lnTo>
                  <a:lnTo>
                    <a:pt x="77" y="269"/>
                  </a:lnTo>
                  <a:lnTo>
                    <a:pt x="63" y="261"/>
                  </a:lnTo>
                  <a:lnTo>
                    <a:pt x="51" y="251"/>
                  </a:lnTo>
                  <a:lnTo>
                    <a:pt x="44" y="241"/>
                  </a:lnTo>
                  <a:lnTo>
                    <a:pt x="38" y="228"/>
                  </a:lnTo>
                  <a:lnTo>
                    <a:pt x="38" y="214"/>
                  </a:lnTo>
                  <a:lnTo>
                    <a:pt x="41" y="195"/>
                  </a:lnTo>
                  <a:lnTo>
                    <a:pt x="47" y="177"/>
                  </a:lnTo>
                  <a:lnTo>
                    <a:pt x="53" y="163"/>
                  </a:lnTo>
                  <a:lnTo>
                    <a:pt x="63" y="148"/>
                  </a:lnTo>
                  <a:lnTo>
                    <a:pt x="74" y="135"/>
                  </a:lnTo>
                  <a:lnTo>
                    <a:pt x="85" y="122"/>
                  </a:lnTo>
                  <a:lnTo>
                    <a:pt x="98" y="111"/>
                  </a:lnTo>
                  <a:lnTo>
                    <a:pt x="111" y="100"/>
                  </a:lnTo>
                  <a:lnTo>
                    <a:pt x="125" y="89"/>
                  </a:lnTo>
                  <a:lnTo>
                    <a:pt x="141" y="79"/>
                  </a:lnTo>
                  <a:lnTo>
                    <a:pt x="160" y="68"/>
                  </a:lnTo>
                  <a:lnTo>
                    <a:pt x="179" y="57"/>
                  </a:lnTo>
                  <a:lnTo>
                    <a:pt x="201" y="47"/>
                  </a:lnTo>
                  <a:lnTo>
                    <a:pt x="224" y="37"/>
                  </a:lnTo>
                  <a:lnTo>
                    <a:pt x="249" y="27"/>
                  </a:lnTo>
                  <a:lnTo>
                    <a:pt x="272" y="19"/>
                  </a:lnTo>
                  <a:lnTo>
                    <a:pt x="294" y="12"/>
                  </a:lnTo>
                  <a:lnTo>
                    <a:pt x="314" y="6"/>
                  </a:lnTo>
                  <a:lnTo>
                    <a:pt x="332" y="1"/>
                  </a:lnTo>
                  <a:lnTo>
                    <a:pt x="316" y="0"/>
                  </a:lnTo>
                  <a:lnTo>
                    <a:pt x="295" y="1"/>
                  </a:lnTo>
                  <a:lnTo>
                    <a:pt x="274" y="5"/>
                  </a:lnTo>
                  <a:lnTo>
                    <a:pt x="249" y="10"/>
                  </a:lnTo>
                  <a:lnTo>
                    <a:pt x="224" y="17"/>
                  </a:lnTo>
                  <a:lnTo>
                    <a:pt x="199" y="25"/>
                  </a:lnTo>
                  <a:lnTo>
                    <a:pt x="176" y="35"/>
                  </a:lnTo>
                  <a:lnTo>
                    <a:pt x="156" y="45"/>
                  </a:lnTo>
                  <a:close/>
                </a:path>
              </a:pathLst>
            </a:custGeom>
            <a:solidFill>
              <a:srgbClr val="000000"/>
            </a:solidFill>
            <a:ln w="9525">
              <a:noFill/>
            </a:ln>
          </p:spPr>
          <p:txBody>
            <a:bodyPr/>
            <a:p>
              <a:endParaRPr lang="zh-CN" altLang="en-US"/>
            </a:p>
          </p:txBody>
        </p:sp>
        <p:sp>
          <p:nvSpPr>
            <p:cNvPr id="16444" name="Freeform 165"/>
            <p:cNvSpPr/>
            <p:nvPr/>
          </p:nvSpPr>
          <p:spPr>
            <a:xfrm>
              <a:off x="4984" y="279"/>
              <a:ext cx="117" cy="114"/>
            </a:xfrm>
            <a:custGeom>
              <a:avLst/>
              <a:gdLst/>
              <a:ahLst/>
              <a:cxnLst>
                <a:cxn ang="0">
                  <a:pos x="33" y="18"/>
                </a:cxn>
                <a:cxn ang="0">
                  <a:pos x="35" y="21"/>
                </a:cxn>
                <a:cxn ang="0">
                  <a:pos x="36" y="25"/>
                </a:cxn>
                <a:cxn ang="0">
                  <a:pos x="36" y="29"/>
                </a:cxn>
                <a:cxn ang="0">
                  <a:pos x="36" y="33"/>
                </a:cxn>
                <a:cxn ang="0">
                  <a:pos x="36" y="36"/>
                </a:cxn>
                <a:cxn ang="0">
                  <a:pos x="35" y="39"/>
                </a:cxn>
                <a:cxn ang="0">
                  <a:pos x="34" y="42"/>
                </a:cxn>
                <a:cxn ang="0">
                  <a:pos x="33" y="44"/>
                </a:cxn>
                <a:cxn ang="0">
                  <a:pos x="32" y="47"/>
                </a:cxn>
                <a:cxn ang="0">
                  <a:pos x="30" y="49"/>
                </a:cxn>
                <a:cxn ang="0">
                  <a:pos x="28" y="51"/>
                </a:cxn>
                <a:cxn ang="0">
                  <a:pos x="27" y="53"/>
                </a:cxn>
                <a:cxn ang="0">
                  <a:pos x="26" y="54"/>
                </a:cxn>
                <a:cxn ang="0">
                  <a:pos x="26" y="55"/>
                </a:cxn>
                <a:cxn ang="0">
                  <a:pos x="26" y="56"/>
                </a:cxn>
                <a:cxn ang="0">
                  <a:pos x="27" y="56"/>
                </a:cxn>
                <a:cxn ang="0">
                  <a:pos x="27" y="57"/>
                </a:cxn>
                <a:cxn ang="0">
                  <a:pos x="28" y="57"/>
                </a:cxn>
                <a:cxn ang="0">
                  <a:pos x="28" y="57"/>
                </a:cxn>
                <a:cxn ang="0">
                  <a:pos x="29" y="56"/>
                </a:cxn>
                <a:cxn ang="0">
                  <a:pos x="33" y="53"/>
                </a:cxn>
                <a:cxn ang="0">
                  <a:pos x="35" y="49"/>
                </a:cxn>
                <a:cxn ang="0">
                  <a:pos x="37" y="43"/>
                </a:cxn>
                <a:cxn ang="0">
                  <a:pos x="39" y="38"/>
                </a:cxn>
                <a:cxn ang="0">
                  <a:pos x="39" y="32"/>
                </a:cxn>
                <a:cxn ang="0">
                  <a:pos x="39" y="26"/>
                </a:cxn>
                <a:cxn ang="0">
                  <a:pos x="38" y="21"/>
                </a:cxn>
                <a:cxn ang="0">
                  <a:pos x="35" y="16"/>
                </a:cxn>
                <a:cxn ang="0">
                  <a:pos x="33" y="14"/>
                </a:cxn>
                <a:cxn ang="0">
                  <a:pos x="31" y="11"/>
                </a:cxn>
                <a:cxn ang="0">
                  <a:pos x="28" y="9"/>
                </a:cxn>
                <a:cxn ang="0">
                  <a:pos x="25" y="7"/>
                </a:cxn>
                <a:cxn ang="0">
                  <a:pos x="23" y="6"/>
                </a:cxn>
                <a:cxn ang="0">
                  <a:pos x="20" y="5"/>
                </a:cxn>
                <a:cxn ang="0">
                  <a:pos x="17" y="3"/>
                </a:cxn>
                <a:cxn ang="0">
                  <a:pos x="14" y="2"/>
                </a:cxn>
                <a:cxn ang="0">
                  <a:pos x="11" y="1"/>
                </a:cxn>
                <a:cxn ang="0">
                  <a:pos x="9" y="1"/>
                </a:cxn>
                <a:cxn ang="0">
                  <a:pos x="6" y="0"/>
                </a:cxn>
                <a:cxn ang="0">
                  <a:pos x="4" y="0"/>
                </a:cxn>
                <a:cxn ang="0">
                  <a:pos x="3" y="0"/>
                </a:cxn>
                <a:cxn ang="0">
                  <a:pos x="1" y="1"/>
                </a:cxn>
                <a:cxn ang="0">
                  <a:pos x="1" y="1"/>
                </a:cxn>
                <a:cxn ang="0">
                  <a:pos x="0" y="2"/>
                </a:cxn>
                <a:cxn ang="0">
                  <a:pos x="2" y="2"/>
                </a:cxn>
                <a:cxn ang="0">
                  <a:pos x="3" y="3"/>
                </a:cxn>
                <a:cxn ang="0">
                  <a:pos x="5" y="3"/>
                </a:cxn>
                <a:cxn ang="0">
                  <a:pos x="7" y="4"/>
                </a:cxn>
                <a:cxn ang="0">
                  <a:pos x="9" y="4"/>
                </a:cxn>
                <a:cxn ang="0">
                  <a:pos x="11" y="5"/>
                </a:cxn>
                <a:cxn ang="0">
                  <a:pos x="14" y="5"/>
                </a:cxn>
                <a:cxn ang="0">
                  <a:pos x="16" y="6"/>
                </a:cxn>
                <a:cxn ang="0">
                  <a:pos x="18" y="7"/>
                </a:cxn>
                <a:cxn ang="0">
                  <a:pos x="20" y="8"/>
                </a:cxn>
                <a:cxn ang="0">
                  <a:pos x="22" y="9"/>
                </a:cxn>
                <a:cxn ang="0">
                  <a:pos x="25" y="11"/>
                </a:cxn>
                <a:cxn ang="0">
                  <a:pos x="27" y="12"/>
                </a:cxn>
                <a:cxn ang="0">
                  <a:pos x="29" y="14"/>
                </a:cxn>
                <a:cxn ang="0">
                  <a:pos x="31" y="16"/>
                </a:cxn>
                <a:cxn ang="0">
                  <a:pos x="33" y="18"/>
                </a:cxn>
              </a:cxnLst>
              <a:pathLst>
                <a:path w="349" h="227">
                  <a:moveTo>
                    <a:pt x="291" y="70"/>
                  </a:moveTo>
                  <a:lnTo>
                    <a:pt x="307" y="83"/>
                  </a:lnTo>
                  <a:lnTo>
                    <a:pt x="316" y="97"/>
                  </a:lnTo>
                  <a:lnTo>
                    <a:pt x="321" y="113"/>
                  </a:lnTo>
                  <a:lnTo>
                    <a:pt x="321" y="129"/>
                  </a:lnTo>
                  <a:lnTo>
                    <a:pt x="318" y="142"/>
                  </a:lnTo>
                  <a:lnTo>
                    <a:pt x="313" y="154"/>
                  </a:lnTo>
                  <a:lnTo>
                    <a:pt x="302" y="165"/>
                  </a:lnTo>
                  <a:lnTo>
                    <a:pt x="292" y="174"/>
                  </a:lnTo>
                  <a:lnTo>
                    <a:pt x="279" y="185"/>
                  </a:lnTo>
                  <a:lnTo>
                    <a:pt x="266" y="193"/>
                  </a:lnTo>
                  <a:lnTo>
                    <a:pt x="253" y="202"/>
                  </a:lnTo>
                  <a:lnTo>
                    <a:pt x="240" y="212"/>
                  </a:lnTo>
                  <a:lnTo>
                    <a:pt x="237" y="215"/>
                  </a:lnTo>
                  <a:lnTo>
                    <a:pt x="236" y="218"/>
                  </a:lnTo>
                  <a:lnTo>
                    <a:pt x="237" y="221"/>
                  </a:lnTo>
                  <a:lnTo>
                    <a:pt x="240" y="224"/>
                  </a:lnTo>
                  <a:lnTo>
                    <a:pt x="244" y="226"/>
                  </a:lnTo>
                  <a:lnTo>
                    <a:pt x="249" y="227"/>
                  </a:lnTo>
                  <a:lnTo>
                    <a:pt x="254" y="226"/>
                  </a:lnTo>
                  <a:lnTo>
                    <a:pt x="259" y="224"/>
                  </a:lnTo>
                  <a:lnTo>
                    <a:pt x="288" y="211"/>
                  </a:lnTo>
                  <a:lnTo>
                    <a:pt x="311" y="193"/>
                  </a:lnTo>
                  <a:lnTo>
                    <a:pt x="331" y="172"/>
                  </a:lnTo>
                  <a:lnTo>
                    <a:pt x="345" y="151"/>
                  </a:lnTo>
                  <a:lnTo>
                    <a:pt x="349" y="127"/>
                  </a:lnTo>
                  <a:lnTo>
                    <a:pt x="346" y="104"/>
                  </a:lnTo>
                  <a:lnTo>
                    <a:pt x="334" y="83"/>
                  </a:lnTo>
                  <a:lnTo>
                    <a:pt x="311" y="63"/>
                  </a:lnTo>
                  <a:lnTo>
                    <a:pt x="294" y="53"/>
                  </a:lnTo>
                  <a:lnTo>
                    <a:pt x="273" y="44"/>
                  </a:lnTo>
                  <a:lnTo>
                    <a:pt x="250" y="35"/>
                  </a:lnTo>
                  <a:lnTo>
                    <a:pt x="227" y="28"/>
                  </a:lnTo>
                  <a:lnTo>
                    <a:pt x="202" y="22"/>
                  </a:lnTo>
                  <a:lnTo>
                    <a:pt x="176" y="17"/>
                  </a:lnTo>
                  <a:lnTo>
                    <a:pt x="151" y="12"/>
                  </a:lnTo>
                  <a:lnTo>
                    <a:pt x="125" y="7"/>
                  </a:lnTo>
                  <a:lnTo>
                    <a:pt x="102" y="4"/>
                  </a:lnTo>
                  <a:lnTo>
                    <a:pt x="79" y="2"/>
                  </a:lnTo>
                  <a:lnTo>
                    <a:pt x="58" y="0"/>
                  </a:lnTo>
                  <a:lnTo>
                    <a:pt x="39" y="0"/>
                  </a:lnTo>
                  <a:lnTo>
                    <a:pt x="23" y="0"/>
                  </a:lnTo>
                  <a:lnTo>
                    <a:pt x="12" y="1"/>
                  </a:lnTo>
                  <a:lnTo>
                    <a:pt x="5" y="3"/>
                  </a:lnTo>
                  <a:lnTo>
                    <a:pt x="0" y="5"/>
                  </a:lnTo>
                  <a:lnTo>
                    <a:pt x="15" y="7"/>
                  </a:lnTo>
                  <a:lnTo>
                    <a:pt x="31" y="9"/>
                  </a:lnTo>
                  <a:lnTo>
                    <a:pt x="47" y="11"/>
                  </a:lnTo>
                  <a:lnTo>
                    <a:pt x="64" y="13"/>
                  </a:lnTo>
                  <a:lnTo>
                    <a:pt x="83" y="15"/>
                  </a:lnTo>
                  <a:lnTo>
                    <a:pt x="102" y="17"/>
                  </a:lnTo>
                  <a:lnTo>
                    <a:pt x="121" y="20"/>
                  </a:lnTo>
                  <a:lnTo>
                    <a:pt x="141" y="23"/>
                  </a:lnTo>
                  <a:lnTo>
                    <a:pt x="160" y="27"/>
                  </a:lnTo>
                  <a:lnTo>
                    <a:pt x="180" y="31"/>
                  </a:lnTo>
                  <a:lnTo>
                    <a:pt x="201" y="36"/>
                  </a:lnTo>
                  <a:lnTo>
                    <a:pt x="220" y="41"/>
                  </a:lnTo>
                  <a:lnTo>
                    <a:pt x="238" y="48"/>
                  </a:lnTo>
                  <a:lnTo>
                    <a:pt x="257" y="54"/>
                  </a:lnTo>
                  <a:lnTo>
                    <a:pt x="275" y="62"/>
                  </a:lnTo>
                  <a:lnTo>
                    <a:pt x="291" y="70"/>
                  </a:lnTo>
                  <a:close/>
                </a:path>
              </a:pathLst>
            </a:custGeom>
            <a:solidFill>
              <a:srgbClr val="000000"/>
            </a:solidFill>
            <a:ln w="9525">
              <a:noFill/>
            </a:ln>
          </p:spPr>
          <p:txBody>
            <a:bodyPr/>
            <a:p>
              <a:endParaRPr lang="zh-CN" altLang="en-US"/>
            </a:p>
          </p:txBody>
        </p:sp>
        <p:sp>
          <p:nvSpPr>
            <p:cNvPr id="16445" name="Freeform 166"/>
            <p:cNvSpPr/>
            <p:nvPr/>
          </p:nvSpPr>
          <p:spPr>
            <a:xfrm>
              <a:off x="4750" y="340"/>
              <a:ext cx="48" cy="107"/>
            </a:xfrm>
            <a:custGeom>
              <a:avLst/>
              <a:gdLst/>
              <a:ahLst/>
              <a:cxnLst>
                <a:cxn ang="0">
                  <a:pos x="0" y="29"/>
                </a:cxn>
                <a:cxn ang="0">
                  <a:pos x="0" y="34"/>
                </a:cxn>
                <a:cxn ang="0">
                  <a:pos x="1" y="38"/>
                </a:cxn>
                <a:cxn ang="0">
                  <a:pos x="2" y="42"/>
                </a:cxn>
                <a:cxn ang="0">
                  <a:pos x="3" y="45"/>
                </a:cxn>
                <a:cxn ang="0">
                  <a:pos x="5" y="48"/>
                </a:cxn>
                <a:cxn ang="0">
                  <a:pos x="8" y="51"/>
                </a:cxn>
                <a:cxn ang="0">
                  <a:pos x="10" y="52"/>
                </a:cxn>
                <a:cxn ang="0">
                  <a:pos x="13" y="54"/>
                </a:cxn>
                <a:cxn ang="0">
                  <a:pos x="14" y="54"/>
                </a:cxn>
                <a:cxn ang="0">
                  <a:pos x="15" y="54"/>
                </a:cxn>
                <a:cxn ang="0">
                  <a:pos x="15" y="52"/>
                </a:cxn>
                <a:cxn ang="0">
                  <a:pos x="15" y="51"/>
                </a:cxn>
                <a:cxn ang="0">
                  <a:pos x="15" y="50"/>
                </a:cxn>
                <a:cxn ang="0">
                  <a:pos x="15" y="49"/>
                </a:cxn>
                <a:cxn ang="0">
                  <a:pos x="15" y="48"/>
                </a:cxn>
                <a:cxn ang="0">
                  <a:pos x="14" y="47"/>
                </a:cxn>
                <a:cxn ang="0">
                  <a:pos x="11" y="46"/>
                </a:cxn>
                <a:cxn ang="0">
                  <a:pos x="9" y="44"/>
                </a:cxn>
                <a:cxn ang="0">
                  <a:pos x="7" y="41"/>
                </a:cxn>
                <a:cxn ang="0">
                  <a:pos x="6" y="38"/>
                </a:cxn>
                <a:cxn ang="0">
                  <a:pos x="5" y="34"/>
                </a:cxn>
                <a:cxn ang="0">
                  <a:pos x="4" y="30"/>
                </a:cxn>
                <a:cxn ang="0">
                  <a:pos x="4" y="25"/>
                </a:cxn>
                <a:cxn ang="0">
                  <a:pos x="5" y="20"/>
                </a:cxn>
                <a:cxn ang="0">
                  <a:pos x="6" y="17"/>
                </a:cxn>
                <a:cxn ang="0">
                  <a:pos x="8" y="14"/>
                </a:cxn>
                <a:cxn ang="0">
                  <a:pos x="10" y="11"/>
                </a:cxn>
                <a:cxn ang="0">
                  <a:pos x="12" y="8"/>
                </a:cxn>
                <a:cxn ang="0">
                  <a:pos x="14" y="6"/>
                </a:cxn>
                <a:cxn ang="0">
                  <a:pos x="15" y="3"/>
                </a:cxn>
                <a:cxn ang="0">
                  <a:pos x="16" y="2"/>
                </a:cxn>
                <a:cxn ang="0">
                  <a:pos x="16" y="0"/>
                </a:cxn>
                <a:cxn ang="0">
                  <a:pos x="14" y="1"/>
                </a:cxn>
                <a:cxn ang="0">
                  <a:pos x="12" y="3"/>
                </a:cxn>
                <a:cxn ang="0">
                  <a:pos x="10" y="6"/>
                </a:cxn>
                <a:cxn ang="0">
                  <a:pos x="7" y="10"/>
                </a:cxn>
                <a:cxn ang="0">
                  <a:pos x="4" y="14"/>
                </a:cxn>
                <a:cxn ang="0">
                  <a:pos x="2" y="19"/>
                </a:cxn>
                <a:cxn ang="0">
                  <a:pos x="1" y="24"/>
                </a:cxn>
                <a:cxn ang="0">
                  <a:pos x="0" y="29"/>
                </a:cxn>
              </a:cxnLst>
              <a:pathLst>
                <a:path w="143" h="212">
                  <a:moveTo>
                    <a:pt x="0" y="115"/>
                  </a:moveTo>
                  <a:lnTo>
                    <a:pt x="0" y="133"/>
                  </a:lnTo>
                  <a:lnTo>
                    <a:pt x="6" y="149"/>
                  </a:lnTo>
                  <a:lnTo>
                    <a:pt x="16" y="165"/>
                  </a:lnTo>
                  <a:lnTo>
                    <a:pt x="31" y="178"/>
                  </a:lnTo>
                  <a:lnTo>
                    <a:pt x="48" y="190"/>
                  </a:lnTo>
                  <a:lnTo>
                    <a:pt x="69" y="200"/>
                  </a:lnTo>
                  <a:lnTo>
                    <a:pt x="92" y="207"/>
                  </a:lnTo>
                  <a:lnTo>
                    <a:pt x="115" y="211"/>
                  </a:lnTo>
                  <a:lnTo>
                    <a:pt x="122" y="212"/>
                  </a:lnTo>
                  <a:lnTo>
                    <a:pt x="130" y="210"/>
                  </a:lnTo>
                  <a:lnTo>
                    <a:pt x="135" y="207"/>
                  </a:lnTo>
                  <a:lnTo>
                    <a:pt x="138" y="203"/>
                  </a:lnTo>
                  <a:lnTo>
                    <a:pt x="138" y="198"/>
                  </a:lnTo>
                  <a:lnTo>
                    <a:pt x="137" y="193"/>
                  </a:lnTo>
                  <a:lnTo>
                    <a:pt x="133" y="189"/>
                  </a:lnTo>
                  <a:lnTo>
                    <a:pt x="125" y="186"/>
                  </a:lnTo>
                  <a:lnTo>
                    <a:pt x="102" y="180"/>
                  </a:lnTo>
                  <a:lnTo>
                    <a:pt x="80" y="172"/>
                  </a:lnTo>
                  <a:lnTo>
                    <a:pt x="63" y="161"/>
                  </a:lnTo>
                  <a:lnTo>
                    <a:pt x="50" y="148"/>
                  </a:lnTo>
                  <a:lnTo>
                    <a:pt x="41" y="133"/>
                  </a:lnTo>
                  <a:lnTo>
                    <a:pt x="37" y="116"/>
                  </a:lnTo>
                  <a:lnTo>
                    <a:pt x="37" y="99"/>
                  </a:lnTo>
                  <a:lnTo>
                    <a:pt x="44" y="80"/>
                  </a:lnTo>
                  <a:lnTo>
                    <a:pt x="54" y="67"/>
                  </a:lnTo>
                  <a:lnTo>
                    <a:pt x="70" y="54"/>
                  </a:lnTo>
                  <a:lnTo>
                    <a:pt x="87" y="41"/>
                  </a:lnTo>
                  <a:lnTo>
                    <a:pt x="106" y="30"/>
                  </a:lnTo>
                  <a:lnTo>
                    <a:pt x="122" y="21"/>
                  </a:lnTo>
                  <a:lnTo>
                    <a:pt x="135" y="11"/>
                  </a:lnTo>
                  <a:lnTo>
                    <a:pt x="143" y="5"/>
                  </a:lnTo>
                  <a:lnTo>
                    <a:pt x="143" y="0"/>
                  </a:lnTo>
                  <a:lnTo>
                    <a:pt x="127" y="4"/>
                  </a:lnTo>
                  <a:lnTo>
                    <a:pt x="106" y="11"/>
                  </a:lnTo>
                  <a:lnTo>
                    <a:pt x="85" y="24"/>
                  </a:lnTo>
                  <a:lnTo>
                    <a:pt x="61" y="38"/>
                  </a:lnTo>
                  <a:lnTo>
                    <a:pt x="40" y="55"/>
                  </a:lnTo>
                  <a:lnTo>
                    <a:pt x="22" y="74"/>
                  </a:lnTo>
                  <a:lnTo>
                    <a:pt x="8" y="95"/>
                  </a:lnTo>
                  <a:lnTo>
                    <a:pt x="0" y="115"/>
                  </a:lnTo>
                  <a:close/>
                </a:path>
              </a:pathLst>
            </a:custGeom>
            <a:solidFill>
              <a:srgbClr val="000000"/>
            </a:solidFill>
            <a:ln w="9525">
              <a:noFill/>
            </a:ln>
          </p:spPr>
          <p:txBody>
            <a:bodyPr/>
            <a:p>
              <a:endParaRPr lang="zh-CN" altLang="en-US"/>
            </a:p>
          </p:txBody>
        </p:sp>
        <p:sp>
          <p:nvSpPr>
            <p:cNvPr id="16446" name="Freeform 167"/>
            <p:cNvSpPr/>
            <p:nvPr/>
          </p:nvSpPr>
          <p:spPr>
            <a:xfrm>
              <a:off x="5081" y="272"/>
              <a:ext cx="101" cy="139"/>
            </a:xfrm>
            <a:custGeom>
              <a:avLst/>
              <a:gdLst/>
              <a:ahLst/>
              <a:cxnLst>
                <a:cxn ang="0">
                  <a:pos x="29" y="28"/>
                </a:cxn>
                <a:cxn ang="0">
                  <a:pos x="30" y="33"/>
                </a:cxn>
                <a:cxn ang="0">
                  <a:pos x="31" y="37"/>
                </a:cxn>
                <a:cxn ang="0">
                  <a:pos x="30" y="42"/>
                </a:cxn>
                <a:cxn ang="0">
                  <a:pos x="29" y="47"/>
                </a:cxn>
                <a:cxn ang="0">
                  <a:pos x="26" y="52"/>
                </a:cxn>
                <a:cxn ang="0">
                  <a:pos x="23" y="55"/>
                </a:cxn>
                <a:cxn ang="0">
                  <a:pos x="19" y="60"/>
                </a:cxn>
                <a:cxn ang="0">
                  <a:pos x="18" y="63"/>
                </a:cxn>
                <a:cxn ang="0">
                  <a:pos x="17" y="65"/>
                </a:cxn>
                <a:cxn ang="0">
                  <a:pos x="17" y="67"/>
                </a:cxn>
                <a:cxn ang="0">
                  <a:pos x="17" y="69"/>
                </a:cxn>
                <a:cxn ang="0">
                  <a:pos x="18" y="70"/>
                </a:cxn>
                <a:cxn ang="0">
                  <a:pos x="19" y="70"/>
                </a:cxn>
                <a:cxn ang="0">
                  <a:pos x="21" y="66"/>
                </a:cxn>
                <a:cxn ang="0">
                  <a:pos x="25" y="61"/>
                </a:cxn>
                <a:cxn ang="0">
                  <a:pos x="28" y="55"/>
                </a:cxn>
                <a:cxn ang="0">
                  <a:pos x="32" y="50"/>
                </a:cxn>
                <a:cxn ang="0">
                  <a:pos x="34" y="42"/>
                </a:cxn>
                <a:cxn ang="0">
                  <a:pos x="33" y="34"/>
                </a:cxn>
                <a:cxn ang="0">
                  <a:pos x="31" y="27"/>
                </a:cxn>
                <a:cxn ang="0">
                  <a:pos x="28" y="21"/>
                </a:cxn>
                <a:cxn ang="0">
                  <a:pos x="24" y="17"/>
                </a:cxn>
                <a:cxn ang="0">
                  <a:pos x="21" y="14"/>
                </a:cxn>
                <a:cxn ang="0">
                  <a:pos x="17" y="11"/>
                </a:cxn>
                <a:cxn ang="0">
                  <a:pos x="13" y="7"/>
                </a:cxn>
                <a:cxn ang="0">
                  <a:pos x="9" y="4"/>
                </a:cxn>
                <a:cxn ang="0">
                  <a:pos x="6" y="2"/>
                </a:cxn>
                <a:cxn ang="0">
                  <a:pos x="3" y="1"/>
                </a:cxn>
                <a:cxn ang="0">
                  <a:pos x="1" y="0"/>
                </a:cxn>
                <a:cxn ang="0">
                  <a:pos x="1" y="2"/>
                </a:cxn>
                <a:cxn ang="0">
                  <a:pos x="5" y="5"/>
                </a:cxn>
                <a:cxn ang="0">
                  <a:pos x="8" y="7"/>
                </a:cxn>
                <a:cxn ang="0">
                  <a:pos x="12" y="10"/>
                </a:cxn>
                <a:cxn ang="0">
                  <a:pos x="16" y="13"/>
                </a:cxn>
                <a:cxn ang="0">
                  <a:pos x="19" y="16"/>
                </a:cxn>
                <a:cxn ang="0">
                  <a:pos x="23" y="20"/>
                </a:cxn>
                <a:cxn ang="0">
                  <a:pos x="26" y="24"/>
                </a:cxn>
              </a:cxnLst>
              <a:pathLst>
                <a:path w="304" h="278">
                  <a:moveTo>
                    <a:pt x="247" y="104"/>
                  </a:moveTo>
                  <a:lnTo>
                    <a:pt x="258" y="111"/>
                  </a:lnTo>
                  <a:lnTo>
                    <a:pt x="265" y="119"/>
                  </a:lnTo>
                  <a:lnTo>
                    <a:pt x="272" y="129"/>
                  </a:lnTo>
                  <a:lnTo>
                    <a:pt x="276" y="138"/>
                  </a:lnTo>
                  <a:lnTo>
                    <a:pt x="279" y="147"/>
                  </a:lnTo>
                  <a:lnTo>
                    <a:pt x="278" y="158"/>
                  </a:lnTo>
                  <a:lnTo>
                    <a:pt x="275" y="168"/>
                  </a:lnTo>
                  <a:lnTo>
                    <a:pt x="268" y="177"/>
                  </a:lnTo>
                  <a:lnTo>
                    <a:pt x="258" y="187"/>
                  </a:lnTo>
                  <a:lnTo>
                    <a:pt x="246" y="197"/>
                  </a:lnTo>
                  <a:lnTo>
                    <a:pt x="233" y="205"/>
                  </a:lnTo>
                  <a:lnTo>
                    <a:pt x="220" y="213"/>
                  </a:lnTo>
                  <a:lnTo>
                    <a:pt x="205" y="220"/>
                  </a:lnTo>
                  <a:lnTo>
                    <a:pt x="191" y="229"/>
                  </a:lnTo>
                  <a:lnTo>
                    <a:pt x="176" y="237"/>
                  </a:lnTo>
                  <a:lnTo>
                    <a:pt x="163" y="246"/>
                  </a:lnTo>
                  <a:lnTo>
                    <a:pt x="159" y="249"/>
                  </a:lnTo>
                  <a:lnTo>
                    <a:pt x="156" y="253"/>
                  </a:lnTo>
                  <a:lnTo>
                    <a:pt x="153" y="258"/>
                  </a:lnTo>
                  <a:lnTo>
                    <a:pt x="150" y="262"/>
                  </a:lnTo>
                  <a:lnTo>
                    <a:pt x="149" y="266"/>
                  </a:lnTo>
                  <a:lnTo>
                    <a:pt x="149" y="270"/>
                  </a:lnTo>
                  <a:lnTo>
                    <a:pt x="151" y="274"/>
                  </a:lnTo>
                  <a:lnTo>
                    <a:pt x="156" y="277"/>
                  </a:lnTo>
                  <a:lnTo>
                    <a:pt x="162" y="278"/>
                  </a:lnTo>
                  <a:lnTo>
                    <a:pt x="167" y="278"/>
                  </a:lnTo>
                  <a:lnTo>
                    <a:pt x="172" y="277"/>
                  </a:lnTo>
                  <a:lnTo>
                    <a:pt x="176" y="274"/>
                  </a:lnTo>
                  <a:lnTo>
                    <a:pt x="191" y="262"/>
                  </a:lnTo>
                  <a:lnTo>
                    <a:pt x="207" y="251"/>
                  </a:lnTo>
                  <a:lnTo>
                    <a:pt x="223" y="241"/>
                  </a:lnTo>
                  <a:lnTo>
                    <a:pt x="240" y="231"/>
                  </a:lnTo>
                  <a:lnTo>
                    <a:pt x="256" y="220"/>
                  </a:lnTo>
                  <a:lnTo>
                    <a:pt x="272" y="209"/>
                  </a:lnTo>
                  <a:lnTo>
                    <a:pt x="285" y="197"/>
                  </a:lnTo>
                  <a:lnTo>
                    <a:pt x="295" y="183"/>
                  </a:lnTo>
                  <a:lnTo>
                    <a:pt x="303" y="167"/>
                  </a:lnTo>
                  <a:lnTo>
                    <a:pt x="304" y="151"/>
                  </a:lnTo>
                  <a:lnTo>
                    <a:pt x="301" y="136"/>
                  </a:lnTo>
                  <a:lnTo>
                    <a:pt x="294" y="120"/>
                  </a:lnTo>
                  <a:lnTo>
                    <a:pt x="282" y="107"/>
                  </a:lnTo>
                  <a:lnTo>
                    <a:pt x="269" y="94"/>
                  </a:lnTo>
                  <a:lnTo>
                    <a:pt x="252" y="83"/>
                  </a:lnTo>
                  <a:lnTo>
                    <a:pt x="233" y="74"/>
                  </a:lnTo>
                  <a:lnTo>
                    <a:pt x="218" y="68"/>
                  </a:lnTo>
                  <a:lnTo>
                    <a:pt x="202" y="62"/>
                  </a:lnTo>
                  <a:lnTo>
                    <a:pt x="186" y="54"/>
                  </a:lnTo>
                  <a:lnTo>
                    <a:pt x="169" y="48"/>
                  </a:lnTo>
                  <a:lnTo>
                    <a:pt x="151" y="41"/>
                  </a:lnTo>
                  <a:lnTo>
                    <a:pt x="133" y="35"/>
                  </a:lnTo>
                  <a:lnTo>
                    <a:pt x="115" y="28"/>
                  </a:lnTo>
                  <a:lnTo>
                    <a:pt x="98" y="21"/>
                  </a:lnTo>
                  <a:lnTo>
                    <a:pt x="82" y="16"/>
                  </a:lnTo>
                  <a:lnTo>
                    <a:pt x="66" y="11"/>
                  </a:lnTo>
                  <a:lnTo>
                    <a:pt x="50" y="7"/>
                  </a:lnTo>
                  <a:lnTo>
                    <a:pt x="37" y="4"/>
                  </a:lnTo>
                  <a:lnTo>
                    <a:pt x="25" y="1"/>
                  </a:lnTo>
                  <a:lnTo>
                    <a:pt x="15" y="0"/>
                  </a:lnTo>
                  <a:lnTo>
                    <a:pt x="6" y="0"/>
                  </a:lnTo>
                  <a:lnTo>
                    <a:pt x="0" y="2"/>
                  </a:lnTo>
                  <a:lnTo>
                    <a:pt x="13" y="7"/>
                  </a:lnTo>
                  <a:lnTo>
                    <a:pt x="28" y="12"/>
                  </a:lnTo>
                  <a:lnTo>
                    <a:pt x="44" y="17"/>
                  </a:lnTo>
                  <a:lnTo>
                    <a:pt x="58" y="23"/>
                  </a:lnTo>
                  <a:lnTo>
                    <a:pt x="74" y="28"/>
                  </a:lnTo>
                  <a:lnTo>
                    <a:pt x="90" y="33"/>
                  </a:lnTo>
                  <a:lnTo>
                    <a:pt x="106" y="39"/>
                  </a:lnTo>
                  <a:lnTo>
                    <a:pt x="122" y="45"/>
                  </a:lnTo>
                  <a:lnTo>
                    <a:pt x="140" y="51"/>
                  </a:lnTo>
                  <a:lnTo>
                    <a:pt x="156" y="58"/>
                  </a:lnTo>
                  <a:lnTo>
                    <a:pt x="172" y="64"/>
                  </a:lnTo>
                  <a:lnTo>
                    <a:pt x="188" y="71"/>
                  </a:lnTo>
                  <a:lnTo>
                    <a:pt x="204" y="79"/>
                  </a:lnTo>
                  <a:lnTo>
                    <a:pt x="218" y="86"/>
                  </a:lnTo>
                  <a:lnTo>
                    <a:pt x="233" y="95"/>
                  </a:lnTo>
                  <a:lnTo>
                    <a:pt x="247" y="104"/>
                  </a:lnTo>
                  <a:close/>
                </a:path>
              </a:pathLst>
            </a:custGeom>
            <a:solidFill>
              <a:srgbClr val="000000"/>
            </a:solidFill>
            <a:ln w="9525">
              <a:noFill/>
            </a:ln>
          </p:spPr>
          <p:txBody>
            <a:bodyPr/>
            <a:p>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8434"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8435"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Elements of a wireless network</a:t>
            </a:r>
            <a:r>
              <a:rPr lang="zh-CN" altLang="en-US" sz="3200" dirty="0">
                <a:ea typeface="宋体" panose="02010600030101010101" pitchFamily="2" charset="-122"/>
              </a:rPr>
              <a:t>（题）</a:t>
            </a:r>
            <a:endParaRPr lang="zh-CN" altLang="en-US" sz="3200" dirty="0">
              <a:ea typeface="宋体" panose="02010600030101010101" pitchFamily="2" charset="-122"/>
            </a:endParaRPr>
          </a:p>
        </p:txBody>
      </p:sp>
      <p:sp>
        <p:nvSpPr>
          <p:cNvPr id="18436" name="Oval 3"/>
          <p:cNvSpPr/>
          <p:nvPr/>
        </p:nvSpPr>
        <p:spPr>
          <a:xfrm>
            <a:off x="4940300" y="4667250"/>
            <a:ext cx="1755775" cy="1625600"/>
          </a:xfrm>
          <a:prstGeom prst="ellipse">
            <a:avLst/>
          </a:prstGeom>
          <a:solidFill>
            <a:srgbClr val="66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8437" name="Group 4"/>
          <p:cNvGrpSpPr/>
          <p:nvPr/>
        </p:nvGrpSpPr>
        <p:grpSpPr>
          <a:xfrm>
            <a:off x="3059113" y="2781300"/>
            <a:ext cx="2362200" cy="1762125"/>
            <a:chOff x="3839" y="1737"/>
            <a:chExt cx="1488" cy="1110"/>
          </a:xfrm>
        </p:grpSpPr>
        <p:sp>
          <p:nvSpPr>
            <p:cNvPr id="18438" name="Freeform 5"/>
            <p:cNvSpPr/>
            <p:nvPr/>
          </p:nvSpPr>
          <p:spPr>
            <a:xfrm>
              <a:off x="3839" y="1737"/>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18439" name="Text Box 6"/>
            <p:cNvSpPr txBox="1"/>
            <p:nvPr/>
          </p:nvSpPr>
          <p:spPr>
            <a:xfrm>
              <a:off x="4075" y="1947"/>
              <a:ext cx="1094" cy="404"/>
            </a:xfrm>
            <a:prstGeom prst="rect">
              <a:avLst/>
            </a:prstGeom>
            <a:noFill/>
            <a:ln w="9525">
              <a:noFill/>
            </a:ln>
          </p:spPr>
          <p:txBody>
            <a:bodyPr wrap="none" anchor="t" anchorCtr="0">
              <a:spAutoFit/>
            </a:bodyPr>
            <a:p>
              <a:pPr algn="ctr">
                <a:buClrTx/>
                <a:buFontTx/>
              </a:pPr>
              <a:r>
                <a:rPr lang="en-US" altLang="zh-CN" dirty="0">
                  <a:latin typeface="Comic Sans MS" panose="030F0702030302020204" pitchFamily="66" charset="0"/>
                  <a:ea typeface="宋体" panose="02010600030101010101" pitchFamily="2" charset="-122"/>
                </a:rPr>
                <a:t>network </a:t>
              </a:r>
              <a:endParaRPr lang="en-US" altLang="zh-CN" dirty="0">
                <a:latin typeface="Comic Sans MS" panose="030F0702030302020204" pitchFamily="66" charset="0"/>
                <a:ea typeface="宋体" panose="02010600030101010101" pitchFamily="2" charset="-122"/>
              </a:endParaRPr>
            </a:p>
            <a:p>
              <a:pPr algn="ctr">
                <a:buClrTx/>
                <a:buFontTx/>
              </a:pPr>
              <a:r>
                <a:rPr lang="en-US" altLang="zh-CN" dirty="0">
                  <a:latin typeface="Comic Sans MS" panose="030F0702030302020204" pitchFamily="66" charset="0"/>
                  <a:ea typeface="宋体" panose="02010600030101010101" pitchFamily="2" charset="-122"/>
                </a:rPr>
                <a:t>infrastructure</a:t>
              </a:r>
              <a:endParaRPr lang="en-US" altLang="zh-CN" dirty="0">
                <a:latin typeface="Comic Sans MS" panose="030F0702030302020204" pitchFamily="66" charset="0"/>
                <a:ea typeface="宋体" panose="02010600030101010101" pitchFamily="2" charset="-122"/>
              </a:endParaRPr>
            </a:p>
          </p:txBody>
        </p:sp>
      </p:grpSp>
      <p:pic>
        <p:nvPicPr>
          <p:cNvPr id="18440" name="Picture 7"/>
          <p:cNvPicPr>
            <a:picLocks noChangeAspect="1"/>
          </p:cNvPicPr>
          <p:nvPr/>
        </p:nvPicPr>
        <p:blipFill>
          <a:blip r:embed="rId1"/>
          <a:stretch>
            <a:fillRect/>
          </a:stretch>
        </p:blipFill>
        <p:spPr>
          <a:xfrm>
            <a:off x="5775325" y="5245100"/>
            <a:ext cx="214313" cy="336550"/>
          </a:xfrm>
          <a:prstGeom prst="rect">
            <a:avLst/>
          </a:prstGeom>
          <a:noFill/>
          <a:ln w="9525">
            <a:noFill/>
          </a:ln>
        </p:spPr>
      </p:pic>
      <p:grpSp>
        <p:nvGrpSpPr>
          <p:cNvPr id="18441" name="Group 8"/>
          <p:cNvGrpSpPr/>
          <p:nvPr/>
        </p:nvGrpSpPr>
        <p:grpSpPr>
          <a:xfrm>
            <a:off x="1147763" y="1709738"/>
            <a:ext cx="1755775" cy="1625600"/>
            <a:chOff x="567" y="1326"/>
            <a:chExt cx="1106" cy="1024"/>
          </a:xfrm>
        </p:grpSpPr>
        <p:sp>
          <p:nvSpPr>
            <p:cNvPr id="18442" name="Oval 9"/>
            <p:cNvSpPr/>
            <p:nvPr/>
          </p:nvSpPr>
          <p:spPr>
            <a:xfrm>
              <a:off x="567" y="1326"/>
              <a:ext cx="1106" cy="1024"/>
            </a:xfrm>
            <a:prstGeom prst="ellipse">
              <a:avLst/>
            </a:prstGeom>
            <a:solidFill>
              <a:srgbClr val="66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8443" name="Picture 10"/>
            <p:cNvPicPr>
              <a:picLocks noChangeAspect="1"/>
            </p:cNvPicPr>
            <p:nvPr/>
          </p:nvPicPr>
          <p:blipFill>
            <a:blip r:embed="rId2"/>
            <a:stretch>
              <a:fillRect/>
            </a:stretch>
          </p:blipFill>
          <p:spPr>
            <a:xfrm rot="-5400000">
              <a:off x="1032" y="1783"/>
              <a:ext cx="212" cy="135"/>
            </a:xfrm>
            <a:prstGeom prst="rect">
              <a:avLst/>
            </a:prstGeom>
            <a:solidFill>
              <a:srgbClr val="66CCFF"/>
            </a:solidFill>
            <a:ln w="9525">
              <a:noFill/>
            </a:ln>
          </p:spPr>
        </p:pic>
        <p:grpSp>
          <p:nvGrpSpPr>
            <p:cNvPr id="18444" name="Group 11"/>
            <p:cNvGrpSpPr/>
            <p:nvPr/>
          </p:nvGrpSpPr>
          <p:grpSpPr>
            <a:xfrm>
              <a:off x="1221" y="1447"/>
              <a:ext cx="252" cy="288"/>
              <a:chOff x="2870" y="1518"/>
              <a:chExt cx="292" cy="320"/>
            </a:xfrm>
          </p:grpSpPr>
          <p:graphicFrame>
            <p:nvGraphicFramePr>
              <p:cNvPr id="18445" name="Object 1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3" name="" r:id="rId3" imgW="826770" imgH="840105" progId="MS_ClipArt_Gallery.2">
                      <p:embed/>
                    </p:oleObj>
                  </mc:Choice>
                  <mc:Fallback>
                    <p:oleObj name="" r:id="rId3" imgW="826770" imgH="840105" progId="MS_ClipArt_Gallery.2">
                      <p:embed/>
                      <p:pic>
                        <p:nvPicPr>
                          <p:cNvPr id="0" name="图片 3162"/>
                          <p:cNvPicPr/>
                          <p:nvPr/>
                        </p:nvPicPr>
                        <p:blipFill>
                          <a:blip r:embed="rId4"/>
                          <a:stretch>
                            <a:fillRect/>
                          </a:stretch>
                        </p:blipFill>
                        <p:spPr>
                          <a:xfrm>
                            <a:off x="2870" y="1518"/>
                            <a:ext cx="272" cy="282"/>
                          </a:xfrm>
                          <a:prstGeom prst="rect">
                            <a:avLst/>
                          </a:prstGeom>
                          <a:solidFill>
                            <a:srgbClr val="66CCFF"/>
                          </a:solidFill>
                          <a:ln w="38100">
                            <a:noFill/>
                            <a:miter/>
                          </a:ln>
                        </p:spPr>
                      </p:pic>
                    </p:oleObj>
                  </mc:Fallback>
                </mc:AlternateContent>
              </a:graphicData>
            </a:graphic>
          </p:graphicFrame>
          <p:graphicFrame>
            <p:nvGraphicFramePr>
              <p:cNvPr id="18446" name="Object 1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8" name="" r:id="rId5" imgW="1268095" imgH="1199515" progId="MS_ClipArt_Gallery.2">
                      <p:embed/>
                    </p:oleObj>
                  </mc:Choice>
                  <mc:Fallback>
                    <p:oleObj name="" r:id="rId5" imgW="1268095" imgH="1199515" progId="MS_ClipArt_Gallery.2">
                      <p:embed/>
                      <p:pic>
                        <p:nvPicPr>
                          <p:cNvPr id="0" name="图片 3157"/>
                          <p:cNvPicPr/>
                          <p:nvPr/>
                        </p:nvPicPr>
                        <p:blipFill>
                          <a:blip r:embed="rId6"/>
                          <a:stretch>
                            <a:fillRect/>
                          </a:stretch>
                        </p:blipFill>
                        <p:spPr>
                          <a:xfrm>
                            <a:off x="2913" y="1602"/>
                            <a:ext cx="249" cy="236"/>
                          </a:xfrm>
                          <a:prstGeom prst="rect">
                            <a:avLst/>
                          </a:prstGeom>
                          <a:solidFill>
                            <a:srgbClr val="66CCFF"/>
                          </a:solidFill>
                          <a:ln w="38100">
                            <a:noFill/>
                            <a:miter/>
                          </a:ln>
                        </p:spPr>
                      </p:pic>
                    </p:oleObj>
                  </mc:Fallback>
                </mc:AlternateContent>
              </a:graphicData>
            </a:graphic>
          </p:graphicFrame>
        </p:grpSp>
        <p:grpSp>
          <p:nvGrpSpPr>
            <p:cNvPr id="18447" name="Group 14"/>
            <p:cNvGrpSpPr/>
            <p:nvPr/>
          </p:nvGrpSpPr>
          <p:grpSpPr>
            <a:xfrm>
              <a:off x="869" y="1379"/>
              <a:ext cx="252" cy="288"/>
              <a:chOff x="2870" y="1518"/>
              <a:chExt cx="292" cy="320"/>
            </a:xfrm>
          </p:grpSpPr>
          <p:graphicFrame>
            <p:nvGraphicFramePr>
              <p:cNvPr id="18448" name="Object 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0" name="" r:id="rId7" imgW="826770" imgH="840105" progId="MS_ClipArt_Gallery.2">
                      <p:embed/>
                    </p:oleObj>
                  </mc:Choice>
                  <mc:Fallback>
                    <p:oleObj name="" r:id="rId7" imgW="826770" imgH="840105" progId="MS_ClipArt_Gallery.2">
                      <p:embed/>
                      <p:pic>
                        <p:nvPicPr>
                          <p:cNvPr id="0" name="图片 3159"/>
                          <p:cNvPicPr/>
                          <p:nvPr/>
                        </p:nvPicPr>
                        <p:blipFill>
                          <a:blip r:embed="rId4"/>
                          <a:stretch>
                            <a:fillRect/>
                          </a:stretch>
                        </p:blipFill>
                        <p:spPr>
                          <a:xfrm>
                            <a:off x="2870" y="1518"/>
                            <a:ext cx="272" cy="282"/>
                          </a:xfrm>
                          <a:prstGeom prst="rect">
                            <a:avLst/>
                          </a:prstGeom>
                          <a:solidFill>
                            <a:srgbClr val="66CCFF"/>
                          </a:solidFill>
                          <a:ln w="38100">
                            <a:noFill/>
                            <a:miter/>
                          </a:ln>
                        </p:spPr>
                      </p:pic>
                    </p:oleObj>
                  </mc:Fallback>
                </mc:AlternateContent>
              </a:graphicData>
            </a:graphic>
          </p:graphicFrame>
          <p:graphicFrame>
            <p:nvGraphicFramePr>
              <p:cNvPr id="18449" name="Object 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6" name="" r:id="rId8" imgW="1268095" imgH="1199515" progId="MS_ClipArt_Gallery.2">
                      <p:embed/>
                    </p:oleObj>
                  </mc:Choice>
                  <mc:Fallback>
                    <p:oleObj name="" r:id="rId8" imgW="1268095" imgH="1199515" progId="MS_ClipArt_Gallery.2">
                      <p:embed/>
                      <p:pic>
                        <p:nvPicPr>
                          <p:cNvPr id="0" name="图片 3155"/>
                          <p:cNvPicPr/>
                          <p:nvPr/>
                        </p:nvPicPr>
                        <p:blipFill>
                          <a:blip r:embed="rId6"/>
                          <a:stretch>
                            <a:fillRect/>
                          </a:stretch>
                        </p:blipFill>
                        <p:spPr>
                          <a:xfrm>
                            <a:off x="2913" y="1602"/>
                            <a:ext cx="249" cy="236"/>
                          </a:xfrm>
                          <a:prstGeom prst="rect">
                            <a:avLst/>
                          </a:prstGeom>
                          <a:solidFill>
                            <a:srgbClr val="66CCFF"/>
                          </a:solidFill>
                          <a:ln w="38100">
                            <a:noFill/>
                            <a:miter/>
                          </a:ln>
                        </p:spPr>
                      </p:pic>
                    </p:oleObj>
                  </mc:Fallback>
                </mc:AlternateContent>
              </a:graphicData>
            </a:graphic>
          </p:graphicFrame>
        </p:grpSp>
        <p:grpSp>
          <p:nvGrpSpPr>
            <p:cNvPr id="18450" name="Group 17"/>
            <p:cNvGrpSpPr/>
            <p:nvPr/>
          </p:nvGrpSpPr>
          <p:grpSpPr>
            <a:xfrm>
              <a:off x="727" y="1878"/>
              <a:ext cx="252" cy="288"/>
              <a:chOff x="2870" y="1518"/>
              <a:chExt cx="292" cy="320"/>
            </a:xfrm>
          </p:grpSpPr>
          <p:graphicFrame>
            <p:nvGraphicFramePr>
              <p:cNvPr id="18451" name="Object 1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1" name="" r:id="rId9" imgW="826770" imgH="840105" progId="MS_ClipArt_Gallery.2">
                      <p:embed/>
                    </p:oleObj>
                  </mc:Choice>
                  <mc:Fallback>
                    <p:oleObj name="" r:id="rId9" imgW="826770" imgH="840105" progId="MS_ClipArt_Gallery.2">
                      <p:embed/>
                      <p:pic>
                        <p:nvPicPr>
                          <p:cNvPr id="0" name="图片 3160"/>
                          <p:cNvPicPr/>
                          <p:nvPr/>
                        </p:nvPicPr>
                        <p:blipFill>
                          <a:blip r:embed="rId4"/>
                          <a:stretch>
                            <a:fillRect/>
                          </a:stretch>
                        </p:blipFill>
                        <p:spPr>
                          <a:xfrm>
                            <a:off x="2870" y="1518"/>
                            <a:ext cx="272" cy="282"/>
                          </a:xfrm>
                          <a:prstGeom prst="rect">
                            <a:avLst/>
                          </a:prstGeom>
                          <a:solidFill>
                            <a:srgbClr val="66CCFF"/>
                          </a:solidFill>
                          <a:ln w="38100">
                            <a:noFill/>
                            <a:miter/>
                          </a:ln>
                        </p:spPr>
                      </p:pic>
                    </p:oleObj>
                  </mc:Fallback>
                </mc:AlternateContent>
              </a:graphicData>
            </a:graphic>
          </p:graphicFrame>
          <p:graphicFrame>
            <p:nvGraphicFramePr>
              <p:cNvPr id="18452" name="Object 1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7" name="" r:id="rId10" imgW="1268095" imgH="1199515" progId="MS_ClipArt_Gallery.2">
                      <p:embed/>
                    </p:oleObj>
                  </mc:Choice>
                  <mc:Fallback>
                    <p:oleObj name="" r:id="rId10" imgW="1268095" imgH="1199515" progId="MS_ClipArt_Gallery.2">
                      <p:embed/>
                      <p:pic>
                        <p:nvPicPr>
                          <p:cNvPr id="0" name="图片 3156"/>
                          <p:cNvPicPr/>
                          <p:nvPr/>
                        </p:nvPicPr>
                        <p:blipFill>
                          <a:blip r:embed="rId6"/>
                          <a:stretch>
                            <a:fillRect/>
                          </a:stretch>
                        </p:blipFill>
                        <p:spPr>
                          <a:xfrm>
                            <a:off x="2913" y="1602"/>
                            <a:ext cx="249" cy="236"/>
                          </a:xfrm>
                          <a:prstGeom prst="rect">
                            <a:avLst/>
                          </a:prstGeom>
                          <a:solidFill>
                            <a:srgbClr val="66CCFF"/>
                          </a:solidFill>
                          <a:ln w="38100">
                            <a:noFill/>
                            <a:miter/>
                          </a:ln>
                        </p:spPr>
                      </p:pic>
                    </p:oleObj>
                  </mc:Fallback>
                </mc:AlternateContent>
              </a:graphicData>
            </a:graphic>
          </p:graphicFrame>
        </p:grpSp>
      </p:grpSp>
      <p:sp>
        <p:nvSpPr>
          <p:cNvPr id="18453" name="Line 20"/>
          <p:cNvSpPr/>
          <p:nvPr/>
        </p:nvSpPr>
        <p:spPr>
          <a:xfrm>
            <a:off x="2176463" y="2711450"/>
            <a:ext cx="900112" cy="392113"/>
          </a:xfrm>
          <a:prstGeom prst="line">
            <a:avLst/>
          </a:prstGeom>
          <a:ln w="9525" cap="flat" cmpd="sng">
            <a:solidFill>
              <a:schemeClr val="tx1"/>
            </a:solidFill>
            <a:prstDash val="solid"/>
            <a:round/>
            <a:headEnd type="none" w="med" len="med"/>
            <a:tailEnd type="none" w="med" len="med"/>
          </a:ln>
        </p:spPr>
      </p:sp>
      <p:sp>
        <p:nvSpPr>
          <p:cNvPr id="18454" name="Oval 21"/>
          <p:cNvSpPr/>
          <p:nvPr/>
        </p:nvSpPr>
        <p:spPr>
          <a:xfrm>
            <a:off x="1243013" y="3632200"/>
            <a:ext cx="1755775" cy="1625600"/>
          </a:xfrm>
          <a:prstGeom prst="ellipse">
            <a:avLst/>
          </a:prstGeom>
          <a:solidFill>
            <a:srgbClr val="66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8455" name="Picture 22"/>
          <p:cNvPicPr>
            <a:picLocks noChangeAspect="1"/>
          </p:cNvPicPr>
          <p:nvPr/>
        </p:nvPicPr>
        <p:blipFill>
          <a:blip r:embed="rId1"/>
          <a:stretch>
            <a:fillRect/>
          </a:stretch>
        </p:blipFill>
        <p:spPr>
          <a:xfrm>
            <a:off x="2046288" y="4300538"/>
            <a:ext cx="214312" cy="336550"/>
          </a:xfrm>
          <a:prstGeom prst="rect">
            <a:avLst/>
          </a:prstGeom>
          <a:noFill/>
          <a:ln w="9525">
            <a:noFill/>
          </a:ln>
        </p:spPr>
      </p:pic>
      <p:grpSp>
        <p:nvGrpSpPr>
          <p:cNvPr id="18456" name="Group 23"/>
          <p:cNvGrpSpPr/>
          <p:nvPr/>
        </p:nvGrpSpPr>
        <p:grpSpPr>
          <a:xfrm>
            <a:off x="2033588" y="4651375"/>
            <a:ext cx="400050" cy="457200"/>
            <a:chOff x="2870" y="1518"/>
            <a:chExt cx="292" cy="320"/>
          </a:xfrm>
        </p:grpSpPr>
        <p:graphicFrame>
          <p:nvGraphicFramePr>
            <p:cNvPr id="18457"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9" name="" r:id="rId11" imgW="826770" imgH="840105" progId="MS_ClipArt_Gallery.2">
                    <p:embed/>
                  </p:oleObj>
                </mc:Choice>
                <mc:Fallback>
                  <p:oleObj name="" r:id="rId11" imgW="826770" imgH="840105" progId="MS_ClipArt_Gallery.2">
                    <p:embed/>
                    <p:pic>
                      <p:nvPicPr>
                        <p:cNvPr id="0" name="图片 3158"/>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58"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2" name="" r:id="rId12" imgW="1268095" imgH="1199515" progId="MS_ClipArt_Gallery.2">
                    <p:embed/>
                  </p:oleObj>
                </mc:Choice>
                <mc:Fallback>
                  <p:oleObj name="" r:id="rId12" imgW="1268095" imgH="1199515" progId="MS_ClipArt_Gallery.2">
                    <p:embed/>
                    <p:pic>
                      <p:nvPicPr>
                        <p:cNvPr id="0" name="图片 316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59" name="Group 26"/>
          <p:cNvGrpSpPr/>
          <p:nvPr/>
        </p:nvGrpSpPr>
        <p:grpSpPr>
          <a:xfrm>
            <a:off x="1882775" y="3702050"/>
            <a:ext cx="400050" cy="457200"/>
            <a:chOff x="2870" y="1518"/>
            <a:chExt cx="292" cy="320"/>
          </a:xfrm>
        </p:grpSpPr>
        <p:graphicFrame>
          <p:nvGraphicFramePr>
            <p:cNvPr id="18460" name="Object 2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5" name="" r:id="rId13" imgW="826770" imgH="840105" progId="MS_ClipArt_Gallery.2">
                    <p:embed/>
                  </p:oleObj>
                </mc:Choice>
                <mc:Fallback>
                  <p:oleObj name="" r:id="rId13" imgW="826770" imgH="840105" progId="MS_ClipArt_Gallery.2">
                    <p:embed/>
                    <p:pic>
                      <p:nvPicPr>
                        <p:cNvPr id="0" name="图片 316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61" name="Object 2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7" name="" r:id="rId14" imgW="1268095" imgH="1199515" progId="MS_ClipArt_Gallery.2">
                    <p:embed/>
                  </p:oleObj>
                </mc:Choice>
                <mc:Fallback>
                  <p:oleObj name="" r:id="rId14" imgW="1268095" imgH="1199515" progId="MS_ClipArt_Gallery.2">
                    <p:embed/>
                    <p:pic>
                      <p:nvPicPr>
                        <p:cNvPr id="0" name="图片 317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62" name="Group 29"/>
          <p:cNvGrpSpPr/>
          <p:nvPr/>
        </p:nvGrpSpPr>
        <p:grpSpPr>
          <a:xfrm>
            <a:off x="1497013" y="4508500"/>
            <a:ext cx="400050" cy="457200"/>
            <a:chOff x="2870" y="1518"/>
            <a:chExt cx="292" cy="320"/>
          </a:xfrm>
        </p:grpSpPr>
        <p:graphicFrame>
          <p:nvGraphicFramePr>
            <p:cNvPr id="18463"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6" name="" r:id="rId15" imgW="826770" imgH="840105" progId="MS_ClipArt_Gallery.2">
                    <p:embed/>
                  </p:oleObj>
                </mc:Choice>
                <mc:Fallback>
                  <p:oleObj name="" r:id="rId15" imgW="826770" imgH="840105" progId="MS_ClipArt_Gallery.2">
                    <p:embed/>
                    <p:pic>
                      <p:nvPicPr>
                        <p:cNvPr id="0" name="图片 3175"/>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64"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80" name="" r:id="rId16" imgW="1268095" imgH="1199515" progId="MS_ClipArt_Gallery.2">
                    <p:embed/>
                  </p:oleObj>
                </mc:Choice>
                <mc:Fallback>
                  <p:oleObj name="" r:id="rId16" imgW="1268095" imgH="1199515" progId="MS_ClipArt_Gallery.2">
                    <p:embed/>
                    <p:pic>
                      <p:nvPicPr>
                        <p:cNvPr id="0" name="图片 3179"/>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8465" name="Line 32"/>
          <p:cNvSpPr/>
          <p:nvPr/>
        </p:nvSpPr>
        <p:spPr>
          <a:xfrm flipV="1">
            <a:off x="2197100" y="3721100"/>
            <a:ext cx="974725" cy="725488"/>
          </a:xfrm>
          <a:prstGeom prst="line">
            <a:avLst/>
          </a:prstGeom>
          <a:ln w="9525" cap="flat" cmpd="sng">
            <a:solidFill>
              <a:schemeClr val="tx1"/>
            </a:solidFill>
            <a:prstDash val="solid"/>
            <a:round/>
            <a:headEnd type="none" w="med" len="med"/>
            <a:tailEnd type="none" w="med" len="med"/>
          </a:ln>
        </p:spPr>
      </p:sp>
      <p:grpSp>
        <p:nvGrpSpPr>
          <p:cNvPr id="18466" name="Group 33"/>
          <p:cNvGrpSpPr/>
          <p:nvPr/>
        </p:nvGrpSpPr>
        <p:grpSpPr>
          <a:xfrm>
            <a:off x="1373188" y="3960813"/>
            <a:ext cx="400050" cy="457200"/>
            <a:chOff x="2870" y="1518"/>
            <a:chExt cx="292" cy="320"/>
          </a:xfrm>
        </p:grpSpPr>
        <p:graphicFrame>
          <p:nvGraphicFramePr>
            <p:cNvPr id="18467" name="Object 3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5" name="" r:id="rId17" imgW="826770" imgH="840105" progId="MS_ClipArt_Gallery.2">
                    <p:embed/>
                  </p:oleObj>
                </mc:Choice>
                <mc:Fallback>
                  <p:oleObj name="" r:id="rId17" imgW="826770" imgH="840105" progId="MS_ClipArt_Gallery.2">
                    <p:embed/>
                    <p:pic>
                      <p:nvPicPr>
                        <p:cNvPr id="0" name="图片 3174"/>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68" name="Object 3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3" name="" r:id="rId18" imgW="1268095" imgH="1199515" progId="MS_ClipArt_Gallery.2">
                    <p:embed/>
                  </p:oleObj>
                </mc:Choice>
                <mc:Fallback>
                  <p:oleObj name="" r:id="rId18" imgW="1268095" imgH="1199515" progId="MS_ClipArt_Gallery.2">
                    <p:embed/>
                    <p:pic>
                      <p:nvPicPr>
                        <p:cNvPr id="0" name="图片 3172"/>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8469" name="Oval 36"/>
          <p:cNvSpPr/>
          <p:nvPr/>
        </p:nvSpPr>
        <p:spPr>
          <a:xfrm>
            <a:off x="3630613" y="4583113"/>
            <a:ext cx="1755775" cy="1625600"/>
          </a:xfrm>
          <a:prstGeom prst="ellipse">
            <a:avLst/>
          </a:prstGeom>
          <a:solidFill>
            <a:srgbClr val="66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18470" name="Picture 37"/>
          <p:cNvPicPr>
            <a:picLocks noChangeAspect="1"/>
          </p:cNvPicPr>
          <p:nvPr/>
        </p:nvPicPr>
        <p:blipFill>
          <a:blip r:embed="rId1"/>
          <a:stretch>
            <a:fillRect/>
          </a:stretch>
        </p:blipFill>
        <p:spPr>
          <a:xfrm>
            <a:off x="4433888" y="5265738"/>
            <a:ext cx="214312" cy="336550"/>
          </a:xfrm>
          <a:prstGeom prst="rect">
            <a:avLst/>
          </a:prstGeom>
          <a:noFill/>
          <a:ln w="9525">
            <a:noFill/>
          </a:ln>
        </p:spPr>
      </p:pic>
      <p:grpSp>
        <p:nvGrpSpPr>
          <p:cNvPr id="18471" name="Group 38"/>
          <p:cNvGrpSpPr/>
          <p:nvPr/>
        </p:nvGrpSpPr>
        <p:grpSpPr>
          <a:xfrm>
            <a:off x="4421188" y="5616575"/>
            <a:ext cx="400050" cy="457200"/>
            <a:chOff x="2870" y="1518"/>
            <a:chExt cx="292" cy="320"/>
          </a:xfrm>
        </p:grpSpPr>
        <p:graphicFrame>
          <p:nvGraphicFramePr>
            <p:cNvPr id="18472" name="Object 3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6" name="" r:id="rId19" imgW="826770" imgH="840105" progId="MS_ClipArt_Gallery.2">
                    <p:embed/>
                  </p:oleObj>
                </mc:Choice>
                <mc:Fallback>
                  <p:oleObj name="" r:id="rId19" imgW="826770" imgH="840105" progId="MS_ClipArt_Gallery.2">
                    <p:embed/>
                    <p:pic>
                      <p:nvPicPr>
                        <p:cNvPr id="0" name="图片 3165"/>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73" name="Object 4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7" name="" r:id="rId20" imgW="1268095" imgH="1199515" progId="MS_ClipArt_Gallery.2">
                    <p:embed/>
                  </p:oleObj>
                </mc:Choice>
                <mc:Fallback>
                  <p:oleObj name="" r:id="rId20" imgW="1268095" imgH="1199515" progId="MS_ClipArt_Gallery.2">
                    <p:embed/>
                    <p:pic>
                      <p:nvPicPr>
                        <p:cNvPr id="0" name="图片 3166"/>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74" name="Group 41"/>
          <p:cNvGrpSpPr/>
          <p:nvPr/>
        </p:nvGrpSpPr>
        <p:grpSpPr>
          <a:xfrm>
            <a:off x="4622800" y="4672013"/>
            <a:ext cx="400050" cy="457200"/>
            <a:chOff x="2870" y="1518"/>
            <a:chExt cx="292" cy="320"/>
          </a:xfrm>
        </p:grpSpPr>
        <p:graphicFrame>
          <p:nvGraphicFramePr>
            <p:cNvPr id="18475" name="Object 4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8" name="" r:id="rId21" imgW="826770" imgH="840105" progId="MS_ClipArt_Gallery.2">
                    <p:embed/>
                  </p:oleObj>
                </mc:Choice>
                <mc:Fallback>
                  <p:oleObj name="" r:id="rId21" imgW="826770" imgH="840105" progId="MS_ClipArt_Gallery.2">
                    <p:embed/>
                    <p:pic>
                      <p:nvPicPr>
                        <p:cNvPr id="0" name="图片 317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76" name="Object 4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9" name="" r:id="rId22" imgW="1268095" imgH="1199515" progId="MS_ClipArt_Gallery.2">
                    <p:embed/>
                  </p:oleObj>
                </mc:Choice>
                <mc:Fallback>
                  <p:oleObj name="" r:id="rId22" imgW="1268095" imgH="1199515" progId="MS_ClipArt_Gallery.2">
                    <p:embed/>
                    <p:pic>
                      <p:nvPicPr>
                        <p:cNvPr id="0" name="图片 317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77" name="Group 44"/>
          <p:cNvGrpSpPr/>
          <p:nvPr/>
        </p:nvGrpSpPr>
        <p:grpSpPr>
          <a:xfrm>
            <a:off x="3884613" y="5473700"/>
            <a:ext cx="400050" cy="457200"/>
            <a:chOff x="2870" y="1518"/>
            <a:chExt cx="292" cy="320"/>
          </a:xfrm>
        </p:grpSpPr>
        <p:graphicFrame>
          <p:nvGraphicFramePr>
            <p:cNvPr id="18478" name="Object 4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8" name="" r:id="rId23" imgW="826770" imgH="840105" progId="MS_ClipArt_Gallery.2">
                    <p:embed/>
                  </p:oleObj>
                </mc:Choice>
                <mc:Fallback>
                  <p:oleObj name="" r:id="rId23" imgW="826770" imgH="840105" progId="MS_ClipArt_Gallery.2">
                    <p:embed/>
                    <p:pic>
                      <p:nvPicPr>
                        <p:cNvPr id="0" name="图片 3167"/>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79" name="Object 4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9" name="" r:id="rId24" imgW="1268095" imgH="1199515" progId="MS_ClipArt_Gallery.2">
                    <p:embed/>
                  </p:oleObj>
                </mc:Choice>
                <mc:Fallback>
                  <p:oleObj name="" r:id="rId24" imgW="1268095" imgH="1199515" progId="MS_ClipArt_Gallery.2">
                    <p:embed/>
                    <p:pic>
                      <p:nvPicPr>
                        <p:cNvPr id="0" name="图片 316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80" name="Group 47"/>
          <p:cNvGrpSpPr/>
          <p:nvPr/>
        </p:nvGrpSpPr>
        <p:grpSpPr>
          <a:xfrm>
            <a:off x="3760788" y="4926013"/>
            <a:ext cx="400050" cy="457200"/>
            <a:chOff x="2870" y="1518"/>
            <a:chExt cx="292" cy="320"/>
          </a:xfrm>
        </p:grpSpPr>
        <p:graphicFrame>
          <p:nvGraphicFramePr>
            <p:cNvPr id="18481" name="Object 4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0" name="" r:id="rId25" imgW="826770" imgH="840105" progId="MS_ClipArt_Gallery.2">
                    <p:embed/>
                  </p:oleObj>
                </mc:Choice>
                <mc:Fallback>
                  <p:oleObj name="" r:id="rId25" imgW="826770" imgH="840105" progId="MS_ClipArt_Gallery.2">
                    <p:embed/>
                    <p:pic>
                      <p:nvPicPr>
                        <p:cNvPr id="0" name="图片 316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82" name="Object 4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2" name="" r:id="rId26" imgW="1268095" imgH="1199515" progId="MS_ClipArt_Gallery.2">
                    <p:embed/>
                  </p:oleObj>
                </mc:Choice>
                <mc:Fallback>
                  <p:oleObj name="" r:id="rId26" imgW="1268095" imgH="1199515" progId="MS_ClipArt_Gallery.2">
                    <p:embed/>
                    <p:pic>
                      <p:nvPicPr>
                        <p:cNvPr id="0" name="图片 3171"/>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83" name="Group 50"/>
          <p:cNvGrpSpPr/>
          <p:nvPr/>
        </p:nvGrpSpPr>
        <p:grpSpPr>
          <a:xfrm>
            <a:off x="5837238" y="5697538"/>
            <a:ext cx="400050" cy="457200"/>
            <a:chOff x="2870" y="1518"/>
            <a:chExt cx="292" cy="320"/>
          </a:xfrm>
        </p:grpSpPr>
        <p:graphicFrame>
          <p:nvGraphicFramePr>
            <p:cNvPr id="18484" name="Object 5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81" name="" r:id="rId27" imgW="826770" imgH="840105" progId="MS_ClipArt_Gallery.2">
                    <p:embed/>
                  </p:oleObj>
                </mc:Choice>
                <mc:Fallback>
                  <p:oleObj name="" r:id="rId27" imgW="826770" imgH="840105" progId="MS_ClipArt_Gallery.2">
                    <p:embed/>
                    <p:pic>
                      <p:nvPicPr>
                        <p:cNvPr id="0" name="图片 318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85" name="Object 5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4" name="" r:id="rId28" imgW="1268095" imgH="1199515" progId="MS_ClipArt_Gallery.2">
                    <p:embed/>
                  </p:oleObj>
                </mc:Choice>
                <mc:Fallback>
                  <p:oleObj name="" r:id="rId28" imgW="1268095" imgH="1199515" progId="MS_ClipArt_Gallery.2">
                    <p:embed/>
                    <p:pic>
                      <p:nvPicPr>
                        <p:cNvPr id="0" name="图片 316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18486" name="Group 53"/>
          <p:cNvGrpSpPr/>
          <p:nvPr/>
        </p:nvGrpSpPr>
        <p:grpSpPr>
          <a:xfrm>
            <a:off x="4830763" y="5164138"/>
            <a:ext cx="835025" cy="457200"/>
            <a:chOff x="3345" y="3383"/>
            <a:chExt cx="526" cy="288"/>
          </a:xfrm>
        </p:grpSpPr>
        <p:grpSp>
          <p:nvGrpSpPr>
            <p:cNvPr id="18487" name="Group 54"/>
            <p:cNvGrpSpPr/>
            <p:nvPr/>
          </p:nvGrpSpPr>
          <p:grpSpPr>
            <a:xfrm>
              <a:off x="3426" y="3383"/>
              <a:ext cx="252" cy="288"/>
              <a:chOff x="2870" y="1518"/>
              <a:chExt cx="292" cy="320"/>
            </a:xfrm>
          </p:grpSpPr>
          <p:graphicFrame>
            <p:nvGraphicFramePr>
              <p:cNvPr id="18488" name="Object 5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1" name="" r:id="rId29" imgW="826770" imgH="840105" progId="MS_ClipArt_Gallery.2">
                      <p:embed/>
                    </p:oleObj>
                  </mc:Choice>
                  <mc:Fallback>
                    <p:oleObj name="" r:id="rId29" imgW="826770" imgH="840105" progId="MS_ClipArt_Gallery.2">
                      <p:embed/>
                      <p:pic>
                        <p:nvPicPr>
                          <p:cNvPr id="0" name="图片 3170"/>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8489" name="Object 5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4" name="" r:id="rId30" imgW="1268095" imgH="1199515" progId="MS_ClipArt_Gallery.2">
                      <p:embed/>
                    </p:oleObj>
                  </mc:Choice>
                  <mc:Fallback>
                    <p:oleObj name="" r:id="rId30" imgW="1268095" imgH="1199515" progId="MS_ClipArt_Gallery.2">
                      <p:embed/>
                      <p:pic>
                        <p:nvPicPr>
                          <p:cNvPr id="0" name="图片 3173"/>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sp>
          <p:nvSpPr>
            <p:cNvPr id="18490" name="Line 57"/>
            <p:cNvSpPr/>
            <p:nvPr/>
          </p:nvSpPr>
          <p:spPr>
            <a:xfrm>
              <a:off x="3679" y="3547"/>
              <a:ext cx="192" cy="0"/>
            </a:xfrm>
            <a:prstGeom prst="line">
              <a:avLst/>
            </a:prstGeom>
            <a:ln w="9525" cap="flat" cmpd="sng">
              <a:solidFill>
                <a:schemeClr val="tx1"/>
              </a:solidFill>
              <a:prstDash val="solid"/>
              <a:round/>
              <a:headEnd type="none" w="med" len="med"/>
              <a:tailEnd type="triangle" w="med" len="med"/>
            </a:ln>
          </p:spPr>
        </p:sp>
        <p:sp>
          <p:nvSpPr>
            <p:cNvPr id="18491" name="Line 58"/>
            <p:cNvSpPr/>
            <p:nvPr/>
          </p:nvSpPr>
          <p:spPr>
            <a:xfrm flipH="1">
              <a:off x="3372" y="3486"/>
              <a:ext cx="120" cy="0"/>
            </a:xfrm>
            <a:prstGeom prst="line">
              <a:avLst/>
            </a:prstGeom>
            <a:ln w="9525" cap="flat" cmpd="sng">
              <a:solidFill>
                <a:schemeClr val="tx1"/>
              </a:solidFill>
              <a:prstDash val="solid"/>
              <a:round/>
              <a:headEnd type="none" w="med" len="med"/>
              <a:tailEnd type="none" w="med" len="med"/>
            </a:ln>
          </p:spPr>
        </p:sp>
        <p:sp>
          <p:nvSpPr>
            <p:cNvPr id="18492" name="Line 59"/>
            <p:cNvSpPr/>
            <p:nvPr/>
          </p:nvSpPr>
          <p:spPr>
            <a:xfrm flipH="1">
              <a:off x="3381" y="3534"/>
              <a:ext cx="120" cy="0"/>
            </a:xfrm>
            <a:prstGeom prst="line">
              <a:avLst/>
            </a:prstGeom>
            <a:ln w="9525" cap="flat" cmpd="sng">
              <a:solidFill>
                <a:schemeClr val="tx1"/>
              </a:solidFill>
              <a:prstDash val="solid"/>
              <a:round/>
              <a:headEnd type="none" w="med" len="med"/>
              <a:tailEnd type="none" w="med" len="med"/>
            </a:ln>
          </p:spPr>
        </p:sp>
        <p:sp>
          <p:nvSpPr>
            <p:cNvPr id="18493" name="Line 60"/>
            <p:cNvSpPr/>
            <p:nvPr/>
          </p:nvSpPr>
          <p:spPr>
            <a:xfrm flipH="1">
              <a:off x="3345" y="3576"/>
              <a:ext cx="120" cy="0"/>
            </a:xfrm>
            <a:prstGeom prst="line">
              <a:avLst/>
            </a:prstGeom>
            <a:ln w="9525" cap="flat" cmpd="sng">
              <a:solidFill>
                <a:schemeClr val="tx1"/>
              </a:solidFill>
              <a:prstDash val="solid"/>
              <a:round/>
              <a:headEnd type="none" w="med" len="med"/>
              <a:tailEnd type="none" w="med" len="med"/>
            </a:ln>
          </p:spPr>
        </p:sp>
      </p:grpSp>
      <p:sp>
        <p:nvSpPr>
          <p:cNvPr id="18494" name="Line 61"/>
          <p:cNvSpPr/>
          <p:nvPr/>
        </p:nvSpPr>
        <p:spPr>
          <a:xfrm flipH="1" flipV="1">
            <a:off x="5068888" y="4303713"/>
            <a:ext cx="747712" cy="1095375"/>
          </a:xfrm>
          <a:prstGeom prst="line">
            <a:avLst/>
          </a:prstGeom>
          <a:ln w="9525" cap="flat" cmpd="sng">
            <a:solidFill>
              <a:schemeClr val="tx1"/>
            </a:solidFill>
            <a:prstDash val="solid"/>
            <a:round/>
            <a:headEnd type="none" w="med" len="med"/>
            <a:tailEnd type="none" w="med" len="med"/>
          </a:ln>
        </p:spPr>
      </p:sp>
      <p:sp>
        <p:nvSpPr>
          <p:cNvPr id="18495" name="Line 62"/>
          <p:cNvSpPr/>
          <p:nvPr/>
        </p:nvSpPr>
        <p:spPr>
          <a:xfrm flipH="1" flipV="1">
            <a:off x="4297363" y="4451350"/>
            <a:ext cx="176212" cy="990600"/>
          </a:xfrm>
          <a:prstGeom prst="line">
            <a:avLst/>
          </a:prstGeom>
          <a:ln w="9525" cap="flat" cmpd="sng">
            <a:solidFill>
              <a:schemeClr val="tx1"/>
            </a:solidFill>
            <a:prstDash val="solid"/>
            <a:round/>
            <a:headEnd type="none" w="med" len="med"/>
            <a:tailEnd type="none" w="med" len="med"/>
          </a:ln>
        </p:spPr>
      </p:sp>
      <p:grpSp>
        <p:nvGrpSpPr>
          <p:cNvPr id="18496" name="Group 87"/>
          <p:cNvGrpSpPr/>
          <p:nvPr/>
        </p:nvGrpSpPr>
        <p:grpSpPr>
          <a:xfrm>
            <a:off x="4597400" y="1362075"/>
            <a:ext cx="4233863" cy="4064000"/>
            <a:chOff x="2896" y="858"/>
            <a:chExt cx="2667" cy="2560"/>
          </a:xfrm>
        </p:grpSpPr>
        <p:sp>
          <p:nvSpPr>
            <p:cNvPr id="18497" name="Rectangle 63"/>
            <p:cNvSpPr/>
            <p:nvPr/>
          </p:nvSpPr>
          <p:spPr>
            <a:xfrm>
              <a:off x="3455" y="981"/>
              <a:ext cx="2108" cy="1464"/>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98" name="Rectangle 64"/>
            <p:cNvSpPr/>
            <p:nvPr/>
          </p:nvSpPr>
          <p:spPr>
            <a:xfrm>
              <a:off x="3489" y="884"/>
              <a:ext cx="1719" cy="159"/>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8499" name="Rectangle 65"/>
            <p:cNvSpPr/>
            <p:nvPr/>
          </p:nvSpPr>
          <p:spPr>
            <a:xfrm>
              <a:off x="3488" y="858"/>
              <a:ext cx="1984" cy="1625"/>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 infrastructure mode</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base station connects mobiles into wired network</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handoff: mobile changes base station providing connection into wired network</a:t>
              </a:r>
              <a:endParaRPr lang="en-US" altLang="zh-CN" sz="2000" dirty="0">
                <a:latin typeface="Comic Sans MS" panose="030F0702030302020204" pitchFamily="66" charset="0"/>
                <a:ea typeface="宋体" panose="02010600030101010101" pitchFamily="2" charset="-122"/>
              </a:endParaRPr>
            </a:p>
          </p:txBody>
        </p:sp>
        <p:sp>
          <p:nvSpPr>
            <p:cNvPr id="18500" name="Line 84"/>
            <p:cNvSpPr/>
            <p:nvPr/>
          </p:nvSpPr>
          <p:spPr>
            <a:xfrm flipH="1">
              <a:off x="3314" y="2446"/>
              <a:ext cx="1072" cy="886"/>
            </a:xfrm>
            <a:prstGeom prst="line">
              <a:avLst/>
            </a:prstGeom>
            <a:ln w="9525" cap="flat" cmpd="sng">
              <a:solidFill>
                <a:srgbClr val="FF0000"/>
              </a:solidFill>
              <a:prstDash val="solid"/>
              <a:round/>
              <a:headEnd type="none" w="med" len="med"/>
              <a:tailEnd type="triangle" w="med" len="med"/>
            </a:ln>
          </p:spPr>
        </p:sp>
        <p:sp>
          <p:nvSpPr>
            <p:cNvPr id="18501" name="Line 85"/>
            <p:cNvSpPr/>
            <p:nvPr/>
          </p:nvSpPr>
          <p:spPr>
            <a:xfrm flipH="1">
              <a:off x="3747" y="2445"/>
              <a:ext cx="637" cy="903"/>
            </a:xfrm>
            <a:prstGeom prst="line">
              <a:avLst/>
            </a:prstGeom>
            <a:ln w="9525" cap="flat" cmpd="sng">
              <a:solidFill>
                <a:srgbClr val="FF0000"/>
              </a:solidFill>
              <a:prstDash val="solid"/>
              <a:round/>
              <a:headEnd type="none" w="med" len="med"/>
              <a:tailEnd type="triangle" w="med" len="med"/>
            </a:ln>
          </p:spPr>
        </p:sp>
        <p:sp>
          <p:nvSpPr>
            <p:cNvPr id="18502" name="Line 86"/>
            <p:cNvSpPr/>
            <p:nvPr/>
          </p:nvSpPr>
          <p:spPr>
            <a:xfrm flipH="1">
              <a:off x="2896" y="2453"/>
              <a:ext cx="1470" cy="965"/>
            </a:xfrm>
            <a:prstGeom prst="line">
              <a:avLst/>
            </a:prstGeom>
            <a:ln w="9525" cap="flat" cmpd="sng">
              <a:solidFill>
                <a:srgbClr val="FF0000"/>
              </a:solidFill>
              <a:prstDash val="solid"/>
              <a:round/>
              <a:headEnd type="none" w="med" len="med"/>
              <a:tailEnd type="triangle" w="med" len="med"/>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20482"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0483" name="Rectangle 64"/>
          <p:cNvSpPr/>
          <p:nvPr/>
        </p:nvSpPr>
        <p:spPr>
          <a:xfrm>
            <a:off x="5484813" y="1557338"/>
            <a:ext cx="3346450" cy="2844800"/>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484" name="Rectangle 240"/>
          <p:cNvSpPr/>
          <p:nvPr/>
        </p:nvSpPr>
        <p:spPr>
          <a:xfrm>
            <a:off x="5562600" y="1384300"/>
            <a:ext cx="1752600" cy="317500"/>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400592" name="Group 208"/>
          <p:cNvGrpSpPr/>
          <p:nvPr/>
        </p:nvGrpSpPr>
        <p:grpSpPr>
          <a:xfrm>
            <a:off x="876300" y="1717675"/>
            <a:ext cx="1755775" cy="1625600"/>
            <a:chOff x="1824" y="1076"/>
            <a:chExt cx="1106" cy="1024"/>
          </a:xfrm>
        </p:grpSpPr>
        <p:sp>
          <p:nvSpPr>
            <p:cNvPr id="20486" name="Oval 209"/>
            <p:cNvSpPr/>
            <p:nvPr/>
          </p:nvSpPr>
          <p:spPr>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tileRect/>
            </a:gradFill>
            <a:ln w="12700" cap="flat" cmpd="sng">
              <a:solidFill>
                <a:srgbClr val="3333CC"/>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487" name="Group 210"/>
            <p:cNvGrpSpPr/>
            <p:nvPr/>
          </p:nvGrpSpPr>
          <p:grpSpPr>
            <a:xfrm>
              <a:off x="2204" y="1436"/>
              <a:ext cx="252" cy="288"/>
              <a:chOff x="2870" y="1518"/>
              <a:chExt cx="292" cy="320"/>
            </a:xfrm>
          </p:grpSpPr>
          <p:graphicFrame>
            <p:nvGraphicFramePr>
              <p:cNvPr id="20488" name="Object 2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89" name="" r:id="rId1" imgW="826770" imgH="840105" progId="MS_ClipArt_Gallery.2">
                      <p:embed/>
                    </p:oleObj>
                  </mc:Choice>
                  <mc:Fallback>
                    <p:oleObj name="" r:id="rId1" imgW="826770" imgH="840105" progId="MS_ClipArt_Gallery.2">
                      <p:embed/>
                      <p:pic>
                        <p:nvPicPr>
                          <p:cNvPr id="0" name="图片 318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489" name="Object 2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84" name="" r:id="rId3" imgW="1268095" imgH="1199515" progId="MS_ClipArt_Gallery.2">
                      <p:embed/>
                    </p:oleObj>
                  </mc:Choice>
                  <mc:Fallback>
                    <p:oleObj name="" r:id="rId3" imgW="1268095" imgH="1199515" progId="MS_ClipArt_Gallery.2">
                      <p:embed/>
                      <p:pic>
                        <p:nvPicPr>
                          <p:cNvPr id="0" name="图片 3183"/>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20490"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Elements of a wireless network</a:t>
            </a:r>
            <a:endParaRPr lang="en-US" altLang="zh-CN" sz="3200" dirty="0">
              <a:ea typeface="宋体" panose="02010600030101010101" pitchFamily="2" charset="-122"/>
            </a:endParaRPr>
          </a:p>
        </p:txBody>
      </p:sp>
      <p:sp>
        <p:nvSpPr>
          <p:cNvPr id="20491" name="Rectangle 66"/>
          <p:cNvSpPr/>
          <p:nvPr/>
        </p:nvSpPr>
        <p:spPr>
          <a:xfrm>
            <a:off x="5537200" y="1362075"/>
            <a:ext cx="3149600" cy="2579688"/>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ad hoc mode</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no base stations</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nodes can only transmit to other nodes within link coverage</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nodes organize themselves into a network: route among themselves</a:t>
            </a:r>
            <a:endParaRPr lang="en-US" altLang="zh-CN" sz="2000" dirty="0">
              <a:latin typeface="Comic Sans MS" panose="030F0702030302020204" pitchFamily="66" charset="0"/>
              <a:ea typeface="宋体" panose="02010600030101010101" pitchFamily="2" charset="-122"/>
            </a:endParaRPr>
          </a:p>
        </p:txBody>
      </p:sp>
      <p:grpSp>
        <p:nvGrpSpPr>
          <p:cNvPr id="400521" name="Group 137"/>
          <p:cNvGrpSpPr/>
          <p:nvPr/>
        </p:nvGrpSpPr>
        <p:grpSpPr>
          <a:xfrm>
            <a:off x="2181225" y="3041650"/>
            <a:ext cx="1755775" cy="1625600"/>
            <a:chOff x="1824" y="1076"/>
            <a:chExt cx="1106" cy="1024"/>
          </a:xfrm>
        </p:grpSpPr>
        <p:sp>
          <p:nvSpPr>
            <p:cNvPr id="20493" name="Oval 138"/>
            <p:cNvSpPr/>
            <p:nvPr/>
          </p:nvSpPr>
          <p:spPr>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tileRect/>
            </a:gradFill>
            <a:ln w="12700" cap="flat" cmpd="sng">
              <a:solidFill>
                <a:srgbClr val="3333CC"/>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494" name="Group 139"/>
            <p:cNvGrpSpPr/>
            <p:nvPr/>
          </p:nvGrpSpPr>
          <p:grpSpPr>
            <a:xfrm>
              <a:off x="2204" y="1436"/>
              <a:ext cx="252" cy="288"/>
              <a:chOff x="2870" y="1518"/>
              <a:chExt cx="292" cy="320"/>
            </a:xfrm>
          </p:grpSpPr>
          <p:graphicFrame>
            <p:nvGraphicFramePr>
              <p:cNvPr id="20495" name="Object 1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82" name="" r:id="rId5" imgW="826770" imgH="840105" progId="MS_ClipArt_Gallery.2">
                      <p:embed/>
                    </p:oleObj>
                  </mc:Choice>
                  <mc:Fallback>
                    <p:oleObj name="" r:id="rId5" imgW="826770" imgH="840105" progId="MS_ClipArt_Gallery.2">
                      <p:embed/>
                      <p:pic>
                        <p:nvPicPr>
                          <p:cNvPr id="0" name="图片 318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496" name="Object 1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90" name="" r:id="rId6" imgW="1268095" imgH="1199515" progId="MS_ClipArt_Gallery.2">
                      <p:embed/>
                    </p:oleObj>
                  </mc:Choice>
                  <mc:Fallback>
                    <p:oleObj name="" r:id="rId6" imgW="1268095" imgH="1199515" progId="MS_ClipArt_Gallery.2">
                      <p:embed/>
                      <p:pic>
                        <p:nvPicPr>
                          <p:cNvPr id="0" name="图片 318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grpSp>
        <p:nvGrpSpPr>
          <p:cNvPr id="400582" name="Group 198"/>
          <p:cNvGrpSpPr/>
          <p:nvPr/>
        </p:nvGrpSpPr>
        <p:grpSpPr>
          <a:xfrm>
            <a:off x="1933575" y="4765675"/>
            <a:ext cx="1755775" cy="1625600"/>
            <a:chOff x="1824" y="1076"/>
            <a:chExt cx="1106" cy="1024"/>
          </a:xfrm>
        </p:grpSpPr>
        <p:sp>
          <p:nvSpPr>
            <p:cNvPr id="20498" name="Oval 199"/>
            <p:cNvSpPr/>
            <p:nvPr/>
          </p:nvSpPr>
          <p:spPr>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tileRect/>
            </a:gradFill>
            <a:ln w="12700" cap="flat" cmpd="sng">
              <a:solidFill>
                <a:srgbClr val="3333CC"/>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499" name="Group 200"/>
            <p:cNvGrpSpPr/>
            <p:nvPr/>
          </p:nvGrpSpPr>
          <p:grpSpPr>
            <a:xfrm>
              <a:off x="2204" y="1436"/>
              <a:ext cx="252" cy="288"/>
              <a:chOff x="2870" y="1518"/>
              <a:chExt cx="292" cy="320"/>
            </a:xfrm>
          </p:grpSpPr>
          <p:graphicFrame>
            <p:nvGraphicFramePr>
              <p:cNvPr id="20500" name="Object 20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88" name="" r:id="rId7" imgW="826770" imgH="840105" progId="MS_ClipArt_Gallery.2">
                      <p:embed/>
                    </p:oleObj>
                  </mc:Choice>
                  <mc:Fallback>
                    <p:oleObj name="" r:id="rId7" imgW="826770" imgH="840105" progId="MS_ClipArt_Gallery.2">
                      <p:embed/>
                      <p:pic>
                        <p:nvPicPr>
                          <p:cNvPr id="0" name="图片 3187"/>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01" name="Object 20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85" name="" r:id="rId8" imgW="1268095" imgH="1199515" progId="MS_ClipArt_Gallery.2">
                      <p:embed/>
                    </p:oleObj>
                  </mc:Choice>
                  <mc:Fallback>
                    <p:oleObj name="" r:id="rId8" imgW="1268095" imgH="1199515" progId="MS_ClipArt_Gallery.2">
                      <p:embed/>
                      <p:pic>
                        <p:nvPicPr>
                          <p:cNvPr id="0" name="图片 3184"/>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grpSp>
        <p:nvGrpSpPr>
          <p:cNvPr id="400587" name="Group 203"/>
          <p:cNvGrpSpPr/>
          <p:nvPr/>
        </p:nvGrpSpPr>
        <p:grpSpPr>
          <a:xfrm>
            <a:off x="1047750" y="2317750"/>
            <a:ext cx="1755775" cy="1625600"/>
            <a:chOff x="1824" y="1076"/>
            <a:chExt cx="1106" cy="1024"/>
          </a:xfrm>
        </p:grpSpPr>
        <p:sp>
          <p:nvSpPr>
            <p:cNvPr id="20503" name="Oval 204"/>
            <p:cNvSpPr/>
            <p:nvPr/>
          </p:nvSpPr>
          <p:spPr>
            <a:xfrm>
              <a:off x="1824" y="1076"/>
              <a:ext cx="1106" cy="1024"/>
            </a:xfrm>
            <a:prstGeom prst="ellipse">
              <a:avLst/>
            </a:prstGeom>
            <a:gradFill rotWithShape="1">
              <a:gsLst>
                <a:gs pos="0">
                  <a:srgbClr val="66CCFF"/>
                </a:gs>
                <a:gs pos="100000">
                  <a:srgbClr val="CCFFFF">
                    <a:alpha val="50998"/>
                  </a:srgbClr>
                </a:gs>
              </a:gsLst>
              <a:path path="shape">
                <a:fillToRect l="50000" t="50000" r="50000" b="50000"/>
              </a:path>
              <a:tileRect/>
            </a:gradFill>
            <a:ln w="12700" cap="flat" cmpd="sng">
              <a:solidFill>
                <a:srgbClr val="3333CC"/>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504" name="Group 205"/>
            <p:cNvGrpSpPr/>
            <p:nvPr/>
          </p:nvGrpSpPr>
          <p:grpSpPr>
            <a:xfrm>
              <a:off x="2204" y="1436"/>
              <a:ext cx="252" cy="288"/>
              <a:chOff x="2870" y="1518"/>
              <a:chExt cx="292" cy="320"/>
            </a:xfrm>
          </p:grpSpPr>
          <p:graphicFrame>
            <p:nvGraphicFramePr>
              <p:cNvPr id="20505" name="Object 2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91" name="" r:id="rId9" imgW="826770" imgH="840105" progId="MS_ClipArt_Gallery.2">
                      <p:embed/>
                    </p:oleObj>
                  </mc:Choice>
                  <mc:Fallback>
                    <p:oleObj name="" r:id="rId9" imgW="826770" imgH="840105" progId="MS_ClipArt_Gallery.2">
                      <p:embed/>
                      <p:pic>
                        <p:nvPicPr>
                          <p:cNvPr id="0" name="图片 3190"/>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06" name="Object 2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86" name="" r:id="rId10" imgW="1268095" imgH="1199515" progId="MS_ClipArt_Gallery.2">
                      <p:embed/>
                    </p:oleObj>
                  </mc:Choice>
                  <mc:Fallback>
                    <p:oleObj name="" r:id="rId10" imgW="1268095" imgH="1199515" progId="MS_ClipArt_Gallery.2">
                      <p:embed/>
                      <p:pic>
                        <p:nvPicPr>
                          <p:cNvPr id="0" name="图片 3185"/>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grpSp>
        <p:nvGrpSpPr>
          <p:cNvPr id="400496" name="Group 112"/>
          <p:cNvGrpSpPr/>
          <p:nvPr/>
        </p:nvGrpSpPr>
        <p:grpSpPr>
          <a:xfrm>
            <a:off x="1620838" y="2741613"/>
            <a:ext cx="1755775" cy="1625600"/>
            <a:chOff x="1824" y="1076"/>
            <a:chExt cx="1106" cy="1024"/>
          </a:xfrm>
        </p:grpSpPr>
        <p:sp>
          <p:nvSpPr>
            <p:cNvPr id="20508" name="Oval 113"/>
            <p:cNvSpPr/>
            <p:nvPr/>
          </p:nvSpPr>
          <p:spPr>
            <a:xfrm>
              <a:off x="1824" y="1076"/>
              <a:ext cx="1106" cy="1024"/>
            </a:xfrm>
            <a:prstGeom prst="ellipse">
              <a:avLst/>
            </a:prstGeom>
            <a:gradFill rotWithShape="1">
              <a:gsLst>
                <a:gs pos="0">
                  <a:srgbClr val="CCECFF"/>
                </a:gs>
                <a:gs pos="100000">
                  <a:srgbClr val="CCFFFF">
                    <a:alpha val="50998"/>
                  </a:srgbClr>
                </a:gs>
              </a:gsLst>
              <a:path path="shape">
                <a:fillToRect l="50000" t="50000" r="50000" b="50000"/>
              </a:path>
              <a:tileRect/>
            </a:gradFill>
            <a:ln w="12700" cap="flat" cmpd="sng">
              <a:solidFill>
                <a:srgbClr val="3333CC"/>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509" name="Group 114"/>
            <p:cNvGrpSpPr/>
            <p:nvPr/>
          </p:nvGrpSpPr>
          <p:grpSpPr>
            <a:xfrm>
              <a:off x="2204" y="1436"/>
              <a:ext cx="252" cy="288"/>
              <a:chOff x="2870" y="1518"/>
              <a:chExt cx="292" cy="320"/>
            </a:xfrm>
          </p:grpSpPr>
          <p:graphicFrame>
            <p:nvGraphicFramePr>
              <p:cNvPr id="20510" name="Object 1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92" name="" r:id="rId11" imgW="826770" imgH="840105" progId="MS_ClipArt_Gallery.2">
                      <p:embed/>
                    </p:oleObj>
                  </mc:Choice>
                  <mc:Fallback>
                    <p:oleObj name="" r:id="rId11" imgW="826770" imgH="840105" progId="MS_ClipArt_Gallery.2">
                      <p:embed/>
                      <p:pic>
                        <p:nvPicPr>
                          <p:cNvPr id="0" name="图片 319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11" name="Object 1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87" name="" r:id="rId12" imgW="1268095" imgH="1199515" progId="MS_ClipArt_Gallery.2">
                      <p:embed/>
                    </p:oleObj>
                  </mc:Choice>
                  <mc:Fallback>
                    <p:oleObj name="" r:id="rId12" imgW="1268095" imgH="1199515" progId="MS_ClipArt_Gallery.2">
                      <p:embed/>
                      <p:pic>
                        <p:nvPicPr>
                          <p:cNvPr id="0" name="图片 3186"/>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grpSp>
        <p:nvGrpSpPr>
          <p:cNvPr id="400623" name="Group 239"/>
          <p:cNvGrpSpPr/>
          <p:nvPr/>
        </p:nvGrpSpPr>
        <p:grpSpPr>
          <a:xfrm>
            <a:off x="879475" y="1468438"/>
            <a:ext cx="3543300" cy="4935537"/>
            <a:chOff x="2346" y="893"/>
            <a:chExt cx="2232" cy="3109"/>
          </a:xfrm>
        </p:grpSpPr>
        <p:sp>
          <p:nvSpPr>
            <p:cNvPr id="20513" name="Rectangle 65"/>
            <p:cNvSpPr/>
            <p:nvPr/>
          </p:nvSpPr>
          <p:spPr>
            <a:xfrm>
              <a:off x="3489" y="893"/>
              <a:ext cx="1089" cy="150"/>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4" name="Oval 214"/>
            <p:cNvSpPr/>
            <p:nvPr/>
          </p:nvSpPr>
          <p:spPr>
            <a:xfrm>
              <a:off x="2346" y="1058"/>
              <a:ext cx="1106" cy="1024"/>
            </a:xfrm>
            <a:prstGeom prst="ellipse">
              <a:avLst/>
            </a:prstGeom>
            <a:solidFill>
              <a:srgbClr val="66CCFF"/>
            </a:solidFill>
            <a:ln w="12700">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5" name="Oval 219"/>
            <p:cNvSpPr/>
            <p:nvPr/>
          </p:nvSpPr>
          <p:spPr>
            <a:xfrm>
              <a:off x="3168" y="1892"/>
              <a:ext cx="1106" cy="1024"/>
            </a:xfrm>
            <a:prstGeom prst="ellipse">
              <a:avLst/>
            </a:prstGeom>
            <a:solidFill>
              <a:srgbClr val="66CCFF"/>
            </a:solidFill>
            <a:ln w="12700">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6" name="Oval 229"/>
            <p:cNvSpPr/>
            <p:nvPr/>
          </p:nvSpPr>
          <p:spPr>
            <a:xfrm>
              <a:off x="2454" y="1436"/>
              <a:ext cx="1106" cy="1024"/>
            </a:xfrm>
            <a:prstGeom prst="ellipse">
              <a:avLst/>
            </a:prstGeom>
            <a:solidFill>
              <a:srgbClr val="66CCFF"/>
            </a:solidFill>
            <a:ln w="12700">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7" name="Oval 234"/>
            <p:cNvSpPr/>
            <p:nvPr/>
          </p:nvSpPr>
          <p:spPr>
            <a:xfrm>
              <a:off x="2815" y="1703"/>
              <a:ext cx="1106" cy="1024"/>
            </a:xfrm>
            <a:prstGeom prst="ellipse">
              <a:avLst/>
            </a:prstGeom>
            <a:solidFill>
              <a:srgbClr val="66CCFF"/>
            </a:solidFill>
            <a:ln w="12700">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0518" name="Oval 224"/>
            <p:cNvSpPr/>
            <p:nvPr/>
          </p:nvSpPr>
          <p:spPr>
            <a:xfrm>
              <a:off x="3012" y="2978"/>
              <a:ext cx="1106" cy="1024"/>
            </a:xfrm>
            <a:prstGeom prst="ellipse">
              <a:avLst/>
            </a:prstGeom>
            <a:solidFill>
              <a:srgbClr val="66CCFF"/>
            </a:solidFill>
            <a:ln w="12700">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20519" name="Group 225"/>
            <p:cNvGrpSpPr/>
            <p:nvPr/>
          </p:nvGrpSpPr>
          <p:grpSpPr>
            <a:xfrm>
              <a:off x="3392" y="3338"/>
              <a:ext cx="252" cy="288"/>
              <a:chOff x="2870" y="1518"/>
              <a:chExt cx="292" cy="320"/>
            </a:xfrm>
          </p:grpSpPr>
          <p:graphicFrame>
            <p:nvGraphicFramePr>
              <p:cNvPr id="20520" name="Object 22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83" name="" r:id="rId13" imgW="826770" imgH="840105" progId="MS_ClipArt_Gallery.2">
                      <p:embed/>
                    </p:oleObj>
                  </mc:Choice>
                  <mc:Fallback>
                    <p:oleObj name="" r:id="rId13" imgW="826770" imgH="840105" progId="MS_ClipArt_Gallery.2">
                      <p:embed/>
                      <p:pic>
                        <p:nvPicPr>
                          <p:cNvPr id="0" name="图片 318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21" name="Object 22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98" name="" r:id="rId14" imgW="1268095" imgH="1199515" progId="MS_ClipArt_Gallery.2">
                      <p:embed/>
                    </p:oleObj>
                  </mc:Choice>
                  <mc:Fallback>
                    <p:oleObj name="" r:id="rId14" imgW="1268095" imgH="1199515" progId="MS_ClipArt_Gallery.2">
                      <p:embed/>
                      <p:pic>
                        <p:nvPicPr>
                          <p:cNvPr id="0" name="图片 319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0522" name="Group 235"/>
            <p:cNvGrpSpPr/>
            <p:nvPr/>
          </p:nvGrpSpPr>
          <p:grpSpPr>
            <a:xfrm>
              <a:off x="3195" y="2063"/>
              <a:ext cx="252" cy="288"/>
              <a:chOff x="2870" y="1518"/>
              <a:chExt cx="292" cy="320"/>
            </a:xfrm>
          </p:grpSpPr>
          <p:graphicFrame>
            <p:nvGraphicFramePr>
              <p:cNvPr id="20523" name="Object 2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94" name="" r:id="rId15" imgW="826770" imgH="840105" progId="MS_ClipArt_Gallery.2">
                      <p:embed/>
                    </p:oleObj>
                  </mc:Choice>
                  <mc:Fallback>
                    <p:oleObj name="" r:id="rId15" imgW="826770" imgH="840105" progId="MS_ClipArt_Gallery.2">
                      <p:embed/>
                      <p:pic>
                        <p:nvPicPr>
                          <p:cNvPr id="0" name="图片 3193"/>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24" name="Object 2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97" name="" r:id="rId16" imgW="1268095" imgH="1199515" progId="MS_ClipArt_Gallery.2">
                      <p:embed/>
                    </p:oleObj>
                  </mc:Choice>
                  <mc:Fallback>
                    <p:oleObj name="" r:id="rId16" imgW="1268095" imgH="1199515" progId="MS_ClipArt_Gallery.2">
                      <p:embed/>
                      <p:pic>
                        <p:nvPicPr>
                          <p:cNvPr id="0" name="图片 3196"/>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0525" name="Group 220"/>
            <p:cNvGrpSpPr/>
            <p:nvPr/>
          </p:nvGrpSpPr>
          <p:grpSpPr>
            <a:xfrm>
              <a:off x="3548" y="2252"/>
              <a:ext cx="252" cy="288"/>
              <a:chOff x="2870" y="1518"/>
              <a:chExt cx="292" cy="320"/>
            </a:xfrm>
          </p:grpSpPr>
          <p:graphicFrame>
            <p:nvGraphicFramePr>
              <p:cNvPr id="20526" name="Object 22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95" name="" r:id="rId17" imgW="826770" imgH="840105" progId="MS_ClipArt_Gallery.2">
                      <p:embed/>
                    </p:oleObj>
                  </mc:Choice>
                  <mc:Fallback>
                    <p:oleObj name="" r:id="rId17" imgW="826770" imgH="840105" progId="MS_ClipArt_Gallery.2">
                      <p:embed/>
                      <p:pic>
                        <p:nvPicPr>
                          <p:cNvPr id="0" name="图片 3194"/>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27" name="Object 22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96" name="" r:id="rId18" imgW="1268095" imgH="1199515" progId="MS_ClipArt_Gallery.2">
                      <p:embed/>
                    </p:oleObj>
                  </mc:Choice>
                  <mc:Fallback>
                    <p:oleObj name="" r:id="rId18" imgW="1268095" imgH="1199515" progId="MS_ClipArt_Gallery.2">
                      <p:embed/>
                      <p:pic>
                        <p:nvPicPr>
                          <p:cNvPr id="0" name="图片 3195"/>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0528" name="Group 215"/>
            <p:cNvGrpSpPr/>
            <p:nvPr/>
          </p:nvGrpSpPr>
          <p:grpSpPr>
            <a:xfrm>
              <a:off x="2726" y="1418"/>
              <a:ext cx="252" cy="288"/>
              <a:chOff x="2870" y="1518"/>
              <a:chExt cx="292" cy="320"/>
            </a:xfrm>
          </p:grpSpPr>
          <p:graphicFrame>
            <p:nvGraphicFramePr>
              <p:cNvPr id="20529" name="Object 21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93" name="" r:id="rId19" imgW="826770" imgH="840105" progId="MS_ClipArt_Gallery.2">
                      <p:embed/>
                    </p:oleObj>
                  </mc:Choice>
                  <mc:Fallback>
                    <p:oleObj name="" r:id="rId19" imgW="826770" imgH="840105" progId="MS_ClipArt_Gallery.2">
                      <p:embed/>
                      <p:pic>
                        <p:nvPicPr>
                          <p:cNvPr id="0" name="图片 319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30" name="Object 21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99" name="" r:id="rId20" imgW="1268095" imgH="1199515" progId="MS_ClipArt_Gallery.2">
                      <p:embed/>
                    </p:oleObj>
                  </mc:Choice>
                  <mc:Fallback>
                    <p:oleObj name="" r:id="rId20" imgW="1268095" imgH="1199515" progId="MS_ClipArt_Gallery.2">
                      <p:embed/>
                      <p:pic>
                        <p:nvPicPr>
                          <p:cNvPr id="0" name="图片 3198"/>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0531" name="Group 230"/>
            <p:cNvGrpSpPr/>
            <p:nvPr/>
          </p:nvGrpSpPr>
          <p:grpSpPr>
            <a:xfrm>
              <a:off x="2834" y="1796"/>
              <a:ext cx="252" cy="288"/>
              <a:chOff x="2870" y="1518"/>
              <a:chExt cx="292" cy="320"/>
            </a:xfrm>
          </p:grpSpPr>
          <p:graphicFrame>
            <p:nvGraphicFramePr>
              <p:cNvPr id="20532" name="Object 23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00" name="" r:id="rId21" imgW="826770" imgH="840105" progId="MS_ClipArt_Gallery.2">
                      <p:embed/>
                    </p:oleObj>
                  </mc:Choice>
                  <mc:Fallback>
                    <p:oleObj name="" r:id="rId21" imgW="826770" imgH="840105" progId="MS_ClipArt_Gallery.2">
                      <p:embed/>
                      <p:pic>
                        <p:nvPicPr>
                          <p:cNvPr id="0" name="图片 3199"/>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0533" name="Object 23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01" name="" r:id="rId22" imgW="1268095" imgH="1199515" progId="MS_ClipArt_Gallery.2">
                      <p:embed/>
                    </p:oleObj>
                  </mc:Choice>
                  <mc:Fallback>
                    <p:oleObj name="" r:id="rId22" imgW="1268095" imgH="1199515" progId="MS_ClipArt_Gallery.2">
                      <p:embed/>
                      <p:pic>
                        <p:nvPicPr>
                          <p:cNvPr id="0" name="图片 3200"/>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00496"/>
                                        </p:tgtEl>
                                        <p:attrNameLst>
                                          <p:attrName>style.visibility</p:attrName>
                                        </p:attrNameLst>
                                      </p:cBhvr>
                                      <p:to>
                                        <p:strVal val="visible"/>
                                      </p:to>
                                    </p:set>
                                    <p:animEffect transition="in" filter="dissolve">
                                      <p:cBhvr>
                                        <p:cTn id="7" dur="500"/>
                                        <p:tgtEl>
                                          <p:spTgt spid="40049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00521"/>
                                        </p:tgtEl>
                                        <p:attrNameLst>
                                          <p:attrName>style.visibility</p:attrName>
                                        </p:attrNameLst>
                                      </p:cBhvr>
                                      <p:to>
                                        <p:strVal val="visible"/>
                                      </p:to>
                                    </p:set>
                                    <p:animEffect transition="in" filter="dissolve">
                                      <p:cBhvr>
                                        <p:cTn id="11" dur="500"/>
                                        <p:tgtEl>
                                          <p:spTgt spid="40052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400582"/>
                                        </p:tgtEl>
                                        <p:attrNameLst>
                                          <p:attrName>style.visibility</p:attrName>
                                        </p:attrNameLst>
                                      </p:cBhvr>
                                      <p:to>
                                        <p:strVal val="visible"/>
                                      </p:to>
                                    </p:set>
                                    <p:animEffect transition="in" filter="dissolve">
                                      <p:cBhvr>
                                        <p:cTn id="15" dur="500"/>
                                        <p:tgtEl>
                                          <p:spTgt spid="400582"/>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400587"/>
                                        </p:tgtEl>
                                        <p:attrNameLst>
                                          <p:attrName>style.visibility</p:attrName>
                                        </p:attrNameLst>
                                      </p:cBhvr>
                                      <p:to>
                                        <p:strVal val="visible"/>
                                      </p:to>
                                    </p:set>
                                    <p:animEffect transition="in" filter="dissolve">
                                      <p:cBhvr>
                                        <p:cTn id="19" dur="500"/>
                                        <p:tgtEl>
                                          <p:spTgt spid="400587"/>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400592"/>
                                        </p:tgtEl>
                                        <p:attrNameLst>
                                          <p:attrName>style.visibility</p:attrName>
                                        </p:attrNameLst>
                                      </p:cBhvr>
                                      <p:to>
                                        <p:strVal val="visible"/>
                                      </p:to>
                                    </p:set>
                                    <p:animEffect transition="in" filter="dissolve">
                                      <p:cBhvr>
                                        <p:cTn id="23" dur="500"/>
                                        <p:tgtEl>
                                          <p:spTgt spid="400592"/>
                                        </p:tgtEl>
                                      </p:cBhvr>
                                    </p:animEffect>
                                  </p:childTnLst>
                                </p:cTn>
                              </p:par>
                            </p:childTnLst>
                          </p:cTn>
                        </p:par>
                        <p:par>
                          <p:cTn id="24" fill="hold">
                            <p:stCondLst>
                              <p:cond delay="2500"/>
                            </p:stCondLst>
                            <p:childTnLst>
                              <p:par>
                                <p:cTn id="25" presetID="9" presetClass="entr" presetSubtype="0" fill="hold" nodeType="afterEffect">
                                  <p:stCondLst>
                                    <p:cond delay="1000"/>
                                  </p:stCondLst>
                                  <p:childTnLst>
                                    <p:set>
                                      <p:cBhvr>
                                        <p:cTn id="26" dur="1" fill="hold">
                                          <p:stCondLst>
                                            <p:cond delay="0"/>
                                          </p:stCondLst>
                                        </p:cTn>
                                        <p:tgtEl>
                                          <p:spTgt spid="400623"/>
                                        </p:tgtEl>
                                        <p:attrNameLst>
                                          <p:attrName>style.visibility</p:attrName>
                                        </p:attrNameLst>
                                      </p:cBhvr>
                                      <p:to>
                                        <p:strVal val="visible"/>
                                      </p:to>
                                    </p:set>
                                    <p:animEffect transition="in" filter="dissolve">
                                      <p:cBhvr>
                                        <p:cTn id="27" dur="1000"/>
                                        <p:tgtEl>
                                          <p:spTgt spid="400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225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25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Wireless network taxonomy_T</a:t>
            </a:r>
            <a:endParaRPr lang="zh-CN" altLang="en-US" dirty="0">
              <a:ea typeface="宋体" panose="02010600030101010101" pitchFamily="2" charset="-122"/>
            </a:endParaRPr>
          </a:p>
        </p:txBody>
      </p:sp>
      <p:sp>
        <p:nvSpPr>
          <p:cNvPr id="22532" name="Text Box 4"/>
          <p:cNvSpPr txBox="1"/>
          <p:nvPr/>
        </p:nvSpPr>
        <p:spPr>
          <a:xfrm>
            <a:off x="2909888" y="1625600"/>
            <a:ext cx="1349375" cy="396875"/>
          </a:xfrm>
          <a:prstGeom prst="rect">
            <a:avLst/>
          </a:prstGeom>
          <a:noFill/>
          <a:ln w="9525">
            <a:noFill/>
          </a:ln>
        </p:spPr>
        <p:txBody>
          <a:bodyPr wrap="none" anchor="t" anchorCtr="0">
            <a:spAutoFit/>
          </a:bodyPr>
          <a:p>
            <a:pPr eaLnBrk="0" hangingPunct="0">
              <a:buClrTx/>
              <a:buFontTx/>
            </a:pPr>
            <a:r>
              <a:rPr lang="en-US" altLang="zh-CN" sz="2000" dirty="0">
                <a:solidFill>
                  <a:schemeClr val="accent2"/>
                </a:solidFill>
                <a:latin typeface="Comic Sans MS" panose="030F0702030302020204" pitchFamily="66" charset="0"/>
                <a:ea typeface="宋体" panose="02010600030101010101" pitchFamily="2" charset="-122"/>
              </a:rPr>
              <a:t>single hop</a:t>
            </a:r>
            <a:endParaRPr lang="en-US" altLang="zh-CN" sz="2000" dirty="0">
              <a:solidFill>
                <a:schemeClr val="accent2"/>
              </a:solidFill>
              <a:latin typeface="Comic Sans MS" panose="030F0702030302020204" pitchFamily="66" charset="0"/>
              <a:ea typeface="宋体" panose="02010600030101010101" pitchFamily="2" charset="-122"/>
            </a:endParaRPr>
          </a:p>
        </p:txBody>
      </p:sp>
      <p:sp>
        <p:nvSpPr>
          <p:cNvPr id="22533" name="Text Box 5"/>
          <p:cNvSpPr txBox="1"/>
          <p:nvPr/>
        </p:nvSpPr>
        <p:spPr>
          <a:xfrm>
            <a:off x="5605463" y="1619250"/>
            <a:ext cx="1735137" cy="396875"/>
          </a:xfrm>
          <a:prstGeom prst="rect">
            <a:avLst/>
          </a:prstGeom>
          <a:noFill/>
          <a:ln w="9525">
            <a:noFill/>
          </a:ln>
        </p:spPr>
        <p:txBody>
          <a:bodyPr wrap="none" anchor="t" anchorCtr="0">
            <a:spAutoFit/>
          </a:bodyPr>
          <a:p>
            <a:pPr eaLnBrk="0" hangingPunct="0">
              <a:buClrTx/>
              <a:buFontTx/>
            </a:pPr>
            <a:r>
              <a:rPr lang="en-US" altLang="zh-CN" sz="2000" dirty="0">
                <a:solidFill>
                  <a:schemeClr val="accent2"/>
                </a:solidFill>
                <a:latin typeface="Comic Sans MS" panose="030F0702030302020204" pitchFamily="66" charset="0"/>
                <a:ea typeface="宋体" panose="02010600030101010101" pitchFamily="2" charset="-122"/>
              </a:rPr>
              <a:t>multiple hops</a:t>
            </a:r>
            <a:endParaRPr lang="en-US" altLang="zh-CN" sz="2000" dirty="0">
              <a:solidFill>
                <a:schemeClr val="accent2"/>
              </a:solidFill>
              <a:latin typeface="Comic Sans MS" panose="030F0702030302020204" pitchFamily="66" charset="0"/>
              <a:ea typeface="宋体" panose="02010600030101010101" pitchFamily="2" charset="-122"/>
            </a:endParaRPr>
          </a:p>
        </p:txBody>
      </p:sp>
      <p:sp>
        <p:nvSpPr>
          <p:cNvPr id="22534" name="Text Box 7"/>
          <p:cNvSpPr txBox="1"/>
          <p:nvPr/>
        </p:nvSpPr>
        <p:spPr>
          <a:xfrm>
            <a:off x="765175" y="2425700"/>
            <a:ext cx="1568450" cy="581025"/>
          </a:xfrm>
          <a:prstGeom prst="rect">
            <a:avLst/>
          </a:prstGeom>
          <a:noFill/>
          <a:ln w="9525">
            <a:noFill/>
          </a:ln>
        </p:spPr>
        <p:txBody>
          <a:bodyPr wrap="none" anchor="t" anchorCtr="0">
            <a:spAutoFit/>
          </a:bodyPr>
          <a:p>
            <a:pPr algn="ctr" eaLnBrk="0" hangingPunct="0">
              <a:buClrTx/>
              <a:buFontTx/>
            </a:pPr>
            <a:r>
              <a:rPr lang="en-US" altLang="zh-CN" sz="1600" dirty="0">
                <a:solidFill>
                  <a:schemeClr val="accent2"/>
                </a:solidFill>
                <a:latin typeface="Comic Sans MS" panose="030F0702030302020204" pitchFamily="66" charset="0"/>
                <a:ea typeface="宋体" panose="02010600030101010101" pitchFamily="2" charset="-122"/>
              </a:rPr>
              <a:t>infrastructure</a:t>
            </a:r>
            <a:endParaRPr lang="en-US" altLang="zh-CN" sz="1600" dirty="0">
              <a:solidFill>
                <a:schemeClr val="accent2"/>
              </a:solidFill>
              <a:latin typeface="Comic Sans MS" panose="030F0702030302020204" pitchFamily="66" charset="0"/>
              <a:ea typeface="宋体" panose="02010600030101010101" pitchFamily="2" charset="-122"/>
            </a:endParaRPr>
          </a:p>
          <a:p>
            <a:pPr algn="ctr" eaLnBrk="0" hangingPunct="0">
              <a:buClrTx/>
              <a:buFontTx/>
            </a:pPr>
            <a:r>
              <a:rPr lang="en-US" altLang="zh-CN" sz="1600" dirty="0">
                <a:solidFill>
                  <a:schemeClr val="accent2"/>
                </a:solidFill>
                <a:latin typeface="Comic Sans MS" panose="030F0702030302020204" pitchFamily="66" charset="0"/>
                <a:ea typeface="宋体" panose="02010600030101010101" pitchFamily="2" charset="-122"/>
              </a:rPr>
              <a:t>(e.g., APs</a:t>
            </a:r>
            <a:r>
              <a:rPr lang="en-US" altLang="zh-CN" sz="1600" dirty="0">
                <a:latin typeface="Comic Sans MS" panose="030F0702030302020204" pitchFamily="66" charset="0"/>
                <a:ea typeface="宋体" panose="02010600030101010101" pitchFamily="2" charset="-122"/>
              </a:rPr>
              <a:t>)</a:t>
            </a:r>
            <a:endParaRPr lang="en-US" altLang="zh-CN" sz="1600" dirty="0">
              <a:latin typeface="Comic Sans MS" panose="030F0702030302020204" pitchFamily="66" charset="0"/>
              <a:ea typeface="宋体" panose="02010600030101010101" pitchFamily="2" charset="-122"/>
            </a:endParaRPr>
          </a:p>
        </p:txBody>
      </p:sp>
      <p:sp>
        <p:nvSpPr>
          <p:cNvPr id="22535" name="Text Box 8"/>
          <p:cNvSpPr txBox="1"/>
          <p:nvPr/>
        </p:nvSpPr>
        <p:spPr>
          <a:xfrm>
            <a:off x="812800" y="4121150"/>
            <a:ext cx="1568450" cy="581025"/>
          </a:xfrm>
          <a:prstGeom prst="rect">
            <a:avLst/>
          </a:prstGeom>
          <a:noFill/>
          <a:ln w="9525">
            <a:noFill/>
          </a:ln>
        </p:spPr>
        <p:txBody>
          <a:bodyPr wrap="none" anchor="t" anchorCtr="0">
            <a:spAutoFit/>
          </a:bodyPr>
          <a:p>
            <a:pPr algn="ctr" eaLnBrk="0" hangingPunct="0">
              <a:buClrTx/>
              <a:buFontTx/>
            </a:pPr>
            <a:r>
              <a:rPr lang="en-US" altLang="zh-CN" sz="1600" dirty="0">
                <a:solidFill>
                  <a:schemeClr val="accent2"/>
                </a:solidFill>
                <a:latin typeface="Comic Sans MS" panose="030F0702030302020204" pitchFamily="66" charset="0"/>
                <a:ea typeface="宋体" panose="02010600030101010101" pitchFamily="2" charset="-122"/>
              </a:rPr>
              <a:t>no</a:t>
            </a:r>
            <a:endParaRPr lang="en-US" altLang="zh-CN" sz="1600" dirty="0">
              <a:solidFill>
                <a:schemeClr val="accent2"/>
              </a:solidFill>
              <a:latin typeface="Comic Sans MS" panose="030F0702030302020204" pitchFamily="66" charset="0"/>
              <a:ea typeface="宋体" panose="02010600030101010101" pitchFamily="2" charset="-122"/>
            </a:endParaRPr>
          </a:p>
          <a:p>
            <a:pPr algn="ctr" eaLnBrk="0" hangingPunct="0">
              <a:buClrTx/>
              <a:buFontTx/>
            </a:pPr>
            <a:r>
              <a:rPr lang="en-US" altLang="zh-CN" sz="1600" dirty="0">
                <a:solidFill>
                  <a:schemeClr val="accent2"/>
                </a:solidFill>
                <a:latin typeface="Comic Sans MS" panose="030F0702030302020204" pitchFamily="66" charset="0"/>
                <a:ea typeface="宋体" panose="02010600030101010101" pitchFamily="2" charset="-122"/>
              </a:rPr>
              <a:t>infrastructure</a:t>
            </a:r>
            <a:endParaRPr lang="en-US" altLang="zh-CN" sz="1600" dirty="0">
              <a:solidFill>
                <a:schemeClr val="accent2"/>
              </a:solidFill>
              <a:latin typeface="Comic Sans MS" panose="030F0702030302020204" pitchFamily="66" charset="0"/>
              <a:ea typeface="宋体" panose="02010600030101010101" pitchFamily="2" charset="-122"/>
            </a:endParaRPr>
          </a:p>
        </p:txBody>
      </p:sp>
      <p:sp>
        <p:nvSpPr>
          <p:cNvPr id="22536" name="Rectangle 10"/>
          <p:cNvSpPr/>
          <p:nvPr/>
        </p:nvSpPr>
        <p:spPr>
          <a:xfrm>
            <a:off x="738188" y="1606550"/>
            <a:ext cx="7186612" cy="398463"/>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2537" name="Rectangle 11"/>
          <p:cNvSpPr/>
          <p:nvPr/>
        </p:nvSpPr>
        <p:spPr>
          <a:xfrm>
            <a:off x="727075" y="1617663"/>
            <a:ext cx="1641475" cy="3821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2538" name="Rectangle 12"/>
          <p:cNvSpPr/>
          <p:nvPr/>
        </p:nvSpPr>
        <p:spPr>
          <a:xfrm>
            <a:off x="2379663" y="1617663"/>
            <a:ext cx="2825750" cy="3821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2539" name="Rectangle 13"/>
          <p:cNvSpPr/>
          <p:nvPr/>
        </p:nvSpPr>
        <p:spPr>
          <a:xfrm>
            <a:off x="5210175" y="1617663"/>
            <a:ext cx="2720975" cy="3821112"/>
          </a:xfrm>
          <a:prstGeom prst="rect">
            <a:avLst/>
          </a:prstGeom>
          <a:noFill/>
          <a:ln w="9525" cap="flat" cmpd="sng">
            <a:solidFill>
              <a:schemeClr val="accent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2540" name="Text Box 14"/>
          <p:cNvSpPr txBox="1"/>
          <p:nvPr/>
        </p:nvSpPr>
        <p:spPr>
          <a:xfrm>
            <a:off x="2671763" y="2179638"/>
            <a:ext cx="2208212" cy="1465262"/>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host connects to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base station (WiFi,</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WiMAX, cellular)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which connects to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larger Internet</a:t>
            </a:r>
            <a:endParaRPr lang="en-US" altLang="zh-CN" dirty="0">
              <a:latin typeface="Comic Sans MS" panose="030F0702030302020204" pitchFamily="66" charset="0"/>
              <a:ea typeface="宋体" panose="02010600030101010101" pitchFamily="2" charset="-122"/>
            </a:endParaRPr>
          </a:p>
        </p:txBody>
      </p:sp>
      <p:sp>
        <p:nvSpPr>
          <p:cNvPr id="22541" name="Text Box 15"/>
          <p:cNvSpPr txBox="1"/>
          <p:nvPr/>
        </p:nvSpPr>
        <p:spPr>
          <a:xfrm>
            <a:off x="2579688" y="4121150"/>
            <a:ext cx="2447925" cy="1190625"/>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no base station, no</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connection to larger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Internet (Bluetooth,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ad hoc nets)</a:t>
            </a:r>
            <a:endParaRPr lang="en-US" altLang="zh-CN" dirty="0">
              <a:latin typeface="Comic Sans MS" panose="030F0702030302020204" pitchFamily="66" charset="0"/>
              <a:ea typeface="宋体" panose="02010600030101010101" pitchFamily="2" charset="-122"/>
            </a:endParaRPr>
          </a:p>
        </p:txBody>
      </p:sp>
      <p:sp>
        <p:nvSpPr>
          <p:cNvPr id="22542" name="Text Box 16"/>
          <p:cNvSpPr txBox="1"/>
          <p:nvPr/>
        </p:nvSpPr>
        <p:spPr>
          <a:xfrm>
            <a:off x="5314950" y="2133600"/>
            <a:ext cx="2457450" cy="1465263"/>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host may have to</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relay through several</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wireless nodes to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connect to larger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Internet: </a:t>
            </a:r>
            <a:r>
              <a:rPr lang="en-US" altLang="zh-CN" i="1" dirty="0">
                <a:latin typeface="Comic Sans MS" panose="030F0702030302020204" pitchFamily="66" charset="0"/>
                <a:ea typeface="宋体" panose="02010600030101010101" pitchFamily="2" charset="-122"/>
              </a:rPr>
              <a:t>mesh net</a:t>
            </a:r>
            <a:endParaRPr lang="en-US" altLang="zh-CN" i="1" dirty="0">
              <a:latin typeface="Comic Sans MS" panose="030F0702030302020204" pitchFamily="66" charset="0"/>
              <a:ea typeface="宋体" panose="02010600030101010101" pitchFamily="2" charset="-122"/>
            </a:endParaRPr>
          </a:p>
        </p:txBody>
      </p:sp>
      <p:sp>
        <p:nvSpPr>
          <p:cNvPr id="22543" name="Text Box 17"/>
          <p:cNvSpPr txBox="1"/>
          <p:nvPr/>
        </p:nvSpPr>
        <p:spPr>
          <a:xfrm>
            <a:off x="5303838" y="3716338"/>
            <a:ext cx="2538412" cy="1739900"/>
          </a:xfrm>
          <a:prstGeom prst="rect">
            <a:avLst/>
          </a:prstGeom>
          <a:noFill/>
          <a:ln w="9525">
            <a:noFill/>
          </a:ln>
        </p:spPr>
        <p:txBody>
          <a:bodyPr wrap="none" anchor="t" anchorCtr="0">
            <a:spAutoFit/>
          </a:bodyPr>
          <a:p>
            <a:pPr algn="ctr" eaLnBrk="0" hangingPunct="0">
              <a:buClrTx/>
              <a:buFontTx/>
            </a:pPr>
            <a:r>
              <a:rPr lang="en-US" altLang="zh-CN" dirty="0">
                <a:latin typeface="Comic Sans MS" panose="030F0702030302020204" pitchFamily="66" charset="0"/>
                <a:ea typeface="宋体" panose="02010600030101010101" pitchFamily="2" charset="-122"/>
              </a:rPr>
              <a:t>no base station, no</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connection to larger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Internet. May have to</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relay to reach other </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a given wireless node</a:t>
            </a:r>
            <a:endParaRPr lang="en-US" altLang="zh-CN" dirty="0">
              <a:latin typeface="Comic Sans MS" panose="030F0702030302020204" pitchFamily="66" charset="0"/>
              <a:ea typeface="宋体" panose="02010600030101010101" pitchFamily="2" charset="-122"/>
            </a:endParaRPr>
          </a:p>
          <a:p>
            <a:pPr algn="ctr" eaLnBrk="0" hangingPunct="0">
              <a:buClrTx/>
              <a:buFontTx/>
            </a:pPr>
            <a:r>
              <a:rPr lang="en-US" altLang="zh-CN" dirty="0">
                <a:latin typeface="Comic Sans MS" panose="030F0702030302020204" pitchFamily="66" charset="0"/>
                <a:ea typeface="宋体" panose="02010600030101010101" pitchFamily="2" charset="-122"/>
              </a:rPr>
              <a:t>MANET, VANET</a:t>
            </a:r>
            <a:endParaRPr lang="en-US" altLang="zh-CN" i="1" dirty="0">
              <a:latin typeface="Comic Sans MS" panose="030F0702030302020204" pitchFamily="66"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245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4579"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Wireless Link Characteristics (1)_T</a:t>
            </a:r>
            <a:endParaRPr lang="en-US" altLang="zh-CN" sz="3600" dirty="0">
              <a:ea typeface="宋体" panose="02010600030101010101" pitchFamily="2" charset="-122"/>
            </a:endParaRPr>
          </a:p>
        </p:txBody>
      </p:sp>
      <p:sp>
        <p:nvSpPr>
          <p:cNvPr id="24580" name="Rectangle 3"/>
          <p:cNvSpPr>
            <a:spLocks noGrp="1"/>
          </p:cNvSpPr>
          <p:nvPr>
            <p:ph idx="1"/>
          </p:nvPr>
        </p:nvSpPr>
        <p:spPr>
          <a:xfrm>
            <a:off x="533400" y="1416050"/>
            <a:ext cx="7772400" cy="5197475"/>
          </a:xfrm>
          <a:ln/>
        </p:spPr>
        <p:txBody>
          <a:bodyPr vert="horz" wrap="square" lIns="91440" tIns="45720" rIns="91440" bIns="45720" anchor="t" anchorCtr="0"/>
          <a:p>
            <a:pPr>
              <a:lnSpc>
                <a:spcPct val="80000"/>
              </a:lnSpc>
              <a:buNone/>
            </a:pPr>
            <a:r>
              <a:rPr lang="en-US" altLang="zh-CN" sz="2400" dirty="0">
                <a:ea typeface="宋体" panose="02010600030101010101" pitchFamily="2" charset="-122"/>
              </a:rPr>
              <a:t>Differences from wired link ….</a:t>
            </a:r>
            <a:endParaRPr lang="en-US" altLang="zh-CN" sz="2400" dirty="0">
              <a:ea typeface="宋体" panose="02010600030101010101" pitchFamily="2" charset="-122"/>
            </a:endParaRPr>
          </a:p>
          <a:p>
            <a:pPr>
              <a:lnSpc>
                <a:spcPct val="80000"/>
              </a:lnSpc>
              <a:buNone/>
            </a:pPr>
            <a:endParaRPr lang="en-US" altLang="zh-CN" sz="2400" dirty="0">
              <a:ea typeface="宋体" panose="02010600030101010101" pitchFamily="2" charset="-122"/>
            </a:endParaRPr>
          </a:p>
          <a:p>
            <a:pPr lvl="1">
              <a:lnSpc>
                <a:spcPct val="80000"/>
              </a:lnSpc>
            </a:pPr>
            <a:r>
              <a:rPr lang="en-US" altLang="zh-CN" dirty="0">
                <a:solidFill>
                  <a:srgbClr val="FF0000"/>
                </a:solidFill>
                <a:ea typeface="宋体" panose="02010600030101010101" pitchFamily="2" charset="-122"/>
              </a:rPr>
              <a:t>decreased signal strength:</a:t>
            </a:r>
            <a:r>
              <a:rPr lang="en-US" altLang="zh-CN" dirty="0">
                <a:ea typeface="宋体" panose="02010600030101010101" pitchFamily="2" charset="-122"/>
              </a:rPr>
              <a:t> radio signal attenuates as it propagates through matter (path loss)</a:t>
            </a:r>
            <a:endParaRPr lang="en-US" altLang="zh-CN" dirty="0">
              <a:ea typeface="宋体" panose="02010600030101010101" pitchFamily="2" charset="-122"/>
            </a:endParaRPr>
          </a:p>
          <a:p>
            <a:pPr lvl="1">
              <a:lnSpc>
                <a:spcPct val="80000"/>
              </a:lnSpc>
            </a:pPr>
            <a:r>
              <a:rPr lang="en-US" altLang="zh-CN" dirty="0">
                <a:solidFill>
                  <a:srgbClr val="FF0000"/>
                </a:solidFill>
                <a:ea typeface="宋体" panose="02010600030101010101" pitchFamily="2" charset="-122"/>
              </a:rPr>
              <a:t>interference from other sources:</a:t>
            </a:r>
            <a:r>
              <a:rPr lang="en-US" altLang="zh-CN" dirty="0">
                <a:ea typeface="宋体" panose="02010600030101010101" pitchFamily="2" charset="-122"/>
              </a:rPr>
              <a:t> standardized wireless network frequencies (e.g., 2.4 GHz) shared by other devices (e.g., phone); devices (motors) interfere as well</a:t>
            </a:r>
            <a:endParaRPr lang="en-US" altLang="zh-CN" dirty="0">
              <a:ea typeface="宋体" panose="02010600030101010101" pitchFamily="2" charset="-122"/>
            </a:endParaRPr>
          </a:p>
          <a:p>
            <a:pPr lvl="1">
              <a:lnSpc>
                <a:spcPct val="80000"/>
              </a:lnSpc>
            </a:pPr>
            <a:r>
              <a:rPr lang="en-US" altLang="zh-CN" dirty="0">
                <a:solidFill>
                  <a:srgbClr val="FF0000"/>
                </a:solidFill>
                <a:ea typeface="宋体" panose="02010600030101010101" pitchFamily="2" charset="-122"/>
              </a:rPr>
              <a:t>multipath propagation:</a:t>
            </a:r>
            <a:r>
              <a:rPr lang="en-US" altLang="zh-CN" dirty="0">
                <a:ea typeface="宋体" panose="02010600030101010101" pitchFamily="2" charset="-122"/>
              </a:rPr>
              <a:t> radio signal reflects off objects ground, arriving at destination at slightly different times</a:t>
            </a:r>
            <a:endParaRPr lang="en-US" altLang="zh-CN" dirty="0">
              <a:ea typeface="宋体" panose="02010600030101010101" pitchFamily="2" charset="-122"/>
            </a:endParaRPr>
          </a:p>
          <a:p>
            <a:pPr>
              <a:lnSpc>
                <a:spcPct val="80000"/>
              </a:lnSpc>
              <a:buNone/>
            </a:pPr>
            <a:endParaRPr lang="en-US" altLang="zh-CN" sz="2400" dirty="0">
              <a:ea typeface="宋体" panose="02010600030101010101" pitchFamily="2" charset="-122"/>
            </a:endParaRPr>
          </a:p>
          <a:p>
            <a:pPr>
              <a:lnSpc>
                <a:spcPct val="80000"/>
              </a:lnSpc>
              <a:buNone/>
            </a:pPr>
            <a:r>
              <a:rPr lang="en-US" altLang="zh-CN" sz="2400" dirty="0">
                <a:ea typeface="宋体" panose="02010600030101010101" pitchFamily="2" charset="-122"/>
              </a:rPr>
              <a:t>…. make communication across (even a point to point) wireless link much more “difficult” </a:t>
            </a:r>
            <a:endParaRPr lang="en-US" altLang="zh-CN" sz="2400" dirty="0">
              <a:ea typeface="宋体" panose="02010600030101010101" pitchFamily="2" charset="-122"/>
            </a:endParaRPr>
          </a:p>
          <a:p>
            <a:pPr>
              <a:lnSpc>
                <a:spcPct val="80000"/>
              </a:lnSpc>
            </a:pPr>
            <a:endParaRPr lang="en-US" altLang="zh-CN" sz="2400"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266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6627"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Wireless Link Characteristics (2)</a:t>
            </a:r>
            <a:endParaRPr lang="en-US" altLang="zh-CN" sz="3600" dirty="0">
              <a:ea typeface="宋体" panose="02010600030101010101" pitchFamily="2" charset="-122"/>
            </a:endParaRPr>
          </a:p>
        </p:txBody>
      </p:sp>
      <p:sp>
        <p:nvSpPr>
          <p:cNvPr id="26628" name="Rectangle 3"/>
          <p:cNvSpPr>
            <a:spLocks noGrp="1"/>
          </p:cNvSpPr>
          <p:nvPr>
            <p:ph idx="1"/>
          </p:nvPr>
        </p:nvSpPr>
        <p:spPr>
          <a:xfrm>
            <a:off x="533400" y="1416050"/>
            <a:ext cx="4276725" cy="5197475"/>
          </a:xfrm>
          <a:ln/>
        </p:spPr>
        <p:txBody>
          <a:bodyPr vert="horz" wrap="square" lIns="91440" tIns="45720" rIns="91440" bIns="45720" anchor="t" anchorCtr="0"/>
          <a:p>
            <a:r>
              <a:rPr lang="en-US" altLang="zh-CN" sz="2000" dirty="0">
                <a:ea typeface="宋体" panose="02010600030101010101" pitchFamily="2" charset="-122"/>
              </a:rPr>
              <a:t>SNR: signal-to-noise ratio</a:t>
            </a:r>
            <a:endParaRPr lang="en-US" altLang="zh-CN" sz="2000" dirty="0">
              <a:ea typeface="宋体" panose="02010600030101010101" pitchFamily="2" charset="-122"/>
            </a:endParaRPr>
          </a:p>
          <a:p>
            <a:pPr lvl="1"/>
            <a:r>
              <a:rPr lang="en-US" altLang="zh-CN" sz="2000" dirty="0">
                <a:ea typeface="宋体" panose="02010600030101010101" pitchFamily="2" charset="-122"/>
              </a:rPr>
              <a:t>larger SNR – easier to extract signal from noise (a “good thing”)</a:t>
            </a:r>
            <a:endParaRPr lang="en-US" altLang="zh-CN" sz="2000" dirty="0">
              <a:ea typeface="宋体" panose="02010600030101010101" pitchFamily="2" charset="-122"/>
            </a:endParaRPr>
          </a:p>
          <a:p>
            <a:r>
              <a:rPr lang="en-US" altLang="zh-CN" sz="2000" i="1" dirty="0">
                <a:solidFill>
                  <a:srgbClr val="FF3300"/>
                </a:solidFill>
                <a:ea typeface="宋体" panose="02010600030101010101" pitchFamily="2" charset="-122"/>
              </a:rPr>
              <a:t>SNR versus BER tradeoffs</a:t>
            </a:r>
            <a:endParaRPr lang="en-US" altLang="zh-CN" sz="2000" i="1" dirty="0">
              <a:solidFill>
                <a:srgbClr val="FF3300"/>
              </a:solidFill>
              <a:ea typeface="宋体" panose="02010600030101010101" pitchFamily="2" charset="-122"/>
            </a:endParaRPr>
          </a:p>
          <a:p>
            <a:pPr lvl="1"/>
            <a:r>
              <a:rPr lang="en-US" altLang="zh-CN" sz="2000" i="1" dirty="0">
                <a:solidFill>
                  <a:schemeClr val="accent2"/>
                </a:solidFill>
                <a:ea typeface="宋体" panose="02010600030101010101" pitchFamily="2" charset="-122"/>
              </a:rPr>
              <a:t>given physical layer:</a:t>
            </a:r>
            <a:r>
              <a:rPr lang="en-US" altLang="zh-CN" sz="2000" dirty="0">
                <a:ea typeface="宋体" panose="02010600030101010101" pitchFamily="2" charset="-122"/>
              </a:rPr>
              <a:t> increase power -&gt; increase SNR-&gt;decrease BER</a:t>
            </a:r>
            <a:endParaRPr lang="en-US" altLang="zh-CN" sz="2000" dirty="0">
              <a:ea typeface="宋体" panose="02010600030101010101" pitchFamily="2" charset="-122"/>
            </a:endParaRPr>
          </a:p>
          <a:p>
            <a:pPr lvl="1"/>
            <a:r>
              <a:rPr lang="en-US" altLang="zh-CN" sz="2000" i="1" dirty="0">
                <a:solidFill>
                  <a:schemeClr val="accent2"/>
                </a:solidFill>
                <a:ea typeface="宋体" panose="02010600030101010101" pitchFamily="2" charset="-122"/>
              </a:rPr>
              <a:t>given SNR:</a:t>
            </a:r>
            <a:r>
              <a:rPr lang="en-US" altLang="zh-CN" sz="2000" dirty="0">
                <a:ea typeface="宋体" panose="02010600030101010101" pitchFamily="2" charset="-122"/>
              </a:rPr>
              <a:t> choose physical layer that meets BER requirement, giving highest thruput</a:t>
            </a:r>
            <a:endParaRPr lang="en-US" altLang="zh-CN" sz="2000" dirty="0">
              <a:ea typeface="宋体" panose="02010600030101010101" pitchFamily="2" charset="-122"/>
            </a:endParaRPr>
          </a:p>
          <a:p>
            <a:pPr lvl="2"/>
            <a:r>
              <a:rPr lang="en-US" altLang="zh-CN" sz="1800" dirty="0">
                <a:ea typeface="宋体" panose="02010600030101010101" pitchFamily="2" charset="-122"/>
              </a:rPr>
              <a:t>SNR may change with mobility: dynamically adapt physical layer (modulation technique, rate) </a:t>
            </a:r>
            <a:endParaRPr lang="en-US" altLang="zh-CN" sz="1800" dirty="0">
              <a:ea typeface="宋体" panose="02010600030101010101" pitchFamily="2" charset="-122"/>
            </a:endParaRPr>
          </a:p>
          <a:p>
            <a:pPr lvl="1"/>
            <a:endParaRPr lang="en-US" altLang="zh-CN" sz="2000" dirty="0">
              <a:ea typeface="宋体" panose="02010600030101010101" pitchFamily="2" charset="-122"/>
            </a:endParaRPr>
          </a:p>
        </p:txBody>
      </p:sp>
      <p:sp>
        <p:nvSpPr>
          <p:cNvPr id="26629" name="Freeform 4"/>
          <p:cNvSpPr/>
          <p:nvPr/>
        </p:nvSpPr>
        <p:spPr>
          <a:xfrm>
            <a:off x="5483225" y="1924050"/>
            <a:ext cx="609600" cy="2527300"/>
          </a:xfrm>
          <a:custGeom>
            <a:avLst/>
            <a:gdLst/>
            <a:ahLst/>
            <a:cxnLst>
              <a:cxn ang="0">
                <a:pos x="0" y="0"/>
              </a:cxn>
              <a:cxn ang="0">
                <a:pos x="463708750" y="967740000"/>
              </a:cxn>
              <a:cxn ang="0">
                <a:pos x="766127500" y="2147483646"/>
              </a:cxn>
              <a:cxn ang="0">
                <a:pos x="967740000" y="2147483646"/>
              </a:cxn>
            </a:cxnLst>
            <a:pathLst>
              <a:path w="384" h="1592">
                <a:moveTo>
                  <a:pt x="0" y="0"/>
                </a:moveTo>
                <a:cubicBezTo>
                  <a:pt x="66" y="110"/>
                  <a:pt x="133" y="220"/>
                  <a:pt x="184" y="384"/>
                </a:cubicBezTo>
                <a:cubicBezTo>
                  <a:pt x="235" y="548"/>
                  <a:pt x="271" y="783"/>
                  <a:pt x="304" y="984"/>
                </a:cubicBezTo>
                <a:cubicBezTo>
                  <a:pt x="337" y="1185"/>
                  <a:pt x="371" y="1492"/>
                  <a:pt x="384" y="1592"/>
                </a:cubicBez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26630" name="Freeform 5"/>
          <p:cNvSpPr/>
          <p:nvPr/>
        </p:nvSpPr>
        <p:spPr>
          <a:xfrm>
            <a:off x="6130925" y="1593850"/>
            <a:ext cx="685800" cy="2857500"/>
          </a:xfrm>
          <a:custGeom>
            <a:avLst/>
            <a:gdLst/>
            <a:ahLst/>
            <a:cxnLst>
              <a:cxn ang="0">
                <a:pos x="0" y="0"/>
              </a:cxn>
              <a:cxn ang="0">
                <a:pos x="423386250" y="745966250"/>
              </a:cxn>
              <a:cxn ang="0">
                <a:pos x="645160000" y="1512093750"/>
              </a:cxn>
              <a:cxn ang="0">
                <a:pos x="907256250" y="2147483646"/>
              </a:cxn>
              <a:cxn ang="0">
                <a:pos x="1088707500" y="2147483646"/>
              </a:cxn>
            </a:cxnLst>
            <a:pathLst>
              <a:path w="432" h="1800">
                <a:moveTo>
                  <a:pt x="0" y="0"/>
                </a:moveTo>
                <a:cubicBezTo>
                  <a:pt x="62" y="98"/>
                  <a:pt x="125" y="196"/>
                  <a:pt x="168" y="296"/>
                </a:cubicBezTo>
                <a:cubicBezTo>
                  <a:pt x="211" y="396"/>
                  <a:pt x="224" y="451"/>
                  <a:pt x="256" y="600"/>
                </a:cubicBezTo>
                <a:cubicBezTo>
                  <a:pt x="288" y="749"/>
                  <a:pt x="331" y="992"/>
                  <a:pt x="360" y="1192"/>
                </a:cubicBezTo>
                <a:cubicBezTo>
                  <a:pt x="389" y="1392"/>
                  <a:pt x="410" y="1596"/>
                  <a:pt x="432" y="1800"/>
                </a:cubicBezTo>
              </a:path>
            </a:pathLst>
          </a:custGeom>
          <a:noFill/>
          <a:ln w="28575" cap="flat" cmpd="sng">
            <a:solidFill>
              <a:srgbClr val="FF0000"/>
            </a:solidFill>
            <a:prstDash val="dash"/>
            <a:round/>
            <a:headEnd type="none" w="med" len="med"/>
            <a:tailEnd type="none" w="med" len="med"/>
          </a:ln>
        </p:spPr>
        <p:txBody>
          <a:bodyPr/>
          <a:p>
            <a:endParaRPr lang="zh-CN" altLang="en-US"/>
          </a:p>
        </p:txBody>
      </p:sp>
      <p:sp>
        <p:nvSpPr>
          <p:cNvPr id="26631" name="Freeform 6"/>
          <p:cNvSpPr/>
          <p:nvPr/>
        </p:nvSpPr>
        <p:spPr>
          <a:xfrm>
            <a:off x="7045325" y="1593850"/>
            <a:ext cx="647700" cy="2844800"/>
          </a:xfrm>
          <a:custGeom>
            <a:avLst/>
            <a:gdLst/>
            <a:ahLst/>
            <a:cxnLst>
              <a:cxn ang="0">
                <a:pos x="0" y="0"/>
              </a:cxn>
              <a:cxn ang="0">
                <a:pos x="383063750" y="745966250"/>
              </a:cxn>
              <a:cxn ang="0">
                <a:pos x="584676250" y="1491932500"/>
              </a:cxn>
              <a:cxn ang="0">
                <a:pos x="866933750" y="2147483646"/>
              </a:cxn>
              <a:cxn ang="0">
                <a:pos x="1028223750" y="2147483646"/>
              </a:cxn>
            </a:cxnLst>
            <a:pathLst>
              <a:path w="408" h="1792">
                <a:moveTo>
                  <a:pt x="0" y="0"/>
                </a:moveTo>
                <a:cubicBezTo>
                  <a:pt x="56" y="98"/>
                  <a:pt x="113" y="197"/>
                  <a:pt x="152" y="296"/>
                </a:cubicBezTo>
                <a:cubicBezTo>
                  <a:pt x="191" y="395"/>
                  <a:pt x="200" y="443"/>
                  <a:pt x="232" y="592"/>
                </a:cubicBezTo>
                <a:cubicBezTo>
                  <a:pt x="264" y="741"/>
                  <a:pt x="315" y="992"/>
                  <a:pt x="344" y="1192"/>
                </a:cubicBezTo>
                <a:cubicBezTo>
                  <a:pt x="373" y="1392"/>
                  <a:pt x="397" y="1691"/>
                  <a:pt x="408" y="1792"/>
                </a:cubicBezTo>
              </a:path>
            </a:pathLst>
          </a:custGeom>
          <a:noFill/>
          <a:ln w="28575" cap="flat" cmpd="sng">
            <a:solidFill>
              <a:srgbClr val="009900"/>
            </a:solidFill>
            <a:prstDash val="sysDot"/>
            <a:round/>
            <a:headEnd type="none" w="med" len="med"/>
            <a:tailEnd type="none" w="med" len="med"/>
          </a:ln>
        </p:spPr>
        <p:txBody>
          <a:bodyPr/>
          <a:p>
            <a:endParaRPr lang="zh-CN" altLang="en-US"/>
          </a:p>
        </p:txBody>
      </p:sp>
      <p:sp>
        <p:nvSpPr>
          <p:cNvPr id="26632" name="Rectangle 7"/>
          <p:cNvSpPr/>
          <p:nvPr/>
        </p:nvSpPr>
        <p:spPr>
          <a:xfrm>
            <a:off x="5475288" y="1581150"/>
            <a:ext cx="2862262" cy="2878138"/>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26633" name="Line 8"/>
          <p:cNvSpPr/>
          <p:nvPr/>
        </p:nvSpPr>
        <p:spPr>
          <a:xfrm>
            <a:off x="5475288" y="2074863"/>
            <a:ext cx="2847975" cy="0"/>
          </a:xfrm>
          <a:prstGeom prst="line">
            <a:avLst/>
          </a:prstGeom>
          <a:ln w="9525" cap="flat" cmpd="sng">
            <a:solidFill>
              <a:schemeClr val="tx1"/>
            </a:solidFill>
            <a:prstDash val="solid"/>
            <a:round/>
            <a:headEnd type="none" w="med" len="med"/>
            <a:tailEnd type="none" w="med" len="med"/>
          </a:ln>
        </p:spPr>
      </p:sp>
      <p:sp>
        <p:nvSpPr>
          <p:cNvPr id="26634" name="Line 9"/>
          <p:cNvSpPr/>
          <p:nvPr/>
        </p:nvSpPr>
        <p:spPr>
          <a:xfrm>
            <a:off x="5484813" y="2541588"/>
            <a:ext cx="2847975" cy="0"/>
          </a:xfrm>
          <a:prstGeom prst="line">
            <a:avLst/>
          </a:prstGeom>
          <a:ln w="9525" cap="flat" cmpd="sng">
            <a:solidFill>
              <a:schemeClr val="tx1"/>
            </a:solidFill>
            <a:prstDash val="solid"/>
            <a:round/>
            <a:headEnd type="none" w="med" len="med"/>
            <a:tailEnd type="none" w="med" len="med"/>
          </a:ln>
        </p:spPr>
      </p:sp>
      <p:sp>
        <p:nvSpPr>
          <p:cNvPr id="26635" name="Line 10"/>
          <p:cNvSpPr/>
          <p:nvPr/>
        </p:nvSpPr>
        <p:spPr>
          <a:xfrm>
            <a:off x="5494338" y="3022600"/>
            <a:ext cx="2847975" cy="0"/>
          </a:xfrm>
          <a:prstGeom prst="line">
            <a:avLst/>
          </a:prstGeom>
          <a:ln w="9525" cap="flat" cmpd="sng">
            <a:solidFill>
              <a:schemeClr val="tx1"/>
            </a:solidFill>
            <a:prstDash val="solid"/>
            <a:round/>
            <a:headEnd type="none" w="med" len="med"/>
            <a:tailEnd type="none" w="med" len="med"/>
          </a:ln>
        </p:spPr>
      </p:sp>
      <p:sp>
        <p:nvSpPr>
          <p:cNvPr id="26636" name="Line 11"/>
          <p:cNvSpPr/>
          <p:nvPr/>
        </p:nvSpPr>
        <p:spPr>
          <a:xfrm>
            <a:off x="5503863" y="3489325"/>
            <a:ext cx="2847975" cy="0"/>
          </a:xfrm>
          <a:prstGeom prst="line">
            <a:avLst/>
          </a:prstGeom>
          <a:ln w="9525" cap="flat" cmpd="sng">
            <a:solidFill>
              <a:schemeClr val="tx1"/>
            </a:solidFill>
            <a:prstDash val="solid"/>
            <a:round/>
            <a:headEnd type="none" w="med" len="med"/>
            <a:tailEnd type="none" w="med" len="med"/>
          </a:ln>
        </p:spPr>
      </p:sp>
      <p:sp>
        <p:nvSpPr>
          <p:cNvPr id="26637" name="Line 12"/>
          <p:cNvSpPr/>
          <p:nvPr/>
        </p:nvSpPr>
        <p:spPr>
          <a:xfrm>
            <a:off x="5513388" y="3970338"/>
            <a:ext cx="2847975" cy="0"/>
          </a:xfrm>
          <a:prstGeom prst="line">
            <a:avLst/>
          </a:prstGeom>
          <a:ln w="9525" cap="flat" cmpd="sng">
            <a:solidFill>
              <a:schemeClr val="tx1"/>
            </a:solidFill>
            <a:prstDash val="solid"/>
            <a:round/>
            <a:headEnd type="none" w="med" len="med"/>
            <a:tailEnd type="none" w="med" len="med"/>
          </a:ln>
        </p:spPr>
      </p:sp>
      <p:sp>
        <p:nvSpPr>
          <p:cNvPr id="26638" name="Line 13"/>
          <p:cNvSpPr/>
          <p:nvPr/>
        </p:nvSpPr>
        <p:spPr>
          <a:xfrm>
            <a:off x="6224588" y="1581150"/>
            <a:ext cx="0" cy="2878138"/>
          </a:xfrm>
          <a:prstGeom prst="line">
            <a:avLst/>
          </a:prstGeom>
          <a:ln w="9525" cap="flat" cmpd="sng">
            <a:solidFill>
              <a:schemeClr val="tx1"/>
            </a:solidFill>
            <a:prstDash val="solid"/>
            <a:round/>
            <a:headEnd type="none" w="med" len="med"/>
            <a:tailEnd type="none" w="med" len="med"/>
          </a:ln>
        </p:spPr>
      </p:sp>
      <p:sp>
        <p:nvSpPr>
          <p:cNvPr id="26639" name="Line 14"/>
          <p:cNvSpPr/>
          <p:nvPr/>
        </p:nvSpPr>
        <p:spPr>
          <a:xfrm>
            <a:off x="6931025" y="1598613"/>
            <a:ext cx="0" cy="2878137"/>
          </a:xfrm>
          <a:prstGeom prst="line">
            <a:avLst/>
          </a:prstGeom>
          <a:ln w="9525" cap="flat" cmpd="sng">
            <a:solidFill>
              <a:schemeClr val="tx1"/>
            </a:solidFill>
            <a:prstDash val="solid"/>
            <a:round/>
            <a:headEnd type="none" w="med" len="med"/>
            <a:tailEnd type="none" w="med" len="med"/>
          </a:ln>
        </p:spPr>
      </p:sp>
      <p:sp>
        <p:nvSpPr>
          <p:cNvPr id="26640" name="Line 15"/>
          <p:cNvSpPr/>
          <p:nvPr/>
        </p:nvSpPr>
        <p:spPr>
          <a:xfrm>
            <a:off x="7637463" y="1587500"/>
            <a:ext cx="0" cy="2878138"/>
          </a:xfrm>
          <a:prstGeom prst="line">
            <a:avLst/>
          </a:prstGeom>
          <a:ln w="9525" cap="flat" cmpd="sng">
            <a:solidFill>
              <a:schemeClr val="tx1"/>
            </a:solidFill>
            <a:prstDash val="solid"/>
            <a:round/>
            <a:headEnd type="none" w="med" len="med"/>
            <a:tailEnd type="none" w="med" len="med"/>
          </a:ln>
        </p:spPr>
      </p:sp>
      <p:sp>
        <p:nvSpPr>
          <p:cNvPr id="26641" name="Text Box 16"/>
          <p:cNvSpPr txBox="1"/>
          <p:nvPr/>
        </p:nvSpPr>
        <p:spPr>
          <a:xfrm>
            <a:off x="6037263" y="4437063"/>
            <a:ext cx="352425"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endParaRPr lang="en-US" altLang="zh-CN" sz="1200" baseline="30000" dirty="0">
              <a:latin typeface="Arial" panose="020B0604020202020204" pitchFamily="34" charset="0"/>
              <a:ea typeface="宋体" panose="02010600030101010101" pitchFamily="2" charset="-122"/>
            </a:endParaRPr>
          </a:p>
        </p:txBody>
      </p:sp>
      <p:sp>
        <p:nvSpPr>
          <p:cNvPr id="26642" name="Text Box 17"/>
          <p:cNvSpPr txBox="1"/>
          <p:nvPr/>
        </p:nvSpPr>
        <p:spPr>
          <a:xfrm>
            <a:off x="6745288" y="4438650"/>
            <a:ext cx="352425"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20</a:t>
            </a:r>
            <a:endParaRPr lang="en-US" altLang="zh-CN" sz="1200" baseline="30000" dirty="0">
              <a:latin typeface="Arial" panose="020B0604020202020204" pitchFamily="34" charset="0"/>
              <a:ea typeface="宋体" panose="02010600030101010101" pitchFamily="2" charset="-122"/>
            </a:endParaRPr>
          </a:p>
        </p:txBody>
      </p:sp>
      <p:sp>
        <p:nvSpPr>
          <p:cNvPr id="26643" name="Text Box 18"/>
          <p:cNvSpPr txBox="1"/>
          <p:nvPr/>
        </p:nvSpPr>
        <p:spPr>
          <a:xfrm>
            <a:off x="7435850" y="4441825"/>
            <a:ext cx="352425"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30</a:t>
            </a:r>
            <a:endParaRPr lang="en-US" altLang="zh-CN" sz="1200" baseline="30000" dirty="0">
              <a:latin typeface="Arial" panose="020B0604020202020204" pitchFamily="34" charset="0"/>
              <a:ea typeface="宋体" panose="02010600030101010101" pitchFamily="2" charset="-122"/>
            </a:endParaRPr>
          </a:p>
        </p:txBody>
      </p:sp>
      <p:sp>
        <p:nvSpPr>
          <p:cNvPr id="26644" name="Text Box 19"/>
          <p:cNvSpPr txBox="1"/>
          <p:nvPr/>
        </p:nvSpPr>
        <p:spPr>
          <a:xfrm>
            <a:off x="8158163" y="4445000"/>
            <a:ext cx="352425"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40</a:t>
            </a:r>
            <a:endParaRPr lang="en-US" altLang="zh-CN" sz="1200" baseline="30000" dirty="0">
              <a:latin typeface="Arial" panose="020B0604020202020204" pitchFamily="34" charset="0"/>
              <a:ea typeface="宋体" panose="02010600030101010101" pitchFamily="2" charset="-122"/>
            </a:endParaRPr>
          </a:p>
        </p:txBody>
      </p:sp>
      <p:sp>
        <p:nvSpPr>
          <p:cNvPr id="26645" name="Line 20"/>
          <p:cNvSpPr/>
          <p:nvPr/>
        </p:nvSpPr>
        <p:spPr>
          <a:xfrm>
            <a:off x="5780088" y="6108700"/>
            <a:ext cx="431800" cy="0"/>
          </a:xfrm>
          <a:prstGeom prst="line">
            <a:avLst/>
          </a:prstGeom>
          <a:ln w="28575" cap="flat" cmpd="sng">
            <a:solidFill>
              <a:srgbClr val="0000FF"/>
            </a:solidFill>
            <a:prstDash val="solid"/>
            <a:round/>
            <a:headEnd type="none" w="med" len="med"/>
            <a:tailEnd type="none" w="med" len="med"/>
          </a:ln>
        </p:spPr>
      </p:sp>
      <p:sp>
        <p:nvSpPr>
          <p:cNvPr id="26646" name="Line 21"/>
          <p:cNvSpPr/>
          <p:nvPr/>
        </p:nvSpPr>
        <p:spPr>
          <a:xfrm>
            <a:off x="5780088" y="5715000"/>
            <a:ext cx="431800" cy="0"/>
          </a:xfrm>
          <a:prstGeom prst="line">
            <a:avLst/>
          </a:prstGeom>
          <a:ln w="28575" cap="flat" cmpd="sng">
            <a:solidFill>
              <a:srgbClr val="FF0000"/>
            </a:solidFill>
            <a:prstDash val="dash"/>
            <a:round/>
            <a:headEnd type="none" w="med" len="med"/>
            <a:tailEnd type="none" w="med" len="med"/>
          </a:ln>
        </p:spPr>
      </p:sp>
      <p:sp>
        <p:nvSpPr>
          <p:cNvPr id="26647" name="Line 22"/>
          <p:cNvSpPr/>
          <p:nvPr/>
        </p:nvSpPr>
        <p:spPr>
          <a:xfrm>
            <a:off x="5792788" y="5295900"/>
            <a:ext cx="393700" cy="0"/>
          </a:xfrm>
          <a:prstGeom prst="line">
            <a:avLst/>
          </a:prstGeom>
          <a:ln w="28575" cap="flat" cmpd="sng">
            <a:solidFill>
              <a:srgbClr val="009900"/>
            </a:solidFill>
            <a:prstDash val="sysDot"/>
            <a:round/>
            <a:headEnd type="none" w="med" len="med"/>
            <a:tailEnd type="none" w="med" len="med"/>
          </a:ln>
        </p:spPr>
      </p:sp>
      <p:sp>
        <p:nvSpPr>
          <p:cNvPr id="26648" name="Text Box 23"/>
          <p:cNvSpPr txBox="1"/>
          <p:nvPr/>
        </p:nvSpPr>
        <p:spPr>
          <a:xfrm>
            <a:off x="6191250" y="5162550"/>
            <a:ext cx="1631950"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QAM256 (8 Mbps)</a:t>
            </a:r>
            <a:endParaRPr lang="en-US" altLang="zh-CN" sz="1400" dirty="0">
              <a:latin typeface="Arial" panose="020B0604020202020204" pitchFamily="34" charset="0"/>
              <a:ea typeface="宋体" panose="02010600030101010101" pitchFamily="2" charset="-122"/>
            </a:endParaRPr>
          </a:p>
        </p:txBody>
      </p:sp>
      <p:sp>
        <p:nvSpPr>
          <p:cNvPr id="26649" name="Text Box 24"/>
          <p:cNvSpPr txBox="1"/>
          <p:nvPr/>
        </p:nvSpPr>
        <p:spPr>
          <a:xfrm>
            <a:off x="6178550" y="5554663"/>
            <a:ext cx="1533525"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QAM16 (4 Mbps)</a:t>
            </a:r>
            <a:endParaRPr lang="en-US" altLang="zh-CN" sz="1400" dirty="0">
              <a:latin typeface="Arial" panose="020B0604020202020204" pitchFamily="34" charset="0"/>
              <a:ea typeface="宋体" panose="02010600030101010101" pitchFamily="2" charset="-122"/>
            </a:endParaRPr>
          </a:p>
        </p:txBody>
      </p:sp>
      <p:sp>
        <p:nvSpPr>
          <p:cNvPr id="26650" name="Text Box 25"/>
          <p:cNvSpPr txBox="1"/>
          <p:nvPr/>
        </p:nvSpPr>
        <p:spPr>
          <a:xfrm>
            <a:off x="6194425" y="5961063"/>
            <a:ext cx="1408113"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BPSK (1 Mbps)</a:t>
            </a:r>
            <a:endParaRPr lang="en-US" altLang="zh-CN" sz="1400" dirty="0">
              <a:latin typeface="Arial" panose="020B0604020202020204" pitchFamily="34" charset="0"/>
              <a:ea typeface="宋体" panose="02010600030101010101" pitchFamily="2" charset="-122"/>
            </a:endParaRPr>
          </a:p>
        </p:txBody>
      </p:sp>
      <p:sp>
        <p:nvSpPr>
          <p:cNvPr id="26651" name="Text Box 26"/>
          <p:cNvSpPr txBox="1"/>
          <p:nvPr/>
        </p:nvSpPr>
        <p:spPr>
          <a:xfrm>
            <a:off x="6445250" y="4637088"/>
            <a:ext cx="895350"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SNR(dB)</a:t>
            </a:r>
            <a:endParaRPr lang="en-US" altLang="zh-CN" sz="1400" dirty="0">
              <a:latin typeface="Arial" panose="020B0604020202020204" pitchFamily="34" charset="0"/>
              <a:ea typeface="宋体" panose="02010600030101010101" pitchFamily="2" charset="-122"/>
            </a:endParaRPr>
          </a:p>
        </p:txBody>
      </p:sp>
      <p:sp>
        <p:nvSpPr>
          <p:cNvPr id="26652" name="Text Box 27"/>
          <p:cNvSpPr txBox="1"/>
          <p:nvPr/>
        </p:nvSpPr>
        <p:spPr>
          <a:xfrm rot="-5400000">
            <a:off x="4603750" y="2911475"/>
            <a:ext cx="549275"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BER</a:t>
            </a:r>
            <a:endParaRPr lang="en-US" altLang="zh-CN" sz="1400" dirty="0">
              <a:latin typeface="Arial" panose="020B0604020202020204" pitchFamily="34" charset="0"/>
              <a:ea typeface="宋体" panose="02010600030101010101" pitchFamily="2" charset="-122"/>
            </a:endParaRPr>
          </a:p>
        </p:txBody>
      </p:sp>
      <p:sp>
        <p:nvSpPr>
          <p:cNvPr id="26653" name="Text Box 28"/>
          <p:cNvSpPr txBox="1"/>
          <p:nvPr/>
        </p:nvSpPr>
        <p:spPr>
          <a:xfrm>
            <a:off x="4960938" y="1444625"/>
            <a:ext cx="442912"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-1</a:t>
            </a:r>
            <a:endParaRPr lang="en-US" altLang="zh-CN" sz="1200" baseline="30000" dirty="0">
              <a:latin typeface="Arial" panose="020B0604020202020204" pitchFamily="34" charset="0"/>
              <a:ea typeface="宋体" panose="02010600030101010101" pitchFamily="2" charset="-122"/>
            </a:endParaRPr>
          </a:p>
        </p:txBody>
      </p:sp>
      <p:sp>
        <p:nvSpPr>
          <p:cNvPr id="26654" name="Text Box 29"/>
          <p:cNvSpPr txBox="1"/>
          <p:nvPr/>
        </p:nvSpPr>
        <p:spPr>
          <a:xfrm>
            <a:off x="4979988" y="1925638"/>
            <a:ext cx="442912"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-2</a:t>
            </a:r>
            <a:endParaRPr lang="en-US" altLang="zh-CN" sz="1200" baseline="30000" dirty="0">
              <a:latin typeface="Arial" panose="020B0604020202020204" pitchFamily="34" charset="0"/>
              <a:ea typeface="宋体" panose="02010600030101010101" pitchFamily="2" charset="-122"/>
            </a:endParaRPr>
          </a:p>
        </p:txBody>
      </p:sp>
      <p:sp>
        <p:nvSpPr>
          <p:cNvPr id="26655" name="Text Box 30"/>
          <p:cNvSpPr txBox="1"/>
          <p:nvPr/>
        </p:nvSpPr>
        <p:spPr>
          <a:xfrm>
            <a:off x="4970463" y="2392363"/>
            <a:ext cx="442912"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-3</a:t>
            </a:r>
            <a:endParaRPr lang="en-US" altLang="zh-CN" sz="1200" baseline="30000" dirty="0">
              <a:latin typeface="Arial" panose="020B0604020202020204" pitchFamily="34" charset="0"/>
              <a:ea typeface="宋体" panose="02010600030101010101" pitchFamily="2" charset="-122"/>
            </a:endParaRPr>
          </a:p>
        </p:txBody>
      </p:sp>
      <p:sp>
        <p:nvSpPr>
          <p:cNvPr id="26656" name="Text Box 31"/>
          <p:cNvSpPr txBox="1"/>
          <p:nvPr/>
        </p:nvSpPr>
        <p:spPr>
          <a:xfrm>
            <a:off x="4979988" y="3325813"/>
            <a:ext cx="442912"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-5</a:t>
            </a:r>
            <a:endParaRPr lang="en-US" altLang="zh-CN" sz="1200" baseline="30000" dirty="0">
              <a:latin typeface="Arial" panose="020B0604020202020204" pitchFamily="34" charset="0"/>
              <a:ea typeface="宋体" panose="02010600030101010101" pitchFamily="2" charset="-122"/>
            </a:endParaRPr>
          </a:p>
        </p:txBody>
      </p:sp>
      <p:sp>
        <p:nvSpPr>
          <p:cNvPr id="26657" name="Text Box 32"/>
          <p:cNvSpPr txBox="1"/>
          <p:nvPr/>
        </p:nvSpPr>
        <p:spPr>
          <a:xfrm>
            <a:off x="4984750" y="3806825"/>
            <a:ext cx="442913"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-6</a:t>
            </a:r>
            <a:endParaRPr lang="en-US" altLang="zh-CN" sz="1200" baseline="30000" dirty="0">
              <a:latin typeface="Arial" panose="020B0604020202020204" pitchFamily="34" charset="0"/>
              <a:ea typeface="宋体" panose="02010600030101010101" pitchFamily="2" charset="-122"/>
            </a:endParaRPr>
          </a:p>
        </p:txBody>
      </p:sp>
      <p:sp>
        <p:nvSpPr>
          <p:cNvPr id="26658" name="Text Box 33"/>
          <p:cNvSpPr txBox="1"/>
          <p:nvPr/>
        </p:nvSpPr>
        <p:spPr>
          <a:xfrm>
            <a:off x="4975225" y="4302125"/>
            <a:ext cx="442913"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-7</a:t>
            </a:r>
            <a:endParaRPr lang="en-US" altLang="zh-CN" sz="1200" baseline="30000" dirty="0">
              <a:latin typeface="Arial" panose="020B0604020202020204" pitchFamily="34" charset="0"/>
              <a:ea typeface="宋体" panose="02010600030101010101" pitchFamily="2" charset="-122"/>
            </a:endParaRPr>
          </a:p>
        </p:txBody>
      </p:sp>
      <p:sp>
        <p:nvSpPr>
          <p:cNvPr id="26659" name="Text Box 34"/>
          <p:cNvSpPr txBox="1"/>
          <p:nvPr/>
        </p:nvSpPr>
        <p:spPr>
          <a:xfrm>
            <a:off x="4962525" y="2881313"/>
            <a:ext cx="442913"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-4</a:t>
            </a:r>
            <a:endParaRPr lang="en-US" altLang="zh-CN" sz="1200" baseline="30000" dirty="0">
              <a:latin typeface="Arial" panose="020B0604020202020204" pitchFamily="3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286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28675" name="Rectangle 2"/>
          <p:cNvSpPr>
            <a:spLocks noGrp="1"/>
          </p:cNvSpPr>
          <p:nvPr>
            <p:ph type="title"/>
          </p:nvPr>
        </p:nvSpPr>
        <p:spPr>
          <a:xfrm>
            <a:off x="336550" y="200025"/>
            <a:ext cx="7772400" cy="1143000"/>
          </a:xfrm>
          <a:ln/>
        </p:spPr>
        <p:txBody>
          <a:bodyPr vert="horz" wrap="square" lIns="91440" tIns="45720" rIns="91440" bIns="45720" anchor="ctr" anchorCtr="0"/>
          <a:p>
            <a:r>
              <a:rPr lang="en-US" altLang="zh-CN" sz="3600" dirty="0">
                <a:ea typeface="宋体" panose="02010600030101010101" pitchFamily="2" charset="-122"/>
              </a:rPr>
              <a:t>Wireless network characteristics</a:t>
            </a:r>
            <a:endParaRPr lang="en-US" altLang="zh-CN" sz="3600" dirty="0">
              <a:ea typeface="宋体" panose="02010600030101010101" pitchFamily="2" charset="-122"/>
            </a:endParaRPr>
          </a:p>
        </p:txBody>
      </p:sp>
      <p:sp>
        <p:nvSpPr>
          <p:cNvPr id="28676" name="Rectangle 3"/>
          <p:cNvSpPr>
            <a:spLocks noGrp="1"/>
          </p:cNvSpPr>
          <p:nvPr>
            <p:ph idx="1"/>
          </p:nvPr>
        </p:nvSpPr>
        <p:spPr>
          <a:xfrm>
            <a:off x="463550" y="1150938"/>
            <a:ext cx="7772400" cy="1117600"/>
          </a:xfrm>
          <a:ln/>
        </p:spPr>
        <p:txBody>
          <a:bodyPr vert="horz" wrap="square" lIns="91440" tIns="45720" rIns="91440" bIns="45720" anchor="t" anchorCtr="0"/>
          <a:p>
            <a:pPr>
              <a:buNone/>
            </a:pPr>
            <a:r>
              <a:rPr lang="en-US" altLang="zh-CN" sz="2400" dirty="0">
                <a:ea typeface="宋体" panose="02010600030101010101" pitchFamily="2" charset="-122"/>
              </a:rPr>
              <a:t>Multiple wireless senders and receivers create additional problems (beyond multiple access):</a:t>
            </a:r>
            <a:endParaRPr lang="en-US" altLang="zh-CN" sz="2400" dirty="0">
              <a:ea typeface="宋体" panose="02010600030101010101" pitchFamily="2" charset="-122"/>
            </a:endParaRPr>
          </a:p>
        </p:txBody>
      </p:sp>
      <p:grpSp>
        <p:nvGrpSpPr>
          <p:cNvPr id="28677" name="Group 33"/>
          <p:cNvGrpSpPr/>
          <p:nvPr/>
        </p:nvGrpSpPr>
        <p:grpSpPr>
          <a:xfrm>
            <a:off x="698500" y="2413000"/>
            <a:ext cx="3194050" cy="1616075"/>
            <a:chOff x="759" y="2008"/>
            <a:chExt cx="2012" cy="1018"/>
          </a:xfrm>
        </p:grpSpPr>
        <p:grpSp>
          <p:nvGrpSpPr>
            <p:cNvPr id="28678" name="Group 23"/>
            <p:cNvGrpSpPr/>
            <p:nvPr/>
          </p:nvGrpSpPr>
          <p:grpSpPr>
            <a:xfrm>
              <a:off x="1529" y="2018"/>
              <a:ext cx="535" cy="466"/>
              <a:chOff x="2870" y="1518"/>
              <a:chExt cx="292" cy="320"/>
            </a:xfrm>
          </p:grpSpPr>
          <p:graphicFrame>
            <p:nvGraphicFramePr>
              <p:cNvPr id="28679"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2" name="" r:id="rId1" imgW="826770" imgH="840105" progId="MS_ClipArt_Gallery.2">
                      <p:embed/>
                    </p:oleObj>
                  </mc:Choice>
                  <mc:Fallback>
                    <p:oleObj name="" r:id="rId1" imgW="826770" imgH="840105" progId="MS_ClipArt_Gallery.2">
                      <p:embed/>
                      <p:pic>
                        <p:nvPicPr>
                          <p:cNvPr id="0" name="图片 308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680"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6" name="" r:id="rId3" imgW="1268095" imgH="1199515" progId="MS_ClipArt_Gallery.2">
                      <p:embed/>
                    </p:oleObj>
                  </mc:Choice>
                  <mc:Fallback>
                    <p:oleObj name="" r:id="rId3" imgW="1268095" imgH="1199515" progId="MS_ClipArt_Gallery.2">
                      <p:embed/>
                      <p:pic>
                        <p:nvPicPr>
                          <p:cNvPr id="0" name="图片 3075"/>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28681" name="Freeform 7"/>
            <p:cNvSpPr/>
            <p:nvPr/>
          </p:nvSpPr>
          <p:spPr>
            <a:xfrm>
              <a:off x="759" y="2008"/>
              <a:ext cx="1273" cy="684"/>
            </a:xfrm>
            <a:custGeom>
              <a:avLst/>
              <a:gdLst/>
              <a:ahLst/>
              <a:cxnLst>
                <a:cxn ang="0">
                  <a:pos x="9" y="675"/>
                </a:cxn>
                <a:cxn ang="0">
                  <a:pos x="316" y="0"/>
                </a:cxn>
                <a:cxn ang="0">
                  <a:pos x="461" y="228"/>
                </a:cxn>
                <a:cxn ang="0">
                  <a:pos x="510" y="119"/>
                </a:cxn>
                <a:cxn ang="0">
                  <a:pos x="631" y="467"/>
                </a:cxn>
                <a:cxn ang="0">
                  <a:pos x="667" y="391"/>
                </a:cxn>
                <a:cxn ang="0">
                  <a:pos x="739" y="464"/>
                </a:cxn>
                <a:cxn ang="0">
                  <a:pos x="1058" y="57"/>
                </a:cxn>
                <a:cxn ang="0">
                  <a:pos x="1273" y="684"/>
                </a:cxn>
                <a:cxn ang="0">
                  <a:pos x="0" y="674"/>
                </a:cxn>
              </a:cxnLst>
              <a:pathLst>
                <a:path w="1273" h="684">
                  <a:moveTo>
                    <a:pt x="9" y="675"/>
                  </a:moveTo>
                  <a:lnTo>
                    <a:pt x="316" y="0"/>
                  </a:lnTo>
                  <a:lnTo>
                    <a:pt x="461" y="228"/>
                  </a:lnTo>
                  <a:lnTo>
                    <a:pt x="510" y="119"/>
                  </a:lnTo>
                  <a:lnTo>
                    <a:pt x="631" y="467"/>
                  </a:lnTo>
                  <a:lnTo>
                    <a:pt x="667" y="391"/>
                  </a:lnTo>
                  <a:lnTo>
                    <a:pt x="739" y="464"/>
                  </a:lnTo>
                  <a:lnTo>
                    <a:pt x="1058" y="57"/>
                  </a:lnTo>
                  <a:lnTo>
                    <a:pt x="1273" y="684"/>
                  </a:lnTo>
                  <a:lnTo>
                    <a:pt x="0" y="674"/>
                  </a:lnTo>
                </a:path>
              </a:pathLst>
            </a:custGeom>
            <a:gradFill rotWithShape="1">
              <a:gsLst>
                <a:gs pos="0">
                  <a:srgbClr val="FFFFFF"/>
                </a:gs>
                <a:gs pos="100000">
                  <a:srgbClr val="00CC66"/>
                </a:gs>
              </a:gsLst>
              <a:lin ang="5400000" scaled="1"/>
              <a:tileRect/>
            </a:gradFill>
            <a:ln w="9525" cap="flat" cmpd="sng">
              <a:solidFill>
                <a:schemeClr val="tx1"/>
              </a:solidFill>
              <a:prstDash val="solid"/>
              <a:round/>
              <a:headEnd type="none" w="med" len="med"/>
              <a:tailEnd type="none" w="med" len="med"/>
            </a:ln>
          </p:spPr>
          <p:txBody>
            <a:bodyPr/>
            <a:p>
              <a:endParaRPr lang="zh-CN" altLang="en-US"/>
            </a:p>
          </p:txBody>
        </p:sp>
        <p:grpSp>
          <p:nvGrpSpPr>
            <p:cNvPr id="28682" name="Group 17"/>
            <p:cNvGrpSpPr/>
            <p:nvPr/>
          </p:nvGrpSpPr>
          <p:grpSpPr>
            <a:xfrm>
              <a:off x="1053" y="2587"/>
              <a:ext cx="482" cy="439"/>
              <a:chOff x="2870" y="1518"/>
              <a:chExt cx="292" cy="320"/>
            </a:xfrm>
          </p:grpSpPr>
          <p:graphicFrame>
            <p:nvGraphicFramePr>
              <p:cNvPr id="28683" name="Object 1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7" name="" r:id="rId5" imgW="826770" imgH="840105" progId="MS_ClipArt_Gallery.2">
                      <p:embed/>
                    </p:oleObj>
                  </mc:Choice>
                  <mc:Fallback>
                    <p:oleObj name="" r:id="rId5" imgW="826770" imgH="840105" progId="MS_ClipArt_Gallery.2">
                      <p:embed/>
                      <p:pic>
                        <p:nvPicPr>
                          <p:cNvPr id="0" name="图片 3076"/>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684" name="Object 1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78" name="" r:id="rId6" imgW="1268095" imgH="1199515" progId="MS_ClipArt_Gallery.2">
                      <p:embed/>
                    </p:oleObj>
                  </mc:Choice>
                  <mc:Fallback>
                    <p:oleObj name="" r:id="rId6" imgW="1268095" imgH="1199515" progId="MS_ClipArt_Gallery.2">
                      <p:embed/>
                      <p:pic>
                        <p:nvPicPr>
                          <p:cNvPr id="0" name="图片 307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8685" name="Group 20"/>
            <p:cNvGrpSpPr/>
            <p:nvPr/>
          </p:nvGrpSpPr>
          <p:grpSpPr>
            <a:xfrm>
              <a:off x="2124" y="2391"/>
              <a:ext cx="482" cy="439"/>
              <a:chOff x="2870" y="1518"/>
              <a:chExt cx="292" cy="320"/>
            </a:xfrm>
          </p:grpSpPr>
          <p:graphicFrame>
            <p:nvGraphicFramePr>
              <p:cNvPr id="28686" name="Object 2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79" name="" r:id="rId7" imgW="826770" imgH="840105" progId="MS_ClipArt_Gallery.2">
                      <p:embed/>
                    </p:oleObj>
                  </mc:Choice>
                  <mc:Fallback>
                    <p:oleObj name="" r:id="rId7" imgW="826770" imgH="840105" progId="MS_ClipArt_Gallery.2">
                      <p:embed/>
                      <p:pic>
                        <p:nvPicPr>
                          <p:cNvPr id="0" name="图片 307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687" name="Object 2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0" name="" r:id="rId8" imgW="1268095" imgH="1199515" progId="MS_ClipArt_Gallery.2">
                      <p:embed/>
                    </p:oleObj>
                  </mc:Choice>
                  <mc:Fallback>
                    <p:oleObj name="" r:id="rId8" imgW="1268095" imgH="1199515" progId="MS_ClipArt_Gallery.2">
                      <p:embed/>
                      <p:pic>
                        <p:nvPicPr>
                          <p:cNvPr id="0" name="图片 307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28688" name="Line 26"/>
            <p:cNvSpPr/>
            <p:nvPr/>
          </p:nvSpPr>
          <p:spPr>
            <a:xfrm flipV="1">
              <a:off x="1561" y="2773"/>
              <a:ext cx="629" cy="107"/>
            </a:xfrm>
            <a:prstGeom prst="line">
              <a:avLst/>
            </a:prstGeom>
            <a:ln w="38100" cap="flat" cmpd="sng">
              <a:solidFill>
                <a:srgbClr val="FF0000"/>
              </a:solidFill>
              <a:prstDash val="solid"/>
              <a:round/>
              <a:headEnd type="triangle" w="med" len="med"/>
              <a:tailEnd type="triangle" w="med" len="med"/>
            </a:ln>
          </p:spPr>
        </p:sp>
        <p:sp>
          <p:nvSpPr>
            <p:cNvPr id="28689" name="Line 27"/>
            <p:cNvSpPr/>
            <p:nvPr/>
          </p:nvSpPr>
          <p:spPr>
            <a:xfrm>
              <a:off x="1985" y="2471"/>
              <a:ext cx="257" cy="203"/>
            </a:xfrm>
            <a:prstGeom prst="line">
              <a:avLst/>
            </a:prstGeom>
            <a:ln w="38100" cap="flat" cmpd="sng">
              <a:solidFill>
                <a:srgbClr val="FF0000"/>
              </a:solidFill>
              <a:prstDash val="solid"/>
              <a:round/>
              <a:headEnd type="triangle" w="med" len="med"/>
              <a:tailEnd type="triangle" w="med" len="med"/>
            </a:ln>
          </p:spPr>
        </p:sp>
        <p:sp>
          <p:nvSpPr>
            <p:cNvPr id="28690" name="Text Box 28"/>
            <p:cNvSpPr txBox="1"/>
            <p:nvPr/>
          </p:nvSpPr>
          <p:spPr>
            <a:xfrm>
              <a:off x="1006" y="2705"/>
              <a:ext cx="22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28691" name="Text Box 29"/>
            <p:cNvSpPr txBox="1"/>
            <p:nvPr/>
          </p:nvSpPr>
          <p:spPr>
            <a:xfrm>
              <a:off x="2564" y="2562"/>
              <a:ext cx="207"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t>
              </a:r>
              <a:endParaRPr lang="en-US" altLang="zh-CN" dirty="0">
                <a:latin typeface="Comic Sans MS" panose="030F0702030302020204" pitchFamily="66" charset="0"/>
                <a:ea typeface="宋体" panose="02010600030101010101" pitchFamily="2" charset="-122"/>
              </a:endParaRPr>
            </a:p>
          </p:txBody>
        </p:sp>
        <p:sp>
          <p:nvSpPr>
            <p:cNvPr id="28692" name="Text Box 30"/>
            <p:cNvSpPr txBox="1"/>
            <p:nvPr/>
          </p:nvSpPr>
          <p:spPr>
            <a:xfrm>
              <a:off x="2014" y="2118"/>
              <a:ext cx="203"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a:t>
              </a:r>
              <a:endParaRPr lang="en-US" altLang="zh-CN" dirty="0">
                <a:latin typeface="Comic Sans MS" panose="030F0702030302020204" pitchFamily="66" charset="0"/>
                <a:ea typeface="宋体" panose="02010600030101010101" pitchFamily="2" charset="-122"/>
              </a:endParaRPr>
            </a:p>
          </p:txBody>
        </p:sp>
      </p:grpSp>
      <p:sp>
        <p:nvSpPr>
          <p:cNvPr id="28693" name="Rectangle 32"/>
          <p:cNvSpPr/>
          <p:nvPr/>
        </p:nvSpPr>
        <p:spPr>
          <a:xfrm>
            <a:off x="471488" y="4175125"/>
            <a:ext cx="4148137" cy="2241550"/>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400" dirty="0">
                <a:latin typeface="Comic Sans MS" panose="030F0702030302020204" pitchFamily="66" charset="0"/>
                <a:ea typeface="宋体" panose="02010600030101010101" pitchFamily="2" charset="-122"/>
              </a:rPr>
              <a:t>Hidden terminal problem</a:t>
            </a:r>
            <a:endParaRPr lang="en-US" altLang="zh-CN" sz="24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B, A hear each other</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B, C hear each other</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A, C can not hear each other</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pPr>
            <a:r>
              <a:rPr lang="en-US" altLang="zh-CN" sz="2000" dirty="0">
                <a:latin typeface="Comic Sans MS" panose="030F0702030302020204" pitchFamily="66" charset="0"/>
                <a:ea typeface="宋体" panose="02010600030101010101" pitchFamily="2" charset="-122"/>
              </a:rPr>
              <a:t>means A, C unaware of their interference at B</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endParaRPr lang="en-US" altLang="zh-CN" sz="2000" dirty="0">
              <a:latin typeface="Comic Sans MS" panose="030F0702030302020204" pitchFamily="66" charset="0"/>
              <a:ea typeface="宋体" panose="02010600030101010101" pitchFamily="2" charset="-122"/>
            </a:endParaRPr>
          </a:p>
        </p:txBody>
      </p:sp>
      <p:grpSp>
        <p:nvGrpSpPr>
          <p:cNvPr id="28694" name="Group 72"/>
          <p:cNvGrpSpPr/>
          <p:nvPr/>
        </p:nvGrpSpPr>
        <p:grpSpPr>
          <a:xfrm>
            <a:off x="4943475" y="2105025"/>
            <a:ext cx="3625850" cy="2281238"/>
            <a:chOff x="3264" y="1698"/>
            <a:chExt cx="2284" cy="1437"/>
          </a:xfrm>
        </p:grpSpPr>
        <p:grpSp>
          <p:nvGrpSpPr>
            <p:cNvPr id="28695" name="Group 54"/>
            <p:cNvGrpSpPr/>
            <p:nvPr/>
          </p:nvGrpSpPr>
          <p:grpSpPr>
            <a:xfrm>
              <a:off x="3264" y="1698"/>
              <a:ext cx="2150" cy="455"/>
              <a:chOff x="3256" y="1911"/>
              <a:chExt cx="2150" cy="455"/>
            </a:xfrm>
          </p:grpSpPr>
          <p:grpSp>
            <p:nvGrpSpPr>
              <p:cNvPr id="28696" name="Group 39"/>
              <p:cNvGrpSpPr/>
              <p:nvPr/>
            </p:nvGrpSpPr>
            <p:grpSpPr>
              <a:xfrm>
                <a:off x="3303" y="1911"/>
                <a:ext cx="482" cy="439"/>
                <a:chOff x="2870" y="1518"/>
                <a:chExt cx="292" cy="320"/>
              </a:xfrm>
            </p:grpSpPr>
            <p:graphicFrame>
              <p:nvGraphicFramePr>
                <p:cNvPr id="28697" name="Object 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1" name="" r:id="rId9" imgW="826770" imgH="840105" progId="MS_ClipArt_Gallery.2">
                        <p:embed/>
                      </p:oleObj>
                    </mc:Choice>
                    <mc:Fallback>
                      <p:oleObj name="" r:id="rId9" imgW="826770" imgH="840105" progId="MS_ClipArt_Gallery.2">
                        <p:embed/>
                        <p:pic>
                          <p:nvPicPr>
                            <p:cNvPr id="0" name="图片 3080"/>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698" name="Object 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7" name="" r:id="rId10" imgW="1268095" imgH="1199515" progId="MS_ClipArt_Gallery.2">
                        <p:embed/>
                      </p:oleObj>
                    </mc:Choice>
                    <mc:Fallback>
                      <p:oleObj name="" r:id="rId10" imgW="1268095" imgH="1199515" progId="MS_ClipArt_Gallery.2">
                        <p:embed/>
                        <p:pic>
                          <p:nvPicPr>
                            <p:cNvPr id="0" name="图片 3086"/>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28699" name="Group 42"/>
              <p:cNvGrpSpPr/>
              <p:nvPr/>
            </p:nvGrpSpPr>
            <p:grpSpPr>
              <a:xfrm>
                <a:off x="4037" y="1919"/>
                <a:ext cx="482" cy="439"/>
                <a:chOff x="2870" y="1518"/>
                <a:chExt cx="292" cy="320"/>
              </a:xfrm>
            </p:grpSpPr>
            <p:graphicFrame>
              <p:nvGraphicFramePr>
                <p:cNvPr id="28700" name="Object 4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5" name="" r:id="rId11" imgW="826770" imgH="840105" progId="MS_ClipArt_Gallery.2">
                        <p:embed/>
                      </p:oleObj>
                    </mc:Choice>
                    <mc:Fallback>
                      <p:oleObj name="" r:id="rId11" imgW="826770" imgH="840105" progId="MS_ClipArt_Gallery.2">
                        <p:embed/>
                        <p:pic>
                          <p:nvPicPr>
                            <p:cNvPr id="0" name="图片 3084"/>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701" name="Object 4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6" name="" r:id="rId12" imgW="1268095" imgH="1199515" progId="MS_ClipArt_Gallery.2">
                        <p:embed/>
                      </p:oleObj>
                    </mc:Choice>
                    <mc:Fallback>
                      <p:oleObj name="" r:id="rId12" imgW="1268095" imgH="1199515" progId="MS_ClipArt_Gallery.2">
                        <p:embed/>
                        <p:pic>
                          <p:nvPicPr>
                            <p:cNvPr id="0" name="图片 3085"/>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28702" name="Text Box 47"/>
              <p:cNvSpPr txBox="1"/>
              <p:nvPr/>
            </p:nvSpPr>
            <p:spPr>
              <a:xfrm>
                <a:off x="3256" y="2029"/>
                <a:ext cx="22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a:t>
                </a:r>
                <a:endParaRPr lang="en-US" altLang="zh-CN" dirty="0">
                  <a:solidFill>
                    <a:srgbClr val="FF0000"/>
                  </a:solidFill>
                  <a:latin typeface="Comic Sans MS" panose="030F0702030302020204" pitchFamily="66" charset="0"/>
                  <a:ea typeface="宋体" panose="02010600030101010101" pitchFamily="2" charset="-122"/>
                </a:endParaRPr>
              </a:p>
            </p:txBody>
          </p:sp>
          <p:sp>
            <p:nvSpPr>
              <p:cNvPr id="28703" name="Text Box 48"/>
              <p:cNvSpPr txBox="1"/>
              <p:nvPr/>
            </p:nvSpPr>
            <p:spPr>
              <a:xfrm>
                <a:off x="4459" y="2027"/>
                <a:ext cx="207" cy="231"/>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t>
                </a:r>
                <a:endParaRPr lang="en-US" altLang="zh-CN" dirty="0">
                  <a:latin typeface="Comic Sans MS" panose="030F0702030302020204" pitchFamily="66" charset="0"/>
                  <a:ea typeface="宋体" panose="02010600030101010101" pitchFamily="2" charset="-122"/>
                </a:endParaRPr>
              </a:p>
            </p:txBody>
          </p:sp>
          <p:sp>
            <p:nvSpPr>
              <p:cNvPr id="28704" name="Text Box 49"/>
              <p:cNvSpPr txBox="1"/>
              <p:nvPr/>
            </p:nvSpPr>
            <p:spPr>
              <a:xfrm>
                <a:off x="5203" y="2054"/>
                <a:ext cx="203"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a:t>
                </a:r>
                <a:endParaRPr lang="en-US" altLang="zh-CN" dirty="0">
                  <a:latin typeface="Comic Sans MS" panose="030F0702030302020204" pitchFamily="66" charset="0"/>
                  <a:ea typeface="宋体" panose="02010600030101010101" pitchFamily="2" charset="-122"/>
                </a:endParaRPr>
              </a:p>
            </p:txBody>
          </p:sp>
          <p:grpSp>
            <p:nvGrpSpPr>
              <p:cNvPr id="28705" name="Group 51"/>
              <p:cNvGrpSpPr/>
              <p:nvPr/>
            </p:nvGrpSpPr>
            <p:grpSpPr>
              <a:xfrm>
                <a:off x="4726" y="1927"/>
                <a:ext cx="482" cy="439"/>
                <a:chOff x="2870" y="1518"/>
                <a:chExt cx="292" cy="320"/>
              </a:xfrm>
            </p:grpSpPr>
            <p:graphicFrame>
              <p:nvGraphicFramePr>
                <p:cNvPr id="28706" name="Object 5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4" name="" r:id="rId13" imgW="826770" imgH="840105" progId="MS_ClipArt_Gallery.2">
                        <p:embed/>
                      </p:oleObj>
                    </mc:Choice>
                    <mc:Fallback>
                      <p:oleObj name="" r:id="rId13" imgW="826770" imgH="840105" progId="MS_ClipArt_Gallery.2">
                        <p:embed/>
                        <p:pic>
                          <p:nvPicPr>
                            <p:cNvPr id="0" name="图片 3083"/>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28707" name="Object 5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3" name="" r:id="rId14" imgW="1268095" imgH="1199515" progId="MS_ClipArt_Gallery.2">
                        <p:embed/>
                      </p:oleObj>
                    </mc:Choice>
                    <mc:Fallback>
                      <p:oleObj name="" r:id="rId14" imgW="1268095" imgH="1199515" progId="MS_ClipArt_Gallery.2">
                        <p:embed/>
                        <p:pic>
                          <p:nvPicPr>
                            <p:cNvPr id="0" name="图片 3082"/>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28708" name="Text Box 55"/>
            <p:cNvSpPr txBox="1"/>
            <p:nvPr/>
          </p:nvSpPr>
          <p:spPr>
            <a:xfrm>
              <a:off x="3310" y="2337"/>
              <a:ext cx="598" cy="326"/>
            </a:xfrm>
            <a:prstGeom prst="rect">
              <a:avLst/>
            </a:prstGeom>
            <a:noFill/>
            <a:ln w="9525">
              <a:noFill/>
            </a:ln>
          </p:spPr>
          <p:txBody>
            <a:bodyPr wrap="none" anchor="t" anchorCtr="0">
              <a:spAutoFit/>
            </a:bodyPr>
            <a:p>
              <a:pPr eaLnBrk="0" hangingPunct="0">
                <a:buClrTx/>
                <a:buFontTx/>
              </a:pPr>
              <a:r>
                <a:rPr lang="en-US" altLang="zh-CN" sz="1400" dirty="0">
                  <a:solidFill>
                    <a:srgbClr val="FF0000"/>
                  </a:solidFill>
                  <a:latin typeface="Comic Sans MS" panose="030F0702030302020204" pitchFamily="66" charset="0"/>
                  <a:ea typeface="宋体" panose="02010600030101010101" pitchFamily="2" charset="-122"/>
                </a:rPr>
                <a:t>A’s signal</a:t>
              </a:r>
              <a:endParaRPr lang="en-US" altLang="zh-CN" sz="1400" dirty="0">
                <a:solidFill>
                  <a:srgbClr val="FF0000"/>
                </a:solidFill>
                <a:latin typeface="Comic Sans MS" panose="030F0702030302020204" pitchFamily="66" charset="0"/>
                <a:ea typeface="宋体" panose="02010600030101010101" pitchFamily="2" charset="-122"/>
              </a:endParaRPr>
            </a:p>
            <a:p>
              <a:pPr eaLnBrk="0" hangingPunct="0">
                <a:buClrTx/>
                <a:buFontTx/>
              </a:pPr>
              <a:r>
                <a:rPr lang="en-US" altLang="zh-CN" sz="1400" dirty="0">
                  <a:solidFill>
                    <a:srgbClr val="FF0000"/>
                  </a:solidFill>
                  <a:latin typeface="Comic Sans MS" panose="030F0702030302020204" pitchFamily="66" charset="0"/>
                  <a:ea typeface="宋体" panose="02010600030101010101" pitchFamily="2" charset="-122"/>
                </a:rPr>
                <a:t>strength</a:t>
              </a:r>
              <a:endParaRPr lang="en-US" altLang="zh-CN" sz="1400" dirty="0">
                <a:solidFill>
                  <a:srgbClr val="FF0000"/>
                </a:solidFill>
                <a:latin typeface="Comic Sans MS" panose="030F0702030302020204" pitchFamily="66" charset="0"/>
                <a:ea typeface="宋体" panose="02010600030101010101" pitchFamily="2" charset="-122"/>
              </a:endParaRPr>
            </a:p>
          </p:txBody>
        </p:sp>
        <p:sp>
          <p:nvSpPr>
            <p:cNvPr id="28709" name="Line 60"/>
            <p:cNvSpPr/>
            <p:nvPr/>
          </p:nvSpPr>
          <p:spPr>
            <a:xfrm>
              <a:off x="3349" y="2985"/>
              <a:ext cx="2056" cy="0"/>
            </a:xfrm>
            <a:prstGeom prst="line">
              <a:avLst/>
            </a:prstGeom>
            <a:ln w="9525" cap="flat" cmpd="sng">
              <a:solidFill>
                <a:schemeClr val="tx1"/>
              </a:solidFill>
              <a:prstDash val="solid"/>
              <a:round/>
              <a:headEnd type="none" w="med" len="med"/>
              <a:tailEnd type="none" w="med" len="med"/>
            </a:ln>
          </p:spPr>
        </p:sp>
        <p:sp>
          <p:nvSpPr>
            <p:cNvPr id="28710" name="Line 61"/>
            <p:cNvSpPr/>
            <p:nvPr/>
          </p:nvSpPr>
          <p:spPr>
            <a:xfrm>
              <a:off x="3315" y="2242"/>
              <a:ext cx="0" cy="717"/>
            </a:xfrm>
            <a:prstGeom prst="line">
              <a:avLst/>
            </a:prstGeom>
            <a:ln w="9525" cap="flat" cmpd="sng">
              <a:solidFill>
                <a:schemeClr val="tx1"/>
              </a:solidFill>
              <a:prstDash val="solid"/>
              <a:round/>
              <a:headEnd type="none" w="med" len="med"/>
              <a:tailEnd type="none" w="med" len="med"/>
            </a:ln>
          </p:spPr>
        </p:sp>
        <p:sp>
          <p:nvSpPr>
            <p:cNvPr id="28711" name="Freeform 62"/>
            <p:cNvSpPr/>
            <p:nvPr/>
          </p:nvSpPr>
          <p:spPr>
            <a:xfrm>
              <a:off x="3367" y="2277"/>
              <a:ext cx="1887" cy="681"/>
            </a:xfrm>
            <a:custGeom>
              <a:avLst/>
              <a:gdLst/>
              <a:ahLst/>
              <a:cxnLst>
                <a:cxn ang="0">
                  <a:pos x="0" y="0"/>
                </a:cxn>
                <a:cxn ang="0">
                  <a:pos x="966" y="151"/>
                </a:cxn>
                <a:cxn ang="0">
                  <a:pos x="1373" y="594"/>
                </a:cxn>
                <a:cxn ang="0">
                  <a:pos x="1887" y="673"/>
                </a:cxn>
              </a:cxnLst>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28712" name="Text Box 63"/>
            <p:cNvSpPr txBox="1"/>
            <p:nvPr/>
          </p:nvSpPr>
          <p:spPr>
            <a:xfrm>
              <a:off x="4158" y="2962"/>
              <a:ext cx="365" cy="173"/>
            </a:xfrm>
            <a:prstGeom prst="rect">
              <a:avLst/>
            </a:prstGeom>
            <a:noFill/>
            <a:ln w="9525">
              <a:noFill/>
            </a:ln>
          </p:spPr>
          <p:txBody>
            <a:bodyPr wrap="none" anchor="t" anchorCtr="0">
              <a:spAutoFit/>
            </a:bodyPr>
            <a:p>
              <a:pPr eaLnBrk="0" hangingPunct="0">
                <a:buClrTx/>
                <a:buFontTx/>
              </a:pPr>
              <a:r>
                <a:rPr lang="en-US" altLang="zh-CN" sz="1200" dirty="0">
                  <a:latin typeface="Comic Sans MS" panose="030F0702030302020204" pitchFamily="66" charset="0"/>
                  <a:ea typeface="宋体" panose="02010600030101010101" pitchFamily="2" charset="-122"/>
                </a:rPr>
                <a:t>space</a:t>
              </a:r>
              <a:endParaRPr lang="en-US" altLang="zh-CN" sz="1200" dirty="0">
                <a:latin typeface="Comic Sans MS" panose="030F0702030302020204" pitchFamily="66" charset="0"/>
                <a:ea typeface="宋体" panose="02010600030101010101" pitchFamily="2" charset="-122"/>
              </a:endParaRPr>
            </a:p>
          </p:txBody>
        </p:sp>
        <p:sp>
          <p:nvSpPr>
            <p:cNvPr id="28713" name="Freeform 65"/>
            <p:cNvSpPr/>
            <p:nvPr/>
          </p:nvSpPr>
          <p:spPr>
            <a:xfrm flipH="1">
              <a:off x="3427" y="2258"/>
              <a:ext cx="1887" cy="681"/>
            </a:xfrm>
            <a:custGeom>
              <a:avLst/>
              <a:gdLst/>
              <a:ahLst/>
              <a:cxnLst>
                <a:cxn ang="0">
                  <a:pos x="0" y="0"/>
                </a:cxn>
                <a:cxn ang="0">
                  <a:pos x="966" y="151"/>
                </a:cxn>
                <a:cxn ang="0">
                  <a:pos x="1373" y="594"/>
                </a:cxn>
                <a:cxn ang="0">
                  <a:pos x="1887" y="673"/>
                </a:cxn>
              </a:cxnLst>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chemeClr val="accent2"/>
              </a:solidFill>
              <a:prstDash val="solid"/>
              <a:round/>
              <a:headEnd type="none" w="med" len="med"/>
              <a:tailEnd type="none" w="med" len="med"/>
            </a:ln>
          </p:spPr>
          <p:txBody>
            <a:bodyPr/>
            <a:p>
              <a:endParaRPr lang="zh-CN" altLang="en-US"/>
            </a:p>
          </p:txBody>
        </p:sp>
        <p:sp>
          <p:nvSpPr>
            <p:cNvPr id="28714" name="Text Box 66"/>
            <p:cNvSpPr txBox="1"/>
            <p:nvPr/>
          </p:nvSpPr>
          <p:spPr>
            <a:xfrm>
              <a:off x="4965" y="2292"/>
              <a:ext cx="583" cy="326"/>
            </a:xfrm>
            <a:prstGeom prst="rect">
              <a:avLst/>
            </a:prstGeom>
            <a:noFill/>
            <a:ln w="9525">
              <a:noFill/>
            </a:ln>
          </p:spPr>
          <p:txBody>
            <a:bodyPr wrap="none" anchor="t" anchorCtr="0">
              <a:spAutoFit/>
            </a:bodyPr>
            <a:p>
              <a:pPr eaLnBrk="0" hangingPunct="0">
                <a:buClrTx/>
                <a:buFontTx/>
              </a:pPr>
              <a:r>
                <a:rPr lang="en-US" altLang="zh-CN" sz="1400" dirty="0">
                  <a:solidFill>
                    <a:schemeClr val="accent2"/>
                  </a:solidFill>
                  <a:latin typeface="Comic Sans MS" panose="030F0702030302020204" pitchFamily="66" charset="0"/>
                  <a:ea typeface="宋体" panose="02010600030101010101" pitchFamily="2" charset="-122"/>
                </a:rPr>
                <a:t>C’s signal</a:t>
              </a:r>
              <a:endParaRPr lang="en-US" altLang="zh-CN" sz="140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sz="1400" dirty="0">
                  <a:solidFill>
                    <a:schemeClr val="accent2"/>
                  </a:solidFill>
                  <a:latin typeface="Comic Sans MS" panose="030F0702030302020204" pitchFamily="66" charset="0"/>
                  <a:ea typeface="宋体" panose="02010600030101010101" pitchFamily="2" charset="-122"/>
                </a:rPr>
                <a:t>strength</a:t>
              </a:r>
              <a:endParaRPr lang="en-US" altLang="zh-CN" sz="1400" dirty="0">
                <a:solidFill>
                  <a:schemeClr val="accent2"/>
                </a:solidFill>
                <a:latin typeface="Comic Sans MS" panose="030F0702030302020204" pitchFamily="66" charset="0"/>
                <a:ea typeface="宋体" panose="02010600030101010101" pitchFamily="2" charset="-122"/>
              </a:endParaRPr>
            </a:p>
          </p:txBody>
        </p:sp>
        <p:sp>
          <p:nvSpPr>
            <p:cNvPr id="28715" name="Line 67"/>
            <p:cNvSpPr/>
            <p:nvPr/>
          </p:nvSpPr>
          <p:spPr>
            <a:xfrm flipH="1">
              <a:off x="3554" y="2171"/>
              <a:ext cx="17" cy="796"/>
            </a:xfrm>
            <a:prstGeom prst="line">
              <a:avLst/>
            </a:prstGeom>
            <a:ln w="9525" cap="flat" cmpd="sng">
              <a:solidFill>
                <a:schemeClr val="tx1"/>
              </a:solidFill>
              <a:prstDash val="sysDot"/>
              <a:round/>
              <a:headEnd type="none" w="med" len="med"/>
              <a:tailEnd type="none" w="med" len="med"/>
            </a:ln>
          </p:spPr>
        </p:sp>
        <p:sp>
          <p:nvSpPr>
            <p:cNvPr id="28716" name="Line 68"/>
            <p:cNvSpPr/>
            <p:nvPr/>
          </p:nvSpPr>
          <p:spPr>
            <a:xfrm>
              <a:off x="4323" y="2214"/>
              <a:ext cx="0" cy="761"/>
            </a:xfrm>
            <a:prstGeom prst="line">
              <a:avLst/>
            </a:prstGeom>
            <a:ln w="9525" cap="flat" cmpd="sng">
              <a:solidFill>
                <a:schemeClr val="tx1"/>
              </a:solidFill>
              <a:prstDash val="sysDot"/>
              <a:round/>
              <a:headEnd type="none" w="med" len="med"/>
              <a:tailEnd type="none" w="med" len="med"/>
            </a:ln>
          </p:spPr>
        </p:sp>
        <p:sp>
          <p:nvSpPr>
            <p:cNvPr id="28717" name="Line 69"/>
            <p:cNvSpPr/>
            <p:nvPr/>
          </p:nvSpPr>
          <p:spPr>
            <a:xfrm>
              <a:off x="5004" y="2204"/>
              <a:ext cx="0" cy="744"/>
            </a:xfrm>
            <a:prstGeom prst="line">
              <a:avLst/>
            </a:prstGeom>
            <a:ln w="9525" cap="flat" cmpd="sng">
              <a:solidFill>
                <a:schemeClr val="tx1"/>
              </a:solidFill>
              <a:prstDash val="sysDot"/>
              <a:round/>
              <a:headEnd type="none" w="med" len="med"/>
              <a:tailEnd type="none" w="med" len="med"/>
            </a:ln>
          </p:spPr>
        </p:sp>
      </p:grpSp>
      <p:sp>
        <p:nvSpPr>
          <p:cNvPr id="28718" name="Rectangle 70"/>
          <p:cNvSpPr/>
          <p:nvPr/>
        </p:nvSpPr>
        <p:spPr>
          <a:xfrm>
            <a:off x="4995863" y="4432300"/>
            <a:ext cx="4148137" cy="1333500"/>
          </a:xfrm>
          <a:prstGeom prst="rect">
            <a:avLst/>
          </a:prstGeom>
          <a:noFill/>
          <a:ln w="9525">
            <a:noFill/>
          </a:ln>
        </p:spPr>
        <p:txBody>
          <a:bodyPr anchor="t" anchorCtr="0"/>
          <a:p>
            <a:pPr marL="342900" indent="-342900" eaLnBrk="0" hangingPunct="0">
              <a:lnSpc>
                <a:spcPct val="90000"/>
              </a:lnSpc>
              <a:spcBef>
                <a:spcPct val="20000"/>
              </a:spcBef>
              <a:buClr>
                <a:schemeClr val="accent2"/>
              </a:buClr>
              <a:buSzPct val="85000"/>
              <a:buFont typeface="ZapfDingbats" pitchFamily="82" charset="2"/>
            </a:pPr>
            <a:r>
              <a:rPr lang="en-US" altLang="zh-CN" sz="2400" dirty="0">
                <a:latin typeface="Comic Sans MS" panose="030F0702030302020204" pitchFamily="66" charset="0"/>
                <a:ea typeface="宋体" panose="02010600030101010101" pitchFamily="2" charset="-122"/>
              </a:rPr>
              <a:t>Signal attenuation:</a:t>
            </a:r>
            <a:endParaRPr lang="en-US" altLang="zh-CN" sz="24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B, A hear each other</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B, C hear each other</a:t>
            </a:r>
            <a:endParaRPr lang="en-US" altLang="zh-CN" sz="2000" dirty="0">
              <a:latin typeface="Comic Sans MS" panose="030F0702030302020204" pitchFamily="66" charset="0"/>
              <a:ea typeface="宋体" panose="02010600030101010101" pitchFamily="2" charset="-122"/>
            </a:endParaRPr>
          </a:p>
          <a:p>
            <a:pPr marL="342900" indent="-342900" eaLnBrk="0" hangingPunct="0">
              <a:lnSpc>
                <a:spcPct val="90000"/>
              </a:lnSpc>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A, C can not hear each other interfering at B</a:t>
            </a:r>
            <a:endParaRPr lang="en-US" altLang="zh-CN" sz="2000" dirty="0">
              <a:latin typeface="Comic Sans MS" panose="030F0702030302020204" pitchFamily="66"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307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0723" name="Rectangle 2"/>
          <p:cNvSpPr>
            <a:spLocks noGrp="1"/>
          </p:cNvSpPr>
          <p:nvPr>
            <p:ph type="title"/>
          </p:nvPr>
        </p:nvSpPr>
        <p:spPr>
          <a:xfrm>
            <a:off x="365125" y="257175"/>
            <a:ext cx="8364538" cy="1143000"/>
          </a:xfrm>
          <a:ln/>
        </p:spPr>
        <p:txBody>
          <a:bodyPr vert="horz" wrap="square" lIns="91440" tIns="45720" rIns="91440" bIns="45720" anchor="ctr" anchorCtr="0"/>
          <a:p>
            <a:r>
              <a:rPr lang="en-US" altLang="zh-CN" sz="3600" dirty="0">
                <a:ea typeface="宋体" panose="02010600030101010101" pitchFamily="2" charset="-122"/>
              </a:rPr>
              <a:t>Code Division Multiple Access (CDMA)</a:t>
            </a:r>
            <a:endParaRPr lang="en-US" altLang="zh-CN" sz="3600" dirty="0">
              <a:ea typeface="宋体" panose="02010600030101010101" pitchFamily="2" charset="-122"/>
            </a:endParaRPr>
          </a:p>
        </p:txBody>
      </p:sp>
      <p:sp>
        <p:nvSpPr>
          <p:cNvPr id="30724" name="Rectangle 3"/>
          <p:cNvSpPr>
            <a:spLocks noGrp="1"/>
          </p:cNvSpPr>
          <p:nvPr>
            <p:ph idx="1"/>
          </p:nvPr>
        </p:nvSpPr>
        <p:spPr>
          <a:xfrm>
            <a:off x="533400" y="1600200"/>
            <a:ext cx="7934325" cy="4648200"/>
          </a:xfrm>
          <a:ln/>
        </p:spPr>
        <p:txBody>
          <a:bodyPr vert="horz" wrap="square" lIns="91440" tIns="45720" rIns="91440" bIns="45720" anchor="t" anchorCtr="0"/>
          <a:p>
            <a:pPr>
              <a:lnSpc>
                <a:spcPct val="80000"/>
              </a:lnSpc>
            </a:pPr>
            <a:r>
              <a:rPr lang="en-US" altLang="zh-CN" sz="2400" dirty="0">
                <a:ea typeface="宋体" panose="02010600030101010101" pitchFamily="2" charset="-122"/>
              </a:rPr>
              <a:t>used  in several wireless broadcast channels (cellular, satellite, etc) standards</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unique “code” assigned to each user; i.e., code set partitioning</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all users share same frequency, but each user has own “chipping” sequence (i.e., code) to encode data</a:t>
            </a:r>
            <a:endParaRPr lang="en-US" altLang="zh-CN" sz="2400" dirty="0">
              <a:ea typeface="宋体" panose="02010600030101010101" pitchFamily="2" charset="-122"/>
            </a:endParaRPr>
          </a:p>
          <a:p>
            <a:pPr>
              <a:lnSpc>
                <a:spcPct val="80000"/>
              </a:lnSpc>
            </a:pPr>
            <a:r>
              <a:rPr lang="en-US" altLang="zh-CN" sz="2400" i="1" dirty="0">
                <a:solidFill>
                  <a:srgbClr val="FF0000"/>
                </a:solidFill>
                <a:ea typeface="宋体" panose="02010600030101010101" pitchFamily="2" charset="-122"/>
              </a:rPr>
              <a:t>encoded signal</a:t>
            </a:r>
            <a:r>
              <a:rPr lang="en-US" altLang="zh-CN" sz="2400" dirty="0">
                <a:ea typeface="宋体" panose="02010600030101010101" pitchFamily="2" charset="-122"/>
              </a:rPr>
              <a:t> = (original data) X (chipping sequence)</a:t>
            </a:r>
            <a:endParaRPr lang="en-US" altLang="zh-CN" sz="2400" dirty="0">
              <a:ea typeface="宋体" panose="02010600030101010101" pitchFamily="2" charset="-122"/>
            </a:endParaRPr>
          </a:p>
          <a:p>
            <a:pPr>
              <a:lnSpc>
                <a:spcPct val="80000"/>
              </a:lnSpc>
            </a:pPr>
            <a:r>
              <a:rPr lang="en-US" altLang="zh-CN" sz="2400" i="1" dirty="0">
                <a:solidFill>
                  <a:srgbClr val="FF0000"/>
                </a:solidFill>
                <a:ea typeface="宋体" panose="02010600030101010101" pitchFamily="2" charset="-122"/>
              </a:rPr>
              <a:t>decoding:</a:t>
            </a:r>
            <a:r>
              <a:rPr lang="en-US" altLang="zh-CN" sz="2400" dirty="0">
                <a:ea typeface="宋体" panose="02010600030101010101" pitchFamily="2" charset="-122"/>
              </a:rPr>
              <a:t> inner-product of encoded signal and chipping sequence</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allows multiple users to “coexist” and transmit simultaneously with minimal interference (if codes are “orthogonal”)</a:t>
            </a:r>
            <a:endParaRPr lang="en-US" altLang="zh-CN" sz="3200" dirty="0">
              <a:ea typeface="宋体" panose="02010600030101010101" pitchFamily="2" charset="-122"/>
            </a:endParaRPr>
          </a:p>
          <a:p>
            <a:pPr>
              <a:lnSpc>
                <a:spcPct val="80000"/>
              </a:lnSpc>
            </a:pPr>
            <a:endParaRPr lang="en-US" altLang="zh-CN" sz="3200"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32770"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2771" name="Rectangle 2"/>
          <p:cNvSpPr>
            <a:spLocks noGrp="1"/>
          </p:cNvSpPr>
          <p:nvPr>
            <p:ph type="title"/>
          </p:nvPr>
        </p:nvSpPr>
        <p:spPr>
          <a:xfrm>
            <a:off x="533400" y="250825"/>
            <a:ext cx="7772400" cy="1143000"/>
          </a:xfrm>
          <a:ln/>
        </p:spPr>
        <p:txBody>
          <a:bodyPr vert="horz" wrap="square" lIns="91440" tIns="45720" rIns="91440" bIns="45720" anchor="ctr" anchorCtr="0"/>
          <a:p>
            <a:r>
              <a:rPr lang="en-US" altLang="zh-CN" dirty="0">
                <a:ea typeface="宋体" panose="02010600030101010101" pitchFamily="2" charset="-122"/>
              </a:rPr>
              <a:t>CDMA Encode/Decode</a:t>
            </a:r>
            <a:endParaRPr lang="en-US" altLang="zh-CN" dirty="0">
              <a:ea typeface="宋体" panose="02010600030101010101" pitchFamily="2" charset="-122"/>
            </a:endParaRPr>
          </a:p>
        </p:txBody>
      </p:sp>
      <p:sp>
        <p:nvSpPr>
          <p:cNvPr id="32772" name="Line 6"/>
          <p:cNvSpPr/>
          <p:nvPr/>
        </p:nvSpPr>
        <p:spPr>
          <a:xfrm>
            <a:off x="3219450" y="1552575"/>
            <a:ext cx="0" cy="1624013"/>
          </a:xfrm>
          <a:prstGeom prst="line">
            <a:avLst/>
          </a:prstGeom>
          <a:ln w="12700" cap="flat" cmpd="sng">
            <a:solidFill>
              <a:schemeClr val="accent2"/>
            </a:solidFill>
            <a:prstDash val="dash"/>
            <a:round/>
            <a:headEnd type="none" w="med" len="med"/>
            <a:tailEnd type="none" w="med" len="med"/>
          </a:ln>
        </p:spPr>
      </p:sp>
      <p:sp>
        <p:nvSpPr>
          <p:cNvPr id="32773" name="Line 9"/>
          <p:cNvSpPr/>
          <p:nvPr/>
        </p:nvSpPr>
        <p:spPr>
          <a:xfrm>
            <a:off x="4276725" y="1528763"/>
            <a:ext cx="0" cy="1624012"/>
          </a:xfrm>
          <a:prstGeom prst="line">
            <a:avLst/>
          </a:prstGeom>
          <a:ln w="12700" cap="flat" cmpd="sng">
            <a:solidFill>
              <a:schemeClr val="accent2"/>
            </a:solidFill>
            <a:prstDash val="dash"/>
            <a:round/>
            <a:headEnd type="none" w="med" len="med"/>
            <a:tailEnd type="none" w="med" len="med"/>
          </a:ln>
        </p:spPr>
      </p:sp>
      <p:sp>
        <p:nvSpPr>
          <p:cNvPr id="32774" name="Text Box 10"/>
          <p:cNvSpPr txBox="1"/>
          <p:nvPr/>
        </p:nvSpPr>
        <p:spPr>
          <a:xfrm>
            <a:off x="2389188" y="2960688"/>
            <a:ext cx="6699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slot 1</a:t>
            </a:r>
            <a:endParaRPr lang="en-US" altLang="zh-CN" sz="1600" dirty="0">
              <a:latin typeface="Arial" panose="020B0604020202020204" pitchFamily="34" charset="0"/>
              <a:ea typeface="宋体" panose="02010600030101010101" pitchFamily="2" charset="-122"/>
            </a:endParaRPr>
          </a:p>
        </p:txBody>
      </p:sp>
      <p:sp>
        <p:nvSpPr>
          <p:cNvPr id="32775" name="Text Box 11"/>
          <p:cNvSpPr txBox="1"/>
          <p:nvPr/>
        </p:nvSpPr>
        <p:spPr>
          <a:xfrm>
            <a:off x="3408363" y="2965450"/>
            <a:ext cx="6699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slot 0</a:t>
            </a:r>
            <a:endParaRPr lang="en-US" altLang="zh-CN" sz="1600" dirty="0">
              <a:latin typeface="Arial" panose="020B0604020202020204" pitchFamily="34" charset="0"/>
              <a:ea typeface="宋体" panose="02010600030101010101" pitchFamily="2" charset="-122"/>
            </a:endParaRPr>
          </a:p>
        </p:txBody>
      </p:sp>
      <p:grpSp>
        <p:nvGrpSpPr>
          <p:cNvPr id="404630" name="Group 150"/>
          <p:cNvGrpSpPr/>
          <p:nvPr/>
        </p:nvGrpSpPr>
        <p:grpSpPr>
          <a:xfrm>
            <a:off x="2084388" y="1462088"/>
            <a:ext cx="1254125" cy="1624012"/>
            <a:chOff x="1313" y="921"/>
            <a:chExt cx="790" cy="1023"/>
          </a:xfrm>
        </p:grpSpPr>
        <p:sp>
          <p:nvSpPr>
            <p:cNvPr id="32777" name="Line 5"/>
            <p:cNvSpPr/>
            <p:nvPr/>
          </p:nvSpPr>
          <p:spPr>
            <a:xfrm>
              <a:off x="1350" y="921"/>
              <a:ext cx="0" cy="1023"/>
            </a:xfrm>
            <a:prstGeom prst="line">
              <a:avLst/>
            </a:prstGeom>
            <a:ln w="12700" cap="flat" cmpd="sng">
              <a:solidFill>
                <a:schemeClr val="accent2"/>
              </a:solidFill>
              <a:prstDash val="dash"/>
              <a:round/>
              <a:headEnd type="none" w="med" len="med"/>
              <a:tailEnd type="none" w="med" len="med"/>
            </a:ln>
          </p:spPr>
        </p:sp>
        <p:sp>
          <p:nvSpPr>
            <p:cNvPr id="32778" name="Rectangle 12"/>
            <p:cNvSpPr/>
            <p:nvPr/>
          </p:nvSpPr>
          <p:spPr>
            <a:xfrm>
              <a:off x="1350" y="1218"/>
              <a:ext cx="678" cy="135"/>
            </a:xfrm>
            <a:prstGeom prst="rect">
              <a:avLst/>
            </a:prstGeom>
            <a:no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779" name="Text Box 15"/>
            <p:cNvSpPr txBox="1"/>
            <p:nvPr/>
          </p:nvSpPr>
          <p:spPr>
            <a:xfrm>
              <a:off x="1436" y="1194"/>
              <a:ext cx="400"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d</a:t>
              </a:r>
              <a:r>
                <a:rPr lang="en-US" altLang="zh-CN" sz="1200" baseline="-25000" dirty="0">
                  <a:latin typeface="Arial" panose="020B0604020202020204" pitchFamily="34" charset="0"/>
                  <a:ea typeface="宋体" panose="02010600030101010101" pitchFamily="2" charset="-122"/>
                </a:rPr>
                <a:t>1</a:t>
              </a:r>
              <a:r>
                <a:rPr lang="en-US" altLang="zh-CN" sz="1200" dirty="0">
                  <a:latin typeface="Arial" panose="020B0604020202020204" pitchFamily="34" charset="0"/>
                  <a:ea typeface="宋体" panose="02010600030101010101" pitchFamily="2" charset="-122"/>
                </a:rPr>
                <a:t> = -1</a:t>
              </a:r>
              <a:endParaRPr lang="en-US" altLang="zh-CN" sz="1200" dirty="0">
                <a:latin typeface="Arial" panose="020B0604020202020204" pitchFamily="34" charset="0"/>
                <a:ea typeface="宋体" panose="02010600030101010101" pitchFamily="2" charset="-122"/>
              </a:endParaRPr>
            </a:p>
          </p:txBody>
        </p:sp>
        <p:grpSp>
          <p:nvGrpSpPr>
            <p:cNvPr id="32780" name="Group 44"/>
            <p:cNvGrpSpPr/>
            <p:nvPr/>
          </p:nvGrpSpPr>
          <p:grpSpPr>
            <a:xfrm>
              <a:off x="1313" y="1534"/>
              <a:ext cx="790" cy="307"/>
              <a:chOff x="1313" y="1534"/>
              <a:chExt cx="790" cy="307"/>
            </a:xfrm>
          </p:grpSpPr>
          <p:sp>
            <p:nvSpPr>
              <p:cNvPr id="32781" name="Text Box 17"/>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782" name="Group 22"/>
              <p:cNvGrpSpPr/>
              <p:nvPr/>
            </p:nvGrpSpPr>
            <p:grpSpPr>
              <a:xfrm>
                <a:off x="1353" y="1539"/>
                <a:ext cx="258" cy="147"/>
                <a:chOff x="1353" y="1539"/>
                <a:chExt cx="258" cy="144"/>
              </a:xfrm>
            </p:grpSpPr>
            <p:sp>
              <p:nvSpPr>
                <p:cNvPr id="32783" name="Rectangle 18"/>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784" name="Line 20"/>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785" name="Line 21"/>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786" name="Group 23"/>
              <p:cNvGrpSpPr/>
              <p:nvPr/>
            </p:nvGrpSpPr>
            <p:grpSpPr>
              <a:xfrm>
                <a:off x="1773" y="1686"/>
                <a:ext cx="258" cy="144"/>
                <a:chOff x="1353" y="1539"/>
                <a:chExt cx="258" cy="144"/>
              </a:xfrm>
            </p:grpSpPr>
            <p:sp>
              <p:nvSpPr>
                <p:cNvPr id="32787" name="Rectangle 24"/>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788" name="Line 25"/>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789" name="Line 26"/>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790" name="Rectangle 27"/>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791" name="Rectangle 28"/>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792" name="Text Box 29"/>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793" name="Text Box 30"/>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794" name="Text Box 31"/>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795" name="Group 34"/>
              <p:cNvGrpSpPr/>
              <p:nvPr/>
            </p:nvGrpSpPr>
            <p:grpSpPr>
              <a:xfrm>
                <a:off x="1565" y="1684"/>
                <a:ext cx="211" cy="157"/>
                <a:chOff x="857" y="1909"/>
                <a:chExt cx="211" cy="157"/>
              </a:xfrm>
            </p:grpSpPr>
            <p:sp>
              <p:nvSpPr>
                <p:cNvPr id="32796" name="Text Box 3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797" name="Text Box 3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798" name="Group 35"/>
              <p:cNvGrpSpPr/>
              <p:nvPr/>
            </p:nvGrpSpPr>
            <p:grpSpPr>
              <a:xfrm>
                <a:off x="1730" y="1684"/>
                <a:ext cx="211" cy="157"/>
                <a:chOff x="857" y="1909"/>
                <a:chExt cx="211" cy="157"/>
              </a:xfrm>
            </p:grpSpPr>
            <p:sp>
              <p:nvSpPr>
                <p:cNvPr id="32799" name="Text Box 36"/>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00" name="Text Box 37"/>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01" name="Group 38"/>
              <p:cNvGrpSpPr/>
              <p:nvPr/>
            </p:nvGrpSpPr>
            <p:grpSpPr>
              <a:xfrm>
                <a:off x="1808" y="1684"/>
                <a:ext cx="211" cy="157"/>
                <a:chOff x="857" y="1909"/>
                <a:chExt cx="211" cy="157"/>
              </a:xfrm>
            </p:grpSpPr>
            <p:sp>
              <p:nvSpPr>
                <p:cNvPr id="32802" name="Text Box 39"/>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03" name="Text Box 40"/>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04" name="Group 41"/>
              <p:cNvGrpSpPr/>
              <p:nvPr/>
            </p:nvGrpSpPr>
            <p:grpSpPr>
              <a:xfrm>
                <a:off x="1892" y="1681"/>
                <a:ext cx="211" cy="157"/>
                <a:chOff x="857" y="1909"/>
                <a:chExt cx="211" cy="157"/>
              </a:xfrm>
            </p:grpSpPr>
            <p:sp>
              <p:nvSpPr>
                <p:cNvPr id="32805" name="Text Box 4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06" name="Text Box 4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sp>
        <p:nvSpPr>
          <p:cNvPr id="32807" name="Oval 74"/>
          <p:cNvSpPr/>
          <p:nvPr/>
        </p:nvSpPr>
        <p:spPr>
          <a:xfrm>
            <a:off x="4672013" y="1855788"/>
            <a:ext cx="419100" cy="423862"/>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08" name="Text Box 75"/>
          <p:cNvSpPr txBox="1"/>
          <p:nvPr/>
        </p:nvSpPr>
        <p:spPr>
          <a:xfrm>
            <a:off x="4298950" y="1444625"/>
            <a:ext cx="1182688" cy="366713"/>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Z</a:t>
            </a:r>
            <a:r>
              <a:rPr lang="en-US" altLang="zh-CN" baseline="-25000" dirty="0">
                <a:latin typeface="Arial" panose="020B0604020202020204" pitchFamily="34" charset="0"/>
                <a:ea typeface="宋体" panose="02010600030101010101" pitchFamily="2" charset="-122"/>
              </a:rPr>
              <a:t>i,m</a:t>
            </a:r>
            <a:r>
              <a:rPr lang="en-US" altLang="zh-CN" dirty="0">
                <a:latin typeface="Arial" panose="020B0604020202020204" pitchFamily="34" charset="0"/>
                <a:ea typeface="宋体" panose="02010600030101010101" pitchFamily="2" charset="-122"/>
              </a:rPr>
              <a:t>= d</a:t>
            </a:r>
            <a:r>
              <a:rPr lang="en-US" altLang="zh-CN" baseline="-25000" dirty="0">
                <a:latin typeface="Arial" panose="020B0604020202020204" pitchFamily="34" charset="0"/>
                <a:ea typeface="宋体" panose="02010600030101010101" pitchFamily="2" charset="-122"/>
              </a:rPr>
              <a:t>i</a:t>
            </a:r>
            <a:r>
              <a:rPr lang="en-US" altLang="zh-CN" sz="2400" baseline="30000"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c</a:t>
            </a:r>
            <a:r>
              <a:rPr lang="en-US" altLang="zh-CN" baseline="-25000" dirty="0">
                <a:latin typeface="Arial" panose="020B0604020202020204" pitchFamily="34" charset="0"/>
                <a:ea typeface="宋体" panose="02010600030101010101" pitchFamily="2" charset="-122"/>
              </a:rPr>
              <a:t>m</a:t>
            </a:r>
            <a:endParaRPr lang="en-US" altLang="zh-CN" baseline="-25000" dirty="0">
              <a:latin typeface="Arial" panose="020B0604020202020204" pitchFamily="34" charset="0"/>
              <a:ea typeface="宋体" panose="02010600030101010101" pitchFamily="2" charset="-122"/>
            </a:endParaRPr>
          </a:p>
        </p:txBody>
      </p:sp>
      <p:sp>
        <p:nvSpPr>
          <p:cNvPr id="32809" name="Line 72"/>
          <p:cNvSpPr/>
          <p:nvPr/>
        </p:nvSpPr>
        <p:spPr>
          <a:xfrm>
            <a:off x="4319588" y="1985963"/>
            <a:ext cx="319087" cy="4762"/>
          </a:xfrm>
          <a:prstGeom prst="line">
            <a:avLst/>
          </a:prstGeom>
          <a:ln w="38100" cap="flat" cmpd="sng">
            <a:solidFill>
              <a:schemeClr val="tx1"/>
            </a:solidFill>
            <a:prstDash val="solid"/>
            <a:round/>
            <a:headEnd type="none" w="med" len="med"/>
            <a:tailEnd type="triangle" w="med" len="med"/>
          </a:ln>
        </p:spPr>
      </p:sp>
      <p:sp>
        <p:nvSpPr>
          <p:cNvPr id="32810" name="Line 73"/>
          <p:cNvSpPr/>
          <p:nvPr/>
        </p:nvSpPr>
        <p:spPr>
          <a:xfrm flipV="1">
            <a:off x="4333875" y="2251075"/>
            <a:ext cx="403225" cy="430213"/>
          </a:xfrm>
          <a:prstGeom prst="line">
            <a:avLst/>
          </a:prstGeom>
          <a:ln w="38100" cap="flat" cmpd="sng">
            <a:solidFill>
              <a:schemeClr val="tx1"/>
            </a:solidFill>
            <a:prstDash val="solid"/>
            <a:round/>
            <a:headEnd type="none" w="med" len="med"/>
            <a:tailEnd type="triangle" w="med" len="med"/>
          </a:ln>
        </p:spPr>
      </p:sp>
      <p:grpSp>
        <p:nvGrpSpPr>
          <p:cNvPr id="404629" name="Group 149"/>
          <p:cNvGrpSpPr/>
          <p:nvPr/>
        </p:nvGrpSpPr>
        <p:grpSpPr>
          <a:xfrm>
            <a:off x="3141663" y="1695450"/>
            <a:ext cx="1254125" cy="1236663"/>
            <a:chOff x="1979" y="1068"/>
            <a:chExt cx="790" cy="779"/>
          </a:xfrm>
        </p:grpSpPr>
        <p:sp>
          <p:nvSpPr>
            <p:cNvPr id="32812" name="Rectangle 13"/>
            <p:cNvSpPr/>
            <p:nvPr/>
          </p:nvSpPr>
          <p:spPr>
            <a:xfrm>
              <a:off x="2028" y="1092"/>
              <a:ext cx="669" cy="135"/>
            </a:xfrm>
            <a:prstGeom prst="rect">
              <a:avLst/>
            </a:prstGeom>
            <a:no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13" name="Text Box 16"/>
            <p:cNvSpPr txBox="1"/>
            <p:nvPr/>
          </p:nvSpPr>
          <p:spPr>
            <a:xfrm>
              <a:off x="2186" y="1068"/>
              <a:ext cx="368"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d</a:t>
              </a:r>
              <a:r>
                <a:rPr lang="en-US" altLang="zh-CN" sz="1200" baseline="-25000" dirty="0">
                  <a:latin typeface="Arial" panose="020B0604020202020204" pitchFamily="34" charset="0"/>
                  <a:ea typeface="宋体" panose="02010600030101010101" pitchFamily="2" charset="-122"/>
                </a:rPr>
                <a:t>0</a:t>
              </a:r>
              <a:r>
                <a:rPr lang="en-US" altLang="zh-CN" sz="1200" dirty="0">
                  <a:latin typeface="Arial" panose="020B0604020202020204" pitchFamily="34" charset="0"/>
                  <a:ea typeface="宋体" panose="02010600030101010101" pitchFamily="2" charset="-122"/>
                </a:rPr>
                <a:t> = 1</a:t>
              </a:r>
              <a:endParaRPr lang="en-US" altLang="zh-CN" sz="1200" dirty="0">
                <a:latin typeface="Arial" panose="020B0604020202020204" pitchFamily="34" charset="0"/>
                <a:ea typeface="宋体" panose="02010600030101010101" pitchFamily="2" charset="-122"/>
              </a:endParaRPr>
            </a:p>
          </p:txBody>
        </p:sp>
        <p:grpSp>
          <p:nvGrpSpPr>
            <p:cNvPr id="32814" name="Group 45"/>
            <p:cNvGrpSpPr/>
            <p:nvPr/>
          </p:nvGrpSpPr>
          <p:grpSpPr>
            <a:xfrm>
              <a:off x="1979" y="1540"/>
              <a:ext cx="790" cy="307"/>
              <a:chOff x="1313" y="1534"/>
              <a:chExt cx="790" cy="307"/>
            </a:xfrm>
          </p:grpSpPr>
          <p:sp>
            <p:nvSpPr>
              <p:cNvPr id="32815" name="Text Box 46"/>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816" name="Group 47"/>
              <p:cNvGrpSpPr/>
              <p:nvPr/>
            </p:nvGrpSpPr>
            <p:grpSpPr>
              <a:xfrm>
                <a:off x="1353" y="1539"/>
                <a:ext cx="258" cy="147"/>
                <a:chOff x="1353" y="1539"/>
                <a:chExt cx="258" cy="144"/>
              </a:xfrm>
            </p:grpSpPr>
            <p:sp>
              <p:nvSpPr>
                <p:cNvPr id="32817" name="Rectangle 48"/>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18" name="Line 49"/>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19" name="Line 50"/>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820" name="Group 51"/>
              <p:cNvGrpSpPr/>
              <p:nvPr/>
            </p:nvGrpSpPr>
            <p:grpSpPr>
              <a:xfrm>
                <a:off x="1773" y="1686"/>
                <a:ext cx="258" cy="144"/>
                <a:chOff x="1353" y="1539"/>
                <a:chExt cx="258" cy="144"/>
              </a:xfrm>
            </p:grpSpPr>
            <p:sp>
              <p:nvSpPr>
                <p:cNvPr id="32821" name="Rectangle 52"/>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22" name="Line 53"/>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23" name="Line 54"/>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824" name="Rectangle 55"/>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25" name="Rectangle 56"/>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26" name="Text Box 57"/>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27" name="Text Box 58"/>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28" name="Text Box 59"/>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829" name="Group 60"/>
              <p:cNvGrpSpPr/>
              <p:nvPr/>
            </p:nvGrpSpPr>
            <p:grpSpPr>
              <a:xfrm>
                <a:off x="1565" y="1684"/>
                <a:ext cx="211" cy="157"/>
                <a:chOff x="857" y="1909"/>
                <a:chExt cx="211" cy="157"/>
              </a:xfrm>
            </p:grpSpPr>
            <p:sp>
              <p:nvSpPr>
                <p:cNvPr id="32830" name="Text Box 61"/>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31" name="Text Box 62"/>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32" name="Group 63"/>
              <p:cNvGrpSpPr/>
              <p:nvPr/>
            </p:nvGrpSpPr>
            <p:grpSpPr>
              <a:xfrm>
                <a:off x="1730" y="1684"/>
                <a:ext cx="211" cy="157"/>
                <a:chOff x="857" y="1909"/>
                <a:chExt cx="211" cy="157"/>
              </a:xfrm>
            </p:grpSpPr>
            <p:sp>
              <p:nvSpPr>
                <p:cNvPr id="32833" name="Text Box 64"/>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34" name="Text Box 65"/>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35" name="Group 66"/>
              <p:cNvGrpSpPr/>
              <p:nvPr/>
            </p:nvGrpSpPr>
            <p:grpSpPr>
              <a:xfrm>
                <a:off x="1808" y="1684"/>
                <a:ext cx="211" cy="157"/>
                <a:chOff x="857" y="1909"/>
                <a:chExt cx="211" cy="157"/>
              </a:xfrm>
            </p:grpSpPr>
            <p:sp>
              <p:nvSpPr>
                <p:cNvPr id="32836" name="Text Box 67"/>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37" name="Text Box 68"/>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38" name="Group 69"/>
              <p:cNvGrpSpPr/>
              <p:nvPr/>
            </p:nvGrpSpPr>
            <p:grpSpPr>
              <a:xfrm>
                <a:off x="1892" y="1681"/>
                <a:ext cx="211" cy="157"/>
                <a:chOff x="857" y="1909"/>
                <a:chExt cx="211" cy="157"/>
              </a:xfrm>
            </p:grpSpPr>
            <p:sp>
              <p:nvSpPr>
                <p:cNvPr id="32839" name="Text Box 70"/>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40" name="Text Box 71"/>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grpSp>
        <p:nvGrpSpPr>
          <p:cNvPr id="404556" name="Group 76"/>
          <p:cNvGrpSpPr/>
          <p:nvPr/>
        </p:nvGrpSpPr>
        <p:grpSpPr>
          <a:xfrm>
            <a:off x="6461125" y="1830388"/>
            <a:ext cx="1254125" cy="487362"/>
            <a:chOff x="1313" y="1534"/>
            <a:chExt cx="790" cy="307"/>
          </a:xfrm>
        </p:grpSpPr>
        <p:sp>
          <p:nvSpPr>
            <p:cNvPr id="32842" name="Text Box 77"/>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843" name="Group 78"/>
            <p:cNvGrpSpPr/>
            <p:nvPr/>
          </p:nvGrpSpPr>
          <p:grpSpPr>
            <a:xfrm>
              <a:off x="1353" y="1539"/>
              <a:ext cx="258" cy="147"/>
              <a:chOff x="1353" y="1539"/>
              <a:chExt cx="258" cy="144"/>
            </a:xfrm>
          </p:grpSpPr>
          <p:sp>
            <p:nvSpPr>
              <p:cNvPr id="32844" name="Rectangle 79"/>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45" name="Line 80"/>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46" name="Line 81"/>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847" name="Group 82"/>
            <p:cNvGrpSpPr/>
            <p:nvPr/>
          </p:nvGrpSpPr>
          <p:grpSpPr>
            <a:xfrm>
              <a:off x="1773" y="1686"/>
              <a:ext cx="258" cy="144"/>
              <a:chOff x="1353" y="1539"/>
              <a:chExt cx="258" cy="144"/>
            </a:xfrm>
          </p:grpSpPr>
          <p:sp>
            <p:nvSpPr>
              <p:cNvPr id="32848" name="Rectangle 83"/>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49" name="Line 84"/>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50" name="Line 85"/>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851" name="Rectangle 86"/>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52" name="Rectangle 87"/>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53" name="Text Box 88"/>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54" name="Text Box 89"/>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55" name="Text Box 90"/>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856" name="Group 91"/>
            <p:cNvGrpSpPr/>
            <p:nvPr/>
          </p:nvGrpSpPr>
          <p:grpSpPr>
            <a:xfrm>
              <a:off x="1565" y="1684"/>
              <a:ext cx="211" cy="157"/>
              <a:chOff x="857" y="1909"/>
              <a:chExt cx="211" cy="157"/>
            </a:xfrm>
          </p:grpSpPr>
          <p:sp>
            <p:nvSpPr>
              <p:cNvPr id="32857" name="Text Box 9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58" name="Text Box 9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59" name="Group 94"/>
            <p:cNvGrpSpPr/>
            <p:nvPr/>
          </p:nvGrpSpPr>
          <p:grpSpPr>
            <a:xfrm>
              <a:off x="1730" y="1684"/>
              <a:ext cx="211" cy="157"/>
              <a:chOff x="857" y="1909"/>
              <a:chExt cx="211" cy="157"/>
            </a:xfrm>
          </p:grpSpPr>
          <p:sp>
            <p:nvSpPr>
              <p:cNvPr id="32860" name="Text Box 95"/>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61" name="Text Box 96"/>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62" name="Group 97"/>
            <p:cNvGrpSpPr/>
            <p:nvPr/>
          </p:nvGrpSpPr>
          <p:grpSpPr>
            <a:xfrm>
              <a:off x="1808" y="1684"/>
              <a:ext cx="211" cy="157"/>
              <a:chOff x="857" y="1909"/>
              <a:chExt cx="211" cy="157"/>
            </a:xfrm>
          </p:grpSpPr>
          <p:sp>
            <p:nvSpPr>
              <p:cNvPr id="32863" name="Text Box 98"/>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64" name="Text Box 99"/>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65" name="Group 100"/>
            <p:cNvGrpSpPr/>
            <p:nvPr/>
          </p:nvGrpSpPr>
          <p:grpSpPr>
            <a:xfrm>
              <a:off x="1892" y="1681"/>
              <a:ext cx="211" cy="157"/>
              <a:chOff x="857" y="1909"/>
              <a:chExt cx="211" cy="157"/>
            </a:xfrm>
          </p:grpSpPr>
          <p:sp>
            <p:nvSpPr>
              <p:cNvPr id="32866" name="Text Box 101"/>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67" name="Text Box 102"/>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nvGrpSpPr>
          <p:cNvPr id="404616" name="Group 136"/>
          <p:cNvGrpSpPr/>
          <p:nvPr/>
        </p:nvGrpSpPr>
        <p:grpSpPr>
          <a:xfrm>
            <a:off x="5360988" y="1830388"/>
            <a:ext cx="1249362" cy="487362"/>
            <a:chOff x="4928" y="1534"/>
            <a:chExt cx="787" cy="307"/>
          </a:xfrm>
        </p:grpSpPr>
        <p:grpSp>
          <p:nvGrpSpPr>
            <p:cNvPr id="32869" name="Group 134"/>
            <p:cNvGrpSpPr/>
            <p:nvPr/>
          </p:nvGrpSpPr>
          <p:grpSpPr>
            <a:xfrm>
              <a:off x="5354" y="1534"/>
              <a:ext cx="361" cy="154"/>
              <a:chOff x="5009" y="1132"/>
              <a:chExt cx="361" cy="154"/>
            </a:xfrm>
          </p:grpSpPr>
          <p:sp>
            <p:nvSpPr>
              <p:cNvPr id="32870" name="Text Box 104"/>
              <p:cNvSpPr txBox="1"/>
              <p:nvPr/>
            </p:nvSpPr>
            <p:spPr>
              <a:xfrm>
                <a:off x="5009"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871" name="Group 105"/>
              <p:cNvGrpSpPr/>
              <p:nvPr/>
            </p:nvGrpSpPr>
            <p:grpSpPr>
              <a:xfrm>
                <a:off x="5049" y="1137"/>
                <a:ext cx="258" cy="147"/>
                <a:chOff x="1353" y="1539"/>
                <a:chExt cx="258" cy="144"/>
              </a:xfrm>
            </p:grpSpPr>
            <p:sp>
              <p:nvSpPr>
                <p:cNvPr id="32872" name="Rectangle 106"/>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73" name="Line 107"/>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74" name="Line 108"/>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875" name="Text Box 115"/>
              <p:cNvSpPr txBox="1"/>
              <p:nvPr/>
            </p:nvSpPr>
            <p:spPr>
              <a:xfrm>
                <a:off x="5087"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76" name="Text Box 116"/>
              <p:cNvSpPr txBox="1"/>
              <p:nvPr/>
            </p:nvSpPr>
            <p:spPr>
              <a:xfrm>
                <a:off x="5174"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grpSp>
          <p:nvGrpSpPr>
            <p:cNvPr id="32877" name="Group 135"/>
            <p:cNvGrpSpPr/>
            <p:nvPr/>
          </p:nvGrpSpPr>
          <p:grpSpPr>
            <a:xfrm>
              <a:off x="4928" y="1536"/>
              <a:ext cx="550" cy="305"/>
              <a:chOff x="5114" y="1518"/>
              <a:chExt cx="550" cy="305"/>
            </a:xfrm>
          </p:grpSpPr>
          <p:grpSp>
            <p:nvGrpSpPr>
              <p:cNvPr id="32878" name="Group 133"/>
              <p:cNvGrpSpPr/>
              <p:nvPr/>
            </p:nvGrpSpPr>
            <p:grpSpPr>
              <a:xfrm>
                <a:off x="5375" y="1518"/>
                <a:ext cx="196" cy="158"/>
                <a:chOff x="5378" y="1518"/>
                <a:chExt cx="196" cy="158"/>
              </a:xfrm>
            </p:grpSpPr>
            <p:sp>
              <p:nvSpPr>
                <p:cNvPr id="32879" name="Rectangle 114"/>
                <p:cNvSpPr/>
                <p:nvPr/>
              </p:nvSpPr>
              <p:spPr>
                <a:xfrm>
                  <a:off x="5418" y="1518"/>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80" name="Text Box 117"/>
                <p:cNvSpPr txBox="1"/>
                <p:nvPr/>
              </p:nvSpPr>
              <p:spPr>
                <a:xfrm>
                  <a:off x="5378" y="152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grpSp>
            <p:nvGrpSpPr>
              <p:cNvPr id="32881" name="Group 132"/>
              <p:cNvGrpSpPr/>
              <p:nvPr/>
            </p:nvGrpSpPr>
            <p:grpSpPr>
              <a:xfrm>
                <a:off x="5453" y="1666"/>
                <a:ext cx="211" cy="157"/>
                <a:chOff x="5261" y="1282"/>
                <a:chExt cx="211" cy="157"/>
              </a:xfrm>
            </p:grpSpPr>
            <p:sp>
              <p:nvSpPr>
                <p:cNvPr id="32882" name="Rectangle 113"/>
                <p:cNvSpPr/>
                <p:nvPr/>
              </p:nvSpPr>
              <p:spPr>
                <a:xfrm>
                  <a:off x="5307" y="1284"/>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32883" name="Group 118"/>
                <p:cNvGrpSpPr/>
                <p:nvPr/>
              </p:nvGrpSpPr>
              <p:grpSpPr>
                <a:xfrm>
                  <a:off x="5261" y="1282"/>
                  <a:ext cx="211" cy="157"/>
                  <a:chOff x="857" y="1909"/>
                  <a:chExt cx="211" cy="157"/>
                </a:xfrm>
              </p:grpSpPr>
              <p:sp>
                <p:nvSpPr>
                  <p:cNvPr id="32884" name="Text Box 119"/>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85" name="Text Box 120"/>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nvGrpSpPr>
              <p:cNvPr id="32886" name="Group 131"/>
              <p:cNvGrpSpPr/>
              <p:nvPr/>
            </p:nvGrpSpPr>
            <p:grpSpPr>
              <a:xfrm>
                <a:off x="5114" y="1663"/>
                <a:ext cx="373" cy="160"/>
                <a:chOff x="5426" y="1279"/>
                <a:chExt cx="373" cy="160"/>
              </a:xfrm>
            </p:grpSpPr>
            <p:grpSp>
              <p:nvGrpSpPr>
                <p:cNvPr id="32887" name="Group 109"/>
                <p:cNvGrpSpPr/>
                <p:nvPr/>
              </p:nvGrpSpPr>
              <p:grpSpPr>
                <a:xfrm>
                  <a:off x="5469" y="1284"/>
                  <a:ext cx="258" cy="144"/>
                  <a:chOff x="1353" y="1539"/>
                  <a:chExt cx="258" cy="144"/>
                </a:xfrm>
              </p:grpSpPr>
              <p:sp>
                <p:nvSpPr>
                  <p:cNvPr id="32888" name="Rectangle 110"/>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889" name="Line 111"/>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890" name="Line 112"/>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891" name="Group 121"/>
                <p:cNvGrpSpPr/>
                <p:nvPr/>
              </p:nvGrpSpPr>
              <p:grpSpPr>
                <a:xfrm>
                  <a:off x="5426" y="1282"/>
                  <a:ext cx="211" cy="157"/>
                  <a:chOff x="857" y="1909"/>
                  <a:chExt cx="211" cy="157"/>
                </a:xfrm>
              </p:grpSpPr>
              <p:sp>
                <p:nvSpPr>
                  <p:cNvPr id="32892" name="Text Box 12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93" name="Text Box 12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94" name="Group 124"/>
                <p:cNvGrpSpPr/>
                <p:nvPr/>
              </p:nvGrpSpPr>
              <p:grpSpPr>
                <a:xfrm>
                  <a:off x="5504" y="1282"/>
                  <a:ext cx="211" cy="157"/>
                  <a:chOff x="857" y="1909"/>
                  <a:chExt cx="211" cy="157"/>
                </a:xfrm>
              </p:grpSpPr>
              <p:sp>
                <p:nvSpPr>
                  <p:cNvPr id="32895" name="Text Box 125"/>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96" name="Text Box 126"/>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897" name="Group 127"/>
                <p:cNvGrpSpPr/>
                <p:nvPr/>
              </p:nvGrpSpPr>
              <p:grpSpPr>
                <a:xfrm>
                  <a:off x="5588" y="1279"/>
                  <a:ext cx="211" cy="157"/>
                  <a:chOff x="857" y="1909"/>
                  <a:chExt cx="211" cy="157"/>
                </a:xfrm>
              </p:grpSpPr>
              <p:sp>
                <p:nvSpPr>
                  <p:cNvPr id="32898" name="Text Box 128"/>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899" name="Text Box 129"/>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grpSp>
      <p:sp>
        <p:nvSpPr>
          <p:cNvPr id="32900" name="Text Box 137"/>
          <p:cNvSpPr txBox="1"/>
          <p:nvPr/>
        </p:nvSpPr>
        <p:spPr>
          <a:xfrm>
            <a:off x="6556375" y="2308225"/>
            <a:ext cx="893763" cy="825500"/>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slot 0</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channel</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output</a:t>
            </a:r>
            <a:endParaRPr lang="en-US" altLang="zh-CN" sz="1600" dirty="0">
              <a:latin typeface="Arial" panose="020B0604020202020204" pitchFamily="34" charset="0"/>
              <a:ea typeface="宋体" panose="02010600030101010101" pitchFamily="2" charset="-122"/>
            </a:endParaRPr>
          </a:p>
        </p:txBody>
      </p:sp>
      <p:sp>
        <p:nvSpPr>
          <p:cNvPr id="32901" name="Text Box 138"/>
          <p:cNvSpPr txBox="1"/>
          <p:nvPr/>
        </p:nvSpPr>
        <p:spPr>
          <a:xfrm>
            <a:off x="5513388" y="2327275"/>
            <a:ext cx="893762" cy="825500"/>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slot 1</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channel</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output</a:t>
            </a:r>
            <a:endParaRPr lang="en-US" altLang="zh-CN" sz="1600" dirty="0">
              <a:latin typeface="Arial" panose="020B0604020202020204" pitchFamily="34" charset="0"/>
              <a:ea typeface="宋体" panose="02010600030101010101" pitchFamily="2" charset="-122"/>
            </a:endParaRPr>
          </a:p>
        </p:txBody>
      </p:sp>
      <p:sp>
        <p:nvSpPr>
          <p:cNvPr id="32902" name="Line 139"/>
          <p:cNvSpPr/>
          <p:nvPr/>
        </p:nvSpPr>
        <p:spPr>
          <a:xfrm flipH="1">
            <a:off x="5438775" y="1666875"/>
            <a:ext cx="9525" cy="947738"/>
          </a:xfrm>
          <a:prstGeom prst="line">
            <a:avLst/>
          </a:prstGeom>
          <a:ln w="12700" cap="flat" cmpd="sng">
            <a:solidFill>
              <a:schemeClr val="accent2"/>
            </a:solidFill>
            <a:prstDash val="dash"/>
            <a:round/>
            <a:headEnd type="none" w="med" len="med"/>
            <a:tailEnd type="none" w="med" len="med"/>
          </a:ln>
        </p:spPr>
      </p:sp>
      <p:sp>
        <p:nvSpPr>
          <p:cNvPr id="32903" name="Line 140"/>
          <p:cNvSpPr/>
          <p:nvPr/>
        </p:nvSpPr>
        <p:spPr>
          <a:xfrm flipH="1">
            <a:off x="6510338" y="1647825"/>
            <a:ext cx="9525" cy="947738"/>
          </a:xfrm>
          <a:prstGeom prst="line">
            <a:avLst/>
          </a:prstGeom>
          <a:ln w="12700" cap="flat" cmpd="sng">
            <a:solidFill>
              <a:schemeClr val="accent2"/>
            </a:solidFill>
            <a:prstDash val="dash"/>
            <a:round/>
            <a:headEnd type="none" w="med" len="med"/>
            <a:tailEnd type="none" w="med" len="med"/>
          </a:ln>
        </p:spPr>
      </p:sp>
      <p:sp>
        <p:nvSpPr>
          <p:cNvPr id="32904" name="Line 141"/>
          <p:cNvSpPr/>
          <p:nvPr/>
        </p:nvSpPr>
        <p:spPr>
          <a:xfrm flipH="1">
            <a:off x="7624763" y="1657350"/>
            <a:ext cx="9525" cy="947738"/>
          </a:xfrm>
          <a:prstGeom prst="line">
            <a:avLst/>
          </a:prstGeom>
          <a:ln w="12700" cap="flat" cmpd="sng">
            <a:solidFill>
              <a:schemeClr val="accent2"/>
            </a:solidFill>
            <a:prstDash val="dash"/>
            <a:round/>
            <a:headEnd type="none" w="med" len="med"/>
            <a:tailEnd type="none" w="med" len="med"/>
          </a:ln>
        </p:spPr>
      </p:sp>
      <p:sp>
        <p:nvSpPr>
          <p:cNvPr id="32905" name="Text Box 142"/>
          <p:cNvSpPr txBox="1"/>
          <p:nvPr/>
        </p:nvSpPr>
        <p:spPr>
          <a:xfrm>
            <a:off x="5418138" y="1184275"/>
            <a:ext cx="2427287" cy="396875"/>
          </a:xfrm>
          <a:prstGeom prst="rect">
            <a:avLst/>
          </a:prstGeom>
          <a:noFill/>
          <a:ln w="9525">
            <a:noFill/>
          </a:ln>
        </p:spPr>
        <p:txBody>
          <a:bodyPr anchor="t" anchorCtr="0">
            <a:spAutoFit/>
          </a:bodyPr>
          <a:p>
            <a:pPr algn="ctr" eaLnBrk="0" hangingPunct="0">
              <a:buClrTx/>
              <a:buFontTx/>
            </a:pPr>
            <a:r>
              <a:rPr lang="en-US" altLang="zh-CN" sz="2000" dirty="0">
                <a:latin typeface="Arial" panose="020B0604020202020204" pitchFamily="34" charset="0"/>
                <a:ea typeface="宋体" panose="02010600030101010101" pitchFamily="2" charset="-122"/>
              </a:rPr>
              <a:t>channel output Z</a:t>
            </a:r>
            <a:r>
              <a:rPr lang="en-US" altLang="zh-CN" sz="2000" baseline="-25000" dirty="0">
                <a:latin typeface="Arial" panose="020B0604020202020204" pitchFamily="34" charset="0"/>
                <a:ea typeface="宋体" panose="02010600030101010101" pitchFamily="2" charset="-122"/>
              </a:rPr>
              <a:t>i,m</a:t>
            </a:r>
            <a:endParaRPr lang="en-US" altLang="zh-CN" sz="2000" baseline="-25000" dirty="0">
              <a:latin typeface="Arial" panose="020B0604020202020204" pitchFamily="34" charset="0"/>
              <a:ea typeface="宋体" panose="02010600030101010101" pitchFamily="2" charset="-122"/>
            </a:endParaRPr>
          </a:p>
        </p:txBody>
      </p:sp>
      <p:sp>
        <p:nvSpPr>
          <p:cNvPr id="32906" name="Text Box 143"/>
          <p:cNvSpPr txBox="1"/>
          <p:nvPr/>
        </p:nvSpPr>
        <p:spPr>
          <a:xfrm>
            <a:off x="315913" y="2103438"/>
            <a:ext cx="992187" cy="396875"/>
          </a:xfrm>
          <a:prstGeom prst="rect">
            <a:avLst/>
          </a:prstGeom>
          <a:noFill/>
          <a:ln w="9525">
            <a:noFill/>
          </a:ln>
        </p:spPr>
        <p:txBody>
          <a:bodyPr wrap="none" anchor="t" anchorCtr="0">
            <a:spAutoFit/>
          </a:bodyPr>
          <a:p>
            <a:pPr eaLnBrk="0" hangingPunct="0">
              <a:buClrTx/>
              <a:buFontTx/>
            </a:pPr>
            <a:r>
              <a:rPr lang="en-US" altLang="zh-CN" sz="2000" dirty="0">
                <a:solidFill>
                  <a:srgbClr val="FF0000"/>
                </a:solidFill>
                <a:latin typeface="Comic Sans MS" panose="030F0702030302020204" pitchFamily="66" charset="0"/>
                <a:ea typeface="宋体" panose="02010600030101010101" pitchFamily="2" charset="-122"/>
              </a:rPr>
              <a:t>sender</a:t>
            </a:r>
            <a:endParaRPr lang="en-US" altLang="zh-CN" sz="2000" dirty="0">
              <a:solidFill>
                <a:srgbClr val="FF0000"/>
              </a:solidFill>
              <a:latin typeface="Comic Sans MS" panose="030F0702030302020204" pitchFamily="66" charset="0"/>
              <a:ea typeface="宋体" panose="02010600030101010101" pitchFamily="2" charset="-122"/>
            </a:endParaRPr>
          </a:p>
        </p:txBody>
      </p:sp>
      <p:sp>
        <p:nvSpPr>
          <p:cNvPr id="32907" name="Text Box 144"/>
          <p:cNvSpPr txBox="1"/>
          <p:nvPr/>
        </p:nvSpPr>
        <p:spPr>
          <a:xfrm>
            <a:off x="1485900" y="2454275"/>
            <a:ext cx="679450" cy="366713"/>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code</a:t>
            </a:r>
            <a:endParaRPr lang="en-US" altLang="zh-CN" dirty="0">
              <a:latin typeface="Arial" panose="020B0604020202020204" pitchFamily="34" charset="0"/>
              <a:ea typeface="宋体" panose="02010600030101010101" pitchFamily="2" charset="-122"/>
            </a:endParaRPr>
          </a:p>
        </p:txBody>
      </p:sp>
      <p:sp>
        <p:nvSpPr>
          <p:cNvPr id="32908" name="Text Box 145"/>
          <p:cNvSpPr txBox="1"/>
          <p:nvPr/>
        </p:nvSpPr>
        <p:spPr>
          <a:xfrm>
            <a:off x="1525588" y="1679575"/>
            <a:ext cx="628650" cy="641350"/>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data</a:t>
            </a:r>
            <a:endParaRPr lang="en-US" altLang="zh-CN" dirty="0">
              <a:latin typeface="Arial" panose="020B0604020202020204" pitchFamily="34" charset="0"/>
              <a:ea typeface="宋体" panose="02010600030101010101" pitchFamily="2" charset="-122"/>
            </a:endParaRPr>
          </a:p>
          <a:p>
            <a:pPr eaLnBrk="0" hangingPunct="0">
              <a:buClrTx/>
              <a:buFontTx/>
            </a:pPr>
            <a:r>
              <a:rPr lang="en-US" altLang="zh-CN" dirty="0">
                <a:latin typeface="Arial" panose="020B0604020202020204" pitchFamily="34" charset="0"/>
                <a:ea typeface="宋体" panose="02010600030101010101" pitchFamily="2" charset="-122"/>
              </a:rPr>
              <a:t>bits</a:t>
            </a:r>
            <a:endParaRPr lang="en-US" altLang="zh-CN" dirty="0">
              <a:latin typeface="Arial" panose="020B0604020202020204" pitchFamily="34" charset="0"/>
              <a:ea typeface="宋体" panose="02010600030101010101" pitchFamily="2" charset="-122"/>
            </a:endParaRPr>
          </a:p>
        </p:txBody>
      </p:sp>
      <p:sp>
        <p:nvSpPr>
          <p:cNvPr id="32909" name="Line 146"/>
          <p:cNvSpPr/>
          <p:nvPr/>
        </p:nvSpPr>
        <p:spPr>
          <a:xfrm>
            <a:off x="5132388" y="2054225"/>
            <a:ext cx="319087" cy="4763"/>
          </a:xfrm>
          <a:prstGeom prst="line">
            <a:avLst/>
          </a:prstGeom>
          <a:ln w="38100" cap="flat" cmpd="sng">
            <a:solidFill>
              <a:schemeClr val="tx1"/>
            </a:solidFill>
            <a:prstDash val="solid"/>
            <a:round/>
            <a:headEnd type="none" w="med" len="med"/>
            <a:tailEnd type="triangle" w="med" len="med"/>
          </a:ln>
        </p:spPr>
      </p:sp>
      <p:sp>
        <p:nvSpPr>
          <p:cNvPr id="32910" name="Line 151"/>
          <p:cNvSpPr/>
          <p:nvPr/>
        </p:nvSpPr>
        <p:spPr>
          <a:xfrm>
            <a:off x="4033838" y="4167188"/>
            <a:ext cx="0" cy="1624012"/>
          </a:xfrm>
          <a:prstGeom prst="line">
            <a:avLst/>
          </a:prstGeom>
          <a:ln w="12700" cap="flat" cmpd="sng">
            <a:solidFill>
              <a:schemeClr val="accent2"/>
            </a:solidFill>
            <a:prstDash val="dash"/>
            <a:round/>
            <a:headEnd type="none" w="med" len="med"/>
            <a:tailEnd type="none" w="med" len="med"/>
          </a:ln>
        </p:spPr>
      </p:sp>
      <p:sp>
        <p:nvSpPr>
          <p:cNvPr id="32911" name="Line 152"/>
          <p:cNvSpPr/>
          <p:nvPr/>
        </p:nvSpPr>
        <p:spPr>
          <a:xfrm>
            <a:off x="5110163" y="4143375"/>
            <a:ext cx="0" cy="1624013"/>
          </a:xfrm>
          <a:prstGeom prst="line">
            <a:avLst/>
          </a:prstGeom>
          <a:ln w="12700" cap="flat" cmpd="sng">
            <a:solidFill>
              <a:schemeClr val="accent2"/>
            </a:solidFill>
            <a:prstDash val="dash"/>
            <a:round/>
            <a:headEnd type="none" w="med" len="med"/>
            <a:tailEnd type="none" w="med" len="med"/>
          </a:ln>
        </p:spPr>
      </p:sp>
      <p:sp>
        <p:nvSpPr>
          <p:cNvPr id="32912" name="Text Box 153"/>
          <p:cNvSpPr txBox="1"/>
          <p:nvPr/>
        </p:nvSpPr>
        <p:spPr>
          <a:xfrm>
            <a:off x="3222625" y="5575300"/>
            <a:ext cx="6699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slot 1</a:t>
            </a:r>
            <a:endParaRPr lang="en-US" altLang="zh-CN" sz="1600" dirty="0">
              <a:latin typeface="Arial" panose="020B0604020202020204" pitchFamily="34" charset="0"/>
              <a:ea typeface="宋体" panose="02010600030101010101" pitchFamily="2" charset="-122"/>
            </a:endParaRPr>
          </a:p>
        </p:txBody>
      </p:sp>
      <p:sp>
        <p:nvSpPr>
          <p:cNvPr id="32913" name="Text Box 154"/>
          <p:cNvSpPr txBox="1"/>
          <p:nvPr/>
        </p:nvSpPr>
        <p:spPr>
          <a:xfrm>
            <a:off x="4241800" y="5580063"/>
            <a:ext cx="6699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slot 0</a:t>
            </a:r>
            <a:endParaRPr lang="en-US" altLang="zh-CN" sz="1600" dirty="0">
              <a:latin typeface="Arial" panose="020B0604020202020204" pitchFamily="34" charset="0"/>
              <a:ea typeface="宋体" panose="02010600030101010101" pitchFamily="2" charset="-122"/>
            </a:endParaRPr>
          </a:p>
        </p:txBody>
      </p:sp>
      <p:sp>
        <p:nvSpPr>
          <p:cNvPr id="32914" name="Line 156"/>
          <p:cNvSpPr/>
          <p:nvPr/>
        </p:nvSpPr>
        <p:spPr>
          <a:xfrm>
            <a:off x="2957513" y="4206875"/>
            <a:ext cx="0" cy="1624013"/>
          </a:xfrm>
          <a:prstGeom prst="line">
            <a:avLst/>
          </a:prstGeom>
          <a:ln w="12700" cap="flat" cmpd="sng">
            <a:solidFill>
              <a:schemeClr val="accent2"/>
            </a:solidFill>
            <a:prstDash val="dash"/>
            <a:round/>
            <a:headEnd type="none" w="med" len="med"/>
            <a:tailEnd type="none" w="med" len="med"/>
          </a:ln>
        </p:spPr>
      </p:sp>
      <p:grpSp>
        <p:nvGrpSpPr>
          <p:cNvPr id="404778" name="Group 298"/>
          <p:cNvGrpSpPr/>
          <p:nvPr/>
        </p:nvGrpSpPr>
        <p:grpSpPr>
          <a:xfrm>
            <a:off x="6289675" y="4638675"/>
            <a:ext cx="1076325" cy="274638"/>
            <a:chOff x="3962" y="2922"/>
            <a:chExt cx="678" cy="173"/>
          </a:xfrm>
        </p:grpSpPr>
        <p:sp>
          <p:nvSpPr>
            <p:cNvPr id="32916" name="Rectangle 157"/>
            <p:cNvSpPr/>
            <p:nvPr/>
          </p:nvSpPr>
          <p:spPr>
            <a:xfrm>
              <a:off x="3962" y="2946"/>
              <a:ext cx="678" cy="135"/>
            </a:xfrm>
            <a:prstGeom prst="rect">
              <a:avLst/>
            </a:prstGeom>
            <a:no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17" name="Text Box 158"/>
            <p:cNvSpPr txBox="1"/>
            <p:nvPr/>
          </p:nvSpPr>
          <p:spPr>
            <a:xfrm>
              <a:off x="4048" y="2922"/>
              <a:ext cx="400"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d</a:t>
              </a:r>
              <a:r>
                <a:rPr lang="en-US" altLang="zh-CN" sz="1200" baseline="-25000" dirty="0">
                  <a:latin typeface="Arial" panose="020B0604020202020204" pitchFamily="34" charset="0"/>
                  <a:ea typeface="宋体" panose="02010600030101010101" pitchFamily="2" charset="-122"/>
                </a:rPr>
                <a:t>1</a:t>
              </a:r>
              <a:r>
                <a:rPr lang="en-US" altLang="zh-CN" sz="1200" dirty="0">
                  <a:latin typeface="Arial" panose="020B0604020202020204" pitchFamily="34" charset="0"/>
                  <a:ea typeface="宋体" panose="02010600030101010101" pitchFamily="2" charset="-122"/>
                </a:rPr>
                <a:t> = -1</a:t>
              </a:r>
              <a:endParaRPr lang="en-US" altLang="zh-CN" sz="1200" dirty="0">
                <a:latin typeface="Arial" panose="020B0604020202020204" pitchFamily="34" charset="0"/>
                <a:ea typeface="宋体" panose="02010600030101010101" pitchFamily="2" charset="-122"/>
              </a:endParaRPr>
            </a:p>
          </p:txBody>
        </p:sp>
      </p:grpSp>
      <p:sp>
        <p:nvSpPr>
          <p:cNvPr id="32918" name="Oval 186"/>
          <p:cNvSpPr/>
          <p:nvPr/>
        </p:nvSpPr>
        <p:spPr>
          <a:xfrm>
            <a:off x="5505450" y="4470400"/>
            <a:ext cx="419100" cy="423863"/>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19" name="Line 188"/>
          <p:cNvSpPr/>
          <p:nvPr/>
        </p:nvSpPr>
        <p:spPr>
          <a:xfrm>
            <a:off x="5153025" y="4600575"/>
            <a:ext cx="319088" cy="4763"/>
          </a:xfrm>
          <a:prstGeom prst="line">
            <a:avLst/>
          </a:prstGeom>
          <a:ln w="38100" cap="flat" cmpd="sng">
            <a:solidFill>
              <a:schemeClr val="tx1"/>
            </a:solidFill>
            <a:prstDash val="solid"/>
            <a:round/>
            <a:headEnd type="none" w="med" len="med"/>
            <a:tailEnd type="triangle" w="med" len="med"/>
          </a:ln>
        </p:spPr>
      </p:sp>
      <p:sp>
        <p:nvSpPr>
          <p:cNvPr id="32920" name="Line 189"/>
          <p:cNvSpPr/>
          <p:nvPr/>
        </p:nvSpPr>
        <p:spPr>
          <a:xfrm flipV="1">
            <a:off x="5167313" y="4865688"/>
            <a:ext cx="403225" cy="430212"/>
          </a:xfrm>
          <a:prstGeom prst="line">
            <a:avLst/>
          </a:prstGeom>
          <a:ln w="38100" cap="flat" cmpd="sng">
            <a:solidFill>
              <a:schemeClr val="tx1"/>
            </a:solidFill>
            <a:prstDash val="solid"/>
            <a:round/>
            <a:headEnd type="none" w="med" len="med"/>
            <a:tailEnd type="triangle" w="med" len="med"/>
          </a:ln>
        </p:spPr>
      </p:sp>
      <p:grpSp>
        <p:nvGrpSpPr>
          <p:cNvPr id="404776" name="Group 296"/>
          <p:cNvGrpSpPr/>
          <p:nvPr/>
        </p:nvGrpSpPr>
        <p:grpSpPr>
          <a:xfrm>
            <a:off x="7366000" y="4438650"/>
            <a:ext cx="1062038" cy="274638"/>
            <a:chOff x="4640" y="2796"/>
            <a:chExt cx="669" cy="173"/>
          </a:xfrm>
        </p:grpSpPr>
        <p:sp>
          <p:nvSpPr>
            <p:cNvPr id="32922" name="Rectangle 191"/>
            <p:cNvSpPr/>
            <p:nvPr/>
          </p:nvSpPr>
          <p:spPr>
            <a:xfrm>
              <a:off x="4640" y="2820"/>
              <a:ext cx="669" cy="135"/>
            </a:xfrm>
            <a:prstGeom prst="rect">
              <a:avLst/>
            </a:prstGeom>
            <a:noFill/>
            <a:ln w="19050"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23" name="Text Box 192"/>
            <p:cNvSpPr txBox="1"/>
            <p:nvPr/>
          </p:nvSpPr>
          <p:spPr>
            <a:xfrm>
              <a:off x="4798" y="2796"/>
              <a:ext cx="368"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d</a:t>
              </a:r>
              <a:r>
                <a:rPr lang="en-US" altLang="zh-CN" sz="1200" baseline="-25000" dirty="0">
                  <a:latin typeface="Arial" panose="020B0604020202020204" pitchFamily="34" charset="0"/>
                  <a:ea typeface="宋体" panose="02010600030101010101" pitchFamily="2" charset="-122"/>
                </a:rPr>
                <a:t>0</a:t>
              </a:r>
              <a:r>
                <a:rPr lang="en-US" altLang="zh-CN" sz="1200" dirty="0">
                  <a:latin typeface="Arial" panose="020B0604020202020204" pitchFamily="34" charset="0"/>
                  <a:ea typeface="宋体" panose="02010600030101010101" pitchFamily="2" charset="-122"/>
                </a:rPr>
                <a:t> = 1</a:t>
              </a:r>
              <a:endParaRPr lang="en-US" altLang="zh-CN" sz="1200" dirty="0">
                <a:latin typeface="Arial" panose="020B0604020202020204" pitchFamily="34" charset="0"/>
                <a:ea typeface="宋体" panose="02010600030101010101" pitchFamily="2" charset="-122"/>
              </a:endParaRPr>
            </a:p>
          </p:txBody>
        </p:sp>
      </p:grpSp>
      <p:grpSp>
        <p:nvGrpSpPr>
          <p:cNvPr id="404775" name="Group 295"/>
          <p:cNvGrpSpPr/>
          <p:nvPr/>
        </p:nvGrpSpPr>
        <p:grpSpPr>
          <a:xfrm>
            <a:off x="3965575" y="4362450"/>
            <a:ext cx="1263650" cy="1184275"/>
            <a:chOff x="2498" y="2748"/>
            <a:chExt cx="796" cy="746"/>
          </a:xfrm>
        </p:grpSpPr>
        <p:grpSp>
          <p:nvGrpSpPr>
            <p:cNvPr id="32925" name="Group 193"/>
            <p:cNvGrpSpPr/>
            <p:nvPr/>
          </p:nvGrpSpPr>
          <p:grpSpPr>
            <a:xfrm>
              <a:off x="2504" y="3187"/>
              <a:ext cx="790" cy="307"/>
              <a:chOff x="1313" y="1534"/>
              <a:chExt cx="790" cy="307"/>
            </a:xfrm>
          </p:grpSpPr>
          <p:sp>
            <p:nvSpPr>
              <p:cNvPr id="32926" name="Text Box 194"/>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27" name="Group 195"/>
              <p:cNvGrpSpPr/>
              <p:nvPr/>
            </p:nvGrpSpPr>
            <p:grpSpPr>
              <a:xfrm>
                <a:off x="1353" y="1539"/>
                <a:ext cx="258" cy="147"/>
                <a:chOff x="1353" y="1539"/>
                <a:chExt cx="258" cy="144"/>
              </a:xfrm>
            </p:grpSpPr>
            <p:sp>
              <p:nvSpPr>
                <p:cNvPr id="32928" name="Rectangle 196"/>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29" name="Line 197"/>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30" name="Line 198"/>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931" name="Group 199"/>
              <p:cNvGrpSpPr/>
              <p:nvPr/>
            </p:nvGrpSpPr>
            <p:grpSpPr>
              <a:xfrm>
                <a:off x="1773" y="1686"/>
                <a:ext cx="258" cy="144"/>
                <a:chOff x="1353" y="1539"/>
                <a:chExt cx="258" cy="144"/>
              </a:xfrm>
            </p:grpSpPr>
            <p:sp>
              <p:nvSpPr>
                <p:cNvPr id="32932" name="Rectangle 200"/>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33" name="Line 201"/>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34" name="Line 202"/>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935" name="Rectangle 203"/>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36" name="Rectangle 204"/>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37" name="Text Box 205"/>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38" name="Text Box 206"/>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39" name="Text Box 207"/>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40" name="Group 208"/>
              <p:cNvGrpSpPr/>
              <p:nvPr/>
            </p:nvGrpSpPr>
            <p:grpSpPr>
              <a:xfrm>
                <a:off x="1565" y="1684"/>
                <a:ext cx="211" cy="157"/>
                <a:chOff x="857" y="1909"/>
                <a:chExt cx="211" cy="157"/>
              </a:xfrm>
            </p:grpSpPr>
            <p:sp>
              <p:nvSpPr>
                <p:cNvPr id="32941" name="Text Box 209"/>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42" name="Text Box 210"/>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43" name="Group 211"/>
              <p:cNvGrpSpPr/>
              <p:nvPr/>
            </p:nvGrpSpPr>
            <p:grpSpPr>
              <a:xfrm>
                <a:off x="1730" y="1684"/>
                <a:ext cx="211" cy="157"/>
                <a:chOff x="857" y="1909"/>
                <a:chExt cx="211" cy="157"/>
              </a:xfrm>
            </p:grpSpPr>
            <p:sp>
              <p:nvSpPr>
                <p:cNvPr id="32944" name="Text Box 21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45" name="Text Box 21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46" name="Group 214"/>
              <p:cNvGrpSpPr/>
              <p:nvPr/>
            </p:nvGrpSpPr>
            <p:grpSpPr>
              <a:xfrm>
                <a:off x="1808" y="1684"/>
                <a:ext cx="211" cy="157"/>
                <a:chOff x="857" y="1909"/>
                <a:chExt cx="211" cy="157"/>
              </a:xfrm>
            </p:grpSpPr>
            <p:sp>
              <p:nvSpPr>
                <p:cNvPr id="32947" name="Text Box 215"/>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48" name="Text Box 216"/>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49" name="Group 217"/>
              <p:cNvGrpSpPr/>
              <p:nvPr/>
            </p:nvGrpSpPr>
            <p:grpSpPr>
              <a:xfrm>
                <a:off x="1892" y="1681"/>
                <a:ext cx="211" cy="157"/>
                <a:chOff x="857" y="1909"/>
                <a:chExt cx="211" cy="157"/>
              </a:xfrm>
            </p:grpSpPr>
            <p:sp>
              <p:nvSpPr>
                <p:cNvPr id="32950" name="Text Box 218"/>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51" name="Text Box 219"/>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nvGrpSpPr>
            <p:cNvPr id="32952" name="Group 220"/>
            <p:cNvGrpSpPr/>
            <p:nvPr/>
          </p:nvGrpSpPr>
          <p:grpSpPr>
            <a:xfrm>
              <a:off x="2498" y="2748"/>
              <a:ext cx="790" cy="307"/>
              <a:chOff x="1313" y="1534"/>
              <a:chExt cx="790" cy="307"/>
            </a:xfrm>
          </p:grpSpPr>
          <p:sp>
            <p:nvSpPr>
              <p:cNvPr id="32953" name="Text Box 221"/>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54" name="Group 222"/>
              <p:cNvGrpSpPr/>
              <p:nvPr/>
            </p:nvGrpSpPr>
            <p:grpSpPr>
              <a:xfrm>
                <a:off x="1353" y="1539"/>
                <a:ext cx="258" cy="147"/>
                <a:chOff x="1353" y="1539"/>
                <a:chExt cx="258" cy="144"/>
              </a:xfrm>
            </p:grpSpPr>
            <p:sp>
              <p:nvSpPr>
                <p:cNvPr id="32955" name="Rectangle 223"/>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56" name="Line 224"/>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57" name="Line 225"/>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958" name="Group 226"/>
              <p:cNvGrpSpPr/>
              <p:nvPr/>
            </p:nvGrpSpPr>
            <p:grpSpPr>
              <a:xfrm>
                <a:off x="1773" y="1686"/>
                <a:ext cx="258" cy="144"/>
                <a:chOff x="1353" y="1539"/>
                <a:chExt cx="258" cy="144"/>
              </a:xfrm>
            </p:grpSpPr>
            <p:sp>
              <p:nvSpPr>
                <p:cNvPr id="32959" name="Rectangle 227"/>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60" name="Line 228"/>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61" name="Line 229"/>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962" name="Rectangle 230"/>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63" name="Rectangle 231"/>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64" name="Text Box 232"/>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65" name="Text Box 233"/>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66" name="Text Box 234"/>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67" name="Group 235"/>
              <p:cNvGrpSpPr/>
              <p:nvPr/>
            </p:nvGrpSpPr>
            <p:grpSpPr>
              <a:xfrm>
                <a:off x="1565" y="1684"/>
                <a:ext cx="211" cy="157"/>
                <a:chOff x="857" y="1909"/>
                <a:chExt cx="211" cy="157"/>
              </a:xfrm>
            </p:grpSpPr>
            <p:sp>
              <p:nvSpPr>
                <p:cNvPr id="32968" name="Text Box 236"/>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69" name="Text Box 237"/>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70" name="Group 238"/>
              <p:cNvGrpSpPr/>
              <p:nvPr/>
            </p:nvGrpSpPr>
            <p:grpSpPr>
              <a:xfrm>
                <a:off x="1730" y="1684"/>
                <a:ext cx="211" cy="157"/>
                <a:chOff x="857" y="1909"/>
                <a:chExt cx="211" cy="157"/>
              </a:xfrm>
            </p:grpSpPr>
            <p:sp>
              <p:nvSpPr>
                <p:cNvPr id="32971" name="Text Box 239"/>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72" name="Text Box 240"/>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73" name="Group 241"/>
              <p:cNvGrpSpPr/>
              <p:nvPr/>
            </p:nvGrpSpPr>
            <p:grpSpPr>
              <a:xfrm>
                <a:off x="1808" y="1684"/>
                <a:ext cx="211" cy="157"/>
                <a:chOff x="857" y="1909"/>
                <a:chExt cx="211" cy="157"/>
              </a:xfrm>
            </p:grpSpPr>
            <p:sp>
              <p:nvSpPr>
                <p:cNvPr id="32974" name="Text Box 242"/>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75" name="Text Box 243"/>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76" name="Group 244"/>
              <p:cNvGrpSpPr/>
              <p:nvPr/>
            </p:nvGrpSpPr>
            <p:grpSpPr>
              <a:xfrm>
                <a:off x="1892" y="1681"/>
                <a:ext cx="211" cy="157"/>
                <a:chOff x="857" y="1909"/>
                <a:chExt cx="211" cy="157"/>
              </a:xfrm>
            </p:grpSpPr>
            <p:sp>
              <p:nvSpPr>
                <p:cNvPr id="32977" name="Text Box 245"/>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78" name="Text Box 246"/>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grpSp>
        <p:nvGrpSpPr>
          <p:cNvPr id="404777" name="Group 297"/>
          <p:cNvGrpSpPr/>
          <p:nvPr/>
        </p:nvGrpSpPr>
        <p:grpSpPr>
          <a:xfrm>
            <a:off x="2874963" y="4362450"/>
            <a:ext cx="1277937" cy="1174750"/>
            <a:chOff x="1811" y="2748"/>
            <a:chExt cx="805" cy="740"/>
          </a:xfrm>
        </p:grpSpPr>
        <p:grpSp>
          <p:nvGrpSpPr>
            <p:cNvPr id="32980" name="Group 159"/>
            <p:cNvGrpSpPr/>
            <p:nvPr/>
          </p:nvGrpSpPr>
          <p:grpSpPr>
            <a:xfrm>
              <a:off x="1826" y="3181"/>
              <a:ext cx="790" cy="307"/>
              <a:chOff x="1313" y="1534"/>
              <a:chExt cx="790" cy="307"/>
            </a:xfrm>
          </p:grpSpPr>
          <p:sp>
            <p:nvSpPr>
              <p:cNvPr id="32981" name="Text Box 160"/>
              <p:cNvSpPr txBox="1"/>
              <p:nvPr/>
            </p:nvSpPr>
            <p:spPr>
              <a:xfrm>
                <a:off x="1313"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82" name="Group 161"/>
              <p:cNvGrpSpPr/>
              <p:nvPr/>
            </p:nvGrpSpPr>
            <p:grpSpPr>
              <a:xfrm>
                <a:off x="1353" y="1539"/>
                <a:ext cx="258" cy="147"/>
                <a:chOff x="1353" y="1539"/>
                <a:chExt cx="258" cy="144"/>
              </a:xfrm>
            </p:grpSpPr>
            <p:sp>
              <p:nvSpPr>
                <p:cNvPr id="32983" name="Rectangle 162"/>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84" name="Line 163"/>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85" name="Line 164"/>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2986" name="Group 165"/>
              <p:cNvGrpSpPr/>
              <p:nvPr/>
            </p:nvGrpSpPr>
            <p:grpSpPr>
              <a:xfrm>
                <a:off x="1773" y="1686"/>
                <a:ext cx="258" cy="144"/>
                <a:chOff x="1353" y="1539"/>
                <a:chExt cx="258" cy="144"/>
              </a:xfrm>
            </p:grpSpPr>
            <p:sp>
              <p:nvSpPr>
                <p:cNvPr id="32987" name="Rectangle 166"/>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88" name="Line 167"/>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2989" name="Line 168"/>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2990" name="Rectangle 169"/>
              <p:cNvSpPr/>
              <p:nvPr/>
            </p:nvSpPr>
            <p:spPr>
              <a:xfrm>
                <a:off x="1611" y="1686"/>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91" name="Rectangle 170"/>
              <p:cNvSpPr/>
              <p:nvPr/>
            </p:nvSpPr>
            <p:spPr>
              <a:xfrm>
                <a:off x="1692" y="1536"/>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2992" name="Text Box 171"/>
              <p:cNvSpPr txBox="1"/>
              <p:nvPr/>
            </p:nvSpPr>
            <p:spPr>
              <a:xfrm>
                <a:off x="1391"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93" name="Text Box 172"/>
              <p:cNvSpPr txBox="1"/>
              <p:nvPr/>
            </p:nvSpPr>
            <p:spPr>
              <a:xfrm>
                <a:off x="1478" y="1534"/>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94" name="Text Box 173"/>
              <p:cNvSpPr txBox="1"/>
              <p:nvPr/>
            </p:nvSpPr>
            <p:spPr>
              <a:xfrm>
                <a:off x="1652" y="1540"/>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2995" name="Group 174"/>
              <p:cNvGrpSpPr/>
              <p:nvPr/>
            </p:nvGrpSpPr>
            <p:grpSpPr>
              <a:xfrm>
                <a:off x="1565" y="1684"/>
                <a:ext cx="211" cy="157"/>
                <a:chOff x="857" y="1909"/>
                <a:chExt cx="211" cy="157"/>
              </a:xfrm>
            </p:grpSpPr>
            <p:sp>
              <p:nvSpPr>
                <p:cNvPr id="32996" name="Text Box 175"/>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2997" name="Text Box 176"/>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2998" name="Group 177"/>
              <p:cNvGrpSpPr/>
              <p:nvPr/>
            </p:nvGrpSpPr>
            <p:grpSpPr>
              <a:xfrm>
                <a:off x="1730" y="1684"/>
                <a:ext cx="211" cy="157"/>
                <a:chOff x="857" y="1909"/>
                <a:chExt cx="211" cy="157"/>
              </a:xfrm>
            </p:grpSpPr>
            <p:sp>
              <p:nvSpPr>
                <p:cNvPr id="32999" name="Text Box 178"/>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00" name="Text Box 179"/>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3001" name="Group 180"/>
              <p:cNvGrpSpPr/>
              <p:nvPr/>
            </p:nvGrpSpPr>
            <p:grpSpPr>
              <a:xfrm>
                <a:off x="1808" y="1684"/>
                <a:ext cx="211" cy="157"/>
                <a:chOff x="857" y="1909"/>
                <a:chExt cx="211" cy="157"/>
              </a:xfrm>
            </p:grpSpPr>
            <p:sp>
              <p:nvSpPr>
                <p:cNvPr id="33002" name="Text Box 181"/>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03" name="Text Box 182"/>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3004" name="Group 183"/>
              <p:cNvGrpSpPr/>
              <p:nvPr/>
            </p:nvGrpSpPr>
            <p:grpSpPr>
              <a:xfrm>
                <a:off x="1892" y="1681"/>
                <a:ext cx="211" cy="157"/>
                <a:chOff x="857" y="1909"/>
                <a:chExt cx="211" cy="157"/>
              </a:xfrm>
            </p:grpSpPr>
            <p:sp>
              <p:nvSpPr>
                <p:cNvPr id="33005" name="Text Box 184"/>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06" name="Text Box 185"/>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nvGrpSpPr>
            <p:cNvPr id="33007" name="Group 247"/>
            <p:cNvGrpSpPr/>
            <p:nvPr/>
          </p:nvGrpSpPr>
          <p:grpSpPr>
            <a:xfrm>
              <a:off x="1811" y="2748"/>
              <a:ext cx="787" cy="307"/>
              <a:chOff x="4928" y="1534"/>
              <a:chExt cx="787" cy="307"/>
            </a:xfrm>
          </p:grpSpPr>
          <p:grpSp>
            <p:nvGrpSpPr>
              <p:cNvPr id="33008" name="Group 248"/>
              <p:cNvGrpSpPr/>
              <p:nvPr/>
            </p:nvGrpSpPr>
            <p:grpSpPr>
              <a:xfrm>
                <a:off x="5354" y="1534"/>
                <a:ext cx="361" cy="154"/>
                <a:chOff x="5009" y="1132"/>
                <a:chExt cx="361" cy="154"/>
              </a:xfrm>
            </p:grpSpPr>
            <p:sp>
              <p:nvSpPr>
                <p:cNvPr id="33009" name="Text Box 249"/>
                <p:cNvSpPr txBox="1"/>
                <p:nvPr/>
              </p:nvSpPr>
              <p:spPr>
                <a:xfrm>
                  <a:off x="5009"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nvGrpSpPr>
                <p:cNvPr id="33010" name="Group 250"/>
                <p:cNvGrpSpPr/>
                <p:nvPr/>
              </p:nvGrpSpPr>
              <p:grpSpPr>
                <a:xfrm>
                  <a:off x="5049" y="1137"/>
                  <a:ext cx="258" cy="147"/>
                  <a:chOff x="1353" y="1539"/>
                  <a:chExt cx="258" cy="144"/>
                </a:xfrm>
              </p:grpSpPr>
              <p:sp>
                <p:nvSpPr>
                  <p:cNvPr id="33011" name="Rectangle 251"/>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3012" name="Line 252"/>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3013" name="Line 253"/>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sp>
              <p:nvSpPr>
                <p:cNvPr id="33014" name="Text Box 254"/>
                <p:cNvSpPr txBox="1"/>
                <p:nvPr/>
              </p:nvSpPr>
              <p:spPr>
                <a:xfrm>
                  <a:off x="5087"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15" name="Text Box 255"/>
                <p:cNvSpPr txBox="1"/>
                <p:nvPr/>
              </p:nvSpPr>
              <p:spPr>
                <a:xfrm>
                  <a:off x="5174" y="113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grpSp>
            <p:nvGrpSpPr>
              <p:cNvPr id="33016" name="Group 256"/>
              <p:cNvGrpSpPr/>
              <p:nvPr/>
            </p:nvGrpSpPr>
            <p:grpSpPr>
              <a:xfrm>
                <a:off x="4928" y="1536"/>
                <a:ext cx="550" cy="305"/>
                <a:chOff x="5114" y="1518"/>
                <a:chExt cx="550" cy="305"/>
              </a:xfrm>
            </p:grpSpPr>
            <p:grpSp>
              <p:nvGrpSpPr>
                <p:cNvPr id="33017" name="Group 257"/>
                <p:cNvGrpSpPr/>
                <p:nvPr/>
              </p:nvGrpSpPr>
              <p:grpSpPr>
                <a:xfrm>
                  <a:off x="5375" y="1518"/>
                  <a:ext cx="196" cy="158"/>
                  <a:chOff x="5378" y="1518"/>
                  <a:chExt cx="196" cy="158"/>
                </a:xfrm>
              </p:grpSpPr>
              <p:sp>
                <p:nvSpPr>
                  <p:cNvPr id="33018" name="Rectangle 258"/>
                  <p:cNvSpPr/>
                  <p:nvPr/>
                </p:nvSpPr>
                <p:spPr>
                  <a:xfrm>
                    <a:off x="5418" y="1518"/>
                    <a:ext cx="81" cy="1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3019" name="Text Box 259"/>
                  <p:cNvSpPr txBox="1"/>
                  <p:nvPr/>
                </p:nvSpPr>
                <p:spPr>
                  <a:xfrm>
                    <a:off x="5378" y="152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grpSp>
            <p:grpSp>
              <p:nvGrpSpPr>
                <p:cNvPr id="33020" name="Group 260"/>
                <p:cNvGrpSpPr/>
                <p:nvPr/>
              </p:nvGrpSpPr>
              <p:grpSpPr>
                <a:xfrm>
                  <a:off x="5453" y="1666"/>
                  <a:ext cx="211" cy="157"/>
                  <a:chOff x="5261" y="1282"/>
                  <a:chExt cx="211" cy="157"/>
                </a:xfrm>
              </p:grpSpPr>
              <p:sp>
                <p:nvSpPr>
                  <p:cNvPr id="33021" name="Rectangle 261"/>
                  <p:cNvSpPr/>
                  <p:nvPr/>
                </p:nvSpPr>
                <p:spPr>
                  <a:xfrm>
                    <a:off x="5307" y="1284"/>
                    <a:ext cx="81"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33022" name="Group 262"/>
                  <p:cNvGrpSpPr/>
                  <p:nvPr/>
                </p:nvGrpSpPr>
                <p:grpSpPr>
                  <a:xfrm>
                    <a:off x="5261" y="1282"/>
                    <a:ext cx="211" cy="157"/>
                    <a:chOff x="857" y="1909"/>
                    <a:chExt cx="211" cy="157"/>
                  </a:xfrm>
                </p:grpSpPr>
                <p:sp>
                  <p:nvSpPr>
                    <p:cNvPr id="33023" name="Text Box 263"/>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24" name="Text Box 264"/>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nvGrpSpPr>
                <p:cNvPr id="33025" name="Group 265"/>
                <p:cNvGrpSpPr/>
                <p:nvPr/>
              </p:nvGrpSpPr>
              <p:grpSpPr>
                <a:xfrm>
                  <a:off x="5114" y="1663"/>
                  <a:ext cx="373" cy="160"/>
                  <a:chOff x="5426" y="1279"/>
                  <a:chExt cx="373" cy="160"/>
                </a:xfrm>
              </p:grpSpPr>
              <p:grpSp>
                <p:nvGrpSpPr>
                  <p:cNvPr id="33026" name="Group 266"/>
                  <p:cNvGrpSpPr/>
                  <p:nvPr/>
                </p:nvGrpSpPr>
                <p:grpSpPr>
                  <a:xfrm>
                    <a:off x="5469" y="1284"/>
                    <a:ext cx="258" cy="144"/>
                    <a:chOff x="1353" y="1539"/>
                    <a:chExt cx="258" cy="144"/>
                  </a:xfrm>
                </p:grpSpPr>
                <p:sp>
                  <p:nvSpPr>
                    <p:cNvPr id="33027" name="Rectangle 267"/>
                    <p:cNvSpPr/>
                    <p:nvPr/>
                  </p:nvSpPr>
                  <p:spPr>
                    <a:xfrm>
                      <a:off x="1353" y="1539"/>
                      <a:ext cx="258" cy="144"/>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33028" name="Line 268"/>
                    <p:cNvSpPr/>
                    <p:nvPr/>
                  </p:nvSpPr>
                  <p:spPr>
                    <a:xfrm>
                      <a:off x="1521" y="1542"/>
                      <a:ext cx="0" cy="138"/>
                    </a:xfrm>
                    <a:prstGeom prst="line">
                      <a:avLst/>
                    </a:prstGeom>
                    <a:ln w="9525" cap="flat" cmpd="sng">
                      <a:solidFill>
                        <a:schemeClr val="tx1"/>
                      </a:solidFill>
                      <a:prstDash val="solid"/>
                      <a:round/>
                      <a:headEnd type="none" w="med" len="med"/>
                      <a:tailEnd type="none" w="med" len="med"/>
                    </a:ln>
                  </p:spPr>
                </p:sp>
                <p:sp>
                  <p:nvSpPr>
                    <p:cNvPr id="33029" name="Line 269"/>
                    <p:cNvSpPr/>
                    <p:nvPr/>
                  </p:nvSpPr>
                  <p:spPr>
                    <a:xfrm>
                      <a:off x="1437" y="1545"/>
                      <a:ext cx="0" cy="138"/>
                    </a:xfrm>
                    <a:prstGeom prst="line">
                      <a:avLst/>
                    </a:prstGeom>
                    <a:ln w="9525" cap="flat" cmpd="sng">
                      <a:solidFill>
                        <a:schemeClr val="tx1"/>
                      </a:solidFill>
                      <a:prstDash val="solid"/>
                      <a:round/>
                      <a:headEnd type="none" w="med" len="med"/>
                      <a:tailEnd type="none" w="med" len="med"/>
                    </a:ln>
                  </p:spPr>
                </p:sp>
              </p:grpSp>
              <p:grpSp>
                <p:nvGrpSpPr>
                  <p:cNvPr id="33030" name="Group 270"/>
                  <p:cNvGrpSpPr/>
                  <p:nvPr/>
                </p:nvGrpSpPr>
                <p:grpSpPr>
                  <a:xfrm>
                    <a:off x="5426" y="1282"/>
                    <a:ext cx="211" cy="157"/>
                    <a:chOff x="857" y="1909"/>
                    <a:chExt cx="211" cy="157"/>
                  </a:xfrm>
                </p:grpSpPr>
                <p:sp>
                  <p:nvSpPr>
                    <p:cNvPr id="33031" name="Text Box 271"/>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32" name="Text Box 272"/>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3033" name="Group 273"/>
                  <p:cNvGrpSpPr/>
                  <p:nvPr/>
                </p:nvGrpSpPr>
                <p:grpSpPr>
                  <a:xfrm>
                    <a:off x="5504" y="1282"/>
                    <a:ext cx="211" cy="157"/>
                    <a:chOff x="857" y="1909"/>
                    <a:chExt cx="211" cy="157"/>
                  </a:xfrm>
                </p:grpSpPr>
                <p:sp>
                  <p:nvSpPr>
                    <p:cNvPr id="33034" name="Text Box 274"/>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35" name="Text Box 275"/>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nvGrpSpPr>
                  <p:cNvPr id="33036" name="Group 276"/>
                  <p:cNvGrpSpPr/>
                  <p:nvPr/>
                </p:nvGrpSpPr>
                <p:grpSpPr>
                  <a:xfrm>
                    <a:off x="5588" y="1279"/>
                    <a:ext cx="211" cy="157"/>
                    <a:chOff x="857" y="1909"/>
                    <a:chExt cx="211" cy="157"/>
                  </a:xfrm>
                </p:grpSpPr>
                <p:sp>
                  <p:nvSpPr>
                    <p:cNvPr id="33037" name="Text Box 277"/>
                    <p:cNvSpPr txBox="1"/>
                    <p:nvPr/>
                  </p:nvSpPr>
                  <p:spPr>
                    <a:xfrm>
                      <a:off x="872" y="1912"/>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1</a:t>
                      </a:r>
                      <a:endParaRPr lang="en-US" altLang="zh-CN" sz="1000" dirty="0">
                        <a:latin typeface="Arial" panose="020B0604020202020204" pitchFamily="34" charset="0"/>
                        <a:ea typeface="宋体" panose="02010600030101010101" pitchFamily="2" charset="-122"/>
                      </a:endParaRPr>
                    </a:p>
                  </p:txBody>
                </p:sp>
                <p:sp>
                  <p:nvSpPr>
                    <p:cNvPr id="33038" name="Text Box 278"/>
                    <p:cNvSpPr txBox="1"/>
                    <p:nvPr/>
                  </p:nvSpPr>
                  <p:spPr>
                    <a:xfrm>
                      <a:off x="857" y="1909"/>
                      <a:ext cx="196" cy="154"/>
                    </a:xfrm>
                    <a:prstGeom prst="rect">
                      <a:avLst/>
                    </a:prstGeom>
                    <a:noFill/>
                    <a:ln w="9525">
                      <a:noFill/>
                    </a:ln>
                  </p:spPr>
                  <p:txBody>
                    <a:bodyPr anchor="t" anchorCtr="0">
                      <a:spAutoFit/>
                    </a:bodyPr>
                    <a:p>
                      <a:pPr eaLnBrk="0" hangingPunct="0">
                        <a:buClrTx/>
                        <a:buFontTx/>
                      </a:pPr>
                      <a:r>
                        <a:rPr lang="en-US" altLang="zh-CN" sz="1000" dirty="0">
                          <a:latin typeface="Arial" panose="020B0604020202020204" pitchFamily="34" charset="0"/>
                          <a:ea typeface="宋体" panose="02010600030101010101" pitchFamily="2" charset="-122"/>
                        </a:rPr>
                        <a:t>-</a:t>
                      </a:r>
                      <a:endParaRPr lang="en-US" altLang="zh-CN" sz="1000" dirty="0">
                        <a:latin typeface="Arial" panose="020B0604020202020204" pitchFamily="34" charset="0"/>
                        <a:ea typeface="宋体" panose="02010600030101010101" pitchFamily="2" charset="-122"/>
                      </a:endParaRPr>
                    </a:p>
                  </p:txBody>
                </p:sp>
              </p:grpSp>
            </p:grpSp>
          </p:grpSp>
        </p:grpSp>
      </p:grpSp>
      <p:sp>
        <p:nvSpPr>
          <p:cNvPr id="33039" name="Text Box 279"/>
          <p:cNvSpPr txBox="1"/>
          <p:nvPr/>
        </p:nvSpPr>
        <p:spPr>
          <a:xfrm>
            <a:off x="7389813" y="4922838"/>
            <a:ext cx="893762" cy="825500"/>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slot 0</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channel</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output</a:t>
            </a:r>
            <a:endParaRPr lang="en-US" altLang="zh-CN" sz="1600" dirty="0">
              <a:latin typeface="Arial" panose="020B0604020202020204" pitchFamily="34" charset="0"/>
              <a:ea typeface="宋体" panose="02010600030101010101" pitchFamily="2" charset="-122"/>
            </a:endParaRPr>
          </a:p>
        </p:txBody>
      </p:sp>
      <p:sp>
        <p:nvSpPr>
          <p:cNvPr id="33040" name="Text Box 280"/>
          <p:cNvSpPr txBox="1"/>
          <p:nvPr/>
        </p:nvSpPr>
        <p:spPr>
          <a:xfrm>
            <a:off x="6346825" y="4941888"/>
            <a:ext cx="893763" cy="825500"/>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slot 1</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channel</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output</a:t>
            </a:r>
            <a:endParaRPr lang="en-US" altLang="zh-CN" sz="1600" dirty="0">
              <a:latin typeface="Arial" panose="020B0604020202020204" pitchFamily="34" charset="0"/>
              <a:ea typeface="宋体" panose="02010600030101010101" pitchFamily="2" charset="-122"/>
            </a:endParaRPr>
          </a:p>
        </p:txBody>
      </p:sp>
      <p:sp>
        <p:nvSpPr>
          <p:cNvPr id="33041" name="Line 281"/>
          <p:cNvSpPr/>
          <p:nvPr/>
        </p:nvSpPr>
        <p:spPr>
          <a:xfrm flipH="1">
            <a:off x="6272213" y="4281488"/>
            <a:ext cx="9525" cy="947737"/>
          </a:xfrm>
          <a:prstGeom prst="line">
            <a:avLst/>
          </a:prstGeom>
          <a:ln w="12700" cap="flat" cmpd="sng">
            <a:solidFill>
              <a:schemeClr val="accent2"/>
            </a:solidFill>
            <a:prstDash val="dash"/>
            <a:round/>
            <a:headEnd type="none" w="med" len="med"/>
            <a:tailEnd type="none" w="med" len="med"/>
          </a:ln>
        </p:spPr>
      </p:sp>
      <p:sp>
        <p:nvSpPr>
          <p:cNvPr id="33042" name="Line 282"/>
          <p:cNvSpPr/>
          <p:nvPr/>
        </p:nvSpPr>
        <p:spPr>
          <a:xfrm flipH="1">
            <a:off x="7343775" y="4262438"/>
            <a:ext cx="9525" cy="947737"/>
          </a:xfrm>
          <a:prstGeom prst="line">
            <a:avLst/>
          </a:prstGeom>
          <a:ln w="12700" cap="flat" cmpd="sng">
            <a:solidFill>
              <a:schemeClr val="accent2"/>
            </a:solidFill>
            <a:prstDash val="dash"/>
            <a:round/>
            <a:headEnd type="none" w="med" len="med"/>
            <a:tailEnd type="none" w="med" len="med"/>
          </a:ln>
        </p:spPr>
      </p:sp>
      <p:sp>
        <p:nvSpPr>
          <p:cNvPr id="33043" name="Line 283"/>
          <p:cNvSpPr/>
          <p:nvPr/>
        </p:nvSpPr>
        <p:spPr>
          <a:xfrm flipH="1">
            <a:off x="8458200" y="4271963"/>
            <a:ext cx="9525" cy="947737"/>
          </a:xfrm>
          <a:prstGeom prst="line">
            <a:avLst/>
          </a:prstGeom>
          <a:ln w="12700" cap="flat" cmpd="sng">
            <a:solidFill>
              <a:schemeClr val="accent2"/>
            </a:solidFill>
            <a:prstDash val="dash"/>
            <a:round/>
            <a:headEnd type="none" w="med" len="med"/>
            <a:tailEnd type="none" w="med" len="med"/>
          </a:ln>
        </p:spPr>
      </p:sp>
      <p:sp>
        <p:nvSpPr>
          <p:cNvPr id="33044" name="Text Box 285"/>
          <p:cNvSpPr txBox="1"/>
          <p:nvPr/>
        </p:nvSpPr>
        <p:spPr>
          <a:xfrm>
            <a:off x="1233488" y="5446713"/>
            <a:ext cx="1173162" cy="396875"/>
          </a:xfrm>
          <a:prstGeom prst="rect">
            <a:avLst/>
          </a:prstGeom>
          <a:noFill/>
          <a:ln w="9525">
            <a:noFill/>
          </a:ln>
        </p:spPr>
        <p:txBody>
          <a:bodyPr wrap="none" anchor="t" anchorCtr="0">
            <a:spAutoFit/>
          </a:bodyPr>
          <a:p>
            <a:pPr eaLnBrk="0" hangingPunct="0">
              <a:buClrTx/>
              <a:buFontTx/>
            </a:pPr>
            <a:r>
              <a:rPr lang="en-US" altLang="zh-CN" sz="2000" dirty="0">
                <a:solidFill>
                  <a:srgbClr val="FF0000"/>
                </a:solidFill>
                <a:latin typeface="Comic Sans MS" panose="030F0702030302020204" pitchFamily="66" charset="0"/>
                <a:ea typeface="宋体" panose="02010600030101010101" pitchFamily="2" charset="-122"/>
              </a:rPr>
              <a:t>receiver</a:t>
            </a:r>
            <a:endParaRPr lang="en-US" altLang="zh-CN" sz="2000" dirty="0">
              <a:solidFill>
                <a:srgbClr val="FF0000"/>
              </a:solidFill>
              <a:latin typeface="Comic Sans MS" panose="030F0702030302020204" pitchFamily="66" charset="0"/>
              <a:ea typeface="宋体" panose="02010600030101010101" pitchFamily="2" charset="-122"/>
            </a:endParaRPr>
          </a:p>
        </p:txBody>
      </p:sp>
      <p:sp>
        <p:nvSpPr>
          <p:cNvPr id="33045" name="Text Box 286"/>
          <p:cNvSpPr txBox="1"/>
          <p:nvPr/>
        </p:nvSpPr>
        <p:spPr>
          <a:xfrm>
            <a:off x="2319338" y="5068888"/>
            <a:ext cx="679450" cy="366712"/>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code</a:t>
            </a:r>
            <a:endParaRPr lang="en-US" altLang="zh-CN" dirty="0">
              <a:latin typeface="Arial" panose="020B0604020202020204" pitchFamily="34" charset="0"/>
              <a:ea typeface="宋体" panose="02010600030101010101" pitchFamily="2" charset="-122"/>
            </a:endParaRPr>
          </a:p>
        </p:txBody>
      </p:sp>
      <p:sp>
        <p:nvSpPr>
          <p:cNvPr id="33046" name="Text Box 287"/>
          <p:cNvSpPr txBox="1"/>
          <p:nvPr/>
        </p:nvSpPr>
        <p:spPr>
          <a:xfrm>
            <a:off x="1341438" y="4303713"/>
            <a:ext cx="1047750" cy="641350"/>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received</a:t>
            </a:r>
            <a:endParaRPr lang="en-US" altLang="zh-CN" dirty="0">
              <a:latin typeface="Arial" panose="020B0604020202020204" pitchFamily="34" charset="0"/>
              <a:ea typeface="宋体" panose="02010600030101010101" pitchFamily="2" charset="-122"/>
            </a:endParaRPr>
          </a:p>
          <a:p>
            <a:pPr eaLnBrk="0" hangingPunct="0">
              <a:buClrTx/>
              <a:buFontTx/>
            </a:pPr>
            <a:r>
              <a:rPr lang="en-US" altLang="zh-CN" dirty="0">
                <a:latin typeface="Arial" panose="020B0604020202020204" pitchFamily="34" charset="0"/>
                <a:ea typeface="宋体" panose="02010600030101010101" pitchFamily="2" charset="-122"/>
              </a:rPr>
              <a:t>input</a:t>
            </a:r>
            <a:endParaRPr lang="en-US" altLang="zh-CN" dirty="0">
              <a:latin typeface="Arial" panose="020B0604020202020204" pitchFamily="34" charset="0"/>
              <a:ea typeface="宋体" panose="02010600030101010101" pitchFamily="2" charset="-122"/>
            </a:endParaRPr>
          </a:p>
        </p:txBody>
      </p:sp>
      <p:sp>
        <p:nvSpPr>
          <p:cNvPr id="33047" name="Line 288"/>
          <p:cNvSpPr/>
          <p:nvPr/>
        </p:nvSpPr>
        <p:spPr>
          <a:xfrm>
            <a:off x="5965825" y="4668838"/>
            <a:ext cx="319088" cy="4762"/>
          </a:xfrm>
          <a:prstGeom prst="line">
            <a:avLst/>
          </a:prstGeom>
          <a:ln w="38100" cap="flat" cmpd="sng">
            <a:solidFill>
              <a:schemeClr val="tx1"/>
            </a:solidFill>
            <a:prstDash val="solid"/>
            <a:round/>
            <a:headEnd type="none" w="med" len="med"/>
            <a:tailEnd type="triangle" w="med" len="med"/>
          </a:ln>
        </p:spPr>
      </p:sp>
      <p:grpSp>
        <p:nvGrpSpPr>
          <p:cNvPr id="33048" name="Group 294"/>
          <p:cNvGrpSpPr/>
          <p:nvPr/>
        </p:nvGrpSpPr>
        <p:grpSpPr>
          <a:xfrm>
            <a:off x="5003800" y="3530600"/>
            <a:ext cx="1517650" cy="977900"/>
            <a:chOff x="4239" y="2007"/>
            <a:chExt cx="956" cy="616"/>
          </a:xfrm>
        </p:grpSpPr>
        <p:sp>
          <p:nvSpPr>
            <p:cNvPr id="33049" name="Text Box 187"/>
            <p:cNvSpPr txBox="1"/>
            <p:nvPr/>
          </p:nvSpPr>
          <p:spPr>
            <a:xfrm>
              <a:off x="4239" y="2047"/>
              <a:ext cx="956" cy="327"/>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D</a:t>
              </a:r>
              <a:r>
                <a:rPr lang="en-US" altLang="zh-CN" baseline="-25000" dirty="0">
                  <a:latin typeface="Arial" panose="020B0604020202020204" pitchFamily="34" charset="0"/>
                  <a:ea typeface="宋体" panose="02010600030101010101" pitchFamily="2" charset="-122"/>
                </a:rPr>
                <a:t>i </a:t>
              </a:r>
              <a:r>
                <a:rPr lang="en-US" altLang="zh-CN" dirty="0">
                  <a:latin typeface="Arial" panose="020B0604020202020204" pitchFamily="34" charset="0"/>
                  <a:ea typeface="宋体" panose="02010600030101010101" pitchFamily="2" charset="-122"/>
                </a:rPr>
                <a:t>= </a:t>
              </a:r>
              <a:r>
                <a:rPr lang="en-US" altLang="zh-CN" sz="2800" dirty="0">
                  <a:latin typeface="Symbol" panose="05050102010706020507" pitchFamily="18" charset="2"/>
                  <a:ea typeface="宋体" panose="02010600030101010101" pitchFamily="2" charset="-122"/>
                </a:rPr>
                <a:t>S</a:t>
              </a:r>
              <a:r>
                <a:rPr lang="en-US" altLang="zh-CN" baseline="-25000" dirty="0">
                  <a:latin typeface="Arial" panose="020B0604020202020204" pitchFamily="34" charset="0"/>
                  <a:ea typeface="宋体" panose="02010600030101010101" pitchFamily="2" charset="-122"/>
                </a:rPr>
                <a:t> </a:t>
              </a:r>
              <a:r>
                <a:rPr lang="en-US" altLang="zh-CN" dirty="0">
                  <a:latin typeface="Arial" panose="020B0604020202020204" pitchFamily="34" charset="0"/>
                  <a:ea typeface="宋体" panose="02010600030101010101" pitchFamily="2" charset="-122"/>
                </a:rPr>
                <a:t>Z</a:t>
              </a:r>
              <a:r>
                <a:rPr lang="en-US" altLang="zh-CN" baseline="-25000" dirty="0">
                  <a:latin typeface="Arial" panose="020B0604020202020204" pitchFamily="34" charset="0"/>
                  <a:ea typeface="宋体" panose="02010600030101010101" pitchFamily="2" charset="-122"/>
                </a:rPr>
                <a:t>i,m</a:t>
              </a:r>
              <a:r>
                <a:rPr lang="en-US" altLang="zh-CN" sz="2400" baseline="30000"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c</a:t>
              </a:r>
              <a:r>
                <a:rPr lang="en-US" altLang="zh-CN" baseline="-25000" dirty="0">
                  <a:latin typeface="Arial" panose="020B0604020202020204" pitchFamily="34" charset="0"/>
                  <a:ea typeface="宋体" panose="02010600030101010101" pitchFamily="2" charset="-122"/>
                </a:rPr>
                <a:t>m</a:t>
              </a:r>
              <a:endParaRPr lang="en-US" altLang="zh-CN" baseline="-25000" dirty="0">
                <a:latin typeface="Arial" panose="020B0604020202020204" pitchFamily="34" charset="0"/>
                <a:ea typeface="宋体" panose="02010600030101010101" pitchFamily="2" charset="-122"/>
              </a:endParaRPr>
            </a:p>
          </p:txBody>
        </p:sp>
        <p:sp>
          <p:nvSpPr>
            <p:cNvPr id="33050" name="Text Box 289"/>
            <p:cNvSpPr txBox="1"/>
            <p:nvPr/>
          </p:nvSpPr>
          <p:spPr>
            <a:xfrm>
              <a:off x="4498" y="2258"/>
              <a:ext cx="305"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m=1</a:t>
              </a:r>
              <a:endParaRPr lang="en-US" altLang="zh-CN" sz="1200" dirty="0">
                <a:latin typeface="Arial" panose="020B0604020202020204" pitchFamily="34" charset="0"/>
                <a:ea typeface="宋体" panose="02010600030101010101" pitchFamily="2" charset="-122"/>
              </a:endParaRPr>
            </a:p>
          </p:txBody>
        </p:sp>
        <p:sp>
          <p:nvSpPr>
            <p:cNvPr id="33051" name="Text Box 290"/>
            <p:cNvSpPr txBox="1"/>
            <p:nvPr/>
          </p:nvSpPr>
          <p:spPr>
            <a:xfrm>
              <a:off x="4541" y="2007"/>
              <a:ext cx="196" cy="173"/>
            </a:xfrm>
            <a:prstGeom prst="rect">
              <a:avLst/>
            </a:prstGeom>
            <a:noFill/>
            <a:ln w="9525">
              <a:noFill/>
            </a:ln>
          </p:spPr>
          <p:txBody>
            <a:bodyPr wrap="none" anchor="t" anchorCtr="0">
              <a:spAutoFit/>
            </a:bodyPr>
            <a:p>
              <a:pPr eaLnBrk="0" hangingPunct="0">
                <a:buClrTx/>
                <a:buFontTx/>
              </a:pPr>
              <a:r>
                <a:rPr lang="en-US" altLang="zh-CN" sz="1200" dirty="0">
                  <a:latin typeface="Arial" panose="020B0604020202020204" pitchFamily="34" charset="0"/>
                  <a:ea typeface="宋体" panose="02010600030101010101" pitchFamily="2" charset="-122"/>
                </a:rPr>
                <a:t>M</a:t>
              </a:r>
              <a:endParaRPr lang="en-US" altLang="zh-CN" sz="1200" dirty="0">
                <a:latin typeface="Arial" panose="020B0604020202020204" pitchFamily="34" charset="0"/>
                <a:ea typeface="宋体" panose="02010600030101010101" pitchFamily="2" charset="-122"/>
              </a:endParaRPr>
            </a:p>
          </p:txBody>
        </p:sp>
        <p:sp>
          <p:nvSpPr>
            <p:cNvPr id="33052" name="Text Box 291"/>
            <p:cNvSpPr txBox="1"/>
            <p:nvPr/>
          </p:nvSpPr>
          <p:spPr>
            <a:xfrm>
              <a:off x="4718" y="2392"/>
              <a:ext cx="236" cy="231"/>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M</a:t>
              </a:r>
              <a:endParaRPr lang="en-US" altLang="zh-CN" dirty="0">
                <a:latin typeface="Arial" panose="020B0604020202020204" pitchFamily="34" charset="0"/>
                <a:ea typeface="宋体" panose="02010600030101010101" pitchFamily="2" charset="-122"/>
              </a:endParaRPr>
            </a:p>
          </p:txBody>
        </p:sp>
        <p:sp>
          <p:nvSpPr>
            <p:cNvPr id="33053" name="Line 293"/>
            <p:cNvSpPr/>
            <p:nvPr/>
          </p:nvSpPr>
          <p:spPr>
            <a:xfrm>
              <a:off x="4561" y="2410"/>
              <a:ext cx="558" cy="0"/>
            </a:xfrm>
            <a:prstGeom prst="line">
              <a:avLst/>
            </a:prstGeom>
            <a:ln w="19050" cap="flat" cmpd="sng">
              <a:solidFill>
                <a:schemeClr val="tx1"/>
              </a:solidFill>
              <a:prstDash val="solid"/>
              <a:round/>
              <a:headEnd type="none" w="med" len="med"/>
              <a:tailEnd type="none" w="med" len="med"/>
            </a:ln>
          </p:spPr>
        </p:sp>
      </p:grpSp>
      <p:sp>
        <p:nvSpPr>
          <p:cNvPr id="404780" name="Freeform 300"/>
          <p:cNvSpPr/>
          <p:nvPr/>
        </p:nvSpPr>
        <p:spPr>
          <a:xfrm>
            <a:off x="7745413" y="2060575"/>
            <a:ext cx="341312" cy="1376363"/>
          </a:xfrm>
          <a:custGeom>
            <a:avLst/>
            <a:gdLst/>
            <a:ahLst/>
            <a:cxnLst>
              <a:cxn ang="0">
                <a:pos x="0" y="0"/>
              </a:cxn>
              <a:cxn ang="0">
                <a:pos x="541832006" y="0"/>
              </a:cxn>
              <a:cxn ang="0">
                <a:pos x="541832006" y="2147483646"/>
              </a:cxn>
            </a:cxnLst>
            <a:pathLst>
              <a:path w="215" h="819">
                <a:moveTo>
                  <a:pt x="0" y="0"/>
                </a:moveTo>
                <a:lnTo>
                  <a:pt x="215" y="0"/>
                </a:lnTo>
                <a:lnTo>
                  <a:pt x="215" y="819"/>
                </a:lnTo>
              </a:path>
            </a:pathLst>
          </a:custGeom>
          <a:noFill/>
          <a:ln w="19050" cap="flat" cmpd="sng">
            <a:solidFill>
              <a:srgbClr val="FF0000"/>
            </a:solidFill>
            <a:prstDash val="solid"/>
            <a:round/>
            <a:headEnd type="none" w="med" len="med"/>
            <a:tailEnd type="triangle" w="med" len="med"/>
          </a:ln>
        </p:spPr>
        <p:txBody>
          <a:bodyPr/>
          <a:p>
            <a:endParaRPr lang="zh-CN" altLang="en-US"/>
          </a:p>
        </p:txBody>
      </p:sp>
      <p:sp>
        <p:nvSpPr>
          <p:cNvPr id="404782" name="Line 302"/>
          <p:cNvSpPr/>
          <p:nvPr/>
        </p:nvSpPr>
        <p:spPr>
          <a:xfrm flipH="1">
            <a:off x="2522538" y="3436938"/>
            <a:ext cx="5553075" cy="0"/>
          </a:xfrm>
          <a:prstGeom prst="line">
            <a:avLst/>
          </a:prstGeom>
          <a:ln w="19050" cap="flat" cmpd="sng">
            <a:solidFill>
              <a:srgbClr val="FF0000"/>
            </a:solidFill>
            <a:prstDash val="solid"/>
            <a:round/>
            <a:headEnd type="none" w="med" len="med"/>
            <a:tailEnd type="triangle" w="med" len="med"/>
          </a:ln>
        </p:spPr>
      </p:sp>
      <p:sp>
        <p:nvSpPr>
          <p:cNvPr id="404783" name="Freeform 303"/>
          <p:cNvSpPr/>
          <p:nvPr/>
        </p:nvSpPr>
        <p:spPr>
          <a:xfrm>
            <a:off x="2522538" y="3436938"/>
            <a:ext cx="396875" cy="1157287"/>
          </a:xfrm>
          <a:custGeom>
            <a:avLst/>
            <a:gdLst/>
            <a:ahLst/>
            <a:cxnLst>
              <a:cxn ang="0">
                <a:pos x="0" y="0"/>
              </a:cxn>
              <a:cxn ang="0">
                <a:pos x="0" y="1837192319"/>
              </a:cxn>
              <a:cxn ang="0">
                <a:pos x="630039063" y="1837192319"/>
              </a:cxn>
            </a:cxnLst>
            <a:pathLst>
              <a:path w="250" h="729">
                <a:moveTo>
                  <a:pt x="0" y="0"/>
                </a:moveTo>
                <a:lnTo>
                  <a:pt x="0" y="729"/>
                </a:lnTo>
                <a:lnTo>
                  <a:pt x="250" y="729"/>
                </a:lnTo>
              </a:path>
            </a:pathLst>
          </a:custGeom>
          <a:noFill/>
          <a:ln w="19050" cap="flat" cmpd="sng">
            <a:solidFill>
              <a:srgbClr val="FF0000"/>
            </a:solidFill>
            <a:prstDash val="solid"/>
            <a:round/>
            <a:headEnd type="none" w="med" len="med"/>
            <a:tailEnd type="triangl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04629"/>
                                        </p:tgtEl>
                                        <p:attrNameLst>
                                          <p:attrName>style.visibility</p:attrName>
                                        </p:attrNameLst>
                                      </p:cBhvr>
                                      <p:to>
                                        <p:strVal val="visible"/>
                                      </p:to>
                                    </p:set>
                                    <p:animEffect transition="in" filter="wipe(right)">
                                      <p:cBhvr>
                                        <p:cTn id="7" dur="2000"/>
                                        <p:tgtEl>
                                          <p:spTgt spid="404629"/>
                                        </p:tgtEl>
                                      </p:cBhvr>
                                    </p:animEffect>
                                  </p:childTnLst>
                                </p:cTn>
                              </p:par>
                            </p:childTnLst>
                          </p:cTn>
                        </p:par>
                        <p:par>
                          <p:cTn id="8" fill="hold">
                            <p:stCondLst>
                              <p:cond delay="2000"/>
                            </p:stCondLst>
                            <p:childTnLst>
                              <p:par>
                                <p:cTn id="9" presetID="22" presetClass="entr" presetSubtype="2" fill="hold" nodeType="afterEffect">
                                  <p:stCondLst>
                                    <p:cond delay="0"/>
                                  </p:stCondLst>
                                  <p:childTnLst>
                                    <p:set>
                                      <p:cBhvr>
                                        <p:cTn id="10" dur="1" fill="hold">
                                          <p:stCondLst>
                                            <p:cond delay="0"/>
                                          </p:stCondLst>
                                        </p:cTn>
                                        <p:tgtEl>
                                          <p:spTgt spid="404556"/>
                                        </p:tgtEl>
                                        <p:attrNameLst>
                                          <p:attrName>style.visibility</p:attrName>
                                        </p:attrNameLst>
                                      </p:cBhvr>
                                      <p:to>
                                        <p:strVal val="visible"/>
                                      </p:to>
                                    </p:set>
                                    <p:animEffect transition="in" filter="wipe(right)">
                                      <p:cBhvr>
                                        <p:cTn id="11" dur="2000"/>
                                        <p:tgtEl>
                                          <p:spTgt spid="40455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404630"/>
                                        </p:tgtEl>
                                        <p:attrNameLst>
                                          <p:attrName>style.visibility</p:attrName>
                                        </p:attrNameLst>
                                      </p:cBhvr>
                                      <p:to>
                                        <p:strVal val="visible"/>
                                      </p:to>
                                    </p:set>
                                    <p:animEffect transition="in" filter="wipe(right)">
                                      <p:cBhvr>
                                        <p:cTn id="16" dur="2000"/>
                                        <p:tgtEl>
                                          <p:spTgt spid="404630"/>
                                        </p:tgtEl>
                                      </p:cBhvr>
                                    </p:animEffect>
                                  </p:childTnLst>
                                </p:cTn>
                              </p:par>
                            </p:childTnLst>
                          </p:cTn>
                        </p:par>
                        <p:par>
                          <p:cTn id="17" fill="hold">
                            <p:stCondLst>
                              <p:cond delay="2000"/>
                            </p:stCondLst>
                            <p:childTnLst>
                              <p:par>
                                <p:cTn id="18" presetID="22" presetClass="entr" presetSubtype="2" fill="hold" nodeType="afterEffect">
                                  <p:stCondLst>
                                    <p:cond delay="0"/>
                                  </p:stCondLst>
                                  <p:childTnLst>
                                    <p:set>
                                      <p:cBhvr>
                                        <p:cTn id="19" dur="1" fill="hold">
                                          <p:stCondLst>
                                            <p:cond delay="0"/>
                                          </p:stCondLst>
                                        </p:cTn>
                                        <p:tgtEl>
                                          <p:spTgt spid="404616"/>
                                        </p:tgtEl>
                                        <p:attrNameLst>
                                          <p:attrName>style.visibility</p:attrName>
                                        </p:attrNameLst>
                                      </p:cBhvr>
                                      <p:to>
                                        <p:strVal val="visible"/>
                                      </p:to>
                                    </p:set>
                                    <p:animEffect transition="in" filter="wipe(right)">
                                      <p:cBhvr>
                                        <p:cTn id="20" dur="2000"/>
                                        <p:tgtEl>
                                          <p:spTgt spid="4046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04780"/>
                                        </p:tgtEl>
                                        <p:attrNameLst>
                                          <p:attrName>style.visibility</p:attrName>
                                        </p:attrNameLst>
                                      </p:cBhvr>
                                      <p:to>
                                        <p:strVal val="visible"/>
                                      </p:to>
                                    </p:set>
                                    <p:animEffect transition="in" filter="wipe(up)">
                                      <p:cBhvr>
                                        <p:cTn id="25" dur="1000"/>
                                        <p:tgtEl>
                                          <p:spTgt spid="404780"/>
                                        </p:tgtEl>
                                      </p:cBhvr>
                                    </p:animEffect>
                                  </p:childTnLst>
                                </p:cTn>
                              </p:par>
                            </p:childTnLst>
                          </p:cTn>
                        </p:par>
                        <p:par>
                          <p:cTn id="26" fill="hold">
                            <p:stCondLst>
                              <p:cond delay="1000"/>
                            </p:stCondLst>
                            <p:childTnLst>
                              <p:par>
                                <p:cTn id="27" presetID="22" presetClass="entr" presetSubtype="2" fill="hold" nodeType="afterEffect">
                                  <p:stCondLst>
                                    <p:cond delay="0"/>
                                  </p:stCondLst>
                                  <p:childTnLst>
                                    <p:set>
                                      <p:cBhvr>
                                        <p:cTn id="28" dur="1" fill="hold">
                                          <p:stCondLst>
                                            <p:cond delay="0"/>
                                          </p:stCondLst>
                                        </p:cTn>
                                        <p:tgtEl>
                                          <p:spTgt spid="404782"/>
                                        </p:tgtEl>
                                        <p:attrNameLst>
                                          <p:attrName>style.visibility</p:attrName>
                                        </p:attrNameLst>
                                      </p:cBhvr>
                                      <p:to>
                                        <p:strVal val="visible"/>
                                      </p:to>
                                    </p:set>
                                    <p:animEffect transition="in" filter="wipe(right)">
                                      <p:cBhvr>
                                        <p:cTn id="29" dur="1000"/>
                                        <p:tgtEl>
                                          <p:spTgt spid="404782"/>
                                        </p:tgtEl>
                                      </p:cBhvr>
                                    </p:animEffect>
                                  </p:childTnLst>
                                </p:cTn>
                              </p:par>
                            </p:childTnLst>
                          </p:cTn>
                        </p:par>
                        <p:par>
                          <p:cTn id="30" fill="hold">
                            <p:stCondLst>
                              <p:cond delay="2000"/>
                            </p:stCondLst>
                            <p:childTnLst>
                              <p:par>
                                <p:cTn id="31" presetID="22" presetClass="entr" presetSubtype="1" fill="hold" nodeType="afterEffect">
                                  <p:stCondLst>
                                    <p:cond delay="0"/>
                                  </p:stCondLst>
                                  <p:childTnLst>
                                    <p:set>
                                      <p:cBhvr>
                                        <p:cTn id="32" dur="1" fill="hold">
                                          <p:stCondLst>
                                            <p:cond delay="0"/>
                                          </p:stCondLst>
                                        </p:cTn>
                                        <p:tgtEl>
                                          <p:spTgt spid="404783"/>
                                        </p:tgtEl>
                                        <p:attrNameLst>
                                          <p:attrName>style.visibility</p:attrName>
                                        </p:attrNameLst>
                                      </p:cBhvr>
                                      <p:to>
                                        <p:strVal val="visible"/>
                                      </p:to>
                                    </p:set>
                                    <p:animEffect transition="in" filter="wipe(up)">
                                      <p:cBhvr>
                                        <p:cTn id="33" dur="1000"/>
                                        <p:tgtEl>
                                          <p:spTgt spid="40478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404775"/>
                                        </p:tgtEl>
                                        <p:attrNameLst>
                                          <p:attrName>style.visibility</p:attrName>
                                        </p:attrNameLst>
                                      </p:cBhvr>
                                      <p:to>
                                        <p:strVal val="visible"/>
                                      </p:to>
                                    </p:set>
                                    <p:animEffect transition="in" filter="wipe(right)">
                                      <p:cBhvr>
                                        <p:cTn id="38" dur="2000"/>
                                        <p:tgtEl>
                                          <p:spTgt spid="404775"/>
                                        </p:tgtEl>
                                      </p:cBhvr>
                                    </p:animEffect>
                                  </p:childTnLst>
                                </p:cTn>
                              </p:par>
                            </p:childTnLst>
                          </p:cTn>
                        </p:par>
                        <p:par>
                          <p:cTn id="39" fill="hold">
                            <p:stCondLst>
                              <p:cond delay="2000"/>
                            </p:stCondLst>
                            <p:childTnLst>
                              <p:par>
                                <p:cTn id="40" presetID="22" presetClass="entr" presetSubtype="2" fill="hold" nodeType="afterEffect">
                                  <p:stCondLst>
                                    <p:cond delay="0"/>
                                  </p:stCondLst>
                                  <p:childTnLst>
                                    <p:set>
                                      <p:cBhvr>
                                        <p:cTn id="41" dur="1" fill="hold">
                                          <p:stCondLst>
                                            <p:cond delay="0"/>
                                          </p:stCondLst>
                                        </p:cTn>
                                        <p:tgtEl>
                                          <p:spTgt spid="404776"/>
                                        </p:tgtEl>
                                        <p:attrNameLst>
                                          <p:attrName>style.visibility</p:attrName>
                                        </p:attrNameLst>
                                      </p:cBhvr>
                                      <p:to>
                                        <p:strVal val="visible"/>
                                      </p:to>
                                    </p:set>
                                    <p:animEffect transition="in" filter="wipe(right)">
                                      <p:cBhvr>
                                        <p:cTn id="42" dur="2000"/>
                                        <p:tgtEl>
                                          <p:spTgt spid="4047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404777"/>
                                        </p:tgtEl>
                                        <p:attrNameLst>
                                          <p:attrName>style.visibility</p:attrName>
                                        </p:attrNameLst>
                                      </p:cBhvr>
                                      <p:to>
                                        <p:strVal val="visible"/>
                                      </p:to>
                                    </p:set>
                                    <p:animEffect transition="in" filter="wipe(right)">
                                      <p:cBhvr>
                                        <p:cTn id="47" dur="2000"/>
                                        <p:tgtEl>
                                          <p:spTgt spid="404777"/>
                                        </p:tgtEl>
                                      </p:cBhvr>
                                    </p:animEffect>
                                  </p:childTnLst>
                                </p:cTn>
                              </p:par>
                            </p:childTnLst>
                          </p:cTn>
                        </p:par>
                        <p:par>
                          <p:cTn id="48" fill="hold">
                            <p:stCondLst>
                              <p:cond delay="2000"/>
                            </p:stCondLst>
                            <p:childTnLst>
                              <p:par>
                                <p:cTn id="49" presetID="22" presetClass="entr" presetSubtype="2" fill="hold" nodeType="afterEffect">
                                  <p:stCondLst>
                                    <p:cond delay="0"/>
                                  </p:stCondLst>
                                  <p:childTnLst>
                                    <p:set>
                                      <p:cBhvr>
                                        <p:cTn id="50" dur="1" fill="hold">
                                          <p:stCondLst>
                                            <p:cond delay="0"/>
                                          </p:stCondLst>
                                        </p:cTn>
                                        <p:tgtEl>
                                          <p:spTgt spid="404778"/>
                                        </p:tgtEl>
                                        <p:attrNameLst>
                                          <p:attrName>style.visibility</p:attrName>
                                        </p:attrNameLst>
                                      </p:cBhvr>
                                      <p:to>
                                        <p:strVal val="visible"/>
                                      </p:to>
                                    </p:set>
                                    <p:animEffect transition="in" filter="wipe(right)">
                                      <p:cBhvr>
                                        <p:cTn id="51" dur="2000"/>
                                        <p:tgtEl>
                                          <p:spTgt spid="40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页脚占位符 3"/>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34818"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4819" name="Rectangle 2"/>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CDMA: two-sender interference</a:t>
            </a:r>
            <a:endParaRPr lang="en-US" altLang="zh-CN" dirty="0">
              <a:ea typeface="宋体" panose="02010600030101010101" pitchFamily="2" charset="-122"/>
            </a:endParaRPr>
          </a:p>
        </p:txBody>
      </p:sp>
      <p:pic>
        <p:nvPicPr>
          <p:cNvPr id="34820" name="Picture 3"/>
          <p:cNvPicPr>
            <a:picLocks noChangeAspect="1"/>
          </p:cNvPicPr>
          <p:nvPr/>
        </p:nvPicPr>
        <p:blipFill>
          <a:blip r:embed="rId1"/>
          <a:stretch>
            <a:fillRect/>
          </a:stretch>
        </p:blipFill>
        <p:spPr>
          <a:xfrm>
            <a:off x="1441450" y="1181100"/>
            <a:ext cx="5026025" cy="5322888"/>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3686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686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outline</a:t>
            </a:r>
            <a:endParaRPr lang="en-US" altLang="zh-CN" dirty="0">
              <a:ea typeface="宋体" panose="02010600030101010101" pitchFamily="2" charset="-122"/>
            </a:endParaRPr>
          </a:p>
        </p:txBody>
      </p:sp>
      <p:sp>
        <p:nvSpPr>
          <p:cNvPr id="36868"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6.1</a:t>
            </a:r>
            <a:r>
              <a:rPr lang="en-US" altLang="zh-CN" sz="2400" dirty="0">
                <a:ea typeface="宋体" panose="02010600030101010101" pitchFamily="2" charset="-122"/>
              </a:rPr>
              <a:t> Introduction</a:t>
            </a:r>
            <a:r>
              <a:rPr lang="en-US" altLang="zh-CN" sz="2400" dirty="0">
                <a:solidFill>
                  <a:srgbClr val="FF0000"/>
                </a:solidFill>
                <a:ea typeface="宋体" panose="02010600030101010101" pitchFamily="2" charset="-122"/>
              </a:rPr>
              <a:t> </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buNone/>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Wireless</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6.2 </a:t>
            </a:r>
            <a:r>
              <a:rPr lang="en-US" altLang="zh-CN" sz="2400" dirty="0">
                <a:ea typeface="宋体" panose="02010600030101010101" pitchFamily="2" charset="-122"/>
              </a:rPr>
              <a:t>Wireless links, characteristics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FF0000"/>
                </a:solidFill>
                <a:ea typeface="宋体" panose="02010600030101010101" pitchFamily="2" charset="-122"/>
              </a:rPr>
              <a:t>6.3 IEEE 802.11 wireless LANs (“wi-fi”)</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6.4</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cellular Internet access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a:t>
            </a:r>
            <a:endParaRPr lang="en-US" altLang="zh-CN" sz="2000" dirty="0">
              <a:ea typeface="宋体" panose="02010600030101010101" pitchFamily="2" charset="-122"/>
            </a:endParaRPr>
          </a:p>
        </p:txBody>
      </p:sp>
      <p:sp>
        <p:nvSpPr>
          <p:cNvPr id="36869" name="Rectangle 4"/>
          <p:cNvSpPr>
            <a:spLocks noGrp="1"/>
          </p:cNvSpPr>
          <p:nvPr>
            <p:ph sz="half" idx="2"/>
          </p:nvPr>
        </p:nvSpPr>
        <p:spPr>
          <a:xfrm>
            <a:off x="4495800" y="1600200"/>
            <a:ext cx="4054475"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Mobility</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6.5</a:t>
            </a:r>
            <a:r>
              <a:rPr lang="en-US" altLang="zh-CN" sz="2400" dirty="0">
                <a:ea typeface="宋体" panose="02010600030101010101" pitchFamily="2" charset="-122"/>
              </a:rPr>
              <a:t> Principles: addressing and routing to mobile users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6.6</a:t>
            </a:r>
            <a:r>
              <a:rPr lang="en-US" altLang="zh-CN" sz="2400" dirty="0">
                <a:ea typeface="宋体" panose="02010600030101010101" pitchFamily="2" charset="-122"/>
              </a:rPr>
              <a:t> Mobile IP</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6.7</a:t>
            </a:r>
            <a:r>
              <a:rPr lang="en-US" altLang="zh-CN" sz="2400" dirty="0">
                <a:ea typeface="宋体" panose="02010600030101010101" pitchFamily="2" charset="-122"/>
              </a:rPr>
              <a:t> Handling mobility in cellular networks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6.8</a:t>
            </a:r>
            <a:r>
              <a:rPr lang="en-US" altLang="zh-CN" sz="2400" dirty="0">
                <a:ea typeface="宋体" panose="02010600030101010101" pitchFamily="2" charset="-122"/>
              </a:rPr>
              <a:t> Mobility and higher-layer protocols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6.9</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Summary</a:t>
            </a:r>
            <a:endParaRPr lang="en-US" altLang="zh-CN" sz="2400"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3891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3891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IEEE 802.11 Wireless LAN</a:t>
            </a:r>
            <a:endParaRPr lang="en-US" altLang="zh-CN" dirty="0">
              <a:ea typeface="宋体" panose="02010600030101010101" pitchFamily="2" charset="-122"/>
            </a:endParaRPr>
          </a:p>
        </p:txBody>
      </p:sp>
      <p:sp>
        <p:nvSpPr>
          <p:cNvPr id="38916" name="Rectangle 3"/>
          <p:cNvSpPr>
            <a:spLocks noGrp="1"/>
          </p:cNvSpPr>
          <p:nvPr>
            <p:ph sz="half" idx="1"/>
          </p:nvPr>
        </p:nvSpPr>
        <p:spPr>
          <a:xfrm>
            <a:off x="263525" y="1489075"/>
            <a:ext cx="4665663" cy="3300413"/>
          </a:xfrm>
          <a:ln/>
        </p:spPr>
        <p:txBody>
          <a:bodyPr vert="horz" wrap="square" lIns="91440" tIns="45720" rIns="91440" bIns="45720" anchor="t" anchorCtr="0"/>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802.11b</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2.4-5 GHz unlicensed spectrum</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up to 11 Mbps</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direct sequence spread spectrum (DSSS) in physical layer</a:t>
            </a:r>
            <a:endParaRPr lang="en-US" altLang="zh-CN" sz="2000" dirty="0">
              <a:ea typeface="宋体" panose="02010600030101010101" pitchFamily="2" charset="-122"/>
            </a:endParaRPr>
          </a:p>
          <a:p>
            <a:pPr lvl="2">
              <a:buClrTx/>
              <a:buSzTx/>
              <a:buFontTx/>
            </a:pPr>
            <a:r>
              <a:rPr lang="en-US" altLang="zh-CN" dirty="0">
                <a:ea typeface="宋体" panose="02010600030101010101" pitchFamily="2" charset="-122"/>
              </a:rPr>
              <a:t>all hosts use same chipping code</a:t>
            </a:r>
            <a:endParaRPr lang="en-US" altLang="zh-CN" sz="1800" dirty="0">
              <a:ea typeface="宋体" panose="02010600030101010101" pitchFamily="2" charset="-122"/>
            </a:endParaRPr>
          </a:p>
        </p:txBody>
      </p:sp>
      <p:sp>
        <p:nvSpPr>
          <p:cNvPr id="38917" name="Rectangle 4"/>
          <p:cNvSpPr>
            <a:spLocks noGrp="1"/>
          </p:cNvSpPr>
          <p:nvPr>
            <p:ph sz="half" idx="2"/>
          </p:nvPr>
        </p:nvSpPr>
        <p:spPr>
          <a:xfrm>
            <a:off x="4929188" y="1398588"/>
            <a:ext cx="4044950" cy="4733925"/>
          </a:xfrm>
          <a:ln/>
        </p:spPr>
        <p:txBody>
          <a:bodyPr vert="horz" wrap="square" lIns="91440" tIns="45720" rIns="91440" bIns="45720" anchor="t" anchorCtr="0"/>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802.11a</a:t>
            </a:r>
            <a:r>
              <a:rPr lang="en-US" altLang="zh-CN" sz="2400" dirty="0">
                <a:ea typeface="宋体" panose="02010600030101010101" pitchFamily="2" charset="-122"/>
              </a:rPr>
              <a:t> </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5-6 GHz range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up to 54 Mbps</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802.11g</a:t>
            </a:r>
            <a:r>
              <a:rPr lang="en-US" altLang="zh-CN" sz="2400" dirty="0">
                <a:ea typeface="宋体" panose="02010600030101010101" pitchFamily="2" charset="-122"/>
              </a:rPr>
              <a:t> </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2.4-5 GHz range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up to 54 Mbps</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solidFill>
                  <a:srgbClr val="FF3300"/>
                </a:solidFill>
                <a:ea typeface="宋体" panose="02010600030101010101" pitchFamily="2" charset="-122"/>
              </a:rPr>
              <a:t>802.11n: </a:t>
            </a:r>
            <a:r>
              <a:rPr lang="en-US" altLang="zh-CN" sz="2000" dirty="0">
                <a:ea typeface="宋体" panose="02010600030101010101" pitchFamily="2" charset="-122"/>
              </a:rPr>
              <a:t>multiple antennae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2.4-5 GHz range</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up to 200 Mbps</a:t>
            </a:r>
            <a:endParaRPr lang="en-US" altLang="zh-CN" sz="2000" dirty="0">
              <a:ea typeface="宋体" panose="02010600030101010101" pitchFamily="2" charset="-122"/>
            </a:endParaRPr>
          </a:p>
        </p:txBody>
      </p:sp>
      <p:sp>
        <p:nvSpPr>
          <p:cNvPr id="38918" name="Rectangle 5"/>
          <p:cNvSpPr/>
          <p:nvPr/>
        </p:nvSpPr>
        <p:spPr>
          <a:xfrm>
            <a:off x="1530350" y="5456238"/>
            <a:ext cx="6635750" cy="1052512"/>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all use CSMA/CA for multiple access</a:t>
            </a:r>
            <a:endParaRPr lang="en-US" altLang="zh-CN" sz="200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all have base-station and ad-hoc network versions</a:t>
            </a:r>
            <a:endParaRPr lang="en-US" altLang="zh-CN" sz="2000" dirty="0">
              <a:latin typeface="Comic Sans MS" panose="030F0702030302020204" pitchFamily="66" charset="0"/>
              <a:ea typeface="宋体" panose="02010600030101010101" pitchFamily="2" charset="-122"/>
            </a:endParaRPr>
          </a:p>
        </p:txBody>
      </p:sp>
      <p:sp>
        <p:nvSpPr>
          <p:cNvPr id="38919" name="Line 6"/>
          <p:cNvSpPr/>
          <p:nvPr/>
        </p:nvSpPr>
        <p:spPr>
          <a:xfrm>
            <a:off x="1712913" y="5180013"/>
            <a:ext cx="5264150" cy="0"/>
          </a:xfrm>
          <a:prstGeom prst="line">
            <a:avLst/>
          </a:prstGeom>
          <a:ln w="9525" cap="flat" cmpd="sng">
            <a:solidFill>
              <a:schemeClr val="accent2"/>
            </a:solidFill>
            <a:prstDash val="solid"/>
            <a:round/>
            <a:headEnd type="none" w="med" len="med"/>
            <a:tailEnd type="none" w="med" len="me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09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0963" name="Rectangle 2"/>
          <p:cNvSpPr>
            <a:spLocks noGrp="1"/>
          </p:cNvSpPr>
          <p:nvPr>
            <p:ph type="title"/>
          </p:nvPr>
        </p:nvSpPr>
        <p:spPr>
          <a:xfrm>
            <a:off x="523875" y="198438"/>
            <a:ext cx="7772400" cy="1143000"/>
          </a:xfrm>
          <a:ln/>
        </p:spPr>
        <p:txBody>
          <a:bodyPr vert="horz" wrap="square" lIns="91440" tIns="45720" rIns="91440" bIns="45720" anchor="ctr" anchorCtr="0"/>
          <a:p>
            <a:r>
              <a:rPr lang="en-US" altLang="zh-CN" dirty="0">
                <a:ea typeface="宋体" panose="02010600030101010101" pitchFamily="2" charset="-122"/>
              </a:rPr>
              <a:t>802.11 LAN architecture</a:t>
            </a:r>
            <a:endParaRPr lang="en-US" altLang="zh-CN" dirty="0">
              <a:ea typeface="宋体" panose="02010600030101010101" pitchFamily="2" charset="-122"/>
            </a:endParaRPr>
          </a:p>
        </p:txBody>
      </p:sp>
      <p:sp>
        <p:nvSpPr>
          <p:cNvPr id="40964" name="Rectangle 4"/>
          <p:cNvSpPr/>
          <p:nvPr/>
        </p:nvSpPr>
        <p:spPr>
          <a:xfrm>
            <a:off x="5005388" y="1603375"/>
            <a:ext cx="3883025" cy="4340225"/>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000" dirty="0">
                <a:latin typeface="Comic Sans MS" panose="030F0702030302020204" pitchFamily="66" charset="0"/>
                <a:ea typeface="宋体" panose="02010600030101010101" pitchFamily="2" charset="-122"/>
              </a:rPr>
              <a:t>wireless host communicates with base station</a:t>
            </a:r>
            <a:endParaRPr lang="en-US" altLang="zh-CN" sz="2000" dirty="0">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rgbClr val="FF0000"/>
                </a:solidFill>
                <a:latin typeface="Comic Sans MS" panose="030F0702030302020204" pitchFamily="66" charset="0"/>
                <a:ea typeface="宋体" panose="02010600030101010101" pitchFamily="2" charset="-122"/>
              </a:rPr>
              <a:t>base station = access point (AP)</a:t>
            </a:r>
            <a:endParaRPr lang="en-US" altLang="zh-CN" sz="2000" dirty="0">
              <a:solidFill>
                <a:srgbClr val="FF0000"/>
              </a:solidFill>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000" dirty="0">
                <a:solidFill>
                  <a:srgbClr val="FF0000"/>
                </a:solidFill>
                <a:latin typeface="Comic Sans MS" panose="030F0702030302020204" pitchFamily="66" charset="0"/>
                <a:ea typeface="宋体" panose="02010600030101010101" pitchFamily="2" charset="-122"/>
              </a:rPr>
              <a:t>Basic Service Set (BSS)</a:t>
            </a:r>
            <a:r>
              <a:rPr lang="en-US" altLang="zh-CN" sz="2000" dirty="0">
                <a:latin typeface="Comic Sans MS" panose="030F0702030302020204" pitchFamily="66" charset="0"/>
                <a:ea typeface="宋体" panose="02010600030101010101" pitchFamily="2" charset="-122"/>
              </a:rPr>
              <a:t> (aka “cell”) in infrastructure mode contains:</a:t>
            </a:r>
            <a:endParaRPr lang="en-US" altLang="zh-CN" sz="2000" dirty="0">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wireless hosts</a:t>
            </a:r>
            <a:endParaRPr lang="en-US" altLang="zh-CN" sz="2000" dirty="0">
              <a:solidFill>
                <a:schemeClr val="tx1"/>
              </a:solidFill>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access point (AP): base station</a:t>
            </a:r>
            <a:endParaRPr lang="en-US" altLang="zh-CN" sz="2000" dirty="0">
              <a:solidFill>
                <a:schemeClr val="tx1"/>
              </a:solidFill>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ad hoc mode: hosts only</a:t>
            </a:r>
            <a:endParaRPr lang="en-US" altLang="zh-CN" sz="1800" dirty="0">
              <a:solidFill>
                <a:schemeClr val="tx1"/>
              </a:solidFill>
              <a:latin typeface="Comic Sans MS" panose="030F0702030302020204" pitchFamily="66" charset="0"/>
              <a:ea typeface="宋体" panose="02010600030101010101" pitchFamily="2" charset="-122"/>
            </a:endParaRPr>
          </a:p>
        </p:txBody>
      </p:sp>
      <p:sp>
        <p:nvSpPr>
          <p:cNvPr id="40965" name="Oval 5"/>
          <p:cNvSpPr/>
          <p:nvPr/>
        </p:nvSpPr>
        <p:spPr>
          <a:xfrm>
            <a:off x="2374900" y="4230688"/>
            <a:ext cx="2055813" cy="1946275"/>
          </a:xfrm>
          <a:prstGeom prst="ellipse">
            <a:avLst/>
          </a:prstGeom>
          <a:solidFill>
            <a:srgbClr val="00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0966" name="Oval 6"/>
          <p:cNvSpPr/>
          <p:nvPr/>
        </p:nvSpPr>
        <p:spPr>
          <a:xfrm>
            <a:off x="333375" y="2492375"/>
            <a:ext cx="2055813" cy="1946275"/>
          </a:xfrm>
          <a:prstGeom prst="ellipse">
            <a:avLst/>
          </a:prstGeom>
          <a:solidFill>
            <a:srgbClr val="00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40967" name="Group 7"/>
          <p:cNvGrpSpPr/>
          <p:nvPr/>
        </p:nvGrpSpPr>
        <p:grpSpPr>
          <a:xfrm>
            <a:off x="3013075" y="3606800"/>
            <a:ext cx="417513" cy="192088"/>
            <a:chOff x="3600" y="219"/>
            <a:chExt cx="360" cy="175"/>
          </a:xfrm>
        </p:grpSpPr>
        <p:sp>
          <p:nvSpPr>
            <p:cNvPr id="40968" name="Oval 8"/>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0969" name="Line 9"/>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40970" name="Line 10"/>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40971" name="Rectangle 11"/>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40972" name="Oval 12"/>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40973" name="Group 13"/>
            <p:cNvGrpSpPr/>
            <p:nvPr/>
          </p:nvGrpSpPr>
          <p:grpSpPr>
            <a:xfrm>
              <a:off x="3686" y="244"/>
              <a:ext cx="177" cy="66"/>
              <a:chOff x="2848" y="848"/>
              <a:chExt cx="140" cy="98"/>
            </a:xfrm>
          </p:grpSpPr>
          <p:sp>
            <p:nvSpPr>
              <p:cNvPr id="40974" name="Line 1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40975" name="Line 1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40976" name="Line 1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40977" name="Group 17"/>
            <p:cNvGrpSpPr/>
            <p:nvPr/>
          </p:nvGrpSpPr>
          <p:grpSpPr>
            <a:xfrm flipV="1">
              <a:off x="3686" y="243"/>
              <a:ext cx="177" cy="66"/>
              <a:chOff x="2848" y="848"/>
              <a:chExt cx="140" cy="98"/>
            </a:xfrm>
          </p:grpSpPr>
          <p:sp>
            <p:nvSpPr>
              <p:cNvPr id="40978" name="Line 1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40979" name="Line 1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40980" name="Line 2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40981" name="Group 21"/>
          <p:cNvGrpSpPr/>
          <p:nvPr/>
        </p:nvGrpSpPr>
        <p:grpSpPr>
          <a:xfrm>
            <a:off x="895350" y="3576638"/>
            <a:ext cx="415925" cy="509587"/>
            <a:chOff x="2870" y="1518"/>
            <a:chExt cx="292" cy="320"/>
          </a:xfrm>
        </p:grpSpPr>
        <p:graphicFrame>
          <p:nvGraphicFramePr>
            <p:cNvPr id="40982" name="Object 2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1" name="" r:id="rId1" imgW="826770" imgH="840105" progId="MS_ClipArt_Gallery.2">
                    <p:embed/>
                  </p:oleObj>
                </mc:Choice>
                <mc:Fallback>
                  <p:oleObj name="" r:id="rId1" imgW="826770" imgH="840105" progId="MS_ClipArt_Gallery.2">
                    <p:embed/>
                    <p:pic>
                      <p:nvPicPr>
                        <p:cNvPr id="0" name="图片 3090"/>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0983" name="Object 2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0" name="" r:id="rId3" imgW="1268095" imgH="1199515" progId="MS_ClipArt_Gallery.2">
                    <p:embed/>
                  </p:oleObj>
                </mc:Choice>
                <mc:Fallback>
                  <p:oleObj name="" r:id="rId3" imgW="1268095" imgH="1199515" progId="MS_ClipArt_Gallery.2">
                    <p:embed/>
                    <p:pic>
                      <p:nvPicPr>
                        <p:cNvPr id="0" name="图片 308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40984" name="Text Box 24"/>
          <p:cNvSpPr txBox="1"/>
          <p:nvPr/>
        </p:nvSpPr>
        <p:spPr>
          <a:xfrm>
            <a:off x="917575" y="4408488"/>
            <a:ext cx="819150" cy="366712"/>
          </a:xfrm>
          <a:prstGeom prst="rect">
            <a:avLst/>
          </a:prstGeom>
          <a:noFill/>
          <a:ln w="9525">
            <a:noFill/>
          </a:ln>
        </p:spPr>
        <p:txBody>
          <a:bodyPr anchor="t" anchorCtr="0">
            <a:spAutoFit/>
          </a:bodyPr>
          <a:p>
            <a:pPr>
              <a:buClrTx/>
              <a:buFontTx/>
            </a:pPr>
            <a:r>
              <a:rPr lang="en-US" altLang="zh-CN" dirty="0">
                <a:latin typeface="Comic Sans MS" panose="030F0702030302020204" pitchFamily="66" charset="0"/>
                <a:ea typeface="宋体" panose="02010600030101010101" pitchFamily="2" charset="-122"/>
              </a:rPr>
              <a:t>BSS 1</a:t>
            </a:r>
            <a:endParaRPr lang="en-US" altLang="zh-CN" dirty="0">
              <a:latin typeface="Comic Sans MS" panose="030F0702030302020204" pitchFamily="66" charset="0"/>
              <a:ea typeface="宋体" panose="02010600030101010101" pitchFamily="2" charset="-122"/>
            </a:endParaRPr>
          </a:p>
        </p:txBody>
      </p:sp>
      <p:sp>
        <p:nvSpPr>
          <p:cNvPr id="40985" name="Line 25"/>
          <p:cNvSpPr/>
          <p:nvPr/>
        </p:nvSpPr>
        <p:spPr>
          <a:xfrm>
            <a:off x="3203575" y="3794125"/>
            <a:ext cx="192088" cy="812800"/>
          </a:xfrm>
          <a:prstGeom prst="line">
            <a:avLst/>
          </a:prstGeom>
          <a:ln w="9525" cap="flat" cmpd="sng">
            <a:solidFill>
              <a:schemeClr val="tx1"/>
            </a:solidFill>
            <a:prstDash val="solid"/>
            <a:round/>
            <a:headEnd type="none" w="med" len="med"/>
            <a:tailEnd type="none" w="med" len="med"/>
          </a:ln>
        </p:spPr>
      </p:sp>
      <p:sp>
        <p:nvSpPr>
          <p:cNvPr id="40986" name="Line 26"/>
          <p:cNvSpPr/>
          <p:nvPr/>
        </p:nvSpPr>
        <p:spPr>
          <a:xfrm>
            <a:off x="1990725" y="3732213"/>
            <a:ext cx="1022350" cy="0"/>
          </a:xfrm>
          <a:prstGeom prst="line">
            <a:avLst/>
          </a:prstGeom>
          <a:ln w="9525" cap="flat" cmpd="sng">
            <a:solidFill>
              <a:schemeClr val="tx1"/>
            </a:solidFill>
            <a:prstDash val="solid"/>
            <a:round/>
            <a:headEnd type="none" w="med" len="med"/>
            <a:tailEnd type="none" w="med" len="med"/>
          </a:ln>
        </p:spPr>
      </p:sp>
      <p:sp>
        <p:nvSpPr>
          <p:cNvPr id="40987" name="Text Box 27"/>
          <p:cNvSpPr txBox="1"/>
          <p:nvPr/>
        </p:nvSpPr>
        <p:spPr>
          <a:xfrm>
            <a:off x="3119438" y="6188075"/>
            <a:ext cx="854075" cy="366713"/>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BSS 2</a:t>
            </a:r>
            <a:endParaRPr lang="en-US" altLang="zh-CN" dirty="0">
              <a:latin typeface="Comic Sans MS" panose="030F0702030302020204" pitchFamily="66" charset="0"/>
              <a:ea typeface="宋体" panose="02010600030101010101" pitchFamily="2" charset="-122"/>
            </a:endParaRPr>
          </a:p>
        </p:txBody>
      </p:sp>
      <p:sp>
        <p:nvSpPr>
          <p:cNvPr id="40988" name="Line 28"/>
          <p:cNvSpPr/>
          <p:nvPr/>
        </p:nvSpPr>
        <p:spPr>
          <a:xfrm flipV="1">
            <a:off x="3176588" y="2684463"/>
            <a:ext cx="214312" cy="908050"/>
          </a:xfrm>
          <a:prstGeom prst="line">
            <a:avLst/>
          </a:prstGeom>
          <a:ln w="9525" cap="flat" cmpd="sng">
            <a:solidFill>
              <a:schemeClr val="tx1"/>
            </a:solidFill>
            <a:prstDash val="solid"/>
            <a:round/>
            <a:headEnd type="none" w="med" len="med"/>
            <a:tailEnd type="none" w="med" len="med"/>
          </a:ln>
        </p:spPr>
      </p:sp>
      <p:grpSp>
        <p:nvGrpSpPr>
          <p:cNvPr id="40989" name="Group 29"/>
          <p:cNvGrpSpPr/>
          <p:nvPr/>
        </p:nvGrpSpPr>
        <p:grpSpPr>
          <a:xfrm>
            <a:off x="2447925" y="1503363"/>
            <a:ext cx="1978025" cy="1444625"/>
            <a:chOff x="3744" y="1392"/>
            <a:chExt cx="1488" cy="1110"/>
          </a:xfrm>
        </p:grpSpPr>
        <p:sp>
          <p:nvSpPr>
            <p:cNvPr id="40990" name="Freeform 30"/>
            <p:cNvSpPr/>
            <p:nvPr/>
          </p:nvSpPr>
          <p:spPr>
            <a:xfrm>
              <a:off x="3744" y="1392"/>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40991" name="Text Box 31"/>
            <p:cNvSpPr txBox="1"/>
            <p:nvPr/>
          </p:nvSpPr>
          <p:spPr>
            <a:xfrm>
              <a:off x="4129" y="1776"/>
              <a:ext cx="845" cy="282"/>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Internet</a:t>
              </a:r>
              <a:endParaRPr lang="en-US" altLang="zh-CN" dirty="0">
                <a:latin typeface="Comic Sans MS" panose="030F0702030302020204" pitchFamily="66" charset="0"/>
                <a:ea typeface="宋体" panose="02010600030101010101" pitchFamily="2" charset="-122"/>
              </a:endParaRPr>
            </a:p>
          </p:txBody>
        </p:sp>
      </p:grpSp>
      <p:sp>
        <p:nvSpPr>
          <p:cNvPr id="40992" name="Text Box 32"/>
          <p:cNvSpPr txBox="1"/>
          <p:nvPr/>
        </p:nvSpPr>
        <p:spPr>
          <a:xfrm>
            <a:off x="3348038" y="3408363"/>
            <a:ext cx="1390650" cy="641350"/>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hub, switch</a:t>
            </a:r>
            <a:endParaRPr lang="en-US" altLang="zh-CN" dirty="0">
              <a:latin typeface="Comic Sans MS" panose="030F0702030302020204" pitchFamily="66" charset="0"/>
              <a:ea typeface="宋体" panose="02010600030101010101" pitchFamily="2" charset="-122"/>
            </a:endParaRPr>
          </a:p>
          <a:p>
            <a:pPr>
              <a:buClrTx/>
              <a:buFontTx/>
            </a:pPr>
            <a:r>
              <a:rPr lang="en-US" altLang="zh-CN" dirty="0">
                <a:latin typeface="Comic Sans MS" panose="030F0702030302020204" pitchFamily="66" charset="0"/>
                <a:ea typeface="宋体" panose="02010600030101010101" pitchFamily="2" charset="-122"/>
              </a:rPr>
              <a:t>or router</a:t>
            </a:r>
            <a:endParaRPr lang="en-US" altLang="zh-CN" dirty="0">
              <a:latin typeface="Comic Sans MS" panose="030F0702030302020204" pitchFamily="66" charset="0"/>
              <a:ea typeface="宋体" panose="02010600030101010101" pitchFamily="2" charset="-122"/>
            </a:endParaRPr>
          </a:p>
        </p:txBody>
      </p:sp>
      <p:grpSp>
        <p:nvGrpSpPr>
          <p:cNvPr id="40993" name="Group 33"/>
          <p:cNvGrpSpPr/>
          <p:nvPr/>
        </p:nvGrpSpPr>
        <p:grpSpPr>
          <a:xfrm>
            <a:off x="1524000" y="3263900"/>
            <a:ext cx="782638" cy="917575"/>
            <a:chOff x="1952" y="1032"/>
            <a:chExt cx="589" cy="706"/>
          </a:xfrm>
        </p:grpSpPr>
        <p:sp>
          <p:nvSpPr>
            <p:cNvPr id="40994" name="Text Box 34"/>
            <p:cNvSpPr txBox="1"/>
            <p:nvPr/>
          </p:nvSpPr>
          <p:spPr>
            <a:xfrm>
              <a:off x="2080" y="1456"/>
              <a:ext cx="353" cy="282"/>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AP</a:t>
              </a:r>
              <a:endParaRPr lang="en-US" altLang="zh-CN" dirty="0">
                <a:latin typeface="Comic Sans MS" panose="030F0702030302020204" pitchFamily="66" charset="0"/>
                <a:ea typeface="宋体" panose="02010600030101010101" pitchFamily="2" charset="-122"/>
              </a:endParaRPr>
            </a:p>
          </p:txBody>
        </p:sp>
        <p:grpSp>
          <p:nvGrpSpPr>
            <p:cNvPr id="40995" name="Group 35"/>
            <p:cNvGrpSpPr/>
            <p:nvPr/>
          </p:nvGrpSpPr>
          <p:grpSpPr>
            <a:xfrm>
              <a:off x="1952" y="1032"/>
              <a:ext cx="589" cy="440"/>
              <a:chOff x="1160" y="2192"/>
              <a:chExt cx="589" cy="440"/>
            </a:xfrm>
          </p:grpSpPr>
          <p:pic>
            <p:nvPicPr>
              <p:cNvPr id="40996" name="Picture 36"/>
              <p:cNvPicPr>
                <a:picLocks noChangeAspect="1"/>
              </p:cNvPicPr>
              <p:nvPr/>
            </p:nvPicPr>
            <p:blipFill>
              <a:blip r:embed="rId5"/>
              <a:stretch>
                <a:fillRect/>
              </a:stretch>
            </p:blipFill>
            <p:spPr>
              <a:xfrm rot="-5400000">
                <a:off x="1346" y="2456"/>
                <a:ext cx="212" cy="135"/>
              </a:xfrm>
              <a:prstGeom prst="rect">
                <a:avLst/>
              </a:prstGeom>
              <a:noFill/>
              <a:ln w="9525">
                <a:noFill/>
              </a:ln>
            </p:spPr>
          </p:pic>
          <p:sp>
            <p:nvSpPr>
              <p:cNvPr id="40997" name="AutoShape 37"/>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0998" name="Freeform 38"/>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0999" name="Freeform 39"/>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1000" name="Freeform 40"/>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1001" name="Freeform 41"/>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1002" name="Freeform 42"/>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1003" name="Freeform 43"/>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1004" name="Freeform 44"/>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1005" name="Freeform 45"/>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1006" name="Freeform 46"/>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1007" name="Freeform 47"/>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1008" name="Freeform 48"/>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1009" name="Freeform 49"/>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1010" name="Freeform 50"/>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1011" name="Freeform 51"/>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1012" name="Freeform 52"/>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1013" name="Freeform 53"/>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grpSp>
        <p:nvGrpSpPr>
          <p:cNvPr id="41014" name="Group 54"/>
          <p:cNvGrpSpPr/>
          <p:nvPr/>
        </p:nvGrpSpPr>
        <p:grpSpPr>
          <a:xfrm>
            <a:off x="619125" y="2992438"/>
            <a:ext cx="414338" cy="511175"/>
            <a:chOff x="2870" y="1518"/>
            <a:chExt cx="292" cy="320"/>
          </a:xfrm>
        </p:grpSpPr>
        <p:graphicFrame>
          <p:nvGraphicFramePr>
            <p:cNvPr id="41015" name="Object 5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8" name="" r:id="rId6" imgW="826770" imgH="840105" progId="MS_ClipArt_Gallery.2">
                    <p:embed/>
                  </p:oleObj>
                </mc:Choice>
                <mc:Fallback>
                  <p:oleObj name="" r:id="rId6" imgW="826770" imgH="840105" progId="MS_ClipArt_Gallery.2">
                    <p:embed/>
                    <p:pic>
                      <p:nvPicPr>
                        <p:cNvPr id="0" name="图片 3097"/>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16" name="Object 5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0" name="" r:id="rId7" imgW="1268095" imgH="1199515" progId="MS_ClipArt_Gallery.2">
                    <p:embed/>
                  </p:oleObj>
                </mc:Choice>
                <mc:Fallback>
                  <p:oleObj name="" r:id="rId7" imgW="1268095" imgH="1199515" progId="MS_ClipArt_Gallery.2">
                    <p:embed/>
                    <p:pic>
                      <p:nvPicPr>
                        <p:cNvPr id="0" name="图片 309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1017" name="Group 57"/>
          <p:cNvGrpSpPr/>
          <p:nvPr/>
        </p:nvGrpSpPr>
        <p:grpSpPr>
          <a:xfrm>
            <a:off x="1171575" y="2774950"/>
            <a:ext cx="415925" cy="509588"/>
            <a:chOff x="2870" y="1518"/>
            <a:chExt cx="292" cy="320"/>
          </a:xfrm>
        </p:grpSpPr>
        <p:graphicFrame>
          <p:nvGraphicFramePr>
            <p:cNvPr id="41018" name="Object 5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9" name="" r:id="rId8" imgW="826770" imgH="840105" progId="MS_ClipArt_Gallery.2">
                    <p:embed/>
                  </p:oleObj>
                </mc:Choice>
                <mc:Fallback>
                  <p:oleObj name="" r:id="rId8" imgW="826770" imgH="840105" progId="MS_ClipArt_Gallery.2">
                    <p:embed/>
                    <p:pic>
                      <p:nvPicPr>
                        <p:cNvPr id="0" name="图片 309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19" name="Object 5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1" name="" r:id="rId9" imgW="1268095" imgH="1199515" progId="MS_ClipArt_Gallery.2">
                    <p:embed/>
                  </p:oleObj>
                </mc:Choice>
                <mc:Fallback>
                  <p:oleObj name="" r:id="rId9" imgW="1268095" imgH="1199515" progId="MS_ClipArt_Gallery.2">
                    <p:embed/>
                    <p:pic>
                      <p:nvPicPr>
                        <p:cNvPr id="0" name="图片 3100"/>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1020" name="Group 60"/>
          <p:cNvGrpSpPr/>
          <p:nvPr/>
        </p:nvGrpSpPr>
        <p:grpSpPr>
          <a:xfrm>
            <a:off x="3076575" y="4232275"/>
            <a:ext cx="782638" cy="917575"/>
            <a:chOff x="1952" y="1032"/>
            <a:chExt cx="589" cy="706"/>
          </a:xfrm>
        </p:grpSpPr>
        <p:sp>
          <p:nvSpPr>
            <p:cNvPr id="41021" name="Text Box 61"/>
            <p:cNvSpPr txBox="1"/>
            <p:nvPr/>
          </p:nvSpPr>
          <p:spPr>
            <a:xfrm>
              <a:off x="2080" y="1456"/>
              <a:ext cx="353" cy="282"/>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AP</a:t>
              </a:r>
              <a:endParaRPr lang="en-US" altLang="zh-CN" dirty="0">
                <a:latin typeface="Comic Sans MS" panose="030F0702030302020204" pitchFamily="66" charset="0"/>
                <a:ea typeface="宋体" panose="02010600030101010101" pitchFamily="2" charset="-122"/>
              </a:endParaRPr>
            </a:p>
          </p:txBody>
        </p:sp>
        <p:grpSp>
          <p:nvGrpSpPr>
            <p:cNvPr id="41022" name="Group 62"/>
            <p:cNvGrpSpPr/>
            <p:nvPr/>
          </p:nvGrpSpPr>
          <p:grpSpPr>
            <a:xfrm>
              <a:off x="1952" y="1032"/>
              <a:ext cx="589" cy="440"/>
              <a:chOff x="1160" y="2192"/>
              <a:chExt cx="589" cy="440"/>
            </a:xfrm>
          </p:grpSpPr>
          <p:pic>
            <p:nvPicPr>
              <p:cNvPr id="41023" name="Picture 63"/>
              <p:cNvPicPr>
                <a:picLocks noChangeAspect="1"/>
              </p:cNvPicPr>
              <p:nvPr/>
            </p:nvPicPr>
            <p:blipFill>
              <a:blip r:embed="rId5"/>
              <a:stretch>
                <a:fillRect/>
              </a:stretch>
            </p:blipFill>
            <p:spPr>
              <a:xfrm rot="-5400000">
                <a:off x="1346" y="2456"/>
                <a:ext cx="212" cy="135"/>
              </a:xfrm>
              <a:prstGeom prst="rect">
                <a:avLst/>
              </a:prstGeom>
              <a:noFill/>
              <a:ln w="9525">
                <a:noFill/>
              </a:ln>
            </p:spPr>
          </p:pic>
          <p:sp>
            <p:nvSpPr>
              <p:cNvPr id="41024" name="AutoShape 64"/>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1025" name="Freeform 65"/>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1026" name="Freeform 66"/>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1027" name="Freeform 67"/>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1028" name="Freeform 68"/>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1029" name="Freeform 69"/>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1030" name="Freeform 70"/>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1031" name="Freeform 71"/>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1032" name="Freeform 72"/>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1033" name="Freeform 73"/>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1034" name="Freeform 74"/>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1035" name="Freeform 75"/>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1036" name="Freeform 76"/>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1037" name="Freeform 77"/>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1038" name="Freeform 78"/>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1039" name="Freeform 79"/>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1040" name="Freeform 80"/>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grpSp>
        <p:nvGrpSpPr>
          <p:cNvPr id="41041" name="Group 81"/>
          <p:cNvGrpSpPr/>
          <p:nvPr/>
        </p:nvGrpSpPr>
        <p:grpSpPr>
          <a:xfrm>
            <a:off x="2587625" y="4762500"/>
            <a:ext cx="414338" cy="509588"/>
            <a:chOff x="2870" y="1518"/>
            <a:chExt cx="292" cy="320"/>
          </a:xfrm>
        </p:grpSpPr>
        <p:graphicFrame>
          <p:nvGraphicFramePr>
            <p:cNvPr id="41042" name="Object 8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2" name="" r:id="rId10" imgW="826770" imgH="840105" progId="MS_ClipArt_Gallery.2">
                    <p:embed/>
                  </p:oleObj>
                </mc:Choice>
                <mc:Fallback>
                  <p:oleObj name="" r:id="rId10" imgW="826770" imgH="840105" progId="MS_ClipArt_Gallery.2">
                    <p:embed/>
                    <p:pic>
                      <p:nvPicPr>
                        <p:cNvPr id="0" name="图片 309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43" name="Object 8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3" name="" r:id="rId11" imgW="1268095" imgH="1199515" progId="MS_ClipArt_Gallery.2">
                    <p:embed/>
                  </p:oleObj>
                </mc:Choice>
                <mc:Fallback>
                  <p:oleObj name="" r:id="rId11" imgW="1268095" imgH="1199515" progId="MS_ClipArt_Gallery.2">
                    <p:embed/>
                    <p:pic>
                      <p:nvPicPr>
                        <p:cNvPr id="0" name="图片 3092"/>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1044" name="Group 84"/>
          <p:cNvGrpSpPr/>
          <p:nvPr/>
        </p:nvGrpSpPr>
        <p:grpSpPr>
          <a:xfrm>
            <a:off x="2767013" y="5303838"/>
            <a:ext cx="415925" cy="509587"/>
            <a:chOff x="2870" y="1518"/>
            <a:chExt cx="292" cy="320"/>
          </a:xfrm>
        </p:grpSpPr>
        <p:graphicFrame>
          <p:nvGraphicFramePr>
            <p:cNvPr id="41045" name="Object 8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4" name="" r:id="rId12" imgW="826770" imgH="840105" progId="MS_ClipArt_Gallery.2">
                    <p:embed/>
                  </p:oleObj>
                </mc:Choice>
                <mc:Fallback>
                  <p:oleObj name="" r:id="rId12" imgW="826770" imgH="840105" progId="MS_ClipArt_Gallery.2">
                    <p:embed/>
                    <p:pic>
                      <p:nvPicPr>
                        <p:cNvPr id="0" name="图片 3093"/>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46" name="Object 8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5" name="" r:id="rId13" imgW="1268095" imgH="1199515" progId="MS_ClipArt_Gallery.2">
                    <p:embed/>
                  </p:oleObj>
                </mc:Choice>
                <mc:Fallback>
                  <p:oleObj name="" r:id="rId13" imgW="1268095" imgH="1199515" progId="MS_ClipArt_Gallery.2">
                    <p:embed/>
                    <p:pic>
                      <p:nvPicPr>
                        <p:cNvPr id="0" name="图片 3094"/>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1047" name="Group 87"/>
          <p:cNvGrpSpPr/>
          <p:nvPr/>
        </p:nvGrpSpPr>
        <p:grpSpPr>
          <a:xfrm>
            <a:off x="3798888" y="4772025"/>
            <a:ext cx="415925" cy="511175"/>
            <a:chOff x="2870" y="1518"/>
            <a:chExt cx="292" cy="320"/>
          </a:xfrm>
        </p:grpSpPr>
        <p:graphicFrame>
          <p:nvGraphicFramePr>
            <p:cNvPr id="41048" name="Object 8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96" name="" r:id="rId14" imgW="826770" imgH="840105" progId="MS_ClipArt_Gallery.2">
                    <p:embed/>
                  </p:oleObj>
                </mc:Choice>
                <mc:Fallback>
                  <p:oleObj name="" r:id="rId14" imgW="826770" imgH="840105" progId="MS_ClipArt_Gallery.2">
                    <p:embed/>
                    <p:pic>
                      <p:nvPicPr>
                        <p:cNvPr id="0" name="图片 3095"/>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49" name="Object 8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97" name="" r:id="rId15" imgW="1268095" imgH="1199515" progId="MS_ClipArt_Gallery.2">
                    <p:embed/>
                  </p:oleObj>
                </mc:Choice>
                <mc:Fallback>
                  <p:oleObj name="" r:id="rId15" imgW="1268095" imgH="1199515" progId="MS_ClipArt_Gallery.2">
                    <p:embed/>
                    <p:pic>
                      <p:nvPicPr>
                        <p:cNvPr id="0" name="图片 3096"/>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1050" name="Group 90"/>
          <p:cNvGrpSpPr/>
          <p:nvPr/>
        </p:nvGrpSpPr>
        <p:grpSpPr>
          <a:xfrm>
            <a:off x="3352800" y="5313363"/>
            <a:ext cx="414338" cy="509587"/>
            <a:chOff x="2870" y="1518"/>
            <a:chExt cx="292" cy="320"/>
          </a:xfrm>
        </p:grpSpPr>
        <p:graphicFrame>
          <p:nvGraphicFramePr>
            <p:cNvPr id="41051" name="Object 9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2" name="" r:id="rId16" imgW="826770" imgH="840105" progId="MS_ClipArt_Gallery.2">
                    <p:embed/>
                  </p:oleObj>
                </mc:Choice>
                <mc:Fallback>
                  <p:oleObj name="" r:id="rId16" imgW="826770" imgH="840105" progId="MS_ClipArt_Gallery.2">
                    <p:embed/>
                    <p:pic>
                      <p:nvPicPr>
                        <p:cNvPr id="0" name="图片 310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1052" name="Object 9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3" name="" r:id="rId17" imgW="1268095" imgH="1199515" progId="MS_ClipArt_Gallery.2">
                    <p:embed/>
                  </p:oleObj>
                </mc:Choice>
                <mc:Fallback>
                  <p:oleObj name="" r:id="rId17" imgW="1268095" imgH="1199515" progId="MS_ClipArt_Gallery.2">
                    <p:embed/>
                    <p:pic>
                      <p:nvPicPr>
                        <p:cNvPr id="0" name="图片 3102"/>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30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301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802.11: Channels, association</a:t>
            </a:r>
            <a:endParaRPr lang="en-US" altLang="zh-CN" dirty="0">
              <a:ea typeface="宋体" panose="02010600030101010101" pitchFamily="2" charset="-122"/>
            </a:endParaRPr>
          </a:p>
        </p:txBody>
      </p:sp>
      <p:sp>
        <p:nvSpPr>
          <p:cNvPr id="43012" name="Rectangle 3"/>
          <p:cNvSpPr>
            <a:spLocks noGrp="1"/>
          </p:cNvSpPr>
          <p:nvPr>
            <p:ph idx="1"/>
          </p:nvPr>
        </p:nvSpPr>
        <p:spPr>
          <a:ln/>
        </p:spPr>
        <p:txBody>
          <a:bodyPr vert="horz" wrap="square" lIns="91440" tIns="45720" rIns="91440" bIns="45720" anchor="t" anchorCtr="0"/>
          <a:p>
            <a:pPr>
              <a:lnSpc>
                <a:spcPct val="90000"/>
              </a:lnSpc>
            </a:pPr>
            <a:r>
              <a:rPr lang="en-US" altLang="zh-CN" sz="2400" dirty="0">
                <a:ea typeface="宋体" panose="02010600030101010101" pitchFamily="2" charset="-122"/>
              </a:rPr>
              <a:t>802.11b: 2.4GHz-2.485GHz spectrum divided into 11 channels at different frequencies</a:t>
            </a:r>
            <a:endParaRPr lang="en-US" altLang="zh-CN" sz="2400" dirty="0">
              <a:ea typeface="宋体" panose="02010600030101010101" pitchFamily="2" charset="-122"/>
            </a:endParaRPr>
          </a:p>
          <a:p>
            <a:pPr lvl="1">
              <a:lnSpc>
                <a:spcPct val="90000"/>
              </a:lnSpc>
            </a:pPr>
            <a:r>
              <a:rPr lang="en-US" altLang="zh-CN" dirty="0">
                <a:ea typeface="宋体" panose="02010600030101010101" pitchFamily="2" charset="-122"/>
              </a:rPr>
              <a:t>AP admin chooses frequency for AP</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interference possible: channel can be same as that chosen by neighboring AP!</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host: must </a:t>
            </a:r>
            <a:r>
              <a:rPr lang="en-US" altLang="zh-CN" i="1" dirty="0">
                <a:solidFill>
                  <a:srgbClr val="FF0000"/>
                </a:solidFill>
                <a:ea typeface="宋体" panose="02010600030101010101" pitchFamily="2" charset="-122"/>
              </a:rPr>
              <a:t>associate</a:t>
            </a:r>
            <a:r>
              <a:rPr lang="en-US" altLang="zh-CN" dirty="0">
                <a:ea typeface="宋体" panose="02010600030101010101" pitchFamily="2" charset="-122"/>
              </a:rPr>
              <a:t> with an AP</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scans channels, listening for </a:t>
            </a:r>
            <a:r>
              <a:rPr lang="en-US" altLang="zh-CN" i="1" dirty="0">
                <a:ea typeface="宋体" panose="02010600030101010101" pitchFamily="2" charset="-122"/>
              </a:rPr>
              <a:t>beacon frames</a:t>
            </a:r>
            <a:r>
              <a:rPr lang="en-US" altLang="zh-CN" dirty="0">
                <a:ea typeface="宋体" panose="02010600030101010101" pitchFamily="2" charset="-122"/>
              </a:rPr>
              <a:t> containing AP’s name (SSID) and MAC address</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selects AP to associate with</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may perform authentication [Chapter 8]</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will typically run DHCP to get IP address in AP’s subnet</a:t>
            </a:r>
            <a:endParaRPr lang="en-US" altLang="zh-CN" dirty="0">
              <a:ea typeface="宋体" panose="02010600030101010101" pitchFamily="2" charset="-122"/>
            </a:endParaRPr>
          </a:p>
          <a:p>
            <a:pPr>
              <a:lnSpc>
                <a:spcPct val="90000"/>
              </a:lnSpc>
            </a:pPr>
            <a:endParaRPr lang="en-US" altLang="zh-CN"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50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5059" name="Rectangle 2"/>
          <p:cNvSpPr>
            <a:spLocks noGrp="1"/>
          </p:cNvSpPr>
          <p:nvPr>
            <p:ph type="title"/>
          </p:nvPr>
        </p:nvSpPr>
        <p:spPr>
          <a:xfrm>
            <a:off x="533400" y="228600"/>
            <a:ext cx="8112125" cy="1143000"/>
          </a:xfrm>
          <a:ln/>
        </p:spPr>
        <p:txBody>
          <a:bodyPr vert="horz" wrap="square" lIns="91440" tIns="45720" rIns="91440" bIns="45720" anchor="ctr" anchorCtr="0"/>
          <a:p>
            <a:r>
              <a:rPr lang="en-US" altLang="zh-CN" dirty="0">
                <a:ea typeface="宋体" panose="02010600030101010101" pitchFamily="2" charset="-122"/>
              </a:rPr>
              <a:t>802.11: passive/active scanning</a:t>
            </a:r>
            <a:endParaRPr lang="en-US" altLang="zh-CN" dirty="0">
              <a:ea typeface="宋体" panose="02010600030101010101" pitchFamily="2" charset="-122"/>
            </a:endParaRPr>
          </a:p>
        </p:txBody>
      </p:sp>
      <p:sp>
        <p:nvSpPr>
          <p:cNvPr id="45060" name="Oval 6"/>
          <p:cNvSpPr/>
          <p:nvPr/>
        </p:nvSpPr>
        <p:spPr>
          <a:xfrm>
            <a:off x="6580188" y="1455738"/>
            <a:ext cx="2335212" cy="2224087"/>
          </a:xfrm>
          <a:prstGeom prst="ellipse">
            <a:avLst/>
          </a:prstGeom>
          <a:solidFill>
            <a:srgbClr val="00CCFF">
              <a:alpha val="49019"/>
            </a:srgbClr>
          </a:solidFill>
          <a:ln w="9525">
            <a:noFill/>
          </a:ln>
        </p:spPr>
        <p:txBody>
          <a:bodyPr wrap="none" anchor="ctr" anchorCtr="0"/>
          <a:p>
            <a:pPr algn="ctr">
              <a:buClrTx/>
              <a:buFontTx/>
            </a:pPr>
            <a:endParaRPr lang="zh-CN" altLang="zh-CN" sz="1600" dirty="0">
              <a:latin typeface="Comic Sans MS" panose="030F0702030302020204" pitchFamily="66" charset="0"/>
              <a:ea typeface="宋体" panose="02010600030101010101" pitchFamily="2" charset="-122"/>
            </a:endParaRPr>
          </a:p>
        </p:txBody>
      </p:sp>
      <p:sp>
        <p:nvSpPr>
          <p:cNvPr id="45061" name="Oval 7"/>
          <p:cNvSpPr/>
          <p:nvPr/>
        </p:nvSpPr>
        <p:spPr>
          <a:xfrm>
            <a:off x="4724400" y="1390650"/>
            <a:ext cx="2335213" cy="2224088"/>
          </a:xfrm>
          <a:prstGeom prst="ellipse">
            <a:avLst/>
          </a:prstGeom>
          <a:solidFill>
            <a:srgbClr val="00CCFF">
              <a:alpha val="49019"/>
            </a:srgbClr>
          </a:solidFill>
          <a:ln w="9525">
            <a:noFill/>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sp>
        <p:nvSpPr>
          <p:cNvPr id="45062" name="Text Box 8"/>
          <p:cNvSpPr txBox="1"/>
          <p:nvPr/>
        </p:nvSpPr>
        <p:spPr>
          <a:xfrm>
            <a:off x="7920038" y="2325688"/>
            <a:ext cx="623887"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2</a:t>
            </a:r>
            <a:endParaRPr lang="en-US" altLang="zh-CN" sz="1600" dirty="0">
              <a:latin typeface="Comic Sans MS" panose="030F0702030302020204" pitchFamily="66" charset="0"/>
              <a:ea typeface="宋体" panose="02010600030101010101" pitchFamily="2" charset="-122"/>
            </a:endParaRPr>
          </a:p>
        </p:txBody>
      </p:sp>
      <p:sp>
        <p:nvSpPr>
          <p:cNvPr id="45063" name="Text Box 9"/>
          <p:cNvSpPr txBox="1"/>
          <p:nvPr/>
        </p:nvSpPr>
        <p:spPr>
          <a:xfrm>
            <a:off x="6211888" y="2162175"/>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45064" name="Text Box 10"/>
          <p:cNvSpPr txBox="1"/>
          <p:nvPr/>
        </p:nvSpPr>
        <p:spPr>
          <a:xfrm>
            <a:off x="5299075" y="2295525"/>
            <a:ext cx="592138"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1</a:t>
            </a:r>
            <a:endParaRPr lang="en-US" altLang="zh-CN" sz="1600" dirty="0">
              <a:latin typeface="Comic Sans MS" panose="030F0702030302020204" pitchFamily="66" charset="0"/>
              <a:ea typeface="宋体" panose="02010600030101010101" pitchFamily="2" charset="-122"/>
            </a:endParaRPr>
          </a:p>
        </p:txBody>
      </p:sp>
      <p:sp>
        <p:nvSpPr>
          <p:cNvPr id="45065" name="Text Box 11"/>
          <p:cNvSpPr txBox="1"/>
          <p:nvPr/>
        </p:nvSpPr>
        <p:spPr>
          <a:xfrm>
            <a:off x="6577013" y="3178175"/>
            <a:ext cx="431800"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H1</a:t>
            </a:r>
            <a:endParaRPr lang="en-US" altLang="zh-CN" sz="1600" dirty="0">
              <a:latin typeface="Comic Sans MS" panose="030F0702030302020204" pitchFamily="66" charset="0"/>
              <a:ea typeface="宋体" panose="02010600030101010101" pitchFamily="2" charset="-122"/>
            </a:endParaRPr>
          </a:p>
        </p:txBody>
      </p:sp>
      <p:sp>
        <p:nvSpPr>
          <p:cNvPr id="45066" name="Text Box 12"/>
          <p:cNvSpPr txBox="1"/>
          <p:nvPr/>
        </p:nvSpPr>
        <p:spPr>
          <a:xfrm>
            <a:off x="8218488" y="2981325"/>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45067" name="Text Box 13"/>
          <p:cNvSpPr txBox="1"/>
          <p:nvPr/>
        </p:nvSpPr>
        <p:spPr>
          <a:xfrm>
            <a:off x="7367588" y="1512888"/>
            <a:ext cx="766762"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2</a:t>
            </a:r>
            <a:endParaRPr lang="en-US" altLang="zh-CN" sz="1600" dirty="0">
              <a:latin typeface="Comic Sans MS" panose="030F0702030302020204" pitchFamily="66" charset="0"/>
              <a:ea typeface="宋体" panose="02010600030101010101" pitchFamily="2" charset="-122"/>
            </a:endParaRPr>
          </a:p>
        </p:txBody>
      </p:sp>
      <p:sp>
        <p:nvSpPr>
          <p:cNvPr id="45068" name="Text Box 14"/>
          <p:cNvSpPr txBox="1"/>
          <p:nvPr/>
        </p:nvSpPr>
        <p:spPr>
          <a:xfrm>
            <a:off x="5551488" y="1462088"/>
            <a:ext cx="735012"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1</a:t>
            </a:r>
            <a:endParaRPr lang="en-US" altLang="zh-CN" sz="1600" dirty="0">
              <a:latin typeface="Comic Sans MS" panose="030F0702030302020204" pitchFamily="66" charset="0"/>
              <a:ea typeface="宋体" panose="02010600030101010101" pitchFamily="2" charset="-122"/>
            </a:endParaRPr>
          </a:p>
        </p:txBody>
      </p:sp>
      <p:grpSp>
        <p:nvGrpSpPr>
          <p:cNvPr id="45069" name="Group 15"/>
          <p:cNvGrpSpPr/>
          <p:nvPr/>
        </p:nvGrpSpPr>
        <p:grpSpPr>
          <a:xfrm>
            <a:off x="7426325" y="2011363"/>
            <a:ext cx="842963" cy="600075"/>
            <a:chOff x="1160" y="2192"/>
            <a:chExt cx="589" cy="440"/>
          </a:xfrm>
        </p:grpSpPr>
        <p:pic>
          <p:nvPicPr>
            <p:cNvPr id="45070" name="Picture 16"/>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45071" name="AutoShape 17"/>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5072" name="Freeform 18"/>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5073" name="Freeform 19"/>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5074" name="Freeform 20"/>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5075" name="Freeform 21"/>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5076" name="Freeform 22"/>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5077" name="Freeform 23"/>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5078" name="Freeform 24"/>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5079" name="Freeform 25"/>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5080" name="Freeform 26"/>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5081" name="Freeform 27"/>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5082" name="Freeform 28"/>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5083" name="Freeform 29"/>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5084" name="Freeform 30"/>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5085" name="Freeform 31"/>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5086" name="Freeform 32"/>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5087" name="Freeform 33"/>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45088" name="Group 34"/>
          <p:cNvGrpSpPr/>
          <p:nvPr/>
        </p:nvGrpSpPr>
        <p:grpSpPr>
          <a:xfrm>
            <a:off x="5502275" y="2000250"/>
            <a:ext cx="844550" cy="600075"/>
            <a:chOff x="1160" y="2192"/>
            <a:chExt cx="589" cy="440"/>
          </a:xfrm>
        </p:grpSpPr>
        <p:pic>
          <p:nvPicPr>
            <p:cNvPr id="45089" name="Picture 35"/>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45090" name="AutoShape 36"/>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5091" name="Freeform 37"/>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5092" name="Freeform 38"/>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5093" name="Freeform 39"/>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5094" name="Freeform 40"/>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5095" name="Freeform 41"/>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5096" name="Freeform 42"/>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5097" name="Freeform 43"/>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5098" name="Freeform 44"/>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5099" name="Freeform 45"/>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5100" name="Freeform 46"/>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5101" name="Freeform 47"/>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5102" name="Freeform 48"/>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5103" name="Freeform 49"/>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5104" name="Freeform 50"/>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5105" name="Freeform 51"/>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5106" name="Freeform 52"/>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45107" name="Group 53"/>
          <p:cNvGrpSpPr/>
          <p:nvPr/>
        </p:nvGrpSpPr>
        <p:grpSpPr>
          <a:xfrm>
            <a:off x="6442075" y="2627313"/>
            <a:ext cx="635000" cy="588962"/>
            <a:chOff x="2870" y="1518"/>
            <a:chExt cx="292" cy="320"/>
          </a:xfrm>
        </p:grpSpPr>
        <p:graphicFrame>
          <p:nvGraphicFramePr>
            <p:cNvPr id="45108" name="Object 5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4" name="" r:id="rId2" imgW="826770" imgH="840105" progId="MS_ClipArt_Gallery.2">
                    <p:embed/>
                  </p:oleObj>
                </mc:Choice>
                <mc:Fallback>
                  <p:oleObj name="" r:id="rId2" imgW="826770" imgH="840105" progId="MS_ClipArt_Gallery.2">
                    <p:embed/>
                    <p:pic>
                      <p:nvPicPr>
                        <p:cNvPr id="0" name="图片 3103"/>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5109" name="Object 5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5" name="" r:id="rId4" imgW="1268095" imgH="1199515" progId="MS_ClipArt_Gallery.2">
                    <p:embed/>
                  </p:oleObj>
                </mc:Choice>
                <mc:Fallback>
                  <p:oleObj name="" r:id="rId4" imgW="1268095" imgH="1199515" progId="MS_ClipArt_Gallery.2">
                    <p:embed/>
                    <p:pic>
                      <p:nvPicPr>
                        <p:cNvPr id="0" name="图片 3104"/>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sp>
        <p:nvSpPr>
          <p:cNvPr id="45110" name="Freeform 56"/>
          <p:cNvSpPr/>
          <p:nvPr/>
        </p:nvSpPr>
        <p:spPr>
          <a:xfrm>
            <a:off x="6837363" y="2466975"/>
            <a:ext cx="869950" cy="225425"/>
          </a:xfrm>
          <a:custGeom>
            <a:avLst/>
            <a:gdLst/>
            <a:ahLst/>
            <a:cxnLst>
              <a:cxn ang="0">
                <a:pos x="0" y="357862188"/>
              </a:cxn>
              <a:cxn ang="0">
                <a:pos x="0" y="0"/>
              </a:cxn>
              <a:cxn ang="0">
                <a:pos x="1381045625" y="0"/>
              </a:cxn>
            </a:cxnLst>
            <a:pathLst>
              <a:path w="548" h="142">
                <a:moveTo>
                  <a:pt x="0" y="142"/>
                </a:moveTo>
                <a:lnTo>
                  <a:pt x="0" y="0"/>
                </a:lnTo>
                <a:lnTo>
                  <a:pt x="548" y="0"/>
                </a:lnTo>
              </a:path>
            </a:pathLst>
          </a:custGeom>
          <a:noFill/>
          <a:ln w="28575" cap="flat" cmpd="sng">
            <a:solidFill>
              <a:schemeClr val="tx1"/>
            </a:solidFill>
            <a:prstDash val="solid"/>
            <a:round/>
            <a:headEnd type="none" w="med" len="med"/>
            <a:tailEnd type="triangle" w="med" len="med"/>
          </a:ln>
        </p:spPr>
        <p:txBody>
          <a:bodyPr/>
          <a:p>
            <a:endParaRPr lang="zh-CN" altLang="en-US"/>
          </a:p>
        </p:txBody>
      </p:sp>
      <p:sp>
        <p:nvSpPr>
          <p:cNvPr id="45111" name="Line 57"/>
          <p:cNvSpPr/>
          <p:nvPr/>
        </p:nvSpPr>
        <p:spPr>
          <a:xfrm flipH="1">
            <a:off x="6011863" y="2466975"/>
            <a:ext cx="823912" cy="0"/>
          </a:xfrm>
          <a:prstGeom prst="line">
            <a:avLst/>
          </a:prstGeom>
          <a:ln w="28575" cap="flat" cmpd="sng">
            <a:solidFill>
              <a:schemeClr val="tx1"/>
            </a:solidFill>
            <a:prstDash val="solid"/>
            <a:round/>
            <a:headEnd type="none" w="med" len="med"/>
            <a:tailEnd type="triangle" w="med" len="med"/>
          </a:ln>
        </p:spPr>
      </p:sp>
      <p:sp>
        <p:nvSpPr>
          <p:cNvPr id="45112" name="Line 58"/>
          <p:cNvSpPr/>
          <p:nvPr/>
        </p:nvSpPr>
        <p:spPr>
          <a:xfrm>
            <a:off x="6073775" y="2543175"/>
            <a:ext cx="644525" cy="225425"/>
          </a:xfrm>
          <a:prstGeom prst="line">
            <a:avLst/>
          </a:prstGeom>
          <a:ln w="28575" cap="flat" cmpd="sng">
            <a:solidFill>
              <a:schemeClr val="tx1"/>
            </a:solidFill>
            <a:prstDash val="solid"/>
            <a:round/>
            <a:headEnd type="none" w="med" len="med"/>
            <a:tailEnd type="triangle" w="med" len="med"/>
          </a:ln>
        </p:spPr>
      </p:sp>
      <p:sp>
        <p:nvSpPr>
          <p:cNvPr id="45113" name="Line 59"/>
          <p:cNvSpPr/>
          <p:nvPr/>
        </p:nvSpPr>
        <p:spPr>
          <a:xfrm flipH="1">
            <a:off x="6961188" y="2559050"/>
            <a:ext cx="644525" cy="225425"/>
          </a:xfrm>
          <a:prstGeom prst="line">
            <a:avLst/>
          </a:prstGeom>
          <a:ln w="28575" cap="flat" cmpd="sng">
            <a:solidFill>
              <a:schemeClr val="tx1"/>
            </a:solidFill>
            <a:prstDash val="solid"/>
            <a:round/>
            <a:headEnd type="none" w="med" len="med"/>
            <a:tailEnd type="triangle" w="med" len="med"/>
          </a:ln>
        </p:spPr>
      </p:sp>
      <p:sp>
        <p:nvSpPr>
          <p:cNvPr id="45114" name="Line 60"/>
          <p:cNvSpPr/>
          <p:nvPr/>
        </p:nvSpPr>
        <p:spPr>
          <a:xfrm flipH="1">
            <a:off x="7159625" y="2890838"/>
            <a:ext cx="644525" cy="225425"/>
          </a:xfrm>
          <a:prstGeom prst="line">
            <a:avLst/>
          </a:prstGeom>
          <a:ln w="28575" cap="flat" cmpd="sng">
            <a:solidFill>
              <a:schemeClr val="tx1"/>
            </a:solidFill>
            <a:prstDash val="solid"/>
            <a:round/>
            <a:headEnd type="none" w="med" len="med"/>
            <a:tailEnd type="triangle" w="med" len="med"/>
          </a:ln>
        </p:spPr>
      </p:sp>
      <p:sp>
        <p:nvSpPr>
          <p:cNvPr id="45115" name="Line 61"/>
          <p:cNvSpPr/>
          <p:nvPr/>
        </p:nvSpPr>
        <p:spPr>
          <a:xfrm flipV="1">
            <a:off x="7115175" y="2711450"/>
            <a:ext cx="644525" cy="225425"/>
          </a:xfrm>
          <a:prstGeom prst="line">
            <a:avLst/>
          </a:prstGeom>
          <a:ln w="28575" cap="flat" cmpd="sng">
            <a:solidFill>
              <a:schemeClr val="tx1"/>
            </a:solidFill>
            <a:prstDash val="solid"/>
            <a:round/>
            <a:headEnd type="none" w="med" len="med"/>
            <a:tailEnd type="triangle" w="med" len="med"/>
          </a:ln>
        </p:spPr>
      </p:sp>
      <p:grpSp>
        <p:nvGrpSpPr>
          <p:cNvPr id="45116" name="Group 62"/>
          <p:cNvGrpSpPr/>
          <p:nvPr/>
        </p:nvGrpSpPr>
        <p:grpSpPr>
          <a:xfrm>
            <a:off x="6686550" y="2295525"/>
            <a:ext cx="282575" cy="304800"/>
            <a:chOff x="1255" y="3461"/>
            <a:chExt cx="178" cy="192"/>
          </a:xfrm>
        </p:grpSpPr>
        <p:sp>
          <p:nvSpPr>
            <p:cNvPr id="45117" name="Oval 63"/>
            <p:cNvSpPr/>
            <p:nvPr/>
          </p:nvSpPr>
          <p:spPr>
            <a:xfrm>
              <a:off x="1274" y="349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18" name="Text Box 64"/>
            <p:cNvSpPr txBox="1"/>
            <p:nvPr/>
          </p:nvSpPr>
          <p:spPr>
            <a:xfrm>
              <a:off x="1255" y="3461"/>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1</a:t>
              </a:r>
              <a:endParaRPr lang="en-US" altLang="zh-CN" sz="1400" b="1" dirty="0">
                <a:latin typeface="Arial" panose="020B0604020202020204" pitchFamily="34" charset="0"/>
                <a:ea typeface="宋体" panose="02010600030101010101" pitchFamily="2" charset="-122"/>
              </a:endParaRPr>
            </a:p>
          </p:txBody>
        </p:sp>
      </p:grpSp>
      <p:grpSp>
        <p:nvGrpSpPr>
          <p:cNvPr id="45119" name="Group 65"/>
          <p:cNvGrpSpPr/>
          <p:nvPr/>
        </p:nvGrpSpPr>
        <p:grpSpPr>
          <a:xfrm>
            <a:off x="7258050" y="2492375"/>
            <a:ext cx="282575" cy="304800"/>
            <a:chOff x="1851" y="2490"/>
            <a:chExt cx="178" cy="192"/>
          </a:xfrm>
        </p:grpSpPr>
        <p:sp>
          <p:nvSpPr>
            <p:cNvPr id="45120" name="Oval 66"/>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21" name="Text Box 67"/>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2</a:t>
              </a:r>
              <a:endParaRPr lang="en-US" altLang="zh-CN" sz="1400" b="1" dirty="0">
                <a:latin typeface="Arial" panose="020B0604020202020204" pitchFamily="34" charset="0"/>
                <a:ea typeface="宋体" panose="02010600030101010101" pitchFamily="2" charset="-122"/>
              </a:endParaRPr>
            </a:p>
          </p:txBody>
        </p:sp>
      </p:grpSp>
      <p:grpSp>
        <p:nvGrpSpPr>
          <p:cNvPr id="45122" name="Group 68"/>
          <p:cNvGrpSpPr/>
          <p:nvPr/>
        </p:nvGrpSpPr>
        <p:grpSpPr>
          <a:xfrm>
            <a:off x="6180138" y="2509838"/>
            <a:ext cx="282575" cy="304800"/>
            <a:chOff x="1851" y="2490"/>
            <a:chExt cx="178" cy="192"/>
          </a:xfrm>
        </p:grpSpPr>
        <p:sp>
          <p:nvSpPr>
            <p:cNvPr id="45123" name="Oval 69"/>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24" name="Text Box 70"/>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2</a:t>
              </a:r>
              <a:endParaRPr lang="en-US" altLang="zh-CN" sz="1400" b="1" dirty="0">
                <a:latin typeface="Arial" panose="020B0604020202020204" pitchFamily="34" charset="0"/>
                <a:ea typeface="宋体" panose="02010600030101010101" pitchFamily="2" charset="-122"/>
              </a:endParaRPr>
            </a:p>
          </p:txBody>
        </p:sp>
      </p:grpSp>
      <p:grpSp>
        <p:nvGrpSpPr>
          <p:cNvPr id="45125" name="Group 71"/>
          <p:cNvGrpSpPr/>
          <p:nvPr/>
        </p:nvGrpSpPr>
        <p:grpSpPr>
          <a:xfrm>
            <a:off x="7200900" y="2735263"/>
            <a:ext cx="282575" cy="304800"/>
            <a:chOff x="1851" y="2490"/>
            <a:chExt cx="178" cy="192"/>
          </a:xfrm>
        </p:grpSpPr>
        <p:sp>
          <p:nvSpPr>
            <p:cNvPr id="45126" name="Oval 72"/>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27" name="Text Box 73"/>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3</a:t>
              </a:r>
              <a:endParaRPr lang="en-US" altLang="zh-CN" sz="1400" b="1" dirty="0">
                <a:latin typeface="Arial" panose="020B0604020202020204" pitchFamily="34" charset="0"/>
                <a:ea typeface="宋体" panose="02010600030101010101" pitchFamily="2" charset="-122"/>
              </a:endParaRPr>
            </a:p>
          </p:txBody>
        </p:sp>
      </p:grpSp>
      <p:grpSp>
        <p:nvGrpSpPr>
          <p:cNvPr id="45128" name="Group 74"/>
          <p:cNvGrpSpPr/>
          <p:nvPr/>
        </p:nvGrpSpPr>
        <p:grpSpPr>
          <a:xfrm>
            <a:off x="7489825" y="2827338"/>
            <a:ext cx="282575" cy="304800"/>
            <a:chOff x="1851" y="2490"/>
            <a:chExt cx="178" cy="192"/>
          </a:xfrm>
        </p:grpSpPr>
        <p:sp>
          <p:nvSpPr>
            <p:cNvPr id="45129" name="Oval 75"/>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30" name="Text Box 76"/>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4</a:t>
              </a:r>
              <a:endParaRPr lang="en-US" altLang="zh-CN" sz="1400" b="1" dirty="0">
                <a:latin typeface="Arial" panose="020B0604020202020204" pitchFamily="34" charset="0"/>
                <a:ea typeface="宋体" panose="02010600030101010101" pitchFamily="2" charset="-122"/>
              </a:endParaRPr>
            </a:p>
          </p:txBody>
        </p:sp>
      </p:grpSp>
      <p:sp>
        <p:nvSpPr>
          <p:cNvPr id="45131" name="Text Box 77"/>
          <p:cNvSpPr txBox="1"/>
          <p:nvPr/>
        </p:nvSpPr>
        <p:spPr>
          <a:xfrm>
            <a:off x="4618038" y="3689350"/>
            <a:ext cx="3962400" cy="2593975"/>
          </a:xfrm>
          <a:prstGeom prst="rect">
            <a:avLst/>
          </a:prstGeom>
          <a:noFill/>
          <a:ln w="9525">
            <a:noFill/>
          </a:ln>
        </p:spPr>
        <p:txBody>
          <a:bodyPr anchor="t" anchorCtr="0">
            <a:spAutoFit/>
          </a:bodyPr>
          <a:p>
            <a:pPr marL="342900" indent="-342900">
              <a:buNone/>
            </a:pPr>
            <a:r>
              <a:rPr lang="en-US" altLang="zh-CN" sz="2000" i="1" u="sng" dirty="0">
                <a:solidFill>
                  <a:srgbClr val="FF3300"/>
                </a:solidFill>
                <a:latin typeface="Arial" panose="020B0604020202020204" pitchFamily="34" charset="0"/>
                <a:ea typeface="宋体" panose="02010600030101010101" pitchFamily="2" charset="-122"/>
              </a:rPr>
              <a:t>Active Scanning</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Probe Request frame broadcast from H1</a:t>
            </a:r>
            <a:endParaRPr lang="en-US" altLang="zh-CN"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Probes response frame sent from APs</a:t>
            </a:r>
            <a:endParaRPr lang="en-US" altLang="zh-CN"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Association Request frame sent: H1 to selected AP </a:t>
            </a:r>
            <a:endParaRPr lang="en-US" altLang="zh-CN"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Association Response frame sent: selected AP to H1</a:t>
            </a:r>
            <a:endParaRPr lang="en-US" altLang="zh-CN" dirty="0">
              <a:latin typeface="Arial" panose="020B0604020202020204" pitchFamily="34" charset="0"/>
              <a:ea typeface="宋体" panose="02010600030101010101" pitchFamily="2" charset="-122"/>
            </a:endParaRPr>
          </a:p>
        </p:txBody>
      </p:sp>
      <p:sp>
        <p:nvSpPr>
          <p:cNvPr id="45132" name="Oval 80"/>
          <p:cNvSpPr/>
          <p:nvPr/>
        </p:nvSpPr>
        <p:spPr>
          <a:xfrm>
            <a:off x="2208213" y="1484313"/>
            <a:ext cx="2335212" cy="2224087"/>
          </a:xfrm>
          <a:prstGeom prst="ellipse">
            <a:avLst/>
          </a:prstGeom>
          <a:solidFill>
            <a:srgbClr val="00CCFF">
              <a:alpha val="49019"/>
            </a:srgbClr>
          </a:solidFill>
          <a:ln w="9525">
            <a:noFill/>
          </a:ln>
        </p:spPr>
        <p:txBody>
          <a:bodyPr wrap="none" anchor="ctr" anchorCtr="0"/>
          <a:p>
            <a:pPr algn="ctr">
              <a:buClrTx/>
              <a:buFontTx/>
            </a:pPr>
            <a:endParaRPr lang="zh-CN" altLang="zh-CN" sz="1600" dirty="0">
              <a:latin typeface="Comic Sans MS" panose="030F0702030302020204" pitchFamily="66" charset="0"/>
              <a:ea typeface="宋体" panose="02010600030101010101" pitchFamily="2" charset="-122"/>
            </a:endParaRPr>
          </a:p>
        </p:txBody>
      </p:sp>
      <p:sp>
        <p:nvSpPr>
          <p:cNvPr id="45133" name="Oval 81"/>
          <p:cNvSpPr/>
          <p:nvPr/>
        </p:nvSpPr>
        <p:spPr>
          <a:xfrm>
            <a:off x="352425" y="1419225"/>
            <a:ext cx="2335213" cy="2224088"/>
          </a:xfrm>
          <a:prstGeom prst="ellipse">
            <a:avLst/>
          </a:prstGeom>
          <a:solidFill>
            <a:srgbClr val="00CCFF">
              <a:alpha val="49019"/>
            </a:srgbClr>
          </a:solidFill>
          <a:ln w="9525">
            <a:noFill/>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sp>
        <p:nvSpPr>
          <p:cNvPr id="45134" name="Text Box 82"/>
          <p:cNvSpPr txBox="1"/>
          <p:nvPr/>
        </p:nvSpPr>
        <p:spPr>
          <a:xfrm>
            <a:off x="3548063" y="2354263"/>
            <a:ext cx="623887"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2</a:t>
            </a:r>
            <a:endParaRPr lang="en-US" altLang="zh-CN" sz="1600" dirty="0">
              <a:latin typeface="Comic Sans MS" panose="030F0702030302020204" pitchFamily="66" charset="0"/>
              <a:ea typeface="宋体" panose="02010600030101010101" pitchFamily="2" charset="-122"/>
            </a:endParaRPr>
          </a:p>
        </p:txBody>
      </p:sp>
      <p:sp>
        <p:nvSpPr>
          <p:cNvPr id="45135" name="Text Box 83"/>
          <p:cNvSpPr txBox="1"/>
          <p:nvPr/>
        </p:nvSpPr>
        <p:spPr>
          <a:xfrm>
            <a:off x="1839913" y="2190750"/>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45136" name="Text Box 84"/>
          <p:cNvSpPr txBox="1"/>
          <p:nvPr/>
        </p:nvSpPr>
        <p:spPr>
          <a:xfrm>
            <a:off x="927100" y="2324100"/>
            <a:ext cx="592138"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1</a:t>
            </a:r>
            <a:endParaRPr lang="en-US" altLang="zh-CN" sz="1600" dirty="0">
              <a:latin typeface="Comic Sans MS" panose="030F0702030302020204" pitchFamily="66" charset="0"/>
              <a:ea typeface="宋体" panose="02010600030101010101" pitchFamily="2" charset="-122"/>
            </a:endParaRPr>
          </a:p>
        </p:txBody>
      </p:sp>
      <p:sp>
        <p:nvSpPr>
          <p:cNvPr id="45137" name="Text Box 85"/>
          <p:cNvSpPr txBox="1"/>
          <p:nvPr/>
        </p:nvSpPr>
        <p:spPr>
          <a:xfrm>
            <a:off x="2205038" y="3206750"/>
            <a:ext cx="431800"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H1</a:t>
            </a:r>
            <a:endParaRPr lang="en-US" altLang="zh-CN" sz="1600" dirty="0">
              <a:latin typeface="Comic Sans MS" panose="030F0702030302020204" pitchFamily="66" charset="0"/>
              <a:ea typeface="宋体" panose="02010600030101010101" pitchFamily="2" charset="-122"/>
            </a:endParaRPr>
          </a:p>
        </p:txBody>
      </p:sp>
      <p:sp>
        <p:nvSpPr>
          <p:cNvPr id="45138" name="Text Box 86"/>
          <p:cNvSpPr txBox="1"/>
          <p:nvPr/>
        </p:nvSpPr>
        <p:spPr>
          <a:xfrm>
            <a:off x="3846513" y="3009900"/>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45139" name="Text Box 87"/>
          <p:cNvSpPr txBox="1"/>
          <p:nvPr/>
        </p:nvSpPr>
        <p:spPr>
          <a:xfrm>
            <a:off x="2995613" y="1541463"/>
            <a:ext cx="766762"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2</a:t>
            </a:r>
            <a:endParaRPr lang="en-US" altLang="zh-CN" sz="1600" dirty="0">
              <a:latin typeface="Comic Sans MS" panose="030F0702030302020204" pitchFamily="66" charset="0"/>
              <a:ea typeface="宋体" panose="02010600030101010101" pitchFamily="2" charset="-122"/>
            </a:endParaRPr>
          </a:p>
        </p:txBody>
      </p:sp>
      <p:sp>
        <p:nvSpPr>
          <p:cNvPr id="45140" name="Text Box 88"/>
          <p:cNvSpPr txBox="1"/>
          <p:nvPr/>
        </p:nvSpPr>
        <p:spPr>
          <a:xfrm>
            <a:off x="1179513" y="1490663"/>
            <a:ext cx="735012"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1</a:t>
            </a:r>
            <a:endParaRPr lang="en-US" altLang="zh-CN" sz="1600" dirty="0">
              <a:latin typeface="Comic Sans MS" panose="030F0702030302020204" pitchFamily="66" charset="0"/>
              <a:ea typeface="宋体" panose="02010600030101010101" pitchFamily="2" charset="-122"/>
            </a:endParaRPr>
          </a:p>
        </p:txBody>
      </p:sp>
      <p:grpSp>
        <p:nvGrpSpPr>
          <p:cNvPr id="45141" name="Group 89"/>
          <p:cNvGrpSpPr/>
          <p:nvPr/>
        </p:nvGrpSpPr>
        <p:grpSpPr>
          <a:xfrm>
            <a:off x="3054350" y="2039938"/>
            <a:ext cx="842963" cy="600075"/>
            <a:chOff x="1160" y="2192"/>
            <a:chExt cx="589" cy="440"/>
          </a:xfrm>
        </p:grpSpPr>
        <p:pic>
          <p:nvPicPr>
            <p:cNvPr id="45142" name="Picture 90"/>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45143" name="AutoShape 91"/>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5144" name="Freeform 92"/>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5145" name="Freeform 93"/>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5146" name="Freeform 94"/>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5147" name="Freeform 95"/>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5148" name="Freeform 96"/>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5149" name="Freeform 97"/>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5150" name="Freeform 98"/>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5151" name="Freeform 99"/>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5152" name="Freeform 100"/>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5153" name="Freeform 101"/>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5154" name="Freeform 102"/>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5155" name="Freeform 103"/>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5156" name="Freeform 104"/>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5157" name="Freeform 105"/>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5158" name="Freeform 106"/>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5159" name="Freeform 107"/>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45160" name="Group 108"/>
          <p:cNvGrpSpPr/>
          <p:nvPr/>
        </p:nvGrpSpPr>
        <p:grpSpPr>
          <a:xfrm>
            <a:off x="1130300" y="2028825"/>
            <a:ext cx="844550" cy="600075"/>
            <a:chOff x="1160" y="2192"/>
            <a:chExt cx="589" cy="440"/>
          </a:xfrm>
        </p:grpSpPr>
        <p:pic>
          <p:nvPicPr>
            <p:cNvPr id="45161" name="Picture 109"/>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45162" name="AutoShape 110"/>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45163" name="Freeform 111"/>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45164" name="Freeform 112"/>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45165" name="Freeform 113"/>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45166" name="Freeform 114"/>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45167" name="Freeform 115"/>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45168" name="Freeform 116"/>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45169" name="Freeform 117"/>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45170" name="Freeform 118"/>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45171" name="Freeform 119"/>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45172" name="Freeform 120"/>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45173" name="Freeform 121"/>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45174" name="Freeform 122"/>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45175" name="Freeform 123"/>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45176" name="Freeform 124"/>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45177" name="Freeform 125"/>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45178" name="Freeform 126"/>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45179" name="Group 127"/>
          <p:cNvGrpSpPr/>
          <p:nvPr/>
        </p:nvGrpSpPr>
        <p:grpSpPr>
          <a:xfrm>
            <a:off x="2070100" y="2655888"/>
            <a:ext cx="635000" cy="588962"/>
            <a:chOff x="2870" y="1518"/>
            <a:chExt cx="292" cy="320"/>
          </a:xfrm>
        </p:grpSpPr>
        <p:graphicFrame>
          <p:nvGraphicFramePr>
            <p:cNvPr id="45180" name="Object 12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7" name="" r:id="rId6" imgW="826770" imgH="840105" progId="MS_ClipArt_Gallery.2">
                    <p:embed/>
                  </p:oleObj>
                </mc:Choice>
                <mc:Fallback>
                  <p:oleObj name="" r:id="rId6" imgW="826770" imgH="840105" progId="MS_ClipArt_Gallery.2">
                    <p:embed/>
                    <p:pic>
                      <p:nvPicPr>
                        <p:cNvPr id="0" name="图片 3106"/>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5181" name="Object 12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6" name="" r:id="rId7" imgW="1268095" imgH="1199515" progId="MS_ClipArt_Gallery.2">
                    <p:embed/>
                  </p:oleObj>
                </mc:Choice>
                <mc:Fallback>
                  <p:oleObj name="" r:id="rId7" imgW="1268095" imgH="1199515" progId="MS_ClipArt_Gallery.2">
                    <p:embed/>
                    <p:pic>
                      <p:nvPicPr>
                        <p:cNvPr id="0" name="图片 3105"/>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sp>
        <p:nvSpPr>
          <p:cNvPr id="45182" name="Line 130"/>
          <p:cNvSpPr/>
          <p:nvPr/>
        </p:nvSpPr>
        <p:spPr>
          <a:xfrm>
            <a:off x="1701800" y="2571750"/>
            <a:ext cx="644525" cy="225425"/>
          </a:xfrm>
          <a:prstGeom prst="line">
            <a:avLst/>
          </a:prstGeom>
          <a:ln w="28575" cap="flat" cmpd="sng">
            <a:solidFill>
              <a:schemeClr val="tx1"/>
            </a:solidFill>
            <a:prstDash val="solid"/>
            <a:round/>
            <a:headEnd type="none" w="med" len="med"/>
            <a:tailEnd type="triangle" w="med" len="med"/>
          </a:ln>
        </p:spPr>
      </p:sp>
      <p:sp>
        <p:nvSpPr>
          <p:cNvPr id="45183" name="Line 131"/>
          <p:cNvSpPr/>
          <p:nvPr/>
        </p:nvSpPr>
        <p:spPr>
          <a:xfrm flipH="1">
            <a:off x="2589213" y="2587625"/>
            <a:ext cx="644525" cy="225425"/>
          </a:xfrm>
          <a:prstGeom prst="line">
            <a:avLst/>
          </a:prstGeom>
          <a:ln w="28575" cap="flat" cmpd="sng">
            <a:solidFill>
              <a:schemeClr val="tx1"/>
            </a:solidFill>
            <a:prstDash val="solid"/>
            <a:round/>
            <a:headEnd type="none" w="med" len="med"/>
            <a:tailEnd type="triangle" w="med" len="med"/>
          </a:ln>
        </p:spPr>
      </p:sp>
      <p:sp>
        <p:nvSpPr>
          <p:cNvPr id="45184" name="Line 132"/>
          <p:cNvSpPr/>
          <p:nvPr/>
        </p:nvSpPr>
        <p:spPr>
          <a:xfrm flipH="1">
            <a:off x="2787650" y="2919413"/>
            <a:ext cx="644525" cy="225425"/>
          </a:xfrm>
          <a:prstGeom prst="line">
            <a:avLst/>
          </a:prstGeom>
          <a:ln w="28575" cap="flat" cmpd="sng">
            <a:solidFill>
              <a:schemeClr val="tx1"/>
            </a:solidFill>
            <a:prstDash val="solid"/>
            <a:round/>
            <a:headEnd type="none" w="med" len="med"/>
            <a:tailEnd type="triangle" w="med" len="med"/>
          </a:ln>
        </p:spPr>
      </p:sp>
      <p:sp>
        <p:nvSpPr>
          <p:cNvPr id="45185" name="Line 133"/>
          <p:cNvSpPr/>
          <p:nvPr/>
        </p:nvSpPr>
        <p:spPr>
          <a:xfrm flipV="1">
            <a:off x="2743200" y="2740025"/>
            <a:ext cx="644525" cy="225425"/>
          </a:xfrm>
          <a:prstGeom prst="line">
            <a:avLst/>
          </a:prstGeom>
          <a:ln w="28575" cap="flat" cmpd="sng">
            <a:solidFill>
              <a:schemeClr val="tx1"/>
            </a:solidFill>
            <a:prstDash val="solid"/>
            <a:round/>
            <a:headEnd type="none" w="med" len="med"/>
            <a:tailEnd type="triangle" w="med" len="med"/>
          </a:ln>
        </p:spPr>
      </p:sp>
      <p:grpSp>
        <p:nvGrpSpPr>
          <p:cNvPr id="45186" name="Group 134"/>
          <p:cNvGrpSpPr/>
          <p:nvPr/>
        </p:nvGrpSpPr>
        <p:grpSpPr>
          <a:xfrm>
            <a:off x="2898775" y="2489200"/>
            <a:ext cx="282575" cy="304800"/>
            <a:chOff x="1255" y="3461"/>
            <a:chExt cx="178" cy="192"/>
          </a:xfrm>
        </p:grpSpPr>
        <p:sp>
          <p:nvSpPr>
            <p:cNvPr id="45187" name="Oval 135"/>
            <p:cNvSpPr/>
            <p:nvPr/>
          </p:nvSpPr>
          <p:spPr>
            <a:xfrm>
              <a:off x="1274" y="349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88" name="Text Box 136"/>
            <p:cNvSpPr txBox="1"/>
            <p:nvPr/>
          </p:nvSpPr>
          <p:spPr>
            <a:xfrm>
              <a:off x="1255" y="3461"/>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1</a:t>
              </a:r>
              <a:endParaRPr lang="en-US" altLang="zh-CN" sz="1400" b="1" dirty="0">
                <a:latin typeface="Arial" panose="020B0604020202020204" pitchFamily="34" charset="0"/>
                <a:ea typeface="宋体" panose="02010600030101010101" pitchFamily="2" charset="-122"/>
              </a:endParaRPr>
            </a:p>
          </p:txBody>
        </p:sp>
      </p:grpSp>
      <p:grpSp>
        <p:nvGrpSpPr>
          <p:cNvPr id="45189" name="Group 137"/>
          <p:cNvGrpSpPr/>
          <p:nvPr/>
        </p:nvGrpSpPr>
        <p:grpSpPr>
          <a:xfrm>
            <a:off x="2811463" y="2746375"/>
            <a:ext cx="282575" cy="304800"/>
            <a:chOff x="1851" y="2490"/>
            <a:chExt cx="178" cy="192"/>
          </a:xfrm>
        </p:grpSpPr>
        <p:sp>
          <p:nvSpPr>
            <p:cNvPr id="45190" name="Oval 138"/>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91" name="Text Box 139"/>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2</a:t>
              </a:r>
              <a:endParaRPr lang="en-US" altLang="zh-CN" sz="1400" b="1" dirty="0">
                <a:latin typeface="Arial" panose="020B0604020202020204" pitchFamily="34" charset="0"/>
                <a:ea typeface="宋体" panose="02010600030101010101" pitchFamily="2" charset="-122"/>
              </a:endParaRPr>
            </a:p>
          </p:txBody>
        </p:sp>
      </p:grpSp>
      <p:grpSp>
        <p:nvGrpSpPr>
          <p:cNvPr id="45192" name="Group 140"/>
          <p:cNvGrpSpPr/>
          <p:nvPr/>
        </p:nvGrpSpPr>
        <p:grpSpPr>
          <a:xfrm>
            <a:off x="3097213" y="2852738"/>
            <a:ext cx="282575" cy="304800"/>
            <a:chOff x="1851" y="2490"/>
            <a:chExt cx="178" cy="192"/>
          </a:xfrm>
        </p:grpSpPr>
        <p:sp>
          <p:nvSpPr>
            <p:cNvPr id="45193" name="Oval 141"/>
            <p:cNvSpPr/>
            <p:nvPr/>
          </p:nvSpPr>
          <p:spPr>
            <a:xfrm>
              <a:off x="1861" y="251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94" name="Text Box 142"/>
            <p:cNvSpPr txBox="1"/>
            <p:nvPr/>
          </p:nvSpPr>
          <p:spPr>
            <a:xfrm>
              <a:off x="1851" y="2490"/>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3</a:t>
              </a:r>
              <a:endParaRPr lang="en-US" altLang="zh-CN" sz="1400" b="1" dirty="0">
                <a:latin typeface="Arial" panose="020B0604020202020204" pitchFamily="34" charset="0"/>
                <a:ea typeface="宋体" panose="02010600030101010101" pitchFamily="2" charset="-122"/>
              </a:endParaRPr>
            </a:p>
          </p:txBody>
        </p:sp>
      </p:grpSp>
      <p:grpSp>
        <p:nvGrpSpPr>
          <p:cNvPr id="45195" name="Group 143"/>
          <p:cNvGrpSpPr/>
          <p:nvPr/>
        </p:nvGrpSpPr>
        <p:grpSpPr>
          <a:xfrm>
            <a:off x="1731963" y="2462213"/>
            <a:ext cx="282575" cy="304800"/>
            <a:chOff x="1255" y="3461"/>
            <a:chExt cx="178" cy="192"/>
          </a:xfrm>
        </p:grpSpPr>
        <p:sp>
          <p:nvSpPr>
            <p:cNvPr id="45196" name="Oval 144"/>
            <p:cNvSpPr/>
            <p:nvPr/>
          </p:nvSpPr>
          <p:spPr>
            <a:xfrm>
              <a:off x="1274" y="3494"/>
              <a:ext cx="151" cy="13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5197" name="Text Box 145"/>
            <p:cNvSpPr txBox="1"/>
            <p:nvPr/>
          </p:nvSpPr>
          <p:spPr>
            <a:xfrm>
              <a:off x="1255" y="3461"/>
              <a:ext cx="178" cy="192"/>
            </a:xfrm>
            <a:prstGeom prst="rect">
              <a:avLst/>
            </a:prstGeom>
            <a:noFill/>
            <a:ln w="9525">
              <a:noFill/>
            </a:ln>
          </p:spPr>
          <p:txBody>
            <a:bodyPr wrap="none" anchor="t" anchorCtr="0">
              <a:spAutoFit/>
            </a:bodyPr>
            <a:p>
              <a:pPr>
                <a:buClrTx/>
                <a:buFontTx/>
              </a:pPr>
              <a:r>
                <a:rPr lang="en-US" altLang="zh-CN" sz="1400" b="1" dirty="0">
                  <a:latin typeface="Arial" panose="020B0604020202020204" pitchFamily="34" charset="0"/>
                  <a:ea typeface="宋体" panose="02010600030101010101" pitchFamily="2" charset="-122"/>
                </a:rPr>
                <a:t>1</a:t>
              </a:r>
              <a:endParaRPr lang="en-US" altLang="zh-CN" sz="1400" b="1" dirty="0">
                <a:latin typeface="Arial" panose="020B0604020202020204" pitchFamily="34" charset="0"/>
                <a:ea typeface="宋体" panose="02010600030101010101" pitchFamily="2" charset="-122"/>
              </a:endParaRPr>
            </a:p>
          </p:txBody>
        </p:sp>
      </p:grpSp>
      <p:sp>
        <p:nvSpPr>
          <p:cNvPr id="45198" name="Text Box 146"/>
          <p:cNvSpPr txBox="1"/>
          <p:nvPr/>
        </p:nvSpPr>
        <p:spPr>
          <a:xfrm>
            <a:off x="265113" y="3703638"/>
            <a:ext cx="4116387" cy="1770062"/>
          </a:xfrm>
          <a:prstGeom prst="rect">
            <a:avLst/>
          </a:prstGeom>
          <a:noFill/>
          <a:ln w="9525">
            <a:noFill/>
          </a:ln>
        </p:spPr>
        <p:txBody>
          <a:bodyPr anchor="t" anchorCtr="0">
            <a:spAutoFit/>
          </a:bodyPr>
          <a:p>
            <a:pPr marL="342900" indent="-342900">
              <a:buNone/>
            </a:pPr>
            <a:r>
              <a:rPr lang="en-US" altLang="zh-CN" sz="2000" i="1" u="sng" dirty="0">
                <a:solidFill>
                  <a:srgbClr val="FF3300"/>
                </a:solidFill>
                <a:latin typeface="Arial" panose="020B0604020202020204" pitchFamily="34" charset="0"/>
                <a:ea typeface="宋体" panose="02010600030101010101" pitchFamily="2" charset="-122"/>
              </a:rPr>
              <a:t>Passive Scanning:</a:t>
            </a:r>
            <a:r>
              <a:rPr lang="en-US" altLang="zh-CN" sz="1600" u="sng" dirty="0">
                <a:latin typeface="Arial" panose="020B0604020202020204" pitchFamily="34" charset="0"/>
                <a:ea typeface="宋体" panose="02010600030101010101" pitchFamily="2" charset="-122"/>
              </a:rPr>
              <a:t> </a:t>
            </a:r>
            <a:endParaRPr lang="en-US" altLang="zh-CN" sz="1600" u="sng"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beacon frames sent from APs</a:t>
            </a:r>
            <a:endParaRPr lang="en-US" altLang="zh-CN"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association Request frame sent: H1 to selected AP </a:t>
            </a:r>
            <a:endParaRPr lang="en-US" altLang="zh-CN" dirty="0">
              <a:latin typeface="Arial" panose="020B0604020202020204" pitchFamily="34" charset="0"/>
              <a:ea typeface="宋体" panose="02010600030101010101" pitchFamily="2" charset="-122"/>
            </a:endParaRPr>
          </a:p>
          <a:p>
            <a:pPr marL="342900" indent="-342900">
              <a:buAutoNum type="arabicParenBoth"/>
            </a:pPr>
            <a:r>
              <a:rPr lang="en-US" altLang="zh-CN" dirty="0">
                <a:latin typeface="Arial" panose="020B0604020202020204" pitchFamily="34" charset="0"/>
                <a:ea typeface="宋体" panose="02010600030101010101" pitchFamily="2" charset="-122"/>
              </a:rPr>
              <a:t>association Response frame sent: selected AP to</a:t>
            </a:r>
            <a:r>
              <a:rPr lang="zh-CN" altLang="en-US" dirty="0">
                <a:latin typeface="Arial" panose="020B0604020202020204" pitchFamily="34" charset="0"/>
                <a:ea typeface="宋体" panose="02010600030101010101" pitchFamily="2" charset="-122"/>
              </a:rPr>
              <a:t> </a:t>
            </a:r>
            <a:r>
              <a:rPr lang="en-US" altLang="zh-CN" dirty="0">
                <a:latin typeface="Arial" panose="020B0604020202020204" pitchFamily="34" charset="0"/>
                <a:ea typeface="宋体" panose="02010600030101010101" pitchFamily="2" charset="-122"/>
              </a:rPr>
              <a:t>H1</a:t>
            </a:r>
            <a:endParaRPr lang="en-US" altLang="zh-CN" dirty="0">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71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7107" name="Rectangle 2"/>
          <p:cNvSpPr>
            <a:spLocks noGrp="1"/>
          </p:cNvSpPr>
          <p:nvPr>
            <p:ph type="title"/>
          </p:nvPr>
        </p:nvSpPr>
        <p:spPr>
          <a:xfrm>
            <a:off x="509588" y="0"/>
            <a:ext cx="7772400" cy="1143000"/>
          </a:xfrm>
          <a:ln/>
        </p:spPr>
        <p:txBody>
          <a:bodyPr vert="horz" wrap="square" lIns="91440" tIns="45720" rIns="91440" bIns="45720" anchor="ctr" anchorCtr="0"/>
          <a:p>
            <a:r>
              <a:rPr lang="en-US" altLang="zh-CN" dirty="0">
                <a:ea typeface="宋体" panose="02010600030101010101" pitchFamily="2" charset="-122"/>
              </a:rPr>
              <a:t>IEEE 802.11: multiple access</a:t>
            </a:r>
            <a:endParaRPr lang="en-US" altLang="zh-CN" dirty="0">
              <a:ea typeface="宋体" panose="02010600030101010101" pitchFamily="2" charset="-122"/>
            </a:endParaRPr>
          </a:p>
        </p:txBody>
      </p:sp>
      <p:sp>
        <p:nvSpPr>
          <p:cNvPr id="47108" name="Rectangle 3"/>
          <p:cNvSpPr>
            <a:spLocks noGrp="1"/>
          </p:cNvSpPr>
          <p:nvPr>
            <p:ph idx="1"/>
          </p:nvPr>
        </p:nvSpPr>
        <p:spPr>
          <a:xfrm>
            <a:off x="533400" y="1160463"/>
            <a:ext cx="8188325" cy="4648200"/>
          </a:xfrm>
          <a:ln/>
        </p:spPr>
        <p:txBody>
          <a:bodyPr vert="horz" wrap="square" lIns="91440" tIns="45720" rIns="91440" bIns="45720" anchor="t" anchorCtr="0"/>
          <a:p>
            <a:r>
              <a:rPr lang="en-US" altLang="zh-CN" sz="2400" dirty="0">
                <a:ea typeface="宋体" panose="02010600030101010101" pitchFamily="2" charset="-122"/>
              </a:rPr>
              <a:t>avoid collisions: 2</a:t>
            </a:r>
            <a:r>
              <a:rPr lang="en-US" altLang="zh-CN" sz="2400" baseline="30000" dirty="0">
                <a:ea typeface="宋体" panose="02010600030101010101" pitchFamily="2" charset="-122"/>
              </a:rPr>
              <a:t>+</a:t>
            </a:r>
            <a:r>
              <a:rPr lang="en-US" altLang="zh-CN" sz="2400" dirty="0">
                <a:ea typeface="宋体" panose="02010600030101010101" pitchFamily="2" charset="-122"/>
              </a:rPr>
              <a:t> nodes </a:t>
            </a:r>
            <a:r>
              <a:rPr lang="en-US" altLang="zh-CN" sz="2400" dirty="0">
                <a:ea typeface="宋体" panose="02010600030101010101" pitchFamily="2" charset="-122"/>
                <a:sym typeface="Symbol" panose="05050102010706020507" pitchFamily="18" charset="2"/>
              </a:rPr>
              <a:t>transmitting at same time</a:t>
            </a:r>
            <a:endParaRPr lang="en-US" altLang="zh-CN" sz="2400" dirty="0">
              <a:ea typeface="宋体" panose="02010600030101010101" pitchFamily="2" charset="-122"/>
              <a:sym typeface="Symbol" panose="05050102010706020507" pitchFamily="18" charset="2"/>
            </a:endParaRPr>
          </a:p>
          <a:p>
            <a:r>
              <a:rPr lang="en-US" altLang="zh-CN" sz="2400" dirty="0">
                <a:ea typeface="宋体" panose="02010600030101010101" pitchFamily="2" charset="-122"/>
                <a:sym typeface="Symbol" panose="05050102010706020507" pitchFamily="18" charset="2"/>
              </a:rPr>
              <a:t>802.11: CSMA - sense before transmitting</a:t>
            </a:r>
            <a:endParaRPr lang="en-US" altLang="zh-CN" sz="2400" dirty="0">
              <a:ea typeface="宋体" panose="02010600030101010101" pitchFamily="2" charset="-122"/>
              <a:sym typeface="Symbol" panose="05050102010706020507" pitchFamily="18" charset="2"/>
            </a:endParaRPr>
          </a:p>
          <a:p>
            <a:pPr lvl="1"/>
            <a:r>
              <a:rPr lang="en-US" altLang="zh-CN" sz="2000" dirty="0">
                <a:ea typeface="宋体" panose="02010600030101010101" pitchFamily="2" charset="-122"/>
              </a:rPr>
              <a:t>don’t collide with ongoing transmission by other node</a:t>
            </a:r>
            <a:endParaRPr lang="en-US" altLang="zh-CN" sz="2000" dirty="0">
              <a:ea typeface="宋体" panose="02010600030101010101" pitchFamily="2" charset="-122"/>
            </a:endParaRPr>
          </a:p>
          <a:p>
            <a:r>
              <a:rPr lang="en-US" altLang="zh-CN" sz="2400" dirty="0">
                <a:ea typeface="宋体" panose="02010600030101010101" pitchFamily="2" charset="-122"/>
              </a:rPr>
              <a:t>802.11: </a:t>
            </a:r>
            <a:r>
              <a:rPr lang="en-US" altLang="zh-CN" sz="2400" i="1" dirty="0">
                <a:ea typeface="宋体" panose="02010600030101010101" pitchFamily="2" charset="-122"/>
              </a:rPr>
              <a:t>no</a:t>
            </a:r>
            <a:r>
              <a:rPr lang="en-US" altLang="zh-CN" sz="2400" dirty="0">
                <a:ea typeface="宋体" panose="02010600030101010101" pitchFamily="2" charset="-122"/>
              </a:rPr>
              <a:t> collision detection!</a:t>
            </a:r>
            <a:endParaRPr lang="en-US" altLang="zh-CN" sz="2400" dirty="0">
              <a:ea typeface="宋体" panose="02010600030101010101" pitchFamily="2" charset="-122"/>
            </a:endParaRPr>
          </a:p>
          <a:p>
            <a:pPr lvl="1"/>
            <a:r>
              <a:rPr lang="en-US" altLang="zh-CN" sz="2000" dirty="0">
                <a:ea typeface="宋体" panose="02010600030101010101" pitchFamily="2" charset="-122"/>
              </a:rPr>
              <a:t>difficult to receive (sense collisions) when transmitting due to weak received signals (fading)</a:t>
            </a:r>
            <a:endParaRPr lang="en-US" altLang="zh-CN" sz="2000" dirty="0">
              <a:ea typeface="宋体" panose="02010600030101010101" pitchFamily="2" charset="-122"/>
            </a:endParaRPr>
          </a:p>
          <a:p>
            <a:pPr lvl="1"/>
            <a:r>
              <a:rPr lang="en-US" altLang="zh-CN" sz="2000" dirty="0">
                <a:ea typeface="宋体" panose="02010600030101010101" pitchFamily="2" charset="-122"/>
              </a:rPr>
              <a:t>can’t sense all collisions in any case: hidden terminal, fading</a:t>
            </a:r>
            <a:endParaRPr lang="en-US" altLang="zh-CN" sz="2000" dirty="0">
              <a:ea typeface="宋体" panose="02010600030101010101" pitchFamily="2" charset="-122"/>
            </a:endParaRPr>
          </a:p>
          <a:p>
            <a:pPr lvl="1"/>
            <a:r>
              <a:rPr lang="en-US" altLang="zh-CN" sz="2000" dirty="0">
                <a:ea typeface="宋体" panose="02010600030101010101" pitchFamily="2" charset="-122"/>
              </a:rPr>
              <a:t>goal: </a:t>
            </a:r>
            <a:r>
              <a:rPr lang="en-US" altLang="zh-CN" sz="2000" i="1" dirty="0">
                <a:solidFill>
                  <a:srgbClr val="FF0000"/>
                </a:solidFill>
                <a:ea typeface="宋体" panose="02010600030101010101" pitchFamily="2" charset="-122"/>
              </a:rPr>
              <a:t>avoid collisions:</a:t>
            </a:r>
            <a:r>
              <a:rPr lang="en-US" altLang="zh-CN" sz="2000" dirty="0">
                <a:ea typeface="宋体" panose="02010600030101010101" pitchFamily="2" charset="-122"/>
              </a:rPr>
              <a:t> CSMA/C(ollision)A(voidance)</a:t>
            </a:r>
            <a:endParaRPr lang="en-US" altLang="zh-CN" sz="2000" dirty="0">
              <a:solidFill>
                <a:srgbClr val="FF0000"/>
              </a:solidFill>
              <a:ea typeface="宋体" panose="02010600030101010101" pitchFamily="2" charset="-122"/>
            </a:endParaRPr>
          </a:p>
        </p:txBody>
      </p:sp>
      <p:grpSp>
        <p:nvGrpSpPr>
          <p:cNvPr id="47109" name="Group 45"/>
          <p:cNvGrpSpPr/>
          <p:nvPr/>
        </p:nvGrpSpPr>
        <p:grpSpPr>
          <a:xfrm>
            <a:off x="1430338" y="4452938"/>
            <a:ext cx="6056312" cy="2006600"/>
            <a:chOff x="440" y="1326"/>
            <a:chExt cx="5164" cy="1464"/>
          </a:xfrm>
        </p:grpSpPr>
        <p:grpSp>
          <p:nvGrpSpPr>
            <p:cNvPr id="47110" name="Group 5"/>
            <p:cNvGrpSpPr/>
            <p:nvPr/>
          </p:nvGrpSpPr>
          <p:grpSpPr>
            <a:xfrm>
              <a:off x="440" y="1520"/>
              <a:ext cx="2086" cy="1018"/>
              <a:chOff x="759" y="2008"/>
              <a:chExt cx="2086" cy="1018"/>
            </a:xfrm>
          </p:grpSpPr>
          <p:grpSp>
            <p:nvGrpSpPr>
              <p:cNvPr id="47111" name="Group 6"/>
              <p:cNvGrpSpPr/>
              <p:nvPr/>
            </p:nvGrpSpPr>
            <p:grpSpPr>
              <a:xfrm>
                <a:off x="1529" y="2018"/>
                <a:ext cx="535" cy="466"/>
                <a:chOff x="2870" y="1518"/>
                <a:chExt cx="292" cy="320"/>
              </a:xfrm>
            </p:grpSpPr>
            <p:graphicFrame>
              <p:nvGraphicFramePr>
                <p:cNvPr id="47112" name="Object 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4" name="" r:id="rId1" imgW="826770" imgH="840105" progId="MS_ClipArt_Gallery.2">
                        <p:embed/>
                      </p:oleObj>
                    </mc:Choice>
                    <mc:Fallback>
                      <p:oleObj name="" r:id="rId1" imgW="826770" imgH="840105" progId="MS_ClipArt_Gallery.2">
                        <p:embed/>
                        <p:pic>
                          <p:nvPicPr>
                            <p:cNvPr id="0" name="图片 3113"/>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13" name="Object 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08" name="" r:id="rId3" imgW="1268095" imgH="1199515" progId="MS_ClipArt_Gallery.2">
                        <p:embed/>
                      </p:oleObj>
                    </mc:Choice>
                    <mc:Fallback>
                      <p:oleObj name="" r:id="rId3" imgW="1268095" imgH="1199515" progId="MS_ClipArt_Gallery.2">
                        <p:embed/>
                        <p:pic>
                          <p:nvPicPr>
                            <p:cNvPr id="0" name="图片 310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47114" name="Freeform 9"/>
              <p:cNvSpPr/>
              <p:nvPr/>
            </p:nvSpPr>
            <p:spPr>
              <a:xfrm>
                <a:off x="759" y="2008"/>
                <a:ext cx="1273" cy="684"/>
              </a:xfrm>
              <a:custGeom>
                <a:avLst/>
                <a:gdLst/>
                <a:ahLst/>
                <a:cxnLst>
                  <a:cxn ang="0">
                    <a:pos x="9" y="675"/>
                  </a:cxn>
                  <a:cxn ang="0">
                    <a:pos x="316" y="0"/>
                  </a:cxn>
                  <a:cxn ang="0">
                    <a:pos x="461" y="228"/>
                  </a:cxn>
                  <a:cxn ang="0">
                    <a:pos x="510" y="119"/>
                  </a:cxn>
                  <a:cxn ang="0">
                    <a:pos x="631" y="467"/>
                  </a:cxn>
                  <a:cxn ang="0">
                    <a:pos x="667" y="391"/>
                  </a:cxn>
                  <a:cxn ang="0">
                    <a:pos x="739" y="464"/>
                  </a:cxn>
                  <a:cxn ang="0">
                    <a:pos x="1058" y="57"/>
                  </a:cxn>
                  <a:cxn ang="0">
                    <a:pos x="1273" y="684"/>
                  </a:cxn>
                  <a:cxn ang="0">
                    <a:pos x="0" y="674"/>
                  </a:cxn>
                </a:cxnLst>
                <a:pathLst>
                  <a:path w="1273" h="684">
                    <a:moveTo>
                      <a:pt x="9" y="675"/>
                    </a:moveTo>
                    <a:lnTo>
                      <a:pt x="316" y="0"/>
                    </a:lnTo>
                    <a:lnTo>
                      <a:pt x="461" y="228"/>
                    </a:lnTo>
                    <a:lnTo>
                      <a:pt x="510" y="119"/>
                    </a:lnTo>
                    <a:lnTo>
                      <a:pt x="631" y="467"/>
                    </a:lnTo>
                    <a:lnTo>
                      <a:pt x="667" y="391"/>
                    </a:lnTo>
                    <a:lnTo>
                      <a:pt x="739" y="464"/>
                    </a:lnTo>
                    <a:lnTo>
                      <a:pt x="1058" y="57"/>
                    </a:lnTo>
                    <a:lnTo>
                      <a:pt x="1273" y="684"/>
                    </a:lnTo>
                    <a:lnTo>
                      <a:pt x="0" y="674"/>
                    </a:lnTo>
                  </a:path>
                </a:pathLst>
              </a:custGeom>
              <a:gradFill rotWithShape="1">
                <a:gsLst>
                  <a:gs pos="0">
                    <a:srgbClr val="FFFFFF"/>
                  </a:gs>
                  <a:gs pos="100000">
                    <a:srgbClr val="00CC66"/>
                  </a:gs>
                </a:gsLst>
                <a:lin ang="5400000" scaled="1"/>
                <a:tileRect/>
              </a:gradFill>
              <a:ln w="9525" cap="flat" cmpd="sng">
                <a:solidFill>
                  <a:schemeClr val="tx1"/>
                </a:solidFill>
                <a:prstDash val="solid"/>
                <a:round/>
                <a:headEnd type="none" w="med" len="med"/>
                <a:tailEnd type="none" w="med" len="med"/>
              </a:ln>
            </p:spPr>
            <p:txBody>
              <a:bodyPr/>
              <a:p>
                <a:endParaRPr lang="zh-CN" altLang="en-US"/>
              </a:p>
            </p:txBody>
          </p:sp>
          <p:grpSp>
            <p:nvGrpSpPr>
              <p:cNvPr id="47115" name="Group 10"/>
              <p:cNvGrpSpPr/>
              <p:nvPr/>
            </p:nvGrpSpPr>
            <p:grpSpPr>
              <a:xfrm>
                <a:off x="1053" y="2587"/>
                <a:ext cx="482" cy="439"/>
                <a:chOff x="2870" y="1518"/>
                <a:chExt cx="292" cy="320"/>
              </a:xfrm>
            </p:grpSpPr>
            <p:graphicFrame>
              <p:nvGraphicFramePr>
                <p:cNvPr id="47116" name="Object 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1" name="" r:id="rId5" imgW="826770" imgH="840105" progId="MS_ClipArt_Gallery.2">
                        <p:embed/>
                      </p:oleObj>
                    </mc:Choice>
                    <mc:Fallback>
                      <p:oleObj name="" r:id="rId5" imgW="826770" imgH="840105" progId="MS_ClipArt_Gallery.2">
                        <p:embed/>
                        <p:pic>
                          <p:nvPicPr>
                            <p:cNvPr id="0" name="图片 3110"/>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17" name="Object 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0" name="" r:id="rId6" imgW="1268095" imgH="1199515" progId="MS_ClipArt_Gallery.2">
                        <p:embed/>
                      </p:oleObj>
                    </mc:Choice>
                    <mc:Fallback>
                      <p:oleObj name="" r:id="rId6" imgW="1268095" imgH="1199515" progId="MS_ClipArt_Gallery.2">
                        <p:embed/>
                        <p:pic>
                          <p:nvPicPr>
                            <p:cNvPr id="0" name="图片 310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7118" name="Group 13"/>
              <p:cNvGrpSpPr/>
              <p:nvPr/>
            </p:nvGrpSpPr>
            <p:grpSpPr>
              <a:xfrm>
                <a:off x="2124" y="2391"/>
                <a:ext cx="482" cy="439"/>
                <a:chOff x="2870" y="1518"/>
                <a:chExt cx="292" cy="320"/>
              </a:xfrm>
            </p:grpSpPr>
            <p:graphicFrame>
              <p:nvGraphicFramePr>
                <p:cNvPr id="47119" name="Object 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09" name="" r:id="rId7" imgW="826770" imgH="840105" progId="MS_ClipArt_Gallery.2">
                        <p:embed/>
                      </p:oleObj>
                    </mc:Choice>
                    <mc:Fallback>
                      <p:oleObj name="" r:id="rId7" imgW="826770" imgH="840105" progId="MS_ClipArt_Gallery.2">
                        <p:embed/>
                        <p:pic>
                          <p:nvPicPr>
                            <p:cNvPr id="0" name="图片 310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20" name="Object 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3" name="" r:id="rId8" imgW="1268095" imgH="1199515" progId="MS_ClipArt_Gallery.2">
                        <p:embed/>
                      </p:oleObj>
                    </mc:Choice>
                    <mc:Fallback>
                      <p:oleObj name="" r:id="rId8" imgW="1268095" imgH="1199515" progId="MS_ClipArt_Gallery.2">
                        <p:embed/>
                        <p:pic>
                          <p:nvPicPr>
                            <p:cNvPr id="0" name="图片 3112"/>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47121" name="Line 16"/>
              <p:cNvSpPr/>
              <p:nvPr/>
            </p:nvSpPr>
            <p:spPr>
              <a:xfrm flipV="1">
                <a:off x="1561" y="2773"/>
                <a:ext cx="629" cy="107"/>
              </a:xfrm>
              <a:prstGeom prst="line">
                <a:avLst/>
              </a:prstGeom>
              <a:ln w="38100" cap="flat" cmpd="sng">
                <a:solidFill>
                  <a:srgbClr val="FF0000"/>
                </a:solidFill>
                <a:prstDash val="solid"/>
                <a:round/>
                <a:headEnd type="triangle" w="med" len="med"/>
                <a:tailEnd type="triangle" w="med" len="med"/>
              </a:ln>
            </p:spPr>
          </p:sp>
          <p:sp>
            <p:nvSpPr>
              <p:cNvPr id="47122" name="Line 17"/>
              <p:cNvSpPr/>
              <p:nvPr/>
            </p:nvSpPr>
            <p:spPr>
              <a:xfrm>
                <a:off x="1985" y="2471"/>
                <a:ext cx="257" cy="203"/>
              </a:xfrm>
              <a:prstGeom prst="line">
                <a:avLst/>
              </a:prstGeom>
              <a:ln w="38100" cap="flat" cmpd="sng">
                <a:solidFill>
                  <a:srgbClr val="FF0000"/>
                </a:solidFill>
                <a:prstDash val="solid"/>
                <a:round/>
                <a:headEnd type="triangle" w="med" len="med"/>
                <a:tailEnd type="triangle" w="med" len="med"/>
              </a:ln>
            </p:spPr>
          </p:sp>
          <p:sp>
            <p:nvSpPr>
              <p:cNvPr id="47123" name="Text Box 18"/>
              <p:cNvSpPr txBox="1"/>
              <p:nvPr/>
            </p:nvSpPr>
            <p:spPr>
              <a:xfrm>
                <a:off x="1005" y="2705"/>
                <a:ext cx="300" cy="268"/>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47124" name="Text Box 19"/>
              <p:cNvSpPr txBox="1"/>
              <p:nvPr/>
            </p:nvSpPr>
            <p:spPr>
              <a:xfrm>
                <a:off x="2565" y="2562"/>
                <a:ext cx="280" cy="267"/>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t>
                </a:r>
                <a:endParaRPr lang="en-US" altLang="zh-CN" dirty="0">
                  <a:latin typeface="Comic Sans MS" panose="030F0702030302020204" pitchFamily="66" charset="0"/>
                  <a:ea typeface="宋体" panose="02010600030101010101" pitchFamily="2" charset="-122"/>
                </a:endParaRPr>
              </a:p>
            </p:txBody>
          </p:sp>
          <p:sp>
            <p:nvSpPr>
              <p:cNvPr id="47125" name="Text Box 20"/>
              <p:cNvSpPr txBox="1"/>
              <p:nvPr/>
            </p:nvSpPr>
            <p:spPr>
              <a:xfrm>
                <a:off x="2014" y="2118"/>
                <a:ext cx="274" cy="268"/>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a:t>
                </a:r>
                <a:endParaRPr lang="en-US" altLang="zh-CN" dirty="0">
                  <a:latin typeface="Comic Sans MS" panose="030F0702030302020204" pitchFamily="66" charset="0"/>
                  <a:ea typeface="宋体" panose="02010600030101010101" pitchFamily="2" charset="-122"/>
                </a:endParaRPr>
              </a:p>
            </p:txBody>
          </p:sp>
        </p:grpSp>
        <p:grpSp>
          <p:nvGrpSpPr>
            <p:cNvPr id="47126" name="Group 21"/>
            <p:cNvGrpSpPr/>
            <p:nvPr/>
          </p:nvGrpSpPr>
          <p:grpSpPr>
            <a:xfrm>
              <a:off x="3114" y="1326"/>
              <a:ext cx="2490" cy="1464"/>
              <a:chOff x="3264" y="1698"/>
              <a:chExt cx="2490" cy="1464"/>
            </a:xfrm>
          </p:grpSpPr>
          <p:grpSp>
            <p:nvGrpSpPr>
              <p:cNvPr id="47127" name="Group 22"/>
              <p:cNvGrpSpPr/>
              <p:nvPr/>
            </p:nvGrpSpPr>
            <p:grpSpPr>
              <a:xfrm>
                <a:off x="3264" y="1698"/>
                <a:ext cx="2221" cy="455"/>
                <a:chOff x="3256" y="1911"/>
                <a:chExt cx="2221" cy="455"/>
              </a:xfrm>
            </p:grpSpPr>
            <p:grpSp>
              <p:nvGrpSpPr>
                <p:cNvPr id="47128" name="Group 23"/>
                <p:cNvGrpSpPr/>
                <p:nvPr/>
              </p:nvGrpSpPr>
              <p:grpSpPr>
                <a:xfrm>
                  <a:off x="3303" y="1911"/>
                  <a:ext cx="482" cy="439"/>
                  <a:chOff x="2870" y="1518"/>
                  <a:chExt cx="292" cy="320"/>
                </a:xfrm>
              </p:grpSpPr>
              <p:graphicFrame>
                <p:nvGraphicFramePr>
                  <p:cNvPr id="47129" name="Object 2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2" name="" r:id="rId9" imgW="826770" imgH="840105" progId="MS_ClipArt_Gallery.2">
                          <p:embed/>
                        </p:oleObj>
                      </mc:Choice>
                      <mc:Fallback>
                        <p:oleObj name="" r:id="rId9" imgW="826770" imgH="840105" progId="MS_ClipArt_Gallery.2">
                          <p:embed/>
                          <p:pic>
                            <p:nvPicPr>
                              <p:cNvPr id="0" name="图片 311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30" name="Object 2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9" name="" r:id="rId10" imgW="1268095" imgH="1199515" progId="MS_ClipArt_Gallery.2">
                          <p:embed/>
                        </p:oleObj>
                      </mc:Choice>
                      <mc:Fallback>
                        <p:oleObj name="" r:id="rId10" imgW="1268095" imgH="1199515" progId="MS_ClipArt_Gallery.2">
                          <p:embed/>
                          <p:pic>
                            <p:nvPicPr>
                              <p:cNvPr id="0" name="图片 3118"/>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47131" name="Group 26"/>
                <p:cNvGrpSpPr/>
                <p:nvPr/>
              </p:nvGrpSpPr>
              <p:grpSpPr>
                <a:xfrm>
                  <a:off x="4037" y="1919"/>
                  <a:ext cx="482" cy="439"/>
                  <a:chOff x="2870" y="1518"/>
                  <a:chExt cx="292" cy="320"/>
                </a:xfrm>
              </p:grpSpPr>
              <p:graphicFrame>
                <p:nvGraphicFramePr>
                  <p:cNvPr id="47132" name="Object 2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7" name="" r:id="rId11" imgW="826770" imgH="840105" progId="MS_ClipArt_Gallery.2">
                          <p:embed/>
                        </p:oleObj>
                      </mc:Choice>
                      <mc:Fallback>
                        <p:oleObj name="" r:id="rId11" imgW="826770" imgH="840105" progId="MS_ClipArt_Gallery.2">
                          <p:embed/>
                          <p:pic>
                            <p:nvPicPr>
                              <p:cNvPr id="0" name="图片 3116"/>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33" name="Object 2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5" name="" r:id="rId12" imgW="1268095" imgH="1199515" progId="MS_ClipArt_Gallery.2">
                          <p:embed/>
                        </p:oleObj>
                      </mc:Choice>
                      <mc:Fallback>
                        <p:oleObj name="" r:id="rId12" imgW="1268095" imgH="1199515" progId="MS_ClipArt_Gallery.2">
                          <p:embed/>
                          <p:pic>
                            <p:nvPicPr>
                              <p:cNvPr id="0" name="图片 3114"/>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47134" name="Text Box 29"/>
                <p:cNvSpPr txBox="1"/>
                <p:nvPr/>
              </p:nvSpPr>
              <p:spPr>
                <a:xfrm>
                  <a:off x="3256" y="2030"/>
                  <a:ext cx="299" cy="268"/>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a:t>
                  </a:r>
                  <a:endParaRPr lang="en-US" altLang="zh-CN" dirty="0">
                    <a:solidFill>
                      <a:srgbClr val="FF0000"/>
                    </a:solidFill>
                    <a:latin typeface="Comic Sans MS" panose="030F0702030302020204" pitchFamily="66" charset="0"/>
                    <a:ea typeface="宋体" panose="02010600030101010101" pitchFamily="2" charset="-122"/>
                  </a:endParaRPr>
                </a:p>
              </p:txBody>
            </p:sp>
            <p:sp>
              <p:nvSpPr>
                <p:cNvPr id="47135" name="Text Box 30"/>
                <p:cNvSpPr txBox="1"/>
                <p:nvPr/>
              </p:nvSpPr>
              <p:spPr>
                <a:xfrm>
                  <a:off x="4459" y="2027"/>
                  <a:ext cx="207" cy="26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t>
                  </a:r>
                  <a:endParaRPr lang="en-US" altLang="zh-CN" dirty="0">
                    <a:latin typeface="Comic Sans MS" panose="030F0702030302020204" pitchFamily="66" charset="0"/>
                    <a:ea typeface="宋体" panose="02010600030101010101" pitchFamily="2" charset="-122"/>
                  </a:endParaRPr>
                </a:p>
              </p:txBody>
            </p:sp>
            <p:sp>
              <p:nvSpPr>
                <p:cNvPr id="47136" name="Text Box 31"/>
                <p:cNvSpPr txBox="1"/>
                <p:nvPr/>
              </p:nvSpPr>
              <p:spPr>
                <a:xfrm>
                  <a:off x="5203" y="2053"/>
                  <a:ext cx="274" cy="268"/>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a:t>
                  </a:r>
                  <a:endParaRPr lang="en-US" altLang="zh-CN" dirty="0">
                    <a:latin typeface="Comic Sans MS" panose="030F0702030302020204" pitchFamily="66" charset="0"/>
                    <a:ea typeface="宋体" panose="02010600030101010101" pitchFamily="2" charset="-122"/>
                  </a:endParaRPr>
                </a:p>
              </p:txBody>
            </p:sp>
            <p:grpSp>
              <p:nvGrpSpPr>
                <p:cNvPr id="47137" name="Group 32"/>
                <p:cNvGrpSpPr/>
                <p:nvPr/>
              </p:nvGrpSpPr>
              <p:grpSpPr>
                <a:xfrm>
                  <a:off x="4726" y="1927"/>
                  <a:ext cx="482" cy="439"/>
                  <a:chOff x="2870" y="1518"/>
                  <a:chExt cx="292" cy="320"/>
                </a:xfrm>
              </p:grpSpPr>
              <p:graphicFrame>
                <p:nvGraphicFramePr>
                  <p:cNvPr id="47138" name="Object 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18" name="" r:id="rId13" imgW="826770" imgH="840105" progId="MS_ClipArt_Gallery.2">
                          <p:embed/>
                        </p:oleObj>
                      </mc:Choice>
                      <mc:Fallback>
                        <p:oleObj name="" r:id="rId13" imgW="826770" imgH="840105" progId="MS_ClipArt_Gallery.2">
                          <p:embed/>
                          <p:pic>
                            <p:nvPicPr>
                              <p:cNvPr id="0" name="图片 3117"/>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47139" name="Object 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16" name="" r:id="rId14" imgW="1268095" imgH="1199515" progId="MS_ClipArt_Gallery.2">
                          <p:embed/>
                        </p:oleObj>
                      </mc:Choice>
                      <mc:Fallback>
                        <p:oleObj name="" r:id="rId14" imgW="1268095" imgH="1199515" progId="MS_ClipArt_Gallery.2">
                          <p:embed/>
                          <p:pic>
                            <p:nvPicPr>
                              <p:cNvPr id="0" name="图片 3115"/>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47140" name="Text Box 35"/>
              <p:cNvSpPr txBox="1"/>
              <p:nvPr/>
            </p:nvSpPr>
            <p:spPr>
              <a:xfrm>
                <a:off x="3310" y="2339"/>
                <a:ext cx="809" cy="377"/>
              </a:xfrm>
              <a:prstGeom prst="rect">
                <a:avLst/>
              </a:prstGeom>
              <a:noFill/>
              <a:ln w="9525">
                <a:noFill/>
              </a:ln>
            </p:spPr>
            <p:txBody>
              <a:bodyPr wrap="none" anchor="t" anchorCtr="0">
                <a:spAutoFit/>
              </a:bodyPr>
              <a:p>
                <a:pPr eaLnBrk="0" hangingPunct="0">
                  <a:buClrTx/>
                  <a:buFontTx/>
                </a:pPr>
                <a:r>
                  <a:rPr lang="en-US" altLang="zh-CN" sz="1400" dirty="0">
                    <a:solidFill>
                      <a:srgbClr val="FF0000"/>
                    </a:solidFill>
                    <a:latin typeface="Comic Sans MS" panose="030F0702030302020204" pitchFamily="66" charset="0"/>
                    <a:ea typeface="宋体" panose="02010600030101010101" pitchFamily="2" charset="-122"/>
                  </a:rPr>
                  <a:t>A’s signal</a:t>
                </a:r>
                <a:endParaRPr lang="en-US" altLang="zh-CN" sz="1400" dirty="0">
                  <a:solidFill>
                    <a:srgbClr val="FF0000"/>
                  </a:solidFill>
                  <a:latin typeface="Comic Sans MS" panose="030F0702030302020204" pitchFamily="66" charset="0"/>
                  <a:ea typeface="宋体" panose="02010600030101010101" pitchFamily="2" charset="-122"/>
                </a:endParaRPr>
              </a:p>
              <a:p>
                <a:pPr eaLnBrk="0" hangingPunct="0">
                  <a:buClrTx/>
                  <a:buFontTx/>
                </a:pPr>
                <a:r>
                  <a:rPr lang="en-US" altLang="zh-CN" sz="1400" dirty="0">
                    <a:solidFill>
                      <a:srgbClr val="FF0000"/>
                    </a:solidFill>
                    <a:latin typeface="Comic Sans MS" panose="030F0702030302020204" pitchFamily="66" charset="0"/>
                    <a:ea typeface="宋体" panose="02010600030101010101" pitchFamily="2" charset="-122"/>
                  </a:rPr>
                  <a:t>strength</a:t>
                </a:r>
                <a:endParaRPr lang="en-US" altLang="zh-CN" sz="1400" dirty="0">
                  <a:solidFill>
                    <a:srgbClr val="FF0000"/>
                  </a:solidFill>
                  <a:latin typeface="Comic Sans MS" panose="030F0702030302020204" pitchFamily="66" charset="0"/>
                  <a:ea typeface="宋体" panose="02010600030101010101" pitchFamily="2" charset="-122"/>
                </a:endParaRPr>
              </a:p>
            </p:txBody>
          </p:sp>
          <p:sp>
            <p:nvSpPr>
              <p:cNvPr id="47141" name="Line 36"/>
              <p:cNvSpPr/>
              <p:nvPr/>
            </p:nvSpPr>
            <p:spPr>
              <a:xfrm>
                <a:off x="3349" y="2985"/>
                <a:ext cx="2056" cy="0"/>
              </a:xfrm>
              <a:prstGeom prst="line">
                <a:avLst/>
              </a:prstGeom>
              <a:ln w="9525" cap="flat" cmpd="sng">
                <a:solidFill>
                  <a:schemeClr val="tx1"/>
                </a:solidFill>
                <a:prstDash val="solid"/>
                <a:round/>
                <a:headEnd type="none" w="med" len="med"/>
                <a:tailEnd type="none" w="med" len="med"/>
              </a:ln>
            </p:spPr>
          </p:sp>
          <p:sp>
            <p:nvSpPr>
              <p:cNvPr id="47142" name="Line 37"/>
              <p:cNvSpPr/>
              <p:nvPr/>
            </p:nvSpPr>
            <p:spPr>
              <a:xfrm>
                <a:off x="3315" y="2242"/>
                <a:ext cx="0" cy="717"/>
              </a:xfrm>
              <a:prstGeom prst="line">
                <a:avLst/>
              </a:prstGeom>
              <a:ln w="9525" cap="flat" cmpd="sng">
                <a:solidFill>
                  <a:schemeClr val="tx1"/>
                </a:solidFill>
                <a:prstDash val="solid"/>
                <a:round/>
                <a:headEnd type="none" w="med" len="med"/>
                <a:tailEnd type="none" w="med" len="med"/>
              </a:ln>
            </p:spPr>
          </p:sp>
          <p:sp>
            <p:nvSpPr>
              <p:cNvPr id="47143" name="Freeform 38"/>
              <p:cNvSpPr/>
              <p:nvPr/>
            </p:nvSpPr>
            <p:spPr>
              <a:xfrm>
                <a:off x="3367" y="2277"/>
                <a:ext cx="1887" cy="681"/>
              </a:xfrm>
              <a:custGeom>
                <a:avLst/>
                <a:gdLst/>
                <a:ahLst/>
                <a:cxnLst>
                  <a:cxn ang="0">
                    <a:pos x="0" y="0"/>
                  </a:cxn>
                  <a:cxn ang="0">
                    <a:pos x="966" y="151"/>
                  </a:cxn>
                  <a:cxn ang="0">
                    <a:pos x="1373" y="594"/>
                  </a:cxn>
                  <a:cxn ang="0">
                    <a:pos x="1887" y="673"/>
                  </a:cxn>
                </a:cxnLst>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47144" name="Text Box 39"/>
              <p:cNvSpPr txBox="1"/>
              <p:nvPr/>
            </p:nvSpPr>
            <p:spPr>
              <a:xfrm>
                <a:off x="4159" y="2962"/>
                <a:ext cx="493" cy="200"/>
              </a:xfrm>
              <a:prstGeom prst="rect">
                <a:avLst/>
              </a:prstGeom>
              <a:noFill/>
              <a:ln w="9525">
                <a:noFill/>
              </a:ln>
            </p:spPr>
            <p:txBody>
              <a:bodyPr wrap="none" anchor="t" anchorCtr="0">
                <a:spAutoFit/>
              </a:bodyPr>
              <a:p>
                <a:pPr eaLnBrk="0" hangingPunct="0">
                  <a:buClrTx/>
                  <a:buFontTx/>
                </a:pPr>
                <a:r>
                  <a:rPr lang="en-US" altLang="zh-CN" sz="1200" dirty="0">
                    <a:latin typeface="Comic Sans MS" panose="030F0702030302020204" pitchFamily="66" charset="0"/>
                    <a:ea typeface="宋体" panose="02010600030101010101" pitchFamily="2" charset="-122"/>
                  </a:rPr>
                  <a:t>space</a:t>
                </a:r>
                <a:endParaRPr lang="en-US" altLang="zh-CN" sz="1200" dirty="0">
                  <a:latin typeface="Comic Sans MS" panose="030F0702030302020204" pitchFamily="66" charset="0"/>
                  <a:ea typeface="宋体" panose="02010600030101010101" pitchFamily="2" charset="-122"/>
                </a:endParaRPr>
              </a:p>
            </p:txBody>
          </p:sp>
          <p:sp>
            <p:nvSpPr>
              <p:cNvPr id="47145" name="Freeform 40"/>
              <p:cNvSpPr/>
              <p:nvPr/>
            </p:nvSpPr>
            <p:spPr>
              <a:xfrm flipH="1">
                <a:off x="3427" y="2258"/>
                <a:ext cx="1887" cy="681"/>
              </a:xfrm>
              <a:custGeom>
                <a:avLst/>
                <a:gdLst/>
                <a:ahLst/>
                <a:cxnLst>
                  <a:cxn ang="0">
                    <a:pos x="0" y="0"/>
                  </a:cxn>
                  <a:cxn ang="0">
                    <a:pos x="966" y="151"/>
                  </a:cxn>
                  <a:cxn ang="0">
                    <a:pos x="1373" y="594"/>
                  </a:cxn>
                  <a:cxn ang="0">
                    <a:pos x="1887" y="673"/>
                  </a:cxn>
                </a:cxnLst>
                <a:pathLst>
                  <a:path w="1887" h="681">
                    <a:moveTo>
                      <a:pt x="0" y="0"/>
                    </a:moveTo>
                    <a:cubicBezTo>
                      <a:pt x="161" y="25"/>
                      <a:pt x="737" y="52"/>
                      <a:pt x="966" y="151"/>
                    </a:cubicBezTo>
                    <a:cubicBezTo>
                      <a:pt x="1195" y="250"/>
                      <a:pt x="1220" y="507"/>
                      <a:pt x="1373" y="594"/>
                    </a:cubicBezTo>
                    <a:cubicBezTo>
                      <a:pt x="1526" y="681"/>
                      <a:pt x="1780" y="657"/>
                      <a:pt x="1887" y="673"/>
                    </a:cubicBezTo>
                  </a:path>
                </a:pathLst>
              </a:custGeom>
              <a:noFill/>
              <a:ln w="38100" cap="flat" cmpd="sng">
                <a:solidFill>
                  <a:schemeClr val="accent2"/>
                </a:solidFill>
                <a:prstDash val="solid"/>
                <a:round/>
                <a:headEnd type="none" w="med" len="med"/>
                <a:tailEnd type="none" w="med" len="med"/>
              </a:ln>
            </p:spPr>
            <p:txBody>
              <a:bodyPr/>
              <a:p>
                <a:endParaRPr lang="zh-CN" altLang="en-US"/>
              </a:p>
            </p:txBody>
          </p:sp>
          <p:sp>
            <p:nvSpPr>
              <p:cNvPr id="47146" name="Text Box 41"/>
              <p:cNvSpPr txBox="1"/>
              <p:nvPr/>
            </p:nvSpPr>
            <p:spPr>
              <a:xfrm>
                <a:off x="4964" y="2293"/>
                <a:ext cx="790" cy="378"/>
              </a:xfrm>
              <a:prstGeom prst="rect">
                <a:avLst/>
              </a:prstGeom>
              <a:noFill/>
              <a:ln w="9525">
                <a:noFill/>
              </a:ln>
            </p:spPr>
            <p:txBody>
              <a:bodyPr wrap="none" anchor="t" anchorCtr="0">
                <a:spAutoFit/>
              </a:bodyPr>
              <a:p>
                <a:pPr eaLnBrk="0" hangingPunct="0">
                  <a:buClrTx/>
                  <a:buFontTx/>
                </a:pPr>
                <a:r>
                  <a:rPr lang="en-US" altLang="zh-CN" sz="1400" dirty="0">
                    <a:solidFill>
                      <a:schemeClr val="accent2"/>
                    </a:solidFill>
                    <a:latin typeface="Comic Sans MS" panose="030F0702030302020204" pitchFamily="66" charset="0"/>
                    <a:ea typeface="宋体" panose="02010600030101010101" pitchFamily="2" charset="-122"/>
                  </a:rPr>
                  <a:t>C’s signal</a:t>
                </a:r>
                <a:endParaRPr lang="en-US" altLang="zh-CN" sz="1400" dirty="0">
                  <a:solidFill>
                    <a:schemeClr val="accent2"/>
                  </a:solidFill>
                  <a:latin typeface="Comic Sans MS" panose="030F0702030302020204" pitchFamily="66" charset="0"/>
                  <a:ea typeface="宋体" panose="02010600030101010101" pitchFamily="2" charset="-122"/>
                </a:endParaRPr>
              </a:p>
              <a:p>
                <a:pPr eaLnBrk="0" hangingPunct="0">
                  <a:buClrTx/>
                  <a:buFontTx/>
                </a:pPr>
                <a:r>
                  <a:rPr lang="en-US" altLang="zh-CN" sz="1400" dirty="0">
                    <a:solidFill>
                      <a:schemeClr val="accent2"/>
                    </a:solidFill>
                    <a:latin typeface="Comic Sans MS" panose="030F0702030302020204" pitchFamily="66" charset="0"/>
                    <a:ea typeface="宋体" panose="02010600030101010101" pitchFamily="2" charset="-122"/>
                  </a:rPr>
                  <a:t>strength</a:t>
                </a:r>
                <a:endParaRPr lang="en-US" altLang="zh-CN" sz="1400" dirty="0">
                  <a:solidFill>
                    <a:schemeClr val="accent2"/>
                  </a:solidFill>
                  <a:latin typeface="Comic Sans MS" panose="030F0702030302020204" pitchFamily="66" charset="0"/>
                  <a:ea typeface="宋体" panose="02010600030101010101" pitchFamily="2" charset="-122"/>
                </a:endParaRPr>
              </a:p>
            </p:txBody>
          </p:sp>
          <p:sp>
            <p:nvSpPr>
              <p:cNvPr id="47147" name="Line 42"/>
              <p:cNvSpPr/>
              <p:nvPr/>
            </p:nvSpPr>
            <p:spPr>
              <a:xfrm flipH="1">
                <a:off x="3554" y="2171"/>
                <a:ext cx="17" cy="796"/>
              </a:xfrm>
              <a:prstGeom prst="line">
                <a:avLst/>
              </a:prstGeom>
              <a:ln w="9525" cap="flat" cmpd="sng">
                <a:solidFill>
                  <a:schemeClr val="tx1"/>
                </a:solidFill>
                <a:prstDash val="sysDot"/>
                <a:round/>
                <a:headEnd type="none" w="med" len="med"/>
                <a:tailEnd type="none" w="med" len="med"/>
              </a:ln>
            </p:spPr>
          </p:sp>
          <p:sp>
            <p:nvSpPr>
              <p:cNvPr id="47148" name="Line 43"/>
              <p:cNvSpPr/>
              <p:nvPr/>
            </p:nvSpPr>
            <p:spPr>
              <a:xfrm>
                <a:off x="4323" y="2214"/>
                <a:ext cx="0" cy="761"/>
              </a:xfrm>
              <a:prstGeom prst="line">
                <a:avLst/>
              </a:prstGeom>
              <a:ln w="9525" cap="flat" cmpd="sng">
                <a:solidFill>
                  <a:schemeClr val="tx1"/>
                </a:solidFill>
                <a:prstDash val="sysDot"/>
                <a:round/>
                <a:headEnd type="none" w="med" len="med"/>
                <a:tailEnd type="none" w="med" len="med"/>
              </a:ln>
            </p:spPr>
          </p:sp>
          <p:sp>
            <p:nvSpPr>
              <p:cNvPr id="47149" name="Line 44"/>
              <p:cNvSpPr/>
              <p:nvPr/>
            </p:nvSpPr>
            <p:spPr>
              <a:xfrm>
                <a:off x="5004" y="2204"/>
                <a:ext cx="0" cy="744"/>
              </a:xfrm>
              <a:prstGeom prst="line">
                <a:avLst/>
              </a:prstGeom>
              <a:ln w="9525" cap="flat" cmpd="sng">
                <a:solidFill>
                  <a:schemeClr val="tx1"/>
                </a:solidFill>
                <a:prstDash val="sysDot"/>
                <a:round/>
                <a:headEnd type="none" w="med" len="med"/>
                <a:tailEnd type="none" w="med" len="med"/>
              </a:ln>
            </p:spPr>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4915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49155"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IEEE 802.11 MAC Protocol: CSMA/CA</a:t>
            </a:r>
            <a:endParaRPr lang="en-US" altLang="zh-CN" sz="3200" dirty="0">
              <a:ea typeface="宋体" panose="02010600030101010101" pitchFamily="2" charset="-122"/>
            </a:endParaRPr>
          </a:p>
        </p:txBody>
      </p:sp>
      <p:sp>
        <p:nvSpPr>
          <p:cNvPr id="49156" name="Rectangle 3"/>
          <p:cNvSpPr>
            <a:spLocks noGrp="1"/>
          </p:cNvSpPr>
          <p:nvPr>
            <p:ph idx="1"/>
          </p:nvPr>
        </p:nvSpPr>
        <p:spPr>
          <a:xfrm>
            <a:off x="481013" y="1354138"/>
            <a:ext cx="5630862" cy="4953000"/>
          </a:xfrm>
          <a:ln/>
        </p:spPr>
        <p:txBody>
          <a:bodyPr vert="horz" wrap="square" lIns="91440" tIns="45720" rIns="91440" bIns="45720" anchor="t" anchorCtr="0"/>
          <a:p>
            <a:pPr>
              <a:buNone/>
            </a:pPr>
            <a:r>
              <a:rPr lang="en-US" altLang="zh-CN" sz="2400" u="sng" dirty="0">
                <a:solidFill>
                  <a:srgbClr val="FF0000"/>
                </a:solidFill>
                <a:ea typeface="宋体" panose="02010600030101010101" pitchFamily="2" charset="-122"/>
              </a:rPr>
              <a:t>802.11 sender</a:t>
            </a:r>
            <a:endParaRPr lang="en-US" altLang="zh-CN" sz="2400" dirty="0">
              <a:solidFill>
                <a:srgbClr val="FF0000"/>
              </a:solidFill>
              <a:ea typeface="宋体" panose="02010600030101010101" pitchFamily="2" charset="-122"/>
            </a:endParaRPr>
          </a:p>
          <a:p>
            <a:pPr>
              <a:buNone/>
            </a:pPr>
            <a:r>
              <a:rPr lang="en-US" altLang="zh-CN" sz="2400" dirty="0">
                <a:solidFill>
                  <a:schemeClr val="accent2"/>
                </a:solidFill>
                <a:ea typeface="宋体" panose="02010600030101010101" pitchFamily="2" charset="-122"/>
              </a:rPr>
              <a:t>1 </a:t>
            </a:r>
            <a:r>
              <a:rPr lang="en-US" altLang="zh-CN" sz="2000" dirty="0">
                <a:solidFill>
                  <a:schemeClr val="accent2"/>
                </a:solidFill>
                <a:ea typeface="宋体" panose="02010600030101010101" pitchFamily="2" charset="-122"/>
              </a:rPr>
              <a:t>if sense channel idle</a:t>
            </a:r>
            <a:r>
              <a:rPr lang="en-US" altLang="zh-CN" sz="2000" dirty="0">
                <a:ea typeface="宋体" panose="02010600030101010101" pitchFamily="2" charset="-122"/>
              </a:rPr>
              <a:t> for </a:t>
            </a:r>
            <a:r>
              <a:rPr lang="en-US" altLang="zh-CN" sz="2000" b="1" dirty="0">
                <a:ea typeface="宋体" panose="02010600030101010101" pitchFamily="2" charset="-122"/>
              </a:rPr>
              <a:t>DIFS</a:t>
            </a:r>
            <a:r>
              <a:rPr lang="en-US" altLang="zh-CN" sz="2000" dirty="0">
                <a:ea typeface="宋体" panose="02010600030101010101" pitchFamily="2" charset="-122"/>
              </a:rPr>
              <a:t>  </a:t>
            </a:r>
            <a:r>
              <a:rPr lang="en-US" altLang="zh-CN" sz="2000" dirty="0">
                <a:solidFill>
                  <a:schemeClr val="accent2"/>
                </a:solidFill>
                <a:ea typeface="宋体" panose="02010600030101010101" pitchFamily="2" charset="-122"/>
              </a:rPr>
              <a:t>then</a:t>
            </a:r>
            <a:r>
              <a:rPr lang="en-US" altLang="zh-CN" sz="2000" dirty="0">
                <a:ea typeface="宋体" panose="02010600030101010101" pitchFamily="2" charset="-122"/>
              </a:rPr>
              <a:t> </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transmit entire frame (no CD)</a:t>
            </a:r>
            <a:endParaRPr lang="en-US" altLang="zh-CN" sz="2000" dirty="0">
              <a:ea typeface="宋体" panose="02010600030101010101" pitchFamily="2" charset="-122"/>
            </a:endParaRPr>
          </a:p>
          <a:p>
            <a:pPr>
              <a:buNone/>
            </a:pPr>
            <a:r>
              <a:rPr lang="en-US" altLang="zh-CN" sz="2000" dirty="0">
                <a:solidFill>
                  <a:schemeClr val="accent2"/>
                </a:solidFill>
                <a:ea typeface="宋体" panose="02010600030101010101" pitchFamily="2" charset="-122"/>
              </a:rPr>
              <a:t>2 if</a:t>
            </a:r>
            <a:r>
              <a:rPr lang="en-US" altLang="zh-CN" sz="2000" dirty="0">
                <a:ea typeface="宋体" panose="02010600030101010101" pitchFamily="2" charset="-122"/>
              </a:rPr>
              <a:t> </a:t>
            </a:r>
            <a:r>
              <a:rPr lang="en-US" altLang="zh-CN" sz="2000" dirty="0">
                <a:solidFill>
                  <a:schemeClr val="accent2"/>
                </a:solidFill>
                <a:ea typeface="宋体" panose="02010600030101010101" pitchFamily="2" charset="-122"/>
              </a:rPr>
              <a:t>sense channel busy then</a:t>
            </a:r>
            <a:r>
              <a:rPr lang="en-US" altLang="zh-CN" sz="2000" dirty="0">
                <a:ea typeface="宋体" panose="02010600030101010101" pitchFamily="2" charset="-122"/>
              </a:rPr>
              <a:t> </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start random backoff time</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timer counts down while channel idle</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transmit when timer expires</a:t>
            </a:r>
            <a:endParaRPr lang="en-US" altLang="zh-CN" sz="2000" dirty="0">
              <a:ea typeface="宋体" panose="02010600030101010101" pitchFamily="2" charset="-122"/>
            </a:endParaRPr>
          </a:p>
          <a:p>
            <a:pPr lvl="1">
              <a:buNone/>
            </a:pPr>
            <a:r>
              <a:rPr lang="en-US" altLang="zh-CN" sz="2000" dirty="0">
                <a:ea typeface="宋体" panose="02010600030101010101" pitchFamily="2" charset="-122"/>
              </a:rPr>
              <a:t>if no ACK, increase random backoff interval, repeat 2</a:t>
            </a:r>
            <a:endParaRPr lang="en-US" altLang="zh-CN" sz="2000" dirty="0">
              <a:ea typeface="宋体" panose="02010600030101010101" pitchFamily="2" charset="-122"/>
            </a:endParaRPr>
          </a:p>
          <a:p>
            <a:pPr>
              <a:buNone/>
            </a:pPr>
            <a:r>
              <a:rPr lang="en-US" altLang="zh-CN" sz="2400" u="sng" dirty="0">
                <a:solidFill>
                  <a:srgbClr val="FF0000"/>
                </a:solidFill>
                <a:ea typeface="宋体" panose="02010600030101010101" pitchFamily="2" charset="-122"/>
              </a:rPr>
              <a:t>802.11 receiver</a:t>
            </a:r>
            <a:endParaRPr lang="en-US" altLang="zh-CN" sz="2400" dirty="0">
              <a:ea typeface="宋体" panose="02010600030101010101" pitchFamily="2" charset="-122"/>
            </a:endParaRPr>
          </a:p>
          <a:p>
            <a:pPr>
              <a:buNone/>
            </a:pPr>
            <a:r>
              <a:rPr lang="en-US" altLang="zh-CN" sz="2400" dirty="0">
                <a:solidFill>
                  <a:schemeClr val="accent2"/>
                </a:solidFill>
                <a:ea typeface="宋体" panose="02010600030101010101" pitchFamily="2" charset="-122"/>
              </a:rPr>
              <a:t>- </a:t>
            </a:r>
            <a:r>
              <a:rPr lang="en-US" altLang="zh-CN" sz="2000" dirty="0">
                <a:solidFill>
                  <a:schemeClr val="accent2"/>
                </a:solidFill>
                <a:ea typeface="宋体" panose="02010600030101010101" pitchFamily="2" charset="-122"/>
              </a:rPr>
              <a:t>if frame received OK</a:t>
            </a:r>
            <a:endParaRPr lang="en-US" altLang="zh-CN" sz="2000" dirty="0">
              <a:ea typeface="宋体" panose="02010600030101010101" pitchFamily="2" charset="-122"/>
            </a:endParaRPr>
          </a:p>
          <a:p>
            <a:pPr>
              <a:buNone/>
            </a:pPr>
            <a:r>
              <a:rPr lang="en-US" altLang="zh-CN" sz="2000" dirty="0">
                <a:solidFill>
                  <a:schemeClr val="accent2"/>
                </a:solidFill>
                <a:ea typeface="宋体" panose="02010600030101010101" pitchFamily="2" charset="-122"/>
              </a:rPr>
              <a:t>   </a:t>
            </a:r>
            <a:r>
              <a:rPr lang="en-US" altLang="zh-CN" sz="2000" dirty="0">
                <a:ea typeface="宋体" panose="02010600030101010101" pitchFamily="2" charset="-122"/>
              </a:rPr>
              <a:t>return ACK after </a:t>
            </a:r>
            <a:r>
              <a:rPr lang="en-US" altLang="zh-CN" sz="2000" b="1" dirty="0">
                <a:ea typeface="宋体" panose="02010600030101010101" pitchFamily="2" charset="-122"/>
              </a:rPr>
              <a:t>SIFS </a:t>
            </a:r>
            <a:r>
              <a:rPr lang="en-US" altLang="zh-CN" sz="2000" dirty="0">
                <a:ea typeface="宋体" panose="02010600030101010101" pitchFamily="2" charset="-122"/>
              </a:rPr>
              <a:t>(ACK needed due to hidden terminal problem) </a:t>
            </a:r>
            <a:endParaRPr lang="en-US" altLang="zh-CN" sz="2400" b="1" dirty="0">
              <a:ea typeface="宋体" panose="02010600030101010101" pitchFamily="2" charset="-122"/>
            </a:endParaRPr>
          </a:p>
        </p:txBody>
      </p:sp>
      <p:sp>
        <p:nvSpPr>
          <p:cNvPr id="49157" name="Line 5"/>
          <p:cNvSpPr/>
          <p:nvPr/>
        </p:nvSpPr>
        <p:spPr>
          <a:xfrm>
            <a:off x="6432550" y="2270125"/>
            <a:ext cx="0" cy="3338513"/>
          </a:xfrm>
          <a:prstGeom prst="line">
            <a:avLst/>
          </a:prstGeom>
          <a:ln w="9525" cap="flat" cmpd="sng">
            <a:solidFill>
              <a:schemeClr val="tx1"/>
            </a:solidFill>
            <a:prstDash val="solid"/>
            <a:round/>
            <a:headEnd type="none" w="med" len="med"/>
            <a:tailEnd type="none" w="med" len="med"/>
          </a:ln>
        </p:spPr>
      </p:sp>
      <p:sp>
        <p:nvSpPr>
          <p:cNvPr id="49158" name="Line 6"/>
          <p:cNvSpPr/>
          <p:nvPr/>
        </p:nvSpPr>
        <p:spPr>
          <a:xfrm>
            <a:off x="8351838" y="2257425"/>
            <a:ext cx="0" cy="3338513"/>
          </a:xfrm>
          <a:prstGeom prst="line">
            <a:avLst/>
          </a:prstGeom>
          <a:ln w="9525" cap="flat" cmpd="sng">
            <a:solidFill>
              <a:schemeClr val="tx1"/>
            </a:solidFill>
            <a:prstDash val="solid"/>
            <a:round/>
            <a:headEnd type="none" w="med" len="med"/>
            <a:tailEnd type="none" w="med" len="med"/>
          </a:ln>
        </p:spPr>
      </p:sp>
      <p:sp>
        <p:nvSpPr>
          <p:cNvPr id="49159" name="Text Box 7"/>
          <p:cNvSpPr txBox="1"/>
          <p:nvPr/>
        </p:nvSpPr>
        <p:spPr>
          <a:xfrm>
            <a:off x="6022975" y="1912938"/>
            <a:ext cx="828675" cy="336550"/>
          </a:xfrm>
          <a:prstGeom prst="rect">
            <a:avLst/>
          </a:prstGeom>
          <a:noFill/>
          <a:ln w="9525">
            <a:noFill/>
          </a:ln>
        </p:spPr>
        <p:txBody>
          <a:bodyPr wrap="none"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sender</a:t>
            </a:r>
            <a:endParaRPr lang="en-US" altLang="zh-CN" sz="1600" dirty="0">
              <a:latin typeface="Comic Sans MS" panose="030F0702030302020204" pitchFamily="66" charset="0"/>
              <a:ea typeface="宋体" panose="02010600030101010101" pitchFamily="2" charset="-122"/>
            </a:endParaRPr>
          </a:p>
        </p:txBody>
      </p:sp>
      <p:sp>
        <p:nvSpPr>
          <p:cNvPr id="49160" name="Text Box 8"/>
          <p:cNvSpPr txBox="1"/>
          <p:nvPr/>
        </p:nvSpPr>
        <p:spPr>
          <a:xfrm>
            <a:off x="7861300" y="1922463"/>
            <a:ext cx="974725" cy="336550"/>
          </a:xfrm>
          <a:prstGeom prst="rect">
            <a:avLst/>
          </a:prstGeom>
          <a:noFill/>
          <a:ln w="9525">
            <a:noFill/>
          </a:ln>
        </p:spPr>
        <p:txBody>
          <a:bodyPr wrap="none"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receiver</a:t>
            </a:r>
            <a:endParaRPr lang="en-US" altLang="zh-CN" sz="1600" dirty="0">
              <a:latin typeface="Comic Sans MS" panose="030F0702030302020204" pitchFamily="66" charset="0"/>
              <a:ea typeface="宋体" panose="02010600030101010101" pitchFamily="2" charset="-122"/>
            </a:endParaRPr>
          </a:p>
        </p:txBody>
      </p:sp>
      <p:grpSp>
        <p:nvGrpSpPr>
          <p:cNvPr id="354327" name="Group 23"/>
          <p:cNvGrpSpPr/>
          <p:nvPr/>
        </p:nvGrpSpPr>
        <p:grpSpPr>
          <a:xfrm>
            <a:off x="5737225" y="2566988"/>
            <a:ext cx="2616200" cy="1690687"/>
            <a:chOff x="3614" y="1617"/>
            <a:chExt cx="1648" cy="1065"/>
          </a:xfrm>
        </p:grpSpPr>
        <p:grpSp>
          <p:nvGrpSpPr>
            <p:cNvPr id="49162" name="Group 22"/>
            <p:cNvGrpSpPr/>
            <p:nvPr/>
          </p:nvGrpSpPr>
          <p:grpSpPr>
            <a:xfrm>
              <a:off x="3614" y="1617"/>
              <a:ext cx="424" cy="192"/>
              <a:chOff x="3614" y="1617"/>
              <a:chExt cx="424" cy="192"/>
            </a:xfrm>
          </p:grpSpPr>
          <p:sp>
            <p:nvSpPr>
              <p:cNvPr id="49163" name="AutoShape 11"/>
              <p:cNvSpPr/>
              <p:nvPr/>
            </p:nvSpPr>
            <p:spPr>
              <a:xfrm>
                <a:off x="3984" y="1620"/>
                <a:ext cx="54" cy="162"/>
              </a:xfrm>
              <a:prstGeom prst="leftBrace">
                <a:avLst>
                  <a:gd name="adj1" fmla="val 25000"/>
                  <a:gd name="adj2" fmla="val 50000"/>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49164" name="Text Box 12"/>
              <p:cNvSpPr txBox="1"/>
              <p:nvPr/>
            </p:nvSpPr>
            <p:spPr>
              <a:xfrm>
                <a:off x="3614" y="1617"/>
                <a:ext cx="404" cy="192"/>
              </a:xfrm>
              <a:prstGeom prst="rect">
                <a:avLst/>
              </a:prstGeom>
              <a:noFill/>
              <a:ln w="9525">
                <a:noFill/>
              </a:ln>
            </p:spPr>
            <p:txBody>
              <a:bodyPr wrap="none" anchor="t" anchorCtr="0">
                <a:spAutoFit/>
              </a:bodyPr>
              <a:p>
                <a:pPr eaLnBrk="0" hangingPunct="0">
                  <a:buClrTx/>
                  <a:buFontTx/>
                </a:pPr>
                <a:r>
                  <a:rPr lang="en-US" altLang="zh-CN" sz="1400" dirty="0">
                    <a:latin typeface="Comic Sans MS" panose="030F0702030302020204" pitchFamily="66" charset="0"/>
                    <a:ea typeface="宋体" panose="02010600030101010101" pitchFamily="2" charset="-122"/>
                  </a:rPr>
                  <a:t>DIFS</a:t>
                </a:r>
                <a:endParaRPr lang="en-US" altLang="zh-CN" sz="1400" dirty="0">
                  <a:latin typeface="Comic Sans MS" panose="030F0702030302020204" pitchFamily="66" charset="0"/>
                  <a:ea typeface="宋体" panose="02010600030101010101" pitchFamily="2" charset="-122"/>
                </a:endParaRPr>
              </a:p>
            </p:txBody>
          </p:sp>
        </p:grpSp>
        <p:grpSp>
          <p:nvGrpSpPr>
            <p:cNvPr id="49165" name="Group 20"/>
            <p:cNvGrpSpPr/>
            <p:nvPr/>
          </p:nvGrpSpPr>
          <p:grpSpPr>
            <a:xfrm>
              <a:off x="4050" y="1782"/>
              <a:ext cx="1212" cy="900"/>
              <a:chOff x="4050" y="1782"/>
              <a:chExt cx="1212" cy="900"/>
            </a:xfrm>
          </p:grpSpPr>
          <p:sp>
            <p:nvSpPr>
              <p:cNvPr id="49166" name="Freeform 13"/>
              <p:cNvSpPr/>
              <p:nvPr/>
            </p:nvSpPr>
            <p:spPr>
              <a:xfrm>
                <a:off x="4050" y="1782"/>
                <a:ext cx="1212" cy="900"/>
              </a:xfrm>
              <a:custGeom>
                <a:avLst/>
                <a:gdLst/>
                <a:ahLst/>
                <a:cxnLst>
                  <a:cxn ang="0">
                    <a:pos x="6" y="0"/>
                  </a:cxn>
                  <a:cxn ang="0">
                    <a:pos x="1212" y="228"/>
                  </a:cxn>
                  <a:cxn ang="0">
                    <a:pos x="1212" y="900"/>
                  </a:cxn>
                  <a:cxn ang="0">
                    <a:pos x="0" y="660"/>
                  </a:cxn>
                  <a:cxn ang="0">
                    <a:pos x="6" y="0"/>
                  </a:cxn>
                </a:cxnLst>
                <a:pathLst>
                  <a:path w="1212" h="900">
                    <a:moveTo>
                      <a:pt x="6" y="0"/>
                    </a:moveTo>
                    <a:lnTo>
                      <a:pt x="1212" y="228"/>
                    </a:lnTo>
                    <a:lnTo>
                      <a:pt x="1212" y="900"/>
                    </a:lnTo>
                    <a:lnTo>
                      <a:pt x="0" y="660"/>
                    </a:lnTo>
                    <a:lnTo>
                      <a:pt x="6" y="0"/>
                    </a:lnTo>
                    <a:close/>
                  </a:path>
                </a:pathLst>
              </a:custGeom>
              <a:solidFill>
                <a:schemeClr val="accent1"/>
              </a:solidFill>
              <a:ln w="9525">
                <a:noFill/>
              </a:ln>
            </p:spPr>
            <p:txBody>
              <a:bodyPr/>
              <a:p>
                <a:endParaRPr lang="zh-CN" altLang="en-US"/>
              </a:p>
            </p:txBody>
          </p:sp>
          <p:sp>
            <p:nvSpPr>
              <p:cNvPr id="49167" name="Text Box 18"/>
              <p:cNvSpPr txBox="1"/>
              <p:nvPr/>
            </p:nvSpPr>
            <p:spPr>
              <a:xfrm>
                <a:off x="4394" y="2108"/>
                <a:ext cx="417" cy="231"/>
              </a:xfrm>
              <a:prstGeom prst="rect">
                <a:avLst/>
              </a:prstGeom>
              <a:noFill/>
              <a:ln w="9525">
                <a:noFill/>
              </a:ln>
            </p:spPr>
            <p:txBody>
              <a:bodyPr wrap="none" anchor="t" anchorCtr="0">
                <a:spAutoFit/>
              </a:bodyPr>
              <a:p>
                <a:pPr eaLnBrk="0" hangingPunct="0">
                  <a:buClrTx/>
                  <a:buFontTx/>
                </a:pPr>
                <a:r>
                  <a:rPr lang="en-US" altLang="zh-CN" dirty="0">
                    <a:solidFill>
                      <a:schemeClr val="bg1"/>
                    </a:solidFill>
                    <a:latin typeface="Comic Sans MS" panose="030F0702030302020204" pitchFamily="66" charset="0"/>
                    <a:ea typeface="宋体" panose="02010600030101010101" pitchFamily="2" charset="-122"/>
                  </a:rPr>
                  <a:t>data</a:t>
                </a:r>
                <a:endParaRPr lang="en-US" altLang="zh-CN" dirty="0">
                  <a:solidFill>
                    <a:schemeClr val="bg1"/>
                  </a:solidFill>
                  <a:latin typeface="Comic Sans MS" panose="030F0702030302020204" pitchFamily="66" charset="0"/>
                  <a:ea typeface="宋体" panose="02010600030101010101" pitchFamily="2" charset="-122"/>
                </a:endParaRPr>
              </a:p>
            </p:txBody>
          </p:sp>
        </p:grpSp>
      </p:grpSp>
      <p:grpSp>
        <p:nvGrpSpPr>
          <p:cNvPr id="354328" name="Group 24"/>
          <p:cNvGrpSpPr/>
          <p:nvPr/>
        </p:nvGrpSpPr>
        <p:grpSpPr>
          <a:xfrm>
            <a:off x="6419850" y="4267200"/>
            <a:ext cx="2563813" cy="923925"/>
            <a:chOff x="4044" y="2688"/>
            <a:chExt cx="1615" cy="582"/>
          </a:xfrm>
        </p:grpSpPr>
        <p:sp>
          <p:nvSpPr>
            <p:cNvPr id="49169" name="Text Box 14"/>
            <p:cNvSpPr txBox="1"/>
            <p:nvPr/>
          </p:nvSpPr>
          <p:spPr>
            <a:xfrm>
              <a:off x="5258" y="2697"/>
              <a:ext cx="401" cy="192"/>
            </a:xfrm>
            <a:prstGeom prst="rect">
              <a:avLst/>
            </a:prstGeom>
            <a:noFill/>
            <a:ln w="9525">
              <a:noFill/>
            </a:ln>
          </p:spPr>
          <p:txBody>
            <a:bodyPr wrap="none" anchor="t" anchorCtr="0">
              <a:spAutoFit/>
            </a:bodyPr>
            <a:p>
              <a:pPr eaLnBrk="0" hangingPunct="0">
                <a:buClrTx/>
                <a:buFontTx/>
              </a:pPr>
              <a:r>
                <a:rPr lang="en-US" altLang="zh-CN" sz="1400" dirty="0">
                  <a:latin typeface="Comic Sans MS" panose="030F0702030302020204" pitchFamily="66" charset="0"/>
                  <a:ea typeface="宋体" panose="02010600030101010101" pitchFamily="2" charset="-122"/>
                </a:rPr>
                <a:t>SIFS</a:t>
              </a:r>
              <a:endParaRPr lang="en-US" altLang="zh-CN" sz="1400" dirty="0">
                <a:latin typeface="Comic Sans MS" panose="030F0702030302020204" pitchFamily="66" charset="0"/>
                <a:ea typeface="宋体" panose="02010600030101010101" pitchFamily="2" charset="-122"/>
              </a:endParaRPr>
            </a:p>
          </p:txBody>
        </p:sp>
        <p:sp>
          <p:nvSpPr>
            <p:cNvPr id="49170" name="AutoShape 15"/>
            <p:cNvSpPr/>
            <p:nvPr/>
          </p:nvSpPr>
          <p:spPr>
            <a:xfrm flipH="1">
              <a:off x="5262" y="2688"/>
              <a:ext cx="54" cy="162"/>
            </a:xfrm>
            <a:prstGeom prst="leftBrace">
              <a:avLst>
                <a:gd name="adj1" fmla="val 25000"/>
                <a:gd name="adj2" fmla="val 50000"/>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49171" name="Group 21"/>
            <p:cNvGrpSpPr/>
            <p:nvPr/>
          </p:nvGrpSpPr>
          <p:grpSpPr>
            <a:xfrm>
              <a:off x="4044" y="2856"/>
              <a:ext cx="1212" cy="414"/>
              <a:chOff x="4044" y="2856"/>
              <a:chExt cx="1212" cy="414"/>
            </a:xfrm>
          </p:grpSpPr>
          <p:sp>
            <p:nvSpPr>
              <p:cNvPr id="49172" name="Freeform 17"/>
              <p:cNvSpPr/>
              <p:nvPr/>
            </p:nvSpPr>
            <p:spPr>
              <a:xfrm flipV="1">
                <a:off x="4044" y="2856"/>
                <a:ext cx="1212" cy="414"/>
              </a:xfrm>
              <a:custGeom>
                <a:avLst/>
                <a:gdLst/>
                <a:ahLst/>
                <a:cxnLst>
                  <a:cxn ang="0">
                    <a:pos x="0" y="0"/>
                  </a:cxn>
                  <a:cxn ang="0">
                    <a:pos x="1212" y="246"/>
                  </a:cxn>
                  <a:cxn ang="0">
                    <a:pos x="1212" y="414"/>
                  </a:cxn>
                  <a:cxn ang="0">
                    <a:pos x="6" y="174"/>
                  </a:cxn>
                  <a:cxn ang="0">
                    <a:pos x="0" y="0"/>
                  </a:cxn>
                </a:cxnLst>
                <a:pathLst>
                  <a:path w="1212" h="414">
                    <a:moveTo>
                      <a:pt x="0" y="0"/>
                    </a:moveTo>
                    <a:lnTo>
                      <a:pt x="1212" y="246"/>
                    </a:lnTo>
                    <a:lnTo>
                      <a:pt x="1212" y="414"/>
                    </a:lnTo>
                    <a:lnTo>
                      <a:pt x="6" y="174"/>
                    </a:lnTo>
                    <a:lnTo>
                      <a:pt x="0" y="0"/>
                    </a:lnTo>
                    <a:close/>
                  </a:path>
                </a:pathLst>
              </a:custGeom>
              <a:solidFill>
                <a:schemeClr val="accent2"/>
              </a:solidFill>
              <a:ln w="9525">
                <a:noFill/>
              </a:ln>
            </p:spPr>
            <p:txBody>
              <a:bodyPr/>
              <a:p>
                <a:endParaRPr lang="zh-CN" altLang="en-US"/>
              </a:p>
            </p:txBody>
          </p:sp>
          <p:sp>
            <p:nvSpPr>
              <p:cNvPr id="49173" name="Text Box 19"/>
              <p:cNvSpPr txBox="1"/>
              <p:nvPr/>
            </p:nvSpPr>
            <p:spPr>
              <a:xfrm>
                <a:off x="4436" y="2954"/>
                <a:ext cx="396" cy="231"/>
              </a:xfrm>
              <a:prstGeom prst="rect">
                <a:avLst/>
              </a:prstGeom>
              <a:noFill/>
              <a:ln w="9525">
                <a:noFill/>
              </a:ln>
            </p:spPr>
            <p:txBody>
              <a:bodyPr wrap="none" anchor="t" anchorCtr="0">
                <a:spAutoFit/>
              </a:bodyPr>
              <a:p>
                <a:pPr eaLnBrk="0" hangingPunct="0">
                  <a:buClrTx/>
                  <a:buFontTx/>
                </a:pPr>
                <a:r>
                  <a:rPr lang="en-US" altLang="zh-CN" dirty="0">
                    <a:solidFill>
                      <a:schemeClr val="bg1"/>
                    </a:solidFill>
                    <a:latin typeface="Comic Sans MS" panose="030F0702030302020204" pitchFamily="66" charset="0"/>
                    <a:ea typeface="宋体" panose="02010600030101010101" pitchFamily="2" charset="-122"/>
                  </a:rPr>
                  <a:t>ACK</a:t>
                </a:r>
                <a:endParaRPr lang="en-US" altLang="zh-CN" dirty="0">
                  <a:solidFill>
                    <a:schemeClr val="bg1"/>
                  </a:solidFill>
                  <a:latin typeface="Comic Sans MS" panose="030F0702030302020204" pitchFamily="66"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4327"/>
                                        </p:tgtEl>
                                        <p:attrNameLst>
                                          <p:attrName>style.visibility</p:attrName>
                                        </p:attrNameLst>
                                      </p:cBhvr>
                                      <p:to>
                                        <p:strVal val="visible"/>
                                      </p:to>
                                    </p:set>
                                    <p:animEffect transition="in" filter="wipe(up)">
                                      <p:cBhvr>
                                        <p:cTn id="7" dur="2000"/>
                                        <p:tgtEl>
                                          <p:spTgt spid="354327"/>
                                        </p:tgtEl>
                                      </p:cBhvr>
                                    </p:animEffect>
                                  </p:childTnLst>
                                </p:cTn>
                              </p:par>
                            </p:childTnLst>
                          </p:cTn>
                        </p:par>
                        <p:par>
                          <p:cTn id="8" fill="hold">
                            <p:stCondLst>
                              <p:cond delay="2000"/>
                            </p:stCondLst>
                            <p:childTnLst>
                              <p:par>
                                <p:cTn id="9" presetID="22" presetClass="entr" presetSubtype="1" fill="hold" nodeType="afterEffect">
                                  <p:stCondLst>
                                    <p:cond delay="1000"/>
                                  </p:stCondLst>
                                  <p:childTnLst>
                                    <p:set>
                                      <p:cBhvr>
                                        <p:cTn id="10" dur="1" fill="hold">
                                          <p:stCondLst>
                                            <p:cond delay="0"/>
                                          </p:stCondLst>
                                        </p:cTn>
                                        <p:tgtEl>
                                          <p:spTgt spid="354328"/>
                                        </p:tgtEl>
                                        <p:attrNameLst>
                                          <p:attrName>style.visibility</p:attrName>
                                        </p:attrNameLst>
                                      </p:cBhvr>
                                      <p:to>
                                        <p:strVal val="visible"/>
                                      </p:to>
                                    </p:set>
                                    <p:animEffect transition="in" filter="wipe(up)">
                                      <p:cBhvr>
                                        <p:cTn id="11" dur="2000"/>
                                        <p:tgtEl>
                                          <p:spTgt spid="354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5120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1203" name="Rectangle 2"/>
          <p:cNvSpPr>
            <a:spLocks noGrp="1"/>
          </p:cNvSpPr>
          <p:nvPr>
            <p:ph type="title"/>
          </p:nvPr>
        </p:nvSpPr>
        <p:spPr>
          <a:xfrm>
            <a:off x="503238" y="212725"/>
            <a:ext cx="8370887" cy="1143000"/>
          </a:xfrm>
          <a:ln/>
        </p:spPr>
        <p:txBody>
          <a:bodyPr vert="horz" wrap="square" lIns="91440" tIns="45720" rIns="91440" bIns="45720" anchor="ctr" anchorCtr="0"/>
          <a:p>
            <a:r>
              <a:rPr lang="en-US" altLang="zh-CN" dirty="0">
                <a:ea typeface="宋体" panose="02010600030101010101" pitchFamily="2" charset="-122"/>
              </a:rPr>
              <a:t>Avoiding collisions (more)(</a:t>
            </a:r>
            <a:r>
              <a:rPr lang="zh-CN" altLang="en-US" dirty="0">
                <a:ea typeface="宋体" panose="02010600030101010101" pitchFamily="2" charset="-122"/>
              </a:rPr>
              <a:t>题</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51204" name="Rectangle 3"/>
          <p:cNvSpPr>
            <a:spLocks noGrp="1"/>
          </p:cNvSpPr>
          <p:nvPr>
            <p:ph idx="1"/>
          </p:nvPr>
        </p:nvSpPr>
        <p:spPr>
          <a:xfrm>
            <a:off x="561975" y="1511300"/>
            <a:ext cx="7772400" cy="3611563"/>
          </a:xfrm>
          <a:ln/>
        </p:spPr>
        <p:txBody>
          <a:bodyPr vert="horz" wrap="square" lIns="91440" tIns="45720" rIns="91440" bIns="45720" anchor="t" anchorCtr="0"/>
          <a:p>
            <a:pPr>
              <a:buNone/>
            </a:pPr>
            <a:r>
              <a:rPr lang="en-US" altLang="zh-CN" sz="2400" i="1" dirty="0">
                <a:solidFill>
                  <a:srgbClr val="FF0000"/>
                </a:solidFill>
                <a:ea typeface="宋体" panose="02010600030101010101" pitchFamily="2" charset="-122"/>
              </a:rPr>
              <a:t>idea:</a:t>
            </a:r>
            <a:r>
              <a:rPr lang="en-US" altLang="zh-CN" sz="2400" dirty="0">
                <a:ea typeface="宋体" panose="02010600030101010101" pitchFamily="2" charset="-122"/>
              </a:rPr>
              <a:t> </a:t>
            </a:r>
            <a:r>
              <a:rPr lang="en-US" altLang="zh-CN" sz="2000" dirty="0">
                <a:ea typeface="宋体" panose="02010600030101010101" pitchFamily="2" charset="-122"/>
              </a:rPr>
              <a:t> allow sender to “reserve” channel rather than random access of data frames: avoid  collisions of long  data frames</a:t>
            </a:r>
            <a:endParaRPr lang="en-US" altLang="zh-CN" sz="2000" dirty="0">
              <a:ea typeface="宋体" panose="02010600030101010101" pitchFamily="2" charset="-122"/>
            </a:endParaRPr>
          </a:p>
          <a:p>
            <a:r>
              <a:rPr lang="en-US" altLang="zh-CN" sz="2000" dirty="0">
                <a:ea typeface="宋体" panose="02010600030101010101" pitchFamily="2" charset="-122"/>
              </a:rPr>
              <a:t>sender first transmits </a:t>
            </a:r>
            <a:r>
              <a:rPr lang="en-US" altLang="zh-CN" sz="2000" i="1" dirty="0">
                <a:ea typeface="宋体" panose="02010600030101010101" pitchFamily="2" charset="-122"/>
              </a:rPr>
              <a:t>small</a:t>
            </a:r>
            <a:r>
              <a:rPr lang="en-US" altLang="zh-CN" sz="2000" dirty="0">
                <a:ea typeface="宋体" panose="02010600030101010101" pitchFamily="2" charset="-122"/>
              </a:rPr>
              <a:t> request-to-send (RTS) packets to BS using CSMA</a:t>
            </a:r>
            <a:endParaRPr lang="en-US" altLang="zh-CN" sz="2000" dirty="0">
              <a:ea typeface="宋体" panose="02010600030101010101" pitchFamily="2" charset="-122"/>
            </a:endParaRPr>
          </a:p>
          <a:p>
            <a:pPr lvl="1"/>
            <a:r>
              <a:rPr lang="en-US" altLang="zh-CN" sz="2000" dirty="0">
                <a:ea typeface="宋体" panose="02010600030101010101" pitchFamily="2" charset="-122"/>
              </a:rPr>
              <a:t>RTSs may still collide with each other (but they’re short)</a:t>
            </a:r>
            <a:endParaRPr lang="en-US" altLang="zh-CN" sz="2000" dirty="0">
              <a:ea typeface="宋体" panose="02010600030101010101" pitchFamily="2" charset="-122"/>
            </a:endParaRPr>
          </a:p>
          <a:p>
            <a:r>
              <a:rPr lang="en-US" altLang="zh-CN" sz="2000" dirty="0">
                <a:ea typeface="宋体" panose="02010600030101010101" pitchFamily="2" charset="-122"/>
              </a:rPr>
              <a:t>BS broadcasts clear-to-send CTS in response to RTS</a:t>
            </a:r>
            <a:endParaRPr lang="en-US" altLang="zh-CN" sz="2000" dirty="0">
              <a:ea typeface="宋体" panose="02010600030101010101" pitchFamily="2" charset="-122"/>
            </a:endParaRPr>
          </a:p>
          <a:p>
            <a:r>
              <a:rPr lang="en-US" altLang="zh-CN" sz="2000" dirty="0">
                <a:ea typeface="宋体" panose="02010600030101010101" pitchFamily="2" charset="-122"/>
              </a:rPr>
              <a:t>CTS heard by all nodes</a:t>
            </a:r>
            <a:endParaRPr lang="en-US" altLang="zh-CN" sz="2000" dirty="0">
              <a:ea typeface="宋体" panose="02010600030101010101" pitchFamily="2" charset="-122"/>
            </a:endParaRPr>
          </a:p>
          <a:p>
            <a:pPr lvl="1"/>
            <a:r>
              <a:rPr lang="en-US" altLang="zh-CN" sz="2000" dirty="0">
                <a:ea typeface="宋体" panose="02010600030101010101" pitchFamily="2" charset="-122"/>
              </a:rPr>
              <a:t>sender transmits data frame</a:t>
            </a:r>
            <a:endParaRPr lang="en-US" altLang="zh-CN" sz="2000" dirty="0">
              <a:ea typeface="宋体" panose="02010600030101010101" pitchFamily="2" charset="-122"/>
            </a:endParaRPr>
          </a:p>
          <a:p>
            <a:pPr lvl="1"/>
            <a:r>
              <a:rPr lang="en-US" altLang="zh-CN" sz="2000" dirty="0">
                <a:ea typeface="宋体" panose="02010600030101010101" pitchFamily="2" charset="-122"/>
              </a:rPr>
              <a:t>other stations defer transmissions </a:t>
            </a:r>
            <a:endParaRPr lang="en-US" altLang="zh-CN" sz="2000" dirty="0">
              <a:ea typeface="宋体" panose="02010600030101010101" pitchFamily="2" charset="-122"/>
            </a:endParaRPr>
          </a:p>
          <a:p>
            <a:pPr lvl="1">
              <a:buNone/>
            </a:pPr>
            <a:endParaRPr lang="en-US" altLang="zh-CN" sz="2000" dirty="0">
              <a:ea typeface="宋体" panose="02010600030101010101" pitchFamily="2" charset="-122"/>
            </a:endParaRPr>
          </a:p>
        </p:txBody>
      </p:sp>
      <p:sp>
        <p:nvSpPr>
          <p:cNvPr id="51205" name="Text Box 4"/>
          <p:cNvSpPr txBox="1"/>
          <p:nvPr/>
        </p:nvSpPr>
        <p:spPr>
          <a:xfrm>
            <a:off x="1770063" y="5030788"/>
            <a:ext cx="5653087" cy="822325"/>
          </a:xfrm>
          <a:prstGeom prst="rect">
            <a:avLst/>
          </a:prstGeom>
          <a:noFill/>
          <a:ln w="9525">
            <a:noFill/>
          </a:ln>
        </p:spPr>
        <p:txBody>
          <a:bodyPr wrap="none" anchor="t" anchorCtr="0">
            <a:spAutoFit/>
          </a:bodyPr>
          <a:p>
            <a:pPr algn="ctr" eaLnBrk="0" hangingPunct="0">
              <a:buClrTx/>
              <a:buFontTx/>
            </a:pPr>
            <a:r>
              <a:rPr lang="en-US" altLang="zh-CN" sz="2400" dirty="0">
                <a:latin typeface="Comic Sans MS" panose="030F0702030302020204" pitchFamily="66" charset="0"/>
                <a:ea typeface="宋体" panose="02010600030101010101" pitchFamily="2" charset="-122"/>
              </a:rPr>
              <a:t>avoid data frame collisions completely </a:t>
            </a:r>
            <a:endParaRPr lang="en-US" altLang="zh-CN" sz="2400" dirty="0">
              <a:latin typeface="Comic Sans MS" panose="030F0702030302020204" pitchFamily="66" charset="0"/>
              <a:ea typeface="宋体" panose="02010600030101010101" pitchFamily="2" charset="-122"/>
            </a:endParaRPr>
          </a:p>
          <a:p>
            <a:pPr algn="ctr" eaLnBrk="0" hangingPunct="0">
              <a:buClrTx/>
              <a:buFontTx/>
            </a:pPr>
            <a:r>
              <a:rPr lang="en-US" altLang="zh-CN" sz="2400" dirty="0">
                <a:latin typeface="Comic Sans MS" panose="030F0702030302020204" pitchFamily="66" charset="0"/>
                <a:ea typeface="宋体" panose="02010600030101010101" pitchFamily="2" charset="-122"/>
              </a:rPr>
              <a:t>using small reservation packets!</a:t>
            </a:r>
            <a:endParaRPr lang="en-US" altLang="zh-CN" sz="2400" dirty="0">
              <a:latin typeface="Comic Sans MS" panose="030F0702030302020204" pitchFamily="66" charset="0"/>
              <a:ea typeface="宋体" panose="02010600030101010101" pitchFamily="2" charset="-122"/>
            </a:endParaRPr>
          </a:p>
        </p:txBody>
      </p:sp>
      <p:sp>
        <p:nvSpPr>
          <p:cNvPr id="51206" name="Rectangle 5"/>
          <p:cNvSpPr/>
          <p:nvPr/>
        </p:nvSpPr>
        <p:spPr>
          <a:xfrm>
            <a:off x="1660525" y="5013325"/>
            <a:ext cx="5853113" cy="914400"/>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5325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3251" name="Rectangle 2"/>
          <p:cNvSpPr>
            <a:spLocks noGrp="1"/>
          </p:cNvSpPr>
          <p:nvPr>
            <p:ph type="title"/>
          </p:nvPr>
        </p:nvSpPr>
        <p:spPr>
          <a:xfrm>
            <a:off x="476250" y="115888"/>
            <a:ext cx="7772400" cy="1143000"/>
          </a:xfrm>
          <a:ln/>
        </p:spPr>
        <p:txBody>
          <a:bodyPr vert="horz" wrap="square" lIns="91440" tIns="45720" rIns="91440" bIns="45720" anchor="ctr" anchorCtr="0"/>
          <a:p>
            <a:r>
              <a:rPr lang="en-US" altLang="zh-CN" sz="3200" dirty="0">
                <a:ea typeface="宋体" panose="02010600030101010101" pitchFamily="2" charset="-122"/>
              </a:rPr>
              <a:t>Collision Avoidance: RTS-CTS exchange</a:t>
            </a:r>
            <a:endParaRPr lang="en-US" altLang="zh-CN" sz="3200" dirty="0">
              <a:ea typeface="宋体" panose="02010600030101010101" pitchFamily="2" charset="-122"/>
            </a:endParaRPr>
          </a:p>
        </p:txBody>
      </p:sp>
      <p:sp>
        <p:nvSpPr>
          <p:cNvPr id="53252" name="Text Box 4"/>
          <p:cNvSpPr txBox="1"/>
          <p:nvPr/>
        </p:nvSpPr>
        <p:spPr>
          <a:xfrm>
            <a:off x="3246438" y="746125"/>
            <a:ext cx="184150" cy="579438"/>
          </a:xfrm>
          <a:prstGeom prst="rect">
            <a:avLst/>
          </a:prstGeom>
          <a:noFill/>
          <a:ln w="9525">
            <a:noFill/>
          </a:ln>
        </p:spPr>
        <p:txBody>
          <a:bodyPr wrap="none" anchor="t" anchorCtr="0">
            <a:spAutoFit/>
          </a:bodyPr>
          <a:p>
            <a:pPr eaLnBrk="0" hangingPunct="0">
              <a:buClrTx/>
              <a:buFontTx/>
            </a:pPr>
            <a:endParaRPr lang="zh-CN" altLang="zh-CN" sz="3200" dirty="0">
              <a:latin typeface="Times New Roman" panose="02020603050405020304" pitchFamily="18" charset="0"/>
              <a:ea typeface="宋体" panose="02010600030101010101" pitchFamily="2" charset="-122"/>
            </a:endParaRPr>
          </a:p>
        </p:txBody>
      </p:sp>
      <p:sp>
        <p:nvSpPr>
          <p:cNvPr id="53253" name="Text Box 15"/>
          <p:cNvSpPr txBox="1"/>
          <p:nvPr/>
        </p:nvSpPr>
        <p:spPr>
          <a:xfrm>
            <a:off x="4624388" y="1393825"/>
            <a:ext cx="469900" cy="366713"/>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AP</a:t>
            </a:r>
            <a:endParaRPr lang="en-US" altLang="zh-CN" dirty="0">
              <a:latin typeface="Comic Sans MS" panose="030F0702030302020204" pitchFamily="66" charset="0"/>
              <a:ea typeface="宋体" panose="02010600030101010101" pitchFamily="2" charset="-122"/>
            </a:endParaRPr>
          </a:p>
        </p:txBody>
      </p:sp>
      <p:grpSp>
        <p:nvGrpSpPr>
          <p:cNvPr id="53254" name="Group 16"/>
          <p:cNvGrpSpPr/>
          <p:nvPr/>
        </p:nvGrpSpPr>
        <p:grpSpPr>
          <a:xfrm>
            <a:off x="4202113" y="1109663"/>
            <a:ext cx="782637" cy="571500"/>
            <a:chOff x="1160" y="2192"/>
            <a:chExt cx="589" cy="440"/>
          </a:xfrm>
        </p:grpSpPr>
        <p:pic>
          <p:nvPicPr>
            <p:cNvPr id="53255" name="Picture 17"/>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53256" name="AutoShape 18"/>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53257" name="Freeform 19"/>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53258" name="Freeform 20"/>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53259" name="Freeform 21"/>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53260" name="Freeform 22"/>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53261" name="Freeform 23"/>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53262" name="Freeform 24"/>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53263" name="Freeform 25"/>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53264" name="Freeform 26"/>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53265" name="Freeform 27"/>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53266" name="Freeform 28"/>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53267" name="Freeform 29"/>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53268" name="Freeform 30"/>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53269" name="Freeform 31"/>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53270" name="Freeform 32"/>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53271" name="Freeform 33"/>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53272" name="Freeform 34"/>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53273" name="Group 35"/>
          <p:cNvGrpSpPr/>
          <p:nvPr/>
        </p:nvGrpSpPr>
        <p:grpSpPr>
          <a:xfrm>
            <a:off x="1701800" y="1128713"/>
            <a:ext cx="415925" cy="511175"/>
            <a:chOff x="2870" y="1518"/>
            <a:chExt cx="292" cy="320"/>
          </a:xfrm>
        </p:grpSpPr>
        <p:graphicFrame>
          <p:nvGraphicFramePr>
            <p:cNvPr id="53274" name="Object 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2" name="" r:id="rId2" imgW="826770" imgH="840105" progId="MS_ClipArt_Gallery.2">
                    <p:embed/>
                  </p:oleObj>
                </mc:Choice>
                <mc:Fallback>
                  <p:oleObj name="" r:id="rId2" imgW="826770" imgH="840105" progId="MS_ClipArt_Gallery.2">
                    <p:embed/>
                    <p:pic>
                      <p:nvPicPr>
                        <p:cNvPr id="0" name="图片 3121"/>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3275" name="Object 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3" name="" r:id="rId4" imgW="1268095" imgH="1199515" progId="MS_ClipArt_Gallery.2">
                    <p:embed/>
                  </p:oleObj>
                </mc:Choice>
                <mc:Fallback>
                  <p:oleObj name="" r:id="rId4" imgW="1268095" imgH="1199515" progId="MS_ClipArt_Gallery.2">
                    <p:embed/>
                    <p:pic>
                      <p:nvPicPr>
                        <p:cNvPr id="0" name="图片 3122"/>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53276" name="Group 38"/>
          <p:cNvGrpSpPr/>
          <p:nvPr/>
        </p:nvGrpSpPr>
        <p:grpSpPr>
          <a:xfrm>
            <a:off x="8029575" y="1098550"/>
            <a:ext cx="415925" cy="511175"/>
            <a:chOff x="2870" y="1518"/>
            <a:chExt cx="292" cy="320"/>
          </a:xfrm>
        </p:grpSpPr>
        <p:graphicFrame>
          <p:nvGraphicFramePr>
            <p:cNvPr id="53277" name="Object 3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0" name="" r:id="rId6" imgW="826770" imgH="840105" progId="MS_ClipArt_Gallery.2">
                    <p:embed/>
                  </p:oleObj>
                </mc:Choice>
                <mc:Fallback>
                  <p:oleObj name="" r:id="rId6" imgW="826770" imgH="840105" progId="MS_ClipArt_Gallery.2">
                    <p:embed/>
                    <p:pic>
                      <p:nvPicPr>
                        <p:cNvPr id="0" name="图片 3119"/>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3278" name="Object 4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1" name="" r:id="rId7" imgW="1268095" imgH="1199515" progId="MS_ClipArt_Gallery.2">
                    <p:embed/>
                  </p:oleObj>
                </mc:Choice>
                <mc:Fallback>
                  <p:oleObj name="" r:id="rId7" imgW="1268095" imgH="1199515" progId="MS_ClipArt_Gallery.2">
                    <p:embed/>
                    <p:pic>
                      <p:nvPicPr>
                        <p:cNvPr id="0" name="图片 3120"/>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sp>
        <p:nvSpPr>
          <p:cNvPr id="53279" name="Text Box 41"/>
          <p:cNvSpPr txBox="1"/>
          <p:nvPr/>
        </p:nvSpPr>
        <p:spPr>
          <a:xfrm>
            <a:off x="2073275" y="1243013"/>
            <a:ext cx="350838" cy="366712"/>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a:t>
            </a:r>
            <a:endParaRPr lang="en-US" altLang="zh-CN" dirty="0">
              <a:latin typeface="Comic Sans MS" panose="030F0702030302020204" pitchFamily="66" charset="0"/>
              <a:ea typeface="宋体" panose="02010600030101010101" pitchFamily="2" charset="-122"/>
            </a:endParaRPr>
          </a:p>
        </p:txBody>
      </p:sp>
      <p:sp>
        <p:nvSpPr>
          <p:cNvPr id="53280" name="Text Box 42"/>
          <p:cNvSpPr txBox="1"/>
          <p:nvPr/>
        </p:nvSpPr>
        <p:spPr>
          <a:xfrm>
            <a:off x="7670800" y="1241425"/>
            <a:ext cx="328613" cy="366713"/>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t>
            </a:r>
            <a:endParaRPr lang="en-US" altLang="zh-CN" dirty="0">
              <a:latin typeface="Comic Sans MS" panose="030F0702030302020204" pitchFamily="66" charset="0"/>
              <a:ea typeface="宋体" panose="02010600030101010101" pitchFamily="2" charset="-122"/>
            </a:endParaRPr>
          </a:p>
        </p:txBody>
      </p:sp>
      <p:sp>
        <p:nvSpPr>
          <p:cNvPr id="53281" name="Line 45"/>
          <p:cNvSpPr/>
          <p:nvPr/>
        </p:nvSpPr>
        <p:spPr>
          <a:xfrm>
            <a:off x="758825" y="1743075"/>
            <a:ext cx="41275" cy="3938588"/>
          </a:xfrm>
          <a:prstGeom prst="line">
            <a:avLst/>
          </a:prstGeom>
          <a:ln w="12700" cap="flat" cmpd="sng">
            <a:solidFill>
              <a:schemeClr val="tx1"/>
            </a:solidFill>
            <a:prstDash val="solid"/>
            <a:round/>
            <a:headEnd type="none" w="med" len="med"/>
            <a:tailEnd type="triangle" w="med" len="med"/>
          </a:ln>
        </p:spPr>
      </p:sp>
      <p:sp>
        <p:nvSpPr>
          <p:cNvPr id="53282" name="Text Box 46"/>
          <p:cNvSpPr txBox="1"/>
          <p:nvPr/>
        </p:nvSpPr>
        <p:spPr>
          <a:xfrm>
            <a:off x="188913" y="5378450"/>
            <a:ext cx="658812" cy="366713"/>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time</a:t>
            </a:r>
            <a:endParaRPr lang="en-US" altLang="zh-CN" dirty="0">
              <a:latin typeface="Comic Sans MS" panose="030F0702030302020204" pitchFamily="66" charset="0"/>
              <a:ea typeface="宋体" panose="02010600030101010101" pitchFamily="2" charset="-122"/>
            </a:endParaRPr>
          </a:p>
        </p:txBody>
      </p:sp>
      <p:sp>
        <p:nvSpPr>
          <p:cNvPr id="53283" name="Line 44"/>
          <p:cNvSpPr/>
          <p:nvPr/>
        </p:nvSpPr>
        <p:spPr>
          <a:xfrm>
            <a:off x="744538" y="1728788"/>
            <a:ext cx="7835900" cy="0"/>
          </a:xfrm>
          <a:prstGeom prst="line">
            <a:avLst/>
          </a:prstGeom>
          <a:ln w="9525" cap="flat" cmpd="sng">
            <a:solidFill>
              <a:schemeClr val="tx1"/>
            </a:solidFill>
            <a:prstDash val="solid"/>
            <a:round/>
            <a:headEnd type="none" w="med" len="med"/>
            <a:tailEnd type="none" w="med" len="med"/>
          </a:ln>
        </p:spPr>
      </p:sp>
      <p:grpSp>
        <p:nvGrpSpPr>
          <p:cNvPr id="356422" name="Group 70"/>
          <p:cNvGrpSpPr/>
          <p:nvPr/>
        </p:nvGrpSpPr>
        <p:grpSpPr>
          <a:xfrm>
            <a:off x="1801813" y="1857375"/>
            <a:ext cx="6611937" cy="855663"/>
            <a:chOff x="1135" y="1170"/>
            <a:chExt cx="4165" cy="539"/>
          </a:xfrm>
        </p:grpSpPr>
        <p:grpSp>
          <p:nvGrpSpPr>
            <p:cNvPr id="53285" name="Group 9"/>
            <p:cNvGrpSpPr/>
            <p:nvPr/>
          </p:nvGrpSpPr>
          <p:grpSpPr>
            <a:xfrm>
              <a:off x="1135" y="1194"/>
              <a:ext cx="4163" cy="515"/>
              <a:chOff x="594" y="1184"/>
              <a:chExt cx="4163" cy="515"/>
            </a:xfrm>
          </p:grpSpPr>
          <p:sp>
            <p:nvSpPr>
              <p:cNvPr id="53286" name="Freeform 7"/>
              <p:cNvSpPr/>
              <p:nvPr/>
            </p:nvSpPr>
            <p:spPr>
              <a:xfrm>
                <a:off x="594" y="1238"/>
                <a:ext cx="3642" cy="461"/>
              </a:xfrm>
              <a:custGeom>
                <a:avLst/>
                <a:gdLst/>
                <a:ahLst/>
                <a:cxnLst>
                  <a:cxn ang="0">
                    <a:pos x="1" y="0"/>
                  </a:cxn>
                  <a:cxn ang="0">
                    <a:pos x="4427" y="298"/>
                  </a:cxn>
                  <a:cxn ang="0">
                    <a:pos x="4427" y="461"/>
                  </a:cxn>
                  <a:cxn ang="0">
                    <a:pos x="0" y="160"/>
                  </a:cxn>
                  <a:cxn ang="0">
                    <a:pos x="1" y="0"/>
                  </a:cxn>
                </a:cxnLst>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tileRect/>
              </a:gradFill>
              <a:ln w="9525">
                <a:noFill/>
              </a:ln>
            </p:spPr>
            <p:txBody>
              <a:bodyPr/>
              <a:p>
                <a:endParaRPr lang="zh-CN" altLang="en-US"/>
              </a:p>
            </p:txBody>
          </p:sp>
          <p:sp>
            <p:nvSpPr>
              <p:cNvPr id="53287" name="Freeform 8"/>
              <p:cNvSpPr/>
              <p:nvPr/>
            </p:nvSpPr>
            <p:spPr>
              <a:xfrm flipH="1">
                <a:off x="1115" y="1184"/>
                <a:ext cx="3642" cy="461"/>
              </a:xfrm>
              <a:custGeom>
                <a:avLst/>
                <a:gdLst/>
                <a:ahLst/>
                <a:cxnLst>
                  <a:cxn ang="0">
                    <a:pos x="1" y="0"/>
                  </a:cxn>
                  <a:cxn ang="0">
                    <a:pos x="4427" y="298"/>
                  </a:cxn>
                  <a:cxn ang="0">
                    <a:pos x="4427" y="461"/>
                  </a:cxn>
                  <a:cxn ang="0">
                    <a:pos x="0" y="160"/>
                  </a:cxn>
                  <a:cxn ang="0">
                    <a:pos x="1" y="0"/>
                  </a:cxn>
                </a:cxnLst>
                <a:pathLst>
                  <a:path w="2996" h="461">
                    <a:moveTo>
                      <a:pt x="1" y="0"/>
                    </a:moveTo>
                    <a:lnTo>
                      <a:pt x="2996" y="298"/>
                    </a:lnTo>
                    <a:lnTo>
                      <a:pt x="2996" y="461"/>
                    </a:lnTo>
                    <a:lnTo>
                      <a:pt x="0" y="160"/>
                    </a:lnTo>
                    <a:lnTo>
                      <a:pt x="1" y="0"/>
                    </a:lnTo>
                    <a:close/>
                  </a:path>
                </a:pathLst>
              </a:custGeom>
              <a:gradFill rotWithShape="1">
                <a:gsLst>
                  <a:gs pos="0">
                    <a:schemeClr val="accent1"/>
                  </a:gs>
                  <a:gs pos="100000">
                    <a:srgbClr val="FFFFFF">
                      <a:alpha val="6000"/>
                    </a:srgbClr>
                  </a:gs>
                </a:gsLst>
                <a:lin ang="5400000" scaled="1"/>
                <a:tileRect/>
              </a:gradFill>
              <a:ln w="9525">
                <a:noFill/>
              </a:ln>
            </p:spPr>
            <p:txBody>
              <a:bodyPr/>
              <a:p>
                <a:endParaRPr lang="zh-CN" altLang="en-US"/>
              </a:p>
            </p:txBody>
          </p:sp>
        </p:grpSp>
        <p:sp>
          <p:nvSpPr>
            <p:cNvPr id="53288" name="Text Box 51"/>
            <p:cNvSpPr txBox="1"/>
            <p:nvPr/>
          </p:nvSpPr>
          <p:spPr>
            <a:xfrm rot="356404">
              <a:off x="1544" y="1279"/>
              <a:ext cx="615"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RTS(A)</a:t>
              </a:r>
              <a:endParaRPr lang="en-US" altLang="zh-CN" dirty="0">
                <a:latin typeface="Comic Sans MS" panose="030F0702030302020204" pitchFamily="66" charset="0"/>
                <a:ea typeface="宋体" panose="02010600030101010101" pitchFamily="2" charset="-122"/>
              </a:endParaRPr>
            </a:p>
          </p:txBody>
        </p:sp>
        <p:sp>
          <p:nvSpPr>
            <p:cNvPr id="53289" name="Text Box 52"/>
            <p:cNvSpPr txBox="1"/>
            <p:nvPr/>
          </p:nvSpPr>
          <p:spPr>
            <a:xfrm rot="-354180">
              <a:off x="4699" y="1170"/>
              <a:ext cx="601"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RTS(B)</a:t>
              </a:r>
              <a:endParaRPr lang="en-US" altLang="zh-CN" dirty="0">
                <a:latin typeface="Comic Sans MS" panose="030F0702030302020204" pitchFamily="66" charset="0"/>
                <a:ea typeface="宋体" panose="02010600030101010101" pitchFamily="2" charset="-122"/>
              </a:endParaRPr>
            </a:p>
          </p:txBody>
        </p:sp>
      </p:grpSp>
      <p:grpSp>
        <p:nvGrpSpPr>
          <p:cNvPr id="356420" name="Group 68"/>
          <p:cNvGrpSpPr/>
          <p:nvPr/>
        </p:nvGrpSpPr>
        <p:grpSpPr>
          <a:xfrm>
            <a:off x="1800225" y="2693988"/>
            <a:ext cx="6472238" cy="1174750"/>
            <a:chOff x="1134" y="1697"/>
            <a:chExt cx="4077" cy="740"/>
          </a:xfrm>
        </p:grpSpPr>
        <p:sp>
          <p:nvSpPr>
            <p:cNvPr id="53291" name="Freeform 48"/>
            <p:cNvSpPr/>
            <p:nvPr/>
          </p:nvSpPr>
          <p:spPr>
            <a:xfrm>
              <a:off x="1134" y="1697"/>
              <a:ext cx="3642" cy="461"/>
            </a:xfrm>
            <a:custGeom>
              <a:avLst/>
              <a:gdLst/>
              <a:ahLst/>
              <a:cxnLst>
                <a:cxn ang="0">
                  <a:pos x="1" y="0"/>
                </a:cxn>
                <a:cxn ang="0">
                  <a:pos x="4427" y="298"/>
                </a:cxn>
                <a:cxn ang="0">
                  <a:pos x="4427" y="461"/>
                </a:cxn>
                <a:cxn ang="0">
                  <a:pos x="0" y="160"/>
                </a:cxn>
                <a:cxn ang="0">
                  <a:pos x="1" y="0"/>
                </a:cxn>
              </a:cxnLst>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tileRect/>
            </a:gradFill>
            <a:ln w="9525">
              <a:noFill/>
            </a:ln>
          </p:spPr>
          <p:txBody>
            <a:bodyPr/>
            <a:p>
              <a:endParaRPr lang="zh-CN" altLang="en-US"/>
            </a:p>
          </p:txBody>
        </p:sp>
        <p:sp>
          <p:nvSpPr>
            <p:cNvPr id="53292" name="Text Box 54"/>
            <p:cNvSpPr txBox="1"/>
            <p:nvPr/>
          </p:nvSpPr>
          <p:spPr>
            <a:xfrm rot="356404">
              <a:off x="1551" y="1738"/>
              <a:ext cx="615"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RTS(A)</a:t>
              </a:r>
              <a:endParaRPr lang="en-US" altLang="zh-CN" dirty="0">
                <a:latin typeface="Comic Sans MS" panose="030F0702030302020204" pitchFamily="66" charset="0"/>
                <a:ea typeface="宋体" panose="02010600030101010101" pitchFamily="2" charset="-122"/>
              </a:endParaRPr>
            </a:p>
          </p:txBody>
        </p:sp>
        <p:sp>
          <p:nvSpPr>
            <p:cNvPr id="53293" name="Freeform 56"/>
            <p:cNvSpPr/>
            <p:nvPr/>
          </p:nvSpPr>
          <p:spPr>
            <a:xfrm>
              <a:off x="2951" y="2082"/>
              <a:ext cx="2260" cy="355"/>
            </a:xfrm>
            <a:custGeom>
              <a:avLst/>
              <a:gdLst/>
              <a:ahLst/>
              <a:cxnLst>
                <a:cxn ang="0">
                  <a:pos x="0" y="0"/>
                </a:cxn>
                <a:cxn ang="0">
                  <a:pos x="2260" y="186"/>
                </a:cxn>
                <a:cxn ang="0">
                  <a:pos x="2260" y="355"/>
                </a:cxn>
                <a:cxn ang="0">
                  <a:pos x="0" y="151"/>
                </a:cxn>
                <a:cxn ang="0">
                  <a:pos x="0" y="0"/>
                </a:cxn>
              </a:cxnLst>
              <a:pathLst>
                <a:path w="2260" h="355">
                  <a:moveTo>
                    <a:pt x="0" y="0"/>
                  </a:moveTo>
                  <a:lnTo>
                    <a:pt x="2260" y="186"/>
                  </a:lnTo>
                  <a:lnTo>
                    <a:pt x="2260" y="355"/>
                  </a:lnTo>
                  <a:lnTo>
                    <a:pt x="0" y="151"/>
                  </a:lnTo>
                  <a:lnTo>
                    <a:pt x="0" y="0"/>
                  </a:lnTo>
                  <a:close/>
                </a:path>
              </a:pathLst>
            </a:custGeom>
            <a:solidFill>
              <a:srgbClr val="FF99CC"/>
            </a:solidFill>
            <a:ln w="9525">
              <a:noFill/>
            </a:ln>
          </p:spPr>
          <p:txBody>
            <a:bodyPr/>
            <a:p>
              <a:endParaRPr lang="zh-CN" altLang="en-US"/>
            </a:p>
          </p:txBody>
        </p:sp>
        <p:sp>
          <p:nvSpPr>
            <p:cNvPr id="53294" name="Freeform 57"/>
            <p:cNvSpPr/>
            <p:nvPr/>
          </p:nvSpPr>
          <p:spPr>
            <a:xfrm>
              <a:off x="1134" y="2081"/>
              <a:ext cx="1860" cy="347"/>
            </a:xfrm>
            <a:custGeom>
              <a:avLst/>
              <a:gdLst/>
              <a:ahLst/>
              <a:cxnLst>
                <a:cxn ang="0">
                  <a:pos x="1860" y="0"/>
                </a:cxn>
                <a:cxn ang="0">
                  <a:pos x="0" y="179"/>
                </a:cxn>
                <a:cxn ang="0">
                  <a:pos x="0" y="347"/>
                </a:cxn>
                <a:cxn ang="0">
                  <a:pos x="1860" y="151"/>
                </a:cxn>
                <a:cxn ang="0">
                  <a:pos x="1860" y="0"/>
                </a:cxn>
              </a:cxnLst>
              <a:pathLst>
                <a:path w="1860" h="347">
                  <a:moveTo>
                    <a:pt x="1860" y="0"/>
                  </a:moveTo>
                  <a:lnTo>
                    <a:pt x="0" y="179"/>
                  </a:lnTo>
                  <a:lnTo>
                    <a:pt x="0" y="347"/>
                  </a:lnTo>
                  <a:lnTo>
                    <a:pt x="1860" y="151"/>
                  </a:lnTo>
                  <a:lnTo>
                    <a:pt x="1860" y="0"/>
                  </a:lnTo>
                  <a:close/>
                </a:path>
              </a:pathLst>
            </a:custGeom>
            <a:solidFill>
              <a:srgbClr val="FF99CC"/>
            </a:solidFill>
            <a:ln w="9525">
              <a:noFill/>
            </a:ln>
          </p:spPr>
          <p:txBody>
            <a:bodyPr/>
            <a:p>
              <a:endParaRPr lang="zh-CN" altLang="en-US"/>
            </a:p>
          </p:txBody>
        </p:sp>
        <p:sp>
          <p:nvSpPr>
            <p:cNvPr id="53295" name="Text Box 58"/>
            <p:cNvSpPr txBox="1"/>
            <p:nvPr/>
          </p:nvSpPr>
          <p:spPr>
            <a:xfrm rot="-379204">
              <a:off x="1584" y="2157"/>
              <a:ext cx="61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CTS(A)</a:t>
              </a:r>
              <a:endParaRPr lang="en-US" altLang="zh-CN" dirty="0">
                <a:latin typeface="Comic Sans MS" panose="030F0702030302020204" pitchFamily="66" charset="0"/>
                <a:ea typeface="宋体" panose="02010600030101010101" pitchFamily="2" charset="-122"/>
              </a:endParaRPr>
            </a:p>
          </p:txBody>
        </p:sp>
        <p:sp>
          <p:nvSpPr>
            <p:cNvPr id="53296" name="Text Box 59"/>
            <p:cNvSpPr txBox="1"/>
            <p:nvPr/>
          </p:nvSpPr>
          <p:spPr>
            <a:xfrm rot="276164">
              <a:off x="3816" y="2147"/>
              <a:ext cx="61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CTS(A)</a:t>
              </a:r>
              <a:endParaRPr lang="en-US" altLang="zh-CN" dirty="0">
                <a:latin typeface="Comic Sans MS" panose="030F0702030302020204" pitchFamily="66" charset="0"/>
                <a:ea typeface="宋体" panose="02010600030101010101" pitchFamily="2" charset="-122"/>
              </a:endParaRPr>
            </a:p>
          </p:txBody>
        </p:sp>
      </p:grpSp>
      <p:grpSp>
        <p:nvGrpSpPr>
          <p:cNvPr id="356421" name="Group 69"/>
          <p:cNvGrpSpPr/>
          <p:nvPr/>
        </p:nvGrpSpPr>
        <p:grpSpPr>
          <a:xfrm>
            <a:off x="1825625" y="3956050"/>
            <a:ext cx="6472238" cy="2174875"/>
            <a:chOff x="1150" y="2492"/>
            <a:chExt cx="4077" cy="1370"/>
          </a:xfrm>
        </p:grpSpPr>
        <p:sp>
          <p:nvSpPr>
            <p:cNvPr id="53298" name="Freeform 60"/>
            <p:cNvSpPr/>
            <p:nvPr/>
          </p:nvSpPr>
          <p:spPr>
            <a:xfrm>
              <a:off x="1150" y="2492"/>
              <a:ext cx="3652" cy="1134"/>
            </a:xfrm>
            <a:custGeom>
              <a:avLst/>
              <a:gdLst/>
              <a:ahLst/>
              <a:cxnLst>
                <a:cxn ang="0">
                  <a:pos x="0" y="0"/>
                </a:cxn>
                <a:cxn ang="0">
                  <a:pos x="3652" y="318"/>
                </a:cxn>
                <a:cxn ang="0">
                  <a:pos x="3652" y="1134"/>
                </a:cxn>
                <a:cxn ang="0">
                  <a:pos x="1" y="787"/>
                </a:cxn>
                <a:cxn ang="0">
                  <a:pos x="0" y="0"/>
                </a:cxn>
              </a:cxnLst>
              <a:pathLst>
                <a:path w="3652" h="1134">
                  <a:moveTo>
                    <a:pt x="0" y="0"/>
                  </a:moveTo>
                  <a:lnTo>
                    <a:pt x="3652" y="318"/>
                  </a:lnTo>
                  <a:lnTo>
                    <a:pt x="3652" y="1134"/>
                  </a:lnTo>
                  <a:lnTo>
                    <a:pt x="1" y="787"/>
                  </a:lnTo>
                  <a:lnTo>
                    <a:pt x="0" y="0"/>
                  </a:lnTo>
                  <a:close/>
                </a:path>
              </a:pathLst>
            </a:custGeom>
            <a:gradFill rotWithShape="1">
              <a:gsLst>
                <a:gs pos="0">
                  <a:schemeClr val="accent2"/>
                </a:gs>
                <a:gs pos="100000">
                  <a:srgbClr val="FFFFFF"/>
                </a:gs>
              </a:gsLst>
              <a:lin ang="0" scaled="1"/>
              <a:tileRect/>
            </a:gradFill>
            <a:ln w="9525">
              <a:noFill/>
            </a:ln>
          </p:spPr>
          <p:txBody>
            <a:bodyPr/>
            <a:p>
              <a:endParaRPr lang="zh-CN" altLang="en-US"/>
            </a:p>
          </p:txBody>
        </p:sp>
        <p:sp>
          <p:nvSpPr>
            <p:cNvPr id="53299" name="Text Box 61"/>
            <p:cNvSpPr txBox="1"/>
            <p:nvPr/>
          </p:nvSpPr>
          <p:spPr>
            <a:xfrm>
              <a:off x="1594" y="2814"/>
              <a:ext cx="1135" cy="231"/>
            </a:xfrm>
            <a:prstGeom prst="rect">
              <a:avLst/>
            </a:prstGeom>
            <a:noFill/>
            <a:ln w="9525">
              <a:noFill/>
            </a:ln>
          </p:spPr>
          <p:txBody>
            <a:bodyPr anchor="t" anchorCtr="0">
              <a:spAutoFit/>
            </a:bodyPr>
            <a:p>
              <a:pPr eaLnBrk="0" hangingPunct="0">
                <a:spcBef>
                  <a:spcPct val="50000"/>
                </a:spcBef>
                <a:buClrTx/>
                <a:buFontTx/>
              </a:pPr>
              <a:r>
                <a:rPr lang="en-US" altLang="zh-CN" dirty="0">
                  <a:latin typeface="Comic Sans MS" panose="030F0702030302020204" pitchFamily="66" charset="0"/>
                  <a:ea typeface="宋体" panose="02010600030101010101" pitchFamily="2" charset="-122"/>
                </a:rPr>
                <a:t>DATA (A)</a:t>
              </a:r>
              <a:endParaRPr lang="en-US" altLang="zh-CN" dirty="0">
                <a:latin typeface="Comic Sans MS" panose="030F0702030302020204" pitchFamily="66" charset="0"/>
                <a:ea typeface="宋体" panose="02010600030101010101" pitchFamily="2" charset="-122"/>
              </a:endParaRPr>
            </a:p>
          </p:txBody>
        </p:sp>
        <p:sp>
          <p:nvSpPr>
            <p:cNvPr id="53300" name="Freeform 62"/>
            <p:cNvSpPr/>
            <p:nvPr/>
          </p:nvSpPr>
          <p:spPr>
            <a:xfrm>
              <a:off x="2967" y="3507"/>
              <a:ext cx="2260" cy="355"/>
            </a:xfrm>
            <a:custGeom>
              <a:avLst/>
              <a:gdLst/>
              <a:ahLst/>
              <a:cxnLst>
                <a:cxn ang="0">
                  <a:pos x="0" y="0"/>
                </a:cxn>
                <a:cxn ang="0">
                  <a:pos x="2260" y="186"/>
                </a:cxn>
                <a:cxn ang="0">
                  <a:pos x="2260" y="355"/>
                </a:cxn>
                <a:cxn ang="0">
                  <a:pos x="0" y="151"/>
                </a:cxn>
                <a:cxn ang="0">
                  <a:pos x="0" y="0"/>
                </a:cxn>
              </a:cxnLst>
              <a:pathLst>
                <a:path w="2260" h="355">
                  <a:moveTo>
                    <a:pt x="0" y="0"/>
                  </a:moveTo>
                  <a:lnTo>
                    <a:pt x="2260" y="186"/>
                  </a:lnTo>
                  <a:lnTo>
                    <a:pt x="2260" y="355"/>
                  </a:lnTo>
                  <a:lnTo>
                    <a:pt x="0" y="151"/>
                  </a:lnTo>
                  <a:lnTo>
                    <a:pt x="0" y="0"/>
                  </a:lnTo>
                  <a:close/>
                </a:path>
              </a:pathLst>
            </a:custGeom>
            <a:solidFill>
              <a:srgbClr val="FF99CC"/>
            </a:solidFill>
            <a:ln w="9525">
              <a:noFill/>
            </a:ln>
          </p:spPr>
          <p:txBody>
            <a:bodyPr/>
            <a:p>
              <a:endParaRPr lang="zh-CN" altLang="en-US"/>
            </a:p>
          </p:txBody>
        </p:sp>
        <p:sp>
          <p:nvSpPr>
            <p:cNvPr id="53301" name="Freeform 63"/>
            <p:cNvSpPr/>
            <p:nvPr/>
          </p:nvSpPr>
          <p:spPr>
            <a:xfrm>
              <a:off x="1150" y="3506"/>
              <a:ext cx="1860" cy="347"/>
            </a:xfrm>
            <a:custGeom>
              <a:avLst/>
              <a:gdLst/>
              <a:ahLst/>
              <a:cxnLst>
                <a:cxn ang="0">
                  <a:pos x="1860" y="0"/>
                </a:cxn>
                <a:cxn ang="0">
                  <a:pos x="0" y="179"/>
                </a:cxn>
                <a:cxn ang="0">
                  <a:pos x="0" y="347"/>
                </a:cxn>
                <a:cxn ang="0">
                  <a:pos x="1860" y="151"/>
                </a:cxn>
                <a:cxn ang="0">
                  <a:pos x="1860" y="0"/>
                </a:cxn>
              </a:cxnLst>
              <a:pathLst>
                <a:path w="1860" h="347">
                  <a:moveTo>
                    <a:pt x="1860" y="0"/>
                  </a:moveTo>
                  <a:lnTo>
                    <a:pt x="0" y="179"/>
                  </a:lnTo>
                  <a:lnTo>
                    <a:pt x="0" y="347"/>
                  </a:lnTo>
                  <a:lnTo>
                    <a:pt x="1860" y="151"/>
                  </a:lnTo>
                  <a:lnTo>
                    <a:pt x="1860" y="0"/>
                  </a:lnTo>
                  <a:close/>
                </a:path>
              </a:pathLst>
            </a:custGeom>
            <a:solidFill>
              <a:srgbClr val="FF99CC"/>
            </a:solidFill>
            <a:ln w="9525">
              <a:noFill/>
            </a:ln>
          </p:spPr>
          <p:txBody>
            <a:bodyPr/>
            <a:p>
              <a:endParaRPr lang="zh-CN" altLang="en-US"/>
            </a:p>
          </p:txBody>
        </p:sp>
        <p:sp>
          <p:nvSpPr>
            <p:cNvPr id="53302" name="Text Box 64"/>
            <p:cNvSpPr txBox="1"/>
            <p:nvPr/>
          </p:nvSpPr>
          <p:spPr>
            <a:xfrm rot="-379204">
              <a:off x="1600" y="3582"/>
              <a:ext cx="607"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ACK(A)</a:t>
              </a:r>
              <a:endParaRPr lang="en-US" altLang="zh-CN" dirty="0">
                <a:latin typeface="Comic Sans MS" panose="030F0702030302020204" pitchFamily="66" charset="0"/>
                <a:ea typeface="宋体" panose="02010600030101010101" pitchFamily="2" charset="-122"/>
              </a:endParaRPr>
            </a:p>
          </p:txBody>
        </p:sp>
        <p:sp>
          <p:nvSpPr>
            <p:cNvPr id="53303" name="Text Box 65"/>
            <p:cNvSpPr txBox="1"/>
            <p:nvPr/>
          </p:nvSpPr>
          <p:spPr>
            <a:xfrm rot="276164">
              <a:off x="3832" y="3572"/>
              <a:ext cx="607"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ACK(A)</a:t>
              </a:r>
              <a:endParaRPr lang="en-US" altLang="zh-CN" dirty="0">
                <a:latin typeface="Comic Sans MS" panose="030F0702030302020204" pitchFamily="66" charset="0"/>
                <a:ea typeface="宋体" panose="02010600030101010101" pitchFamily="2" charset="-122"/>
              </a:endParaRPr>
            </a:p>
          </p:txBody>
        </p:sp>
      </p:grpSp>
      <p:grpSp>
        <p:nvGrpSpPr>
          <p:cNvPr id="356418" name="Group 66"/>
          <p:cNvGrpSpPr/>
          <p:nvPr/>
        </p:nvGrpSpPr>
        <p:grpSpPr>
          <a:xfrm>
            <a:off x="4418013" y="2046288"/>
            <a:ext cx="3109912" cy="715962"/>
            <a:chOff x="2596" y="1330"/>
            <a:chExt cx="1959" cy="451"/>
          </a:xfrm>
        </p:grpSpPr>
        <p:sp>
          <p:nvSpPr>
            <p:cNvPr id="53305" name="AutoShape 10"/>
            <p:cNvSpPr/>
            <p:nvPr/>
          </p:nvSpPr>
          <p:spPr>
            <a:xfrm>
              <a:off x="2596" y="1330"/>
              <a:ext cx="683" cy="293"/>
            </a:xfrm>
            <a:prstGeom prst="irregularSeal1">
              <a:avLst/>
            </a:prstGeom>
            <a:solidFill>
              <a:srgbClr val="FFFF00"/>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3306" name="Text Box 11"/>
            <p:cNvSpPr txBox="1"/>
            <p:nvPr/>
          </p:nvSpPr>
          <p:spPr>
            <a:xfrm>
              <a:off x="2778" y="1550"/>
              <a:ext cx="1777" cy="231"/>
            </a:xfrm>
            <a:prstGeom prst="rect">
              <a:avLst/>
            </a:prstGeom>
            <a:noFill/>
            <a:ln w="9525">
              <a:noFill/>
            </a:ln>
          </p:spPr>
          <p:txBody>
            <a:bodyPr anchor="t" anchorCtr="0">
              <a:spAutoFit/>
            </a:bodyPr>
            <a:p>
              <a:pPr eaLnBrk="0" hangingPunct="0">
                <a:buClrTx/>
                <a:buFontTx/>
              </a:pPr>
              <a:r>
                <a:rPr lang="en-US" altLang="zh-CN" dirty="0">
                  <a:latin typeface="Arial" panose="020B0604020202020204" pitchFamily="34" charset="0"/>
                  <a:ea typeface="宋体" panose="02010600030101010101" pitchFamily="2" charset="-122"/>
                </a:rPr>
                <a:t>reservation collision</a:t>
              </a:r>
              <a:endParaRPr lang="en-US" altLang="zh-CN" dirty="0">
                <a:latin typeface="Arial" panose="020B0604020202020204" pitchFamily="34" charset="0"/>
                <a:ea typeface="宋体" panose="02010600030101010101" pitchFamily="2" charset="-122"/>
              </a:endParaRPr>
            </a:p>
          </p:txBody>
        </p:sp>
      </p:grpSp>
      <p:sp>
        <p:nvSpPr>
          <p:cNvPr id="53307" name="Line 71"/>
          <p:cNvSpPr/>
          <p:nvPr/>
        </p:nvSpPr>
        <p:spPr>
          <a:xfrm>
            <a:off x="8428038" y="3671888"/>
            <a:ext cx="0" cy="2424112"/>
          </a:xfrm>
          <a:prstGeom prst="line">
            <a:avLst/>
          </a:prstGeom>
          <a:ln w="28575" cap="flat" cmpd="sng">
            <a:solidFill>
              <a:schemeClr val="tx1"/>
            </a:solidFill>
            <a:prstDash val="solid"/>
            <a:round/>
            <a:headEnd type="triangle" w="med" len="med"/>
            <a:tailEnd type="triangle" w="med" len="med"/>
          </a:ln>
        </p:spPr>
      </p:sp>
      <p:sp>
        <p:nvSpPr>
          <p:cNvPr id="53308" name="Text Box 72"/>
          <p:cNvSpPr txBox="1"/>
          <p:nvPr/>
        </p:nvSpPr>
        <p:spPr>
          <a:xfrm>
            <a:off x="8015288" y="4689475"/>
            <a:ext cx="795337" cy="366713"/>
          </a:xfrm>
          <a:prstGeom prst="rect">
            <a:avLst/>
          </a:prstGeom>
          <a:solidFill>
            <a:schemeClr val="bg1"/>
          </a:solid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defer</a:t>
            </a:r>
            <a:endParaRPr lang="en-US" altLang="zh-CN"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6422"/>
                                        </p:tgtEl>
                                        <p:attrNameLst>
                                          <p:attrName>style.visibility</p:attrName>
                                        </p:attrNameLst>
                                      </p:cBhvr>
                                      <p:to>
                                        <p:strVal val="visible"/>
                                      </p:to>
                                    </p:set>
                                    <p:animEffect transition="in" filter="wipe(up)">
                                      <p:cBhvr>
                                        <p:cTn id="7" dur="1000"/>
                                        <p:tgtEl>
                                          <p:spTgt spid="356422"/>
                                        </p:tgtEl>
                                      </p:cBhvr>
                                    </p:animEffect>
                                  </p:childTnLst>
                                </p:cTn>
                              </p:par>
                            </p:childTnLst>
                          </p:cTn>
                        </p:par>
                        <p:par>
                          <p:cTn id="8" fill="hold">
                            <p:stCondLst>
                              <p:cond delay="1000"/>
                            </p:stCondLst>
                            <p:childTnLst>
                              <p:par>
                                <p:cTn id="9" presetID="9" presetClass="entr" presetSubtype="0" fill="hold" nodeType="afterEffect">
                                  <p:stCondLst>
                                    <p:cond delay="0"/>
                                  </p:stCondLst>
                                  <p:childTnLst>
                                    <p:set>
                                      <p:cBhvr>
                                        <p:cTn id="10" dur="1" fill="hold">
                                          <p:stCondLst>
                                            <p:cond delay="0"/>
                                          </p:stCondLst>
                                        </p:cTn>
                                        <p:tgtEl>
                                          <p:spTgt spid="356418"/>
                                        </p:tgtEl>
                                        <p:attrNameLst>
                                          <p:attrName>style.visibility</p:attrName>
                                        </p:attrNameLst>
                                      </p:cBhvr>
                                      <p:to>
                                        <p:strVal val="visible"/>
                                      </p:to>
                                    </p:set>
                                    <p:animEffect transition="in" filter="dissolve">
                                      <p:cBhvr>
                                        <p:cTn id="11" dur="500"/>
                                        <p:tgtEl>
                                          <p:spTgt spid="3564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56420"/>
                                        </p:tgtEl>
                                        <p:attrNameLst>
                                          <p:attrName>style.visibility</p:attrName>
                                        </p:attrNameLst>
                                      </p:cBhvr>
                                      <p:to>
                                        <p:strVal val="visible"/>
                                      </p:to>
                                    </p:set>
                                    <p:animEffect transition="in" filter="wipe(up)">
                                      <p:cBhvr>
                                        <p:cTn id="16" dur="1000"/>
                                        <p:tgtEl>
                                          <p:spTgt spid="3564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56421"/>
                                        </p:tgtEl>
                                        <p:attrNameLst>
                                          <p:attrName>style.visibility</p:attrName>
                                        </p:attrNameLst>
                                      </p:cBhvr>
                                      <p:to>
                                        <p:strVal val="visible"/>
                                      </p:to>
                                    </p:set>
                                    <p:animEffect transition="in" filter="wipe(up)">
                                      <p:cBhvr>
                                        <p:cTn id="21" dur="1000"/>
                                        <p:tgtEl>
                                          <p:spTgt spid="35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5529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55299" name="Group 2"/>
          <p:cNvGrpSpPr/>
          <p:nvPr/>
        </p:nvGrpSpPr>
        <p:grpSpPr>
          <a:xfrm>
            <a:off x="288925" y="1812925"/>
            <a:ext cx="8077200" cy="985838"/>
            <a:chOff x="240" y="887"/>
            <a:chExt cx="5088" cy="621"/>
          </a:xfrm>
        </p:grpSpPr>
        <p:sp>
          <p:nvSpPr>
            <p:cNvPr id="55300" name="Rectangle 3"/>
            <p:cNvSpPr/>
            <p:nvPr/>
          </p:nvSpPr>
          <p:spPr>
            <a:xfrm>
              <a:off x="24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frame</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control</a:t>
              </a:r>
              <a:endParaRPr lang="en-US" altLang="zh-CN" sz="1600" dirty="0">
                <a:latin typeface="Arial" panose="020B0604020202020204" pitchFamily="34" charset="0"/>
                <a:ea typeface="宋体" panose="02010600030101010101" pitchFamily="2" charset="-122"/>
              </a:endParaRPr>
            </a:p>
          </p:txBody>
        </p:sp>
        <p:sp>
          <p:nvSpPr>
            <p:cNvPr id="55301" name="Rectangle 4"/>
            <p:cNvSpPr/>
            <p:nvPr/>
          </p:nvSpPr>
          <p:spPr>
            <a:xfrm>
              <a:off x="768"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duration</a:t>
              </a:r>
              <a:endParaRPr lang="en-US" altLang="zh-CN" sz="1600" dirty="0">
                <a:latin typeface="Arial" panose="020B0604020202020204" pitchFamily="34" charset="0"/>
                <a:ea typeface="宋体" panose="02010600030101010101" pitchFamily="2" charset="-122"/>
              </a:endParaRPr>
            </a:p>
          </p:txBody>
        </p:sp>
        <p:sp>
          <p:nvSpPr>
            <p:cNvPr id="55302" name="Rectangle 5"/>
            <p:cNvSpPr/>
            <p:nvPr/>
          </p:nvSpPr>
          <p:spPr>
            <a:xfrm>
              <a:off x="1296"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1</a:t>
              </a:r>
              <a:endParaRPr lang="en-US" altLang="zh-CN" sz="1600" dirty="0">
                <a:latin typeface="Arial" panose="020B0604020202020204" pitchFamily="34" charset="0"/>
                <a:ea typeface="宋体" panose="02010600030101010101" pitchFamily="2" charset="-122"/>
              </a:endParaRPr>
            </a:p>
          </p:txBody>
        </p:sp>
        <p:sp>
          <p:nvSpPr>
            <p:cNvPr id="55303" name="Rectangle 6"/>
            <p:cNvSpPr/>
            <p:nvPr/>
          </p:nvSpPr>
          <p:spPr>
            <a:xfrm>
              <a:off x="1824"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2</a:t>
              </a:r>
              <a:endParaRPr lang="en-US" altLang="zh-CN" sz="1600" dirty="0">
                <a:latin typeface="Arial" panose="020B0604020202020204" pitchFamily="34" charset="0"/>
                <a:ea typeface="宋体" panose="02010600030101010101" pitchFamily="2" charset="-122"/>
              </a:endParaRPr>
            </a:p>
          </p:txBody>
        </p:sp>
        <p:sp>
          <p:nvSpPr>
            <p:cNvPr id="55304" name="Rectangle 7"/>
            <p:cNvSpPr/>
            <p:nvPr/>
          </p:nvSpPr>
          <p:spPr>
            <a:xfrm>
              <a:off x="3408"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4</a:t>
              </a:r>
              <a:endParaRPr lang="en-US" altLang="zh-CN" sz="1600" dirty="0">
                <a:latin typeface="Arial" panose="020B0604020202020204" pitchFamily="34" charset="0"/>
                <a:ea typeface="宋体" panose="02010600030101010101" pitchFamily="2" charset="-122"/>
              </a:endParaRPr>
            </a:p>
          </p:txBody>
        </p:sp>
        <p:sp>
          <p:nvSpPr>
            <p:cNvPr id="55305" name="Rectangle 8"/>
            <p:cNvSpPr/>
            <p:nvPr/>
          </p:nvSpPr>
          <p:spPr>
            <a:xfrm>
              <a:off x="2352"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55306" name="Rectangle 9"/>
            <p:cNvSpPr/>
            <p:nvPr/>
          </p:nvSpPr>
          <p:spPr>
            <a:xfrm>
              <a:off x="288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sp>
          <p:nvSpPr>
            <p:cNvPr id="55307" name="Rectangle 10"/>
            <p:cNvSpPr/>
            <p:nvPr/>
          </p:nvSpPr>
          <p:spPr>
            <a:xfrm>
              <a:off x="3936" y="1104"/>
              <a:ext cx="864" cy="38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payload</a:t>
              </a:r>
              <a:endParaRPr lang="en-US" altLang="zh-CN" sz="1600" dirty="0">
                <a:latin typeface="Arial" panose="020B0604020202020204" pitchFamily="34" charset="0"/>
                <a:ea typeface="宋体" panose="02010600030101010101" pitchFamily="2" charset="-122"/>
              </a:endParaRPr>
            </a:p>
          </p:txBody>
        </p:sp>
        <p:sp>
          <p:nvSpPr>
            <p:cNvPr id="55308" name="Rectangle 11"/>
            <p:cNvSpPr/>
            <p:nvPr/>
          </p:nvSpPr>
          <p:spPr>
            <a:xfrm>
              <a:off x="480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CRC</a:t>
              </a:r>
              <a:endParaRPr lang="en-US" altLang="zh-CN" sz="1600" dirty="0">
                <a:latin typeface="Arial" panose="020B0604020202020204" pitchFamily="34" charset="0"/>
                <a:ea typeface="宋体" panose="02010600030101010101" pitchFamily="2" charset="-122"/>
              </a:endParaRPr>
            </a:p>
          </p:txBody>
        </p:sp>
        <p:sp>
          <p:nvSpPr>
            <p:cNvPr id="55309" name="Text Box 12"/>
            <p:cNvSpPr txBox="1"/>
            <p:nvPr/>
          </p:nvSpPr>
          <p:spPr>
            <a:xfrm>
              <a:off x="480"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5310" name="Text Box 13"/>
            <p:cNvSpPr txBox="1"/>
            <p:nvPr/>
          </p:nvSpPr>
          <p:spPr>
            <a:xfrm>
              <a:off x="960"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5311" name="Text Box 14"/>
            <p:cNvSpPr txBox="1"/>
            <p:nvPr/>
          </p:nvSpPr>
          <p:spPr>
            <a:xfrm>
              <a:off x="1536"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5312" name="Text Box 15"/>
            <p:cNvSpPr txBox="1"/>
            <p:nvPr/>
          </p:nvSpPr>
          <p:spPr>
            <a:xfrm>
              <a:off x="2016"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5313" name="Text Box 16"/>
            <p:cNvSpPr txBox="1"/>
            <p:nvPr/>
          </p:nvSpPr>
          <p:spPr>
            <a:xfrm>
              <a:off x="2544"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5314" name="Text Box 17"/>
            <p:cNvSpPr txBox="1"/>
            <p:nvPr/>
          </p:nvSpPr>
          <p:spPr>
            <a:xfrm>
              <a:off x="3072"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5315" name="Text Box 18"/>
            <p:cNvSpPr txBox="1"/>
            <p:nvPr/>
          </p:nvSpPr>
          <p:spPr>
            <a:xfrm>
              <a:off x="3638" y="887"/>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5316" name="Text Box 19"/>
            <p:cNvSpPr txBox="1"/>
            <p:nvPr/>
          </p:nvSpPr>
          <p:spPr>
            <a:xfrm>
              <a:off x="4032" y="912"/>
              <a:ext cx="644"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0 - 2312</a:t>
              </a:r>
              <a:endParaRPr lang="en-US" altLang="zh-CN" dirty="0">
                <a:latin typeface="Arial" panose="020B0604020202020204" pitchFamily="34" charset="0"/>
                <a:ea typeface="宋体" panose="02010600030101010101" pitchFamily="2" charset="-122"/>
              </a:endParaRPr>
            </a:p>
          </p:txBody>
        </p:sp>
        <p:sp>
          <p:nvSpPr>
            <p:cNvPr id="55317" name="Text Box 20"/>
            <p:cNvSpPr txBox="1"/>
            <p:nvPr/>
          </p:nvSpPr>
          <p:spPr>
            <a:xfrm>
              <a:off x="4982" y="887"/>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55318" name="Text Box 21"/>
            <p:cNvSpPr txBox="1"/>
            <p:nvPr/>
          </p:nvSpPr>
          <p:spPr>
            <a:xfrm>
              <a:off x="2918" y="1142"/>
              <a:ext cx="500" cy="366"/>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seq</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control</a:t>
              </a:r>
              <a:endParaRPr lang="en-US" altLang="zh-CN" sz="1600" dirty="0">
                <a:latin typeface="Arial" panose="020B0604020202020204" pitchFamily="34" charset="0"/>
                <a:ea typeface="宋体" panose="02010600030101010101" pitchFamily="2" charset="-122"/>
              </a:endParaRPr>
            </a:p>
          </p:txBody>
        </p:sp>
      </p:grpSp>
      <p:sp>
        <p:nvSpPr>
          <p:cNvPr id="55319" name="Rectangle 49"/>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802.11 frame: addressing</a:t>
            </a:r>
            <a:endParaRPr lang="en-US" altLang="zh-CN" dirty="0">
              <a:ea typeface="宋体" panose="02010600030101010101" pitchFamily="2" charset="-122"/>
            </a:endParaRPr>
          </a:p>
        </p:txBody>
      </p:sp>
      <p:sp>
        <p:nvSpPr>
          <p:cNvPr id="55320" name="Text Box 52"/>
          <p:cNvSpPr txBox="1"/>
          <p:nvPr/>
        </p:nvSpPr>
        <p:spPr>
          <a:xfrm>
            <a:off x="823913" y="4719638"/>
            <a:ext cx="2841625" cy="915987"/>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Address 2:</a:t>
            </a:r>
            <a:r>
              <a:rPr lang="en-US" altLang="zh-CN" dirty="0">
                <a:latin typeface="Comic Sans MS" panose="030F0702030302020204" pitchFamily="66" charset="0"/>
                <a:ea typeface="宋体" panose="02010600030101010101" pitchFamily="2" charset="-122"/>
              </a:rPr>
              <a:t> MAC address</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of wireless host or AP </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transmitting this frame</a:t>
            </a:r>
            <a:endParaRPr lang="en-US" altLang="zh-CN" dirty="0">
              <a:latin typeface="Comic Sans MS" panose="030F0702030302020204" pitchFamily="66" charset="0"/>
              <a:ea typeface="宋体" panose="02010600030101010101" pitchFamily="2" charset="-122"/>
            </a:endParaRPr>
          </a:p>
        </p:txBody>
      </p:sp>
      <p:sp>
        <p:nvSpPr>
          <p:cNvPr id="55321" name="Line 53"/>
          <p:cNvSpPr/>
          <p:nvPr/>
        </p:nvSpPr>
        <p:spPr>
          <a:xfrm flipV="1">
            <a:off x="974725" y="2835275"/>
            <a:ext cx="1235075" cy="730250"/>
          </a:xfrm>
          <a:prstGeom prst="line">
            <a:avLst/>
          </a:prstGeom>
          <a:ln w="19050" cap="flat" cmpd="sng">
            <a:solidFill>
              <a:srgbClr val="FF0000"/>
            </a:solidFill>
            <a:prstDash val="solid"/>
            <a:round/>
            <a:headEnd type="none" w="med" len="med"/>
            <a:tailEnd type="triangle" w="med" len="med"/>
          </a:ln>
        </p:spPr>
      </p:sp>
      <p:sp>
        <p:nvSpPr>
          <p:cNvPr id="55322" name="Line 54"/>
          <p:cNvSpPr/>
          <p:nvPr/>
        </p:nvSpPr>
        <p:spPr>
          <a:xfrm flipH="1" flipV="1">
            <a:off x="3186113" y="2849563"/>
            <a:ext cx="44450" cy="1873250"/>
          </a:xfrm>
          <a:prstGeom prst="line">
            <a:avLst/>
          </a:prstGeom>
          <a:ln w="19050" cap="flat" cmpd="sng">
            <a:solidFill>
              <a:srgbClr val="FF0000"/>
            </a:solidFill>
            <a:prstDash val="solid"/>
            <a:round/>
            <a:headEnd type="none" w="med" len="med"/>
            <a:tailEnd type="triangle" w="med" len="med"/>
          </a:ln>
        </p:spPr>
      </p:sp>
      <p:sp>
        <p:nvSpPr>
          <p:cNvPr id="55323" name="Text Box 55"/>
          <p:cNvSpPr txBox="1"/>
          <p:nvPr/>
        </p:nvSpPr>
        <p:spPr>
          <a:xfrm>
            <a:off x="274638" y="3486150"/>
            <a:ext cx="2805112" cy="915988"/>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Address 1:</a:t>
            </a:r>
            <a:r>
              <a:rPr lang="en-US" altLang="zh-CN" dirty="0">
                <a:latin typeface="Comic Sans MS" panose="030F0702030302020204" pitchFamily="66" charset="0"/>
                <a:ea typeface="宋体" panose="02010600030101010101" pitchFamily="2" charset="-122"/>
              </a:rPr>
              <a:t> MAC address</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of wireless host or AP </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to receive this frame</a:t>
            </a:r>
            <a:endParaRPr lang="en-US" altLang="zh-CN" dirty="0">
              <a:latin typeface="Comic Sans MS" panose="030F0702030302020204" pitchFamily="66" charset="0"/>
              <a:ea typeface="宋体" panose="02010600030101010101" pitchFamily="2" charset="-122"/>
            </a:endParaRPr>
          </a:p>
        </p:txBody>
      </p:sp>
      <p:sp>
        <p:nvSpPr>
          <p:cNvPr id="55324" name="Line 56"/>
          <p:cNvSpPr/>
          <p:nvPr/>
        </p:nvSpPr>
        <p:spPr>
          <a:xfrm flipH="1" flipV="1">
            <a:off x="3978275" y="2879725"/>
            <a:ext cx="609600" cy="836613"/>
          </a:xfrm>
          <a:prstGeom prst="line">
            <a:avLst/>
          </a:prstGeom>
          <a:ln w="19050" cap="flat" cmpd="sng">
            <a:solidFill>
              <a:srgbClr val="FF0000"/>
            </a:solidFill>
            <a:prstDash val="solid"/>
            <a:round/>
            <a:headEnd type="none" w="med" len="med"/>
            <a:tailEnd type="triangle" w="med" len="med"/>
          </a:ln>
        </p:spPr>
      </p:sp>
      <p:sp>
        <p:nvSpPr>
          <p:cNvPr id="55325" name="Text Box 57"/>
          <p:cNvSpPr txBox="1"/>
          <p:nvPr/>
        </p:nvSpPr>
        <p:spPr>
          <a:xfrm>
            <a:off x="3598863" y="3851275"/>
            <a:ext cx="3049587" cy="915988"/>
          </a:xfrm>
          <a:prstGeom prst="rect">
            <a:avLst/>
          </a:prstGeom>
          <a:noFill/>
          <a:ln w="9525">
            <a:noFill/>
          </a:ln>
        </p:spPr>
        <p:txBody>
          <a:bodyPr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Address 3:</a:t>
            </a:r>
            <a:r>
              <a:rPr lang="en-US" altLang="zh-CN" dirty="0">
                <a:latin typeface="Comic Sans MS" panose="030F0702030302020204" pitchFamily="66" charset="0"/>
                <a:ea typeface="宋体" panose="02010600030101010101" pitchFamily="2" charset="-122"/>
              </a:rPr>
              <a:t> MAC address</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of router interface to which AP is attached</a:t>
            </a:r>
            <a:endParaRPr lang="en-US" altLang="zh-CN" dirty="0">
              <a:latin typeface="Comic Sans MS" panose="030F0702030302020204" pitchFamily="66" charset="0"/>
              <a:ea typeface="宋体" panose="02010600030101010101" pitchFamily="2" charset="-122"/>
            </a:endParaRPr>
          </a:p>
        </p:txBody>
      </p:sp>
      <p:sp>
        <p:nvSpPr>
          <p:cNvPr id="55326" name="Text Box 58"/>
          <p:cNvSpPr txBox="1"/>
          <p:nvPr/>
        </p:nvSpPr>
        <p:spPr>
          <a:xfrm>
            <a:off x="5838825" y="3071813"/>
            <a:ext cx="2606675" cy="641350"/>
          </a:xfrm>
          <a:prstGeom prst="rect">
            <a:avLst/>
          </a:prstGeom>
          <a:noFill/>
          <a:ln w="9525">
            <a:noFill/>
          </a:ln>
        </p:spPr>
        <p:txBody>
          <a:bodyPr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Address 4:</a:t>
            </a:r>
            <a:r>
              <a:rPr lang="en-US" altLang="zh-CN" dirty="0">
                <a:latin typeface="Comic Sans MS" panose="030F0702030302020204" pitchFamily="66" charset="0"/>
                <a:ea typeface="宋体" panose="02010600030101010101" pitchFamily="2" charset="-122"/>
              </a:rPr>
              <a:t> used only in ad hoc mode</a:t>
            </a:r>
            <a:endParaRPr lang="en-US" altLang="zh-CN" dirty="0">
              <a:latin typeface="Comic Sans MS" panose="030F0702030302020204" pitchFamily="66" charset="0"/>
              <a:ea typeface="宋体" panose="02010600030101010101" pitchFamily="2" charset="-122"/>
            </a:endParaRPr>
          </a:p>
        </p:txBody>
      </p:sp>
      <p:sp>
        <p:nvSpPr>
          <p:cNvPr id="55327" name="Line 59"/>
          <p:cNvSpPr/>
          <p:nvPr/>
        </p:nvSpPr>
        <p:spPr>
          <a:xfrm flipH="1" flipV="1">
            <a:off x="5594350" y="2833688"/>
            <a:ext cx="290513" cy="379412"/>
          </a:xfrm>
          <a:prstGeom prst="line">
            <a:avLst/>
          </a:prstGeom>
          <a:ln w="19050" cap="flat" cmpd="sng">
            <a:solidFill>
              <a:srgbClr val="FF0000"/>
            </a:solidFill>
            <a:prstDash val="solid"/>
            <a:round/>
            <a:headEnd type="none" w="med" len="med"/>
            <a:tailEnd type="triangle" w="med" len="me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57346"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57347" name="Oval 3"/>
          <p:cNvSpPr/>
          <p:nvPr/>
        </p:nvSpPr>
        <p:spPr>
          <a:xfrm>
            <a:off x="1601788" y="1216025"/>
            <a:ext cx="2454275" cy="2374900"/>
          </a:xfrm>
          <a:prstGeom prst="ellipse">
            <a:avLst/>
          </a:prstGeom>
          <a:solidFill>
            <a:srgbClr val="66CCFF"/>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348" name="Line 23"/>
          <p:cNvSpPr/>
          <p:nvPr/>
        </p:nvSpPr>
        <p:spPr>
          <a:xfrm>
            <a:off x="3581400" y="2728913"/>
            <a:ext cx="1219200" cy="0"/>
          </a:xfrm>
          <a:prstGeom prst="line">
            <a:avLst/>
          </a:prstGeom>
          <a:ln w="9525" cap="flat" cmpd="sng">
            <a:solidFill>
              <a:schemeClr val="tx1"/>
            </a:solidFill>
            <a:prstDash val="solid"/>
            <a:round/>
            <a:headEnd type="none" w="med" len="med"/>
            <a:tailEnd type="none" w="med" len="med"/>
          </a:ln>
        </p:spPr>
      </p:sp>
      <p:sp>
        <p:nvSpPr>
          <p:cNvPr id="57349" name="Line 25"/>
          <p:cNvSpPr/>
          <p:nvPr/>
        </p:nvSpPr>
        <p:spPr>
          <a:xfrm flipV="1">
            <a:off x="5257800" y="2271713"/>
            <a:ext cx="914400" cy="381000"/>
          </a:xfrm>
          <a:prstGeom prst="line">
            <a:avLst/>
          </a:prstGeom>
          <a:ln w="9525" cap="flat" cmpd="sng">
            <a:solidFill>
              <a:schemeClr val="tx1"/>
            </a:solidFill>
            <a:prstDash val="solid"/>
            <a:round/>
            <a:headEnd type="none" w="med" len="med"/>
            <a:tailEnd type="none" w="med" len="med"/>
          </a:ln>
        </p:spPr>
      </p:sp>
      <p:grpSp>
        <p:nvGrpSpPr>
          <p:cNvPr id="57350" name="Group 26"/>
          <p:cNvGrpSpPr/>
          <p:nvPr/>
        </p:nvGrpSpPr>
        <p:grpSpPr>
          <a:xfrm>
            <a:off x="6019800" y="1433513"/>
            <a:ext cx="2362200" cy="1762125"/>
            <a:chOff x="3744" y="1392"/>
            <a:chExt cx="1488" cy="1110"/>
          </a:xfrm>
        </p:grpSpPr>
        <p:sp>
          <p:nvSpPr>
            <p:cNvPr id="57351" name="Freeform 27"/>
            <p:cNvSpPr/>
            <p:nvPr/>
          </p:nvSpPr>
          <p:spPr>
            <a:xfrm>
              <a:off x="3744" y="1392"/>
              <a:ext cx="1488" cy="1110"/>
            </a:xfrm>
            <a:custGeom>
              <a:avLst/>
              <a:gdLst/>
              <a:ahLst/>
              <a:cxnLst>
                <a:cxn ang="0">
                  <a:pos x="13" y="291"/>
                </a:cxn>
                <a:cxn ang="0">
                  <a:pos x="51" y="34"/>
                </a:cxn>
                <a:cxn ang="0">
                  <a:pos x="319" y="87"/>
                </a:cxn>
                <a:cxn ang="0">
                  <a:pos x="588" y="45"/>
                </a:cxn>
                <a:cxn ang="0">
                  <a:pos x="972" y="181"/>
                </a:cxn>
                <a:cxn ang="0">
                  <a:pos x="978" y="510"/>
                </a:cxn>
                <a:cxn ang="0">
                  <a:pos x="768" y="714"/>
                </a:cxn>
                <a:cxn ang="0">
                  <a:pos x="395" y="676"/>
                </a:cxn>
                <a:cxn ang="0">
                  <a:pos x="243" y="566"/>
                </a:cxn>
                <a:cxn ang="0">
                  <a:pos x="89" y="476"/>
                </a:cxn>
                <a:cxn ang="0">
                  <a:pos x="13" y="291"/>
                </a:cxn>
              </a:cxnLst>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ln>
          </p:spPr>
          <p:txBody>
            <a:bodyPr/>
            <a:p>
              <a:endParaRPr lang="zh-CN" altLang="en-US"/>
            </a:p>
          </p:txBody>
        </p:sp>
        <p:sp>
          <p:nvSpPr>
            <p:cNvPr id="57352" name="Text Box 28"/>
            <p:cNvSpPr txBox="1"/>
            <p:nvPr/>
          </p:nvSpPr>
          <p:spPr>
            <a:xfrm>
              <a:off x="4128" y="1776"/>
              <a:ext cx="708" cy="231"/>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Internet</a:t>
              </a:r>
              <a:endParaRPr lang="en-US" altLang="zh-CN" dirty="0">
                <a:latin typeface="Comic Sans MS" panose="030F0702030302020204" pitchFamily="66" charset="0"/>
                <a:ea typeface="宋体" panose="02010600030101010101" pitchFamily="2" charset="-122"/>
              </a:endParaRPr>
            </a:p>
          </p:txBody>
        </p:sp>
      </p:grpSp>
      <p:grpSp>
        <p:nvGrpSpPr>
          <p:cNvPr id="57353" name="Group 161"/>
          <p:cNvGrpSpPr/>
          <p:nvPr/>
        </p:nvGrpSpPr>
        <p:grpSpPr>
          <a:xfrm>
            <a:off x="4699000" y="2284413"/>
            <a:ext cx="876300" cy="525462"/>
            <a:chOff x="2960" y="1439"/>
            <a:chExt cx="552" cy="331"/>
          </a:xfrm>
        </p:grpSpPr>
        <p:grpSp>
          <p:nvGrpSpPr>
            <p:cNvPr id="57354" name="Group 4"/>
            <p:cNvGrpSpPr/>
            <p:nvPr/>
          </p:nvGrpSpPr>
          <p:grpSpPr>
            <a:xfrm>
              <a:off x="3024" y="1623"/>
              <a:ext cx="315" cy="147"/>
              <a:chOff x="3600" y="219"/>
              <a:chExt cx="360" cy="175"/>
            </a:xfrm>
          </p:grpSpPr>
          <p:sp>
            <p:nvSpPr>
              <p:cNvPr id="57355" name="Oval 5"/>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356" name="Line 6"/>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57357" name="Line 7"/>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57358" name="Rectangle 8"/>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57359" name="Oval 9"/>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57360" name="Group 10"/>
              <p:cNvGrpSpPr/>
              <p:nvPr/>
            </p:nvGrpSpPr>
            <p:grpSpPr>
              <a:xfrm>
                <a:off x="3686" y="244"/>
                <a:ext cx="177" cy="66"/>
                <a:chOff x="2848" y="848"/>
                <a:chExt cx="140" cy="98"/>
              </a:xfrm>
            </p:grpSpPr>
            <p:sp>
              <p:nvSpPr>
                <p:cNvPr id="57361" name="Line 11"/>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57362" name="Line 12"/>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57363" name="Line 13"/>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57364" name="Group 14"/>
              <p:cNvGrpSpPr/>
              <p:nvPr/>
            </p:nvGrpSpPr>
            <p:grpSpPr>
              <a:xfrm flipV="1">
                <a:off x="3686" y="243"/>
                <a:ext cx="177" cy="66"/>
                <a:chOff x="2848" y="848"/>
                <a:chExt cx="140" cy="98"/>
              </a:xfrm>
            </p:grpSpPr>
            <p:sp>
              <p:nvSpPr>
                <p:cNvPr id="57365" name="Line 1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57366" name="Line 1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57367" name="Line 1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57368" name="Text Box 29"/>
            <p:cNvSpPr txBox="1"/>
            <p:nvPr/>
          </p:nvSpPr>
          <p:spPr>
            <a:xfrm>
              <a:off x="2960" y="1439"/>
              <a:ext cx="552" cy="231"/>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router</a:t>
              </a:r>
              <a:endParaRPr lang="en-US" altLang="zh-CN" dirty="0">
                <a:latin typeface="Comic Sans MS" panose="030F0702030302020204" pitchFamily="66" charset="0"/>
                <a:ea typeface="宋体" panose="02010600030101010101" pitchFamily="2" charset="-122"/>
              </a:endParaRPr>
            </a:p>
          </p:txBody>
        </p:sp>
      </p:grpSp>
      <p:grpSp>
        <p:nvGrpSpPr>
          <p:cNvPr id="57369" name="Group 30"/>
          <p:cNvGrpSpPr/>
          <p:nvPr/>
        </p:nvGrpSpPr>
        <p:grpSpPr>
          <a:xfrm>
            <a:off x="3022600" y="2157413"/>
            <a:ext cx="935038" cy="1039812"/>
            <a:chOff x="1952" y="1032"/>
            <a:chExt cx="589" cy="655"/>
          </a:xfrm>
        </p:grpSpPr>
        <p:sp>
          <p:nvSpPr>
            <p:cNvPr id="57370" name="Text Box 31"/>
            <p:cNvSpPr txBox="1"/>
            <p:nvPr/>
          </p:nvSpPr>
          <p:spPr>
            <a:xfrm>
              <a:off x="2080" y="1456"/>
              <a:ext cx="296" cy="231"/>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AP</a:t>
              </a:r>
              <a:endParaRPr lang="en-US" altLang="zh-CN" dirty="0">
                <a:latin typeface="Comic Sans MS" panose="030F0702030302020204" pitchFamily="66" charset="0"/>
                <a:ea typeface="宋体" panose="02010600030101010101" pitchFamily="2" charset="-122"/>
              </a:endParaRPr>
            </a:p>
          </p:txBody>
        </p:sp>
        <p:grpSp>
          <p:nvGrpSpPr>
            <p:cNvPr id="57371" name="Group 32"/>
            <p:cNvGrpSpPr/>
            <p:nvPr/>
          </p:nvGrpSpPr>
          <p:grpSpPr>
            <a:xfrm>
              <a:off x="1952" y="1032"/>
              <a:ext cx="589" cy="440"/>
              <a:chOff x="1160" y="2192"/>
              <a:chExt cx="589" cy="440"/>
            </a:xfrm>
          </p:grpSpPr>
          <p:pic>
            <p:nvPicPr>
              <p:cNvPr id="57372" name="Picture 33"/>
              <p:cNvPicPr>
                <a:picLocks noChangeAspect="1"/>
              </p:cNvPicPr>
              <p:nvPr/>
            </p:nvPicPr>
            <p:blipFill>
              <a:blip r:embed="rId1"/>
              <a:stretch>
                <a:fillRect/>
              </a:stretch>
            </p:blipFill>
            <p:spPr>
              <a:xfrm rot="-5400000">
                <a:off x="1346" y="2456"/>
                <a:ext cx="212" cy="135"/>
              </a:xfrm>
              <a:prstGeom prst="rect">
                <a:avLst/>
              </a:prstGeom>
              <a:noFill/>
              <a:ln w="9525">
                <a:noFill/>
              </a:ln>
            </p:spPr>
          </p:pic>
          <p:sp>
            <p:nvSpPr>
              <p:cNvPr id="57373" name="AutoShape 34"/>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57374" name="Freeform 35"/>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57375" name="Freeform 36"/>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57376" name="Freeform 37"/>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57377" name="Freeform 38"/>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57378" name="Freeform 39"/>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57379" name="Freeform 40"/>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57380" name="Freeform 41"/>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57381" name="Freeform 42"/>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57382" name="Freeform 43"/>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57383" name="Freeform 44"/>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57384" name="Freeform 45"/>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57385" name="Freeform 46"/>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57386" name="Freeform 47"/>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57387" name="Freeform 48"/>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57388" name="Freeform 49"/>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57389" name="Freeform 50"/>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grpSp>
        <p:nvGrpSpPr>
          <p:cNvPr id="57390" name="Group 51"/>
          <p:cNvGrpSpPr/>
          <p:nvPr/>
        </p:nvGrpSpPr>
        <p:grpSpPr>
          <a:xfrm>
            <a:off x="1943100" y="1827213"/>
            <a:ext cx="495300" cy="622300"/>
            <a:chOff x="2870" y="1518"/>
            <a:chExt cx="292" cy="320"/>
          </a:xfrm>
        </p:grpSpPr>
        <p:graphicFrame>
          <p:nvGraphicFramePr>
            <p:cNvPr id="57391" name="Object 5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7" name="" r:id="rId2" imgW="826770" imgH="840105" progId="MS_ClipArt_Gallery.2">
                    <p:embed/>
                  </p:oleObj>
                </mc:Choice>
                <mc:Fallback>
                  <p:oleObj name="" r:id="rId2" imgW="826770" imgH="840105" progId="MS_ClipArt_Gallery.2">
                    <p:embed/>
                    <p:pic>
                      <p:nvPicPr>
                        <p:cNvPr id="0" name="图片 3126"/>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7392" name="Object 5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4" name="" r:id="rId4" imgW="1268095" imgH="1199515" progId="MS_ClipArt_Gallery.2">
                    <p:embed/>
                  </p:oleObj>
                </mc:Choice>
                <mc:Fallback>
                  <p:oleObj name="" r:id="rId4" imgW="1268095" imgH="1199515" progId="MS_ClipArt_Gallery.2">
                    <p:embed/>
                    <p:pic>
                      <p:nvPicPr>
                        <p:cNvPr id="0" name="图片 3123"/>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57393" name="Group 54"/>
          <p:cNvGrpSpPr/>
          <p:nvPr/>
        </p:nvGrpSpPr>
        <p:grpSpPr>
          <a:xfrm>
            <a:off x="2801938" y="1347788"/>
            <a:ext cx="495300" cy="622300"/>
            <a:chOff x="2870" y="1518"/>
            <a:chExt cx="292" cy="320"/>
          </a:xfrm>
        </p:grpSpPr>
        <p:graphicFrame>
          <p:nvGraphicFramePr>
            <p:cNvPr id="57394" name="Object 5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5" name="" r:id="rId6" imgW="826770" imgH="840105" progId="MS_ClipArt_Gallery.2">
                    <p:embed/>
                  </p:oleObj>
                </mc:Choice>
                <mc:Fallback>
                  <p:oleObj name="" r:id="rId6" imgW="826770" imgH="840105" progId="MS_ClipArt_Gallery.2">
                    <p:embed/>
                    <p:pic>
                      <p:nvPicPr>
                        <p:cNvPr id="0" name="图片 3124"/>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57395" name="Object 5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6" name="" r:id="rId7" imgW="1268095" imgH="1199515" progId="MS_ClipArt_Gallery.2">
                    <p:embed/>
                  </p:oleObj>
                </mc:Choice>
                <mc:Fallback>
                  <p:oleObj name="" r:id="rId7" imgW="1268095" imgH="1199515" progId="MS_ClipArt_Gallery.2">
                    <p:embed/>
                    <p:pic>
                      <p:nvPicPr>
                        <p:cNvPr id="0" name="图片 3125"/>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sp>
        <p:nvSpPr>
          <p:cNvPr id="57396" name="Text Box 90"/>
          <p:cNvSpPr txBox="1"/>
          <p:nvPr/>
        </p:nvSpPr>
        <p:spPr>
          <a:xfrm>
            <a:off x="1727200" y="2347913"/>
            <a:ext cx="463550" cy="366712"/>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H1</a:t>
            </a:r>
            <a:endParaRPr lang="en-US" altLang="zh-CN" dirty="0">
              <a:latin typeface="Comic Sans MS" panose="030F0702030302020204" pitchFamily="66" charset="0"/>
              <a:ea typeface="宋体" panose="02010600030101010101" pitchFamily="2" charset="-122"/>
            </a:endParaRPr>
          </a:p>
        </p:txBody>
      </p:sp>
      <p:sp>
        <p:nvSpPr>
          <p:cNvPr id="57397" name="Text Box 93"/>
          <p:cNvSpPr txBox="1"/>
          <p:nvPr/>
        </p:nvSpPr>
        <p:spPr>
          <a:xfrm>
            <a:off x="4327525" y="2376488"/>
            <a:ext cx="430213" cy="366712"/>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R1</a:t>
            </a:r>
            <a:endParaRPr lang="en-US" altLang="zh-CN" dirty="0">
              <a:latin typeface="Comic Sans MS" panose="030F0702030302020204" pitchFamily="66" charset="0"/>
              <a:ea typeface="宋体" panose="02010600030101010101" pitchFamily="2" charset="-122"/>
            </a:endParaRPr>
          </a:p>
        </p:txBody>
      </p:sp>
      <p:grpSp>
        <p:nvGrpSpPr>
          <p:cNvPr id="411805" name="Group 157"/>
          <p:cNvGrpSpPr/>
          <p:nvPr/>
        </p:nvGrpSpPr>
        <p:grpSpPr>
          <a:xfrm>
            <a:off x="349250" y="2392363"/>
            <a:ext cx="5386388" cy="3913187"/>
            <a:chOff x="268" y="1180"/>
            <a:chExt cx="3393" cy="2465"/>
          </a:xfrm>
        </p:grpSpPr>
        <p:sp>
          <p:nvSpPr>
            <p:cNvPr id="57399" name="Line 94"/>
            <p:cNvSpPr/>
            <p:nvPr/>
          </p:nvSpPr>
          <p:spPr>
            <a:xfrm>
              <a:off x="1612" y="1180"/>
              <a:ext cx="566" cy="211"/>
            </a:xfrm>
            <a:prstGeom prst="line">
              <a:avLst/>
            </a:prstGeom>
            <a:ln w="57150" cap="flat" cmpd="sng">
              <a:solidFill>
                <a:srgbClr val="FF0000"/>
              </a:solidFill>
              <a:prstDash val="solid"/>
              <a:round/>
              <a:headEnd type="none" w="med" len="med"/>
              <a:tailEnd type="triangle" w="med" len="med"/>
            </a:ln>
          </p:spPr>
        </p:sp>
        <p:sp>
          <p:nvSpPr>
            <p:cNvPr id="57400" name="Rectangle 98"/>
            <p:cNvSpPr/>
            <p:nvPr/>
          </p:nvSpPr>
          <p:spPr>
            <a:xfrm>
              <a:off x="358" y="2897"/>
              <a:ext cx="3280" cy="269"/>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01" name="Freeform 95"/>
            <p:cNvSpPr/>
            <p:nvPr/>
          </p:nvSpPr>
          <p:spPr>
            <a:xfrm>
              <a:off x="268" y="1426"/>
              <a:ext cx="3374" cy="1668"/>
            </a:xfrm>
            <a:custGeom>
              <a:avLst/>
              <a:gdLst/>
              <a:ahLst/>
              <a:cxnLst>
                <a:cxn ang="0">
                  <a:pos x="1397" y="0"/>
                </a:cxn>
                <a:cxn ang="0">
                  <a:pos x="104" y="1445"/>
                </a:cxn>
                <a:cxn ang="0">
                  <a:pos x="1294" y="1418"/>
                </a:cxn>
                <a:cxn ang="0">
                  <a:pos x="3374" y="1445"/>
                </a:cxn>
                <a:cxn ang="0">
                  <a:pos x="1585" y="75"/>
                </a:cxn>
                <a:cxn ang="0">
                  <a:pos x="1397" y="0"/>
                </a:cxn>
              </a:cxnLst>
              <a:pathLst>
                <a:path w="3374" h="1668">
                  <a:moveTo>
                    <a:pt x="1397" y="0"/>
                  </a:moveTo>
                  <a:cubicBezTo>
                    <a:pt x="1255" y="557"/>
                    <a:pt x="999" y="1064"/>
                    <a:pt x="104" y="1445"/>
                  </a:cubicBezTo>
                  <a:cubicBezTo>
                    <a:pt x="0" y="1641"/>
                    <a:pt x="719" y="1436"/>
                    <a:pt x="1294" y="1418"/>
                  </a:cubicBezTo>
                  <a:cubicBezTo>
                    <a:pt x="1839" y="1418"/>
                    <a:pt x="3326" y="1668"/>
                    <a:pt x="3374" y="1445"/>
                  </a:cubicBezTo>
                  <a:cubicBezTo>
                    <a:pt x="1983" y="1002"/>
                    <a:pt x="1929" y="582"/>
                    <a:pt x="1585" y="75"/>
                  </a:cubicBezTo>
                  <a:cubicBezTo>
                    <a:pt x="1491" y="25"/>
                    <a:pt x="1529" y="67"/>
                    <a:pt x="1397" y="0"/>
                  </a:cubicBezTo>
                  <a:close/>
                </a:path>
              </a:pathLst>
            </a:custGeom>
            <a:gradFill rotWithShape="1">
              <a:gsLst>
                <a:gs pos="0">
                  <a:schemeClr val="tx1"/>
                </a:gs>
                <a:gs pos="100000">
                  <a:schemeClr val="bg1">
                    <a:alpha val="17998"/>
                  </a:schemeClr>
                </a:gs>
              </a:gsLst>
              <a:lin ang="5400000" scaled="1"/>
              <a:tileRect/>
            </a:gradFill>
            <a:ln w="9525">
              <a:noFill/>
            </a:ln>
          </p:spPr>
          <p:txBody>
            <a:bodyPr/>
            <a:p>
              <a:endParaRPr lang="zh-CN" altLang="en-US"/>
            </a:p>
          </p:txBody>
        </p:sp>
        <p:sp>
          <p:nvSpPr>
            <p:cNvPr id="57402" name="Rectangle 96"/>
            <p:cNvSpPr/>
            <p:nvPr/>
          </p:nvSpPr>
          <p:spPr>
            <a:xfrm rot="1284652">
              <a:off x="1621" y="1314"/>
              <a:ext cx="355" cy="115"/>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03" name="Text Box 97"/>
            <p:cNvSpPr txBox="1"/>
            <p:nvPr/>
          </p:nvSpPr>
          <p:spPr>
            <a:xfrm>
              <a:off x="540" y="2923"/>
              <a:ext cx="2910"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AP MAC addr  H1 MAC addr R1 MAC addr</a:t>
              </a:r>
              <a:endParaRPr lang="en-US" altLang="zh-CN" dirty="0">
                <a:latin typeface="Comic Sans MS" panose="030F0702030302020204" pitchFamily="66" charset="0"/>
                <a:ea typeface="宋体" panose="02010600030101010101" pitchFamily="2" charset="-122"/>
              </a:endParaRPr>
            </a:p>
          </p:txBody>
        </p:sp>
        <p:sp>
          <p:nvSpPr>
            <p:cNvPr id="57404" name="Line 99"/>
            <p:cNvSpPr/>
            <p:nvPr/>
          </p:nvSpPr>
          <p:spPr>
            <a:xfrm>
              <a:off x="560" y="2897"/>
              <a:ext cx="0" cy="270"/>
            </a:xfrm>
            <a:prstGeom prst="line">
              <a:avLst/>
            </a:prstGeom>
            <a:ln w="9525" cap="flat" cmpd="sng">
              <a:solidFill>
                <a:schemeClr val="tx1"/>
              </a:solidFill>
              <a:prstDash val="solid"/>
              <a:round/>
              <a:headEnd type="none" w="med" len="med"/>
              <a:tailEnd type="none" w="med" len="med"/>
            </a:ln>
          </p:spPr>
        </p:sp>
        <p:sp>
          <p:nvSpPr>
            <p:cNvPr id="57405" name="Line 100"/>
            <p:cNvSpPr/>
            <p:nvPr/>
          </p:nvSpPr>
          <p:spPr>
            <a:xfrm>
              <a:off x="1520" y="2897"/>
              <a:ext cx="0" cy="270"/>
            </a:xfrm>
            <a:prstGeom prst="line">
              <a:avLst/>
            </a:prstGeom>
            <a:ln w="9525" cap="flat" cmpd="sng">
              <a:solidFill>
                <a:schemeClr val="tx1"/>
              </a:solidFill>
              <a:prstDash val="solid"/>
              <a:round/>
              <a:headEnd type="none" w="med" len="med"/>
              <a:tailEnd type="none" w="med" len="med"/>
            </a:ln>
          </p:spPr>
        </p:sp>
        <p:sp>
          <p:nvSpPr>
            <p:cNvPr id="57406" name="Line 101"/>
            <p:cNvSpPr/>
            <p:nvPr/>
          </p:nvSpPr>
          <p:spPr>
            <a:xfrm>
              <a:off x="2480" y="2897"/>
              <a:ext cx="0" cy="270"/>
            </a:xfrm>
            <a:prstGeom prst="line">
              <a:avLst/>
            </a:prstGeom>
            <a:ln w="9525" cap="flat" cmpd="sng">
              <a:solidFill>
                <a:schemeClr val="tx1"/>
              </a:solidFill>
              <a:prstDash val="solid"/>
              <a:round/>
              <a:headEnd type="none" w="med" len="med"/>
              <a:tailEnd type="none" w="med" len="med"/>
            </a:ln>
          </p:spPr>
        </p:sp>
        <p:grpSp>
          <p:nvGrpSpPr>
            <p:cNvPr id="57407" name="Group 106"/>
            <p:cNvGrpSpPr/>
            <p:nvPr/>
          </p:nvGrpSpPr>
          <p:grpSpPr>
            <a:xfrm>
              <a:off x="396" y="3107"/>
              <a:ext cx="120" cy="114"/>
              <a:chOff x="1300" y="3186"/>
              <a:chExt cx="120" cy="114"/>
            </a:xfrm>
          </p:grpSpPr>
          <p:sp>
            <p:nvSpPr>
              <p:cNvPr id="57408" name="Rectangle 105"/>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09" name="Freeform 103"/>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10" name="Freeform 104"/>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57411" name="Group 107"/>
            <p:cNvGrpSpPr/>
            <p:nvPr/>
          </p:nvGrpSpPr>
          <p:grpSpPr>
            <a:xfrm>
              <a:off x="412" y="2839"/>
              <a:ext cx="120" cy="114"/>
              <a:chOff x="1300" y="3186"/>
              <a:chExt cx="120" cy="114"/>
            </a:xfrm>
          </p:grpSpPr>
          <p:sp>
            <p:nvSpPr>
              <p:cNvPr id="57412" name="Rectangle 108"/>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13" name="Freeform 109"/>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14" name="Freeform 110"/>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57415" name="Group 111"/>
            <p:cNvGrpSpPr/>
            <p:nvPr/>
          </p:nvGrpSpPr>
          <p:grpSpPr>
            <a:xfrm>
              <a:off x="3456" y="2851"/>
              <a:ext cx="120" cy="114"/>
              <a:chOff x="1300" y="3186"/>
              <a:chExt cx="120" cy="114"/>
            </a:xfrm>
          </p:grpSpPr>
          <p:sp>
            <p:nvSpPr>
              <p:cNvPr id="57416" name="Rectangle 112"/>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17" name="Freeform 113"/>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18" name="Freeform 114"/>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57419" name="Line 115"/>
            <p:cNvSpPr/>
            <p:nvPr/>
          </p:nvSpPr>
          <p:spPr>
            <a:xfrm>
              <a:off x="3404" y="2903"/>
              <a:ext cx="0" cy="270"/>
            </a:xfrm>
            <a:prstGeom prst="line">
              <a:avLst/>
            </a:prstGeom>
            <a:ln w="9525" cap="flat" cmpd="sng">
              <a:solidFill>
                <a:schemeClr val="tx1"/>
              </a:solidFill>
              <a:prstDash val="solid"/>
              <a:round/>
              <a:headEnd type="none" w="med" len="med"/>
              <a:tailEnd type="none" w="med" len="med"/>
            </a:ln>
          </p:spPr>
        </p:sp>
        <p:grpSp>
          <p:nvGrpSpPr>
            <p:cNvPr id="57420" name="Group 116"/>
            <p:cNvGrpSpPr/>
            <p:nvPr/>
          </p:nvGrpSpPr>
          <p:grpSpPr>
            <a:xfrm>
              <a:off x="3462" y="3103"/>
              <a:ext cx="120" cy="114"/>
              <a:chOff x="1300" y="3186"/>
              <a:chExt cx="120" cy="114"/>
            </a:xfrm>
          </p:grpSpPr>
          <p:sp>
            <p:nvSpPr>
              <p:cNvPr id="57421" name="Rectangle 117"/>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22" name="Freeform 118"/>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23" name="Freeform 119"/>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57424" name="Text Box 120"/>
            <p:cNvSpPr txBox="1"/>
            <p:nvPr/>
          </p:nvSpPr>
          <p:spPr>
            <a:xfrm>
              <a:off x="523" y="3182"/>
              <a:ext cx="606" cy="192"/>
            </a:xfrm>
            <a:prstGeom prst="rect">
              <a:avLst/>
            </a:prstGeom>
            <a:noFill/>
            <a:ln w="9525">
              <a:noFill/>
            </a:ln>
          </p:spPr>
          <p:txBody>
            <a:bodyPr wrap="none"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address 1</a:t>
              </a:r>
              <a:endParaRPr lang="en-US" altLang="zh-CN" sz="1400" dirty="0">
                <a:latin typeface="Arial" panose="020B0604020202020204" pitchFamily="34" charset="0"/>
                <a:ea typeface="宋体" panose="02010600030101010101" pitchFamily="2" charset="-122"/>
              </a:endParaRPr>
            </a:p>
          </p:txBody>
        </p:sp>
        <p:sp>
          <p:nvSpPr>
            <p:cNvPr id="57425" name="Text Box 121"/>
            <p:cNvSpPr txBox="1"/>
            <p:nvPr/>
          </p:nvSpPr>
          <p:spPr>
            <a:xfrm>
              <a:off x="1500" y="3180"/>
              <a:ext cx="606" cy="192"/>
            </a:xfrm>
            <a:prstGeom prst="rect">
              <a:avLst/>
            </a:prstGeom>
            <a:noFill/>
            <a:ln w="9525">
              <a:noFill/>
            </a:ln>
          </p:spPr>
          <p:txBody>
            <a:bodyPr wrap="none"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address 2</a:t>
              </a:r>
              <a:endParaRPr lang="en-US" altLang="zh-CN" sz="1400" dirty="0">
                <a:latin typeface="Arial" panose="020B0604020202020204" pitchFamily="34" charset="0"/>
                <a:ea typeface="宋体" panose="02010600030101010101" pitchFamily="2" charset="-122"/>
              </a:endParaRPr>
            </a:p>
          </p:txBody>
        </p:sp>
        <p:sp>
          <p:nvSpPr>
            <p:cNvPr id="57426" name="Text Box 122"/>
            <p:cNvSpPr txBox="1"/>
            <p:nvPr/>
          </p:nvSpPr>
          <p:spPr>
            <a:xfrm>
              <a:off x="2480" y="3171"/>
              <a:ext cx="606" cy="192"/>
            </a:xfrm>
            <a:prstGeom prst="rect">
              <a:avLst/>
            </a:prstGeom>
            <a:noFill/>
            <a:ln w="9525">
              <a:noFill/>
            </a:ln>
          </p:spPr>
          <p:txBody>
            <a:bodyPr wrap="none"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address 3</a:t>
              </a:r>
              <a:endParaRPr lang="en-US" altLang="zh-CN" sz="1400" dirty="0">
                <a:latin typeface="Arial" panose="020B0604020202020204" pitchFamily="34" charset="0"/>
                <a:ea typeface="宋体" panose="02010600030101010101" pitchFamily="2" charset="-122"/>
              </a:endParaRPr>
            </a:p>
          </p:txBody>
        </p:sp>
        <p:sp>
          <p:nvSpPr>
            <p:cNvPr id="57427" name="Text Box 123"/>
            <p:cNvSpPr txBox="1"/>
            <p:nvPr/>
          </p:nvSpPr>
          <p:spPr>
            <a:xfrm>
              <a:off x="2619" y="3414"/>
              <a:ext cx="104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802.</a:t>
              </a:r>
              <a:r>
                <a:rPr lang="en-US" altLang="zh-CN" b="1" dirty="0">
                  <a:solidFill>
                    <a:srgbClr val="FF0000"/>
                  </a:solidFill>
                  <a:latin typeface="Comic Sans MS" panose="030F0702030302020204" pitchFamily="66" charset="0"/>
                  <a:ea typeface="宋体" panose="02010600030101010101" pitchFamily="2" charset="-122"/>
                </a:rPr>
                <a:t>11</a:t>
              </a:r>
              <a:r>
                <a:rPr lang="en-US" altLang="zh-CN" dirty="0">
                  <a:latin typeface="Comic Sans MS" panose="030F0702030302020204" pitchFamily="66" charset="0"/>
                  <a:ea typeface="宋体" panose="02010600030101010101" pitchFamily="2" charset="-122"/>
                </a:rPr>
                <a:t> frame</a:t>
              </a:r>
              <a:endParaRPr lang="en-US" altLang="zh-CN" dirty="0">
                <a:latin typeface="Comic Sans MS" panose="030F0702030302020204" pitchFamily="66" charset="0"/>
                <a:ea typeface="宋体" panose="02010600030101010101" pitchFamily="2" charset="-122"/>
              </a:endParaRPr>
            </a:p>
          </p:txBody>
        </p:sp>
      </p:grpSp>
      <p:grpSp>
        <p:nvGrpSpPr>
          <p:cNvPr id="411808" name="Group 160"/>
          <p:cNvGrpSpPr/>
          <p:nvPr/>
        </p:nvGrpSpPr>
        <p:grpSpPr>
          <a:xfrm>
            <a:off x="3811588" y="2811463"/>
            <a:ext cx="4284662" cy="2152650"/>
            <a:chOff x="2401" y="1771"/>
            <a:chExt cx="2699" cy="1356"/>
          </a:xfrm>
        </p:grpSpPr>
        <p:sp>
          <p:nvSpPr>
            <p:cNvPr id="57429" name="Freeform 130"/>
            <p:cNvSpPr/>
            <p:nvPr/>
          </p:nvSpPr>
          <p:spPr>
            <a:xfrm>
              <a:off x="2592" y="2002"/>
              <a:ext cx="2419" cy="441"/>
            </a:xfrm>
            <a:custGeom>
              <a:avLst/>
              <a:gdLst/>
              <a:ahLst/>
              <a:cxnLst>
                <a:cxn ang="0">
                  <a:pos x="54" y="9"/>
                </a:cxn>
                <a:cxn ang="0">
                  <a:pos x="0" y="437"/>
                </a:cxn>
                <a:cxn ang="0">
                  <a:pos x="2419" y="369"/>
                </a:cxn>
                <a:cxn ang="0">
                  <a:pos x="336" y="5"/>
                </a:cxn>
                <a:cxn ang="0">
                  <a:pos x="54" y="9"/>
                </a:cxn>
              </a:cxnLst>
              <a:pathLst>
                <a:path w="2419" h="441">
                  <a:moveTo>
                    <a:pt x="54" y="9"/>
                  </a:moveTo>
                  <a:cubicBezTo>
                    <a:pt x="45" y="275"/>
                    <a:pt x="38" y="312"/>
                    <a:pt x="0" y="437"/>
                  </a:cubicBezTo>
                  <a:cubicBezTo>
                    <a:pt x="499" y="418"/>
                    <a:pt x="2363" y="441"/>
                    <a:pt x="2419" y="369"/>
                  </a:cubicBezTo>
                  <a:cubicBezTo>
                    <a:pt x="921" y="148"/>
                    <a:pt x="719" y="337"/>
                    <a:pt x="336" y="5"/>
                  </a:cubicBezTo>
                  <a:cubicBezTo>
                    <a:pt x="205" y="9"/>
                    <a:pt x="231" y="0"/>
                    <a:pt x="54" y="9"/>
                  </a:cubicBezTo>
                  <a:close/>
                </a:path>
              </a:pathLst>
            </a:custGeom>
            <a:gradFill rotWithShape="1">
              <a:gsLst>
                <a:gs pos="0">
                  <a:schemeClr val="tx1"/>
                </a:gs>
                <a:gs pos="100000">
                  <a:schemeClr val="bg1">
                    <a:alpha val="17998"/>
                  </a:schemeClr>
                </a:gs>
              </a:gsLst>
              <a:lin ang="5400000" scaled="1"/>
              <a:tileRect/>
            </a:gradFill>
            <a:ln w="9525">
              <a:noFill/>
            </a:ln>
          </p:spPr>
          <p:txBody>
            <a:bodyPr/>
            <a:p>
              <a:endParaRPr lang="zh-CN" altLang="en-US"/>
            </a:p>
          </p:txBody>
        </p:sp>
        <p:sp>
          <p:nvSpPr>
            <p:cNvPr id="57430" name="Line 127"/>
            <p:cNvSpPr/>
            <p:nvPr/>
          </p:nvSpPr>
          <p:spPr>
            <a:xfrm>
              <a:off x="2401" y="1771"/>
              <a:ext cx="604" cy="0"/>
            </a:xfrm>
            <a:prstGeom prst="line">
              <a:avLst/>
            </a:prstGeom>
            <a:ln w="57150" cap="flat" cmpd="sng">
              <a:solidFill>
                <a:srgbClr val="FF0000"/>
              </a:solidFill>
              <a:prstDash val="solid"/>
              <a:round/>
              <a:headEnd type="none" w="med" len="med"/>
              <a:tailEnd type="triangle" w="med" len="med"/>
            </a:ln>
          </p:spPr>
        </p:sp>
        <p:sp>
          <p:nvSpPr>
            <p:cNvPr id="57431" name="Rectangle 129"/>
            <p:cNvSpPr/>
            <p:nvPr/>
          </p:nvSpPr>
          <p:spPr>
            <a:xfrm>
              <a:off x="2620" y="2398"/>
              <a:ext cx="2385" cy="269"/>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32" name="Rectangle 131"/>
            <p:cNvSpPr/>
            <p:nvPr/>
          </p:nvSpPr>
          <p:spPr>
            <a:xfrm>
              <a:off x="2563" y="1848"/>
              <a:ext cx="355" cy="115"/>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33" name="Text Box 132"/>
            <p:cNvSpPr txBox="1"/>
            <p:nvPr/>
          </p:nvSpPr>
          <p:spPr>
            <a:xfrm>
              <a:off x="2802" y="2424"/>
              <a:ext cx="2012"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R1 MAC addr  H1 MAC addr </a:t>
              </a:r>
              <a:endParaRPr lang="en-US" altLang="zh-CN" dirty="0">
                <a:latin typeface="Comic Sans MS" panose="030F0702030302020204" pitchFamily="66" charset="0"/>
                <a:ea typeface="宋体" panose="02010600030101010101" pitchFamily="2" charset="-122"/>
              </a:endParaRPr>
            </a:p>
          </p:txBody>
        </p:sp>
        <p:sp>
          <p:nvSpPr>
            <p:cNvPr id="57434" name="Line 133"/>
            <p:cNvSpPr/>
            <p:nvPr/>
          </p:nvSpPr>
          <p:spPr>
            <a:xfrm>
              <a:off x="2822" y="2398"/>
              <a:ext cx="0" cy="270"/>
            </a:xfrm>
            <a:prstGeom prst="line">
              <a:avLst/>
            </a:prstGeom>
            <a:ln w="9525" cap="flat" cmpd="sng">
              <a:solidFill>
                <a:schemeClr val="tx1"/>
              </a:solidFill>
              <a:prstDash val="solid"/>
              <a:round/>
              <a:headEnd type="none" w="med" len="med"/>
              <a:tailEnd type="none" w="med" len="med"/>
            </a:ln>
          </p:spPr>
        </p:sp>
        <p:sp>
          <p:nvSpPr>
            <p:cNvPr id="57435" name="Line 134"/>
            <p:cNvSpPr/>
            <p:nvPr/>
          </p:nvSpPr>
          <p:spPr>
            <a:xfrm>
              <a:off x="3782" y="2398"/>
              <a:ext cx="0" cy="270"/>
            </a:xfrm>
            <a:prstGeom prst="line">
              <a:avLst/>
            </a:prstGeom>
            <a:ln w="9525" cap="flat" cmpd="sng">
              <a:solidFill>
                <a:schemeClr val="tx1"/>
              </a:solidFill>
              <a:prstDash val="solid"/>
              <a:round/>
              <a:headEnd type="none" w="med" len="med"/>
              <a:tailEnd type="none" w="med" len="med"/>
            </a:ln>
          </p:spPr>
        </p:sp>
        <p:sp>
          <p:nvSpPr>
            <p:cNvPr id="57436" name="Line 135"/>
            <p:cNvSpPr/>
            <p:nvPr/>
          </p:nvSpPr>
          <p:spPr>
            <a:xfrm>
              <a:off x="4742" y="2398"/>
              <a:ext cx="0" cy="270"/>
            </a:xfrm>
            <a:prstGeom prst="line">
              <a:avLst/>
            </a:prstGeom>
            <a:ln w="9525" cap="flat" cmpd="sng">
              <a:solidFill>
                <a:schemeClr val="tx1"/>
              </a:solidFill>
              <a:prstDash val="solid"/>
              <a:round/>
              <a:headEnd type="none" w="med" len="med"/>
              <a:tailEnd type="none" w="med" len="med"/>
            </a:ln>
          </p:spPr>
        </p:sp>
        <p:grpSp>
          <p:nvGrpSpPr>
            <p:cNvPr id="57437" name="Group 136"/>
            <p:cNvGrpSpPr/>
            <p:nvPr/>
          </p:nvGrpSpPr>
          <p:grpSpPr>
            <a:xfrm>
              <a:off x="2658" y="2608"/>
              <a:ext cx="120" cy="114"/>
              <a:chOff x="1300" y="3186"/>
              <a:chExt cx="120" cy="114"/>
            </a:xfrm>
          </p:grpSpPr>
          <p:sp>
            <p:nvSpPr>
              <p:cNvPr id="57438" name="Rectangle 137"/>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39" name="Freeform 138"/>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40" name="Freeform 139"/>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57441" name="Group 140"/>
            <p:cNvGrpSpPr/>
            <p:nvPr/>
          </p:nvGrpSpPr>
          <p:grpSpPr>
            <a:xfrm>
              <a:off x="2674" y="2340"/>
              <a:ext cx="120" cy="114"/>
              <a:chOff x="1300" y="3186"/>
              <a:chExt cx="120" cy="114"/>
            </a:xfrm>
          </p:grpSpPr>
          <p:sp>
            <p:nvSpPr>
              <p:cNvPr id="57442" name="Rectangle 141"/>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43" name="Freeform 142"/>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44" name="Freeform 143"/>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57445" name="Group 144"/>
            <p:cNvGrpSpPr/>
            <p:nvPr/>
          </p:nvGrpSpPr>
          <p:grpSpPr>
            <a:xfrm>
              <a:off x="4814" y="2352"/>
              <a:ext cx="120" cy="114"/>
              <a:chOff x="1300" y="3186"/>
              <a:chExt cx="120" cy="114"/>
            </a:xfrm>
          </p:grpSpPr>
          <p:sp>
            <p:nvSpPr>
              <p:cNvPr id="57446" name="Rectangle 145"/>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47" name="Freeform 146"/>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48" name="Freeform 147"/>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grpSp>
          <p:nvGrpSpPr>
            <p:cNvPr id="57449" name="Group 149"/>
            <p:cNvGrpSpPr/>
            <p:nvPr/>
          </p:nvGrpSpPr>
          <p:grpSpPr>
            <a:xfrm>
              <a:off x="4820" y="2604"/>
              <a:ext cx="120" cy="114"/>
              <a:chOff x="1300" y="3186"/>
              <a:chExt cx="120" cy="114"/>
            </a:xfrm>
          </p:grpSpPr>
          <p:sp>
            <p:nvSpPr>
              <p:cNvPr id="57450" name="Rectangle 150"/>
              <p:cNvSpPr/>
              <p:nvPr/>
            </p:nvSpPr>
            <p:spPr>
              <a:xfrm>
                <a:off x="1300" y="3208"/>
                <a:ext cx="120" cy="56"/>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57451" name="Freeform 151"/>
              <p:cNvSpPr/>
              <p:nvPr/>
            </p:nvSpPr>
            <p:spPr>
              <a:xfrm>
                <a:off x="130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sp>
            <p:nvSpPr>
              <p:cNvPr id="57452" name="Freeform 152"/>
              <p:cNvSpPr/>
              <p:nvPr/>
            </p:nvSpPr>
            <p:spPr>
              <a:xfrm>
                <a:off x="1358" y="3186"/>
                <a:ext cx="48" cy="114"/>
              </a:xfrm>
              <a:custGeom>
                <a:avLst/>
                <a:gdLst/>
                <a:ahLst/>
                <a:cxnLst>
                  <a:cxn ang="0">
                    <a:pos x="38" y="0"/>
                  </a:cxn>
                  <a:cxn ang="0">
                    <a:pos x="8" y="27"/>
                  </a:cxn>
                  <a:cxn ang="0">
                    <a:pos x="30" y="49"/>
                  </a:cxn>
                  <a:cxn ang="0">
                    <a:pos x="0" y="87"/>
                  </a:cxn>
                </a:cxnLst>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57453" name="Text Box 153"/>
            <p:cNvSpPr txBox="1"/>
            <p:nvPr/>
          </p:nvSpPr>
          <p:spPr>
            <a:xfrm>
              <a:off x="2785" y="2683"/>
              <a:ext cx="817" cy="192"/>
            </a:xfrm>
            <a:prstGeom prst="rect">
              <a:avLst/>
            </a:prstGeom>
            <a:noFill/>
            <a:ln w="9525">
              <a:noFill/>
            </a:ln>
          </p:spPr>
          <p:txBody>
            <a:bodyPr wrap="none"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dest. address </a:t>
              </a:r>
              <a:endParaRPr lang="en-US" altLang="zh-CN" sz="1400" dirty="0">
                <a:latin typeface="Arial" panose="020B0604020202020204" pitchFamily="34" charset="0"/>
                <a:ea typeface="宋体" panose="02010600030101010101" pitchFamily="2" charset="-122"/>
              </a:endParaRPr>
            </a:p>
          </p:txBody>
        </p:sp>
        <p:sp>
          <p:nvSpPr>
            <p:cNvPr id="57454" name="Text Box 154"/>
            <p:cNvSpPr txBox="1"/>
            <p:nvPr/>
          </p:nvSpPr>
          <p:spPr>
            <a:xfrm>
              <a:off x="3762" y="2681"/>
              <a:ext cx="910" cy="192"/>
            </a:xfrm>
            <a:prstGeom prst="rect">
              <a:avLst/>
            </a:prstGeom>
            <a:noFill/>
            <a:ln w="9525">
              <a:noFill/>
            </a:ln>
          </p:spPr>
          <p:txBody>
            <a:bodyPr wrap="none"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source address </a:t>
              </a:r>
              <a:endParaRPr lang="en-US" altLang="zh-CN" sz="1400" dirty="0">
                <a:latin typeface="Arial" panose="020B0604020202020204" pitchFamily="34" charset="0"/>
                <a:ea typeface="宋体" panose="02010600030101010101" pitchFamily="2" charset="-122"/>
              </a:endParaRPr>
            </a:p>
          </p:txBody>
        </p:sp>
        <p:sp>
          <p:nvSpPr>
            <p:cNvPr id="57455" name="Text Box 156"/>
            <p:cNvSpPr txBox="1"/>
            <p:nvPr/>
          </p:nvSpPr>
          <p:spPr>
            <a:xfrm>
              <a:off x="4146" y="2896"/>
              <a:ext cx="954"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802.</a:t>
              </a:r>
              <a:r>
                <a:rPr lang="en-US" altLang="zh-CN" b="1" dirty="0">
                  <a:solidFill>
                    <a:srgbClr val="FF0000"/>
                  </a:solidFill>
                  <a:latin typeface="Comic Sans MS" panose="030F0702030302020204" pitchFamily="66" charset="0"/>
                  <a:ea typeface="宋体" panose="02010600030101010101" pitchFamily="2" charset="-122"/>
                </a:rPr>
                <a:t>3</a:t>
              </a:r>
              <a:r>
                <a:rPr lang="en-US" altLang="zh-CN" dirty="0">
                  <a:solidFill>
                    <a:srgbClr val="FF0000"/>
                  </a:solidFill>
                  <a:latin typeface="Comic Sans MS" panose="030F0702030302020204" pitchFamily="66" charset="0"/>
                  <a:ea typeface="宋体" panose="02010600030101010101" pitchFamily="2" charset="-122"/>
                </a:rPr>
                <a:t> </a:t>
              </a:r>
              <a:r>
                <a:rPr lang="en-US" altLang="zh-CN" dirty="0">
                  <a:latin typeface="Comic Sans MS" panose="030F0702030302020204" pitchFamily="66" charset="0"/>
                  <a:ea typeface="宋体" panose="02010600030101010101" pitchFamily="2" charset="-122"/>
                </a:rPr>
                <a:t>frame</a:t>
              </a:r>
              <a:endParaRPr lang="en-US" altLang="zh-CN" dirty="0">
                <a:latin typeface="Comic Sans MS" panose="030F0702030302020204" pitchFamily="66" charset="0"/>
                <a:ea typeface="宋体" panose="02010600030101010101" pitchFamily="2" charset="-122"/>
              </a:endParaRPr>
            </a:p>
          </p:txBody>
        </p:sp>
      </p:grpSp>
      <p:sp>
        <p:nvSpPr>
          <p:cNvPr id="57456" name="Rectangle 159"/>
          <p:cNvSpPr/>
          <p:nvPr/>
        </p:nvSpPr>
        <p:spPr>
          <a:xfrm>
            <a:off x="533400" y="228600"/>
            <a:ext cx="7772400" cy="1143000"/>
          </a:xfrm>
          <a:prstGeom prst="rect">
            <a:avLst/>
          </a:prstGeom>
          <a:noFill/>
          <a:ln w="9525">
            <a:noFill/>
          </a:ln>
        </p:spPr>
        <p:txBody>
          <a:bodyPr anchor="ctr" anchorCtr="0"/>
          <a:p>
            <a:pPr eaLnBrk="0" hangingPunct="0">
              <a:buClrTx/>
              <a:buFontTx/>
            </a:pPr>
            <a:r>
              <a:rPr lang="en-US" altLang="zh-CN" sz="4000" u="sng" dirty="0">
                <a:solidFill>
                  <a:schemeClr val="accent2"/>
                </a:solidFill>
                <a:latin typeface="Comic Sans MS" panose="030F0702030302020204" pitchFamily="66" charset="0"/>
                <a:ea typeface="宋体" panose="02010600030101010101" pitchFamily="2" charset="-122"/>
              </a:rPr>
              <a:t>802.11 frame: addressing</a:t>
            </a:r>
            <a:endParaRPr lang="en-US" altLang="zh-CN" sz="4000" u="sng" dirty="0">
              <a:solidFill>
                <a:schemeClr val="accent2"/>
              </a:solidFill>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1805"/>
                                        </p:tgtEl>
                                        <p:attrNameLst>
                                          <p:attrName>style.visibility</p:attrName>
                                        </p:attrNameLst>
                                      </p:cBhvr>
                                      <p:to>
                                        <p:strVal val="visible"/>
                                      </p:to>
                                    </p:set>
                                    <p:animEffect transition="in" filter="wipe(left)">
                                      <p:cBhvr>
                                        <p:cTn id="7" dur="1000"/>
                                        <p:tgtEl>
                                          <p:spTgt spid="4118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1808"/>
                                        </p:tgtEl>
                                        <p:attrNameLst>
                                          <p:attrName>style.visibility</p:attrName>
                                        </p:attrNameLst>
                                      </p:cBhvr>
                                      <p:to>
                                        <p:strVal val="visible"/>
                                      </p:to>
                                    </p:set>
                                    <p:animEffect transition="in" filter="wipe(left)">
                                      <p:cBhvr>
                                        <p:cTn id="12" dur="1000"/>
                                        <p:tgtEl>
                                          <p:spTgt spid="411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59394"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59395" name="Group 2"/>
          <p:cNvGrpSpPr/>
          <p:nvPr/>
        </p:nvGrpSpPr>
        <p:grpSpPr>
          <a:xfrm>
            <a:off x="519113" y="2179638"/>
            <a:ext cx="8077200" cy="985837"/>
            <a:chOff x="240" y="887"/>
            <a:chExt cx="5088" cy="621"/>
          </a:xfrm>
        </p:grpSpPr>
        <p:sp>
          <p:nvSpPr>
            <p:cNvPr id="59396" name="Rectangle 3"/>
            <p:cNvSpPr/>
            <p:nvPr/>
          </p:nvSpPr>
          <p:spPr>
            <a:xfrm>
              <a:off x="24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frame</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control</a:t>
              </a:r>
              <a:endParaRPr lang="en-US" altLang="zh-CN" sz="1600" dirty="0">
                <a:latin typeface="Arial" panose="020B0604020202020204" pitchFamily="34" charset="0"/>
                <a:ea typeface="宋体" panose="02010600030101010101" pitchFamily="2" charset="-122"/>
              </a:endParaRPr>
            </a:p>
          </p:txBody>
        </p:sp>
        <p:sp>
          <p:nvSpPr>
            <p:cNvPr id="59397" name="Rectangle 4"/>
            <p:cNvSpPr/>
            <p:nvPr/>
          </p:nvSpPr>
          <p:spPr>
            <a:xfrm>
              <a:off x="768"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duration</a:t>
              </a:r>
              <a:endParaRPr lang="en-US" altLang="zh-CN" sz="1600" dirty="0">
                <a:latin typeface="Arial" panose="020B0604020202020204" pitchFamily="34" charset="0"/>
                <a:ea typeface="宋体" panose="02010600030101010101" pitchFamily="2" charset="-122"/>
              </a:endParaRPr>
            </a:p>
          </p:txBody>
        </p:sp>
        <p:sp>
          <p:nvSpPr>
            <p:cNvPr id="59398" name="Rectangle 5"/>
            <p:cNvSpPr/>
            <p:nvPr/>
          </p:nvSpPr>
          <p:spPr>
            <a:xfrm>
              <a:off x="1296"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1</a:t>
              </a:r>
              <a:endParaRPr lang="en-US" altLang="zh-CN" sz="1600" dirty="0">
                <a:latin typeface="Arial" panose="020B0604020202020204" pitchFamily="34" charset="0"/>
                <a:ea typeface="宋体" panose="02010600030101010101" pitchFamily="2" charset="-122"/>
              </a:endParaRPr>
            </a:p>
          </p:txBody>
        </p:sp>
        <p:sp>
          <p:nvSpPr>
            <p:cNvPr id="59399" name="Rectangle 6"/>
            <p:cNvSpPr/>
            <p:nvPr/>
          </p:nvSpPr>
          <p:spPr>
            <a:xfrm>
              <a:off x="1824"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2</a:t>
              </a:r>
              <a:endParaRPr lang="en-US" altLang="zh-CN" sz="1600" dirty="0">
                <a:latin typeface="Arial" panose="020B0604020202020204" pitchFamily="34" charset="0"/>
                <a:ea typeface="宋体" panose="02010600030101010101" pitchFamily="2" charset="-122"/>
              </a:endParaRPr>
            </a:p>
          </p:txBody>
        </p:sp>
        <p:sp>
          <p:nvSpPr>
            <p:cNvPr id="59400" name="Rectangle 7"/>
            <p:cNvSpPr/>
            <p:nvPr/>
          </p:nvSpPr>
          <p:spPr>
            <a:xfrm>
              <a:off x="3408"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4</a:t>
              </a:r>
              <a:endParaRPr lang="en-US" altLang="zh-CN" sz="1600" dirty="0">
                <a:latin typeface="Arial" panose="020B0604020202020204" pitchFamily="34" charset="0"/>
                <a:ea typeface="宋体" panose="02010600030101010101" pitchFamily="2" charset="-122"/>
              </a:endParaRPr>
            </a:p>
          </p:txBody>
        </p:sp>
        <p:sp>
          <p:nvSpPr>
            <p:cNvPr id="59401" name="Rectangle 8"/>
            <p:cNvSpPr/>
            <p:nvPr/>
          </p:nvSpPr>
          <p:spPr>
            <a:xfrm>
              <a:off x="2352"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address</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3</a:t>
              </a:r>
              <a:endParaRPr lang="en-US" altLang="zh-CN" sz="1600" dirty="0">
                <a:latin typeface="Arial" panose="020B0604020202020204" pitchFamily="34" charset="0"/>
                <a:ea typeface="宋体" panose="02010600030101010101" pitchFamily="2" charset="-122"/>
              </a:endParaRPr>
            </a:p>
          </p:txBody>
        </p:sp>
        <p:sp>
          <p:nvSpPr>
            <p:cNvPr id="59402" name="Rectangle 9"/>
            <p:cNvSpPr/>
            <p:nvPr/>
          </p:nvSpPr>
          <p:spPr>
            <a:xfrm>
              <a:off x="288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sp>
          <p:nvSpPr>
            <p:cNvPr id="59403" name="Rectangle 10"/>
            <p:cNvSpPr/>
            <p:nvPr/>
          </p:nvSpPr>
          <p:spPr>
            <a:xfrm>
              <a:off x="3936" y="1104"/>
              <a:ext cx="864" cy="38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payload</a:t>
              </a:r>
              <a:endParaRPr lang="en-US" altLang="zh-CN" sz="1600" dirty="0">
                <a:latin typeface="Arial" panose="020B0604020202020204" pitchFamily="34" charset="0"/>
                <a:ea typeface="宋体" panose="02010600030101010101" pitchFamily="2" charset="-122"/>
              </a:endParaRPr>
            </a:p>
          </p:txBody>
        </p:sp>
        <p:sp>
          <p:nvSpPr>
            <p:cNvPr id="59404" name="Rectangle 11"/>
            <p:cNvSpPr/>
            <p:nvPr/>
          </p:nvSpPr>
          <p:spPr>
            <a:xfrm>
              <a:off x="4800" y="1104"/>
              <a:ext cx="528"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CRC</a:t>
              </a:r>
              <a:endParaRPr lang="en-US" altLang="zh-CN" sz="1600" dirty="0">
                <a:latin typeface="Arial" panose="020B0604020202020204" pitchFamily="34" charset="0"/>
                <a:ea typeface="宋体" panose="02010600030101010101" pitchFamily="2" charset="-122"/>
              </a:endParaRPr>
            </a:p>
          </p:txBody>
        </p:sp>
        <p:sp>
          <p:nvSpPr>
            <p:cNvPr id="59405" name="Text Box 12"/>
            <p:cNvSpPr txBox="1"/>
            <p:nvPr/>
          </p:nvSpPr>
          <p:spPr>
            <a:xfrm>
              <a:off x="480"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9406" name="Text Box 13"/>
            <p:cNvSpPr txBox="1"/>
            <p:nvPr/>
          </p:nvSpPr>
          <p:spPr>
            <a:xfrm>
              <a:off x="960"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9407" name="Text Box 14"/>
            <p:cNvSpPr txBox="1"/>
            <p:nvPr/>
          </p:nvSpPr>
          <p:spPr>
            <a:xfrm>
              <a:off x="1536"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9408" name="Text Box 15"/>
            <p:cNvSpPr txBox="1"/>
            <p:nvPr/>
          </p:nvSpPr>
          <p:spPr>
            <a:xfrm>
              <a:off x="2016"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9409" name="Text Box 16"/>
            <p:cNvSpPr txBox="1"/>
            <p:nvPr/>
          </p:nvSpPr>
          <p:spPr>
            <a:xfrm>
              <a:off x="2544"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9410" name="Text Box 17"/>
            <p:cNvSpPr txBox="1"/>
            <p:nvPr/>
          </p:nvSpPr>
          <p:spPr>
            <a:xfrm>
              <a:off x="3072" y="912"/>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9411" name="Text Box 18"/>
            <p:cNvSpPr txBox="1"/>
            <p:nvPr/>
          </p:nvSpPr>
          <p:spPr>
            <a:xfrm>
              <a:off x="3638" y="887"/>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59412" name="Text Box 19"/>
            <p:cNvSpPr txBox="1"/>
            <p:nvPr/>
          </p:nvSpPr>
          <p:spPr>
            <a:xfrm>
              <a:off x="4032" y="912"/>
              <a:ext cx="644"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0 - 2312</a:t>
              </a:r>
              <a:endParaRPr lang="en-US" altLang="zh-CN" dirty="0">
                <a:latin typeface="Arial" panose="020B0604020202020204" pitchFamily="34" charset="0"/>
                <a:ea typeface="宋体" panose="02010600030101010101" pitchFamily="2" charset="-122"/>
              </a:endParaRPr>
            </a:p>
          </p:txBody>
        </p:sp>
        <p:sp>
          <p:nvSpPr>
            <p:cNvPr id="59413" name="Text Box 20"/>
            <p:cNvSpPr txBox="1"/>
            <p:nvPr/>
          </p:nvSpPr>
          <p:spPr>
            <a:xfrm>
              <a:off x="4982" y="887"/>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59414" name="Text Box 21"/>
            <p:cNvSpPr txBox="1"/>
            <p:nvPr/>
          </p:nvSpPr>
          <p:spPr>
            <a:xfrm>
              <a:off x="2918" y="1142"/>
              <a:ext cx="500" cy="366"/>
            </a:xfrm>
            <a:prstGeom prst="rect">
              <a:avLst/>
            </a:prstGeom>
            <a:noFill/>
            <a:ln w="9525">
              <a:noFill/>
            </a:ln>
          </p:spPr>
          <p:txBody>
            <a:bodyPr wrap="none" anchor="t" anchorCtr="0">
              <a:spAutoFit/>
            </a:bodyPr>
            <a:p>
              <a:pPr algn="ctr">
                <a:buClrTx/>
                <a:buFontTx/>
              </a:pPr>
              <a:r>
                <a:rPr lang="en-US" altLang="zh-CN" sz="1600" dirty="0">
                  <a:latin typeface="Arial" panose="020B0604020202020204" pitchFamily="34" charset="0"/>
                  <a:ea typeface="宋体" panose="02010600030101010101" pitchFamily="2" charset="-122"/>
                </a:rPr>
                <a:t>seq</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control</a:t>
              </a:r>
              <a:endParaRPr lang="en-US" altLang="zh-CN" sz="1600" dirty="0">
                <a:latin typeface="Arial" panose="020B0604020202020204" pitchFamily="34" charset="0"/>
                <a:ea typeface="宋体" panose="02010600030101010101" pitchFamily="2" charset="-122"/>
              </a:endParaRPr>
            </a:p>
          </p:txBody>
        </p:sp>
      </p:grpSp>
      <p:grpSp>
        <p:nvGrpSpPr>
          <p:cNvPr id="59415" name="Group 23"/>
          <p:cNvGrpSpPr/>
          <p:nvPr/>
        </p:nvGrpSpPr>
        <p:grpSpPr>
          <a:xfrm>
            <a:off x="442913" y="3856038"/>
            <a:ext cx="8534400" cy="954087"/>
            <a:chOff x="240" y="1991"/>
            <a:chExt cx="5376" cy="601"/>
          </a:xfrm>
        </p:grpSpPr>
        <p:sp>
          <p:nvSpPr>
            <p:cNvPr id="59416" name="Rectangle 24"/>
            <p:cNvSpPr/>
            <p:nvPr/>
          </p:nvSpPr>
          <p:spPr>
            <a:xfrm>
              <a:off x="864" y="2208"/>
              <a:ext cx="624"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Type</a:t>
              </a:r>
              <a:endParaRPr lang="en-US" altLang="zh-CN" sz="1600" dirty="0">
                <a:latin typeface="Arial" panose="020B0604020202020204" pitchFamily="34" charset="0"/>
                <a:ea typeface="宋体" panose="02010600030101010101" pitchFamily="2" charset="-122"/>
              </a:endParaRPr>
            </a:p>
          </p:txBody>
        </p:sp>
        <p:sp>
          <p:nvSpPr>
            <p:cNvPr id="59417" name="Rectangle 25"/>
            <p:cNvSpPr/>
            <p:nvPr/>
          </p:nvSpPr>
          <p:spPr>
            <a:xfrm>
              <a:off x="2592"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From</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AP</a:t>
              </a:r>
              <a:endParaRPr lang="en-US" altLang="zh-CN" sz="1600" dirty="0">
                <a:latin typeface="Arial" panose="020B0604020202020204" pitchFamily="34" charset="0"/>
                <a:ea typeface="宋体" panose="02010600030101010101" pitchFamily="2" charset="-122"/>
              </a:endParaRPr>
            </a:p>
          </p:txBody>
        </p:sp>
        <p:sp>
          <p:nvSpPr>
            <p:cNvPr id="59418" name="Rectangle 26"/>
            <p:cNvSpPr/>
            <p:nvPr/>
          </p:nvSpPr>
          <p:spPr>
            <a:xfrm>
              <a:off x="1488" y="2208"/>
              <a:ext cx="67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Subtype</a:t>
              </a:r>
              <a:endParaRPr lang="en-US" altLang="zh-CN" sz="1600" dirty="0">
                <a:latin typeface="Arial" panose="020B0604020202020204" pitchFamily="34" charset="0"/>
                <a:ea typeface="宋体" panose="02010600030101010101" pitchFamily="2" charset="-122"/>
              </a:endParaRPr>
            </a:p>
          </p:txBody>
        </p:sp>
        <p:sp>
          <p:nvSpPr>
            <p:cNvPr id="59419" name="Rectangle 27"/>
            <p:cNvSpPr/>
            <p:nvPr/>
          </p:nvSpPr>
          <p:spPr>
            <a:xfrm>
              <a:off x="2160"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To</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AP</a:t>
              </a:r>
              <a:endParaRPr lang="en-US" altLang="zh-CN" sz="1600" dirty="0">
                <a:latin typeface="Arial" panose="020B0604020202020204" pitchFamily="34" charset="0"/>
                <a:ea typeface="宋体" panose="02010600030101010101" pitchFamily="2" charset="-122"/>
              </a:endParaRPr>
            </a:p>
          </p:txBody>
        </p:sp>
        <p:sp>
          <p:nvSpPr>
            <p:cNvPr id="59420" name="Rectangle 28"/>
            <p:cNvSpPr/>
            <p:nvPr/>
          </p:nvSpPr>
          <p:spPr>
            <a:xfrm>
              <a:off x="3024"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More </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frag</a:t>
              </a:r>
              <a:endParaRPr lang="en-US" altLang="zh-CN" sz="1600" dirty="0">
                <a:latin typeface="Arial" panose="020B0604020202020204" pitchFamily="34" charset="0"/>
                <a:ea typeface="宋体" panose="02010600030101010101" pitchFamily="2" charset="-122"/>
              </a:endParaRPr>
            </a:p>
          </p:txBody>
        </p:sp>
        <p:sp>
          <p:nvSpPr>
            <p:cNvPr id="59421" name="Rectangle 29"/>
            <p:cNvSpPr/>
            <p:nvPr/>
          </p:nvSpPr>
          <p:spPr>
            <a:xfrm>
              <a:off x="4752"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WEP</a:t>
              </a:r>
              <a:endParaRPr lang="en-US" altLang="zh-CN" sz="1600" dirty="0">
                <a:latin typeface="Arial" panose="020B0604020202020204" pitchFamily="34" charset="0"/>
                <a:ea typeface="宋体" panose="02010600030101010101" pitchFamily="2" charset="-122"/>
              </a:endParaRPr>
            </a:p>
          </p:txBody>
        </p:sp>
        <p:sp>
          <p:nvSpPr>
            <p:cNvPr id="59422" name="Rectangle 30"/>
            <p:cNvSpPr/>
            <p:nvPr/>
          </p:nvSpPr>
          <p:spPr>
            <a:xfrm>
              <a:off x="4320"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More</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data</a:t>
              </a:r>
              <a:endParaRPr lang="en-US" altLang="zh-CN" sz="1600" dirty="0">
                <a:latin typeface="Arial" panose="020B0604020202020204" pitchFamily="34" charset="0"/>
                <a:ea typeface="宋体" panose="02010600030101010101" pitchFamily="2" charset="-122"/>
              </a:endParaRPr>
            </a:p>
          </p:txBody>
        </p:sp>
        <p:sp>
          <p:nvSpPr>
            <p:cNvPr id="59423" name="Rectangle 31"/>
            <p:cNvSpPr/>
            <p:nvPr/>
          </p:nvSpPr>
          <p:spPr>
            <a:xfrm>
              <a:off x="3888"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Power</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mgt</a:t>
              </a:r>
              <a:endParaRPr lang="en-US" altLang="zh-CN" sz="1600" dirty="0">
                <a:latin typeface="Arial" panose="020B0604020202020204" pitchFamily="34" charset="0"/>
                <a:ea typeface="宋体" panose="02010600030101010101" pitchFamily="2" charset="-122"/>
              </a:endParaRPr>
            </a:p>
          </p:txBody>
        </p:sp>
        <p:sp>
          <p:nvSpPr>
            <p:cNvPr id="59424" name="Rectangle 32"/>
            <p:cNvSpPr/>
            <p:nvPr/>
          </p:nvSpPr>
          <p:spPr>
            <a:xfrm>
              <a:off x="3456"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Retry</a:t>
              </a:r>
              <a:endParaRPr lang="en-US" altLang="zh-CN" sz="1600" dirty="0">
                <a:latin typeface="Arial" panose="020B0604020202020204" pitchFamily="34" charset="0"/>
                <a:ea typeface="宋体" panose="02010600030101010101" pitchFamily="2" charset="-122"/>
              </a:endParaRPr>
            </a:p>
          </p:txBody>
        </p:sp>
        <p:sp>
          <p:nvSpPr>
            <p:cNvPr id="59425" name="Rectangle 33"/>
            <p:cNvSpPr/>
            <p:nvPr/>
          </p:nvSpPr>
          <p:spPr>
            <a:xfrm>
              <a:off x="5184" y="2208"/>
              <a:ext cx="432"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Rsvd</a:t>
              </a:r>
              <a:endParaRPr lang="en-US" altLang="zh-CN" sz="1600" dirty="0">
                <a:latin typeface="Arial" panose="020B0604020202020204" pitchFamily="34" charset="0"/>
                <a:ea typeface="宋体" panose="02010600030101010101" pitchFamily="2" charset="-122"/>
              </a:endParaRPr>
            </a:p>
          </p:txBody>
        </p:sp>
        <p:sp>
          <p:nvSpPr>
            <p:cNvPr id="59426" name="Rectangle 34"/>
            <p:cNvSpPr/>
            <p:nvPr/>
          </p:nvSpPr>
          <p:spPr>
            <a:xfrm>
              <a:off x="240" y="2208"/>
              <a:ext cx="624" cy="38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buClrTx/>
                <a:buFontTx/>
              </a:pPr>
              <a:r>
                <a:rPr lang="en-US" altLang="zh-CN" sz="1600" dirty="0">
                  <a:latin typeface="Arial" panose="020B0604020202020204" pitchFamily="34" charset="0"/>
                  <a:ea typeface="宋体" panose="02010600030101010101" pitchFamily="2" charset="-122"/>
                </a:rPr>
                <a:t>Protocol</a:t>
              </a:r>
              <a:endParaRPr lang="en-US" altLang="zh-CN" sz="1600" dirty="0">
                <a:latin typeface="Arial" panose="020B0604020202020204" pitchFamily="34" charset="0"/>
                <a:ea typeface="宋体" panose="02010600030101010101" pitchFamily="2" charset="-122"/>
              </a:endParaRPr>
            </a:p>
            <a:p>
              <a:pPr algn="ctr">
                <a:buClrTx/>
                <a:buFontTx/>
              </a:pPr>
              <a:r>
                <a:rPr lang="en-US" altLang="zh-CN" sz="1600" dirty="0">
                  <a:latin typeface="Arial" panose="020B0604020202020204" pitchFamily="34" charset="0"/>
                  <a:ea typeface="宋体" panose="02010600030101010101" pitchFamily="2" charset="-122"/>
                </a:rPr>
                <a:t>version</a:t>
              </a:r>
              <a:endParaRPr lang="en-US" altLang="zh-CN" sz="1600" dirty="0">
                <a:latin typeface="Arial" panose="020B0604020202020204" pitchFamily="34" charset="0"/>
                <a:ea typeface="宋体" panose="02010600030101010101" pitchFamily="2" charset="-122"/>
              </a:endParaRPr>
            </a:p>
          </p:txBody>
        </p:sp>
        <p:sp>
          <p:nvSpPr>
            <p:cNvPr id="59427" name="Text Box 35"/>
            <p:cNvSpPr txBox="1"/>
            <p:nvPr/>
          </p:nvSpPr>
          <p:spPr>
            <a:xfrm>
              <a:off x="518" y="1991"/>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9428" name="Text Box 36"/>
            <p:cNvSpPr txBox="1"/>
            <p:nvPr/>
          </p:nvSpPr>
          <p:spPr>
            <a:xfrm>
              <a:off x="1104"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59429" name="Text Box 37"/>
            <p:cNvSpPr txBox="1"/>
            <p:nvPr/>
          </p:nvSpPr>
          <p:spPr>
            <a:xfrm>
              <a:off x="1728"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4</a:t>
              </a:r>
              <a:endParaRPr lang="en-US" altLang="zh-CN" dirty="0">
                <a:latin typeface="Arial" panose="020B0604020202020204" pitchFamily="34" charset="0"/>
                <a:ea typeface="宋体" panose="02010600030101010101" pitchFamily="2" charset="-122"/>
              </a:endParaRPr>
            </a:p>
          </p:txBody>
        </p:sp>
        <p:sp>
          <p:nvSpPr>
            <p:cNvPr id="59430" name="Text Box 38"/>
            <p:cNvSpPr txBox="1"/>
            <p:nvPr/>
          </p:nvSpPr>
          <p:spPr>
            <a:xfrm>
              <a:off x="2304"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1" name="Text Box 39"/>
            <p:cNvSpPr txBox="1"/>
            <p:nvPr/>
          </p:nvSpPr>
          <p:spPr>
            <a:xfrm>
              <a:off x="2688"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2" name="Text Box 40"/>
            <p:cNvSpPr txBox="1"/>
            <p:nvPr/>
          </p:nvSpPr>
          <p:spPr>
            <a:xfrm>
              <a:off x="3120"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3" name="Text Box 41"/>
            <p:cNvSpPr txBox="1"/>
            <p:nvPr/>
          </p:nvSpPr>
          <p:spPr>
            <a:xfrm>
              <a:off x="4464"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4" name="Text Box 42"/>
            <p:cNvSpPr txBox="1"/>
            <p:nvPr/>
          </p:nvSpPr>
          <p:spPr>
            <a:xfrm>
              <a:off x="4896"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5" name="Text Box 43"/>
            <p:cNvSpPr txBox="1"/>
            <p:nvPr/>
          </p:nvSpPr>
          <p:spPr>
            <a:xfrm>
              <a:off x="5280"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6" name="Text Box 44"/>
            <p:cNvSpPr txBox="1"/>
            <p:nvPr/>
          </p:nvSpPr>
          <p:spPr>
            <a:xfrm>
              <a:off x="3600"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59437" name="Text Box 45"/>
            <p:cNvSpPr txBox="1"/>
            <p:nvPr/>
          </p:nvSpPr>
          <p:spPr>
            <a:xfrm>
              <a:off x="3984" y="2016"/>
              <a:ext cx="196"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grpSp>
      <p:sp>
        <p:nvSpPr>
          <p:cNvPr id="59438" name="Freeform 47"/>
          <p:cNvSpPr/>
          <p:nvPr/>
        </p:nvSpPr>
        <p:spPr>
          <a:xfrm>
            <a:off x="430213" y="3144838"/>
            <a:ext cx="8713787" cy="1066800"/>
          </a:xfrm>
          <a:custGeom>
            <a:avLst/>
            <a:gdLst/>
            <a:ahLst/>
            <a:cxnLst>
              <a:cxn ang="0">
                <a:pos x="161289991" y="0"/>
              </a:cxn>
              <a:cxn ang="0">
                <a:pos x="0" y="1673383750"/>
              </a:cxn>
              <a:cxn ang="0">
                <a:pos x="2147483646" y="1693545000"/>
              </a:cxn>
              <a:cxn ang="0">
                <a:pos x="1471771166" y="0"/>
              </a:cxn>
              <a:cxn ang="0">
                <a:pos x="161289991" y="0"/>
              </a:cxn>
            </a:cxnLst>
            <a:pathLst>
              <a:path w="5489" h="672">
                <a:moveTo>
                  <a:pt x="64" y="0"/>
                </a:moveTo>
                <a:lnTo>
                  <a:pt x="0" y="664"/>
                </a:lnTo>
                <a:lnTo>
                  <a:pt x="5392" y="672"/>
                </a:lnTo>
                <a:cubicBezTo>
                  <a:pt x="5489" y="561"/>
                  <a:pt x="976" y="408"/>
                  <a:pt x="584" y="0"/>
                </a:cubicBezTo>
                <a:cubicBezTo>
                  <a:pt x="152" y="0"/>
                  <a:pt x="172" y="0"/>
                  <a:pt x="64" y="0"/>
                </a:cubicBezTo>
                <a:close/>
              </a:path>
            </a:pathLst>
          </a:custGeom>
          <a:gradFill rotWithShape="1">
            <a:gsLst>
              <a:gs pos="0">
                <a:schemeClr val="tx1"/>
              </a:gs>
              <a:gs pos="100000">
                <a:schemeClr val="bg1">
                  <a:alpha val="17998"/>
                </a:schemeClr>
              </a:gs>
            </a:gsLst>
            <a:lin ang="5400000" scaled="1"/>
            <a:tileRect/>
          </a:gradFill>
          <a:ln w="9525">
            <a:noFill/>
          </a:ln>
        </p:spPr>
        <p:txBody>
          <a:bodyPr/>
          <a:p>
            <a:endParaRPr lang="zh-CN" altLang="en-US"/>
          </a:p>
        </p:txBody>
      </p:sp>
      <p:sp>
        <p:nvSpPr>
          <p:cNvPr id="59439" name="Rectangle 48"/>
          <p:cNvSpPr/>
          <p:nvPr/>
        </p:nvSpPr>
        <p:spPr>
          <a:xfrm>
            <a:off x="533400" y="228600"/>
            <a:ext cx="7772400" cy="1143000"/>
          </a:xfrm>
          <a:prstGeom prst="rect">
            <a:avLst/>
          </a:prstGeom>
          <a:noFill/>
          <a:ln w="9525">
            <a:noFill/>
          </a:ln>
        </p:spPr>
        <p:txBody>
          <a:bodyPr anchor="ctr" anchorCtr="0"/>
          <a:p>
            <a:pPr eaLnBrk="0" hangingPunct="0">
              <a:buClrTx/>
              <a:buFontTx/>
            </a:pPr>
            <a:r>
              <a:rPr lang="en-US" altLang="zh-CN" sz="4000" u="sng" dirty="0">
                <a:solidFill>
                  <a:schemeClr val="accent2"/>
                </a:solidFill>
                <a:latin typeface="Comic Sans MS" panose="030F0702030302020204" pitchFamily="66" charset="0"/>
                <a:ea typeface="宋体" panose="02010600030101010101" pitchFamily="2" charset="-122"/>
              </a:rPr>
              <a:t>802.11 frame: more</a:t>
            </a:r>
            <a:endParaRPr lang="en-US" altLang="zh-CN" sz="4000" u="sng" dirty="0">
              <a:solidFill>
                <a:schemeClr val="accent2"/>
              </a:solidFill>
              <a:latin typeface="Comic Sans MS" panose="030F0702030302020204" pitchFamily="66" charset="0"/>
              <a:ea typeface="宋体" panose="02010600030101010101" pitchFamily="2" charset="-122"/>
            </a:endParaRPr>
          </a:p>
        </p:txBody>
      </p:sp>
      <p:sp>
        <p:nvSpPr>
          <p:cNvPr id="59440" name="Text Box 49"/>
          <p:cNvSpPr txBox="1"/>
          <p:nvPr/>
        </p:nvSpPr>
        <p:spPr>
          <a:xfrm>
            <a:off x="2132013" y="1335088"/>
            <a:ext cx="3322637"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duration of reserved </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transmission time (RTS/CTS)</a:t>
            </a:r>
            <a:endParaRPr lang="en-US" altLang="zh-CN" dirty="0">
              <a:latin typeface="Comic Sans MS" panose="030F0702030302020204" pitchFamily="66" charset="0"/>
              <a:ea typeface="宋体" panose="02010600030101010101" pitchFamily="2" charset="-122"/>
            </a:endParaRPr>
          </a:p>
        </p:txBody>
      </p:sp>
      <p:sp>
        <p:nvSpPr>
          <p:cNvPr id="59441" name="Line 50"/>
          <p:cNvSpPr/>
          <p:nvPr/>
        </p:nvSpPr>
        <p:spPr>
          <a:xfrm flipH="1">
            <a:off x="1905000" y="1554163"/>
            <a:ext cx="258763" cy="639762"/>
          </a:xfrm>
          <a:prstGeom prst="line">
            <a:avLst/>
          </a:prstGeom>
          <a:ln w="9525" cap="flat" cmpd="sng">
            <a:solidFill>
              <a:schemeClr val="tx1"/>
            </a:solidFill>
            <a:prstDash val="solid"/>
            <a:round/>
            <a:headEnd type="none" w="med" len="med"/>
            <a:tailEnd type="triangle" w="med" len="med"/>
          </a:ln>
        </p:spPr>
      </p:sp>
      <p:sp>
        <p:nvSpPr>
          <p:cNvPr id="59442" name="Text Box 51"/>
          <p:cNvSpPr txBox="1"/>
          <p:nvPr/>
        </p:nvSpPr>
        <p:spPr>
          <a:xfrm>
            <a:off x="5926138" y="1196975"/>
            <a:ext cx="1514475"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frame seq #</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(for RDT)</a:t>
            </a:r>
            <a:endParaRPr lang="en-US" altLang="zh-CN" dirty="0">
              <a:latin typeface="Comic Sans MS" panose="030F0702030302020204" pitchFamily="66" charset="0"/>
              <a:ea typeface="宋体" panose="02010600030101010101" pitchFamily="2" charset="-122"/>
            </a:endParaRPr>
          </a:p>
        </p:txBody>
      </p:sp>
      <p:sp>
        <p:nvSpPr>
          <p:cNvPr id="59443" name="Line 52"/>
          <p:cNvSpPr/>
          <p:nvPr/>
        </p:nvSpPr>
        <p:spPr>
          <a:xfrm flipH="1">
            <a:off x="5410200" y="1493838"/>
            <a:ext cx="487363" cy="912812"/>
          </a:xfrm>
          <a:prstGeom prst="line">
            <a:avLst/>
          </a:prstGeom>
          <a:ln w="9525" cap="flat" cmpd="sng">
            <a:solidFill>
              <a:schemeClr val="tx1"/>
            </a:solidFill>
            <a:prstDash val="solid"/>
            <a:round/>
            <a:headEnd type="none" w="med" len="med"/>
            <a:tailEnd type="triangle" w="med" len="med"/>
          </a:ln>
        </p:spPr>
      </p:sp>
      <p:sp>
        <p:nvSpPr>
          <p:cNvPr id="59444" name="Line 53"/>
          <p:cNvSpPr/>
          <p:nvPr/>
        </p:nvSpPr>
        <p:spPr>
          <a:xfrm flipH="1" flipV="1">
            <a:off x="2012950" y="4908550"/>
            <a:ext cx="258763" cy="639763"/>
          </a:xfrm>
          <a:prstGeom prst="line">
            <a:avLst/>
          </a:prstGeom>
          <a:ln w="9525" cap="flat" cmpd="sng">
            <a:solidFill>
              <a:schemeClr val="tx1"/>
            </a:solidFill>
            <a:prstDash val="solid"/>
            <a:round/>
            <a:headEnd type="none" w="med" len="med"/>
            <a:tailEnd type="triangle" w="med" len="med"/>
          </a:ln>
        </p:spPr>
      </p:sp>
      <p:sp>
        <p:nvSpPr>
          <p:cNvPr id="59445" name="Text Box 54"/>
          <p:cNvSpPr txBox="1"/>
          <p:nvPr/>
        </p:nvSpPr>
        <p:spPr>
          <a:xfrm>
            <a:off x="2192338" y="5480050"/>
            <a:ext cx="2579687"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frame type</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(RTS, CTS, ACK, data)</a:t>
            </a:r>
            <a:endParaRPr lang="en-US" altLang="zh-CN" dirty="0">
              <a:latin typeface="Comic Sans MS" panose="030F0702030302020204" pitchFamily="66"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144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1443" name="Oval 2"/>
          <p:cNvSpPr/>
          <p:nvPr/>
        </p:nvSpPr>
        <p:spPr>
          <a:xfrm>
            <a:off x="6397625" y="3155950"/>
            <a:ext cx="2335213" cy="2224088"/>
          </a:xfrm>
          <a:prstGeom prst="ellipse">
            <a:avLst/>
          </a:prstGeom>
          <a:solidFill>
            <a:schemeClr val="accent1">
              <a:alpha val="49019"/>
            </a:schemeClr>
          </a:solidFill>
          <a:ln w="9525">
            <a:noFill/>
          </a:ln>
        </p:spPr>
        <p:txBody>
          <a:bodyPr wrap="none" anchor="ctr" anchorCtr="0"/>
          <a:p>
            <a:pPr algn="ctr">
              <a:buClrTx/>
              <a:buFontTx/>
            </a:pPr>
            <a:endParaRPr lang="zh-CN" altLang="zh-CN" sz="1600" dirty="0">
              <a:latin typeface="Comic Sans MS" panose="030F0702030302020204" pitchFamily="66" charset="0"/>
              <a:ea typeface="宋体" panose="02010600030101010101" pitchFamily="2" charset="-122"/>
            </a:endParaRPr>
          </a:p>
        </p:txBody>
      </p:sp>
      <p:sp>
        <p:nvSpPr>
          <p:cNvPr id="61444" name="Oval 3"/>
          <p:cNvSpPr/>
          <p:nvPr/>
        </p:nvSpPr>
        <p:spPr>
          <a:xfrm>
            <a:off x="4541838" y="3090863"/>
            <a:ext cx="2335212" cy="2224087"/>
          </a:xfrm>
          <a:prstGeom prst="ellipse">
            <a:avLst/>
          </a:prstGeom>
          <a:solidFill>
            <a:schemeClr val="accent1">
              <a:alpha val="49019"/>
            </a:schemeClr>
          </a:solidFill>
          <a:ln w="9525">
            <a:noFill/>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grpSp>
        <p:nvGrpSpPr>
          <p:cNvPr id="61445" name="Group 4"/>
          <p:cNvGrpSpPr/>
          <p:nvPr/>
        </p:nvGrpSpPr>
        <p:grpSpPr>
          <a:xfrm>
            <a:off x="4748213" y="4268788"/>
            <a:ext cx="617537" cy="654050"/>
            <a:chOff x="2870" y="1518"/>
            <a:chExt cx="292" cy="320"/>
          </a:xfrm>
        </p:grpSpPr>
        <p:graphicFrame>
          <p:nvGraphicFramePr>
            <p:cNvPr id="61446" name="Object 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0" name="" r:id="rId1" imgW="826770" imgH="840105" progId="MS_ClipArt_Gallery.2">
                    <p:embed/>
                  </p:oleObj>
                </mc:Choice>
                <mc:Fallback>
                  <p:oleObj name="" r:id="rId1" imgW="826770" imgH="840105" progId="MS_ClipArt_Gallery.2">
                    <p:embed/>
                    <p:pic>
                      <p:nvPicPr>
                        <p:cNvPr id="0" name="图片 3129"/>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1447" name="Object 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1" name="" r:id="rId3" imgW="1268095" imgH="1199515" progId="MS_ClipArt_Gallery.2">
                    <p:embed/>
                  </p:oleObj>
                </mc:Choice>
                <mc:Fallback>
                  <p:oleObj name="" r:id="rId3" imgW="1268095" imgH="1199515" progId="MS_ClipArt_Gallery.2">
                    <p:embed/>
                    <p:pic>
                      <p:nvPicPr>
                        <p:cNvPr id="0" name="图片 3130"/>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61448" name="Group 7"/>
          <p:cNvGrpSpPr/>
          <p:nvPr/>
        </p:nvGrpSpPr>
        <p:grpSpPr>
          <a:xfrm>
            <a:off x="7770813" y="3319463"/>
            <a:ext cx="619125" cy="654050"/>
            <a:chOff x="2870" y="1518"/>
            <a:chExt cx="292" cy="320"/>
          </a:xfrm>
        </p:grpSpPr>
        <p:graphicFrame>
          <p:nvGraphicFramePr>
            <p:cNvPr id="61449" name="Object 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29" name="" r:id="rId5" imgW="826770" imgH="840105" progId="MS_ClipArt_Gallery.2">
                    <p:embed/>
                  </p:oleObj>
                </mc:Choice>
                <mc:Fallback>
                  <p:oleObj name="" r:id="rId5" imgW="826770" imgH="840105" progId="MS_ClipArt_Gallery.2">
                    <p:embed/>
                    <p:pic>
                      <p:nvPicPr>
                        <p:cNvPr id="0" name="图片 312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1450" name="Object 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28" name="" r:id="rId6" imgW="1268095" imgH="1199515" progId="MS_ClipArt_Gallery.2">
                    <p:embed/>
                  </p:oleObj>
                </mc:Choice>
                <mc:Fallback>
                  <p:oleObj name="" r:id="rId6" imgW="1268095" imgH="1199515" progId="MS_ClipArt_Gallery.2">
                    <p:embed/>
                    <p:pic>
                      <p:nvPicPr>
                        <p:cNvPr id="0" name="图片 312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61451" name="Text Box 10"/>
          <p:cNvSpPr txBox="1"/>
          <p:nvPr/>
        </p:nvSpPr>
        <p:spPr>
          <a:xfrm>
            <a:off x="6602413" y="2522538"/>
            <a:ext cx="854075" cy="581025"/>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hub or </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switch</a:t>
            </a:r>
            <a:endParaRPr lang="en-US" altLang="zh-CN" sz="1600" dirty="0">
              <a:latin typeface="Comic Sans MS" panose="030F0702030302020204" pitchFamily="66" charset="0"/>
              <a:ea typeface="宋体" panose="02010600030101010101" pitchFamily="2" charset="-122"/>
            </a:endParaRPr>
          </a:p>
        </p:txBody>
      </p:sp>
      <p:sp>
        <p:nvSpPr>
          <p:cNvPr id="61452" name="Line 11"/>
          <p:cNvSpPr/>
          <p:nvPr/>
        </p:nvSpPr>
        <p:spPr>
          <a:xfrm flipH="1">
            <a:off x="5778500" y="3287713"/>
            <a:ext cx="687388" cy="784225"/>
          </a:xfrm>
          <a:prstGeom prst="line">
            <a:avLst/>
          </a:prstGeom>
          <a:ln w="9525" cap="flat" cmpd="sng">
            <a:solidFill>
              <a:schemeClr val="tx1"/>
            </a:solidFill>
            <a:prstDash val="solid"/>
            <a:round/>
            <a:headEnd type="none" w="med" len="med"/>
            <a:tailEnd type="none" w="med" len="med"/>
          </a:ln>
        </p:spPr>
      </p:sp>
      <p:sp>
        <p:nvSpPr>
          <p:cNvPr id="61453" name="Line 12"/>
          <p:cNvSpPr/>
          <p:nvPr/>
        </p:nvSpPr>
        <p:spPr>
          <a:xfrm>
            <a:off x="6740525" y="3155950"/>
            <a:ext cx="869950" cy="1112838"/>
          </a:xfrm>
          <a:prstGeom prst="line">
            <a:avLst/>
          </a:prstGeom>
          <a:ln w="9525" cap="flat" cmpd="sng">
            <a:solidFill>
              <a:schemeClr val="tx1"/>
            </a:solidFill>
            <a:prstDash val="solid"/>
            <a:round/>
            <a:headEnd type="none" w="med" len="med"/>
            <a:tailEnd type="none" w="med" len="med"/>
          </a:ln>
        </p:spPr>
      </p:sp>
      <p:sp>
        <p:nvSpPr>
          <p:cNvPr id="61454" name="Line 13"/>
          <p:cNvSpPr/>
          <p:nvPr/>
        </p:nvSpPr>
        <p:spPr>
          <a:xfrm flipV="1">
            <a:off x="6626225" y="2306638"/>
            <a:ext cx="14288" cy="773112"/>
          </a:xfrm>
          <a:prstGeom prst="line">
            <a:avLst/>
          </a:prstGeom>
          <a:ln w="9525" cap="flat" cmpd="sng">
            <a:solidFill>
              <a:schemeClr val="tx1"/>
            </a:solidFill>
            <a:prstDash val="solid"/>
            <a:round/>
            <a:headEnd type="none" w="med" len="med"/>
            <a:tailEnd type="none" w="med" len="med"/>
          </a:ln>
        </p:spPr>
      </p:sp>
      <p:sp>
        <p:nvSpPr>
          <p:cNvPr id="61455" name="Text Box 14"/>
          <p:cNvSpPr txBox="1"/>
          <p:nvPr/>
        </p:nvSpPr>
        <p:spPr>
          <a:xfrm>
            <a:off x="7346950" y="4298950"/>
            <a:ext cx="623888"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2</a:t>
            </a:r>
            <a:endParaRPr lang="en-US" altLang="zh-CN" sz="1600" dirty="0">
              <a:latin typeface="Comic Sans MS" panose="030F0702030302020204" pitchFamily="66" charset="0"/>
              <a:ea typeface="宋体" panose="02010600030101010101" pitchFamily="2" charset="-122"/>
            </a:endParaRPr>
          </a:p>
        </p:txBody>
      </p:sp>
      <p:sp>
        <p:nvSpPr>
          <p:cNvPr id="61456" name="Text Box 15"/>
          <p:cNvSpPr txBox="1"/>
          <p:nvPr/>
        </p:nvSpPr>
        <p:spPr>
          <a:xfrm>
            <a:off x="6029325" y="3862388"/>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61457" name="Text Box 16"/>
          <p:cNvSpPr txBox="1"/>
          <p:nvPr/>
        </p:nvSpPr>
        <p:spPr>
          <a:xfrm>
            <a:off x="5846763" y="3830638"/>
            <a:ext cx="592137"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AP 1</a:t>
            </a:r>
            <a:endParaRPr lang="en-US" altLang="zh-CN" sz="1600" dirty="0">
              <a:latin typeface="Comic Sans MS" panose="030F0702030302020204" pitchFamily="66" charset="0"/>
              <a:ea typeface="宋体" panose="02010600030101010101" pitchFamily="2" charset="-122"/>
            </a:endParaRPr>
          </a:p>
        </p:txBody>
      </p:sp>
      <p:sp>
        <p:nvSpPr>
          <p:cNvPr id="61458" name="Text Box 18"/>
          <p:cNvSpPr txBox="1"/>
          <p:nvPr/>
        </p:nvSpPr>
        <p:spPr>
          <a:xfrm>
            <a:off x="5973763" y="4833938"/>
            <a:ext cx="431800"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H1</a:t>
            </a:r>
            <a:endParaRPr lang="en-US" altLang="zh-CN" sz="1600" dirty="0">
              <a:latin typeface="Comic Sans MS" panose="030F0702030302020204" pitchFamily="66" charset="0"/>
              <a:ea typeface="宋体" panose="02010600030101010101" pitchFamily="2" charset="-122"/>
            </a:endParaRPr>
          </a:p>
        </p:txBody>
      </p:sp>
      <p:sp>
        <p:nvSpPr>
          <p:cNvPr id="61459" name="Text Box 19"/>
          <p:cNvSpPr txBox="1"/>
          <p:nvPr/>
        </p:nvSpPr>
        <p:spPr>
          <a:xfrm>
            <a:off x="8035925" y="4681538"/>
            <a:ext cx="184150" cy="336550"/>
          </a:xfrm>
          <a:prstGeom prst="rect">
            <a:avLst/>
          </a:prstGeom>
          <a:noFill/>
          <a:ln w="9525">
            <a:noFill/>
          </a:ln>
        </p:spPr>
        <p:txBody>
          <a:bodyPr wrap="none" anchor="t" anchorCtr="0">
            <a:spAutoFit/>
          </a:bodyPr>
          <a:p>
            <a:pPr>
              <a:buClrTx/>
              <a:buFontTx/>
            </a:pPr>
            <a:endParaRPr lang="zh-CN" altLang="zh-CN" sz="1600" dirty="0">
              <a:latin typeface="Arial" panose="020B0604020202020204" pitchFamily="34" charset="0"/>
              <a:ea typeface="宋体" panose="02010600030101010101" pitchFamily="2" charset="-122"/>
            </a:endParaRPr>
          </a:p>
        </p:txBody>
      </p:sp>
      <p:sp>
        <p:nvSpPr>
          <p:cNvPr id="61460" name="Text Box 20"/>
          <p:cNvSpPr txBox="1"/>
          <p:nvPr/>
        </p:nvSpPr>
        <p:spPr>
          <a:xfrm>
            <a:off x="7620000" y="4846638"/>
            <a:ext cx="766763"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2</a:t>
            </a:r>
            <a:endParaRPr lang="en-US" altLang="zh-CN" sz="1600" dirty="0">
              <a:latin typeface="Comic Sans MS" panose="030F0702030302020204" pitchFamily="66" charset="0"/>
              <a:ea typeface="宋体" panose="02010600030101010101" pitchFamily="2" charset="-122"/>
            </a:endParaRPr>
          </a:p>
        </p:txBody>
      </p:sp>
      <p:sp>
        <p:nvSpPr>
          <p:cNvPr id="61461" name="Text Box 21"/>
          <p:cNvSpPr txBox="1"/>
          <p:nvPr/>
        </p:nvSpPr>
        <p:spPr>
          <a:xfrm>
            <a:off x="5145088" y="3343275"/>
            <a:ext cx="735012" cy="33655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BBS 1</a:t>
            </a:r>
            <a:endParaRPr lang="en-US" altLang="zh-CN" sz="1600" dirty="0">
              <a:latin typeface="Comic Sans MS" panose="030F0702030302020204" pitchFamily="66" charset="0"/>
              <a:ea typeface="宋体" panose="02010600030101010101" pitchFamily="2" charset="-122"/>
            </a:endParaRPr>
          </a:p>
        </p:txBody>
      </p:sp>
      <p:grpSp>
        <p:nvGrpSpPr>
          <p:cNvPr id="61462" name="Group 22"/>
          <p:cNvGrpSpPr/>
          <p:nvPr/>
        </p:nvGrpSpPr>
        <p:grpSpPr>
          <a:xfrm>
            <a:off x="6327775" y="3025775"/>
            <a:ext cx="412750" cy="284163"/>
            <a:chOff x="2016" y="960"/>
            <a:chExt cx="288" cy="209"/>
          </a:xfrm>
        </p:grpSpPr>
        <p:sp>
          <p:nvSpPr>
            <p:cNvPr id="61463" name="Line 23"/>
            <p:cNvSpPr/>
            <p:nvPr/>
          </p:nvSpPr>
          <p:spPr>
            <a:xfrm>
              <a:off x="2304" y="960"/>
              <a:ext cx="0" cy="0"/>
            </a:xfrm>
            <a:prstGeom prst="line">
              <a:avLst/>
            </a:prstGeom>
            <a:ln w="9525" cap="flat" cmpd="sng">
              <a:solidFill>
                <a:schemeClr val="tx1"/>
              </a:solidFill>
              <a:prstDash val="solid"/>
              <a:round/>
              <a:headEnd type="none" w="med" len="med"/>
              <a:tailEnd type="none" w="med" len="med"/>
            </a:ln>
          </p:spPr>
        </p:sp>
        <p:sp>
          <p:nvSpPr>
            <p:cNvPr id="61464" name="Rectangle 24"/>
            <p:cNvSpPr/>
            <p:nvPr/>
          </p:nvSpPr>
          <p:spPr>
            <a:xfrm>
              <a:off x="2016" y="1104"/>
              <a:ext cx="267" cy="65"/>
            </a:xfrm>
            <a:prstGeom prst="rect">
              <a:avLst/>
            </a:prstGeom>
            <a:solidFill>
              <a:schemeClr val="hlink"/>
            </a:solidFill>
            <a:ln w="9525"/>
            <a:scene3d>
              <a:camera prst="legacyObliqueTopRight">
                <a:rot lat="0" lon="0" rev="0"/>
              </a:camera>
              <a:lightRig rig="legacyFlat3" dir="l"/>
            </a:scene3d>
            <a:sp3d extrusionH="430200" prstMaterial="legacyMatte">
              <a:bevelT w="13500" h="13500" prst="angle"/>
              <a:bevelB w="13500" h="13500" prst="angle"/>
              <a:extrusionClr>
                <a:schemeClr val="hlink"/>
              </a:extrusionClr>
            </a:sp3d>
          </p:spPr>
          <p:txBody>
            <a:bodyPr wrap="none" anchor="ctr" anchorCtr="0">
              <a:flatTx/>
            </a:bodyPr>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61465" name="Group 25"/>
            <p:cNvGrpSpPr/>
            <p:nvPr/>
          </p:nvGrpSpPr>
          <p:grpSpPr>
            <a:xfrm>
              <a:off x="2160" y="1008"/>
              <a:ext cx="109" cy="91"/>
              <a:chOff x="576" y="3456"/>
              <a:chExt cx="288" cy="240"/>
            </a:xfrm>
          </p:grpSpPr>
          <p:sp>
            <p:nvSpPr>
              <p:cNvPr id="61466" name="Line 26"/>
              <p:cNvSpPr/>
              <p:nvPr/>
            </p:nvSpPr>
            <p:spPr>
              <a:xfrm>
                <a:off x="624" y="3456"/>
                <a:ext cx="192" cy="240"/>
              </a:xfrm>
              <a:prstGeom prst="line">
                <a:avLst/>
              </a:prstGeom>
              <a:ln w="25400" cap="flat" cmpd="sng">
                <a:solidFill>
                  <a:schemeClr val="tx1"/>
                </a:solidFill>
                <a:prstDash val="solid"/>
                <a:round/>
                <a:headEnd type="none" w="med" len="med"/>
                <a:tailEnd type="none" w="med" len="med"/>
              </a:ln>
            </p:spPr>
          </p:sp>
          <p:sp>
            <p:nvSpPr>
              <p:cNvPr id="61467" name="Line 27"/>
              <p:cNvSpPr/>
              <p:nvPr/>
            </p:nvSpPr>
            <p:spPr>
              <a:xfrm flipH="1">
                <a:off x="576" y="3456"/>
                <a:ext cx="288" cy="240"/>
              </a:xfrm>
              <a:prstGeom prst="line">
                <a:avLst/>
              </a:prstGeom>
              <a:ln w="25400" cap="flat" cmpd="sng">
                <a:solidFill>
                  <a:schemeClr val="tx1"/>
                </a:solidFill>
                <a:prstDash val="solid"/>
                <a:round/>
                <a:headEnd type="none" w="med" len="med"/>
                <a:tailEnd type="none" w="med" len="med"/>
              </a:ln>
            </p:spPr>
          </p:sp>
        </p:grpSp>
      </p:grpSp>
      <p:grpSp>
        <p:nvGrpSpPr>
          <p:cNvPr id="61468" name="Group 28"/>
          <p:cNvGrpSpPr/>
          <p:nvPr/>
        </p:nvGrpSpPr>
        <p:grpSpPr>
          <a:xfrm>
            <a:off x="7243763" y="3711575"/>
            <a:ext cx="842962" cy="600075"/>
            <a:chOff x="1160" y="2192"/>
            <a:chExt cx="589" cy="440"/>
          </a:xfrm>
        </p:grpSpPr>
        <p:pic>
          <p:nvPicPr>
            <p:cNvPr id="61469" name="Picture 29"/>
            <p:cNvPicPr>
              <a:picLocks noChangeAspect="1"/>
            </p:cNvPicPr>
            <p:nvPr/>
          </p:nvPicPr>
          <p:blipFill>
            <a:blip r:embed="rId7"/>
            <a:stretch>
              <a:fillRect/>
            </a:stretch>
          </p:blipFill>
          <p:spPr>
            <a:xfrm rot="-5400000">
              <a:off x="1346" y="2456"/>
              <a:ext cx="212" cy="135"/>
            </a:xfrm>
            <a:prstGeom prst="rect">
              <a:avLst/>
            </a:prstGeom>
            <a:noFill/>
            <a:ln w="9525">
              <a:noFill/>
            </a:ln>
          </p:spPr>
        </p:pic>
        <p:sp>
          <p:nvSpPr>
            <p:cNvPr id="61470" name="AutoShape 30"/>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61471" name="Freeform 31"/>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61472" name="Freeform 32"/>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61473" name="Freeform 33"/>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61474" name="Freeform 34"/>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61475" name="Freeform 35"/>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61476" name="Freeform 36"/>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61477" name="Freeform 37"/>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61478" name="Freeform 38"/>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61479" name="Freeform 39"/>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61480" name="Freeform 40"/>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61481" name="Freeform 41"/>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61482" name="Freeform 42"/>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61483" name="Freeform 43"/>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61484" name="Freeform 44"/>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61485" name="Freeform 45"/>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61486" name="Freeform 46"/>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61487" name="Group 47"/>
          <p:cNvGrpSpPr/>
          <p:nvPr/>
        </p:nvGrpSpPr>
        <p:grpSpPr>
          <a:xfrm>
            <a:off x="5319713" y="3700463"/>
            <a:ext cx="844550" cy="600075"/>
            <a:chOff x="1160" y="2192"/>
            <a:chExt cx="589" cy="440"/>
          </a:xfrm>
        </p:grpSpPr>
        <p:pic>
          <p:nvPicPr>
            <p:cNvPr id="61488" name="Picture 48"/>
            <p:cNvPicPr>
              <a:picLocks noChangeAspect="1"/>
            </p:cNvPicPr>
            <p:nvPr/>
          </p:nvPicPr>
          <p:blipFill>
            <a:blip r:embed="rId7"/>
            <a:stretch>
              <a:fillRect/>
            </a:stretch>
          </p:blipFill>
          <p:spPr>
            <a:xfrm rot="-5400000">
              <a:off x="1346" y="2456"/>
              <a:ext cx="212" cy="135"/>
            </a:xfrm>
            <a:prstGeom prst="rect">
              <a:avLst/>
            </a:prstGeom>
            <a:noFill/>
            <a:ln w="9525">
              <a:noFill/>
            </a:ln>
          </p:spPr>
        </p:pic>
        <p:sp>
          <p:nvSpPr>
            <p:cNvPr id="61489" name="AutoShape 49"/>
            <p:cNvSpPr>
              <a:spLocks noChangeAspect="1" noTextEdit="1"/>
            </p:cNvSpPr>
            <p:nvPr/>
          </p:nvSpPr>
          <p:spPr>
            <a:xfrm>
              <a:off x="1160" y="2192"/>
              <a:ext cx="589" cy="220"/>
            </a:xfrm>
            <a:prstGeom prst="rect">
              <a:avLst/>
            </a:prstGeom>
            <a:noFill/>
            <a:ln w="9525">
              <a:noFill/>
            </a:ln>
          </p:spPr>
          <p:txBody>
            <a:bodyPr anchor="t" anchorCtr="0"/>
            <a:p>
              <a:pPr eaLnBrk="0" hangingPunct="0"/>
              <a:endParaRPr lang="zh-CN" altLang="en-US">
                <a:latin typeface="Comic Sans MS" panose="030F0702030302020204" pitchFamily="66" charset="0"/>
              </a:endParaRPr>
            </a:p>
          </p:txBody>
        </p:sp>
        <p:sp>
          <p:nvSpPr>
            <p:cNvPr id="61490" name="Freeform 50"/>
            <p:cNvSpPr/>
            <p:nvPr/>
          </p:nvSpPr>
          <p:spPr>
            <a:xfrm>
              <a:off x="1283" y="2231"/>
              <a:ext cx="83" cy="102"/>
            </a:xfrm>
            <a:custGeom>
              <a:avLst/>
              <a:gdLst/>
              <a:ahLst/>
              <a:cxnLst>
                <a:cxn ang="0">
                  <a:pos x="10" y="7"/>
                </a:cxn>
                <a:cxn ang="0">
                  <a:pos x="8" y="9"/>
                </a:cxn>
                <a:cxn ang="0">
                  <a:pos x="6" y="11"/>
                </a:cxn>
                <a:cxn ang="0">
                  <a:pos x="4" y="14"/>
                </a:cxn>
                <a:cxn ang="0">
                  <a:pos x="3" y="17"/>
                </a:cxn>
                <a:cxn ang="0">
                  <a:pos x="2" y="20"/>
                </a:cxn>
                <a:cxn ang="0">
                  <a:pos x="1" y="24"/>
                </a:cxn>
                <a:cxn ang="0">
                  <a:pos x="0" y="28"/>
                </a:cxn>
                <a:cxn ang="0">
                  <a:pos x="0" y="31"/>
                </a:cxn>
                <a:cxn ang="0">
                  <a:pos x="0" y="37"/>
                </a:cxn>
                <a:cxn ang="0">
                  <a:pos x="2" y="41"/>
                </a:cxn>
                <a:cxn ang="0">
                  <a:pos x="4" y="45"/>
                </a:cxn>
                <a:cxn ang="0">
                  <a:pos x="6" y="48"/>
                </a:cxn>
                <a:cxn ang="0">
                  <a:pos x="9" y="50"/>
                </a:cxn>
                <a:cxn ang="0">
                  <a:pos x="12" y="51"/>
                </a:cxn>
                <a:cxn ang="0">
                  <a:pos x="15" y="51"/>
                </a:cxn>
                <a:cxn ang="0">
                  <a:pos x="18" y="50"/>
                </a:cxn>
                <a:cxn ang="0">
                  <a:pos x="19" y="50"/>
                </a:cxn>
                <a:cxn ang="0">
                  <a:pos x="20" y="50"/>
                </a:cxn>
                <a:cxn ang="0">
                  <a:pos x="20" y="49"/>
                </a:cxn>
                <a:cxn ang="0">
                  <a:pos x="20" y="48"/>
                </a:cxn>
                <a:cxn ang="0">
                  <a:pos x="20" y="47"/>
                </a:cxn>
                <a:cxn ang="0">
                  <a:pos x="19" y="46"/>
                </a:cxn>
                <a:cxn ang="0">
                  <a:pos x="19" y="45"/>
                </a:cxn>
                <a:cxn ang="0">
                  <a:pos x="18" y="44"/>
                </a:cxn>
                <a:cxn ang="0">
                  <a:pos x="16" y="44"/>
                </a:cxn>
                <a:cxn ang="0">
                  <a:pos x="15" y="43"/>
                </a:cxn>
                <a:cxn ang="0">
                  <a:pos x="13" y="43"/>
                </a:cxn>
                <a:cxn ang="0">
                  <a:pos x="12" y="42"/>
                </a:cxn>
                <a:cxn ang="0">
                  <a:pos x="10" y="41"/>
                </a:cxn>
                <a:cxn ang="0">
                  <a:pos x="9" y="40"/>
                </a:cxn>
                <a:cxn ang="0">
                  <a:pos x="7" y="39"/>
                </a:cxn>
                <a:cxn ang="0">
                  <a:pos x="6" y="37"/>
                </a:cxn>
                <a:cxn ang="0">
                  <a:pos x="5" y="28"/>
                </a:cxn>
                <a:cxn ang="0">
                  <a:pos x="7" y="21"/>
                </a:cxn>
                <a:cxn ang="0">
                  <a:pos x="9" y="16"/>
                </a:cxn>
                <a:cxn ang="0">
                  <a:pos x="13" y="11"/>
                </a:cxn>
                <a:cxn ang="0">
                  <a:pos x="17" y="8"/>
                </a:cxn>
                <a:cxn ang="0">
                  <a:pos x="21" y="5"/>
                </a:cxn>
                <a:cxn ang="0">
                  <a:pos x="25" y="3"/>
                </a:cxn>
                <a:cxn ang="0">
                  <a:pos x="28" y="1"/>
                </a:cxn>
                <a:cxn ang="0">
                  <a:pos x="26" y="1"/>
                </a:cxn>
                <a:cxn ang="0">
                  <a:pos x="24" y="0"/>
                </a:cxn>
                <a:cxn ang="0">
                  <a:pos x="22" y="1"/>
                </a:cxn>
                <a:cxn ang="0">
                  <a:pos x="19" y="1"/>
                </a:cxn>
                <a:cxn ang="0">
                  <a:pos x="17" y="3"/>
                </a:cxn>
                <a:cxn ang="0">
                  <a:pos x="14" y="4"/>
                </a:cxn>
                <a:cxn ang="0">
                  <a:pos x="12" y="5"/>
                </a:cxn>
                <a:cxn ang="0">
                  <a:pos x="10" y="7"/>
                </a:cxn>
              </a:cxnLst>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w="9525">
              <a:noFill/>
            </a:ln>
          </p:spPr>
          <p:txBody>
            <a:bodyPr/>
            <a:p>
              <a:endParaRPr lang="zh-CN" altLang="en-US"/>
            </a:p>
          </p:txBody>
        </p:sp>
        <p:sp>
          <p:nvSpPr>
            <p:cNvPr id="61491" name="Freeform 51"/>
            <p:cNvSpPr/>
            <p:nvPr/>
          </p:nvSpPr>
          <p:spPr>
            <a:xfrm>
              <a:off x="1424" y="2230"/>
              <a:ext cx="52" cy="79"/>
            </a:xfrm>
            <a:custGeom>
              <a:avLst/>
              <a:gdLst/>
              <a:ahLst/>
              <a:cxnLst>
                <a:cxn ang="0">
                  <a:pos x="14" y="13"/>
                </a:cxn>
                <a:cxn ang="0">
                  <a:pos x="15" y="17"/>
                </a:cxn>
                <a:cxn ang="0">
                  <a:pos x="15" y="21"/>
                </a:cxn>
                <a:cxn ang="0">
                  <a:pos x="14" y="24"/>
                </a:cxn>
                <a:cxn ang="0">
                  <a:pos x="12" y="27"/>
                </a:cxn>
                <a:cxn ang="0">
                  <a:pos x="10" y="29"/>
                </a:cxn>
                <a:cxn ang="0">
                  <a:pos x="8" y="32"/>
                </a:cxn>
                <a:cxn ang="0">
                  <a:pos x="6" y="34"/>
                </a:cxn>
                <a:cxn ang="0">
                  <a:pos x="4" y="36"/>
                </a:cxn>
                <a:cxn ang="0">
                  <a:pos x="4" y="37"/>
                </a:cxn>
                <a:cxn ang="0">
                  <a:pos x="4" y="38"/>
                </a:cxn>
                <a:cxn ang="0">
                  <a:pos x="4" y="38"/>
                </a:cxn>
                <a:cxn ang="0">
                  <a:pos x="4" y="39"/>
                </a:cxn>
                <a:cxn ang="0">
                  <a:pos x="4" y="40"/>
                </a:cxn>
                <a:cxn ang="0">
                  <a:pos x="5" y="40"/>
                </a:cxn>
                <a:cxn ang="0">
                  <a:pos x="5" y="40"/>
                </a:cxn>
                <a:cxn ang="0">
                  <a:pos x="5" y="40"/>
                </a:cxn>
                <a:cxn ang="0">
                  <a:pos x="8" y="37"/>
                </a:cxn>
                <a:cxn ang="0">
                  <a:pos x="10" y="35"/>
                </a:cxn>
                <a:cxn ang="0">
                  <a:pos x="13" y="32"/>
                </a:cxn>
                <a:cxn ang="0">
                  <a:pos x="14" y="29"/>
                </a:cxn>
                <a:cxn ang="0">
                  <a:pos x="16" y="25"/>
                </a:cxn>
                <a:cxn ang="0">
                  <a:pos x="17" y="21"/>
                </a:cxn>
                <a:cxn ang="0">
                  <a:pos x="17" y="17"/>
                </a:cxn>
                <a:cxn ang="0">
                  <a:pos x="16" y="13"/>
                </a:cxn>
                <a:cxn ang="0">
                  <a:pos x="15" y="9"/>
                </a:cxn>
                <a:cxn ang="0">
                  <a:pos x="13" y="6"/>
                </a:cxn>
                <a:cxn ang="0">
                  <a:pos x="11" y="4"/>
                </a:cxn>
                <a:cxn ang="0">
                  <a:pos x="8" y="2"/>
                </a:cxn>
                <a:cxn ang="0">
                  <a:pos x="5" y="1"/>
                </a:cxn>
                <a:cxn ang="0">
                  <a:pos x="3" y="0"/>
                </a:cxn>
                <a:cxn ang="0">
                  <a:pos x="1" y="0"/>
                </a:cxn>
                <a:cxn ang="0">
                  <a:pos x="0" y="1"/>
                </a:cxn>
                <a:cxn ang="0">
                  <a:pos x="2" y="3"/>
                </a:cxn>
                <a:cxn ang="0">
                  <a:pos x="4" y="4"/>
                </a:cxn>
                <a:cxn ang="0">
                  <a:pos x="6" y="5"/>
                </a:cxn>
                <a:cxn ang="0">
                  <a:pos x="8" y="6"/>
                </a:cxn>
                <a:cxn ang="0">
                  <a:pos x="10" y="7"/>
                </a:cxn>
                <a:cxn ang="0">
                  <a:pos x="12" y="9"/>
                </a:cxn>
                <a:cxn ang="0">
                  <a:pos x="13" y="11"/>
                </a:cxn>
                <a:cxn ang="0">
                  <a:pos x="14" y="13"/>
                </a:cxn>
              </a:cxnLst>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w="9525">
              <a:noFill/>
            </a:ln>
          </p:spPr>
          <p:txBody>
            <a:bodyPr/>
            <a:p>
              <a:endParaRPr lang="zh-CN" altLang="en-US"/>
            </a:p>
          </p:txBody>
        </p:sp>
        <p:sp>
          <p:nvSpPr>
            <p:cNvPr id="61492" name="Freeform 52"/>
            <p:cNvSpPr/>
            <p:nvPr/>
          </p:nvSpPr>
          <p:spPr>
            <a:xfrm>
              <a:off x="1232" y="2211"/>
              <a:ext cx="133" cy="166"/>
            </a:xfrm>
            <a:custGeom>
              <a:avLst/>
              <a:gdLst/>
              <a:ahLst/>
              <a:cxnLst>
                <a:cxn ang="0">
                  <a:pos x="14" y="16"/>
                </a:cxn>
                <a:cxn ang="0">
                  <a:pos x="7" y="26"/>
                </a:cxn>
                <a:cxn ang="0">
                  <a:pos x="2" y="37"/>
                </a:cxn>
                <a:cxn ang="0">
                  <a:pos x="0" y="50"/>
                </a:cxn>
                <a:cxn ang="0">
                  <a:pos x="0" y="59"/>
                </a:cxn>
                <a:cxn ang="0">
                  <a:pos x="1" y="62"/>
                </a:cxn>
                <a:cxn ang="0">
                  <a:pos x="3" y="66"/>
                </a:cxn>
                <a:cxn ang="0">
                  <a:pos x="4" y="68"/>
                </a:cxn>
                <a:cxn ang="0">
                  <a:pos x="8" y="71"/>
                </a:cxn>
                <a:cxn ang="0">
                  <a:pos x="12" y="75"/>
                </a:cxn>
                <a:cxn ang="0">
                  <a:pos x="16" y="77"/>
                </a:cxn>
                <a:cxn ang="0">
                  <a:pos x="21" y="79"/>
                </a:cxn>
                <a:cxn ang="0">
                  <a:pos x="26" y="81"/>
                </a:cxn>
                <a:cxn ang="0">
                  <a:pos x="30" y="82"/>
                </a:cxn>
                <a:cxn ang="0">
                  <a:pos x="35" y="82"/>
                </a:cxn>
                <a:cxn ang="0">
                  <a:pos x="40" y="83"/>
                </a:cxn>
                <a:cxn ang="0">
                  <a:pos x="43" y="83"/>
                </a:cxn>
                <a:cxn ang="0">
                  <a:pos x="44" y="82"/>
                </a:cxn>
                <a:cxn ang="0">
                  <a:pos x="44" y="79"/>
                </a:cxn>
                <a:cxn ang="0">
                  <a:pos x="43" y="78"/>
                </a:cxn>
                <a:cxn ang="0">
                  <a:pos x="40" y="76"/>
                </a:cxn>
                <a:cxn ang="0">
                  <a:pos x="36" y="75"/>
                </a:cxn>
                <a:cxn ang="0">
                  <a:pos x="32" y="74"/>
                </a:cxn>
                <a:cxn ang="0">
                  <a:pos x="28" y="73"/>
                </a:cxn>
                <a:cxn ang="0">
                  <a:pos x="23" y="72"/>
                </a:cxn>
                <a:cxn ang="0">
                  <a:pos x="19" y="70"/>
                </a:cxn>
                <a:cxn ang="0">
                  <a:pos x="15" y="68"/>
                </a:cxn>
                <a:cxn ang="0">
                  <a:pos x="11" y="66"/>
                </a:cxn>
                <a:cxn ang="0">
                  <a:pos x="8" y="62"/>
                </a:cxn>
                <a:cxn ang="0">
                  <a:pos x="5" y="57"/>
                </a:cxn>
                <a:cxn ang="0">
                  <a:pos x="5" y="51"/>
                </a:cxn>
                <a:cxn ang="0">
                  <a:pos x="5" y="44"/>
                </a:cxn>
                <a:cxn ang="0">
                  <a:pos x="7" y="38"/>
                </a:cxn>
                <a:cxn ang="0">
                  <a:pos x="10" y="31"/>
                </a:cxn>
                <a:cxn ang="0">
                  <a:pos x="13" y="25"/>
                </a:cxn>
                <a:cxn ang="0">
                  <a:pos x="17" y="19"/>
                </a:cxn>
                <a:cxn ang="0">
                  <a:pos x="21" y="13"/>
                </a:cxn>
                <a:cxn ang="0">
                  <a:pos x="27" y="9"/>
                </a:cxn>
                <a:cxn ang="0">
                  <a:pos x="33" y="5"/>
                </a:cxn>
                <a:cxn ang="0">
                  <a:pos x="36" y="2"/>
                </a:cxn>
                <a:cxn ang="0">
                  <a:pos x="35" y="0"/>
                </a:cxn>
                <a:cxn ang="0">
                  <a:pos x="30" y="1"/>
                </a:cxn>
                <a:cxn ang="0">
                  <a:pos x="25" y="4"/>
                </a:cxn>
                <a:cxn ang="0">
                  <a:pos x="19" y="9"/>
                </a:cxn>
              </a:cxnLst>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w="9525">
              <a:noFill/>
            </a:ln>
          </p:spPr>
          <p:txBody>
            <a:bodyPr/>
            <a:p>
              <a:endParaRPr lang="zh-CN" altLang="en-US"/>
            </a:p>
          </p:txBody>
        </p:sp>
        <p:sp>
          <p:nvSpPr>
            <p:cNvPr id="61493" name="Freeform 53"/>
            <p:cNvSpPr/>
            <p:nvPr/>
          </p:nvSpPr>
          <p:spPr>
            <a:xfrm>
              <a:off x="1419" y="2206"/>
              <a:ext cx="116" cy="110"/>
            </a:xfrm>
            <a:custGeom>
              <a:avLst/>
              <a:gdLst/>
              <a:ahLst/>
              <a:cxnLst>
                <a:cxn ang="0">
                  <a:pos x="32" y="17"/>
                </a:cxn>
                <a:cxn ang="0">
                  <a:pos x="33" y="20"/>
                </a:cxn>
                <a:cxn ang="0">
                  <a:pos x="35" y="23"/>
                </a:cxn>
                <a:cxn ang="0">
                  <a:pos x="35" y="27"/>
                </a:cxn>
                <a:cxn ang="0">
                  <a:pos x="35" y="31"/>
                </a:cxn>
                <a:cxn ang="0">
                  <a:pos x="35" y="34"/>
                </a:cxn>
                <a:cxn ang="0">
                  <a:pos x="34" y="37"/>
                </a:cxn>
                <a:cxn ang="0">
                  <a:pos x="33" y="40"/>
                </a:cxn>
                <a:cxn ang="0">
                  <a:pos x="32" y="42"/>
                </a:cxn>
                <a:cxn ang="0">
                  <a:pos x="30"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1" y="51"/>
                </a:cxn>
                <a:cxn ang="0">
                  <a:pos x="34" y="46"/>
                </a:cxn>
                <a:cxn ang="0">
                  <a:pos x="36" y="42"/>
                </a:cxn>
                <a:cxn ang="0">
                  <a:pos x="38" y="36"/>
                </a:cxn>
                <a:cxn ang="0">
                  <a:pos x="38" y="31"/>
                </a:cxn>
                <a:cxn ang="0">
                  <a:pos x="38" y="25"/>
                </a:cxn>
                <a:cxn ang="0">
                  <a:pos x="37" y="20"/>
                </a:cxn>
                <a:cxn ang="0">
                  <a:pos x="34" y="15"/>
                </a:cxn>
                <a:cxn ang="0">
                  <a:pos x="32" y="12"/>
                </a:cxn>
                <a:cxn ang="0">
                  <a:pos x="30" y="10"/>
                </a:cxn>
                <a:cxn ang="0">
                  <a:pos x="28" y="8"/>
                </a:cxn>
                <a:cxn ang="0">
                  <a:pos x="25" y="6"/>
                </a:cxn>
                <a:cxn ang="0">
                  <a:pos x="22" y="5"/>
                </a:cxn>
                <a:cxn ang="0">
                  <a:pos x="20" y="3"/>
                </a:cxn>
                <a:cxn ang="0">
                  <a:pos x="17" y="2"/>
                </a:cxn>
                <a:cxn ang="0">
                  <a:pos x="14" y="1"/>
                </a:cxn>
                <a:cxn ang="0">
                  <a:pos x="11" y="1"/>
                </a:cxn>
                <a:cxn ang="0">
                  <a:pos x="9" y="0"/>
                </a:cxn>
                <a:cxn ang="0">
                  <a:pos x="7" y="0"/>
                </a:cxn>
                <a:cxn ang="0">
                  <a:pos x="5" y="0"/>
                </a:cxn>
                <a:cxn ang="0">
                  <a:pos x="3" y="0"/>
                </a:cxn>
                <a:cxn ang="0">
                  <a:pos x="1" y="0"/>
                </a:cxn>
                <a:cxn ang="0">
                  <a:pos x="0" y="0"/>
                </a:cxn>
                <a:cxn ang="0">
                  <a:pos x="0" y="1"/>
                </a:cxn>
                <a:cxn ang="0">
                  <a:pos x="2" y="1"/>
                </a:cxn>
                <a:cxn ang="0">
                  <a:pos x="3" y="1"/>
                </a:cxn>
                <a:cxn ang="0">
                  <a:pos x="5" y="2"/>
                </a:cxn>
                <a:cxn ang="0">
                  <a:pos x="7" y="2"/>
                </a:cxn>
                <a:cxn ang="0">
                  <a:pos x="9" y="3"/>
                </a:cxn>
                <a:cxn ang="0">
                  <a:pos x="11" y="4"/>
                </a:cxn>
                <a:cxn ang="0">
                  <a:pos x="13" y="4"/>
                </a:cxn>
                <a:cxn ang="0">
                  <a:pos x="16" y="5"/>
                </a:cxn>
                <a:cxn ang="0">
                  <a:pos x="18" y="6"/>
                </a:cxn>
                <a:cxn ang="0">
                  <a:pos x="20" y="7"/>
                </a:cxn>
                <a:cxn ang="0">
                  <a:pos x="22" y="8"/>
                </a:cxn>
                <a:cxn ang="0">
                  <a:pos x="24" y="9"/>
                </a:cxn>
                <a:cxn ang="0">
                  <a:pos x="26" y="11"/>
                </a:cxn>
                <a:cxn ang="0">
                  <a:pos x="28" y="13"/>
                </a:cxn>
                <a:cxn ang="0">
                  <a:pos x="30" y="15"/>
                </a:cxn>
                <a:cxn ang="0">
                  <a:pos x="32" y="17"/>
                </a:cxn>
              </a:cxnLst>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w="9525">
              <a:noFill/>
            </a:ln>
          </p:spPr>
          <p:txBody>
            <a:bodyPr/>
            <a:p>
              <a:endParaRPr lang="zh-CN" altLang="en-US"/>
            </a:p>
          </p:txBody>
        </p:sp>
        <p:sp>
          <p:nvSpPr>
            <p:cNvPr id="61494" name="Freeform 54"/>
            <p:cNvSpPr/>
            <p:nvPr/>
          </p:nvSpPr>
          <p:spPr>
            <a:xfrm>
              <a:off x="1181" y="2256"/>
              <a:ext cx="48" cy="105"/>
            </a:xfrm>
            <a:custGeom>
              <a:avLst/>
              <a:gdLst/>
              <a:ahLst/>
              <a:cxnLst>
                <a:cxn ang="0">
                  <a:pos x="0" y="29"/>
                </a:cxn>
                <a:cxn ang="0">
                  <a:pos x="0" y="33"/>
                </a:cxn>
                <a:cxn ang="0">
                  <a:pos x="1" y="37"/>
                </a:cxn>
                <a:cxn ang="0">
                  <a:pos x="2" y="41"/>
                </a:cxn>
                <a:cxn ang="0">
                  <a:pos x="3" y="44"/>
                </a:cxn>
                <a:cxn ang="0">
                  <a:pos x="5" y="47"/>
                </a:cxn>
                <a:cxn ang="0">
                  <a:pos x="8" y="50"/>
                </a:cxn>
                <a:cxn ang="0">
                  <a:pos x="10" y="51"/>
                </a:cxn>
                <a:cxn ang="0">
                  <a:pos x="13" y="53"/>
                </a:cxn>
                <a:cxn ang="0">
                  <a:pos x="14" y="53"/>
                </a:cxn>
                <a:cxn ang="0">
                  <a:pos x="15" y="53"/>
                </a:cxn>
                <a:cxn ang="0">
                  <a:pos x="16" y="51"/>
                </a:cxn>
                <a:cxn ang="0">
                  <a:pos x="16" y="50"/>
                </a:cxn>
                <a:cxn ang="0">
                  <a:pos x="16" y="49"/>
                </a:cxn>
                <a:cxn ang="0">
                  <a:pos x="16" y="48"/>
                </a:cxn>
                <a:cxn ang="0">
                  <a:pos x="15" y="47"/>
                </a:cxn>
                <a:cxn ang="0">
                  <a:pos x="14" y="46"/>
                </a:cxn>
                <a:cxn ang="0">
                  <a:pos x="11" y="45"/>
                </a:cxn>
                <a:cxn ang="0">
                  <a:pos x="9" y="43"/>
                </a:cxn>
                <a:cxn ang="0">
                  <a:pos x="7" y="40"/>
                </a:cxn>
                <a:cxn ang="0">
                  <a:pos x="6" y="37"/>
                </a:cxn>
                <a:cxn ang="0">
                  <a:pos x="5" y="33"/>
                </a:cxn>
                <a:cxn ang="0">
                  <a:pos x="4" y="29"/>
                </a:cxn>
                <a:cxn ang="0">
                  <a:pos x="4" y="25"/>
                </a:cxn>
                <a:cxn ang="0">
                  <a:pos x="5" y="20"/>
                </a:cxn>
                <a:cxn ang="0">
                  <a:pos x="6" y="17"/>
                </a:cxn>
                <a:cxn ang="0">
                  <a:pos x="7" y="14"/>
                </a:cxn>
                <a:cxn ang="0">
                  <a:pos x="9" y="11"/>
                </a:cxn>
                <a:cxn ang="0">
                  <a:pos x="10" y="9"/>
                </a:cxn>
                <a:cxn ang="0">
                  <a:pos x="12" y="6"/>
                </a:cxn>
                <a:cxn ang="0">
                  <a:pos x="14" y="4"/>
                </a:cxn>
                <a:cxn ang="0">
                  <a:pos x="15" y="2"/>
                </a:cxn>
                <a:cxn ang="0">
                  <a:pos x="16" y="1"/>
                </a:cxn>
                <a:cxn ang="0">
                  <a:pos x="15" y="0"/>
                </a:cxn>
                <a:cxn ang="0">
                  <a:pos x="13" y="2"/>
                </a:cxn>
                <a:cxn ang="0">
                  <a:pos x="11" y="4"/>
                </a:cxn>
                <a:cxn ang="0">
                  <a:pos x="8" y="8"/>
                </a:cxn>
                <a:cxn ang="0">
                  <a:pos x="5" y="13"/>
                </a:cxn>
                <a:cxn ang="0">
                  <a:pos x="3" y="18"/>
                </a:cxn>
                <a:cxn ang="0">
                  <a:pos x="1" y="23"/>
                </a:cxn>
                <a:cxn ang="0">
                  <a:pos x="0" y="29"/>
                </a:cxn>
              </a:cxnLst>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w="9525">
              <a:noFill/>
            </a:ln>
          </p:spPr>
          <p:txBody>
            <a:bodyPr/>
            <a:p>
              <a:endParaRPr lang="zh-CN" altLang="en-US"/>
            </a:p>
          </p:txBody>
        </p:sp>
        <p:sp>
          <p:nvSpPr>
            <p:cNvPr id="61495" name="Freeform 55"/>
            <p:cNvSpPr/>
            <p:nvPr/>
          </p:nvSpPr>
          <p:spPr>
            <a:xfrm>
              <a:off x="1515" y="2198"/>
              <a:ext cx="101" cy="136"/>
            </a:xfrm>
            <a:custGeom>
              <a:avLst/>
              <a:gdLst/>
              <a:ahLst/>
              <a:cxnLst>
                <a:cxn ang="0">
                  <a:pos x="28" y="28"/>
                </a:cxn>
                <a:cxn ang="0">
                  <a:pos x="30" y="32"/>
                </a:cxn>
                <a:cxn ang="0">
                  <a:pos x="31" y="36"/>
                </a:cxn>
                <a:cxn ang="0">
                  <a:pos x="30" y="41"/>
                </a:cxn>
                <a:cxn ang="0">
                  <a:pos x="29" y="46"/>
                </a:cxn>
                <a:cxn ang="0">
                  <a:pos x="26" y="50"/>
                </a:cxn>
                <a:cxn ang="0">
                  <a:pos x="23" y="54"/>
                </a:cxn>
                <a:cxn ang="0">
                  <a:pos x="20" y="58"/>
                </a:cxn>
                <a:cxn ang="0">
                  <a:pos x="18" y="61"/>
                </a:cxn>
                <a:cxn ang="0">
                  <a:pos x="17" y="63"/>
                </a:cxn>
                <a:cxn ang="0">
                  <a:pos x="17" y="65"/>
                </a:cxn>
                <a:cxn ang="0">
                  <a:pos x="17" y="67"/>
                </a:cxn>
                <a:cxn ang="0">
                  <a:pos x="18" y="68"/>
                </a:cxn>
                <a:cxn ang="0">
                  <a:pos x="19" y="68"/>
                </a:cxn>
                <a:cxn ang="0">
                  <a:pos x="21" y="65"/>
                </a:cxn>
                <a:cxn ang="0">
                  <a:pos x="25" y="59"/>
                </a:cxn>
                <a:cxn ang="0">
                  <a:pos x="28" y="54"/>
                </a:cxn>
                <a:cxn ang="0">
                  <a:pos x="32" y="48"/>
                </a:cxn>
                <a:cxn ang="0">
                  <a:pos x="34" y="41"/>
                </a:cxn>
                <a:cxn ang="0">
                  <a:pos x="33" y="34"/>
                </a:cxn>
                <a:cxn ang="0">
                  <a:pos x="31" y="27"/>
                </a:cxn>
                <a:cxn ang="0">
                  <a:pos x="28" y="21"/>
                </a:cxn>
                <a:cxn ang="0">
                  <a:pos x="24" y="17"/>
                </a:cxn>
                <a:cxn ang="0">
                  <a:pos x="21" y="13"/>
                </a:cxn>
                <a:cxn ang="0">
                  <a:pos x="17" y="10"/>
                </a:cxn>
                <a:cxn ang="0">
                  <a:pos x="14" y="7"/>
                </a:cxn>
                <a:cxn ang="0">
                  <a:pos x="10" y="4"/>
                </a:cxn>
                <a:cxn ang="0">
                  <a:pos x="6" y="2"/>
                </a:cxn>
                <a:cxn ang="0">
                  <a:pos x="3" y="1"/>
                </a:cxn>
                <a:cxn ang="0">
                  <a:pos x="1" y="1"/>
                </a:cxn>
                <a:cxn ang="0">
                  <a:pos x="1" y="2"/>
                </a:cxn>
                <a:cxn ang="0">
                  <a:pos x="4" y="3"/>
                </a:cxn>
                <a:cxn ang="0">
                  <a:pos x="7" y="6"/>
                </a:cxn>
                <a:cxn ang="0">
                  <a:pos x="11" y="8"/>
                </a:cxn>
                <a:cxn ang="0">
                  <a:pos x="15" y="12"/>
                </a:cxn>
                <a:cxn ang="0">
                  <a:pos x="18" y="15"/>
                </a:cxn>
                <a:cxn ang="0">
                  <a:pos x="22" y="20"/>
                </a:cxn>
                <a:cxn ang="0">
                  <a:pos x="26" y="24"/>
                </a:cxn>
              </a:cxnLst>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w="9525">
              <a:noFill/>
            </a:ln>
          </p:spPr>
          <p:txBody>
            <a:bodyPr/>
            <a:p>
              <a:endParaRPr lang="zh-CN" altLang="en-US"/>
            </a:p>
          </p:txBody>
        </p:sp>
        <p:sp>
          <p:nvSpPr>
            <p:cNvPr id="61496" name="Freeform 56"/>
            <p:cNvSpPr/>
            <p:nvPr/>
          </p:nvSpPr>
          <p:spPr>
            <a:xfrm>
              <a:off x="1403" y="2357"/>
              <a:ext cx="34" cy="82"/>
            </a:xfrm>
            <a:custGeom>
              <a:avLst/>
              <a:gdLst/>
              <a:ahLst/>
              <a:cxnLst>
                <a:cxn ang="0">
                  <a:pos x="4" y="3"/>
                </a:cxn>
                <a:cxn ang="0">
                  <a:pos x="4" y="2"/>
                </a:cxn>
                <a:cxn ang="0">
                  <a:pos x="4" y="1"/>
                </a:cxn>
                <a:cxn ang="0">
                  <a:pos x="3" y="1"/>
                </a:cxn>
                <a:cxn ang="0">
                  <a:pos x="2" y="0"/>
                </a:cxn>
                <a:cxn ang="0">
                  <a:pos x="1" y="1"/>
                </a:cxn>
                <a:cxn ang="0">
                  <a:pos x="1" y="2"/>
                </a:cxn>
                <a:cxn ang="0">
                  <a:pos x="0" y="3"/>
                </a:cxn>
                <a:cxn ang="0">
                  <a:pos x="0" y="4"/>
                </a:cxn>
                <a:cxn ang="0">
                  <a:pos x="1" y="10"/>
                </a:cxn>
                <a:cxn ang="0">
                  <a:pos x="2" y="16"/>
                </a:cxn>
                <a:cxn ang="0">
                  <a:pos x="4" y="22"/>
                </a:cxn>
                <a:cxn ang="0">
                  <a:pos x="6" y="28"/>
                </a:cxn>
                <a:cxn ang="0">
                  <a:pos x="7" y="34"/>
                </a:cxn>
                <a:cxn ang="0">
                  <a:pos x="9" y="38"/>
                </a:cxn>
                <a:cxn ang="0">
                  <a:pos x="11" y="41"/>
                </a:cxn>
                <a:cxn ang="0">
                  <a:pos x="11" y="41"/>
                </a:cxn>
                <a:cxn ang="0">
                  <a:pos x="11" y="39"/>
                </a:cxn>
                <a:cxn ang="0">
                  <a:pos x="10" y="35"/>
                </a:cxn>
                <a:cxn ang="0">
                  <a:pos x="9" y="31"/>
                </a:cxn>
                <a:cxn ang="0">
                  <a:pos x="8" y="25"/>
                </a:cxn>
                <a:cxn ang="0">
                  <a:pos x="7" y="20"/>
                </a:cxn>
                <a:cxn ang="0">
                  <a:pos x="6" y="14"/>
                </a:cxn>
                <a:cxn ang="0">
                  <a:pos x="5" y="9"/>
                </a:cxn>
                <a:cxn ang="0">
                  <a:pos x="4" y="3"/>
                </a:cxn>
              </a:cxnLst>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w="9525">
              <a:noFill/>
            </a:ln>
          </p:spPr>
          <p:txBody>
            <a:bodyPr/>
            <a:p>
              <a:endParaRPr lang="zh-CN" altLang="en-US"/>
            </a:p>
          </p:txBody>
        </p:sp>
        <p:sp>
          <p:nvSpPr>
            <p:cNvPr id="61497" name="Freeform 57"/>
            <p:cNvSpPr/>
            <p:nvPr/>
          </p:nvSpPr>
          <p:spPr>
            <a:xfrm>
              <a:off x="1388" y="2313"/>
              <a:ext cx="18" cy="42"/>
            </a:xfrm>
            <a:custGeom>
              <a:avLst/>
              <a:gdLst/>
              <a:ahLst/>
              <a:cxnLst>
                <a:cxn ang="0">
                  <a:pos x="3" y="3"/>
                </a:cxn>
                <a:cxn ang="0">
                  <a:pos x="3" y="2"/>
                </a:cxn>
                <a:cxn ang="0">
                  <a:pos x="2" y="1"/>
                </a:cxn>
                <a:cxn ang="0">
                  <a:pos x="2" y="0"/>
                </a:cxn>
                <a:cxn ang="0">
                  <a:pos x="1" y="0"/>
                </a:cxn>
                <a:cxn ang="0">
                  <a:pos x="1" y="1"/>
                </a:cxn>
                <a:cxn ang="0">
                  <a:pos x="0" y="1"/>
                </a:cxn>
                <a:cxn ang="0">
                  <a:pos x="0" y="2"/>
                </a:cxn>
                <a:cxn ang="0">
                  <a:pos x="0" y="3"/>
                </a:cxn>
                <a:cxn ang="0">
                  <a:pos x="0" y="6"/>
                </a:cxn>
                <a:cxn ang="0">
                  <a:pos x="1" y="9"/>
                </a:cxn>
                <a:cxn ang="0">
                  <a:pos x="1" y="12"/>
                </a:cxn>
                <a:cxn ang="0">
                  <a:pos x="2" y="15"/>
                </a:cxn>
                <a:cxn ang="0">
                  <a:pos x="3" y="18"/>
                </a:cxn>
                <a:cxn ang="0">
                  <a:pos x="4" y="20"/>
                </a:cxn>
                <a:cxn ang="0">
                  <a:pos x="5" y="21"/>
                </a:cxn>
                <a:cxn ang="0">
                  <a:pos x="6" y="22"/>
                </a:cxn>
                <a:cxn ang="0">
                  <a:pos x="6" y="17"/>
                </a:cxn>
                <a:cxn ang="0">
                  <a:pos x="5" y="12"/>
                </a:cxn>
                <a:cxn ang="0">
                  <a:pos x="4" y="7"/>
                </a:cxn>
                <a:cxn ang="0">
                  <a:pos x="3" y="3"/>
                </a:cxn>
              </a:cxnLst>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w="9525">
              <a:noFill/>
            </a:ln>
          </p:spPr>
          <p:txBody>
            <a:bodyPr/>
            <a:p>
              <a:endParaRPr lang="zh-CN" altLang="en-US"/>
            </a:p>
          </p:txBody>
        </p:sp>
        <p:sp>
          <p:nvSpPr>
            <p:cNvPr id="61498" name="Freeform 58"/>
            <p:cNvSpPr/>
            <p:nvPr/>
          </p:nvSpPr>
          <p:spPr>
            <a:xfrm>
              <a:off x="1373" y="2283"/>
              <a:ext cx="16" cy="24"/>
            </a:xfrm>
            <a:custGeom>
              <a:avLst/>
              <a:gdLst/>
              <a:ahLst/>
              <a:cxnLst>
                <a:cxn ang="0">
                  <a:pos x="3" y="2"/>
                </a:cxn>
                <a:cxn ang="0">
                  <a:pos x="3" y="2"/>
                </a:cxn>
                <a:cxn ang="0">
                  <a:pos x="3" y="2"/>
                </a:cxn>
                <a:cxn ang="0">
                  <a:pos x="3" y="2"/>
                </a:cxn>
                <a:cxn ang="0">
                  <a:pos x="3" y="2"/>
                </a:cxn>
                <a:cxn ang="0">
                  <a:pos x="3" y="1"/>
                </a:cxn>
                <a:cxn ang="0">
                  <a:pos x="2" y="1"/>
                </a:cxn>
                <a:cxn ang="0">
                  <a:pos x="2" y="0"/>
                </a:cxn>
                <a:cxn ang="0">
                  <a:pos x="1" y="0"/>
                </a:cxn>
                <a:cxn ang="0">
                  <a:pos x="0" y="1"/>
                </a:cxn>
                <a:cxn ang="0">
                  <a:pos x="0" y="1"/>
                </a:cxn>
                <a:cxn ang="0">
                  <a:pos x="0" y="2"/>
                </a:cxn>
                <a:cxn ang="0">
                  <a:pos x="0" y="3"/>
                </a:cxn>
                <a:cxn ang="0">
                  <a:pos x="0" y="4"/>
                </a:cxn>
                <a:cxn ang="0">
                  <a:pos x="0" y="6"/>
                </a:cxn>
                <a:cxn ang="0">
                  <a:pos x="1" y="7"/>
                </a:cxn>
                <a:cxn ang="0">
                  <a:pos x="2" y="9"/>
                </a:cxn>
                <a:cxn ang="0">
                  <a:pos x="3" y="10"/>
                </a:cxn>
                <a:cxn ang="0">
                  <a:pos x="4" y="11"/>
                </a:cxn>
                <a:cxn ang="0">
                  <a:pos x="5" y="12"/>
                </a:cxn>
                <a:cxn ang="0">
                  <a:pos x="6" y="12"/>
                </a:cxn>
                <a:cxn ang="0">
                  <a:pos x="6" y="10"/>
                </a:cxn>
                <a:cxn ang="0">
                  <a:pos x="5" y="7"/>
                </a:cxn>
                <a:cxn ang="0">
                  <a:pos x="3" y="4"/>
                </a:cxn>
                <a:cxn ang="0">
                  <a:pos x="3" y="2"/>
                </a:cxn>
              </a:cxnLst>
              <a:pathLst>
                <a:path w="46" h="47">
                  <a:moveTo>
                    <a:pt x="24" y="6"/>
                  </a:move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w="9525">
              <a:noFill/>
            </a:ln>
          </p:spPr>
          <p:txBody>
            <a:bodyPr/>
            <a:p>
              <a:endParaRPr lang="zh-CN" altLang="en-US"/>
            </a:p>
          </p:txBody>
        </p:sp>
        <p:sp>
          <p:nvSpPr>
            <p:cNvPr id="61499" name="Freeform 59"/>
            <p:cNvSpPr/>
            <p:nvPr/>
          </p:nvSpPr>
          <p:spPr>
            <a:xfrm>
              <a:off x="1360" y="2263"/>
              <a:ext cx="21" cy="16"/>
            </a:xfrm>
            <a:custGeom>
              <a:avLst/>
              <a:gdLst/>
              <a:ahLst/>
              <a:cxnLst>
                <a:cxn ang="0">
                  <a:pos x="6" y="6"/>
                </a:cxn>
                <a:cxn ang="0">
                  <a:pos x="6" y="6"/>
                </a:cxn>
                <a:cxn ang="0">
                  <a:pos x="7" y="5"/>
                </a:cxn>
                <a:cxn ang="0">
                  <a:pos x="7" y="4"/>
                </a:cxn>
                <a:cxn ang="0">
                  <a:pos x="7" y="3"/>
                </a:cxn>
                <a:cxn ang="0">
                  <a:pos x="7" y="2"/>
                </a:cxn>
                <a:cxn ang="0">
                  <a:pos x="6" y="1"/>
                </a:cxn>
                <a:cxn ang="0">
                  <a:pos x="6" y="0"/>
                </a:cxn>
                <a:cxn ang="0">
                  <a:pos x="5" y="0"/>
                </a:cxn>
                <a:cxn ang="0">
                  <a:pos x="4" y="0"/>
                </a:cxn>
                <a:cxn ang="0">
                  <a:pos x="4" y="1"/>
                </a:cxn>
                <a:cxn ang="0">
                  <a:pos x="3" y="1"/>
                </a:cxn>
                <a:cxn ang="0">
                  <a:pos x="2" y="2"/>
                </a:cxn>
                <a:cxn ang="0">
                  <a:pos x="1" y="4"/>
                </a:cxn>
                <a:cxn ang="0">
                  <a:pos x="0" y="5"/>
                </a:cxn>
                <a:cxn ang="0">
                  <a:pos x="0" y="7"/>
                </a:cxn>
                <a:cxn ang="0">
                  <a:pos x="0" y="7"/>
                </a:cxn>
                <a:cxn ang="0">
                  <a:pos x="0" y="8"/>
                </a:cxn>
                <a:cxn ang="0">
                  <a:pos x="1" y="8"/>
                </a:cxn>
                <a:cxn ang="0">
                  <a:pos x="2" y="8"/>
                </a:cxn>
                <a:cxn ang="0">
                  <a:pos x="2" y="8"/>
                </a:cxn>
                <a:cxn ang="0">
                  <a:pos x="3" y="8"/>
                </a:cxn>
                <a:cxn ang="0">
                  <a:pos x="4" y="7"/>
                </a:cxn>
                <a:cxn ang="0">
                  <a:pos x="5" y="7"/>
                </a:cxn>
                <a:cxn ang="0">
                  <a:pos x="6" y="6"/>
                </a:cxn>
              </a:cxnLst>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w="9525">
              <a:noFill/>
            </a:ln>
          </p:spPr>
          <p:txBody>
            <a:bodyPr/>
            <a:p>
              <a:endParaRPr lang="zh-CN" altLang="en-US"/>
            </a:p>
          </p:txBody>
        </p:sp>
        <p:sp>
          <p:nvSpPr>
            <p:cNvPr id="61500" name="Freeform 60"/>
            <p:cNvSpPr/>
            <p:nvPr/>
          </p:nvSpPr>
          <p:spPr>
            <a:xfrm>
              <a:off x="1261" y="2237"/>
              <a:ext cx="81" cy="103"/>
            </a:xfrm>
            <a:custGeom>
              <a:avLst/>
              <a:gdLst/>
              <a:ahLst/>
              <a:cxnLst>
                <a:cxn ang="0">
                  <a:pos x="10" y="8"/>
                </a:cxn>
                <a:cxn ang="0">
                  <a:pos x="8" y="10"/>
                </a:cxn>
                <a:cxn ang="0">
                  <a:pos x="6" y="13"/>
                </a:cxn>
                <a:cxn ang="0">
                  <a:pos x="4" y="16"/>
                </a:cxn>
                <a:cxn ang="0">
                  <a:pos x="3" y="19"/>
                </a:cxn>
                <a:cxn ang="0">
                  <a:pos x="2" y="22"/>
                </a:cxn>
                <a:cxn ang="0">
                  <a:pos x="1" y="25"/>
                </a:cxn>
                <a:cxn ang="0">
                  <a:pos x="0" y="29"/>
                </a:cxn>
                <a:cxn ang="0">
                  <a:pos x="0" y="32"/>
                </a:cxn>
                <a:cxn ang="0">
                  <a:pos x="0" y="38"/>
                </a:cxn>
                <a:cxn ang="0">
                  <a:pos x="2" y="42"/>
                </a:cxn>
                <a:cxn ang="0">
                  <a:pos x="4" y="46"/>
                </a:cxn>
                <a:cxn ang="0">
                  <a:pos x="6" y="48"/>
                </a:cxn>
                <a:cxn ang="0">
                  <a:pos x="9" y="50"/>
                </a:cxn>
                <a:cxn ang="0">
                  <a:pos x="12" y="52"/>
                </a:cxn>
                <a:cxn ang="0">
                  <a:pos x="15" y="52"/>
                </a:cxn>
                <a:cxn ang="0">
                  <a:pos x="18" y="51"/>
                </a:cxn>
                <a:cxn ang="0">
                  <a:pos x="19" y="51"/>
                </a:cxn>
                <a:cxn ang="0">
                  <a:pos x="19" y="51"/>
                </a:cxn>
                <a:cxn ang="0">
                  <a:pos x="20" y="50"/>
                </a:cxn>
                <a:cxn ang="0">
                  <a:pos x="20" y="49"/>
                </a:cxn>
                <a:cxn ang="0">
                  <a:pos x="20" y="48"/>
                </a:cxn>
                <a:cxn ang="0">
                  <a:pos x="19" y="48"/>
                </a:cxn>
                <a:cxn ang="0">
                  <a:pos x="19" y="48"/>
                </a:cxn>
                <a:cxn ang="0">
                  <a:pos x="18" y="48"/>
                </a:cxn>
                <a:cxn ang="0">
                  <a:pos x="17" y="48"/>
                </a:cxn>
                <a:cxn ang="0">
                  <a:pos x="16" y="48"/>
                </a:cxn>
                <a:cxn ang="0">
                  <a:pos x="15" y="48"/>
                </a:cxn>
                <a:cxn ang="0">
                  <a:pos x="15" y="48"/>
                </a:cxn>
                <a:cxn ang="0">
                  <a:pos x="13" y="48"/>
                </a:cxn>
                <a:cxn ang="0">
                  <a:pos x="12" y="47"/>
                </a:cxn>
                <a:cxn ang="0">
                  <a:pos x="10" y="47"/>
                </a:cxn>
                <a:cxn ang="0">
                  <a:pos x="9" y="46"/>
                </a:cxn>
                <a:cxn ang="0">
                  <a:pos x="7" y="46"/>
                </a:cxn>
                <a:cxn ang="0">
                  <a:pos x="5" y="44"/>
                </a:cxn>
                <a:cxn ang="0">
                  <a:pos x="4" y="42"/>
                </a:cxn>
                <a:cxn ang="0">
                  <a:pos x="2" y="38"/>
                </a:cxn>
                <a:cxn ang="0">
                  <a:pos x="2" y="34"/>
                </a:cxn>
                <a:cxn ang="0">
                  <a:pos x="2" y="31"/>
                </a:cxn>
                <a:cxn ang="0">
                  <a:pos x="3" y="27"/>
                </a:cxn>
                <a:cxn ang="0">
                  <a:pos x="4" y="24"/>
                </a:cxn>
                <a:cxn ang="0">
                  <a:pos x="5" y="21"/>
                </a:cxn>
                <a:cxn ang="0">
                  <a:pos x="7" y="18"/>
                </a:cxn>
                <a:cxn ang="0">
                  <a:pos x="9" y="16"/>
                </a:cxn>
                <a:cxn ang="0">
                  <a:pos x="11" y="13"/>
                </a:cxn>
                <a:cxn ang="0">
                  <a:pos x="13" y="11"/>
                </a:cxn>
                <a:cxn ang="0">
                  <a:pos x="15" y="9"/>
                </a:cxn>
                <a:cxn ang="0">
                  <a:pos x="17" y="7"/>
                </a:cxn>
                <a:cxn ang="0">
                  <a:pos x="19" y="6"/>
                </a:cxn>
                <a:cxn ang="0">
                  <a:pos x="21" y="4"/>
                </a:cxn>
                <a:cxn ang="0">
                  <a:pos x="23" y="3"/>
                </a:cxn>
                <a:cxn ang="0">
                  <a:pos x="25" y="2"/>
                </a:cxn>
                <a:cxn ang="0">
                  <a:pos x="27" y="2"/>
                </a:cxn>
                <a:cxn ang="0">
                  <a:pos x="26" y="1"/>
                </a:cxn>
                <a:cxn ang="0">
                  <a:pos x="24" y="0"/>
                </a:cxn>
                <a:cxn ang="0">
                  <a:pos x="22" y="1"/>
                </a:cxn>
                <a:cxn ang="0">
                  <a:pos x="20" y="2"/>
                </a:cxn>
                <a:cxn ang="0">
                  <a:pos x="17" y="3"/>
                </a:cxn>
                <a:cxn ang="0">
                  <a:pos x="14" y="4"/>
                </a:cxn>
                <a:cxn ang="0">
                  <a:pos x="12" y="6"/>
                </a:cxn>
                <a:cxn ang="0">
                  <a:pos x="10" y="8"/>
                </a:cxn>
              </a:cxnLst>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w="9525">
              <a:noFill/>
            </a:ln>
          </p:spPr>
          <p:txBody>
            <a:bodyPr/>
            <a:p>
              <a:endParaRPr lang="zh-CN" altLang="en-US"/>
            </a:p>
          </p:txBody>
        </p:sp>
        <p:sp>
          <p:nvSpPr>
            <p:cNvPr id="61501" name="Freeform 61"/>
            <p:cNvSpPr/>
            <p:nvPr/>
          </p:nvSpPr>
          <p:spPr>
            <a:xfrm>
              <a:off x="1401" y="2236"/>
              <a:ext cx="53" cy="80"/>
            </a:xfrm>
            <a:custGeom>
              <a:avLst/>
              <a:gdLst/>
              <a:ahLst/>
              <a:cxnLst>
                <a:cxn ang="0">
                  <a:pos x="15" y="14"/>
                </a:cxn>
                <a:cxn ang="0">
                  <a:pos x="15" y="18"/>
                </a:cxn>
                <a:cxn ang="0">
                  <a:pos x="15" y="21"/>
                </a:cxn>
                <a:cxn ang="0">
                  <a:pos x="14" y="24"/>
                </a:cxn>
                <a:cxn ang="0">
                  <a:pos x="12" y="27"/>
                </a:cxn>
                <a:cxn ang="0">
                  <a:pos x="10" y="30"/>
                </a:cxn>
                <a:cxn ang="0">
                  <a:pos x="8" y="32"/>
                </a:cxn>
                <a:cxn ang="0">
                  <a:pos x="6" y="34"/>
                </a:cxn>
                <a:cxn ang="0">
                  <a:pos x="4" y="37"/>
                </a:cxn>
                <a:cxn ang="0">
                  <a:pos x="4" y="38"/>
                </a:cxn>
                <a:cxn ang="0">
                  <a:pos x="4" y="38"/>
                </a:cxn>
                <a:cxn ang="0">
                  <a:pos x="4" y="39"/>
                </a:cxn>
                <a:cxn ang="0">
                  <a:pos x="4" y="40"/>
                </a:cxn>
                <a:cxn ang="0">
                  <a:pos x="4" y="40"/>
                </a:cxn>
                <a:cxn ang="0">
                  <a:pos x="5" y="40"/>
                </a:cxn>
                <a:cxn ang="0">
                  <a:pos x="5" y="40"/>
                </a:cxn>
                <a:cxn ang="0">
                  <a:pos x="6" y="40"/>
                </a:cxn>
                <a:cxn ang="0">
                  <a:pos x="8" y="38"/>
                </a:cxn>
                <a:cxn ang="0">
                  <a:pos x="11" y="35"/>
                </a:cxn>
                <a:cxn ang="0">
                  <a:pos x="13" y="32"/>
                </a:cxn>
                <a:cxn ang="0">
                  <a:pos x="15" y="29"/>
                </a:cxn>
                <a:cxn ang="0">
                  <a:pos x="16" y="26"/>
                </a:cxn>
                <a:cxn ang="0">
                  <a:pos x="17" y="22"/>
                </a:cxn>
                <a:cxn ang="0">
                  <a:pos x="18" y="17"/>
                </a:cxn>
                <a:cxn ang="0">
                  <a:pos x="17" y="13"/>
                </a:cxn>
                <a:cxn ang="0">
                  <a:pos x="16" y="9"/>
                </a:cxn>
                <a:cxn ang="0">
                  <a:pos x="14" y="6"/>
                </a:cxn>
                <a:cxn ang="0">
                  <a:pos x="11" y="4"/>
                </a:cxn>
                <a:cxn ang="0">
                  <a:pos x="8" y="2"/>
                </a:cxn>
                <a:cxn ang="0">
                  <a:pos x="6" y="1"/>
                </a:cxn>
                <a:cxn ang="0">
                  <a:pos x="3" y="0"/>
                </a:cxn>
                <a:cxn ang="0">
                  <a:pos x="1" y="1"/>
                </a:cxn>
                <a:cxn ang="0">
                  <a:pos x="0" y="2"/>
                </a:cxn>
                <a:cxn ang="0">
                  <a:pos x="2" y="3"/>
                </a:cxn>
                <a:cxn ang="0">
                  <a:pos x="5" y="3"/>
                </a:cxn>
                <a:cxn ang="0">
                  <a:pos x="7" y="4"/>
                </a:cxn>
                <a:cxn ang="0">
                  <a:pos x="9" y="5"/>
                </a:cxn>
                <a:cxn ang="0">
                  <a:pos x="11" y="6"/>
                </a:cxn>
                <a:cxn ang="0">
                  <a:pos x="12" y="8"/>
                </a:cxn>
                <a:cxn ang="0">
                  <a:pos x="14" y="10"/>
                </a:cxn>
                <a:cxn ang="0">
                  <a:pos x="15" y="14"/>
                </a:cxn>
              </a:cxnLst>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w="9525">
              <a:noFill/>
            </a:ln>
          </p:spPr>
          <p:txBody>
            <a:bodyPr/>
            <a:p>
              <a:endParaRPr lang="zh-CN" altLang="en-US"/>
            </a:p>
          </p:txBody>
        </p:sp>
        <p:sp>
          <p:nvSpPr>
            <p:cNvPr id="61502" name="Freeform 62"/>
            <p:cNvSpPr/>
            <p:nvPr/>
          </p:nvSpPr>
          <p:spPr>
            <a:xfrm>
              <a:off x="1208" y="2218"/>
              <a:ext cx="133" cy="166"/>
            </a:xfrm>
            <a:custGeom>
              <a:avLst/>
              <a:gdLst/>
              <a:ahLst/>
              <a:cxnLst>
                <a:cxn ang="0">
                  <a:pos x="14" y="16"/>
                </a:cxn>
                <a:cxn ang="0">
                  <a:pos x="7" y="26"/>
                </a:cxn>
                <a:cxn ang="0">
                  <a:pos x="2" y="37"/>
                </a:cxn>
                <a:cxn ang="0">
                  <a:pos x="0" y="50"/>
                </a:cxn>
                <a:cxn ang="0">
                  <a:pos x="0" y="59"/>
                </a:cxn>
                <a:cxn ang="0">
                  <a:pos x="1" y="63"/>
                </a:cxn>
                <a:cxn ang="0">
                  <a:pos x="3" y="66"/>
                </a:cxn>
                <a:cxn ang="0">
                  <a:pos x="5" y="69"/>
                </a:cxn>
                <a:cxn ang="0">
                  <a:pos x="8" y="72"/>
                </a:cxn>
                <a:cxn ang="0">
                  <a:pos x="12" y="75"/>
                </a:cxn>
                <a:cxn ang="0">
                  <a:pos x="16" y="77"/>
                </a:cxn>
                <a:cxn ang="0">
                  <a:pos x="21" y="79"/>
                </a:cxn>
                <a:cxn ang="0">
                  <a:pos x="26" y="81"/>
                </a:cxn>
                <a:cxn ang="0">
                  <a:pos x="30" y="82"/>
                </a:cxn>
                <a:cxn ang="0">
                  <a:pos x="35" y="83"/>
                </a:cxn>
                <a:cxn ang="0">
                  <a:pos x="40" y="83"/>
                </a:cxn>
                <a:cxn ang="0">
                  <a:pos x="43" y="83"/>
                </a:cxn>
                <a:cxn ang="0">
                  <a:pos x="44" y="82"/>
                </a:cxn>
                <a:cxn ang="0">
                  <a:pos x="44" y="79"/>
                </a:cxn>
                <a:cxn ang="0">
                  <a:pos x="43" y="78"/>
                </a:cxn>
                <a:cxn ang="0">
                  <a:pos x="40" y="77"/>
                </a:cxn>
                <a:cxn ang="0">
                  <a:pos x="36" y="77"/>
                </a:cxn>
                <a:cxn ang="0">
                  <a:pos x="32" y="77"/>
                </a:cxn>
                <a:cxn ang="0">
                  <a:pos x="27" y="76"/>
                </a:cxn>
                <a:cxn ang="0">
                  <a:pos x="23" y="74"/>
                </a:cxn>
                <a:cxn ang="0">
                  <a:pos x="19" y="73"/>
                </a:cxn>
                <a:cxn ang="0">
                  <a:pos x="15" y="71"/>
                </a:cxn>
                <a:cxn ang="0">
                  <a:pos x="10" y="68"/>
                </a:cxn>
                <a:cxn ang="0">
                  <a:pos x="7" y="64"/>
                </a:cxn>
                <a:cxn ang="0">
                  <a:pos x="5" y="59"/>
                </a:cxn>
                <a:cxn ang="0">
                  <a:pos x="4" y="53"/>
                </a:cxn>
                <a:cxn ang="0">
                  <a:pos x="5" y="44"/>
                </a:cxn>
                <a:cxn ang="0">
                  <a:pos x="7" y="37"/>
                </a:cxn>
                <a:cxn ang="0">
                  <a:pos x="9" y="30"/>
                </a:cxn>
                <a:cxn ang="0">
                  <a:pos x="12" y="25"/>
                </a:cxn>
                <a:cxn ang="0">
                  <a:pos x="16" y="20"/>
                </a:cxn>
                <a:cxn ang="0">
                  <a:pos x="20" y="15"/>
                </a:cxn>
                <a:cxn ang="0">
                  <a:pos x="25" y="10"/>
                </a:cxn>
                <a:cxn ang="0">
                  <a:pos x="30" y="5"/>
                </a:cxn>
                <a:cxn ang="0">
                  <a:pos x="35" y="2"/>
                </a:cxn>
                <a:cxn ang="0">
                  <a:pos x="35" y="0"/>
                </a:cxn>
                <a:cxn ang="0">
                  <a:pos x="30" y="2"/>
                </a:cxn>
                <a:cxn ang="0">
                  <a:pos x="25" y="5"/>
                </a:cxn>
                <a:cxn ang="0">
                  <a:pos x="20" y="9"/>
                </a:cxn>
              </a:cxnLst>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w="9525">
              <a:noFill/>
            </a:ln>
          </p:spPr>
          <p:txBody>
            <a:bodyPr/>
            <a:p>
              <a:endParaRPr lang="zh-CN" altLang="en-US"/>
            </a:p>
          </p:txBody>
        </p:sp>
        <p:sp>
          <p:nvSpPr>
            <p:cNvPr id="61503" name="Freeform 63"/>
            <p:cNvSpPr/>
            <p:nvPr/>
          </p:nvSpPr>
          <p:spPr>
            <a:xfrm>
              <a:off x="1396" y="2213"/>
              <a:ext cx="116" cy="110"/>
            </a:xfrm>
            <a:custGeom>
              <a:avLst/>
              <a:gdLst/>
              <a:ahLst/>
              <a:cxnLst>
                <a:cxn ang="0">
                  <a:pos x="32" y="17"/>
                </a:cxn>
                <a:cxn ang="0">
                  <a:pos x="34" y="20"/>
                </a:cxn>
                <a:cxn ang="0">
                  <a:pos x="35" y="23"/>
                </a:cxn>
                <a:cxn ang="0">
                  <a:pos x="36" y="27"/>
                </a:cxn>
                <a:cxn ang="0">
                  <a:pos x="36" y="31"/>
                </a:cxn>
                <a:cxn ang="0">
                  <a:pos x="35" y="34"/>
                </a:cxn>
                <a:cxn ang="0">
                  <a:pos x="35" y="37"/>
                </a:cxn>
                <a:cxn ang="0">
                  <a:pos x="34" y="40"/>
                </a:cxn>
                <a:cxn ang="0">
                  <a:pos x="32" y="42"/>
                </a:cxn>
                <a:cxn ang="0">
                  <a:pos x="31" y="44"/>
                </a:cxn>
                <a:cxn ang="0">
                  <a:pos x="29" y="46"/>
                </a:cxn>
                <a:cxn ang="0">
                  <a:pos x="28" y="49"/>
                </a:cxn>
                <a:cxn ang="0">
                  <a:pos x="27" y="51"/>
                </a:cxn>
                <a:cxn ang="0">
                  <a:pos x="26" y="52"/>
                </a:cxn>
                <a:cxn ang="0">
                  <a:pos x="26" y="53"/>
                </a:cxn>
                <a:cxn ang="0">
                  <a:pos x="26" y="53"/>
                </a:cxn>
                <a:cxn ang="0">
                  <a:pos x="27" y="54"/>
                </a:cxn>
                <a:cxn ang="0">
                  <a:pos x="27" y="55"/>
                </a:cxn>
                <a:cxn ang="0">
                  <a:pos x="28" y="55"/>
                </a:cxn>
                <a:cxn ang="0">
                  <a:pos x="28" y="55"/>
                </a:cxn>
                <a:cxn ang="0">
                  <a:pos x="29" y="54"/>
                </a:cxn>
                <a:cxn ang="0">
                  <a:pos x="32" y="51"/>
                </a:cxn>
                <a:cxn ang="0">
                  <a:pos x="34" y="46"/>
                </a:cxn>
                <a:cxn ang="0">
                  <a:pos x="37" y="41"/>
                </a:cxn>
                <a:cxn ang="0">
                  <a:pos x="38" y="36"/>
                </a:cxn>
                <a:cxn ang="0">
                  <a:pos x="39" y="30"/>
                </a:cxn>
                <a:cxn ang="0">
                  <a:pos x="38" y="25"/>
                </a:cxn>
                <a:cxn ang="0">
                  <a:pos x="37" y="20"/>
                </a:cxn>
                <a:cxn ang="0">
                  <a:pos x="34" y="15"/>
                </a:cxn>
                <a:cxn ang="0">
                  <a:pos x="33" y="13"/>
                </a:cxn>
                <a:cxn ang="0">
                  <a:pos x="30" y="10"/>
                </a:cxn>
                <a:cxn ang="0">
                  <a:pos x="28" y="8"/>
                </a:cxn>
                <a:cxn ang="0">
                  <a:pos x="25" y="6"/>
                </a:cxn>
                <a:cxn ang="0">
                  <a:pos x="22" y="5"/>
                </a:cxn>
                <a:cxn ang="0">
                  <a:pos x="20" y="4"/>
                </a:cxn>
                <a:cxn ang="0">
                  <a:pos x="17" y="2"/>
                </a:cxn>
                <a:cxn ang="0">
                  <a:pos x="14" y="1"/>
                </a:cxn>
                <a:cxn ang="0">
                  <a:pos x="11" y="1"/>
                </a:cxn>
                <a:cxn ang="0">
                  <a:pos x="9" y="0"/>
                </a:cxn>
                <a:cxn ang="0">
                  <a:pos x="6" y="0"/>
                </a:cxn>
                <a:cxn ang="0">
                  <a:pos x="4" y="0"/>
                </a:cxn>
                <a:cxn ang="0">
                  <a:pos x="3" y="0"/>
                </a:cxn>
                <a:cxn ang="0">
                  <a:pos x="1" y="0"/>
                </a:cxn>
                <a:cxn ang="0">
                  <a:pos x="0" y="0"/>
                </a:cxn>
                <a:cxn ang="0">
                  <a:pos x="0" y="1"/>
                </a:cxn>
                <a:cxn ang="0">
                  <a:pos x="2" y="1"/>
                </a:cxn>
                <a:cxn ang="0">
                  <a:pos x="3" y="2"/>
                </a:cxn>
                <a:cxn ang="0">
                  <a:pos x="5" y="2"/>
                </a:cxn>
                <a:cxn ang="0">
                  <a:pos x="7" y="3"/>
                </a:cxn>
                <a:cxn ang="0">
                  <a:pos x="9" y="3"/>
                </a:cxn>
                <a:cxn ang="0">
                  <a:pos x="11" y="4"/>
                </a:cxn>
                <a:cxn ang="0">
                  <a:pos x="13" y="4"/>
                </a:cxn>
                <a:cxn ang="0">
                  <a:pos x="16" y="5"/>
                </a:cxn>
                <a:cxn ang="0">
                  <a:pos x="18" y="6"/>
                </a:cxn>
                <a:cxn ang="0">
                  <a:pos x="20" y="7"/>
                </a:cxn>
                <a:cxn ang="0">
                  <a:pos x="22" y="8"/>
                </a:cxn>
                <a:cxn ang="0">
                  <a:pos x="24" y="10"/>
                </a:cxn>
                <a:cxn ang="0">
                  <a:pos x="26" y="11"/>
                </a:cxn>
                <a:cxn ang="0">
                  <a:pos x="29" y="13"/>
                </a:cxn>
                <a:cxn ang="0">
                  <a:pos x="30" y="15"/>
                </a:cxn>
                <a:cxn ang="0">
                  <a:pos x="32" y="17"/>
                </a:cxn>
              </a:cxnLst>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w="9525">
              <a:noFill/>
            </a:ln>
          </p:spPr>
          <p:txBody>
            <a:bodyPr/>
            <a:p>
              <a:endParaRPr lang="zh-CN" altLang="en-US"/>
            </a:p>
          </p:txBody>
        </p:sp>
        <p:sp>
          <p:nvSpPr>
            <p:cNvPr id="61504" name="Freeform 64"/>
            <p:cNvSpPr/>
            <p:nvPr/>
          </p:nvSpPr>
          <p:spPr>
            <a:xfrm>
              <a:off x="1162" y="2273"/>
              <a:ext cx="48" cy="103"/>
            </a:xfrm>
            <a:custGeom>
              <a:avLst/>
              <a:gdLst/>
              <a:ahLst/>
              <a:cxnLst>
                <a:cxn ang="0">
                  <a:pos x="0" y="28"/>
                </a:cxn>
                <a:cxn ang="0">
                  <a:pos x="0" y="32"/>
                </a:cxn>
                <a:cxn ang="0">
                  <a:pos x="1" y="36"/>
                </a:cxn>
                <a:cxn ang="0">
                  <a:pos x="2" y="40"/>
                </a:cxn>
                <a:cxn ang="0">
                  <a:pos x="3" y="43"/>
                </a:cxn>
                <a:cxn ang="0">
                  <a:pos x="5" y="46"/>
                </a:cxn>
                <a:cxn ang="0">
                  <a:pos x="8" y="48"/>
                </a:cxn>
                <a:cxn ang="0">
                  <a:pos x="10" y="50"/>
                </a:cxn>
                <a:cxn ang="0">
                  <a:pos x="13" y="51"/>
                </a:cxn>
                <a:cxn ang="0">
                  <a:pos x="14" y="51"/>
                </a:cxn>
                <a:cxn ang="0">
                  <a:pos x="15" y="51"/>
                </a:cxn>
                <a:cxn ang="0">
                  <a:pos x="16" y="50"/>
                </a:cxn>
                <a:cxn ang="0">
                  <a:pos x="16" y="49"/>
                </a:cxn>
                <a:cxn ang="0">
                  <a:pos x="16" y="48"/>
                </a:cxn>
                <a:cxn ang="0">
                  <a:pos x="16" y="47"/>
                </a:cxn>
                <a:cxn ang="0">
                  <a:pos x="15" y="46"/>
                </a:cxn>
                <a:cxn ang="0">
                  <a:pos x="14" y="45"/>
                </a:cxn>
                <a:cxn ang="0">
                  <a:pos x="11" y="44"/>
                </a:cxn>
                <a:cxn ang="0">
                  <a:pos x="9" y="42"/>
                </a:cxn>
                <a:cxn ang="0">
                  <a:pos x="7" y="39"/>
                </a:cxn>
                <a:cxn ang="0">
                  <a:pos x="6" y="36"/>
                </a:cxn>
                <a:cxn ang="0">
                  <a:pos x="5" y="32"/>
                </a:cxn>
                <a:cxn ang="0">
                  <a:pos x="4" y="28"/>
                </a:cxn>
                <a:cxn ang="0">
                  <a:pos x="4" y="24"/>
                </a:cxn>
                <a:cxn ang="0">
                  <a:pos x="5" y="19"/>
                </a:cxn>
                <a:cxn ang="0">
                  <a:pos x="6" y="16"/>
                </a:cxn>
                <a:cxn ang="0">
                  <a:pos x="8" y="13"/>
                </a:cxn>
                <a:cxn ang="0">
                  <a:pos x="10" y="10"/>
                </a:cxn>
                <a:cxn ang="0">
                  <a:pos x="12" y="7"/>
                </a:cxn>
                <a:cxn ang="0">
                  <a:pos x="14" y="5"/>
                </a:cxn>
                <a:cxn ang="0">
                  <a:pos x="16" y="2"/>
                </a:cxn>
                <a:cxn ang="0">
                  <a:pos x="16" y="1"/>
                </a:cxn>
                <a:cxn ang="0">
                  <a:pos x="16" y="0"/>
                </a:cxn>
                <a:cxn ang="0">
                  <a:pos x="15" y="1"/>
                </a:cxn>
                <a:cxn ang="0">
                  <a:pos x="12" y="2"/>
                </a:cxn>
                <a:cxn ang="0">
                  <a:pos x="9" y="5"/>
                </a:cxn>
                <a:cxn ang="0">
                  <a:pos x="7" y="9"/>
                </a:cxn>
                <a:cxn ang="0">
                  <a:pos x="4" y="13"/>
                </a:cxn>
                <a:cxn ang="0">
                  <a:pos x="2" y="18"/>
                </a:cxn>
                <a:cxn ang="0">
                  <a:pos x="1" y="23"/>
                </a:cxn>
                <a:cxn ang="0">
                  <a:pos x="0" y="28"/>
                </a:cxn>
              </a:cxnLst>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w="9525">
              <a:noFill/>
            </a:ln>
          </p:spPr>
          <p:txBody>
            <a:bodyPr/>
            <a:p>
              <a:endParaRPr lang="zh-CN" altLang="en-US"/>
            </a:p>
          </p:txBody>
        </p:sp>
        <p:sp>
          <p:nvSpPr>
            <p:cNvPr id="61505" name="Freeform 65"/>
            <p:cNvSpPr/>
            <p:nvPr/>
          </p:nvSpPr>
          <p:spPr>
            <a:xfrm>
              <a:off x="1492" y="2206"/>
              <a:ext cx="101" cy="135"/>
            </a:xfrm>
            <a:custGeom>
              <a:avLst/>
              <a:gdLst/>
              <a:ahLst/>
              <a:cxnLst>
                <a:cxn ang="0">
                  <a:pos x="28" y="27"/>
                </a:cxn>
                <a:cxn ang="0">
                  <a:pos x="30" y="31"/>
                </a:cxn>
                <a:cxn ang="0">
                  <a:pos x="31" y="35"/>
                </a:cxn>
                <a:cxn ang="0">
                  <a:pos x="30" y="40"/>
                </a:cxn>
                <a:cxn ang="0">
                  <a:pos x="28" y="45"/>
                </a:cxn>
                <a:cxn ang="0">
                  <a:pos x="26" y="49"/>
                </a:cxn>
                <a:cxn ang="0">
                  <a:pos x="23" y="53"/>
                </a:cxn>
                <a:cxn ang="0">
                  <a:pos x="19" y="57"/>
                </a:cxn>
                <a:cxn ang="0">
                  <a:pos x="18" y="60"/>
                </a:cxn>
                <a:cxn ang="0">
                  <a:pos x="17" y="62"/>
                </a:cxn>
                <a:cxn ang="0">
                  <a:pos x="16" y="64"/>
                </a:cxn>
                <a:cxn ang="0">
                  <a:pos x="17" y="66"/>
                </a:cxn>
                <a:cxn ang="0">
                  <a:pos x="18" y="67"/>
                </a:cxn>
                <a:cxn ang="0">
                  <a:pos x="19" y="67"/>
                </a:cxn>
                <a:cxn ang="0">
                  <a:pos x="21" y="63"/>
                </a:cxn>
                <a:cxn ang="0">
                  <a:pos x="25" y="58"/>
                </a:cxn>
                <a:cxn ang="0">
                  <a:pos x="28" y="53"/>
                </a:cxn>
                <a:cxn ang="0">
                  <a:pos x="32" y="47"/>
                </a:cxn>
                <a:cxn ang="0">
                  <a:pos x="33" y="40"/>
                </a:cxn>
                <a:cxn ang="0">
                  <a:pos x="33" y="33"/>
                </a:cxn>
                <a:cxn ang="0">
                  <a:pos x="31" y="26"/>
                </a:cxn>
                <a:cxn ang="0">
                  <a:pos x="28" y="20"/>
                </a:cxn>
                <a:cxn ang="0">
                  <a:pos x="24" y="16"/>
                </a:cxn>
                <a:cxn ang="0">
                  <a:pos x="21" y="13"/>
                </a:cxn>
                <a:cxn ang="0">
                  <a:pos x="17" y="10"/>
                </a:cxn>
                <a:cxn ang="0">
                  <a:pos x="13" y="6"/>
                </a:cxn>
                <a:cxn ang="0">
                  <a:pos x="9" y="4"/>
                </a:cxn>
                <a:cxn ang="0">
                  <a:pos x="5" y="1"/>
                </a:cxn>
                <a:cxn ang="0">
                  <a:pos x="3" y="0"/>
                </a:cxn>
                <a:cxn ang="0">
                  <a:pos x="1" y="0"/>
                </a:cxn>
                <a:cxn ang="0">
                  <a:pos x="1" y="1"/>
                </a:cxn>
                <a:cxn ang="0">
                  <a:pos x="5" y="4"/>
                </a:cxn>
                <a:cxn ang="0">
                  <a:pos x="8" y="6"/>
                </a:cxn>
                <a:cxn ang="0">
                  <a:pos x="12" y="9"/>
                </a:cxn>
                <a:cxn ang="0">
                  <a:pos x="15" y="12"/>
                </a:cxn>
                <a:cxn ang="0">
                  <a:pos x="19" y="15"/>
                </a:cxn>
                <a:cxn ang="0">
                  <a:pos x="23" y="19"/>
                </a:cxn>
                <a:cxn ang="0">
                  <a:pos x="26" y="23"/>
                </a:cxn>
              </a:cxnLst>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w="9525">
              <a:noFill/>
            </a:ln>
          </p:spPr>
          <p:txBody>
            <a:bodyPr/>
            <a:p>
              <a:endParaRPr lang="zh-CN" altLang="en-US"/>
            </a:p>
          </p:txBody>
        </p:sp>
      </p:grpSp>
      <p:grpSp>
        <p:nvGrpSpPr>
          <p:cNvPr id="61506" name="Group 66"/>
          <p:cNvGrpSpPr/>
          <p:nvPr/>
        </p:nvGrpSpPr>
        <p:grpSpPr>
          <a:xfrm>
            <a:off x="5859463" y="4267200"/>
            <a:ext cx="1325562" cy="588963"/>
            <a:chOff x="1697" y="583"/>
            <a:chExt cx="726" cy="368"/>
          </a:xfrm>
        </p:grpSpPr>
        <p:grpSp>
          <p:nvGrpSpPr>
            <p:cNvPr id="61507" name="Group 67"/>
            <p:cNvGrpSpPr/>
            <p:nvPr/>
          </p:nvGrpSpPr>
          <p:grpSpPr>
            <a:xfrm>
              <a:off x="1809" y="583"/>
              <a:ext cx="348" cy="368"/>
              <a:chOff x="2870" y="1518"/>
              <a:chExt cx="292" cy="320"/>
            </a:xfrm>
          </p:grpSpPr>
          <p:graphicFrame>
            <p:nvGraphicFramePr>
              <p:cNvPr id="61508" name="Object 6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089" name="" r:id="rId8" imgW="826770" imgH="840105" progId="MS_ClipArt_Gallery.2">
                      <p:embed/>
                    </p:oleObj>
                  </mc:Choice>
                  <mc:Fallback>
                    <p:oleObj name="" r:id="rId8" imgW="826770" imgH="840105" progId="MS_ClipArt_Gallery.2">
                      <p:embed/>
                      <p:pic>
                        <p:nvPicPr>
                          <p:cNvPr id="0" name="图片 308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1509" name="Object 6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088" name="" r:id="rId9" imgW="1268095" imgH="1199515" progId="MS_ClipArt_Gallery.2">
                      <p:embed/>
                    </p:oleObj>
                  </mc:Choice>
                  <mc:Fallback>
                    <p:oleObj name="" r:id="rId9" imgW="1268095" imgH="1199515" progId="MS_ClipArt_Gallery.2">
                      <p:embed/>
                      <p:pic>
                        <p:nvPicPr>
                          <p:cNvPr id="0" name="图片 308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sp>
          <p:nvSpPr>
            <p:cNvPr id="61510" name="Line 70"/>
            <p:cNvSpPr/>
            <p:nvPr/>
          </p:nvSpPr>
          <p:spPr>
            <a:xfrm>
              <a:off x="2158" y="793"/>
              <a:ext cx="265" cy="0"/>
            </a:xfrm>
            <a:prstGeom prst="line">
              <a:avLst/>
            </a:prstGeom>
            <a:ln w="28575" cap="flat" cmpd="sng">
              <a:solidFill>
                <a:srgbClr val="FF0000"/>
              </a:solidFill>
              <a:prstDash val="solid"/>
              <a:round/>
              <a:headEnd type="none" w="med" len="med"/>
              <a:tailEnd type="triangle" w="med" len="med"/>
            </a:ln>
          </p:spPr>
        </p:sp>
        <p:sp>
          <p:nvSpPr>
            <p:cNvPr id="61511" name="Line 71"/>
            <p:cNvSpPr/>
            <p:nvPr/>
          </p:nvSpPr>
          <p:spPr>
            <a:xfrm flipH="1">
              <a:off x="1734" y="715"/>
              <a:ext cx="166" cy="0"/>
            </a:xfrm>
            <a:prstGeom prst="line">
              <a:avLst/>
            </a:prstGeom>
            <a:ln w="28575" cap="flat" cmpd="sng">
              <a:solidFill>
                <a:srgbClr val="FF0000"/>
              </a:solidFill>
              <a:prstDash val="solid"/>
              <a:round/>
              <a:headEnd type="none" w="med" len="med"/>
              <a:tailEnd type="none" w="med" len="med"/>
            </a:ln>
          </p:spPr>
        </p:sp>
        <p:sp>
          <p:nvSpPr>
            <p:cNvPr id="61512" name="Line 72"/>
            <p:cNvSpPr/>
            <p:nvPr/>
          </p:nvSpPr>
          <p:spPr>
            <a:xfrm flipH="1">
              <a:off x="1747" y="776"/>
              <a:ext cx="165" cy="0"/>
            </a:xfrm>
            <a:prstGeom prst="line">
              <a:avLst/>
            </a:prstGeom>
            <a:ln w="28575" cap="flat" cmpd="sng">
              <a:solidFill>
                <a:srgbClr val="FF0000"/>
              </a:solidFill>
              <a:prstDash val="solid"/>
              <a:round/>
              <a:headEnd type="none" w="med" len="med"/>
              <a:tailEnd type="none" w="med" len="med"/>
            </a:ln>
          </p:spPr>
        </p:sp>
        <p:sp>
          <p:nvSpPr>
            <p:cNvPr id="61513" name="Line 73"/>
            <p:cNvSpPr/>
            <p:nvPr/>
          </p:nvSpPr>
          <p:spPr>
            <a:xfrm flipH="1">
              <a:off x="1697" y="830"/>
              <a:ext cx="166" cy="0"/>
            </a:xfrm>
            <a:prstGeom prst="line">
              <a:avLst/>
            </a:prstGeom>
            <a:ln w="28575" cap="flat" cmpd="sng">
              <a:solidFill>
                <a:srgbClr val="FF0000"/>
              </a:solidFill>
              <a:prstDash val="solid"/>
              <a:round/>
              <a:headEnd type="none" w="med" len="med"/>
              <a:tailEnd type="none" w="med" len="med"/>
            </a:ln>
          </p:spPr>
        </p:sp>
      </p:grpSp>
      <p:sp>
        <p:nvSpPr>
          <p:cNvPr id="61514" name="Rectangle 74"/>
          <p:cNvSpPr/>
          <p:nvPr/>
        </p:nvSpPr>
        <p:spPr>
          <a:xfrm>
            <a:off x="350838" y="274638"/>
            <a:ext cx="7772400" cy="838200"/>
          </a:xfrm>
          <a:prstGeom prst="rect">
            <a:avLst/>
          </a:prstGeom>
          <a:noFill/>
          <a:ln w="9525">
            <a:noFill/>
          </a:ln>
        </p:spPr>
        <p:txBody>
          <a:bodyPr anchor="ctr" anchorCtr="0"/>
          <a:p>
            <a:pPr eaLnBrk="0" hangingPunct="0">
              <a:buClrTx/>
              <a:buFontTx/>
            </a:pPr>
            <a:r>
              <a:rPr lang="en-US" altLang="zh-CN" sz="3600" u="sng" dirty="0">
                <a:solidFill>
                  <a:schemeClr val="accent2"/>
                </a:solidFill>
                <a:latin typeface="Comic Sans MS" panose="030F0702030302020204" pitchFamily="66" charset="0"/>
                <a:ea typeface="宋体" panose="02010600030101010101" pitchFamily="2" charset="-122"/>
              </a:rPr>
              <a:t>802.11: mobility within same subnet</a:t>
            </a:r>
            <a:endParaRPr lang="en-US" altLang="zh-CN" sz="3600" u="sng" dirty="0">
              <a:solidFill>
                <a:schemeClr val="accent2"/>
              </a:solidFill>
              <a:latin typeface="Comic Sans MS" panose="030F0702030302020204" pitchFamily="66" charset="0"/>
              <a:ea typeface="宋体" panose="02010600030101010101" pitchFamily="2" charset="-122"/>
            </a:endParaRPr>
          </a:p>
        </p:txBody>
      </p:sp>
      <p:grpSp>
        <p:nvGrpSpPr>
          <p:cNvPr id="61515" name="Group 77"/>
          <p:cNvGrpSpPr/>
          <p:nvPr/>
        </p:nvGrpSpPr>
        <p:grpSpPr>
          <a:xfrm>
            <a:off x="6299200" y="1798638"/>
            <a:ext cx="876300" cy="525462"/>
            <a:chOff x="2960" y="1439"/>
            <a:chExt cx="552" cy="331"/>
          </a:xfrm>
        </p:grpSpPr>
        <p:grpSp>
          <p:nvGrpSpPr>
            <p:cNvPr id="61516" name="Group 78"/>
            <p:cNvGrpSpPr/>
            <p:nvPr/>
          </p:nvGrpSpPr>
          <p:grpSpPr>
            <a:xfrm>
              <a:off x="3024" y="1623"/>
              <a:ext cx="315" cy="147"/>
              <a:chOff x="3600" y="219"/>
              <a:chExt cx="360" cy="175"/>
            </a:xfrm>
          </p:grpSpPr>
          <p:sp>
            <p:nvSpPr>
              <p:cNvPr id="61517" name="Oval 79"/>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1518" name="Line 80"/>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61519" name="Line 81"/>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61520" name="Rectangle 82"/>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61521" name="Oval 83"/>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61522" name="Group 84"/>
              <p:cNvGrpSpPr/>
              <p:nvPr/>
            </p:nvGrpSpPr>
            <p:grpSpPr>
              <a:xfrm>
                <a:off x="3686" y="244"/>
                <a:ext cx="177" cy="66"/>
                <a:chOff x="2848" y="848"/>
                <a:chExt cx="140" cy="98"/>
              </a:xfrm>
            </p:grpSpPr>
            <p:sp>
              <p:nvSpPr>
                <p:cNvPr id="61523" name="Line 85"/>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61524" name="Line 86"/>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61525" name="Line 87"/>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61526" name="Group 88"/>
              <p:cNvGrpSpPr/>
              <p:nvPr/>
            </p:nvGrpSpPr>
            <p:grpSpPr>
              <a:xfrm flipV="1">
                <a:off x="3686" y="243"/>
                <a:ext cx="177" cy="66"/>
                <a:chOff x="2848" y="848"/>
                <a:chExt cx="140" cy="98"/>
              </a:xfrm>
            </p:grpSpPr>
            <p:sp>
              <p:nvSpPr>
                <p:cNvPr id="61527" name="Line 89"/>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61528" name="Line 90"/>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61529" name="Line 91"/>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61530" name="Text Box 92"/>
            <p:cNvSpPr txBox="1"/>
            <p:nvPr/>
          </p:nvSpPr>
          <p:spPr>
            <a:xfrm>
              <a:off x="2960" y="1439"/>
              <a:ext cx="552" cy="231"/>
            </a:xfrm>
            <a:prstGeom prst="rect">
              <a:avLst/>
            </a:prstGeom>
            <a:noFill/>
            <a:ln w="9525">
              <a:noFill/>
            </a:ln>
          </p:spPr>
          <p:txBody>
            <a:bodyPr wrap="none" anchor="t" anchorCtr="0">
              <a:spAutoFit/>
            </a:bodyPr>
            <a:p>
              <a:pPr>
                <a:buClrTx/>
                <a:buFontTx/>
              </a:pPr>
              <a:r>
                <a:rPr lang="en-US" altLang="zh-CN" dirty="0">
                  <a:latin typeface="Comic Sans MS" panose="030F0702030302020204" pitchFamily="66" charset="0"/>
                  <a:ea typeface="宋体" panose="02010600030101010101" pitchFamily="2" charset="-122"/>
                </a:rPr>
                <a:t>router</a:t>
              </a:r>
              <a:endParaRPr lang="en-US" altLang="zh-CN" dirty="0">
                <a:latin typeface="Comic Sans MS" panose="030F0702030302020204" pitchFamily="66" charset="0"/>
                <a:ea typeface="宋体" panose="02010600030101010101" pitchFamily="2" charset="-122"/>
              </a:endParaRPr>
            </a:p>
          </p:txBody>
        </p:sp>
      </p:grpSp>
      <p:sp>
        <p:nvSpPr>
          <p:cNvPr id="61531" name="Rectangle 94"/>
          <p:cNvSpPr>
            <a:spLocks noGrp="1"/>
          </p:cNvSpPr>
          <p:nvPr>
            <p:ph sz="half" idx="1"/>
          </p:nvPr>
        </p:nvSpPr>
        <p:spPr>
          <a:xfrm>
            <a:off x="533400" y="1600200"/>
            <a:ext cx="3643313" cy="4648200"/>
          </a:xfrm>
          <a:ln/>
        </p:spPr>
        <p:txBody>
          <a:bodyPr vert="horz" wrap="square" lIns="91440" tIns="45720" rIns="91440" bIns="45720" anchor="t" anchorCtr="0"/>
          <a:p>
            <a:pPr defTabSz="914400">
              <a:buClr>
                <a:schemeClr val="accent2"/>
              </a:buClr>
              <a:buSzPct val="85000"/>
              <a:buFont typeface="ZapfDingbats" pitchFamily="82" charset="2"/>
              <a:tabLst>
                <a:tab pos="746125" algn="l"/>
              </a:tabLst>
            </a:pPr>
            <a:r>
              <a:rPr lang="en-US" altLang="zh-CN" sz="2400" dirty="0">
                <a:ea typeface="宋体" panose="02010600030101010101" pitchFamily="2" charset="-122"/>
              </a:rPr>
              <a:t>H1 remains in same IP subnet: IP address can remain same</a:t>
            </a:r>
            <a:endParaRPr lang="en-US" altLang="zh-CN" sz="2400" dirty="0">
              <a:ea typeface="宋体" panose="02010600030101010101" pitchFamily="2" charset="-122"/>
            </a:endParaRPr>
          </a:p>
          <a:p>
            <a:pPr defTabSz="914400">
              <a:buClr>
                <a:schemeClr val="accent2"/>
              </a:buClr>
              <a:buSzPct val="85000"/>
              <a:buFont typeface="ZapfDingbats" pitchFamily="82" charset="2"/>
              <a:tabLst>
                <a:tab pos="746125" algn="l"/>
              </a:tabLst>
            </a:pPr>
            <a:r>
              <a:rPr lang="en-US" altLang="zh-CN" sz="2400" dirty="0">
                <a:ea typeface="宋体" panose="02010600030101010101" pitchFamily="2" charset="-122"/>
              </a:rPr>
              <a:t>switch: which AP is associated with H1?</a:t>
            </a:r>
            <a:endParaRPr lang="en-US" altLang="zh-CN" sz="2400" dirty="0">
              <a:ea typeface="宋体" panose="02010600030101010101" pitchFamily="2" charset="-122"/>
            </a:endParaRPr>
          </a:p>
          <a:p>
            <a:pPr marL="685800" lvl="1" indent="-228600" defTabSz="914400">
              <a:buClr>
                <a:schemeClr val="accent2"/>
              </a:buClr>
              <a:buSzPct val="75000"/>
              <a:buFont typeface="ZapfDingbats" pitchFamily="82" charset="2"/>
              <a:tabLst>
                <a:tab pos="746125" algn="l"/>
              </a:tabLst>
            </a:pPr>
            <a:r>
              <a:rPr lang="en-US" altLang="zh-CN" sz="2000" dirty="0">
                <a:ea typeface="宋体" panose="02010600030101010101" pitchFamily="2" charset="-122"/>
              </a:rPr>
              <a:t>self-learning (Ch. 5): switch will see frame from H1 and “remember” which switch port can be used to reach H1</a:t>
            </a:r>
            <a:endParaRPr lang="en-US" altLang="zh-CN" sz="2000"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349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3491" name="Rectangle 73"/>
          <p:cNvSpPr/>
          <p:nvPr/>
        </p:nvSpPr>
        <p:spPr>
          <a:xfrm>
            <a:off x="350838" y="274638"/>
            <a:ext cx="7772400" cy="838200"/>
          </a:xfrm>
          <a:prstGeom prst="rect">
            <a:avLst/>
          </a:prstGeom>
          <a:noFill/>
          <a:ln w="9525">
            <a:noFill/>
          </a:ln>
        </p:spPr>
        <p:txBody>
          <a:bodyPr anchor="ctr" anchorCtr="0"/>
          <a:p>
            <a:pPr eaLnBrk="0" hangingPunct="0">
              <a:buClrTx/>
              <a:buFontTx/>
            </a:pPr>
            <a:r>
              <a:rPr lang="en-US" altLang="zh-CN" sz="3600" u="sng" dirty="0">
                <a:solidFill>
                  <a:schemeClr val="accent2"/>
                </a:solidFill>
                <a:latin typeface="Comic Sans MS" panose="030F0702030302020204" pitchFamily="66" charset="0"/>
                <a:ea typeface="宋体" panose="02010600030101010101" pitchFamily="2" charset="-122"/>
              </a:rPr>
              <a:t>802.11: advanced capabilities</a:t>
            </a:r>
            <a:endParaRPr lang="en-US" altLang="zh-CN" sz="3600" u="sng" dirty="0">
              <a:solidFill>
                <a:schemeClr val="accent2"/>
              </a:solidFill>
              <a:latin typeface="Comic Sans MS" panose="030F0702030302020204" pitchFamily="66" charset="0"/>
              <a:ea typeface="宋体" panose="02010600030101010101" pitchFamily="2" charset="-122"/>
            </a:endParaRPr>
          </a:p>
        </p:txBody>
      </p:sp>
      <p:sp>
        <p:nvSpPr>
          <p:cNvPr id="63492" name="Rectangle 90"/>
          <p:cNvSpPr>
            <a:spLocks noGrp="1"/>
          </p:cNvSpPr>
          <p:nvPr>
            <p:ph sz="half" idx="1"/>
          </p:nvPr>
        </p:nvSpPr>
        <p:spPr>
          <a:xfrm>
            <a:off x="509588" y="1365250"/>
            <a:ext cx="3748087" cy="4648200"/>
          </a:xfrm>
          <a:ln/>
        </p:spPr>
        <p:txBody>
          <a:bodyPr vert="horz" wrap="square" lIns="91440" tIns="45720" rIns="91440" bIns="45720" anchor="t" anchorCtr="0"/>
          <a:p>
            <a:pPr defTabSz="914400">
              <a:buClr>
                <a:schemeClr val="accent2"/>
              </a:buClr>
              <a:buSzPct val="85000"/>
              <a:buFont typeface="ZapfDingbats" pitchFamily="82" charset="2"/>
              <a:buNone/>
              <a:tabLst>
                <a:tab pos="746125" algn="l"/>
              </a:tabLst>
            </a:pPr>
            <a:r>
              <a:rPr lang="en-US" altLang="zh-CN" sz="2400" i="1" dirty="0">
                <a:solidFill>
                  <a:srgbClr val="FF3300"/>
                </a:solidFill>
                <a:ea typeface="宋体" panose="02010600030101010101" pitchFamily="2" charset="-122"/>
              </a:rPr>
              <a:t>Rate Adaptation</a:t>
            </a:r>
            <a:endParaRPr lang="en-US" altLang="zh-CN" sz="2400" i="1" dirty="0">
              <a:solidFill>
                <a:srgbClr val="FF3300"/>
              </a:solidFill>
              <a:ea typeface="宋体" panose="02010600030101010101" pitchFamily="2" charset="-122"/>
            </a:endParaRPr>
          </a:p>
          <a:p>
            <a:pPr defTabSz="914400">
              <a:buClr>
                <a:schemeClr val="accent2"/>
              </a:buClr>
              <a:buSzPct val="85000"/>
              <a:buFont typeface="ZapfDingbats" pitchFamily="82" charset="2"/>
              <a:tabLst>
                <a:tab pos="746125" algn="l"/>
              </a:tabLst>
            </a:pPr>
            <a:r>
              <a:rPr lang="en-US" altLang="zh-CN" sz="2400" dirty="0">
                <a:ea typeface="宋体" panose="02010600030101010101" pitchFamily="2" charset="-122"/>
              </a:rPr>
              <a:t>base station, mobile dynamically change transmission rate (physical layer modulation technique) as mobile moves, SNR varies </a:t>
            </a:r>
            <a:endParaRPr lang="en-US" altLang="zh-CN" sz="2400" dirty="0">
              <a:ea typeface="宋体" panose="02010600030101010101" pitchFamily="2" charset="-122"/>
            </a:endParaRPr>
          </a:p>
        </p:txBody>
      </p:sp>
      <p:sp>
        <p:nvSpPr>
          <p:cNvPr id="63493" name="Line 140"/>
          <p:cNvSpPr/>
          <p:nvPr/>
        </p:nvSpPr>
        <p:spPr>
          <a:xfrm>
            <a:off x="1997075" y="5237163"/>
            <a:ext cx="296863" cy="0"/>
          </a:xfrm>
          <a:prstGeom prst="line">
            <a:avLst/>
          </a:prstGeom>
          <a:ln w="28575" cap="flat" cmpd="sng">
            <a:solidFill>
              <a:srgbClr val="0000FF"/>
            </a:solidFill>
            <a:prstDash val="solid"/>
            <a:round/>
            <a:headEnd type="none" w="med" len="med"/>
            <a:tailEnd type="none" w="med" len="med"/>
          </a:ln>
        </p:spPr>
      </p:sp>
      <p:sp>
        <p:nvSpPr>
          <p:cNvPr id="63494" name="Line 141"/>
          <p:cNvSpPr/>
          <p:nvPr/>
        </p:nvSpPr>
        <p:spPr>
          <a:xfrm>
            <a:off x="1997075" y="5064125"/>
            <a:ext cx="296863" cy="0"/>
          </a:xfrm>
          <a:prstGeom prst="line">
            <a:avLst/>
          </a:prstGeom>
          <a:ln w="28575" cap="flat" cmpd="sng">
            <a:solidFill>
              <a:srgbClr val="FF0000"/>
            </a:solidFill>
            <a:prstDash val="dash"/>
            <a:round/>
            <a:headEnd type="none" w="med" len="med"/>
            <a:tailEnd type="none" w="med" len="med"/>
          </a:ln>
        </p:spPr>
      </p:sp>
      <p:sp>
        <p:nvSpPr>
          <p:cNvPr id="63495" name="Line 142"/>
          <p:cNvSpPr/>
          <p:nvPr/>
        </p:nvSpPr>
        <p:spPr>
          <a:xfrm>
            <a:off x="2006600" y="4894263"/>
            <a:ext cx="269875" cy="0"/>
          </a:xfrm>
          <a:prstGeom prst="line">
            <a:avLst/>
          </a:prstGeom>
          <a:ln w="28575" cap="flat" cmpd="sng">
            <a:solidFill>
              <a:srgbClr val="009900"/>
            </a:solidFill>
            <a:prstDash val="sysDot"/>
            <a:round/>
            <a:headEnd type="none" w="med" len="med"/>
            <a:tailEnd type="none" w="med" len="med"/>
          </a:ln>
        </p:spPr>
      </p:sp>
      <p:sp>
        <p:nvSpPr>
          <p:cNvPr id="63496" name="Text Box 143"/>
          <p:cNvSpPr txBox="1"/>
          <p:nvPr/>
        </p:nvSpPr>
        <p:spPr>
          <a:xfrm>
            <a:off x="2279650" y="4768850"/>
            <a:ext cx="1217613" cy="244475"/>
          </a:xfrm>
          <a:prstGeom prst="rect">
            <a:avLst/>
          </a:prstGeom>
          <a:noFill/>
          <a:ln w="9525">
            <a:noFill/>
          </a:ln>
        </p:spPr>
        <p:txBody>
          <a:bodyPr wrap="none" anchor="t" anchorCtr="0">
            <a:spAutoFit/>
          </a:bodyPr>
          <a:p>
            <a:pPr>
              <a:buClrTx/>
              <a:buFontTx/>
            </a:pPr>
            <a:r>
              <a:rPr lang="en-US" altLang="zh-CN" sz="1000" dirty="0">
                <a:latin typeface="Arial" panose="020B0604020202020204" pitchFamily="34" charset="0"/>
                <a:ea typeface="宋体" panose="02010600030101010101" pitchFamily="2" charset="-122"/>
              </a:rPr>
              <a:t>QAM256 (8 Mbps)</a:t>
            </a:r>
            <a:endParaRPr lang="en-US" altLang="zh-CN" sz="1000" dirty="0">
              <a:latin typeface="Arial" panose="020B0604020202020204" pitchFamily="34" charset="0"/>
              <a:ea typeface="宋体" panose="02010600030101010101" pitchFamily="2" charset="-122"/>
            </a:endParaRPr>
          </a:p>
        </p:txBody>
      </p:sp>
      <p:sp>
        <p:nvSpPr>
          <p:cNvPr id="63497" name="Text Box 144"/>
          <p:cNvSpPr txBox="1"/>
          <p:nvPr/>
        </p:nvSpPr>
        <p:spPr>
          <a:xfrm>
            <a:off x="2271713" y="4922838"/>
            <a:ext cx="1147762" cy="244475"/>
          </a:xfrm>
          <a:prstGeom prst="rect">
            <a:avLst/>
          </a:prstGeom>
          <a:noFill/>
          <a:ln w="9525">
            <a:noFill/>
          </a:ln>
        </p:spPr>
        <p:txBody>
          <a:bodyPr wrap="none" anchor="t" anchorCtr="0">
            <a:spAutoFit/>
          </a:bodyPr>
          <a:p>
            <a:pPr>
              <a:buClrTx/>
              <a:buFontTx/>
            </a:pPr>
            <a:r>
              <a:rPr lang="en-US" altLang="zh-CN" sz="1000" dirty="0">
                <a:latin typeface="Arial" panose="020B0604020202020204" pitchFamily="34" charset="0"/>
                <a:ea typeface="宋体" panose="02010600030101010101" pitchFamily="2" charset="-122"/>
              </a:rPr>
              <a:t>QAM16 (4 Mbps)</a:t>
            </a:r>
            <a:endParaRPr lang="en-US" altLang="zh-CN" sz="1000" dirty="0">
              <a:latin typeface="Arial" panose="020B0604020202020204" pitchFamily="34" charset="0"/>
              <a:ea typeface="宋体" panose="02010600030101010101" pitchFamily="2" charset="-122"/>
            </a:endParaRPr>
          </a:p>
        </p:txBody>
      </p:sp>
      <p:sp>
        <p:nvSpPr>
          <p:cNvPr id="63498" name="Text Box 145"/>
          <p:cNvSpPr txBox="1"/>
          <p:nvPr/>
        </p:nvSpPr>
        <p:spPr>
          <a:xfrm>
            <a:off x="2281238" y="5103813"/>
            <a:ext cx="1055687" cy="244475"/>
          </a:xfrm>
          <a:prstGeom prst="rect">
            <a:avLst/>
          </a:prstGeom>
          <a:noFill/>
          <a:ln w="9525">
            <a:noFill/>
          </a:ln>
        </p:spPr>
        <p:txBody>
          <a:bodyPr wrap="none" anchor="t" anchorCtr="0">
            <a:spAutoFit/>
          </a:bodyPr>
          <a:p>
            <a:pPr>
              <a:buClrTx/>
              <a:buFontTx/>
            </a:pPr>
            <a:r>
              <a:rPr lang="en-US" altLang="zh-CN" sz="1000" dirty="0">
                <a:latin typeface="Arial" panose="020B0604020202020204" pitchFamily="34" charset="0"/>
                <a:ea typeface="宋体" panose="02010600030101010101" pitchFamily="2" charset="-122"/>
              </a:rPr>
              <a:t>BPSK (1 Mbps)</a:t>
            </a:r>
            <a:endParaRPr lang="en-US" altLang="zh-CN" sz="1000" dirty="0">
              <a:latin typeface="Arial" panose="020B0604020202020204" pitchFamily="34" charset="0"/>
              <a:ea typeface="宋体" panose="02010600030101010101" pitchFamily="2" charset="-122"/>
            </a:endParaRPr>
          </a:p>
        </p:txBody>
      </p:sp>
      <p:sp>
        <p:nvSpPr>
          <p:cNvPr id="63499" name="Freeform 124"/>
          <p:cNvSpPr/>
          <p:nvPr/>
        </p:nvSpPr>
        <p:spPr>
          <a:xfrm>
            <a:off x="5357813" y="1806575"/>
            <a:ext cx="631825" cy="1687513"/>
          </a:xfrm>
          <a:custGeom>
            <a:avLst/>
            <a:gdLst/>
            <a:ahLst/>
            <a:cxnLst>
              <a:cxn ang="0">
                <a:pos x="0" y="0"/>
              </a:cxn>
              <a:cxn ang="0">
                <a:pos x="498136424" y="431458490"/>
              </a:cxn>
              <a:cxn ang="0">
                <a:pos x="823009651" y="1105613574"/>
              </a:cxn>
              <a:cxn ang="0">
                <a:pos x="1039590705" y="1788756360"/>
              </a:cxn>
            </a:cxnLst>
            <a:pathLst>
              <a:path w="384" h="1592">
                <a:moveTo>
                  <a:pt x="0" y="0"/>
                </a:moveTo>
                <a:cubicBezTo>
                  <a:pt x="66" y="110"/>
                  <a:pt x="133" y="220"/>
                  <a:pt x="184" y="384"/>
                </a:cubicBezTo>
                <a:cubicBezTo>
                  <a:pt x="235" y="548"/>
                  <a:pt x="271" y="783"/>
                  <a:pt x="304" y="984"/>
                </a:cubicBezTo>
                <a:cubicBezTo>
                  <a:pt x="337" y="1185"/>
                  <a:pt x="371" y="1492"/>
                  <a:pt x="384" y="1592"/>
                </a:cubicBezTo>
              </a:path>
            </a:pathLst>
          </a:custGeom>
          <a:noFill/>
          <a:ln w="28575" cap="flat" cmpd="sng">
            <a:solidFill>
              <a:srgbClr val="0000FF"/>
            </a:solidFill>
            <a:prstDash val="solid"/>
            <a:round/>
            <a:headEnd type="none" w="med" len="med"/>
            <a:tailEnd type="none" w="med" len="med"/>
          </a:ln>
        </p:spPr>
        <p:txBody>
          <a:bodyPr/>
          <a:p>
            <a:endParaRPr lang="zh-CN" altLang="en-US"/>
          </a:p>
        </p:txBody>
      </p:sp>
      <p:sp>
        <p:nvSpPr>
          <p:cNvPr id="63500" name="Freeform 125"/>
          <p:cNvSpPr/>
          <p:nvPr/>
        </p:nvSpPr>
        <p:spPr>
          <a:xfrm>
            <a:off x="5765800" y="1652588"/>
            <a:ext cx="604838" cy="1879600"/>
          </a:xfrm>
          <a:custGeom>
            <a:avLst/>
            <a:gdLst/>
            <a:ahLst/>
            <a:cxnLst>
              <a:cxn ang="0">
                <a:pos x="0" y="0"/>
              </a:cxn>
              <a:cxn ang="0">
                <a:pos x="329321690" y="322758647"/>
              </a:cxn>
              <a:cxn ang="0">
                <a:pos x="501823728" y="654239682"/>
              </a:cxn>
              <a:cxn ang="0">
                <a:pos x="705689136" y="1299756975"/>
              </a:cxn>
              <a:cxn ang="0">
                <a:pos x="846826403" y="1962720089"/>
              </a:cxn>
            </a:cxnLst>
            <a:pathLst>
              <a:path w="432" h="1800">
                <a:moveTo>
                  <a:pt x="0" y="0"/>
                </a:moveTo>
                <a:cubicBezTo>
                  <a:pt x="62" y="98"/>
                  <a:pt x="125" y="196"/>
                  <a:pt x="168" y="296"/>
                </a:cubicBezTo>
                <a:cubicBezTo>
                  <a:pt x="211" y="396"/>
                  <a:pt x="224" y="451"/>
                  <a:pt x="256" y="600"/>
                </a:cubicBezTo>
                <a:cubicBezTo>
                  <a:pt x="288" y="749"/>
                  <a:pt x="331" y="992"/>
                  <a:pt x="360" y="1192"/>
                </a:cubicBezTo>
                <a:cubicBezTo>
                  <a:pt x="389" y="1392"/>
                  <a:pt x="410" y="1596"/>
                  <a:pt x="432" y="1800"/>
                </a:cubicBezTo>
              </a:path>
            </a:pathLst>
          </a:custGeom>
          <a:noFill/>
          <a:ln w="28575" cap="flat" cmpd="sng">
            <a:solidFill>
              <a:srgbClr val="FF0000"/>
            </a:solidFill>
            <a:prstDash val="dash"/>
            <a:round/>
            <a:headEnd type="none" w="med" len="med"/>
            <a:tailEnd type="none" w="med" len="med"/>
          </a:ln>
        </p:spPr>
        <p:txBody>
          <a:bodyPr/>
          <a:p>
            <a:endParaRPr lang="zh-CN" altLang="en-US"/>
          </a:p>
        </p:txBody>
      </p:sp>
      <p:sp>
        <p:nvSpPr>
          <p:cNvPr id="63501" name="Freeform 126"/>
          <p:cNvSpPr/>
          <p:nvPr/>
        </p:nvSpPr>
        <p:spPr>
          <a:xfrm>
            <a:off x="6203950" y="1652588"/>
            <a:ext cx="571500" cy="1889125"/>
          </a:xfrm>
          <a:custGeom>
            <a:avLst/>
            <a:gdLst/>
            <a:ahLst/>
            <a:cxnLst>
              <a:cxn ang="0">
                <a:pos x="0" y="0"/>
              </a:cxn>
              <a:cxn ang="0">
                <a:pos x="298233353" y="328955487"/>
              </a:cxn>
              <a:cxn ang="0">
                <a:pos x="455198349" y="657910974"/>
              </a:cxn>
              <a:cxn ang="0">
                <a:pos x="674948504" y="1324712009"/>
              </a:cxn>
              <a:cxn ang="0">
                <a:pos x="800520221" y="1991514099"/>
              </a:cxn>
            </a:cxnLst>
            <a:pathLst>
              <a:path w="408" h="1792">
                <a:moveTo>
                  <a:pt x="0" y="0"/>
                </a:moveTo>
                <a:cubicBezTo>
                  <a:pt x="56" y="98"/>
                  <a:pt x="113" y="197"/>
                  <a:pt x="152" y="296"/>
                </a:cubicBezTo>
                <a:cubicBezTo>
                  <a:pt x="191" y="395"/>
                  <a:pt x="200" y="443"/>
                  <a:pt x="232" y="592"/>
                </a:cubicBezTo>
                <a:cubicBezTo>
                  <a:pt x="264" y="741"/>
                  <a:pt x="315" y="992"/>
                  <a:pt x="344" y="1192"/>
                </a:cubicBezTo>
                <a:cubicBezTo>
                  <a:pt x="373" y="1392"/>
                  <a:pt x="397" y="1691"/>
                  <a:pt x="408" y="1792"/>
                </a:cubicBezTo>
              </a:path>
            </a:pathLst>
          </a:custGeom>
          <a:noFill/>
          <a:ln w="28575" cap="flat" cmpd="sng">
            <a:solidFill>
              <a:srgbClr val="009900"/>
            </a:solidFill>
            <a:prstDash val="sysDot"/>
            <a:round/>
            <a:headEnd type="none" w="med" len="med"/>
            <a:tailEnd type="none" w="med" len="med"/>
          </a:ln>
        </p:spPr>
        <p:txBody>
          <a:bodyPr/>
          <a:p>
            <a:endParaRPr lang="zh-CN" altLang="en-US"/>
          </a:p>
        </p:txBody>
      </p:sp>
      <p:sp>
        <p:nvSpPr>
          <p:cNvPr id="63502" name="Rectangle 127"/>
          <p:cNvSpPr/>
          <p:nvPr/>
        </p:nvSpPr>
        <p:spPr>
          <a:xfrm>
            <a:off x="5343525" y="1644650"/>
            <a:ext cx="1847850" cy="1911350"/>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3503" name="Line 128"/>
          <p:cNvSpPr/>
          <p:nvPr/>
        </p:nvSpPr>
        <p:spPr>
          <a:xfrm>
            <a:off x="5343525" y="1973263"/>
            <a:ext cx="1838325" cy="0"/>
          </a:xfrm>
          <a:prstGeom prst="line">
            <a:avLst/>
          </a:prstGeom>
          <a:ln w="9525" cap="flat" cmpd="sng">
            <a:solidFill>
              <a:schemeClr val="tx1"/>
            </a:solidFill>
            <a:prstDash val="solid"/>
            <a:round/>
            <a:headEnd type="none" w="med" len="med"/>
            <a:tailEnd type="none" w="med" len="med"/>
          </a:ln>
        </p:spPr>
      </p:sp>
      <p:sp>
        <p:nvSpPr>
          <p:cNvPr id="63504" name="Line 129"/>
          <p:cNvSpPr/>
          <p:nvPr/>
        </p:nvSpPr>
        <p:spPr>
          <a:xfrm>
            <a:off x="5349875" y="2282825"/>
            <a:ext cx="1838325" cy="0"/>
          </a:xfrm>
          <a:prstGeom prst="line">
            <a:avLst/>
          </a:prstGeom>
          <a:ln w="9525" cap="flat" cmpd="sng">
            <a:solidFill>
              <a:schemeClr val="tx1"/>
            </a:solidFill>
            <a:prstDash val="solid"/>
            <a:round/>
            <a:headEnd type="none" w="med" len="med"/>
            <a:tailEnd type="none" w="med" len="med"/>
          </a:ln>
        </p:spPr>
      </p:sp>
      <p:sp>
        <p:nvSpPr>
          <p:cNvPr id="63505" name="Line 130"/>
          <p:cNvSpPr/>
          <p:nvPr/>
        </p:nvSpPr>
        <p:spPr>
          <a:xfrm>
            <a:off x="5354638" y="2601913"/>
            <a:ext cx="1839912" cy="0"/>
          </a:xfrm>
          <a:prstGeom prst="line">
            <a:avLst/>
          </a:prstGeom>
          <a:ln w="9525" cap="flat" cmpd="sng">
            <a:solidFill>
              <a:schemeClr val="tx1"/>
            </a:solidFill>
            <a:prstDash val="solid"/>
            <a:round/>
            <a:headEnd type="none" w="med" len="med"/>
            <a:tailEnd type="none" w="med" len="med"/>
          </a:ln>
        </p:spPr>
      </p:sp>
      <p:sp>
        <p:nvSpPr>
          <p:cNvPr id="63506" name="Line 131"/>
          <p:cNvSpPr/>
          <p:nvPr/>
        </p:nvSpPr>
        <p:spPr>
          <a:xfrm>
            <a:off x="5360988" y="2911475"/>
            <a:ext cx="1839912" cy="0"/>
          </a:xfrm>
          <a:prstGeom prst="line">
            <a:avLst/>
          </a:prstGeom>
          <a:ln w="9525" cap="flat" cmpd="sng">
            <a:solidFill>
              <a:schemeClr val="tx1"/>
            </a:solidFill>
            <a:prstDash val="solid"/>
            <a:round/>
            <a:headEnd type="none" w="med" len="med"/>
            <a:tailEnd type="none" w="med" len="med"/>
          </a:ln>
        </p:spPr>
      </p:sp>
      <p:sp>
        <p:nvSpPr>
          <p:cNvPr id="63507" name="Line 132"/>
          <p:cNvSpPr/>
          <p:nvPr/>
        </p:nvSpPr>
        <p:spPr>
          <a:xfrm>
            <a:off x="5367338" y="3232150"/>
            <a:ext cx="1839912" cy="0"/>
          </a:xfrm>
          <a:prstGeom prst="line">
            <a:avLst/>
          </a:prstGeom>
          <a:ln w="9525" cap="flat" cmpd="sng">
            <a:solidFill>
              <a:schemeClr val="tx1"/>
            </a:solidFill>
            <a:prstDash val="solid"/>
            <a:round/>
            <a:headEnd type="none" w="med" len="med"/>
            <a:tailEnd type="none" w="med" len="med"/>
          </a:ln>
        </p:spPr>
      </p:sp>
      <p:sp>
        <p:nvSpPr>
          <p:cNvPr id="63508" name="Line 133"/>
          <p:cNvSpPr/>
          <p:nvPr/>
        </p:nvSpPr>
        <p:spPr>
          <a:xfrm>
            <a:off x="5826125" y="1644650"/>
            <a:ext cx="0" cy="1911350"/>
          </a:xfrm>
          <a:prstGeom prst="line">
            <a:avLst/>
          </a:prstGeom>
          <a:ln w="9525" cap="flat" cmpd="sng">
            <a:solidFill>
              <a:schemeClr val="tx1"/>
            </a:solidFill>
            <a:prstDash val="solid"/>
            <a:round/>
            <a:headEnd type="none" w="med" len="med"/>
            <a:tailEnd type="none" w="med" len="med"/>
          </a:ln>
        </p:spPr>
      </p:sp>
      <p:sp>
        <p:nvSpPr>
          <p:cNvPr id="63509" name="Line 134"/>
          <p:cNvSpPr/>
          <p:nvPr/>
        </p:nvSpPr>
        <p:spPr>
          <a:xfrm>
            <a:off x="6283325" y="1655763"/>
            <a:ext cx="0" cy="1911350"/>
          </a:xfrm>
          <a:prstGeom prst="line">
            <a:avLst/>
          </a:prstGeom>
          <a:ln w="9525" cap="flat" cmpd="sng">
            <a:solidFill>
              <a:schemeClr val="tx1"/>
            </a:solidFill>
            <a:prstDash val="solid"/>
            <a:round/>
            <a:headEnd type="none" w="med" len="med"/>
            <a:tailEnd type="none" w="med" len="med"/>
          </a:ln>
        </p:spPr>
      </p:sp>
      <p:sp>
        <p:nvSpPr>
          <p:cNvPr id="63510" name="Line 135"/>
          <p:cNvSpPr/>
          <p:nvPr/>
        </p:nvSpPr>
        <p:spPr>
          <a:xfrm>
            <a:off x="6738938" y="1649413"/>
            <a:ext cx="0" cy="1911350"/>
          </a:xfrm>
          <a:prstGeom prst="line">
            <a:avLst/>
          </a:prstGeom>
          <a:ln w="9525" cap="flat" cmpd="sng">
            <a:solidFill>
              <a:schemeClr val="tx1"/>
            </a:solidFill>
            <a:prstDash val="solid"/>
            <a:round/>
            <a:headEnd type="none" w="med" len="med"/>
            <a:tailEnd type="none" w="med" len="med"/>
          </a:ln>
        </p:spPr>
      </p:sp>
      <p:sp>
        <p:nvSpPr>
          <p:cNvPr id="63511" name="Text Box 136"/>
          <p:cNvSpPr txBox="1"/>
          <p:nvPr/>
        </p:nvSpPr>
        <p:spPr>
          <a:xfrm>
            <a:off x="5707063" y="3541713"/>
            <a:ext cx="352425"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endParaRPr lang="en-US" altLang="zh-CN" sz="1200" baseline="30000" dirty="0">
              <a:latin typeface="Arial" panose="020B0604020202020204" pitchFamily="34" charset="0"/>
              <a:ea typeface="宋体" panose="02010600030101010101" pitchFamily="2" charset="-122"/>
            </a:endParaRPr>
          </a:p>
        </p:txBody>
      </p:sp>
      <p:sp>
        <p:nvSpPr>
          <p:cNvPr id="63512" name="Text Box 137"/>
          <p:cNvSpPr txBox="1"/>
          <p:nvPr/>
        </p:nvSpPr>
        <p:spPr>
          <a:xfrm>
            <a:off x="6162675" y="3541713"/>
            <a:ext cx="352425"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20</a:t>
            </a:r>
            <a:endParaRPr lang="en-US" altLang="zh-CN" sz="1200" baseline="30000" dirty="0">
              <a:latin typeface="Arial" panose="020B0604020202020204" pitchFamily="34" charset="0"/>
              <a:ea typeface="宋体" panose="02010600030101010101" pitchFamily="2" charset="-122"/>
            </a:endParaRPr>
          </a:p>
        </p:txBody>
      </p:sp>
      <p:sp>
        <p:nvSpPr>
          <p:cNvPr id="63513" name="Text Box 138"/>
          <p:cNvSpPr txBox="1"/>
          <p:nvPr/>
        </p:nvSpPr>
        <p:spPr>
          <a:xfrm>
            <a:off x="6608763" y="3543300"/>
            <a:ext cx="352425"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30</a:t>
            </a:r>
            <a:endParaRPr lang="en-US" altLang="zh-CN" sz="1200" baseline="30000" dirty="0">
              <a:latin typeface="Arial" panose="020B0604020202020204" pitchFamily="34" charset="0"/>
              <a:ea typeface="宋体" panose="02010600030101010101" pitchFamily="2" charset="-122"/>
            </a:endParaRPr>
          </a:p>
        </p:txBody>
      </p:sp>
      <p:sp>
        <p:nvSpPr>
          <p:cNvPr id="63514" name="Text Box 139"/>
          <p:cNvSpPr txBox="1"/>
          <p:nvPr/>
        </p:nvSpPr>
        <p:spPr>
          <a:xfrm>
            <a:off x="7075488" y="3546475"/>
            <a:ext cx="352425"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40</a:t>
            </a:r>
            <a:endParaRPr lang="en-US" altLang="zh-CN" sz="1200" baseline="30000" dirty="0">
              <a:latin typeface="Arial" panose="020B0604020202020204" pitchFamily="34" charset="0"/>
              <a:ea typeface="宋体" panose="02010600030101010101" pitchFamily="2" charset="-122"/>
            </a:endParaRPr>
          </a:p>
        </p:txBody>
      </p:sp>
      <p:sp>
        <p:nvSpPr>
          <p:cNvPr id="63515" name="Text Box 146"/>
          <p:cNvSpPr txBox="1"/>
          <p:nvPr/>
        </p:nvSpPr>
        <p:spPr>
          <a:xfrm>
            <a:off x="5970588" y="3675063"/>
            <a:ext cx="895350"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SNR(dB)</a:t>
            </a:r>
            <a:endParaRPr lang="en-US" altLang="zh-CN" sz="1400" dirty="0">
              <a:latin typeface="Arial" panose="020B0604020202020204" pitchFamily="34" charset="0"/>
              <a:ea typeface="宋体" panose="02010600030101010101" pitchFamily="2" charset="-122"/>
            </a:endParaRPr>
          </a:p>
        </p:txBody>
      </p:sp>
      <p:sp>
        <p:nvSpPr>
          <p:cNvPr id="63516" name="Text Box 147"/>
          <p:cNvSpPr txBox="1"/>
          <p:nvPr/>
        </p:nvSpPr>
        <p:spPr>
          <a:xfrm rot="-5400000">
            <a:off x="4641850" y="2381250"/>
            <a:ext cx="549275"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BER</a:t>
            </a:r>
            <a:endParaRPr lang="en-US" altLang="zh-CN" sz="1400" dirty="0">
              <a:latin typeface="Arial" panose="020B0604020202020204" pitchFamily="34" charset="0"/>
              <a:ea typeface="宋体" panose="02010600030101010101" pitchFamily="2" charset="-122"/>
            </a:endParaRPr>
          </a:p>
        </p:txBody>
      </p:sp>
      <p:sp>
        <p:nvSpPr>
          <p:cNvPr id="63517" name="Text Box 148"/>
          <p:cNvSpPr txBox="1"/>
          <p:nvPr/>
        </p:nvSpPr>
        <p:spPr>
          <a:xfrm>
            <a:off x="4973638" y="1487488"/>
            <a:ext cx="442912"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-1</a:t>
            </a:r>
            <a:endParaRPr lang="en-US" altLang="zh-CN" sz="1200" baseline="30000" dirty="0">
              <a:latin typeface="Arial" panose="020B0604020202020204" pitchFamily="34" charset="0"/>
              <a:ea typeface="宋体" panose="02010600030101010101" pitchFamily="2" charset="-122"/>
            </a:endParaRPr>
          </a:p>
        </p:txBody>
      </p:sp>
      <p:sp>
        <p:nvSpPr>
          <p:cNvPr id="63518" name="Text Box 149"/>
          <p:cNvSpPr txBox="1"/>
          <p:nvPr/>
        </p:nvSpPr>
        <p:spPr>
          <a:xfrm>
            <a:off x="4986338" y="1806575"/>
            <a:ext cx="442912"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-2</a:t>
            </a:r>
            <a:endParaRPr lang="en-US" altLang="zh-CN" sz="1200" baseline="30000" dirty="0">
              <a:latin typeface="Arial" panose="020B0604020202020204" pitchFamily="34" charset="0"/>
              <a:ea typeface="宋体" panose="02010600030101010101" pitchFamily="2" charset="-122"/>
            </a:endParaRPr>
          </a:p>
        </p:txBody>
      </p:sp>
      <p:sp>
        <p:nvSpPr>
          <p:cNvPr id="63519" name="Text Box 150"/>
          <p:cNvSpPr txBox="1"/>
          <p:nvPr/>
        </p:nvSpPr>
        <p:spPr>
          <a:xfrm>
            <a:off x="4978400" y="2117725"/>
            <a:ext cx="442913"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-3</a:t>
            </a:r>
            <a:endParaRPr lang="en-US" altLang="zh-CN" sz="1200" baseline="30000" dirty="0">
              <a:latin typeface="Arial" panose="020B0604020202020204" pitchFamily="34" charset="0"/>
              <a:ea typeface="宋体" panose="02010600030101010101" pitchFamily="2" charset="-122"/>
            </a:endParaRPr>
          </a:p>
        </p:txBody>
      </p:sp>
      <p:sp>
        <p:nvSpPr>
          <p:cNvPr id="63520" name="Text Box 151"/>
          <p:cNvSpPr txBox="1"/>
          <p:nvPr/>
        </p:nvSpPr>
        <p:spPr>
          <a:xfrm>
            <a:off x="4986338" y="2738438"/>
            <a:ext cx="442912"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-5</a:t>
            </a:r>
            <a:endParaRPr lang="en-US" altLang="zh-CN" sz="1200" baseline="30000" dirty="0">
              <a:latin typeface="Arial" panose="020B0604020202020204" pitchFamily="34" charset="0"/>
              <a:ea typeface="宋体" panose="02010600030101010101" pitchFamily="2" charset="-122"/>
            </a:endParaRPr>
          </a:p>
        </p:txBody>
      </p:sp>
      <p:sp>
        <p:nvSpPr>
          <p:cNvPr id="63521" name="Text Box 152"/>
          <p:cNvSpPr txBox="1"/>
          <p:nvPr/>
        </p:nvSpPr>
        <p:spPr>
          <a:xfrm>
            <a:off x="4987925" y="3057525"/>
            <a:ext cx="442913"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-6</a:t>
            </a:r>
            <a:endParaRPr lang="en-US" altLang="zh-CN" sz="1200" baseline="30000" dirty="0">
              <a:latin typeface="Arial" panose="020B0604020202020204" pitchFamily="34" charset="0"/>
              <a:ea typeface="宋体" panose="02010600030101010101" pitchFamily="2" charset="-122"/>
            </a:endParaRPr>
          </a:p>
        </p:txBody>
      </p:sp>
      <p:sp>
        <p:nvSpPr>
          <p:cNvPr id="63522" name="Text Box 153"/>
          <p:cNvSpPr txBox="1"/>
          <p:nvPr/>
        </p:nvSpPr>
        <p:spPr>
          <a:xfrm>
            <a:off x="4981575" y="3386138"/>
            <a:ext cx="442913" cy="274637"/>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-7</a:t>
            </a:r>
            <a:endParaRPr lang="en-US" altLang="zh-CN" sz="1200" baseline="30000" dirty="0">
              <a:latin typeface="Arial" panose="020B0604020202020204" pitchFamily="34" charset="0"/>
              <a:ea typeface="宋体" panose="02010600030101010101" pitchFamily="2" charset="-122"/>
            </a:endParaRPr>
          </a:p>
        </p:txBody>
      </p:sp>
      <p:sp>
        <p:nvSpPr>
          <p:cNvPr id="63523" name="Text Box 154"/>
          <p:cNvSpPr txBox="1"/>
          <p:nvPr/>
        </p:nvSpPr>
        <p:spPr>
          <a:xfrm>
            <a:off x="4975225" y="2441575"/>
            <a:ext cx="442913" cy="274638"/>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10</a:t>
            </a:r>
            <a:r>
              <a:rPr lang="en-US" altLang="zh-CN" sz="1200" baseline="30000" dirty="0">
                <a:latin typeface="Arial" panose="020B0604020202020204" pitchFamily="34" charset="0"/>
                <a:ea typeface="宋体" panose="02010600030101010101" pitchFamily="2" charset="-122"/>
              </a:rPr>
              <a:t>-4</a:t>
            </a:r>
            <a:endParaRPr lang="en-US" altLang="zh-CN" sz="1200" baseline="30000" dirty="0">
              <a:latin typeface="Arial" panose="020B0604020202020204" pitchFamily="34" charset="0"/>
              <a:ea typeface="宋体" panose="02010600030101010101" pitchFamily="2" charset="-122"/>
            </a:endParaRPr>
          </a:p>
        </p:txBody>
      </p:sp>
      <p:sp>
        <p:nvSpPr>
          <p:cNvPr id="536734" name="Oval 158"/>
          <p:cNvSpPr/>
          <p:nvPr/>
        </p:nvSpPr>
        <p:spPr>
          <a:xfrm>
            <a:off x="6667500" y="3176588"/>
            <a:ext cx="152400" cy="161925"/>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3525" name="Oval 159"/>
          <p:cNvSpPr/>
          <p:nvPr/>
        </p:nvSpPr>
        <p:spPr>
          <a:xfrm>
            <a:off x="2065338" y="5330825"/>
            <a:ext cx="152400" cy="161925"/>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3526" name="Text Box 160"/>
          <p:cNvSpPr txBox="1"/>
          <p:nvPr/>
        </p:nvSpPr>
        <p:spPr>
          <a:xfrm>
            <a:off x="2290763" y="5294313"/>
            <a:ext cx="1017587" cy="244475"/>
          </a:xfrm>
          <a:prstGeom prst="rect">
            <a:avLst/>
          </a:prstGeom>
          <a:noFill/>
          <a:ln w="9525">
            <a:noFill/>
          </a:ln>
        </p:spPr>
        <p:txBody>
          <a:bodyPr wrap="none" anchor="t" anchorCtr="0">
            <a:spAutoFit/>
          </a:bodyPr>
          <a:p>
            <a:pPr>
              <a:buClrTx/>
              <a:buFontTx/>
            </a:pPr>
            <a:r>
              <a:rPr lang="en-US" altLang="zh-CN" sz="1000" dirty="0">
                <a:latin typeface="Arial" panose="020B0604020202020204" pitchFamily="34" charset="0"/>
                <a:ea typeface="宋体" panose="02010600030101010101" pitchFamily="2" charset="-122"/>
              </a:rPr>
              <a:t>operating point</a:t>
            </a:r>
            <a:endParaRPr lang="en-US" altLang="zh-CN" sz="1000" dirty="0">
              <a:latin typeface="Arial" panose="020B0604020202020204" pitchFamily="34" charset="0"/>
              <a:ea typeface="宋体" panose="02010600030101010101" pitchFamily="2" charset="-122"/>
            </a:endParaRPr>
          </a:p>
        </p:txBody>
      </p:sp>
      <p:sp>
        <p:nvSpPr>
          <p:cNvPr id="536737" name="Text Box 161"/>
          <p:cNvSpPr txBox="1"/>
          <p:nvPr/>
        </p:nvSpPr>
        <p:spPr>
          <a:xfrm>
            <a:off x="4983163" y="4121150"/>
            <a:ext cx="3203575" cy="915988"/>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1. SNR decreases, BER increase as node moves away from base station</a:t>
            </a:r>
            <a:endParaRPr lang="en-US" altLang="zh-CN" dirty="0">
              <a:latin typeface="Comic Sans MS" panose="030F0702030302020204" pitchFamily="66" charset="0"/>
              <a:ea typeface="宋体" panose="02010600030101010101" pitchFamily="2" charset="-122"/>
            </a:endParaRPr>
          </a:p>
        </p:txBody>
      </p:sp>
      <p:sp>
        <p:nvSpPr>
          <p:cNvPr id="536738" name="Text Box 162"/>
          <p:cNvSpPr txBox="1"/>
          <p:nvPr/>
        </p:nvSpPr>
        <p:spPr>
          <a:xfrm>
            <a:off x="4994275" y="5059363"/>
            <a:ext cx="3203575" cy="1190625"/>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2. When BER becomes too high, switch to lower transmission rate but with lower BER</a:t>
            </a:r>
            <a:endParaRPr lang="en-US" altLang="zh-CN" dirty="0">
              <a:latin typeface="Comic Sans MS" panose="030F0702030302020204" pitchFamily="66"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8.33333E-6 -3.33333E-6 C -0.00138 -0.0162 -0.00277 -0.03217 -0.0052 -0.04792 C -0.00763 -0.06366 -0.01145 -0.08032 -0.01423 -0.09421 C -0.01701 -0.1081 -0.01909 -0.11829 -0.02187 -0.13171 C -0.02465 -0.14514 -0.02847 -0.16505 -0.0309 -0.17454 C -0.03333 -0.18403 -0.03368 -0.18264 -0.03593 -0.18819 C -0.03819 -0.19375 -0.04166 -0.20116 -0.04496 -0.20856 " pathEditMode="relative" ptsTypes="aaaaaaA">
                                      <p:cBhvr>
                                        <p:cTn id="6" dur="2000" fill="hold"/>
                                        <p:tgtEl>
                                          <p:spTgt spid="536734"/>
                                        </p:tgtEl>
                                        <p:attrNameLst>
                                          <p:attrName>ppt_x</p:attrName>
                                          <p:attrName>ppt_y</p:attrName>
                                        </p:attrNameLst>
                                      </p:cBhvr>
                                    </p:animMotion>
                                  </p:childTnLst>
                                </p:cTn>
                              </p:par>
                              <p:par>
                                <p:cTn id="7" presetID="1" presetClass="entr" presetSubtype="0" fill="hold" grpId="0" nodeType="withEffect">
                                  <p:stCondLst>
                                    <p:cond delay="0"/>
                                  </p:stCondLst>
                                  <p:childTnLst>
                                    <p:set>
                                      <p:cBhvr>
                                        <p:cTn id="8" dur="1" fill="hold">
                                          <p:stCondLst>
                                            <p:cond delay="0"/>
                                          </p:stCondLst>
                                        </p:cTn>
                                        <p:tgtEl>
                                          <p:spTgt spid="5367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04496 -0.20857 C -0.04496 -0.20857 -0.04444 -0.09329 -0.04374 0.02222 " pathEditMode="relative" ptsTypes="aA">
                                      <p:cBhvr>
                                        <p:cTn id="12" dur="2000" fill="hold"/>
                                        <p:tgtEl>
                                          <p:spTgt spid="536734"/>
                                        </p:tgtEl>
                                        <p:attrNameLst>
                                          <p:attrName>ppt_x</p:attrName>
                                          <p:attrName>ppt_y</p:attrName>
                                        </p:attrNameLst>
                                      </p:cBhvr>
                                    </p:animMotion>
                                  </p:childTnLst>
                                </p:cTn>
                              </p:par>
                              <p:par>
                                <p:cTn id="13" presetID="1" presetClass="entr" presetSubtype="0" fill="hold" grpId="0" nodeType="withEffect">
                                  <p:stCondLst>
                                    <p:cond delay="0"/>
                                  </p:stCondLst>
                                  <p:childTnLst>
                                    <p:set>
                                      <p:cBhvr>
                                        <p:cTn id="14" dur="1" fill="hold">
                                          <p:stCondLst>
                                            <p:cond delay="0"/>
                                          </p:stCondLst>
                                        </p:cTn>
                                        <p:tgtEl>
                                          <p:spTgt spid="536738"/>
                                        </p:tgtEl>
                                        <p:attrNameLst>
                                          <p:attrName>style.visibility</p:attrName>
                                        </p:attrNameLst>
                                      </p:cBhvr>
                                      <p:to>
                                        <p:strVal val="visible"/>
                                      </p:to>
                                    </p:set>
                                  </p:childTnLst>
                                </p:cTn>
                              </p:par>
                            </p:childTnLst>
                          </p:cTn>
                        </p:par>
                        <p:par>
                          <p:cTn id="15" fill="hold">
                            <p:stCondLst>
                              <p:cond delay="2000"/>
                            </p:stCondLst>
                            <p:childTnLst>
                              <p:par>
                                <p:cTn id="16" presetID="0" presetClass="path" presetSubtype="0" accel="50000" decel="50000" fill="hold" nodeType="afterEffect">
                                  <p:stCondLst>
                                    <p:cond delay="0"/>
                                  </p:stCondLst>
                                  <p:childTnLst>
                                    <p:animMotion origin="layout" path="M -0.04375 0.02222 C -0.04583 0.00856 -0.04791 -0.00486 -0.05017 -0.02223 C -0.05243 -0.03959 -0.05468 -0.06227 -0.05781 -0.08195 C -0.06093 -0.10162 -0.06753 -0.13033 -0.06944 -0.14005 " pathEditMode="relative" ptsTypes="aaaA">
                                      <p:cBhvr>
                                        <p:cTn id="17" dur="2000" fill="hold"/>
                                        <p:tgtEl>
                                          <p:spTgt spid="53673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737" grpId="0"/>
      <p:bldP spid="5367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553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5539" name="Rectangle 2"/>
          <p:cNvSpPr/>
          <p:nvPr/>
        </p:nvSpPr>
        <p:spPr>
          <a:xfrm>
            <a:off x="350838" y="274638"/>
            <a:ext cx="7772400" cy="838200"/>
          </a:xfrm>
          <a:prstGeom prst="rect">
            <a:avLst/>
          </a:prstGeom>
          <a:noFill/>
          <a:ln w="9525">
            <a:noFill/>
          </a:ln>
        </p:spPr>
        <p:txBody>
          <a:bodyPr anchor="ctr" anchorCtr="0"/>
          <a:p>
            <a:pPr eaLnBrk="0" hangingPunct="0">
              <a:buClrTx/>
              <a:buFontTx/>
            </a:pPr>
            <a:r>
              <a:rPr lang="en-US" altLang="zh-CN" sz="3600" u="sng" dirty="0">
                <a:solidFill>
                  <a:schemeClr val="accent2"/>
                </a:solidFill>
                <a:latin typeface="Comic Sans MS" panose="030F0702030302020204" pitchFamily="66" charset="0"/>
                <a:ea typeface="宋体" panose="02010600030101010101" pitchFamily="2" charset="-122"/>
              </a:rPr>
              <a:t>802.11: advanced capabilities</a:t>
            </a:r>
            <a:endParaRPr lang="en-US" altLang="zh-CN" sz="3600" u="sng" dirty="0">
              <a:solidFill>
                <a:schemeClr val="accent2"/>
              </a:solidFill>
              <a:latin typeface="Comic Sans MS" panose="030F0702030302020204" pitchFamily="66" charset="0"/>
              <a:ea typeface="宋体" panose="02010600030101010101" pitchFamily="2" charset="-122"/>
            </a:endParaRPr>
          </a:p>
        </p:txBody>
      </p:sp>
      <p:sp>
        <p:nvSpPr>
          <p:cNvPr id="65540" name="Rectangle 4"/>
          <p:cNvSpPr/>
          <p:nvPr/>
        </p:nvSpPr>
        <p:spPr>
          <a:xfrm>
            <a:off x="461963" y="1266825"/>
            <a:ext cx="7327900" cy="4648200"/>
          </a:xfrm>
          <a:prstGeom prst="rect">
            <a:avLst/>
          </a:prstGeom>
          <a:noFill/>
          <a:ln w="9525">
            <a:noFill/>
          </a:ln>
        </p:spPr>
        <p:txBody>
          <a:bodyPr anchor="t" anchorCtr="0"/>
          <a:p>
            <a:pPr marL="342900" indent="-342900" defTabSz="914400" eaLnBrk="0" hangingPunct="0">
              <a:spcBef>
                <a:spcPct val="20000"/>
              </a:spcBef>
              <a:buClr>
                <a:schemeClr val="accent2"/>
              </a:buClr>
              <a:buSzPct val="85000"/>
              <a:buFont typeface="ZapfDingbats" pitchFamily="82" charset="2"/>
              <a:tabLst>
                <a:tab pos="746125" algn="l"/>
              </a:tabLst>
            </a:pPr>
            <a:r>
              <a:rPr lang="en-US" altLang="zh-CN" sz="2400" i="1" dirty="0">
                <a:solidFill>
                  <a:srgbClr val="FF3300"/>
                </a:solidFill>
                <a:latin typeface="Comic Sans MS" panose="030F0702030302020204" pitchFamily="66" charset="0"/>
                <a:ea typeface="宋体" panose="02010600030101010101" pitchFamily="2" charset="-122"/>
              </a:rPr>
              <a:t>Power Management</a:t>
            </a:r>
            <a:endParaRPr lang="en-US" altLang="zh-CN" sz="2400" i="1" dirty="0">
              <a:solidFill>
                <a:srgbClr val="FF3300"/>
              </a:solidFill>
              <a:latin typeface="Comic Sans MS" panose="030F0702030302020204" pitchFamily="66" charset="0"/>
              <a:ea typeface="宋体" panose="02010600030101010101" pitchFamily="2" charset="-122"/>
            </a:endParaRPr>
          </a:p>
          <a:p>
            <a:pPr marL="342900" indent="-342900" defTabSz="914400" eaLnBrk="0" hangingPunct="0">
              <a:spcBef>
                <a:spcPct val="20000"/>
              </a:spcBef>
              <a:buClr>
                <a:schemeClr val="accent2"/>
              </a:buClr>
              <a:buSzPct val="85000"/>
              <a:buFont typeface="ZapfDingbats" pitchFamily="82" charset="2"/>
              <a:buChar char="r"/>
              <a:tabLst>
                <a:tab pos="746125" algn="l"/>
              </a:tabLst>
            </a:pPr>
            <a:r>
              <a:rPr lang="en-US" altLang="zh-CN" sz="2400" dirty="0">
                <a:latin typeface="Comic Sans MS" panose="030F0702030302020204" pitchFamily="66" charset="0"/>
                <a:ea typeface="宋体" panose="02010600030101010101" pitchFamily="2" charset="-122"/>
              </a:rPr>
              <a:t>node-to-AP: “I am going to sleep until next beacon frame”</a:t>
            </a:r>
            <a:endParaRPr lang="en-US" altLang="zh-CN" sz="2400" dirty="0">
              <a:latin typeface="Comic Sans MS" panose="030F0702030302020204" pitchFamily="66" charset="0"/>
              <a:ea typeface="宋体" panose="02010600030101010101" pitchFamily="2" charset="-122"/>
            </a:endParaRPr>
          </a:p>
          <a:p>
            <a:pPr marL="685800" lvl="1" indent="-228600" algn="l" defTabSz="914400" rtl="0" eaLnBrk="0" fontAlgn="base" hangingPunct="0">
              <a:spcBef>
                <a:spcPct val="20000"/>
              </a:spcBef>
              <a:spcAft>
                <a:spcPct val="0"/>
              </a:spcAft>
              <a:buClr>
                <a:schemeClr val="accent2"/>
              </a:buClr>
              <a:buSzPct val="75000"/>
              <a:buFont typeface="ZapfDingbats" pitchFamily="82" charset="2"/>
              <a:buChar char="m"/>
              <a:tabLst>
                <a:tab pos="746125" algn="l"/>
              </a:tabLst>
            </a:pPr>
            <a:r>
              <a:rPr lang="en-US" altLang="zh-CN" sz="2400" dirty="0">
                <a:solidFill>
                  <a:schemeClr val="tx1"/>
                </a:solidFill>
                <a:latin typeface="Comic Sans MS" panose="030F0702030302020204" pitchFamily="66" charset="0"/>
                <a:ea typeface="宋体" panose="02010600030101010101" pitchFamily="2" charset="-122"/>
              </a:rPr>
              <a:t>AP knows not to transmit frames to this node</a:t>
            </a:r>
            <a:endParaRPr lang="en-US" altLang="zh-CN" sz="2400" dirty="0">
              <a:solidFill>
                <a:schemeClr val="tx1"/>
              </a:solidFill>
              <a:latin typeface="Comic Sans MS" panose="030F0702030302020204" pitchFamily="66" charset="0"/>
              <a:ea typeface="宋体" panose="02010600030101010101" pitchFamily="2" charset="-122"/>
            </a:endParaRPr>
          </a:p>
          <a:p>
            <a:pPr marL="685800" lvl="1" indent="-228600" algn="l" defTabSz="914400" rtl="0" eaLnBrk="0" fontAlgn="base" hangingPunct="0">
              <a:spcBef>
                <a:spcPct val="20000"/>
              </a:spcBef>
              <a:spcAft>
                <a:spcPct val="0"/>
              </a:spcAft>
              <a:buClr>
                <a:schemeClr val="accent2"/>
              </a:buClr>
              <a:buSzPct val="75000"/>
              <a:buFont typeface="ZapfDingbats" pitchFamily="82" charset="2"/>
              <a:buChar char="m"/>
              <a:tabLst>
                <a:tab pos="746125" algn="l"/>
              </a:tabLst>
            </a:pPr>
            <a:r>
              <a:rPr lang="en-US" altLang="zh-CN" sz="2400" dirty="0">
                <a:solidFill>
                  <a:schemeClr val="tx1"/>
                </a:solidFill>
                <a:latin typeface="Comic Sans MS" panose="030F0702030302020204" pitchFamily="66" charset="0"/>
                <a:ea typeface="宋体" panose="02010600030101010101" pitchFamily="2" charset="-122"/>
              </a:rPr>
              <a:t>node wakes up before next beacon frame</a:t>
            </a:r>
            <a:endParaRPr lang="en-US" altLang="zh-CN" sz="2400" dirty="0">
              <a:solidFill>
                <a:schemeClr val="tx1"/>
              </a:solidFill>
              <a:latin typeface="Comic Sans MS" panose="030F0702030302020204" pitchFamily="66" charset="0"/>
              <a:ea typeface="宋体" panose="02010600030101010101" pitchFamily="2" charset="-122"/>
            </a:endParaRPr>
          </a:p>
          <a:p>
            <a:pPr marL="342900" indent="-342900" defTabSz="914400" eaLnBrk="0" hangingPunct="0">
              <a:spcBef>
                <a:spcPct val="20000"/>
              </a:spcBef>
              <a:buClr>
                <a:schemeClr val="accent2"/>
              </a:buClr>
              <a:buSzPct val="85000"/>
              <a:buFont typeface="ZapfDingbats" pitchFamily="82" charset="2"/>
              <a:buChar char="r"/>
              <a:tabLst>
                <a:tab pos="746125" algn="l"/>
              </a:tabLst>
            </a:pPr>
            <a:r>
              <a:rPr lang="en-US" altLang="zh-CN" sz="2400" dirty="0">
                <a:latin typeface="Comic Sans MS" panose="030F0702030302020204" pitchFamily="66" charset="0"/>
                <a:ea typeface="宋体" panose="02010600030101010101" pitchFamily="2" charset="-122"/>
              </a:rPr>
              <a:t>beacon frame: contains list of mobiles with AP-to-mobile frames waiting to be sent</a:t>
            </a:r>
            <a:endParaRPr lang="en-US" altLang="zh-CN" sz="2400" dirty="0">
              <a:latin typeface="Comic Sans MS" panose="030F0702030302020204" pitchFamily="66" charset="0"/>
              <a:ea typeface="宋体" panose="02010600030101010101" pitchFamily="2" charset="-122"/>
            </a:endParaRPr>
          </a:p>
          <a:p>
            <a:pPr marL="685800" lvl="1" indent="-228600" algn="l" defTabSz="914400" rtl="0" eaLnBrk="0" fontAlgn="base" hangingPunct="0">
              <a:spcBef>
                <a:spcPct val="20000"/>
              </a:spcBef>
              <a:spcAft>
                <a:spcPct val="0"/>
              </a:spcAft>
              <a:buClr>
                <a:schemeClr val="accent2"/>
              </a:buClr>
              <a:buSzPct val="75000"/>
              <a:buFont typeface="ZapfDingbats" pitchFamily="82" charset="2"/>
              <a:buChar char="m"/>
              <a:tabLst>
                <a:tab pos="746125" algn="l"/>
              </a:tabLst>
            </a:pPr>
            <a:r>
              <a:rPr lang="en-US" altLang="zh-CN" sz="2400" dirty="0">
                <a:solidFill>
                  <a:schemeClr val="tx1"/>
                </a:solidFill>
                <a:latin typeface="Comic Sans MS" panose="030F0702030302020204" pitchFamily="66" charset="0"/>
                <a:ea typeface="宋体" panose="02010600030101010101" pitchFamily="2" charset="-122"/>
              </a:rPr>
              <a:t>node will stay awake if AP-to-mobile frames to be sent; otherwise sleep again until next beacon frame</a:t>
            </a:r>
            <a:endParaRPr lang="en-US" altLang="zh-CN" sz="2400" dirty="0">
              <a:solidFill>
                <a:schemeClr val="tx1"/>
              </a:solidFill>
              <a:latin typeface="Comic Sans MS" panose="030F0702030302020204" pitchFamily="66" charset="0"/>
              <a:ea typeface="宋体" panose="02010600030101010101" pitchFamily="2" charset="-122"/>
            </a:endParaRPr>
          </a:p>
          <a:p>
            <a:pPr marL="342900" indent="-342900" defTabSz="914400" eaLnBrk="0" hangingPunct="0">
              <a:spcBef>
                <a:spcPct val="20000"/>
              </a:spcBef>
              <a:buClr>
                <a:schemeClr val="accent2"/>
              </a:buClr>
              <a:buSzPct val="85000"/>
              <a:buFont typeface="ZapfDingbats" pitchFamily="82" charset="2"/>
              <a:tabLst>
                <a:tab pos="746125" algn="l"/>
              </a:tabLst>
            </a:pPr>
            <a:endParaRPr lang="en-US" altLang="zh-CN" sz="2400" dirty="0">
              <a:latin typeface="Comic Sans MS" panose="030F0702030302020204" pitchFamily="66"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75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7587" name="Oval 2"/>
          <p:cNvSpPr/>
          <p:nvPr/>
        </p:nvSpPr>
        <p:spPr>
          <a:xfrm>
            <a:off x="5029200" y="1292225"/>
            <a:ext cx="3479800" cy="3416300"/>
          </a:xfrm>
          <a:prstGeom prst="ellipse">
            <a:avLst/>
          </a:prstGeom>
          <a:solidFill>
            <a:schemeClr val="accent1">
              <a:alpha val="49019"/>
            </a:schemeClr>
          </a:solidFill>
          <a:ln w="9525">
            <a:noFill/>
          </a:ln>
        </p:spPr>
        <p:txBody>
          <a:bodyPr wrap="none" anchor="ctr" anchorCtr="0"/>
          <a:p>
            <a:pPr algn="ctr">
              <a:buClrTx/>
              <a:buFontTx/>
            </a:pPr>
            <a:endParaRPr lang="zh-CN" altLang="zh-CN" sz="1600" dirty="0">
              <a:latin typeface="Arial" panose="020B0604020202020204" pitchFamily="34" charset="0"/>
              <a:ea typeface="宋体" panose="02010600030101010101" pitchFamily="2" charset="-122"/>
            </a:endParaRPr>
          </a:p>
        </p:txBody>
      </p:sp>
      <p:grpSp>
        <p:nvGrpSpPr>
          <p:cNvPr id="67588" name="Group 4"/>
          <p:cNvGrpSpPr/>
          <p:nvPr/>
        </p:nvGrpSpPr>
        <p:grpSpPr>
          <a:xfrm>
            <a:off x="6626225" y="2863850"/>
            <a:ext cx="333375" cy="336550"/>
            <a:chOff x="1334" y="2718"/>
            <a:chExt cx="210" cy="212"/>
          </a:xfrm>
        </p:grpSpPr>
        <p:sp>
          <p:nvSpPr>
            <p:cNvPr id="67589" name="Oval 5"/>
            <p:cNvSpPr/>
            <p:nvPr/>
          </p:nvSpPr>
          <p:spPr>
            <a:xfrm>
              <a:off x="1352" y="2728"/>
              <a:ext cx="192" cy="184"/>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590" name="Text Box 6"/>
            <p:cNvSpPr txBox="1"/>
            <p:nvPr/>
          </p:nvSpPr>
          <p:spPr>
            <a:xfrm>
              <a:off x="1334" y="271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M</a:t>
              </a:r>
              <a:endParaRPr lang="en-US" altLang="zh-CN" sz="1600" b="1" dirty="0">
                <a:solidFill>
                  <a:schemeClr val="bg1"/>
                </a:solidFill>
                <a:latin typeface="Arial" panose="020B0604020202020204" pitchFamily="34" charset="0"/>
                <a:ea typeface="宋体" panose="02010600030101010101" pitchFamily="2" charset="-122"/>
              </a:endParaRPr>
            </a:p>
          </p:txBody>
        </p:sp>
      </p:grpSp>
      <p:sp>
        <p:nvSpPr>
          <p:cNvPr id="67591" name="Line 7"/>
          <p:cNvSpPr/>
          <p:nvPr/>
        </p:nvSpPr>
        <p:spPr>
          <a:xfrm>
            <a:off x="6972300" y="3019425"/>
            <a:ext cx="1524000" cy="1588"/>
          </a:xfrm>
          <a:prstGeom prst="line">
            <a:avLst/>
          </a:prstGeom>
          <a:ln w="9525" cap="flat" cmpd="sng">
            <a:solidFill>
              <a:schemeClr val="tx1"/>
            </a:solidFill>
            <a:prstDash val="solid"/>
            <a:round/>
            <a:headEnd type="none" w="med" len="med"/>
            <a:tailEnd type="triangle" w="med" len="med"/>
          </a:ln>
        </p:spPr>
      </p:sp>
      <p:sp>
        <p:nvSpPr>
          <p:cNvPr id="67592" name="Line 8"/>
          <p:cNvSpPr/>
          <p:nvPr/>
        </p:nvSpPr>
        <p:spPr>
          <a:xfrm>
            <a:off x="5029200" y="3019425"/>
            <a:ext cx="1587500" cy="1588"/>
          </a:xfrm>
          <a:prstGeom prst="line">
            <a:avLst/>
          </a:prstGeom>
          <a:ln w="9525" cap="flat" cmpd="sng">
            <a:solidFill>
              <a:schemeClr val="tx1"/>
            </a:solidFill>
            <a:prstDash val="solid"/>
            <a:round/>
            <a:headEnd type="triangle" w="med" len="med"/>
            <a:tailEnd type="none" w="med" len="med"/>
          </a:ln>
        </p:spPr>
      </p:sp>
      <p:sp>
        <p:nvSpPr>
          <p:cNvPr id="67593" name="Text Box 9"/>
          <p:cNvSpPr txBox="1"/>
          <p:nvPr/>
        </p:nvSpPr>
        <p:spPr>
          <a:xfrm>
            <a:off x="7591425" y="2736850"/>
            <a:ext cx="1019175" cy="581025"/>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radius of</a:t>
            </a:r>
            <a:endParaRPr lang="en-US" altLang="zh-CN" sz="1600" dirty="0">
              <a:latin typeface="Arial" panose="020B0604020202020204" pitchFamily="34" charset="0"/>
              <a:ea typeface="宋体" panose="02010600030101010101" pitchFamily="2" charset="-122"/>
            </a:endParaRPr>
          </a:p>
          <a:p>
            <a:pPr>
              <a:buClrTx/>
              <a:buFontTx/>
            </a:pPr>
            <a:r>
              <a:rPr lang="en-US" altLang="zh-CN" sz="1600" dirty="0">
                <a:latin typeface="Arial" panose="020B0604020202020204" pitchFamily="34" charset="0"/>
                <a:ea typeface="宋体" panose="02010600030101010101" pitchFamily="2" charset="-122"/>
              </a:rPr>
              <a:t>coverage</a:t>
            </a:r>
            <a:endParaRPr lang="en-US" altLang="zh-CN" sz="1600" dirty="0">
              <a:latin typeface="Arial" panose="020B0604020202020204" pitchFamily="34" charset="0"/>
              <a:ea typeface="宋体" panose="02010600030101010101" pitchFamily="2" charset="-122"/>
            </a:endParaRPr>
          </a:p>
        </p:txBody>
      </p:sp>
      <p:grpSp>
        <p:nvGrpSpPr>
          <p:cNvPr id="67594" name="Group 10"/>
          <p:cNvGrpSpPr/>
          <p:nvPr/>
        </p:nvGrpSpPr>
        <p:grpSpPr>
          <a:xfrm>
            <a:off x="6067425" y="2228850"/>
            <a:ext cx="320675" cy="336550"/>
            <a:chOff x="4166" y="3398"/>
            <a:chExt cx="202" cy="212"/>
          </a:xfrm>
        </p:grpSpPr>
        <p:sp>
          <p:nvSpPr>
            <p:cNvPr id="67595" name="Oval 11"/>
            <p:cNvSpPr/>
            <p:nvPr/>
          </p:nvSpPr>
          <p:spPr>
            <a:xfrm>
              <a:off x="4176" y="3408"/>
              <a:ext cx="192" cy="184"/>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596" name="Text Box 12"/>
            <p:cNvSpPr txBox="1"/>
            <p:nvPr/>
          </p:nvSpPr>
          <p:spPr>
            <a:xfrm>
              <a:off x="4166" y="339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S</a:t>
              </a:r>
              <a:endParaRPr lang="en-US" altLang="zh-CN" sz="1600" b="1" dirty="0">
                <a:solidFill>
                  <a:schemeClr val="bg1"/>
                </a:solidFill>
                <a:latin typeface="Arial" panose="020B0604020202020204" pitchFamily="34" charset="0"/>
                <a:ea typeface="宋体" panose="02010600030101010101" pitchFamily="2" charset="-122"/>
              </a:endParaRPr>
            </a:p>
          </p:txBody>
        </p:sp>
      </p:grpSp>
      <p:grpSp>
        <p:nvGrpSpPr>
          <p:cNvPr id="67597" name="Group 13"/>
          <p:cNvGrpSpPr/>
          <p:nvPr/>
        </p:nvGrpSpPr>
        <p:grpSpPr>
          <a:xfrm>
            <a:off x="6981825" y="3524250"/>
            <a:ext cx="320675" cy="336550"/>
            <a:chOff x="4166" y="3398"/>
            <a:chExt cx="202" cy="212"/>
          </a:xfrm>
        </p:grpSpPr>
        <p:sp>
          <p:nvSpPr>
            <p:cNvPr id="67598" name="Oval 14"/>
            <p:cNvSpPr/>
            <p:nvPr/>
          </p:nvSpPr>
          <p:spPr>
            <a:xfrm>
              <a:off x="4176" y="3408"/>
              <a:ext cx="192" cy="184"/>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599" name="Text Box 15"/>
            <p:cNvSpPr txBox="1"/>
            <p:nvPr/>
          </p:nvSpPr>
          <p:spPr>
            <a:xfrm>
              <a:off x="4166" y="339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S</a:t>
              </a:r>
              <a:endParaRPr lang="en-US" altLang="zh-CN" sz="1600" b="1" dirty="0">
                <a:solidFill>
                  <a:schemeClr val="bg1"/>
                </a:solidFill>
                <a:latin typeface="Arial" panose="020B0604020202020204" pitchFamily="34" charset="0"/>
                <a:ea typeface="宋体" panose="02010600030101010101" pitchFamily="2" charset="-122"/>
              </a:endParaRPr>
            </a:p>
          </p:txBody>
        </p:sp>
      </p:grpSp>
      <p:grpSp>
        <p:nvGrpSpPr>
          <p:cNvPr id="67600" name="Group 16"/>
          <p:cNvGrpSpPr/>
          <p:nvPr/>
        </p:nvGrpSpPr>
        <p:grpSpPr>
          <a:xfrm>
            <a:off x="5775325" y="3587750"/>
            <a:ext cx="320675" cy="336550"/>
            <a:chOff x="4166" y="3398"/>
            <a:chExt cx="202" cy="212"/>
          </a:xfrm>
        </p:grpSpPr>
        <p:sp>
          <p:nvSpPr>
            <p:cNvPr id="67601" name="Oval 17"/>
            <p:cNvSpPr/>
            <p:nvPr/>
          </p:nvSpPr>
          <p:spPr>
            <a:xfrm>
              <a:off x="4176" y="3408"/>
              <a:ext cx="192" cy="184"/>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602" name="Text Box 18"/>
            <p:cNvSpPr txBox="1"/>
            <p:nvPr/>
          </p:nvSpPr>
          <p:spPr>
            <a:xfrm>
              <a:off x="4166" y="339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S</a:t>
              </a:r>
              <a:endParaRPr lang="en-US" altLang="zh-CN" sz="1600" b="1" dirty="0">
                <a:solidFill>
                  <a:schemeClr val="bg1"/>
                </a:solidFill>
                <a:latin typeface="Arial" panose="020B0604020202020204" pitchFamily="34" charset="0"/>
                <a:ea typeface="宋体" panose="02010600030101010101" pitchFamily="2" charset="-122"/>
              </a:endParaRPr>
            </a:p>
          </p:txBody>
        </p:sp>
      </p:grpSp>
      <p:grpSp>
        <p:nvGrpSpPr>
          <p:cNvPr id="67603" name="Group 19"/>
          <p:cNvGrpSpPr/>
          <p:nvPr/>
        </p:nvGrpSpPr>
        <p:grpSpPr>
          <a:xfrm>
            <a:off x="7131050" y="2127250"/>
            <a:ext cx="306388" cy="336550"/>
            <a:chOff x="4784" y="2710"/>
            <a:chExt cx="193" cy="212"/>
          </a:xfrm>
        </p:grpSpPr>
        <p:sp>
          <p:nvSpPr>
            <p:cNvPr id="67604" name="Oval 20"/>
            <p:cNvSpPr/>
            <p:nvPr/>
          </p:nvSpPr>
          <p:spPr>
            <a:xfrm>
              <a:off x="4784" y="2720"/>
              <a:ext cx="192" cy="184"/>
            </a:xfrm>
            <a:prstGeom prst="ellipse">
              <a:avLst/>
            </a:prstGeom>
            <a:solidFill>
              <a:srgbClr val="DDDDDD"/>
            </a:solidFill>
            <a:ln w="9525" cap="flat" cmpd="sng">
              <a:solidFill>
                <a:schemeClr val="bg2"/>
              </a:solidFill>
              <a:prstDash val="sysDot"/>
              <a:round/>
              <a:headEnd type="none" w="med" len="med"/>
              <a:tailEnd type="none" w="med" len="med"/>
            </a:ln>
          </p:spPr>
          <p:txBody>
            <a:bodyPr wrap="none" anchor="ctr" anchorCtr="0"/>
            <a:p>
              <a:pPr algn="ctr">
                <a:buClrTx/>
                <a:buFontTx/>
              </a:pPr>
              <a:endParaRPr lang="zh-CN" altLang="zh-CN" sz="1600" b="1" dirty="0">
                <a:latin typeface="Comic Sans MS" panose="030F0702030302020204" pitchFamily="66" charset="0"/>
                <a:ea typeface="宋体" panose="02010600030101010101" pitchFamily="2" charset="-122"/>
              </a:endParaRPr>
            </a:p>
          </p:txBody>
        </p:sp>
        <p:sp>
          <p:nvSpPr>
            <p:cNvPr id="67605" name="Text Box 21"/>
            <p:cNvSpPr txBox="1"/>
            <p:nvPr/>
          </p:nvSpPr>
          <p:spPr>
            <a:xfrm>
              <a:off x="4786" y="2710"/>
              <a:ext cx="191" cy="212"/>
            </a:xfrm>
            <a:prstGeom prst="rect">
              <a:avLst/>
            </a:prstGeom>
            <a:noFill/>
            <a:ln w="9525">
              <a:noFill/>
            </a:ln>
          </p:spPr>
          <p:txBody>
            <a:bodyPr anchor="t" anchorCtr="0">
              <a:spAutoFit/>
            </a:bodyPr>
            <a:p>
              <a:pPr>
                <a:buClrTx/>
                <a:buFontTx/>
              </a:pPr>
              <a:r>
                <a:rPr lang="en-US" altLang="zh-CN" sz="1600" b="1" dirty="0">
                  <a:solidFill>
                    <a:srgbClr val="969696"/>
                  </a:solidFill>
                  <a:latin typeface="Arial" panose="020B0604020202020204" pitchFamily="34" charset="0"/>
                  <a:ea typeface="宋体" panose="02010600030101010101" pitchFamily="2" charset="-122"/>
                </a:rPr>
                <a:t>P</a:t>
              </a:r>
              <a:endParaRPr lang="en-US" altLang="zh-CN" sz="1600" b="1" dirty="0">
                <a:solidFill>
                  <a:srgbClr val="969696"/>
                </a:solidFill>
                <a:latin typeface="Arial" panose="020B0604020202020204" pitchFamily="34" charset="0"/>
                <a:ea typeface="宋体" panose="02010600030101010101" pitchFamily="2" charset="-122"/>
              </a:endParaRPr>
            </a:p>
          </p:txBody>
        </p:sp>
      </p:grpSp>
      <p:grpSp>
        <p:nvGrpSpPr>
          <p:cNvPr id="67606" name="Group 22"/>
          <p:cNvGrpSpPr/>
          <p:nvPr/>
        </p:nvGrpSpPr>
        <p:grpSpPr>
          <a:xfrm>
            <a:off x="6584950" y="3676650"/>
            <a:ext cx="306388" cy="336550"/>
            <a:chOff x="4784" y="2710"/>
            <a:chExt cx="193" cy="212"/>
          </a:xfrm>
        </p:grpSpPr>
        <p:sp>
          <p:nvSpPr>
            <p:cNvPr id="67607" name="Oval 23"/>
            <p:cNvSpPr/>
            <p:nvPr/>
          </p:nvSpPr>
          <p:spPr>
            <a:xfrm>
              <a:off x="4784" y="2720"/>
              <a:ext cx="192" cy="184"/>
            </a:xfrm>
            <a:prstGeom prst="ellipse">
              <a:avLst/>
            </a:prstGeom>
            <a:solidFill>
              <a:srgbClr val="DDDDDD"/>
            </a:solidFill>
            <a:ln w="9525" cap="flat" cmpd="sng">
              <a:solidFill>
                <a:schemeClr val="bg2"/>
              </a:solidFill>
              <a:prstDash val="sysDot"/>
              <a:round/>
              <a:headEnd type="none" w="med" len="med"/>
              <a:tailEnd type="none" w="med" len="med"/>
            </a:ln>
          </p:spPr>
          <p:txBody>
            <a:bodyPr wrap="none" anchor="ctr" anchorCtr="0"/>
            <a:p>
              <a:pPr algn="ctr">
                <a:buClrTx/>
                <a:buFontTx/>
              </a:pPr>
              <a:endParaRPr lang="zh-CN" altLang="zh-CN" sz="1600" b="1" dirty="0">
                <a:latin typeface="Comic Sans MS" panose="030F0702030302020204" pitchFamily="66" charset="0"/>
                <a:ea typeface="宋体" panose="02010600030101010101" pitchFamily="2" charset="-122"/>
              </a:endParaRPr>
            </a:p>
          </p:txBody>
        </p:sp>
        <p:sp>
          <p:nvSpPr>
            <p:cNvPr id="67608" name="Text Box 24"/>
            <p:cNvSpPr txBox="1"/>
            <p:nvPr/>
          </p:nvSpPr>
          <p:spPr>
            <a:xfrm>
              <a:off x="4786" y="2710"/>
              <a:ext cx="191" cy="212"/>
            </a:xfrm>
            <a:prstGeom prst="rect">
              <a:avLst/>
            </a:prstGeom>
            <a:noFill/>
            <a:ln w="9525">
              <a:noFill/>
            </a:ln>
          </p:spPr>
          <p:txBody>
            <a:bodyPr anchor="t" anchorCtr="0">
              <a:spAutoFit/>
            </a:bodyPr>
            <a:p>
              <a:pPr>
                <a:buClrTx/>
                <a:buFontTx/>
              </a:pPr>
              <a:r>
                <a:rPr lang="en-US" altLang="zh-CN" sz="1600" b="1" dirty="0">
                  <a:solidFill>
                    <a:srgbClr val="969696"/>
                  </a:solidFill>
                  <a:latin typeface="Arial" panose="020B0604020202020204" pitchFamily="34" charset="0"/>
                  <a:ea typeface="宋体" panose="02010600030101010101" pitchFamily="2" charset="-122"/>
                </a:rPr>
                <a:t>P</a:t>
              </a:r>
              <a:endParaRPr lang="en-US" altLang="zh-CN" sz="1600" b="1" dirty="0">
                <a:solidFill>
                  <a:srgbClr val="969696"/>
                </a:solidFill>
                <a:latin typeface="Arial" panose="020B0604020202020204" pitchFamily="34" charset="0"/>
                <a:ea typeface="宋体" panose="02010600030101010101" pitchFamily="2" charset="-122"/>
              </a:endParaRPr>
            </a:p>
          </p:txBody>
        </p:sp>
      </p:grpSp>
      <p:grpSp>
        <p:nvGrpSpPr>
          <p:cNvPr id="67609" name="Group 25"/>
          <p:cNvGrpSpPr/>
          <p:nvPr/>
        </p:nvGrpSpPr>
        <p:grpSpPr>
          <a:xfrm>
            <a:off x="6305550" y="2635250"/>
            <a:ext cx="306388" cy="336550"/>
            <a:chOff x="4784" y="2710"/>
            <a:chExt cx="193" cy="212"/>
          </a:xfrm>
        </p:grpSpPr>
        <p:sp>
          <p:nvSpPr>
            <p:cNvPr id="67610" name="Oval 26"/>
            <p:cNvSpPr/>
            <p:nvPr/>
          </p:nvSpPr>
          <p:spPr>
            <a:xfrm>
              <a:off x="4784" y="2720"/>
              <a:ext cx="192" cy="184"/>
            </a:xfrm>
            <a:prstGeom prst="ellipse">
              <a:avLst/>
            </a:prstGeom>
            <a:solidFill>
              <a:srgbClr val="DDDDDD"/>
            </a:solidFill>
            <a:ln w="9525" cap="flat" cmpd="sng">
              <a:solidFill>
                <a:schemeClr val="bg2"/>
              </a:solidFill>
              <a:prstDash val="sysDot"/>
              <a:round/>
              <a:headEnd type="none" w="med" len="med"/>
              <a:tailEnd type="none" w="med" len="med"/>
            </a:ln>
          </p:spPr>
          <p:txBody>
            <a:bodyPr wrap="none" anchor="ctr" anchorCtr="0"/>
            <a:p>
              <a:pPr algn="ctr">
                <a:buClrTx/>
                <a:buFontTx/>
              </a:pPr>
              <a:endParaRPr lang="zh-CN" altLang="zh-CN" sz="1600" b="1" dirty="0">
                <a:latin typeface="Comic Sans MS" panose="030F0702030302020204" pitchFamily="66" charset="0"/>
                <a:ea typeface="宋体" panose="02010600030101010101" pitchFamily="2" charset="-122"/>
              </a:endParaRPr>
            </a:p>
          </p:txBody>
        </p:sp>
        <p:sp>
          <p:nvSpPr>
            <p:cNvPr id="67611" name="Text Box 27"/>
            <p:cNvSpPr txBox="1"/>
            <p:nvPr/>
          </p:nvSpPr>
          <p:spPr>
            <a:xfrm>
              <a:off x="4786" y="2710"/>
              <a:ext cx="191" cy="212"/>
            </a:xfrm>
            <a:prstGeom prst="rect">
              <a:avLst/>
            </a:prstGeom>
            <a:noFill/>
            <a:ln w="9525">
              <a:noFill/>
            </a:ln>
          </p:spPr>
          <p:txBody>
            <a:bodyPr anchor="t" anchorCtr="0">
              <a:spAutoFit/>
            </a:bodyPr>
            <a:p>
              <a:pPr>
                <a:buClrTx/>
                <a:buFontTx/>
              </a:pPr>
              <a:r>
                <a:rPr lang="en-US" altLang="zh-CN" sz="1600" b="1" dirty="0">
                  <a:solidFill>
                    <a:srgbClr val="969696"/>
                  </a:solidFill>
                  <a:latin typeface="Arial" panose="020B0604020202020204" pitchFamily="34" charset="0"/>
                  <a:ea typeface="宋体" panose="02010600030101010101" pitchFamily="2" charset="-122"/>
                </a:rPr>
                <a:t>P</a:t>
              </a:r>
              <a:endParaRPr lang="en-US" altLang="zh-CN" sz="1600" b="1" dirty="0">
                <a:solidFill>
                  <a:srgbClr val="969696"/>
                </a:solidFill>
                <a:latin typeface="Arial" panose="020B0604020202020204" pitchFamily="34" charset="0"/>
                <a:ea typeface="宋体" panose="02010600030101010101" pitchFamily="2" charset="-122"/>
              </a:endParaRPr>
            </a:p>
          </p:txBody>
        </p:sp>
      </p:grpSp>
      <p:grpSp>
        <p:nvGrpSpPr>
          <p:cNvPr id="67612" name="Group 28"/>
          <p:cNvGrpSpPr/>
          <p:nvPr/>
        </p:nvGrpSpPr>
        <p:grpSpPr>
          <a:xfrm>
            <a:off x="7626350" y="3498850"/>
            <a:ext cx="306388" cy="336550"/>
            <a:chOff x="4784" y="2710"/>
            <a:chExt cx="193" cy="212"/>
          </a:xfrm>
        </p:grpSpPr>
        <p:sp>
          <p:nvSpPr>
            <p:cNvPr id="67613" name="Oval 29"/>
            <p:cNvSpPr/>
            <p:nvPr/>
          </p:nvSpPr>
          <p:spPr>
            <a:xfrm>
              <a:off x="4784" y="2720"/>
              <a:ext cx="192" cy="184"/>
            </a:xfrm>
            <a:prstGeom prst="ellipse">
              <a:avLst/>
            </a:prstGeom>
            <a:solidFill>
              <a:srgbClr val="DDDDDD"/>
            </a:solidFill>
            <a:ln w="9525" cap="flat" cmpd="sng">
              <a:solidFill>
                <a:schemeClr val="bg2"/>
              </a:solidFill>
              <a:prstDash val="sysDot"/>
              <a:round/>
              <a:headEnd type="none" w="med" len="med"/>
              <a:tailEnd type="none" w="med" len="med"/>
            </a:ln>
          </p:spPr>
          <p:txBody>
            <a:bodyPr wrap="none" anchor="ctr" anchorCtr="0"/>
            <a:p>
              <a:pPr algn="ctr">
                <a:buClrTx/>
                <a:buFontTx/>
              </a:pPr>
              <a:endParaRPr lang="zh-CN" altLang="zh-CN" sz="1600" b="1" dirty="0">
                <a:latin typeface="Comic Sans MS" panose="030F0702030302020204" pitchFamily="66" charset="0"/>
                <a:ea typeface="宋体" panose="02010600030101010101" pitchFamily="2" charset="-122"/>
              </a:endParaRPr>
            </a:p>
          </p:txBody>
        </p:sp>
        <p:sp>
          <p:nvSpPr>
            <p:cNvPr id="67614" name="Text Box 30"/>
            <p:cNvSpPr txBox="1"/>
            <p:nvPr/>
          </p:nvSpPr>
          <p:spPr>
            <a:xfrm>
              <a:off x="4786" y="2710"/>
              <a:ext cx="191" cy="212"/>
            </a:xfrm>
            <a:prstGeom prst="rect">
              <a:avLst/>
            </a:prstGeom>
            <a:noFill/>
            <a:ln w="9525">
              <a:noFill/>
            </a:ln>
          </p:spPr>
          <p:txBody>
            <a:bodyPr anchor="t" anchorCtr="0">
              <a:spAutoFit/>
            </a:bodyPr>
            <a:p>
              <a:pPr>
                <a:buClrTx/>
                <a:buFontTx/>
              </a:pPr>
              <a:r>
                <a:rPr lang="en-US" altLang="zh-CN" sz="1600" b="1" dirty="0">
                  <a:solidFill>
                    <a:srgbClr val="969696"/>
                  </a:solidFill>
                  <a:latin typeface="Arial" panose="020B0604020202020204" pitchFamily="34" charset="0"/>
                  <a:ea typeface="宋体" panose="02010600030101010101" pitchFamily="2" charset="-122"/>
                </a:rPr>
                <a:t>P</a:t>
              </a:r>
              <a:endParaRPr lang="en-US" altLang="zh-CN" sz="1600" b="1" dirty="0">
                <a:solidFill>
                  <a:srgbClr val="969696"/>
                </a:solidFill>
                <a:latin typeface="Arial" panose="020B0604020202020204" pitchFamily="34" charset="0"/>
                <a:ea typeface="宋体" panose="02010600030101010101" pitchFamily="2" charset="-122"/>
              </a:endParaRPr>
            </a:p>
          </p:txBody>
        </p:sp>
      </p:grpSp>
      <p:grpSp>
        <p:nvGrpSpPr>
          <p:cNvPr id="67615" name="Group 31"/>
          <p:cNvGrpSpPr/>
          <p:nvPr/>
        </p:nvGrpSpPr>
        <p:grpSpPr>
          <a:xfrm>
            <a:off x="5699125" y="4741863"/>
            <a:ext cx="2927350" cy="1330325"/>
            <a:chOff x="4270" y="2809"/>
            <a:chExt cx="1844" cy="838"/>
          </a:xfrm>
        </p:grpSpPr>
        <p:grpSp>
          <p:nvGrpSpPr>
            <p:cNvPr id="67616" name="Group 32"/>
            <p:cNvGrpSpPr/>
            <p:nvPr/>
          </p:nvGrpSpPr>
          <p:grpSpPr>
            <a:xfrm>
              <a:off x="4270" y="2878"/>
              <a:ext cx="210" cy="212"/>
              <a:chOff x="1334" y="2718"/>
              <a:chExt cx="210" cy="212"/>
            </a:xfrm>
          </p:grpSpPr>
          <p:sp>
            <p:nvSpPr>
              <p:cNvPr id="67617" name="Oval 33"/>
              <p:cNvSpPr/>
              <p:nvPr/>
            </p:nvSpPr>
            <p:spPr>
              <a:xfrm>
                <a:off x="1352" y="2728"/>
                <a:ext cx="192" cy="184"/>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618" name="Text Box 34"/>
              <p:cNvSpPr txBox="1"/>
              <p:nvPr/>
            </p:nvSpPr>
            <p:spPr>
              <a:xfrm>
                <a:off x="1334" y="271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M</a:t>
                </a:r>
                <a:endParaRPr lang="en-US" altLang="zh-CN" sz="1600" b="1" dirty="0">
                  <a:solidFill>
                    <a:schemeClr val="bg1"/>
                  </a:solidFill>
                  <a:latin typeface="Arial" panose="020B0604020202020204" pitchFamily="34" charset="0"/>
                  <a:ea typeface="宋体" panose="02010600030101010101" pitchFamily="2" charset="-122"/>
                </a:endParaRPr>
              </a:p>
            </p:txBody>
          </p:sp>
        </p:grpSp>
        <p:grpSp>
          <p:nvGrpSpPr>
            <p:cNvPr id="67619" name="Group 35"/>
            <p:cNvGrpSpPr/>
            <p:nvPr/>
          </p:nvGrpSpPr>
          <p:grpSpPr>
            <a:xfrm>
              <a:off x="4294" y="3166"/>
              <a:ext cx="202" cy="212"/>
              <a:chOff x="4166" y="3398"/>
              <a:chExt cx="202" cy="212"/>
            </a:xfrm>
          </p:grpSpPr>
          <p:sp>
            <p:nvSpPr>
              <p:cNvPr id="67620" name="Oval 36"/>
              <p:cNvSpPr/>
              <p:nvPr/>
            </p:nvSpPr>
            <p:spPr>
              <a:xfrm>
                <a:off x="4176" y="3408"/>
                <a:ext cx="192" cy="184"/>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7621" name="Text Box 37"/>
              <p:cNvSpPr txBox="1"/>
              <p:nvPr/>
            </p:nvSpPr>
            <p:spPr>
              <a:xfrm>
                <a:off x="4166" y="3398"/>
                <a:ext cx="191" cy="212"/>
              </a:xfrm>
              <a:prstGeom prst="rect">
                <a:avLst/>
              </a:prstGeom>
              <a:noFill/>
              <a:ln w="9525">
                <a:noFill/>
              </a:ln>
            </p:spPr>
            <p:txBody>
              <a:bodyPr anchor="t" anchorCtr="0">
                <a:spAutoFit/>
              </a:bodyPr>
              <a:p>
                <a:pPr>
                  <a:buClrTx/>
                  <a:buFontTx/>
                </a:pPr>
                <a:r>
                  <a:rPr lang="en-US" altLang="zh-CN" sz="1600" b="1" dirty="0">
                    <a:solidFill>
                      <a:schemeClr val="bg1"/>
                    </a:solidFill>
                    <a:latin typeface="Arial" panose="020B0604020202020204" pitchFamily="34" charset="0"/>
                    <a:ea typeface="宋体" panose="02010600030101010101" pitchFamily="2" charset="-122"/>
                  </a:rPr>
                  <a:t>S</a:t>
                </a:r>
                <a:endParaRPr lang="en-US" altLang="zh-CN" sz="1600" b="1" dirty="0">
                  <a:solidFill>
                    <a:schemeClr val="bg1"/>
                  </a:solidFill>
                  <a:latin typeface="Arial" panose="020B0604020202020204" pitchFamily="34" charset="0"/>
                  <a:ea typeface="宋体" panose="02010600030101010101" pitchFamily="2" charset="-122"/>
                </a:endParaRPr>
              </a:p>
            </p:txBody>
          </p:sp>
        </p:grpSp>
        <p:sp>
          <p:nvSpPr>
            <p:cNvPr id="67622" name="Text Box 38"/>
            <p:cNvSpPr txBox="1"/>
            <p:nvPr/>
          </p:nvSpPr>
          <p:spPr>
            <a:xfrm>
              <a:off x="4462" y="2809"/>
              <a:ext cx="1652" cy="838"/>
            </a:xfrm>
            <a:prstGeom prst="rect">
              <a:avLst/>
            </a:prstGeom>
            <a:noFill/>
            <a:ln w="9525">
              <a:noFill/>
            </a:ln>
          </p:spPr>
          <p:txBody>
            <a:bodyPr wrap="none" anchor="t" anchorCtr="0">
              <a:spAutoFit/>
            </a:bodyPr>
            <a:p>
              <a:pPr>
                <a:lnSpc>
                  <a:spcPct val="150000"/>
                </a:lnSpc>
                <a:buClrTx/>
                <a:buFontTx/>
              </a:pPr>
              <a:r>
                <a:rPr lang="en-US" altLang="zh-CN" dirty="0">
                  <a:latin typeface="Arial" panose="020B0604020202020204" pitchFamily="34" charset="0"/>
                  <a:ea typeface="宋体" panose="02010600030101010101" pitchFamily="2" charset="-122"/>
                </a:rPr>
                <a:t>Master device</a:t>
              </a:r>
              <a:endParaRPr lang="en-US" altLang="zh-CN" dirty="0">
                <a:latin typeface="Arial" panose="020B0604020202020204" pitchFamily="34" charset="0"/>
                <a:ea typeface="宋体" panose="02010600030101010101" pitchFamily="2" charset="-122"/>
              </a:endParaRPr>
            </a:p>
            <a:p>
              <a:pPr>
                <a:lnSpc>
                  <a:spcPct val="150000"/>
                </a:lnSpc>
                <a:buClrTx/>
                <a:buFontTx/>
              </a:pPr>
              <a:r>
                <a:rPr lang="en-US" altLang="zh-CN" dirty="0">
                  <a:latin typeface="Arial" panose="020B0604020202020204" pitchFamily="34" charset="0"/>
                  <a:ea typeface="宋体" panose="02010600030101010101" pitchFamily="2" charset="-122"/>
                </a:rPr>
                <a:t>Slave device</a:t>
              </a:r>
              <a:endParaRPr lang="en-US" altLang="zh-CN" dirty="0">
                <a:latin typeface="Arial" panose="020B0604020202020204" pitchFamily="34" charset="0"/>
                <a:ea typeface="宋体" panose="02010600030101010101" pitchFamily="2" charset="-122"/>
              </a:endParaRPr>
            </a:p>
            <a:p>
              <a:pPr>
                <a:lnSpc>
                  <a:spcPct val="150000"/>
                </a:lnSpc>
                <a:buClrTx/>
                <a:buFontTx/>
              </a:pPr>
              <a:r>
                <a:rPr lang="en-US" altLang="zh-CN" dirty="0">
                  <a:latin typeface="Arial" panose="020B0604020202020204" pitchFamily="34" charset="0"/>
                  <a:ea typeface="宋体" panose="02010600030101010101" pitchFamily="2" charset="-122"/>
                </a:rPr>
                <a:t>Parked device (inactive)</a:t>
              </a:r>
              <a:endParaRPr lang="en-US" altLang="zh-CN" dirty="0">
                <a:latin typeface="Arial" panose="020B0604020202020204" pitchFamily="34" charset="0"/>
                <a:ea typeface="宋体" panose="02010600030101010101" pitchFamily="2" charset="-122"/>
              </a:endParaRPr>
            </a:p>
          </p:txBody>
        </p:sp>
        <p:grpSp>
          <p:nvGrpSpPr>
            <p:cNvPr id="67623" name="Group 39"/>
            <p:cNvGrpSpPr/>
            <p:nvPr/>
          </p:nvGrpSpPr>
          <p:grpSpPr>
            <a:xfrm>
              <a:off x="4292" y="3398"/>
              <a:ext cx="193" cy="212"/>
              <a:chOff x="4784" y="2710"/>
              <a:chExt cx="193" cy="212"/>
            </a:xfrm>
          </p:grpSpPr>
          <p:sp>
            <p:nvSpPr>
              <p:cNvPr id="67624" name="Oval 40"/>
              <p:cNvSpPr/>
              <p:nvPr/>
            </p:nvSpPr>
            <p:spPr>
              <a:xfrm>
                <a:off x="4784" y="2720"/>
                <a:ext cx="192" cy="184"/>
              </a:xfrm>
              <a:prstGeom prst="ellipse">
                <a:avLst/>
              </a:prstGeom>
              <a:solidFill>
                <a:srgbClr val="DDDDDD"/>
              </a:solidFill>
              <a:ln w="9525" cap="flat" cmpd="sng">
                <a:solidFill>
                  <a:schemeClr val="bg2"/>
                </a:solidFill>
                <a:prstDash val="sysDot"/>
                <a:round/>
                <a:headEnd type="none" w="med" len="med"/>
                <a:tailEnd type="none" w="med" len="med"/>
              </a:ln>
            </p:spPr>
            <p:txBody>
              <a:bodyPr wrap="none" anchor="ctr" anchorCtr="0"/>
              <a:p>
                <a:pPr algn="ctr">
                  <a:buClrTx/>
                  <a:buFontTx/>
                </a:pPr>
                <a:endParaRPr lang="zh-CN" altLang="zh-CN" b="1" dirty="0">
                  <a:latin typeface="Comic Sans MS" panose="030F0702030302020204" pitchFamily="66" charset="0"/>
                  <a:ea typeface="宋体" panose="02010600030101010101" pitchFamily="2" charset="-122"/>
                </a:endParaRPr>
              </a:p>
            </p:txBody>
          </p:sp>
          <p:sp>
            <p:nvSpPr>
              <p:cNvPr id="67625" name="Text Box 41"/>
              <p:cNvSpPr txBox="1"/>
              <p:nvPr/>
            </p:nvSpPr>
            <p:spPr>
              <a:xfrm>
                <a:off x="4786" y="2710"/>
                <a:ext cx="191" cy="212"/>
              </a:xfrm>
              <a:prstGeom prst="rect">
                <a:avLst/>
              </a:prstGeom>
              <a:noFill/>
              <a:ln w="9525">
                <a:noFill/>
              </a:ln>
            </p:spPr>
            <p:txBody>
              <a:bodyPr anchor="t" anchorCtr="0">
                <a:spAutoFit/>
              </a:bodyPr>
              <a:p>
                <a:pPr>
                  <a:buClrTx/>
                  <a:buFontTx/>
                </a:pPr>
                <a:r>
                  <a:rPr lang="en-US" altLang="zh-CN" sz="1600" b="1" dirty="0">
                    <a:solidFill>
                      <a:srgbClr val="969696"/>
                    </a:solidFill>
                    <a:latin typeface="Arial" panose="020B0604020202020204" pitchFamily="34" charset="0"/>
                    <a:ea typeface="宋体" panose="02010600030101010101" pitchFamily="2" charset="-122"/>
                  </a:rPr>
                  <a:t>P</a:t>
                </a:r>
                <a:endParaRPr lang="en-US" altLang="zh-CN" sz="1600" b="1" dirty="0">
                  <a:solidFill>
                    <a:srgbClr val="969696"/>
                  </a:solidFill>
                  <a:latin typeface="Arial" panose="020B0604020202020204" pitchFamily="34" charset="0"/>
                  <a:ea typeface="宋体" panose="02010600030101010101" pitchFamily="2" charset="-122"/>
                </a:endParaRPr>
              </a:p>
            </p:txBody>
          </p:sp>
        </p:grpSp>
      </p:grpSp>
      <p:sp>
        <p:nvSpPr>
          <p:cNvPr id="67626" name="Rectangle 42"/>
          <p:cNvSpPr/>
          <p:nvPr/>
        </p:nvSpPr>
        <p:spPr>
          <a:xfrm>
            <a:off x="350838" y="274638"/>
            <a:ext cx="7772400" cy="838200"/>
          </a:xfrm>
          <a:prstGeom prst="rect">
            <a:avLst/>
          </a:prstGeom>
          <a:noFill/>
          <a:ln w="9525">
            <a:noFill/>
          </a:ln>
        </p:spPr>
        <p:txBody>
          <a:bodyPr anchor="ctr" anchorCtr="0"/>
          <a:p>
            <a:pPr eaLnBrk="0" hangingPunct="0">
              <a:buClrTx/>
              <a:buFontTx/>
            </a:pPr>
            <a:r>
              <a:rPr lang="en-US" altLang="zh-CN" sz="3600" u="sng" dirty="0">
                <a:solidFill>
                  <a:schemeClr val="accent2"/>
                </a:solidFill>
                <a:latin typeface="Comic Sans MS" panose="030F0702030302020204" pitchFamily="66" charset="0"/>
                <a:ea typeface="宋体" panose="02010600030101010101" pitchFamily="2" charset="-122"/>
              </a:rPr>
              <a:t>802.15: personal area network</a:t>
            </a:r>
            <a:endParaRPr lang="en-US" altLang="zh-CN" sz="3600" u="sng" dirty="0">
              <a:solidFill>
                <a:schemeClr val="accent2"/>
              </a:solidFill>
              <a:latin typeface="Comic Sans MS" panose="030F0702030302020204" pitchFamily="66" charset="0"/>
              <a:ea typeface="宋体" panose="02010600030101010101" pitchFamily="2" charset="-122"/>
            </a:endParaRPr>
          </a:p>
        </p:txBody>
      </p:sp>
      <p:sp>
        <p:nvSpPr>
          <p:cNvPr id="67627" name="Rectangle 44"/>
          <p:cNvSpPr>
            <a:spLocks noGrp="1"/>
          </p:cNvSpPr>
          <p:nvPr>
            <p:ph idx="1"/>
          </p:nvPr>
        </p:nvSpPr>
        <p:spPr>
          <a:xfrm>
            <a:off x="473075" y="1339850"/>
            <a:ext cx="4465638" cy="5518150"/>
          </a:xfrm>
          <a:ln/>
        </p:spPr>
        <p:txBody>
          <a:bodyPr vert="horz" wrap="square" lIns="91440" tIns="45720" rIns="91440" bIns="45720" anchor="t" anchorCtr="0"/>
          <a:p>
            <a:r>
              <a:rPr lang="en-US" altLang="zh-CN" sz="2400" dirty="0">
                <a:ea typeface="宋体" panose="02010600030101010101" pitchFamily="2" charset="-122"/>
              </a:rPr>
              <a:t>less than 10 m diameter</a:t>
            </a:r>
            <a:endParaRPr lang="en-US" altLang="zh-CN" sz="2400" dirty="0">
              <a:ea typeface="宋体" panose="02010600030101010101" pitchFamily="2" charset="-122"/>
            </a:endParaRPr>
          </a:p>
          <a:p>
            <a:r>
              <a:rPr lang="en-US" altLang="zh-CN" sz="2400" dirty="0">
                <a:ea typeface="宋体" panose="02010600030101010101" pitchFamily="2" charset="-122"/>
              </a:rPr>
              <a:t>replacement for cables (mouse, keyboard, headphones)</a:t>
            </a:r>
            <a:endParaRPr lang="en-US" altLang="zh-CN" sz="2400" dirty="0">
              <a:ea typeface="宋体" panose="02010600030101010101" pitchFamily="2" charset="-122"/>
            </a:endParaRPr>
          </a:p>
          <a:p>
            <a:r>
              <a:rPr lang="en-US" altLang="zh-CN" sz="2400" dirty="0">
                <a:ea typeface="宋体" panose="02010600030101010101" pitchFamily="2" charset="-122"/>
              </a:rPr>
              <a:t>ad hoc: no infrastructure</a:t>
            </a:r>
            <a:endParaRPr lang="en-US" altLang="zh-CN" sz="2400" dirty="0">
              <a:ea typeface="宋体" panose="02010600030101010101" pitchFamily="2" charset="-122"/>
            </a:endParaRPr>
          </a:p>
          <a:p>
            <a:r>
              <a:rPr lang="en-US" altLang="zh-CN" sz="2400" dirty="0">
                <a:ea typeface="宋体" panose="02010600030101010101" pitchFamily="2" charset="-122"/>
              </a:rPr>
              <a:t>master/slaves:</a:t>
            </a:r>
            <a:endParaRPr lang="en-US" altLang="zh-CN" sz="2400" dirty="0">
              <a:ea typeface="宋体" panose="02010600030101010101" pitchFamily="2" charset="-122"/>
            </a:endParaRPr>
          </a:p>
          <a:p>
            <a:pPr lvl="1"/>
            <a:r>
              <a:rPr lang="en-US" altLang="zh-CN" sz="2000" dirty="0">
                <a:ea typeface="宋体" panose="02010600030101010101" pitchFamily="2" charset="-122"/>
              </a:rPr>
              <a:t>slaves request permission to send (to master)</a:t>
            </a:r>
            <a:endParaRPr lang="en-US" altLang="zh-CN" sz="2000" dirty="0">
              <a:ea typeface="宋体" panose="02010600030101010101" pitchFamily="2" charset="-122"/>
            </a:endParaRPr>
          </a:p>
          <a:p>
            <a:pPr lvl="1"/>
            <a:r>
              <a:rPr lang="en-US" altLang="zh-CN" sz="2000" dirty="0">
                <a:ea typeface="宋体" panose="02010600030101010101" pitchFamily="2" charset="-122"/>
              </a:rPr>
              <a:t>master grants requests</a:t>
            </a:r>
            <a:endParaRPr lang="en-US" altLang="zh-CN" sz="2000" dirty="0">
              <a:ea typeface="宋体" panose="02010600030101010101" pitchFamily="2" charset="-122"/>
            </a:endParaRPr>
          </a:p>
          <a:p>
            <a:r>
              <a:rPr lang="en-US" altLang="zh-CN" sz="2400" dirty="0">
                <a:ea typeface="宋体" panose="02010600030101010101" pitchFamily="2" charset="-122"/>
              </a:rPr>
              <a:t>802.15: evolved from Bluetooth specification</a:t>
            </a:r>
            <a:endParaRPr lang="en-US" altLang="zh-CN" sz="2400" dirty="0">
              <a:ea typeface="宋体" panose="02010600030101010101" pitchFamily="2" charset="-122"/>
            </a:endParaRPr>
          </a:p>
          <a:p>
            <a:pPr lvl="1"/>
            <a:r>
              <a:rPr lang="en-US" altLang="zh-CN" sz="2000" dirty="0">
                <a:ea typeface="宋体" panose="02010600030101010101" pitchFamily="2" charset="-122"/>
              </a:rPr>
              <a:t>2.4-2.5 GHz radio band</a:t>
            </a:r>
            <a:endParaRPr lang="en-US" altLang="zh-CN" sz="2000" dirty="0">
              <a:ea typeface="宋体" panose="02010600030101010101" pitchFamily="2" charset="-122"/>
            </a:endParaRPr>
          </a:p>
          <a:p>
            <a:pPr lvl="1"/>
            <a:r>
              <a:rPr lang="en-US" altLang="zh-CN" sz="2000" dirty="0">
                <a:ea typeface="宋体" panose="02010600030101010101" pitchFamily="2" charset="-122"/>
              </a:rPr>
              <a:t>up to 721 kbps</a:t>
            </a:r>
            <a:endParaRPr lang="en-US" altLang="zh-CN" sz="2000" dirty="0">
              <a:ea typeface="宋体" panose="02010600030101010101" pitchFamily="2" charset="-122"/>
            </a:endParaRPr>
          </a:p>
          <a:p>
            <a:endParaRPr lang="en-US" altLang="zh-CN" sz="200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696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69635" name="Freeform 134"/>
          <p:cNvSpPr/>
          <p:nvPr/>
        </p:nvSpPr>
        <p:spPr>
          <a:xfrm>
            <a:off x="4360863" y="1876425"/>
            <a:ext cx="3222625" cy="2282825"/>
          </a:xfrm>
          <a:custGeom>
            <a:avLst/>
            <a:gdLst/>
            <a:ahLst/>
            <a:cxnLst>
              <a:cxn ang="0">
                <a:pos x="2147483646" y="119132748"/>
              </a:cxn>
              <a:cxn ang="0">
                <a:pos x="0" y="2147483646"/>
              </a:cxn>
              <a:cxn ang="0">
                <a:pos x="741235081"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1440" h="981">
                <a:moveTo>
                  <a:pt x="473" y="22"/>
                </a:moveTo>
                <a:lnTo>
                  <a:pt x="0" y="819"/>
                </a:lnTo>
                <a:lnTo>
                  <a:pt x="148" y="900"/>
                </a:lnTo>
                <a:cubicBezTo>
                  <a:pt x="232" y="925"/>
                  <a:pt x="377" y="957"/>
                  <a:pt x="502" y="967"/>
                </a:cubicBezTo>
                <a:cubicBezTo>
                  <a:pt x="627" y="977"/>
                  <a:pt x="780" y="981"/>
                  <a:pt x="901" y="960"/>
                </a:cubicBezTo>
                <a:cubicBezTo>
                  <a:pt x="1022" y="939"/>
                  <a:pt x="1143" y="887"/>
                  <a:pt x="1226" y="841"/>
                </a:cubicBezTo>
                <a:cubicBezTo>
                  <a:pt x="1309" y="795"/>
                  <a:pt x="1363" y="736"/>
                  <a:pt x="1396" y="686"/>
                </a:cubicBezTo>
                <a:cubicBezTo>
                  <a:pt x="1429" y="636"/>
                  <a:pt x="1388" y="686"/>
                  <a:pt x="1440" y="553"/>
                </a:cubicBezTo>
                <a:cubicBezTo>
                  <a:pt x="1034" y="283"/>
                  <a:pt x="613" y="0"/>
                  <a:pt x="613" y="0"/>
                </a:cubicBezTo>
              </a:path>
            </a:pathLst>
          </a:custGeom>
          <a:gradFill rotWithShape="1">
            <a:gsLst>
              <a:gs pos="0">
                <a:srgbClr val="FF99CC"/>
              </a:gs>
              <a:gs pos="100000">
                <a:srgbClr val="FFFFFF"/>
              </a:gs>
            </a:gsLst>
            <a:lin ang="5400000" scaled="1"/>
            <a:tileRect/>
          </a:gradFill>
          <a:ln w="9525">
            <a:noFill/>
          </a:ln>
        </p:spPr>
        <p:txBody>
          <a:bodyPr/>
          <a:p>
            <a:endParaRPr lang="zh-CN" altLang="en-US"/>
          </a:p>
        </p:txBody>
      </p:sp>
      <p:sp>
        <p:nvSpPr>
          <p:cNvPr id="69636" name="Rectangle 41"/>
          <p:cNvSpPr/>
          <p:nvPr/>
        </p:nvSpPr>
        <p:spPr>
          <a:xfrm>
            <a:off x="350838" y="274638"/>
            <a:ext cx="7772400" cy="838200"/>
          </a:xfrm>
          <a:prstGeom prst="rect">
            <a:avLst/>
          </a:prstGeom>
          <a:noFill/>
          <a:ln w="9525">
            <a:noFill/>
          </a:ln>
        </p:spPr>
        <p:txBody>
          <a:bodyPr anchor="ctr" anchorCtr="0"/>
          <a:p>
            <a:pPr eaLnBrk="0" hangingPunct="0">
              <a:buClrTx/>
              <a:buFontTx/>
            </a:pPr>
            <a:r>
              <a:rPr lang="en-US" altLang="zh-CN" sz="3600" u="sng" dirty="0">
                <a:solidFill>
                  <a:schemeClr val="accent2"/>
                </a:solidFill>
                <a:latin typeface="Comic Sans MS" panose="030F0702030302020204" pitchFamily="66" charset="0"/>
                <a:ea typeface="宋体" panose="02010600030101010101" pitchFamily="2" charset="-122"/>
              </a:rPr>
              <a:t>802.16: WiMAX</a:t>
            </a:r>
            <a:endParaRPr lang="en-US" altLang="zh-CN" sz="3600" u="sng" dirty="0">
              <a:solidFill>
                <a:schemeClr val="accent2"/>
              </a:solidFill>
              <a:latin typeface="Comic Sans MS" panose="030F0702030302020204" pitchFamily="66" charset="0"/>
              <a:ea typeface="宋体" panose="02010600030101010101" pitchFamily="2" charset="-122"/>
            </a:endParaRPr>
          </a:p>
        </p:txBody>
      </p:sp>
      <p:sp>
        <p:nvSpPr>
          <p:cNvPr id="69637" name="Rectangle 42"/>
          <p:cNvSpPr>
            <a:spLocks noGrp="1"/>
          </p:cNvSpPr>
          <p:nvPr>
            <p:ph idx="1"/>
          </p:nvPr>
        </p:nvSpPr>
        <p:spPr>
          <a:xfrm>
            <a:off x="204788" y="1163638"/>
            <a:ext cx="4244975" cy="5518150"/>
          </a:xfrm>
          <a:ln/>
        </p:spPr>
        <p:txBody>
          <a:bodyPr vert="horz" wrap="square" lIns="91440" tIns="45720" rIns="91440" bIns="45720" anchor="t" anchorCtr="0"/>
          <a:p>
            <a:pPr>
              <a:lnSpc>
                <a:spcPct val="90000"/>
              </a:lnSpc>
            </a:pPr>
            <a:r>
              <a:rPr lang="en-US" altLang="zh-CN" dirty="0">
                <a:ea typeface="宋体" panose="02010600030101010101" pitchFamily="2" charset="-122"/>
              </a:rPr>
              <a:t>like 802.11 &amp; cellular: base station model</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transmissions to/from base station by hosts with omnidirectional antenna</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base station-to-base station backhaul with point-to-point antenna</a:t>
            </a:r>
            <a:endParaRPr lang="en-US" altLang="zh-CN" dirty="0">
              <a:ea typeface="宋体" panose="02010600030101010101" pitchFamily="2" charset="-122"/>
            </a:endParaRPr>
          </a:p>
          <a:p>
            <a:pPr>
              <a:lnSpc>
                <a:spcPct val="90000"/>
              </a:lnSpc>
            </a:pPr>
            <a:r>
              <a:rPr lang="en-US" altLang="zh-CN" dirty="0">
                <a:ea typeface="宋体" panose="02010600030101010101" pitchFamily="2" charset="-122"/>
              </a:rPr>
              <a:t>unlike 802.11:</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range ~ 6 miles (“city rather than coffee shop”)</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~14 Mbps</a:t>
            </a:r>
            <a:endParaRPr lang="en-US" altLang="zh-CN" dirty="0">
              <a:ea typeface="宋体" panose="02010600030101010101" pitchFamily="2" charset="-122"/>
            </a:endParaRPr>
          </a:p>
          <a:p>
            <a:pPr>
              <a:lnSpc>
                <a:spcPct val="90000"/>
              </a:lnSpc>
              <a:buNone/>
            </a:pPr>
            <a:endParaRPr lang="en-US" altLang="zh-CN" sz="2400" dirty="0">
              <a:ea typeface="宋体" panose="02010600030101010101" pitchFamily="2" charset="-122"/>
            </a:endParaRPr>
          </a:p>
        </p:txBody>
      </p:sp>
      <p:pic>
        <p:nvPicPr>
          <p:cNvPr id="69638" name="Picture 45"/>
          <p:cNvPicPr>
            <a:picLocks noChangeAspect="1"/>
          </p:cNvPicPr>
          <p:nvPr/>
        </p:nvPicPr>
        <p:blipFill>
          <a:blip r:embed="rId1"/>
          <a:stretch>
            <a:fillRect/>
          </a:stretch>
        </p:blipFill>
        <p:spPr>
          <a:xfrm>
            <a:off x="5568950" y="4157663"/>
            <a:ext cx="2627313" cy="2006600"/>
          </a:xfrm>
          <a:prstGeom prst="rect">
            <a:avLst/>
          </a:prstGeom>
          <a:noFill/>
          <a:ln w="9525">
            <a:noFill/>
          </a:ln>
        </p:spPr>
      </p:pic>
      <p:grpSp>
        <p:nvGrpSpPr>
          <p:cNvPr id="69639" name="Group 46"/>
          <p:cNvGrpSpPr/>
          <p:nvPr/>
        </p:nvGrpSpPr>
        <p:grpSpPr>
          <a:xfrm>
            <a:off x="6200775" y="2305050"/>
            <a:ext cx="274638" cy="382588"/>
            <a:chOff x="2870" y="1518"/>
            <a:chExt cx="292" cy="320"/>
          </a:xfrm>
        </p:grpSpPr>
        <p:graphicFrame>
          <p:nvGraphicFramePr>
            <p:cNvPr id="69640" name="Object 4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2" name="" r:id="rId2" imgW="826770" imgH="840105" progId="MS_ClipArt_Gallery.2">
                    <p:embed/>
                  </p:oleObj>
                </mc:Choice>
                <mc:Fallback>
                  <p:oleObj name="" r:id="rId2" imgW="826770" imgH="840105" progId="MS_ClipArt_Gallery.2">
                    <p:embed/>
                    <p:pic>
                      <p:nvPicPr>
                        <p:cNvPr id="0" name="图片 3131"/>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9641" name="Object 4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3" name="" r:id="rId4" imgW="1268095" imgH="1199515" progId="MS_ClipArt_Gallery.2">
                    <p:embed/>
                  </p:oleObj>
                </mc:Choice>
                <mc:Fallback>
                  <p:oleObj name="" r:id="rId4" imgW="1268095" imgH="1199515" progId="MS_ClipArt_Gallery.2">
                    <p:embed/>
                    <p:pic>
                      <p:nvPicPr>
                        <p:cNvPr id="0" name="图片 3132"/>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pic>
        <p:nvPicPr>
          <p:cNvPr id="69642" name="Picture 49"/>
          <p:cNvPicPr>
            <a:picLocks noChangeAspect="1"/>
          </p:cNvPicPr>
          <p:nvPr/>
        </p:nvPicPr>
        <p:blipFill>
          <a:blip r:embed="rId6"/>
          <a:stretch>
            <a:fillRect/>
          </a:stretch>
        </p:blipFill>
        <p:spPr>
          <a:xfrm>
            <a:off x="5380038" y="950913"/>
            <a:ext cx="498475" cy="1039812"/>
          </a:xfrm>
          <a:prstGeom prst="rect">
            <a:avLst/>
          </a:prstGeom>
          <a:noFill/>
          <a:ln w="9525">
            <a:noFill/>
          </a:ln>
        </p:spPr>
      </p:pic>
      <p:pic>
        <p:nvPicPr>
          <p:cNvPr id="69643" name="Picture 50"/>
          <p:cNvPicPr>
            <a:picLocks noChangeAspect="1"/>
          </p:cNvPicPr>
          <p:nvPr/>
        </p:nvPicPr>
        <p:blipFill>
          <a:blip r:embed="rId6"/>
          <a:stretch>
            <a:fillRect/>
          </a:stretch>
        </p:blipFill>
        <p:spPr>
          <a:xfrm>
            <a:off x="7561263" y="381000"/>
            <a:ext cx="498475" cy="1039813"/>
          </a:xfrm>
          <a:prstGeom prst="rect">
            <a:avLst/>
          </a:prstGeom>
          <a:noFill/>
          <a:ln w="9525">
            <a:noFill/>
          </a:ln>
        </p:spPr>
      </p:pic>
      <p:grpSp>
        <p:nvGrpSpPr>
          <p:cNvPr id="69644" name="Group 98"/>
          <p:cNvGrpSpPr/>
          <p:nvPr/>
        </p:nvGrpSpPr>
        <p:grpSpPr>
          <a:xfrm>
            <a:off x="4981575" y="2732088"/>
            <a:ext cx="692150" cy="180975"/>
            <a:chOff x="3072" y="739"/>
            <a:chExt cx="652" cy="146"/>
          </a:xfrm>
        </p:grpSpPr>
        <p:pic>
          <p:nvPicPr>
            <p:cNvPr id="69645" name="Picture 99"/>
            <p:cNvPicPr>
              <a:picLocks noChangeAspect="1"/>
            </p:cNvPicPr>
            <p:nvPr/>
          </p:nvPicPr>
          <p:blipFill>
            <a:blip r:embed="rId7"/>
            <a:stretch>
              <a:fillRect/>
            </a:stretch>
          </p:blipFill>
          <p:spPr>
            <a:xfrm flipH="1">
              <a:off x="3237" y="739"/>
              <a:ext cx="487" cy="146"/>
            </a:xfrm>
            <a:prstGeom prst="rect">
              <a:avLst/>
            </a:prstGeom>
            <a:noFill/>
            <a:ln w="9525">
              <a:noFill/>
            </a:ln>
          </p:spPr>
        </p:pic>
        <p:sp>
          <p:nvSpPr>
            <p:cNvPr id="69646" name="Line 100"/>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69647" name="Line 101"/>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pic>
        <p:nvPicPr>
          <p:cNvPr id="69648" name="Picture 102"/>
          <p:cNvPicPr>
            <a:picLocks noChangeAspect="1"/>
          </p:cNvPicPr>
          <p:nvPr/>
        </p:nvPicPr>
        <p:blipFill>
          <a:blip r:embed="rId8"/>
          <a:stretch>
            <a:fillRect/>
          </a:stretch>
        </p:blipFill>
        <p:spPr>
          <a:xfrm>
            <a:off x="5121275" y="2501900"/>
            <a:ext cx="368300" cy="266700"/>
          </a:xfrm>
          <a:prstGeom prst="rect">
            <a:avLst/>
          </a:prstGeom>
          <a:noFill/>
          <a:ln w="9525">
            <a:noFill/>
          </a:ln>
        </p:spPr>
      </p:pic>
      <p:grpSp>
        <p:nvGrpSpPr>
          <p:cNvPr id="69649" name="Group 107"/>
          <p:cNvGrpSpPr/>
          <p:nvPr/>
        </p:nvGrpSpPr>
        <p:grpSpPr>
          <a:xfrm flipH="1">
            <a:off x="5954713" y="3059113"/>
            <a:ext cx="692150" cy="180975"/>
            <a:chOff x="3072" y="739"/>
            <a:chExt cx="652" cy="146"/>
          </a:xfrm>
        </p:grpSpPr>
        <p:pic>
          <p:nvPicPr>
            <p:cNvPr id="69650" name="Picture 108"/>
            <p:cNvPicPr>
              <a:picLocks noChangeAspect="1"/>
            </p:cNvPicPr>
            <p:nvPr/>
          </p:nvPicPr>
          <p:blipFill>
            <a:blip r:embed="rId7"/>
            <a:stretch>
              <a:fillRect/>
            </a:stretch>
          </p:blipFill>
          <p:spPr>
            <a:xfrm flipH="1">
              <a:off x="3237" y="739"/>
              <a:ext cx="487" cy="146"/>
            </a:xfrm>
            <a:prstGeom prst="rect">
              <a:avLst/>
            </a:prstGeom>
            <a:noFill/>
            <a:ln w="9525">
              <a:noFill/>
            </a:ln>
          </p:spPr>
        </p:pic>
        <p:sp>
          <p:nvSpPr>
            <p:cNvPr id="69651" name="Line 109"/>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69652" name="Line 110"/>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pic>
        <p:nvPicPr>
          <p:cNvPr id="69653" name="Picture 111"/>
          <p:cNvPicPr>
            <a:picLocks noChangeAspect="1"/>
          </p:cNvPicPr>
          <p:nvPr/>
        </p:nvPicPr>
        <p:blipFill>
          <a:blip r:embed="rId8"/>
          <a:stretch>
            <a:fillRect/>
          </a:stretch>
        </p:blipFill>
        <p:spPr>
          <a:xfrm>
            <a:off x="6094413" y="2817813"/>
            <a:ext cx="368300" cy="266700"/>
          </a:xfrm>
          <a:prstGeom prst="rect">
            <a:avLst/>
          </a:prstGeom>
          <a:noFill/>
          <a:ln w="9525">
            <a:noFill/>
          </a:ln>
        </p:spPr>
      </p:pic>
      <p:grpSp>
        <p:nvGrpSpPr>
          <p:cNvPr id="69654" name="Group 112"/>
          <p:cNvGrpSpPr/>
          <p:nvPr/>
        </p:nvGrpSpPr>
        <p:grpSpPr>
          <a:xfrm>
            <a:off x="5756275" y="2527300"/>
            <a:ext cx="274638" cy="382588"/>
            <a:chOff x="2870" y="1518"/>
            <a:chExt cx="292" cy="320"/>
          </a:xfrm>
        </p:grpSpPr>
        <p:graphicFrame>
          <p:nvGraphicFramePr>
            <p:cNvPr id="69655" name="Object 11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4" name="" r:id="rId9" imgW="826770" imgH="840105" progId="MS_ClipArt_Gallery.2">
                    <p:embed/>
                  </p:oleObj>
                </mc:Choice>
                <mc:Fallback>
                  <p:oleObj name="" r:id="rId9" imgW="826770" imgH="840105" progId="MS_ClipArt_Gallery.2">
                    <p:embed/>
                    <p:pic>
                      <p:nvPicPr>
                        <p:cNvPr id="0" name="图片 3133"/>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9656" name="Object 11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6" name="" r:id="rId10" imgW="1268095" imgH="1199515" progId="MS_ClipArt_Gallery.2">
                    <p:embed/>
                  </p:oleObj>
                </mc:Choice>
                <mc:Fallback>
                  <p:oleObj name="" r:id="rId10" imgW="1268095" imgH="1199515" progId="MS_ClipArt_Gallery.2">
                    <p:embed/>
                    <p:pic>
                      <p:nvPicPr>
                        <p:cNvPr id="0" name="图片 3135"/>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69657" name="Group 115"/>
          <p:cNvGrpSpPr/>
          <p:nvPr/>
        </p:nvGrpSpPr>
        <p:grpSpPr>
          <a:xfrm>
            <a:off x="5370513" y="2984500"/>
            <a:ext cx="274637" cy="382588"/>
            <a:chOff x="2870" y="1518"/>
            <a:chExt cx="292" cy="320"/>
          </a:xfrm>
        </p:grpSpPr>
        <p:graphicFrame>
          <p:nvGraphicFramePr>
            <p:cNvPr id="69658" name="Object 11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35" name="" r:id="rId11" imgW="826770" imgH="840105" progId="MS_ClipArt_Gallery.2">
                    <p:embed/>
                  </p:oleObj>
                </mc:Choice>
                <mc:Fallback>
                  <p:oleObj name="" r:id="rId11" imgW="826770" imgH="840105" progId="MS_ClipArt_Gallery.2">
                    <p:embed/>
                    <p:pic>
                      <p:nvPicPr>
                        <p:cNvPr id="0" name="图片 3134"/>
                        <p:cNvPicPr/>
                        <p:nvPr/>
                      </p:nvPicPr>
                      <p:blipFill>
                        <a:blip r:embed="rId3"/>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69659" name="Object 11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7" name="" r:id="rId12" imgW="1268095" imgH="1199515" progId="MS_ClipArt_Gallery.2">
                    <p:embed/>
                  </p:oleObj>
                </mc:Choice>
                <mc:Fallback>
                  <p:oleObj name="" r:id="rId12" imgW="1268095" imgH="1199515" progId="MS_ClipArt_Gallery.2">
                    <p:embed/>
                    <p:pic>
                      <p:nvPicPr>
                        <p:cNvPr id="0" name="图片 3136"/>
                        <p:cNvPicPr/>
                        <p:nvPr/>
                      </p:nvPicPr>
                      <p:blipFill>
                        <a:blip r:embed="rId5"/>
                        <a:stretch>
                          <a:fillRect/>
                        </a:stretch>
                      </p:blipFill>
                      <p:spPr>
                        <a:xfrm>
                          <a:off x="2913" y="1602"/>
                          <a:ext cx="249" cy="236"/>
                        </a:xfrm>
                        <a:prstGeom prst="rect">
                          <a:avLst/>
                        </a:prstGeom>
                        <a:noFill/>
                        <a:ln w="38100">
                          <a:noFill/>
                          <a:miter/>
                        </a:ln>
                      </p:spPr>
                    </p:pic>
                  </p:oleObj>
                </mc:Fallback>
              </mc:AlternateContent>
            </a:graphicData>
          </a:graphic>
        </p:graphicFrame>
      </p:grpSp>
      <p:grpSp>
        <p:nvGrpSpPr>
          <p:cNvPr id="69660" name="Group 119"/>
          <p:cNvGrpSpPr/>
          <p:nvPr/>
        </p:nvGrpSpPr>
        <p:grpSpPr>
          <a:xfrm>
            <a:off x="8169275" y="1117600"/>
            <a:ext cx="500063" cy="233363"/>
            <a:chOff x="3600" y="219"/>
            <a:chExt cx="360" cy="175"/>
          </a:xfrm>
        </p:grpSpPr>
        <p:sp>
          <p:nvSpPr>
            <p:cNvPr id="69661" name="Oval 120"/>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69662" name="Line 121"/>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69663" name="Line 122"/>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69664" name="Rectangle 123"/>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69665" name="Oval 124"/>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69666" name="Group 125"/>
            <p:cNvGrpSpPr/>
            <p:nvPr/>
          </p:nvGrpSpPr>
          <p:grpSpPr>
            <a:xfrm>
              <a:off x="3686" y="244"/>
              <a:ext cx="177" cy="66"/>
              <a:chOff x="2848" y="848"/>
              <a:chExt cx="140" cy="98"/>
            </a:xfrm>
          </p:grpSpPr>
          <p:sp>
            <p:nvSpPr>
              <p:cNvPr id="69667" name="Line 12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69668" name="Line 12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69669" name="Line 12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69670" name="Group 129"/>
            <p:cNvGrpSpPr/>
            <p:nvPr/>
          </p:nvGrpSpPr>
          <p:grpSpPr>
            <a:xfrm flipV="1">
              <a:off x="3686" y="243"/>
              <a:ext cx="177" cy="66"/>
              <a:chOff x="2848" y="848"/>
              <a:chExt cx="140" cy="98"/>
            </a:xfrm>
          </p:grpSpPr>
          <p:sp>
            <p:nvSpPr>
              <p:cNvPr id="69671" name="Line 130"/>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69672" name="Line 131"/>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69673" name="Line 132"/>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69674" name="Text Box 136"/>
          <p:cNvSpPr txBox="1"/>
          <p:nvPr/>
        </p:nvSpPr>
        <p:spPr>
          <a:xfrm>
            <a:off x="5006975" y="3429000"/>
            <a:ext cx="2200275" cy="366713"/>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point-to-multipoint</a:t>
            </a:r>
            <a:endParaRPr lang="en-US" altLang="zh-CN" dirty="0">
              <a:latin typeface="Comic Sans MS" panose="030F0702030302020204" pitchFamily="66" charset="0"/>
              <a:ea typeface="宋体" panose="02010600030101010101" pitchFamily="2" charset="-122"/>
            </a:endParaRPr>
          </a:p>
        </p:txBody>
      </p:sp>
      <p:sp>
        <p:nvSpPr>
          <p:cNvPr id="69675" name="Line 137"/>
          <p:cNvSpPr/>
          <p:nvPr/>
        </p:nvSpPr>
        <p:spPr>
          <a:xfrm flipV="1">
            <a:off x="5838825" y="492125"/>
            <a:ext cx="1722438" cy="550863"/>
          </a:xfrm>
          <a:prstGeom prst="line">
            <a:avLst/>
          </a:prstGeom>
          <a:ln w="57150" cap="flat" cmpd="sng">
            <a:solidFill>
              <a:srgbClr val="FF99CC"/>
            </a:solidFill>
            <a:prstDash val="sysDot"/>
            <a:round/>
            <a:headEnd type="none" w="med" len="med"/>
            <a:tailEnd type="none" w="med" len="med"/>
          </a:ln>
        </p:spPr>
      </p:sp>
      <p:sp>
        <p:nvSpPr>
          <p:cNvPr id="69676" name="Text Box 138"/>
          <p:cNvSpPr txBox="1"/>
          <p:nvPr/>
        </p:nvSpPr>
        <p:spPr>
          <a:xfrm>
            <a:off x="5934075" y="931863"/>
            <a:ext cx="1670050" cy="366712"/>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point-to-point</a:t>
            </a:r>
            <a:endParaRPr lang="en-US" altLang="zh-CN" dirty="0">
              <a:latin typeface="Comic Sans MS" panose="030F0702030302020204" pitchFamily="66" charset="0"/>
              <a:ea typeface="宋体" panose="02010600030101010101" pitchFamily="2" charset="-122"/>
            </a:endParaRPr>
          </a:p>
        </p:txBody>
      </p:sp>
      <p:sp>
        <p:nvSpPr>
          <p:cNvPr id="69677" name="Line 139"/>
          <p:cNvSpPr/>
          <p:nvPr/>
        </p:nvSpPr>
        <p:spPr>
          <a:xfrm>
            <a:off x="7924800" y="1219200"/>
            <a:ext cx="246063" cy="0"/>
          </a:xfrm>
          <a:prstGeom prst="line">
            <a:avLst/>
          </a:prstGeom>
          <a:ln w="9525" cap="flat" cmpd="sng">
            <a:solidFill>
              <a:schemeClr val="tx1"/>
            </a:solidFill>
            <a:prstDash val="solid"/>
            <a:round/>
            <a:headEnd type="none" w="med" len="med"/>
            <a:tailEnd type="none" w="med" len="me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716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1683" name="Rectangle 2"/>
          <p:cNvSpPr/>
          <p:nvPr/>
        </p:nvSpPr>
        <p:spPr>
          <a:xfrm>
            <a:off x="350838" y="274638"/>
            <a:ext cx="8628062" cy="8382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802.16: WiMAX: downlink, uplink scheduling</a:t>
            </a:r>
            <a:endParaRPr lang="en-US" altLang="zh-CN" sz="3200" u="sng" dirty="0">
              <a:solidFill>
                <a:schemeClr val="accent2"/>
              </a:solidFill>
              <a:latin typeface="Comic Sans MS" panose="030F0702030302020204" pitchFamily="66" charset="0"/>
              <a:ea typeface="宋体" panose="02010600030101010101" pitchFamily="2" charset="-122"/>
            </a:endParaRPr>
          </a:p>
        </p:txBody>
      </p:sp>
      <p:sp>
        <p:nvSpPr>
          <p:cNvPr id="71684" name="Rectangle 3"/>
          <p:cNvSpPr>
            <a:spLocks noGrp="1"/>
          </p:cNvSpPr>
          <p:nvPr>
            <p:ph idx="1"/>
          </p:nvPr>
        </p:nvSpPr>
        <p:spPr>
          <a:xfrm>
            <a:off x="473075" y="1339850"/>
            <a:ext cx="7654925" cy="1673225"/>
          </a:xfrm>
          <a:ln/>
        </p:spPr>
        <p:txBody>
          <a:bodyPr vert="horz" wrap="square" lIns="91440" tIns="45720" rIns="91440" bIns="45720" anchor="t" anchorCtr="0"/>
          <a:p>
            <a:r>
              <a:rPr lang="en-US" altLang="zh-CN" sz="2400" dirty="0">
                <a:ea typeface="宋体" panose="02010600030101010101" pitchFamily="2" charset="-122"/>
              </a:rPr>
              <a:t>transmission frame</a:t>
            </a:r>
            <a:endParaRPr lang="en-US" altLang="zh-CN" sz="2400" dirty="0">
              <a:ea typeface="宋体" panose="02010600030101010101" pitchFamily="2" charset="-122"/>
            </a:endParaRPr>
          </a:p>
          <a:p>
            <a:pPr lvl="1"/>
            <a:r>
              <a:rPr lang="en-US" altLang="zh-CN" dirty="0">
                <a:ea typeface="宋体" panose="02010600030101010101" pitchFamily="2" charset="-122"/>
              </a:rPr>
              <a:t>down-link subframe: base station to node </a:t>
            </a:r>
            <a:endParaRPr lang="en-US" altLang="zh-CN" dirty="0">
              <a:ea typeface="宋体" panose="02010600030101010101" pitchFamily="2" charset="-122"/>
            </a:endParaRPr>
          </a:p>
          <a:p>
            <a:pPr lvl="1"/>
            <a:r>
              <a:rPr lang="en-US" altLang="zh-CN" dirty="0">
                <a:ea typeface="宋体" panose="02010600030101010101" pitchFamily="2" charset="-122"/>
              </a:rPr>
              <a:t>uplink subframe: node to base station</a:t>
            </a:r>
            <a:endParaRPr lang="en-US" altLang="zh-CN" dirty="0">
              <a:ea typeface="宋体" panose="02010600030101010101" pitchFamily="2" charset="-122"/>
            </a:endParaRPr>
          </a:p>
        </p:txBody>
      </p:sp>
      <p:grpSp>
        <p:nvGrpSpPr>
          <p:cNvPr id="71685" name="Group 54"/>
          <p:cNvGrpSpPr/>
          <p:nvPr/>
        </p:nvGrpSpPr>
        <p:grpSpPr>
          <a:xfrm>
            <a:off x="676275" y="2836863"/>
            <a:ext cx="7802563" cy="1476375"/>
            <a:chOff x="544" y="2223"/>
            <a:chExt cx="4915" cy="930"/>
          </a:xfrm>
        </p:grpSpPr>
        <p:sp>
          <p:nvSpPr>
            <p:cNvPr id="71686" name="Rectangle 4"/>
            <p:cNvSpPr/>
            <p:nvPr/>
          </p:nvSpPr>
          <p:spPr>
            <a:xfrm>
              <a:off x="569" y="2478"/>
              <a:ext cx="878" cy="378"/>
            </a:xfrm>
            <a:prstGeom prst="rect">
              <a:avLst/>
            </a:prstGeom>
            <a:solidFill>
              <a:srgbClr val="EAEAEA"/>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687" name="Text Box 5"/>
            <p:cNvSpPr txBox="1"/>
            <p:nvPr/>
          </p:nvSpPr>
          <p:spPr>
            <a:xfrm rot="-5400000">
              <a:off x="421" y="2585"/>
              <a:ext cx="414" cy="173"/>
            </a:xfrm>
            <a:prstGeom prst="rect">
              <a:avLst/>
            </a:prstGeom>
            <a:noFill/>
            <a:ln w="9525">
              <a:noFill/>
            </a:ln>
          </p:spPr>
          <p:txBody>
            <a:bodyPr wrap="none" anchor="t" anchorCtr="0">
              <a:spAutoFit/>
            </a:bodyPr>
            <a:p>
              <a:pPr>
                <a:buClrTx/>
                <a:buFontTx/>
              </a:pPr>
              <a:r>
                <a:rPr lang="en-US" altLang="zh-CN" sz="1200" dirty="0">
                  <a:latin typeface="Arial" panose="020B0604020202020204" pitchFamily="34" charset="0"/>
                  <a:ea typeface="宋体" panose="02010600030101010101" pitchFamily="2" charset="-122"/>
                </a:rPr>
                <a:t>pream.</a:t>
              </a:r>
              <a:endParaRPr lang="en-US" altLang="zh-CN" sz="1200" dirty="0">
                <a:latin typeface="Arial" panose="020B0604020202020204" pitchFamily="34" charset="0"/>
                <a:ea typeface="宋体" panose="02010600030101010101" pitchFamily="2" charset="-122"/>
              </a:endParaRPr>
            </a:p>
          </p:txBody>
        </p:sp>
        <p:sp>
          <p:nvSpPr>
            <p:cNvPr id="71688" name="Text Box 6"/>
            <p:cNvSpPr txBox="1"/>
            <p:nvPr/>
          </p:nvSpPr>
          <p:spPr>
            <a:xfrm>
              <a:off x="738" y="2501"/>
              <a:ext cx="359" cy="326"/>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DL-</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MAP</a:t>
              </a:r>
              <a:endParaRPr lang="en-US" altLang="zh-CN" sz="1400" dirty="0">
                <a:latin typeface="Arial" panose="020B0604020202020204" pitchFamily="34" charset="0"/>
                <a:ea typeface="宋体" panose="02010600030101010101" pitchFamily="2" charset="-122"/>
              </a:endParaRPr>
            </a:p>
          </p:txBody>
        </p:sp>
        <p:sp>
          <p:nvSpPr>
            <p:cNvPr id="71689" name="Text Box 7"/>
            <p:cNvSpPr txBox="1"/>
            <p:nvPr/>
          </p:nvSpPr>
          <p:spPr>
            <a:xfrm>
              <a:off x="1069" y="2511"/>
              <a:ext cx="359" cy="326"/>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UL-</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MAP</a:t>
              </a:r>
              <a:endParaRPr lang="en-US" altLang="zh-CN" sz="1400" dirty="0">
                <a:latin typeface="Arial" panose="020B0604020202020204" pitchFamily="34" charset="0"/>
                <a:ea typeface="宋体" panose="02010600030101010101" pitchFamily="2" charset="-122"/>
              </a:endParaRPr>
            </a:p>
          </p:txBody>
        </p:sp>
        <p:grpSp>
          <p:nvGrpSpPr>
            <p:cNvPr id="71690" name="Group 8"/>
            <p:cNvGrpSpPr/>
            <p:nvPr/>
          </p:nvGrpSpPr>
          <p:grpSpPr>
            <a:xfrm>
              <a:off x="1437" y="2479"/>
              <a:ext cx="457" cy="378"/>
              <a:chOff x="1424" y="1427"/>
              <a:chExt cx="457" cy="378"/>
            </a:xfrm>
          </p:grpSpPr>
          <p:sp>
            <p:nvSpPr>
              <p:cNvPr id="71691" name="Rectangle 9"/>
              <p:cNvSpPr/>
              <p:nvPr/>
            </p:nvSpPr>
            <p:spPr>
              <a:xfrm>
                <a:off x="1436" y="1427"/>
                <a:ext cx="443"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692" name="Text Box 10"/>
              <p:cNvSpPr txBox="1"/>
              <p:nvPr/>
            </p:nvSpPr>
            <p:spPr>
              <a:xfrm>
                <a:off x="1424" y="1452"/>
                <a:ext cx="457" cy="326"/>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DL</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burst 1</a:t>
                </a:r>
                <a:endParaRPr lang="en-US" altLang="zh-CN" sz="1400" dirty="0">
                  <a:latin typeface="Arial" panose="020B0604020202020204" pitchFamily="34" charset="0"/>
                  <a:ea typeface="宋体" panose="02010600030101010101" pitchFamily="2" charset="-122"/>
                </a:endParaRPr>
              </a:p>
            </p:txBody>
          </p:sp>
        </p:grpSp>
        <p:grpSp>
          <p:nvGrpSpPr>
            <p:cNvPr id="71693" name="Group 11"/>
            <p:cNvGrpSpPr/>
            <p:nvPr/>
          </p:nvGrpSpPr>
          <p:grpSpPr>
            <a:xfrm>
              <a:off x="4131" y="2481"/>
              <a:ext cx="421" cy="378"/>
              <a:chOff x="2807" y="3128"/>
              <a:chExt cx="421" cy="378"/>
            </a:xfrm>
          </p:grpSpPr>
          <p:sp>
            <p:nvSpPr>
              <p:cNvPr id="71694" name="Rectangle 12"/>
              <p:cNvSpPr/>
              <p:nvPr/>
            </p:nvSpPr>
            <p:spPr>
              <a:xfrm>
                <a:off x="2826" y="3128"/>
                <a:ext cx="368"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695" name="Text Box 13"/>
              <p:cNvSpPr txBox="1"/>
              <p:nvPr/>
            </p:nvSpPr>
            <p:spPr>
              <a:xfrm>
                <a:off x="2807" y="3217"/>
                <a:ext cx="421" cy="192"/>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SS #1</a:t>
                </a:r>
                <a:endParaRPr lang="en-US" altLang="zh-CN" sz="1400" dirty="0">
                  <a:latin typeface="Arial" panose="020B0604020202020204" pitchFamily="34" charset="0"/>
                  <a:ea typeface="宋体" panose="02010600030101010101" pitchFamily="2" charset="-122"/>
                </a:endParaRPr>
              </a:p>
            </p:txBody>
          </p:sp>
        </p:grpSp>
        <p:sp>
          <p:nvSpPr>
            <p:cNvPr id="71696" name="Line 14"/>
            <p:cNvSpPr/>
            <p:nvPr/>
          </p:nvSpPr>
          <p:spPr>
            <a:xfrm>
              <a:off x="739" y="2478"/>
              <a:ext cx="0" cy="378"/>
            </a:xfrm>
            <a:prstGeom prst="line">
              <a:avLst/>
            </a:prstGeom>
            <a:ln w="9525" cap="flat" cmpd="sng">
              <a:solidFill>
                <a:schemeClr val="tx1"/>
              </a:solidFill>
              <a:prstDash val="solid"/>
              <a:round/>
              <a:headEnd type="none" w="med" len="med"/>
              <a:tailEnd type="none" w="med" len="med"/>
            </a:ln>
          </p:spPr>
        </p:sp>
        <p:sp>
          <p:nvSpPr>
            <p:cNvPr id="71697" name="Line 15"/>
            <p:cNvSpPr/>
            <p:nvPr/>
          </p:nvSpPr>
          <p:spPr>
            <a:xfrm>
              <a:off x="1052" y="2489"/>
              <a:ext cx="0" cy="378"/>
            </a:xfrm>
            <a:prstGeom prst="line">
              <a:avLst/>
            </a:prstGeom>
            <a:ln w="9525" cap="flat" cmpd="sng">
              <a:solidFill>
                <a:schemeClr val="tx1"/>
              </a:solidFill>
              <a:prstDash val="solid"/>
              <a:round/>
              <a:headEnd type="none" w="med" len="med"/>
              <a:tailEnd type="none" w="med" len="med"/>
            </a:ln>
          </p:spPr>
        </p:sp>
        <p:grpSp>
          <p:nvGrpSpPr>
            <p:cNvPr id="71698" name="Group 16"/>
            <p:cNvGrpSpPr/>
            <p:nvPr/>
          </p:nvGrpSpPr>
          <p:grpSpPr>
            <a:xfrm>
              <a:off x="1895" y="2479"/>
              <a:ext cx="639" cy="378"/>
              <a:chOff x="1436" y="1427"/>
              <a:chExt cx="443" cy="378"/>
            </a:xfrm>
          </p:grpSpPr>
          <p:sp>
            <p:nvSpPr>
              <p:cNvPr id="71699" name="Rectangle 17"/>
              <p:cNvSpPr/>
              <p:nvPr/>
            </p:nvSpPr>
            <p:spPr>
              <a:xfrm>
                <a:off x="1436" y="1427"/>
                <a:ext cx="443"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0" name="Text Box 18"/>
              <p:cNvSpPr txBox="1"/>
              <p:nvPr/>
            </p:nvSpPr>
            <p:spPr>
              <a:xfrm>
                <a:off x="1494" y="1452"/>
                <a:ext cx="316" cy="326"/>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DL</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burst 2</a:t>
                </a:r>
                <a:endParaRPr lang="en-US" altLang="zh-CN" sz="1400" dirty="0">
                  <a:latin typeface="Arial" panose="020B0604020202020204" pitchFamily="34" charset="0"/>
                  <a:ea typeface="宋体" panose="02010600030101010101" pitchFamily="2" charset="-122"/>
                </a:endParaRPr>
              </a:p>
            </p:txBody>
          </p:sp>
        </p:grpSp>
        <p:grpSp>
          <p:nvGrpSpPr>
            <p:cNvPr id="71701" name="Group 19"/>
            <p:cNvGrpSpPr/>
            <p:nvPr/>
          </p:nvGrpSpPr>
          <p:grpSpPr>
            <a:xfrm>
              <a:off x="2711" y="2479"/>
              <a:ext cx="553" cy="378"/>
              <a:chOff x="1436" y="1427"/>
              <a:chExt cx="443" cy="378"/>
            </a:xfrm>
          </p:grpSpPr>
          <p:sp>
            <p:nvSpPr>
              <p:cNvPr id="71702" name="Rectangle 20"/>
              <p:cNvSpPr/>
              <p:nvPr/>
            </p:nvSpPr>
            <p:spPr>
              <a:xfrm>
                <a:off x="1436" y="1427"/>
                <a:ext cx="443"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3" name="Text Box 21"/>
              <p:cNvSpPr txBox="1"/>
              <p:nvPr/>
            </p:nvSpPr>
            <p:spPr>
              <a:xfrm>
                <a:off x="1470" y="1452"/>
                <a:ext cx="367" cy="326"/>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DL</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burst n</a:t>
                </a:r>
                <a:endParaRPr lang="en-US" altLang="zh-CN" sz="1400" dirty="0">
                  <a:latin typeface="Arial" panose="020B0604020202020204" pitchFamily="34" charset="0"/>
                  <a:ea typeface="宋体" panose="02010600030101010101" pitchFamily="2" charset="-122"/>
                </a:endParaRPr>
              </a:p>
            </p:txBody>
          </p:sp>
        </p:grpSp>
        <p:sp>
          <p:nvSpPr>
            <p:cNvPr id="71704" name="Rectangle 22"/>
            <p:cNvSpPr/>
            <p:nvPr/>
          </p:nvSpPr>
          <p:spPr>
            <a:xfrm>
              <a:off x="3262" y="2480"/>
              <a:ext cx="443"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5" name="Text Box 23"/>
            <p:cNvSpPr txBox="1"/>
            <p:nvPr/>
          </p:nvSpPr>
          <p:spPr>
            <a:xfrm>
              <a:off x="3278" y="2504"/>
              <a:ext cx="420" cy="326"/>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Initial</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maint.</a:t>
              </a:r>
              <a:endParaRPr lang="en-US" altLang="zh-CN" sz="1400" dirty="0">
                <a:latin typeface="Arial" panose="020B0604020202020204" pitchFamily="34" charset="0"/>
                <a:ea typeface="宋体" panose="02010600030101010101" pitchFamily="2" charset="-122"/>
              </a:endParaRPr>
            </a:p>
          </p:txBody>
        </p:sp>
        <p:sp>
          <p:nvSpPr>
            <p:cNvPr id="71706" name="Rectangle 24"/>
            <p:cNvSpPr/>
            <p:nvPr/>
          </p:nvSpPr>
          <p:spPr>
            <a:xfrm>
              <a:off x="3697" y="2487"/>
              <a:ext cx="443" cy="36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07" name="Text Box 25"/>
            <p:cNvSpPr txBox="1"/>
            <p:nvPr/>
          </p:nvSpPr>
          <p:spPr>
            <a:xfrm>
              <a:off x="3677" y="2503"/>
              <a:ext cx="488" cy="326"/>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request</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conn.</a:t>
              </a:r>
              <a:endParaRPr lang="en-US" altLang="zh-CN" sz="1400" dirty="0">
                <a:latin typeface="Arial" panose="020B0604020202020204" pitchFamily="34" charset="0"/>
                <a:ea typeface="宋体" panose="02010600030101010101" pitchFamily="2" charset="-122"/>
              </a:endParaRPr>
            </a:p>
          </p:txBody>
        </p:sp>
        <p:sp>
          <p:nvSpPr>
            <p:cNvPr id="71708" name="Text Box 26"/>
            <p:cNvSpPr txBox="1"/>
            <p:nvPr/>
          </p:nvSpPr>
          <p:spPr>
            <a:xfrm>
              <a:off x="1373" y="2950"/>
              <a:ext cx="1047" cy="192"/>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downlink subframe</a:t>
              </a:r>
              <a:endParaRPr lang="en-US" altLang="zh-CN" sz="1400" dirty="0">
                <a:latin typeface="Arial" panose="020B0604020202020204" pitchFamily="34" charset="0"/>
                <a:ea typeface="宋体" panose="02010600030101010101" pitchFamily="2" charset="-122"/>
              </a:endParaRPr>
            </a:p>
          </p:txBody>
        </p:sp>
        <p:grpSp>
          <p:nvGrpSpPr>
            <p:cNvPr id="71709" name="Group 27"/>
            <p:cNvGrpSpPr/>
            <p:nvPr/>
          </p:nvGrpSpPr>
          <p:grpSpPr>
            <a:xfrm>
              <a:off x="4492" y="2482"/>
              <a:ext cx="421" cy="378"/>
              <a:chOff x="4253" y="2101"/>
              <a:chExt cx="421" cy="378"/>
            </a:xfrm>
          </p:grpSpPr>
          <p:sp>
            <p:nvSpPr>
              <p:cNvPr id="71710" name="Rectangle 28"/>
              <p:cNvSpPr/>
              <p:nvPr/>
            </p:nvSpPr>
            <p:spPr>
              <a:xfrm>
                <a:off x="4281" y="2101"/>
                <a:ext cx="368"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11" name="Text Box 29"/>
              <p:cNvSpPr txBox="1"/>
              <p:nvPr/>
            </p:nvSpPr>
            <p:spPr>
              <a:xfrm>
                <a:off x="4253" y="2190"/>
                <a:ext cx="421" cy="192"/>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SS #2</a:t>
                </a:r>
                <a:endParaRPr lang="en-US" altLang="zh-CN" sz="1400" dirty="0">
                  <a:latin typeface="Arial" panose="020B0604020202020204" pitchFamily="34" charset="0"/>
                  <a:ea typeface="宋体" panose="02010600030101010101" pitchFamily="2" charset="-122"/>
                </a:endParaRPr>
              </a:p>
            </p:txBody>
          </p:sp>
        </p:grpSp>
        <p:grpSp>
          <p:nvGrpSpPr>
            <p:cNvPr id="71712" name="Group 30"/>
            <p:cNvGrpSpPr/>
            <p:nvPr/>
          </p:nvGrpSpPr>
          <p:grpSpPr>
            <a:xfrm>
              <a:off x="5044" y="2483"/>
              <a:ext cx="415" cy="378"/>
              <a:chOff x="4256" y="2101"/>
              <a:chExt cx="415" cy="378"/>
            </a:xfrm>
          </p:grpSpPr>
          <p:sp>
            <p:nvSpPr>
              <p:cNvPr id="71713" name="Rectangle 31"/>
              <p:cNvSpPr/>
              <p:nvPr/>
            </p:nvSpPr>
            <p:spPr>
              <a:xfrm>
                <a:off x="4281" y="2101"/>
                <a:ext cx="368" cy="37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1714" name="Text Box 32"/>
              <p:cNvSpPr txBox="1"/>
              <p:nvPr/>
            </p:nvSpPr>
            <p:spPr>
              <a:xfrm>
                <a:off x="4256" y="2190"/>
                <a:ext cx="415" cy="192"/>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SS #k</a:t>
                </a:r>
                <a:endParaRPr lang="en-US" altLang="zh-CN" sz="1400" dirty="0">
                  <a:latin typeface="Arial" panose="020B0604020202020204" pitchFamily="34" charset="0"/>
                  <a:ea typeface="宋体" panose="02010600030101010101" pitchFamily="2" charset="-122"/>
                </a:endParaRPr>
              </a:p>
            </p:txBody>
          </p:sp>
        </p:grpSp>
        <p:sp>
          <p:nvSpPr>
            <p:cNvPr id="71715" name="Line 33"/>
            <p:cNvSpPr/>
            <p:nvPr/>
          </p:nvSpPr>
          <p:spPr>
            <a:xfrm>
              <a:off x="3271" y="2943"/>
              <a:ext cx="0" cy="208"/>
            </a:xfrm>
            <a:prstGeom prst="line">
              <a:avLst/>
            </a:prstGeom>
            <a:ln w="9525" cap="flat" cmpd="sng">
              <a:solidFill>
                <a:schemeClr val="tx1"/>
              </a:solidFill>
              <a:prstDash val="solid"/>
              <a:round/>
              <a:headEnd type="none" w="med" len="med"/>
              <a:tailEnd type="none" w="med" len="med"/>
            </a:ln>
          </p:spPr>
        </p:sp>
        <p:sp>
          <p:nvSpPr>
            <p:cNvPr id="71716" name="Line 34"/>
            <p:cNvSpPr/>
            <p:nvPr/>
          </p:nvSpPr>
          <p:spPr>
            <a:xfrm>
              <a:off x="2420" y="3035"/>
              <a:ext cx="803" cy="0"/>
            </a:xfrm>
            <a:prstGeom prst="line">
              <a:avLst/>
            </a:prstGeom>
            <a:ln w="9525" cap="flat" cmpd="sng">
              <a:solidFill>
                <a:schemeClr val="tx1"/>
              </a:solidFill>
              <a:prstDash val="solid"/>
              <a:round/>
              <a:headEnd type="none" w="med" len="med"/>
              <a:tailEnd type="triangle" w="med" len="med"/>
            </a:ln>
          </p:spPr>
        </p:sp>
        <p:sp>
          <p:nvSpPr>
            <p:cNvPr id="71717" name="Line 35"/>
            <p:cNvSpPr/>
            <p:nvPr/>
          </p:nvSpPr>
          <p:spPr>
            <a:xfrm flipH="1">
              <a:off x="590" y="3037"/>
              <a:ext cx="803" cy="0"/>
            </a:xfrm>
            <a:prstGeom prst="line">
              <a:avLst/>
            </a:prstGeom>
            <a:ln w="9525" cap="flat" cmpd="sng">
              <a:solidFill>
                <a:schemeClr val="tx1"/>
              </a:solidFill>
              <a:prstDash val="solid"/>
              <a:round/>
              <a:headEnd type="none" w="med" len="med"/>
              <a:tailEnd type="triangle" w="med" len="med"/>
            </a:ln>
          </p:spPr>
        </p:sp>
        <p:sp>
          <p:nvSpPr>
            <p:cNvPr id="71718" name="Line 36"/>
            <p:cNvSpPr/>
            <p:nvPr/>
          </p:nvSpPr>
          <p:spPr>
            <a:xfrm>
              <a:off x="572" y="2945"/>
              <a:ext cx="0" cy="208"/>
            </a:xfrm>
            <a:prstGeom prst="line">
              <a:avLst/>
            </a:prstGeom>
            <a:ln w="9525" cap="flat" cmpd="sng">
              <a:solidFill>
                <a:schemeClr val="tx1"/>
              </a:solidFill>
              <a:prstDash val="solid"/>
              <a:round/>
              <a:headEnd type="none" w="med" len="med"/>
              <a:tailEnd type="none" w="med" len="med"/>
            </a:ln>
          </p:spPr>
        </p:sp>
        <p:sp>
          <p:nvSpPr>
            <p:cNvPr id="71719" name="Text Box 37"/>
            <p:cNvSpPr txBox="1"/>
            <p:nvPr/>
          </p:nvSpPr>
          <p:spPr>
            <a:xfrm>
              <a:off x="3883" y="2942"/>
              <a:ext cx="904" cy="192"/>
            </a:xfrm>
            <a:prstGeom prst="rect">
              <a:avLst/>
            </a:prstGeom>
            <a:noFill/>
            <a:ln w="9525">
              <a:noFill/>
            </a:ln>
          </p:spPr>
          <p:txBody>
            <a:bodyPr wrap="none" anchor="t" anchorCtr="0">
              <a:spAutoFit/>
            </a:bodyPr>
            <a:p>
              <a:pPr algn="ctr">
                <a:buClrTx/>
                <a:buFontTx/>
              </a:pPr>
              <a:r>
                <a:rPr lang="en-US" altLang="zh-CN" sz="1400" dirty="0">
                  <a:latin typeface="Arial" panose="020B0604020202020204" pitchFamily="34" charset="0"/>
                  <a:ea typeface="宋体" panose="02010600030101010101" pitchFamily="2" charset="-122"/>
                </a:rPr>
                <a:t>uplink subframe</a:t>
              </a:r>
              <a:endParaRPr lang="en-US" altLang="zh-CN" sz="1400" dirty="0">
                <a:latin typeface="Arial" panose="020B0604020202020204" pitchFamily="34" charset="0"/>
                <a:ea typeface="宋体" panose="02010600030101010101" pitchFamily="2" charset="-122"/>
              </a:endParaRPr>
            </a:p>
          </p:txBody>
        </p:sp>
        <p:sp>
          <p:nvSpPr>
            <p:cNvPr id="71720" name="Line 38"/>
            <p:cNvSpPr/>
            <p:nvPr/>
          </p:nvSpPr>
          <p:spPr>
            <a:xfrm>
              <a:off x="5407" y="2944"/>
              <a:ext cx="0" cy="208"/>
            </a:xfrm>
            <a:prstGeom prst="line">
              <a:avLst/>
            </a:prstGeom>
            <a:ln w="9525" cap="flat" cmpd="sng">
              <a:solidFill>
                <a:schemeClr val="tx1"/>
              </a:solidFill>
              <a:prstDash val="solid"/>
              <a:round/>
              <a:headEnd type="none" w="med" len="med"/>
              <a:tailEnd type="none" w="med" len="med"/>
            </a:ln>
          </p:spPr>
        </p:sp>
        <p:sp>
          <p:nvSpPr>
            <p:cNvPr id="71721" name="Line 39"/>
            <p:cNvSpPr/>
            <p:nvPr/>
          </p:nvSpPr>
          <p:spPr>
            <a:xfrm>
              <a:off x="4837" y="3036"/>
              <a:ext cx="558" cy="0"/>
            </a:xfrm>
            <a:prstGeom prst="line">
              <a:avLst/>
            </a:prstGeom>
            <a:ln w="9525" cap="flat" cmpd="sng">
              <a:solidFill>
                <a:schemeClr val="tx1"/>
              </a:solidFill>
              <a:prstDash val="solid"/>
              <a:round/>
              <a:headEnd type="none" w="med" len="med"/>
              <a:tailEnd type="triangle" w="med" len="med"/>
            </a:ln>
          </p:spPr>
        </p:sp>
        <p:sp>
          <p:nvSpPr>
            <p:cNvPr id="71722" name="Line 40"/>
            <p:cNvSpPr/>
            <p:nvPr/>
          </p:nvSpPr>
          <p:spPr>
            <a:xfrm flipH="1">
              <a:off x="3310" y="3037"/>
              <a:ext cx="568" cy="0"/>
            </a:xfrm>
            <a:prstGeom prst="line">
              <a:avLst/>
            </a:prstGeom>
            <a:ln w="9525" cap="flat" cmpd="sng">
              <a:solidFill>
                <a:schemeClr val="tx1"/>
              </a:solidFill>
              <a:prstDash val="solid"/>
              <a:round/>
              <a:headEnd type="none" w="med" len="med"/>
              <a:tailEnd type="triangle" w="med" len="med"/>
            </a:ln>
          </p:spPr>
        </p:sp>
        <p:sp>
          <p:nvSpPr>
            <p:cNvPr id="71723" name="Text Box 41"/>
            <p:cNvSpPr txBox="1"/>
            <p:nvPr/>
          </p:nvSpPr>
          <p:spPr>
            <a:xfrm>
              <a:off x="2504" y="2311"/>
              <a:ext cx="260"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71724" name="Text Box 42"/>
            <p:cNvSpPr txBox="1"/>
            <p:nvPr/>
          </p:nvSpPr>
          <p:spPr>
            <a:xfrm>
              <a:off x="2505" y="2690"/>
              <a:ext cx="260"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71725" name="Text Box 43"/>
            <p:cNvSpPr txBox="1"/>
            <p:nvPr/>
          </p:nvSpPr>
          <p:spPr>
            <a:xfrm>
              <a:off x="4866" y="2315"/>
              <a:ext cx="260"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71726" name="Text Box 44"/>
            <p:cNvSpPr txBox="1"/>
            <p:nvPr/>
          </p:nvSpPr>
          <p:spPr>
            <a:xfrm>
              <a:off x="4867" y="2694"/>
              <a:ext cx="260" cy="231"/>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71727" name="Line 45"/>
            <p:cNvSpPr/>
            <p:nvPr/>
          </p:nvSpPr>
          <p:spPr>
            <a:xfrm>
              <a:off x="1439" y="2495"/>
              <a:ext cx="0" cy="350"/>
            </a:xfrm>
            <a:prstGeom prst="line">
              <a:avLst/>
            </a:prstGeom>
            <a:ln w="28575" cap="flat" cmpd="sng">
              <a:solidFill>
                <a:schemeClr val="tx1"/>
              </a:solidFill>
              <a:prstDash val="solid"/>
              <a:round/>
              <a:headEnd type="none" w="med" len="med"/>
              <a:tailEnd type="none" w="med" len="med"/>
            </a:ln>
          </p:spPr>
        </p:sp>
        <p:sp>
          <p:nvSpPr>
            <p:cNvPr id="71728" name="Line 46"/>
            <p:cNvSpPr/>
            <p:nvPr/>
          </p:nvSpPr>
          <p:spPr>
            <a:xfrm>
              <a:off x="3263" y="2495"/>
              <a:ext cx="0" cy="350"/>
            </a:xfrm>
            <a:prstGeom prst="line">
              <a:avLst/>
            </a:prstGeom>
            <a:ln w="38100" cap="flat" cmpd="sng">
              <a:solidFill>
                <a:schemeClr val="tx1"/>
              </a:solidFill>
              <a:prstDash val="solid"/>
              <a:round/>
              <a:headEnd type="none" w="med" len="med"/>
              <a:tailEnd type="none" w="med" len="med"/>
            </a:ln>
          </p:spPr>
        </p:sp>
        <p:sp>
          <p:nvSpPr>
            <p:cNvPr id="71729" name="Freeform 47"/>
            <p:cNvSpPr/>
            <p:nvPr/>
          </p:nvSpPr>
          <p:spPr>
            <a:xfrm>
              <a:off x="758" y="2412"/>
              <a:ext cx="727" cy="66"/>
            </a:xfrm>
            <a:custGeom>
              <a:avLst/>
              <a:gdLst/>
              <a:ahLst/>
              <a:cxnLst>
                <a:cxn ang="0">
                  <a:pos x="0" y="56"/>
                </a:cxn>
                <a:cxn ang="0">
                  <a:pos x="0" y="0"/>
                </a:cxn>
                <a:cxn ang="0">
                  <a:pos x="727" y="0"/>
                </a:cxn>
                <a:cxn ang="0">
                  <a:pos x="727" y="66"/>
                </a:cxn>
              </a:cxnLst>
              <a:pathLst>
                <a:path w="727" h="66">
                  <a:moveTo>
                    <a:pt x="0" y="56"/>
                  </a:moveTo>
                  <a:lnTo>
                    <a:pt x="0" y="0"/>
                  </a:lnTo>
                  <a:lnTo>
                    <a:pt x="727" y="0"/>
                  </a:lnTo>
                  <a:lnTo>
                    <a:pt x="727" y="66"/>
                  </a:lnTo>
                </a:path>
              </a:pathLst>
            </a:custGeom>
            <a:noFill/>
            <a:ln w="9525" cap="flat" cmpd="sng">
              <a:solidFill>
                <a:schemeClr val="tx1"/>
              </a:solidFill>
              <a:prstDash val="solid"/>
              <a:round/>
              <a:headEnd type="none" w="med" len="med"/>
              <a:tailEnd type="triangle" w="med" len="med"/>
            </a:ln>
          </p:spPr>
          <p:txBody>
            <a:bodyPr/>
            <a:p>
              <a:endParaRPr lang="zh-CN" altLang="en-US"/>
            </a:p>
          </p:txBody>
        </p:sp>
        <p:sp>
          <p:nvSpPr>
            <p:cNvPr id="71730" name="Freeform 48"/>
            <p:cNvSpPr/>
            <p:nvPr/>
          </p:nvSpPr>
          <p:spPr>
            <a:xfrm>
              <a:off x="807" y="2374"/>
              <a:ext cx="1115" cy="116"/>
            </a:xfrm>
            <a:custGeom>
              <a:avLst/>
              <a:gdLst/>
              <a:ahLst/>
              <a:cxnLst>
                <a:cxn ang="0">
                  <a:pos x="0" y="172"/>
                </a:cxn>
                <a:cxn ang="0">
                  <a:pos x="0" y="0"/>
                </a:cxn>
                <a:cxn ang="0">
                  <a:pos x="1710" y="0"/>
                </a:cxn>
                <a:cxn ang="0">
                  <a:pos x="1710" y="204"/>
                </a:cxn>
              </a:cxnLst>
              <a:pathLst>
                <a:path w="727" h="66">
                  <a:moveTo>
                    <a:pt x="0" y="56"/>
                  </a:moveTo>
                  <a:lnTo>
                    <a:pt x="0" y="0"/>
                  </a:lnTo>
                  <a:lnTo>
                    <a:pt x="727" y="0"/>
                  </a:lnTo>
                  <a:lnTo>
                    <a:pt x="727" y="66"/>
                  </a:lnTo>
                </a:path>
              </a:pathLst>
            </a:custGeom>
            <a:noFill/>
            <a:ln w="9525" cap="flat" cmpd="sng">
              <a:solidFill>
                <a:schemeClr val="tx1"/>
              </a:solidFill>
              <a:prstDash val="solid"/>
              <a:round/>
              <a:headEnd type="none" w="med" len="med"/>
              <a:tailEnd type="triangle" w="med" len="med"/>
            </a:ln>
          </p:spPr>
          <p:txBody>
            <a:bodyPr/>
            <a:p>
              <a:endParaRPr lang="zh-CN" altLang="en-US"/>
            </a:p>
          </p:txBody>
        </p:sp>
        <p:sp>
          <p:nvSpPr>
            <p:cNvPr id="71731" name="Freeform 49"/>
            <p:cNvSpPr/>
            <p:nvPr/>
          </p:nvSpPr>
          <p:spPr>
            <a:xfrm>
              <a:off x="1007" y="2349"/>
              <a:ext cx="1700" cy="152"/>
            </a:xfrm>
            <a:custGeom>
              <a:avLst/>
              <a:gdLst/>
              <a:ahLst/>
              <a:cxnLst>
                <a:cxn ang="0">
                  <a:pos x="0" y="297"/>
                </a:cxn>
                <a:cxn ang="0">
                  <a:pos x="0" y="0"/>
                </a:cxn>
                <a:cxn ang="0">
                  <a:pos x="3975" y="0"/>
                </a:cxn>
                <a:cxn ang="0">
                  <a:pos x="3975" y="350"/>
                </a:cxn>
              </a:cxnLst>
              <a:pathLst>
                <a:path w="727" h="66">
                  <a:moveTo>
                    <a:pt x="0" y="56"/>
                  </a:moveTo>
                  <a:lnTo>
                    <a:pt x="0" y="0"/>
                  </a:lnTo>
                  <a:lnTo>
                    <a:pt x="727" y="0"/>
                  </a:lnTo>
                  <a:lnTo>
                    <a:pt x="727" y="66"/>
                  </a:lnTo>
                </a:path>
              </a:pathLst>
            </a:custGeom>
            <a:noFill/>
            <a:ln w="9525" cap="flat" cmpd="sng">
              <a:solidFill>
                <a:schemeClr val="tx1"/>
              </a:solidFill>
              <a:prstDash val="solid"/>
              <a:round/>
              <a:headEnd type="none" w="med" len="med"/>
              <a:tailEnd type="triangle" w="med" len="med"/>
            </a:ln>
          </p:spPr>
          <p:txBody>
            <a:bodyPr/>
            <a:p>
              <a:endParaRPr lang="zh-CN" altLang="en-US"/>
            </a:p>
          </p:txBody>
        </p:sp>
        <p:sp>
          <p:nvSpPr>
            <p:cNvPr id="71732" name="Freeform 50"/>
            <p:cNvSpPr/>
            <p:nvPr/>
          </p:nvSpPr>
          <p:spPr>
            <a:xfrm>
              <a:off x="1075" y="2294"/>
              <a:ext cx="3069" cy="218"/>
            </a:xfrm>
            <a:custGeom>
              <a:avLst/>
              <a:gdLst/>
              <a:ahLst/>
              <a:cxnLst>
                <a:cxn ang="0">
                  <a:pos x="0" y="611"/>
                </a:cxn>
                <a:cxn ang="0">
                  <a:pos x="0" y="0"/>
                </a:cxn>
                <a:cxn ang="0">
                  <a:pos x="12956" y="0"/>
                </a:cxn>
                <a:cxn ang="0">
                  <a:pos x="12956" y="720"/>
                </a:cxn>
              </a:cxnLst>
              <a:pathLst>
                <a:path w="727" h="66">
                  <a:moveTo>
                    <a:pt x="0" y="56"/>
                  </a:moveTo>
                  <a:lnTo>
                    <a:pt x="0" y="0"/>
                  </a:lnTo>
                  <a:lnTo>
                    <a:pt x="727" y="0"/>
                  </a:lnTo>
                  <a:lnTo>
                    <a:pt x="727" y="66"/>
                  </a:lnTo>
                </a:path>
              </a:pathLst>
            </a:custGeom>
            <a:noFill/>
            <a:ln w="9525" cap="flat" cmpd="sng">
              <a:solidFill>
                <a:schemeClr val="tx1"/>
              </a:solidFill>
              <a:prstDash val="dash"/>
              <a:round/>
              <a:headEnd type="none" w="med" len="med"/>
              <a:tailEnd type="triangle" w="med" len="med"/>
            </a:ln>
          </p:spPr>
          <p:txBody>
            <a:bodyPr/>
            <a:p>
              <a:endParaRPr lang="zh-CN" altLang="en-US"/>
            </a:p>
          </p:txBody>
        </p:sp>
        <p:sp>
          <p:nvSpPr>
            <p:cNvPr id="71733" name="Freeform 51"/>
            <p:cNvSpPr/>
            <p:nvPr/>
          </p:nvSpPr>
          <p:spPr>
            <a:xfrm>
              <a:off x="1104" y="2258"/>
              <a:ext cx="3419" cy="246"/>
            </a:xfrm>
            <a:custGeom>
              <a:avLst/>
              <a:gdLst/>
              <a:ahLst/>
              <a:cxnLst>
                <a:cxn ang="0">
                  <a:pos x="0" y="779"/>
                </a:cxn>
                <a:cxn ang="0">
                  <a:pos x="0" y="0"/>
                </a:cxn>
                <a:cxn ang="0">
                  <a:pos x="16079" y="0"/>
                </a:cxn>
                <a:cxn ang="0">
                  <a:pos x="16079" y="917"/>
                </a:cxn>
              </a:cxnLst>
              <a:pathLst>
                <a:path w="727" h="66">
                  <a:moveTo>
                    <a:pt x="0" y="56"/>
                  </a:moveTo>
                  <a:lnTo>
                    <a:pt x="0" y="0"/>
                  </a:lnTo>
                  <a:lnTo>
                    <a:pt x="727" y="0"/>
                  </a:lnTo>
                  <a:lnTo>
                    <a:pt x="727" y="66"/>
                  </a:lnTo>
                </a:path>
              </a:pathLst>
            </a:custGeom>
            <a:noFill/>
            <a:ln w="9525" cap="flat" cmpd="sng">
              <a:solidFill>
                <a:schemeClr val="tx1"/>
              </a:solidFill>
              <a:prstDash val="dash"/>
              <a:round/>
              <a:headEnd type="none" w="med" len="med"/>
              <a:tailEnd type="triangle" w="med" len="med"/>
            </a:ln>
          </p:spPr>
          <p:txBody>
            <a:bodyPr/>
            <a:p>
              <a:endParaRPr lang="zh-CN" altLang="en-US"/>
            </a:p>
          </p:txBody>
        </p:sp>
        <p:sp>
          <p:nvSpPr>
            <p:cNvPr id="71734" name="Freeform 52"/>
            <p:cNvSpPr/>
            <p:nvPr/>
          </p:nvSpPr>
          <p:spPr>
            <a:xfrm>
              <a:off x="1388" y="2223"/>
              <a:ext cx="3684" cy="264"/>
            </a:xfrm>
            <a:custGeom>
              <a:avLst/>
              <a:gdLst/>
              <a:ahLst/>
              <a:cxnLst>
                <a:cxn ang="0">
                  <a:pos x="0" y="896"/>
                </a:cxn>
                <a:cxn ang="0">
                  <a:pos x="0" y="0"/>
                </a:cxn>
                <a:cxn ang="0">
                  <a:pos x="18668" y="0"/>
                </a:cxn>
                <a:cxn ang="0">
                  <a:pos x="18668" y="1056"/>
                </a:cxn>
              </a:cxnLst>
              <a:pathLst>
                <a:path w="727" h="66">
                  <a:moveTo>
                    <a:pt x="0" y="56"/>
                  </a:moveTo>
                  <a:lnTo>
                    <a:pt x="0" y="0"/>
                  </a:lnTo>
                  <a:lnTo>
                    <a:pt x="727" y="0"/>
                  </a:lnTo>
                  <a:lnTo>
                    <a:pt x="727" y="66"/>
                  </a:lnTo>
                </a:path>
              </a:pathLst>
            </a:custGeom>
            <a:noFill/>
            <a:ln w="9525" cap="flat" cmpd="sng">
              <a:solidFill>
                <a:schemeClr val="tx1"/>
              </a:solidFill>
              <a:prstDash val="dash"/>
              <a:round/>
              <a:headEnd type="none" w="med" len="med"/>
              <a:tailEnd type="triangle" w="med" len="med"/>
            </a:ln>
          </p:spPr>
          <p:txBody>
            <a:bodyPr/>
            <a:p>
              <a:endParaRPr lang="zh-CN" altLang="en-US"/>
            </a:p>
          </p:txBody>
        </p:sp>
      </p:grpSp>
      <p:sp>
        <p:nvSpPr>
          <p:cNvPr id="71735" name="Text Box 55"/>
          <p:cNvSpPr txBox="1"/>
          <p:nvPr/>
        </p:nvSpPr>
        <p:spPr>
          <a:xfrm>
            <a:off x="1700213" y="4448175"/>
            <a:ext cx="6242050"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base station tells nodes who will get to receive (DL map) </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and who will get to send (UL map), and when</a:t>
            </a:r>
            <a:endParaRPr lang="en-US" altLang="zh-CN" dirty="0">
              <a:latin typeface="Comic Sans MS" panose="030F0702030302020204" pitchFamily="66" charset="0"/>
              <a:ea typeface="宋体" panose="02010600030101010101" pitchFamily="2" charset="-122"/>
            </a:endParaRPr>
          </a:p>
        </p:txBody>
      </p:sp>
      <p:sp>
        <p:nvSpPr>
          <p:cNvPr id="71736" name="Line 56"/>
          <p:cNvSpPr/>
          <p:nvPr/>
        </p:nvSpPr>
        <p:spPr>
          <a:xfrm>
            <a:off x="1323975" y="3949700"/>
            <a:ext cx="400050" cy="609600"/>
          </a:xfrm>
          <a:prstGeom prst="line">
            <a:avLst/>
          </a:prstGeom>
          <a:ln w="9525" cap="flat" cmpd="sng">
            <a:solidFill>
              <a:schemeClr val="tx1"/>
            </a:solidFill>
            <a:prstDash val="solid"/>
            <a:round/>
            <a:headEnd type="none" w="med" len="med"/>
            <a:tailEnd type="none" w="med" len="med"/>
          </a:ln>
        </p:spPr>
      </p:sp>
      <p:sp>
        <p:nvSpPr>
          <p:cNvPr id="71737" name="Line 57"/>
          <p:cNvSpPr/>
          <p:nvPr/>
        </p:nvSpPr>
        <p:spPr>
          <a:xfrm>
            <a:off x="1700213" y="3903663"/>
            <a:ext cx="46037" cy="690562"/>
          </a:xfrm>
          <a:prstGeom prst="line">
            <a:avLst/>
          </a:prstGeom>
          <a:ln w="9525" cap="flat" cmpd="sng">
            <a:solidFill>
              <a:schemeClr val="tx1"/>
            </a:solidFill>
            <a:prstDash val="solid"/>
            <a:round/>
            <a:headEnd type="none" w="med" len="med"/>
            <a:tailEnd type="none" w="med" len="med"/>
          </a:ln>
        </p:spPr>
      </p:sp>
      <p:sp>
        <p:nvSpPr>
          <p:cNvPr id="71738" name="Rectangle 58"/>
          <p:cNvSpPr/>
          <p:nvPr/>
        </p:nvSpPr>
        <p:spPr>
          <a:xfrm>
            <a:off x="531813" y="5502275"/>
            <a:ext cx="7654925" cy="874713"/>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dirty="0">
                <a:latin typeface="Comic Sans MS" panose="030F0702030302020204" pitchFamily="66" charset="0"/>
                <a:ea typeface="宋体" panose="02010600030101010101" pitchFamily="2" charset="-122"/>
              </a:rPr>
              <a:t>WiMAX standard provide mechanism for scheduling, but not scheduling algorithm</a:t>
            </a:r>
            <a:endParaRPr lang="en-US" altLang="zh-CN" sz="2400" dirty="0">
              <a:latin typeface="Comic Sans MS" panose="030F0702030302020204" pitchFamily="66"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7373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37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outline</a:t>
            </a:r>
            <a:endParaRPr lang="en-US" altLang="zh-CN" dirty="0">
              <a:ea typeface="宋体" panose="02010600030101010101" pitchFamily="2" charset="-122"/>
            </a:endParaRPr>
          </a:p>
        </p:txBody>
      </p:sp>
      <p:sp>
        <p:nvSpPr>
          <p:cNvPr id="73732"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chemeClr val="accent2"/>
                </a:solidFill>
                <a:ea typeface="宋体" panose="02010600030101010101" pitchFamily="2" charset="-122"/>
              </a:rPr>
              <a:t>6.1 </a:t>
            </a:r>
            <a:r>
              <a:rPr lang="en-US" altLang="zh-CN" sz="2400" dirty="0">
                <a:ea typeface="宋体" panose="02010600030101010101" pitchFamily="2" charset="-122"/>
              </a:rPr>
              <a:t>Introduction </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Wireless</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6.2 </a:t>
            </a:r>
            <a:r>
              <a:rPr lang="en-US" altLang="zh-CN" sz="2400" dirty="0">
                <a:ea typeface="宋体" panose="02010600030101010101" pitchFamily="2" charset="-122"/>
              </a:rPr>
              <a:t>Wireless links, characteristics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6.3 </a:t>
            </a:r>
            <a:r>
              <a:rPr lang="en-US" altLang="zh-CN" sz="2400" dirty="0">
                <a:ea typeface="宋体" panose="02010600030101010101" pitchFamily="2" charset="-122"/>
              </a:rPr>
              <a:t>IEEE 802.11 wireless LANs (“wi-fi”)</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FF0000"/>
                </a:solidFill>
                <a:ea typeface="宋体" panose="02010600030101010101" pitchFamily="2" charset="-122"/>
              </a:rPr>
              <a:t>6.4 Cellular Internet Access</a:t>
            </a:r>
            <a:endParaRPr lang="en-US" altLang="zh-CN" sz="2400" dirty="0">
              <a:solidFill>
                <a:srgbClr val="FF0000"/>
              </a:solidFill>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a:t>
            </a:r>
            <a:endParaRPr lang="en-US" altLang="zh-CN" sz="2000" dirty="0">
              <a:ea typeface="宋体" panose="02010600030101010101" pitchFamily="2" charset="-122"/>
            </a:endParaRPr>
          </a:p>
        </p:txBody>
      </p:sp>
      <p:sp>
        <p:nvSpPr>
          <p:cNvPr id="73733" name="Rectangle 4"/>
          <p:cNvSpPr>
            <a:spLocks noGrp="1"/>
          </p:cNvSpPr>
          <p:nvPr>
            <p:ph sz="half" idx="2"/>
          </p:nvPr>
        </p:nvSpPr>
        <p:spPr>
          <a:xfrm>
            <a:off x="4495800" y="1600200"/>
            <a:ext cx="4054475"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Mobility</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6.5</a:t>
            </a:r>
            <a:r>
              <a:rPr lang="en-US" altLang="zh-CN" sz="2400" dirty="0">
                <a:ea typeface="宋体" panose="02010600030101010101" pitchFamily="2" charset="-122"/>
              </a:rPr>
              <a:t> Principles: addressing and routing to mobile users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6.6</a:t>
            </a:r>
            <a:r>
              <a:rPr lang="en-US" altLang="zh-CN" sz="2400" dirty="0">
                <a:ea typeface="宋体" panose="02010600030101010101" pitchFamily="2" charset="-122"/>
              </a:rPr>
              <a:t> Mobile IP</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6.7</a:t>
            </a:r>
            <a:r>
              <a:rPr lang="en-US" altLang="zh-CN" sz="2400" dirty="0">
                <a:ea typeface="宋体" panose="02010600030101010101" pitchFamily="2" charset="-122"/>
              </a:rPr>
              <a:t> Handling mobility in cellular networks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6.8</a:t>
            </a:r>
            <a:r>
              <a:rPr lang="en-US" altLang="zh-CN" sz="2400" dirty="0">
                <a:ea typeface="宋体" panose="02010600030101010101" pitchFamily="2" charset="-122"/>
              </a:rPr>
              <a:t> Mobility and higher-layer protocols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6.9</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Summary</a:t>
            </a:r>
            <a:endParaRPr lang="en-US" altLang="zh-CN" sz="2400"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7577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75779" name="Group 372"/>
          <p:cNvGrpSpPr/>
          <p:nvPr/>
        </p:nvGrpSpPr>
        <p:grpSpPr>
          <a:xfrm>
            <a:off x="3314700" y="2635250"/>
            <a:ext cx="5368925" cy="3657600"/>
            <a:chOff x="1820" y="1536"/>
            <a:chExt cx="3382" cy="2304"/>
          </a:xfrm>
        </p:grpSpPr>
        <p:sp>
          <p:nvSpPr>
            <p:cNvPr id="75780" name="AutoShape 2"/>
            <p:cNvSpPr/>
            <p:nvPr/>
          </p:nvSpPr>
          <p:spPr>
            <a:xfrm>
              <a:off x="1820" y="1536"/>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1" name="AutoShape 4"/>
            <p:cNvSpPr/>
            <p:nvPr/>
          </p:nvSpPr>
          <p:spPr>
            <a:xfrm>
              <a:off x="2328" y="1823"/>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2" name="AutoShape 5"/>
            <p:cNvSpPr/>
            <p:nvPr/>
          </p:nvSpPr>
          <p:spPr>
            <a:xfrm>
              <a:off x="1840" y="2699"/>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3" name="AutoShape 7"/>
            <p:cNvSpPr/>
            <p:nvPr/>
          </p:nvSpPr>
          <p:spPr>
            <a:xfrm>
              <a:off x="2340" y="2971"/>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4" name="AutoShape 8"/>
            <p:cNvSpPr/>
            <p:nvPr/>
          </p:nvSpPr>
          <p:spPr>
            <a:xfrm>
              <a:off x="1829" y="2118"/>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5" name="AutoShape 9"/>
            <p:cNvSpPr/>
            <p:nvPr/>
          </p:nvSpPr>
          <p:spPr>
            <a:xfrm>
              <a:off x="2340" y="2397"/>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5786" name="AutoShape 10"/>
            <p:cNvSpPr/>
            <p:nvPr/>
          </p:nvSpPr>
          <p:spPr>
            <a:xfrm>
              <a:off x="2845" y="3264"/>
              <a:ext cx="666" cy="576"/>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75787" name="Group 11"/>
            <p:cNvGrpSpPr/>
            <p:nvPr/>
          </p:nvGrpSpPr>
          <p:grpSpPr>
            <a:xfrm>
              <a:off x="3110" y="3346"/>
              <a:ext cx="153" cy="306"/>
              <a:chOff x="3796" y="1043"/>
              <a:chExt cx="865" cy="1237"/>
            </a:xfrm>
          </p:grpSpPr>
          <p:sp>
            <p:nvSpPr>
              <p:cNvPr id="75788" name="Line 1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789" name="Line 1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790" name="Line 1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791" name="Line 1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792" name="Line 1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793" name="Line 1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794" name="Line 1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795" name="Line 1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796" name="Line 2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797" name="Line 2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798" name="Line 2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799" name="Line 2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800" name="Line 2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801" name="Line 2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802" name="Line 2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803" name="Group 27"/>
              <p:cNvGrpSpPr/>
              <p:nvPr/>
            </p:nvGrpSpPr>
            <p:grpSpPr>
              <a:xfrm>
                <a:off x="4269" y="1415"/>
                <a:ext cx="392" cy="137"/>
                <a:chOff x="4227" y="1360"/>
                <a:chExt cx="863" cy="270"/>
              </a:xfrm>
            </p:grpSpPr>
            <p:sp>
              <p:nvSpPr>
                <p:cNvPr id="75804" name="Line 2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05" name="Line 2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06" name="Line 3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07" name="Line 3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08" name="Group 32"/>
              <p:cNvGrpSpPr/>
              <p:nvPr/>
            </p:nvGrpSpPr>
            <p:grpSpPr>
              <a:xfrm rot="5700496">
                <a:off x="4050" y="1168"/>
                <a:ext cx="392" cy="137"/>
                <a:chOff x="4227" y="1360"/>
                <a:chExt cx="863" cy="270"/>
              </a:xfrm>
            </p:grpSpPr>
            <p:sp>
              <p:nvSpPr>
                <p:cNvPr id="75809" name="Line 3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10" name="Line 3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11" name="Line 3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12" name="Line 3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13" name="Group 37"/>
              <p:cNvGrpSpPr/>
              <p:nvPr/>
            </p:nvGrpSpPr>
            <p:grpSpPr>
              <a:xfrm rot="10800000">
                <a:off x="3796" y="1402"/>
                <a:ext cx="392" cy="137"/>
                <a:chOff x="4227" y="1360"/>
                <a:chExt cx="863" cy="270"/>
              </a:xfrm>
            </p:grpSpPr>
            <p:sp>
              <p:nvSpPr>
                <p:cNvPr id="75814" name="Line 3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15" name="Line 3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16" name="Line 4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17" name="Line 4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818" name="Group 42"/>
            <p:cNvGrpSpPr/>
            <p:nvPr/>
          </p:nvGrpSpPr>
          <p:grpSpPr>
            <a:xfrm>
              <a:off x="2590" y="2509"/>
              <a:ext cx="153" cy="306"/>
              <a:chOff x="3796" y="1043"/>
              <a:chExt cx="865" cy="1237"/>
            </a:xfrm>
          </p:grpSpPr>
          <p:sp>
            <p:nvSpPr>
              <p:cNvPr id="75819" name="Line 4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820" name="Line 4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821" name="Line 4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822" name="Line 4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823" name="Line 4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824" name="Line 4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825" name="Line 4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826" name="Line 5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827" name="Line 5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828" name="Line 5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829" name="Line 5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830" name="Line 5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831" name="Line 5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832" name="Line 5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833" name="Line 5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834" name="Group 58"/>
              <p:cNvGrpSpPr/>
              <p:nvPr/>
            </p:nvGrpSpPr>
            <p:grpSpPr>
              <a:xfrm>
                <a:off x="4269" y="1415"/>
                <a:ext cx="392" cy="137"/>
                <a:chOff x="4227" y="1360"/>
                <a:chExt cx="863" cy="270"/>
              </a:xfrm>
            </p:grpSpPr>
            <p:sp>
              <p:nvSpPr>
                <p:cNvPr id="75835" name="Line 5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36" name="Line 6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37" name="Line 6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38" name="Line 6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39" name="Group 63"/>
              <p:cNvGrpSpPr/>
              <p:nvPr/>
            </p:nvGrpSpPr>
            <p:grpSpPr>
              <a:xfrm rot="5700496">
                <a:off x="4050" y="1168"/>
                <a:ext cx="392" cy="137"/>
                <a:chOff x="4227" y="1360"/>
                <a:chExt cx="863" cy="270"/>
              </a:xfrm>
            </p:grpSpPr>
            <p:sp>
              <p:nvSpPr>
                <p:cNvPr id="75840" name="Line 6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41" name="Line 6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42" name="Line 6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43" name="Line 6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44" name="Group 68"/>
              <p:cNvGrpSpPr/>
              <p:nvPr/>
            </p:nvGrpSpPr>
            <p:grpSpPr>
              <a:xfrm rot="10800000">
                <a:off x="3796" y="1402"/>
                <a:ext cx="392" cy="137"/>
                <a:chOff x="4227" y="1360"/>
                <a:chExt cx="863" cy="270"/>
              </a:xfrm>
            </p:grpSpPr>
            <p:sp>
              <p:nvSpPr>
                <p:cNvPr id="75845" name="Line 6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46" name="Line 7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47" name="Line 7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48" name="Line 7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849" name="Group 73"/>
            <p:cNvGrpSpPr/>
            <p:nvPr/>
          </p:nvGrpSpPr>
          <p:grpSpPr>
            <a:xfrm>
              <a:off x="2596" y="3076"/>
              <a:ext cx="153" cy="306"/>
              <a:chOff x="3796" y="1043"/>
              <a:chExt cx="865" cy="1237"/>
            </a:xfrm>
          </p:grpSpPr>
          <p:sp>
            <p:nvSpPr>
              <p:cNvPr id="75850" name="Line 7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851" name="Line 7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852" name="Line 7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853" name="Line 7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854" name="Line 7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855" name="Line 7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856" name="Line 8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857" name="Line 8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858" name="Line 8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859" name="Line 8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860" name="Line 8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861" name="Line 8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862" name="Line 8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863" name="Line 8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864" name="Line 8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865" name="Group 89"/>
              <p:cNvGrpSpPr/>
              <p:nvPr/>
            </p:nvGrpSpPr>
            <p:grpSpPr>
              <a:xfrm>
                <a:off x="4269" y="1415"/>
                <a:ext cx="392" cy="137"/>
                <a:chOff x="4227" y="1360"/>
                <a:chExt cx="863" cy="270"/>
              </a:xfrm>
            </p:grpSpPr>
            <p:sp>
              <p:nvSpPr>
                <p:cNvPr id="75866" name="Line 9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67" name="Line 9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68" name="Line 9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69" name="Line 9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70" name="Group 94"/>
              <p:cNvGrpSpPr/>
              <p:nvPr/>
            </p:nvGrpSpPr>
            <p:grpSpPr>
              <a:xfrm rot="5700496">
                <a:off x="4050" y="1168"/>
                <a:ext cx="392" cy="137"/>
                <a:chOff x="4227" y="1360"/>
                <a:chExt cx="863" cy="270"/>
              </a:xfrm>
            </p:grpSpPr>
            <p:sp>
              <p:nvSpPr>
                <p:cNvPr id="75871" name="Line 9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72" name="Line 9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73" name="Line 9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74" name="Line 9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875" name="Group 99"/>
              <p:cNvGrpSpPr/>
              <p:nvPr/>
            </p:nvGrpSpPr>
            <p:grpSpPr>
              <a:xfrm rot="10800000">
                <a:off x="3796" y="1402"/>
                <a:ext cx="392" cy="137"/>
                <a:chOff x="4227" y="1360"/>
                <a:chExt cx="863" cy="270"/>
              </a:xfrm>
            </p:grpSpPr>
            <p:sp>
              <p:nvSpPr>
                <p:cNvPr id="75876" name="Line 10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77" name="Line 10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78" name="Line 10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879" name="Line 10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880" name="Group 135"/>
            <p:cNvGrpSpPr/>
            <p:nvPr/>
          </p:nvGrpSpPr>
          <p:grpSpPr>
            <a:xfrm>
              <a:off x="2095" y="1649"/>
              <a:ext cx="153" cy="306"/>
              <a:chOff x="3796" y="1043"/>
              <a:chExt cx="865" cy="1237"/>
            </a:xfrm>
          </p:grpSpPr>
          <p:sp>
            <p:nvSpPr>
              <p:cNvPr id="75881" name="Line 13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882" name="Line 13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883" name="Line 13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884" name="Line 13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885" name="Line 14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886" name="Line 14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887" name="Line 14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888" name="Line 14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889" name="Line 14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890" name="Line 14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891" name="Line 14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892" name="Line 14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893" name="Line 14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894" name="Line 14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895" name="Line 15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896" name="Group 151"/>
              <p:cNvGrpSpPr/>
              <p:nvPr/>
            </p:nvGrpSpPr>
            <p:grpSpPr>
              <a:xfrm>
                <a:off x="4269" y="1415"/>
                <a:ext cx="392" cy="137"/>
                <a:chOff x="4227" y="1360"/>
                <a:chExt cx="863" cy="270"/>
              </a:xfrm>
            </p:grpSpPr>
            <p:sp>
              <p:nvSpPr>
                <p:cNvPr id="75897" name="Line 15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898" name="Line 15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899" name="Line 15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00" name="Line 15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01" name="Group 156"/>
              <p:cNvGrpSpPr/>
              <p:nvPr/>
            </p:nvGrpSpPr>
            <p:grpSpPr>
              <a:xfrm rot="5700496">
                <a:off x="4050" y="1168"/>
                <a:ext cx="392" cy="137"/>
                <a:chOff x="4227" y="1360"/>
                <a:chExt cx="863" cy="270"/>
              </a:xfrm>
            </p:grpSpPr>
            <p:sp>
              <p:nvSpPr>
                <p:cNvPr id="75902" name="Line 15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03" name="Line 15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04" name="Line 15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05" name="Line 16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06" name="Group 161"/>
              <p:cNvGrpSpPr/>
              <p:nvPr/>
            </p:nvGrpSpPr>
            <p:grpSpPr>
              <a:xfrm rot="10800000">
                <a:off x="3796" y="1402"/>
                <a:ext cx="392" cy="137"/>
                <a:chOff x="4227" y="1360"/>
                <a:chExt cx="863" cy="270"/>
              </a:xfrm>
            </p:grpSpPr>
            <p:sp>
              <p:nvSpPr>
                <p:cNvPr id="75907" name="Line 16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08" name="Line 16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09" name="Line 16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10" name="Line 16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911" name="Group 197"/>
            <p:cNvGrpSpPr/>
            <p:nvPr/>
          </p:nvGrpSpPr>
          <p:grpSpPr>
            <a:xfrm>
              <a:off x="2579" y="1941"/>
              <a:ext cx="153" cy="306"/>
              <a:chOff x="3796" y="1043"/>
              <a:chExt cx="865" cy="1237"/>
            </a:xfrm>
          </p:grpSpPr>
          <p:sp>
            <p:nvSpPr>
              <p:cNvPr id="75912" name="Line 19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913" name="Line 19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914" name="Line 20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915" name="Line 20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916" name="Line 20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917" name="Line 20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918" name="Line 20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919" name="Line 20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920" name="Line 20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921" name="Line 20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922" name="Line 20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923" name="Line 20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924" name="Line 21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925" name="Line 21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926" name="Line 21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927" name="Group 213"/>
              <p:cNvGrpSpPr/>
              <p:nvPr/>
            </p:nvGrpSpPr>
            <p:grpSpPr>
              <a:xfrm>
                <a:off x="4269" y="1415"/>
                <a:ext cx="392" cy="137"/>
                <a:chOff x="4227" y="1360"/>
                <a:chExt cx="863" cy="270"/>
              </a:xfrm>
            </p:grpSpPr>
            <p:sp>
              <p:nvSpPr>
                <p:cNvPr id="75928" name="Line 2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29" name="Line 2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30" name="Line 2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31" name="Line 2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32" name="Group 218"/>
              <p:cNvGrpSpPr/>
              <p:nvPr/>
            </p:nvGrpSpPr>
            <p:grpSpPr>
              <a:xfrm rot="5700496">
                <a:off x="4050" y="1168"/>
                <a:ext cx="392" cy="137"/>
                <a:chOff x="4227" y="1360"/>
                <a:chExt cx="863" cy="270"/>
              </a:xfrm>
            </p:grpSpPr>
            <p:sp>
              <p:nvSpPr>
                <p:cNvPr id="75933" name="Line 2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34" name="Line 2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35" name="Line 2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36" name="Line 2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37" name="Group 223"/>
              <p:cNvGrpSpPr/>
              <p:nvPr/>
            </p:nvGrpSpPr>
            <p:grpSpPr>
              <a:xfrm rot="10800000">
                <a:off x="3796" y="1402"/>
                <a:ext cx="392" cy="137"/>
                <a:chOff x="4227" y="1360"/>
                <a:chExt cx="863" cy="270"/>
              </a:xfrm>
            </p:grpSpPr>
            <p:sp>
              <p:nvSpPr>
                <p:cNvPr id="75938" name="Line 2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39" name="Line 2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40" name="Line 2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41" name="Line 2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942" name="Group 228"/>
            <p:cNvGrpSpPr/>
            <p:nvPr/>
          </p:nvGrpSpPr>
          <p:grpSpPr>
            <a:xfrm>
              <a:off x="2108" y="2790"/>
              <a:ext cx="153" cy="306"/>
              <a:chOff x="3796" y="1043"/>
              <a:chExt cx="865" cy="1237"/>
            </a:xfrm>
          </p:grpSpPr>
          <p:sp>
            <p:nvSpPr>
              <p:cNvPr id="75943" name="Line 22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944" name="Line 23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945" name="Line 23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946" name="Line 23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947" name="Line 23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948" name="Line 23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949" name="Line 23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950" name="Line 23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951" name="Line 23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952" name="Line 23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953" name="Line 23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954" name="Line 24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955" name="Line 24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956" name="Line 24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957" name="Line 24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958" name="Group 244"/>
              <p:cNvGrpSpPr/>
              <p:nvPr/>
            </p:nvGrpSpPr>
            <p:grpSpPr>
              <a:xfrm>
                <a:off x="4269" y="1415"/>
                <a:ext cx="392" cy="137"/>
                <a:chOff x="4227" y="1360"/>
                <a:chExt cx="863" cy="270"/>
              </a:xfrm>
            </p:grpSpPr>
            <p:sp>
              <p:nvSpPr>
                <p:cNvPr id="75959" name="Line 24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60" name="Line 24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61" name="Line 24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62" name="Line 24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63" name="Group 249"/>
              <p:cNvGrpSpPr/>
              <p:nvPr/>
            </p:nvGrpSpPr>
            <p:grpSpPr>
              <a:xfrm rot="5700496">
                <a:off x="4050" y="1168"/>
                <a:ext cx="392" cy="137"/>
                <a:chOff x="4227" y="1360"/>
                <a:chExt cx="863" cy="270"/>
              </a:xfrm>
            </p:grpSpPr>
            <p:sp>
              <p:nvSpPr>
                <p:cNvPr id="75964" name="Line 2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65" name="Line 2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66" name="Line 2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67" name="Line 2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68" name="Group 254"/>
              <p:cNvGrpSpPr/>
              <p:nvPr/>
            </p:nvGrpSpPr>
            <p:grpSpPr>
              <a:xfrm rot="10800000">
                <a:off x="3796" y="1402"/>
                <a:ext cx="392" cy="137"/>
                <a:chOff x="4227" y="1360"/>
                <a:chExt cx="863" cy="270"/>
              </a:xfrm>
            </p:grpSpPr>
            <p:sp>
              <p:nvSpPr>
                <p:cNvPr id="75969" name="Line 2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70" name="Line 2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71" name="Line 2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72" name="Line 2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75973" name="Group 259"/>
            <p:cNvGrpSpPr/>
            <p:nvPr/>
          </p:nvGrpSpPr>
          <p:grpSpPr>
            <a:xfrm>
              <a:off x="2091" y="2221"/>
              <a:ext cx="153" cy="306"/>
              <a:chOff x="3796" y="1043"/>
              <a:chExt cx="865" cy="1237"/>
            </a:xfrm>
          </p:grpSpPr>
          <p:sp>
            <p:nvSpPr>
              <p:cNvPr id="75974" name="Line 26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5975" name="Line 26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5976" name="Line 26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5977" name="Line 26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5978" name="Line 26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5979" name="Line 26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5980" name="Line 26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5981" name="Line 26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5982" name="Line 26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5983" name="Line 26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5984" name="Line 27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5985" name="Line 27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5986" name="Line 27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5987" name="Line 27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5988" name="Line 27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5989" name="Group 275"/>
              <p:cNvGrpSpPr/>
              <p:nvPr/>
            </p:nvGrpSpPr>
            <p:grpSpPr>
              <a:xfrm>
                <a:off x="4269" y="1415"/>
                <a:ext cx="392" cy="137"/>
                <a:chOff x="4227" y="1360"/>
                <a:chExt cx="863" cy="270"/>
              </a:xfrm>
            </p:grpSpPr>
            <p:sp>
              <p:nvSpPr>
                <p:cNvPr id="75990" name="Line 27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91" name="Line 27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92" name="Line 27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93" name="Line 27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94" name="Group 280"/>
              <p:cNvGrpSpPr/>
              <p:nvPr/>
            </p:nvGrpSpPr>
            <p:grpSpPr>
              <a:xfrm rot="5700496">
                <a:off x="4050" y="1168"/>
                <a:ext cx="392" cy="137"/>
                <a:chOff x="4227" y="1360"/>
                <a:chExt cx="863" cy="270"/>
              </a:xfrm>
            </p:grpSpPr>
            <p:sp>
              <p:nvSpPr>
                <p:cNvPr id="75995" name="Line 2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5996" name="Line 2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5997" name="Line 2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5998" name="Line 2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5999" name="Group 285"/>
              <p:cNvGrpSpPr/>
              <p:nvPr/>
            </p:nvGrpSpPr>
            <p:grpSpPr>
              <a:xfrm rot="10800000">
                <a:off x="3796" y="1402"/>
                <a:ext cx="392" cy="137"/>
                <a:chOff x="4227" y="1360"/>
                <a:chExt cx="863" cy="270"/>
              </a:xfrm>
            </p:grpSpPr>
            <p:sp>
              <p:nvSpPr>
                <p:cNvPr id="76000" name="Line 2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6001" name="Line 2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6002" name="Line 2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6003" name="Line 2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76004" name="Line 290"/>
            <p:cNvSpPr/>
            <p:nvPr/>
          </p:nvSpPr>
          <p:spPr>
            <a:xfrm flipV="1">
              <a:off x="3223" y="3069"/>
              <a:ext cx="316" cy="528"/>
            </a:xfrm>
            <a:prstGeom prst="line">
              <a:avLst/>
            </a:prstGeom>
            <a:ln w="9525" cap="flat" cmpd="sng">
              <a:solidFill>
                <a:schemeClr val="tx1"/>
              </a:solidFill>
              <a:prstDash val="solid"/>
              <a:round/>
              <a:headEnd type="none" w="med" len="med"/>
              <a:tailEnd type="none" w="med" len="med"/>
            </a:ln>
          </p:spPr>
        </p:sp>
        <p:sp>
          <p:nvSpPr>
            <p:cNvPr id="76005" name="Line 292"/>
            <p:cNvSpPr/>
            <p:nvPr/>
          </p:nvSpPr>
          <p:spPr>
            <a:xfrm flipV="1">
              <a:off x="2712" y="3069"/>
              <a:ext cx="519" cy="292"/>
            </a:xfrm>
            <a:prstGeom prst="line">
              <a:avLst/>
            </a:prstGeom>
            <a:ln w="9525" cap="flat" cmpd="sng">
              <a:solidFill>
                <a:schemeClr val="tx1"/>
              </a:solidFill>
              <a:prstDash val="solid"/>
              <a:round/>
              <a:headEnd type="none" w="med" len="med"/>
              <a:tailEnd type="none" w="med" len="med"/>
            </a:ln>
          </p:spPr>
        </p:sp>
        <p:sp>
          <p:nvSpPr>
            <p:cNvPr id="76006" name="Line 293"/>
            <p:cNvSpPr/>
            <p:nvPr/>
          </p:nvSpPr>
          <p:spPr>
            <a:xfrm flipV="1">
              <a:off x="2225" y="2948"/>
              <a:ext cx="957" cy="113"/>
            </a:xfrm>
            <a:prstGeom prst="line">
              <a:avLst/>
            </a:prstGeom>
            <a:ln w="9525" cap="flat" cmpd="sng">
              <a:solidFill>
                <a:schemeClr val="tx1"/>
              </a:solidFill>
              <a:prstDash val="solid"/>
              <a:round/>
              <a:headEnd type="none" w="med" len="med"/>
              <a:tailEnd type="none" w="med" len="med"/>
            </a:ln>
          </p:spPr>
        </p:sp>
        <p:sp>
          <p:nvSpPr>
            <p:cNvPr id="76007" name="Line 294"/>
            <p:cNvSpPr/>
            <p:nvPr/>
          </p:nvSpPr>
          <p:spPr>
            <a:xfrm flipV="1">
              <a:off x="2704" y="2128"/>
              <a:ext cx="568" cy="625"/>
            </a:xfrm>
            <a:prstGeom prst="line">
              <a:avLst/>
            </a:prstGeom>
            <a:ln w="9525" cap="flat" cmpd="sng">
              <a:solidFill>
                <a:schemeClr val="tx1"/>
              </a:solidFill>
              <a:prstDash val="solid"/>
              <a:round/>
              <a:headEnd type="none" w="med" len="med"/>
              <a:tailEnd type="none" w="med" len="med"/>
            </a:ln>
          </p:spPr>
        </p:sp>
        <p:sp>
          <p:nvSpPr>
            <p:cNvPr id="76008" name="Line 295"/>
            <p:cNvSpPr/>
            <p:nvPr/>
          </p:nvSpPr>
          <p:spPr>
            <a:xfrm flipV="1">
              <a:off x="2193" y="2047"/>
              <a:ext cx="1079" cy="414"/>
            </a:xfrm>
            <a:prstGeom prst="line">
              <a:avLst/>
            </a:prstGeom>
            <a:ln w="9525" cap="flat" cmpd="sng">
              <a:solidFill>
                <a:schemeClr val="tx1"/>
              </a:solidFill>
              <a:prstDash val="solid"/>
              <a:round/>
              <a:headEnd type="none" w="med" len="med"/>
              <a:tailEnd type="none" w="med" len="med"/>
            </a:ln>
          </p:spPr>
        </p:sp>
        <p:sp>
          <p:nvSpPr>
            <p:cNvPr id="76009" name="Line 296"/>
            <p:cNvSpPr/>
            <p:nvPr/>
          </p:nvSpPr>
          <p:spPr>
            <a:xfrm flipV="1">
              <a:off x="2696" y="1950"/>
              <a:ext cx="584" cy="235"/>
            </a:xfrm>
            <a:prstGeom prst="line">
              <a:avLst/>
            </a:prstGeom>
            <a:ln w="9525" cap="flat" cmpd="sng">
              <a:solidFill>
                <a:schemeClr val="tx1"/>
              </a:solidFill>
              <a:prstDash val="solid"/>
              <a:round/>
              <a:headEnd type="none" w="med" len="med"/>
              <a:tailEnd type="none" w="med" len="med"/>
            </a:ln>
          </p:spPr>
        </p:sp>
        <p:sp>
          <p:nvSpPr>
            <p:cNvPr id="76010" name="Line 297"/>
            <p:cNvSpPr/>
            <p:nvPr/>
          </p:nvSpPr>
          <p:spPr>
            <a:xfrm>
              <a:off x="2209" y="1885"/>
              <a:ext cx="1079" cy="0"/>
            </a:xfrm>
            <a:prstGeom prst="line">
              <a:avLst/>
            </a:prstGeom>
            <a:ln w="9525" cap="flat" cmpd="sng">
              <a:solidFill>
                <a:schemeClr val="tx1"/>
              </a:solidFill>
              <a:prstDash val="solid"/>
              <a:round/>
              <a:headEnd type="none" w="med" len="med"/>
              <a:tailEnd type="none" w="med" len="med"/>
            </a:ln>
          </p:spPr>
        </p:sp>
        <p:grpSp>
          <p:nvGrpSpPr>
            <p:cNvPr id="76011" name="Group 299"/>
            <p:cNvGrpSpPr/>
            <p:nvPr/>
          </p:nvGrpSpPr>
          <p:grpSpPr>
            <a:xfrm>
              <a:off x="3174" y="2654"/>
              <a:ext cx="622" cy="460"/>
              <a:chOff x="2197" y="1155"/>
              <a:chExt cx="622" cy="460"/>
            </a:xfrm>
          </p:grpSpPr>
          <p:grpSp>
            <p:nvGrpSpPr>
              <p:cNvPr id="76012" name="Group 300"/>
              <p:cNvGrpSpPr/>
              <p:nvPr/>
            </p:nvGrpSpPr>
            <p:grpSpPr>
              <a:xfrm>
                <a:off x="2198" y="1176"/>
                <a:ext cx="621" cy="426"/>
                <a:chOff x="3164" y="2556"/>
                <a:chExt cx="901" cy="338"/>
              </a:xfrm>
            </p:grpSpPr>
            <p:sp>
              <p:nvSpPr>
                <p:cNvPr id="76013" name="Rectangle 301"/>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6014" name="Text Box 302"/>
                <p:cNvSpPr txBox="1"/>
                <p:nvPr/>
              </p:nvSpPr>
              <p:spPr>
                <a:xfrm>
                  <a:off x="3212" y="2573"/>
                  <a:ext cx="168" cy="183"/>
                </a:xfrm>
                <a:prstGeom prst="rect">
                  <a:avLst/>
                </a:prstGeom>
                <a:solidFill>
                  <a:schemeClr val="accent1"/>
                </a:solid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76015" name="Text Box 303"/>
              <p:cNvSpPr txBox="1"/>
              <p:nvPr/>
            </p:nvSpPr>
            <p:spPr>
              <a:xfrm>
                <a:off x="2197" y="1155"/>
                <a:ext cx="616" cy="460"/>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sp>
          <p:nvSpPr>
            <p:cNvPr id="76016" name="Freeform 304"/>
            <p:cNvSpPr/>
            <p:nvPr/>
          </p:nvSpPr>
          <p:spPr>
            <a:xfrm>
              <a:off x="4092" y="1783"/>
              <a:ext cx="1078" cy="1430"/>
            </a:xfrm>
            <a:custGeom>
              <a:avLst/>
              <a:gdLst/>
              <a:ahLst/>
              <a:cxnLst>
                <a:cxn ang="0">
                  <a:pos x="166" y="9"/>
                </a:cxn>
                <a:cxn ang="0">
                  <a:pos x="24" y="204"/>
                </a:cxn>
                <a:cxn ang="0">
                  <a:pos x="20" y="679"/>
                </a:cxn>
                <a:cxn ang="0">
                  <a:pos x="37" y="1077"/>
                </a:cxn>
                <a:cxn ang="0">
                  <a:pos x="170" y="1130"/>
                </a:cxn>
                <a:cxn ang="0">
                  <a:pos x="451" y="1465"/>
                </a:cxn>
                <a:cxn ang="0">
                  <a:pos x="693" y="1605"/>
                </a:cxn>
                <a:cxn ang="0">
                  <a:pos x="834" y="1325"/>
                </a:cxn>
                <a:cxn ang="0">
                  <a:pos x="884" y="578"/>
                </a:cxn>
                <a:cxn ang="0">
                  <a:pos x="839" y="273"/>
                </a:cxn>
                <a:cxn ang="0">
                  <a:pos x="521" y="149"/>
                </a:cxn>
                <a:cxn ang="0">
                  <a:pos x="166" y="9"/>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76017" name="Text Box 305"/>
            <p:cNvSpPr txBox="1"/>
            <p:nvPr/>
          </p:nvSpPr>
          <p:spPr>
            <a:xfrm>
              <a:off x="4120" y="2100"/>
              <a:ext cx="1082" cy="52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Public telephone</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network, and</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Internet</a:t>
              </a:r>
              <a:endParaRPr lang="en-US" altLang="zh-CN" sz="1600" dirty="0">
                <a:latin typeface="Comic Sans MS" panose="030F0702030302020204" pitchFamily="66" charset="0"/>
                <a:ea typeface="宋体" panose="02010600030101010101" pitchFamily="2" charset="-122"/>
              </a:endParaRPr>
            </a:p>
          </p:txBody>
        </p:sp>
        <p:pic>
          <p:nvPicPr>
            <p:cNvPr id="76018" name="Picture 309"/>
            <p:cNvPicPr>
              <a:picLocks noChangeAspect="1"/>
            </p:cNvPicPr>
            <p:nvPr/>
          </p:nvPicPr>
          <p:blipFill>
            <a:blip r:embed="rId1"/>
            <a:stretch>
              <a:fillRect/>
            </a:stretch>
          </p:blipFill>
          <p:spPr>
            <a:xfrm>
              <a:off x="2390" y="2039"/>
              <a:ext cx="159" cy="115"/>
            </a:xfrm>
            <a:prstGeom prst="rect">
              <a:avLst/>
            </a:prstGeom>
            <a:noFill/>
            <a:ln w="9525">
              <a:noFill/>
            </a:ln>
          </p:spPr>
        </p:pic>
        <p:pic>
          <p:nvPicPr>
            <p:cNvPr id="76019" name="Picture 310"/>
            <p:cNvPicPr>
              <a:picLocks noChangeAspect="1"/>
            </p:cNvPicPr>
            <p:nvPr/>
          </p:nvPicPr>
          <p:blipFill>
            <a:blip r:embed="rId1"/>
            <a:stretch>
              <a:fillRect/>
            </a:stretch>
          </p:blipFill>
          <p:spPr>
            <a:xfrm>
              <a:off x="1886" y="2351"/>
              <a:ext cx="159" cy="115"/>
            </a:xfrm>
            <a:prstGeom prst="rect">
              <a:avLst/>
            </a:prstGeom>
            <a:noFill/>
            <a:ln w="9525">
              <a:noFill/>
            </a:ln>
          </p:spPr>
        </p:pic>
        <p:pic>
          <p:nvPicPr>
            <p:cNvPr id="76020" name="Picture 311"/>
            <p:cNvPicPr>
              <a:picLocks noChangeAspect="1"/>
            </p:cNvPicPr>
            <p:nvPr/>
          </p:nvPicPr>
          <p:blipFill>
            <a:blip r:embed="rId1"/>
            <a:stretch>
              <a:fillRect/>
            </a:stretch>
          </p:blipFill>
          <p:spPr>
            <a:xfrm>
              <a:off x="2206" y="2551"/>
              <a:ext cx="159" cy="115"/>
            </a:xfrm>
            <a:prstGeom prst="rect">
              <a:avLst/>
            </a:prstGeom>
            <a:noFill/>
            <a:ln w="9525">
              <a:noFill/>
            </a:ln>
          </p:spPr>
        </p:pic>
        <p:pic>
          <p:nvPicPr>
            <p:cNvPr id="76021" name="Picture 312"/>
            <p:cNvPicPr>
              <a:picLocks noChangeAspect="1"/>
            </p:cNvPicPr>
            <p:nvPr/>
          </p:nvPicPr>
          <p:blipFill>
            <a:blip r:embed="rId1"/>
            <a:stretch>
              <a:fillRect/>
            </a:stretch>
          </p:blipFill>
          <p:spPr>
            <a:xfrm>
              <a:off x="2382" y="2615"/>
              <a:ext cx="159" cy="115"/>
            </a:xfrm>
            <a:prstGeom prst="rect">
              <a:avLst/>
            </a:prstGeom>
            <a:noFill/>
            <a:ln w="9525">
              <a:noFill/>
            </a:ln>
          </p:spPr>
        </p:pic>
        <p:pic>
          <p:nvPicPr>
            <p:cNvPr id="76022" name="Picture 313"/>
            <p:cNvPicPr>
              <a:picLocks noChangeAspect="1"/>
            </p:cNvPicPr>
            <p:nvPr/>
          </p:nvPicPr>
          <p:blipFill>
            <a:blip r:embed="rId1"/>
            <a:stretch>
              <a:fillRect/>
            </a:stretch>
          </p:blipFill>
          <p:spPr>
            <a:xfrm>
              <a:off x="2726" y="3087"/>
              <a:ext cx="159" cy="115"/>
            </a:xfrm>
            <a:prstGeom prst="rect">
              <a:avLst/>
            </a:prstGeom>
            <a:noFill/>
            <a:ln w="9525">
              <a:noFill/>
            </a:ln>
          </p:spPr>
        </p:pic>
        <p:pic>
          <p:nvPicPr>
            <p:cNvPr id="76023" name="Picture 316"/>
            <p:cNvPicPr>
              <a:picLocks noChangeAspect="1"/>
            </p:cNvPicPr>
            <p:nvPr/>
          </p:nvPicPr>
          <p:blipFill>
            <a:blip r:embed="rId1"/>
            <a:stretch>
              <a:fillRect/>
            </a:stretch>
          </p:blipFill>
          <p:spPr>
            <a:xfrm>
              <a:off x="2398" y="3215"/>
              <a:ext cx="159" cy="115"/>
            </a:xfrm>
            <a:prstGeom prst="rect">
              <a:avLst/>
            </a:prstGeom>
            <a:noFill/>
            <a:ln w="9525">
              <a:noFill/>
            </a:ln>
          </p:spPr>
        </p:pic>
        <p:grpSp>
          <p:nvGrpSpPr>
            <p:cNvPr id="76024" name="Group 317"/>
            <p:cNvGrpSpPr/>
            <p:nvPr/>
          </p:nvGrpSpPr>
          <p:grpSpPr>
            <a:xfrm>
              <a:off x="2249" y="2806"/>
              <a:ext cx="524" cy="114"/>
              <a:chOff x="3072" y="739"/>
              <a:chExt cx="652" cy="146"/>
            </a:xfrm>
          </p:grpSpPr>
          <p:pic>
            <p:nvPicPr>
              <p:cNvPr id="76025" name="Picture 318"/>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76026" name="Line 319"/>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76027" name="Line 320"/>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grpSp>
          <p:nvGrpSpPr>
            <p:cNvPr id="76028" name="Group 321"/>
            <p:cNvGrpSpPr/>
            <p:nvPr/>
          </p:nvGrpSpPr>
          <p:grpSpPr>
            <a:xfrm>
              <a:off x="3270" y="1758"/>
              <a:ext cx="622" cy="460"/>
              <a:chOff x="2197" y="1155"/>
              <a:chExt cx="622" cy="460"/>
            </a:xfrm>
          </p:grpSpPr>
          <p:grpSp>
            <p:nvGrpSpPr>
              <p:cNvPr id="76029" name="Group 322"/>
              <p:cNvGrpSpPr/>
              <p:nvPr/>
            </p:nvGrpSpPr>
            <p:grpSpPr>
              <a:xfrm>
                <a:off x="2198" y="1176"/>
                <a:ext cx="621" cy="426"/>
                <a:chOff x="3164" y="2556"/>
                <a:chExt cx="901" cy="338"/>
              </a:xfrm>
            </p:grpSpPr>
            <p:sp>
              <p:nvSpPr>
                <p:cNvPr id="76030" name="Rectangle 323"/>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6031" name="Text Box 324"/>
                <p:cNvSpPr txBox="1"/>
                <p:nvPr/>
              </p:nvSpPr>
              <p:spPr>
                <a:xfrm>
                  <a:off x="3212" y="2573"/>
                  <a:ext cx="168" cy="183"/>
                </a:xfrm>
                <a:prstGeom prst="rect">
                  <a:avLst/>
                </a:prstGeom>
                <a:solidFill>
                  <a:schemeClr val="accent1"/>
                </a:solid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76032" name="Text Box 325"/>
              <p:cNvSpPr txBox="1"/>
              <p:nvPr/>
            </p:nvSpPr>
            <p:spPr>
              <a:xfrm>
                <a:off x="2197" y="1155"/>
                <a:ext cx="616" cy="460"/>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sp>
          <p:nvSpPr>
            <p:cNvPr id="76033" name="Line 326"/>
            <p:cNvSpPr/>
            <p:nvPr/>
          </p:nvSpPr>
          <p:spPr>
            <a:xfrm>
              <a:off x="3897" y="2011"/>
              <a:ext cx="232" cy="128"/>
            </a:xfrm>
            <a:prstGeom prst="line">
              <a:avLst/>
            </a:prstGeom>
            <a:ln w="9525" cap="flat" cmpd="sng">
              <a:solidFill>
                <a:schemeClr val="tx1"/>
              </a:solidFill>
              <a:prstDash val="solid"/>
              <a:round/>
              <a:headEnd type="none" w="med" len="med"/>
              <a:tailEnd type="none" w="med" len="med"/>
            </a:ln>
          </p:spPr>
        </p:sp>
        <p:sp>
          <p:nvSpPr>
            <p:cNvPr id="76034" name="Line 327"/>
            <p:cNvSpPr/>
            <p:nvPr/>
          </p:nvSpPr>
          <p:spPr>
            <a:xfrm flipV="1">
              <a:off x="3793" y="2715"/>
              <a:ext cx="320" cy="160"/>
            </a:xfrm>
            <a:prstGeom prst="line">
              <a:avLst/>
            </a:prstGeom>
            <a:ln w="9525" cap="flat" cmpd="sng">
              <a:solidFill>
                <a:schemeClr val="tx1"/>
              </a:solidFill>
              <a:prstDash val="solid"/>
              <a:round/>
              <a:headEnd type="none" w="med" len="med"/>
              <a:tailEnd type="none" w="med" len="med"/>
            </a:ln>
          </p:spPr>
        </p:sp>
      </p:grpSp>
      <p:sp>
        <p:nvSpPr>
          <p:cNvPr id="76035" name="Rectangle 364"/>
          <p:cNvSpPr/>
          <p:nvPr/>
        </p:nvSpPr>
        <p:spPr>
          <a:xfrm>
            <a:off x="298450" y="306388"/>
            <a:ext cx="8658225" cy="579437"/>
          </a:xfrm>
          <a:prstGeom prst="rect">
            <a:avLst/>
          </a:prstGeom>
          <a:noFill/>
          <a:ln w="9525">
            <a:noFill/>
          </a:ln>
        </p:spPr>
        <p:txBody>
          <a:bodyPr wrap="none" anchor="t" anchorCtr="0">
            <a:spAutoFit/>
          </a:bodyPr>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Components of cellular network architecture</a:t>
            </a:r>
            <a:endParaRPr lang="en-US" altLang="zh-CN" sz="3200" u="sng" dirty="0">
              <a:solidFill>
                <a:schemeClr val="accent2"/>
              </a:solidFill>
              <a:latin typeface="Comic Sans MS" panose="030F0702030302020204" pitchFamily="66" charset="0"/>
              <a:ea typeface="宋体" panose="02010600030101010101" pitchFamily="2" charset="-122"/>
            </a:endParaRPr>
          </a:p>
        </p:txBody>
      </p:sp>
      <p:grpSp>
        <p:nvGrpSpPr>
          <p:cNvPr id="419197" name="Group 381"/>
          <p:cNvGrpSpPr/>
          <p:nvPr/>
        </p:nvGrpSpPr>
        <p:grpSpPr>
          <a:xfrm>
            <a:off x="4495800" y="1006475"/>
            <a:ext cx="4022725" cy="1981200"/>
            <a:chOff x="2380" y="634"/>
            <a:chExt cx="2534" cy="1248"/>
          </a:xfrm>
        </p:grpSpPr>
        <p:sp>
          <p:nvSpPr>
            <p:cNvPr id="76037" name="Text Box 366"/>
            <p:cNvSpPr txBox="1"/>
            <p:nvPr/>
          </p:nvSpPr>
          <p:spPr>
            <a:xfrm>
              <a:off x="2457" y="843"/>
              <a:ext cx="2398" cy="577"/>
            </a:xfrm>
            <a:prstGeom prst="rect">
              <a:avLst/>
            </a:prstGeom>
            <a:noFill/>
            <a:ln w="9525">
              <a:noFill/>
            </a:ln>
          </p:spPr>
          <p:txBody>
            <a:bodyPr wrap="none" anchor="t" anchorCtr="0">
              <a:spAutoFit/>
            </a:bodyPr>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connects cells to wide area net</a:t>
              </a:r>
              <a:endParaRPr lang="en-US" altLang="zh-CN" dirty="0">
                <a:latin typeface="Comic Sans MS" panose="030F0702030302020204" pitchFamily="66" charset="0"/>
                <a:ea typeface="宋体" panose="02010600030101010101" pitchFamily="2" charset="-122"/>
              </a:endParaRPr>
            </a:p>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manages call setup (more later!)</a:t>
              </a:r>
              <a:endParaRPr lang="en-US" altLang="zh-CN" dirty="0">
                <a:latin typeface="Comic Sans MS" panose="030F0702030302020204" pitchFamily="66" charset="0"/>
                <a:ea typeface="宋体" panose="02010600030101010101" pitchFamily="2" charset="-122"/>
              </a:endParaRPr>
            </a:p>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handles mobility (more later!)</a:t>
              </a:r>
              <a:endParaRPr lang="en-US" altLang="zh-CN" dirty="0">
                <a:latin typeface="Comic Sans MS" panose="030F0702030302020204" pitchFamily="66" charset="0"/>
                <a:ea typeface="宋体" panose="02010600030101010101" pitchFamily="2" charset="-122"/>
              </a:endParaRPr>
            </a:p>
          </p:txBody>
        </p:sp>
        <p:sp>
          <p:nvSpPr>
            <p:cNvPr id="76038" name="Rectangle 368"/>
            <p:cNvSpPr/>
            <p:nvPr/>
          </p:nvSpPr>
          <p:spPr>
            <a:xfrm>
              <a:off x="2380" y="777"/>
              <a:ext cx="2534" cy="662"/>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76039" name="Group 371"/>
            <p:cNvGrpSpPr/>
            <p:nvPr/>
          </p:nvGrpSpPr>
          <p:grpSpPr>
            <a:xfrm>
              <a:off x="2544" y="634"/>
              <a:ext cx="547" cy="288"/>
              <a:chOff x="442" y="3293"/>
              <a:chExt cx="547" cy="288"/>
            </a:xfrm>
          </p:grpSpPr>
          <p:sp>
            <p:nvSpPr>
              <p:cNvPr id="76040" name="Rectangle 370"/>
              <p:cNvSpPr/>
              <p:nvPr/>
            </p:nvSpPr>
            <p:spPr>
              <a:xfrm>
                <a:off x="442" y="3321"/>
                <a:ext cx="547" cy="222"/>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6041" name="Text Box 369"/>
              <p:cNvSpPr txBox="1"/>
              <p:nvPr/>
            </p:nvSpPr>
            <p:spPr>
              <a:xfrm>
                <a:off x="450" y="3293"/>
                <a:ext cx="535" cy="288"/>
              </a:xfrm>
              <a:prstGeom prst="rect">
                <a:avLst/>
              </a:prstGeom>
              <a:noFill/>
              <a:ln w="9525">
                <a:noFill/>
              </a:ln>
            </p:spPr>
            <p:txBody>
              <a:bodyPr wrap="none" anchor="t" anchorCtr="0">
                <a:spAutoFit/>
              </a:bodyPr>
              <a:p>
                <a:pPr eaLnBrk="0" hangingPunct="0">
                  <a:buClrTx/>
                  <a:buFontTx/>
                </a:pPr>
                <a:r>
                  <a:rPr lang="en-US" altLang="zh-CN" sz="2400" dirty="0">
                    <a:solidFill>
                      <a:srgbClr val="FF0000"/>
                    </a:solidFill>
                    <a:latin typeface="Comic Sans MS" panose="030F0702030302020204" pitchFamily="66" charset="0"/>
                    <a:ea typeface="宋体" panose="02010600030101010101" pitchFamily="2" charset="-122"/>
                  </a:rPr>
                  <a:t>MSC</a:t>
                </a:r>
                <a:endParaRPr lang="en-US" altLang="zh-CN" sz="2400" dirty="0">
                  <a:solidFill>
                    <a:srgbClr val="FF0000"/>
                  </a:solidFill>
                  <a:latin typeface="Comic Sans MS" panose="030F0702030302020204" pitchFamily="66" charset="0"/>
                  <a:ea typeface="宋体" panose="02010600030101010101" pitchFamily="2" charset="-122"/>
                </a:endParaRPr>
              </a:p>
            </p:txBody>
          </p:sp>
        </p:grpSp>
        <p:sp>
          <p:nvSpPr>
            <p:cNvPr id="76042" name="Line 374"/>
            <p:cNvSpPr/>
            <p:nvPr/>
          </p:nvSpPr>
          <p:spPr>
            <a:xfrm>
              <a:off x="3293" y="1450"/>
              <a:ext cx="278" cy="432"/>
            </a:xfrm>
            <a:prstGeom prst="line">
              <a:avLst/>
            </a:prstGeom>
            <a:ln w="19050" cap="flat" cmpd="sng">
              <a:solidFill>
                <a:srgbClr val="FF0000"/>
              </a:solidFill>
              <a:prstDash val="solid"/>
              <a:round/>
              <a:headEnd type="none" w="med" len="med"/>
              <a:tailEnd type="triangle" w="med" len="med"/>
            </a:ln>
          </p:spPr>
        </p:sp>
      </p:grpSp>
      <p:grpSp>
        <p:nvGrpSpPr>
          <p:cNvPr id="419199" name="Group 383"/>
          <p:cNvGrpSpPr/>
          <p:nvPr/>
        </p:nvGrpSpPr>
        <p:grpSpPr>
          <a:xfrm>
            <a:off x="274638" y="2071688"/>
            <a:ext cx="3170237" cy="3243262"/>
            <a:chOff x="173" y="1305"/>
            <a:chExt cx="1997" cy="2043"/>
          </a:xfrm>
        </p:grpSpPr>
        <p:sp>
          <p:nvSpPr>
            <p:cNvPr id="76044" name="Text Box 376"/>
            <p:cNvSpPr txBox="1"/>
            <p:nvPr/>
          </p:nvSpPr>
          <p:spPr>
            <a:xfrm>
              <a:off x="250" y="1514"/>
              <a:ext cx="1662" cy="1788"/>
            </a:xfrm>
            <a:prstGeom prst="rect">
              <a:avLst/>
            </a:prstGeom>
            <a:noFill/>
            <a:ln w="9525">
              <a:noFill/>
            </a:ln>
          </p:spPr>
          <p:txBody>
            <a:bodyPr anchor="t" anchorCtr="0">
              <a:spAutoFit/>
            </a:bodyPr>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covers geographical region</a:t>
              </a:r>
              <a:endParaRPr lang="en-US" altLang="zh-CN" dirty="0">
                <a:latin typeface="Comic Sans MS" panose="030F0702030302020204" pitchFamily="66" charset="0"/>
                <a:ea typeface="宋体" panose="02010600030101010101" pitchFamily="2" charset="-122"/>
              </a:endParaRPr>
            </a:p>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a:t>
              </a:r>
              <a:r>
                <a:rPr lang="en-US" altLang="zh-CN" i="1" dirty="0">
                  <a:solidFill>
                    <a:srgbClr val="FF0000"/>
                  </a:solidFill>
                  <a:latin typeface="Comic Sans MS" panose="030F0702030302020204" pitchFamily="66" charset="0"/>
                  <a:ea typeface="宋体" panose="02010600030101010101" pitchFamily="2" charset="-122"/>
                </a:rPr>
                <a:t>base station</a:t>
              </a:r>
              <a:r>
                <a:rPr lang="en-US" altLang="zh-CN" dirty="0">
                  <a:latin typeface="Comic Sans MS" panose="030F0702030302020204" pitchFamily="66" charset="0"/>
                  <a:ea typeface="宋体" panose="02010600030101010101" pitchFamily="2" charset="-122"/>
                </a:rPr>
                <a:t> (BS) analogous to 802.11 AP</a:t>
              </a:r>
              <a:endParaRPr lang="en-US" altLang="zh-CN" dirty="0">
                <a:latin typeface="Comic Sans MS" panose="030F0702030302020204" pitchFamily="66" charset="0"/>
                <a:ea typeface="宋体" panose="02010600030101010101" pitchFamily="2" charset="-122"/>
              </a:endParaRPr>
            </a:p>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a:t>
              </a:r>
              <a:r>
                <a:rPr lang="en-US" altLang="zh-CN" i="1" dirty="0">
                  <a:solidFill>
                    <a:srgbClr val="FF0000"/>
                  </a:solidFill>
                  <a:latin typeface="Comic Sans MS" panose="030F0702030302020204" pitchFamily="66" charset="0"/>
                  <a:ea typeface="宋体" panose="02010600030101010101" pitchFamily="2" charset="-122"/>
                </a:rPr>
                <a:t>mobile users</a:t>
              </a:r>
              <a:r>
                <a:rPr lang="en-US" altLang="zh-CN" dirty="0">
                  <a:latin typeface="Comic Sans MS" panose="030F0702030302020204" pitchFamily="66" charset="0"/>
                  <a:ea typeface="宋体" panose="02010600030101010101" pitchFamily="2" charset="-122"/>
                </a:rPr>
                <a:t> attach to network through BS</a:t>
              </a:r>
              <a:endParaRPr lang="en-US" altLang="zh-CN" dirty="0">
                <a:latin typeface="Comic Sans MS" panose="030F0702030302020204" pitchFamily="66" charset="0"/>
                <a:ea typeface="宋体" panose="02010600030101010101" pitchFamily="2" charset="-122"/>
              </a:endParaRPr>
            </a:p>
            <a:p>
              <a:pPr eaLnBrk="0" hangingPunct="0">
                <a:buClr>
                  <a:schemeClr val="accent2"/>
                </a:buClr>
                <a:buSzPct val="85000"/>
                <a:buFont typeface="Wingdings" panose="05000000000000000000" pitchFamily="2" charset="2"/>
                <a:buChar char="q"/>
              </a:pPr>
              <a:r>
                <a:rPr lang="en-US" altLang="zh-CN" dirty="0">
                  <a:latin typeface="Comic Sans MS" panose="030F0702030302020204" pitchFamily="66" charset="0"/>
                  <a:ea typeface="宋体" panose="02010600030101010101" pitchFamily="2" charset="-122"/>
                </a:rPr>
                <a:t> </a:t>
              </a:r>
              <a:r>
                <a:rPr lang="en-US" altLang="zh-CN" i="1" dirty="0">
                  <a:solidFill>
                    <a:srgbClr val="FF0000"/>
                  </a:solidFill>
                  <a:latin typeface="Comic Sans MS" panose="030F0702030302020204" pitchFamily="66" charset="0"/>
                  <a:ea typeface="宋体" panose="02010600030101010101" pitchFamily="2" charset="-122"/>
                </a:rPr>
                <a:t>air-interface:</a:t>
              </a:r>
              <a:r>
                <a:rPr lang="en-US" altLang="zh-CN" dirty="0">
                  <a:latin typeface="Comic Sans MS" panose="030F0702030302020204" pitchFamily="66" charset="0"/>
                  <a:ea typeface="宋体" panose="02010600030101010101" pitchFamily="2" charset="-122"/>
                </a:rPr>
                <a:t> physical and link layer protocol between mobile and BS</a:t>
              </a:r>
              <a:endParaRPr lang="en-US" altLang="zh-CN" dirty="0">
                <a:latin typeface="Comic Sans MS" panose="030F0702030302020204" pitchFamily="66" charset="0"/>
                <a:ea typeface="宋体" panose="02010600030101010101" pitchFamily="2" charset="-122"/>
              </a:endParaRPr>
            </a:p>
          </p:txBody>
        </p:sp>
        <p:sp>
          <p:nvSpPr>
            <p:cNvPr id="76045" name="Rectangle 377"/>
            <p:cNvSpPr/>
            <p:nvPr/>
          </p:nvSpPr>
          <p:spPr>
            <a:xfrm>
              <a:off x="173" y="1448"/>
              <a:ext cx="1727" cy="1900"/>
            </a:xfrm>
            <a:prstGeom prst="rect">
              <a:avLst/>
            </a:prstGeom>
            <a:noFill/>
            <a:ln w="28575" cap="flat" cmpd="sng">
              <a:solidFill>
                <a:srgbClr val="FF0000"/>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76046" name="Group 378"/>
            <p:cNvGrpSpPr/>
            <p:nvPr/>
          </p:nvGrpSpPr>
          <p:grpSpPr>
            <a:xfrm>
              <a:off x="337" y="1305"/>
              <a:ext cx="547" cy="288"/>
              <a:chOff x="442" y="3293"/>
              <a:chExt cx="547" cy="288"/>
            </a:xfrm>
          </p:grpSpPr>
          <p:sp>
            <p:nvSpPr>
              <p:cNvPr id="76047" name="Rectangle 379"/>
              <p:cNvSpPr/>
              <p:nvPr/>
            </p:nvSpPr>
            <p:spPr>
              <a:xfrm>
                <a:off x="442" y="3321"/>
                <a:ext cx="547" cy="222"/>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6048" name="Text Box 380"/>
              <p:cNvSpPr txBox="1"/>
              <p:nvPr/>
            </p:nvSpPr>
            <p:spPr>
              <a:xfrm>
                <a:off x="450" y="3293"/>
                <a:ext cx="426" cy="288"/>
              </a:xfrm>
              <a:prstGeom prst="rect">
                <a:avLst/>
              </a:prstGeom>
              <a:noFill/>
              <a:ln w="9525">
                <a:noFill/>
              </a:ln>
            </p:spPr>
            <p:txBody>
              <a:bodyPr wrap="none" anchor="t" anchorCtr="0">
                <a:spAutoFit/>
              </a:bodyPr>
              <a:p>
                <a:pPr eaLnBrk="0" hangingPunct="0">
                  <a:buClrTx/>
                  <a:buFontTx/>
                </a:pPr>
                <a:r>
                  <a:rPr lang="en-US" altLang="zh-CN" sz="2400" dirty="0">
                    <a:solidFill>
                      <a:srgbClr val="FF0000"/>
                    </a:solidFill>
                    <a:latin typeface="Comic Sans MS" panose="030F0702030302020204" pitchFamily="66" charset="0"/>
                    <a:ea typeface="宋体" panose="02010600030101010101" pitchFamily="2" charset="-122"/>
                  </a:rPr>
                  <a:t>cell</a:t>
                </a:r>
                <a:endParaRPr lang="en-US" altLang="zh-CN" sz="2400" dirty="0">
                  <a:solidFill>
                    <a:srgbClr val="FF0000"/>
                  </a:solidFill>
                  <a:latin typeface="Comic Sans MS" panose="030F0702030302020204" pitchFamily="66" charset="0"/>
                  <a:ea typeface="宋体" panose="02010600030101010101" pitchFamily="2" charset="-122"/>
                </a:endParaRPr>
              </a:p>
            </p:txBody>
          </p:sp>
        </p:grpSp>
        <p:sp>
          <p:nvSpPr>
            <p:cNvPr id="76049" name="Line 382"/>
            <p:cNvSpPr/>
            <p:nvPr/>
          </p:nvSpPr>
          <p:spPr>
            <a:xfrm>
              <a:off x="1891" y="1622"/>
              <a:ext cx="279" cy="183"/>
            </a:xfrm>
            <a:prstGeom prst="line">
              <a:avLst/>
            </a:prstGeom>
            <a:ln w="28575" cap="flat" cmpd="sng">
              <a:solidFill>
                <a:srgbClr val="FF0000"/>
              </a:solidFill>
              <a:prstDash val="solid"/>
              <a:round/>
              <a:headEnd type="none" w="med" len="med"/>
              <a:tailEnd type="triangle" w="med" len="med"/>
            </a:ln>
          </p:spPr>
        </p:sp>
      </p:grpSp>
      <p:grpSp>
        <p:nvGrpSpPr>
          <p:cNvPr id="419202" name="Group 386"/>
          <p:cNvGrpSpPr/>
          <p:nvPr/>
        </p:nvGrpSpPr>
        <p:grpSpPr>
          <a:xfrm>
            <a:off x="6567488" y="4556125"/>
            <a:ext cx="2209800" cy="1401763"/>
            <a:chOff x="4137" y="2870"/>
            <a:chExt cx="1392" cy="883"/>
          </a:xfrm>
        </p:grpSpPr>
        <p:sp>
          <p:nvSpPr>
            <p:cNvPr id="76051" name="Text Box 384"/>
            <p:cNvSpPr txBox="1"/>
            <p:nvPr/>
          </p:nvSpPr>
          <p:spPr>
            <a:xfrm>
              <a:off x="4137" y="3465"/>
              <a:ext cx="1392" cy="288"/>
            </a:xfrm>
            <a:prstGeom prst="rect">
              <a:avLst/>
            </a:prstGeom>
            <a:noFill/>
            <a:ln w="9525">
              <a:noFill/>
            </a:ln>
          </p:spPr>
          <p:txBody>
            <a:bodyPr wrap="none" anchor="t" anchorCtr="0">
              <a:spAutoFit/>
            </a:bodyPr>
            <a:p>
              <a:pPr eaLnBrk="0" hangingPunct="0">
                <a:buClrTx/>
                <a:buFontTx/>
              </a:pPr>
              <a:r>
                <a:rPr lang="en-US" altLang="zh-CN" sz="2400" dirty="0">
                  <a:solidFill>
                    <a:srgbClr val="FF0000"/>
                  </a:solidFill>
                  <a:latin typeface="Comic Sans MS" panose="030F0702030302020204" pitchFamily="66" charset="0"/>
                  <a:ea typeface="宋体" panose="02010600030101010101" pitchFamily="2" charset="-122"/>
                </a:rPr>
                <a:t>wired network</a:t>
              </a:r>
              <a:endParaRPr lang="en-US" altLang="zh-CN" sz="2400" dirty="0">
                <a:solidFill>
                  <a:srgbClr val="FF0000"/>
                </a:solidFill>
                <a:latin typeface="Comic Sans MS" panose="030F0702030302020204" pitchFamily="66" charset="0"/>
                <a:ea typeface="宋体" panose="02010600030101010101" pitchFamily="2" charset="-122"/>
              </a:endParaRPr>
            </a:p>
          </p:txBody>
        </p:sp>
        <p:sp>
          <p:nvSpPr>
            <p:cNvPr id="76052" name="Line 385"/>
            <p:cNvSpPr/>
            <p:nvPr/>
          </p:nvSpPr>
          <p:spPr>
            <a:xfrm flipV="1">
              <a:off x="4560" y="2870"/>
              <a:ext cx="384" cy="644"/>
            </a:xfrm>
            <a:prstGeom prst="line">
              <a:avLst/>
            </a:prstGeom>
            <a:ln w="28575" cap="flat" cmpd="sng">
              <a:solidFill>
                <a:srgbClr val="FF000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1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778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782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Cellular networks: the first hop</a:t>
            </a:r>
            <a:endParaRPr lang="en-US" altLang="zh-CN" dirty="0">
              <a:ea typeface="宋体" panose="02010600030101010101" pitchFamily="2" charset="-122"/>
            </a:endParaRPr>
          </a:p>
        </p:txBody>
      </p:sp>
      <p:sp>
        <p:nvSpPr>
          <p:cNvPr id="77828" name="Rectangle 3"/>
          <p:cNvSpPr>
            <a:spLocks noGrp="1"/>
          </p:cNvSpPr>
          <p:nvPr>
            <p:ph idx="1"/>
          </p:nvPr>
        </p:nvSpPr>
        <p:spPr>
          <a:xfrm>
            <a:off x="547688" y="1447800"/>
            <a:ext cx="4435475" cy="4648200"/>
          </a:xfrm>
          <a:ln/>
        </p:spPr>
        <p:txBody>
          <a:bodyPr vert="horz" wrap="square" lIns="91440" tIns="45720" rIns="91440" bIns="45720" anchor="t" anchorCtr="0"/>
          <a:p>
            <a:pPr>
              <a:buNone/>
            </a:pPr>
            <a:r>
              <a:rPr lang="en-US" altLang="zh-CN" sz="2400" dirty="0">
                <a:ea typeface="宋体" panose="02010600030101010101" pitchFamily="2" charset="-122"/>
              </a:rPr>
              <a:t>Two techniques for sharing mobile-to-BS radio spectrum</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combined FDMA/TDMA:</a:t>
            </a:r>
            <a:r>
              <a:rPr lang="en-US" altLang="zh-CN" sz="2400" dirty="0">
                <a:ea typeface="宋体" panose="02010600030101010101" pitchFamily="2" charset="-122"/>
              </a:rPr>
              <a:t> divide spectrum in frequency channels, divide each channel into time slots</a:t>
            </a:r>
            <a:endParaRPr lang="en-US" altLang="zh-CN" sz="2400" dirty="0">
              <a:ea typeface="宋体" panose="02010600030101010101" pitchFamily="2" charset="-122"/>
            </a:endParaRPr>
          </a:p>
          <a:p>
            <a:r>
              <a:rPr lang="en-US" altLang="zh-CN" sz="2400" dirty="0">
                <a:solidFill>
                  <a:srgbClr val="FF0000"/>
                </a:solidFill>
                <a:ea typeface="宋体" panose="02010600030101010101" pitchFamily="2" charset="-122"/>
              </a:rPr>
              <a:t>CDMA:</a:t>
            </a:r>
            <a:r>
              <a:rPr lang="en-US" altLang="zh-CN" sz="2400" dirty="0">
                <a:ea typeface="宋体" panose="02010600030101010101" pitchFamily="2" charset="-122"/>
              </a:rPr>
              <a:t> code division multiple access</a:t>
            </a:r>
            <a:endParaRPr lang="en-US" altLang="zh-CN" sz="2400" dirty="0">
              <a:ea typeface="宋体" panose="02010600030101010101" pitchFamily="2" charset="-122"/>
            </a:endParaRPr>
          </a:p>
        </p:txBody>
      </p:sp>
      <p:grpSp>
        <p:nvGrpSpPr>
          <p:cNvPr id="77829" name="Group 306"/>
          <p:cNvGrpSpPr/>
          <p:nvPr/>
        </p:nvGrpSpPr>
        <p:grpSpPr>
          <a:xfrm>
            <a:off x="6005513" y="1484313"/>
            <a:ext cx="1849437" cy="1477962"/>
            <a:chOff x="3375" y="1055"/>
            <a:chExt cx="1165" cy="931"/>
          </a:xfrm>
        </p:grpSpPr>
        <p:sp>
          <p:nvSpPr>
            <p:cNvPr id="77830" name="AutoShape 5"/>
            <p:cNvSpPr/>
            <p:nvPr/>
          </p:nvSpPr>
          <p:spPr>
            <a:xfrm>
              <a:off x="3375" y="1055"/>
              <a:ext cx="1165" cy="931"/>
            </a:xfrm>
            <a:prstGeom prst="hexagon">
              <a:avLst>
                <a:gd name="adj" fmla="val 31283"/>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77831" name="Group 105"/>
            <p:cNvGrpSpPr/>
            <p:nvPr/>
          </p:nvGrpSpPr>
          <p:grpSpPr>
            <a:xfrm>
              <a:off x="3880" y="1159"/>
              <a:ext cx="268" cy="495"/>
              <a:chOff x="3796" y="1043"/>
              <a:chExt cx="865" cy="1237"/>
            </a:xfrm>
          </p:grpSpPr>
          <p:sp>
            <p:nvSpPr>
              <p:cNvPr id="77832" name="Line 10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77833" name="Line 10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77834" name="Line 10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77835" name="Line 10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77836" name="Line 11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77837" name="Line 11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77838" name="Line 11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77839" name="Line 11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77840" name="Line 11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77841" name="Line 11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77842" name="Line 11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77843" name="Line 11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77844" name="Line 11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77845" name="Line 11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77846" name="Line 12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77847" name="Group 121"/>
              <p:cNvGrpSpPr/>
              <p:nvPr/>
            </p:nvGrpSpPr>
            <p:grpSpPr>
              <a:xfrm>
                <a:off x="4269" y="1415"/>
                <a:ext cx="392" cy="137"/>
                <a:chOff x="4227" y="1360"/>
                <a:chExt cx="863" cy="270"/>
              </a:xfrm>
            </p:grpSpPr>
            <p:sp>
              <p:nvSpPr>
                <p:cNvPr id="77848" name="Line 12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7849" name="Line 12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7850" name="Line 12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7851" name="Line 12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7852" name="Group 126"/>
              <p:cNvGrpSpPr/>
              <p:nvPr/>
            </p:nvGrpSpPr>
            <p:grpSpPr>
              <a:xfrm rot="5700496">
                <a:off x="4050" y="1168"/>
                <a:ext cx="392" cy="137"/>
                <a:chOff x="4227" y="1360"/>
                <a:chExt cx="863" cy="270"/>
              </a:xfrm>
            </p:grpSpPr>
            <p:sp>
              <p:nvSpPr>
                <p:cNvPr id="77853" name="Line 12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7854" name="Line 12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7855" name="Line 12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7856" name="Line 13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77857" name="Group 131"/>
              <p:cNvGrpSpPr/>
              <p:nvPr/>
            </p:nvGrpSpPr>
            <p:grpSpPr>
              <a:xfrm rot="10800000">
                <a:off x="3796" y="1402"/>
                <a:ext cx="392" cy="137"/>
                <a:chOff x="4227" y="1360"/>
                <a:chExt cx="863" cy="270"/>
              </a:xfrm>
            </p:grpSpPr>
            <p:sp>
              <p:nvSpPr>
                <p:cNvPr id="77858" name="Line 13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77859" name="Line 13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77860" name="Line 13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77861" name="Line 13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pic>
          <p:nvPicPr>
            <p:cNvPr id="77862" name="Picture 244"/>
            <p:cNvPicPr>
              <a:picLocks noChangeAspect="1"/>
            </p:cNvPicPr>
            <p:nvPr/>
          </p:nvPicPr>
          <p:blipFill>
            <a:blip r:embed="rId1"/>
            <a:stretch>
              <a:fillRect/>
            </a:stretch>
          </p:blipFill>
          <p:spPr>
            <a:xfrm>
              <a:off x="3479" y="1275"/>
              <a:ext cx="278" cy="201"/>
            </a:xfrm>
            <a:prstGeom prst="rect">
              <a:avLst/>
            </a:prstGeom>
            <a:noFill/>
            <a:ln w="9525">
              <a:noFill/>
            </a:ln>
          </p:spPr>
        </p:pic>
        <p:grpSp>
          <p:nvGrpSpPr>
            <p:cNvPr id="77863" name="Group 249"/>
            <p:cNvGrpSpPr/>
            <p:nvPr/>
          </p:nvGrpSpPr>
          <p:grpSpPr>
            <a:xfrm>
              <a:off x="3755" y="1749"/>
              <a:ext cx="524" cy="114"/>
              <a:chOff x="3072" y="739"/>
              <a:chExt cx="652" cy="146"/>
            </a:xfrm>
          </p:grpSpPr>
          <p:pic>
            <p:nvPicPr>
              <p:cNvPr id="77864" name="Picture 250"/>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77865" name="Line 251"/>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77866" name="Line 252"/>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pic>
          <p:nvPicPr>
            <p:cNvPr id="77867" name="Picture 260"/>
            <p:cNvPicPr>
              <a:picLocks noChangeAspect="1"/>
            </p:cNvPicPr>
            <p:nvPr/>
          </p:nvPicPr>
          <p:blipFill>
            <a:blip r:embed="rId1"/>
            <a:stretch>
              <a:fillRect/>
            </a:stretch>
          </p:blipFill>
          <p:spPr>
            <a:xfrm>
              <a:off x="3584" y="1553"/>
              <a:ext cx="278" cy="201"/>
            </a:xfrm>
            <a:prstGeom prst="rect">
              <a:avLst/>
            </a:prstGeom>
            <a:noFill/>
            <a:ln w="9525">
              <a:noFill/>
            </a:ln>
          </p:spPr>
        </p:pic>
      </p:grpSp>
      <p:grpSp>
        <p:nvGrpSpPr>
          <p:cNvPr id="77868" name="Group 307"/>
          <p:cNvGrpSpPr/>
          <p:nvPr/>
        </p:nvGrpSpPr>
        <p:grpSpPr>
          <a:xfrm>
            <a:off x="4059238" y="3057525"/>
            <a:ext cx="4387850" cy="2409825"/>
            <a:chOff x="2693" y="2142"/>
            <a:chExt cx="2764" cy="1518"/>
          </a:xfrm>
        </p:grpSpPr>
        <p:grpSp>
          <p:nvGrpSpPr>
            <p:cNvPr id="77869" name="Group 295"/>
            <p:cNvGrpSpPr/>
            <p:nvPr/>
          </p:nvGrpSpPr>
          <p:grpSpPr>
            <a:xfrm>
              <a:off x="3444" y="2506"/>
              <a:ext cx="2013" cy="1150"/>
              <a:chOff x="3444" y="2506"/>
              <a:chExt cx="2013" cy="1150"/>
            </a:xfrm>
          </p:grpSpPr>
          <p:sp>
            <p:nvSpPr>
              <p:cNvPr id="77870" name="Rectangle 261"/>
              <p:cNvSpPr/>
              <p:nvPr/>
            </p:nvSpPr>
            <p:spPr>
              <a:xfrm>
                <a:off x="3446" y="2506"/>
                <a:ext cx="2002" cy="18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871" name="Rectangle 262"/>
              <p:cNvSpPr/>
              <p:nvPr/>
            </p:nvSpPr>
            <p:spPr>
              <a:xfrm>
                <a:off x="3447" y="2742"/>
                <a:ext cx="2010" cy="18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872" name="Rectangle 263"/>
              <p:cNvSpPr/>
              <p:nvPr/>
            </p:nvSpPr>
            <p:spPr>
              <a:xfrm>
                <a:off x="3444" y="2982"/>
                <a:ext cx="2010" cy="18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873" name="Rectangle 264"/>
              <p:cNvSpPr/>
              <p:nvPr/>
            </p:nvSpPr>
            <p:spPr>
              <a:xfrm>
                <a:off x="3445" y="3230"/>
                <a:ext cx="2010" cy="18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874" name="Rectangle 265"/>
              <p:cNvSpPr/>
              <p:nvPr/>
            </p:nvSpPr>
            <p:spPr>
              <a:xfrm>
                <a:off x="3446" y="3474"/>
                <a:ext cx="1998" cy="18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sp>
          <p:nvSpPr>
            <p:cNvPr id="77875" name="Line 268"/>
            <p:cNvSpPr/>
            <p:nvPr/>
          </p:nvSpPr>
          <p:spPr>
            <a:xfrm>
              <a:off x="3520" y="2504"/>
              <a:ext cx="0" cy="1156"/>
            </a:xfrm>
            <a:prstGeom prst="line">
              <a:avLst/>
            </a:prstGeom>
            <a:ln w="9525" cap="flat" cmpd="sng">
              <a:solidFill>
                <a:schemeClr val="tx1"/>
              </a:solidFill>
              <a:prstDash val="solid"/>
              <a:round/>
              <a:headEnd type="none" w="med" len="med"/>
              <a:tailEnd type="none" w="med" len="med"/>
            </a:ln>
          </p:spPr>
        </p:sp>
        <p:sp>
          <p:nvSpPr>
            <p:cNvPr id="77876" name="Line 269"/>
            <p:cNvSpPr/>
            <p:nvPr/>
          </p:nvSpPr>
          <p:spPr>
            <a:xfrm>
              <a:off x="3592" y="2504"/>
              <a:ext cx="0" cy="1156"/>
            </a:xfrm>
            <a:prstGeom prst="line">
              <a:avLst/>
            </a:prstGeom>
            <a:ln w="9525" cap="flat" cmpd="sng">
              <a:solidFill>
                <a:schemeClr val="tx1"/>
              </a:solidFill>
              <a:prstDash val="solid"/>
              <a:round/>
              <a:headEnd type="none" w="med" len="med"/>
              <a:tailEnd type="none" w="med" len="med"/>
            </a:ln>
          </p:spPr>
        </p:sp>
        <p:sp>
          <p:nvSpPr>
            <p:cNvPr id="77877" name="Line 270"/>
            <p:cNvSpPr/>
            <p:nvPr/>
          </p:nvSpPr>
          <p:spPr>
            <a:xfrm>
              <a:off x="3664" y="2504"/>
              <a:ext cx="0" cy="1156"/>
            </a:xfrm>
            <a:prstGeom prst="line">
              <a:avLst/>
            </a:prstGeom>
            <a:ln w="9525" cap="flat" cmpd="sng">
              <a:solidFill>
                <a:schemeClr val="tx1"/>
              </a:solidFill>
              <a:prstDash val="solid"/>
              <a:round/>
              <a:headEnd type="none" w="med" len="med"/>
              <a:tailEnd type="none" w="med" len="med"/>
            </a:ln>
          </p:spPr>
        </p:sp>
        <p:sp>
          <p:nvSpPr>
            <p:cNvPr id="77878" name="Line 271"/>
            <p:cNvSpPr/>
            <p:nvPr/>
          </p:nvSpPr>
          <p:spPr>
            <a:xfrm>
              <a:off x="3736" y="2504"/>
              <a:ext cx="0" cy="1156"/>
            </a:xfrm>
            <a:prstGeom prst="line">
              <a:avLst/>
            </a:prstGeom>
            <a:ln w="9525" cap="flat" cmpd="sng">
              <a:solidFill>
                <a:schemeClr val="tx1"/>
              </a:solidFill>
              <a:prstDash val="solid"/>
              <a:round/>
              <a:headEnd type="none" w="med" len="med"/>
              <a:tailEnd type="none" w="med" len="med"/>
            </a:ln>
          </p:spPr>
        </p:sp>
        <p:sp>
          <p:nvSpPr>
            <p:cNvPr id="77879" name="Line 272"/>
            <p:cNvSpPr/>
            <p:nvPr/>
          </p:nvSpPr>
          <p:spPr>
            <a:xfrm>
              <a:off x="3808" y="2504"/>
              <a:ext cx="0" cy="1156"/>
            </a:xfrm>
            <a:prstGeom prst="line">
              <a:avLst/>
            </a:prstGeom>
            <a:ln w="9525" cap="flat" cmpd="sng">
              <a:solidFill>
                <a:schemeClr val="tx1"/>
              </a:solidFill>
              <a:prstDash val="solid"/>
              <a:round/>
              <a:headEnd type="none" w="med" len="med"/>
              <a:tailEnd type="none" w="med" len="med"/>
            </a:ln>
          </p:spPr>
        </p:sp>
        <p:sp>
          <p:nvSpPr>
            <p:cNvPr id="77880" name="Line 273"/>
            <p:cNvSpPr/>
            <p:nvPr/>
          </p:nvSpPr>
          <p:spPr>
            <a:xfrm>
              <a:off x="3880" y="2504"/>
              <a:ext cx="0" cy="1156"/>
            </a:xfrm>
            <a:prstGeom prst="line">
              <a:avLst/>
            </a:prstGeom>
            <a:ln w="9525" cap="flat" cmpd="sng">
              <a:solidFill>
                <a:schemeClr val="tx1"/>
              </a:solidFill>
              <a:prstDash val="solid"/>
              <a:round/>
              <a:headEnd type="none" w="med" len="med"/>
              <a:tailEnd type="none" w="med" len="med"/>
            </a:ln>
          </p:spPr>
        </p:sp>
        <p:sp>
          <p:nvSpPr>
            <p:cNvPr id="77881" name="Line 274"/>
            <p:cNvSpPr/>
            <p:nvPr/>
          </p:nvSpPr>
          <p:spPr>
            <a:xfrm>
              <a:off x="3952" y="2504"/>
              <a:ext cx="0" cy="1156"/>
            </a:xfrm>
            <a:prstGeom prst="line">
              <a:avLst/>
            </a:prstGeom>
            <a:ln w="9525" cap="flat" cmpd="sng">
              <a:solidFill>
                <a:schemeClr val="tx1"/>
              </a:solidFill>
              <a:prstDash val="solid"/>
              <a:round/>
              <a:headEnd type="none" w="med" len="med"/>
              <a:tailEnd type="none" w="med" len="med"/>
            </a:ln>
          </p:spPr>
        </p:sp>
        <p:sp>
          <p:nvSpPr>
            <p:cNvPr id="77882" name="Line 275"/>
            <p:cNvSpPr/>
            <p:nvPr/>
          </p:nvSpPr>
          <p:spPr>
            <a:xfrm>
              <a:off x="4024" y="2504"/>
              <a:ext cx="0" cy="1156"/>
            </a:xfrm>
            <a:prstGeom prst="line">
              <a:avLst/>
            </a:prstGeom>
            <a:ln w="9525" cap="flat" cmpd="sng">
              <a:solidFill>
                <a:schemeClr val="tx1"/>
              </a:solidFill>
              <a:prstDash val="solid"/>
              <a:round/>
              <a:headEnd type="none" w="med" len="med"/>
              <a:tailEnd type="none" w="med" len="med"/>
            </a:ln>
          </p:spPr>
        </p:sp>
        <p:sp>
          <p:nvSpPr>
            <p:cNvPr id="77883" name="Line 276"/>
            <p:cNvSpPr/>
            <p:nvPr/>
          </p:nvSpPr>
          <p:spPr>
            <a:xfrm>
              <a:off x="4096" y="2504"/>
              <a:ext cx="0" cy="1156"/>
            </a:xfrm>
            <a:prstGeom prst="line">
              <a:avLst/>
            </a:prstGeom>
            <a:ln w="9525" cap="flat" cmpd="sng">
              <a:solidFill>
                <a:schemeClr val="tx1"/>
              </a:solidFill>
              <a:prstDash val="solid"/>
              <a:round/>
              <a:headEnd type="none" w="med" len="med"/>
              <a:tailEnd type="none" w="med" len="med"/>
            </a:ln>
          </p:spPr>
        </p:sp>
        <p:sp>
          <p:nvSpPr>
            <p:cNvPr id="77884" name="Line 277"/>
            <p:cNvSpPr/>
            <p:nvPr/>
          </p:nvSpPr>
          <p:spPr>
            <a:xfrm>
              <a:off x="4168" y="2504"/>
              <a:ext cx="0" cy="1156"/>
            </a:xfrm>
            <a:prstGeom prst="line">
              <a:avLst/>
            </a:prstGeom>
            <a:ln w="9525" cap="flat" cmpd="sng">
              <a:solidFill>
                <a:schemeClr val="tx1"/>
              </a:solidFill>
              <a:prstDash val="solid"/>
              <a:round/>
              <a:headEnd type="none" w="med" len="med"/>
              <a:tailEnd type="none" w="med" len="med"/>
            </a:ln>
          </p:spPr>
        </p:sp>
        <p:sp>
          <p:nvSpPr>
            <p:cNvPr id="77885" name="Line 278"/>
            <p:cNvSpPr/>
            <p:nvPr/>
          </p:nvSpPr>
          <p:spPr>
            <a:xfrm>
              <a:off x="4240" y="2504"/>
              <a:ext cx="0" cy="1156"/>
            </a:xfrm>
            <a:prstGeom prst="line">
              <a:avLst/>
            </a:prstGeom>
            <a:ln w="9525" cap="flat" cmpd="sng">
              <a:solidFill>
                <a:schemeClr val="tx1"/>
              </a:solidFill>
              <a:prstDash val="solid"/>
              <a:round/>
              <a:headEnd type="none" w="med" len="med"/>
              <a:tailEnd type="none" w="med" len="med"/>
            </a:ln>
          </p:spPr>
        </p:sp>
        <p:sp>
          <p:nvSpPr>
            <p:cNvPr id="77886" name="Line 279"/>
            <p:cNvSpPr/>
            <p:nvPr/>
          </p:nvSpPr>
          <p:spPr>
            <a:xfrm>
              <a:off x="4312" y="2504"/>
              <a:ext cx="0" cy="1156"/>
            </a:xfrm>
            <a:prstGeom prst="line">
              <a:avLst/>
            </a:prstGeom>
            <a:ln w="9525" cap="flat" cmpd="sng">
              <a:solidFill>
                <a:schemeClr val="tx1"/>
              </a:solidFill>
              <a:prstDash val="solid"/>
              <a:round/>
              <a:headEnd type="none" w="med" len="med"/>
              <a:tailEnd type="none" w="med" len="med"/>
            </a:ln>
          </p:spPr>
        </p:sp>
        <p:sp>
          <p:nvSpPr>
            <p:cNvPr id="77887" name="Line 280"/>
            <p:cNvSpPr/>
            <p:nvPr/>
          </p:nvSpPr>
          <p:spPr>
            <a:xfrm>
              <a:off x="4384" y="2504"/>
              <a:ext cx="0" cy="1156"/>
            </a:xfrm>
            <a:prstGeom prst="line">
              <a:avLst/>
            </a:prstGeom>
            <a:ln w="9525" cap="flat" cmpd="sng">
              <a:solidFill>
                <a:schemeClr val="tx1"/>
              </a:solidFill>
              <a:prstDash val="solid"/>
              <a:round/>
              <a:headEnd type="none" w="med" len="med"/>
              <a:tailEnd type="none" w="med" len="med"/>
            </a:ln>
          </p:spPr>
        </p:sp>
        <p:sp>
          <p:nvSpPr>
            <p:cNvPr id="77888" name="Line 281"/>
            <p:cNvSpPr/>
            <p:nvPr/>
          </p:nvSpPr>
          <p:spPr>
            <a:xfrm>
              <a:off x="4456" y="2504"/>
              <a:ext cx="0" cy="1156"/>
            </a:xfrm>
            <a:prstGeom prst="line">
              <a:avLst/>
            </a:prstGeom>
            <a:ln w="9525" cap="flat" cmpd="sng">
              <a:solidFill>
                <a:schemeClr val="tx1"/>
              </a:solidFill>
              <a:prstDash val="solid"/>
              <a:round/>
              <a:headEnd type="none" w="med" len="med"/>
              <a:tailEnd type="none" w="med" len="med"/>
            </a:ln>
          </p:spPr>
        </p:sp>
        <p:sp>
          <p:nvSpPr>
            <p:cNvPr id="77889" name="Line 282"/>
            <p:cNvSpPr/>
            <p:nvPr/>
          </p:nvSpPr>
          <p:spPr>
            <a:xfrm>
              <a:off x="4528" y="2504"/>
              <a:ext cx="0" cy="1156"/>
            </a:xfrm>
            <a:prstGeom prst="line">
              <a:avLst/>
            </a:prstGeom>
            <a:ln w="9525" cap="flat" cmpd="sng">
              <a:solidFill>
                <a:schemeClr val="tx1"/>
              </a:solidFill>
              <a:prstDash val="solid"/>
              <a:round/>
              <a:headEnd type="none" w="med" len="med"/>
              <a:tailEnd type="none" w="med" len="med"/>
            </a:ln>
          </p:spPr>
        </p:sp>
        <p:sp>
          <p:nvSpPr>
            <p:cNvPr id="77890" name="Line 283"/>
            <p:cNvSpPr/>
            <p:nvPr/>
          </p:nvSpPr>
          <p:spPr>
            <a:xfrm>
              <a:off x="4600" y="2504"/>
              <a:ext cx="0" cy="1156"/>
            </a:xfrm>
            <a:prstGeom prst="line">
              <a:avLst/>
            </a:prstGeom>
            <a:ln w="9525" cap="flat" cmpd="sng">
              <a:solidFill>
                <a:schemeClr val="tx1"/>
              </a:solidFill>
              <a:prstDash val="solid"/>
              <a:round/>
              <a:headEnd type="none" w="med" len="med"/>
              <a:tailEnd type="none" w="med" len="med"/>
            </a:ln>
          </p:spPr>
        </p:sp>
        <p:sp>
          <p:nvSpPr>
            <p:cNvPr id="77891" name="Line 284"/>
            <p:cNvSpPr/>
            <p:nvPr/>
          </p:nvSpPr>
          <p:spPr>
            <a:xfrm>
              <a:off x="4672" y="2504"/>
              <a:ext cx="0" cy="1156"/>
            </a:xfrm>
            <a:prstGeom prst="line">
              <a:avLst/>
            </a:prstGeom>
            <a:ln w="9525" cap="flat" cmpd="sng">
              <a:solidFill>
                <a:schemeClr val="tx1"/>
              </a:solidFill>
              <a:prstDash val="solid"/>
              <a:round/>
              <a:headEnd type="none" w="med" len="med"/>
              <a:tailEnd type="none" w="med" len="med"/>
            </a:ln>
          </p:spPr>
        </p:sp>
        <p:sp>
          <p:nvSpPr>
            <p:cNvPr id="77892" name="Line 285"/>
            <p:cNvSpPr/>
            <p:nvPr/>
          </p:nvSpPr>
          <p:spPr>
            <a:xfrm>
              <a:off x="4744" y="2504"/>
              <a:ext cx="0" cy="1156"/>
            </a:xfrm>
            <a:prstGeom prst="line">
              <a:avLst/>
            </a:prstGeom>
            <a:ln w="9525" cap="flat" cmpd="sng">
              <a:solidFill>
                <a:schemeClr val="tx1"/>
              </a:solidFill>
              <a:prstDash val="solid"/>
              <a:round/>
              <a:headEnd type="none" w="med" len="med"/>
              <a:tailEnd type="none" w="med" len="med"/>
            </a:ln>
          </p:spPr>
        </p:sp>
        <p:sp>
          <p:nvSpPr>
            <p:cNvPr id="77893" name="Line 286"/>
            <p:cNvSpPr/>
            <p:nvPr/>
          </p:nvSpPr>
          <p:spPr>
            <a:xfrm>
              <a:off x="4816" y="2504"/>
              <a:ext cx="0" cy="1156"/>
            </a:xfrm>
            <a:prstGeom prst="line">
              <a:avLst/>
            </a:prstGeom>
            <a:ln w="9525" cap="flat" cmpd="sng">
              <a:solidFill>
                <a:schemeClr val="tx1"/>
              </a:solidFill>
              <a:prstDash val="solid"/>
              <a:round/>
              <a:headEnd type="none" w="med" len="med"/>
              <a:tailEnd type="none" w="med" len="med"/>
            </a:ln>
          </p:spPr>
        </p:sp>
        <p:sp>
          <p:nvSpPr>
            <p:cNvPr id="77894" name="Line 287"/>
            <p:cNvSpPr/>
            <p:nvPr/>
          </p:nvSpPr>
          <p:spPr>
            <a:xfrm>
              <a:off x="4888" y="2504"/>
              <a:ext cx="0" cy="1156"/>
            </a:xfrm>
            <a:prstGeom prst="line">
              <a:avLst/>
            </a:prstGeom>
            <a:ln w="9525" cap="flat" cmpd="sng">
              <a:solidFill>
                <a:schemeClr val="tx1"/>
              </a:solidFill>
              <a:prstDash val="solid"/>
              <a:round/>
              <a:headEnd type="none" w="med" len="med"/>
              <a:tailEnd type="none" w="med" len="med"/>
            </a:ln>
          </p:spPr>
        </p:sp>
        <p:sp>
          <p:nvSpPr>
            <p:cNvPr id="77895" name="Line 288"/>
            <p:cNvSpPr/>
            <p:nvPr/>
          </p:nvSpPr>
          <p:spPr>
            <a:xfrm>
              <a:off x="4960" y="2504"/>
              <a:ext cx="0" cy="1156"/>
            </a:xfrm>
            <a:prstGeom prst="line">
              <a:avLst/>
            </a:prstGeom>
            <a:ln w="9525" cap="flat" cmpd="sng">
              <a:solidFill>
                <a:schemeClr val="tx1"/>
              </a:solidFill>
              <a:prstDash val="solid"/>
              <a:round/>
              <a:headEnd type="none" w="med" len="med"/>
              <a:tailEnd type="none" w="med" len="med"/>
            </a:ln>
          </p:spPr>
        </p:sp>
        <p:sp>
          <p:nvSpPr>
            <p:cNvPr id="77896" name="Line 289"/>
            <p:cNvSpPr/>
            <p:nvPr/>
          </p:nvSpPr>
          <p:spPr>
            <a:xfrm>
              <a:off x="5032" y="2504"/>
              <a:ext cx="0" cy="1156"/>
            </a:xfrm>
            <a:prstGeom prst="line">
              <a:avLst/>
            </a:prstGeom>
            <a:ln w="9525" cap="flat" cmpd="sng">
              <a:solidFill>
                <a:schemeClr val="tx1"/>
              </a:solidFill>
              <a:prstDash val="solid"/>
              <a:round/>
              <a:headEnd type="none" w="med" len="med"/>
              <a:tailEnd type="none" w="med" len="med"/>
            </a:ln>
          </p:spPr>
        </p:sp>
        <p:sp>
          <p:nvSpPr>
            <p:cNvPr id="77897" name="Line 290"/>
            <p:cNvSpPr/>
            <p:nvPr/>
          </p:nvSpPr>
          <p:spPr>
            <a:xfrm>
              <a:off x="5104" y="2504"/>
              <a:ext cx="0" cy="1156"/>
            </a:xfrm>
            <a:prstGeom prst="line">
              <a:avLst/>
            </a:prstGeom>
            <a:ln w="9525" cap="flat" cmpd="sng">
              <a:solidFill>
                <a:schemeClr val="tx1"/>
              </a:solidFill>
              <a:prstDash val="solid"/>
              <a:round/>
              <a:headEnd type="none" w="med" len="med"/>
              <a:tailEnd type="none" w="med" len="med"/>
            </a:ln>
          </p:spPr>
        </p:sp>
        <p:sp>
          <p:nvSpPr>
            <p:cNvPr id="77898" name="Line 291"/>
            <p:cNvSpPr/>
            <p:nvPr/>
          </p:nvSpPr>
          <p:spPr>
            <a:xfrm>
              <a:off x="5176" y="2504"/>
              <a:ext cx="0" cy="1156"/>
            </a:xfrm>
            <a:prstGeom prst="line">
              <a:avLst/>
            </a:prstGeom>
            <a:ln w="9525" cap="flat" cmpd="sng">
              <a:solidFill>
                <a:schemeClr val="tx1"/>
              </a:solidFill>
              <a:prstDash val="solid"/>
              <a:round/>
              <a:headEnd type="none" w="med" len="med"/>
              <a:tailEnd type="none" w="med" len="med"/>
            </a:ln>
          </p:spPr>
        </p:sp>
        <p:sp>
          <p:nvSpPr>
            <p:cNvPr id="77899" name="Line 292"/>
            <p:cNvSpPr/>
            <p:nvPr/>
          </p:nvSpPr>
          <p:spPr>
            <a:xfrm>
              <a:off x="5248" y="2504"/>
              <a:ext cx="0" cy="1156"/>
            </a:xfrm>
            <a:prstGeom prst="line">
              <a:avLst/>
            </a:prstGeom>
            <a:ln w="9525" cap="flat" cmpd="sng">
              <a:solidFill>
                <a:schemeClr val="tx1"/>
              </a:solidFill>
              <a:prstDash val="solid"/>
              <a:round/>
              <a:headEnd type="none" w="med" len="med"/>
              <a:tailEnd type="none" w="med" len="med"/>
            </a:ln>
          </p:spPr>
        </p:sp>
        <p:sp>
          <p:nvSpPr>
            <p:cNvPr id="77900" name="Line 293"/>
            <p:cNvSpPr/>
            <p:nvPr/>
          </p:nvSpPr>
          <p:spPr>
            <a:xfrm>
              <a:off x="5320" y="2504"/>
              <a:ext cx="0" cy="1156"/>
            </a:xfrm>
            <a:prstGeom prst="line">
              <a:avLst/>
            </a:prstGeom>
            <a:ln w="9525" cap="flat" cmpd="sng">
              <a:solidFill>
                <a:schemeClr val="tx1"/>
              </a:solidFill>
              <a:prstDash val="solid"/>
              <a:round/>
              <a:headEnd type="none" w="med" len="med"/>
              <a:tailEnd type="none" w="med" len="med"/>
            </a:ln>
          </p:spPr>
        </p:sp>
        <p:sp>
          <p:nvSpPr>
            <p:cNvPr id="77901" name="Line 294"/>
            <p:cNvSpPr/>
            <p:nvPr/>
          </p:nvSpPr>
          <p:spPr>
            <a:xfrm>
              <a:off x="5392" y="2504"/>
              <a:ext cx="0" cy="1156"/>
            </a:xfrm>
            <a:prstGeom prst="line">
              <a:avLst/>
            </a:prstGeom>
            <a:ln w="9525" cap="flat" cmpd="sng">
              <a:solidFill>
                <a:schemeClr val="tx1"/>
              </a:solidFill>
              <a:prstDash val="solid"/>
              <a:round/>
              <a:headEnd type="none" w="med" len="med"/>
              <a:tailEnd type="none" w="med" len="med"/>
            </a:ln>
          </p:spPr>
        </p:sp>
        <p:sp>
          <p:nvSpPr>
            <p:cNvPr id="77902" name="Rectangle 298"/>
            <p:cNvSpPr/>
            <p:nvPr/>
          </p:nvSpPr>
          <p:spPr>
            <a:xfrm>
              <a:off x="3444" y="2692"/>
              <a:ext cx="200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3" name="Rectangle 299"/>
            <p:cNvSpPr/>
            <p:nvPr/>
          </p:nvSpPr>
          <p:spPr>
            <a:xfrm>
              <a:off x="3440" y="2932"/>
              <a:ext cx="200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4" name="Rectangle 300"/>
            <p:cNvSpPr/>
            <p:nvPr/>
          </p:nvSpPr>
          <p:spPr>
            <a:xfrm>
              <a:off x="3436" y="3176"/>
              <a:ext cx="200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5" name="Rectangle 301"/>
            <p:cNvSpPr/>
            <p:nvPr/>
          </p:nvSpPr>
          <p:spPr>
            <a:xfrm>
              <a:off x="3432" y="3420"/>
              <a:ext cx="2008" cy="48"/>
            </a:xfrm>
            <a:prstGeom prst="rect">
              <a:avLst/>
            </a:prstGeom>
            <a:solidFill>
              <a:schemeClr val="bg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6" name="AutoShape 302"/>
            <p:cNvSpPr/>
            <p:nvPr/>
          </p:nvSpPr>
          <p:spPr>
            <a:xfrm>
              <a:off x="3316" y="2508"/>
              <a:ext cx="96" cy="1144"/>
            </a:xfrm>
            <a:prstGeom prst="leftBrace">
              <a:avLst>
                <a:gd name="adj1" fmla="val 99195"/>
                <a:gd name="adj2" fmla="val 50000"/>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7" name="AutoShape 303"/>
            <p:cNvSpPr/>
            <p:nvPr/>
          </p:nvSpPr>
          <p:spPr>
            <a:xfrm rot="5400000">
              <a:off x="4386" y="1410"/>
              <a:ext cx="96" cy="1988"/>
            </a:xfrm>
            <a:prstGeom prst="leftBrace">
              <a:avLst>
                <a:gd name="adj1" fmla="val 172377"/>
                <a:gd name="adj2" fmla="val 50000"/>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77908" name="Text Box 304"/>
            <p:cNvSpPr txBox="1"/>
            <p:nvPr/>
          </p:nvSpPr>
          <p:spPr>
            <a:xfrm>
              <a:off x="2693" y="2870"/>
              <a:ext cx="678" cy="366"/>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frequency</a:t>
              </a:r>
              <a:endParaRPr lang="en-US" altLang="zh-CN" sz="1600" dirty="0">
                <a:latin typeface="Arial" panose="020B0604020202020204" pitchFamily="34" charset="0"/>
                <a:ea typeface="宋体" panose="02010600030101010101" pitchFamily="2" charset="-122"/>
              </a:endParaRPr>
            </a:p>
            <a:p>
              <a:pPr algn="ctr" eaLnBrk="0" hangingPunct="0">
                <a:buClrTx/>
                <a:buFontTx/>
              </a:pPr>
              <a:r>
                <a:rPr lang="en-US" altLang="zh-CN" sz="1600" dirty="0">
                  <a:latin typeface="Arial" panose="020B0604020202020204" pitchFamily="34" charset="0"/>
                  <a:ea typeface="宋体" panose="02010600030101010101" pitchFamily="2" charset="-122"/>
                </a:rPr>
                <a:t>bands</a:t>
              </a:r>
              <a:endParaRPr lang="en-US" altLang="zh-CN" sz="1600" dirty="0">
                <a:latin typeface="Arial" panose="020B0604020202020204" pitchFamily="34" charset="0"/>
                <a:ea typeface="宋体" panose="02010600030101010101" pitchFamily="2" charset="-122"/>
              </a:endParaRPr>
            </a:p>
          </p:txBody>
        </p:sp>
        <p:sp>
          <p:nvSpPr>
            <p:cNvPr id="77909" name="Text Box 305"/>
            <p:cNvSpPr txBox="1"/>
            <p:nvPr/>
          </p:nvSpPr>
          <p:spPr>
            <a:xfrm>
              <a:off x="4097" y="2142"/>
              <a:ext cx="657" cy="212"/>
            </a:xfrm>
            <a:prstGeom prst="rect">
              <a:avLst/>
            </a:prstGeom>
            <a:no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宋体" panose="02010600030101010101" pitchFamily="2" charset="-122"/>
                </a:rPr>
                <a:t>time slots</a:t>
              </a:r>
              <a:endParaRPr lang="en-US" altLang="zh-CN" sz="1600" dirty="0">
                <a:latin typeface="Arial" panose="020B0604020202020204" pitchFamily="34" charset="0"/>
                <a:ea typeface="宋体" panose="02010600030101010101" pitchFamily="2"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798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7987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Cellular standards: brief survey</a:t>
            </a:r>
            <a:endParaRPr lang="en-US" altLang="zh-CN" dirty="0">
              <a:ea typeface="宋体" panose="02010600030101010101" pitchFamily="2" charset="-122"/>
            </a:endParaRPr>
          </a:p>
        </p:txBody>
      </p:sp>
      <p:sp>
        <p:nvSpPr>
          <p:cNvPr id="79876" name="Rectangle 3"/>
          <p:cNvSpPr>
            <a:spLocks noGrp="1"/>
          </p:cNvSpPr>
          <p:nvPr>
            <p:ph idx="1"/>
          </p:nvPr>
        </p:nvSpPr>
        <p:spPr>
          <a:ln/>
        </p:spPr>
        <p:txBody>
          <a:bodyPr vert="horz" wrap="square" lIns="91440" tIns="45720" rIns="91440" bIns="45720" anchor="t" anchorCtr="0"/>
          <a:p>
            <a:pPr>
              <a:buNone/>
            </a:pPr>
            <a:r>
              <a:rPr lang="en-US" altLang="zh-CN" dirty="0">
                <a:solidFill>
                  <a:srgbClr val="FF0000"/>
                </a:solidFill>
                <a:ea typeface="宋体" panose="02010600030101010101" pitchFamily="2" charset="-122"/>
              </a:rPr>
              <a:t>2G systems:</a:t>
            </a:r>
            <a:r>
              <a:rPr lang="en-US" altLang="zh-CN" dirty="0">
                <a:ea typeface="宋体" panose="02010600030101010101" pitchFamily="2" charset="-122"/>
              </a:rPr>
              <a:t> voice channels</a:t>
            </a:r>
            <a:endParaRPr lang="en-US" altLang="zh-CN" dirty="0">
              <a:ea typeface="宋体" panose="02010600030101010101" pitchFamily="2" charset="-122"/>
            </a:endParaRPr>
          </a:p>
          <a:p>
            <a:r>
              <a:rPr lang="en-US" altLang="zh-CN" sz="2400" dirty="0">
                <a:ea typeface="宋体" panose="02010600030101010101" pitchFamily="2" charset="-122"/>
              </a:rPr>
              <a:t>IS-136 TDMA: combined FDMA/TDMA (north america)</a:t>
            </a:r>
            <a:endParaRPr lang="en-US" altLang="zh-CN" sz="2400" dirty="0">
              <a:ea typeface="宋体" panose="02010600030101010101" pitchFamily="2" charset="-122"/>
            </a:endParaRPr>
          </a:p>
          <a:p>
            <a:r>
              <a:rPr lang="en-US" altLang="zh-CN" sz="2400" dirty="0">
                <a:ea typeface="宋体" panose="02010600030101010101" pitchFamily="2" charset="-122"/>
              </a:rPr>
              <a:t>GSM (global system for mobile communications): combined FDMA/TDMA </a:t>
            </a:r>
            <a:endParaRPr lang="en-US" altLang="zh-CN" sz="2400" dirty="0">
              <a:ea typeface="宋体" panose="02010600030101010101" pitchFamily="2" charset="-122"/>
            </a:endParaRPr>
          </a:p>
          <a:p>
            <a:pPr lvl="1"/>
            <a:r>
              <a:rPr lang="en-US" altLang="zh-CN" sz="2000" dirty="0">
                <a:ea typeface="宋体" panose="02010600030101010101" pitchFamily="2" charset="-122"/>
              </a:rPr>
              <a:t>most widely deployed</a:t>
            </a:r>
            <a:endParaRPr lang="en-US" altLang="zh-CN" sz="2000" dirty="0">
              <a:ea typeface="宋体" panose="02010600030101010101" pitchFamily="2" charset="-122"/>
            </a:endParaRPr>
          </a:p>
          <a:p>
            <a:r>
              <a:rPr lang="en-US" altLang="zh-CN" sz="2400" dirty="0">
                <a:ea typeface="宋体" panose="02010600030101010101" pitchFamily="2" charset="-122"/>
              </a:rPr>
              <a:t>IS-95 CDMA: code division multiple access</a:t>
            </a:r>
            <a:endParaRPr lang="en-US" altLang="zh-CN" sz="2400" dirty="0">
              <a:ea typeface="宋体" panose="02010600030101010101" pitchFamily="2" charset="-122"/>
            </a:endParaRPr>
          </a:p>
        </p:txBody>
      </p:sp>
      <p:grpSp>
        <p:nvGrpSpPr>
          <p:cNvPr id="79877" name="Group 8"/>
          <p:cNvGrpSpPr/>
          <p:nvPr/>
        </p:nvGrpSpPr>
        <p:grpSpPr>
          <a:xfrm>
            <a:off x="1341438" y="5200650"/>
            <a:ext cx="3160712" cy="879475"/>
            <a:chOff x="1862" y="3427"/>
            <a:chExt cx="1471" cy="554"/>
          </a:xfrm>
        </p:grpSpPr>
        <p:sp>
          <p:nvSpPr>
            <p:cNvPr id="79878" name="Freeform 6"/>
            <p:cNvSpPr/>
            <p:nvPr/>
          </p:nvSpPr>
          <p:spPr>
            <a:xfrm>
              <a:off x="1866" y="3612"/>
              <a:ext cx="1467" cy="369"/>
            </a:xfrm>
            <a:custGeom>
              <a:avLst/>
              <a:gdLst/>
              <a:ahLst/>
              <a:cxnLst>
                <a:cxn ang="0">
                  <a:pos x="0" y="6"/>
                </a:cxn>
                <a:cxn ang="0">
                  <a:pos x="396" y="318"/>
                </a:cxn>
                <a:cxn ang="0">
                  <a:pos x="1129" y="314"/>
                </a:cxn>
                <a:cxn ang="0">
                  <a:pos x="1467" y="0"/>
                </a:cxn>
                <a:cxn ang="0">
                  <a:pos x="0" y="6"/>
                </a:cxn>
              </a:cxnLst>
              <a:pathLst>
                <a:path w="1467" h="369">
                  <a:moveTo>
                    <a:pt x="0" y="6"/>
                  </a:moveTo>
                  <a:lnTo>
                    <a:pt x="396" y="318"/>
                  </a:lnTo>
                  <a:cubicBezTo>
                    <a:pt x="584" y="369"/>
                    <a:pt x="951" y="367"/>
                    <a:pt x="1129" y="314"/>
                  </a:cubicBezTo>
                  <a:lnTo>
                    <a:pt x="1467" y="0"/>
                  </a:lnTo>
                  <a:lnTo>
                    <a:pt x="0" y="6"/>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79879" name="Oval 4"/>
            <p:cNvSpPr/>
            <p:nvPr/>
          </p:nvSpPr>
          <p:spPr>
            <a:xfrm>
              <a:off x="1862" y="3427"/>
              <a:ext cx="1469" cy="346"/>
            </a:xfrm>
            <a:prstGeom prst="ellipse">
              <a:avLst/>
            </a:prstGeom>
            <a:gradFill rotWithShape="1">
              <a:gsLst>
                <a:gs pos="0">
                  <a:schemeClr val="bg1"/>
                </a:gs>
                <a:gs pos="100000">
                  <a:schemeClr val="accent1"/>
                </a:gs>
              </a:gsLst>
              <a:path path="shape">
                <a:fillToRect l="50000" t="50000" r="50000" b="50000"/>
              </a:path>
              <a:tileRect/>
            </a:gradFill>
            <a:ln w="9525" cap="flat" cmpd="sng">
              <a:solidFill>
                <a:schemeClr val="tx1"/>
              </a:solidFill>
              <a:prstDash val="solid"/>
              <a:round/>
              <a:headEnd type="none" w="med" len="med"/>
              <a:tailEnd type="none" w="med" len="med"/>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79880" name="Oval 7"/>
            <p:cNvSpPr/>
            <p:nvPr/>
          </p:nvSpPr>
          <p:spPr>
            <a:xfrm>
              <a:off x="1961" y="3466"/>
              <a:ext cx="1268" cy="271"/>
            </a:xfrm>
            <a:prstGeom prst="ellipse">
              <a:avLst/>
            </a:prstGeom>
            <a:noFill/>
            <a:ln w="9525" cap="flat" cmpd="sng">
              <a:solidFill>
                <a:schemeClr val="tx1"/>
              </a:solidFill>
              <a:prstDash val="solid"/>
              <a:round/>
              <a:headEnd type="none" w="med" len="med"/>
              <a:tailEnd type="none" w="med" len="med"/>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grpSp>
      <p:sp>
        <p:nvSpPr>
          <p:cNvPr id="79881" name="Text Box 9"/>
          <p:cNvSpPr txBox="1"/>
          <p:nvPr/>
        </p:nvSpPr>
        <p:spPr>
          <a:xfrm rot="535086">
            <a:off x="1824038" y="5370513"/>
            <a:ext cx="782637"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IS-136</a:t>
            </a:r>
            <a:endParaRPr lang="en-US" altLang="zh-CN" sz="1600" dirty="0">
              <a:latin typeface="Arial" panose="020B0604020202020204" pitchFamily="34" charset="0"/>
              <a:ea typeface="宋体" panose="02010600030101010101" pitchFamily="2" charset="-122"/>
            </a:endParaRPr>
          </a:p>
        </p:txBody>
      </p:sp>
      <p:sp>
        <p:nvSpPr>
          <p:cNvPr id="79882" name="Text Box 10"/>
          <p:cNvSpPr txBox="1"/>
          <p:nvPr/>
        </p:nvSpPr>
        <p:spPr>
          <a:xfrm>
            <a:off x="2616200" y="5430838"/>
            <a:ext cx="647700"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GSM</a:t>
            </a:r>
            <a:endParaRPr lang="en-US" altLang="zh-CN" sz="1600" dirty="0">
              <a:latin typeface="Arial" panose="020B0604020202020204" pitchFamily="34" charset="0"/>
              <a:ea typeface="宋体" panose="02010600030101010101" pitchFamily="2" charset="-122"/>
            </a:endParaRPr>
          </a:p>
        </p:txBody>
      </p:sp>
      <p:sp>
        <p:nvSpPr>
          <p:cNvPr id="79883" name="Text Box 11"/>
          <p:cNvSpPr txBox="1"/>
          <p:nvPr/>
        </p:nvSpPr>
        <p:spPr>
          <a:xfrm rot="-226692">
            <a:off x="3209925" y="5359400"/>
            <a:ext cx="6699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IS-95</a:t>
            </a:r>
            <a:endParaRPr lang="en-US" altLang="zh-CN" sz="1600" dirty="0">
              <a:latin typeface="Arial" panose="020B0604020202020204" pitchFamily="34" charset="0"/>
              <a:ea typeface="宋体" panose="02010600030101010101" pitchFamily="2" charset="-122"/>
            </a:endParaRPr>
          </a:p>
        </p:txBody>
      </p:sp>
      <p:sp>
        <p:nvSpPr>
          <p:cNvPr id="79884" name="Text Box 12"/>
          <p:cNvSpPr txBox="1"/>
          <p:nvPr/>
        </p:nvSpPr>
        <p:spPr>
          <a:xfrm rot="194335">
            <a:off x="2079625" y="5191125"/>
            <a:ext cx="7588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GPRS</a:t>
            </a:r>
            <a:endParaRPr lang="en-US" altLang="zh-CN" sz="1600" dirty="0">
              <a:latin typeface="Arial" panose="020B0604020202020204" pitchFamily="34" charset="0"/>
              <a:ea typeface="宋体" panose="02010600030101010101" pitchFamily="2" charset="-122"/>
            </a:endParaRPr>
          </a:p>
        </p:txBody>
      </p:sp>
      <p:sp>
        <p:nvSpPr>
          <p:cNvPr id="79885" name="Text Box 13"/>
          <p:cNvSpPr txBox="1"/>
          <p:nvPr/>
        </p:nvSpPr>
        <p:spPr>
          <a:xfrm rot="-293470">
            <a:off x="2930525" y="5165725"/>
            <a:ext cx="7588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EDGE</a:t>
            </a:r>
            <a:endParaRPr lang="en-US" altLang="zh-CN" sz="1600" dirty="0">
              <a:latin typeface="Arial" panose="020B0604020202020204" pitchFamily="34" charset="0"/>
              <a:ea typeface="宋体" panose="02010600030101010101" pitchFamily="2" charset="-122"/>
            </a:endParaRPr>
          </a:p>
        </p:txBody>
      </p:sp>
      <p:sp>
        <p:nvSpPr>
          <p:cNvPr id="79886" name="Text Box 14"/>
          <p:cNvSpPr txBox="1"/>
          <p:nvPr/>
        </p:nvSpPr>
        <p:spPr>
          <a:xfrm rot="-328813">
            <a:off x="1344613" y="4992688"/>
            <a:ext cx="1300162"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CDMA-2000</a:t>
            </a:r>
            <a:endParaRPr lang="en-US" altLang="zh-CN" sz="1600" dirty="0">
              <a:latin typeface="Arial" panose="020B0604020202020204" pitchFamily="34" charset="0"/>
              <a:ea typeface="宋体" panose="02010600030101010101" pitchFamily="2" charset="-122"/>
            </a:endParaRPr>
          </a:p>
        </p:txBody>
      </p:sp>
      <p:sp>
        <p:nvSpPr>
          <p:cNvPr id="79887" name="Text Box 15"/>
          <p:cNvSpPr txBox="1"/>
          <p:nvPr/>
        </p:nvSpPr>
        <p:spPr>
          <a:xfrm rot="697246">
            <a:off x="3724275" y="5249863"/>
            <a:ext cx="758825"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UMTS</a:t>
            </a:r>
            <a:endParaRPr lang="en-US" altLang="zh-CN" sz="1600" dirty="0">
              <a:latin typeface="Arial" panose="020B0604020202020204" pitchFamily="34" charset="0"/>
              <a:ea typeface="宋体" panose="02010600030101010101" pitchFamily="2" charset="-122"/>
            </a:endParaRPr>
          </a:p>
        </p:txBody>
      </p:sp>
      <p:sp>
        <p:nvSpPr>
          <p:cNvPr id="79888" name="Text Box 17"/>
          <p:cNvSpPr txBox="1"/>
          <p:nvPr/>
        </p:nvSpPr>
        <p:spPr>
          <a:xfrm rot="258206">
            <a:off x="2994025" y="4943475"/>
            <a:ext cx="1390650" cy="33655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TDMA/FDMA</a:t>
            </a:r>
            <a:endParaRPr lang="en-US" altLang="zh-CN" sz="1600" dirty="0">
              <a:latin typeface="Arial" panose="020B0604020202020204" pitchFamily="34" charset="0"/>
              <a:ea typeface="宋体" panose="02010600030101010101" pitchFamily="2" charset="-122"/>
            </a:endParaRPr>
          </a:p>
        </p:txBody>
      </p:sp>
      <p:sp>
        <p:nvSpPr>
          <p:cNvPr id="79889" name="Text Box 18"/>
          <p:cNvSpPr txBox="1"/>
          <p:nvPr/>
        </p:nvSpPr>
        <p:spPr>
          <a:xfrm>
            <a:off x="4664075" y="5256213"/>
            <a:ext cx="2500313" cy="82550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Don’t drown in a bowl</a:t>
            </a:r>
            <a:endParaRPr lang="en-US" altLang="zh-CN" sz="1600" dirty="0">
              <a:latin typeface="Arial" panose="020B0604020202020204" pitchFamily="34" charset="0"/>
              <a:ea typeface="宋体" panose="02010600030101010101" pitchFamily="2" charset="-122"/>
            </a:endParaRPr>
          </a:p>
          <a:p>
            <a:pPr eaLnBrk="0" hangingPunct="0">
              <a:buClrTx/>
              <a:buFontTx/>
            </a:pPr>
            <a:r>
              <a:rPr lang="en-US" altLang="zh-CN" sz="1600" dirty="0">
                <a:latin typeface="Arial" panose="020B0604020202020204" pitchFamily="34" charset="0"/>
                <a:ea typeface="宋体" panose="02010600030101010101" pitchFamily="2" charset="-122"/>
              </a:rPr>
              <a:t>of alphabet soup: use this</a:t>
            </a:r>
            <a:endParaRPr lang="en-US" altLang="zh-CN" sz="1600" dirty="0">
              <a:latin typeface="Arial" panose="020B0604020202020204" pitchFamily="34" charset="0"/>
              <a:ea typeface="宋体" panose="02010600030101010101" pitchFamily="2" charset="-122"/>
            </a:endParaRPr>
          </a:p>
          <a:p>
            <a:pPr eaLnBrk="0" hangingPunct="0">
              <a:buClrTx/>
              <a:buFontTx/>
            </a:pPr>
            <a:r>
              <a:rPr lang="en-US" altLang="zh-CN" sz="1600" dirty="0">
                <a:latin typeface="Arial" panose="020B0604020202020204" pitchFamily="34" charset="0"/>
                <a:ea typeface="宋体" panose="02010600030101010101" pitchFamily="2" charset="-122"/>
              </a:rPr>
              <a:t>for reference only</a:t>
            </a:r>
            <a:endParaRPr lang="en-US" altLang="zh-CN" sz="1600" dirty="0">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819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192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Cellular standards: brief survey</a:t>
            </a:r>
            <a:endParaRPr lang="en-US" altLang="zh-CN" dirty="0">
              <a:ea typeface="宋体" panose="02010600030101010101" pitchFamily="2" charset="-122"/>
            </a:endParaRPr>
          </a:p>
        </p:txBody>
      </p:sp>
      <p:sp>
        <p:nvSpPr>
          <p:cNvPr id="81924" name="Rectangle 3"/>
          <p:cNvSpPr>
            <a:spLocks noGrp="1"/>
          </p:cNvSpPr>
          <p:nvPr>
            <p:ph idx="1"/>
          </p:nvPr>
        </p:nvSpPr>
        <p:spPr>
          <a:xfrm>
            <a:off x="533400" y="1600200"/>
            <a:ext cx="8447088" cy="4648200"/>
          </a:xfrm>
          <a:ln/>
        </p:spPr>
        <p:txBody>
          <a:bodyPr vert="horz" wrap="square" lIns="91440" tIns="45720" rIns="91440" bIns="45720" anchor="t" anchorCtr="0"/>
          <a:p>
            <a:pPr>
              <a:buNone/>
            </a:pPr>
            <a:r>
              <a:rPr lang="en-US" altLang="zh-CN" dirty="0">
                <a:solidFill>
                  <a:srgbClr val="FF0000"/>
                </a:solidFill>
                <a:ea typeface="宋体" panose="02010600030101010101" pitchFamily="2" charset="-122"/>
              </a:rPr>
              <a:t>2.5 G systems:</a:t>
            </a:r>
            <a:r>
              <a:rPr lang="en-US" altLang="zh-CN" dirty="0">
                <a:ea typeface="宋体" panose="02010600030101010101" pitchFamily="2" charset="-122"/>
              </a:rPr>
              <a:t> voice and data channels</a:t>
            </a:r>
            <a:endParaRPr lang="en-US" altLang="zh-CN" dirty="0">
              <a:ea typeface="宋体" panose="02010600030101010101" pitchFamily="2" charset="-122"/>
            </a:endParaRPr>
          </a:p>
          <a:p>
            <a:r>
              <a:rPr lang="en-US" altLang="zh-CN" sz="2400" dirty="0">
                <a:ea typeface="宋体" panose="02010600030101010101" pitchFamily="2" charset="-122"/>
              </a:rPr>
              <a:t>for those who can’t wait for 3G service: 2G extensions</a:t>
            </a:r>
            <a:endParaRPr lang="en-US" altLang="zh-CN" sz="2400" dirty="0">
              <a:ea typeface="宋体" panose="02010600030101010101" pitchFamily="2" charset="-122"/>
            </a:endParaRPr>
          </a:p>
          <a:p>
            <a:r>
              <a:rPr lang="en-US" altLang="zh-CN" sz="2400" dirty="0">
                <a:ea typeface="宋体" panose="02010600030101010101" pitchFamily="2" charset="-122"/>
              </a:rPr>
              <a:t>general packet radio service</a:t>
            </a:r>
            <a:r>
              <a:rPr lang="en-US" altLang="zh-CN" sz="2400" dirty="0">
                <a:solidFill>
                  <a:srgbClr val="FF0000"/>
                </a:solidFill>
                <a:ea typeface="宋体" panose="02010600030101010101" pitchFamily="2" charset="-122"/>
              </a:rPr>
              <a:t> (GPRS)</a:t>
            </a:r>
            <a:endParaRPr lang="en-US" altLang="zh-CN" sz="2400" dirty="0">
              <a:solidFill>
                <a:srgbClr val="FF0000"/>
              </a:solidFill>
              <a:ea typeface="宋体" panose="02010600030101010101" pitchFamily="2" charset="-122"/>
            </a:endParaRPr>
          </a:p>
          <a:p>
            <a:pPr lvl="1"/>
            <a:r>
              <a:rPr lang="en-US" altLang="zh-CN" sz="2000" dirty="0">
                <a:ea typeface="宋体" panose="02010600030101010101" pitchFamily="2" charset="-122"/>
              </a:rPr>
              <a:t>evolved from GSM </a:t>
            </a:r>
            <a:endParaRPr lang="en-US" altLang="zh-CN" sz="2000" dirty="0">
              <a:ea typeface="宋体" panose="02010600030101010101" pitchFamily="2" charset="-122"/>
            </a:endParaRPr>
          </a:p>
          <a:p>
            <a:pPr lvl="1"/>
            <a:r>
              <a:rPr lang="en-US" altLang="zh-CN" sz="2000" dirty="0">
                <a:ea typeface="宋体" panose="02010600030101010101" pitchFamily="2" charset="-122"/>
              </a:rPr>
              <a:t>data sent on multiple channels (if available)</a:t>
            </a:r>
            <a:endParaRPr lang="en-US" altLang="zh-CN" sz="2000" dirty="0">
              <a:ea typeface="宋体" panose="02010600030101010101" pitchFamily="2" charset="-122"/>
            </a:endParaRPr>
          </a:p>
          <a:p>
            <a:r>
              <a:rPr lang="en-US" altLang="zh-CN" sz="2400" dirty="0">
                <a:ea typeface="宋体" panose="02010600030101010101" pitchFamily="2" charset="-122"/>
              </a:rPr>
              <a:t>enhanced data rates for global evolution </a:t>
            </a:r>
            <a:r>
              <a:rPr lang="en-US" altLang="zh-CN" sz="2400" dirty="0">
                <a:solidFill>
                  <a:srgbClr val="FF0000"/>
                </a:solidFill>
                <a:ea typeface="宋体" panose="02010600030101010101" pitchFamily="2" charset="-122"/>
              </a:rPr>
              <a:t>(EDGE)</a:t>
            </a:r>
            <a:endParaRPr lang="en-US" altLang="zh-CN" sz="2400" dirty="0">
              <a:solidFill>
                <a:srgbClr val="FF0000"/>
              </a:solidFill>
              <a:ea typeface="宋体" panose="02010600030101010101" pitchFamily="2" charset="-122"/>
            </a:endParaRPr>
          </a:p>
          <a:p>
            <a:pPr lvl="1"/>
            <a:r>
              <a:rPr lang="en-US" altLang="zh-CN" sz="2000" dirty="0">
                <a:ea typeface="宋体" panose="02010600030101010101" pitchFamily="2" charset="-122"/>
              </a:rPr>
              <a:t>also evolved from GSM, using enhanced modulation </a:t>
            </a:r>
            <a:endParaRPr lang="en-US" altLang="zh-CN" sz="2000" dirty="0">
              <a:ea typeface="宋体" panose="02010600030101010101" pitchFamily="2" charset="-122"/>
            </a:endParaRPr>
          </a:p>
          <a:p>
            <a:pPr lvl="1"/>
            <a:r>
              <a:rPr lang="en-US" altLang="zh-CN" sz="2000" dirty="0">
                <a:ea typeface="宋体" panose="02010600030101010101" pitchFamily="2" charset="-122"/>
              </a:rPr>
              <a:t>data rates up to 384K</a:t>
            </a:r>
            <a:endParaRPr lang="en-US" altLang="zh-CN" sz="2000" dirty="0">
              <a:ea typeface="宋体" panose="02010600030101010101" pitchFamily="2" charset="-122"/>
            </a:endParaRPr>
          </a:p>
          <a:p>
            <a:r>
              <a:rPr lang="en-US" altLang="zh-CN" sz="2400" dirty="0">
                <a:solidFill>
                  <a:srgbClr val="FF0000"/>
                </a:solidFill>
                <a:ea typeface="宋体" panose="02010600030101010101" pitchFamily="2" charset="-122"/>
              </a:rPr>
              <a:t>CDMA-2000</a:t>
            </a:r>
            <a:r>
              <a:rPr lang="en-US" altLang="zh-CN" sz="2400" dirty="0">
                <a:ea typeface="宋体" panose="02010600030101010101" pitchFamily="2" charset="-122"/>
              </a:rPr>
              <a:t> (phase 1)</a:t>
            </a:r>
            <a:endParaRPr lang="en-US" altLang="zh-CN" sz="2400" dirty="0">
              <a:ea typeface="宋体" panose="02010600030101010101" pitchFamily="2" charset="-122"/>
            </a:endParaRPr>
          </a:p>
          <a:p>
            <a:pPr lvl="1"/>
            <a:r>
              <a:rPr lang="en-US" altLang="zh-CN" sz="2000" dirty="0">
                <a:ea typeface="宋体" panose="02010600030101010101" pitchFamily="2" charset="-122"/>
              </a:rPr>
              <a:t>data rates up to 144K</a:t>
            </a:r>
            <a:endParaRPr lang="en-US" altLang="zh-CN" sz="2000" dirty="0">
              <a:ea typeface="宋体" panose="02010600030101010101" pitchFamily="2" charset="-122"/>
            </a:endParaRPr>
          </a:p>
          <a:p>
            <a:pPr lvl="1"/>
            <a:r>
              <a:rPr lang="en-US" altLang="zh-CN" sz="2000" dirty="0">
                <a:ea typeface="宋体" panose="02010600030101010101" pitchFamily="2" charset="-122"/>
              </a:rPr>
              <a:t>evolved from IS-95</a:t>
            </a:r>
            <a:endParaRPr lang="en-US" altLang="zh-CN" sz="2000" dirty="0">
              <a:ea typeface="宋体" panose="02010600030101010101" pitchFamily="2" charset="-122"/>
            </a:endParaRPr>
          </a:p>
          <a:p>
            <a:endParaRPr lang="en-US" altLang="zh-CN" sz="2400" dirty="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839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397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Cellular standards: brief survey</a:t>
            </a:r>
            <a:endParaRPr lang="en-US" altLang="zh-CN" dirty="0">
              <a:ea typeface="宋体" panose="02010600030101010101" pitchFamily="2" charset="-122"/>
            </a:endParaRPr>
          </a:p>
        </p:txBody>
      </p:sp>
      <p:sp>
        <p:nvSpPr>
          <p:cNvPr id="83972" name="Rectangle 3"/>
          <p:cNvSpPr>
            <a:spLocks noGrp="1"/>
          </p:cNvSpPr>
          <p:nvPr>
            <p:ph idx="1"/>
          </p:nvPr>
        </p:nvSpPr>
        <p:spPr>
          <a:xfrm>
            <a:off x="533400" y="1600200"/>
            <a:ext cx="8447088" cy="4648200"/>
          </a:xfrm>
          <a:ln/>
        </p:spPr>
        <p:txBody>
          <a:bodyPr vert="horz" wrap="square" lIns="91440" tIns="45720" rIns="91440" bIns="45720" anchor="t" anchorCtr="0"/>
          <a:p>
            <a:pPr>
              <a:lnSpc>
                <a:spcPct val="80000"/>
              </a:lnSpc>
              <a:buNone/>
            </a:pPr>
            <a:r>
              <a:rPr lang="en-US" altLang="zh-CN" sz="2400" dirty="0">
                <a:solidFill>
                  <a:srgbClr val="FF0000"/>
                </a:solidFill>
                <a:ea typeface="宋体" panose="02010600030101010101" pitchFamily="2" charset="-122"/>
              </a:rPr>
              <a:t>3G systems:</a:t>
            </a:r>
            <a:r>
              <a:rPr lang="en-US" altLang="zh-CN" sz="2400" dirty="0">
                <a:ea typeface="宋体" panose="02010600030101010101" pitchFamily="2" charset="-122"/>
              </a:rPr>
              <a:t> voice/data</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Universal Mobile Telecommunications Service (UMTS)</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data service: High Speed Uplink/Downlink packet Access (HSDPA/HSUPA): 3 Mbps</a:t>
            </a:r>
            <a:endParaRPr lang="en-US" altLang="zh-CN" dirty="0">
              <a:ea typeface="宋体" panose="02010600030101010101" pitchFamily="2" charset="-122"/>
            </a:endParaRPr>
          </a:p>
          <a:p>
            <a:pPr>
              <a:lnSpc>
                <a:spcPct val="80000"/>
              </a:lnSpc>
            </a:pPr>
            <a:r>
              <a:rPr lang="en-US" altLang="zh-CN" sz="2400" dirty="0">
                <a:ea typeface="宋体" panose="02010600030101010101" pitchFamily="2" charset="-122"/>
              </a:rPr>
              <a:t>CDMA-2000: CDMA in TDMA slots</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data service: 1xEvolution Data Optimized (1xEVDO)  up to 14 Mbps</a:t>
            </a:r>
            <a:endParaRPr lang="en-US" altLang="zh-CN" dirty="0">
              <a:ea typeface="宋体" panose="02010600030101010101" pitchFamily="2" charset="-122"/>
            </a:endParaRPr>
          </a:p>
          <a:p>
            <a:pPr>
              <a:lnSpc>
                <a:spcPct val="80000"/>
              </a:lnSpc>
              <a:buNone/>
            </a:pPr>
            <a:r>
              <a:rPr lang="en-US" altLang="zh-CN" sz="2400" dirty="0">
                <a:solidFill>
                  <a:srgbClr val="FF0000"/>
                </a:solidFill>
                <a:ea typeface="宋体" panose="02010600030101010101" pitchFamily="2" charset="-122"/>
              </a:rPr>
              <a:t>4G systems:</a:t>
            </a:r>
            <a:r>
              <a:rPr lang="en-US" altLang="zh-CN" sz="2400" dirty="0">
                <a:ea typeface="宋体" panose="02010600030101010101" pitchFamily="2" charset="-122"/>
              </a:rPr>
              <a:t> voice/data</a:t>
            </a:r>
            <a:endParaRPr lang="en-US" altLang="zh-CN" sz="2400" dirty="0">
              <a:ea typeface="宋体" panose="02010600030101010101" pitchFamily="2" charset="-122"/>
            </a:endParaRPr>
          </a:p>
          <a:p>
            <a:pPr>
              <a:lnSpc>
                <a:spcPct val="80000"/>
              </a:lnSpc>
            </a:pPr>
            <a:r>
              <a:rPr lang="en-US" altLang="zh-CN" sz="2400" dirty="0">
                <a:ea typeface="宋体" panose="02010600030101010101" pitchFamily="2" charset="-122"/>
              </a:rPr>
              <a:t>Long Term Evolution (LTE)</a:t>
            </a:r>
            <a:endParaRPr lang="en-US" altLang="zh-CN" sz="2400" dirty="0">
              <a:ea typeface="宋体" panose="02010600030101010101" pitchFamily="2" charset="-122"/>
            </a:endParaRPr>
          </a:p>
          <a:p>
            <a:pPr lvl="1">
              <a:lnSpc>
                <a:spcPct val="80000"/>
              </a:lnSpc>
            </a:pPr>
            <a:r>
              <a:rPr lang="en-US" altLang="zh-CN" dirty="0">
                <a:ea typeface="宋体" panose="02010600030101010101" pitchFamily="2" charset="-122"/>
              </a:rPr>
              <a:t>Employ OFDM, MIMO techniques to enhance packet delivery rate: 100Mbps for downlink, 50Mbps for uplink</a:t>
            </a:r>
            <a:endParaRPr lang="en-US" altLang="zh-CN" dirty="0">
              <a:ea typeface="宋体" panose="02010600030101010101" pitchFamily="2" charset="-122"/>
            </a:endParaRPr>
          </a:p>
          <a:p>
            <a:pPr lvl="1">
              <a:lnSpc>
                <a:spcPct val="80000"/>
              </a:lnSpc>
            </a:pPr>
            <a:endParaRPr lang="en-US" altLang="zh-CN" dirty="0">
              <a:ea typeface="宋体" panose="02010600030101010101" pitchFamily="2" charset="-122"/>
            </a:endParaRPr>
          </a:p>
          <a:p>
            <a:pPr>
              <a:lnSpc>
                <a:spcPct val="80000"/>
              </a:lnSpc>
            </a:pPr>
            <a:endParaRPr lang="en-US" altLang="zh-CN" sz="2000" dirty="0">
              <a:ea typeface="宋体" panose="02010600030101010101" pitchFamily="2" charset="-122"/>
            </a:endParaRPr>
          </a:p>
          <a:p>
            <a:pPr>
              <a:lnSpc>
                <a:spcPct val="80000"/>
              </a:lnSpc>
            </a:pPr>
            <a:endParaRPr lang="en-US" altLang="zh-CN" sz="2000" dirty="0">
              <a:ea typeface="宋体" panose="02010600030101010101" pitchFamily="2" charset="-122"/>
            </a:endParaRPr>
          </a:p>
          <a:p>
            <a:pPr>
              <a:lnSpc>
                <a:spcPct val="80000"/>
              </a:lnSpc>
            </a:pPr>
            <a:endParaRPr lang="en-US" altLang="zh-CN" sz="2000" dirty="0">
              <a:ea typeface="宋体" panose="02010600030101010101" pitchFamily="2" charset="-122"/>
            </a:endParaRPr>
          </a:p>
          <a:p>
            <a:pPr>
              <a:lnSpc>
                <a:spcPct val="80000"/>
              </a:lnSpc>
            </a:pPr>
            <a:endParaRPr lang="en-US" altLang="zh-CN" sz="2000" dirty="0">
              <a:ea typeface="宋体" panose="02010600030101010101" pitchFamily="2" charset="-122"/>
            </a:endParaRPr>
          </a:p>
          <a:p>
            <a:pPr>
              <a:lnSpc>
                <a:spcPct val="80000"/>
              </a:lnSpc>
            </a:pPr>
            <a:endParaRPr lang="en-US" altLang="zh-CN" sz="2000" dirty="0">
              <a:ea typeface="宋体" panose="02010600030101010101" pitchFamily="2" charset="-122"/>
            </a:endParaRPr>
          </a:p>
          <a:p>
            <a:pPr>
              <a:lnSpc>
                <a:spcPct val="80000"/>
              </a:lnSpc>
              <a:buNone/>
            </a:pPr>
            <a:r>
              <a:rPr lang="en-US" altLang="zh-CN" sz="2000" dirty="0">
                <a:ea typeface="宋体" panose="02010600030101010101" pitchFamily="2" charset="-122"/>
              </a:rPr>
              <a:t>    ….. more (and more interesting) cellular topics due to mobility (stay tuned for details)</a:t>
            </a:r>
            <a:endParaRPr lang="en-US" altLang="zh-CN" sz="2000"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8601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6019" name="AutoShape 2"/>
          <p:cNvSpPr/>
          <p:nvPr/>
        </p:nvSpPr>
        <p:spPr>
          <a:xfrm>
            <a:off x="2266950" y="2952750"/>
            <a:ext cx="798513" cy="598488"/>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20" name="AutoShape 3"/>
          <p:cNvSpPr/>
          <p:nvPr/>
        </p:nvSpPr>
        <p:spPr>
          <a:xfrm>
            <a:off x="2282825" y="3546475"/>
            <a:ext cx="798513" cy="598488"/>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21" name="AutoShape 4"/>
          <p:cNvSpPr/>
          <p:nvPr/>
        </p:nvSpPr>
        <p:spPr>
          <a:xfrm>
            <a:off x="1631950" y="3281363"/>
            <a:ext cx="798513" cy="598487"/>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22" name="AutoShape 5"/>
          <p:cNvSpPr/>
          <p:nvPr/>
        </p:nvSpPr>
        <p:spPr>
          <a:xfrm>
            <a:off x="1595438" y="2212975"/>
            <a:ext cx="798512" cy="598488"/>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23" name="AutoShape 6"/>
          <p:cNvSpPr/>
          <p:nvPr/>
        </p:nvSpPr>
        <p:spPr>
          <a:xfrm>
            <a:off x="2209800" y="1936750"/>
            <a:ext cx="798513" cy="598488"/>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024" name="AutoShape 7"/>
          <p:cNvSpPr/>
          <p:nvPr/>
        </p:nvSpPr>
        <p:spPr>
          <a:xfrm>
            <a:off x="1581150" y="1603375"/>
            <a:ext cx="798513" cy="598488"/>
          </a:xfrm>
          <a:prstGeom prst="hexagon">
            <a:avLst>
              <a:gd name="adj" fmla="val 27647"/>
              <a:gd name="vf" fmla="val 115470"/>
            </a:avLst>
          </a:prstGeom>
          <a:solidFill>
            <a:srgbClr val="DDDDDD"/>
          </a:solidFill>
          <a:ln w="9525" cap="flat" cmpd="sng">
            <a:solidFill>
              <a:schemeClr val="bg2"/>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025" name="Group 9"/>
          <p:cNvGrpSpPr/>
          <p:nvPr/>
        </p:nvGrpSpPr>
        <p:grpSpPr>
          <a:xfrm>
            <a:off x="2525713" y="2976563"/>
            <a:ext cx="242887" cy="485775"/>
            <a:chOff x="3796" y="1043"/>
            <a:chExt cx="865" cy="1237"/>
          </a:xfrm>
        </p:grpSpPr>
        <p:sp>
          <p:nvSpPr>
            <p:cNvPr id="86026" name="Line 1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027" name="Line 1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028" name="Line 1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029" name="Line 1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030" name="Line 1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031" name="Line 1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032" name="Line 1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033" name="Line 1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034" name="Line 1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035" name="Line 1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036" name="Line 2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037" name="Line 2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038" name="Line 2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039" name="Line 2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040" name="Line 2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041" name="Group 25"/>
            <p:cNvGrpSpPr/>
            <p:nvPr/>
          </p:nvGrpSpPr>
          <p:grpSpPr>
            <a:xfrm>
              <a:off x="4269" y="1415"/>
              <a:ext cx="392" cy="137"/>
              <a:chOff x="4227" y="1360"/>
              <a:chExt cx="863" cy="270"/>
            </a:xfrm>
          </p:grpSpPr>
          <p:sp>
            <p:nvSpPr>
              <p:cNvPr id="86042" name="Line 2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43" name="Line 2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44" name="Line 2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45" name="Line 2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046" name="Group 30"/>
            <p:cNvGrpSpPr/>
            <p:nvPr/>
          </p:nvGrpSpPr>
          <p:grpSpPr>
            <a:xfrm rot="5700496">
              <a:off x="4050" y="1168"/>
              <a:ext cx="392" cy="137"/>
              <a:chOff x="4227" y="1360"/>
              <a:chExt cx="863" cy="270"/>
            </a:xfrm>
          </p:grpSpPr>
          <p:sp>
            <p:nvSpPr>
              <p:cNvPr id="86047" name="Line 3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48" name="Line 3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49" name="Line 3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50" name="Line 3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051" name="Group 35"/>
            <p:cNvGrpSpPr/>
            <p:nvPr/>
          </p:nvGrpSpPr>
          <p:grpSpPr>
            <a:xfrm rot="10800000">
              <a:off x="3796" y="1402"/>
              <a:ext cx="392" cy="137"/>
              <a:chOff x="4227" y="1360"/>
              <a:chExt cx="863" cy="270"/>
            </a:xfrm>
          </p:grpSpPr>
          <p:sp>
            <p:nvSpPr>
              <p:cNvPr id="86052" name="Line 3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53" name="Line 3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54" name="Line 3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55" name="Line 3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6056" name="Group 40"/>
          <p:cNvGrpSpPr/>
          <p:nvPr/>
        </p:nvGrpSpPr>
        <p:grpSpPr>
          <a:xfrm>
            <a:off x="2517775" y="3589338"/>
            <a:ext cx="242888" cy="485775"/>
            <a:chOff x="3796" y="1043"/>
            <a:chExt cx="865" cy="1237"/>
          </a:xfrm>
        </p:grpSpPr>
        <p:sp>
          <p:nvSpPr>
            <p:cNvPr id="86057" name="Line 4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058" name="Line 4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059" name="Line 4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060" name="Line 4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061" name="Line 4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062" name="Line 4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063" name="Line 4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064" name="Line 4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065" name="Line 4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066" name="Line 5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067" name="Line 5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068" name="Line 5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069" name="Line 5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070" name="Line 5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071" name="Line 5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072" name="Group 56"/>
            <p:cNvGrpSpPr/>
            <p:nvPr/>
          </p:nvGrpSpPr>
          <p:grpSpPr>
            <a:xfrm>
              <a:off x="4269" y="1415"/>
              <a:ext cx="392" cy="137"/>
              <a:chOff x="4227" y="1360"/>
              <a:chExt cx="863" cy="270"/>
            </a:xfrm>
          </p:grpSpPr>
          <p:sp>
            <p:nvSpPr>
              <p:cNvPr id="86073" name="Line 5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74" name="Line 5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75" name="Line 5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76" name="Line 6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077" name="Group 61"/>
            <p:cNvGrpSpPr/>
            <p:nvPr/>
          </p:nvGrpSpPr>
          <p:grpSpPr>
            <a:xfrm rot="5700496">
              <a:off x="4050" y="1168"/>
              <a:ext cx="392" cy="137"/>
              <a:chOff x="4227" y="1360"/>
              <a:chExt cx="863" cy="270"/>
            </a:xfrm>
          </p:grpSpPr>
          <p:sp>
            <p:nvSpPr>
              <p:cNvPr id="86078" name="Line 6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79" name="Line 6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80" name="Line 6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81" name="Line 6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082" name="Group 66"/>
            <p:cNvGrpSpPr/>
            <p:nvPr/>
          </p:nvGrpSpPr>
          <p:grpSpPr>
            <a:xfrm rot="10800000">
              <a:off x="3796" y="1402"/>
              <a:ext cx="392" cy="137"/>
              <a:chOff x="4227" y="1360"/>
              <a:chExt cx="863" cy="270"/>
            </a:xfrm>
          </p:grpSpPr>
          <p:sp>
            <p:nvSpPr>
              <p:cNvPr id="86083" name="Line 6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084" name="Line 6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085" name="Line 6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086" name="Line 7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6087" name="Group 71"/>
          <p:cNvGrpSpPr/>
          <p:nvPr/>
        </p:nvGrpSpPr>
        <p:grpSpPr>
          <a:xfrm>
            <a:off x="1901825" y="1522413"/>
            <a:ext cx="242888" cy="485775"/>
            <a:chOff x="3796" y="1043"/>
            <a:chExt cx="865" cy="1237"/>
          </a:xfrm>
        </p:grpSpPr>
        <p:sp>
          <p:nvSpPr>
            <p:cNvPr id="86088" name="Line 7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089" name="Line 7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090" name="Line 7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091" name="Line 7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092" name="Line 7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093" name="Line 7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094" name="Line 7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095" name="Line 7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096" name="Line 8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097" name="Line 8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098" name="Line 8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099" name="Line 8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100" name="Line 8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101" name="Line 8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102" name="Line 8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103" name="Group 87"/>
            <p:cNvGrpSpPr/>
            <p:nvPr/>
          </p:nvGrpSpPr>
          <p:grpSpPr>
            <a:xfrm>
              <a:off x="4269" y="1415"/>
              <a:ext cx="392" cy="137"/>
              <a:chOff x="4227" y="1360"/>
              <a:chExt cx="863" cy="270"/>
            </a:xfrm>
          </p:grpSpPr>
          <p:sp>
            <p:nvSpPr>
              <p:cNvPr id="86104" name="Line 8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05" name="Line 8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06" name="Line 9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07" name="Line 9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08" name="Group 92"/>
            <p:cNvGrpSpPr/>
            <p:nvPr/>
          </p:nvGrpSpPr>
          <p:grpSpPr>
            <a:xfrm rot="5700496">
              <a:off x="4050" y="1168"/>
              <a:ext cx="392" cy="137"/>
              <a:chOff x="4227" y="1360"/>
              <a:chExt cx="863" cy="270"/>
            </a:xfrm>
          </p:grpSpPr>
          <p:sp>
            <p:nvSpPr>
              <p:cNvPr id="86109" name="Line 9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10" name="Line 9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11" name="Line 9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12" name="Line 9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13" name="Group 97"/>
            <p:cNvGrpSpPr/>
            <p:nvPr/>
          </p:nvGrpSpPr>
          <p:grpSpPr>
            <a:xfrm rot="10800000">
              <a:off x="3796" y="1402"/>
              <a:ext cx="392" cy="137"/>
              <a:chOff x="4227" y="1360"/>
              <a:chExt cx="863" cy="270"/>
            </a:xfrm>
          </p:grpSpPr>
          <p:sp>
            <p:nvSpPr>
              <p:cNvPr id="86114" name="Line 9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15" name="Line 9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16" name="Line 10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17" name="Line 10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6118" name="Group 102"/>
          <p:cNvGrpSpPr/>
          <p:nvPr/>
        </p:nvGrpSpPr>
        <p:grpSpPr>
          <a:xfrm>
            <a:off x="2457450" y="2000250"/>
            <a:ext cx="242888" cy="485775"/>
            <a:chOff x="3796" y="1043"/>
            <a:chExt cx="865" cy="1237"/>
          </a:xfrm>
        </p:grpSpPr>
        <p:sp>
          <p:nvSpPr>
            <p:cNvPr id="86119" name="Line 10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120" name="Line 10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121" name="Line 10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122" name="Line 10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123" name="Line 10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124" name="Line 10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125" name="Line 10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126" name="Line 11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127" name="Line 11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128" name="Line 11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129" name="Line 11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130" name="Line 11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131" name="Line 11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132" name="Line 11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133" name="Line 11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134" name="Group 118"/>
            <p:cNvGrpSpPr/>
            <p:nvPr/>
          </p:nvGrpSpPr>
          <p:grpSpPr>
            <a:xfrm>
              <a:off x="4269" y="1415"/>
              <a:ext cx="392" cy="137"/>
              <a:chOff x="4227" y="1360"/>
              <a:chExt cx="863" cy="270"/>
            </a:xfrm>
          </p:grpSpPr>
          <p:sp>
            <p:nvSpPr>
              <p:cNvPr id="86135" name="Line 1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36" name="Line 1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37" name="Line 1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38" name="Line 1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39" name="Group 123"/>
            <p:cNvGrpSpPr/>
            <p:nvPr/>
          </p:nvGrpSpPr>
          <p:grpSpPr>
            <a:xfrm rot="5700496">
              <a:off x="4050" y="1168"/>
              <a:ext cx="392" cy="137"/>
              <a:chOff x="4227" y="1360"/>
              <a:chExt cx="863" cy="270"/>
            </a:xfrm>
          </p:grpSpPr>
          <p:sp>
            <p:nvSpPr>
              <p:cNvPr id="86140" name="Line 1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41" name="Line 1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42" name="Line 1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43" name="Line 1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44" name="Group 128"/>
            <p:cNvGrpSpPr/>
            <p:nvPr/>
          </p:nvGrpSpPr>
          <p:grpSpPr>
            <a:xfrm rot="10800000">
              <a:off x="3796" y="1402"/>
              <a:ext cx="392" cy="137"/>
              <a:chOff x="4227" y="1360"/>
              <a:chExt cx="863" cy="270"/>
            </a:xfrm>
          </p:grpSpPr>
          <p:sp>
            <p:nvSpPr>
              <p:cNvPr id="86145" name="Line 12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46" name="Line 13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47" name="Line 13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48" name="Line 13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6149" name="Group 133"/>
          <p:cNvGrpSpPr/>
          <p:nvPr/>
        </p:nvGrpSpPr>
        <p:grpSpPr>
          <a:xfrm>
            <a:off x="1922463" y="3348038"/>
            <a:ext cx="242887" cy="485775"/>
            <a:chOff x="3796" y="1043"/>
            <a:chExt cx="865" cy="1237"/>
          </a:xfrm>
        </p:grpSpPr>
        <p:sp>
          <p:nvSpPr>
            <p:cNvPr id="86150" name="Line 13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151" name="Line 13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152" name="Line 13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153" name="Line 13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154" name="Line 13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155" name="Line 13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156" name="Line 14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157" name="Line 14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158" name="Line 14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159" name="Line 14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160" name="Line 14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161" name="Line 14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162" name="Line 14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163" name="Line 14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164" name="Line 14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165" name="Group 149"/>
            <p:cNvGrpSpPr/>
            <p:nvPr/>
          </p:nvGrpSpPr>
          <p:grpSpPr>
            <a:xfrm>
              <a:off x="4269" y="1415"/>
              <a:ext cx="392" cy="137"/>
              <a:chOff x="4227" y="1360"/>
              <a:chExt cx="863" cy="270"/>
            </a:xfrm>
          </p:grpSpPr>
          <p:sp>
            <p:nvSpPr>
              <p:cNvPr id="86166" name="Line 1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67" name="Line 1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68" name="Line 1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69" name="Line 1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70" name="Group 154"/>
            <p:cNvGrpSpPr/>
            <p:nvPr/>
          </p:nvGrpSpPr>
          <p:grpSpPr>
            <a:xfrm rot="5700496">
              <a:off x="4050" y="1168"/>
              <a:ext cx="392" cy="137"/>
              <a:chOff x="4227" y="1360"/>
              <a:chExt cx="863" cy="270"/>
            </a:xfrm>
          </p:grpSpPr>
          <p:sp>
            <p:nvSpPr>
              <p:cNvPr id="86171" name="Line 1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72" name="Line 1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73" name="Line 1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74" name="Line 1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175" name="Group 159"/>
            <p:cNvGrpSpPr/>
            <p:nvPr/>
          </p:nvGrpSpPr>
          <p:grpSpPr>
            <a:xfrm rot="10800000">
              <a:off x="3796" y="1402"/>
              <a:ext cx="392" cy="137"/>
              <a:chOff x="4227" y="1360"/>
              <a:chExt cx="863" cy="270"/>
            </a:xfrm>
          </p:grpSpPr>
          <p:sp>
            <p:nvSpPr>
              <p:cNvPr id="86176" name="Line 16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77" name="Line 16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78" name="Line 16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179" name="Line 16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6180" name="Group 164"/>
          <p:cNvGrpSpPr/>
          <p:nvPr/>
        </p:nvGrpSpPr>
        <p:grpSpPr>
          <a:xfrm>
            <a:off x="1865313" y="2311400"/>
            <a:ext cx="242887" cy="485775"/>
            <a:chOff x="3796" y="1043"/>
            <a:chExt cx="865" cy="1237"/>
          </a:xfrm>
        </p:grpSpPr>
        <p:sp>
          <p:nvSpPr>
            <p:cNvPr id="86181" name="Line 16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182" name="Line 16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183" name="Line 16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184" name="Line 16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185" name="Line 16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186" name="Line 17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187" name="Line 17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188" name="Line 17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189" name="Line 17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190" name="Line 17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191" name="Line 17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192" name="Line 17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193" name="Line 17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194" name="Line 17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195" name="Line 17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196" name="Group 180"/>
            <p:cNvGrpSpPr/>
            <p:nvPr/>
          </p:nvGrpSpPr>
          <p:grpSpPr>
            <a:xfrm>
              <a:off x="4269" y="1415"/>
              <a:ext cx="392" cy="137"/>
              <a:chOff x="4227" y="1360"/>
              <a:chExt cx="863" cy="270"/>
            </a:xfrm>
          </p:grpSpPr>
          <p:sp>
            <p:nvSpPr>
              <p:cNvPr id="86197" name="Line 1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198" name="Line 1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199" name="Line 1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00" name="Line 1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201" name="Group 185"/>
            <p:cNvGrpSpPr/>
            <p:nvPr/>
          </p:nvGrpSpPr>
          <p:grpSpPr>
            <a:xfrm rot="5700496">
              <a:off x="4050" y="1168"/>
              <a:ext cx="392" cy="137"/>
              <a:chOff x="4227" y="1360"/>
              <a:chExt cx="863" cy="270"/>
            </a:xfrm>
          </p:grpSpPr>
          <p:sp>
            <p:nvSpPr>
              <p:cNvPr id="86202" name="Line 1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203" name="Line 1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204" name="Line 1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05" name="Line 1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206" name="Group 190"/>
            <p:cNvGrpSpPr/>
            <p:nvPr/>
          </p:nvGrpSpPr>
          <p:grpSpPr>
            <a:xfrm rot="10800000">
              <a:off x="3796" y="1402"/>
              <a:ext cx="392" cy="137"/>
              <a:chOff x="4227" y="1360"/>
              <a:chExt cx="863" cy="270"/>
            </a:xfrm>
          </p:grpSpPr>
          <p:sp>
            <p:nvSpPr>
              <p:cNvPr id="86207" name="Line 19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208" name="Line 19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209" name="Line 19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10" name="Line 19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86211" name="Line 195"/>
          <p:cNvSpPr/>
          <p:nvPr/>
        </p:nvSpPr>
        <p:spPr>
          <a:xfrm flipV="1">
            <a:off x="2655888" y="3714750"/>
            <a:ext cx="1044575" cy="279400"/>
          </a:xfrm>
          <a:prstGeom prst="line">
            <a:avLst/>
          </a:prstGeom>
          <a:ln w="9525" cap="flat" cmpd="sng">
            <a:solidFill>
              <a:schemeClr val="tx1"/>
            </a:solidFill>
            <a:prstDash val="solid"/>
            <a:round/>
            <a:headEnd type="none" w="med" len="med"/>
            <a:tailEnd type="none" w="med" len="med"/>
          </a:ln>
        </p:spPr>
      </p:sp>
      <p:sp>
        <p:nvSpPr>
          <p:cNvPr id="86212" name="Line 196"/>
          <p:cNvSpPr/>
          <p:nvPr/>
        </p:nvSpPr>
        <p:spPr>
          <a:xfrm flipV="1">
            <a:off x="2063750" y="3703638"/>
            <a:ext cx="1616075" cy="0"/>
          </a:xfrm>
          <a:prstGeom prst="line">
            <a:avLst/>
          </a:prstGeom>
          <a:ln w="9525" cap="flat" cmpd="sng">
            <a:solidFill>
              <a:schemeClr val="tx1"/>
            </a:solidFill>
            <a:prstDash val="solid"/>
            <a:round/>
            <a:headEnd type="none" w="med" len="med"/>
            <a:tailEnd type="none" w="med" len="med"/>
          </a:ln>
        </p:spPr>
      </p:sp>
      <p:sp>
        <p:nvSpPr>
          <p:cNvPr id="86213" name="Line 197"/>
          <p:cNvSpPr/>
          <p:nvPr/>
        </p:nvSpPr>
        <p:spPr>
          <a:xfrm flipV="1">
            <a:off x="2012950" y="2292350"/>
            <a:ext cx="1695450" cy="414338"/>
          </a:xfrm>
          <a:prstGeom prst="line">
            <a:avLst/>
          </a:prstGeom>
          <a:ln w="9525" cap="flat" cmpd="sng">
            <a:solidFill>
              <a:schemeClr val="tx1"/>
            </a:solidFill>
            <a:prstDash val="solid"/>
            <a:round/>
            <a:headEnd type="none" w="med" len="med"/>
            <a:tailEnd type="none" w="med" len="med"/>
          </a:ln>
        </p:spPr>
      </p:sp>
      <p:sp>
        <p:nvSpPr>
          <p:cNvPr id="86214" name="Line 198"/>
          <p:cNvSpPr/>
          <p:nvPr/>
        </p:nvSpPr>
        <p:spPr>
          <a:xfrm flipV="1">
            <a:off x="2574925" y="2284413"/>
            <a:ext cx="1109663" cy="0"/>
          </a:xfrm>
          <a:prstGeom prst="line">
            <a:avLst/>
          </a:prstGeom>
          <a:ln w="9525" cap="flat" cmpd="sng">
            <a:solidFill>
              <a:schemeClr val="tx1"/>
            </a:solidFill>
            <a:prstDash val="solid"/>
            <a:round/>
            <a:headEnd type="none" w="med" len="med"/>
            <a:tailEnd type="none" w="med" len="med"/>
          </a:ln>
        </p:spPr>
      </p:sp>
      <p:sp>
        <p:nvSpPr>
          <p:cNvPr id="86215" name="Line 199"/>
          <p:cNvSpPr/>
          <p:nvPr/>
        </p:nvSpPr>
        <p:spPr>
          <a:xfrm>
            <a:off x="2082800" y="1911350"/>
            <a:ext cx="1624013" cy="381000"/>
          </a:xfrm>
          <a:prstGeom prst="line">
            <a:avLst/>
          </a:prstGeom>
          <a:ln w="9525" cap="flat" cmpd="sng">
            <a:solidFill>
              <a:schemeClr val="tx1"/>
            </a:solidFill>
            <a:prstDash val="solid"/>
            <a:round/>
            <a:headEnd type="none" w="med" len="med"/>
            <a:tailEnd type="none" w="med" len="med"/>
          </a:ln>
        </p:spPr>
      </p:sp>
      <p:grpSp>
        <p:nvGrpSpPr>
          <p:cNvPr id="86216" name="Group 200"/>
          <p:cNvGrpSpPr/>
          <p:nvPr/>
        </p:nvGrpSpPr>
        <p:grpSpPr>
          <a:xfrm>
            <a:off x="3676650" y="1998663"/>
            <a:ext cx="550863" cy="411162"/>
            <a:chOff x="611" y="3693"/>
            <a:chExt cx="449" cy="287"/>
          </a:xfrm>
        </p:grpSpPr>
        <p:sp>
          <p:nvSpPr>
            <p:cNvPr id="86217" name="Rectangle 201"/>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218" name="Group 202"/>
            <p:cNvGrpSpPr/>
            <p:nvPr/>
          </p:nvGrpSpPr>
          <p:grpSpPr>
            <a:xfrm>
              <a:off x="687" y="3826"/>
              <a:ext cx="224" cy="110"/>
              <a:chOff x="687" y="3826"/>
              <a:chExt cx="224" cy="110"/>
            </a:xfrm>
          </p:grpSpPr>
          <p:sp>
            <p:nvSpPr>
              <p:cNvPr id="86219" name="Freeform 203"/>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20" name="Freeform 204"/>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221" name="Freeform 205"/>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22" name="Freeform 206"/>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23" name="Freeform 207"/>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24" name="Freeform 208"/>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25" name="Freeform 209"/>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86226" name="Group 210"/>
          <p:cNvGrpSpPr/>
          <p:nvPr/>
        </p:nvGrpSpPr>
        <p:grpSpPr>
          <a:xfrm>
            <a:off x="3671888" y="3403600"/>
            <a:ext cx="550862" cy="411163"/>
            <a:chOff x="611" y="3693"/>
            <a:chExt cx="449" cy="287"/>
          </a:xfrm>
        </p:grpSpPr>
        <p:sp>
          <p:nvSpPr>
            <p:cNvPr id="86227" name="Rectangle 211"/>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228" name="Group 212"/>
            <p:cNvGrpSpPr/>
            <p:nvPr/>
          </p:nvGrpSpPr>
          <p:grpSpPr>
            <a:xfrm>
              <a:off x="687" y="3826"/>
              <a:ext cx="224" cy="110"/>
              <a:chOff x="687" y="3826"/>
              <a:chExt cx="224" cy="110"/>
            </a:xfrm>
          </p:grpSpPr>
          <p:sp>
            <p:nvSpPr>
              <p:cNvPr id="86229" name="Freeform 213"/>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30" name="Freeform 214"/>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231" name="Freeform 215"/>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32" name="Freeform 216"/>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33" name="Freeform 217"/>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34" name="Freeform 218"/>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35" name="Freeform 219"/>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6236" name="Line 220"/>
          <p:cNvSpPr/>
          <p:nvPr/>
        </p:nvSpPr>
        <p:spPr>
          <a:xfrm>
            <a:off x="2584450" y="3373438"/>
            <a:ext cx="1095375" cy="306387"/>
          </a:xfrm>
          <a:prstGeom prst="line">
            <a:avLst/>
          </a:prstGeom>
          <a:ln w="9525" cap="flat" cmpd="sng">
            <a:solidFill>
              <a:schemeClr val="tx1"/>
            </a:solidFill>
            <a:prstDash val="solid"/>
            <a:round/>
            <a:headEnd type="none" w="med" len="med"/>
            <a:tailEnd type="none" w="med" len="med"/>
          </a:ln>
        </p:spPr>
      </p:sp>
      <p:sp>
        <p:nvSpPr>
          <p:cNvPr id="86237" name="Line 221"/>
          <p:cNvSpPr/>
          <p:nvPr/>
        </p:nvSpPr>
        <p:spPr>
          <a:xfrm>
            <a:off x="4203700" y="2239963"/>
            <a:ext cx="436563" cy="1587"/>
          </a:xfrm>
          <a:prstGeom prst="line">
            <a:avLst/>
          </a:prstGeom>
          <a:ln w="9525" cap="flat" cmpd="sng">
            <a:solidFill>
              <a:schemeClr val="tx1"/>
            </a:solidFill>
            <a:prstDash val="solid"/>
            <a:round/>
            <a:headEnd type="none" w="med" len="med"/>
            <a:tailEnd type="none" w="med" len="med"/>
          </a:ln>
        </p:spPr>
      </p:sp>
      <p:sp>
        <p:nvSpPr>
          <p:cNvPr id="86238" name="Line 222"/>
          <p:cNvSpPr/>
          <p:nvPr/>
        </p:nvSpPr>
        <p:spPr>
          <a:xfrm flipV="1">
            <a:off x="4187825" y="2211388"/>
            <a:ext cx="576263" cy="1446212"/>
          </a:xfrm>
          <a:prstGeom prst="line">
            <a:avLst/>
          </a:prstGeom>
          <a:ln w="9525" cap="flat" cmpd="sng">
            <a:solidFill>
              <a:schemeClr val="tx1"/>
            </a:solidFill>
            <a:prstDash val="solid"/>
            <a:round/>
            <a:headEnd type="none" w="med" len="med"/>
            <a:tailEnd type="none" w="med" len="med"/>
          </a:ln>
        </p:spPr>
      </p:sp>
      <p:sp>
        <p:nvSpPr>
          <p:cNvPr id="86239" name="Text Box 223"/>
          <p:cNvSpPr txBox="1"/>
          <p:nvPr/>
        </p:nvSpPr>
        <p:spPr>
          <a:xfrm>
            <a:off x="3486150" y="1679575"/>
            <a:ext cx="6540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BSC</a:t>
            </a:r>
            <a:endParaRPr lang="en-US" altLang="zh-CN" dirty="0">
              <a:latin typeface="Arial" panose="020B0604020202020204" pitchFamily="34" charset="0"/>
              <a:ea typeface="宋体" panose="02010600030101010101" pitchFamily="2" charset="-122"/>
            </a:endParaRPr>
          </a:p>
        </p:txBody>
      </p:sp>
      <p:sp>
        <p:nvSpPr>
          <p:cNvPr id="86240" name="Text Box 224"/>
          <p:cNvSpPr txBox="1"/>
          <p:nvPr/>
        </p:nvSpPr>
        <p:spPr>
          <a:xfrm>
            <a:off x="2065338" y="1643063"/>
            <a:ext cx="530225"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BTS</a:t>
            </a:r>
            <a:endParaRPr lang="en-US" altLang="zh-CN" sz="1400" dirty="0">
              <a:latin typeface="Arial" panose="020B0604020202020204" pitchFamily="34" charset="0"/>
              <a:ea typeface="宋体" panose="02010600030101010101" pitchFamily="2" charset="-122"/>
            </a:endParaRPr>
          </a:p>
        </p:txBody>
      </p:sp>
      <p:pic>
        <p:nvPicPr>
          <p:cNvPr id="86241" name="Picture 225"/>
          <p:cNvPicPr>
            <a:picLocks noChangeAspect="1"/>
          </p:cNvPicPr>
          <p:nvPr/>
        </p:nvPicPr>
        <p:blipFill>
          <a:blip r:embed="rId1"/>
          <a:stretch>
            <a:fillRect/>
          </a:stretch>
        </p:blipFill>
        <p:spPr>
          <a:xfrm>
            <a:off x="600075" y="1728788"/>
            <a:ext cx="252413" cy="182562"/>
          </a:xfrm>
          <a:prstGeom prst="rect">
            <a:avLst/>
          </a:prstGeom>
          <a:noFill/>
          <a:ln w="9525">
            <a:noFill/>
          </a:ln>
        </p:spPr>
      </p:pic>
      <p:grpSp>
        <p:nvGrpSpPr>
          <p:cNvPr id="86242" name="Group 226"/>
          <p:cNvGrpSpPr/>
          <p:nvPr/>
        </p:nvGrpSpPr>
        <p:grpSpPr>
          <a:xfrm>
            <a:off x="223838" y="2135188"/>
            <a:ext cx="831850" cy="180975"/>
            <a:chOff x="3072" y="739"/>
            <a:chExt cx="652" cy="146"/>
          </a:xfrm>
        </p:grpSpPr>
        <p:pic>
          <p:nvPicPr>
            <p:cNvPr id="86243" name="Picture 227"/>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86244" name="Line 228"/>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86245" name="Line 229"/>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sp>
        <p:nvSpPr>
          <p:cNvPr id="86246" name="Oval 230"/>
          <p:cNvSpPr/>
          <p:nvPr/>
        </p:nvSpPr>
        <p:spPr>
          <a:xfrm>
            <a:off x="1492250" y="2876550"/>
            <a:ext cx="3067050" cy="1576388"/>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6247" name="Oval 231"/>
          <p:cNvSpPr/>
          <p:nvPr/>
        </p:nvSpPr>
        <p:spPr>
          <a:xfrm>
            <a:off x="1184275" y="1406525"/>
            <a:ext cx="3170238" cy="1473200"/>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86248" name="Picture 232"/>
          <p:cNvPicPr>
            <a:picLocks noChangeAspect="1"/>
          </p:cNvPicPr>
          <p:nvPr/>
        </p:nvPicPr>
        <p:blipFill>
          <a:blip r:embed="rId1"/>
          <a:stretch>
            <a:fillRect/>
          </a:stretch>
        </p:blipFill>
        <p:spPr>
          <a:xfrm>
            <a:off x="501650" y="2468563"/>
            <a:ext cx="252413" cy="182562"/>
          </a:xfrm>
          <a:prstGeom prst="rect">
            <a:avLst/>
          </a:prstGeom>
          <a:noFill/>
          <a:ln w="9525">
            <a:noFill/>
          </a:ln>
        </p:spPr>
      </p:pic>
      <p:grpSp>
        <p:nvGrpSpPr>
          <p:cNvPr id="86249" name="Group 233"/>
          <p:cNvGrpSpPr/>
          <p:nvPr/>
        </p:nvGrpSpPr>
        <p:grpSpPr>
          <a:xfrm>
            <a:off x="5078413" y="4008438"/>
            <a:ext cx="4025900" cy="2030412"/>
            <a:chOff x="2755" y="2448"/>
            <a:chExt cx="2771" cy="1490"/>
          </a:xfrm>
        </p:grpSpPr>
        <p:grpSp>
          <p:nvGrpSpPr>
            <p:cNvPr id="86250" name="Group 234"/>
            <p:cNvGrpSpPr/>
            <p:nvPr/>
          </p:nvGrpSpPr>
          <p:grpSpPr>
            <a:xfrm>
              <a:off x="3143" y="2448"/>
              <a:ext cx="153" cy="306"/>
              <a:chOff x="3796" y="1043"/>
              <a:chExt cx="865" cy="1237"/>
            </a:xfrm>
          </p:grpSpPr>
          <p:sp>
            <p:nvSpPr>
              <p:cNvPr id="86251" name="Line 23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6252" name="Line 23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6253" name="Line 23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6254" name="Line 23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6255" name="Line 23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6256" name="Line 24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6257" name="Line 24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6258" name="Line 24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6259" name="Line 24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6260" name="Line 24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6261" name="Line 24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6262" name="Line 24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6263" name="Line 24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6264" name="Line 24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6265" name="Line 24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6266" name="Group 250"/>
              <p:cNvGrpSpPr/>
              <p:nvPr/>
            </p:nvGrpSpPr>
            <p:grpSpPr>
              <a:xfrm>
                <a:off x="4269" y="1415"/>
                <a:ext cx="392" cy="137"/>
                <a:chOff x="4227" y="1360"/>
                <a:chExt cx="863" cy="270"/>
              </a:xfrm>
            </p:grpSpPr>
            <p:sp>
              <p:nvSpPr>
                <p:cNvPr id="86267" name="Line 2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268" name="Line 2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269" name="Line 2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70" name="Line 2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271" name="Group 255"/>
              <p:cNvGrpSpPr/>
              <p:nvPr/>
            </p:nvGrpSpPr>
            <p:grpSpPr>
              <a:xfrm rot="5700496">
                <a:off x="4050" y="1168"/>
                <a:ext cx="392" cy="137"/>
                <a:chOff x="4227" y="1360"/>
                <a:chExt cx="863" cy="270"/>
              </a:xfrm>
            </p:grpSpPr>
            <p:sp>
              <p:nvSpPr>
                <p:cNvPr id="86272" name="Line 2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273" name="Line 2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274" name="Line 2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75" name="Line 2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6276" name="Group 260"/>
              <p:cNvGrpSpPr/>
              <p:nvPr/>
            </p:nvGrpSpPr>
            <p:grpSpPr>
              <a:xfrm rot="10800000">
                <a:off x="3796" y="1402"/>
                <a:ext cx="392" cy="137"/>
                <a:chOff x="4227" y="1360"/>
                <a:chExt cx="863" cy="270"/>
              </a:xfrm>
            </p:grpSpPr>
            <p:sp>
              <p:nvSpPr>
                <p:cNvPr id="86277" name="Line 26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6278" name="Line 26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6279" name="Line 26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6280" name="Line 26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86281" name="Text Box 265"/>
            <p:cNvSpPr txBox="1"/>
            <p:nvPr/>
          </p:nvSpPr>
          <p:spPr>
            <a:xfrm>
              <a:off x="3460" y="2551"/>
              <a:ext cx="2023" cy="246"/>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Base transceiver station (BTS)</a:t>
              </a:r>
              <a:endParaRPr lang="en-US" altLang="zh-CN" sz="1600" dirty="0">
                <a:latin typeface="Arial" panose="020B0604020202020204" pitchFamily="34" charset="0"/>
                <a:ea typeface="宋体" panose="02010600030101010101" pitchFamily="2" charset="-122"/>
              </a:endParaRPr>
            </a:p>
          </p:txBody>
        </p:sp>
        <p:grpSp>
          <p:nvGrpSpPr>
            <p:cNvPr id="86282" name="Group 266"/>
            <p:cNvGrpSpPr/>
            <p:nvPr/>
          </p:nvGrpSpPr>
          <p:grpSpPr>
            <a:xfrm>
              <a:off x="3072" y="2833"/>
              <a:ext cx="347" cy="259"/>
              <a:chOff x="611" y="3693"/>
              <a:chExt cx="449" cy="287"/>
            </a:xfrm>
          </p:grpSpPr>
          <p:sp>
            <p:nvSpPr>
              <p:cNvPr id="86283" name="Rectangle 267"/>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284" name="Group 268"/>
              <p:cNvGrpSpPr/>
              <p:nvPr/>
            </p:nvGrpSpPr>
            <p:grpSpPr>
              <a:xfrm>
                <a:off x="687" y="3826"/>
                <a:ext cx="224" cy="110"/>
                <a:chOff x="687" y="3826"/>
                <a:chExt cx="224" cy="110"/>
              </a:xfrm>
            </p:grpSpPr>
            <p:sp>
              <p:nvSpPr>
                <p:cNvPr id="86285" name="Freeform 269"/>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86" name="Freeform 270"/>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287" name="Freeform 271"/>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88" name="Freeform 272"/>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89" name="Freeform 273"/>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90" name="Freeform 274"/>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291" name="Freeform 275"/>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6292" name="Text Box 276"/>
            <p:cNvSpPr txBox="1"/>
            <p:nvPr/>
          </p:nvSpPr>
          <p:spPr>
            <a:xfrm>
              <a:off x="3456" y="2851"/>
              <a:ext cx="1930" cy="247"/>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Base station controller (BSC)</a:t>
              </a:r>
              <a:endParaRPr lang="en-US" altLang="zh-CN" sz="1600" dirty="0">
                <a:latin typeface="Arial" panose="020B0604020202020204" pitchFamily="34" charset="0"/>
                <a:ea typeface="宋体" panose="02010600030101010101" pitchFamily="2" charset="-122"/>
              </a:endParaRPr>
            </a:p>
          </p:txBody>
        </p:sp>
        <p:grpSp>
          <p:nvGrpSpPr>
            <p:cNvPr id="86293" name="Group 277"/>
            <p:cNvGrpSpPr/>
            <p:nvPr/>
          </p:nvGrpSpPr>
          <p:grpSpPr>
            <a:xfrm>
              <a:off x="3102" y="3144"/>
              <a:ext cx="291" cy="511"/>
              <a:chOff x="611" y="3693"/>
              <a:chExt cx="449" cy="287"/>
            </a:xfrm>
          </p:grpSpPr>
          <p:sp>
            <p:nvSpPr>
              <p:cNvPr id="86294" name="Rectangle 278"/>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295" name="Group 279"/>
              <p:cNvGrpSpPr/>
              <p:nvPr/>
            </p:nvGrpSpPr>
            <p:grpSpPr>
              <a:xfrm>
                <a:off x="687" y="3826"/>
                <a:ext cx="224" cy="110"/>
                <a:chOff x="687" y="3826"/>
                <a:chExt cx="224" cy="110"/>
              </a:xfrm>
            </p:grpSpPr>
            <p:sp>
              <p:nvSpPr>
                <p:cNvPr id="86296" name="Freeform 280"/>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97" name="Freeform 281"/>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298" name="Freeform 282"/>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299" name="Freeform 283"/>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00" name="Freeform 284"/>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01" name="Freeform 285"/>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02" name="Freeform 286"/>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6303" name="Text Box 287"/>
            <p:cNvSpPr txBox="1"/>
            <p:nvPr/>
          </p:nvSpPr>
          <p:spPr>
            <a:xfrm>
              <a:off x="3450" y="3284"/>
              <a:ext cx="2076" cy="247"/>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Mobile Switching Center (MSC)</a:t>
              </a:r>
              <a:endParaRPr lang="en-US" altLang="zh-CN" sz="1600" dirty="0">
                <a:latin typeface="Arial" panose="020B0604020202020204" pitchFamily="34" charset="0"/>
                <a:ea typeface="宋体" panose="02010600030101010101" pitchFamily="2" charset="-122"/>
              </a:endParaRPr>
            </a:p>
          </p:txBody>
        </p:sp>
        <p:grpSp>
          <p:nvGrpSpPr>
            <p:cNvPr id="86304" name="Group 288"/>
            <p:cNvGrpSpPr/>
            <p:nvPr/>
          </p:nvGrpSpPr>
          <p:grpSpPr>
            <a:xfrm>
              <a:off x="2755" y="3745"/>
              <a:ext cx="524" cy="114"/>
              <a:chOff x="3072" y="739"/>
              <a:chExt cx="652" cy="146"/>
            </a:xfrm>
          </p:grpSpPr>
          <p:pic>
            <p:nvPicPr>
              <p:cNvPr id="86305" name="Picture 289"/>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86306" name="Line 290"/>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86307" name="Line 291"/>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pic>
          <p:nvPicPr>
            <p:cNvPr id="86308" name="Picture 292"/>
            <p:cNvPicPr>
              <a:picLocks noChangeAspect="1"/>
            </p:cNvPicPr>
            <p:nvPr/>
          </p:nvPicPr>
          <p:blipFill>
            <a:blip r:embed="rId1"/>
            <a:stretch>
              <a:fillRect/>
            </a:stretch>
          </p:blipFill>
          <p:spPr>
            <a:xfrm>
              <a:off x="3311" y="3747"/>
              <a:ext cx="159" cy="115"/>
            </a:xfrm>
            <a:prstGeom prst="rect">
              <a:avLst/>
            </a:prstGeom>
            <a:noFill/>
            <a:ln w="9525">
              <a:noFill/>
            </a:ln>
          </p:spPr>
        </p:pic>
        <p:sp>
          <p:nvSpPr>
            <p:cNvPr id="86309" name="Text Box 293"/>
            <p:cNvSpPr txBox="1"/>
            <p:nvPr/>
          </p:nvSpPr>
          <p:spPr>
            <a:xfrm>
              <a:off x="3475" y="3691"/>
              <a:ext cx="1292" cy="247"/>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Mobile subscribers</a:t>
              </a:r>
              <a:endParaRPr lang="en-US" altLang="zh-CN" sz="1600" dirty="0">
                <a:latin typeface="Arial" panose="020B0604020202020204" pitchFamily="34" charset="0"/>
                <a:ea typeface="宋体" panose="02010600030101010101" pitchFamily="2" charset="-122"/>
              </a:endParaRPr>
            </a:p>
          </p:txBody>
        </p:sp>
      </p:grpSp>
      <p:sp>
        <p:nvSpPr>
          <p:cNvPr id="86310" name="Text Box 294"/>
          <p:cNvSpPr txBox="1"/>
          <p:nvPr/>
        </p:nvSpPr>
        <p:spPr>
          <a:xfrm>
            <a:off x="1612900" y="1138238"/>
            <a:ext cx="2601913" cy="33655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Base station system (BSS)</a:t>
            </a:r>
            <a:endParaRPr lang="en-US" altLang="zh-CN" sz="1600" dirty="0">
              <a:latin typeface="Arial" panose="020B0604020202020204" pitchFamily="34" charset="0"/>
              <a:ea typeface="宋体" panose="02010600030101010101" pitchFamily="2" charset="-122"/>
            </a:endParaRPr>
          </a:p>
        </p:txBody>
      </p:sp>
      <p:sp>
        <p:nvSpPr>
          <p:cNvPr id="86311" name="Text Box 295"/>
          <p:cNvSpPr txBox="1"/>
          <p:nvPr/>
        </p:nvSpPr>
        <p:spPr>
          <a:xfrm>
            <a:off x="5294313" y="3698875"/>
            <a:ext cx="774700"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Legend</a:t>
            </a:r>
            <a:endParaRPr lang="en-US" altLang="zh-CN" sz="1400" dirty="0">
              <a:latin typeface="Arial" panose="020B0604020202020204" pitchFamily="34" charset="0"/>
              <a:ea typeface="宋体" panose="02010600030101010101" pitchFamily="2" charset="-122"/>
            </a:endParaRPr>
          </a:p>
        </p:txBody>
      </p:sp>
      <p:sp>
        <p:nvSpPr>
          <p:cNvPr id="86312" name="Rectangle 296"/>
          <p:cNvSpPr/>
          <p:nvPr/>
        </p:nvSpPr>
        <p:spPr>
          <a:xfrm>
            <a:off x="223838" y="266700"/>
            <a:ext cx="6394450" cy="579438"/>
          </a:xfrm>
          <a:prstGeom prst="rect">
            <a:avLst/>
          </a:prstGeom>
          <a:noFill/>
          <a:ln w="9525">
            <a:noFill/>
          </a:ln>
        </p:spPr>
        <p:txBody>
          <a:bodyPr wrap="none" anchor="t" anchorCtr="0">
            <a:spAutoFit/>
          </a:bodyPr>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2G (voice) network architecture </a:t>
            </a:r>
            <a:endParaRPr lang="en-US" altLang="zh-CN" sz="3200" u="sng" dirty="0">
              <a:solidFill>
                <a:schemeClr val="accent2"/>
              </a:solidFill>
              <a:latin typeface="Comic Sans MS" panose="030F0702030302020204" pitchFamily="66" charset="0"/>
              <a:ea typeface="宋体" panose="02010600030101010101" pitchFamily="2" charset="-122"/>
            </a:endParaRPr>
          </a:p>
        </p:txBody>
      </p:sp>
      <p:grpSp>
        <p:nvGrpSpPr>
          <p:cNvPr id="86313" name="Group 297"/>
          <p:cNvGrpSpPr/>
          <p:nvPr/>
        </p:nvGrpSpPr>
        <p:grpSpPr>
          <a:xfrm>
            <a:off x="4676775" y="1630363"/>
            <a:ext cx="550863" cy="1001712"/>
            <a:chOff x="611" y="3693"/>
            <a:chExt cx="449" cy="287"/>
          </a:xfrm>
        </p:grpSpPr>
        <p:sp>
          <p:nvSpPr>
            <p:cNvPr id="86314" name="Rectangle 298"/>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315" name="Group 299"/>
            <p:cNvGrpSpPr/>
            <p:nvPr/>
          </p:nvGrpSpPr>
          <p:grpSpPr>
            <a:xfrm>
              <a:off x="687" y="3826"/>
              <a:ext cx="224" cy="110"/>
              <a:chOff x="687" y="3826"/>
              <a:chExt cx="224" cy="110"/>
            </a:xfrm>
          </p:grpSpPr>
          <p:sp>
            <p:nvSpPr>
              <p:cNvPr id="86316" name="Freeform 300"/>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317" name="Freeform 301"/>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318" name="Freeform 302"/>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319" name="Freeform 303"/>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20" name="Freeform 304"/>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21" name="Freeform 305"/>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22" name="Freeform 306"/>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6323" name="Text Box 307"/>
          <p:cNvSpPr txBox="1"/>
          <p:nvPr/>
        </p:nvSpPr>
        <p:spPr>
          <a:xfrm>
            <a:off x="4613275" y="1335088"/>
            <a:ext cx="6921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MSC</a:t>
            </a:r>
            <a:endParaRPr lang="en-US" altLang="zh-CN" dirty="0">
              <a:latin typeface="Arial" panose="020B0604020202020204" pitchFamily="34" charset="0"/>
              <a:ea typeface="宋体" panose="02010600030101010101" pitchFamily="2" charset="-122"/>
            </a:endParaRPr>
          </a:p>
        </p:txBody>
      </p:sp>
      <p:sp>
        <p:nvSpPr>
          <p:cNvPr id="86324" name="Freeform 308"/>
          <p:cNvSpPr/>
          <p:nvPr/>
        </p:nvSpPr>
        <p:spPr>
          <a:xfrm>
            <a:off x="7177088" y="1381125"/>
            <a:ext cx="1235075" cy="1681163"/>
          </a:xfrm>
          <a:custGeom>
            <a:avLst/>
            <a:gdLst/>
            <a:ahLst/>
            <a:cxnLst>
              <a:cxn ang="0">
                <a:pos x="218403704" y="12561168"/>
              </a:cxn>
              <a:cxn ang="0">
                <a:pos x="31983854" y="281729429"/>
              </a:cxn>
              <a:cxn ang="0">
                <a:pos x="26500580" y="938498863"/>
              </a:cxn>
              <a:cxn ang="0">
                <a:pos x="48432720" y="1487601528"/>
              </a:cxn>
              <a:cxn ang="0">
                <a:pos x="223886022" y="1562968534"/>
              </a:cxn>
              <a:cxn ang="0">
                <a:pos x="591242447" y="2025938051"/>
              </a:cxn>
              <a:cxn ang="0">
                <a:pos x="909253229" y="2147483646"/>
              </a:cxn>
              <a:cxn ang="0">
                <a:pos x="1095673079" y="1832136796"/>
              </a:cxn>
              <a:cxn ang="0">
                <a:pos x="1161467589" y="798532331"/>
              </a:cxn>
              <a:cxn ang="0">
                <a:pos x="1101155397" y="378630057"/>
              </a:cxn>
              <a:cxn ang="0">
                <a:pos x="684452372" y="206362423"/>
              </a:cxn>
              <a:cxn ang="0">
                <a:pos x="218403704" y="12561168"/>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6325" name="Text Box 309"/>
          <p:cNvSpPr txBox="1"/>
          <p:nvPr/>
        </p:nvSpPr>
        <p:spPr>
          <a:xfrm>
            <a:off x="7285038" y="1724025"/>
            <a:ext cx="1106487" cy="82550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Public </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telephone</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network</a:t>
            </a:r>
            <a:endParaRPr lang="en-US" altLang="zh-CN" sz="1600" dirty="0">
              <a:latin typeface="Comic Sans MS" panose="030F0702030302020204" pitchFamily="66" charset="0"/>
              <a:ea typeface="宋体" panose="02010600030101010101" pitchFamily="2" charset="-122"/>
            </a:endParaRPr>
          </a:p>
        </p:txBody>
      </p:sp>
      <p:sp>
        <p:nvSpPr>
          <p:cNvPr id="86326" name="Line 310"/>
          <p:cNvSpPr/>
          <p:nvPr/>
        </p:nvSpPr>
        <p:spPr>
          <a:xfrm>
            <a:off x="5151438" y="2255838"/>
            <a:ext cx="1284287" cy="0"/>
          </a:xfrm>
          <a:prstGeom prst="line">
            <a:avLst/>
          </a:prstGeom>
          <a:ln w="9525" cap="flat" cmpd="sng">
            <a:solidFill>
              <a:schemeClr val="tx1"/>
            </a:solidFill>
            <a:prstDash val="solid"/>
            <a:round/>
            <a:headEnd type="none" w="med" len="med"/>
            <a:tailEnd type="none" w="med" len="med"/>
          </a:ln>
        </p:spPr>
      </p:sp>
      <p:grpSp>
        <p:nvGrpSpPr>
          <p:cNvPr id="86327" name="Group 311"/>
          <p:cNvGrpSpPr/>
          <p:nvPr/>
        </p:nvGrpSpPr>
        <p:grpSpPr>
          <a:xfrm>
            <a:off x="6411913" y="1590675"/>
            <a:ext cx="550862" cy="1001713"/>
            <a:chOff x="611" y="3693"/>
            <a:chExt cx="449" cy="287"/>
          </a:xfrm>
        </p:grpSpPr>
        <p:sp>
          <p:nvSpPr>
            <p:cNvPr id="86328" name="Rectangle 312"/>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6329" name="Group 313"/>
            <p:cNvGrpSpPr/>
            <p:nvPr/>
          </p:nvGrpSpPr>
          <p:grpSpPr>
            <a:xfrm>
              <a:off x="687" y="3826"/>
              <a:ext cx="224" cy="110"/>
              <a:chOff x="687" y="3826"/>
              <a:chExt cx="224" cy="110"/>
            </a:xfrm>
          </p:grpSpPr>
          <p:sp>
            <p:nvSpPr>
              <p:cNvPr id="86330" name="Freeform 314"/>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331" name="Freeform 315"/>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6332" name="Freeform 316"/>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6333" name="Freeform 317"/>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34" name="Freeform 318"/>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35" name="Freeform 319"/>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6336" name="Freeform 320"/>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6337" name="Text Box 321"/>
          <p:cNvSpPr txBox="1"/>
          <p:nvPr/>
        </p:nvSpPr>
        <p:spPr>
          <a:xfrm>
            <a:off x="6359525" y="2573338"/>
            <a:ext cx="1085850" cy="530225"/>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宋体" panose="02010600030101010101" pitchFamily="2" charset="-122"/>
              </a:rPr>
              <a:t>Gateway</a:t>
            </a:r>
            <a:endParaRPr lang="en-US" altLang="zh-CN" dirty="0">
              <a:latin typeface="Arial" panose="020B0604020202020204" pitchFamily="34" charset="0"/>
              <a:ea typeface="宋体" panose="02010600030101010101" pitchFamily="2" charset="-122"/>
            </a:endParaRPr>
          </a:p>
          <a:p>
            <a:pPr>
              <a:lnSpc>
                <a:spcPct val="80000"/>
              </a:lnSpc>
              <a:buClrTx/>
              <a:buFontTx/>
            </a:pPr>
            <a:r>
              <a:rPr lang="en-US" altLang="zh-CN" dirty="0">
                <a:latin typeface="Arial" panose="020B0604020202020204" pitchFamily="34" charset="0"/>
                <a:ea typeface="宋体" panose="02010600030101010101" pitchFamily="2" charset="-122"/>
              </a:rPr>
              <a:t>MSC</a:t>
            </a:r>
            <a:endParaRPr lang="en-US" altLang="zh-CN" dirty="0">
              <a:latin typeface="Arial" panose="020B0604020202020204" pitchFamily="34" charset="0"/>
              <a:ea typeface="宋体" panose="02010600030101010101" pitchFamily="2" charset="-122"/>
            </a:endParaRPr>
          </a:p>
        </p:txBody>
      </p:sp>
      <p:sp>
        <p:nvSpPr>
          <p:cNvPr id="86338" name="Text Box 322"/>
          <p:cNvSpPr txBox="1"/>
          <p:nvPr/>
        </p:nvSpPr>
        <p:spPr>
          <a:xfrm>
            <a:off x="6481763" y="1593850"/>
            <a:ext cx="3619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G</a:t>
            </a:r>
            <a:endParaRPr lang="en-US" altLang="zh-CN" dirty="0">
              <a:latin typeface="Arial" panose="020B0604020202020204" pitchFamily="34" charset="0"/>
              <a:ea typeface="宋体" panose="02010600030101010101" pitchFamily="2" charset="-122"/>
            </a:endParaRPr>
          </a:p>
        </p:txBody>
      </p:sp>
      <p:sp>
        <p:nvSpPr>
          <p:cNvPr id="86339" name="Line 323"/>
          <p:cNvSpPr/>
          <p:nvPr/>
        </p:nvSpPr>
        <p:spPr>
          <a:xfrm flipH="1">
            <a:off x="6200775" y="2325688"/>
            <a:ext cx="236538" cy="146050"/>
          </a:xfrm>
          <a:prstGeom prst="line">
            <a:avLst/>
          </a:prstGeom>
          <a:ln w="9525" cap="flat" cmpd="sng">
            <a:solidFill>
              <a:schemeClr val="tx1"/>
            </a:solidFill>
            <a:prstDash val="solid"/>
            <a:round/>
            <a:headEnd type="none" w="med" len="med"/>
            <a:tailEnd type="none" w="med" len="med"/>
          </a:ln>
        </p:spPr>
      </p:sp>
      <p:sp>
        <p:nvSpPr>
          <p:cNvPr id="86340" name="Line 324"/>
          <p:cNvSpPr/>
          <p:nvPr/>
        </p:nvSpPr>
        <p:spPr>
          <a:xfrm flipH="1" flipV="1">
            <a:off x="6211888" y="2043113"/>
            <a:ext cx="225425" cy="90487"/>
          </a:xfrm>
          <a:prstGeom prst="line">
            <a:avLst/>
          </a:prstGeom>
          <a:ln w="9525" cap="flat" cmpd="sng">
            <a:solidFill>
              <a:schemeClr val="tx1"/>
            </a:solidFill>
            <a:prstDash val="solid"/>
            <a:round/>
            <a:headEnd type="none" w="med" len="med"/>
            <a:tailEnd type="none" w="med" len="med"/>
          </a:ln>
        </p:spPr>
      </p:sp>
      <p:sp>
        <p:nvSpPr>
          <p:cNvPr id="86341" name="Line 325"/>
          <p:cNvSpPr/>
          <p:nvPr/>
        </p:nvSpPr>
        <p:spPr>
          <a:xfrm flipH="1">
            <a:off x="5834063" y="2500313"/>
            <a:ext cx="327025" cy="203200"/>
          </a:xfrm>
          <a:prstGeom prst="line">
            <a:avLst/>
          </a:prstGeom>
          <a:ln w="9525" cap="flat" cmpd="sng">
            <a:solidFill>
              <a:schemeClr val="tx1"/>
            </a:solidFill>
            <a:prstDash val="dash"/>
            <a:round/>
            <a:headEnd type="none" w="med" len="med"/>
            <a:tailEnd type="none" w="med" len="med"/>
          </a:ln>
        </p:spPr>
      </p:sp>
      <p:sp>
        <p:nvSpPr>
          <p:cNvPr id="86342" name="Line 326"/>
          <p:cNvSpPr/>
          <p:nvPr/>
        </p:nvSpPr>
        <p:spPr>
          <a:xfrm flipH="1" flipV="1">
            <a:off x="5929313" y="1952625"/>
            <a:ext cx="236537" cy="79375"/>
          </a:xfrm>
          <a:prstGeom prst="line">
            <a:avLst/>
          </a:prstGeom>
          <a:ln w="9525" cap="flat" cmpd="sng">
            <a:solidFill>
              <a:schemeClr val="tx1"/>
            </a:solidFill>
            <a:prstDash val="dash"/>
            <a:round/>
            <a:headEnd type="none" w="med" len="med"/>
            <a:tailEnd type="none" w="med" len="med"/>
          </a:ln>
        </p:spPr>
      </p:sp>
      <p:sp>
        <p:nvSpPr>
          <p:cNvPr id="86343" name="Line 327"/>
          <p:cNvSpPr/>
          <p:nvPr/>
        </p:nvSpPr>
        <p:spPr>
          <a:xfrm>
            <a:off x="6942138" y="2224088"/>
            <a:ext cx="304800" cy="0"/>
          </a:xfrm>
          <a:prstGeom prst="line">
            <a:avLst/>
          </a:prstGeom>
          <a:ln w="9525" cap="flat" cmpd="sng">
            <a:solidFill>
              <a:schemeClr val="tx1"/>
            </a:solidFill>
            <a:prstDash val="solid"/>
            <a:round/>
            <a:headEnd type="none" w="med" len="med"/>
            <a:tailEnd type="none" w="med" len="me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87041"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87042"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87043" name="Rectangle 2"/>
          <p:cNvSpPr/>
          <p:nvPr/>
        </p:nvSpPr>
        <p:spPr>
          <a:xfrm>
            <a:off x="298450" y="306388"/>
            <a:ext cx="7662863" cy="579437"/>
          </a:xfrm>
          <a:prstGeom prst="rect">
            <a:avLst/>
          </a:prstGeom>
          <a:noFill/>
          <a:ln w="9525">
            <a:noFill/>
          </a:ln>
        </p:spPr>
        <p:txBody>
          <a:bodyPr wrap="none" anchor="t" anchorCtr="0">
            <a:spAutoFit/>
          </a:bodyPr>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2.5G (voice+data) network architecture</a:t>
            </a:r>
            <a:endParaRPr lang="en-US" altLang="zh-CN" sz="3200" u="sng" dirty="0">
              <a:solidFill>
                <a:schemeClr val="accent2"/>
              </a:solidFill>
              <a:latin typeface="Comic Sans MS" panose="030F0702030302020204" pitchFamily="66" charset="0"/>
              <a:ea typeface="宋体" panose="02010600030101010101" pitchFamily="2" charset="-122"/>
            </a:endParaRPr>
          </a:p>
        </p:txBody>
      </p:sp>
      <p:grpSp>
        <p:nvGrpSpPr>
          <p:cNvPr id="87044" name="Group 3"/>
          <p:cNvGrpSpPr/>
          <p:nvPr/>
        </p:nvGrpSpPr>
        <p:grpSpPr>
          <a:xfrm>
            <a:off x="1901825" y="1522413"/>
            <a:ext cx="242888" cy="485775"/>
            <a:chOff x="3796" y="1043"/>
            <a:chExt cx="865" cy="1237"/>
          </a:xfrm>
        </p:grpSpPr>
        <p:sp>
          <p:nvSpPr>
            <p:cNvPr id="87045" name="Line 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7046" name="Line 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7047" name="Line 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7048" name="Line 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7049" name="Line 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7050" name="Line 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7051" name="Line 1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7052" name="Line 1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7053" name="Line 1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7054" name="Line 1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7055" name="Line 1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7056" name="Line 1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7057" name="Line 1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7058" name="Line 1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7059" name="Line 1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7060" name="Group 19"/>
            <p:cNvGrpSpPr/>
            <p:nvPr/>
          </p:nvGrpSpPr>
          <p:grpSpPr>
            <a:xfrm>
              <a:off x="4269" y="1415"/>
              <a:ext cx="392" cy="137"/>
              <a:chOff x="4227" y="1360"/>
              <a:chExt cx="863" cy="270"/>
            </a:xfrm>
          </p:grpSpPr>
          <p:sp>
            <p:nvSpPr>
              <p:cNvPr id="87061" name="Line 2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062" name="Line 2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063" name="Line 2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064" name="Line 2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065" name="Group 24"/>
            <p:cNvGrpSpPr/>
            <p:nvPr/>
          </p:nvGrpSpPr>
          <p:grpSpPr>
            <a:xfrm rot="5700496">
              <a:off x="4050" y="1168"/>
              <a:ext cx="392" cy="137"/>
              <a:chOff x="4227" y="1360"/>
              <a:chExt cx="863" cy="270"/>
            </a:xfrm>
          </p:grpSpPr>
          <p:sp>
            <p:nvSpPr>
              <p:cNvPr id="87066" name="Line 2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067" name="Line 2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068" name="Line 2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069" name="Line 2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070" name="Group 29"/>
            <p:cNvGrpSpPr/>
            <p:nvPr/>
          </p:nvGrpSpPr>
          <p:grpSpPr>
            <a:xfrm rot="10800000">
              <a:off x="3796" y="1402"/>
              <a:ext cx="392" cy="137"/>
              <a:chOff x="4227" y="1360"/>
              <a:chExt cx="863" cy="270"/>
            </a:xfrm>
          </p:grpSpPr>
          <p:sp>
            <p:nvSpPr>
              <p:cNvPr id="87071" name="Line 3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072" name="Line 3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073" name="Line 3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074" name="Line 3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7075" name="Group 34"/>
          <p:cNvGrpSpPr/>
          <p:nvPr/>
        </p:nvGrpSpPr>
        <p:grpSpPr>
          <a:xfrm>
            <a:off x="2390775" y="2000250"/>
            <a:ext cx="242888" cy="485775"/>
            <a:chOff x="3796" y="1043"/>
            <a:chExt cx="865" cy="1237"/>
          </a:xfrm>
        </p:grpSpPr>
        <p:sp>
          <p:nvSpPr>
            <p:cNvPr id="87076" name="Line 3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7077" name="Line 3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7078" name="Line 3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7079" name="Line 3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7080" name="Line 3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7081" name="Line 4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7082" name="Line 4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7083" name="Line 4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7084" name="Line 4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7085" name="Line 4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7086" name="Line 4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7087" name="Line 4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7088" name="Line 4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7089" name="Line 4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7090" name="Line 4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7091" name="Group 50"/>
            <p:cNvGrpSpPr/>
            <p:nvPr/>
          </p:nvGrpSpPr>
          <p:grpSpPr>
            <a:xfrm>
              <a:off x="4269" y="1415"/>
              <a:ext cx="392" cy="137"/>
              <a:chOff x="4227" y="1360"/>
              <a:chExt cx="863" cy="270"/>
            </a:xfrm>
          </p:grpSpPr>
          <p:sp>
            <p:nvSpPr>
              <p:cNvPr id="87092" name="Line 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093" name="Line 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094" name="Line 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095" name="Line 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096" name="Group 55"/>
            <p:cNvGrpSpPr/>
            <p:nvPr/>
          </p:nvGrpSpPr>
          <p:grpSpPr>
            <a:xfrm rot="5700496">
              <a:off x="4050" y="1168"/>
              <a:ext cx="392" cy="137"/>
              <a:chOff x="4227" y="1360"/>
              <a:chExt cx="863" cy="270"/>
            </a:xfrm>
          </p:grpSpPr>
          <p:sp>
            <p:nvSpPr>
              <p:cNvPr id="87097" name="Line 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098" name="Line 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099" name="Line 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100" name="Line 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101" name="Group 60"/>
            <p:cNvGrpSpPr/>
            <p:nvPr/>
          </p:nvGrpSpPr>
          <p:grpSpPr>
            <a:xfrm rot="10800000">
              <a:off x="3796" y="1402"/>
              <a:ext cx="392" cy="137"/>
              <a:chOff x="4227" y="1360"/>
              <a:chExt cx="863" cy="270"/>
            </a:xfrm>
          </p:grpSpPr>
          <p:sp>
            <p:nvSpPr>
              <p:cNvPr id="87102" name="Line 6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103" name="Line 6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104" name="Line 6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105" name="Line 6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87106" name="Group 65"/>
          <p:cNvGrpSpPr/>
          <p:nvPr/>
        </p:nvGrpSpPr>
        <p:grpSpPr>
          <a:xfrm>
            <a:off x="1865313" y="2311400"/>
            <a:ext cx="242887" cy="485775"/>
            <a:chOff x="3796" y="1043"/>
            <a:chExt cx="865" cy="1237"/>
          </a:xfrm>
        </p:grpSpPr>
        <p:sp>
          <p:nvSpPr>
            <p:cNvPr id="87107" name="Line 6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87108" name="Line 6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87109" name="Line 6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87110" name="Line 6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87111" name="Line 7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87112" name="Line 7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87113" name="Line 7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87114" name="Line 7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87115" name="Line 7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87116" name="Line 7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87117" name="Line 7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87118" name="Line 7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87119" name="Line 7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87120" name="Line 7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87121" name="Line 8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87122" name="Group 81"/>
            <p:cNvGrpSpPr/>
            <p:nvPr/>
          </p:nvGrpSpPr>
          <p:grpSpPr>
            <a:xfrm>
              <a:off x="4269" y="1415"/>
              <a:ext cx="392" cy="137"/>
              <a:chOff x="4227" y="1360"/>
              <a:chExt cx="863" cy="270"/>
            </a:xfrm>
          </p:grpSpPr>
          <p:sp>
            <p:nvSpPr>
              <p:cNvPr id="87123" name="Line 8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124" name="Line 8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125" name="Line 8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126" name="Line 8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127" name="Group 86"/>
            <p:cNvGrpSpPr/>
            <p:nvPr/>
          </p:nvGrpSpPr>
          <p:grpSpPr>
            <a:xfrm rot="5700496">
              <a:off x="4050" y="1168"/>
              <a:ext cx="392" cy="137"/>
              <a:chOff x="4227" y="1360"/>
              <a:chExt cx="863" cy="270"/>
            </a:xfrm>
          </p:grpSpPr>
          <p:sp>
            <p:nvSpPr>
              <p:cNvPr id="87128" name="Line 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129" name="Line 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130" name="Line 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131" name="Line 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87132" name="Group 91"/>
            <p:cNvGrpSpPr/>
            <p:nvPr/>
          </p:nvGrpSpPr>
          <p:grpSpPr>
            <a:xfrm rot="10800000">
              <a:off x="3796" y="1402"/>
              <a:ext cx="392" cy="137"/>
              <a:chOff x="4227" y="1360"/>
              <a:chExt cx="863" cy="270"/>
            </a:xfrm>
          </p:grpSpPr>
          <p:sp>
            <p:nvSpPr>
              <p:cNvPr id="87133" name="Line 9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87134" name="Line 9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87135" name="Line 9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87136" name="Line 9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87137" name="Line 96"/>
          <p:cNvSpPr/>
          <p:nvPr/>
        </p:nvSpPr>
        <p:spPr>
          <a:xfrm flipV="1">
            <a:off x="2012950" y="2292350"/>
            <a:ext cx="1695450" cy="414338"/>
          </a:xfrm>
          <a:prstGeom prst="line">
            <a:avLst/>
          </a:prstGeom>
          <a:ln w="9525" cap="flat" cmpd="sng">
            <a:solidFill>
              <a:schemeClr val="tx1"/>
            </a:solidFill>
            <a:prstDash val="solid"/>
            <a:round/>
            <a:headEnd type="none" w="med" len="med"/>
            <a:tailEnd type="none" w="med" len="med"/>
          </a:ln>
        </p:spPr>
      </p:sp>
      <p:sp>
        <p:nvSpPr>
          <p:cNvPr id="87138" name="Line 97"/>
          <p:cNvSpPr/>
          <p:nvPr/>
        </p:nvSpPr>
        <p:spPr>
          <a:xfrm flipV="1">
            <a:off x="2574925" y="2284413"/>
            <a:ext cx="1109663" cy="0"/>
          </a:xfrm>
          <a:prstGeom prst="line">
            <a:avLst/>
          </a:prstGeom>
          <a:ln w="9525" cap="flat" cmpd="sng">
            <a:solidFill>
              <a:schemeClr val="tx1"/>
            </a:solidFill>
            <a:prstDash val="solid"/>
            <a:round/>
            <a:headEnd type="none" w="med" len="med"/>
            <a:tailEnd type="none" w="med" len="med"/>
          </a:ln>
        </p:spPr>
      </p:sp>
      <p:sp>
        <p:nvSpPr>
          <p:cNvPr id="87139" name="Line 98"/>
          <p:cNvSpPr/>
          <p:nvPr/>
        </p:nvSpPr>
        <p:spPr>
          <a:xfrm>
            <a:off x="2082800" y="1911350"/>
            <a:ext cx="1624013" cy="381000"/>
          </a:xfrm>
          <a:prstGeom prst="line">
            <a:avLst/>
          </a:prstGeom>
          <a:ln w="9525" cap="flat" cmpd="sng">
            <a:solidFill>
              <a:schemeClr val="tx1"/>
            </a:solidFill>
            <a:prstDash val="solid"/>
            <a:round/>
            <a:headEnd type="none" w="med" len="med"/>
            <a:tailEnd type="none" w="med" len="med"/>
          </a:ln>
        </p:spPr>
      </p:sp>
      <p:grpSp>
        <p:nvGrpSpPr>
          <p:cNvPr id="87140" name="Group 99"/>
          <p:cNvGrpSpPr/>
          <p:nvPr/>
        </p:nvGrpSpPr>
        <p:grpSpPr>
          <a:xfrm>
            <a:off x="3676650" y="1998663"/>
            <a:ext cx="550863" cy="411162"/>
            <a:chOff x="611" y="3693"/>
            <a:chExt cx="449" cy="287"/>
          </a:xfrm>
        </p:grpSpPr>
        <p:sp>
          <p:nvSpPr>
            <p:cNvPr id="87141" name="Rectangle 100"/>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142" name="Group 101"/>
            <p:cNvGrpSpPr/>
            <p:nvPr/>
          </p:nvGrpSpPr>
          <p:grpSpPr>
            <a:xfrm>
              <a:off x="687" y="3826"/>
              <a:ext cx="224" cy="110"/>
              <a:chOff x="687" y="3826"/>
              <a:chExt cx="224" cy="110"/>
            </a:xfrm>
          </p:grpSpPr>
          <p:sp>
            <p:nvSpPr>
              <p:cNvPr id="87143" name="Freeform 10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44" name="Freeform 10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145" name="Freeform 10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46" name="Freeform 105"/>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47" name="Freeform 10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48" name="Freeform 10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49" name="Freeform 10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87150" name="Group 109"/>
          <p:cNvGrpSpPr/>
          <p:nvPr/>
        </p:nvGrpSpPr>
        <p:grpSpPr>
          <a:xfrm>
            <a:off x="4676775" y="1630363"/>
            <a:ext cx="550863" cy="1001712"/>
            <a:chOff x="611" y="3693"/>
            <a:chExt cx="449" cy="287"/>
          </a:xfrm>
        </p:grpSpPr>
        <p:sp>
          <p:nvSpPr>
            <p:cNvPr id="87151" name="Rectangle 110"/>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152" name="Group 111"/>
            <p:cNvGrpSpPr/>
            <p:nvPr/>
          </p:nvGrpSpPr>
          <p:grpSpPr>
            <a:xfrm>
              <a:off x="687" y="3826"/>
              <a:ext cx="224" cy="110"/>
              <a:chOff x="687" y="3826"/>
              <a:chExt cx="224" cy="110"/>
            </a:xfrm>
          </p:grpSpPr>
          <p:sp>
            <p:nvSpPr>
              <p:cNvPr id="87153" name="Freeform 11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54" name="Freeform 11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155"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56" name="Freeform 115"/>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57"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58"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59"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7160" name="Line 119"/>
          <p:cNvSpPr/>
          <p:nvPr/>
        </p:nvSpPr>
        <p:spPr>
          <a:xfrm flipV="1">
            <a:off x="4203700" y="2230438"/>
            <a:ext cx="447675" cy="9525"/>
          </a:xfrm>
          <a:prstGeom prst="line">
            <a:avLst/>
          </a:prstGeom>
          <a:ln w="9525" cap="flat" cmpd="sng">
            <a:solidFill>
              <a:schemeClr val="tx1"/>
            </a:solidFill>
            <a:prstDash val="solid"/>
            <a:round/>
            <a:headEnd type="none" w="med" len="med"/>
            <a:tailEnd type="none" w="med" len="med"/>
          </a:ln>
        </p:spPr>
      </p:sp>
      <p:sp>
        <p:nvSpPr>
          <p:cNvPr id="87161" name="Text Box 120"/>
          <p:cNvSpPr txBox="1"/>
          <p:nvPr/>
        </p:nvSpPr>
        <p:spPr>
          <a:xfrm>
            <a:off x="3486150" y="1679575"/>
            <a:ext cx="6540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BSC</a:t>
            </a:r>
            <a:endParaRPr lang="en-US" altLang="zh-CN" dirty="0">
              <a:latin typeface="Arial" panose="020B0604020202020204" pitchFamily="34" charset="0"/>
              <a:ea typeface="宋体" panose="02010600030101010101" pitchFamily="2" charset="-122"/>
            </a:endParaRPr>
          </a:p>
        </p:txBody>
      </p:sp>
      <p:sp>
        <p:nvSpPr>
          <p:cNvPr id="87162" name="Text Box 121"/>
          <p:cNvSpPr txBox="1"/>
          <p:nvPr/>
        </p:nvSpPr>
        <p:spPr>
          <a:xfrm>
            <a:off x="4613275" y="1335088"/>
            <a:ext cx="6921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MSC</a:t>
            </a:r>
            <a:endParaRPr lang="en-US" altLang="zh-CN" dirty="0">
              <a:latin typeface="Arial" panose="020B0604020202020204" pitchFamily="34" charset="0"/>
              <a:ea typeface="宋体" panose="02010600030101010101" pitchFamily="2" charset="-122"/>
            </a:endParaRPr>
          </a:p>
        </p:txBody>
      </p:sp>
      <p:pic>
        <p:nvPicPr>
          <p:cNvPr id="87163" name="Picture 122"/>
          <p:cNvPicPr>
            <a:picLocks noChangeAspect="1"/>
          </p:cNvPicPr>
          <p:nvPr/>
        </p:nvPicPr>
        <p:blipFill>
          <a:blip r:embed="rId1"/>
          <a:stretch>
            <a:fillRect/>
          </a:stretch>
        </p:blipFill>
        <p:spPr>
          <a:xfrm>
            <a:off x="600075" y="1728788"/>
            <a:ext cx="252413" cy="182562"/>
          </a:xfrm>
          <a:prstGeom prst="rect">
            <a:avLst/>
          </a:prstGeom>
          <a:noFill/>
          <a:ln w="9525">
            <a:noFill/>
          </a:ln>
        </p:spPr>
      </p:pic>
      <p:grpSp>
        <p:nvGrpSpPr>
          <p:cNvPr id="87164" name="Group 123"/>
          <p:cNvGrpSpPr/>
          <p:nvPr/>
        </p:nvGrpSpPr>
        <p:grpSpPr>
          <a:xfrm>
            <a:off x="223838" y="2135188"/>
            <a:ext cx="831850" cy="180975"/>
            <a:chOff x="3072" y="739"/>
            <a:chExt cx="652" cy="146"/>
          </a:xfrm>
        </p:grpSpPr>
        <p:pic>
          <p:nvPicPr>
            <p:cNvPr id="87165" name="Picture 124"/>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87166" name="Line 125"/>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87167" name="Line 126"/>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sp>
        <p:nvSpPr>
          <p:cNvPr id="87168" name="Oval 127"/>
          <p:cNvSpPr/>
          <p:nvPr/>
        </p:nvSpPr>
        <p:spPr>
          <a:xfrm>
            <a:off x="1184275" y="1406525"/>
            <a:ext cx="3170238" cy="1473200"/>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pic>
        <p:nvPicPr>
          <p:cNvPr id="87169" name="Picture 128"/>
          <p:cNvPicPr>
            <a:picLocks noChangeAspect="1"/>
          </p:cNvPicPr>
          <p:nvPr/>
        </p:nvPicPr>
        <p:blipFill>
          <a:blip r:embed="rId1"/>
          <a:stretch>
            <a:fillRect/>
          </a:stretch>
        </p:blipFill>
        <p:spPr>
          <a:xfrm>
            <a:off x="501650" y="2468563"/>
            <a:ext cx="252413" cy="182562"/>
          </a:xfrm>
          <a:prstGeom prst="rect">
            <a:avLst/>
          </a:prstGeom>
          <a:noFill/>
          <a:ln w="9525">
            <a:noFill/>
          </a:ln>
        </p:spPr>
      </p:pic>
      <p:grpSp>
        <p:nvGrpSpPr>
          <p:cNvPr id="87170" name="Group 130"/>
          <p:cNvGrpSpPr/>
          <p:nvPr/>
        </p:nvGrpSpPr>
        <p:grpSpPr>
          <a:xfrm>
            <a:off x="4660900" y="3173413"/>
            <a:ext cx="582613" cy="641350"/>
            <a:chOff x="3028" y="1864"/>
            <a:chExt cx="347" cy="631"/>
          </a:xfrm>
        </p:grpSpPr>
        <p:sp>
          <p:nvSpPr>
            <p:cNvPr id="87171" name="Rectangle 131"/>
            <p:cNvSpPr/>
            <p:nvPr/>
          </p:nvSpPr>
          <p:spPr>
            <a:xfrm>
              <a:off x="3047" y="2042"/>
              <a:ext cx="260" cy="45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172" name="Freeform 132"/>
            <p:cNvSpPr/>
            <p:nvPr/>
          </p:nvSpPr>
          <p:spPr>
            <a:xfrm>
              <a:off x="3309" y="1888"/>
              <a:ext cx="48" cy="163"/>
            </a:xfrm>
            <a:custGeom>
              <a:avLst/>
              <a:gdLst/>
              <a:ahLst/>
              <a:cxnLst>
                <a:cxn ang="0">
                  <a:pos x="22" y="0"/>
                </a:cxn>
                <a:cxn ang="0">
                  <a:pos x="37" y="278"/>
                </a:cxn>
                <a:cxn ang="0">
                  <a:pos x="0" y="359"/>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73" name="Freeform 133"/>
            <p:cNvSpPr/>
            <p:nvPr/>
          </p:nvSpPr>
          <p:spPr>
            <a:xfrm>
              <a:off x="3307" y="2020"/>
              <a:ext cx="49" cy="475"/>
            </a:xfrm>
            <a:custGeom>
              <a:avLst/>
              <a:gdLst/>
              <a:ahLst/>
              <a:cxnLst>
                <a:cxn ang="0">
                  <a:pos x="2" y="72"/>
                </a:cxn>
                <a:cxn ang="0">
                  <a:pos x="0" y="1003"/>
                </a:cxn>
                <a:cxn ang="0">
                  <a:pos x="37" y="899"/>
                </a:cxn>
                <a:cxn ang="0">
                  <a:pos x="38" y="0"/>
                </a:cxn>
                <a:cxn ang="0">
                  <a:pos x="2" y="7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74" name="Freeform 134"/>
            <p:cNvSpPr/>
            <p:nvPr/>
          </p:nvSpPr>
          <p:spPr>
            <a:xfrm>
              <a:off x="3339" y="1864"/>
              <a:ext cx="36" cy="171"/>
            </a:xfrm>
            <a:custGeom>
              <a:avLst/>
              <a:gdLst/>
              <a:ahLst/>
              <a:cxnLst>
                <a:cxn ang="0">
                  <a:pos x="7" y="0"/>
                </a:cxn>
                <a:cxn ang="0">
                  <a:pos x="28" y="375"/>
                </a:cxn>
                <a:cxn ang="0">
                  <a:pos x="8" y="371"/>
                </a:cxn>
                <a:cxn ang="0">
                  <a:pos x="0" y="169"/>
                </a:cxn>
                <a:cxn ang="0">
                  <a:pos x="7"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75" name="Freeform 135"/>
            <p:cNvSpPr/>
            <p:nvPr/>
          </p:nvSpPr>
          <p:spPr>
            <a:xfrm>
              <a:off x="3319" y="1941"/>
              <a:ext cx="34" cy="112"/>
            </a:xfrm>
            <a:custGeom>
              <a:avLst/>
              <a:gdLst/>
              <a:ahLst/>
              <a:cxnLst>
                <a:cxn ang="0">
                  <a:pos x="14" y="0"/>
                </a:cxn>
                <a:cxn ang="0">
                  <a:pos x="0" y="246"/>
                </a:cxn>
                <a:cxn ang="0">
                  <a:pos x="26" y="217"/>
                </a:cxn>
                <a:cxn ang="0">
                  <a:pos x="14"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176" name="Freeform 136"/>
            <p:cNvSpPr/>
            <p:nvPr/>
          </p:nvSpPr>
          <p:spPr>
            <a:xfrm>
              <a:off x="3028" y="1868"/>
              <a:ext cx="322" cy="209"/>
            </a:xfrm>
            <a:custGeom>
              <a:avLst/>
              <a:gdLst/>
              <a:ahLst/>
              <a:cxnLst>
                <a:cxn ang="0">
                  <a:pos x="0" y="460"/>
                </a:cxn>
                <a:cxn ang="0">
                  <a:pos x="39" y="4"/>
                </a:cxn>
                <a:cxn ang="0">
                  <a:pos x="249" y="0"/>
                </a:cxn>
                <a:cxn ang="0">
                  <a:pos x="221" y="460"/>
                </a:cxn>
                <a:cxn ang="0">
                  <a:pos x="0" y="460"/>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7177" name="Text Box 137"/>
          <p:cNvSpPr txBox="1"/>
          <p:nvPr/>
        </p:nvSpPr>
        <p:spPr>
          <a:xfrm>
            <a:off x="4591050" y="3817938"/>
            <a:ext cx="8318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SGSN</a:t>
            </a:r>
            <a:endParaRPr lang="en-US" altLang="zh-CN" dirty="0">
              <a:latin typeface="Arial" panose="020B0604020202020204" pitchFamily="34" charset="0"/>
              <a:ea typeface="宋体" panose="02010600030101010101" pitchFamily="2" charset="-122"/>
            </a:endParaRPr>
          </a:p>
        </p:txBody>
      </p:sp>
      <p:sp>
        <p:nvSpPr>
          <p:cNvPr id="87178" name="Line 138"/>
          <p:cNvSpPr/>
          <p:nvPr/>
        </p:nvSpPr>
        <p:spPr>
          <a:xfrm>
            <a:off x="5313363" y="3605213"/>
            <a:ext cx="685800" cy="249237"/>
          </a:xfrm>
          <a:prstGeom prst="line">
            <a:avLst/>
          </a:prstGeom>
          <a:ln w="9525" cap="flat" cmpd="sng">
            <a:solidFill>
              <a:schemeClr val="tx1"/>
            </a:solidFill>
            <a:prstDash val="solid"/>
            <a:round/>
            <a:headEnd type="none" w="med" len="med"/>
            <a:tailEnd type="none" w="med" len="med"/>
          </a:ln>
        </p:spPr>
      </p:sp>
      <p:grpSp>
        <p:nvGrpSpPr>
          <p:cNvPr id="87179" name="Group 139"/>
          <p:cNvGrpSpPr/>
          <p:nvPr/>
        </p:nvGrpSpPr>
        <p:grpSpPr>
          <a:xfrm>
            <a:off x="4605338" y="3425825"/>
            <a:ext cx="693737" cy="314325"/>
            <a:chOff x="3600" y="219"/>
            <a:chExt cx="360" cy="175"/>
          </a:xfrm>
        </p:grpSpPr>
        <p:sp>
          <p:nvSpPr>
            <p:cNvPr id="87180" name="Oval 140"/>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181" name="Line 141"/>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87182" name="Line 142"/>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87183" name="Rectangle 143"/>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87184" name="Oval 144"/>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185" name="Group 145"/>
            <p:cNvGrpSpPr/>
            <p:nvPr/>
          </p:nvGrpSpPr>
          <p:grpSpPr>
            <a:xfrm>
              <a:off x="3686" y="244"/>
              <a:ext cx="177" cy="66"/>
              <a:chOff x="2848" y="848"/>
              <a:chExt cx="140" cy="98"/>
            </a:xfrm>
          </p:grpSpPr>
          <p:sp>
            <p:nvSpPr>
              <p:cNvPr id="87186" name="Line 14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187" name="Line 14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188" name="Line 14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87189" name="Group 149"/>
            <p:cNvGrpSpPr/>
            <p:nvPr/>
          </p:nvGrpSpPr>
          <p:grpSpPr>
            <a:xfrm flipV="1">
              <a:off x="3686" y="243"/>
              <a:ext cx="177" cy="66"/>
              <a:chOff x="2848" y="848"/>
              <a:chExt cx="140" cy="98"/>
            </a:xfrm>
          </p:grpSpPr>
          <p:sp>
            <p:nvSpPr>
              <p:cNvPr id="87190" name="Line 150"/>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191" name="Line 151"/>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192" name="Line 152"/>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87193" name="Line 153"/>
          <p:cNvSpPr/>
          <p:nvPr/>
        </p:nvSpPr>
        <p:spPr>
          <a:xfrm>
            <a:off x="4187825" y="2241550"/>
            <a:ext cx="295275" cy="1384300"/>
          </a:xfrm>
          <a:prstGeom prst="line">
            <a:avLst/>
          </a:prstGeom>
          <a:ln w="9525" cap="flat" cmpd="sng">
            <a:solidFill>
              <a:schemeClr val="tx1"/>
            </a:solidFill>
            <a:prstDash val="solid"/>
            <a:round/>
            <a:headEnd type="none" w="med" len="med"/>
            <a:tailEnd type="none" w="med" len="med"/>
          </a:ln>
        </p:spPr>
      </p:sp>
      <p:sp>
        <p:nvSpPr>
          <p:cNvPr id="87194" name="Line 154"/>
          <p:cNvSpPr/>
          <p:nvPr/>
        </p:nvSpPr>
        <p:spPr>
          <a:xfrm>
            <a:off x="4483100" y="3627438"/>
            <a:ext cx="222250" cy="0"/>
          </a:xfrm>
          <a:prstGeom prst="line">
            <a:avLst/>
          </a:prstGeom>
          <a:ln w="9525" cap="flat" cmpd="sng">
            <a:solidFill>
              <a:schemeClr val="tx1"/>
            </a:solidFill>
            <a:prstDash val="solid"/>
            <a:round/>
            <a:headEnd type="none" w="med" len="med"/>
            <a:tailEnd type="none" w="med" len="med"/>
          </a:ln>
        </p:spPr>
      </p:sp>
      <p:sp>
        <p:nvSpPr>
          <p:cNvPr id="87195" name="Freeform 156"/>
          <p:cNvSpPr/>
          <p:nvPr/>
        </p:nvSpPr>
        <p:spPr>
          <a:xfrm>
            <a:off x="7177088" y="1381125"/>
            <a:ext cx="1235075" cy="1681163"/>
          </a:xfrm>
          <a:custGeom>
            <a:avLst/>
            <a:gdLst/>
            <a:ahLst/>
            <a:cxnLst>
              <a:cxn ang="0">
                <a:pos x="218403704" y="12561168"/>
              </a:cxn>
              <a:cxn ang="0">
                <a:pos x="31983854" y="281729429"/>
              </a:cxn>
              <a:cxn ang="0">
                <a:pos x="26500580" y="938498863"/>
              </a:cxn>
              <a:cxn ang="0">
                <a:pos x="48432720" y="1487601528"/>
              </a:cxn>
              <a:cxn ang="0">
                <a:pos x="223886022" y="1562968534"/>
              </a:cxn>
              <a:cxn ang="0">
                <a:pos x="591242447" y="2025938051"/>
              </a:cxn>
              <a:cxn ang="0">
                <a:pos x="909253229" y="2147483646"/>
              </a:cxn>
              <a:cxn ang="0">
                <a:pos x="1095673079" y="1832136796"/>
              </a:cxn>
              <a:cxn ang="0">
                <a:pos x="1161467589" y="798532331"/>
              </a:cxn>
              <a:cxn ang="0">
                <a:pos x="1101155397" y="378630057"/>
              </a:cxn>
              <a:cxn ang="0">
                <a:pos x="684452372" y="206362423"/>
              </a:cxn>
              <a:cxn ang="0">
                <a:pos x="218403704" y="12561168"/>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7196" name="Text Box 157"/>
          <p:cNvSpPr txBox="1"/>
          <p:nvPr/>
        </p:nvSpPr>
        <p:spPr>
          <a:xfrm>
            <a:off x="7285038" y="1724025"/>
            <a:ext cx="1106487" cy="825500"/>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Public </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telephone</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network</a:t>
            </a:r>
            <a:endParaRPr lang="en-US" altLang="zh-CN" sz="1600" dirty="0">
              <a:latin typeface="Comic Sans MS" panose="030F0702030302020204" pitchFamily="66" charset="0"/>
              <a:ea typeface="宋体" panose="02010600030101010101" pitchFamily="2" charset="-122"/>
            </a:endParaRPr>
          </a:p>
        </p:txBody>
      </p:sp>
      <p:sp>
        <p:nvSpPr>
          <p:cNvPr id="87197" name="Line 158"/>
          <p:cNvSpPr/>
          <p:nvPr/>
        </p:nvSpPr>
        <p:spPr>
          <a:xfrm>
            <a:off x="5151438" y="2255838"/>
            <a:ext cx="1284287" cy="0"/>
          </a:xfrm>
          <a:prstGeom prst="line">
            <a:avLst/>
          </a:prstGeom>
          <a:ln w="9525" cap="flat" cmpd="sng">
            <a:solidFill>
              <a:schemeClr val="tx1"/>
            </a:solidFill>
            <a:prstDash val="solid"/>
            <a:round/>
            <a:headEnd type="none" w="med" len="med"/>
            <a:tailEnd type="none" w="med" len="med"/>
          </a:ln>
        </p:spPr>
      </p:sp>
      <p:grpSp>
        <p:nvGrpSpPr>
          <p:cNvPr id="87198" name="Group 159"/>
          <p:cNvGrpSpPr/>
          <p:nvPr/>
        </p:nvGrpSpPr>
        <p:grpSpPr>
          <a:xfrm>
            <a:off x="6411913" y="1590675"/>
            <a:ext cx="550862" cy="1001713"/>
            <a:chOff x="611" y="3693"/>
            <a:chExt cx="449" cy="287"/>
          </a:xfrm>
        </p:grpSpPr>
        <p:sp>
          <p:nvSpPr>
            <p:cNvPr id="87199" name="Rectangle 160"/>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200" name="Group 161"/>
            <p:cNvGrpSpPr/>
            <p:nvPr/>
          </p:nvGrpSpPr>
          <p:grpSpPr>
            <a:xfrm>
              <a:off x="687" y="3826"/>
              <a:ext cx="224" cy="110"/>
              <a:chOff x="687" y="3826"/>
              <a:chExt cx="224" cy="110"/>
            </a:xfrm>
          </p:grpSpPr>
          <p:sp>
            <p:nvSpPr>
              <p:cNvPr id="87201" name="Freeform 16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02" name="Freeform 16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203" name="Freeform 16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04" name="Freeform 165"/>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05" name="Freeform 16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06" name="Freeform 16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07" name="Freeform 16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7208" name="Text Box 169"/>
          <p:cNvSpPr txBox="1"/>
          <p:nvPr/>
        </p:nvSpPr>
        <p:spPr>
          <a:xfrm>
            <a:off x="6359525" y="2573338"/>
            <a:ext cx="1085850" cy="530225"/>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宋体" panose="02010600030101010101" pitchFamily="2" charset="-122"/>
              </a:rPr>
              <a:t>Gateway</a:t>
            </a:r>
            <a:endParaRPr lang="en-US" altLang="zh-CN" dirty="0">
              <a:latin typeface="Arial" panose="020B0604020202020204" pitchFamily="34" charset="0"/>
              <a:ea typeface="宋体" panose="02010600030101010101" pitchFamily="2" charset="-122"/>
            </a:endParaRPr>
          </a:p>
          <a:p>
            <a:pPr>
              <a:lnSpc>
                <a:spcPct val="80000"/>
              </a:lnSpc>
              <a:buClrTx/>
              <a:buFontTx/>
            </a:pPr>
            <a:r>
              <a:rPr lang="en-US" altLang="zh-CN" dirty="0">
                <a:latin typeface="Arial" panose="020B0604020202020204" pitchFamily="34" charset="0"/>
                <a:ea typeface="宋体" panose="02010600030101010101" pitchFamily="2" charset="-122"/>
              </a:rPr>
              <a:t>MSC</a:t>
            </a:r>
            <a:endParaRPr lang="en-US" altLang="zh-CN" dirty="0">
              <a:latin typeface="Arial" panose="020B0604020202020204" pitchFamily="34" charset="0"/>
              <a:ea typeface="宋体" panose="02010600030101010101" pitchFamily="2" charset="-122"/>
            </a:endParaRPr>
          </a:p>
        </p:txBody>
      </p:sp>
      <p:sp>
        <p:nvSpPr>
          <p:cNvPr id="87209" name="Text Box 170"/>
          <p:cNvSpPr txBox="1"/>
          <p:nvPr/>
        </p:nvSpPr>
        <p:spPr>
          <a:xfrm>
            <a:off x="6481763" y="1593850"/>
            <a:ext cx="3619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G</a:t>
            </a:r>
            <a:endParaRPr lang="en-US" altLang="zh-CN" dirty="0">
              <a:latin typeface="Arial" panose="020B0604020202020204" pitchFamily="34" charset="0"/>
              <a:ea typeface="宋体" panose="02010600030101010101" pitchFamily="2" charset="-122"/>
            </a:endParaRPr>
          </a:p>
        </p:txBody>
      </p:sp>
      <p:sp>
        <p:nvSpPr>
          <p:cNvPr id="87210" name="Line 171"/>
          <p:cNvSpPr/>
          <p:nvPr/>
        </p:nvSpPr>
        <p:spPr>
          <a:xfrm flipH="1">
            <a:off x="6200775" y="2325688"/>
            <a:ext cx="236538" cy="146050"/>
          </a:xfrm>
          <a:prstGeom prst="line">
            <a:avLst/>
          </a:prstGeom>
          <a:ln w="9525" cap="flat" cmpd="sng">
            <a:solidFill>
              <a:schemeClr val="tx1"/>
            </a:solidFill>
            <a:prstDash val="solid"/>
            <a:round/>
            <a:headEnd type="none" w="med" len="med"/>
            <a:tailEnd type="none" w="med" len="med"/>
          </a:ln>
        </p:spPr>
      </p:sp>
      <p:sp>
        <p:nvSpPr>
          <p:cNvPr id="87211" name="Line 172"/>
          <p:cNvSpPr/>
          <p:nvPr/>
        </p:nvSpPr>
        <p:spPr>
          <a:xfrm flipH="1" flipV="1">
            <a:off x="6211888" y="2043113"/>
            <a:ext cx="225425" cy="90487"/>
          </a:xfrm>
          <a:prstGeom prst="line">
            <a:avLst/>
          </a:prstGeom>
          <a:ln w="9525" cap="flat" cmpd="sng">
            <a:solidFill>
              <a:schemeClr val="tx1"/>
            </a:solidFill>
            <a:prstDash val="solid"/>
            <a:round/>
            <a:headEnd type="none" w="med" len="med"/>
            <a:tailEnd type="none" w="med" len="med"/>
          </a:ln>
        </p:spPr>
      </p:sp>
      <p:sp>
        <p:nvSpPr>
          <p:cNvPr id="87212" name="Line 173"/>
          <p:cNvSpPr/>
          <p:nvPr/>
        </p:nvSpPr>
        <p:spPr>
          <a:xfrm flipH="1">
            <a:off x="5834063" y="2500313"/>
            <a:ext cx="327025" cy="203200"/>
          </a:xfrm>
          <a:prstGeom prst="line">
            <a:avLst/>
          </a:prstGeom>
          <a:ln w="9525" cap="flat" cmpd="sng">
            <a:solidFill>
              <a:schemeClr val="tx1"/>
            </a:solidFill>
            <a:prstDash val="dash"/>
            <a:round/>
            <a:headEnd type="none" w="med" len="med"/>
            <a:tailEnd type="none" w="med" len="med"/>
          </a:ln>
        </p:spPr>
      </p:sp>
      <p:sp>
        <p:nvSpPr>
          <p:cNvPr id="87213" name="Line 174"/>
          <p:cNvSpPr/>
          <p:nvPr/>
        </p:nvSpPr>
        <p:spPr>
          <a:xfrm flipH="1" flipV="1">
            <a:off x="5929313" y="1952625"/>
            <a:ext cx="236537" cy="79375"/>
          </a:xfrm>
          <a:prstGeom prst="line">
            <a:avLst/>
          </a:prstGeom>
          <a:ln w="9525" cap="flat" cmpd="sng">
            <a:solidFill>
              <a:schemeClr val="tx1"/>
            </a:solidFill>
            <a:prstDash val="dash"/>
            <a:round/>
            <a:headEnd type="none" w="med" len="med"/>
            <a:tailEnd type="none" w="med" len="med"/>
          </a:ln>
        </p:spPr>
      </p:sp>
      <p:sp>
        <p:nvSpPr>
          <p:cNvPr id="87214" name="Line 175"/>
          <p:cNvSpPr/>
          <p:nvPr/>
        </p:nvSpPr>
        <p:spPr>
          <a:xfrm>
            <a:off x="4945063" y="2641600"/>
            <a:ext cx="0" cy="496888"/>
          </a:xfrm>
          <a:prstGeom prst="line">
            <a:avLst/>
          </a:prstGeom>
          <a:ln w="9525" cap="flat" cmpd="sng">
            <a:solidFill>
              <a:schemeClr val="tx1"/>
            </a:solidFill>
            <a:prstDash val="solid"/>
            <a:round/>
            <a:headEnd type="triangle" w="med" len="med"/>
            <a:tailEnd type="triangle" w="med" len="med"/>
          </a:ln>
        </p:spPr>
      </p:sp>
      <p:sp>
        <p:nvSpPr>
          <p:cNvPr id="87215" name="Line 176"/>
          <p:cNvSpPr/>
          <p:nvPr/>
        </p:nvSpPr>
        <p:spPr>
          <a:xfrm>
            <a:off x="6942138" y="2224088"/>
            <a:ext cx="304800" cy="0"/>
          </a:xfrm>
          <a:prstGeom prst="line">
            <a:avLst/>
          </a:prstGeom>
          <a:ln w="9525" cap="flat" cmpd="sng">
            <a:solidFill>
              <a:schemeClr val="tx1"/>
            </a:solidFill>
            <a:prstDash val="solid"/>
            <a:round/>
            <a:headEnd type="none" w="med" len="med"/>
            <a:tailEnd type="none" w="med" len="med"/>
          </a:ln>
        </p:spPr>
      </p:sp>
      <p:grpSp>
        <p:nvGrpSpPr>
          <p:cNvPr id="87216" name="Group 177"/>
          <p:cNvGrpSpPr/>
          <p:nvPr/>
        </p:nvGrpSpPr>
        <p:grpSpPr>
          <a:xfrm>
            <a:off x="5102225" y="5075238"/>
            <a:ext cx="3838575" cy="1057275"/>
            <a:chOff x="608" y="2728"/>
            <a:chExt cx="2671" cy="908"/>
          </a:xfrm>
        </p:grpSpPr>
        <p:sp>
          <p:nvSpPr>
            <p:cNvPr id="87217" name="Text Box 178"/>
            <p:cNvSpPr txBox="1"/>
            <p:nvPr/>
          </p:nvSpPr>
          <p:spPr>
            <a:xfrm>
              <a:off x="970" y="2841"/>
              <a:ext cx="2195" cy="262"/>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Serving GPRS Support Node (SGSN)</a:t>
              </a:r>
              <a:endParaRPr lang="en-US" altLang="zh-CN" sz="1400" dirty="0">
                <a:latin typeface="Arial" panose="020B0604020202020204" pitchFamily="34" charset="0"/>
                <a:ea typeface="宋体" panose="02010600030101010101" pitchFamily="2" charset="-122"/>
              </a:endParaRPr>
            </a:p>
          </p:txBody>
        </p:sp>
        <p:grpSp>
          <p:nvGrpSpPr>
            <p:cNvPr id="87218" name="Group 179"/>
            <p:cNvGrpSpPr/>
            <p:nvPr/>
          </p:nvGrpSpPr>
          <p:grpSpPr>
            <a:xfrm>
              <a:off x="608" y="3125"/>
              <a:ext cx="344" cy="511"/>
              <a:chOff x="600" y="2677"/>
              <a:chExt cx="344" cy="511"/>
            </a:xfrm>
          </p:grpSpPr>
          <p:sp>
            <p:nvSpPr>
              <p:cNvPr id="87219" name="Rectangle 180"/>
              <p:cNvSpPr/>
              <p:nvPr/>
            </p:nvSpPr>
            <p:spPr>
              <a:xfrm>
                <a:off x="638" y="2821"/>
                <a:ext cx="218" cy="36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220" name="Freeform 181"/>
              <p:cNvSpPr/>
              <p:nvPr/>
            </p:nvSpPr>
            <p:spPr>
              <a:xfrm>
                <a:off x="858" y="2697"/>
                <a:ext cx="40" cy="131"/>
              </a:xfrm>
              <a:custGeom>
                <a:avLst/>
                <a:gdLst/>
                <a:ahLst/>
                <a:cxnLst>
                  <a:cxn ang="0">
                    <a:pos x="15" y="0"/>
                  </a:cxn>
                  <a:cxn ang="0">
                    <a:pos x="26" y="179"/>
                  </a:cxn>
                  <a:cxn ang="0">
                    <a:pos x="0" y="232"/>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21" name="Freeform 182"/>
              <p:cNvSpPr/>
              <p:nvPr/>
            </p:nvSpPr>
            <p:spPr>
              <a:xfrm>
                <a:off x="856" y="2803"/>
                <a:ext cx="41" cy="385"/>
              </a:xfrm>
              <a:custGeom>
                <a:avLst/>
                <a:gdLst/>
                <a:ahLst/>
                <a:cxnLst>
                  <a:cxn ang="0">
                    <a:pos x="1" y="46"/>
                  </a:cxn>
                  <a:cxn ang="0">
                    <a:pos x="0" y="659"/>
                  </a:cxn>
                  <a:cxn ang="0">
                    <a:pos x="26" y="592"/>
                  </a:cxn>
                  <a:cxn ang="0">
                    <a:pos x="27" y="0"/>
                  </a:cxn>
                  <a:cxn ang="0">
                    <a:pos x="1" y="46"/>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22" name="Freeform 183"/>
              <p:cNvSpPr/>
              <p:nvPr/>
            </p:nvSpPr>
            <p:spPr>
              <a:xfrm>
                <a:off x="883" y="2677"/>
                <a:ext cx="30" cy="139"/>
              </a:xfrm>
              <a:custGeom>
                <a:avLst/>
                <a:gdLst/>
                <a:ahLst/>
                <a:cxnLst>
                  <a:cxn ang="0">
                    <a:pos x="5" y="0"/>
                  </a:cxn>
                  <a:cxn ang="0">
                    <a:pos x="19" y="248"/>
                  </a:cxn>
                  <a:cxn ang="0">
                    <a:pos x="6" y="244"/>
                  </a:cxn>
                  <a:cxn ang="0">
                    <a:pos x="0" y="110"/>
                  </a:cxn>
                  <a:cxn ang="0">
                    <a:pos x="5"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23" name="Freeform 184"/>
              <p:cNvSpPr/>
              <p:nvPr/>
            </p:nvSpPr>
            <p:spPr>
              <a:xfrm>
                <a:off x="866" y="2739"/>
                <a:ext cx="28" cy="91"/>
              </a:xfrm>
              <a:custGeom>
                <a:avLst/>
                <a:gdLst/>
                <a:ahLst/>
                <a:cxnLst>
                  <a:cxn ang="0">
                    <a:pos x="10" y="0"/>
                  </a:cxn>
                  <a:cxn ang="0">
                    <a:pos x="0" y="162"/>
                  </a:cxn>
                  <a:cxn ang="0">
                    <a:pos x="18" y="143"/>
                  </a:cxn>
                  <a:cxn ang="0">
                    <a:pos x="10"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24" name="Freeform 185"/>
              <p:cNvSpPr/>
              <p:nvPr/>
            </p:nvSpPr>
            <p:spPr>
              <a:xfrm>
                <a:off x="622" y="2681"/>
                <a:ext cx="270" cy="169"/>
              </a:xfrm>
              <a:custGeom>
                <a:avLst/>
                <a:gdLst/>
                <a:ahLst/>
                <a:cxnLst>
                  <a:cxn ang="0">
                    <a:pos x="0" y="301"/>
                  </a:cxn>
                  <a:cxn ang="0">
                    <a:pos x="28" y="4"/>
                  </a:cxn>
                  <a:cxn ang="0">
                    <a:pos x="175" y="0"/>
                  </a:cxn>
                  <a:cxn ang="0">
                    <a:pos x="155" y="301"/>
                  </a:cxn>
                  <a:cxn ang="0">
                    <a:pos x="0" y="301"/>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nvGrpSpPr>
              <p:cNvPr id="87225" name="Group 186"/>
              <p:cNvGrpSpPr/>
              <p:nvPr/>
            </p:nvGrpSpPr>
            <p:grpSpPr>
              <a:xfrm>
                <a:off x="600" y="2926"/>
                <a:ext cx="344" cy="170"/>
                <a:chOff x="3600" y="219"/>
                <a:chExt cx="360" cy="175"/>
              </a:xfrm>
            </p:grpSpPr>
            <p:sp>
              <p:nvSpPr>
                <p:cNvPr id="87226" name="Oval 187"/>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227" name="Line 188"/>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87228" name="Line 189"/>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87229" name="Rectangle 190"/>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87230" name="Oval 191"/>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231" name="Group 192"/>
                <p:cNvGrpSpPr/>
                <p:nvPr/>
              </p:nvGrpSpPr>
              <p:grpSpPr>
                <a:xfrm>
                  <a:off x="3686" y="244"/>
                  <a:ext cx="177" cy="66"/>
                  <a:chOff x="2848" y="848"/>
                  <a:chExt cx="140" cy="98"/>
                </a:xfrm>
              </p:grpSpPr>
              <p:sp>
                <p:nvSpPr>
                  <p:cNvPr id="87232" name="Line 193"/>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233" name="Line 194"/>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234" name="Line 195"/>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87235" name="Group 196"/>
                <p:cNvGrpSpPr/>
                <p:nvPr/>
              </p:nvGrpSpPr>
              <p:grpSpPr>
                <a:xfrm flipV="1">
                  <a:off x="3686" y="243"/>
                  <a:ext cx="177" cy="66"/>
                  <a:chOff x="2848" y="848"/>
                  <a:chExt cx="140" cy="98"/>
                </a:xfrm>
              </p:grpSpPr>
              <p:sp>
                <p:nvSpPr>
                  <p:cNvPr id="87236" name="Line 197"/>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237" name="Line 198"/>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238" name="Line 199"/>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grpSp>
          <p:nvGrpSpPr>
            <p:cNvPr id="87239" name="Group 200"/>
            <p:cNvGrpSpPr/>
            <p:nvPr/>
          </p:nvGrpSpPr>
          <p:grpSpPr>
            <a:xfrm>
              <a:off x="641" y="2728"/>
              <a:ext cx="310" cy="326"/>
              <a:chOff x="3028" y="1864"/>
              <a:chExt cx="347" cy="631"/>
            </a:xfrm>
          </p:grpSpPr>
          <p:sp>
            <p:nvSpPr>
              <p:cNvPr id="87240" name="Rectangle 201"/>
              <p:cNvSpPr/>
              <p:nvPr/>
            </p:nvSpPr>
            <p:spPr>
              <a:xfrm>
                <a:off x="3047" y="2042"/>
                <a:ext cx="260" cy="45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241" name="Freeform 202"/>
              <p:cNvSpPr/>
              <p:nvPr/>
            </p:nvSpPr>
            <p:spPr>
              <a:xfrm>
                <a:off x="3309" y="1888"/>
                <a:ext cx="48" cy="163"/>
              </a:xfrm>
              <a:custGeom>
                <a:avLst/>
                <a:gdLst/>
                <a:ahLst/>
                <a:cxnLst>
                  <a:cxn ang="0">
                    <a:pos x="22" y="0"/>
                  </a:cxn>
                  <a:cxn ang="0">
                    <a:pos x="37" y="278"/>
                  </a:cxn>
                  <a:cxn ang="0">
                    <a:pos x="0" y="359"/>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42" name="Freeform 203"/>
              <p:cNvSpPr/>
              <p:nvPr/>
            </p:nvSpPr>
            <p:spPr>
              <a:xfrm>
                <a:off x="3307" y="2020"/>
                <a:ext cx="49" cy="475"/>
              </a:xfrm>
              <a:custGeom>
                <a:avLst/>
                <a:gdLst/>
                <a:ahLst/>
                <a:cxnLst>
                  <a:cxn ang="0">
                    <a:pos x="2" y="72"/>
                  </a:cxn>
                  <a:cxn ang="0">
                    <a:pos x="0" y="1003"/>
                  </a:cxn>
                  <a:cxn ang="0">
                    <a:pos x="37" y="899"/>
                  </a:cxn>
                  <a:cxn ang="0">
                    <a:pos x="38" y="0"/>
                  </a:cxn>
                  <a:cxn ang="0">
                    <a:pos x="2" y="7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43" name="Freeform 204"/>
              <p:cNvSpPr/>
              <p:nvPr/>
            </p:nvSpPr>
            <p:spPr>
              <a:xfrm>
                <a:off x="3339" y="1864"/>
                <a:ext cx="36" cy="171"/>
              </a:xfrm>
              <a:custGeom>
                <a:avLst/>
                <a:gdLst/>
                <a:ahLst/>
                <a:cxnLst>
                  <a:cxn ang="0">
                    <a:pos x="7" y="0"/>
                  </a:cxn>
                  <a:cxn ang="0">
                    <a:pos x="28" y="375"/>
                  </a:cxn>
                  <a:cxn ang="0">
                    <a:pos x="8" y="371"/>
                  </a:cxn>
                  <a:cxn ang="0">
                    <a:pos x="0" y="169"/>
                  </a:cxn>
                  <a:cxn ang="0">
                    <a:pos x="7"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44" name="Freeform 205"/>
              <p:cNvSpPr/>
              <p:nvPr/>
            </p:nvSpPr>
            <p:spPr>
              <a:xfrm>
                <a:off x="3319" y="1941"/>
                <a:ext cx="34" cy="112"/>
              </a:xfrm>
              <a:custGeom>
                <a:avLst/>
                <a:gdLst/>
                <a:ahLst/>
                <a:cxnLst>
                  <a:cxn ang="0">
                    <a:pos x="14" y="0"/>
                  </a:cxn>
                  <a:cxn ang="0">
                    <a:pos x="0" y="246"/>
                  </a:cxn>
                  <a:cxn ang="0">
                    <a:pos x="26" y="217"/>
                  </a:cxn>
                  <a:cxn ang="0">
                    <a:pos x="14"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45" name="Freeform 206"/>
              <p:cNvSpPr/>
              <p:nvPr/>
            </p:nvSpPr>
            <p:spPr>
              <a:xfrm>
                <a:off x="3028" y="1868"/>
                <a:ext cx="322" cy="209"/>
              </a:xfrm>
              <a:custGeom>
                <a:avLst/>
                <a:gdLst/>
                <a:ahLst/>
                <a:cxnLst>
                  <a:cxn ang="0">
                    <a:pos x="0" y="460"/>
                  </a:cxn>
                  <a:cxn ang="0">
                    <a:pos x="39" y="4"/>
                  </a:cxn>
                  <a:cxn ang="0">
                    <a:pos x="249" y="0"/>
                  </a:cxn>
                  <a:cxn ang="0">
                    <a:pos x="221" y="460"/>
                  </a:cxn>
                  <a:cxn ang="0">
                    <a:pos x="0" y="460"/>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87246" name="Group 207"/>
            <p:cNvGrpSpPr/>
            <p:nvPr/>
          </p:nvGrpSpPr>
          <p:grpSpPr>
            <a:xfrm>
              <a:off x="611" y="2856"/>
              <a:ext cx="370" cy="160"/>
              <a:chOff x="3600" y="219"/>
              <a:chExt cx="360" cy="175"/>
            </a:xfrm>
          </p:grpSpPr>
          <p:sp>
            <p:nvSpPr>
              <p:cNvPr id="87247" name="Oval 208"/>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87248" name="Line 209"/>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87249" name="Line 210"/>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87250" name="Rectangle 211"/>
              <p:cNvSpPr/>
              <p:nvPr/>
            </p:nvSpPr>
            <p:spPr>
              <a:xfrm>
                <a:off x="3603" y="289"/>
                <a:ext cx="354" cy="59"/>
              </a:xfrm>
              <a:prstGeom prst="rect">
                <a:avLst/>
              </a:prstGeom>
              <a:solidFill>
                <a:schemeClr val="hlink"/>
              </a:solidFill>
              <a:ln w="12700">
                <a:noFill/>
              </a:ln>
            </p:spPr>
            <p:txBody>
              <a:bodyPr wrap="none" anchor="ctr" anchorCtr="0"/>
              <a:p>
                <a:pPr algn="ctr" eaLnBrk="0" hangingPunct="0">
                  <a:buClrTx/>
                  <a:buFontTx/>
                </a:pPr>
                <a:endParaRPr lang="zh-CN" altLang="zh-CN" sz="2400" dirty="0">
                  <a:latin typeface="Times New Roman" panose="02020603050405020304" pitchFamily="18" charset="0"/>
                  <a:ea typeface="宋体" panose="02010600030101010101" pitchFamily="2" charset="-122"/>
                </a:endParaRPr>
              </a:p>
            </p:txBody>
          </p:sp>
          <p:sp>
            <p:nvSpPr>
              <p:cNvPr id="87251" name="Oval 212"/>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252" name="Group 213"/>
              <p:cNvGrpSpPr/>
              <p:nvPr/>
            </p:nvGrpSpPr>
            <p:grpSpPr>
              <a:xfrm>
                <a:off x="3686" y="244"/>
                <a:ext cx="177" cy="66"/>
                <a:chOff x="2848" y="848"/>
                <a:chExt cx="140" cy="98"/>
              </a:xfrm>
            </p:grpSpPr>
            <p:sp>
              <p:nvSpPr>
                <p:cNvPr id="87253" name="Line 21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254" name="Line 21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255" name="Line 21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87256" name="Group 217"/>
              <p:cNvGrpSpPr/>
              <p:nvPr/>
            </p:nvGrpSpPr>
            <p:grpSpPr>
              <a:xfrm flipV="1">
                <a:off x="3686" y="243"/>
                <a:ext cx="177" cy="66"/>
                <a:chOff x="2848" y="848"/>
                <a:chExt cx="140" cy="98"/>
              </a:xfrm>
            </p:grpSpPr>
            <p:sp>
              <p:nvSpPr>
                <p:cNvPr id="87257" name="Line 218"/>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87258" name="Line 219"/>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87259" name="Line 220"/>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87260" name="Text Box 221"/>
            <p:cNvSpPr txBox="1"/>
            <p:nvPr/>
          </p:nvSpPr>
          <p:spPr>
            <a:xfrm>
              <a:off x="1002" y="3328"/>
              <a:ext cx="2277" cy="262"/>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Gateway GPRS Support Node (GGSN)</a:t>
              </a:r>
              <a:endParaRPr lang="en-US" altLang="zh-CN" sz="1400" dirty="0">
                <a:latin typeface="Arial" panose="020B0604020202020204" pitchFamily="34" charset="0"/>
                <a:ea typeface="宋体" panose="02010600030101010101" pitchFamily="2" charset="-122"/>
              </a:endParaRPr>
            </a:p>
          </p:txBody>
        </p:sp>
      </p:grpSp>
      <p:sp>
        <p:nvSpPr>
          <p:cNvPr id="87261" name="Freeform 222"/>
          <p:cNvSpPr/>
          <p:nvPr/>
        </p:nvSpPr>
        <p:spPr>
          <a:xfrm>
            <a:off x="7286625" y="3284538"/>
            <a:ext cx="1235075" cy="1681162"/>
          </a:xfrm>
          <a:custGeom>
            <a:avLst/>
            <a:gdLst/>
            <a:ahLst/>
            <a:cxnLst>
              <a:cxn ang="0">
                <a:pos x="218403704" y="12561160"/>
              </a:cxn>
              <a:cxn ang="0">
                <a:pos x="31983854" y="281729262"/>
              </a:cxn>
              <a:cxn ang="0">
                <a:pos x="26500580" y="938498305"/>
              </a:cxn>
              <a:cxn ang="0">
                <a:pos x="48432720" y="1487600643"/>
              </a:cxn>
              <a:cxn ang="0">
                <a:pos x="223886022" y="1562967604"/>
              </a:cxn>
              <a:cxn ang="0">
                <a:pos x="591242447" y="2025935507"/>
              </a:cxn>
              <a:cxn ang="0">
                <a:pos x="909253229" y="2147483646"/>
              </a:cxn>
              <a:cxn ang="0">
                <a:pos x="1095673079" y="1832134366"/>
              </a:cxn>
              <a:cxn ang="0">
                <a:pos x="1161467589" y="798530517"/>
              </a:cxn>
              <a:cxn ang="0">
                <a:pos x="1101155397" y="378629832"/>
              </a:cxn>
              <a:cxn ang="0">
                <a:pos x="684452372" y="206362301"/>
              </a:cxn>
              <a:cxn ang="0">
                <a:pos x="218403704" y="12561160"/>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7262" name="Text Box 223"/>
          <p:cNvSpPr txBox="1"/>
          <p:nvPr/>
        </p:nvSpPr>
        <p:spPr>
          <a:xfrm>
            <a:off x="7394575" y="3627438"/>
            <a:ext cx="1019175" cy="581025"/>
          </a:xfrm>
          <a:prstGeom prst="rect">
            <a:avLst/>
          </a:prstGeom>
          <a:noFill/>
          <a:ln w="9525">
            <a:noFill/>
          </a:ln>
        </p:spPr>
        <p:txBody>
          <a:bodyPr wrap="none" anchor="t" anchorCtr="0">
            <a:spAutoFit/>
          </a:bodyPr>
          <a:p>
            <a:pPr>
              <a:buClrTx/>
              <a:buFontTx/>
            </a:pPr>
            <a:r>
              <a:rPr lang="en-US" altLang="zh-CN" sz="1600" dirty="0">
                <a:latin typeface="Comic Sans MS" panose="030F0702030302020204" pitchFamily="66" charset="0"/>
                <a:ea typeface="宋体" panose="02010600030101010101" pitchFamily="2" charset="-122"/>
              </a:rPr>
              <a:t>Public </a:t>
            </a:r>
            <a:endParaRPr lang="en-US" altLang="zh-CN" sz="1600" dirty="0">
              <a:latin typeface="Comic Sans MS" panose="030F0702030302020204" pitchFamily="66" charset="0"/>
              <a:ea typeface="宋体" panose="02010600030101010101" pitchFamily="2" charset="-122"/>
            </a:endParaRPr>
          </a:p>
          <a:p>
            <a:pPr>
              <a:buClrTx/>
              <a:buFontTx/>
            </a:pPr>
            <a:r>
              <a:rPr lang="en-US" altLang="zh-CN" sz="1600" dirty="0">
                <a:latin typeface="Comic Sans MS" panose="030F0702030302020204" pitchFamily="66" charset="0"/>
                <a:ea typeface="宋体" panose="02010600030101010101" pitchFamily="2" charset="-122"/>
              </a:rPr>
              <a:t>Internet</a:t>
            </a:r>
            <a:endParaRPr lang="en-US" altLang="zh-CN" sz="1600" dirty="0">
              <a:latin typeface="Comic Sans MS" panose="030F0702030302020204" pitchFamily="66" charset="0"/>
              <a:ea typeface="宋体" panose="02010600030101010101" pitchFamily="2" charset="-122"/>
            </a:endParaRPr>
          </a:p>
        </p:txBody>
      </p:sp>
      <p:grpSp>
        <p:nvGrpSpPr>
          <p:cNvPr id="87263" name="Group 224"/>
          <p:cNvGrpSpPr/>
          <p:nvPr/>
        </p:nvGrpSpPr>
        <p:grpSpPr>
          <a:xfrm>
            <a:off x="6521450" y="3494088"/>
            <a:ext cx="550863" cy="1001712"/>
            <a:chOff x="611" y="3693"/>
            <a:chExt cx="449" cy="287"/>
          </a:xfrm>
        </p:grpSpPr>
        <p:sp>
          <p:nvSpPr>
            <p:cNvPr id="87264" name="Rectangle 225"/>
            <p:cNvSpPr/>
            <p:nvPr/>
          </p:nvSpPr>
          <p:spPr>
            <a:xfrm>
              <a:off x="635" y="3774"/>
              <a:ext cx="337"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87265" name="Group 226"/>
            <p:cNvGrpSpPr/>
            <p:nvPr/>
          </p:nvGrpSpPr>
          <p:grpSpPr>
            <a:xfrm>
              <a:off x="687" y="3826"/>
              <a:ext cx="224" cy="110"/>
              <a:chOff x="687" y="3826"/>
              <a:chExt cx="224" cy="110"/>
            </a:xfrm>
          </p:grpSpPr>
          <p:sp>
            <p:nvSpPr>
              <p:cNvPr id="87266"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67"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268"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269" name="Freeform 230"/>
            <p:cNvSpPr/>
            <p:nvPr/>
          </p:nvSpPr>
          <p:spPr>
            <a:xfrm>
              <a:off x="972" y="3764"/>
              <a:ext cx="63" cy="216"/>
            </a:xfrm>
            <a:custGeom>
              <a:avLst/>
              <a:gdLst/>
              <a:ahLst/>
              <a:cxnLst>
                <a:cxn ang="0">
                  <a:pos x="2" y="14"/>
                </a:cxn>
                <a:cxn ang="0">
                  <a:pos x="0" y="207"/>
                </a:cxn>
                <a:cxn ang="0">
                  <a:pos x="62" y="186"/>
                </a:cxn>
                <a:cxn ang="0">
                  <a:pos x="63" y="0"/>
                </a:cxn>
                <a:cxn ang="0">
                  <a:pos x="2" y="14"/>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70"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71"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7272"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7273" name="Text Box 234"/>
          <p:cNvSpPr txBox="1"/>
          <p:nvPr/>
        </p:nvSpPr>
        <p:spPr>
          <a:xfrm>
            <a:off x="6469063" y="4476750"/>
            <a:ext cx="857250" cy="311150"/>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宋体" panose="02010600030101010101" pitchFamily="2" charset="-122"/>
              </a:rPr>
              <a:t>GGSN</a:t>
            </a:r>
            <a:endParaRPr lang="en-US" altLang="zh-CN" dirty="0">
              <a:latin typeface="Arial" panose="020B0604020202020204" pitchFamily="34" charset="0"/>
              <a:ea typeface="宋体" panose="02010600030101010101" pitchFamily="2" charset="-122"/>
            </a:endParaRPr>
          </a:p>
        </p:txBody>
      </p:sp>
      <p:sp>
        <p:nvSpPr>
          <p:cNvPr id="87274" name="Text Box 235"/>
          <p:cNvSpPr txBox="1"/>
          <p:nvPr/>
        </p:nvSpPr>
        <p:spPr>
          <a:xfrm>
            <a:off x="6591300" y="3497263"/>
            <a:ext cx="3619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G</a:t>
            </a:r>
            <a:endParaRPr lang="en-US" altLang="zh-CN" dirty="0">
              <a:latin typeface="Arial" panose="020B0604020202020204" pitchFamily="34" charset="0"/>
              <a:ea typeface="宋体" panose="02010600030101010101" pitchFamily="2" charset="-122"/>
            </a:endParaRPr>
          </a:p>
        </p:txBody>
      </p:sp>
      <p:sp>
        <p:nvSpPr>
          <p:cNvPr id="87275" name="Line 236"/>
          <p:cNvSpPr/>
          <p:nvPr/>
        </p:nvSpPr>
        <p:spPr>
          <a:xfrm flipH="1">
            <a:off x="6310313" y="4229100"/>
            <a:ext cx="236537" cy="146050"/>
          </a:xfrm>
          <a:prstGeom prst="line">
            <a:avLst/>
          </a:prstGeom>
          <a:ln w="9525" cap="flat" cmpd="sng">
            <a:solidFill>
              <a:schemeClr val="tx1"/>
            </a:solidFill>
            <a:prstDash val="solid"/>
            <a:round/>
            <a:headEnd type="none" w="med" len="med"/>
            <a:tailEnd type="none" w="med" len="med"/>
          </a:ln>
        </p:spPr>
      </p:sp>
      <p:sp>
        <p:nvSpPr>
          <p:cNvPr id="87276" name="Line 237"/>
          <p:cNvSpPr/>
          <p:nvPr/>
        </p:nvSpPr>
        <p:spPr>
          <a:xfrm flipH="1" flipV="1">
            <a:off x="6321425" y="3946525"/>
            <a:ext cx="225425" cy="90488"/>
          </a:xfrm>
          <a:prstGeom prst="line">
            <a:avLst/>
          </a:prstGeom>
          <a:ln w="9525" cap="flat" cmpd="sng">
            <a:solidFill>
              <a:schemeClr val="tx1"/>
            </a:solidFill>
            <a:prstDash val="solid"/>
            <a:round/>
            <a:headEnd type="none" w="med" len="med"/>
            <a:tailEnd type="none" w="med" len="med"/>
          </a:ln>
        </p:spPr>
      </p:sp>
      <p:sp>
        <p:nvSpPr>
          <p:cNvPr id="87277" name="Line 238"/>
          <p:cNvSpPr/>
          <p:nvPr/>
        </p:nvSpPr>
        <p:spPr>
          <a:xfrm flipH="1">
            <a:off x="5943600" y="4403725"/>
            <a:ext cx="327025" cy="203200"/>
          </a:xfrm>
          <a:prstGeom prst="line">
            <a:avLst/>
          </a:prstGeom>
          <a:ln w="9525" cap="flat" cmpd="sng">
            <a:solidFill>
              <a:schemeClr val="tx1"/>
            </a:solidFill>
            <a:prstDash val="dash"/>
            <a:round/>
            <a:headEnd type="none" w="med" len="med"/>
            <a:tailEnd type="none" w="med" len="med"/>
          </a:ln>
        </p:spPr>
      </p:sp>
      <p:sp>
        <p:nvSpPr>
          <p:cNvPr id="87278" name="Line 239"/>
          <p:cNvSpPr/>
          <p:nvPr/>
        </p:nvSpPr>
        <p:spPr>
          <a:xfrm flipH="1" flipV="1">
            <a:off x="6038850" y="3856038"/>
            <a:ext cx="236538" cy="79375"/>
          </a:xfrm>
          <a:prstGeom prst="line">
            <a:avLst/>
          </a:prstGeom>
          <a:ln w="9525" cap="flat" cmpd="sng">
            <a:solidFill>
              <a:schemeClr val="tx1"/>
            </a:solidFill>
            <a:prstDash val="dash"/>
            <a:round/>
            <a:headEnd type="none" w="med" len="med"/>
            <a:tailEnd type="none" w="med" len="med"/>
          </a:ln>
        </p:spPr>
      </p:sp>
      <p:sp>
        <p:nvSpPr>
          <p:cNvPr id="87279" name="Line 240"/>
          <p:cNvSpPr/>
          <p:nvPr/>
        </p:nvSpPr>
        <p:spPr>
          <a:xfrm>
            <a:off x="7051675" y="4127500"/>
            <a:ext cx="304800" cy="0"/>
          </a:xfrm>
          <a:prstGeom prst="line">
            <a:avLst/>
          </a:prstGeom>
          <a:ln w="9525" cap="flat" cmpd="sng">
            <a:solidFill>
              <a:schemeClr val="tx1"/>
            </a:solidFill>
            <a:prstDash val="solid"/>
            <a:round/>
            <a:headEnd type="none" w="med" len="med"/>
            <a:tailEnd type="none" w="med" len="med"/>
          </a:ln>
        </p:spPr>
      </p:sp>
      <p:sp>
        <p:nvSpPr>
          <p:cNvPr id="87280" name="Text Box 241"/>
          <p:cNvSpPr txBox="1"/>
          <p:nvPr/>
        </p:nvSpPr>
        <p:spPr>
          <a:xfrm>
            <a:off x="263525" y="3895725"/>
            <a:ext cx="4349750" cy="2225675"/>
          </a:xfrm>
          <a:prstGeom prst="rect">
            <a:avLst/>
          </a:prstGeom>
          <a:noFill/>
          <a:ln w="9525">
            <a:noFill/>
          </a:ln>
        </p:spPr>
        <p:txBody>
          <a:bodyPr wrap="none" anchor="t" anchorCtr="0">
            <a:spAutoFit/>
          </a:bodyPr>
          <a:p>
            <a:pPr eaLnBrk="0" hangingPunct="0">
              <a:buClrTx/>
              <a:buFontTx/>
            </a:pPr>
            <a:r>
              <a:rPr lang="en-US" altLang="zh-CN" sz="2000" b="1" i="1" dirty="0">
                <a:solidFill>
                  <a:srgbClr val="FF3300"/>
                </a:solidFill>
                <a:latin typeface="Comic Sans MS" panose="030F0702030302020204" pitchFamily="66" charset="0"/>
                <a:ea typeface="宋体" panose="02010600030101010101" pitchFamily="2" charset="-122"/>
              </a:rPr>
              <a:t>Key insight:</a:t>
            </a:r>
            <a:r>
              <a:rPr lang="en-US" altLang="zh-CN" sz="2000" dirty="0">
                <a:latin typeface="Comic Sans MS" panose="030F0702030302020204" pitchFamily="66" charset="0"/>
                <a:ea typeface="宋体" panose="02010600030101010101" pitchFamily="2" charset="-122"/>
              </a:rPr>
              <a:t> new cellular data</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network operates </a:t>
            </a:r>
            <a:r>
              <a:rPr lang="en-US" altLang="zh-CN" sz="2000" i="1" dirty="0">
                <a:latin typeface="Comic Sans MS" panose="030F0702030302020204" pitchFamily="66" charset="0"/>
                <a:ea typeface="宋体" panose="02010600030101010101" pitchFamily="2" charset="-122"/>
              </a:rPr>
              <a:t>in parallel</a:t>
            </a:r>
            <a:r>
              <a:rPr lang="en-US" altLang="zh-CN" sz="2000" dirty="0">
                <a:latin typeface="Comic Sans MS" panose="030F0702030302020204" pitchFamily="66" charset="0"/>
                <a:ea typeface="宋体" panose="02010600030101010101" pitchFamily="2" charset="-122"/>
              </a:rPr>
              <a:t> </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(except at edge) with existing </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cellular voice network</a:t>
            </a:r>
            <a:endParaRPr lang="en-US" altLang="zh-CN" sz="2000" dirty="0">
              <a:latin typeface="Comic Sans MS" panose="030F0702030302020204" pitchFamily="66" charset="0"/>
              <a:ea typeface="宋体" panose="02010600030101010101" pitchFamily="2" charset="-122"/>
            </a:endParaRPr>
          </a:p>
          <a:p>
            <a:pPr eaLnBrk="0" hangingPunct="0">
              <a:buClr>
                <a:schemeClr val="accent2"/>
              </a:buClr>
              <a:buSzPct val="80000"/>
              <a:buFont typeface="Wingdings" panose="05000000000000000000" pitchFamily="2" charset="2"/>
              <a:buChar char="q"/>
            </a:pPr>
            <a:r>
              <a:rPr lang="en-US" altLang="zh-CN" sz="2000" dirty="0">
                <a:latin typeface="Comic Sans MS" panose="030F0702030302020204" pitchFamily="66" charset="0"/>
                <a:ea typeface="宋体" panose="02010600030101010101" pitchFamily="2" charset="-122"/>
              </a:rPr>
              <a:t> voice network unchanged in core</a:t>
            </a:r>
            <a:endParaRPr lang="en-US" altLang="zh-CN" sz="2000" dirty="0">
              <a:latin typeface="Comic Sans MS" panose="030F0702030302020204" pitchFamily="66" charset="0"/>
              <a:ea typeface="宋体" panose="02010600030101010101" pitchFamily="2" charset="-122"/>
            </a:endParaRPr>
          </a:p>
          <a:p>
            <a:pPr eaLnBrk="0" hangingPunct="0">
              <a:buClr>
                <a:schemeClr val="accent2"/>
              </a:buClr>
              <a:buSzPct val="80000"/>
              <a:buFont typeface="Wingdings" panose="05000000000000000000" pitchFamily="2" charset="2"/>
              <a:buChar char="q"/>
            </a:pPr>
            <a:r>
              <a:rPr lang="en-US" altLang="zh-CN" sz="2000" dirty="0">
                <a:latin typeface="Comic Sans MS" panose="030F0702030302020204" pitchFamily="66" charset="0"/>
                <a:ea typeface="宋体" panose="02010600030101010101" pitchFamily="2" charset="-122"/>
              </a:rPr>
              <a:t> data network operates in parallel</a:t>
            </a:r>
            <a:endParaRPr lang="en-US" altLang="zh-CN" sz="2000" dirty="0">
              <a:latin typeface="Comic Sans MS" panose="030F0702030302020204" pitchFamily="66" charset="0"/>
              <a:ea typeface="宋体" panose="02010600030101010101" pitchFamily="2" charset="-122"/>
            </a:endParaRPr>
          </a:p>
          <a:p>
            <a:pPr eaLnBrk="0" hangingPunct="0">
              <a:buClrTx/>
              <a:buFontTx/>
            </a:pPr>
            <a:endParaRPr lang="en-US" altLang="zh-CN" sz="2000" dirty="0">
              <a:latin typeface="Comic Sans MS" panose="030F0702030302020204" pitchFamily="66" charset="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p:nvPr/>
        </p:nvSpPr>
        <p:spPr>
          <a:xfrm>
            <a:off x="331788" y="230188"/>
            <a:ext cx="8105775" cy="708025"/>
          </a:xfrm>
          <a:prstGeom prst="rect">
            <a:avLst/>
          </a:prstGeom>
          <a:noFill/>
          <a:ln w="9525">
            <a:noFill/>
          </a:ln>
        </p:spPr>
        <p:txBody>
          <a:bodyPr wrap="none" anchor="t" anchorCtr="0">
            <a:spAutoFit/>
          </a:bodyPr>
          <a:p>
            <a:pPr eaLnBrk="0" hangingPunct="0">
              <a:buClrTx/>
              <a:buFontTx/>
            </a:pPr>
            <a:r>
              <a:rPr lang="en-US" altLang="zh-CN" sz="4000" dirty="0">
                <a:solidFill>
                  <a:srgbClr val="000099"/>
                </a:solidFill>
                <a:latin typeface="Gill Sans MT" panose="020B0502020104020203" pitchFamily="34" charset="0"/>
                <a:ea typeface="宋体" panose="02010600030101010101" pitchFamily="2" charset="-122"/>
              </a:rPr>
              <a:t>3G (voice+data) network architecture</a:t>
            </a:r>
            <a:endParaRPr lang="en-US" altLang="zh-CN" sz="4000" dirty="0">
              <a:solidFill>
                <a:srgbClr val="000099"/>
              </a:solidFill>
              <a:latin typeface="Gill Sans MT" panose="020B0502020104020203" pitchFamily="34" charset="0"/>
              <a:ea typeface="宋体" panose="02010600030101010101" pitchFamily="2" charset="-122"/>
            </a:endParaRPr>
          </a:p>
        </p:txBody>
      </p:sp>
      <p:sp>
        <p:nvSpPr>
          <p:cNvPr id="88066" name="Line 96"/>
          <p:cNvSpPr/>
          <p:nvPr/>
        </p:nvSpPr>
        <p:spPr>
          <a:xfrm flipV="1">
            <a:off x="2012950" y="2292350"/>
            <a:ext cx="1695450" cy="414338"/>
          </a:xfrm>
          <a:prstGeom prst="line">
            <a:avLst/>
          </a:prstGeom>
          <a:ln w="9525" cap="flat" cmpd="sng">
            <a:solidFill>
              <a:schemeClr val="tx1"/>
            </a:solidFill>
            <a:prstDash val="solid"/>
            <a:round/>
            <a:headEnd type="none" w="med" len="med"/>
            <a:tailEnd type="none" w="med" len="med"/>
          </a:ln>
        </p:spPr>
      </p:sp>
      <p:sp>
        <p:nvSpPr>
          <p:cNvPr id="88067" name="Line 97"/>
          <p:cNvSpPr/>
          <p:nvPr/>
        </p:nvSpPr>
        <p:spPr>
          <a:xfrm flipV="1">
            <a:off x="2574925" y="2284413"/>
            <a:ext cx="1109663" cy="0"/>
          </a:xfrm>
          <a:prstGeom prst="line">
            <a:avLst/>
          </a:prstGeom>
          <a:ln w="9525" cap="flat" cmpd="sng">
            <a:solidFill>
              <a:schemeClr val="tx1"/>
            </a:solidFill>
            <a:prstDash val="solid"/>
            <a:round/>
            <a:headEnd type="none" w="med" len="med"/>
            <a:tailEnd type="none" w="med" len="med"/>
          </a:ln>
        </p:spPr>
      </p:sp>
      <p:sp>
        <p:nvSpPr>
          <p:cNvPr id="88068" name="Line 98"/>
          <p:cNvSpPr/>
          <p:nvPr/>
        </p:nvSpPr>
        <p:spPr>
          <a:xfrm>
            <a:off x="2082800" y="1911350"/>
            <a:ext cx="1624013" cy="381000"/>
          </a:xfrm>
          <a:prstGeom prst="line">
            <a:avLst/>
          </a:prstGeom>
          <a:ln w="9525" cap="flat" cmpd="sng">
            <a:solidFill>
              <a:schemeClr val="tx1"/>
            </a:solidFill>
            <a:prstDash val="solid"/>
            <a:round/>
            <a:headEnd type="none" w="med" len="med"/>
            <a:tailEnd type="none" w="med" len="med"/>
          </a:ln>
        </p:spPr>
      </p:sp>
      <p:grpSp>
        <p:nvGrpSpPr>
          <p:cNvPr id="88069" name="Group 99"/>
          <p:cNvGrpSpPr/>
          <p:nvPr/>
        </p:nvGrpSpPr>
        <p:grpSpPr>
          <a:xfrm>
            <a:off x="3676650" y="1998663"/>
            <a:ext cx="550863" cy="411162"/>
            <a:chOff x="611" y="3693"/>
            <a:chExt cx="449" cy="287"/>
          </a:xfrm>
        </p:grpSpPr>
        <p:sp>
          <p:nvSpPr>
            <p:cNvPr id="88070" name="Rectangle 10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8071" name="Group 101"/>
            <p:cNvGrpSpPr/>
            <p:nvPr/>
          </p:nvGrpSpPr>
          <p:grpSpPr>
            <a:xfrm>
              <a:off x="687" y="3826"/>
              <a:ext cx="224" cy="110"/>
              <a:chOff x="687" y="3826"/>
              <a:chExt cx="224" cy="110"/>
            </a:xfrm>
          </p:grpSpPr>
          <p:sp>
            <p:nvSpPr>
              <p:cNvPr id="88072" name="Freeform 10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073" name="Freeform 10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8074" name="Freeform 10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075" name="Freeform 10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76" name="Freeform 10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77" name="Freeform 10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78" name="Freeform 10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88079" name="Group 109"/>
          <p:cNvGrpSpPr/>
          <p:nvPr/>
        </p:nvGrpSpPr>
        <p:grpSpPr>
          <a:xfrm>
            <a:off x="4676775" y="1630363"/>
            <a:ext cx="550863" cy="1001712"/>
            <a:chOff x="611" y="3693"/>
            <a:chExt cx="449" cy="287"/>
          </a:xfrm>
        </p:grpSpPr>
        <p:sp>
          <p:nvSpPr>
            <p:cNvPr id="88080"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8081" name="Group 111"/>
            <p:cNvGrpSpPr/>
            <p:nvPr/>
          </p:nvGrpSpPr>
          <p:grpSpPr>
            <a:xfrm>
              <a:off x="687" y="3826"/>
              <a:ext cx="224" cy="110"/>
              <a:chOff x="687" y="3826"/>
              <a:chExt cx="224" cy="110"/>
            </a:xfrm>
          </p:grpSpPr>
          <p:sp>
            <p:nvSpPr>
              <p:cNvPr id="88082" name="Freeform 11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083" name="Freeform 11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8084"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085"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86"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87"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088"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8089" name="Line 119"/>
          <p:cNvSpPr/>
          <p:nvPr/>
        </p:nvSpPr>
        <p:spPr>
          <a:xfrm flipV="1">
            <a:off x="4203700" y="2230438"/>
            <a:ext cx="447675" cy="9525"/>
          </a:xfrm>
          <a:prstGeom prst="line">
            <a:avLst/>
          </a:prstGeom>
          <a:ln w="9525" cap="flat" cmpd="sng">
            <a:solidFill>
              <a:schemeClr val="tx1"/>
            </a:solidFill>
            <a:prstDash val="solid"/>
            <a:round/>
            <a:headEnd type="none" w="med" len="med"/>
            <a:tailEnd type="none" w="med" len="med"/>
          </a:ln>
        </p:spPr>
      </p:sp>
      <p:sp>
        <p:nvSpPr>
          <p:cNvPr id="88090" name="Text Box 120"/>
          <p:cNvSpPr txBox="1"/>
          <p:nvPr/>
        </p:nvSpPr>
        <p:spPr>
          <a:xfrm>
            <a:off x="3529013" y="2430463"/>
            <a:ext cx="1135062" cy="746125"/>
          </a:xfrm>
          <a:prstGeom prst="rect">
            <a:avLst/>
          </a:prstGeom>
          <a:noFill/>
          <a:ln w="9525">
            <a:noFill/>
          </a:ln>
        </p:spPr>
        <p:txBody>
          <a:bodyPr wrap="none" anchor="t" anchorCtr="0">
            <a:spAutoFit/>
          </a:bodyPr>
          <a:p>
            <a:pPr>
              <a:lnSpc>
                <a:spcPts val="1700"/>
              </a:lnSpc>
              <a:buClrTx/>
              <a:buFontTx/>
            </a:pPr>
            <a:r>
              <a:rPr lang="en-US" altLang="zh-CN" dirty="0">
                <a:latin typeface="Arial" panose="020B0604020202020204" pitchFamily="34" charset="0"/>
                <a:ea typeface="MS PGothic" panose="020B0600070205080204" pitchFamily="34" charset="-128"/>
              </a:rPr>
              <a:t>radio</a:t>
            </a:r>
            <a:endParaRPr lang="en-US" altLang="zh-CN" dirty="0">
              <a:latin typeface="Arial" panose="020B0604020202020204" pitchFamily="34" charset="0"/>
              <a:ea typeface="MS PGothic" panose="020B0600070205080204" pitchFamily="34" charset="-128"/>
            </a:endParaRPr>
          </a:p>
          <a:p>
            <a:pPr>
              <a:lnSpc>
                <a:spcPts val="1700"/>
              </a:lnSpc>
              <a:buClrTx/>
              <a:buFontTx/>
            </a:pPr>
            <a:r>
              <a:rPr lang="en-US" altLang="zh-CN" dirty="0">
                <a:latin typeface="Arial" panose="020B0604020202020204" pitchFamily="34" charset="0"/>
                <a:ea typeface="MS PGothic" panose="020B0600070205080204" pitchFamily="34" charset="-128"/>
              </a:rPr>
              <a:t>network </a:t>
            </a:r>
            <a:endParaRPr lang="en-US" altLang="zh-CN" dirty="0">
              <a:latin typeface="Arial" panose="020B0604020202020204" pitchFamily="34" charset="0"/>
              <a:ea typeface="MS PGothic" panose="020B0600070205080204" pitchFamily="34" charset="-128"/>
            </a:endParaRPr>
          </a:p>
          <a:p>
            <a:pPr>
              <a:lnSpc>
                <a:spcPts val="1700"/>
              </a:lnSpc>
              <a:buClrTx/>
              <a:buFontTx/>
            </a:pPr>
            <a:r>
              <a:rPr lang="en-US" altLang="zh-CN" dirty="0">
                <a:latin typeface="Arial" panose="020B0604020202020204" pitchFamily="34" charset="0"/>
                <a:ea typeface="MS PGothic" panose="020B0600070205080204" pitchFamily="34" charset="-128"/>
              </a:rPr>
              <a:t>controller</a:t>
            </a:r>
            <a:endParaRPr lang="en-US" altLang="zh-CN" dirty="0">
              <a:latin typeface="Arial" panose="020B0604020202020204" pitchFamily="34" charset="0"/>
              <a:ea typeface="MS PGothic" panose="020B0600070205080204" pitchFamily="34" charset="-128"/>
            </a:endParaRPr>
          </a:p>
        </p:txBody>
      </p:sp>
      <p:sp>
        <p:nvSpPr>
          <p:cNvPr id="88091" name="Text Box 121"/>
          <p:cNvSpPr txBox="1"/>
          <p:nvPr/>
        </p:nvSpPr>
        <p:spPr>
          <a:xfrm>
            <a:off x="4613275" y="1335088"/>
            <a:ext cx="6921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MSC</a:t>
            </a:r>
            <a:endParaRPr lang="en-US" altLang="zh-CN" dirty="0">
              <a:latin typeface="Arial" panose="020B0604020202020204" pitchFamily="34" charset="0"/>
              <a:ea typeface="MS PGothic" panose="020B0600070205080204" pitchFamily="34" charset="-128"/>
            </a:endParaRPr>
          </a:p>
        </p:txBody>
      </p:sp>
      <p:pic>
        <p:nvPicPr>
          <p:cNvPr id="88092" name="Picture 122" descr="imgyjavg[1]"/>
          <p:cNvPicPr>
            <a:picLocks noChangeAspect="1"/>
          </p:cNvPicPr>
          <p:nvPr/>
        </p:nvPicPr>
        <p:blipFill>
          <a:blip r:embed="rId1"/>
          <a:stretch>
            <a:fillRect/>
          </a:stretch>
        </p:blipFill>
        <p:spPr>
          <a:xfrm>
            <a:off x="600075" y="1728788"/>
            <a:ext cx="252413" cy="182562"/>
          </a:xfrm>
          <a:prstGeom prst="rect">
            <a:avLst/>
          </a:prstGeom>
          <a:noFill/>
          <a:ln w="9525">
            <a:noFill/>
          </a:ln>
        </p:spPr>
      </p:pic>
      <p:grpSp>
        <p:nvGrpSpPr>
          <p:cNvPr id="88093" name="Group 123"/>
          <p:cNvGrpSpPr/>
          <p:nvPr/>
        </p:nvGrpSpPr>
        <p:grpSpPr>
          <a:xfrm>
            <a:off x="223838" y="2135188"/>
            <a:ext cx="831850" cy="180975"/>
            <a:chOff x="3072" y="739"/>
            <a:chExt cx="652" cy="146"/>
          </a:xfrm>
        </p:grpSpPr>
        <p:pic>
          <p:nvPicPr>
            <p:cNvPr id="88094" name="Picture 124" descr="lgv_fqmg[1]"/>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88095" name="Line 125"/>
            <p:cNvSpPr/>
            <p:nvPr/>
          </p:nvSpPr>
          <p:spPr>
            <a:xfrm flipH="1">
              <a:off x="3104" y="784"/>
              <a:ext cx="87" cy="0"/>
            </a:xfrm>
            <a:prstGeom prst="line">
              <a:avLst/>
            </a:prstGeom>
            <a:ln w="9525" cap="flat" cmpd="sng">
              <a:solidFill>
                <a:schemeClr val="tx1"/>
              </a:solidFill>
              <a:prstDash val="solid"/>
              <a:round/>
              <a:headEnd type="none" w="med" len="med"/>
              <a:tailEnd type="none" w="med" len="med"/>
            </a:ln>
          </p:spPr>
        </p:sp>
        <p:sp>
          <p:nvSpPr>
            <p:cNvPr id="88096" name="Line 126"/>
            <p:cNvSpPr/>
            <p:nvPr/>
          </p:nvSpPr>
          <p:spPr>
            <a:xfrm flipH="1">
              <a:off x="3072" y="759"/>
              <a:ext cx="144" cy="0"/>
            </a:xfrm>
            <a:prstGeom prst="line">
              <a:avLst/>
            </a:prstGeom>
            <a:ln w="9525" cap="flat" cmpd="sng">
              <a:solidFill>
                <a:schemeClr val="tx1"/>
              </a:solidFill>
              <a:prstDash val="solid"/>
              <a:round/>
              <a:headEnd type="none" w="med" len="med"/>
              <a:tailEnd type="none" w="med" len="med"/>
            </a:ln>
          </p:spPr>
        </p:sp>
      </p:grpSp>
      <p:sp>
        <p:nvSpPr>
          <p:cNvPr id="88097" name="Oval 127"/>
          <p:cNvSpPr/>
          <p:nvPr/>
        </p:nvSpPr>
        <p:spPr>
          <a:xfrm>
            <a:off x="1184275" y="1406525"/>
            <a:ext cx="3170238" cy="1473200"/>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pic>
        <p:nvPicPr>
          <p:cNvPr id="88098" name="Picture 128" descr="imgyjavg[1]"/>
          <p:cNvPicPr>
            <a:picLocks noChangeAspect="1"/>
          </p:cNvPicPr>
          <p:nvPr/>
        </p:nvPicPr>
        <p:blipFill>
          <a:blip r:embed="rId1"/>
          <a:stretch>
            <a:fillRect/>
          </a:stretch>
        </p:blipFill>
        <p:spPr>
          <a:xfrm>
            <a:off x="501650" y="2468563"/>
            <a:ext cx="252413" cy="182562"/>
          </a:xfrm>
          <a:prstGeom prst="rect">
            <a:avLst/>
          </a:prstGeom>
          <a:noFill/>
          <a:ln w="9525">
            <a:noFill/>
          </a:ln>
        </p:spPr>
      </p:pic>
      <p:grpSp>
        <p:nvGrpSpPr>
          <p:cNvPr id="88099" name="Group 130"/>
          <p:cNvGrpSpPr/>
          <p:nvPr/>
        </p:nvGrpSpPr>
        <p:grpSpPr>
          <a:xfrm>
            <a:off x="4660900" y="3173413"/>
            <a:ext cx="582613" cy="641350"/>
            <a:chOff x="3028" y="1864"/>
            <a:chExt cx="347" cy="631"/>
          </a:xfrm>
        </p:grpSpPr>
        <p:sp>
          <p:nvSpPr>
            <p:cNvPr id="88100" name="Rectangle 131"/>
            <p:cNvSpPr/>
            <p:nvPr/>
          </p:nvSpPr>
          <p:spPr>
            <a:xfrm>
              <a:off x="3047" y="2042"/>
              <a:ext cx="260" cy="45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88101" name="Freeform 132"/>
            <p:cNvSpPr/>
            <p:nvPr/>
          </p:nvSpPr>
          <p:spPr>
            <a:xfrm>
              <a:off x="3309" y="1888"/>
              <a:ext cx="48" cy="163"/>
            </a:xfrm>
            <a:custGeom>
              <a:avLst/>
              <a:gdLst/>
              <a:ahLst/>
              <a:cxnLst>
                <a:cxn ang="0">
                  <a:pos x="5" y="0"/>
                </a:cxn>
                <a:cxn ang="0">
                  <a:pos x="8" y="31732"/>
                </a:cxn>
                <a:cxn ang="0">
                  <a:pos x="0" y="41008"/>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02" name="Freeform 133"/>
            <p:cNvSpPr/>
            <p:nvPr/>
          </p:nvSpPr>
          <p:spPr>
            <a:xfrm>
              <a:off x="3307" y="2020"/>
              <a:ext cx="49" cy="475"/>
            </a:xfrm>
            <a:custGeom>
              <a:avLst/>
              <a:gdLst/>
              <a:ahLst/>
              <a:cxnLst>
                <a:cxn ang="0">
                  <a:pos x="2" y="6378"/>
                </a:cxn>
                <a:cxn ang="0">
                  <a:pos x="0" y="88770"/>
                </a:cxn>
                <a:cxn ang="0">
                  <a:pos x="9" y="79589"/>
                </a:cxn>
                <a:cxn ang="0">
                  <a:pos x="9" y="0"/>
                </a:cxn>
                <a:cxn ang="0">
                  <a:pos x="2" y="6378"/>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03" name="Freeform 134"/>
            <p:cNvSpPr/>
            <p:nvPr/>
          </p:nvSpPr>
          <p:spPr>
            <a:xfrm>
              <a:off x="3339" y="1864"/>
              <a:ext cx="36" cy="171"/>
            </a:xfrm>
            <a:custGeom>
              <a:avLst/>
              <a:gdLst/>
              <a:ahLst/>
              <a:cxnLst>
                <a:cxn ang="0">
                  <a:pos x="2" y="0"/>
                </a:cxn>
                <a:cxn ang="0">
                  <a:pos x="5" y="41632"/>
                </a:cxn>
                <a:cxn ang="0">
                  <a:pos x="2" y="41165"/>
                </a:cxn>
                <a:cxn ang="0">
                  <a:pos x="0" y="18777"/>
                </a:cxn>
                <a:cxn ang="0">
                  <a:pos x="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04" name="Freeform 135"/>
            <p:cNvSpPr/>
            <p:nvPr/>
          </p:nvSpPr>
          <p:spPr>
            <a:xfrm>
              <a:off x="3319" y="1941"/>
              <a:ext cx="34" cy="112"/>
            </a:xfrm>
            <a:custGeom>
              <a:avLst/>
              <a:gdLst/>
              <a:ahLst/>
              <a:cxnLst>
                <a:cxn ang="0">
                  <a:pos x="3" y="0"/>
                </a:cxn>
                <a:cxn ang="0">
                  <a:pos x="0" y="27592"/>
                </a:cxn>
                <a:cxn ang="0">
                  <a:pos x="5" y="24370"/>
                </a:cxn>
                <a:cxn ang="0">
                  <a:pos x="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05" name="Freeform 136"/>
            <p:cNvSpPr/>
            <p:nvPr/>
          </p:nvSpPr>
          <p:spPr>
            <a:xfrm>
              <a:off x="3028" y="1868"/>
              <a:ext cx="322" cy="209"/>
            </a:xfrm>
            <a:custGeom>
              <a:avLst/>
              <a:gdLst/>
              <a:ahLst/>
              <a:cxnLst>
                <a:cxn ang="0">
                  <a:pos x="0" y="52142"/>
                </a:cxn>
                <a:cxn ang="0">
                  <a:pos x="8" y="469"/>
                </a:cxn>
                <a:cxn ang="0">
                  <a:pos x="53" y="0"/>
                </a:cxn>
                <a:cxn ang="0">
                  <a:pos x="47" y="52142"/>
                </a:cxn>
                <a:cxn ang="0">
                  <a:pos x="0" y="52142"/>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8106" name="Text Box 137"/>
          <p:cNvSpPr txBox="1"/>
          <p:nvPr/>
        </p:nvSpPr>
        <p:spPr>
          <a:xfrm>
            <a:off x="4591050" y="3817938"/>
            <a:ext cx="8318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SGSN</a:t>
            </a:r>
            <a:endParaRPr lang="en-US" altLang="zh-CN" dirty="0">
              <a:latin typeface="Arial" panose="020B0604020202020204" pitchFamily="34" charset="0"/>
              <a:ea typeface="MS PGothic" panose="020B0600070205080204" pitchFamily="34" charset="-128"/>
            </a:endParaRPr>
          </a:p>
        </p:txBody>
      </p:sp>
      <p:sp>
        <p:nvSpPr>
          <p:cNvPr id="88107" name="Line 138"/>
          <p:cNvSpPr/>
          <p:nvPr/>
        </p:nvSpPr>
        <p:spPr>
          <a:xfrm>
            <a:off x="5313363" y="3605213"/>
            <a:ext cx="685800" cy="249237"/>
          </a:xfrm>
          <a:prstGeom prst="line">
            <a:avLst/>
          </a:prstGeom>
          <a:ln w="9525" cap="flat" cmpd="sng">
            <a:solidFill>
              <a:schemeClr val="tx1"/>
            </a:solidFill>
            <a:prstDash val="solid"/>
            <a:round/>
            <a:headEnd type="none" w="med" len="med"/>
            <a:tailEnd type="none" w="med" len="med"/>
          </a:ln>
        </p:spPr>
      </p:sp>
      <p:sp>
        <p:nvSpPr>
          <p:cNvPr id="88108" name="Line 153"/>
          <p:cNvSpPr/>
          <p:nvPr/>
        </p:nvSpPr>
        <p:spPr>
          <a:xfrm>
            <a:off x="4187825" y="2241550"/>
            <a:ext cx="295275" cy="1384300"/>
          </a:xfrm>
          <a:prstGeom prst="line">
            <a:avLst/>
          </a:prstGeom>
          <a:ln w="9525" cap="flat" cmpd="sng">
            <a:solidFill>
              <a:schemeClr val="tx1"/>
            </a:solidFill>
            <a:prstDash val="solid"/>
            <a:round/>
            <a:headEnd type="none" w="med" len="med"/>
            <a:tailEnd type="none" w="med" len="med"/>
          </a:ln>
        </p:spPr>
      </p:sp>
      <p:sp>
        <p:nvSpPr>
          <p:cNvPr id="88109" name="Line 154"/>
          <p:cNvSpPr/>
          <p:nvPr/>
        </p:nvSpPr>
        <p:spPr>
          <a:xfrm>
            <a:off x="4483100" y="3627438"/>
            <a:ext cx="222250" cy="0"/>
          </a:xfrm>
          <a:prstGeom prst="line">
            <a:avLst/>
          </a:prstGeom>
          <a:ln w="9525" cap="flat" cmpd="sng">
            <a:solidFill>
              <a:schemeClr val="tx1"/>
            </a:solidFill>
            <a:prstDash val="solid"/>
            <a:round/>
            <a:headEnd type="none" w="med" len="med"/>
            <a:tailEnd type="none" w="med" len="med"/>
          </a:ln>
        </p:spPr>
      </p:sp>
      <p:sp>
        <p:nvSpPr>
          <p:cNvPr id="88110" name="Freeform 156"/>
          <p:cNvSpPr/>
          <p:nvPr/>
        </p:nvSpPr>
        <p:spPr>
          <a:xfrm>
            <a:off x="7177088" y="1381125"/>
            <a:ext cx="1235075" cy="16811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8111" name="Text Box 157"/>
          <p:cNvSpPr txBox="1"/>
          <p:nvPr/>
        </p:nvSpPr>
        <p:spPr>
          <a:xfrm>
            <a:off x="7285038" y="1724025"/>
            <a:ext cx="1106487" cy="82550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MS PGothic" panose="020B0600070205080204" pitchFamily="34" charset="-128"/>
              </a:rPr>
              <a:t>Public </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telephone</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network</a:t>
            </a:r>
            <a:endParaRPr lang="en-US" altLang="zh-CN" sz="1600" dirty="0">
              <a:latin typeface="Arial" panose="020B0604020202020204" pitchFamily="34" charset="0"/>
              <a:ea typeface="MS PGothic" panose="020B0600070205080204" pitchFamily="34" charset="-128"/>
            </a:endParaRPr>
          </a:p>
        </p:txBody>
      </p:sp>
      <p:sp>
        <p:nvSpPr>
          <p:cNvPr id="88112" name="Line 158"/>
          <p:cNvSpPr/>
          <p:nvPr/>
        </p:nvSpPr>
        <p:spPr>
          <a:xfrm>
            <a:off x="5151438" y="2255838"/>
            <a:ext cx="1284287" cy="0"/>
          </a:xfrm>
          <a:prstGeom prst="line">
            <a:avLst/>
          </a:prstGeom>
          <a:ln w="9525" cap="flat" cmpd="sng">
            <a:solidFill>
              <a:schemeClr val="tx1"/>
            </a:solidFill>
            <a:prstDash val="solid"/>
            <a:round/>
            <a:headEnd type="none" w="med" len="med"/>
            <a:tailEnd type="none" w="med" len="med"/>
          </a:ln>
        </p:spPr>
      </p:sp>
      <p:grpSp>
        <p:nvGrpSpPr>
          <p:cNvPr id="88113" name="Group 159"/>
          <p:cNvGrpSpPr/>
          <p:nvPr/>
        </p:nvGrpSpPr>
        <p:grpSpPr>
          <a:xfrm>
            <a:off x="6411913" y="1590675"/>
            <a:ext cx="550862" cy="1001713"/>
            <a:chOff x="611" y="3693"/>
            <a:chExt cx="449" cy="287"/>
          </a:xfrm>
        </p:grpSpPr>
        <p:sp>
          <p:nvSpPr>
            <p:cNvPr id="88114" name="Rectangle 16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8115" name="Group 161"/>
            <p:cNvGrpSpPr/>
            <p:nvPr/>
          </p:nvGrpSpPr>
          <p:grpSpPr>
            <a:xfrm>
              <a:off x="687" y="3826"/>
              <a:ext cx="224" cy="110"/>
              <a:chOff x="687" y="3826"/>
              <a:chExt cx="224" cy="110"/>
            </a:xfrm>
          </p:grpSpPr>
          <p:sp>
            <p:nvSpPr>
              <p:cNvPr id="88116" name="Freeform 16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17" name="Freeform 16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8118" name="Freeform 16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19" name="Freeform 16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20" name="Freeform 16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21" name="Freeform 16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22" name="Freeform 16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8123" name="Text Box 169"/>
          <p:cNvSpPr txBox="1"/>
          <p:nvPr/>
        </p:nvSpPr>
        <p:spPr>
          <a:xfrm>
            <a:off x="6359525" y="2573338"/>
            <a:ext cx="1085850" cy="530225"/>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MS PGothic" panose="020B0600070205080204" pitchFamily="34" charset="-128"/>
              </a:rPr>
              <a:t>Gateway</a:t>
            </a:r>
            <a:endParaRPr lang="en-US" altLang="zh-CN" dirty="0">
              <a:latin typeface="Arial" panose="020B0604020202020204" pitchFamily="34" charset="0"/>
              <a:ea typeface="MS PGothic" panose="020B0600070205080204" pitchFamily="34" charset="-128"/>
            </a:endParaRPr>
          </a:p>
          <a:p>
            <a:pPr>
              <a:lnSpc>
                <a:spcPct val="80000"/>
              </a:lnSpc>
              <a:buClrTx/>
              <a:buFontTx/>
            </a:pPr>
            <a:r>
              <a:rPr lang="en-US" altLang="zh-CN" dirty="0">
                <a:latin typeface="Arial" panose="020B0604020202020204" pitchFamily="34" charset="0"/>
                <a:ea typeface="MS PGothic" panose="020B0600070205080204" pitchFamily="34" charset="-128"/>
              </a:rPr>
              <a:t>MSC</a:t>
            </a:r>
            <a:endParaRPr lang="en-US" altLang="zh-CN" dirty="0">
              <a:latin typeface="Arial" panose="020B0604020202020204" pitchFamily="34" charset="0"/>
              <a:ea typeface="MS PGothic" panose="020B0600070205080204" pitchFamily="34" charset="-128"/>
            </a:endParaRPr>
          </a:p>
        </p:txBody>
      </p:sp>
      <p:sp>
        <p:nvSpPr>
          <p:cNvPr id="88124" name="Text Box 170"/>
          <p:cNvSpPr txBox="1"/>
          <p:nvPr/>
        </p:nvSpPr>
        <p:spPr>
          <a:xfrm>
            <a:off x="6481763" y="1593850"/>
            <a:ext cx="3619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G</a:t>
            </a:r>
            <a:endParaRPr lang="en-US" altLang="zh-CN" dirty="0">
              <a:latin typeface="Arial" panose="020B0604020202020204" pitchFamily="34" charset="0"/>
              <a:ea typeface="MS PGothic" panose="020B0600070205080204" pitchFamily="34" charset="-128"/>
            </a:endParaRPr>
          </a:p>
        </p:txBody>
      </p:sp>
      <p:sp>
        <p:nvSpPr>
          <p:cNvPr id="88125" name="Line 171"/>
          <p:cNvSpPr/>
          <p:nvPr/>
        </p:nvSpPr>
        <p:spPr>
          <a:xfrm flipH="1">
            <a:off x="6200775" y="2325688"/>
            <a:ext cx="236538" cy="146050"/>
          </a:xfrm>
          <a:prstGeom prst="line">
            <a:avLst/>
          </a:prstGeom>
          <a:ln w="9525" cap="flat" cmpd="sng">
            <a:solidFill>
              <a:schemeClr val="tx1"/>
            </a:solidFill>
            <a:prstDash val="solid"/>
            <a:round/>
            <a:headEnd type="none" w="med" len="med"/>
            <a:tailEnd type="none" w="med" len="med"/>
          </a:ln>
        </p:spPr>
      </p:sp>
      <p:sp>
        <p:nvSpPr>
          <p:cNvPr id="88126" name="Line 172"/>
          <p:cNvSpPr/>
          <p:nvPr/>
        </p:nvSpPr>
        <p:spPr>
          <a:xfrm flipH="1" flipV="1">
            <a:off x="6211888" y="2043113"/>
            <a:ext cx="225425" cy="90487"/>
          </a:xfrm>
          <a:prstGeom prst="line">
            <a:avLst/>
          </a:prstGeom>
          <a:ln w="9525" cap="flat" cmpd="sng">
            <a:solidFill>
              <a:schemeClr val="tx1"/>
            </a:solidFill>
            <a:prstDash val="solid"/>
            <a:round/>
            <a:headEnd type="none" w="med" len="med"/>
            <a:tailEnd type="none" w="med" len="med"/>
          </a:ln>
        </p:spPr>
      </p:sp>
      <p:sp>
        <p:nvSpPr>
          <p:cNvPr id="88127" name="Line 173"/>
          <p:cNvSpPr/>
          <p:nvPr/>
        </p:nvSpPr>
        <p:spPr>
          <a:xfrm flipH="1">
            <a:off x="5834063" y="2500313"/>
            <a:ext cx="327025" cy="203200"/>
          </a:xfrm>
          <a:prstGeom prst="line">
            <a:avLst/>
          </a:prstGeom>
          <a:ln w="9525" cap="flat" cmpd="sng">
            <a:solidFill>
              <a:schemeClr val="tx1"/>
            </a:solidFill>
            <a:prstDash val="dash"/>
            <a:round/>
            <a:headEnd type="none" w="med" len="med"/>
            <a:tailEnd type="none" w="med" len="med"/>
          </a:ln>
        </p:spPr>
      </p:sp>
      <p:sp>
        <p:nvSpPr>
          <p:cNvPr id="88128" name="Line 174"/>
          <p:cNvSpPr/>
          <p:nvPr/>
        </p:nvSpPr>
        <p:spPr>
          <a:xfrm flipH="1" flipV="1">
            <a:off x="5929313" y="1952625"/>
            <a:ext cx="236537" cy="79375"/>
          </a:xfrm>
          <a:prstGeom prst="line">
            <a:avLst/>
          </a:prstGeom>
          <a:ln w="9525" cap="flat" cmpd="sng">
            <a:solidFill>
              <a:schemeClr val="tx1"/>
            </a:solidFill>
            <a:prstDash val="dash"/>
            <a:round/>
            <a:headEnd type="none" w="med" len="med"/>
            <a:tailEnd type="none" w="med" len="med"/>
          </a:ln>
        </p:spPr>
      </p:sp>
      <p:sp>
        <p:nvSpPr>
          <p:cNvPr id="88129" name="Line 175"/>
          <p:cNvSpPr/>
          <p:nvPr/>
        </p:nvSpPr>
        <p:spPr>
          <a:xfrm>
            <a:off x="4945063" y="2641600"/>
            <a:ext cx="0" cy="496888"/>
          </a:xfrm>
          <a:prstGeom prst="line">
            <a:avLst/>
          </a:prstGeom>
          <a:ln w="9525" cap="flat" cmpd="sng">
            <a:solidFill>
              <a:schemeClr val="tx1"/>
            </a:solidFill>
            <a:prstDash val="solid"/>
            <a:round/>
            <a:headEnd type="triangle" w="med" len="med"/>
            <a:tailEnd type="triangle" w="med" len="med"/>
          </a:ln>
        </p:spPr>
      </p:sp>
      <p:sp>
        <p:nvSpPr>
          <p:cNvPr id="88130" name="Line 176"/>
          <p:cNvSpPr/>
          <p:nvPr/>
        </p:nvSpPr>
        <p:spPr>
          <a:xfrm>
            <a:off x="6942138" y="2224088"/>
            <a:ext cx="304800" cy="0"/>
          </a:xfrm>
          <a:prstGeom prst="line">
            <a:avLst/>
          </a:prstGeom>
          <a:ln w="9525" cap="flat" cmpd="sng">
            <a:solidFill>
              <a:schemeClr val="tx1"/>
            </a:solidFill>
            <a:prstDash val="solid"/>
            <a:round/>
            <a:headEnd type="none" w="med" len="med"/>
            <a:tailEnd type="none" w="med" len="med"/>
          </a:ln>
        </p:spPr>
      </p:sp>
      <p:sp>
        <p:nvSpPr>
          <p:cNvPr id="88131" name="Text Box 178"/>
          <p:cNvSpPr txBox="1"/>
          <p:nvPr/>
        </p:nvSpPr>
        <p:spPr>
          <a:xfrm>
            <a:off x="5622925" y="5207000"/>
            <a:ext cx="3154363"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MS PGothic" panose="020B0600070205080204" pitchFamily="34" charset="-128"/>
              </a:rPr>
              <a:t>Serving GPRS Support Node (SGSN)</a:t>
            </a:r>
            <a:endParaRPr lang="en-US" altLang="zh-CN" sz="1400" dirty="0">
              <a:latin typeface="Arial" panose="020B0604020202020204" pitchFamily="34" charset="0"/>
              <a:ea typeface="MS PGothic" panose="020B0600070205080204" pitchFamily="34" charset="-128"/>
            </a:endParaRPr>
          </a:p>
        </p:txBody>
      </p:sp>
      <p:sp>
        <p:nvSpPr>
          <p:cNvPr id="88132" name="Rectangle 180"/>
          <p:cNvSpPr/>
          <p:nvPr/>
        </p:nvSpPr>
        <p:spPr>
          <a:xfrm>
            <a:off x="5156200" y="5705475"/>
            <a:ext cx="314325" cy="4270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88133" name="Freeform 181"/>
          <p:cNvSpPr/>
          <p:nvPr/>
        </p:nvSpPr>
        <p:spPr>
          <a:xfrm>
            <a:off x="5473700" y="5561013"/>
            <a:ext cx="57150" cy="152400"/>
          </a:xfrm>
          <a:custGeom>
            <a:avLst/>
            <a:gdLst/>
            <a:ahLst/>
            <a:cxnLst>
              <a:cxn ang="0">
                <a:pos x="2564376" y="0"/>
              </a:cxn>
              <a:cxn ang="0">
                <a:pos x="4273345" y="2147483646"/>
              </a:cxn>
              <a:cxn ang="0">
                <a:pos x="0" y="2147483646"/>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34" name="Freeform 182"/>
          <p:cNvSpPr/>
          <p:nvPr/>
        </p:nvSpPr>
        <p:spPr>
          <a:xfrm>
            <a:off x="5470525" y="5684838"/>
            <a:ext cx="58738" cy="447675"/>
          </a:xfrm>
          <a:custGeom>
            <a:avLst/>
            <a:gdLst/>
            <a:ahLst/>
            <a:cxnLst>
              <a:cxn ang="0">
                <a:pos x="871747" y="1565877615"/>
              </a:cxn>
              <a:cxn ang="0">
                <a:pos x="0" y="2147483646"/>
              </a:cxn>
              <a:cxn ang="0">
                <a:pos x="4359665" y="2147483646"/>
              </a:cxn>
              <a:cxn ang="0">
                <a:pos x="4359665" y="0"/>
              </a:cxn>
              <a:cxn ang="0">
                <a:pos x="871747" y="1565877615"/>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35" name="Freeform 183"/>
          <p:cNvSpPr/>
          <p:nvPr/>
        </p:nvSpPr>
        <p:spPr>
          <a:xfrm>
            <a:off x="5508625" y="5537200"/>
            <a:ext cx="42863" cy="161925"/>
          </a:xfrm>
          <a:custGeom>
            <a:avLst/>
            <a:gdLst/>
            <a:ahLst/>
            <a:cxnLst>
              <a:cxn ang="0">
                <a:pos x="836284" y="0"/>
              </a:cxn>
              <a:cxn ang="0">
                <a:pos x="2509765" y="2147483646"/>
              </a:cxn>
              <a:cxn ang="0">
                <a:pos x="836284" y="2147483646"/>
              </a:cxn>
              <a:cxn ang="0">
                <a:pos x="0" y="2147483646"/>
              </a:cxn>
              <a:cxn ang="0">
                <a:pos x="836284"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36" name="Freeform 184"/>
          <p:cNvSpPr/>
          <p:nvPr/>
        </p:nvSpPr>
        <p:spPr>
          <a:xfrm>
            <a:off x="5484813" y="5610225"/>
            <a:ext cx="39687" cy="104775"/>
          </a:xfrm>
          <a:custGeom>
            <a:avLst/>
            <a:gdLst/>
            <a:ahLst/>
            <a:cxnLst>
              <a:cxn ang="0">
                <a:pos x="1649716" y="0"/>
              </a:cxn>
              <a:cxn ang="0">
                <a:pos x="0" y="2147483646"/>
              </a:cxn>
              <a:cxn ang="0">
                <a:pos x="2475026" y="2147483646"/>
              </a:cxn>
              <a:cxn ang="0">
                <a:pos x="1649716"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37" name="Freeform 185"/>
          <p:cNvSpPr/>
          <p:nvPr/>
        </p:nvSpPr>
        <p:spPr>
          <a:xfrm>
            <a:off x="5133975" y="5541963"/>
            <a:ext cx="387350" cy="196850"/>
          </a:xfrm>
          <a:custGeom>
            <a:avLst/>
            <a:gdLst/>
            <a:ahLst/>
            <a:cxnLst>
              <a:cxn ang="0">
                <a:pos x="0" y="2147483646"/>
              </a:cxn>
              <a:cxn ang="0">
                <a:pos x="4322157" y="158810292"/>
              </a:cxn>
              <a:cxn ang="0">
                <a:pos x="25930156" y="0"/>
              </a:cxn>
              <a:cxn ang="0">
                <a:pos x="23337605" y="2147483646"/>
              </a:cxn>
              <a:cxn ang="0">
                <a:pos x="0" y="2147483646"/>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nvGrpSpPr>
          <p:cNvPr id="88138" name="Group 200"/>
          <p:cNvGrpSpPr/>
          <p:nvPr/>
        </p:nvGrpSpPr>
        <p:grpSpPr>
          <a:xfrm>
            <a:off x="5149850" y="5075238"/>
            <a:ext cx="446088" cy="379412"/>
            <a:chOff x="3028" y="1864"/>
            <a:chExt cx="347" cy="631"/>
          </a:xfrm>
        </p:grpSpPr>
        <p:sp>
          <p:nvSpPr>
            <p:cNvPr id="88139" name="Rectangle 201"/>
            <p:cNvSpPr/>
            <p:nvPr/>
          </p:nvSpPr>
          <p:spPr>
            <a:xfrm>
              <a:off x="3047" y="2041"/>
              <a:ext cx="261" cy="45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88140" name="Freeform 202"/>
            <p:cNvSpPr/>
            <p:nvPr/>
          </p:nvSpPr>
          <p:spPr>
            <a:xfrm>
              <a:off x="3309" y="1888"/>
              <a:ext cx="48" cy="163"/>
            </a:xfrm>
            <a:custGeom>
              <a:avLst/>
              <a:gdLst/>
              <a:ahLst/>
              <a:cxnLst>
                <a:cxn ang="0">
                  <a:pos x="5" y="0"/>
                </a:cxn>
                <a:cxn ang="0">
                  <a:pos x="8" y="31732"/>
                </a:cxn>
                <a:cxn ang="0">
                  <a:pos x="0" y="41008"/>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41" name="Freeform 203"/>
            <p:cNvSpPr/>
            <p:nvPr/>
          </p:nvSpPr>
          <p:spPr>
            <a:xfrm>
              <a:off x="3307" y="2020"/>
              <a:ext cx="49" cy="475"/>
            </a:xfrm>
            <a:custGeom>
              <a:avLst/>
              <a:gdLst/>
              <a:ahLst/>
              <a:cxnLst>
                <a:cxn ang="0">
                  <a:pos x="2" y="6378"/>
                </a:cxn>
                <a:cxn ang="0">
                  <a:pos x="0" y="88770"/>
                </a:cxn>
                <a:cxn ang="0">
                  <a:pos x="9" y="79589"/>
                </a:cxn>
                <a:cxn ang="0">
                  <a:pos x="9" y="0"/>
                </a:cxn>
                <a:cxn ang="0">
                  <a:pos x="2" y="6378"/>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42" name="Freeform 204"/>
            <p:cNvSpPr/>
            <p:nvPr/>
          </p:nvSpPr>
          <p:spPr>
            <a:xfrm>
              <a:off x="3339" y="1864"/>
              <a:ext cx="36" cy="171"/>
            </a:xfrm>
            <a:custGeom>
              <a:avLst/>
              <a:gdLst/>
              <a:ahLst/>
              <a:cxnLst>
                <a:cxn ang="0">
                  <a:pos x="2" y="0"/>
                </a:cxn>
                <a:cxn ang="0">
                  <a:pos x="5" y="41632"/>
                </a:cxn>
                <a:cxn ang="0">
                  <a:pos x="2" y="41165"/>
                </a:cxn>
                <a:cxn ang="0">
                  <a:pos x="0" y="18777"/>
                </a:cxn>
                <a:cxn ang="0">
                  <a:pos x="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43" name="Freeform 205"/>
            <p:cNvSpPr/>
            <p:nvPr/>
          </p:nvSpPr>
          <p:spPr>
            <a:xfrm>
              <a:off x="3319" y="1941"/>
              <a:ext cx="34" cy="112"/>
            </a:xfrm>
            <a:custGeom>
              <a:avLst/>
              <a:gdLst/>
              <a:ahLst/>
              <a:cxnLst>
                <a:cxn ang="0">
                  <a:pos x="3" y="0"/>
                </a:cxn>
                <a:cxn ang="0">
                  <a:pos x="0" y="27592"/>
                </a:cxn>
                <a:cxn ang="0">
                  <a:pos x="5" y="24370"/>
                </a:cxn>
                <a:cxn ang="0">
                  <a:pos x="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44" name="Freeform 206"/>
            <p:cNvSpPr/>
            <p:nvPr/>
          </p:nvSpPr>
          <p:spPr>
            <a:xfrm>
              <a:off x="3028" y="1868"/>
              <a:ext cx="322" cy="209"/>
            </a:xfrm>
            <a:custGeom>
              <a:avLst/>
              <a:gdLst/>
              <a:ahLst/>
              <a:cxnLst>
                <a:cxn ang="0">
                  <a:pos x="0" y="52142"/>
                </a:cxn>
                <a:cxn ang="0">
                  <a:pos x="8" y="469"/>
                </a:cxn>
                <a:cxn ang="0">
                  <a:pos x="53" y="0"/>
                </a:cxn>
                <a:cxn ang="0">
                  <a:pos x="47" y="52142"/>
                </a:cxn>
                <a:cxn ang="0">
                  <a:pos x="0" y="52142"/>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8145" name="Text Box 221"/>
          <p:cNvSpPr txBox="1"/>
          <p:nvPr/>
        </p:nvSpPr>
        <p:spPr>
          <a:xfrm>
            <a:off x="5668963" y="5773738"/>
            <a:ext cx="327183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MS PGothic" panose="020B0600070205080204" pitchFamily="34" charset="-128"/>
              </a:rPr>
              <a:t>Gateway GPRS Support Node (GGSN)</a:t>
            </a:r>
            <a:endParaRPr lang="en-US" altLang="zh-CN" sz="1400" dirty="0">
              <a:latin typeface="Arial" panose="020B0604020202020204" pitchFamily="34" charset="0"/>
              <a:ea typeface="MS PGothic" panose="020B0600070205080204" pitchFamily="34" charset="-128"/>
            </a:endParaRPr>
          </a:p>
        </p:txBody>
      </p:sp>
      <p:sp>
        <p:nvSpPr>
          <p:cNvPr id="88146" name="Freeform 222"/>
          <p:cNvSpPr/>
          <p:nvPr/>
        </p:nvSpPr>
        <p:spPr>
          <a:xfrm>
            <a:off x="7286625" y="3284538"/>
            <a:ext cx="1235075" cy="16811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8147" name="Text Box 223"/>
          <p:cNvSpPr txBox="1"/>
          <p:nvPr/>
        </p:nvSpPr>
        <p:spPr>
          <a:xfrm>
            <a:off x="7394575" y="3627438"/>
            <a:ext cx="882650" cy="58420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MS PGothic" panose="020B0600070205080204" pitchFamily="34" charset="-128"/>
              </a:rPr>
              <a:t>Public </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Internet</a:t>
            </a:r>
            <a:endParaRPr lang="en-US" altLang="zh-CN" sz="1600" dirty="0">
              <a:latin typeface="Arial" panose="020B0604020202020204" pitchFamily="34" charset="0"/>
              <a:ea typeface="MS PGothic" panose="020B0600070205080204" pitchFamily="34" charset="-128"/>
            </a:endParaRPr>
          </a:p>
        </p:txBody>
      </p:sp>
      <p:grpSp>
        <p:nvGrpSpPr>
          <p:cNvPr id="88148" name="Group 224"/>
          <p:cNvGrpSpPr/>
          <p:nvPr/>
        </p:nvGrpSpPr>
        <p:grpSpPr>
          <a:xfrm>
            <a:off x="6521450" y="3494088"/>
            <a:ext cx="550863" cy="1001712"/>
            <a:chOff x="611" y="3693"/>
            <a:chExt cx="449" cy="287"/>
          </a:xfrm>
        </p:grpSpPr>
        <p:sp>
          <p:nvSpPr>
            <p:cNvPr id="88149"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8150" name="Group 226"/>
            <p:cNvGrpSpPr/>
            <p:nvPr/>
          </p:nvGrpSpPr>
          <p:grpSpPr>
            <a:xfrm>
              <a:off x="687" y="3826"/>
              <a:ext cx="224" cy="110"/>
              <a:chOff x="687" y="3826"/>
              <a:chExt cx="224" cy="110"/>
            </a:xfrm>
          </p:grpSpPr>
          <p:sp>
            <p:nvSpPr>
              <p:cNvPr id="88151"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52"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8153"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8154"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55"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56"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8157"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8158" name="Text Box 234"/>
          <p:cNvSpPr txBox="1"/>
          <p:nvPr/>
        </p:nvSpPr>
        <p:spPr>
          <a:xfrm>
            <a:off x="6469063" y="4476750"/>
            <a:ext cx="857250" cy="311150"/>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MS PGothic" panose="020B0600070205080204" pitchFamily="34" charset="-128"/>
              </a:rPr>
              <a:t>GGSN</a:t>
            </a:r>
            <a:endParaRPr lang="en-US" altLang="zh-CN" dirty="0">
              <a:latin typeface="Arial" panose="020B0604020202020204" pitchFamily="34" charset="0"/>
              <a:ea typeface="MS PGothic" panose="020B0600070205080204" pitchFamily="34" charset="-128"/>
            </a:endParaRPr>
          </a:p>
        </p:txBody>
      </p:sp>
      <p:sp>
        <p:nvSpPr>
          <p:cNvPr id="88159" name="Text Box 235"/>
          <p:cNvSpPr txBox="1"/>
          <p:nvPr/>
        </p:nvSpPr>
        <p:spPr>
          <a:xfrm>
            <a:off x="6591300" y="3497263"/>
            <a:ext cx="3619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G</a:t>
            </a:r>
            <a:endParaRPr lang="en-US" altLang="zh-CN" dirty="0">
              <a:latin typeface="Arial" panose="020B0604020202020204" pitchFamily="34" charset="0"/>
              <a:ea typeface="MS PGothic" panose="020B0600070205080204" pitchFamily="34" charset="-128"/>
            </a:endParaRPr>
          </a:p>
        </p:txBody>
      </p:sp>
      <p:sp>
        <p:nvSpPr>
          <p:cNvPr id="88160" name="Line 236"/>
          <p:cNvSpPr/>
          <p:nvPr/>
        </p:nvSpPr>
        <p:spPr>
          <a:xfrm flipH="1">
            <a:off x="6310313" y="4229100"/>
            <a:ext cx="236537" cy="146050"/>
          </a:xfrm>
          <a:prstGeom prst="line">
            <a:avLst/>
          </a:prstGeom>
          <a:ln w="9525" cap="flat" cmpd="sng">
            <a:solidFill>
              <a:schemeClr val="tx1"/>
            </a:solidFill>
            <a:prstDash val="solid"/>
            <a:round/>
            <a:headEnd type="none" w="med" len="med"/>
            <a:tailEnd type="none" w="med" len="med"/>
          </a:ln>
        </p:spPr>
      </p:sp>
      <p:sp>
        <p:nvSpPr>
          <p:cNvPr id="88161" name="Line 237"/>
          <p:cNvSpPr/>
          <p:nvPr/>
        </p:nvSpPr>
        <p:spPr>
          <a:xfrm flipH="1" flipV="1">
            <a:off x="6321425" y="3946525"/>
            <a:ext cx="225425" cy="90488"/>
          </a:xfrm>
          <a:prstGeom prst="line">
            <a:avLst/>
          </a:prstGeom>
          <a:ln w="9525" cap="flat" cmpd="sng">
            <a:solidFill>
              <a:schemeClr val="tx1"/>
            </a:solidFill>
            <a:prstDash val="solid"/>
            <a:round/>
            <a:headEnd type="none" w="med" len="med"/>
            <a:tailEnd type="none" w="med" len="med"/>
          </a:ln>
        </p:spPr>
      </p:sp>
      <p:sp>
        <p:nvSpPr>
          <p:cNvPr id="88162" name="Line 238"/>
          <p:cNvSpPr/>
          <p:nvPr/>
        </p:nvSpPr>
        <p:spPr>
          <a:xfrm flipH="1">
            <a:off x="5943600" y="4403725"/>
            <a:ext cx="327025" cy="203200"/>
          </a:xfrm>
          <a:prstGeom prst="line">
            <a:avLst/>
          </a:prstGeom>
          <a:ln w="9525" cap="flat" cmpd="sng">
            <a:solidFill>
              <a:schemeClr val="tx1"/>
            </a:solidFill>
            <a:prstDash val="dash"/>
            <a:round/>
            <a:headEnd type="none" w="med" len="med"/>
            <a:tailEnd type="none" w="med" len="med"/>
          </a:ln>
        </p:spPr>
      </p:sp>
      <p:sp>
        <p:nvSpPr>
          <p:cNvPr id="88163" name="Line 239"/>
          <p:cNvSpPr/>
          <p:nvPr/>
        </p:nvSpPr>
        <p:spPr>
          <a:xfrm flipH="1" flipV="1">
            <a:off x="6038850" y="3856038"/>
            <a:ext cx="236538" cy="79375"/>
          </a:xfrm>
          <a:prstGeom prst="line">
            <a:avLst/>
          </a:prstGeom>
          <a:ln w="9525" cap="flat" cmpd="sng">
            <a:solidFill>
              <a:schemeClr val="tx1"/>
            </a:solidFill>
            <a:prstDash val="dash"/>
            <a:round/>
            <a:headEnd type="none" w="med" len="med"/>
            <a:tailEnd type="none" w="med" len="med"/>
          </a:ln>
        </p:spPr>
      </p:sp>
      <p:sp>
        <p:nvSpPr>
          <p:cNvPr id="88164" name="Line 240"/>
          <p:cNvSpPr/>
          <p:nvPr/>
        </p:nvSpPr>
        <p:spPr>
          <a:xfrm>
            <a:off x="7051675" y="4127500"/>
            <a:ext cx="304800" cy="0"/>
          </a:xfrm>
          <a:prstGeom prst="line">
            <a:avLst/>
          </a:prstGeom>
          <a:ln w="9525" cap="flat" cmpd="sng">
            <a:solidFill>
              <a:schemeClr val="tx1"/>
            </a:solidFill>
            <a:prstDash val="solid"/>
            <a:round/>
            <a:headEnd type="none" w="med" len="med"/>
            <a:tailEnd type="none" w="med" len="med"/>
          </a:ln>
        </p:spPr>
      </p:sp>
      <p:sp>
        <p:nvSpPr>
          <p:cNvPr id="88165" name="Text Box 241"/>
          <p:cNvSpPr txBox="1"/>
          <p:nvPr/>
        </p:nvSpPr>
        <p:spPr>
          <a:xfrm>
            <a:off x="263525" y="3895725"/>
            <a:ext cx="4768850" cy="2616200"/>
          </a:xfrm>
          <a:prstGeom prst="rect">
            <a:avLst/>
          </a:prstGeom>
          <a:noFill/>
          <a:ln w="9525">
            <a:noFill/>
          </a:ln>
        </p:spPr>
        <p:txBody>
          <a:bodyPr wrap="none" anchor="t" anchorCtr="0">
            <a:spAutoFit/>
          </a:bodyPr>
          <a:p>
            <a:pPr eaLnBrk="0" hangingPunct="0">
              <a:buClrTx/>
              <a:buFontTx/>
            </a:pPr>
            <a:r>
              <a:rPr lang="en-US" altLang="zh-CN" sz="2400" i="1" dirty="0">
                <a:solidFill>
                  <a:srgbClr val="C00000"/>
                </a:solidFill>
                <a:latin typeface="Gill Sans MT" panose="020B0502020104020203" pitchFamily="34" charset="0"/>
                <a:ea typeface="宋体" panose="02010600030101010101" pitchFamily="2" charset="-122"/>
              </a:rPr>
              <a:t>Key insight: </a:t>
            </a:r>
            <a:r>
              <a:rPr lang="en-US" altLang="zh-CN" sz="2400" dirty="0">
                <a:latin typeface="Gill Sans MT" panose="020B0502020104020203" pitchFamily="34" charset="0"/>
                <a:ea typeface="宋体" panose="02010600030101010101" pitchFamily="2" charset="-122"/>
              </a:rPr>
              <a:t>new cellular data</a:t>
            </a:r>
            <a:endParaRPr lang="en-US" altLang="zh-CN" sz="2400" dirty="0">
              <a:latin typeface="Gill Sans MT" panose="020B0502020104020203" pitchFamily="34" charset="0"/>
              <a:ea typeface="宋体" panose="02010600030101010101" pitchFamily="2" charset="-122"/>
            </a:endParaRPr>
          </a:p>
          <a:p>
            <a:pPr eaLnBrk="0" hangingPunct="0">
              <a:buClrTx/>
              <a:buFontTx/>
            </a:pPr>
            <a:r>
              <a:rPr lang="en-US" altLang="zh-CN" sz="2400" dirty="0">
                <a:latin typeface="Gill Sans MT" panose="020B0502020104020203" pitchFamily="34" charset="0"/>
                <a:ea typeface="宋体" panose="02010600030101010101" pitchFamily="2" charset="-122"/>
              </a:rPr>
              <a:t>network operates </a:t>
            </a:r>
            <a:r>
              <a:rPr lang="en-US" altLang="zh-CN" sz="2400" i="1" dirty="0">
                <a:latin typeface="Gill Sans MT" panose="020B0502020104020203" pitchFamily="34" charset="0"/>
                <a:ea typeface="宋体" panose="02010600030101010101" pitchFamily="2" charset="-122"/>
              </a:rPr>
              <a:t>in parallel</a:t>
            </a:r>
            <a:r>
              <a:rPr lang="en-US" altLang="zh-CN" sz="2400" dirty="0">
                <a:latin typeface="Gill Sans MT" panose="020B0502020104020203" pitchFamily="34" charset="0"/>
                <a:ea typeface="宋体" panose="02010600030101010101" pitchFamily="2" charset="-122"/>
              </a:rPr>
              <a:t> </a:t>
            </a:r>
            <a:endParaRPr lang="en-US" altLang="zh-CN" sz="2400" dirty="0">
              <a:latin typeface="Gill Sans MT" panose="020B0502020104020203" pitchFamily="34" charset="0"/>
              <a:ea typeface="宋体" panose="02010600030101010101" pitchFamily="2" charset="-122"/>
            </a:endParaRPr>
          </a:p>
          <a:p>
            <a:pPr eaLnBrk="0" hangingPunct="0">
              <a:buClrTx/>
              <a:buFontTx/>
            </a:pPr>
            <a:r>
              <a:rPr lang="en-US" altLang="zh-CN" sz="2400" dirty="0">
                <a:latin typeface="Gill Sans MT" panose="020B0502020104020203" pitchFamily="34" charset="0"/>
                <a:ea typeface="宋体" panose="02010600030101010101" pitchFamily="2" charset="-122"/>
              </a:rPr>
              <a:t>(except at edge) with existing </a:t>
            </a:r>
            <a:endParaRPr lang="en-US" altLang="zh-CN" sz="2400" dirty="0">
              <a:latin typeface="Gill Sans MT" panose="020B0502020104020203" pitchFamily="34" charset="0"/>
              <a:ea typeface="宋体" panose="02010600030101010101" pitchFamily="2" charset="-122"/>
            </a:endParaRPr>
          </a:p>
          <a:p>
            <a:pPr eaLnBrk="0" hangingPunct="0">
              <a:buClrTx/>
              <a:buFontTx/>
            </a:pPr>
            <a:r>
              <a:rPr lang="en-US" altLang="zh-CN" sz="2400" dirty="0">
                <a:latin typeface="Gill Sans MT" panose="020B0502020104020203" pitchFamily="34" charset="0"/>
                <a:ea typeface="宋体" panose="02010600030101010101" pitchFamily="2" charset="-122"/>
              </a:rPr>
              <a:t>cellular voice network</a:t>
            </a:r>
            <a:endParaRPr lang="en-US" altLang="zh-CN" sz="2400" dirty="0">
              <a:latin typeface="Gill Sans MT" panose="020B0502020104020203" pitchFamily="34" charset="0"/>
              <a:ea typeface="宋体" panose="02010600030101010101" pitchFamily="2" charset="-122"/>
            </a:endParaRPr>
          </a:p>
          <a:p>
            <a:pPr eaLnBrk="0" hangingPunct="0">
              <a:buClr>
                <a:srgbClr val="000099"/>
              </a:buClr>
              <a:buFont typeface="Wingdings" panose="05000000000000000000" pitchFamily="2" charset="2"/>
              <a:buChar char="§"/>
            </a:pPr>
            <a:r>
              <a:rPr lang="en-US" altLang="zh-CN" sz="2400" dirty="0">
                <a:latin typeface="Gill Sans MT" panose="020B0502020104020203" pitchFamily="34" charset="0"/>
                <a:ea typeface="宋体" panose="02010600030101010101" pitchFamily="2" charset="-122"/>
              </a:rPr>
              <a:t> voice network </a:t>
            </a:r>
            <a:r>
              <a:rPr lang="en-US" altLang="zh-CN" sz="2400" i="1" dirty="0">
                <a:solidFill>
                  <a:srgbClr val="CC0000"/>
                </a:solidFill>
                <a:latin typeface="Gill Sans MT" panose="020B0502020104020203" pitchFamily="34" charset="0"/>
                <a:ea typeface="宋体" panose="02010600030101010101" pitchFamily="2" charset="-122"/>
              </a:rPr>
              <a:t>unchanged</a:t>
            </a:r>
            <a:r>
              <a:rPr lang="en-US" altLang="zh-CN" sz="2400" dirty="0">
                <a:latin typeface="Gill Sans MT" panose="020B0502020104020203" pitchFamily="34" charset="0"/>
                <a:ea typeface="宋体" panose="02010600030101010101" pitchFamily="2" charset="-122"/>
              </a:rPr>
              <a:t> in core</a:t>
            </a:r>
            <a:endParaRPr lang="en-US" altLang="zh-CN" sz="2400" dirty="0">
              <a:latin typeface="Gill Sans MT" panose="020B0502020104020203" pitchFamily="34" charset="0"/>
              <a:ea typeface="宋体" panose="02010600030101010101" pitchFamily="2" charset="-122"/>
            </a:endParaRPr>
          </a:p>
          <a:p>
            <a:pPr eaLnBrk="0" hangingPunct="0">
              <a:buClr>
                <a:srgbClr val="000099"/>
              </a:buClr>
              <a:buFont typeface="Wingdings" panose="05000000000000000000" pitchFamily="2" charset="2"/>
              <a:buChar char="§"/>
            </a:pPr>
            <a:r>
              <a:rPr lang="en-US" altLang="zh-CN" sz="2400" dirty="0">
                <a:latin typeface="Gill Sans MT" panose="020B0502020104020203" pitchFamily="34" charset="0"/>
                <a:ea typeface="宋体" panose="02010600030101010101" pitchFamily="2" charset="-122"/>
              </a:rPr>
              <a:t> data network operates in parallel</a:t>
            </a:r>
            <a:endParaRPr lang="en-US" altLang="zh-CN" sz="2400" dirty="0">
              <a:latin typeface="Gill Sans MT" panose="020B0502020104020203" pitchFamily="34" charset="0"/>
              <a:ea typeface="宋体" panose="02010600030101010101" pitchFamily="2" charset="-122"/>
            </a:endParaRPr>
          </a:p>
          <a:p>
            <a:pPr eaLnBrk="0" hangingPunct="0">
              <a:buClr>
                <a:srgbClr val="000099"/>
              </a:buClr>
              <a:buSzPct val="70000"/>
              <a:buFont typeface="Wingdings" panose="05000000000000000000" pitchFamily="2" charset="2"/>
              <a:buChar char="v"/>
            </a:pPr>
            <a:endParaRPr lang="en-US" altLang="zh-CN" sz="2000" dirty="0">
              <a:latin typeface="Gill Sans MT" panose="020B0502020104020203" pitchFamily="34" charset="0"/>
              <a:ea typeface="宋体" panose="02010600030101010101" pitchFamily="2" charset="-122"/>
            </a:endParaRPr>
          </a:p>
        </p:txBody>
      </p:sp>
      <p:pic>
        <p:nvPicPr>
          <p:cNvPr id="88166" name="Picture 6" descr="underline_base"/>
          <p:cNvPicPr>
            <a:picLocks noChangeAspect="1"/>
          </p:cNvPicPr>
          <p:nvPr/>
        </p:nvPicPr>
        <p:blipFill>
          <a:blip r:embed="rId3"/>
          <a:stretch>
            <a:fillRect/>
          </a:stretch>
        </p:blipFill>
        <p:spPr>
          <a:xfrm>
            <a:off x="398463" y="774700"/>
            <a:ext cx="8228012" cy="173038"/>
          </a:xfrm>
          <a:prstGeom prst="rect">
            <a:avLst/>
          </a:prstGeom>
          <a:noFill/>
          <a:ln w="9525">
            <a:noFill/>
          </a:ln>
        </p:spPr>
      </p:pic>
      <p:sp>
        <p:nvSpPr>
          <p:cNvPr id="88167" name="Slide Number Placeholder 5"/>
          <p:cNvSpPr>
            <a:spLocks noGrp="1"/>
          </p:cNvSpPr>
          <p:nvPr>
            <p:ph type="sldNum" sz="quarter" idx="12"/>
          </p:nvPr>
        </p:nvSpPr>
        <p:spPr>
          <a:xfrm>
            <a:off x="8456613" y="6523038"/>
            <a:ext cx="687387" cy="271462"/>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latin typeface="Tahoma" panose="020B0604030504040204" pitchFamily="34" charset="0"/>
                <a:ea typeface="MS PGothic" panose="020B0600070205080204" pitchFamily="34" charset="-128"/>
              </a:rPr>
              <a:t>7-</a:t>
            </a:r>
            <a:fld id="{9A0DB2DC-4C9A-4742-B13C-FB6460FD3503}" type="slidenum">
              <a:rPr lang="en-US" altLang="zh-CN" sz="1200" dirty="0">
                <a:latin typeface="Tahoma" panose="020B0604030504040204" pitchFamily="34" charset="0"/>
                <a:ea typeface="MS PGothic" panose="020B0600070205080204" pitchFamily="34" charset="-128"/>
              </a:rPr>
            </a:fld>
            <a:endParaRPr lang="en-US" altLang="zh-CN" sz="1200" dirty="0">
              <a:latin typeface="Tahoma" panose="020B0604030504040204" pitchFamily="34" charset="0"/>
              <a:ea typeface="MS PGothic" panose="020B0600070205080204" pitchFamily="34" charset="-128"/>
            </a:endParaRPr>
          </a:p>
        </p:txBody>
      </p:sp>
      <p:sp>
        <p:nvSpPr>
          <p:cNvPr id="88168" name="Footer Placeholder 2"/>
          <p:cNvSpPr>
            <a:spLocks noGrp="1"/>
          </p:cNvSpPr>
          <p:nvPr>
            <p:ph type="ftr" sz="quarter" idx="11"/>
          </p:nvPr>
        </p:nvSpPr>
        <p:spPr>
          <a:xfrm>
            <a:off x="5854700" y="6508750"/>
            <a:ext cx="2698750" cy="2540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solidFill>
                  <a:srgbClr val="000000"/>
                </a:solidFill>
                <a:latin typeface="Tahoma" panose="020B0604030504040204" pitchFamily="34" charset="0"/>
                <a:ea typeface="MS PGothic" panose="020B0600070205080204" pitchFamily="34" charset="-128"/>
              </a:rPr>
              <a:t>Wireless and Mobile Networks </a:t>
            </a:r>
            <a:endParaRPr lang="en-US" altLang="zh-CN" sz="1200" dirty="0">
              <a:solidFill>
                <a:srgbClr val="000000"/>
              </a:solidFill>
              <a:latin typeface="Tahoma" panose="020B0604030504040204" pitchFamily="34" charset="0"/>
              <a:ea typeface="MS PGothic" panose="020B0600070205080204" pitchFamily="34" charset="-128"/>
            </a:endParaRPr>
          </a:p>
        </p:txBody>
      </p:sp>
      <p:grpSp>
        <p:nvGrpSpPr>
          <p:cNvPr id="88169" name="Group 347"/>
          <p:cNvGrpSpPr/>
          <p:nvPr/>
        </p:nvGrpSpPr>
        <p:grpSpPr>
          <a:xfrm>
            <a:off x="4683125" y="3432175"/>
            <a:ext cx="635000" cy="338138"/>
            <a:chOff x="1871277" y="1576300"/>
            <a:chExt cx="1128371" cy="437861"/>
          </a:xfrm>
        </p:grpSpPr>
        <p:sp>
          <p:nvSpPr>
            <p:cNvPr id="260" name="Oval 259"/>
            <p:cNvSpPr/>
            <p:nvPr/>
          </p:nvSpPr>
          <p:spPr bwMode="auto">
            <a:xfrm flipV="1">
              <a:off x="1874099" y="1695530"/>
              <a:ext cx="1125549" cy="31863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61" name="Rectangle 260"/>
            <p:cNvSpPr/>
            <p:nvPr/>
          </p:nvSpPr>
          <p:spPr bwMode="auto">
            <a:xfrm>
              <a:off x="1871277" y="1738700"/>
              <a:ext cx="1128371" cy="11717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62" name="Oval 261"/>
            <p:cNvSpPr/>
            <p:nvPr/>
          </p:nvSpPr>
          <p:spPr bwMode="auto">
            <a:xfrm flipV="1">
              <a:off x="1871277" y="1576300"/>
              <a:ext cx="1125551" cy="31863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63" name="Freeform 262"/>
            <p:cNvSpPr/>
            <p:nvPr/>
          </p:nvSpPr>
          <p:spPr bwMode="auto">
            <a:xfrm>
              <a:off x="2159012" y="1672918"/>
              <a:ext cx="550082" cy="1603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64" name="Freeform 263"/>
            <p:cNvSpPr/>
            <p:nvPr/>
          </p:nvSpPr>
          <p:spPr bwMode="auto">
            <a:xfrm>
              <a:off x="2102593" y="1633859"/>
              <a:ext cx="662919" cy="111007"/>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65" name="Freeform 264"/>
            <p:cNvSpPr/>
            <p:nvPr/>
          </p:nvSpPr>
          <p:spPr bwMode="auto">
            <a:xfrm>
              <a:off x="2537016" y="1728420"/>
              <a:ext cx="242600" cy="9661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66" name="Freeform 265"/>
            <p:cNvSpPr/>
            <p:nvPr/>
          </p:nvSpPr>
          <p:spPr bwMode="auto">
            <a:xfrm>
              <a:off x="2091309" y="1730477"/>
              <a:ext cx="239780" cy="9661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67" name="Straight Connector 266"/>
            <p:cNvCxnSpPr>
              <a:endCxn id="262" idx="2"/>
            </p:cNvCxnSpPr>
            <p:nvPr/>
          </p:nvCxnSpPr>
          <p:spPr bwMode="auto">
            <a:xfrm flipH="1" flipV="1">
              <a:off x="1871277" y="1736643"/>
              <a:ext cx="2822"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68" name="Straight Connector 267"/>
            <p:cNvCxnSpPr>
              <a:endCxn id="262" idx="2"/>
            </p:cNvCxnSpPr>
            <p:nvPr/>
          </p:nvCxnSpPr>
          <p:spPr bwMode="auto">
            <a:xfrm flipH="1" flipV="1">
              <a:off x="2996828" y="1734588"/>
              <a:ext cx="2820"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8179" name="Group 347"/>
          <p:cNvGrpSpPr/>
          <p:nvPr/>
        </p:nvGrpSpPr>
        <p:grpSpPr>
          <a:xfrm>
            <a:off x="6443663" y="3941763"/>
            <a:ext cx="635000" cy="338137"/>
            <a:chOff x="1871277" y="1576300"/>
            <a:chExt cx="1128371" cy="437861"/>
          </a:xfrm>
        </p:grpSpPr>
        <p:sp>
          <p:nvSpPr>
            <p:cNvPr id="270" name="Oval 269"/>
            <p:cNvSpPr/>
            <p:nvPr/>
          </p:nvSpPr>
          <p:spPr bwMode="auto">
            <a:xfrm flipV="1">
              <a:off x="1874097" y="1695530"/>
              <a:ext cx="1125551" cy="31863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71" name="Rectangle 270"/>
            <p:cNvSpPr/>
            <p:nvPr/>
          </p:nvSpPr>
          <p:spPr bwMode="auto">
            <a:xfrm>
              <a:off x="1871277" y="1738699"/>
              <a:ext cx="1128371" cy="11717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72" name="Oval 271"/>
            <p:cNvSpPr/>
            <p:nvPr/>
          </p:nvSpPr>
          <p:spPr bwMode="auto">
            <a:xfrm flipV="1">
              <a:off x="1871277" y="1576300"/>
              <a:ext cx="1125549" cy="31863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73" name="Freeform 272"/>
            <p:cNvSpPr/>
            <p:nvPr/>
          </p:nvSpPr>
          <p:spPr bwMode="auto">
            <a:xfrm>
              <a:off x="2159012" y="1672917"/>
              <a:ext cx="550080" cy="1603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74" name="Freeform 273"/>
            <p:cNvSpPr/>
            <p:nvPr/>
          </p:nvSpPr>
          <p:spPr bwMode="auto">
            <a:xfrm>
              <a:off x="2102593" y="1633859"/>
              <a:ext cx="662917" cy="111007"/>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75" name="Freeform 274"/>
            <p:cNvSpPr/>
            <p:nvPr/>
          </p:nvSpPr>
          <p:spPr bwMode="auto">
            <a:xfrm>
              <a:off x="2537016" y="1728421"/>
              <a:ext cx="242600" cy="96617"/>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76" name="Freeform 275"/>
            <p:cNvSpPr/>
            <p:nvPr/>
          </p:nvSpPr>
          <p:spPr bwMode="auto">
            <a:xfrm>
              <a:off x="2091309" y="1730476"/>
              <a:ext cx="239778" cy="9661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77" name="Straight Connector 276"/>
            <p:cNvCxnSpPr>
              <a:endCxn id="272" idx="2"/>
            </p:cNvCxnSpPr>
            <p:nvPr/>
          </p:nvCxnSpPr>
          <p:spPr bwMode="auto">
            <a:xfrm flipH="1" flipV="1">
              <a:off x="1871277" y="1736644"/>
              <a:ext cx="2820"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78" name="Straight Connector 277"/>
            <p:cNvCxnSpPr>
              <a:endCxn id="272" idx="2"/>
            </p:cNvCxnSpPr>
            <p:nvPr/>
          </p:nvCxnSpPr>
          <p:spPr bwMode="auto">
            <a:xfrm flipH="1" flipV="1">
              <a:off x="2996826" y="1734587"/>
              <a:ext cx="2822"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8189" name="Group 782"/>
          <p:cNvGrpSpPr/>
          <p:nvPr/>
        </p:nvGrpSpPr>
        <p:grpSpPr>
          <a:xfrm>
            <a:off x="1785938" y="1468438"/>
            <a:ext cx="436562" cy="542925"/>
            <a:chOff x="742" y="2409"/>
            <a:chExt cx="576" cy="881"/>
          </a:xfrm>
        </p:grpSpPr>
        <p:grpSp>
          <p:nvGrpSpPr>
            <p:cNvPr id="88190" name="Group 783"/>
            <p:cNvGrpSpPr/>
            <p:nvPr/>
          </p:nvGrpSpPr>
          <p:grpSpPr>
            <a:xfrm>
              <a:off x="832" y="2643"/>
              <a:ext cx="376" cy="647"/>
              <a:chOff x="3130" y="3288"/>
              <a:chExt cx="410" cy="742"/>
            </a:xfrm>
          </p:grpSpPr>
          <p:sp>
            <p:nvSpPr>
              <p:cNvPr id="88191"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8192"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8193"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8194"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8195"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8196"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8197"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8198"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8199"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8200"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8201"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8202"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8203"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8204"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8205"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8206"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8207"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88208" name="Group 782"/>
          <p:cNvGrpSpPr/>
          <p:nvPr/>
        </p:nvGrpSpPr>
        <p:grpSpPr>
          <a:xfrm>
            <a:off x="2276475" y="1898650"/>
            <a:ext cx="436563" cy="541338"/>
            <a:chOff x="742" y="2409"/>
            <a:chExt cx="576" cy="881"/>
          </a:xfrm>
        </p:grpSpPr>
        <p:grpSp>
          <p:nvGrpSpPr>
            <p:cNvPr id="88209" name="Group 783"/>
            <p:cNvGrpSpPr/>
            <p:nvPr/>
          </p:nvGrpSpPr>
          <p:grpSpPr>
            <a:xfrm>
              <a:off x="832" y="2643"/>
              <a:ext cx="376" cy="647"/>
              <a:chOff x="3130" y="3288"/>
              <a:chExt cx="410" cy="742"/>
            </a:xfrm>
          </p:grpSpPr>
          <p:sp>
            <p:nvSpPr>
              <p:cNvPr id="88210"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8211"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8212"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8213"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8214"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8215"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8216"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8217"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8218"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8219"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8220"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8221"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8222"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8223"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8224"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8225"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8226"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88227" name="Group 782"/>
          <p:cNvGrpSpPr/>
          <p:nvPr/>
        </p:nvGrpSpPr>
        <p:grpSpPr>
          <a:xfrm>
            <a:off x="1733550" y="2189163"/>
            <a:ext cx="436563" cy="542925"/>
            <a:chOff x="742" y="2409"/>
            <a:chExt cx="576" cy="881"/>
          </a:xfrm>
        </p:grpSpPr>
        <p:grpSp>
          <p:nvGrpSpPr>
            <p:cNvPr id="88228" name="Group 783"/>
            <p:cNvGrpSpPr/>
            <p:nvPr/>
          </p:nvGrpSpPr>
          <p:grpSpPr>
            <a:xfrm>
              <a:off x="832" y="2643"/>
              <a:ext cx="376" cy="647"/>
              <a:chOff x="3130" y="3288"/>
              <a:chExt cx="410" cy="742"/>
            </a:xfrm>
          </p:grpSpPr>
          <p:sp>
            <p:nvSpPr>
              <p:cNvPr id="88229"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8230"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8231"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8232"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8233"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8234"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8235"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8236"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8237"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8238"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8239"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8240"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8241"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8242"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8243"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8244"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8245"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88246" name="Group 347"/>
          <p:cNvGrpSpPr/>
          <p:nvPr/>
        </p:nvGrpSpPr>
        <p:grpSpPr>
          <a:xfrm>
            <a:off x="5157788" y="5226050"/>
            <a:ext cx="400050" cy="190500"/>
            <a:chOff x="1871277" y="1576300"/>
            <a:chExt cx="1128371" cy="437861"/>
          </a:xfrm>
        </p:grpSpPr>
        <p:sp>
          <p:nvSpPr>
            <p:cNvPr id="337" name="Oval 336"/>
            <p:cNvSpPr/>
            <p:nvPr/>
          </p:nvSpPr>
          <p:spPr bwMode="auto">
            <a:xfrm flipV="1">
              <a:off x="1875753" y="1693063"/>
              <a:ext cx="1123895" cy="321098"/>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38" name="Rectangle 337"/>
            <p:cNvSpPr/>
            <p:nvPr/>
          </p:nvSpPr>
          <p:spPr bwMode="auto">
            <a:xfrm>
              <a:off x="1871277" y="1740499"/>
              <a:ext cx="1128371" cy="11676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39" name="Oval 338"/>
            <p:cNvSpPr/>
            <p:nvPr/>
          </p:nvSpPr>
          <p:spPr bwMode="auto">
            <a:xfrm flipV="1">
              <a:off x="1871277" y="1576300"/>
              <a:ext cx="1123892" cy="321098"/>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40" name="Freeform 339"/>
            <p:cNvSpPr/>
            <p:nvPr/>
          </p:nvSpPr>
          <p:spPr bwMode="auto">
            <a:xfrm>
              <a:off x="2157847" y="1674820"/>
              <a:ext cx="550751" cy="160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41" name="Freeform 340"/>
            <p:cNvSpPr/>
            <p:nvPr/>
          </p:nvSpPr>
          <p:spPr bwMode="auto">
            <a:xfrm>
              <a:off x="2104115" y="1634681"/>
              <a:ext cx="662694" cy="109465"/>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42" name="Freeform 341"/>
            <p:cNvSpPr/>
            <p:nvPr/>
          </p:nvSpPr>
          <p:spPr bwMode="auto">
            <a:xfrm>
              <a:off x="2538447" y="1729551"/>
              <a:ext cx="241794" cy="9487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43" name="Freeform 342"/>
            <p:cNvSpPr/>
            <p:nvPr/>
          </p:nvSpPr>
          <p:spPr bwMode="auto">
            <a:xfrm>
              <a:off x="2090681" y="1729551"/>
              <a:ext cx="241794" cy="98520"/>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344" name="Straight Connector 343"/>
            <p:cNvCxnSpPr>
              <a:endCxn id="339" idx="2"/>
            </p:cNvCxnSpPr>
            <p:nvPr/>
          </p:nvCxnSpPr>
          <p:spPr bwMode="auto">
            <a:xfrm flipH="1" flipV="1">
              <a:off x="1871277" y="1736849"/>
              <a:ext cx="4476" cy="12406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45" name="Straight Connector 344"/>
            <p:cNvCxnSpPr>
              <a:endCxn id="339" idx="2"/>
            </p:cNvCxnSpPr>
            <p:nvPr/>
          </p:nvCxnSpPr>
          <p:spPr bwMode="auto">
            <a:xfrm flipH="1" flipV="1">
              <a:off x="2995169" y="1733201"/>
              <a:ext cx="4479" cy="12406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8256" name="Group 347"/>
          <p:cNvGrpSpPr/>
          <p:nvPr/>
        </p:nvGrpSpPr>
        <p:grpSpPr>
          <a:xfrm>
            <a:off x="5137150" y="5821363"/>
            <a:ext cx="400050" cy="190500"/>
            <a:chOff x="1871277" y="1576300"/>
            <a:chExt cx="1128371" cy="437861"/>
          </a:xfrm>
        </p:grpSpPr>
        <p:sp>
          <p:nvSpPr>
            <p:cNvPr id="347" name="Oval 346"/>
            <p:cNvSpPr/>
            <p:nvPr/>
          </p:nvSpPr>
          <p:spPr bwMode="auto">
            <a:xfrm flipV="1">
              <a:off x="1875756" y="1693063"/>
              <a:ext cx="1123892" cy="321098"/>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48" name="Rectangle 347"/>
            <p:cNvSpPr/>
            <p:nvPr/>
          </p:nvSpPr>
          <p:spPr bwMode="auto">
            <a:xfrm>
              <a:off x="1871277" y="1740497"/>
              <a:ext cx="1128371" cy="11676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49" name="Oval 348"/>
            <p:cNvSpPr/>
            <p:nvPr/>
          </p:nvSpPr>
          <p:spPr bwMode="auto">
            <a:xfrm flipV="1">
              <a:off x="1871277" y="1576300"/>
              <a:ext cx="1123895" cy="321098"/>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350" name="Freeform 349"/>
            <p:cNvSpPr/>
            <p:nvPr/>
          </p:nvSpPr>
          <p:spPr bwMode="auto">
            <a:xfrm>
              <a:off x="2157847" y="1674818"/>
              <a:ext cx="550754" cy="160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51" name="Freeform 350"/>
            <p:cNvSpPr/>
            <p:nvPr/>
          </p:nvSpPr>
          <p:spPr bwMode="auto">
            <a:xfrm>
              <a:off x="2104115" y="1634681"/>
              <a:ext cx="662694" cy="109465"/>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52" name="Freeform 351"/>
            <p:cNvSpPr/>
            <p:nvPr/>
          </p:nvSpPr>
          <p:spPr bwMode="auto">
            <a:xfrm>
              <a:off x="2538450" y="1729551"/>
              <a:ext cx="241794" cy="9487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53" name="Freeform 352"/>
            <p:cNvSpPr/>
            <p:nvPr/>
          </p:nvSpPr>
          <p:spPr bwMode="auto">
            <a:xfrm>
              <a:off x="2090684" y="1729551"/>
              <a:ext cx="241794" cy="9851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354" name="Straight Connector 353"/>
            <p:cNvCxnSpPr>
              <a:endCxn id="349" idx="2"/>
            </p:cNvCxnSpPr>
            <p:nvPr/>
          </p:nvCxnSpPr>
          <p:spPr bwMode="auto">
            <a:xfrm flipH="1" flipV="1">
              <a:off x="1871277" y="1736849"/>
              <a:ext cx="4479" cy="12406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55" name="Straight Connector 354"/>
            <p:cNvCxnSpPr>
              <a:endCxn id="349" idx="2"/>
            </p:cNvCxnSpPr>
            <p:nvPr/>
          </p:nvCxnSpPr>
          <p:spPr bwMode="auto">
            <a:xfrm flipH="1" flipV="1">
              <a:off x="2995172" y="1733199"/>
              <a:ext cx="4476" cy="12406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Line 96"/>
          <p:cNvSpPr/>
          <p:nvPr/>
        </p:nvSpPr>
        <p:spPr>
          <a:xfrm flipV="1">
            <a:off x="2012950" y="2292350"/>
            <a:ext cx="1695450" cy="414338"/>
          </a:xfrm>
          <a:prstGeom prst="line">
            <a:avLst/>
          </a:prstGeom>
          <a:ln w="9525" cap="flat" cmpd="sng">
            <a:solidFill>
              <a:schemeClr val="tx1"/>
            </a:solidFill>
            <a:prstDash val="solid"/>
            <a:round/>
            <a:headEnd type="none" w="med" len="med"/>
            <a:tailEnd type="none" w="med" len="med"/>
          </a:ln>
        </p:spPr>
      </p:sp>
      <p:sp>
        <p:nvSpPr>
          <p:cNvPr id="89090" name="Line 97"/>
          <p:cNvSpPr/>
          <p:nvPr/>
        </p:nvSpPr>
        <p:spPr>
          <a:xfrm flipV="1">
            <a:off x="2574925" y="2284413"/>
            <a:ext cx="1109663" cy="0"/>
          </a:xfrm>
          <a:prstGeom prst="line">
            <a:avLst/>
          </a:prstGeom>
          <a:ln w="9525" cap="flat" cmpd="sng">
            <a:solidFill>
              <a:schemeClr val="tx1"/>
            </a:solidFill>
            <a:prstDash val="solid"/>
            <a:round/>
            <a:headEnd type="none" w="med" len="med"/>
            <a:tailEnd type="none" w="med" len="med"/>
          </a:ln>
        </p:spPr>
      </p:sp>
      <p:sp>
        <p:nvSpPr>
          <p:cNvPr id="89091" name="Line 98"/>
          <p:cNvSpPr/>
          <p:nvPr/>
        </p:nvSpPr>
        <p:spPr>
          <a:xfrm>
            <a:off x="2082800" y="1911350"/>
            <a:ext cx="1624013" cy="381000"/>
          </a:xfrm>
          <a:prstGeom prst="line">
            <a:avLst/>
          </a:prstGeom>
          <a:ln w="9525" cap="flat" cmpd="sng">
            <a:solidFill>
              <a:schemeClr val="tx1"/>
            </a:solidFill>
            <a:prstDash val="solid"/>
            <a:round/>
            <a:headEnd type="none" w="med" len="med"/>
            <a:tailEnd type="none" w="med" len="med"/>
          </a:ln>
        </p:spPr>
      </p:sp>
      <p:grpSp>
        <p:nvGrpSpPr>
          <p:cNvPr id="89092" name="Group 99"/>
          <p:cNvGrpSpPr/>
          <p:nvPr/>
        </p:nvGrpSpPr>
        <p:grpSpPr>
          <a:xfrm>
            <a:off x="3676650" y="1998663"/>
            <a:ext cx="550863" cy="411162"/>
            <a:chOff x="611" y="3693"/>
            <a:chExt cx="449" cy="287"/>
          </a:xfrm>
        </p:grpSpPr>
        <p:sp>
          <p:nvSpPr>
            <p:cNvPr id="89093" name="Rectangle 10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9094" name="Group 101"/>
            <p:cNvGrpSpPr/>
            <p:nvPr/>
          </p:nvGrpSpPr>
          <p:grpSpPr>
            <a:xfrm>
              <a:off x="687" y="3826"/>
              <a:ext cx="224" cy="110"/>
              <a:chOff x="687" y="3826"/>
              <a:chExt cx="224" cy="110"/>
            </a:xfrm>
          </p:grpSpPr>
          <p:sp>
            <p:nvSpPr>
              <p:cNvPr id="89095" name="Freeform 10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096" name="Freeform 10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9097" name="Freeform 10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098" name="Freeform 10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099" name="Freeform 10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00" name="Freeform 10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01" name="Freeform 10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89102" name="Group 109"/>
          <p:cNvGrpSpPr/>
          <p:nvPr/>
        </p:nvGrpSpPr>
        <p:grpSpPr>
          <a:xfrm>
            <a:off x="4676775" y="1630363"/>
            <a:ext cx="550863" cy="1001712"/>
            <a:chOff x="611" y="3693"/>
            <a:chExt cx="449" cy="287"/>
          </a:xfrm>
        </p:grpSpPr>
        <p:sp>
          <p:nvSpPr>
            <p:cNvPr id="89103"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9104" name="Group 111"/>
            <p:cNvGrpSpPr/>
            <p:nvPr/>
          </p:nvGrpSpPr>
          <p:grpSpPr>
            <a:xfrm>
              <a:off x="687" y="3826"/>
              <a:ext cx="224" cy="110"/>
              <a:chOff x="687" y="3826"/>
              <a:chExt cx="224" cy="110"/>
            </a:xfrm>
          </p:grpSpPr>
          <p:sp>
            <p:nvSpPr>
              <p:cNvPr id="89105" name="Freeform 11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06" name="Freeform 11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9107"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08"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09"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10"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11"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9112" name="Line 119"/>
          <p:cNvSpPr/>
          <p:nvPr/>
        </p:nvSpPr>
        <p:spPr>
          <a:xfrm flipV="1">
            <a:off x="4203700" y="2230438"/>
            <a:ext cx="447675" cy="9525"/>
          </a:xfrm>
          <a:prstGeom prst="line">
            <a:avLst/>
          </a:prstGeom>
          <a:ln w="9525" cap="flat" cmpd="sng">
            <a:solidFill>
              <a:schemeClr val="tx1"/>
            </a:solidFill>
            <a:prstDash val="solid"/>
            <a:round/>
            <a:headEnd type="none" w="med" len="med"/>
            <a:tailEnd type="none" w="med" len="med"/>
          </a:ln>
        </p:spPr>
      </p:sp>
      <p:sp>
        <p:nvSpPr>
          <p:cNvPr id="89113" name="Text Box 120"/>
          <p:cNvSpPr txBox="1"/>
          <p:nvPr/>
        </p:nvSpPr>
        <p:spPr>
          <a:xfrm>
            <a:off x="3529013" y="2430463"/>
            <a:ext cx="1135062" cy="746125"/>
          </a:xfrm>
          <a:prstGeom prst="rect">
            <a:avLst/>
          </a:prstGeom>
          <a:noFill/>
          <a:ln w="9525">
            <a:noFill/>
          </a:ln>
        </p:spPr>
        <p:txBody>
          <a:bodyPr wrap="none" anchor="t" anchorCtr="0">
            <a:spAutoFit/>
          </a:bodyPr>
          <a:p>
            <a:pPr>
              <a:lnSpc>
                <a:spcPts val="1700"/>
              </a:lnSpc>
              <a:buClrTx/>
              <a:buFontTx/>
            </a:pPr>
            <a:r>
              <a:rPr lang="en-US" altLang="zh-CN" dirty="0">
                <a:latin typeface="Arial" panose="020B0604020202020204" pitchFamily="34" charset="0"/>
                <a:ea typeface="MS PGothic" panose="020B0600070205080204" pitchFamily="34" charset="-128"/>
              </a:rPr>
              <a:t>radio</a:t>
            </a:r>
            <a:endParaRPr lang="en-US" altLang="zh-CN" dirty="0">
              <a:latin typeface="Arial" panose="020B0604020202020204" pitchFamily="34" charset="0"/>
              <a:ea typeface="MS PGothic" panose="020B0600070205080204" pitchFamily="34" charset="-128"/>
            </a:endParaRPr>
          </a:p>
          <a:p>
            <a:pPr>
              <a:lnSpc>
                <a:spcPts val="1700"/>
              </a:lnSpc>
              <a:buClrTx/>
              <a:buFontTx/>
            </a:pPr>
            <a:r>
              <a:rPr lang="en-US" altLang="zh-CN" dirty="0">
                <a:latin typeface="Arial" panose="020B0604020202020204" pitchFamily="34" charset="0"/>
                <a:ea typeface="MS PGothic" panose="020B0600070205080204" pitchFamily="34" charset="-128"/>
              </a:rPr>
              <a:t>network </a:t>
            </a:r>
            <a:endParaRPr lang="en-US" altLang="zh-CN" dirty="0">
              <a:latin typeface="Arial" panose="020B0604020202020204" pitchFamily="34" charset="0"/>
              <a:ea typeface="MS PGothic" panose="020B0600070205080204" pitchFamily="34" charset="-128"/>
            </a:endParaRPr>
          </a:p>
          <a:p>
            <a:pPr>
              <a:lnSpc>
                <a:spcPts val="1700"/>
              </a:lnSpc>
              <a:buClrTx/>
              <a:buFontTx/>
            </a:pPr>
            <a:r>
              <a:rPr lang="en-US" altLang="zh-CN" dirty="0">
                <a:latin typeface="Arial" panose="020B0604020202020204" pitchFamily="34" charset="0"/>
                <a:ea typeface="MS PGothic" panose="020B0600070205080204" pitchFamily="34" charset="-128"/>
              </a:rPr>
              <a:t>controller</a:t>
            </a:r>
            <a:endParaRPr lang="en-US" altLang="zh-CN" dirty="0">
              <a:latin typeface="Arial" panose="020B0604020202020204" pitchFamily="34" charset="0"/>
              <a:ea typeface="MS PGothic" panose="020B0600070205080204" pitchFamily="34" charset="-128"/>
            </a:endParaRPr>
          </a:p>
        </p:txBody>
      </p:sp>
      <p:sp>
        <p:nvSpPr>
          <p:cNvPr id="89114" name="Text Box 121"/>
          <p:cNvSpPr txBox="1"/>
          <p:nvPr/>
        </p:nvSpPr>
        <p:spPr>
          <a:xfrm>
            <a:off x="4613275" y="1335088"/>
            <a:ext cx="6921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MSC</a:t>
            </a:r>
            <a:endParaRPr lang="en-US" altLang="zh-CN" dirty="0">
              <a:latin typeface="Arial" panose="020B0604020202020204" pitchFamily="34" charset="0"/>
              <a:ea typeface="MS PGothic" panose="020B0600070205080204" pitchFamily="34" charset="-128"/>
            </a:endParaRPr>
          </a:p>
        </p:txBody>
      </p:sp>
      <p:pic>
        <p:nvPicPr>
          <p:cNvPr id="89115" name="Picture 122" descr="imgyjavg[1]"/>
          <p:cNvPicPr>
            <a:picLocks noChangeAspect="1"/>
          </p:cNvPicPr>
          <p:nvPr/>
        </p:nvPicPr>
        <p:blipFill>
          <a:blip r:embed="rId1"/>
          <a:stretch>
            <a:fillRect/>
          </a:stretch>
        </p:blipFill>
        <p:spPr>
          <a:xfrm>
            <a:off x="600075" y="1728788"/>
            <a:ext cx="252413" cy="182562"/>
          </a:xfrm>
          <a:prstGeom prst="rect">
            <a:avLst/>
          </a:prstGeom>
          <a:noFill/>
          <a:ln w="9525">
            <a:noFill/>
          </a:ln>
        </p:spPr>
      </p:pic>
      <p:grpSp>
        <p:nvGrpSpPr>
          <p:cNvPr id="89116" name="Group 123"/>
          <p:cNvGrpSpPr/>
          <p:nvPr/>
        </p:nvGrpSpPr>
        <p:grpSpPr>
          <a:xfrm>
            <a:off x="223838" y="2135188"/>
            <a:ext cx="831850" cy="180975"/>
            <a:chOff x="3072" y="739"/>
            <a:chExt cx="652" cy="146"/>
          </a:xfrm>
        </p:grpSpPr>
        <p:pic>
          <p:nvPicPr>
            <p:cNvPr id="89117" name="Picture 124" descr="lgv_fqmg[1]"/>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89118" name="Line 125"/>
            <p:cNvSpPr/>
            <p:nvPr/>
          </p:nvSpPr>
          <p:spPr>
            <a:xfrm flipH="1">
              <a:off x="3104" y="784"/>
              <a:ext cx="87" cy="0"/>
            </a:xfrm>
            <a:prstGeom prst="line">
              <a:avLst/>
            </a:prstGeom>
            <a:ln w="9525" cap="flat" cmpd="sng">
              <a:solidFill>
                <a:schemeClr val="tx1"/>
              </a:solidFill>
              <a:prstDash val="solid"/>
              <a:round/>
              <a:headEnd type="none" w="med" len="med"/>
              <a:tailEnd type="none" w="med" len="med"/>
            </a:ln>
          </p:spPr>
        </p:sp>
        <p:sp>
          <p:nvSpPr>
            <p:cNvPr id="89119" name="Line 126"/>
            <p:cNvSpPr/>
            <p:nvPr/>
          </p:nvSpPr>
          <p:spPr>
            <a:xfrm flipH="1">
              <a:off x="3072" y="759"/>
              <a:ext cx="144" cy="0"/>
            </a:xfrm>
            <a:prstGeom prst="line">
              <a:avLst/>
            </a:prstGeom>
            <a:ln w="9525" cap="flat" cmpd="sng">
              <a:solidFill>
                <a:schemeClr val="tx1"/>
              </a:solidFill>
              <a:prstDash val="solid"/>
              <a:round/>
              <a:headEnd type="none" w="med" len="med"/>
              <a:tailEnd type="none" w="med" len="med"/>
            </a:ln>
          </p:spPr>
        </p:sp>
      </p:grpSp>
      <p:sp>
        <p:nvSpPr>
          <p:cNvPr id="89120" name="Oval 127"/>
          <p:cNvSpPr/>
          <p:nvPr/>
        </p:nvSpPr>
        <p:spPr>
          <a:xfrm>
            <a:off x="1184275" y="1406525"/>
            <a:ext cx="3170238" cy="1473200"/>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pic>
        <p:nvPicPr>
          <p:cNvPr id="89121" name="Picture 128" descr="imgyjavg[1]"/>
          <p:cNvPicPr>
            <a:picLocks noChangeAspect="1"/>
          </p:cNvPicPr>
          <p:nvPr/>
        </p:nvPicPr>
        <p:blipFill>
          <a:blip r:embed="rId1"/>
          <a:stretch>
            <a:fillRect/>
          </a:stretch>
        </p:blipFill>
        <p:spPr>
          <a:xfrm>
            <a:off x="501650" y="2468563"/>
            <a:ext cx="252413" cy="182562"/>
          </a:xfrm>
          <a:prstGeom prst="rect">
            <a:avLst/>
          </a:prstGeom>
          <a:noFill/>
          <a:ln w="9525">
            <a:noFill/>
          </a:ln>
        </p:spPr>
      </p:pic>
      <p:grpSp>
        <p:nvGrpSpPr>
          <p:cNvPr id="89122" name="Group 130"/>
          <p:cNvGrpSpPr/>
          <p:nvPr/>
        </p:nvGrpSpPr>
        <p:grpSpPr>
          <a:xfrm>
            <a:off x="4660900" y="3173413"/>
            <a:ext cx="582613" cy="641350"/>
            <a:chOff x="3028" y="1864"/>
            <a:chExt cx="347" cy="631"/>
          </a:xfrm>
        </p:grpSpPr>
        <p:sp>
          <p:nvSpPr>
            <p:cNvPr id="89123" name="Rectangle 131"/>
            <p:cNvSpPr/>
            <p:nvPr/>
          </p:nvSpPr>
          <p:spPr>
            <a:xfrm>
              <a:off x="3047" y="2042"/>
              <a:ext cx="260" cy="45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sp>
          <p:nvSpPr>
            <p:cNvPr id="89124" name="Freeform 132"/>
            <p:cNvSpPr/>
            <p:nvPr/>
          </p:nvSpPr>
          <p:spPr>
            <a:xfrm>
              <a:off x="3309" y="1888"/>
              <a:ext cx="48" cy="163"/>
            </a:xfrm>
            <a:custGeom>
              <a:avLst/>
              <a:gdLst/>
              <a:ahLst/>
              <a:cxnLst>
                <a:cxn ang="0">
                  <a:pos x="5" y="0"/>
                </a:cxn>
                <a:cxn ang="0">
                  <a:pos x="8" y="31732"/>
                </a:cxn>
                <a:cxn ang="0">
                  <a:pos x="0" y="41008"/>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25" name="Freeform 133"/>
            <p:cNvSpPr/>
            <p:nvPr/>
          </p:nvSpPr>
          <p:spPr>
            <a:xfrm>
              <a:off x="3307" y="2020"/>
              <a:ext cx="49" cy="475"/>
            </a:xfrm>
            <a:custGeom>
              <a:avLst/>
              <a:gdLst/>
              <a:ahLst/>
              <a:cxnLst>
                <a:cxn ang="0">
                  <a:pos x="2" y="6378"/>
                </a:cxn>
                <a:cxn ang="0">
                  <a:pos x="0" y="88770"/>
                </a:cxn>
                <a:cxn ang="0">
                  <a:pos x="9" y="79589"/>
                </a:cxn>
                <a:cxn ang="0">
                  <a:pos x="9" y="0"/>
                </a:cxn>
                <a:cxn ang="0">
                  <a:pos x="2" y="6378"/>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26" name="Freeform 134"/>
            <p:cNvSpPr/>
            <p:nvPr/>
          </p:nvSpPr>
          <p:spPr>
            <a:xfrm>
              <a:off x="3339" y="1864"/>
              <a:ext cx="36" cy="171"/>
            </a:xfrm>
            <a:custGeom>
              <a:avLst/>
              <a:gdLst/>
              <a:ahLst/>
              <a:cxnLst>
                <a:cxn ang="0">
                  <a:pos x="2" y="0"/>
                </a:cxn>
                <a:cxn ang="0">
                  <a:pos x="5" y="41632"/>
                </a:cxn>
                <a:cxn ang="0">
                  <a:pos x="2" y="41165"/>
                </a:cxn>
                <a:cxn ang="0">
                  <a:pos x="0" y="18777"/>
                </a:cxn>
                <a:cxn ang="0">
                  <a:pos x="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27" name="Freeform 135"/>
            <p:cNvSpPr/>
            <p:nvPr/>
          </p:nvSpPr>
          <p:spPr>
            <a:xfrm>
              <a:off x="3319" y="1941"/>
              <a:ext cx="34" cy="112"/>
            </a:xfrm>
            <a:custGeom>
              <a:avLst/>
              <a:gdLst/>
              <a:ahLst/>
              <a:cxnLst>
                <a:cxn ang="0">
                  <a:pos x="3" y="0"/>
                </a:cxn>
                <a:cxn ang="0">
                  <a:pos x="0" y="27592"/>
                </a:cxn>
                <a:cxn ang="0">
                  <a:pos x="5" y="24370"/>
                </a:cxn>
                <a:cxn ang="0">
                  <a:pos x="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28" name="Freeform 136"/>
            <p:cNvSpPr/>
            <p:nvPr/>
          </p:nvSpPr>
          <p:spPr>
            <a:xfrm>
              <a:off x="3028" y="1868"/>
              <a:ext cx="322" cy="209"/>
            </a:xfrm>
            <a:custGeom>
              <a:avLst/>
              <a:gdLst/>
              <a:ahLst/>
              <a:cxnLst>
                <a:cxn ang="0">
                  <a:pos x="0" y="52142"/>
                </a:cxn>
                <a:cxn ang="0">
                  <a:pos x="8" y="469"/>
                </a:cxn>
                <a:cxn ang="0">
                  <a:pos x="53" y="0"/>
                </a:cxn>
                <a:cxn ang="0">
                  <a:pos x="47" y="52142"/>
                </a:cxn>
                <a:cxn ang="0">
                  <a:pos x="0" y="52142"/>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9129" name="Text Box 137"/>
          <p:cNvSpPr txBox="1"/>
          <p:nvPr/>
        </p:nvSpPr>
        <p:spPr>
          <a:xfrm>
            <a:off x="4591050" y="3817938"/>
            <a:ext cx="8318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SGSN</a:t>
            </a:r>
            <a:endParaRPr lang="en-US" altLang="zh-CN" dirty="0">
              <a:latin typeface="Arial" panose="020B0604020202020204" pitchFamily="34" charset="0"/>
              <a:ea typeface="MS PGothic" panose="020B0600070205080204" pitchFamily="34" charset="-128"/>
            </a:endParaRPr>
          </a:p>
        </p:txBody>
      </p:sp>
      <p:sp>
        <p:nvSpPr>
          <p:cNvPr id="89130" name="Line 138"/>
          <p:cNvSpPr/>
          <p:nvPr/>
        </p:nvSpPr>
        <p:spPr>
          <a:xfrm>
            <a:off x="5313363" y="3605213"/>
            <a:ext cx="685800" cy="249237"/>
          </a:xfrm>
          <a:prstGeom prst="line">
            <a:avLst/>
          </a:prstGeom>
          <a:ln w="9525" cap="flat" cmpd="sng">
            <a:solidFill>
              <a:schemeClr val="tx1"/>
            </a:solidFill>
            <a:prstDash val="solid"/>
            <a:round/>
            <a:headEnd type="none" w="med" len="med"/>
            <a:tailEnd type="none" w="med" len="med"/>
          </a:ln>
        </p:spPr>
      </p:sp>
      <p:sp>
        <p:nvSpPr>
          <p:cNvPr id="89131" name="Line 153"/>
          <p:cNvSpPr/>
          <p:nvPr/>
        </p:nvSpPr>
        <p:spPr>
          <a:xfrm>
            <a:off x="4187825" y="2241550"/>
            <a:ext cx="295275" cy="1384300"/>
          </a:xfrm>
          <a:prstGeom prst="line">
            <a:avLst/>
          </a:prstGeom>
          <a:ln w="9525" cap="flat" cmpd="sng">
            <a:solidFill>
              <a:schemeClr val="tx1"/>
            </a:solidFill>
            <a:prstDash val="solid"/>
            <a:round/>
            <a:headEnd type="none" w="med" len="med"/>
            <a:tailEnd type="none" w="med" len="med"/>
          </a:ln>
        </p:spPr>
      </p:sp>
      <p:sp>
        <p:nvSpPr>
          <p:cNvPr id="89132" name="Line 154"/>
          <p:cNvSpPr/>
          <p:nvPr/>
        </p:nvSpPr>
        <p:spPr>
          <a:xfrm>
            <a:off x="4483100" y="3627438"/>
            <a:ext cx="222250" cy="0"/>
          </a:xfrm>
          <a:prstGeom prst="line">
            <a:avLst/>
          </a:prstGeom>
          <a:ln w="9525" cap="flat" cmpd="sng">
            <a:solidFill>
              <a:schemeClr val="tx1"/>
            </a:solidFill>
            <a:prstDash val="solid"/>
            <a:round/>
            <a:headEnd type="none" w="med" len="med"/>
            <a:tailEnd type="none" w="med" len="med"/>
          </a:ln>
        </p:spPr>
      </p:sp>
      <p:sp>
        <p:nvSpPr>
          <p:cNvPr id="89133" name="Freeform 156"/>
          <p:cNvSpPr/>
          <p:nvPr/>
        </p:nvSpPr>
        <p:spPr>
          <a:xfrm>
            <a:off x="7177088" y="1381125"/>
            <a:ext cx="1235075" cy="16811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9134" name="Text Box 157"/>
          <p:cNvSpPr txBox="1"/>
          <p:nvPr/>
        </p:nvSpPr>
        <p:spPr>
          <a:xfrm>
            <a:off x="7285038" y="1724025"/>
            <a:ext cx="1106487" cy="82550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MS PGothic" panose="020B0600070205080204" pitchFamily="34" charset="-128"/>
              </a:rPr>
              <a:t>Public </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telephone</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network</a:t>
            </a:r>
            <a:endParaRPr lang="en-US" altLang="zh-CN" sz="1600" dirty="0">
              <a:latin typeface="Arial" panose="020B0604020202020204" pitchFamily="34" charset="0"/>
              <a:ea typeface="MS PGothic" panose="020B0600070205080204" pitchFamily="34" charset="-128"/>
            </a:endParaRPr>
          </a:p>
        </p:txBody>
      </p:sp>
      <p:sp>
        <p:nvSpPr>
          <p:cNvPr id="89135" name="Line 158"/>
          <p:cNvSpPr/>
          <p:nvPr/>
        </p:nvSpPr>
        <p:spPr>
          <a:xfrm>
            <a:off x="5151438" y="2255838"/>
            <a:ext cx="1284287" cy="0"/>
          </a:xfrm>
          <a:prstGeom prst="line">
            <a:avLst/>
          </a:prstGeom>
          <a:ln w="9525" cap="flat" cmpd="sng">
            <a:solidFill>
              <a:schemeClr val="tx1"/>
            </a:solidFill>
            <a:prstDash val="solid"/>
            <a:round/>
            <a:headEnd type="none" w="med" len="med"/>
            <a:tailEnd type="none" w="med" len="med"/>
          </a:ln>
        </p:spPr>
      </p:sp>
      <p:grpSp>
        <p:nvGrpSpPr>
          <p:cNvPr id="89136" name="Group 159"/>
          <p:cNvGrpSpPr/>
          <p:nvPr/>
        </p:nvGrpSpPr>
        <p:grpSpPr>
          <a:xfrm>
            <a:off x="6411913" y="1590675"/>
            <a:ext cx="550862" cy="1001713"/>
            <a:chOff x="611" y="3693"/>
            <a:chExt cx="449" cy="287"/>
          </a:xfrm>
        </p:grpSpPr>
        <p:sp>
          <p:nvSpPr>
            <p:cNvPr id="89137" name="Rectangle 16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9138" name="Group 161"/>
            <p:cNvGrpSpPr/>
            <p:nvPr/>
          </p:nvGrpSpPr>
          <p:grpSpPr>
            <a:xfrm>
              <a:off x="687" y="3826"/>
              <a:ext cx="224" cy="110"/>
              <a:chOff x="687" y="3826"/>
              <a:chExt cx="224" cy="110"/>
            </a:xfrm>
          </p:grpSpPr>
          <p:sp>
            <p:nvSpPr>
              <p:cNvPr id="89139" name="Freeform 16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40" name="Freeform 16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9141" name="Freeform 16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42" name="Freeform 16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43" name="Freeform 16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44" name="Freeform 16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45" name="Freeform 16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9146" name="Text Box 169"/>
          <p:cNvSpPr txBox="1"/>
          <p:nvPr/>
        </p:nvSpPr>
        <p:spPr>
          <a:xfrm>
            <a:off x="6359525" y="2573338"/>
            <a:ext cx="1085850" cy="530225"/>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MS PGothic" panose="020B0600070205080204" pitchFamily="34" charset="-128"/>
              </a:rPr>
              <a:t>Gateway</a:t>
            </a:r>
            <a:endParaRPr lang="en-US" altLang="zh-CN" dirty="0">
              <a:latin typeface="Arial" panose="020B0604020202020204" pitchFamily="34" charset="0"/>
              <a:ea typeface="MS PGothic" panose="020B0600070205080204" pitchFamily="34" charset="-128"/>
            </a:endParaRPr>
          </a:p>
          <a:p>
            <a:pPr>
              <a:lnSpc>
                <a:spcPct val="80000"/>
              </a:lnSpc>
              <a:buClrTx/>
              <a:buFontTx/>
            </a:pPr>
            <a:r>
              <a:rPr lang="en-US" altLang="zh-CN" dirty="0">
                <a:latin typeface="Arial" panose="020B0604020202020204" pitchFamily="34" charset="0"/>
                <a:ea typeface="MS PGothic" panose="020B0600070205080204" pitchFamily="34" charset="-128"/>
              </a:rPr>
              <a:t>MSC</a:t>
            </a:r>
            <a:endParaRPr lang="en-US" altLang="zh-CN" dirty="0">
              <a:latin typeface="Arial" panose="020B0604020202020204" pitchFamily="34" charset="0"/>
              <a:ea typeface="MS PGothic" panose="020B0600070205080204" pitchFamily="34" charset="-128"/>
            </a:endParaRPr>
          </a:p>
        </p:txBody>
      </p:sp>
      <p:sp>
        <p:nvSpPr>
          <p:cNvPr id="89147" name="Text Box 170"/>
          <p:cNvSpPr txBox="1"/>
          <p:nvPr/>
        </p:nvSpPr>
        <p:spPr>
          <a:xfrm>
            <a:off x="6481763" y="1593850"/>
            <a:ext cx="3619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G</a:t>
            </a:r>
            <a:endParaRPr lang="en-US" altLang="zh-CN" dirty="0">
              <a:latin typeface="Arial" panose="020B0604020202020204" pitchFamily="34" charset="0"/>
              <a:ea typeface="MS PGothic" panose="020B0600070205080204" pitchFamily="34" charset="-128"/>
            </a:endParaRPr>
          </a:p>
        </p:txBody>
      </p:sp>
      <p:sp>
        <p:nvSpPr>
          <p:cNvPr id="89148" name="Line 171"/>
          <p:cNvSpPr/>
          <p:nvPr/>
        </p:nvSpPr>
        <p:spPr>
          <a:xfrm flipH="1">
            <a:off x="6200775" y="2325688"/>
            <a:ext cx="236538" cy="146050"/>
          </a:xfrm>
          <a:prstGeom prst="line">
            <a:avLst/>
          </a:prstGeom>
          <a:ln w="9525" cap="flat" cmpd="sng">
            <a:solidFill>
              <a:schemeClr val="tx1"/>
            </a:solidFill>
            <a:prstDash val="solid"/>
            <a:round/>
            <a:headEnd type="none" w="med" len="med"/>
            <a:tailEnd type="none" w="med" len="med"/>
          </a:ln>
        </p:spPr>
      </p:sp>
      <p:sp>
        <p:nvSpPr>
          <p:cNvPr id="89149" name="Line 172"/>
          <p:cNvSpPr/>
          <p:nvPr/>
        </p:nvSpPr>
        <p:spPr>
          <a:xfrm flipH="1" flipV="1">
            <a:off x="6211888" y="2043113"/>
            <a:ext cx="225425" cy="90487"/>
          </a:xfrm>
          <a:prstGeom prst="line">
            <a:avLst/>
          </a:prstGeom>
          <a:ln w="9525" cap="flat" cmpd="sng">
            <a:solidFill>
              <a:schemeClr val="tx1"/>
            </a:solidFill>
            <a:prstDash val="solid"/>
            <a:round/>
            <a:headEnd type="none" w="med" len="med"/>
            <a:tailEnd type="none" w="med" len="med"/>
          </a:ln>
        </p:spPr>
      </p:sp>
      <p:sp>
        <p:nvSpPr>
          <p:cNvPr id="89150" name="Line 173"/>
          <p:cNvSpPr/>
          <p:nvPr/>
        </p:nvSpPr>
        <p:spPr>
          <a:xfrm flipH="1">
            <a:off x="5834063" y="2500313"/>
            <a:ext cx="327025" cy="203200"/>
          </a:xfrm>
          <a:prstGeom prst="line">
            <a:avLst/>
          </a:prstGeom>
          <a:ln w="9525" cap="flat" cmpd="sng">
            <a:solidFill>
              <a:schemeClr val="tx1"/>
            </a:solidFill>
            <a:prstDash val="dash"/>
            <a:round/>
            <a:headEnd type="none" w="med" len="med"/>
            <a:tailEnd type="none" w="med" len="med"/>
          </a:ln>
        </p:spPr>
      </p:sp>
      <p:sp>
        <p:nvSpPr>
          <p:cNvPr id="89151" name="Line 174"/>
          <p:cNvSpPr/>
          <p:nvPr/>
        </p:nvSpPr>
        <p:spPr>
          <a:xfrm flipH="1" flipV="1">
            <a:off x="5929313" y="1952625"/>
            <a:ext cx="236537" cy="79375"/>
          </a:xfrm>
          <a:prstGeom prst="line">
            <a:avLst/>
          </a:prstGeom>
          <a:ln w="9525" cap="flat" cmpd="sng">
            <a:solidFill>
              <a:schemeClr val="tx1"/>
            </a:solidFill>
            <a:prstDash val="dash"/>
            <a:round/>
            <a:headEnd type="none" w="med" len="med"/>
            <a:tailEnd type="none" w="med" len="med"/>
          </a:ln>
        </p:spPr>
      </p:sp>
      <p:sp>
        <p:nvSpPr>
          <p:cNvPr id="89152" name="Line 175"/>
          <p:cNvSpPr/>
          <p:nvPr/>
        </p:nvSpPr>
        <p:spPr>
          <a:xfrm>
            <a:off x="4945063" y="2641600"/>
            <a:ext cx="0" cy="496888"/>
          </a:xfrm>
          <a:prstGeom prst="line">
            <a:avLst/>
          </a:prstGeom>
          <a:ln w="9525" cap="flat" cmpd="sng">
            <a:solidFill>
              <a:schemeClr val="tx1"/>
            </a:solidFill>
            <a:prstDash val="solid"/>
            <a:round/>
            <a:headEnd type="triangle" w="med" len="med"/>
            <a:tailEnd type="triangle" w="med" len="med"/>
          </a:ln>
        </p:spPr>
      </p:sp>
      <p:sp>
        <p:nvSpPr>
          <p:cNvPr id="89153" name="Line 176"/>
          <p:cNvSpPr/>
          <p:nvPr/>
        </p:nvSpPr>
        <p:spPr>
          <a:xfrm>
            <a:off x="6942138" y="2224088"/>
            <a:ext cx="304800" cy="0"/>
          </a:xfrm>
          <a:prstGeom prst="line">
            <a:avLst/>
          </a:prstGeom>
          <a:ln w="9525" cap="flat" cmpd="sng">
            <a:solidFill>
              <a:schemeClr val="tx1"/>
            </a:solidFill>
            <a:prstDash val="solid"/>
            <a:round/>
            <a:headEnd type="none" w="med" len="med"/>
            <a:tailEnd type="none" w="med" len="med"/>
          </a:ln>
        </p:spPr>
      </p:sp>
      <p:sp>
        <p:nvSpPr>
          <p:cNvPr id="89154" name="Freeform 222"/>
          <p:cNvSpPr/>
          <p:nvPr/>
        </p:nvSpPr>
        <p:spPr>
          <a:xfrm>
            <a:off x="7286625" y="3284538"/>
            <a:ext cx="1235075" cy="168116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89155" name="Text Box 223"/>
          <p:cNvSpPr txBox="1"/>
          <p:nvPr/>
        </p:nvSpPr>
        <p:spPr>
          <a:xfrm>
            <a:off x="7394575" y="3627438"/>
            <a:ext cx="882650" cy="584200"/>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MS PGothic" panose="020B0600070205080204" pitchFamily="34" charset="-128"/>
              </a:rPr>
              <a:t>Public </a:t>
            </a:r>
            <a:endParaRPr lang="en-US" altLang="zh-CN" sz="1600" dirty="0">
              <a:latin typeface="Arial" panose="020B0604020202020204" pitchFamily="34" charset="0"/>
              <a:ea typeface="MS PGothic" panose="020B0600070205080204" pitchFamily="34" charset="-128"/>
            </a:endParaRPr>
          </a:p>
          <a:p>
            <a:pPr>
              <a:buClrTx/>
              <a:buFontTx/>
            </a:pPr>
            <a:r>
              <a:rPr lang="en-US" altLang="zh-CN" sz="1600" dirty="0">
                <a:latin typeface="Arial" panose="020B0604020202020204" pitchFamily="34" charset="0"/>
                <a:ea typeface="MS PGothic" panose="020B0600070205080204" pitchFamily="34" charset="-128"/>
              </a:rPr>
              <a:t>Internet</a:t>
            </a:r>
            <a:endParaRPr lang="en-US" altLang="zh-CN" sz="1600" dirty="0">
              <a:latin typeface="Arial" panose="020B0604020202020204" pitchFamily="34" charset="0"/>
              <a:ea typeface="MS PGothic" panose="020B0600070205080204" pitchFamily="34" charset="-128"/>
            </a:endParaRPr>
          </a:p>
        </p:txBody>
      </p:sp>
      <p:grpSp>
        <p:nvGrpSpPr>
          <p:cNvPr id="89156" name="Group 224"/>
          <p:cNvGrpSpPr/>
          <p:nvPr/>
        </p:nvGrpSpPr>
        <p:grpSpPr>
          <a:xfrm>
            <a:off x="6521450" y="3494088"/>
            <a:ext cx="550863" cy="1001712"/>
            <a:chOff x="611" y="3693"/>
            <a:chExt cx="449" cy="287"/>
          </a:xfrm>
        </p:grpSpPr>
        <p:sp>
          <p:nvSpPr>
            <p:cNvPr id="89157"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nvGrpSpPr>
            <p:cNvPr id="89158" name="Group 226"/>
            <p:cNvGrpSpPr/>
            <p:nvPr/>
          </p:nvGrpSpPr>
          <p:grpSpPr>
            <a:xfrm>
              <a:off x="687" y="3826"/>
              <a:ext cx="224" cy="110"/>
              <a:chOff x="687" y="3826"/>
              <a:chExt cx="224" cy="110"/>
            </a:xfrm>
          </p:grpSpPr>
          <p:sp>
            <p:nvSpPr>
              <p:cNvPr id="89159"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60"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9161"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9162"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63"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64"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89165"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89166" name="Text Box 234"/>
          <p:cNvSpPr txBox="1"/>
          <p:nvPr/>
        </p:nvSpPr>
        <p:spPr>
          <a:xfrm>
            <a:off x="6469063" y="4476750"/>
            <a:ext cx="857250" cy="311150"/>
          </a:xfrm>
          <a:prstGeom prst="rect">
            <a:avLst/>
          </a:prstGeom>
          <a:noFill/>
          <a:ln w="9525">
            <a:noFill/>
          </a:ln>
        </p:spPr>
        <p:txBody>
          <a:bodyPr wrap="none" anchor="t" anchorCtr="0">
            <a:spAutoFit/>
          </a:bodyPr>
          <a:p>
            <a:pPr>
              <a:lnSpc>
                <a:spcPct val="80000"/>
              </a:lnSpc>
              <a:buClrTx/>
              <a:buFontTx/>
            </a:pPr>
            <a:r>
              <a:rPr lang="en-US" altLang="zh-CN" dirty="0">
                <a:latin typeface="Arial" panose="020B0604020202020204" pitchFamily="34" charset="0"/>
                <a:ea typeface="MS PGothic" panose="020B0600070205080204" pitchFamily="34" charset="-128"/>
              </a:rPr>
              <a:t>GGSN</a:t>
            </a:r>
            <a:endParaRPr lang="en-US" altLang="zh-CN" dirty="0">
              <a:latin typeface="Arial" panose="020B0604020202020204" pitchFamily="34" charset="0"/>
              <a:ea typeface="MS PGothic" panose="020B0600070205080204" pitchFamily="34" charset="-128"/>
            </a:endParaRPr>
          </a:p>
        </p:txBody>
      </p:sp>
      <p:sp>
        <p:nvSpPr>
          <p:cNvPr id="89167" name="Text Box 235"/>
          <p:cNvSpPr txBox="1"/>
          <p:nvPr/>
        </p:nvSpPr>
        <p:spPr>
          <a:xfrm>
            <a:off x="6591300" y="3497263"/>
            <a:ext cx="361950" cy="366712"/>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MS PGothic" panose="020B0600070205080204" pitchFamily="34" charset="-128"/>
              </a:rPr>
              <a:t>G</a:t>
            </a:r>
            <a:endParaRPr lang="en-US" altLang="zh-CN" dirty="0">
              <a:latin typeface="Arial" panose="020B0604020202020204" pitchFamily="34" charset="0"/>
              <a:ea typeface="MS PGothic" panose="020B0600070205080204" pitchFamily="34" charset="-128"/>
            </a:endParaRPr>
          </a:p>
        </p:txBody>
      </p:sp>
      <p:sp>
        <p:nvSpPr>
          <p:cNvPr id="89168" name="Line 236"/>
          <p:cNvSpPr/>
          <p:nvPr/>
        </p:nvSpPr>
        <p:spPr>
          <a:xfrm flipH="1">
            <a:off x="6310313" y="4229100"/>
            <a:ext cx="236537" cy="146050"/>
          </a:xfrm>
          <a:prstGeom prst="line">
            <a:avLst/>
          </a:prstGeom>
          <a:ln w="9525" cap="flat" cmpd="sng">
            <a:solidFill>
              <a:schemeClr val="tx1"/>
            </a:solidFill>
            <a:prstDash val="solid"/>
            <a:round/>
            <a:headEnd type="none" w="med" len="med"/>
            <a:tailEnd type="none" w="med" len="med"/>
          </a:ln>
        </p:spPr>
      </p:sp>
      <p:sp>
        <p:nvSpPr>
          <p:cNvPr id="89169" name="Line 237"/>
          <p:cNvSpPr/>
          <p:nvPr/>
        </p:nvSpPr>
        <p:spPr>
          <a:xfrm flipH="1" flipV="1">
            <a:off x="6321425" y="3946525"/>
            <a:ext cx="225425" cy="90488"/>
          </a:xfrm>
          <a:prstGeom prst="line">
            <a:avLst/>
          </a:prstGeom>
          <a:ln w="9525" cap="flat" cmpd="sng">
            <a:solidFill>
              <a:schemeClr val="tx1"/>
            </a:solidFill>
            <a:prstDash val="solid"/>
            <a:round/>
            <a:headEnd type="none" w="med" len="med"/>
            <a:tailEnd type="none" w="med" len="med"/>
          </a:ln>
        </p:spPr>
      </p:sp>
      <p:sp>
        <p:nvSpPr>
          <p:cNvPr id="89170" name="Line 238"/>
          <p:cNvSpPr/>
          <p:nvPr/>
        </p:nvSpPr>
        <p:spPr>
          <a:xfrm flipH="1">
            <a:off x="5943600" y="4403725"/>
            <a:ext cx="327025" cy="203200"/>
          </a:xfrm>
          <a:prstGeom prst="line">
            <a:avLst/>
          </a:prstGeom>
          <a:ln w="9525" cap="flat" cmpd="sng">
            <a:solidFill>
              <a:schemeClr val="tx1"/>
            </a:solidFill>
            <a:prstDash val="dash"/>
            <a:round/>
            <a:headEnd type="none" w="med" len="med"/>
            <a:tailEnd type="none" w="med" len="med"/>
          </a:ln>
        </p:spPr>
      </p:sp>
      <p:sp>
        <p:nvSpPr>
          <p:cNvPr id="89171" name="Line 239"/>
          <p:cNvSpPr/>
          <p:nvPr/>
        </p:nvSpPr>
        <p:spPr>
          <a:xfrm flipH="1" flipV="1">
            <a:off x="6038850" y="3856038"/>
            <a:ext cx="236538" cy="79375"/>
          </a:xfrm>
          <a:prstGeom prst="line">
            <a:avLst/>
          </a:prstGeom>
          <a:ln w="9525" cap="flat" cmpd="sng">
            <a:solidFill>
              <a:schemeClr val="tx1"/>
            </a:solidFill>
            <a:prstDash val="dash"/>
            <a:round/>
            <a:headEnd type="none" w="med" len="med"/>
            <a:tailEnd type="none" w="med" len="med"/>
          </a:ln>
        </p:spPr>
      </p:sp>
      <p:sp>
        <p:nvSpPr>
          <p:cNvPr id="89172" name="Line 240"/>
          <p:cNvSpPr/>
          <p:nvPr/>
        </p:nvSpPr>
        <p:spPr>
          <a:xfrm>
            <a:off x="7051675" y="4127500"/>
            <a:ext cx="304800" cy="0"/>
          </a:xfrm>
          <a:prstGeom prst="line">
            <a:avLst/>
          </a:prstGeom>
          <a:ln w="9525" cap="flat" cmpd="sng">
            <a:solidFill>
              <a:schemeClr val="tx1"/>
            </a:solidFill>
            <a:prstDash val="solid"/>
            <a:round/>
            <a:headEnd type="none" w="med" len="med"/>
            <a:tailEnd type="none" w="med" len="med"/>
          </a:ln>
        </p:spPr>
      </p:sp>
      <p:cxnSp>
        <p:nvCxnSpPr>
          <p:cNvPr id="257" name="Straight Connector 256"/>
          <p:cNvCxnSpPr/>
          <p:nvPr/>
        </p:nvCxnSpPr>
        <p:spPr>
          <a:xfrm>
            <a:off x="4329113" y="5365750"/>
            <a:ext cx="0"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flipV="1">
            <a:off x="1495425" y="5624513"/>
            <a:ext cx="2811463" cy="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9175" name="TextBox 258"/>
          <p:cNvSpPr txBox="1"/>
          <p:nvPr/>
        </p:nvSpPr>
        <p:spPr>
          <a:xfrm>
            <a:off x="1906588" y="5308600"/>
            <a:ext cx="2111375" cy="708025"/>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MS PGothic" panose="020B0600070205080204" pitchFamily="34" charset="-128"/>
              </a:rPr>
              <a:t>radio access network</a:t>
            </a:r>
            <a:endParaRPr lang="en-US" altLang="zh-CN" sz="1600" dirty="0">
              <a:latin typeface="Arial" panose="020B0604020202020204" pitchFamily="34" charset="0"/>
              <a:ea typeface="MS PGothic" panose="020B0600070205080204" pitchFamily="34" charset="-128"/>
            </a:endParaRPr>
          </a:p>
          <a:p>
            <a:pPr algn="ctr" eaLnBrk="0" hangingPunct="0">
              <a:buClrTx/>
              <a:buFontTx/>
            </a:pPr>
            <a:r>
              <a:rPr lang="en-US" altLang="zh-CN" sz="1200" dirty="0">
                <a:latin typeface="Arial" panose="020B0604020202020204" pitchFamily="34" charset="0"/>
                <a:ea typeface="MS PGothic" panose="020B0600070205080204" pitchFamily="34" charset="-128"/>
              </a:rPr>
              <a:t>Universal Terrestrial Radio </a:t>
            </a:r>
            <a:endParaRPr lang="en-US" altLang="zh-CN" sz="1200" dirty="0">
              <a:latin typeface="Arial" panose="020B0604020202020204" pitchFamily="34" charset="0"/>
              <a:ea typeface="MS PGothic" panose="020B0600070205080204" pitchFamily="34" charset="-128"/>
            </a:endParaRPr>
          </a:p>
          <a:p>
            <a:pPr algn="ctr" eaLnBrk="0" hangingPunct="0">
              <a:buClrTx/>
              <a:buFontTx/>
            </a:pPr>
            <a:r>
              <a:rPr lang="en-US" altLang="zh-CN" sz="1200" dirty="0">
                <a:latin typeface="Arial" panose="020B0604020202020204" pitchFamily="34" charset="0"/>
                <a:ea typeface="MS PGothic" panose="020B0600070205080204" pitchFamily="34" charset="-128"/>
              </a:rPr>
              <a:t>Access Network (UTRAN)</a:t>
            </a:r>
            <a:endParaRPr lang="en-US" altLang="zh-CN" sz="1200" dirty="0">
              <a:latin typeface="Arial" panose="020B0604020202020204" pitchFamily="34" charset="0"/>
              <a:ea typeface="MS PGothic" panose="020B0600070205080204" pitchFamily="34" charset="-128"/>
            </a:endParaRPr>
          </a:p>
        </p:txBody>
      </p:sp>
      <p:cxnSp>
        <p:nvCxnSpPr>
          <p:cNvPr id="260" name="Straight Connector 259"/>
          <p:cNvCxnSpPr/>
          <p:nvPr/>
        </p:nvCxnSpPr>
        <p:spPr>
          <a:xfrm flipH="1">
            <a:off x="1512888" y="4970463"/>
            <a:ext cx="6350" cy="919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flipV="1">
            <a:off x="4346575" y="5613400"/>
            <a:ext cx="2533650" cy="635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9178" name="TextBox 261"/>
          <p:cNvSpPr txBox="1"/>
          <p:nvPr/>
        </p:nvSpPr>
        <p:spPr>
          <a:xfrm>
            <a:off x="4456113" y="5280025"/>
            <a:ext cx="2282825" cy="708025"/>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MS PGothic" panose="020B0600070205080204" pitchFamily="34" charset="-128"/>
              </a:rPr>
              <a:t>core network</a:t>
            </a:r>
            <a:endParaRPr lang="en-US" altLang="zh-CN" sz="1600" dirty="0">
              <a:latin typeface="Arial" panose="020B0604020202020204" pitchFamily="34" charset="0"/>
              <a:ea typeface="MS PGothic" panose="020B0600070205080204" pitchFamily="34" charset="-128"/>
            </a:endParaRPr>
          </a:p>
          <a:p>
            <a:pPr algn="ctr" eaLnBrk="0" hangingPunct="0">
              <a:buClrTx/>
              <a:buFontTx/>
            </a:pPr>
            <a:r>
              <a:rPr lang="en-US" altLang="zh-CN" sz="1200" dirty="0">
                <a:latin typeface="Arial" panose="020B0604020202020204" pitchFamily="34" charset="0"/>
                <a:ea typeface="MS PGothic" panose="020B0600070205080204" pitchFamily="34" charset="-128"/>
              </a:rPr>
              <a:t>General Packet Radio Service </a:t>
            </a:r>
            <a:endParaRPr lang="en-US" altLang="zh-CN" sz="1200" dirty="0">
              <a:latin typeface="Arial" panose="020B0604020202020204" pitchFamily="34" charset="0"/>
              <a:ea typeface="MS PGothic" panose="020B0600070205080204" pitchFamily="34" charset="-128"/>
            </a:endParaRPr>
          </a:p>
          <a:p>
            <a:pPr algn="ctr" eaLnBrk="0" hangingPunct="0">
              <a:buClrTx/>
              <a:buFontTx/>
            </a:pPr>
            <a:r>
              <a:rPr lang="en-US" altLang="zh-CN" sz="1200" dirty="0">
                <a:latin typeface="Arial" panose="020B0604020202020204" pitchFamily="34" charset="0"/>
                <a:ea typeface="MS PGothic" panose="020B0600070205080204" pitchFamily="34" charset="-128"/>
              </a:rPr>
              <a:t> (GPRS) Core Network</a:t>
            </a:r>
            <a:endParaRPr lang="en-US" altLang="zh-CN" sz="1200" dirty="0">
              <a:latin typeface="Arial" panose="020B0604020202020204" pitchFamily="34" charset="0"/>
              <a:ea typeface="MS PGothic" panose="020B0600070205080204" pitchFamily="34" charset="-128"/>
            </a:endParaRPr>
          </a:p>
        </p:txBody>
      </p:sp>
      <p:cxnSp>
        <p:nvCxnSpPr>
          <p:cNvPr id="263" name="Straight Connector 262"/>
          <p:cNvCxnSpPr/>
          <p:nvPr/>
        </p:nvCxnSpPr>
        <p:spPr>
          <a:xfrm>
            <a:off x="6908800" y="5348288"/>
            <a:ext cx="0" cy="496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Straight Arrow Connector 263"/>
          <p:cNvCxnSpPr/>
          <p:nvPr/>
        </p:nvCxnSpPr>
        <p:spPr>
          <a:xfrm flipH="1">
            <a:off x="6937375" y="5613400"/>
            <a:ext cx="428625" cy="0"/>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9181" name="TextBox 264"/>
          <p:cNvSpPr txBox="1"/>
          <p:nvPr/>
        </p:nvSpPr>
        <p:spPr>
          <a:xfrm>
            <a:off x="7216775" y="5297488"/>
            <a:ext cx="882650" cy="584200"/>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latin typeface="Arial" panose="020B0604020202020204" pitchFamily="34" charset="0"/>
                <a:ea typeface="MS PGothic" panose="020B0600070205080204" pitchFamily="34" charset="-128"/>
              </a:rPr>
              <a:t>public</a:t>
            </a:r>
            <a:endParaRPr lang="en-US" altLang="zh-CN" sz="1600" dirty="0">
              <a:latin typeface="Arial" panose="020B0604020202020204" pitchFamily="34" charset="0"/>
              <a:ea typeface="MS PGothic" panose="020B0600070205080204" pitchFamily="34" charset="-128"/>
            </a:endParaRPr>
          </a:p>
          <a:p>
            <a:pPr algn="ctr" eaLnBrk="0" hangingPunct="0">
              <a:buClrTx/>
              <a:buFontTx/>
            </a:pPr>
            <a:r>
              <a:rPr lang="en-US" altLang="zh-CN" sz="1600" dirty="0">
                <a:latin typeface="Arial" panose="020B0604020202020204" pitchFamily="34" charset="0"/>
                <a:ea typeface="MS PGothic" panose="020B0600070205080204" pitchFamily="34" charset="-128"/>
              </a:rPr>
              <a:t>Internet</a:t>
            </a:r>
            <a:endParaRPr lang="en-US" altLang="zh-CN" sz="1200" dirty="0">
              <a:latin typeface="Arial" panose="020B0604020202020204" pitchFamily="34" charset="0"/>
              <a:ea typeface="MS PGothic" panose="020B0600070205080204" pitchFamily="34" charset="-128"/>
            </a:endParaRPr>
          </a:p>
        </p:txBody>
      </p:sp>
      <p:cxnSp>
        <p:nvCxnSpPr>
          <p:cNvPr id="266" name="Straight Connector 265"/>
          <p:cNvCxnSpPr/>
          <p:nvPr/>
        </p:nvCxnSpPr>
        <p:spPr>
          <a:xfrm flipH="1">
            <a:off x="3502025" y="4949825"/>
            <a:ext cx="7938" cy="311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flipV="1">
            <a:off x="1511300" y="5148263"/>
            <a:ext cx="1982788" cy="3175"/>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9184" name="TextBox 267"/>
          <p:cNvSpPr txBox="1"/>
          <p:nvPr/>
        </p:nvSpPr>
        <p:spPr>
          <a:xfrm>
            <a:off x="1754188" y="4913313"/>
            <a:ext cx="1484312" cy="450850"/>
          </a:xfrm>
          <a:prstGeom prst="rect">
            <a:avLst/>
          </a:prstGeom>
          <a:solidFill>
            <a:schemeClr val="bg1"/>
          </a:solidFill>
          <a:ln w="9525">
            <a:noFill/>
          </a:ln>
        </p:spPr>
        <p:txBody>
          <a:bodyPr wrap="none" anchor="t" anchorCtr="0">
            <a:spAutoFit/>
          </a:bodyPr>
          <a:p>
            <a:pPr algn="ctr" eaLnBrk="0" hangingPunct="0">
              <a:lnSpc>
                <a:spcPts val="1400"/>
              </a:lnSpc>
              <a:buClrTx/>
              <a:buFontTx/>
            </a:pPr>
            <a:r>
              <a:rPr lang="en-US" altLang="zh-CN" sz="1600" dirty="0">
                <a:latin typeface="Arial" panose="020B0604020202020204" pitchFamily="34" charset="0"/>
                <a:ea typeface="MS PGothic" panose="020B0600070205080204" pitchFamily="34" charset="-128"/>
              </a:rPr>
              <a:t>radio interface</a:t>
            </a:r>
            <a:endParaRPr lang="en-US" altLang="zh-CN" sz="1600" dirty="0">
              <a:latin typeface="Arial" panose="020B0604020202020204" pitchFamily="34" charset="0"/>
              <a:ea typeface="MS PGothic" panose="020B0600070205080204" pitchFamily="34" charset="-128"/>
            </a:endParaRPr>
          </a:p>
          <a:p>
            <a:pPr algn="ctr" eaLnBrk="0" hangingPunct="0">
              <a:lnSpc>
                <a:spcPts val="1400"/>
              </a:lnSpc>
              <a:buClrTx/>
              <a:buFontTx/>
            </a:pPr>
            <a:r>
              <a:rPr lang="en-US" altLang="zh-CN" sz="1200" dirty="0">
                <a:latin typeface="Arial" panose="020B0604020202020204" pitchFamily="34" charset="0"/>
                <a:ea typeface="MS PGothic" panose="020B0600070205080204" pitchFamily="34" charset="-128"/>
              </a:rPr>
              <a:t>(WCDMA, HSPA</a:t>
            </a:r>
            <a:r>
              <a:rPr lang="en-US" altLang="zh-CN" sz="1600" dirty="0">
                <a:latin typeface="Arial" panose="020B0604020202020204" pitchFamily="34" charset="0"/>
                <a:ea typeface="MS PGothic" panose="020B0600070205080204" pitchFamily="34" charset="-128"/>
              </a:rPr>
              <a:t>)</a:t>
            </a:r>
            <a:endParaRPr lang="en-US" altLang="zh-CN" sz="1200" dirty="0">
              <a:latin typeface="Arial" panose="020B0604020202020204" pitchFamily="34" charset="0"/>
              <a:ea typeface="MS PGothic" panose="020B0600070205080204" pitchFamily="34" charset="-128"/>
            </a:endParaRPr>
          </a:p>
        </p:txBody>
      </p:sp>
      <p:sp>
        <p:nvSpPr>
          <p:cNvPr id="89185" name="Rectangle 2"/>
          <p:cNvSpPr/>
          <p:nvPr/>
        </p:nvSpPr>
        <p:spPr>
          <a:xfrm>
            <a:off x="331788" y="230188"/>
            <a:ext cx="8105775" cy="708025"/>
          </a:xfrm>
          <a:prstGeom prst="rect">
            <a:avLst/>
          </a:prstGeom>
          <a:noFill/>
          <a:ln w="9525">
            <a:noFill/>
          </a:ln>
        </p:spPr>
        <p:txBody>
          <a:bodyPr wrap="none" anchor="t" anchorCtr="0">
            <a:spAutoFit/>
          </a:bodyPr>
          <a:p>
            <a:pPr eaLnBrk="0" hangingPunct="0">
              <a:buClrTx/>
              <a:buFontTx/>
            </a:pPr>
            <a:r>
              <a:rPr lang="en-US" altLang="zh-CN" sz="4000" dirty="0">
                <a:solidFill>
                  <a:srgbClr val="000099"/>
                </a:solidFill>
                <a:latin typeface="Gill Sans MT" panose="020B0502020104020203" pitchFamily="34" charset="0"/>
                <a:ea typeface="宋体" panose="02010600030101010101" pitchFamily="2" charset="-122"/>
              </a:rPr>
              <a:t>3G (voice+data) network architecture</a:t>
            </a:r>
            <a:endParaRPr lang="en-US" altLang="zh-CN" sz="4000" dirty="0">
              <a:solidFill>
                <a:srgbClr val="000099"/>
              </a:solidFill>
              <a:latin typeface="Gill Sans MT" panose="020B0502020104020203" pitchFamily="34" charset="0"/>
              <a:ea typeface="宋体" panose="02010600030101010101" pitchFamily="2" charset="-122"/>
            </a:endParaRPr>
          </a:p>
        </p:txBody>
      </p:sp>
      <p:pic>
        <p:nvPicPr>
          <p:cNvPr id="89186" name="Picture 6" descr="underline_base"/>
          <p:cNvPicPr>
            <a:picLocks noChangeAspect="1"/>
          </p:cNvPicPr>
          <p:nvPr/>
        </p:nvPicPr>
        <p:blipFill>
          <a:blip r:embed="rId3"/>
          <a:stretch>
            <a:fillRect/>
          </a:stretch>
        </p:blipFill>
        <p:spPr>
          <a:xfrm>
            <a:off x="398463" y="774700"/>
            <a:ext cx="8228012" cy="173038"/>
          </a:xfrm>
          <a:prstGeom prst="rect">
            <a:avLst/>
          </a:prstGeom>
          <a:noFill/>
          <a:ln w="9525">
            <a:noFill/>
          </a:ln>
        </p:spPr>
      </p:pic>
      <p:sp>
        <p:nvSpPr>
          <p:cNvPr id="89187" name="Slide Number Placeholder 5"/>
          <p:cNvSpPr>
            <a:spLocks noGrp="1"/>
          </p:cNvSpPr>
          <p:nvPr>
            <p:ph type="sldNum" sz="quarter" idx="12"/>
          </p:nvPr>
        </p:nvSpPr>
        <p:spPr>
          <a:xfrm>
            <a:off x="8456613" y="6523038"/>
            <a:ext cx="687387" cy="271462"/>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latin typeface="Tahoma" panose="020B0604030504040204" pitchFamily="34" charset="0"/>
                <a:ea typeface="MS PGothic" panose="020B0600070205080204" pitchFamily="34" charset="-128"/>
              </a:rPr>
              <a:t>7-</a:t>
            </a:r>
            <a:fld id="{9A0DB2DC-4C9A-4742-B13C-FB6460FD3503}" type="slidenum">
              <a:rPr lang="en-US" altLang="zh-CN" sz="1200" dirty="0">
                <a:latin typeface="Tahoma" panose="020B0604030504040204" pitchFamily="34" charset="0"/>
                <a:ea typeface="MS PGothic" panose="020B0600070205080204" pitchFamily="34" charset="-128"/>
              </a:rPr>
            </a:fld>
            <a:endParaRPr lang="en-US" altLang="zh-CN" sz="1200" dirty="0">
              <a:latin typeface="Tahoma" panose="020B0604030504040204" pitchFamily="34" charset="0"/>
              <a:ea typeface="MS PGothic" panose="020B0600070205080204" pitchFamily="34" charset="-128"/>
            </a:endParaRPr>
          </a:p>
        </p:txBody>
      </p:sp>
      <p:sp>
        <p:nvSpPr>
          <p:cNvPr id="89188" name="Footer Placeholder 2"/>
          <p:cNvSpPr>
            <a:spLocks noGrp="1"/>
          </p:cNvSpPr>
          <p:nvPr>
            <p:ph type="ftr" sz="quarter" idx="11"/>
          </p:nvPr>
        </p:nvSpPr>
        <p:spPr>
          <a:xfrm>
            <a:off x="5854700" y="6508750"/>
            <a:ext cx="2698750" cy="2540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solidFill>
                  <a:srgbClr val="000000"/>
                </a:solidFill>
                <a:latin typeface="Tahoma" panose="020B0604030504040204" pitchFamily="34" charset="0"/>
                <a:ea typeface="MS PGothic" panose="020B0600070205080204" pitchFamily="34" charset="-128"/>
              </a:rPr>
              <a:t>Wireless and Mobile Networks </a:t>
            </a:r>
            <a:endParaRPr lang="en-US" altLang="zh-CN" sz="1200" dirty="0">
              <a:solidFill>
                <a:srgbClr val="000000"/>
              </a:solidFill>
              <a:latin typeface="Tahoma" panose="020B0604030504040204" pitchFamily="34" charset="0"/>
              <a:ea typeface="MS PGothic" panose="020B0600070205080204" pitchFamily="34" charset="-128"/>
            </a:endParaRPr>
          </a:p>
        </p:txBody>
      </p:sp>
      <p:grpSp>
        <p:nvGrpSpPr>
          <p:cNvPr id="89189" name="Group 347"/>
          <p:cNvGrpSpPr/>
          <p:nvPr/>
        </p:nvGrpSpPr>
        <p:grpSpPr>
          <a:xfrm>
            <a:off x="4683125" y="3432175"/>
            <a:ext cx="635000" cy="338138"/>
            <a:chOff x="1871277" y="1576300"/>
            <a:chExt cx="1128371" cy="437861"/>
          </a:xfrm>
        </p:grpSpPr>
        <p:sp>
          <p:nvSpPr>
            <p:cNvPr id="226" name="Oval 225"/>
            <p:cNvSpPr/>
            <p:nvPr/>
          </p:nvSpPr>
          <p:spPr bwMode="auto">
            <a:xfrm flipV="1">
              <a:off x="1874099" y="1695530"/>
              <a:ext cx="1125549" cy="31863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7" name="Rectangle 226"/>
            <p:cNvSpPr/>
            <p:nvPr/>
          </p:nvSpPr>
          <p:spPr bwMode="auto">
            <a:xfrm>
              <a:off x="1871277" y="1738700"/>
              <a:ext cx="1128371" cy="117173"/>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8" name="Oval 227"/>
            <p:cNvSpPr/>
            <p:nvPr/>
          </p:nvSpPr>
          <p:spPr bwMode="auto">
            <a:xfrm flipV="1">
              <a:off x="1871277" y="1576300"/>
              <a:ext cx="1125551" cy="31863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9" name="Freeform 228"/>
            <p:cNvSpPr/>
            <p:nvPr/>
          </p:nvSpPr>
          <p:spPr bwMode="auto">
            <a:xfrm>
              <a:off x="2159012" y="1672918"/>
              <a:ext cx="550082" cy="1603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0" name="Freeform 229"/>
            <p:cNvSpPr/>
            <p:nvPr/>
          </p:nvSpPr>
          <p:spPr bwMode="auto">
            <a:xfrm>
              <a:off x="2102593" y="1633859"/>
              <a:ext cx="662919" cy="111007"/>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1" name="Freeform 230"/>
            <p:cNvSpPr/>
            <p:nvPr/>
          </p:nvSpPr>
          <p:spPr bwMode="auto">
            <a:xfrm>
              <a:off x="2537016" y="1728420"/>
              <a:ext cx="242600" cy="9661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2" name="Freeform 231"/>
            <p:cNvSpPr/>
            <p:nvPr/>
          </p:nvSpPr>
          <p:spPr bwMode="auto">
            <a:xfrm>
              <a:off x="2091309" y="1730477"/>
              <a:ext cx="239780" cy="9661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33" name="Straight Connector 232"/>
            <p:cNvCxnSpPr>
              <a:endCxn id="228" idx="2"/>
            </p:cNvCxnSpPr>
            <p:nvPr/>
          </p:nvCxnSpPr>
          <p:spPr bwMode="auto">
            <a:xfrm flipH="1" flipV="1">
              <a:off x="1871277" y="1736643"/>
              <a:ext cx="2822"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34" name="Straight Connector 233"/>
            <p:cNvCxnSpPr>
              <a:endCxn id="228" idx="2"/>
            </p:cNvCxnSpPr>
            <p:nvPr/>
          </p:nvCxnSpPr>
          <p:spPr bwMode="auto">
            <a:xfrm flipH="1" flipV="1">
              <a:off x="2996828" y="1734588"/>
              <a:ext cx="2820"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9199" name="Group 347"/>
          <p:cNvGrpSpPr/>
          <p:nvPr/>
        </p:nvGrpSpPr>
        <p:grpSpPr>
          <a:xfrm>
            <a:off x="6443663" y="3941763"/>
            <a:ext cx="635000" cy="338137"/>
            <a:chOff x="1871277" y="1576300"/>
            <a:chExt cx="1128371" cy="437861"/>
          </a:xfrm>
        </p:grpSpPr>
        <p:sp>
          <p:nvSpPr>
            <p:cNvPr id="236" name="Oval 235"/>
            <p:cNvSpPr/>
            <p:nvPr/>
          </p:nvSpPr>
          <p:spPr bwMode="auto">
            <a:xfrm flipV="1">
              <a:off x="1874097" y="1695530"/>
              <a:ext cx="1125551" cy="31863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37" name="Rectangle 236"/>
            <p:cNvSpPr/>
            <p:nvPr/>
          </p:nvSpPr>
          <p:spPr bwMode="auto">
            <a:xfrm>
              <a:off x="1871277" y="1738699"/>
              <a:ext cx="1128371" cy="11717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38" name="Oval 237"/>
            <p:cNvSpPr/>
            <p:nvPr/>
          </p:nvSpPr>
          <p:spPr bwMode="auto">
            <a:xfrm flipV="1">
              <a:off x="1871277" y="1576300"/>
              <a:ext cx="1125549" cy="31863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39" name="Freeform 238"/>
            <p:cNvSpPr/>
            <p:nvPr/>
          </p:nvSpPr>
          <p:spPr bwMode="auto">
            <a:xfrm>
              <a:off x="2159012" y="1672917"/>
              <a:ext cx="550080" cy="1603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40" name="Freeform 239"/>
            <p:cNvSpPr/>
            <p:nvPr/>
          </p:nvSpPr>
          <p:spPr bwMode="auto">
            <a:xfrm>
              <a:off x="2102593" y="1633859"/>
              <a:ext cx="662917" cy="111007"/>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41" name="Freeform 240"/>
            <p:cNvSpPr/>
            <p:nvPr/>
          </p:nvSpPr>
          <p:spPr bwMode="auto">
            <a:xfrm>
              <a:off x="2537016" y="1728421"/>
              <a:ext cx="242600" cy="96617"/>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42" name="Freeform 241"/>
            <p:cNvSpPr/>
            <p:nvPr/>
          </p:nvSpPr>
          <p:spPr bwMode="auto">
            <a:xfrm>
              <a:off x="2091309" y="1730476"/>
              <a:ext cx="239778" cy="9661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43" name="Straight Connector 242"/>
            <p:cNvCxnSpPr>
              <a:endCxn id="238" idx="2"/>
            </p:cNvCxnSpPr>
            <p:nvPr/>
          </p:nvCxnSpPr>
          <p:spPr bwMode="auto">
            <a:xfrm flipH="1" flipV="1">
              <a:off x="1871277" y="1736644"/>
              <a:ext cx="2820"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44" name="Straight Connector 243"/>
            <p:cNvCxnSpPr>
              <a:endCxn id="238" idx="2"/>
            </p:cNvCxnSpPr>
            <p:nvPr/>
          </p:nvCxnSpPr>
          <p:spPr bwMode="auto">
            <a:xfrm flipH="1" flipV="1">
              <a:off x="2996826" y="1734587"/>
              <a:ext cx="2822" cy="12334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9209" name="Group 782"/>
          <p:cNvGrpSpPr/>
          <p:nvPr/>
        </p:nvGrpSpPr>
        <p:grpSpPr>
          <a:xfrm>
            <a:off x="1785938" y="1468438"/>
            <a:ext cx="436562" cy="542925"/>
            <a:chOff x="742" y="2409"/>
            <a:chExt cx="576" cy="881"/>
          </a:xfrm>
        </p:grpSpPr>
        <p:grpSp>
          <p:nvGrpSpPr>
            <p:cNvPr id="89210" name="Group 783"/>
            <p:cNvGrpSpPr/>
            <p:nvPr/>
          </p:nvGrpSpPr>
          <p:grpSpPr>
            <a:xfrm>
              <a:off x="832" y="2643"/>
              <a:ext cx="376" cy="647"/>
              <a:chOff x="3130" y="3288"/>
              <a:chExt cx="410" cy="742"/>
            </a:xfrm>
          </p:grpSpPr>
          <p:sp>
            <p:nvSpPr>
              <p:cNvPr id="89211"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9212"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9213"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9214"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9215"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9216"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9217"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9218"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9219"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9220"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9221"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9222"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9223"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9224"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9225"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9226"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9227"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89228" name="Group 782"/>
          <p:cNvGrpSpPr/>
          <p:nvPr/>
        </p:nvGrpSpPr>
        <p:grpSpPr>
          <a:xfrm>
            <a:off x="2276475" y="1898650"/>
            <a:ext cx="436563" cy="541338"/>
            <a:chOff x="742" y="2409"/>
            <a:chExt cx="576" cy="881"/>
          </a:xfrm>
        </p:grpSpPr>
        <p:grpSp>
          <p:nvGrpSpPr>
            <p:cNvPr id="89229" name="Group 783"/>
            <p:cNvGrpSpPr/>
            <p:nvPr/>
          </p:nvGrpSpPr>
          <p:grpSpPr>
            <a:xfrm>
              <a:off x="832" y="2643"/>
              <a:ext cx="376" cy="647"/>
              <a:chOff x="3130" y="3288"/>
              <a:chExt cx="410" cy="742"/>
            </a:xfrm>
          </p:grpSpPr>
          <p:sp>
            <p:nvSpPr>
              <p:cNvPr id="89230"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9231"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9232"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9233"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9234"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9235"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9236"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9237"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9238"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9239"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9240"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9241"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9242"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9243"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9244"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9245"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9246"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89247" name="Group 782"/>
          <p:cNvGrpSpPr/>
          <p:nvPr/>
        </p:nvGrpSpPr>
        <p:grpSpPr>
          <a:xfrm>
            <a:off x="1733550" y="2189163"/>
            <a:ext cx="436563" cy="542925"/>
            <a:chOff x="742" y="2409"/>
            <a:chExt cx="576" cy="881"/>
          </a:xfrm>
        </p:grpSpPr>
        <p:grpSp>
          <p:nvGrpSpPr>
            <p:cNvPr id="89248" name="Group 783"/>
            <p:cNvGrpSpPr/>
            <p:nvPr/>
          </p:nvGrpSpPr>
          <p:grpSpPr>
            <a:xfrm>
              <a:off x="832" y="2643"/>
              <a:ext cx="376" cy="647"/>
              <a:chOff x="3130" y="3288"/>
              <a:chExt cx="410" cy="742"/>
            </a:xfrm>
          </p:grpSpPr>
          <p:sp>
            <p:nvSpPr>
              <p:cNvPr id="89249"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89250"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89251"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89252"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89253"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89254"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89255"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89256"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89257"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89258"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89259"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89260"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89261"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89262"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89263"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89264"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89265"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Line 96"/>
          <p:cNvSpPr/>
          <p:nvPr/>
        </p:nvSpPr>
        <p:spPr>
          <a:xfrm flipV="1">
            <a:off x="2012950" y="2043113"/>
            <a:ext cx="1695450" cy="309562"/>
          </a:xfrm>
          <a:prstGeom prst="line">
            <a:avLst/>
          </a:prstGeom>
          <a:ln w="9525" cap="flat" cmpd="sng">
            <a:solidFill>
              <a:schemeClr val="tx1"/>
            </a:solidFill>
            <a:prstDash val="solid"/>
            <a:round/>
            <a:headEnd type="none" w="med" len="med"/>
            <a:tailEnd type="none" w="med" len="med"/>
          </a:ln>
        </p:spPr>
      </p:sp>
      <p:sp>
        <p:nvSpPr>
          <p:cNvPr id="90114" name="Line 97"/>
          <p:cNvSpPr/>
          <p:nvPr/>
        </p:nvSpPr>
        <p:spPr>
          <a:xfrm flipV="1">
            <a:off x="2574925" y="2036763"/>
            <a:ext cx="1109663" cy="0"/>
          </a:xfrm>
          <a:prstGeom prst="line">
            <a:avLst/>
          </a:prstGeom>
          <a:ln w="9525" cap="flat" cmpd="sng">
            <a:solidFill>
              <a:schemeClr val="tx1"/>
            </a:solidFill>
            <a:prstDash val="solid"/>
            <a:round/>
            <a:headEnd type="none" w="med" len="med"/>
            <a:tailEnd type="none" w="med" len="med"/>
          </a:ln>
        </p:spPr>
      </p:sp>
      <p:sp>
        <p:nvSpPr>
          <p:cNvPr id="90115" name="Line 98"/>
          <p:cNvSpPr/>
          <p:nvPr/>
        </p:nvSpPr>
        <p:spPr>
          <a:xfrm>
            <a:off x="2082800" y="1758950"/>
            <a:ext cx="1624013" cy="284163"/>
          </a:xfrm>
          <a:prstGeom prst="line">
            <a:avLst/>
          </a:prstGeom>
          <a:ln w="9525" cap="flat" cmpd="sng">
            <a:solidFill>
              <a:schemeClr val="tx1"/>
            </a:solidFill>
            <a:prstDash val="solid"/>
            <a:round/>
            <a:headEnd type="none" w="med" len="med"/>
            <a:tailEnd type="none" w="med" len="med"/>
          </a:ln>
        </p:spPr>
      </p:sp>
      <p:grpSp>
        <p:nvGrpSpPr>
          <p:cNvPr id="90116" name="Group 99"/>
          <p:cNvGrpSpPr/>
          <p:nvPr/>
        </p:nvGrpSpPr>
        <p:grpSpPr>
          <a:xfrm>
            <a:off x="3676650" y="1824038"/>
            <a:ext cx="550863" cy="307975"/>
            <a:chOff x="611" y="3693"/>
            <a:chExt cx="449" cy="287"/>
          </a:xfrm>
        </p:grpSpPr>
        <p:sp>
          <p:nvSpPr>
            <p:cNvPr id="90117" name="Rectangle 10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118" name="Group 101"/>
            <p:cNvGrpSpPr/>
            <p:nvPr/>
          </p:nvGrpSpPr>
          <p:grpSpPr>
            <a:xfrm>
              <a:off x="687" y="3826"/>
              <a:ext cx="224" cy="110"/>
              <a:chOff x="687" y="3826"/>
              <a:chExt cx="224" cy="110"/>
            </a:xfrm>
          </p:grpSpPr>
          <p:sp>
            <p:nvSpPr>
              <p:cNvPr id="90119" name="Freeform 10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20" name="Freeform 10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121" name="Freeform 10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22" name="Freeform 10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23" name="Freeform 10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24" name="Freeform 10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25" name="Freeform 10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grpSp>
        <p:nvGrpSpPr>
          <p:cNvPr id="90126" name="Group 109"/>
          <p:cNvGrpSpPr/>
          <p:nvPr/>
        </p:nvGrpSpPr>
        <p:grpSpPr>
          <a:xfrm>
            <a:off x="4676775" y="1547813"/>
            <a:ext cx="550863" cy="749300"/>
            <a:chOff x="611" y="3693"/>
            <a:chExt cx="449" cy="287"/>
          </a:xfrm>
        </p:grpSpPr>
        <p:sp>
          <p:nvSpPr>
            <p:cNvPr id="90127"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128" name="Group 111"/>
            <p:cNvGrpSpPr/>
            <p:nvPr/>
          </p:nvGrpSpPr>
          <p:grpSpPr>
            <a:xfrm>
              <a:off x="687" y="3826"/>
              <a:ext cx="224" cy="110"/>
              <a:chOff x="687" y="3826"/>
              <a:chExt cx="224" cy="110"/>
            </a:xfrm>
          </p:grpSpPr>
          <p:sp>
            <p:nvSpPr>
              <p:cNvPr id="90129" name="Freeform 11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30" name="Freeform 11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131"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32"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33"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34"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35"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136" name="Line 119"/>
          <p:cNvSpPr/>
          <p:nvPr/>
        </p:nvSpPr>
        <p:spPr>
          <a:xfrm flipV="1">
            <a:off x="4203700" y="1997075"/>
            <a:ext cx="447675" cy="6350"/>
          </a:xfrm>
          <a:prstGeom prst="line">
            <a:avLst/>
          </a:prstGeom>
          <a:ln w="9525" cap="flat" cmpd="sng">
            <a:solidFill>
              <a:schemeClr val="tx1"/>
            </a:solidFill>
            <a:prstDash val="solid"/>
            <a:round/>
            <a:headEnd type="none" w="med" len="med"/>
            <a:tailEnd type="none" w="med" len="med"/>
          </a:ln>
        </p:spPr>
      </p:sp>
      <p:sp>
        <p:nvSpPr>
          <p:cNvPr id="90137" name="Text Box 120"/>
          <p:cNvSpPr txBox="1"/>
          <p:nvPr/>
        </p:nvSpPr>
        <p:spPr>
          <a:xfrm>
            <a:off x="3529013" y="2146300"/>
            <a:ext cx="1135062" cy="558800"/>
          </a:xfrm>
          <a:prstGeom prst="rect">
            <a:avLst/>
          </a:prstGeom>
          <a:noFill/>
          <a:ln w="9525">
            <a:noFill/>
          </a:ln>
        </p:spPr>
        <p:txBody>
          <a:bodyPr wrap="none" anchor="t" anchorCtr="0">
            <a:spAutoFit/>
          </a:bodyPr>
          <a:p>
            <a:pPr eaLnBrk="0" hangingPunct="0">
              <a:lnSpc>
                <a:spcPts val="1700"/>
              </a:lnSpc>
              <a:buClrTx/>
              <a:buFontTx/>
            </a:pPr>
            <a:r>
              <a:rPr lang="en-US" altLang="zh-CN" dirty="0">
                <a:solidFill>
                  <a:srgbClr val="000000"/>
                </a:solidFill>
                <a:latin typeface="Arial" panose="020B0604020202020204" pitchFamily="34" charset="0"/>
                <a:ea typeface="MS PGothic" panose="020B0600070205080204" pitchFamily="34" charset="-128"/>
              </a:rPr>
              <a:t>radio</a:t>
            </a:r>
            <a:endParaRPr lang="en-US" altLang="zh-CN" dirty="0">
              <a:solidFill>
                <a:srgbClr val="000000"/>
              </a:solidFill>
              <a:latin typeface="Arial" panose="020B0604020202020204" pitchFamily="34" charset="0"/>
              <a:ea typeface="MS PGothic" panose="020B0600070205080204" pitchFamily="34" charset="-128"/>
            </a:endParaRPr>
          </a:p>
          <a:p>
            <a:pPr eaLnBrk="0" hangingPunct="0">
              <a:lnSpc>
                <a:spcPts val="1700"/>
              </a:lnSpc>
              <a:buClrTx/>
              <a:buFontTx/>
            </a:pPr>
            <a:r>
              <a:rPr lang="en-US" altLang="zh-CN" dirty="0">
                <a:solidFill>
                  <a:srgbClr val="000000"/>
                </a:solidFill>
                <a:latin typeface="Arial" panose="020B0604020202020204" pitchFamily="34" charset="0"/>
                <a:ea typeface="MS PGothic" panose="020B0600070205080204" pitchFamily="34" charset="-128"/>
              </a:rPr>
              <a:t>network </a:t>
            </a:r>
            <a:endParaRPr lang="en-US" altLang="zh-CN" dirty="0">
              <a:solidFill>
                <a:srgbClr val="000000"/>
              </a:solidFill>
              <a:latin typeface="Arial" panose="020B0604020202020204" pitchFamily="34" charset="0"/>
              <a:ea typeface="MS PGothic" panose="020B0600070205080204" pitchFamily="34" charset="-128"/>
            </a:endParaRPr>
          </a:p>
          <a:p>
            <a:pPr eaLnBrk="0" hangingPunct="0">
              <a:lnSpc>
                <a:spcPts val="1700"/>
              </a:lnSpc>
              <a:buClrTx/>
              <a:buFontTx/>
            </a:pPr>
            <a:r>
              <a:rPr lang="en-US" altLang="zh-CN" dirty="0">
                <a:solidFill>
                  <a:srgbClr val="000000"/>
                </a:solidFill>
                <a:latin typeface="Arial" panose="020B0604020202020204" pitchFamily="34" charset="0"/>
                <a:ea typeface="MS PGothic" panose="020B0600070205080204" pitchFamily="34" charset="-128"/>
              </a:rPr>
              <a:t>controller</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38" name="Text Box 121"/>
          <p:cNvSpPr txBox="1"/>
          <p:nvPr/>
        </p:nvSpPr>
        <p:spPr>
          <a:xfrm>
            <a:off x="4613275" y="1193800"/>
            <a:ext cx="692150" cy="2746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MSC</a:t>
            </a:r>
            <a:endParaRPr lang="en-US" altLang="zh-CN" dirty="0">
              <a:solidFill>
                <a:srgbClr val="000000"/>
              </a:solidFill>
              <a:latin typeface="Arial" panose="020B0604020202020204" pitchFamily="34" charset="0"/>
              <a:ea typeface="MS PGothic" panose="020B0600070205080204" pitchFamily="34" charset="-128"/>
            </a:endParaRPr>
          </a:p>
        </p:txBody>
      </p:sp>
      <p:pic>
        <p:nvPicPr>
          <p:cNvPr id="90139" name="Picture 122" descr="imgyjavg[1]"/>
          <p:cNvPicPr>
            <a:picLocks noChangeAspect="1"/>
          </p:cNvPicPr>
          <p:nvPr/>
        </p:nvPicPr>
        <p:blipFill>
          <a:blip r:embed="rId1"/>
          <a:stretch>
            <a:fillRect/>
          </a:stretch>
        </p:blipFill>
        <p:spPr>
          <a:xfrm>
            <a:off x="600075" y="1622425"/>
            <a:ext cx="252413" cy="136525"/>
          </a:xfrm>
          <a:prstGeom prst="rect">
            <a:avLst/>
          </a:prstGeom>
          <a:noFill/>
          <a:ln w="9525">
            <a:noFill/>
          </a:ln>
        </p:spPr>
      </p:pic>
      <p:grpSp>
        <p:nvGrpSpPr>
          <p:cNvPr id="90140" name="Group 123"/>
          <p:cNvGrpSpPr/>
          <p:nvPr/>
        </p:nvGrpSpPr>
        <p:grpSpPr>
          <a:xfrm>
            <a:off x="223838" y="1925638"/>
            <a:ext cx="831850" cy="134937"/>
            <a:chOff x="3072" y="739"/>
            <a:chExt cx="652" cy="146"/>
          </a:xfrm>
        </p:grpSpPr>
        <p:pic>
          <p:nvPicPr>
            <p:cNvPr id="90141" name="Picture 124" descr="lgv_fqmg[1]"/>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90142" name="Line 125"/>
            <p:cNvSpPr/>
            <p:nvPr/>
          </p:nvSpPr>
          <p:spPr>
            <a:xfrm flipH="1">
              <a:off x="3104" y="784"/>
              <a:ext cx="87" cy="0"/>
            </a:xfrm>
            <a:prstGeom prst="line">
              <a:avLst/>
            </a:prstGeom>
            <a:ln w="9525" cap="flat" cmpd="sng">
              <a:solidFill>
                <a:schemeClr val="tx1"/>
              </a:solidFill>
              <a:prstDash val="solid"/>
              <a:round/>
              <a:headEnd type="none" w="med" len="med"/>
              <a:tailEnd type="none" w="med" len="med"/>
            </a:ln>
          </p:spPr>
        </p:sp>
        <p:sp>
          <p:nvSpPr>
            <p:cNvPr id="90143" name="Line 126"/>
            <p:cNvSpPr/>
            <p:nvPr/>
          </p:nvSpPr>
          <p:spPr>
            <a:xfrm flipH="1">
              <a:off x="3072" y="759"/>
              <a:ext cx="144" cy="0"/>
            </a:xfrm>
            <a:prstGeom prst="line">
              <a:avLst/>
            </a:prstGeom>
            <a:ln w="9525" cap="flat" cmpd="sng">
              <a:solidFill>
                <a:schemeClr val="tx1"/>
              </a:solidFill>
              <a:prstDash val="solid"/>
              <a:round/>
              <a:headEnd type="none" w="med" len="med"/>
              <a:tailEnd type="none" w="med" len="med"/>
            </a:ln>
          </p:spPr>
        </p:sp>
      </p:grpSp>
      <p:sp>
        <p:nvSpPr>
          <p:cNvPr id="90144" name="Oval 127"/>
          <p:cNvSpPr/>
          <p:nvPr/>
        </p:nvSpPr>
        <p:spPr>
          <a:xfrm>
            <a:off x="1184275" y="1381125"/>
            <a:ext cx="3170238" cy="1101725"/>
          </a:xfrm>
          <a:prstGeom prst="ellipse">
            <a:avLst/>
          </a:prstGeom>
          <a:noFill/>
          <a:ln w="9525" cap="rnd" cmpd="sng">
            <a:solidFill>
              <a:schemeClr val="tx1"/>
            </a:solidFill>
            <a:prstDash val="sysDot"/>
            <a:round/>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pic>
        <p:nvPicPr>
          <p:cNvPr id="90145" name="Picture 128" descr="imgyjavg[1]"/>
          <p:cNvPicPr>
            <a:picLocks noChangeAspect="1"/>
          </p:cNvPicPr>
          <p:nvPr/>
        </p:nvPicPr>
        <p:blipFill>
          <a:blip r:embed="rId1"/>
          <a:stretch>
            <a:fillRect/>
          </a:stretch>
        </p:blipFill>
        <p:spPr>
          <a:xfrm>
            <a:off x="501650" y="2174875"/>
            <a:ext cx="252413" cy="136525"/>
          </a:xfrm>
          <a:prstGeom prst="rect">
            <a:avLst/>
          </a:prstGeom>
          <a:noFill/>
          <a:ln w="9525">
            <a:noFill/>
          </a:ln>
        </p:spPr>
      </p:pic>
      <p:grpSp>
        <p:nvGrpSpPr>
          <p:cNvPr id="90146" name="Group 130"/>
          <p:cNvGrpSpPr/>
          <p:nvPr/>
        </p:nvGrpSpPr>
        <p:grpSpPr>
          <a:xfrm>
            <a:off x="4660900" y="2701925"/>
            <a:ext cx="582613" cy="481013"/>
            <a:chOff x="3028" y="1864"/>
            <a:chExt cx="347" cy="631"/>
          </a:xfrm>
        </p:grpSpPr>
        <p:sp>
          <p:nvSpPr>
            <p:cNvPr id="90147" name="Rectangle 131"/>
            <p:cNvSpPr/>
            <p:nvPr/>
          </p:nvSpPr>
          <p:spPr>
            <a:xfrm>
              <a:off x="3047" y="2042"/>
              <a:ext cx="260" cy="45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sp>
          <p:nvSpPr>
            <p:cNvPr id="90148" name="Freeform 132"/>
            <p:cNvSpPr/>
            <p:nvPr/>
          </p:nvSpPr>
          <p:spPr>
            <a:xfrm>
              <a:off x="3309" y="1888"/>
              <a:ext cx="48" cy="163"/>
            </a:xfrm>
            <a:custGeom>
              <a:avLst/>
              <a:gdLst/>
              <a:ahLst/>
              <a:cxnLst>
                <a:cxn ang="0">
                  <a:pos x="5" y="0"/>
                </a:cxn>
                <a:cxn ang="0">
                  <a:pos x="8" y="31732"/>
                </a:cxn>
                <a:cxn ang="0">
                  <a:pos x="0" y="41008"/>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49" name="Freeform 133"/>
            <p:cNvSpPr/>
            <p:nvPr/>
          </p:nvSpPr>
          <p:spPr>
            <a:xfrm>
              <a:off x="3307" y="2020"/>
              <a:ext cx="49" cy="475"/>
            </a:xfrm>
            <a:custGeom>
              <a:avLst/>
              <a:gdLst/>
              <a:ahLst/>
              <a:cxnLst>
                <a:cxn ang="0">
                  <a:pos x="2" y="6378"/>
                </a:cxn>
                <a:cxn ang="0">
                  <a:pos x="0" y="88770"/>
                </a:cxn>
                <a:cxn ang="0">
                  <a:pos x="9" y="79589"/>
                </a:cxn>
                <a:cxn ang="0">
                  <a:pos x="9" y="0"/>
                </a:cxn>
                <a:cxn ang="0">
                  <a:pos x="2" y="6378"/>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50" name="Freeform 134"/>
            <p:cNvSpPr/>
            <p:nvPr/>
          </p:nvSpPr>
          <p:spPr>
            <a:xfrm>
              <a:off x="3339" y="1864"/>
              <a:ext cx="36" cy="171"/>
            </a:xfrm>
            <a:custGeom>
              <a:avLst/>
              <a:gdLst/>
              <a:ahLst/>
              <a:cxnLst>
                <a:cxn ang="0">
                  <a:pos x="2" y="0"/>
                </a:cxn>
                <a:cxn ang="0">
                  <a:pos x="5" y="41632"/>
                </a:cxn>
                <a:cxn ang="0">
                  <a:pos x="2" y="41165"/>
                </a:cxn>
                <a:cxn ang="0">
                  <a:pos x="0" y="18777"/>
                </a:cxn>
                <a:cxn ang="0">
                  <a:pos x="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51" name="Freeform 135"/>
            <p:cNvSpPr/>
            <p:nvPr/>
          </p:nvSpPr>
          <p:spPr>
            <a:xfrm>
              <a:off x="3319" y="1941"/>
              <a:ext cx="34" cy="112"/>
            </a:xfrm>
            <a:custGeom>
              <a:avLst/>
              <a:gdLst/>
              <a:ahLst/>
              <a:cxnLst>
                <a:cxn ang="0">
                  <a:pos x="3" y="0"/>
                </a:cxn>
                <a:cxn ang="0">
                  <a:pos x="0" y="27592"/>
                </a:cxn>
                <a:cxn ang="0">
                  <a:pos x="5" y="24370"/>
                </a:cxn>
                <a:cxn ang="0">
                  <a:pos x="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52" name="Freeform 136"/>
            <p:cNvSpPr/>
            <p:nvPr/>
          </p:nvSpPr>
          <p:spPr>
            <a:xfrm>
              <a:off x="3028" y="1868"/>
              <a:ext cx="322" cy="209"/>
            </a:xfrm>
            <a:custGeom>
              <a:avLst/>
              <a:gdLst/>
              <a:ahLst/>
              <a:cxnLst>
                <a:cxn ang="0">
                  <a:pos x="0" y="52142"/>
                </a:cxn>
                <a:cxn ang="0">
                  <a:pos x="8" y="469"/>
                </a:cxn>
                <a:cxn ang="0">
                  <a:pos x="53" y="0"/>
                </a:cxn>
                <a:cxn ang="0">
                  <a:pos x="47" y="52142"/>
                </a:cxn>
                <a:cxn ang="0">
                  <a:pos x="0" y="52142"/>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153" name="Text Box 137"/>
          <p:cNvSpPr txBox="1"/>
          <p:nvPr/>
        </p:nvSpPr>
        <p:spPr>
          <a:xfrm>
            <a:off x="4591050" y="3184525"/>
            <a:ext cx="831850" cy="2746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SGSN</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54" name="Line 138"/>
          <p:cNvSpPr/>
          <p:nvPr/>
        </p:nvSpPr>
        <p:spPr>
          <a:xfrm>
            <a:off x="5313363" y="3025775"/>
            <a:ext cx="685800" cy="185738"/>
          </a:xfrm>
          <a:prstGeom prst="line">
            <a:avLst/>
          </a:prstGeom>
          <a:ln w="9525" cap="flat" cmpd="sng">
            <a:solidFill>
              <a:schemeClr val="tx1"/>
            </a:solidFill>
            <a:prstDash val="solid"/>
            <a:round/>
            <a:headEnd type="none" w="med" len="med"/>
            <a:tailEnd type="none" w="med" len="med"/>
          </a:ln>
        </p:spPr>
      </p:sp>
      <p:sp>
        <p:nvSpPr>
          <p:cNvPr id="90155" name="Line 153"/>
          <p:cNvSpPr/>
          <p:nvPr/>
        </p:nvSpPr>
        <p:spPr>
          <a:xfrm>
            <a:off x="4187825" y="2005013"/>
            <a:ext cx="295275" cy="1036637"/>
          </a:xfrm>
          <a:prstGeom prst="line">
            <a:avLst/>
          </a:prstGeom>
          <a:ln w="9525" cap="flat" cmpd="sng">
            <a:solidFill>
              <a:schemeClr val="tx1"/>
            </a:solidFill>
            <a:prstDash val="solid"/>
            <a:round/>
            <a:headEnd type="none" w="med" len="med"/>
            <a:tailEnd type="none" w="med" len="med"/>
          </a:ln>
        </p:spPr>
      </p:sp>
      <p:sp>
        <p:nvSpPr>
          <p:cNvPr id="90156" name="Line 154"/>
          <p:cNvSpPr/>
          <p:nvPr/>
        </p:nvSpPr>
        <p:spPr>
          <a:xfrm>
            <a:off x="4483100" y="3041650"/>
            <a:ext cx="222250" cy="0"/>
          </a:xfrm>
          <a:prstGeom prst="line">
            <a:avLst/>
          </a:prstGeom>
          <a:ln w="9525" cap="flat" cmpd="sng">
            <a:solidFill>
              <a:schemeClr val="tx1"/>
            </a:solidFill>
            <a:prstDash val="solid"/>
            <a:round/>
            <a:headEnd type="none" w="med" len="med"/>
            <a:tailEnd type="none" w="med" len="med"/>
          </a:ln>
        </p:spPr>
      </p:sp>
      <p:sp>
        <p:nvSpPr>
          <p:cNvPr id="90157" name="Freeform 156"/>
          <p:cNvSpPr/>
          <p:nvPr/>
        </p:nvSpPr>
        <p:spPr>
          <a:xfrm>
            <a:off x="7177088" y="1362075"/>
            <a:ext cx="1235075" cy="12573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90158" name="Text Box 157"/>
          <p:cNvSpPr txBox="1"/>
          <p:nvPr/>
        </p:nvSpPr>
        <p:spPr>
          <a:xfrm>
            <a:off x="7285038" y="1485900"/>
            <a:ext cx="1106487" cy="617538"/>
          </a:xfrm>
          <a:prstGeom prst="rect">
            <a:avLst/>
          </a:prstGeom>
          <a:noFill/>
          <a:ln w="9525">
            <a:noFill/>
          </a:ln>
        </p:spPr>
        <p:txBody>
          <a:bodyPr wrap="none" anchor="t" anchorCtr="0">
            <a:spAutoFit/>
          </a:bodyPr>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Public </a:t>
            </a:r>
            <a:endParaRPr lang="en-US" altLang="zh-CN" sz="1600" dirty="0">
              <a:solidFill>
                <a:srgbClr val="000000"/>
              </a:solidFill>
              <a:latin typeface="Arial" panose="020B0604020202020204" pitchFamily="34" charset="0"/>
              <a:ea typeface="MS PGothic" panose="020B0600070205080204" pitchFamily="34" charset="-128"/>
            </a:endParaRPr>
          </a:p>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telephone</a:t>
            </a:r>
            <a:endParaRPr lang="en-US" altLang="zh-CN" sz="1600" dirty="0">
              <a:solidFill>
                <a:srgbClr val="000000"/>
              </a:solidFill>
              <a:latin typeface="Arial" panose="020B0604020202020204" pitchFamily="34" charset="0"/>
              <a:ea typeface="MS PGothic" panose="020B0600070205080204" pitchFamily="34" charset="-128"/>
            </a:endParaRPr>
          </a:p>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network</a:t>
            </a:r>
            <a:endParaRPr lang="en-US" altLang="zh-CN" sz="1600" dirty="0">
              <a:solidFill>
                <a:srgbClr val="000000"/>
              </a:solidFill>
              <a:latin typeface="Arial" panose="020B0604020202020204" pitchFamily="34" charset="0"/>
              <a:ea typeface="MS PGothic" panose="020B0600070205080204" pitchFamily="34" charset="-128"/>
            </a:endParaRPr>
          </a:p>
        </p:txBody>
      </p:sp>
      <p:sp>
        <p:nvSpPr>
          <p:cNvPr id="90159" name="Line 158"/>
          <p:cNvSpPr/>
          <p:nvPr/>
        </p:nvSpPr>
        <p:spPr>
          <a:xfrm>
            <a:off x="5151438" y="2016125"/>
            <a:ext cx="1284287" cy="0"/>
          </a:xfrm>
          <a:prstGeom prst="line">
            <a:avLst/>
          </a:prstGeom>
          <a:ln w="9525" cap="flat" cmpd="sng">
            <a:solidFill>
              <a:schemeClr val="tx1"/>
            </a:solidFill>
            <a:prstDash val="solid"/>
            <a:round/>
            <a:headEnd type="none" w="med" len="med"/>
            <a:tailEnd type="none" w="med" len="med"/>
          </a:ln>
        </p:spPr>
      </p:sp>
      <p:grpSp>
        <p:nvGrpSpPr>
          <p:cNvPr id="90160" name="Group 159"/>
          <p:cNvGrpSpPr/>
          <p:nvPr/>
        </p:nvGrpSpPr>
        <p:grpSpPr>
          <a:xfrm>
            <a:off x="6411913" y="1517650"/>
            <a:ext cx="550862" cy="750888"/>
            <a:chOff x="611" y="3693"/>
            <a:chExt cx="449" cy="287"/>
          </a:xfrm>
        </p:grpSpPr>
        <p:sp>
          <p:nvSpPr>
            <p:cNvPr id="90161" name="Rectangle 16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162" name="Group 161"/>
            <p:cNvGrpSpPr/>
            <p:nvPr/>
          </p:nvGrpSpPr>
          <p:grpSpPr>
            <a:xfrm>
              <a:off x="687" y="3826"/>
              <a:ext cx="224" cy="110"/>
              <a:chOff x="687" y="3826"/>
              <a:chExt cx="224" cy="110"/>
            </a:xfrm>
          </p:grpSpPr>
          <p:sp>
            <p:nvSpPr>
              <p:cNvPr id="90163" name="Freeform 162"/>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64" name="Freeform 163"/>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165" name="Freeform 16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66" name="Freeform 16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67" name="Freeform 16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68" name="Freeform 16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69" name="Freeform 16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170" name="Text Box 169"/>
          <p:cNvSpPr txBox="1"/>
          <p:nvPr/>
        </p:nvSpPr>
        <p:spPr>
          <a:xfrm>
            <a:off x="6359525" y="2254250"/>
            <a:ext cx="1085850" cy="395288"/>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Gateway</a:t>
            </a:r>
            <a:endParaRPr lang="en-US" altLang="zh-CN" dirty="0">
              <a:solidFill>
                <a:srgbClr val="000000"/>
              </a:solidFill>
              <a:latin typeface="Arial" panose="020B0604020202020204" pitchFamily="34" charset="0"/>
              <a:ea typeface="MS PGothic" panose="020B0600070205080204" pitchFamily="34" charset="-128"/>
            </a:endParaRPr>
          </a:p>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MSC</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71" name="Text Box 170"/>
          <p:cNvSpPr txBox="1"/>
          <p:nvPr/>
        </p:nvSpPr>
        <p:spPr>
          <a:xfrm>
            <a:off x="6481763" y="1468438"/>
            <a:ext cx="361950" cy="274637"/>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72" name="Line 171"/>
          <p:cNvSpPr/>
          <p:nvPr/>
        </p:nvSpPr>
        <p:spPr>
          <a:xfrm flipH="1">
            <a:off x="6200775" y="2068513"/>
            <a:ext cx="236538" cy="109537"/>
          </a:xfrm>
          <a:prstGeom prst="line">
            <a:avLst/>
          </a:prstGeom>
          <a:ln w="9525" cap="flat" cmpd="sng">
            <a:solidFill>
              <a:schemeClr val="tx1"/>
            </a:solidFill>
            <a:prstDash val="solid"/>
            <a:round/>
            <a:headEnd type="none" w="med" len="med"/>
            <a:tailEnd type="none" w="med" len="med"/>
          </a:ln>
        </p:spPr>
      </p:sp>
      <p:sp>
        <p:nvSpPr>
          <p:cNvPr id="90173" name="Line 172"/>
          <p:cNvSpPr/>
          <p:nvPr/>
        </p:nvSpPr>
        <p:spPr>
          <a:xfrm flipH="1" flipV="1">
            <a:off x="6211888" y="1857375"/>
            <a:ext cx="225425" cy="66675"/>
          </a:xfrm>
          <a:prstGeom prst="line">
            <a:avLst/>
          </a:prstGeom>
          <a:ln w="9525" cap="flat" cmpd="sng">
            <a:solidFill>
              <a:schemeClr val="tx1"/>
            </a:solidFill>
            <a:prstDash val="solid"/>
            <a:round/>
            <a:headEnd type="none" w="med" len="med"/>
            <a:tailEnd type="none" w="med" len="med"/>
          </a:ln>
        </p:spPr>
      </p:sp>
      <p:sp>
        <p:nvSpPr>
          <p:cNvPr id="90174" name="Line 173"/>
          <p:cNvSpPr/>
          <p:nvPr/>
        </p:nvSpPr>
        <p:spPr>
          <a:xfrm flipH="1">
            <a:off x="5834063" y="2198688"/>
            <a:ext cx="327025" cy="152400"/>
          </a:xfrm>
          <a:prstGeom prst="line">
            <a:avLst/>
          </a:prstGeom>
          <a:ln w="9525" cap="flat" cmpd="sng">
            <a:solidFill>
              <a:schemeClr val="tx1"/>
            </a:solidFill>
            <a:prstDash val="dash"/>
            <a:round/>
            <a:headEnd type="none" w="med" len="med"/>
            <a:tailEnd type="none" w="med" len="med"/>
          </a:ln>
        </p:spPr>
      </p:sp>
      <p:sp>
        <p:nvSpPr>
          <p:cNvPr id="90175" name="Line 174"/>
          <p:cNvSpPr/>
          <p:nvPr/>
        </p:nvSpPr>
        <p:spPr>
          <a:xfrm flipH="1" flipV="1">
            <a:off x="5929313" y="1789113"/>
            <a:ext cx="236537" cy="58737"/>
          </a:xfrm>
          <a:prstGeom prst="line">
            <a:avLst/>
          </a:prstGeom>
          <a:ln w="9525" cap="flat" cmpd="sng">
            <a:solidFill>
              <a:schemeClr val="tx1"/>
            </a:solidFill>
            <a:prstDash val="dash"/>
            <a:round/>
            <a:headEnd type="none" w="med" len="med"/>
            <a:tailEnd type="none" w="med" len="med"/>
          </a:ln>
        </p:spPr>
      </p:sp>
      <p:sp>
        <p:nvSpPr>
          <p:cNvPr id="90176" name="Line 175"/>
          <p:cNvSpPr/>
          <p:nvPr/>
        </p:nvSpPr>
        <p:spPr>
          <a:xfrm>
            <a:off x="4945063" y="2305050"/>
            <a:ext cx="0" cy="371475"/>
          </a:xfrm>
          <a:prstGeom prst="line">
            <a:avLst/>
          </a:prstGeom>
          <a:ln w="9525" cap="flat" cmpd="sng">
            <a:solidFill>
              <a:schemeClr val="tx1"/>
            </a:solidFill>
            <a:prstDash val="solid"/>
            <a:round/>
            <a:headEnd type="triangle" w="med" len="med"/>
            <a:tailEnd type="triangle" w="med" len="med"/>
          </a:ln>
        </p:spPr>
      </p:sp>
      <p:sp>
        <p:nvSpPr>
          <p:cNvPr id="90177" name="Line 176"/>
          <p:cNvSpPr/>
          <p:nvPr/>
        </p:nvSpPr>
        <p:spPr>
          <a:xfrm>
            <a:off x="6942138" y="1992313"/>
            <a:ext cx="304800" cy="0"/>
          </a:xfrm>
          <a:prstGeom prst="line">
            <a:avLst/>
          </a:prstGeom>
          <a:ln w="9525" cap="flat" cmpd="sng">
            <a:solidFill>
              <a:schemeClr val="tx1"/>
            </a:solidFill>
            <a:prstDash val="solid"/>
            <a:round/>
            <a:headEnd type="none" w="med" len="med"/>
            <a:tailEnd type="none" w="med" len="med"/>
          </a:ln>
        </p:spPr>
      </p:sp>
      <p:sp>
        <p:nvSpPr>
          <p:cNvPr id="90178" name="Freeform 222"/>
          <p:cNvSpPr/>
          <p:nvPr/>
        </p:nvSpPr>
        <p:spPr>
          <a:xfrm>
            <a:off x="7286625" y="2786063"/>
            <a:ext cx="1235075" cy="1257300"/>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90179" name="Text Box 223"/>
          <p:cNvSpPr txBox="1"/>
          <p:nvPr/>
        </p:nvSpPr>
        <p:spPr>
          <a:xfrm>
            <a:off x="7394575" y="3041650"/>
            <a:ext cx="882650" cy="438150"/>
          </a:xfrm>
          <a:prstGeom prst="rect">
            <a:avLst/>
          </a:prstGeom>
          <a:noFill/>
          <a:ln w="9525">
            <a:noFill/>
          </a:ln>
        </p:spPr>
        <p:txBody>
          <a:bodyPr wrap="none" anchor="t" anchorCtr="0">
            <a:spAutoFit/>
          </a:bodyPr>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Public </a:t>
            </a:r>
            <a:endParaRPr lang="en-US" altLang="zh-CN" sz="1600" dirty="0">
              <a:solidFill>
                <a:srgbClr val="000000"/>
              </a:solidFill>
              <a:latin typeface="Arial" panose="020B0604020202020204" pitchFamily="34" charset="0"/>
              <a:ea typeface="MS PGothic" panose="020B0600070205080204" pitchFamily="34" charset="-128"/>
            </a:endParaRPr>
          </a:p>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Internet</a:t>
            </a:r>
            <a:endParaRPr lang="en-US" altLang="zh-CN" sz="1600" dirty="0">
              <a:solidFill>
                <a:srgbClr val="000000"/>
              </a:solidFill>
              <a:latin typeface="Arial" panose="020B0604020202020204" pitchFamily="34" charset="0"/>
              <a:ea typeface="MS PGothic" panose="020B0600070205080204" pitchFamily="34" charset="-128"/>
            </a:endParaRPr>
          </a:p>
        </p:txBody>
      </p:sp>
      <p:grpSp>
        <p:nvGrpSpPr>
          <p:cNvPr id="90180" name="Group 224"/>
          <p:cNvGrpSpPr/>
          <p:nvPr/>
        </p:nvGrpSpPr>
        <p:grpSpPr>
          <a:xfrm>
            <a:off x="6521450" y="2941638"/>
            <a:ext cx="550863" cy="750887"/>
            <a:chOff x="611" y="3693"/>
            <a:chExt cx="449" cy="287"/>
          </a:xfrm>
        </p:grpSpPr>
        <p:sp>
          <p:nvSpPr>
            <p:cNvPr id="90181"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182" name="Group 226"/>
            <p:cNvGrpSpPr/>
            <p:nvPr/>
          </p:nvGrpSpPr>
          <p:grpSpPr>
            <a:xfrm>
              <a:off x="687" y="3826"/>
              <a:ext cx="224" cy="110"/>
              <a:chOff x="687" y="3826"/>
              <a:chExt cx="224" cy="110"/>
            </a:xfrm>
          </p:grpSpPr>
          <p:sp>
            <p:nvSpPr>
              <p:cNvPr id="90183"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84"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185"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186"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87"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88"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189"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190" name="Text Box 235"/>
          <p:cNvSpPr txBox="1"/>
          <p:nvPr/>
        </p:nvSpPr>
        <p:spPr>
          <a:xfrm>
            <a:off x="6591300" y="2887663"/>
            <a:ext cx="361950" cy="274637"/>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91" name="Line 236"/>
          <p:cNvSpPr/>
          <p:nvPr/>
        </p:nvSpPr>
        <p:spPr>
          <a:xfrm flipH="1">
            <a:off x="6310313" y="3492500"/>
            <a:ext cx="236537" cy="109538"/>
          </a:xfrm>
          <a:prstGeom prst="line">
            <a:avLst/>
          </a:prstGeom>
          <a:ln w="9525" cap="flat" cmpd="sng">
            <a:solidFill>
              <a:schemeClr val="tx1"/>
            </a:solidFill>
            <a:prstDash val="solid"/>
            <a:round/>
            <a:headEnd type="none" w="med" len="med"/>
            <a:tailEnd type="none" w="med" len="med"/>
          </a:ln>
        </p:spPr>
      </p:sp>
      <p:sp>
        <p:nvSpPr>
          <p:cNvPr id="90192" name="Line 237"/>
          <p:cNvSpPr/>
          <p:nvPr/>
        </p:nvSpPr>
        <p:spPr>
          <a:xfrm flipH="1" flipV="1">
            <a:off x="6321425" y="3281363"/>
            <a:ext cx="225425" cy="66675"/>
          </a:xfrm>
          <a:prstGeom prst="line">
            <a:avLst/>
          </a:prstGeom>
          <a:ln w="9525" cap="flat" cmpd="sng">
            <a:solidFill>
              <a:schemeClr val="tx1"/>
            </a:solidFill>
            <a:prstDash val="solid"/>
            <a:round/>
            <a:headEnd type="none" w="med" len="med"/>
            <a:tailEnd type="none" w="med" len="med"/>
          </a:ln>
        </p:spPr>
      </p:sp>
      <p:sp>
        <p:nvSpPr>
          <p:cNvPr id="90193" name="Line 238"/>
          <p:cNvSpPr/>
          <p:nvPr/>
        </p:nvSpPr>
        <p:spPr>
          <a:xfrm flipH="1">
            <a:off x="5943600" y="3622675"/>
            <a:ext cx="327025" cy="152400"/>
          </a:xfrm>
          <a:prstGeom prst="line">
            <a:avLst/>
          </a:prstGeom>
          <a:ln w="9525" cap="flat" cmpd="sng">
            <a:solidFill>
              <a:schemeClr val="tx1"/>
            </a:solidFill>
            <a:prstDash val="dash"/>
            <a:round/>
            <a:headEnd type="none" w="med" len="med"/>
            <a:tailEnd type="none" w="med" len="med"/>
          </a:ln>
        </p:spPr>
      </p:sp>
      <p:sp>
        <p:nvSpPr>
          <p:cNvPr id="90194" name="Line 239"/>
          <p:cNvSpPr/>
          <p:nvPr/>
        </p:nvSpPr>
        <p:spPr>
          <a:xfrm flipH="1" flipV="1">
            <a:off x="6038850" y="3213100"/>
            <a:ext cx="236538" cy="58738"/>
          </a:xfrm>
          <a:prstGeom prst="line">
            <a:avLst/>
          </a:prstGeom>
          <a:ln w="9525" cap="flat" cmpd="sng">
            <a:solidFill>
              <a:schemeClr val="tx1"/>
            </a:solidFill>
            <a:prstDash val="dash"/>
            <a:round/>
            <a:headEnd type="none" w="med" len="med"/>
            <a:tailEnd type="none" w="med" len="med"/>
          </a:ln>
        </p:spPr>
      </p:sp>
      <p:sp>
        <p:nvSpPr>
          <p:cNvPr id="90195" name="Line 240"/>
          <p:cNvSpPr/>
          <p:nvPr/>
        </p:nvSpPr>
        <p:spPr>
          <a:xfrm>
            <a:off x="7051675" y="3416300"/>
            <a:ext cx="304800" cy="0"/>
          </a:xfrm>
          <a:prstGeom prst="line">
            <a:avLst/>
          </a:prstGeom>
          <a:ln w="9525" cap="flat" cmpd="sng">
            <a:solidFill>
              <a:schemeClr val="tx1"/>
            </a:solidFill>
            <a:prstDash val="solid"/>
            <a:round/>
            <a:headEnd type="none" w="med" len="med"/>
            <a:tailEnd type="none" w="med" len="med"/>
          </a:ln>
        </p:spPr>
      </p:sp>
      <p:sp>
        <p:nvSpPr>
          <p:cNvPr id="90196" name="Rectangle 2"/>
          <p:cNvSpPr/>
          <p:nvPr/>
        </p:nvSpPr>
        <p:spPr>
          <a:xfrm>
            <a:off x="331788" y="230188"/>
            <a:ext cx="8545512" cy="708025"/>
          </a:xfrm>
          <a:prstGeom prst="rect">
            <a:avLst/>
          </a:prstGeom>
          <a:noFill/>
          <a:ln w="9525">
            <a:noFill/>
          </a:ln>
        </p:spPr>
        <p:txBody>
          <a:bodyPr wrap="none" anchor="t" anchorCtr="0">
            <a:spAutoFit/>
          </a:bodyPr>
          <a:p>
            <a:pPr eaLnBrk="0" hangingPunct="0">
              <a:buClrTx/>
              <a:buFontTx/>
            </a:pPr>
            <a:r>
              <a:rPr lang="en-US" altLang="zh-CN" sz="4000" dirty="0">
                <a:solidFill>
                  <a:srgbClr val="000099"/>
                </a:solidFill>
                <a:latin typeface="Gill Sans MT" panose="020B0502020104020203" pitchFamily="34" charset="0"/>
                <a:ea typeface="MS PGothic" panose="020B0600070205080204" pitchFamily="34" charset="-128"/>
              </a:rPr>
              <a:t>3G versus 4G LTE network architecture</a:t>
            </a:r>
            <a:endParaRPr lang="en-US" altLang="zh-CN" sz="4000" dirty="0">
              <a:solidFill>
                <a:srgbClr val="000099"/>
              </a:solidFill>
              <a:latin typeface="Gill Sans MT" panose="020B0502020104020203" pitchFamily="34" charset="0"/>
              <a:ea typeface="MS PGothic" panose="020B0600070205080204" pitchFamily="34" charset="-128"/>
            </a:endParaRPr>
          </a:p>
        </p:txBody>
      </p:sp>
      <p:pic>
        <p:nvPicPr>
          <p:cNvPr id="90197" name="Picture 6" descr="underline_base"/>
          <p:cNvPicPr>
            <a:picLocks noChangeAspect="1"/>
          </p:cNvPicPr>
          <p:nvPr/>
        </p:nvPicPr>
        <p:blipFill>
          <a:blip r:embed="rId3"/>
          <a:stretch>
            <a:fillRect/>
          </a:stretch>
        </p:blipFill>
        <p:spPr>
          <a:xfrm>
            <a:off x="398463" y="774700"/>
            <a:ext cx="8228012" cy="173038"/>
          </a:xfrm>
          <a:prstGeom prst="rect">
            <a:avLst/>
          </a:prstGeom>
          <a:noFill/>
          <a:ln w="9525">
            <a:noFill/>
          </a:ln>
        </p:spPr>
      </p:pic>
      <p:sp>
        <p:nvSpPr>
          <p:cNvPr id="90198" name="Text Box 234"/>
          <p:cNvSpPr txBox="1"/>
          <p:nvPr/>
        </p:nvSpPr>
        <p:spPr>
          <a:xfrm>
            <a:off x="6469063" y="3678238"/>
            <a:ext cx="857250" cy="231775"/>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GGSN</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199" name="Line 238"/>
          <p:cNvSpPr/>
          <p:nvPr/>
        </p:nvSpPr>
        <p:spPr>
          <a:xfrm flipH="1">
            <a:off x="2605088" y="4830763"/>
            <a:ext cx="1460500" cy="541337"/>
          </a:xfrm>
          <a:prstGeom prst="line">
            <a:avLst/>
          </a:prstGeom>
          <a:ln w="9525" cap="flat" cmpd="sng">
            <a:solidFill>
              <a:schemeClr val="tx1"/>
            </a:solidFill>
            <a:prstDash val="dash"/>
            <a:round/>
            <a:headEnd type="none" w="med" len="med"/>
            <a:tailEnd type="none" w="med" len="med"/>
          </a:ln>
        </p:spPr>
      </p:sp>
      <p:sp>
        <p:nvSpPr>
          <p:cNvPr id="90200" name="Line 238"/>
          <p:cNvSpPr/>
          <p:nvPr/>
        </p:nvSpPr>
        <p:spPr>
          <a:xfrm flipH="1">
            <a:off x="2281238" y="4826000"/>
            <a:ext cx="1752600" cy="296863"/>
          </a:xfrm>
          <a:prstGeom prst="line">
            <a:avLst/>
          </a:prstGeom>
          <a:ln w="9525" cap="flat" cmpd="sng">
            <a:solidFill>
              <a:schemeClr val="tx1"/>
            </a:solidFill>
            <a:prstDash val="dash"/>
            <a:round/>
            <a:headEnd type="none" w="med" len="med"/>
            <a:tailEnd type="none" w="med" len="med"/>
          </a:ln>
        </p:spPr>
      </p:sp>
      <p:sp>
        <p:nvSpPr>
          <p:cNvPr id="90201" name="Line 238"/>
          <p:cNvSpPr/>
          <p:nvPr/>
        </p:nvSpPr>
        <p:spPr>
          <a:xfrm flipH="1">
            <a:off x="2232025" y="4883150"/>
            <a:ext cx="1801813" cy="835025"/>
          </a:xfrm>
          <a:prstGeom prst="line">
            <a:avLst/>
          </a:prstGeom>
          <a:ln w="9525" cap="flat" cmpd="sng">
            <a:solidFill>
              <a:schemeClr val="tx1"/>
            </a:solidFill>
            <a:prstDash val="dash"/>
            <a:round/>
            <a:headEnd type="none" w="med" len="med"/>
            <a:tailEnd type="none" w="med" len="med"/>
          </a:ln>
        </p:spPr>
      </p:sp>
      <p:sp>
        <p:nvSpPr>
          <p:cNvPr id="90202" name="Line 238"/>
          <p:cNvSpPr/>
          <p:nvPr/>
        </p:nvSpPr>
        <p:spPr>
          <a:xfrm flipH="1" flipV="1">
            <a:off x="4584700" y="4962525"/>
            <a:ext cx="1216025" cy="349250"/>
          </a:xfrm>
          <a:prstGeom prst="line">
            <a:avLst/>
          </a:prstGeom>
          <a:ln w="9525" cap="flat" cmpd="sng">
            <a:solidFill>
              <a:schemeClr val="tx1"/>
            </a:solidFill>
            <a:prstDash val="dash"/>
            <a:round/>
            <a:headEnd type="none" w="med" len="med"/>
            <a:tailEnd type="none" w="med" len="med"/>
          </a:ln>
        </p:spPr>
      </p:sp>
      <p:sp>
        <p:nvSpPr>
          <p:cNvPr id="90203" name="Line 238"/>
          <p:cNvSpPr/>
          <p:nvPr/>
        </p:nvSpPr>
        <p:spPr>
          <a:xfrm flipV="1">
            <a:off x="4556125" y="4668838"/>
            <a:ext cx="206375" cy="161925"/>
          </a:xfrm>
          <a:prstGeom prst="line">
            <a:avLst/>
          </a:prstGeom>
          <a:ln w="9525" cap="flat" cmpd="sng">
            <a:solidFill>
              <a:schemeClr val="tx1"/>
            </a:solidFill>
            <a:prstDash val="dash"/>
            <a:round/>
            <a:headEnd type="none" w="med" len="med"/>
            <a:tailEnd type="none" w="med" len="med"/>
          </a:ln>
        </p:spPr>
      </p:sp>
      <p:grpSp>
        <p:nvGrpSpPr>
          <p:cNvPr id="90204" name="Group 3"/>
          <p:cNvGrpSpPr/>
          <p:nvPr/>
        </p:nvGrpSpPr>
        <p:grpSpPr>
          <a:xfrm>
            <a:off x="398463" y="5945188"/>
            <a:ext cx="5413375" cy="708025"/>
            <a:chOff x="1495425" y="5249771"/>
            <a:chExt cx="5413375" cy="708025"/>
          </a:xfrm>
        </p:grpSpPr>
        <p:cxnSp>
          <p:nvCxnSpPr>
            <p:cNvPr id="257" name="Straight Connector 256"/>
            <p:cNvCxnSpPr/>
            <p:nvPr/>
          </p:nvCxnSpPr>
          <p:spPr>
            <a:xfrm>
              <a:off x="3943350" y="5386296"/>
              <a:ext cx="0"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1495425" y="5624421"/>
              <a:ext cx="2463800" cy="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0207" name="TextBox 258"/>
            <p:cNvSpPr txBox="1"/>
            <p:nvPr/>
          </p:nvSpPr>
          <p:spPr>
            <a:xfrm>
              <a:off x="1660768" y="5249771"/>
              <a:ext cx="2111375" cy="708025"/>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radio access network</a:t>
              </a:r>
              <a:endParaRPr lang="en-US" altLang="zh-CN" sz="16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200" dirty="0">
                  <a:solidFill>
                    <a:srgbClr val="000000"/>
                  </a:solidFill>
                  <a:latin typeface="Arial" panose="020B0604020202020204" pitchFamily="34" charset="0"/>
                  <a:ea typeface="MS PGothic" panose="020B0600070205080204" pitchFamily="34" charset="-128"/>
                </a:rPr>
                <a:t>Universal Terrestrial Radio </a:t>
              </a:r>
              <a:endParaRPr lang="en-US" altLang="zh-CN" sz="12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200" dirty="0">
                  <a:solidFill>
                    <a:srgbClr val="000000"/>
                  </a:solidFill>
                  <a:latin typeface="Arial" panose="020B0604020202020204" pitchFamily="34" charset="0"/>
                  <a:ea typeface="MS PGothic" panose="020B0600070205080204" pitchFamily="34" charset="-128"/>
                </a:rPr>
                <a:t>Access Network (UTRAN)</a:t>
              </a:r>
              <a:endParaRPr lang="en-US" altLang="zh-CN" sz="1200" dirty="0">
                <a:solidFill>
                  <a:srgbClr val="000000"/>
                </a:solidFill>
                <a:latin typeface="Arial" panose="020B0604020202020204" pitchFamily="34" charset="0"/>
                <a:ea typeface="MS PGothic" panose="020B0600070205080204" pitchFamily="34" charset="-128"/>
              </a:endParaRPr>
            </a:p>
          </p:txBody>
        </p:sp>
        <p:cxnSp>
          <p:nvCxnSpPr>
            <p:cNvPr id="260" name="Straight Connector 259"/>
            <p:cNvCxnSpPr/>
            <p:nvPr/>
          </p:nvCxnSpPr>
          <p:spPr>
            <a:xfrm flipH="1">
              <a:off x="1512887" y="5279933"/>
              <a:ext cx="6350" cy="609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a:off x="4705350" y="5624421"/>
              <a:ext cx="2203450" cy="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0210" name="TextBox 261"/>
            <p:cNvSpPr txBox="1"/>
            <p:nvPr/>
          </p:nvSpPr>
          <p:spPr>
            <a:xfrm>
              <a:off x="4360526" y="5310625"/>
              <a:ext cx="2146241" cy="584776"/>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Evolved Packet Core</a:t>
              </a:r>
              <a:endParaRPr lang="en-US" altLang="zh-CN" sz="16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(EPC)</a:t>
              </a:r>
              <a:endParaRPr lang="en-US" altLang="zh-CN" sz="1200" dirty="0">
                <a:solidFill>
                  <a:srgbClr val="000000"/>
                </a:solidFill>
                <a:latin typeface="Arial" panose="020B0604020202020204" pitchFamily="34" charset="0"/>
                <a:ea typeface="MS PGothic" panose="020B0600070205080204" pitchFamily="34" charset="-128"/>
              </a:endParaRPr>
            </a:p>
          </p:txBody>
        </p:sp>
        <p:cxnSp>
          <p:nvCxnSpPr>
            <p:cNvPr id="263" name="Straight Connector 262"/>
            <p:cNvCxnSpPr/>
            <p:nvPr/>
          </p:nvCxnSpPr>
          <p:spPr>
            <a:xfrm>
              <a:off x="6908800" y="5348196"/>
              <a:ext cx="0" cy="4968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Straight Arrow Connector 263"/>
            <p:cNvCxnSpPr/>
            <p:nvPr/>
          </p:nvCxnSpPr>
          <p:spPr>
            <a:xfrm flipH="1">
              <a:off x="3932237" y="5624421"/>
              <a:ext cx="592138" cy="0"/>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90213" name="Line 96"/>
          <p:cNvSpPr/>
          <p:nvPr/>
        </p:nvSpPr>
        <p:spPr>
          <a:xfrm flipV="1">
            <a:off x="2203450" y="5599113"/>
            <a:ext cx="3465513" cy="257175"/>
          </a:xfrm>
          <a:prstGeom prst="line">
            <a:avLst/>
          </a:prstGeom>
          <a:ln w="9525" cap="flat" cmpd="sng">
            <a:solidFill>
              <a:schemeClr val="tx1"/>
            </a:solidFill>
            <a:prstDash val="solid"/>
            <a:round/>
            <a:headEnd type="none" w="med" len="med"/>
            <a:tailEnd type="none" w="med" len="med"/>
          </a:ln>
        </p:spPr>
      </p:sp>
      <p:sp>
        <p:nvSpPr>
          <p:cNvPr id="90214" name="Line 97"/>
          <p:cNvSpPr/>
          <p:nvPr/>
        </p:nvSpPr>
        <p:spPr>
          <a:xfrm>
            <a:off x="2646363" y="5519738"/>
            <a:ext cx="2965450" cy="31750"/>
          </a:xfrm>
          <a:prstGeom prst="line">
            <a:avLst/>
          </a:prstGeom>
          <a:ln w="9525" cap="flat" cmpd="sng">
            <a:solidFill>
              <a:schemeClr val="tx1"/>
            </a:solidFill>
            <a:prstDash val="solid"/>
            <a:round/>
            <a:headEnd type="none" w="med" len="med"/>
            <a:tailEnd type="none" w="med" len="med"/>
          </a:ln>
        </p:spPr>
      </p:sp>
      <p:sp>
        <p:nvSpPr>
          <p:cNvPr id="90215" name="Line 98"/>
          <p:cNvSpPr/>
          <p:nvPr/>
        </p:nvSpPr>
        <p:spPr>
          <a:xfrm>
            <a:off x="2232025" y="5226050"/>
            <a:ext cx="3413125" cy="280988"/>
          </a:xfrm>
          <a:prstGeom prst="line">
            <a:avLst/>
          </a:prstGeom>
          <a:ln w="9525" cap="flat" cmpd="sng">
            <a:solidFill>
              <a:schemeClr val="tx1"/>
            </a:solidFill>
            <a:prstDash val="solid"/>
            <a:round/>
            <a:headEnd type="none" w="med" len="med"/>
            <a:tailEnd type="none" w="med" len="med"/>
          </a:ln>
        </p:spPr>
      </p:sp>
      <p:grpSp>
        <p:nvGrpSpPr>
          <p:cNvPr id="90216" name="Group 4"/>
          <p:cNvGrpSpPr/>
          <p:nvPr/>
        </p:nvGrpSpPr>
        <p:grpSpPr>
          <a:xfrm>
            <a:off x="3970338" y="4225925"/>
            <a:ext cx="722312" cy="879475"/>
            <a:chOff x="4804140" y="4632965"/>
            <a:chExt cx="723200" cy="1348762"/>
          </a:xfrm>
        </p:grpSpPr>
        <p:grpSp>
          <p:nvGrpSpPr>
            <p:cNvPr id="90217" name="Group 109"/>
            <p:cNvGrpSpPr/>
            <p:nvPr/>
          </p:nvGrpSpPr>
          <p:grpSpPr>
            <a:xfrm>
              <a:off x="4867640" y="5188066"/>
              <a:ext cx="550863" cy="793661"/>
              <a:chOff x="611" y="3693"/>
              <a:chExt cx="449" cy="287"/>
            </a:xfrm>
          </p:grpSpPr>
          <p:sp>
            <p:nvSpPr>
              <p:cNvPr id="90218"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sp>
            <p:nvSpPr>
              <p:cNvPr id="90219"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20"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21"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22"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23"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224" name="Text Box 121"/>
            <p:cNvSpPr txBox="1"/>
            <p:nvPr/>
          </p:nvSpPr>
          <p:spPr>
            <a:xfrm>
              <a:off x="4804140" y="4632965"/>
              <a:ext cx="723200" cy="5655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MME</a:t>
              </a:r>
              <a:endParaRPr lang="en-US" altLang="zh-CN" dirty="0">
                <a:solidFill>
                  <a:srgbClr val="000000"/>
                </a:solidFill>
                <a:latin typeface="Arial" panose="020B0604020202020204" pitchFamily="34" charset="0"/>
                <a:ea typeface="MS PGothic" panose="020B0600070205080204" pitchFamily="34" charset="-128"/>
              </a:endParaRPr>
            </a:p>
          </p:txBody>
        </p:sp>
      </p:grpSp>
      <p:pic>
        <p:nvPicPr>
          <p:cNvPr id="90225" name="Picture 122" descr="imgyjavg[1]"/>
          <p:cNvPicPr>
            <a:picLocks noChangeAspect="1"/>
          </p:cNvPicPr>
          <p:nvPr/>
        </p:nvPicPr>
        <p:blipFill>
          <a:blip r:embed="rId1"/>
          <a:stretch>
            <a:fillRect/>
          </a:stretch>
        </p:blipFill>
        <p:spPr>
          <a:xfrm>
            <a:off x="790575" y="5081588"/>
            <a:ext cx="252413" cy="144462"/>
          </a:xfrm>
          <a:prstGeom prst="rect">
            <a:avLst/>
          </a:prstGeom>
          <a:noFill/>
          <a:ln w="9525">
            <a:noFill/>
          </a:ln>
        </p:spPr>
      </p:pic>
      <p:grpSp>
        <p:nvGrpSpPr>
          <p:cNvPr id="90226" name="Group 123"/>
          <p:cNvGrpSpPr/>
          <p:nvPr/>
        </p:nvGrpSpPr>
        <p:grpSpPr>
          <a:xfrm>
            <a:off x="414338" y="5403850"/>
            <a:ext cx="831850" cy="142875"/>
            <a:chOff x="3072" y="739"/>
            <a:chExt cx="652" cy="146"/>
          </a:xfrm>
        </p:grpSpPr>
        <p:pic>
          <p:nvPicPr>
            <p:cNvPr id="90227" name="Picture 124" descr="lgv_fqmg[1]"/>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90228" name="Line 125"/>
            <p:cNvSpPr/>
            <p:nvPr/>
          </p:nvSpPr>
          <p:spPr>
            <a:xfrm flipH="1">
              <a:off x="3104" y="784"/>
              <a:ext cx="87" cy="0"/>
            </a:xfrm>
            <a:prstGeom prst="line">
              <a:avLst/>
            </a:prstGeom>
            <a:ln w="9525" cap="flat" cmpd="sng">
              <a:solidFill>
                <a:schemeClr val="tx1"/>
              </a:solidFill>
              <a:prstDash val="solid"/>
              <a:round/>
              <a:headEnd type="none" w="med" len="med"/>
              <a:tailEnd type="none" w="med" len="med"/>
            </a:ln>
          </p:spPr>
        </p:sp>
        <p:sp>
          <p:nvSpPr>
            <p:cNvPr id="90229" name="Line 126"/>
            <p:cNvSpPr/>
            <p:nvPr/>
          </p:nvSpPr>
          <p:spPr>
            <a:xfrm flipH="1">
              <a:off x="3072" y="759"/>
              <a:ext cx="144" cy="0"/>
            </a:xfrm>
            <a:prstGeom prst="line">
              <a:avLst/>
            </a:prstGeom>
            <a:ln w="9525" cap="flat" cmpd="sng">
              <a:solidFill>
                <a:schemeClr val="tx1"/>
              </a:solidFill>
              <a:prstDash val="solid"/>
              <a:round/>
              <a:headEnd type="none" w="med" len="med"/>
              <a:tailEnd type="none" w="med" len="med"/>
            </a:ln>
          </p:spPr>
        </p:sp>
      </p:grpSp>
      <p:pic>
        <p:nvPicPr>
          <p:cNvPr id="90230" name="Picture 128" descr="imgyjavg[1]"/>
          <p:cNvPicPr>
            <a:picLocks noChangeAspect="1"/>
          </p:cNvPicPr>
          <p:nvPr/>
        </p:nvPicPr>
        <p:blipFill>
          <a:blip r:embed="rId1"/>
          <a:stretch>
            <a:fillRect/>
          </a:stretch>
        </p:blipFill>
        <p:spPr>
          <a:xfrm>
            <a:off x="692150" y="5667375"/>
            <a:ext cx="252413" cy="144463"/>
          </a:xfrm>
          <a:prstGeom prst="rect">
            <a:avLst/>
          </a:prstGeom>
          <a:noFill/>
          <a:ln w="9525">
            <a:noFill/>
          </a:ln>
        </p:spPr>
      </p:pic>
      <p:sp>
        <p:nvSpPr>
          <p:cNvPr id="90231" name="Freeform 222"/>
          <p:cNvSpPr/>
          <p:nvPr/>
        </p:nvSpPr>
        <p:spPr>
          <a:xfrm>
            <a:off x="7332663" y="4856163"/>
            <a:ext cx="1235075" cy="13319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90232" name="Text Box 223"/>
          <p:cNvSpPr txBox="1"/>
          <p:nvPr/>
        </p:nvSpPr>
        <p:spPr>
          <a:xfrm>
            <a:off x="7440613" y="5127625"/>
            <a:ext cx="882650" cy="463550"/>
          </a:xfrm>
          <a:prstGeom prst="rect">
            <a:avLst/>
          </a:prstGeom>
          <a:noFill/>
          <a:ln w="9525">
            <a:noFill/>
          </a:ln>
        </p:spPr>
        <p:txBody>
          <a:bodyPr wrap="none" anchor="t" anchorCtr="0">
            <a:spAutoFit/>
          </a:bodyPr>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Public </a:t>
            </a:r>
            <a:endParaRPr lang="en-US" altLang="zh-CN" sz="1600" dirty="0">
              <a:solidFill>
                <a:srgbClr val="000000"/>
              </a:solidFill>
              <a:latin typeface="Arial" panose="020B0604020202020204" pitchFamily="34" charset="0"/>
              <a:ea typeface="MS PGothic" panose="020B0600070205080204" pitchFamily="34" charset="-128"/>
            </a:endParaRPr>
          </a:p>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Internet</a:t>
            </a:r>
            <a:endParaRPr lang="en-US" altLang="zh-CN" sz="1600" dirty="0">
              <a:solidFill>
                <a:srgbClr val="000000"/>
              </a:solidFill>
              <a:latin typeface="Arial" panose="020B0604020202020204" pitchFamily="34" charset="0"/>
              <a:ea typeface="MS PGothic" panose="020B0600070205080204" pitchFamily="34" charset="-128"/>
            </a:endParaRPr>
          </a:p>
        </p:txBody>
      </p:sp>
      <p:grpSp>
        <p:nvGrpSpPr>
          <p:cNvPr id="90233" name="Group 224"/>
          <p:cNvGrpSpPr/>
          <p:nvPr/>
        </p:nvGrpSpPr>
        <p:grpSpPr>
          <a:xfrm>
            <a:off x="6567488" y="5021263"/>
            <a:ext cx="550862" cy="793750"/>
            <a:chOff x="611" y="3693"/>
            <a:chExt cx="449" cy="287"/>
          </a:xfrm>
        </p:grpSpPr>
        <p:sp>
          <p:nvSpPr>
            <p:cNvPr id="90234"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235" name="Group 226"/>
            <p:cNvGrpSpPr/>
            <p:nvPr/>
          </p:nvGrpSpPr>
          <p:grpSpPr>
            <a:xfrm>
              <a:off x="687" y="3826"/>
              <a:ext cx="224" cy="110"/>
              <a:chOff x="687" y="3826"/>
              <a:chExt cx="224" cy="110"/>
            </a:xfrm>
          </p:grpSpPr>
          <p:sp>
            <p:nvSpPr>
              <p:cNvPr id="90236"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37"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238"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39"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40"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41"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42"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243" name="Text Box 234"/>
          <p:cNvSpPr txBox="1"/>
          <p:nvPr/>
        </p:nvSpPr>
        <p:spPr>
          <a:xfrm>
            <a:off x="6515100" y="5800725"/>
            <a:ext cx="812800" cy="322263"/>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P-GW</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244" name="Text Box 235"/>
          <p:cNvSpPr txBox="1"/>
          <p:nvPr/>
        </p:nvSpPr>
        <p:spPr>
          <a:xfrm>
            <a:off x="6637338" y="4964113"/>
            <a:ext cx="361950" cy="290512"/>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245" name="Line 240"/>
          <p:cNvSpPr/>
          <p:nvPr/>
        </p:nvSpPr>
        <p:spPr>
          <a:xfrm>
            <a:off x="7097713" y="5524500"/>
            <a:ext cx="304800" cy="0"/>
          </a:xfrm>
          <a:prstGeom prst="line">
            <a:avLst/>
          </a:prstGeom>
          <a:ln w="9525" cap="flat" cmpd="sng">
            <a:solidFill>
              <a:schemeClr val="tx1"/>
            </a:solidFill>
            <a:prstDash val="solid"/>
            <a:round/>
            <a:headEnd type="none" w="med" len="med"/>
            <a:tailEnd type="none" w="med" len="med"/>
          </a:ln>
        </p:spPr>
      </p:sp>
      <p:grpSp>
        <p:nvGrpSpPr>
          <p:cNvPr id="90246" name="Group 224"/>
          <p:cNvGrpSpPr/>
          <p:nvPr/>
        </p:nvGrpSpPr>
        <p:grpSpPr>
          <a:xfrm>
            <a:off x="5800725" y="5013325"/>
            <a:ext cx="550863" cy="793750"/>
            <a:chOff x="611" y="3693"/>
            <a:chExt cx="449" cy="287"/>
          </a:xfrm>
        </p:grpSpPr>
        <p:sp>
          <p:nvSpPr>
            <p:cNvPr id="90247"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0248" name="Group 226"/>
            <p:cNvGrpSpPr/>
            <p:nvPr/>
          </p:nvGrpSpPr>
          <p:grpSpPr>
            <a:xfrm>
              <a:off x="687" y="3826"/>
              <a:ext cx="224" cy="110"/>
              <a:chOff x="687" y="3826"/>
              <a:chExt cx="224" cy="110"/>
            </a:xfrm>
          </p:grpSpPr>
          <p:sp>
            <p:nvSpPr>
              <p:cNvPr id="90249"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50"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0251"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52"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53"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54"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55"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256" name="Text Box 234"/>
          <p:cNvSpPr txBox="1"/>
          <p:nvPr/>
        </p:nvSpPr>
        <p:spPr>
          <a:xfrm>
            <a:off x="5748338" y="5791200"/>
            <a:ext cx="812800" cy="323850"/>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S-GW</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257" name="Text Box 235"/>
          <p:cNvSpPr txBox="1"/>
          <p:nvPr/>
        </p:nvSpPr>
        <p:spPr>
          <a:xfrm>
            <a:off x="5870575" y="4956175"/>
            <a:ext cx="361950" cy="290513"/>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0258" name="Line 240"/>
          <p:cNvSpPr/>
          <p:nvPr/>
        </p:nvSpPr>
        <p:spPr>
          <a:xfrm>
            <a:off x="6330950" y="5514975"/>
            <a:ext cx="304800" cy="0"/>
          </a:xfrm>
          <a:prstGeom prst="line">
            <a:avLst/>
          </a:prstGeom>
          <a:ln w="9525" cap="flat" cmpd="sng">
            <a:solidFill>
              <a:schemeClr val="tx1"/>
            </a:solidFill>
            <a:prstDash val="solid"/>
            <a:round/>
            <a:headEnd type="none" w="med" len="med"/>
            <a:tailEnd type="none" w="med" len="med"/>
          </a:ln>
        </p:spPr>
      </p:sp>
      <p:grpSp>
        <p:nvGrpSpPr>
          <p:cNvPr id="90259" name="Group 464"/>
          <p:cNvGrpSpPr/>
          <p:nvPr/>
        </p:nvGrpSpPr>
        <p:grpSpPr>
          <a:xfrm>
            <a:off x="4684713" y="3979863"/>
            <a:ext cx="658812" cy="879475"/>
            <a:chOff x="4804140" y="4632965"/>
            <a:chExt cx="659293" cy="1348762"/>
          </a:xfrm>
        </p:grpSpPr>
        <p:grpSp>
          <p:nvGrpSpPr>
            <p:cNvPr id="90260" name="Group 109"/>
            <p:cNvGrpSpPr/>
            <p:nvPr/>
          </p:nvGrpSpPr>
          <p:grpSpPr>
            <a:xfrm>
              <a:off x="4867640" y="5188066"/>
              <a:ext cx="550863" cy="793661"/>
              <a:chOff x="611" y="3693"/>
              <a:chExt cx="449" cy="287"/>
            </a:xfrm>
          </p:grpSpPr>
          <p:sp>
            <p:nvSpPr>
              <p:cNvPr id="90261"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sp>
            <p:nvSpPr>
              <p:cNvPr id="90262"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0263"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64"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65"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0266"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0267" name="Text Box 121"/>
            <p:cNvSpPr txBox="1"/>
            <p:nvPr/>
          </p:nvSpPr>
          <p:spPr>
            <a:xfrm>
              <a:off x="4804140" y="4632965"/>
              <a:ext cx="659293" cy="5655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HSS</a:t>
              </a:r>
              <a:endParaRPr lang="en-US" altLang="zh-CN" dirty="0">
                <a:solidFill>
                  <a:srgbClr val="000000"/>
                </a:solidFill>
                <a:latin typeface="Arial" panose="020B0604020202020204" pitchFamily="34" charset="0"/>
                <a:ea typeface="MS PGothic" panose="020B0600070205080204" pitchFamily="34" charset="-128"/>
              </a:endParaRPr>
            </a:p>
          </p:txBody>
        </p:sp>
      </p:grpSp>
      <p:sp>
        <p:nvSpPr>
          <p:cNvPr id="90268" name="TextBox 11"/>
          <p:cNvSpPr txBox="1"/>
          <p:nvPr/>
        </p:nvSpPr>
        <p:spPr>
          <a:xfrm>
            <a:off x="754063" y="2274888"/>
            <a:ext cx="884237" cy="769937"/>
          </a:xfrm>
          <a:prstGeom prst="rect">
            <a:avLst/>
          </a:prstGeom>
          <a:noFill/>
          <a:ln w="9525">
            <a:noFill/>
          </a:ln>
        </p:spPr>
        <p:txBody>
          <a:bodyPr wrap="none" anchor="t" anchorCtr="0">
            <a:spAutoFit/>
          </a:bodyPr>
          <a:p>
            <a:pPr eaLnBrk="0" hangingPunct="0">
              <a:buClrTx/>
              <a:buFontTx/>
            </a:pPr>
            <a:r>
              <a:rPr lang="en-US" altLang="zh-CN" sz="4400" dirty="0">
                <a:solidFill>
                  <a:srgbClr val="000090"/>
                </a:solidFill>
                <a:latin typeface="Comic Sans MS" panose="030F0702030302020204" pitchFamily="66" charset="0"/>
                <a:ea typeface="宋体" panose="02010600030101010101" pitchFamily="2" charset="-122"/>
              </a:rPr>
              <a:t>3G</a:t>
            </a:r>
            <a:endParaRPr lang="en-US" altLang="zh-CN" sz="4400" dirty="0">
              <a:solidFill>
                <a:srgbClr val="000090"/>
              </a:solidFill>
              <a:latin typeface="Comic Sans MS" panose="030F0702030302020204" pitchFamily="66" charset="0"/>
              <a:ea typeface="宋体" panose="02010600030101010101" pitchFamily="2" charset="-122"/>
            </a:endParaRPr>
          </a:p>
        </p:txBody>
      </p:sp>
      <p:sp>
        <p:nvSpPr>
          <p:cNvPr id="90269" name="TextBox 478"/>
          <p:cNvSpPr txBox="1"/>
          <p:nvPr/>
        </p:nvSpPr>
        <p:spPr>
          <a:xfrm>
            <a:off x="782638" y="4070350"/>
            <a:ext cx="1909762" cy="769938"/>
          </a:xfrm>
          <a:prstGeom prst="rect">
            <a:avLst/>
          </a:prstGeom>
          <a:noFill/>
          <a:ln w="9525">
            <a:noFill/>
          </a:ln>
        </p:spPr>
        <p:txBody>
          <a:bodyPr wrap="none" anchor="t" anchorCtr="0">
            <a:spAutoFit/>
          </a:bodyPr>
          <a:p>
            <a:pPr eaLnBrk="0" hangingPunct="0">
              <a:buClrTx/>
              <a:buFontTx/>
            </a:pPr>
            <a:r>
              <a:rPr lang="en-US" altLang="zh-CN" sz="4400" dirty="0">
                <a:solidFill>
                  <a:srgbClr val="000090"/>
                </a:solidFill>
                <a:latin typeface="Comic Sans MS" panose="030F0702030302020204" pitchFamily="66" charset="0"/>
                <a:ea typeface="宋体" panose="02010600030101010101" pitchFamily="2" charset="-122"/>
              </a:rPr>
              <a:t>4G-LTE</a:t>
            </a:r>
            <a:endParaRPr lang="en-US" altLang="zh-CN" sz="4400" dirty="0">
              <a:solidFill>
                <a:srgbClr val="000090"/>
              </a:solidFill>
              <a:latin typeface="Comic Sans MS" panose="030F0702030302020204" pitchFamily="66" charset="0"/>
              <a:ea typeface="宋体" panose="02010600030101010101" pitchFamily="2" charset="-122"/>
            </a:endParaRPr>
          </a:p>
        </p:txBody>
      </p:sp>
      <p:grpSp>
        <p:nvGrpSpPr>
          <p:cNvPr id="90270" name="Group 347"/>
          <p:cNvGrpSpPr/>
          <p:nvPr/>
        </p:nvGrpSpPr>
        <p:grpSpPr>
          <a:xfrm>
            <a:off x="4624388" y="2876550"/>
            <a:ext cx="635000" cy="244475"/>
            <a:chOff x="1871277" y="1576300"/>
            <a:chExt cx="1128371" cy="437861"/>
          </a:xfrm>
        </p:grpSpPr>
        <p:sp>
          <p:nvSpPr>
            <p:cNvPr id="481" name="Oval 480"/>
            <p:cNvSpPr/>
            <p:nvPr/>
          </p:nvSpPr>
          <p:spPr bwMode="auto">
            <a:xfrm flipV="1">
              <a:off x="1874097" y="1695717"/>
              <a:ext cx="1125551" cy="318444"/>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82" name="Rectangle 481"/>
            <p:cNvSpPr/>
            <p:nvPr/>
          </p:nvSpPr>
          <p:spPr bwMode="auto">
            <a:xfrm>
              <a:off x="1871277" y="1738366"/>
              <a:ext cx="1128371" cy="116572"/>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83" name="Oval 482"/>
            <p:cNvSpPr/>
            <p:nvPr/>
          </p:nvSpPr>
          <p:spPr bwMode="auto">
            <a:xfrm flipV="1">
              <a:off x="1871277" y="1576300"/>
              <a:ext cx="1125549" cy="318444"/>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84" name="Freeform 483"/>
            <p:cNvSpPr/>
            <p:nvPr/>
          </p:nvSpPr>
          <p:spPr bwMode="auto">
            <a:xfrm>
              <a:off x="2159012" y="1672971"/>
              <a:ext cx="550080" cy="162066"/>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85" name="Freeform 484"/>
            <p:cNvSpPr/>
            <p:nvPr/>
          </p:nvSpPr>
          <p:spPr bwMode="auto">
            <a:xfrm>
              <a:off x="2102593" y="1633165"/>
              <a:ext cx="662917" cy="110888"/>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86" name="Freeform 485"/>
            <p:cNvSpPr/>
            <p:nvPr/>
          </p:nvSpPr>
          <p:spPr bwMode="auto">
            <a:xfrm>
              <a:off x="2537016" y="1726993"/>
              <a:ext cx="242600" cy="96671"/>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87" name="Freeform 486"/>
            <p:cNvSpPr/>
            <p:nvPr/>
          </p:nvSpPr>
          <p:spPr bwMode="auto">
            <a:xfrm>
              <a:off x="2091309" y="1729836"/>
              <a:ext cx="239778" cy="96671"/>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488" name="Straight Connector 487"/>
            <p:cNvCxnSpPr>
              <a:endCxn id="483" idx="2"/>
            </p:cNvCxnSpPr>
            <p:nvPr/>
          </p:nvCxnSpPr>
          <p:spPr bwMode="auto">
            <a:xfrm flipH="1" flipV="1">
              <a:off x="1871277" y="1738366"/>
              <a:ext cx="2820" cy="122259"/>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89" name="Straight Connector 488"/>
            <p:cNvCxnSpPr>
              <a:endCxn id="483" idx="2"/>
            </p:cNvCxnSpPr>
            <p:nvPr/>
          </p:nvCxnSpPr>
          <p:spPr bwMode="auto">
            <a:xfrm flipH="1" flipV="1">
              <a:off x="2996826" y="1735522"/>
              <a:ext cx="2822" cy="12226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0280" name="Group 347"/>
          <p:cNvGrpSpPr/>
          <p:nvPr/>
        </p:nvGrpSpPr>
        <p:grpSpPr>
          <a:xfrm>
            <a:off x="6443663" y="3267075"/>
            <a:ext cx="660400" cy="323850"/>
            <a:chOff x="1871277" y="1576300"/>
            <a:chExt cx="1128371" cy="437861"/>
          </a:xfrm>
        </p:grpSpPr>
        <p:sp>
          <p:nvSpPr>
            <p:cNvPr id="491" name="Oval 490"/>
            <p:cNvSpPr/>
            <p:nvPr/>
          </p:nvSpPr>
          <p:spPr bwMode="auto">
            <a:xfrm flipV="1">
              <a:off x="1873989" y="1694351"/>
              <a:ext cx="1125659" cy="319810"/>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92" name="Rectangle 491"/>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93" name="Oval 492"/>
            <p:cNvSpPr/>
            <p:nvPr/>
          </p:nvSpPr>
          <p:spPr bwMode="auto">
            <a:xfrm flipV="1">
              <a:off x="1871277" y="1576300"/>
              <a:ext cx="1125658" cy="31981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494" name="Freeform 493"/>
            <p:cNvSpPr/>
            <p:nvPr/>
          </p:nvSpPr>
          <p:spPr bwMode="auto">
            <a:xfrm>
              <a:off x="2158795" y="1672888"/>
              <a:ext cx="547911" cy="16097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95" name="Freeform 494"/>
            <p:cNvSpPr/>
            <p:nvPr/>
          </p:nvSpPr>
          <p:spPr bwMode="auto">
            <a:xfrm>
              <a:off x="2101833" y="1632106"/>
              <a:ext cx="664546" cy="1116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96" name="Freeform 495"/>
            <p:cNvSpPr/>
            <p:nvPr/>
          </p:nvSpPr>
          <p:spPr bwMode="auto">
            <a:xfrm>
              <a:off x="2535822" y="1728693"/>
              <a:ext cx="244119" cy="9658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97" name="Freeform 496"/>
            <p:cNvSpPr/>
            <p:nvPr/>
          </p:nvSpPr>
          <p:spPr bwMode="auto">
            <a:xfrm>
              <a:off x="2090983" y="1730839"/>
              <a:ext cx="238694" cy="9658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498" name="Straight Connector 497"/>
            <p:cNvCxnSpPr>
              <a:endCxn id="493" idx="2"/>
            </p:cNvCxnSpPr>
            <p:nvPr/>
          </p:nvCxnSpPr>
          <p:spPr bwMode="auto">
            <a:xfrm flipH="1" flipV="1">
              <a:off x="1871277" y="1737279"/>
              <a:ext cx="2712" cy="1223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99" name="Straight Connector 498"/>
            <p:cNvCxnSpPr>
              <a:endCxn id="493" idx="2"/>
            </p:cNvCxnSpPr>
            <p:nvPr/>
          </p:nvCxnSpPr>
          <p:spPr bwMode="auto">
            <a:xfrm flipH="1" flipV="1">
              <a:off x="2996935" y="1735132"/>
              <a:ext cx="2713" cy="12234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0290" name="Group 347"/>
          <p:cNvGrpSpPr/>
          <p:nvPr/>
        </p:nvGrpSpPr>
        <p:grpSpPr>
          <a:xfrm>
            <a:off x="5702300" y="5364163"/>
            <a:ext cx="661988" cy="323850"/>
            <a:chOff x="1871277" y="1576300"/>
            <a:chExt cx="1128371" cy="437861"/>
          </a:xfrm>
        </p:grpSpPr>
        <p:sp>
          <p:nvSpPr>
            <p:cNvPr id="501" name="Oval 500"/>
            <p:cNvSpPr/>
            <p:nvPr/>
          </p:nvSpPr>
          <p:spPr bwMode="auto">
            <a:xfrm flipV="1">
              <a:off x="1873984" y="1694350"/>
              <a:ext cx="1125664" cy="31981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02" name="Rectangle 501"/>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03" name="Oval 502"/>
            <p:cNvSpPr/>
            <p:nvPr/>
          </p:nvSpPr>
          <p:spPr bwMode="auto">
            <a:xfrm flipV="1">
              <a:off x="1871277" y="1576300"/>
              <a:ext cx="1125664" cy="31981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04" name="Freeform 503"/>
            <p:cNvSpPr/>
            <p:nvPr/>
          </p:nvSpPr>
          <p:spPr bwMode="auto">
            <a:xfrm>
              <a:off x="2160812" y="1672886"/>
              <a:ext cx="546597" cy="16097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05" name="Freeform 504"/>
            <p:cNvSpPr/>
            <p:nvPr/>
          </p:nvSpPr>
          <p:spPr bwMode="auto">
            <a:xfrm>
              <a:off x="2103986" y="1632106"/>
              <a:ext cx="660245" cy="1116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06" name="Freeform 505"/>
            <p:cNvSpPr/>
            <p:nvPr/>
          </p:nvSpPr>
          <p:spPr bwMode="auto">
            <a:xfrm>
              <a:off x="2536934" y="1728692"/>
              <a:ext cx="243533" cy="9658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07" name="Freeform 506"/>
            <p:cNvSpPr/>
            <p:nvPr/>
          </p:nvSpPr>
          <p:spPr bwMode="auto">
            <a:xfrm>
              <a:off x="2090458" y="1730839"/>
              <a:ext cx="240826" cy="9658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508" name="Straight Connector 507"/>
            <p:cNvCxnSpPr>
              <a:endCxn id="503" idx="2"/>
            </p:cNvCxnSpPr>
            <p:nvPr/>
          </p:nvCxnSpPr>
          <p:spPr bwMode="auto">
            <a:xfrm flipH="1" flipV="1">
              <a:off x="1871277" y="1737278"/>
              <a:ext cx="2707" cy="12234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09" name="Straight Connector 508"/>
            <p:cNvCxnSpPr>
              <a:endCxn id="503" idx="2"/>
            </p:cNvCxnSpPr>
            <p:nvPr/>
          </p:nvCxnSpPr>
          <p:spPr bwMode="auto">
            <a:xfrm flipH="1" flipV="1">
              <a:off x="2996941" y="1735132"/>
              <a:ext cx="2707" cy="1223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0300" name="Group 347"/>
          <p:cNvGrpSpPr/>
          <p:nvPr/>
        </p:nvGrpSpPr>
        <p:grpSpPr>
          <a:xfrm>
            <a:off x="6489700" y="5378450"/>
            <a:ext cx="661988" cy="323850"/>
            <a:chOff x="1871277" y="1576300"/>
            <a:chExt cx="1128371" cy="437861"/>
          </a:xfrm>
        </p:grpSpPr>
        <p:sp>
          <p:nvSpPr>
            <p:cNvPr id="511" name="Oval 510"/>
            <p:cNvSpPr/>
            <p:nvPr/>
          </p:nvSpPr>
          <p:spPr bwMode="auto">
            <a:xfrm flipV="1">
              <a:off x="1873984" y="1694351"/>
              <a:ext cx="1125664" cy="319810"/>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12" name="Rectangle 511"/>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13" name="Oval 512"/>
            <p:cNvSpPr/>
            <p:nvPr/>
          </p:nvSpPr>
          <p:spPr bwMode="auto">
            <a:xfrm flipV="1">
              <a:off x="1871277" y="1576300"/>
              <a:ext cx="1125664" cy="319811"/>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514" name="Freeform 513"/>
            <p:cNvSpPr/>
            <p:nvPr/>
          </p:nvSpPr>
          <p:spPr bwMode="auto">
            <a:xfrm>
              <a:off x="2160812" y="1672888"/>
              <a:ext cx="546597" cy="16097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15" name="Freeform 514"/>
            <p:cNvSpPr/>
            <p:nvPr/>
          </p:nvSpPr>
          <p:spPr bwMode="auto">
            <a:xfrm>
              <a:off x="2103986" y="1632106"/>
              <a:ext cx="660245" cy="1116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16" name="Freeform 515"/>
            <p:cNvSpPr/>
            <p:nvPr/>
          </p:nvSpPr>
          <p:spPr bwMode="auto">
            <a:xfrm>
              <a:off x="2536934" y="1728693"/>
              <a:ext cx="243533" cy="9658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517" name="Freeform 516"/>
            <p:cNvSpPr/>
            <p:nvPr/>
          </p:nvSpPr>
          <p:spPr bwMode="auto">
            <a:xfrm>
              <a:off x="2090458" y="1730839"/>
              <a:ext cx="240826" cy="9658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518" name="Straight Connector 517"/>
            <p:cNvCxnSpPr>
              <a:endCxn id="513" idx="2"/>
            </p:cNvCxnSpPr>
            <p:nvPr/>
          </p:nvCxnSpPr>
          <p:spPr bwMode="auto">
            <a:xfrm flipH="1" flipV="1">
              <a:off x="1871277" y="1737279"/>
              <a:ext cx="2707" cy="1223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19" name="Straight Connector 518"/>
            <p:cNvCxnSpPr>
              <a:endCxn id="513" idx="2"/>
            </p:cNvCxnSpPr>
            <p:nvPr/>
          </p:nvCxnSpPr>
          <p:spPr bwMode="auto">
            <a:xfrm flipH="1" flipV="1">
              <a:off x="2996941" y="1735132"/>
              <a:ext cx="2707" cy="12234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sp>
        <p:nvSpPr>
          <p:cNvPr id="90310" name="Slide Number Placeholder 5"/>
          <p:cNvSpPr>
            <a:spLocks noGrp="1"/>
          </p:cNvSpPr>
          <p:nvPr>
            <p:ph type="sldNum" sz="quarter" idx="12"/>
          </p:nvPr>
        </p:nvSpPr>
        <p:spPr>
          <a:xfrm>
            <a:off x="8456613" y="6523038"/>
            <a:ext cx="687387" cy="271462"/>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latin typeface="Tahoma" panose="020B0604030504040204" pitchFamily="34" charset="0"/>
                <a:ea typeface="MS PGothic" panose="020B0600070205080204" pitchFamily="34" charset="-128"/>
              </a:rPr>
              <a:t>7-</a:t>
            </a:r>
            <a:fld id="{9A0DB2DC-4C9A-4742-B13C-FB6460FD3503}" type="slidenum">
              <a:rPr lang="en-US" altLang="zh-CN" sz="1200" dirty="0">
                <a:latin typeface="Tahoma" panose="020B0604030504040204" pitchFamily="34" charset="0"/>
                <a:ea typeface="MS PGothic" panose="020B0600070205080204" pitchFamily="34" charset="-128"/>
              </a:rPr>
            </a:fld>
            <a:endParaRPr lang="en-US" altLang="zh-CN" sz="1200" dirty="0">
              <a:latin typeface="Tahoma" panose="020B0604030504040204" pitchFamily="34" charset="0"/>
              <a:ea typeface="MS PGothic" panose="020B0600070205080204" pitchFamily="34" charset="-128"/>
            </a:endParaRPr>
          </a:p>
        </p:txBody>
      </p:sp>
      <p:sp>
        <p:nvSpPr>
          <p:cNvPr id="90311" name="Footer Placeholder 2"/>
          <p:cNvSpPr>
            <a:spLocks noGrp="1"/>
          </p:cNvSpPr>
          <p:nvPr>
            <p:ph type="ftr" sz="quarter" idx="11"/>
          </p:nvPr>
        </p:nvSpPr>
        <p:spPr>
          <a:xfrm>
            <a:off x="5854700" y="6508750"/>
            <a:ext cx="2698750" cy="2540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solidFill>
                  <a:srgbClr val="000000"/>
                </a:solidFill>
                <a:latin typeface="Tahoma" panose="020B0604030504040204" pitchFamily="34" charset="0"/>
                <a:ea typeface="MS PGothic" panose="020B0600070205080204" pitchFamily="34" charset="-128"/>
              </a:rPr>
              <a:t>Wireless and Mobile Networks </a:t>
            </a:r>
            <a:endParaRPr lang="en-US" altLang="zh-CN" sz="1200" dirty="0">
              <a:solidFill>
                <a:srgbClr val="000000"/>
              </a:solidFill>
              <a:latin typeface="Tahoma" panose="020B0604030504040204" pitchFamily="34" charset="0"/>
              <a:ea typeface="MS PGothic" panose="020B0600070205080204" pitchFamily="34" charset="-128"/>
            </a:endParaRPr>
          </a:p>
        </p:txBody>
      </p:sp>
      <p:grpSp>
        <p:nvGrpSpPr>
          <p:cNvPr id="90312" name="Group 1"/>
          <p:cNvGrpSpPr/>
          <p:nvPr/>
        </p:nvGrpSpPr>
        <p:grpSpPr>
          <a:xfrm>
            <a:off x="1806575" y="1249363"/>
            <a:ext cx="946150" cy="1185862"/>
            <a:chOff x="1733705" y="1468331"/>
            <a:chExt cx="978816" cy="1263746"/>
          </a:xfrm>
        </p:grpSpPr>
        <p:grpSp>
          <p:nvGrpSpPr>
            <p:cNvPr id="90313" name="Group 782"/>
            <p:cNvGrpSpPr/>
            <p:nvPr/>
          </p:nvGrpSpPr>
          <p:grpSpPr>
            <a:xfrm>
              <a:off x="1786131" y="1468331"/>
              <a:ext cx="436609" cy="542257"/>
              <a:chOff x="742" y="2409"/>
              <a:chExt cx="576" cy="881"/>
            </a:xfrm>
          </p:grpSpPr>
          <p:grpSp>
            <p:nvGrpSpPr>
              <p:cNvPr id="90314" name="Group 783"/>
              <p:cNvGrpSpPr/>
              <p:nvPr/>
            </p:nvGrpSpPr>
            <p:grpSpPr>
              <a:xfrm>
                <a:off x="832" y="2643"/>
                <a:ext cx="376" cy="647"/>
                <a:chOff x="3130" y="3288"/>
                <a:chExt cx="410" cy="742"/>
              </a:xfrm>
            </p:grpSpPr>
            <p:sp>
              <p:nvSpPr>
                <p:cNvPr id="90315"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316"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317"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318"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319"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320"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321"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322"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323"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324"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325"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326"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327"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328"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329"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330"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331"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0332" name="Group 782"/>
            <p:cNvGrpSpPr/>
            <p:nvPr/>
          </p:nvGrpSpPr>
          <p:grpSpPr>
            <a:xfrm>
              <a:off x="2275912" y="1898524"/>
              <a:ext cx="436609" cy="542257"/>
              <a:chOff x="742" y="2409"/>
              <a:chExt cx="576" cy="881"/>
            </a:xfrm>
          </p:grpSpPr>
          <p:grpSp>
            <p:nvGrpSpPr>
              <p:cNvPr id="90333" name="Group 783"/>
              <p:cNvGrpSpPr/>
              <p:nvPr/>
            </p:nvGrpSpPr>
            <p:grpSpPr>
              <a:xfrm>
                <a:off x="832" y="2643"/>
                <a:ext cx="376" cy="647"/>
                <a:chOff x="3130" y="3288"/>
                <a:chExt cx="410" cy="742"/>
              </a:xfrm>
            </p:grpSpPr>
            <p:sp>
              <p:nvSpPr>
                <p:cNvPr id="90334"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335"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336"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337"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338"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339"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340"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341"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342"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343"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344"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345"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346"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347"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348"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349"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350"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0351" name="Group 782"/>
            <p:cNvGrpSpPr/>
            <p:nvPr/>
          </p:nvGrpSpPr>
          <p:grpSpPr>
            <a:xfrm>
              <a:off x="1733705" y="2189820"/>
              <a:ext cx="436609" cy="542257"/>
              <a:chOff x="742" y="2409"/>
              <a:chExt cx="576" cy="881"/>
            </a:xfrm>
          </p:grpSpPr>
          <p:grpSp>
            <p:nvGrpSpPr>
              <p:cNvPr id="90352" name="Group 783"/>
              <p:cNvGrpSpPr/>
              <p:nvPr/>
            </p:nvGrpSpPr>
            <p:grpSpPr>
              <a:xfrm>
                <a:off x="832" y="2643"/>
                <a:ext cx="376" cy="647"/>
                <a:chOff x="3130" y="3288"/>
                <a:chExt cx="410" cy="742"/>
              </a:xfrm>
            </p:grpSpPr>
            <p:sp>
              <p:nvSpPr>
                <p:cNvPr id="90353"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354"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355"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356"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357"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358"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359"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360"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361"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362"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363"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364"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365"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366"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367"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368"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369"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grpSp>
        <p:nvGrpSpPr>
          <p:cNvPr id="90370" name="Group 578"/>
          <p:cNvGrpSpPr/>
          <p:nvPr/>
        </p:nvGrpSpPr>
        <p:grpSpPr>
          <a:xfrm>
            <a:off x="1911350" y="4775200"/>
            <a:ext cx="946150" cy="1184275"/>
            <a:chOff x="1733705" y="1468331"/>
            <a:chExt cx="978816" cy="1263746"/>
          </a:xfrm>
        </p:grpSpPr>
        <p:grpSp>
          <p:nvGrpSpPr>
            <p:cNvPr id="90371" name="Group 782"/>
            <p:cNvGrpSpPr/>
            <p:nvPr/>
          </p:nvGrpSpPr>
          <p:grpSpPr>
            <a:xfrm>
              <a:off x="1786131" y="1468331"/>
              <a:ext cx="436609" cy="542257"/>
              <a:chOff x="742" y="2409"/>
              <a:chExt cx="576" cy="881"/>
            </a:xfrm>
          </p:grpSpPr>
          <p:grpSp>
            <p:nvGrpSpPr>
              <p:cNvPr id="90372" name="Group 783"/>
              <p:cNvGrpSpPr/>
              <p:nvPr/>
            </p:nvGrpSpPr>
            <p:grpSpPr>
              <a:xfrm>
                <a:off x="832" y="2643"/>
                <a:ext cx="376" cy="647"/>
                <a:chOff x="3130" y="3288"/>
                <a:chExt cx="410" cy="742"/>
              </a:xfrm>
            </p:grpSpPr>
            <p:sp>
              <p:nvSpPr>
                <p:cNvPr id="90373"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374"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375"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376"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377"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378"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379"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380"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381"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382"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383"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384"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385"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386"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387"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388"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389"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0390" name="Group 782"/>
            <p:cNvGrpSpPr/>
            <p:nvPr/>
          </p:nvGrpSpPr>
          <p:grpSpPr>
            <a:xfrm>
              <a:off x="2275912" y="1898524"/>
              <a:ext cx="436609" cy="542257"/>
              <a:chOff x="742" y="2409"/>
              <a:chExt cx="576" cy="881"/>
            </a:xfrm>
          </p:grpSpPr>
          <p:grpSp>
            <p:nvGrpSpPr>
              <p:cNvPr id="90391" name="Group 783"/>
              <p:cNvGrpSpPr/>
              <p:nvPr/>
            </p:nvGrpSpPr>
            <p:grpSpPr>
              <a:xfrm>
                <a:off x="832" y="2643"/>
                <a:ext cx="376" cy="647"/>
                <a:chOff x="3130" y="3288"/>
                <a:chExt cx="410" cy="742"/>
              </a:xfrm>
            </p:grpSpPr>
            <p:sp>
              <p:nvSpPr>
                <p:cNvPr id="90392"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393"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394"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395"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396"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397"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398"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399"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400"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401"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402"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403"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404"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405"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406"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407"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408"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0409" name="Group 782"/>
            <p:cNvGrpSpPr/>
            <p:nvPr/>
          </p:nvGrpSpPr>
          <p:grpSpPr>
            <a:xfrm>
              <a:off x="1733705" y="2189820"/>
              <a:ext cx="436609" cy="542257"/>
              <a:chOff x="742" y="2409"/>
              <a:chExt cx="576" cy="881"/>
            </a:xfrm>
          </p:grpSpPr>
          <p:grpSp>
            <p:nvGrpSpPr>
              <p:cNvPr id="90410" name="Group 783"/>
              <p:cNvGrpSpPr/>
              <p:nvPr/>
            </p:nvGrpSpPr>
            <p:grpSpPr>
              <a:xfrm>
                <a:off x="832" y="2643"/>
                <a:ext cx="376" cy="647"/>
                <a:chOff x="3130" y="3288"/>
                <a:chExt cx="410" cy="742"/>
              </a:xfrm>
            </p:grpSpPr>
            <p:sp>
              <p:nvSpPr>
                <p:cNvPr id="90411"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0412"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0413"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0414"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0415"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0416"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0417"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0418"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0419"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0420"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0421"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0422"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0423"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0424"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0425"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0426"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0427"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p:nvPr/>
        </p:nvSpPr>
        <p:spPr>
          <a:xfrm>
            <a:off x="331788" y="230188"/>
            <a:ext cx="5176837" cy="708025"/>
          </a:xfrm>
          <a:prstGeom prst="rect">
            <a:avLst/>
          </a:prstGeom>
          <a:noFill/>
          <a:ln w="9525">
            <a:noFill/>
          </a:ln>
        </p:spPr>
        <p:txBody>
          <a:bodyPr wrap="none" anchor="t" anchorCtr="0">
            <a:spAutoFit/>
          </a:bodyPr>
          <a:p>
            <a:pPr eaLnBrk="0" hangingPunct="0">
              <a:buClrTx/>
              <a:buFontTx/>
            </a:pPr>
            <a:r>
              <a:rPr lang="en-US" altLang="zh-CN" sz="4000" dirty="0">
                <a:solidFill>
                  <a:srgbClr val="000099"/>
                </a:solidFill>
                <a:latin typeface="Gill Sans MT" panose="020B0502020104020203" pitchFamily="34" charset="0"/>
                <a:ea typeface="MS PGothic" panose="020B0600070205080204" pitchFamily="34" charset="-128"/>
              </a:rPr>
              <a:t>4G: differences from 3G</a:t>
            </a:r>
            <a:endParaRPr lang="en-US" altLang="zh-CN" sz="4000" dirty="0">
              <a:solidFill>
                <a:srgbClr val="000099"/>
              </a:solidFill>
              <a:latin typeface="Gill Sans MT" panose="020B0502020104020203" pitchFamily="34" charset="0"/>
              <a:ea typeface="MS PGothic" panose="020B0600070205080204" pitchFamily="34" charset="-128"/>
            </a:endParaRPr>
          </a:p>
        </p:txBody>
      </p:sp>
      <p:pic>
        <p:nvPicPr>
          <p:cNvPr id="91138" name="Picture 6" descr="underline_base"/>
          <p:cNvPicPr>
            <a:picLocks noChangeAspect="1"/>
          </p:cNvPicPr>
          <p:nvPr/>
        </p:nvPicPr>
        <p:blipFill>
          <a:blip r:embed="rId1"/>
          <a:stretch>
            <a:fillRect/>
          </a:stretch>
        </p:blipFill>
        <p:spPr>
          <a:xfrm>
            <a:off x="398463" y="812800"/>
            <a:ext cx="5170487" cy="188913"/>
          </a:xfrm>
          <a:prstGeom prst="rect">
            <a:avLst/>
          </a:prstGeom>
          <a:noFill/>
          <a:ln w="9525">
            <a:noFill/>
          </a:ln>
        </p:spPr>
      </p:pic>
      <p:sp>
        <p:nvSpPr>
          <p:cNvPr id="91139" name="Content Placeholder 2"/>
          <p:cNvSpPr>
            <a:spLocks noGrp="1"/>
          </p:cNvSpPr>
          <p:nvPr>
            <p:ph idx="1"/>
          </p:nvPr>
        </p:nvSpPr>
        <p:spPr>
          <a:xfrm>
            <a:off x="533400" y="1284288"/>
            <a:ext cx="7772400" cy="4648200"/>
          </a:xfrm>
          <a:ln/>
        </p:spPr>
        <p:txBody>
          <a:bodyPr vert="horz" wrap="square" lIns="91440" tIns="45720" rIns="91440" bIns="45720" anchor="t" anchorCtr="0"/>
          <a:p>
            <a:pPr marL="238125" indent="-238125"/>
            <a:r>
              <a:rPr lang="en-US" altLang="zh-CN" sz="2400" dirty="0">
                <a:ea typeface="宋体" panose="02010600030101010101" pitchFamily="2" charset="-122"/>
              </a:rPr>
              <a:t>all IP core: IP packets tunneled (through core IP network) from base station to gateway</a:t>
            </a:r>
            <a:endParaRPr lang="en-US" altLang="zh-CN" sz="2400" dirty="0">
              <a:ea typeface="宋体" panose="02010600030101010101" pitchFamily="2" charset="-122"/>
            </a:endParaRPr>
          </a:p>
          <a:p>
            <a:pPr marL="238125" indent="-238125"/>
            <a:r>
              <a:rPr lang="en-US" altLang="zh-CN" sz="2400" dirty="0">
                <a:ea typeface="宋体" panose="02010600030101010101" pitchFamily="2" charset="-122"/>
              </a:rPr>
              <a:t>no separation between voice and data – all traffic carried over IP core to gateway</a:t>
            </a:r>
            <a:endParaRPr lang="en-US" altLang="zh-CN" sz="2400" dirty="0">
              <a:ea typeface="宋体" panose="02010600030101010101" pitchFamily="2" charset="-122"/>
            </a:endParaRPr>
          </a:p>
        </p:txBody>
      </p:sp>
      <p:grpSp>
        <p:nvGrpSpPr>
          <p:cNvPr id="91140" name="Group 486"/>
          <p:cNvGrpSpPr/>
          <p:nvPr/>
        </p:nvGrpSpPr>
        <p:grpSpPr>
          <a:xfrm>
            <a:off x="554038" y="5926138"/>
            <a:ext cx="5413375" cy="708025"/>
            <a:chOff x="1495425" y="5249771"/>
            <a:chExt cx="5413375" cy="708025"/>
          </a:xfrm>
        </p:grpSpPr>
        <p:cxnSp>
          <p:nvCxnSpPr>
            <p:cNvPr id="664" name="Straight Connector 663"/>
            <p:cNvCxnSpPr/>
            <p:nvPr/>
          </p:nvCxnSpPr>
          <p:spPr>
            <a:xfrm>
              <a:off x="3943350" y="5386296"/>
              <a:ext cx="0"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5" name="Straight Connector 664"/>
            <p:cNvCxnSpPr/>
            <p:nvPr/>
          </p:nvCxnSpPr>
          <p:spPr>
            <a:xfrm>
              <a:off x="1495425" y="5624421"/>
              <a:ext cx="2463800" cy="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143" name="TextBox 258"/>
            <p:cNvSpPr txBox="1"/>
            <p:nvPr/>
          </p:nvSpPr>
          <p:spPr>
            <a:xfrm>
              <a:off x="1660768" y="5249771"/>
              <a:ext cx="2111375" cy="708025"/>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radio access network</a:t>
              </a:r>
              <a:endParaRPr lang="en-US" altLang="zh-CN" sz="16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200" dirty="0">
                  <a:solidFill>
                    <a:srgbClr val="000000"/>
                  </a:solidFill>
                  <a:latin typeface="Arial" panose="020B0604020202020204" pitchFamily="34" charset="0"/>
                  <a:ea typeface="MS PGothic" panose="020B0600070205080204" pitchFamily="34" charset="-128"/>
                </a:rPr>
                <a:t>Universal Terrestrial Radio </a:t>
              </a:r>
              <a:endParaRPr lang="en-US" altLang="zh-CN" sz="12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200" dirty="0">
                  <a:solidFill>
                    <a:srgbClr val="000000"/>
                  </a:solidFill>
                  <a:latin typeface="Arial" panose="020B0604020202020204" pitchFamily="34" charset="0"/>
                  <a:ea typeface="MS PGothic" panose="020B0600070205080204" pitchFamily="34" charset="-128"/>
                </a:rPr>
                <a:t>Access Network (UTRAN)</a:t>
              </a:r>
              <a:endParaRPr lang="en-US" altLang="zh-CN" sz="1200" dirty="0">
                <a:solidFill>
                  <a:srgbClr val="000000"/>
                </a:solidFill>
                <a:latin typeface="Arial" panose="020B0604020202020204" pitchFamily="34" charset="0"/>
                <a:ea typeface="MS PGothic" panose="020B0600070205080204" pitchFamily="34" charset="-128"/>
              </a:endParaRPr>
            </a:p>
          </p:txBody>
        </p:sp>
        <p:cxnSp>
          <p:nvCxnSpPr>
            <p:cNvPr id="667" name="Straight Connector 666"/>
            <p:cNvCxnSpPr/>
            <p:nvPr/>
          </p:nvCxnSpPr>
          <p:spPr>
            <a:xfrm flipH="1">
              <a:off x="1512887" y="5279933"/>
              <a:ext cx="6350" cy="609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8" name="Straight Connector 667"/>
            <p:cNvCxnSpPr/>
            <p:nvPr/>
          </p:nvCxnSpPr>
          <p:spPr>
            <a:xfrm>
              <a:off x="4705350" y="5624421"/>
              <a:ext cx="2203450" cy="0"/>
            </a:xfrm>
            <a:prstGeom prst="line">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146" name="TextBox 261"/>
            <p:cNvSpPr txBox="1"/>
            <p:nvPr/>
          </p:nvSpPr>
          <p:spPr>
            <a:xfrm>
              <a:off x="4360526" y="5310625"/>
              <a:ext cx="2146241" cy="584776"/>
            </a:xfrm>
            <a:prstGeom prst="rect">
              <a:avLst/>
            </a:prstGeom>
            <a:solidFill>
              <a:schemeClr val="bg1"/>
            </a:solidFill>
            <a:ln w="9525">
              <a:noFill/>
            </a:ln>
          </p:spPr>
          <p:txBody>
            <a:bodyPr wrap="none" anchor="t" anchorCtr="0">
              <a:spAutoFit/>
            </a:bodyPr>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Evolved Packet Core</a:t>
              </a:r>
              <a:endParaRPr lang="en-US" altLang="zh-CN" sz="1600" dirty="0">
                <a:solidFill>
                  <a:srgbClr val="000000"/>
                </a:solidFill>
                <a:latin typeface="Arial" panose="020B0604020202020204" pitchFamily="34" charset="0"/>
                <a:ea typeface="MS PGothic" panose="020B0600070205080204" pitchFamily="34" charset="-128"/>
              </a:endParaRPr>
            </a:p>
            <a:p>
              <a:pPr algn="ct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(EPC)</a:t>
              </a:r>
              <a:endParaRPr lang="en-US" altLang="zh-CN" sz="1200" dirty="0">
                <a:solidFill>
                  <a:srgbClr val="000000"/>
                </a:solidFill>
                <a:latin typeface="Arial" panose="020B0604020202020204" pitchFamily="34" charset="0"/>
                <a:ea typeface="MS PGothic" panose="020B0600070205080204" pitchFamily="34" charset="-128"/>
              </a:endParaRPr>
            </a:p>
          </p:txBody>
        </p:sp>
        <p:cxnSp>
          <p:nvCxnSpPr>
            <p:cNvPr id="670" name="Straight Connector 669"/>
            <p:cNvCxnSpPr/>
            <p:nvPr/>
          </p:nvCxnSpPr>
          <p:spPr>
            <a:xfrm>
              <a:off x="6908800" y="5348196"/>
              <a:ext cx="0" cy="4968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1" name="Straight Arrow Connector 670"/>
            <p:cNvCxnSpPr/>
            <p:nvPr/>
          </p:nvCxnSpPr>
          <p:spPr>
            <a:xfrm flipH="1">
              <a:off x="3932237" y="5624421"/>
              <a:ext cx="592138" cy="0"/>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91149" name="Line 96"/>
          <p:cNvSpPr/>
          <p:nvPr/>
        </p:nvSpPr>
        <p:spPr>
          <a:xfrm flipV="1">
            <a:off x="2359025" y="5580063"/>
            <a:ext cx="3463925" cy="258762"/>
          </a:xfrm>
          <a:prstGeom prst="line">
            <a:avLst/>
          </a:prstGeom>
          <a:ln w="9525" cap="flat" cmpd="sng">
            <a:solidFill>
              <a:schemeClr val="tx1"/>
            </a:solidFill>
            <a:prstDash val="solid"/>
            <a:round/>
            <a:headEnd type="none" w="med" len="med"/>
            <a:tailEnd type="none" w="med" len="med"/>
          </a:ln>
        </p:spPr>
      </p:sp>
      <p:sp>
        <p:nvSpPr>
          <p:cNvPr id="91150" name="Line 97"/>
          <p:cNvSpPr/>
          <p:nvPr/>
        </p:nvSpPr>
        <p:spPr>
          <a:xfrm>
            <a:off x="2800350" y="5500688"/>
            <a:ext cx="2965450" cy="33337"/>
          </a:xfrm>
          <a:prstGeom prst="line">
            <a:avLst/>
          </a:prstGeom>
          <a:ln w="9525" cap="flat" cmpd="sng">
            <a:solidFill>
              <a:schemeClr val="tx1"/>
            </a:solidFill>
            <a:prstDash val="solid"/>
            <a:round/>
            <a:headEnd type="none" w="med" len="med"/>
            <a:tailEnd type="none" w="med" len="med"/>
          </a:ln>
        </p:spPr>
      </p:sp>
      <p:sp>
        <p:nvSpPr>
          <p:cNvPr id="91151" name="Line 98"/>
          <p:cNvSpPr/>
          <p:nvPr/>
        </p:nvSpPr>
        <p:spPr>
          <a:xfrm>
            <a:off x="2387600" y="5208588"/>
            <a:ext cx="3411538" cy="280987"/>
          </a:xfrm>
          <a:prstGeom prst="line">
            <a:avLst/>
          </a:prstGeom>
          <a:ln w="9525" cap="flat" cmpd="sng">
            <a:solidFill>
              <a:schemeClr val="tx1"/>
            </a:solidFill>
            <a:prstDash val="solid"/>
            <a:round/>
            <a:headEnd type="none" w="med" len="med"/>
            <a:tailEnd type="none" w="med" len="med"/>
          </a:ln>
        </p:spPr>
      </p:sp>
      <p:pic>
        <p:nvPicPr>
          <p:cNvPr id="91152" name="Picture 122" descr="imgyjavg[1]"/>
          <p:cNvPicPr>
            <a:picLocks noChangeAspect="1"/>
          </p:cNvPicPr>
          <p:nvPr/>
        </p:nvPicPr>
        <p:blipFill>
          <a:blip r:embed="rId2"/>
          <a:stretch>
            <a:fillRect/>
          </a:stretch>
        </p:blipFill>
        <p:spPr>
          <a:xfrm>
            <a:off x="946150" y="5064125"/>
            <a:ext cx="252413" cy="144463"/>
          </a:xfrm>
          <a:prstGeom prst="rect">
            <a:avLst/>
          </a:prstGeom>
          <a:noFill/>
          <a:ln w="9525">
            <a:noFill/>
          </a:ln>
        </p:spPr>
      </p:pic>
      <p:grpSp>
        <p:nvGrpSpPr>
          <p:cNvPr id="91153" name="Group 123"/>
          <p:cNvGrpSpPr/>
          <p:nvPr/>
        </p:nvGrpSpPr>
        <p:grpSpPr>
          <a:xfrm>
            <a:off x="569913" y="5384800"/>
            <a:ext cx="831850" cy="144463"/>
            <a:chOff x="3072" y="739"/>
            <a:chExt cx="652" cy="146"/>
          </a:xfrm>
        </p:grpSpPr>
        <p:pic>
          <p:nvPicPr>
            <p:cNvPr id="91154" name="Picture 124" descr="lgv_fqmg[1]"/>
            <p:cNvPicPr>
              <a:picLocks noChangeAspect="1"/>
            </p:cNvPicPr>
            <p:nvPr/>
          </p:nvPicPr>
          <p:blipFill>
            <a:blip r:embed="rId3"/>
            <a:stretch>
              <a:fillRect/>
            </a:stretch>
          </p:blipFill>
          <p:spPr>
            <a:xfrm flipH="1">
              <a:off x="3237" y="739"/>
              <a:ext cx="487" cy="146"/>
            </a:xfrm>
            <a:prstGeom prst="rect">
              <a:avLst/>
            </a:prstGeom>
            <a:noFill/>
            <a:ln w="9525">
              <a:noFill/>
            </a:ln>
          </p:spPr>
        </p:pic>
        <p:sp>
          <p:nvSpPr>
            <p:cNvPr id="91155" name="Line 125"/>
            <p:cNvSpPr/>
            <p:nvPr/>
          </p:nvSpPr>
          <p:spPr>
            <a:xfrm flipH="1">
              <a:off x="3104" y="784"/>
              <a:ext cx="87" cy="0"/>
            </a:xfrm>
            <a:prstGeom prst="line">
              <a:avLst/>
            </a:prstGeom>
            <a:ln w="9525" cap="flat" cmpd="sng">
              <a:solidFill>
                <a:schemeClr val="tx1"/>
              </a:solidFill>
              <a:prstDash val="solid"/>
              <a:round/>
              <a:headEnd type="none" w="med" len="med"/>
              <a:tailEnd type="none" w="med" len="med"/>
            </a:ln>
          </p:spPr>
        </p:sp>
        <p:sp>
          <p:nvSpPr>
            <p:cNvPr id="91156" name="Line 126"/>
            <p:cNvSpPr/>
            <p:nvPr/>
          </p:nvSpPr>
          <p:spPr>
            <a:xfrm flipH="1">
              <a:off x="3072" y="759"/>
              <a:ext cx="144" cy="0"/>
            </a:xfrm>
            <a:prstGeom prst="line">
              <a:avLst/>
            </a:prstGeom>
            <a:ln w="9525" cap="flat" cmpd="sng">
              <a:solidFill>
                <a:schemeClr val="tx1"/>
              </a:solidFill>
              <a:prstDash val="solid"/>
              <a:round/>
              <a:headEnd type="none" w="med" len="med"/>
              <a:tailEnd type="none" w="med" len="med"/>
            </a:ln>
          </p:spPr>
        </p:sp>
      </p:grpSp>
      <p:pic>
        <p:nvPicPr>
          <p:cNvPr id="91157" name="Picture 128" descr="imgyjavg[1]"/>
          <p:cNvPicPr>
            <a:picLocks noChangeAspect="1"/>
          </p:cNvPicPr>
          <p:nvPr/>
        </p:nvPicPr>
        <p:blipFill>
          <a:blip r:embed="rId2"/>
          <a:stretch>
            <a:fillRect/>
          </a:stretch>
        </p:blipFill>
        <p:spPr>
          <a:xfrm>
            <a:off x="847725" y="5649913"/>
            <a:ext cx="252413" cy="144462"/>
          </a:xfrm>
          <a:prstGeom prst="rect">
            <a:avLst/>
          </a:prstGeom>
          <a:noFill/>
          <a:ln w="9525">
            <a:noFill/>
          </a:ln>
        </p:spPr>
      </p:pic>
      <p:sp>
        <p:nvSpPr>
          <p:cNvPr id="91158" name="Freeform 222"/>
          <p:cNvSpPr/>
          <p:nvPr/>
        </p:nvSpPr>
        <p:spPr>
          <a:xfrm>
            <a:off x="7486650" y="4837113"/>
            <a:ext cx="1235075" cy="133191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91159" name="Text Box 223"/>
          <p:cNvSpPr txBox="1"/>
          <p:nvPr/>
        </p:nvSpPr>
        <p:spPr>
          <a:xfrm>
            <a:off x="7594600" y="5108575"/>
            <a:ext cx="882650" cy="463550"/>
          </a:xfrm>
          <a:prstGeom prst="rect">
            <a:avLst/>
          </a:prstGeom>
          <a:noFill/>
          <a:ln w="9525">
            <a:noFill/>
          </a:ln>
        </p:spPr>
        <p:txBody>
          <a:bodyPr wrap="none" anchor="t" anchorCtr="0">
            <a:spAutoFit/>
          </a:bodyPr>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Public </a:t>
            </a:r>
            <a:endParaRPr lang="en-US" altLang="zh-CN" sz="1600" dirty="0">
              <a:solidFill>
                <a:srgbClr val="000000"/>
              </a:solidFill>
              <a:latin typeface="Arial" panose="020B0604020202020204" pitchFamily="34" charset="0"/>
              <a:ea typeface="MS PGothic" panose="020B0600070205080204" pitchFamily="34" charset="-128"/>
            </a:endParaRPr>
          </a:p>
          <a:p>
            <a:pPr eaLnBrk="0" hangingPunct="0">
              <a:buClrTx/>
              <a:buFontTx/>
            </a:pPr>
            <a:r>
              <a:rPr lang="en-US" altLang="zh-CN" sz="1600" dirty="0">
                <a:solidFill>
                  <a:srgbClr val="000000"/>
                </a:solidFill>
                <a:latin typeface="Arial" panose="020B0604020202020204" pitchFamily="34" charset="0"/>
                <a:ea typeface="MS PGothic" panose="020B0600070205080204" pitchFamily="34" charset="-128"/>
              </a:rPr>
              <a:t>Internet</a:t>
            </a:r>
            <a:endParaRPr lang="en-US" altLang="zh-CN" sz="1600" dirty="0">
              <a:solidFill>
                <a:srgbClr val="000000"/>
              </a:solidFill>
              <a:latin typeface="Arial" panose="020B0604020202020204" pitchFamily="34" charset="0"/>
              <a:ea typeface="MS PGothic" panose="020B0600070205080204" pitchFamily="34" charset="-128"/>
            </a:endParaRPr>
          </a:p>
        </p:txBody>
      </p:sp>
      <p:grpSp>
        <p:nvGrpSpPr>
          <p:cNvPr id="91160" name="Group 224"/>
          <p:cNvGrpSpPr/>
          <p:nvPr/>
        </p:nvGrpSpPr>
        <p:grpSpPr>
          <a:xfrm>
            <a:off x="6721475" y="5003800"/>
            <a:ext cx="550863" cy="793750"/>
            <a:chOff x="611" y="3693"/>
            <a:chExt cx="449" cy="287"/>
          </a:xfrm>
        </p:grpSpPr>
        <p:sp>
          <p:nvSpPr>
            <p:cNvPr id="91161"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1162" name="Group 226"/>
            <p:cNvGrpSpPr/>
            <p:nvPr/>
          </p:nvGrpSpPr>
          <p:grpSpPr>
            <a:xfrm>
              <a:off x="687" y="3826"/>
              <a:ext cx="224" cy="110"/>
              <a:chOff x="687" y="3826"/>
              <a:chExt cx="224" cy="110"/>
            </a:xfrm>
          </p:grpSpPr>
          <p:sp>
            <p:nvSpPr>
              <p:cNvPr id="91163"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164"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1165"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166"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67"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68"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69"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1170" name="Text Box 234"/>
          <p:cNvSpPr txBox="1"/>
          <p:nvPr/>
        </p:nvSpPr>
        <p:spPr>
          <a:xfrm>
            <a:off x="6669088" y="5781675"/>
            <a:ext cx="812800" cy="323850"/>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P-GW</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1171" name="Text Box 235"/>
          <p:cNvSpPr txBox="1"/>
          <p:nvPr/>
        </p:nvSpPr>
        <p:spPr>
          <a:xfrm>
            <a:off x="6791325" y="4946650"/>
            <a:ext cx="361950" cy="290513"/>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1172" name="Line 240"/>
          <p:cNvSpPr/>
          <p:nvPr/>
        </p:nvSpPr>
        <p:spPr>
          <a:xfrm>
            <a:off x="7251700" y="5505450"/>
            <a:ext cx="304800" cy="0"/>
          </a:xfrm>
          <a:prstGeom prst="line">
            <a:avLst/>
          </a:prstGeom>
          <a:ln w="9525" cap="flat" cmpd="sng">
            <a:solidFill>
              <a:schemeClr val="tx1"/>
            </a:solidFill>
            <a:prstDash val="solid"/>
            <a:round/>
            <a:headEnd type="none" w="med" len="med"/>
            <a:tailEnd type="none" w="med" len="med"/>
          </a:ln>
        </p:spPr>
      </p:sp>
      <p:grpSp>
        <p:nvGrpSpPr>
          <p:cNvPr id="91173" name="Group 224"/>
          <p:cNvGrpSpPr/>
          <p:nvPr/>
        </p:nvGrpSpPr>
        <p:grpSpPr>
          <a:xfrm>
            <a:off x="5956300" y="4994275"/>
            <a:ext cx="550863" cy="793750"/>
            <a:chOff x="611" y="3693"/>
            <a:chExt cx="449" cy="287"/>
          </a:xfrm>
        </p:grpSpPr>
        <p:sp>
          <p:nvSpPr>
            <p:cNvPr id="91174" name="Rectangle 225"/>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grpSp>
          <p:nvGrpSpPr>
            <p:cNvPr id="91175" name="Group 226"/>
            <p:cNvGrpSpPr/>
            <p:nvPr/>
          </p:nvGrpSpPr>
          <p:grpSpPr>
            <a:xfrm>
              <a:off x="687" y="3826"/>
              <a:ext cx="224" cy="110"/>
              <a:chOff x="687" y="3826"/>
              <a:chExt cx="224" cy="110"/>
            </a:xfrm>
          </p:grpSpPr>
          <p:sp>
            <p:nvSpPr>
              <p:cNvPr id="91176" name="Freeform 227"/>
              <p:cNvSpPr/>
              <p:nvPr/>
            </p:nvSpPr>
            <p:spPr>
              <a:xfrm>
                <a:off x="687"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177" name="Freeform 228"/>
              <p:cNvSpPr/>
              <p:nvPr/>
            </p:nvSpPr>
            <p:spPr>
              <a:xfrm flipV="1">
                <a:off x="689" y="3826"/>
                <a:ext cx="222" cy="110"/>
              </a:xfrm>
              <a:custGeom>
                <a:avLst/>
                <a:gdLst/>
                <a:ahLst/>
                <a:cxnLst>
                  <a:cxn ang="0">
                    <a:pos x="0" y="110"/>
                  </a:cxn>
                  <a:cxn ang="0">
                    <a:pos x="36" y="110"/>
                  </a:cxn>
                  <a:cxn ang="0">
                    <a:pos x="183" y="0"/>
                  </a:cxn>
                  <a:cxn ang="0">
                    <a:pos x="222" y="0"/>
                  </a:cxn>
                </a:cxnLst>
                <a:pathLst>
                  <a:path w="222" h="110">
                    <a:moveTo>
                      <a:pt x="0" y="110"/>
                    </a:moveTo>
                    <a:lnTo>
                      <a:pt x="36" y="110"/>
                    </a:lnTo>
                    <a:lnTo>
                      <a:pt x="183" y="0"/>
                    </a:lnTo>
                    <a:lnTo>
                      <a:pt x="222"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91178" name="Freeform 229"/>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179" name="Freeform 230"/>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80" name="Freeform 231"/>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81" name="Freeform 232"/>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182" name="Freeform 233"/>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1183" name="Text Box 234"/>
          <p:cNvSpPr txBox="1"/>
          <p:nvPr/>
        </p:nvSpPr>
        <p:spPr>
          <a:xfrm>
            <a:off x="5903913" y="5773738"/>
            <a:ext cx="812800" cy="322262"/>
          </a:xfrm>
          <a:prstGeom prst="rect">
            <a:avLst/>
          </a:prstGeom>
          <a:noFill/>
          <a:ln w="9525">
            <a:noFill/>
          </a:ln>
        </p:spPr>
        <p:txBody>
          <a:bodyPr wrap="none" anchor="t" anchorCtr="0">
            <a:spAutoFit/>
          </a:bodyPr>
          <a:p>
            <a:pPr eaLnBrk="0" hangingPunct="0">
              <a:lnSpc>
                <a:spcPct val="80000"/>
              </a:lnSpc>
              <a:buClrTx/>
              <a:buFontTx/>
            </a:pPr>
            <a:r>
              <a:rPr lang="en-US" altLang="zh-CN" dirty="0">
                <a:solidFill>
                  <a:srgbClr val="000000"/>
                </a:solidFill>
                <a:latin typeface="Arial" panose="020B0604020202020204" pitchFamily="34" charset="0"/>
                <a:ea typeface="MS PGothic" panose="020B0600070205080204" pitchFamily="34" charset="-128"/>
              </a:rPr>
              <a:t>S-GW</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1184" name="Text Box 235"/>
          <p:cNvSpPr txBox="1"/>
          <p:nvPr/>
        </p:nvSpPr>
        <p:spPr>
          <a:xfrm>
            <a:off x="6026150" y="4937125"/>
            <a:ext cx="361950" cy="290513"/>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G</a:t>
            </a:r>
            <a:endParaRPr lang="en-US" altLang="zh-CN" dirty="0">
              <a:solidFill>
                <a:srgbClr val="000000"/>
              </a:solidFill>
              <a:latin typeface="Arial" panose="020B0604020202020204" pitchFamily="34" charset="0"/>
              <a:ea typeface="MS PGothic" panose="020B0600070205080204" pitchFamily="34" charset="-128"/>
            </a:endParaRPr>
          </a:p>
        </p:txBody>
      </p:sp>
      <p:sp>
        <p:nvSpPr>
          <p:cNvPr id="91185" name="Line 240"/>
          <p:cNvSpPr/>
          <p:nvPr/>
        </p:nvSpPr>
        <p:spPr>
          <a:xfrm>
            <a:off x="6486525" y="5495925"/>
            <a:ext cx="304800" cy="0"/>
          </a:xfrm>
          <a:prstGeom prst="line">
            <a:avLst/>
          </a:prstGeom>
          <a:ln w="9525" cap="flat" cmpd="sng">
            <a:solidFill>
              <a:schemeClr val="tx1"/>
            </a:solidFill>
            <a:prstDash val="solid"/>
            <a:round/>
            <a:headEnd type="none" w="med" len="med"/>
            <a:tailEnd type="none" w="med" len="med"/>
          </a:ln>
        </p:spPr>
      </p:sp>
      <p:sp>
        <p:nvSpPr>
          <p:cNvPr id="91186" name="TextBox 5"/>
          <p:cNvSpPr txBox="1"/>
          <p:nvPr/>
        </p:nvSpPr>
        <p:spPr>
          <a:xfrm>
            <a:off x="292100" y="3765550"/>
            <a:ext cx="1557338" cy="647700"/>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UE</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(user element)</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187" name="Straight Connector 9"/>
          <p:cNvCxnSpPr/>
          <p:nvPr/>
        </p:nvCxnSpPr>
        <p:spPr>
          <a:xfrm>
            <a:off x="1093788" y="4343400"/>
            <a:ext cx="0" cy="614363"/>
          </a:xfrm>
          <a:prstGeom prst="line">
            <a:avLst/>
          </a:prstGeom>
          <a:ln w="9525" cap="flat" cmpd="sng">
            <a:solidFill>
              <a:srgbClr val="000090"/>
            </a:solidFill>
            <a:prstDash val="solid"/>
            <a:round/>
            <a:headEnd type="none" w="med" len="med"/>
            <a:tailEnd type="none" w="med" len="med"/>
          </a:ln>
        </p:spPr>
      </p:cxnSp>
      <p:sp>
        <p:nvSpPr>
          <p:cNvPr id="91188" name="TextBox 671"/>
          <p:cNvSpPr txBox="1"/>
          <p:nvPr/>
        </p:nvSpPr>
        <p:spPr>
          <a:xfrm>
            <a:off x="1770063" y="3765550"/>
            <a:ext cx="1446212" cy="647700"/>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eNodeB</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(base station)</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189" name="Straight Connector 672"/>
          <p:cNvCxnSpPr/>
          <p:nvPr/>
        </p:nvCxnSpPr>
        <p:spPr>
          <a:xfrm>
            <a:off x="2370138" y="4321175"/>
            <a:ext cx="4762" cy="485775"/>
          </a:xfrm>
          <a:prstGeom prst="line">
            <a:avLst/>
          </a:prstGeom>
          <a:ln w="9525" cap="flat" cmpd="sng">
            <a:solidFill>
              <a:srgbClr val="000090"/>
            </a:solidFill>
            <a:prstDash val="solid"/>
            <a:round/>
            <a:headEnd type="none" w="med" len="med"/>
            <a:tailEnd type="none" w="med" len="med"/>
          </a:ln>
        </p:spPr>
      </p:cxnSp>
      <p:sp>
        <p:nvSpPr>
          <p:cNvPr id="91190" name="TextBox 674"/>
          <p:cNvSpPr txBox="1"/>
          <p:nvPr/>
        </p:nvSpPr>
        <p:spPr>
          <a:xfrm>
            <a:off x="7107238" y="3376613"/>
            <a:ext cx="1249362" cy="1200150"/>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Packet data </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network</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 Gateway</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 (P-GW)</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191" name="Straight Connector 675"/>
          <p:cNvCxnSpPr/>
          <p:nvPr/>
        </p:nvCxnSpPr>
        <p:spPr>
          <a:xfrm flipH="1">
            <a:off x="7005638" y="4322763"/>
            <a:ext cx="288925" cy="542925"/>
          </a:xfrm>
          <a:prstGeom prst="line">
            <a:avLst/>
          </a:prstGeom>
          <a:ln w="9525" cap="flat" cmpd="sng">
            <a:solidFill>
              <a:srgbClr val="000090"/>
            </a:solidFill>
            <a:prstDash val="solid"/>
            <a:round/>
            <a:headEnd type="none" w="med" len="med"/>
            <a:tailEnd type="none" w="med" len="med"/>
          </a:ln>
        </p:spPr>
      </p:cxnSp>
      <p:sp>
        <p:nvSpPr>
          <p:cNvPr id="91192" name="TextBox 676"/>
          <p:cNvSpPr txBox="1"/>
          <p:nvPr/>
        </p:nvSpPr>
        <p:spPr>
          <a:xfrm>
            <a:off x="6188075" y="3397250"/>
            <a:ext cx="995363" cy="922338"/>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Serving </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Gateway</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 (S-GW)</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193" name="Straight Connector 677"/>
          <p:cNvCxnSpPr>
            <a:stCxn id="91192" idx="2"/>
          </p:cNvCxnSpPr>
          <p:nvPr/>
        </p:nvCxnSpPr>
        <p:spPr>
          <a:xfrm flipH="1">
            <a:off x="6337300" y="4319588"/>
            <a:ext cx="349250" cy="619125"/>
          </a:xfrm>
          <a:prstGeom prst="line">
            <a:avLst/>
          </a:prstGeom>
          <a:ln w="9525" cap="flat" cmpd="sng">
            <a:solidFill>
              <a:srgbClr val="000090"/>
            </a:solidFill>
            <a:prstDash val="solid"/>
            <a:round/>
            <a:headEnd type="none" w="med" len="med"/>
            <a:tailEnd type="none" w="med" len="med"/>
          </a:ln>
        </p:spPr>
      </p:cxnSp>
      <p:sp>
        <p:nvSpPr>
          <p:cNvPr id="91194" name="TextBox 678"/>
          <p:cNvSpPr txBox="1"/>
          <p:nvPr/>
        </p:nvSpPr>
        <p:spPr>
          <a:xfrm>
            <a:off x="2819400" y="5395913"/>
            <a:ext cx="635000" cy="369887"/>
          </a:xfrm>
          <a:prstGeom prst="rect">
            <a:avLst/>
          </a:prstGeom>
          <a:noFill/>
          <a:ln w="9525">
            <a:noFill/>
          </a:ln>
        </p:spPr>
        <p:txBody>
          <a:bodyPr wrap="none" anchor="t" anchorCtr="0">
            <a:spAutoFit/>
          </a:bodyPr>
          <a:p>
            <a:pPr eaLnBrk="0" hangingPunct="0">
              <a:buClrTx/>
              <a:buFontTx/>
            </a:pPr>
            <a:r>
              <a:rPr lang="en-US" altLang="zh-CN" dirty="0">
                <a:solidFill>
                  <a:srgbClr val="CC0000"/>
                </a:solidFill>
                <a:latin typeface="Comic Sans MS" panose="030F0702030302020204" pitchFamily="66" charset="0"/>
                <a:ea typeface="宋体" panose="02010600030101010101" pitchFamily="2" charset="-122"/>
              </a:rPr>
              <a:t>data</a:t>
            </a:r>
            <a:endParaRPr lang="en-US" altLang="zh-CN" dirty="0">
              <a:solidFill>
                <a:srgbClr val="CC0000"/>
              </a:solidFill>
              <a:latin typeface="Comic Sans MS" panose="030F0702030302020204" pitchFamily="66" charset="0"/>
              <a:ea typeface="宋体" panose="02010600030101010101" pitchFamily="2" charset="-122"/>
            </a:endParaRPr>
          </a:p>
        </p:txBody>
      </p:sp>
      <p:grpSp>
        <p:nvGrpSpPr>
          <p:cNvPr id="2" name="Group 1"/>
          <p:cNvGrpSpPr/>
          <p:nvPr/>
        </p:nvGrpSpPr>
        <p:grpSpPr>
          <a:xfrm>
            <a:off x="2387600" y="3036888"/>
            <a:ext cx="3770313" cy="2662237"/>
            <a:chOff x="2387580" y="3037521"/>
            <a:chExt cx="3769997" cy="2661882"/>
          </a:xfrm>
        </p:grpSpPr>
        <p:sp>
          <p:nvSpPr>
            <p:cNvPr id="91196" name="Line 238"/>
            <p:cNvSpPr/>
            <p:nvPr/>
          </p:nvSpPr>
          <p:spPr>
            <a:xfrm flipH="1">
              <a:off x="2759629" y="4812246"/>
              <a:ext cx="1461475" cy="541652"/>
            </a:xfrm>
            <a:prstGeom prst="line">
              <a:avLst/>
            </a:prstGeom>
            <a:ln w="9525" cap="flat" cmpd="sng">
              <a:solidFill>
                <a:schemeClr val="tx1"/>
              </a:solidFill>
              <a:prstDash val="dash"/>
              <a:round/>
              <a:headEnd type="none" w="med" len="med"/>
              <a:tailEnd type="none" w="med" len="med"/>
            </a:ln>
          </p:spPr>
        </p:sp>
        <p:sp>
          <p:nvSpPr>
            <p:cNvPr id="91197" name="Line 238"/>
            <p:cNvSpPr/>
            <p:nvPr/>
          </p:nvSpPr>
          <p:spPr>
            <a:xfrm flipH="1">
              <a:off x="2436482" y="4807495"/>
              <a:ext cx="1751742" cy="296898"/>
            </a:xfrm>
            <a:prstGeom prst="line">
              <a:avLst/>
            </a:prstGeom>
            <a:ln w="9525" cap="flat" cmpd="sng">
              <a:solidFill>
                <a:schemeClr val="tx1"/>
              </a:solidFill>
              <a:prstDash val="dash"/>
              <a:round/>
              <a:headEnd type="none" w="med" len="med"/>
              <a:tailEnd type="none" w="med" len="med"/>
            </a:ln>
          </p:spPr>
        </p:sp>
        <p:sp>
          <p:nvSpPr>
            <p:cNvPr id="91198" name="Line 238"/>
            <p:cNvSpPr/>
            <p:nvPr/>
          </p:nvSpPr>
          <p:spPr>
            <a:xfrm flipH="1">
              <a:off x="2387580" y="4864861"/>
              <a:ext cx="1800643" cy="834542"/>
            </a:xfrm>
            <a:prstGeom prst="line">
              <a:avLst/>
            </a:prstGeom>
            <a:ln w="9525" cap="flat" cmpd="sng">
              <a:solidFill>
                <a:schemeClr val="tx1"/>
              </a:solidFill>
              <a:prstDash val="dash"/>
              <a:round/>
              <a:headEnd type="none" w="med" len="med"/>
              <a:tailEnd type="none" w="med" len="med"/>
            </a:ln>
          </p:spPr>
        </p:sp>
        <p:sp>
          <p:nvSpPr>
            <p:cNvPr id="91199" name="Line 238"/>
            <p:cNvSpPr/>
            <p:nvPr/>
          </p:nvSpPr>
          <p:spPr>
            <a:xfrm flipH="1" flipV="1">
              <a:off x="4739087" y="4944462"/>
              <a:ext cx="1216590" cy="348543"/>
            </a:xfrm>
            <a:prstGeom prst="line">
              <a:avLst/>
            </a:prstGeom>
            <a:ln w="9525" cap="flat" cmpd="sng">
              <a:solidFill>
                <a:schemeClr val="tx1"/>
              </a:solidFill>
              <a:prstDash val="dash"/>
              <a:round/>
              <a:headEnd type="none" w="med" len="med"/>
              <a:tailEnd type="none" w="med" len="med"/>
            </a:ln>
          </p:spPr>
        </p:sp>
        <p:sp>
          <p:nvSpPr>
            <p:cNvPr id="91200" name="Line 238"/>
            <p:cNvSpPr/>
            <p:nvPr/>
          </p:nvSpPr>
          <p:spPr>
            <a:xfrm flipV="1">
              <a:off x="4710870" y="4650826"/>
              <a:ext cx="205932" cy="161421"/>
            </a:xfrm>
            <a:prstGeom prst="line">
              <a:avLst/>
            </a:prstGeom>
            <a:ln w="9525" cap="flat" cmpd="sng">
              <a:solidFill>
                <a:schemeClr val="tx1"/>
              </a:solidFill>
              <a:prstDash val="dash"/>
              <a:round/>
              <a:headEnd type="none" w="med" len="med"/>
              <a:tailEnd type="none" w="med" len="med"/>
            </a:ln>
          </p:spPr>
        </p:sp>
        <p:grpSp>
          <p:nvGrpSpPr>
            <p:cNvPr id="91201" name="Group 493"/>
            <p:cNvGrpSpPr/>
            <p:nvPr/>
          </p:nvGrpSpPr>
          <p:grpSpPr>
            <a:xfrm>
              <a:off x="4124725" y="4207019"/>
              <a:ext cx="723200" cy="880827"/>
              <a:chOff x="4804140" y="4632965"/>
              <a:chExt cx="723200" cy="1348762"/>
            </a:xfrm>
          </p:grpSpPr>
          <p:grpSp>
            <p:nvGrpSpPr>
              <p:cNvPr id="91202" name="Group 109"/>
              <p:cNvGrpSpPr/>
              <p:nvPr/>
            </p:nvGrpSpPr>
            <p:grpSpPr>
              <a:xfrm>
                <a:off x="4867640" y="5188066"/>
                <a:ext cx="550863" cy="793661"/>
                <a:chOff x="611" y="3693"/>
                <a:chExt cx="449" cy="287"/>
              </a:xfrm>
            </p:grpSpPr>
            <p:sp>
              <p:nvSpPr>
                <p:cNvPr id="91203"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sp>
              <p:nvSpPr>
                <p:cNvPr id="91204"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205"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06"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07"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08"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1209" name="Text Box 121"/>
              <p:cNvSpPr txBox="1"/>
              <p:nvPr/>
            </p:nvSpPr>
            <p:spPr>
              <a:xfrm>
                <a:off x="4804140" y="4632965"/>
                <a:ext cx="723200" cy="5655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MME</a:t>
                </a:r>
                <a:endParaRPr lang="en-US" altLang="zh-CN" dirty="0">
                  <a:solidFill>
                    <a:srgbClr val="000000"/>
                  </a:solidFill>
                  <a:latin typeface="Arial" panose="020B0604020202020204" pitchFamily="34" charset="0"/>
                  <a:ea typeface="MS PGothic" panose="020B0600070205080204" pitchFamily="34" charset="-128"/>
                </a:endParaRPr>
              </a:p>
            </p:txBody>
          </p:sp>
        </p:grpSp>
        <p:grpSp>
          <p:nvGrpSpPr>
            <p:cNvPr id="91210" name="Group 509"/>
            <p:cNvGrpSpPr/>
            <p:nvPr/>
          </p:nvGrpSpPr>
          <p:grpSpPr>
            <a:xfrm>
              <a:off x="4839014" y="3960851"/>
              <a:ext cx="659293" cy="880827"/>
              <a:chOff x="4804140" y="4632965"/>
              <a:chExt cx="659293" cy="1348762"/>
            </a:xfrm>
          </p:grpSpPr>
          <p:grpSp>
            <p:nvGrpSpPr>
              <p:cNvPr id="91211" name="Group 109"/>
              <p:cNvGrpSpPr/>
              <p:nvPr/>
            </p:nvGrpSpPr>
            <p:grpSpPr>
              <a:xfrm>
                <a:off x="4867640" y="5188066"/>
                <a:ext cx="550863" cy="793661"/>
                <a:chOff x="611" y="3693"/>
                <a:chExt cx="449" cy="287"/>
              </a:xfrm>
            </p:grpSpPr>
            <p:sp>
              <p:nvSpPr>
                <p:cNvPr id="91212" name="Rectangle 110"/>
                <p:cNvSpPr/>
                <p:nvPr/>
              </p:nvSpPr>
              <p:spPr>
                <a:xfrm>
                  <a:off x="636" y="3774"/>
                  <a:ext cx="336" cy="2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en-US" altLang="zh-CN" dirty="0">
                    <a:solidFill>
                      <a:srgbClr val="000000"/>
                    </a:solidFill>
                    <a:latin typeface="Comic Sans MS" panose="030F0702030302020204" pitchFamily="66" charset="0"/>
                    <a:ea typeface="MS PGothic" panose="020B0600070205080204" pitchFamily="34" charset="-128"/>
                  </a:endParaRPr>
                </a:p>
              </p:txBody>
            </p:sp>
            <p:sp>
              <p:nvSpPr>
                <p:cNvPr id="91213" name="Freeform 114"/>
                <p:cNvSpPr/>
                <p:nvPr/>
              </p:nvSpPr>
              <p:spPr>
                <a:xfrm>
                  <a:off x="975" y="3704"/>
                  <a:ext cx="62" cy="74"/>
                </a:xfrm>
                <a:custGeom>
                  <a:avLst/>
                  <a:gdLst/>
                  <a:ahLst/>
                  <a:cxnLst>
                    <a:cxn ang="0">
                      <a:pos x="36" y="0"/>
                    </a:cxn>
                    <a:cxn ang="0">
                      <a:pos x="62" y="57"/>
                    </a:cxn>
                    <a:cxn ang="0">
                      <a:pos x="0" y="74"/>
                    </a:cxn>
                  </a:cxnLst>
                  <a:pathLst>
                    <a:path w="62" h="74">
                      <a:moveTo>
                        <a:pt x="36" y="0"/>
                      </a:moveTo>
                      <a:lnTo>
                        <a:pt x="62" y="57"/>
                      </a:lnTo>
                      <a:lnTo>
                        <a:pt x="0" y="74"/>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91214" name="Freeform 115"/>
                <p:cNvSpPr/>
                <p:nvPr/>
              </p:nvSpPr>
              <p:spPr>
                <a:xfrm>
                  <a:off x="972" y="3764"/>
                  <a:ext cx="63" cy="216"/>
                </a:xfrm>
                <a:custGeom>
                  <a:avLst/>
                  <a:gdLst/>
                  <a:ahLst/>
                  <a:cxnLst>
                    <a:cxn ang="0">
                      <a:pos x="2" y="12"/>
                    </a:cxn>
                    <a:cxn ang="0">
                      <a:pos x="0" y="162"/>
                    </a:cxn>
                    <a:cxn ang="0">
                      <a:pos x="62" y="146"/>
                    </a:cxn>
                    <a:cxn ang="0">
                      <a:pos x="63" y="0"/>
                    </a:cxn>
                    <a:cxn ang="0">
                      <a:pos x="2" y="12"/>
                    </a:cxn>
                  </a:cxnLst>
                  <a:pathLst>
                    <a:path w="63" h="225">
                      <a:moveTo>
                        <a:pt x="2" y="16"/>
                      </a:moveTo>
                      <a:lnTo>
                        <a:pt x="0" y="225"/>
                      </a:lnTo>
                      <a:lnTo>
                        <a:pt x="62" y="202"/>
                      </a:lnTo>
                      <a:lnTo>
                        <a:pt x="63" y="0"/>
                      </a:lnTo>
                      <a:lnTo>
                        <a:pt x="2" y="16"/>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15" name="Freeform 116"/>
                <p:cNvSpPr/>
                <p:nvPr/>
              </p:nvSpPr>
              <p:spPr>
                <a:xfrm>
                  <a:off x="1013" y="3693"/>
                  <a:ext cx="47" cy="78"/>
                </a:xfrm>
                <a:custGeom>
                  <a:avLst/>
                  <a:gdLst/>
                  <a:ahLst/>
                  <a:cxnLst>
                    <a:cxn ang="0">
                      <a:pos x="12" y="0"/>
                    </a:cxn>
                    <a:cxn ang="0">
                      <a:pos x="47" y="78"/>
                    </a:cxn>
                    <a:cxn ang="0">
                      <a:pos x="15" y="77"/>
                    </a:cxn>
                    <a:cxn ang="0">
                      <a:pos x="0" y="35"/>
                    </a:cxn>
                    <a:cxn ang="0">
                      <a:pos x="12" y="0"/>
                    </a:cxn>
                  </a:cxnLst>
                  <a:pathLst>
                    <a:path w="47" h="78">
                      <a:moveTo>
                        <a:pt x="12" y="0"/>
                      </a:moveTo>
                      <a:lnTo>
                        <a:pt x="47" y="78"/>
                      </a:lnTo>
                      <a:lnTo>
                        <a:pt x="15" y="77"/>
                      </a:lnTo>
                      <a:lnTo>
                        <a:pt x="0" y="35"/>
                      </a:lnTo>
                      <a:lnTo>
                        <a:pt x="12"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16" name="Freeform 117"/>
                <p:cNvSpPr/>
                <p:nvPr/>
              </p:nvSpPr>
              <p:spPr>
                <a:xfrm>
                  <a:off x="987" y="3728"/>
                  <a:ext cx="44" cy="51"/>
                </a:xfrm>
                <a:custGeom>
                  <a:avLst/>
                  <a:gdLst/>
                  <a:ahLst/>
                  <a:cxnLst>
                    <a:cxn ang="0">
                      <a:pos x="23" y="0"/>
                    </a:cxn>
                    <a:cxn ang="0">
                      <a:pos x="0" y="51"/>
                    </a:cxn>
                    <a:cxn ang="0">
                      <a:pos x="44" y="45"/>
                    </a:cxn>
                    <a:cxn ang="0">
                      <a:pos x="23" y="0"/>
                    </a:cxn>
                  </a:cxnLst>
                  <a:pathLst>
                    <a:path w="44" h="51">
                      <a:moveTo>
                        <a:pt x="23" y="0"/>
                      </a:moveTo>
                      <a:lnTo>
                        <a:pt x="0" y="51"/>
                      </a:lnTo>
                      <a:lnTo>
                        <a:pt x="44" y="45"/>
                      </a:lnTo>
                      <a:lnTo>
                        <a:pt x="23" y="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91217" name="Freeform 118"/>
                <p:cNvSpPr/>
                <p:nvPr/>
              </p:nvSpPr>
              <p:spPr>
                <a:xfrm>
                  <a:off x="611" y="3695"/>
                  <a:ext cx="417" cy="95"/>
                </a:xfrm>
                <a:custGeom>
                  <a:avLst/>
                  <a:gdLst/>
                  <a:ahLst/>
                  <a:cxnLst>
                    <a:cxn ang="0">
                      <a:pos x="0" y="95"/>
                    </a:cxn>
                    <a:cxn ang="0">
                      <a:pos x="66" y="1"/>
                    </a:cxn>
                    <a:cxn ang="0">
                      <a:pos x="417" y="0"/>
                    </a:cxn>
                    <a:cxn ang="0">
                      <a:pos x="370" y="95"/>
                    </a:cxn>
                    <a:cxn ang="0">
                      <a:pos x="0" y="95"/>
                    </a:cxn>
                  </a:cxnLst>
                  <a:pathLst>
                    <a:path w="417" h="95">
                      <a:moveTo>
                        <a:pt x="0" y="95"/>
                      </a:moveTo>
                      <a:lnTo>
                        <a:pt x="66" y="1"/>
                      </a:lnTo>
                      <a:lnTo>
                        <a:pt x="417" y="0"/>
                      </a:lnTo>
                      <a:lnTo>
                        <a:pt x="370" y="95"/>
                      </a:lnTo>
                      <a:lnTo>
                        <a:pt x="0" y="9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1218" name="Text Box 121"/>
              <p:cNvSpPr txBox="1"/>
              <p:nvPr/>
            </p:nvSpPr>
            <p:spPr>
              <a:xfrm>
                <a:off x="4804140" y="4632965"/>
                <a:ext cx="659293" cy="565538"/>
              </a:xfrm>
              <a:prstGeom prst="rect">
                <a:avLst/>
              </a:prstGeom>
              <a:noFill/>
              <a:ln w="9525">
                <a:noFill/>
              </a:ln>
            </p:spPr>
            <p:txBody>
              <a:bodyPr wrap="none" anchor="t" anchorCtr="0">
                <a:spAutoFit/>
              </a:bodyPr>
              <a:p>
                <a:pPr eaLnBrk="0" hangingPunct="0">
                  <a:buClrTx/>
                  <a:buFontTx/>
                </a:pPr>
                <a:r>
                  <a:rPr lang="en-US" altLang="zh-CN" dirty="0">
                    <a:solidFill>
                      <a:srgbClr val="000000"/>
                    </a:solidFill>
                    <a:latin typeface="Arial" panose="020B0604020202020204" pitchFamily="34" charset="0"/>
                    <a:ea typeface="MS PGothic" panose="020B0600070205080204" pitchFamily="34" charset="-128"/>
                  </a:rPr>
                  <a:t>HSS</a:t>
                </a:r>
                <a:endParaRPr lang="en-US" altLang="zh-CN" dirty="0">
                  <a:solidFill>
                    <a:srgbClr val="000000"/>
                  </a:solidFill>
                  <a:latin typeface="Arial" panose="020B0604020202020204" pitchFamily="34" charset="0"/>
                  <a:ea typeface="MS PGothic" panose="020B0600070205080204" pitchFamily="34" charset="-128"/>
                </a:endParaRPr>
              </a:p>
            </p:txBody>
          </p:sp>
        </p:grpSp>
        <p:sp>
          <p:nvSpPr>
            <p:cNvPr id="91219" name="TextBox 13"/>
            <p:cNvSpPr txBox="1"/>
            <p:nvPr/>
          </p:nvSpPr>
          <p:spPr>
            <a:xfrm>
              <a:off x="2877364" y="3037521"/>
              <a:ext cx="1410174" cy="923330"/>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Mobility </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Management </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Entity (MME)</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220" name="Straight Connector 673"/>
            <p:cNvCxnSpPr>
              <a:stCxn id="91219" idx="2"/>
            </p:cNvCxnSpPr>
            <p:nvPr/>
          </p:nvCxnSpPr>
          <p:spPr>
            <a:xfrm>
              <a:off x="3582451" y="3960851"/>
              <a:ext cx="885947" cy="252652"/>
            </a:xfrm>
            <a:prstGeom prst="line">
              <a:avLst/>
            </a:prstGeom>
            <a:ln w="9525" cap="flat" cmpd="sng">
              <a:solidFill>
                <a:srgbClr val="000090"/>
              </a:solidFill>
              <a:prstDash val="solid"/>
              <a:round/>
              <a:headEnd type="none" w="med" len="med"/>
              <a:tailEnd type="none" w="med" len="med"/>
            </a:ln>
          </p:spPr>
        </p:cxnSp>
        <p:sp>
          <p:nvSpPr>
            <p:cNvPr id="91221" name="TextBox 23"/>
            <p:cNvSpPr txBox="1"/>
            <p:nvPr/>
          </p:nvSpPr>
          <p:spPr>
            <a:xfrm rot="-498750">
              <a:off x="2859369" y="4630375"/>
              <a:ext cx="869048" cy="369332"/>
            </a:xfrm>
            <a:prstGeom prst="rect">
              <a:avLst/>
            </a:prstGeom>
            <a:noFill/>
            <a:ln w="9525">
              <a:noFill/>
            </a:ln>
          </p:spPr>
          <p:txBody>
            <a:bodyPr wrap="none" anchor="t" anchorCtr="0">
              <a:spAutoFit/>
            </a:bodyPr>
            <a:p>
              <a:pPr eaLnBrk="0" hangingPunct="0">
                <a:buClrTx/>
                <a:buFontTx/>
              </a:pPr>
              <a:r>
                <a:rPr lang="en-US" altLang="zh-CN" dirty="0">
                  <a:solidFill>
                    <a:srgbClr val="CC0000"/>
                  </a:solidFill>
                  <a:latin typeface="Comic Sans MS" panose="030F0702030302020204" pitchFamily="66" charset="0"/>
                  <a:ea typeface="宋体" panose="02010600030101010101" pitchFamily="2" charset="-122"/>
                </a:rPr>
                <a:t>control</a:t>
              </a:r>
              <a:endParaRPr lang="en-US" altLang="zh-CN" dirty="0">
                <a:solidFill>
                  <a:srgbClr val="CC0000"/>
                </a:solidFill>
                <a:latin typeface="Comic Sans MS" panose="030F0702030302020204" pitchFamily="66" charset="0"/>
                <a:ea typeface="宋体" panose="02010600030101010101" pitchFamily="2" charset="-122"/>
              </a:endParaRPr>
            </a:p>
          </p:txBody>
        </p:sp>
        <p:sp>
          <p:nvSpPr>
            <p:cNvPr id="91222" name="TextBox 679"/>
            <p:cNvSpPr txBox="1"/>
            <p:nvPr/>
          </p:nvSpPr>
          <p:spPr>
            <a:xfrm>
              <a:off x="4338712" y="3058008"/>
              <a:ext cx="1818865" cy="923330"/>
            </a:xfrm>
            <a:prstGeom prst="rect">
              <a:avLst/>
            </a:prstGeom>
            <a:noFill/>
            <a:ln w="9525">
              <a:noFill/>
            </a:ln>
          </p:spPr>
          <p:txBody>
            <a:bodyPr wrap="none" anchor="t" anchorCtr="0">
              <a:spAutoFit/>
            </a:bodyPr>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Home Subscriber </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Server(HSS)</a:t>
              </a:r>
              <a:endParaRPr lang="en-US" altLang="zh-CN" dirty="0">
                <a:solidFill>
                  <a:srgbClr val="000090"/>
                </a:solidFill>
                <a:latin typeface="Comic Sans MS" panose="030F0702030302020204" pitchFamily="66" charset="0"/>
                <a:ea typeface="宋体" panose="02010600030101010101" pitchFamily="2" charset="-122"/>
              </a:endParaRPr>
            </a:p>
            <a:p>
              <a:pPr algn="ctr" eaLnBrk="0" hangingPunct="0">
                <a:buClrTx/>
                <a:buFontTx/>
              </a:pPr>
              <a:r>
                <a:rPr lang="en-US" altLang="zh-CN" dirty="0">
                  <a:solidFill>
                    <a:srgbClr val="000090"/>
                  </a:solidFill>
                  <a:latin typeface="Comic Sans MS" panose="030F0702030302020204" pitchFamily="66" charset="0"/>
                  <a:ea typeface="宋体" panose="02010600030101010101" pitchFamily="2" charset="-122"/>
                </a:rPr>
                <a:t> (like HLR+VLR)</a:t>
              </a:r>
              <a:endParaRPr lang="en-US" altLang="zh-CN" dirty="0">
                <a:solidFill>
                  <a:srgbClr val="000090"/>
                </a:solidFill>
                <a:latin typeface="Comic Sans MS" panose="030F0702030302020204" pitchFamily="66" charset="0"/>
                <a:ea typeface="宋体" panose="02010600030101010101" pitchFamily="2" charset="-122"/>
              </a:endParaRPr>
            </a:p>
          </p:txBody>
        </p:sp>
        <p:cxnSp>
          <p:nvCxnSpPr>
            <p:cNvPr id="91223" name="Straight Connector 680"/>
            <p:cNvCxnSpPr>
              <a:stCxn id="91219" idx="2"/>
            </p:cNvCxnSpPr>
            <p:nvPr/>
          </p:nvCxnSpPr>
          <p:spPr>
            <a:xfrm>
              <a:off x="5508556" y="3906197"/>
              <a:ext cx="0" cy="300822"/>
            </a:xfrm>
            <a:prstGeom prst="line">
              <a:avLst/>
            </a:prstGeom>
            <a:ln w="9525" cap="flat" cmpd="sng">
              <a:solidFill>
                <a:srgbClr val="000090"/>
              </a:solidFill>
              <a:prstDash val="solid"/>
              <a:round/>
              <a:headEnd type="none" w="med" len="med"/>
              <a:tailEnd type="none" w="med" len="med"/>
            </a:ln>
          </p:spPr>
        </p:cxnSp>
      </p:grpSp>
      <p:sp>
        <p:nvSpPr>
          <p:cNvPr id="91224" name="Slide Number Placeholder 5"/>
          <p:cNvSpPr>
            <a:spLocks noGrp="1"/>
          </p:cNvSpPr>
          <p:nvPr>
            <p:ph type="sldNum" sz="quarter" idx="12"/>
          </p:nvPr>
        </p:nvSpPr>
        <p:spPr>
          <a:xfrm>
            <a:off x="8456613" y="6523038"/>
            <a:ext cx="687387" cy="271462"/>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latin typeface="Tahoma" panose="020B0604030504040204" pitchFamily="34" charset="0"/>
                <a:ea typeface="MS PGothic" panose="020B0600070205080204" pitchFamily="34" charset="-128"/>
              </a:rPr>
              <a:t>7-</a:t>
            </a:r>
            <a:fld id="{9A0DB2DC-4C9A-4742-B13C-FB6460FD3503}" type="slidenum">
              <a:rPr lang="en-US" altLang="zh-CN" sz="1200" dirty="0">
                <a:latin typeface="Tahoma" panose="020B0604030504040204" pitchFamily="34" charset="0"/>
                <a:ea typeface="MS PGothic" panose="020B0600070205080204" pitchFamily="34" charset="-128"/>
              </a:rPr>
            </a:fld>
            <a:endParaRPr lang="en-US" altLang="zh-CN" sz="1200" dirty="0">
              <a:latin typeface="Tahoma" panose="020B0604030504040204" pitchFamily="34" charset="0"/>
              <a:ea typeface="MS PGothic" panose="020B0600070205080204" pitchFamily="34" charset="-128"/>
            </a:endParaRPr>
          </a:p>
        </p:txBody>
      </p:sp>
      <p:sp>
        <p:nvSpPr>
          <p:cNvPr id="91225" name="Footer Placeholder 2"/>
          <p:cNvSpPr>
            <a:spLocks noGrp="1"/>
          </p:cNvSpPr>
          <p:nvPr>
            <p:ph type="ftr" sz="quarter" idx="11"/>
          </p:nvPr>
        </p:nvSpPr>
        <p:spPr>
          <a:xfrm>
            <a:off x="5854700" y="6508750"/>
            <a:ext cx="2698750" cy="2540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200" dirty="0">
                <a:solidFill>
                  <a:srgbClr val="000000"/>
                </a:solidFill>
                <a:latin typeface="Tahoma" panose="020B0604030504040204" pitchFamily="34" charset="0"/>
                <a:ea typeface="MS PGothic" panose="020B0600070205080204" pitchFamily="34" charset="-128"/>
              </a:rPr>
              <a:t>Wireless and Mobile Networks </a:t>
            </a:r>
            <a:endParaRPr lang="en-US" altLang="zh-CN" sz="1200" dirty="0">
              <a:solidFill>
                <a:srgbClr val="000000"/>
              </a:solidFill>
              <a:latin typeface="Tahoma" panose="020B0604030504040204" pitchFamily="34" charset="0"/>
              <a:ea typeface="MS PGothic" panose="020B0600070205080204" pitchFamily="34" charset="-128"/>
            </a:endParaRPr>
          </a:p>
        </p:txBody>
      </p:sp>
      <p:grpSp>
        <p:nvGrpSpPr>
          <p:cNvPr id="91226" name="Group 347"/>
          <p:cNvGrpSpPr/>
          <p:nvPr/>
        </p:nvGrpSpPr>
        <p:grpSpPr>
          <a:xfrm>
            <a:off x="6648450" y="5357813"/>
            <a:ext cx="661988" cy="323850"/>
            <a:chOff x="1871277" y="1576300"/>
            <a:chExt cx="1128371" cy="437861"/>
          </a:xfrm>
        </p:grpSpPr>
        <p:sp>
          <p:nvSpPr>
            <p:cNvPr id="214" name="Oval 213"/>
            <p:cNvSpPr/>
            <p:nvPr/>
          </p:nvSpPr>
          <p:spPr bwMode="auto">
            <a:xfrm flipV="1">
              <a:off x="1873984" y="1694350"/>
              <a:ext cx="1125664" cy="31981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15" name="Rectangle 214"/>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16" name="Oval 215"/>
            <p:cNvSpPr/>
            <p:nvPr/>
          </p:nvSpPr>
          <p:spPr bwMode="auto">
            <a:xfrm flipV="1">
              <a:off x="1871277" y="1576300"/>
              <a:ext cx="1125664" cy="31981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17" name="Freeform 216"/>
            <p:cNvSpPr/>
            <p:nvPr/>
          </p:nvSpPr>
          <p:spPr bwMode="auto">
            <a:xfrm>
              <a:off x="2160812" y="1672886"/>
              <a:ext cx="546597" cy="16097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18" name="Freeform 217"/>
            <p:cNvSpPr/>
            <p:nvPr/>
          </p:nvSpPr>
          <p:spPr bwMode="auto">
            <a:xfrm>
              <a:off x="2103986" y="1632106"/>
              <a:ext cx="660245" cy="1116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19" name="Freeform 218"/>
            <p:cNvSpPr/>
            <p:nvPr/>
          </p:nvSpPr>
          <p:spPr bwMode="auto">
            <a:xfrm>
              <a:off x="2536934" y="1728692"/>
              <a:ext cx="243533" cy="9658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20" name="Freeform 219"/>
            <p:cNvSpPr/>
            <p:nvPr/>
          </p:nvSpPr>
          <p:spPr bwMode="auto">
            <a:xfrm>
              <a:off x="2090458" y="1730839"/>
              <a:ext cx="240826" cy="9658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21" name="Straight Connector 220"/>
            <p:cNvCxnSpPr>
              <a:stCxn id="91219" idx="2"/>
              <a:endCxn id="216" idx="2"/>
            </p:cNvCxnSpPr>
            <p:nvPr/>
          </p:nvCxnSpPr>
          <p:spPr bwMode="auto">
            <a:xfrm flipH="1" flipV="1">
              <a:off x="1871277" y="1737278"/>
              <a:ext cx="2707" cy="12234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22" name="Straight Connector 221"/>
            <p:cNvCxnSpPr>
              <a:stCxn id="91219" idx="2"/>
              <a:endCxn id="216" idx="2"/>
            </p:cNvCxnSpPr>
            <p:nvPr/>
          </p:nvCxnSpPr>
          <p:spPr bwMode="auto">
            <a:xfrm flipH="1" flipV="1">
              <a:off x="2996941" y="1735132"/>
              <a:ext cx="2707" cy="1223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1236" name="Group 347"/>
          <p:cNvGrpSpPr/>
          <p:nvPr/>
        </p:nvGrpSpPr>
        <p:grpSpPr>
          <a:xfrm>
            <a:off x="5829300" y="5351463"/>
            <a:ext cx="660400" cy="323850"/>
            <a:chOff x="1871277" y="1576300"/>
            <a:chExt cx="1128371" cy="437861"/>
          </a:xfrm>
        </p:grpSpPr>
        <p:sp>
          <p:nvSpPr>
            <p:cNvPr id="224" name="Oval 223"/>
            <p:cNvSpPr/>
            <p:nvPr/>
          </p:nvSpPr>
          <p:spPr bwMode="auto">
            <a:xfrm flipV="1">
              <a:off x="1873990" y="1694350"/>
              <a:ext cx="1125658" cy="319811"/>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5" name="Rectangle 224"/>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6" name="Oval 225"/>
            <p:cNvSpPr/>
            <p:nvPr/>
          </p:nvSpPr>
          <p:spPr bwMode="auto">
            <a:xfrm flipV="1">
              <a:off x="1871277" y="1576300"/>
              <a:ext cx="1125659" cy="31981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Comic Sans MS" panose="030F0702030302020204" pitchFamily="66" charset="0"/>
                <a:ea typeface="宋体" panose="02010600030101010101" pitchFamily="2" charset="-122"/>
                <a:cs typeface="+mn-cs"/>
              </a:endParaRPr>
            </a:p>
          </p:txBody>
        </p:sp>
        <p:sp>
          <p:nvSpPr>
            <p:cNvPr id="227" name="Freeform 226"/>
            <p:cNvSpPr/>
            <p:nvPr/>
          </p:nvSpPr>
          <p:spPr bwMode="auto">
            <a:xfrm>
              <a:off x="2158795" y="1672886"/>
              <a:ext cx="547911" cy="16097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28" name="Freeform 227"/>
            <p:cNvSpPr/>
            <p:nvPr/>
          </p:nvSpPr>
          <p:spPr bwMode="auto">
            <a:xfrm>
              <a:off x="2101834" y="1632106"/>
              <a:ext cx="664545" cy="1116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1" fmla="*/ 0 w 3640627"/>
                <a:gd name="connsiteY0-2" fmla="*/ 242051 h 923747"/>
                <a:gd name="connsiteX1-3" fmla="*/ 655168 w 3640627"/>
                <a:gd name="connsiteY1-4" fmla="*/ 16495 h 923747"/>
                <a:gd name="connsiteX2-5" fmla="*/ 1809765 w 3640627"/>
                <a:gd name="connsiteY2-6" fmla="*/ 511360 h 923747"/>
                <a:gd name="connsiteX3-7" fmla="*/ 2964363 w 3640627"/>
                <a:gd name="connsiteY3-8" fmla="*/ 0 h 923747"/>
                <a:gd name="connsiteX4-9" fmla="*/ 3640627 w 3640627"/>
                <a:gd name="connsiteY4-10" fmla="*/ 197946 h 923747"/>
                <a:gd name="connsiteX5-11" fmla="*/ 3195282 w 3640627"/>
                <a:gd name="connsiteY5-12" fmla="*/ 461874 h 923747"/>
                <a:gd name="connsiteX6-13" fmla="*/ 2980857 w 3640627"/>
                <a:gd name="connsiteY6-14" fmla="*/ 379396 h 923747"/>
                <a:gd name="connsiteX7-15" fmla="*/ 1826259 w 3640627"/>
                <a:gd name="connsiteY7-16" fmla="*/ 923747 h 923747"/>
                <a:gd name="connsiteX8-17" fmla="*/ 671662 w 3640627"/>
                <a:gd name="connsiteY8-18" fmla="*/ 412387 h 923747"/>
                <a:gd name="connsiteX9-19" fmla="*/ 523214 w 3640627"/>
                <a:gd name="connsiteY9-20" fmla="*/ 478369 h 923747"/>
                <a:gd name="connsiteX10-21" fmla="*/ 0 w 3640627"/>
                <a:gd name="connsiteY10-22" fmla="*/ 242051 h 923747"/>
                <a:gd name="connsiteX0-23" fmla="*/ 0 w 3640627"/>
                <a:gd name="connsiteY0-24" fmla="*/ 242051 h 923747"/>
                <a:gd name="connsiteX1-25" fmla="*/ 655168 w 3640627"/>
                <a:gd name="connsiteY1-26" fmla="*/ 16495 h 923747"/>
                <a:gd name="connsiteX2-27" fmla="*/ 1809765 w 3640627"/>
                <a:gd name="connsiteY2-28" fmla="*/ 511360 h 923747"/>
                <a:gd name="connsiteX3-29" fmla="*/ 2964363 w 3640627"/>
                <a:gd name="connsiteY3-30" fmla="*/ 0 h 923747"/>
                <a:gd name="connsiteX4-31" fmla="*/ 3640627 w 3640627"/>
                <a:gd name="connsiteY4-32" fmla="*/ 197946 h 923747"/>
                <a:gd name="connsiteX5-33" fmla="*/ 3195282 w 3640627"/>
                <a:gd name="connsiteY5-34" fmla="*/ 461874 h 923747"/>
                <a:gd name="connsiteX6-35" fmla="*/ 2980857 w 3640627"/>
                <a:gd name="connsiteY6-36" fmla="*/ 379396 h 923747"/>
                <a:gd name="connsiteX7-37" fmla="*/ 1826259 w 3640627"/>
                <a:gd name="connsiteY7-38" fmla="*/ 923747 h 923747"/>
                <a:gd name="connsiteX8-39" fmla="*/ 671662 w 3640627"/>
                <a:gd name="connsiteY8-40" fmla="*/ 412387 h 923747"/>
                <a:gd name="connsiteX9-41" fmla="*/ 523214 w 3640627"/>
                <a:gd name="connsiteY9-42" fmla="*/ 482971 h 923747"/>
                <a:gd name="connsiteX10-43" fmla="*/ 0 w 3640627"/>
                <a:gd name="connsiteY10-44" fmla="*/ 242051 h 923747"/>
                <a:gd name="connsiteX0-45" fmla="*/ 0 w 3640627"/>
                <a:gd name="connsiteY0-46" fmla="*/ 242051 h 923747"/>
                <a:gd name="connsiteX1-47" fmla="*/ 655168 w 3640627"/>
                <a:gd name="connsiteY1-48" fmla="*/ 16495 h 923747"/>
                <a:gd name="connsiteX2-49" fmla="*/ 1809765 w 3640627"/>
                <a:gd name="connsiteY2-50" fmla="*/ 511360 h 923747"/>
                <a:gd name="connsiteX3-51" fmla="*/ 2964363 w 3640627"/>
                <a:gd name="connsiteY3-52" fmla="*/ 0 h 923747"/>
                <a:gd name="connsiteX4-53" fmla="*/ 3640627 w 3640627"/>
                <a:gd name="connsiteY4-54" fmla="*/ 197946 h 923747"/>
                <a:gd name="connsiteX5-55" fmla="*/ 3195282 w 3640627"/>
                <a:gd name="connsiteY5-56" fmla="*/ 461874 h 923747"/>
                <a:gd name="connsiteX6-57" fmla="*/ 2980857 w 3640627"/>
                <a:gd name="connsiteY6-58" fmla="*/ 379396 h 923747"/>
                <a:gd name="connsiteX7-59" fmla="*/ 1826259 w 3640627"/>
                <a:gd name="connsiteY7-60" fmla="*/ 923747 h 923747"/>
                <a:gd name="connsiteX8-61" fmla="*/ 690067 w 3640627"/>
                <a:gd name="connsiteY8-62" fmla="*/ 412387 h 923747"/>
                <a:gd name="connsiteX9-63" fmla="*/ 523214 w 3640627"/>
                <a:gd name="connsiteY9-64" fmla="*/ 482971 h 923747"/>
                <a:gd name="connsiteX10-65" fmla="*/ 0 w 3640627"/>
                <a:gd name="connsiteY10-66" fmla="*/ 242051 h 923747"/>
                <a:gd name="connsiteX0-67" fmla="*/ 0 w 3640627"/>
                <a:gd name="connsiteY0-68" fmla="*/ 242051 h 946755"/>
                <a:gd name="connsiteX1-69" fmla="*/ 655168 w 3640627"/>
                <a:gd name="connsiteY1-70" fmla="*/ 16495 h 946755"/>
                <a:gd name="connsiteX2-71" fmla="*/ 1809765 w 3640627"/>
                <a:gd name="connsiteY2-72" fmla="*/ 511360 h 946755"/>
                <a:gd name="connsiteX3-73" fmla="*/ 2964363 w 3640627"/>
                <a:gd name="connsiteY3-74" fmla="*/ 0 h 946755"/>
                <a:gd name="connsiteX4-75" fmla="*/ 3640627 w 3640627"/>
                <a:gd name="connsiteY4-76" fmla="*/ 197946 h 946755"/>
                <a:gd name="connsiteX5-77" fmla="*/ 3195282 w 3640627"/>
                <a:gd name="connsiteY5-78" fmla="*/ 461874 h 946755"/>
                <a:gd name="connsiteX6-79" fmla="*/ 2980857 w 3640627"/>
                <a:gd name="connsiteY6-80" fmla="*/ 379396 h 946755"/>
                <a:gd name="connsiteX7-81" fmla="*/ 1876873 w 3640627"/>
                <a:gd name="connsiteY7-82" fmla="*/ 946755 h 946755"/>
                <a:gd name="connsiteX8-83" fmla="*/ 690067 w 3640627"/>
                <a:gd name="connsiteY8-84" fmla="*/ 412387 h 946755"/>
                <a:gd name="connsiteX9-85" fmla="*/ 523214 w 3640627"/>
                <a:gd name="connsiteY9-86" fmla="*/ 482971 h 946755"/>
                <a:gd name="connsiteX10-87" fmla="*/ 0 w 3640627"/>
                <a:gd name="connsiteY10-88" fmla="*/ 242051 h 946755"/>
                <a:gd name="connsiteX0-89" fmla="*/ 0 w 3640627"/>
                <a:gd name="connsiteY0-90" fmla="*/ 242051 h 946755"/>
                <a:gd name="connsiteX1-91" fmla="*/ 655168 w 3640627"/>
                <a:gd name="connsiteY1-92" fmla="*/ 16495 h 946755"/>
                <a:gd name="connsiteX2-93" fmla="*/ 1855778 w 3640627"/>
                <a:gd name="connsiteY2-94" fmla="*/ 534367 h 946755"/>
                <a:gd name="connsiteX3-95" fmla="*/ 2964363 w 3640627"/>
                <a:gd name="connsiteY3-96" fmla="*/ 0 h 946755"/>
                <a:gd name="connsiteX4-97" fmla="*/ 3640627 w 3640627"/>
                <a:gd name="connsiteY4-98" fmla="*/ 197946 h 946755"/>
                <a:gd name="connsiteX5-99" fmla="*/ 3195282 w 3640627"/>
                <a:gd name="connsiteY5-100" fmla="*/ 461874 h 946755"/>
                <a:gd name="connsiteX6-101" fmla="*/ 2980857 w 3640627"/>
                <a:gd name="connsiteY6-102" fmla="*/ 379396 h 946755"/>
                <a:gd name="connsiteX7-103" fmla="*/ 1876873 w 3640627"/>
                <a:gd name="connsiteY7-104" fmla="*/ 946755 h 946755"/>
                <a:gd name="connsiteX8-105" fmla="*/ 690067 w 3640627"/>
                <a:gd name="connsiteY8-106" fmla="*/ 412387 h 946755"/>
                <a:gd name="connsiteX9-107" fmla="*/ 523214 w 3640627"/>
                <a:gd name="connsiteY9-108" fmla="*/ 482971 h 946755"/>
                <a:gd name="connsiteX10-109" fmla="*/ 0 w 3640627"/>
                <a:gd name="connsiteY10-110" fmla="*/ 242051 h 946755"/>
                <a:gd name="connsiteX0-111" fmla="*/ 0 w 3640627"/>
                <a:gd name="connsiteY0-112" fmla="*/ 242051 h 946755"/>
                <a:gd name="connsiteX1-113" fmla="*/ 655168 w 3640627"/>
                <a:gd name="connsiteY1-114" fmla="*/ 16495 h 946755"/>
                <a:gd name="connsiteX2-115" fmla="*/ 1855778 w 3640627"/>
                <a:gd name="connsiteY2-116" fmla="*/ 534367 h 946755"/>
                <a:gd name="connsiteX3-117" fmla="*/ 2964363 w 3640627"/>
                <a:gd name="connsiteY3-118" fmla="*/ 0 h 946755"/>
                <a:gd name="connsiteX4-119" fmla="*/ 3640627 w 3640627"/>
                <a:gd name="connsiteY4-120" fmla="*/ 197946 h 946755"/>
                <a:gd name="connsiteX5-121" fmla="*/ 3195282 w 3640627"/>
                <a:gd name="connsiteY5-122" fmla="*/ 461874 h 946755"/>
                <a:gd name="connsiteX6-123" fmla="*/ 3008465 w 3640627"/>
                <a:gd name="connsiteY6-124" fmla="*/ 402404 h 946755"/>
                <a:gd name="connsiteX7-125" fmla="*/ 1876873 w 3640627"/>
                <a:gd name="connsiteY7-126" fmla="*/ 946755 h 946755"/>
                <a:gd name="connsiteX8-127" fmla="*/ 690067 w 3640627"/>
                <a:gd name="connsiteY8-128" fmla="*/ 412387 h 946755"/>
                <a:gd name="connsiteX9-129" fmla="*/ 523214 w 3640627"/>
                <a:gd name="connsiteY9-130" fmla="*/ 482971 h 946755"/>
                <a:gd name="connsiteX10-131" fmla="*/ 0 w 3640627"/>
                <a:gd name="connsiteY10-132" fmla="*/ 242051 h 946755"/>
                <a:gd name="connsiteX0-133" fmla="*/ 0 w 3723451"/>
                <a:gd name="connsiteY0-134" fmla="*/ 242051 h 946755"/>
                <a:gd name="connsiteX1-135" fmla="*/ 655168 w 3723451"/>
                <a:gd name="connsiteY1-136" fmla="*/ 16495 h 946755"/>
                <a:gd name="connsiteX2-137" fmla="*/ 1855778 w 3723451"/>
                <a:gd name="connsiteY2-138" fmla="*/ 534367 h 946755"/>
                <a:gd name="connsiteX3-139" fmla="*/ 2964363 w 3723451"/>
                <a:gd name="connsiteY3-140" fmla="*/ 0 h 946755"/>
                <a:gd name="connsiteX4-141" fmla="*/ 3723451 w 3723451"/>
                <a:gd name="connsiteY4-142" fmla="*/ 220954 h 946755"/>
                <a:gd name="connsiteX5-143" fmla="*/ 3195282 w 3723451"/>
                <a:gd name="connsiteY5-144" fmla="*/ 461874 h 946755"/>
                <a:gd name="connsiteX6-145" fmla="*/ 3008465 w 3723451"/>
                <a:gd name="connsiteY6-146" fmla="*/ 402404 h 946755"/>
                <a:gd name="connsiteX7-147" fmla="*/ 1876873 w 3723451"/>
                <a:gd name="connsiteY7-148" fmla="*/ 946755 h 946755"/>
                <a:gd name="connsiteX8-149" fmla="*/ 690067 w 3723451"/>
                <a:gd name="connsiteY8-150" fmla="*/ 412387 h 946755"/>
                <a:gd name="connsiteX9-151" fmla="*/ 523214 w 3723451"/>
                <a:gd name="connsiteY9-152" fmla="*/ 482971 h 946755"/>
                <a:gd name="connsiteX10-153" fmla="*/ 0 w 3723451"/>
                <a:gd name="connsiteY10-154" fmla="*/ 242051 h 946755"/>
                <a:gd name="connsiteX0-155" fmla="*/ 0 w 3723451"/>
                <a:gd name="connsiteY0-156" fmla="*/ 228246 h 932950"/>
                <a:gd name="connsiteX1-157" fmla="*/ 655168 w 3723451"/>
                <a:gd name="connsiteY1-158" fmla="*/ 2690 h 932950"/>
                <a:gd name="connsiteX2-159" fmla="*/ 1855778 w 3723451"/>
                <a:gd name="connsiteY2-160" fmla="*/ 520562 h 932950"/>
                <a:gd name="connsiteX3-161" fmla="*/ 3001174 w 3723451"/>
                <a:gd name="connsiteY3-162" fmla="*/ 0 h 932950"/>
                <a:gd name="connsiteX4-163" fmla="*/ 3723451 w 3723451"/>
                <a:gd name="connsiteY4-164" fmla="*/ 207149 h 932950"/>
                <a:gd name="connsiteX5-165" fmla="*/ 3195282 w 3723451"/>
                <a:gd name="connsiteY5-166" fmla="*/ 448069 h 932950"/>
                <a:gd name="connsiteX6-167" fmla="*/ 3008465 w 3723451"/>
                <a:gd name="connsiteY6-168" fmla="*/ 388599 h 932950"/>
                <a:gd name="connsiteX7-169" fmla="*/ 1876873 w 3723451"/>
                <a:gd name="connsiteY7-170" fmla="*/ 932950 h 932950"/>
                <a:gd name="connsiteX8-171" fmla="*/ 690067 w 3723451"/>
                <a:gd name="connsiteY8-172" fmla="*/ 398582 h 932950"/>
                <a:gd name="connsiteX9-173" fmla="*/ 523214 w 3723451"/>
                <a:gd name="connsiteY9-174" fmla="*/ 469166 h 932950"/>
                <a:gd name="connsiteX10-175" fmla="*/ 0 w 3723451"/>
                <a:gd name="connsiteY10-176" fmla="*/ 228246 h 932950"/>
                <a:gd name="connsiteX0-177" fmla="*/ 0 w 3723451"/>
                <a:gd name="connsiteY0-178" fmla="*/ 228246 h 932950"/>
                <a:gd name="connsiteX1-179" fmla="*/ 655168 w 3723451"/>
                <a:gd name="connsiteY1-180" fmla="*/ 2690 h 932950"/>
                <a:gd name="connsiteX2-181" fmla="*/ 1855778 w 3723451"/>
                <a:gd name="connsiteY2-182" fmla="*/ 520562 h 932950"/>
                <a:gd name="connsiteX3-183" fmla="*/ 3001174 w 3723451"/>
                <a:gd name="connsiteY3-184" fmla="*/ 0 h 932950"/>
                <a:gd name="connsiteX4-185" fmla="*/ 3723451 w 3723451"/>
                <a:gd name="connsiteY4-186" fmla="*/ 207149 h 932950"/>
                <a:gd name="connsiteX5-187" fmla="*/ 3195282 w 3723451"/>
                <a:gd name="connsiteY5-188" fmla="*/ 448069 h 932950"/>
                <a:gd name="connsiteX6-189" fmla="*/ 3013067 w 3723451"/>
                <a:gd name="connsiteY6-190" fmla="*/ 393200 h 932950"/>
                <a:gd name="connsiteX7-191" fmla="*/ 1876873 w 3723451"/>
                <a:gd name="connsiteY7-192" fmla="*/ 932950 h 932950"/>
                <a:gd name="connsiteX8-193" fmla="*/ 690067 w 3723451"/>
                <a:gd name="connsiteY8-194" fmla="*/ 398582 h 932950"/>
                <a:gd name="connsiteX9-195" fmla="*/ 523214 w 3723451"/>
                <a:gd name="connsiteY9-196" fmla="*/ 469166 h 932950"/>
                <a:gd name="connsiteX10-197" fmla="*/ 0 w 3723451"/>
                <a:gd name="connsiteY10-198" fmla="*/ 228246 h 932950"/>
                <a:gd name="connsiteX0-199" fmla="*/ 0 w 3723451"/>
                <a:gd name="connsiteY0-200" fmla="*/ 228246 h 932950"/>
                <a:gd name="connsiteX1-201" fmla="*/ 655168 w 3723451"/>
                <a:gd name="connsiteY1-202" fmla="*/ 2690 h 932950"/>
                <a:gd name="connsiteX2-203" fmla="*/ 1855778 w 3723451"/>
                <a:gd name="connsiteY2-204" fmla="*/ 520562 h 932950"/>
                <a:gd name="connsiteX3-205" fmla="*/ 3001174 w 3723451"/>
                <a:gd name="connsiteY3-206" fmla="*/ 0 h 932950"/>
                <a:gd name="connsiteX4-207" fmla="*/ 3723451 w 3723451"/>
                <a:gd name="connsiteY4-208" fmla="*/ 207149 h 932950"/>
                <a:gd name="connsiteX5-209" fmla="*/ 3186079 w 3723451"/>
                <a:gd name="connsiteY5-210" fmla="*/ 461874 h 932950"/>
                <a:gd name="connsiteX6-211" fmla="*/ 3013067 w 3723451"/>
                <a:gd name="connsiteY6-212" fmla="*/ 393200 h 932950"/>
                <a:gd name="connsiteX7-213" fmla="*/ 1876873 w 3723451"/>
                <a:gd name="connsiteY7-214" fmla="*/ 932950 h 932950"/>
                <a:gd name="connsiteX8-215" fmla="*/ 690067 w 3723451"/>
                <a:gd name="connsiteY8-216" fmla="*/ 398582 h 932950"/>
                <a:gd name="connsiteX9-217" fmla="*/ 523214 w 3723451"/>
                <a:gd name="connsiteY9-218" fmla="*/ 469166 h 932950"/>
                <a:gd name="connsiteX10-219" fmla="*/ 0 w 3723451"/>
                <a:gd name="connsiteY10-220" fmla="*/ 228246 h 932950"/>
                <a:gd name="connsiteX0-221" fmla="*/ 0 w 3723451"/>
                <a:gd name="connsiteY0-222" fmla="*/ 228246 h 932950"/>
                <a:gd name="connsiteX1-223" fmla="*/ 655168 w 3723451"/>
                <a:gd name="connsiteY1-224" fmla="*/ 2690 h 932950"/>
                <a:gd name="connsiteX2-225" fmla="*/ 1855778 w 3723451"/>
                <a:gd name="connsiteY2-226" fmla="*/ 520562 h 932950"/>
                <a:gd name="connsiteX3-227" fmla="*/ 3001174 w 3723451"/>
                <a:gd name="connsiteY3-228" fmla="*/ 0 h 932950"/>
                <a:gd name="connsiteX4-229" fmla="*/ 3723451 w 3723451"/>
                <a:gd name="connsiteY4-230" fmla="*/ 207149 h 932950"/>
                <a:gd name="connsiteX5-231" fmla="*/ 3186079 w 3723451"/>
                <a:gd name="connsiteY5-232" fmla="*/ 461874 h 932950"/>
                <a:gd name="connsiteX6-233" fmla="*/ 3013067 w 3723451"/>
                <a:gd name="connsiteY6-234" fmla="*/ 393200 h 932950"/>
                <a:gd name="connsiteX7-235" fmla="*/ 1876873 w 3723451"/>
                <a:gd name="connsiteY7-236" fmla="*/ 932950 h 932950"/>
                <a:gd name="connsiteX8-237" fmla="*/ 711613 w 3723451"/>
                <a:gd name="connsiteY8-238" fmla="*/ 413055 h 932950"/>
                <a:gd name="connsiteX9-239" fmla="*/ 523214 w 3723451"/>
                <a:gd name="connsiteY9-240" fmla="*/ 469166 h 932950"/>
                <a:gd name="connsiteX10-241" fmla="*/ 0 w 3723451"/>
                <a:gd name="connsiteY10-242" fmla="*/ 228246 h 932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29" name="Freeform 228"/>
            <p:cNvSpPr/>
            <p:nvPr/>
          </p:nvSpPr>
          <p:spPr bwMode="auto">
            <a:xfrm>
              <a:off x="2535823" y="1728692"/>
              <a:ext cx="244119" cy="9658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1" fmla="*/ 4602 w 1371198"/>
                <a:gd name="connsiteY0-2" fmla="*/ 0 h 800665"/>
                <a:gd name="connsiteX1-3" fmla="*/ 1371198 w 1371198"/>
                <a:gd name="connsiteY1-4" fmla="*/ 625807 h 800665"/>
                <a:gd name="connsiteX2-5" fmla="*/ 897260 w 1371198"/>
                <a:gd name="connsiteY2-6" fmla="*/ 800665 h 800665"/>
                <a:gd name="connsiteX3-7" fmla="*/ 0 w 1371198"/>
                <a:gd name="connsiteY3-8" fmla="*/ 404934 h 800665"/>
                <a:gd name="connsiteX4-9" fmla="*/ 4602 w 1371198"/>
                <a:gd name="connsiteY4-10" fmla="*/ 0 h 800665"/>
                <a:gd name="connsiteX0-11" fmla="*/ 0 w 1366596"/>
                <a:gd name="connsiteY0-12" fmla="*/ 0 h 800665"/>
                <a:gd name="connsiteX1-13" fmla="*/ 1366596 w 1366596"/>
                <a:gd name="connsiteY1-14" fmla="*/ 625807 h 800665"/>
                <a:gd name="connsiteX2-15" fmla="*/ 892658 w 1366596"/>
                <a:gd name="connsiteY2-16" fmla="*/ 800665 h 800665"/>
                <a:gd name="connsiteX3-17" fmla="*/ 4601 w 1366596"/>
                <a:gd name="connsiteY3-18" fmla="*/ 427942 h 800665"/>
                <a:gd name="connsiteX4-19" fmla="*/ 0 w 1366596"/>
                <a:gd name="connsiteY4-20" fmla="*/ 0 h 800665"/>
                <a:gd name="connsiteX0-21" fmla="*/ 0 w 1366596"/>
                <a:gd name="connsiteY0-22" fmla="*/ 0 h 800665"/>
                <a:gd name="connsiteX1-23" fmla="*/ 1366596 w 1366596"/>
                <a:gd name="connsiteY1-24" fmla="*/ 625807 h 800665"/>
                <a:gd name="connsiteX2-25" fmla="*/ 892658 w 1366596"/>
                <a:gd name="connsiteY2-26" fmla="*/ 800665 h 800665"/>
                <a:gd name="connsiteX3-27" fmla="*/ 4601 w 1366596"/>
                <a:gd name="connsiteY3-28" fmla="*/ 427942 h 800665"/>
                <a:gd name="connsiteX4-29" fmla="*/ 0 w 1366596"/>
                <a:gd name="connsiteY4-30" fmla="*/ 0 h 800665"/>
                <a:gd name="connsiteX0-31" fmla="*/ 0 w 1366596"/>
                <a:gd name="connsiteY0-32" fmla="*/ 0 h 800665"/>
                <a:gd name="connsiteX1-33" fmla="*/ 1366596 w 1366596"/>
                <a:gd name="connsiteY1-34" fmla="*/ 625807 h 800665"/>
                <a:gd name="connsiteX2-35" fmla="*/ 892658 w 1366596"/>
                <a:gd name="connsiteY2-36" fmla="*/ 800665 h 800665"/>
                <a:gd name="connsiteX3-37" fmla="*/ 4601 w 1366596"/>
                <a:gd name="connsiteY3-38" fmla="*/ 427942 h 800665"/>
                <a:gd name="connsiteX4-39" fmla="*/ 0 w 1366596"/>
                <a:gd name="connsiteY4-40" fmla="*/ 0 h 800665"/>
                <a:gd name="connsiteX0-41" fmla="*/ 0 w 1366596"/>
                <a:gd name="connsiteY0-42" fmla="*/ 0 h 809868"/>
                <a:gd name="connsiteX1-43" fmla="*/ 1366596 w 1366596"/>
                <a:gd name="connsiteY1-44" fmla="*/ 625807 h 809868"/>
                <a:gd name="connsiteX2-45" fmla="*/ 865050 w 1366596"/>
                <a:gd name="connsiteY2-46" fmla="*/ 809868 h 809868"/>
                <a:gd name="connsiteX3-47" fmla="*/ 4601 w 1366596"/>
                <a:gd name="connsiteY3-48" fmla="*/ 427942 h 809868"/>
                <a:gd name="connsiteX4-49" fmla="*/ 0 w 1366596"/>
                <a:gd name="connsiteY4-50" fmla="*/ 0 h 8098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0" name="Freeform 229"/>
            <p:cNvSpPr/>
            <p:nvPr/>
          </p:nvSpPr>
          <p:spPr bwMode="auto">
            <a:xfrm>
              <a:off x="2090985" y="1730839"/>
              <a:ext cx="238694" cy="9658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1" fmla="*/ 1329786 w 1348191"/>
                <a:gd name="connsiteY0-2" fmla="*/ 0 h 791462"/>
                <a:gd name="connsiteX1-3" fmla="*/ 1348191 w 1348191"/>
                <a:gd name="connsiteY1-4" fmla="*/ 381926 h 791462"/>
                <a:gd name="connsiteX2-5" fmla="*/ 487742 w 1348191"/>
                <a:gd name="connsiteY2-6" fmla="*/ 791462 h 791462"/>
                <a:gd name="connsiteX3-7" fmla="*/ 0 w 1348191"/>
                <a:gd name="connsiteY3-8" fmla="*/ 612002 h 791462"/>
                <a:gd name="connsiteX4-9" fmla="*/ 1329786 w 1348191"/>
                <a:gd name="connsiteY4-10" fmla="*/ 0 h 7914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cxnSp>
          <p:nvCxnSpPr>
            <p:cNvPr id="231" name="Straight Connector 230"/>
            <p:cNvCxnSpPr>
              <a:stCxn id="91219" idx="2"/>
              <a:endCxn id="226" idx="2"/>
            </p:cNvCxnSpPr>
            <p:nvPr/>
          </p:nvCxnSpPr>
          <p:spPr bwMode="auto">
            <a:xfrm flipH="1" flipV="1">
              <a:off x="1871277" y="1737278"/>
              <a:ext cx="2713" cy="12234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32" name="Straight Connector 231"/>
            <p:cNvCxnSpPr>
              <a:stCxn id="91219" idx="2"/>
              <a:endCxn id="226" idx="2"/>
            </p:cNvCxnSpPr>
            <p:nvPr/>
          </p:nvCxnSpPr>
          <p:spPr bwMode="auto">
            <a:xfrm flipH="1" flipV="1">
              <a:off x="2996936" y="1735132"/>
              <a:ext cx="2712" cy="1223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1246" name="Group 782"/>
          <p:cNvGrpSpPr/>
          <p:nvPr/>
        </p:nvGrpSpPr>
        <p:grpSpPr>
          <a:xfrm>
            <a:off x="2166938" y="4862513"/>
            <a:ext cx="333375" cy="422275"/>
            <a:chOff x="742" y="2409"/>
            <a:chExt cx="576" cy="881"/>
          </a:xfrm>
        </p:grpSpPr>
        <p:grpSp>
          <p:nvGrpSpPr>
            <p:cNvPr id="91247" name="Group 783"/>
            <p:cNvGrpSpPr/>
            <p:nvPr/>
          </p:nvGrpSpPr>
          <p:grpSpPr>
            <a:xfrm>
              <a:off x="832" y="2643"/>
              <a:ext cx="376" cy="647"/>
              <a:chOff x="3130" y="3288"/>
              <a:chExt cx="410" cy="742"/>
            </a:xfrm>
          </p:grpSpPr>
          <p:sp>
            <p:nvSpPr>
              <p:cNvPr id="91248"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1249"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1250"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1251"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1252"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1253"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1254"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1255"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1256"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1257"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1258"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1259"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1260"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1261"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1262"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1263"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1264"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1265" name="Group 782"/>
          <p:cNvGrpSpPr/>
          <p:nvPr/>
        </p:nvGrpSpPr>
        <p:grpSpPr>
          <a:xfrm>
            <a:off x="2578100" y="5214938"/>
            <a:ext cx="333375" cy="420687"/>
            <a:chOff x="742" y="2409"/>
            <a:chExt cx="576" cy="881"/>
          </a:xfrm>
        </p:grpSpPr>
        <p:grpSp>
          <p:nvGrpSpPr>
            <p:cNvPr id="91266" name="Group 783"/>
            <p:cNvGrpSpPr/>
            <p:nvPr/>
          </p:nvGrpSpPr>
          <p:grpSpPr>
            <a:xfrm>
              <a:off x="832" y="2643"/>
              <a:ext cx="376" cy="647"/>
              <a:chOff x="3130" y="3288"/>
              <a:chExt cx="410" cy="742"/>
            </a:xfrm>
          </p:grpSpPr>
          <p:sp>
            <p:nvSpPr>
              <p:cNvPr id="91267"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1268"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1269"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1270"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1271"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1272"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1273"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1274"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1275"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1276"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1277"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1278"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1279"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1280"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1281"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1282"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1283"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grpSp>
        <p:nvGrpSpPr>
          <p:cNvPr id="91284" name="Group 782"/>
          <p:cNvGrpSpPr/>
          <p:nvPr/>
        </p:nvGrpSpPr>
        <p:grpSpPr>
          <a:xfrm>
            <a:off x="2203450" y="5480050"/>
            <a:ext cx="331788" cy="422275"/>
            <a:chOff x="742" y="2409"/>
            <a:chExt cx="576" cy="881"/>
          </a:xfrm>
        </p:grpSpPr>
        <p:grpSp>
          <p:nvGrpSpPr>
            <p:cNvPr id="91285" name="Group 783"/>
            <p:cNvGrpSpPr/>
            <p:nvPr/>
          </p:nvGrpSpPr>
          <p:grpSpPr>
            <a:xfrm>
              <a:off x="832" y="2643"/>
              <a:ext cx="376" cy="647"/>
              <a:chOff x="3130" y="3288"/>
              <a:chExt cx="410" cy="742"/>
            </a:xfrm>
          </p:grpSpPr>
          <p:sp>
            <p:nvSpPr>
              <p:cNvPr id="91286" name="Line 270"/>
              <p:cNvSpPr/>
              <p:nvPr/>
            </p:nvSpPr>
            <p:spPr>
              <a:xfrm flipH="1">
                <a:off x="3130" y="3288"/>
                <a:ext cx="205" cy="672"/>
              </a:xfrm>
              <a:prstGeom prst="line">
                <a:avLst/>
              </a:prstGeom>
              <a:ln w="19050" cap="flat" cmpd="sng">
                <a:solidFill>
                  <a:schemeClr val="tx1"/>
                </a:solidFill>
                <a:prstDash val="solid"/>
                <a:round/>
                <a:headEnd type="none" w="med" len="med"/>
                <a:tailEnd type="none" w="med" len="med"/>
              </a:ln>
            </p:spPr>
          </p:sp>
          <p:sp>
            <p:nvSpPr>
              <p:cNvPr id="91287" name="Line 271"/>
              <p:cNvSpPr/>
              <p:nvPr/>
            </p:nvSpPr>
            <p:spPr>
              <a:xfrm>
                <a:off x="3335" y="3288"/>
                <a:ext cx="205" cy="669"/>
              </a:xfrm>
              <a:prstGeom prst="line">
                <a:avLst/>
              </a:prstGeom>
              <a:ln w="19050" cap="flat" cmpd="sng">
                <a:solidFill>
                  <a:schemeClr val="tx1"/>
                </a:solidFill>
                <a:prstDash val="solid"/>
                <a:round/>
                <a:headEnd type="none" w="med" len="med"/>
                <a:tailEnd type="none" w="med" len="med"/>
              </a:ln>
            </p:spPr>
          </p:sp>
          <p:sp>
            <p:nvSpPr>
              <p:cNvPr id="91288" name="Line 272"/>
              <p:cNvSpPr/>
              <p:nvPr/>
            </p:nvSpPr>
            <p:spPr>
              <a:xfrm>
                <a:off x="3130" y="3957"/>
                <a:ext cx="205" cy="73"/>
              </a:xfrm>
              <a:prstGeom prst="line">
                <a:avLst/>
              </a:prstGeom>
              <a:ln w="19050" cap="flat" cmpd="sng">
                <a:solidFill>
                  <a:schemeClr val="tx1"/>
                </a:solidFill>
                <a:prstDash val="solid"/>
                <a:round/>
                <a:headEnd type="none" w="med" len="med"/>
                <a:tailEnd type="none" w="med" len="med"/>
              </a:ln>
            </p:spPr>
          </p:sp>
          <p:sp>
            <p:nvSpPr>
              <p:cNvPr id="91289" name="Line 273"/>
              <p:cNvSpPr/>
              <p:nvPr/>
            </p:nvSpPr>
            <p:spPr>
              <a:xfrm flipH="1">
                <a:off x="3335" y="3957"/>
                <a:ext cx="205" cy="73"/>
              </a:xfrm>
              <a:prstGeom prst="line">
                <a:avLst/>
              </a:prstGeom>
              <a:ln w="19050" cap="flat" cmpd="sng">
                <a:solidFill>
                  <a:schemeClr val="tx1"/>
                </a:solidFill>
                <a:prstDash val="solid"/>
                <a:round/>
                <a:headEnd type="none" w="med" len="med"/>
                <a:tailEnd type="none" w="med" len="med"/>
              </a:ln>
            </p:spPr>
          </p:sp>
          <p:sp>
            <p:nvSpPr>
              <p:cNvPr id="91290" name="Line 274"/>
              <p:cNvSpPr/>
              <p:nvPr/>
            </p:nvSpPr>
            <p:spPr>
              <a:xfrm>
                <a:off x="3335" y="3303"/>
                <a:ext cx="0" cy="727"/>
              </a:xfrm>
              <a:prstGeom prst="line">
                <a:avLst/>
              </a:prstGeom>
              <a:ln w="19050" cap="flat" cmpd="sng">
                <a:solidFill>
                  <a:schemeClr val="tx1"/>
                </a:solidFill>
                <a:prstDash val="solid"/>
                <a:round/>
                <a:headEnd type="none" w="med" len="med"/>
                <a:tailEnd type="none" w="med" len="med"/>
              </a:ln>
            </p:spPr>
          </p:sp>
          <p:sp>
            <p:nvSpPr>
              <p:cNvPr id="91291" name="Line 275"/>
              <p:cNvSpPr/>
              <p:nvPr/>
            </p:nvSpPr>
            <p:spPr>
              <a:xfrm flipV="1">
                <a:off x="3130" y="3888"/>
                <a:ext cx="205" cy="72"/>
              </a:xfrm>
              <a:prstGeom prst="line">
                <a:avLst/>
              </a:prstGeom>
              <a:ln w="19050" cap="flat" cmpd="sng">
                <a:solidFill>
                  <a:schemeClr val="tx1"/>
                </a:solidFill>
                <a:prstDash val="solid"/>
                <a:round/>
                <a:headEnd type="none" w="med" len="med"/>
                <a:tailEnd type="none" w="med" len="med"/>
              </a:ln>
            </p:spPr>
          </p:sp>
          <p:sp>
            <p:nvSpPr>
              <p:cNvPr id="91292" name="Line 276"/>
              <p:cNvSpPr/>
              <p:nvPr/>
            </p:nvSpPr>
            <p:spPr>
              <a:xfrm flipH="1" flipV="1">
                <a:off x="3335" y="3888"/>
                <a:ext cx="205" cy="69"/>
              </a:xfrm>
              <a:prstGeom prst="line">
                <a:avLst/>
              </a:prstGeom>
              <a:ln w="19050" cap="flat" cmpd="sng">
                <a:solidFill>
                  <a:schemeClr val="tx1"/>
                </a:solidFill>
                <a:prstDash val="solid"/>
                <a:round/>
                <a:headEnd type="none" w="med" len="med"/>
                <a:tailEnd type="none" w="med" len="med"/>
              </a:ln>
            </p:spPr>
          </p:sp>
          <p:sp>
            <p:nvSpPr>
              <p:cNvPr id="91293" name="Line 277"/>
              <p:cNvSpPr/>
              <p:nvPr/>
            </p:nvSpPr>
            <p:spPr>
              <a:xfrm>
                <a:off x="3217" y="3668"/>
                <a:ext cx="118" cy="55"/>
              </a:xfrm>
              <a:prstGeom prst="line">
                <a:avLst/>
              </a:prstGeom>
              <a:ln w="19050" cap="flat" cmpd="sng">
                <a:solidFill>
                  <a:schemeClr val="tx1"/>
                </a:solidFill>
                <a:prstDash val="solid"/>
                <a:round/>
                <a:headEnd type="none" w="med" len="med"/>
                <a:tailEnd type="none" w="med" len="med"/>
              </a:ln>
            </p:spPr>
          </p:sp>
          <p:sp>
            <p:nvSpPr>
              <p:cNvPr id="91294" name="Line 278"/>
              <p:cNvSpPr/>
              <p:nvPr/>
            </p:nvSpPr>
            <p:spPr>
              <a:xfrm flipV="1">
                <a:off x="3335" y="3668"/>
                <a:ext cx="124" cy="55"/>
              </a:xfrm>
              <a:prstGeom prst="line">
                <a:avLst/>
              </a:prstGeom>
              <a:ln w="19050" cap="flat" cmpd="sng">
                <a:solidFill>
                  <a:schemeClr val="tx1"/>
                </a:solidFill>
                <a:prstDash val="solid"/>
                <a:round/>
                <a:headEnd type="none" w="med" len="med"/>
                <a:tailEnd type="none" w="med" len="med"/>
              </a:ln>
            </p:spPr>
          </p:sp>
          <p:sp>
            <p:nvSpPr>
              <p:cNvPr id="91295" name="Line 279"/>
              <p:cNvSpPr/>
              <p:nvPr/>
            </p:nvSpPr>
            <p:spPr>
              <a:xfrm>
                <a:off x="3178" y="3766"/>
                <a:ext cx="152" cy="75"/>
              </a:xfrm>
              <a:prstGeom prst="line">
                <a:avLst/>
              </a:prstGeom>
              <a:ln w="19050" cap="flat" cmpd="sng">
                <a:solidFill>
                  <a:schemeClr val="tx1"/>
                </a:solidFill>
                <a:prstDash val="solid"/>
                <a:round/>
                <a:headEnd type="none" w="med" len="med"/>
                <a:tailEnd type="none" w="med" len="med"/>
              </a:ln>
            </p:spPr>
          </p:sp>
          <p:sp>
            <p:nvSpPr>
              <p:cNvPr id="91296" name="Line 280"/>
              <p:cNvSpPr/>
              <p:nvPr/>
            </p:nvSpPr>
            <p:spPr>
              <a:xfrm flipV="1">
                <a:off x="3335" y="3781"/>
                <a:ext cx="153" cy="66"/>
              </a:xfrm>
              <a:prstGeom prst="line">
                <a:avLst/>
              </a:prstGeom>
              <a:ln w="19050" cap="flat" cmpd="sng">
                <a:solidFill>
                  <a:schemeClr val="tx1"/>
                </a:solidFill>
                <a:prstDash val="solid"/>
                <a:round/>
                <a:headEnd type="none" w="med" len="med"/>
                <a:tailEnd type="none" w="med" len="med"/>
              </a:ln>
            </p:spPr>
          </p:sp>
          <p:sp>
            <p:nvSpPr>
              <p:cNvPr id="91297" name="Line 281"/>
              <p:cNvSpPr/>
              <p:nvPr/>
            </p:nvSpPr>
            <p:spPr>
              <a:xfrm flipV="1">
                <a:off x="3335" y="3567"/>
                <a:ext cx="78" cy="27"/>
              </a:xfrm>
              <a:prstGeom prst="line">
                <a:avLst/>
              </a:prstGeom>
              <a:ln w="19050" cap="flat" cmpd="sng">
                <a:solidFill>
                  <a:schemeClr val="tx1"/>
                </a:solidFill>
                <a:prstDash val="solid"/>
                <a:round/>
                <a:headEnd type="none" w="med" len="med"/>
                <a:tailEnd type="none" w="med" len="med"/>
              </a:ln>
            </p:spPr>
          </p:sp>
          <p:sp>
            <p:nvSpPr>
              <p:cNvPr id="91298" name="Line 282"/>
              <p:cNvSpPr/>
              <p:nvPr/>
            </p:nvSpPr>
            <p:spPr>
              <a:xfrm flipV="1">
                <a:off x="3335" y="3428"/>
                <a:ext cx="49" cy="21"/>
              </a:xfrm>
              <a:prstGeom prst="line">
                <a:avLst/>
              </a:prstGeom>
              <a:ln w="19050" cap="flat" cmpd="sng">
                <a:solidFill>
                  <a:schemeClr val="tx1"/>
                </a:solidFill>
                <a:prstDash val="solid"/>
                <a:round/>
                <a:headEnd type="none" w="med" len="med"/>
                <a:tailEnd type="none" w="med" len="med"/>
              </a:ln>
            </p:spPr>
          </p:sp>
          <p:sp>
            <p:nvSpPr>
              <p:cNvPr id="91299" name="Line 283"/>
              <p:cNvSpPr/>
              <p:nvPr/>
            </p:nvSpPr>
            <p:spPr>
              <a:xfrm>
                <a:off x="3247" y="3558"/>
                <a:ext cx="95" cy="36"/>
              </a:xfrm>
              <a:prstGeom prst="line">
                <a:avLst/>
              </a:prstGeom>
              <a:ln w="19050" cap="flat" cmpd="sng">
                <a:solidFill>
                  <a:schemeClr val="tx1"/>
                </a:solidFill>
                <a:prstDash val="solid"/>
                <a:round/>
                <a:headEnd type="none" w="med" len="med"/>
                <a:tailEnd type="none" w="med" len="med"/>
              </a:ln>
            </p:spPr>
          </p:sp>
          <p:sp>
            <p:nvSpPr>
              <p:cNvPr id="91300" name="Line 284"/>
              <p:cNvSpPr/>
              <p:nvPr/>
            </p:nvSpPr>
            <p:spPr>
              <a:xfrm>
                <a:off x="3289" y="3422"/>
                <a:ext cx="55" cy="36"/>
              </a:xfrm>
              <a:prstGeom prst="line">
                <a:avLst/>
              </a:prstGeom>
              <a:ln w="19050" cap="flat" cmpd="sng">
                <a:solidFill>
                  <a:schemeClr val="tx1"/>
                </a:solidFill>
                <a:prstDash val="solid"/>
                <a:round/>
                <a:headEnd type="none" w="med" len="med"/>
                <a:tailEnd type="none" w="med" len="med"/>
              </a:ln>
            </p:spPr>
          </p:sp>
        </p:grpSp>
        <p:pic>
          <p:nvPicPr>
            <p:cNvPr id="91301" name="Picture 799" descr="cell_tower_radiation copy"/>
            <p:cNvPicPr>
              <a:picLocks noChangeAspect="1"/>
            </p:cNvPicPr>
            <p:nvPr/>
          </p:nvPicPr>
          <p:blipFill>
            <a:blip r:embed="rId4"/>
            <a:stretch>
              <a:fillRect/>
            </a:stretch>
          </p:blipFill>
          <p:spPr>
            <a:xfrm>
              <a:off x="742" y="2409"/>
              <a:ext cx="576" cy="464"/>
            </a:xfrm>
            <a:prstGeom prst="rect">
              <a:avLst/>
            </a:prstGeom>
            <a:noFill/>
            <a:ln w="9525">
              <a:noFill/>
            </a:ln>
          </p:spPr>
        </p:pic>
        <p:sp>
          <p:nvSpPr>
            <p:cNvPr id="91302" name="Oval 800"/>
            <p:cNvSpPr/>
            <p:nvPr/>
          </p:nvSpPr>
          <p:spPr>
            <a:xfrm>
              <a:off x="986" y="2597"/>
              <a:ext cx="66" cy="69"/>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en-US" altLang="zh-CN" dirty="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9318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318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outline</a:t>
            </a:r>
            <a:endParaRPr lang="en-US" altLang="zh-CN" dirty="0">
              <a:ea typeface="宋体" panose="02010600030101010101" pitchFamily="2" charset="-122"/>
            </a:endParaRPr>
          </a:p>
        </p:txBody>
      </p:sp>
      <p:sp>
        <p:nvSpPr>
          <p:cNvPr id="93188"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chemeClr val="accent2"/>
                </a:solidFill>
                <a:ea typeface="宋体" panose="02010600030101010101" pitchFamily="2" charset="-122"/>
              </a:rPr>
              <a:t>6.1 </a:t>
            </a:r>
            <a:r>
              <a:rPr lang="en-US" altLang="zh-CN" sz="2400" dirty="0">
                <a:ea typeface="宋体" panose="02010600030101010101" pitchFamily="2" charset="-122"/>
              </a:rPr>
              <a:t>Introduction </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Wireless</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6.2 </a:t>
            </a:r>
            <a:r>
              <a:rPr lang="en-US" altLang="zh-CN" sz="2400" dirty="0">
                <a:ea typeface="宋体" panose="02010600030101010101" pitchFamily="2" charset="-122"/>
              </a:rPr>
              <a:t>Wireless links, characteristics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6.3 </a:t>
            </a:r>
            <a:r>
              <a:rPr lang="en-US" altLang="zh-CN" sz="2400" dirty="0">
                <a:ea typeface="宋体" panose="02010600030101010101" pitchFamily="2" charset="-122"/>
              </a:rPr>
              <a:t>IEEE 802.11 wireless LANs (“wi-fi”)</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chemeClr val="accent2"/>
                </a:solidFill>
                <a:ea typeface="宋体" panose="02010600030101010101" pitchFamily="2" charset="-122"/>
              </a:rPr>
              <a:t>6.4</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Cellular Internet Access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a:t>
            </a:r>
            <a:endParaRPr lang="en-US" altLang="zh-CN" sz="2000" dirty="0">
              <a:ea typeface="宋体" panose="02010600030101010101" pitchFamily="2" charset="-122"/>
            </a:endParaRPr>
          </a:p>
        </p:txBody>
      </p:sp>
      <p:sp>
        <p:nvSpPr>
          <p:cNvPr id="93189" name="Rectangle 4"/>
          <p:cNvSpPr>
            <a:spLocks noGrp="1"/>
          </p:cNvSpPr>
          <p:nvPr>
            <p:ph sz="half" idx="2"/>
          </p:nvPr>
        </p:nvSpPr>
        <p:spPr>
          <a:xfrm>
            <a:off x="4495800" y="1600200"/>
            <a:ext cx="4054475"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Mobility</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FF0000"/>
                </a:solidFill>
                <a:ea typeface="宋体" panose="02010600030101010101" pitchFamily="2" charset="-122"/>
              </a:rPr>
              <a:t>6.5 Principles: addressing and routing to mobile users</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6.6</a:t>
            </a:r>
            <a:r>
              <a:rPr lang="en-US" altLang="zh-CN" sz="2400" dirty="0">
                <a:ea typeface="宋体" panose="02010600030101010101" pitchFamily="2" charset="-122"/>
              </a:rPr>
              <a:t> Mobile IP</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6.7</a:t>
            </a:r>
            <a:r>
              <a:rPr lang="en-US" altLang="zh-CN" sz="2400" dirty="0">
                <a:ea typeface="宋体" panose="02010600030101010101" pitchFamily="2" charset="-122"/>
              </a:rPr>
              <a:t> Handling mobility in cellular networks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6.8</a:t>
            </a:r>
            <a:r>
              <a:rPr lang="en-US" altLang="zh-CN" sz="2400" dirty="0">
                <a:ea typeface="宋体" panose="02010600030101010101" pitchFamily="2" charset="-122"/>
              </a:rPr>
              <a:t> Mobility and higher-layer protocols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6.9</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Summary</a:t>
            </a:r>
            <a:endParaRPr lang="en-US" altLang="zh-CN" sz="2400"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952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523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What is mobility?</a:t>
            </a:r>
            <a:endParaRPr lang="en-US" altLang="zh-CN" dirty="0">
              <a:ea typeface="宋体" panose="02010600030101010101" pitchFamily="2" charset="-122"/>
            </a:endParaRPr>
          </a:p>
        </p:txBody>
      </p:sp>
      <p:sp>
        <p:nvSpPr>
          <p:cNvPr id="95236" name="Rectangle 3"/>
          <p:cNvSpPr>
            <a:spLocks noGrp="1"/>
          </p:cNvSpPr>
          <p:nvPr>
            <p:ph idx="1"/>
          </p:nvPr>
        </p:nvSpPr>
        <p:spPr>
          <a:xfrm>
            <a:off x="538163" y="1601788"/>
            <a:ext cx="8197850" cy="574675"/>
          </a:xfrm>
          <a:ln/>
        </p:spPr>
        <p:txBody>
          <a:bodyPr vert="horz" wrap="square" lIns="91440" tIns="45720" rIns="91440" bIns="45720" anchor="t" anchorCtr="0"/>
          <a:p>
            <a:r>
              <a:rPr lang="en-US" altLang="zh-CN" sz="2400" dirty="0">
                <a:ea typeface="宋体" panose="02010600030101010101" pitchFamily="2" charset="-122"/>
              </a:rPr>
              <a:t>spectrum of mobility, from the</a:t>
            </a:r>
            <a:r>
              <a:rPr lang="en-US" altLang="zh-CN" sz="2400" dirty="0">
                <a:solidFill>
                  <a:srgbClr val="FF0000"/>
                </a:solidFill>
                <a:ea typeface="宋体" panose="02010600030101010101" pitchFamily="2" charset="-122"/>
              </a:rPr>
              <a:t> </a:t>
            </a:r>
            <a:r>
              <a:rPr lang="en-US" altLang="zh-CN" sz="2400" i="1" dirty="0">
                <a:solidFill>
                  <a:srgbClr val="FF0000"/>
                </a:solidFill>
                <a:ea typeface="宋体" panose="02010600030101010101" pitchFamily="2" charset="-122"/>
              </a:rPr>
              <a:t>network</a:t>
            </a:r>
            <a:r>
              <a:rPr lang="en-US" altLang="zh-CN" sz="2400" dirty="0">
                <a:ea typeface="宋体" panose="02010600030101010101" pitchFamily="2" charset="-122"/>
              </a:rPr>
              <a:t> perspective:</a:t>
            </a:r>
            <a:endParaRPr lang="en-US" altLang="zh-CN" sz="2400" dirty="0">
              <a:ea typeface="宋体" panose="02010600030101010101" pitchFamily="2" charset="-122"/>
            </a:endParaRPr>
          </a:p>
        </p:txBody>
      </p:sp>
      <p:grpSp>
        <p:nvGrpSpPr>
          <p:cNvPr id="95237" name="Group 4"/>
          <p:cNvGrpSpPr/>
          <p:nvPr/>
        </p:nvGrpSpPr>
        <p:grpSpPr>
          <a:xfrm>
            <a:off x="644525" y="2657475"/>
            <a:ext cx="7670800" cy="771525"/>
            <a:chOff x="390" y="890"/>
            <a:chExt cx="4832" cy="486"/>
          </a:xfrm>
        </p:grpSpPr>
        <p:sp>
          <p:nvSpPr>
            <p:cNvPr id="95238" name="Rectangle 5"/>
            <p:cNvSpPr/>
            <p:nvPr/>
          </p:nvSpPr>
          <p:spPr>
            <a:xfrm>
              <a:off x="392" y="1120"/>
              <a:ext cx="4800" cy="256"/>
            </a:xfrm>
            <a:prstGeom prst="rect">
              <a:avLst/>
            </a:prstGeom>
            <a:gradFill rotWithShape="1">
              <a:gsLst>
                <a:gs pos="0">
                  <a:srgbClr val="FFFFFF"/>
                </a:gs>
                <a:gs pos="100000">
                  <a:schemeClr val="accent2"/>
                </a:gs>
              </a:gsLst>
              <a:lin ang="0" scaled="1"/>
              <a:tileRect/>
            </a:gradFill>
            <a:ln w="9525" cap="flat" cmpd="sng">
              <a:solidFill>
                <a:schemeClr val="accent2"/>
              </a:solidFill>
              <a:prstDash val="solid"/>
              <a:miter/>
              <a:headEnd type="none" w="med" len="med"/>
              <a:tailEnd type="none" w="med" len="med"/>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95239" name="Text Box 6"/>
            <p:cNvSpPr txBox="1"/>
            <p:nvPr/>
          </p:nvSpPr>
          <p:spPr>
            <a:xfrm>
              <a:off x="390" y="890"/>
              <a:ext cx="845"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no mobility</a:t>
              </a:r>
              <a:endParaRPr lang="en-US" altLang="zh-CN" dirty="0">
                <a:latin typeface="Comic Sans MS" panose="030F0702030302020204" pitchFamily="66" charset="0"/>
                <a:ea typeface="宋体" panose="02010600030101010101" pitchFamily="2" charset="-122"/>
              </a:endParaRPr>
            </a:p>
          </p:txBody>
        </p:sp>
        <p:sp>
          <p:nvSpPr>
            <p:cNvPr id="95240" name="Text Box 7"/>
            <p:cNvSpPr txBox="1"/>
            <p:nvPr/>
          </p:nvSpPr>
          <p:spPr>
            <a:xfrm>
              <a:off x="4246" y="898"/>
              <a:ext cx="976" cy="231"/>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high mobility</a:t>
              </a:r>
              <a:endParaRPr lang="en-US" altLang="zh-CN" dirty="0">
                <a:latin typeface="Comic Sans MS" panose="030F0702030302020204" pitchFamily="66" charset="0"/>
                <a:ea typeface="宋体" panose="02010600030101010101" pitchFamily="2" charset="-122"/>
              </a:endParaRPr>
            </a:p>
          </p:txBody>
        </p:sp>
      </p:grpSp>
      <p:sp>
        <p:nvSpPr>
          <p:cNvPr id="95241" name="Text Box 8"/>
          <p:cNvSpPr txBox="1"/>
          <p:nvPr/>
        </p:nvSpPr>
        <p:spPr>
          <a:xfrm>
            <a:off x="568325" y="4081463"/>
            <a:ext cx="2725738" cy="1006475"/>
          </a:xfrm>
          <a:prstGeom prst="rect">
            <a:avLst/>
          </a:prstGeom>
          <a:noFill/>
          <a:ln w="9525">
            <a:noFill/>
          </a:ln>
        </p:spPr>
        <p:txBody>
          <a:bodyPr wrap="none"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mobile wireless user, </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using same access </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point</a:t>
            </a:r>
            <a:endParaRPr lang="en-US" altLang="zh-CN" sz="2000" dirty="0">
              <a:latin typeface="Comic Sans MS" panose="030F0702030302020204" pitchFamily="66" charset="0"/>
              <a:ea typeface="宋体" panose="02010600030101010101" pitchFamily="2" charset="-122"/>
            </a:endParaRPr>
          </a:p>
        </p:txBody>
      </p:sp>
      <p:sp>
        <p:nvSpPr>
          <p:cNvPr id="95242" name="Text Box 9"/>
          <p:cNvSpPr txBox="1"/>
          <p:nvPr/>
        </p:nvSpPr>
        <p:spPr>
          <a:xfrm>
            <a:off x="6016625" y="4092575"/>
            <a:ext cx="2690813" cy="1890713"/>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mobile user, passing through multiple access point while maintaining ongoing connections (</a:t>
            </a:r>
            <a:r>
              <a:rPr lang="en-US" altLang="zh-CN" dirty="0">
                <a:latin typeface="Comic Sans MS" panose="030F0702030302020204" pitchFamily="66" charset="0"/>
                <a:ea typeface="宋体" panose="02010600030101010101" pitchFamily="2" charset="-122"/>
              </a:rPr>
              <a:t>like cell phone)</a:t>
            </a:r>
            <a:endParaRPr lang="en-US" altLang="zh-CN" dirty="0">
              <a:latin typeface="Comic Sans MS" panose="030F0702030302020204" pitchFamily="66" charset="0"/>
              <a:ea typeface="宋体" panose="02010600030101010101" pitchFamily="2" charset="-122"/>
            </a:endParaRPr>
          </a:p>
        </p:txBody>
      </p:sp>
      <p:sp>
        <p:nvSpPr>
          <p:cNvPr id="95243" name="Text Box 10"/>
          <p:cNvSpPr txBox="1"/>
          <p:nvPr/>
        </p:nvSpPr>
        <p:spPr>
          <a:xfrm>
            <a:off x="3248025" y="4094163"/>
            <a:ext cx="2432050" cy="16160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mobile user, connecting/ disconnecting from network using DHCP.  </a:t>
            </a:r>
            <a:endParaRPr lang="en-US" altLang="zh-CN" sz="2000" dirty="0">
              <a:latin typeface="Comic Sans MS" panose="030F0702030302020204" pitchFamily="66" charset="0"/>
              <a:ea typeface="宋体" panose="02010600030101010101" pitchFamily="2" charset="-122"/>
            </a:endParaRPr>
          </a:p>
        </p:txBody>
      </p:sp>
      <p:sp>
        <p:nvSpPr>
          <p:cNvPr id="95244" name="Line 11"/>
          <p:cNvSpPr/>
          <p:nvPr/>
        </p:nvSpPr>
        <p:spPr>
          <a:xfrm flipH="1" flipV="1">
            <a:off x="1003300" y="3225800"/>
            <a:ext cx="215900" cy="863600"/>
          </a:xfrm>
          <a:prstGeom prst="line">
            <a:avLst/>
          </a:prstGeom>
          <a:ln w="28575" cap="flat" cmpd="sng">
            <a:solidFill>
              <a:srgbClr val="FF0000"/>
            </a:solidFill>
            <a:prstDash val="solid"/>
            <a:round/>
            <a:headEnd type="none" w="med" len="med"/>
            <a:tailEnd type="triangle" w="med" len="med"/>
          </a:ln>
        </p:spPr>
      </p:sp>
      <p:sp>
        <p:nvSpPr>
          <p:cNvPr id="95245" name="Line 12"/>
          <p:cNvSpPr/>
          <p:nvPr/>
        </p:nvSpPr>
        <p:spPr>
          <a:xfrm flipV="1">
            <a:off x="7531100" y="3263900"/>
            <a:ext cx="215900" cy="863600"/>
          </a:xfrm>
          <a:prstGeom prst="line">
            <a:avLst/>
          </a:prstGeom>
          <a:ln w="28575" cap="flat" cmpd="sng">
            <a:solidFill>
              <a:srgbClr val="FF0000"/>
            </a:solidFill>
            <a:prstDash val="solid"/>
            <a:round/>
            <a:headEnd type="none" w="med" len="med"/>
            <a:tailEnd type="triangle" w="med" len="med"/>
          </a:ln>
        </p:spPr>
      </p:sp>
      <p:sp>
        <p:nvSpPr>
          <p:cNvPr id="95246" name="Line 13"/>
          <p:cNvSpPr/>
          <p:nvPr/>
        </p:nvSpPr>
        <p:spPr>
          <a:xfrm flipV="1">
            <a:off x="4114800" y="3263900"/>
            <a:ext cx="25400" cy="850900"/>
          </a:xfrm>
          <a:prstGeom prst="line">
            <a:avLst/>
          </a:prstGeom>
          <a:ln w="28575" cap="flat" cmpd="sng">
            <a:solidFill>
              <a:srgbClr val="FF0000"/>
            </a:solidFill>
            <a:prstDash val="solid"/>
            <a:round/>
            <a:headEnd type="none" w="med" len="med"/>
            <a:tailEnd type="triangle" w="med" len="med"/>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972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7283" name="Freeform 2"/>
          <p:cNvSpPr/>
          <p:nvPr/>
        </p:nvSpPr>
        <p:spPr>
          <a:xfrm>
            <a:off x="1612900" y="2616200"/>
            <a:ext cx="1866900" cy="1589088"/>
          </a:xfrm>
          <a:custGeom>
            <a:avLst/>
            <a:gdLst/>
            <a:ahLst/>
            <a:cxnLst>
              <a:cxn ang="0">
                <a:pos x="1067567260" y="74768525"/>
              </a:cxn>
              <a:cxn ang="0">
                <a:pos x="159164371" y="106813132"/>
              </a:cxn>
              <a:cxn ang="0">
                <a:pos x="112579643" y="715645981"/>
              </a:cxn>
              <a:cxn ang="0">
                <a:pos x="54349081" y="1281754912"/>
              </a:cxn>
              <a:cxn ang="0">
                <a:pos x="217394932" y="1548787074"/>
              </a:cxn>
              <a:cxn ang="0">
                <a:pos x="1044274200" y="1559467720"/>
              </a:cxn>
              <a:cxn ang="0">
                <a:pos x="1242260338" y="2008081539"/>
              </a:cxn>
              <a:cxn ang="0">
                <a:pos x="2147483646" y="1954675640"/>
              </a:cxn>
              <a:cxn ang="0">
                <a:pos x="2147483646" y="1014722750"/>
              </a:cxn>
              <a:cxn ang="0">
                <a:pos x="2147483646" y="608832849"/>
              </a:cxn>
              <a:cxn ang="0">
                <a:pos x="1475183977" y="512701698"/>
              </a:cxn>
              <a:cxn ang="0">
                <a:pos x="1067567260" y="74768525"/>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97284" name="Group 3"/>
          <p:cNvGrpSpPr/>
          <p:nvPr/>
        </p:nvGrpSpPr>
        <p:grpSpPr>
          <a:xfrm>
            <a:off x="2668588" y="3609975"/>
            <a:ext cx="501650" cy="233363"/>
            <a:chOff x="3600" y="219"/>
            <a:chExt cx="360" cy="175"/>
          </a:xfrm>
        </p:grpSpPr>
        <p:sp>
          <p:nvSpPr>
            <p:cNvPr id="97285" name="Oval 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7286" name="Line 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97287" name="Line 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97288" name="Rectangle 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97289" name="Oval 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7290" name="Group 9"/>
            <p:cNvGrpSpPr/>
            <p:nvPr/>
          </p:nvGrpSpPr>
          <p:grpSpPr>
            <a:xfrm>
              <a:off x="3686" y="244"/>
              <a:ext cx="177" cy="66"/>
              <a:chOff x="2848" y="848"/>
              <a:chExt cx="140" cy="98"/>
            </a:xfrm>
          </p:grpSpPr>
          <p:sp>
            <p:nvSpPr>
              <p:cNvPr id="97291"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7292"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7293"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97294" name="Group 13"/>
            <p:cNvGrpSpPr/>
            <p:nvPr/>
          </p:nvGrpSpPr>
          <p:grpSpPr>
            <a:xfrm flipV="1">
              <a:off x="3686" y="243"/>
              <a:ext cx="177" cy="66"/>
              <a:chOff x="2848" y="848"/>
              <a:chExt cx="140" cy="98"/>
            </a:xfrm>
          </p:grpSpPr>
          <p:sp>
            <p:nvSpPr>
              <p:cNvPr id="97295"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7296"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7297"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97298" name="Group 17"/>
          <p:cNvGrpSpPr/>
          <p:nvPr/>
        </p:nvGrpSpPr>
        <p:grpSpPr>
          <a:xfrm>
            <a:off x="1771650" y="3263900"/>
            <a:ext cx="1333500" cy="342900"/>
            <a:chOff x="8025" y="5070"/>
            <a:chExt cx="2100" cy="540"/>
          </a:xfrm>
        </p:grpSpPr>
        <p:sp>
          <p:nvSpPr>
            <p:cNvPr id="97299" name="Line 18"/>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97300" name="Line 19"/>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97301" name="Line 20"/>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sp>
        <p:nvSpPr>
          <p:cNvPr id="97302" name="Rectangle 21"/>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Mobility: Vocabulary</a:t>
            </a:r>
            <a:r>
              <a:rPr lang="zh-CN" altLang="en-US" dirty="0">
                <a:ea typeface="宋体" panose="02010600030101010101" pitchFamily="2" charset="-122"/>
              </a:rPr>
              <a:t>（题）</a:t>
            </a:r>
            <a:endParaRPr lang="zh-CN" altLang="en-US" dirty="0">
              <a:ea typeface="宋体" panose="02010600030101010101" pitchFamily="2" charset="-122"/>
            </a:endParaRPr>
          </a:p>
        </p:txBody>
      </p:sp>
      <p:sp>
        <p:nvSpPr>
          <p:cNvPr id="97303" name="Text Box 22"/>
          <p:cNvSpPr txBox="1"/>
          <p:nvPr/>
        </p:nvSpPr>
        <p:spPr>
          <a:xfrm>
            <a:off x="593725" y="1350963"/>
            <a:ext cx="3349625" cy="946150"/>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home network:</a:t>
            </a:r>
            <a:r>
              <a:rPr lang="en-US" altLang="zh-CN" sz="2000" dirty="0">
                <a:latin typeface="Comic Sans MS" panose="030F0702030302020204" pitchFamily="66" charset="0"/>
                <a:ea typeface="宋体" panose="02010600030101010101" pitchFamily="2" charset="-122"/>
              </a:rPr>
              <a:t> permanent “home” of mobile</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1600" dirty="0">
                <a:latin typeface="Comic Sans MS" panose="030F0702030302020204" pitchFamily="66" charset="0"/>
                <a:ea typeface="宋体" panose="02010600030101010101" pitchFamily="2" charset="-122"/>
              </a:rPr>
              <a:t>(e.g., 128.119.40/24)</a:t>
            </a:r>
            <a:endParaRPr lang="en-US" altLang="zh-CN" sz="1600" dirty="0">
              <a:latin typeface="Comic Sans MS" panose="030F0702030302020204" pitchFamily="66" charset="0"/>
              <a:ea typeface="宋体" panose="02010600030101010101" pitchFamily="2" charset="-122"/>
            </a:endParaRPr>
          </a:p>
        </p:txBody>
      </p:sp>
      <p:sp>
        <p:nvSpPr>
          <p:cNvPr id="97304" name="Text Box 23"/>
          <p:cNvSpPr txBox="1"/>
          <p:nvPr/>
        </p:nvSpPr>
        <p:spPr>
          <a:xfrm>
            <a:off x="320675" y="4257675"/>
            <a:ext cx="2905125" cy="1555750"/>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Permanent address:</a:t>
            </a:r>
            <a:r>
              <a:rPr lang="en-US" altLang="zh-CN" sz="2000" dirty="0">
                <a:latin typeface="Comic Sans MS" panose="030F0702030302020204" pitchFamily="66" charset="0"/>
                <a:ea typeface="宋体" panose="02010600030101010101" pitchFamily="2" charset="-122"/>
              </a:rPr>
              <a:t> address in home network, </a:t>
            </a:r>
            <a:r>
              <a:rPr lang="en-US" altLang="zh-CN" sz="2000" i="1" dirty="0">
                <a:latin typeface="Comic Sans MS" panose="030F0702030302020204" pitchFamily="66" charset="0"/>
                <a:ea typeface="宋体" panose="02010600030101010101" pitchFamily="2" charset="-122"/>
              </a:rPr>
              <a:t>can always</a:t>
            </a:r>
            <a:r>
              <a:rPr lang="en-US" altLang="zh-CN" sz="2000" dirty="0">
                <a:latin typeface="Comic Sans MS" panose="030F0702030302020204" pitchFamily="66" charset="0"/>
                <a:ea typeface="宋体" panose="02010600030101010101" pitchFamily="2" charset="-122"/>
              </a:rPr>
              <a:t> be used to reach mobile</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1600" dirty="0">
                <a:latin typeface="Comic Sans MS" panose="030F0702030302020204" pitchFamily="66" charset="0"/>
                <a:ea typeface="宋体" panose="02010600030101010101" pitchFamily="2" charset="-122"/>
              </a:rPr>
              <a:t>e.g., 128.119.40.186</a:t>
            </a:r>
            <a:endParaRPr lang="en-US" altLang="zh-CN" sz="1600" dirty="0">
              <a:latin typeface="Comic Sans MS" panose="030F0702030302020204" pitchFamily="66" charset="0"/>
              <a:ea typeface="宋体" panose="02010600030101010101" pitchFamily="2" charset="-122"/>
            </a:endParaRPr>
          </a:p>
        </p:txBody>
      </p:sp>
      <p:sp>
        <p:nvSpPr>
          <p:cNvPr id="97305" name="Text Box 24"/>
          <p:cNvSpPr txBox="1"/>
          <p:nvPr/>
        </p:nvSpPr>
        <p:spPr>
          <a:xfrm>
            <a:off x="4232275" y="1423988"/>
            <a:ext cx="3914775" cy="1311275"/>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home agent: </a:t>
            </a:r>
            <a:r>
              <a:rPr lang="en-US" altLang="zh-CN" sz="2000" i="1" dirty="0">
                <a:latin typeface="Comic Sans MS" panose="030F0702030302020204" pitchFamily="66" charset="0"/>
                <a:ea typeface="宋体" panose="02010600030101010101" pitchFamily="2" charset="-122"/>
              </a:rPr>
              <a:t>entity that will perform mobility functions on behalf of mobile, when mobile is remote</a:t>
            </a:r>
            <a:endParaRPr lang="en-US" altLang="zh-CN" sz="2000" dirty="0">
              <a:latin typeface="Comic Sans MS" panose="030F0702030302020204" pitchFamily="66" charset="0"/>
              <a:ea typeface="宋体" panose="02010600030101010101" pitchFamily="2" charset="-122"/>
            </a:endParaRPr>
          </a:p>
        </p:txBody>
      </p:sp>
      <p:grpSp>
        <p:nvGrpSpPr>
          <p:cNvPr id="97306" name="Group 25"/>
          <p:cNvGrpSpPr/>
          <p:nvPr/>
        </p:nvGrpSpPr>
        <p:grpSpPr>
          <a:xfrm>
            <a:off x="1520825" y="2822575"/>
            <a:ext cx="914400" cy="590550"/>
            <a:chOff x="10665" y="3225"/>
            <a:chExt cx="1440" cy="930"/>
          </a:xfrm>
        </p:grpSpPr>
        <p:sp>
          <p:nvSpPr>
            <p:cNvPr id="97307" name="Oval 26"/>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7308" name="Group 27"/>
            <p:cNvGrpSpPr/>
            <p:nvPr/>
          </p:nvGrpSpPr>
          <p:grpSpPr>
            <a:xfrm>
              <a:off x="11038" y="3281"/>
              <a:ext cx="618" cy="667"/>
              <a:chOff x="8023" y="4451"/>
              <a:chExt cx="618" cy="667"/>
            </a:xfrm>
          </p:grpSpPr>
          <p:sp>
            <p:nvSpPr>
              <p:cNvPr id="97309" name="Freeform 28"/>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97310" name="Freeform 29"/>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7311" name="Freeform 30"/>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7312" name="Freeform 31"/>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7313" name="Freeform 32"/>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4" name="Freeform 33"/>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5" name="Freeform 34"/>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6" name="Freeform 35"/>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7" name="Freeform 36"/>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8" name="Freeform 37"/>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19" name="Freeform 38"/>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20" name="Freeform 39"/>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21" name="Freeform 40"/>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22" name="Freeform 41"/>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23" name="Freeform 42"/>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7324" name="Freeform 43"/>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97325" name="Freeform 44"/>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97326" name="Freeform 45"/>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97327" name="Freeform 46"/>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97328" name="Freeform 47"/>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97329" name="Freeform 48"/>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97330" name="Freeform 49"/>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1" name="Freeform 50"/>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2" name="Freeform 51"/>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3" name="Freeform 52"/>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4" name="Freeform 53"/>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5" name="Freeform 54"/>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6" name="Freeform 55"/>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7" name="Freeform 56"/>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8" name="Freeform 57"/>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39" name="Freeform 58"/>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0" name="Freeform 59"/>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1" name="Freeform 60"/>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2" name="Freeform 61"/>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3" name="Freeform 62"/>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4" name="Freeform 63"/>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5" name="Freeform 64"/>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6" name="Freeform 65"/>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7" name="Freeform 66"/>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8" name="Freeform 67"/>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49" name="Freeform 68"/>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0" name="Freeform 69"/>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1" name="Freeform 70"/>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2" name="Freeform 71"/>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3" name="Freeform 72"/>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4" name="Freeform 73"/>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5" name="Freeform 74"/>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6" name="Freeform 75"/>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7" name="Freeform 76"/>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8" name="Freeform 77"/>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59" name="Freeform 78"/>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60" name="Freeform 79"/>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7361" name="Freeform 80"/>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97362" name="Freeform 81"/>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97363" name="Freeform 82"/>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97364" name="Freeform 83"/>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97365" name="Freeform 84"/>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97366" name="Freeform 85"/>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97367" name="Freeform 86"/>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97368" name="Freeform 87"/>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97369" name="Freeform 88"/>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97370" name="Freeform 89"/>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97371" name="Freeform 90"/>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97372" name="Freeform 91"/>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97373" name="Freeform 92"/>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97374" name="Freeform 93"/>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97375" name="Freeform 94"/>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97376" name="Freeform 95"/>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97377" name="Freeform 96"/>
          <p:cNvSpPr/>
          <p:nvPr/>
        </p:nvSpPr>
        <p:spPr>
          <a:xfrm>
            <a:off x="6413500" y="2486025"/>
            <a:ext cx="1838325" cy="1711325"/>
          </a:xfrm>
          <a:custGeom>
            <a:avLst/>
            <a:gdLst/>
            <a:ahLst/>
            <a:cxnLst>
              <a:cxn ang="0">
                <a:pos x="1614093" y="537490135"/>
              </a:cxn>
              <a:cxn ang="0">
                <a:pos x="140823064" y="205546464"/>
              </a:cxn>
              <a:cxn ang="0">
                <a:pos x="558449341" y="138915361"/>
              </a:cxn>
              <a:cxn ang="0">
                <a:pos x="1047495879" y="68649996"/>
              </a:cxn>
              <a:cxn ang="0">
                <a:pos x="1163704826" y="550815974"/>
              </a:cxn>
              <a:cxn ang="0">
                <a:pos x="1072916090" y="865798907"/>
              </a:cxn>
              <a:cxn ang="0">
                <a:pos x="848972025" y="1011175744"/>
              </a:cxn>
              <a:cxn ang="0">
                <a:pos x="661342818" y="1041462320"/>
              </a:cxn>
              <a:cxn ang="0">
                <a:pos x="421257827" y="1062057319"/>
              </a:cxn>
              <a:cxn ang="0">
                <a:pos x="139612335" y="888816959"/>
              </a:cxn>
              <a:cxn ang="0">
                <a:pos x="1614093" y="53749013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97378" name="Group 97"/>
          <p:cNvGrpSpPr/>
          <p:nvPr/>
        </p:nvGrpSpPr>
        <p:grpSpPr>
          <a:xfrm>
            <a:off x="6705600" y="3724275"/>
            <a:ext cx="501650" cy="233363"/>
            <a:chOff x="3600" y="219"/>
            <a:chExt cx="360" cy="175"/>
          </a:xfrm>
        </p:grpSpPr>
        <p:sp>
          <p:nvSpPr>
            <p:cNvPr id="97379" name="Oval 98"/>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7380" name="Line 99"/>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97381" name="Line 100"/>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97382" name="Rectangle 101"/>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97383" name="Oval 102"/>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7384" name="Group 103"/>
            <p:cNvGrpSpPr/>
            <p:nvPr/>
          </p:nvGrpSpPr>
          <p:grpSpPr>
            <a:xfrm>
              <a:off x="3686" y="244"/>
              <a:ext cx="177" cy="66"/>
              <a:chOff x="2848" y="848"/>
              <a:chExt cx="140" cy="98"/>
            </a:xfrm>
          </p:grpSpPr>
          <p:sp>
            <p:nvSpPr>
              <p:cNvPr id="97385" name="Line 10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7386" name="Line 10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7387" name="Line 10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97388" name="Group 107"/>
            <p:cNvGrpSpPr/>
            <p:nvPr/>
          </p:nvGrpSpPr>
          <p:grpSpPr>
            <a:xfrm flipV="1">
              <a:off x="3686" y="243"/>
              <a:ext cx="177" cy="66"/>
              <a:chOff x="2848" y="848"/>
              <a:chExt cx="140" cy="98"/>
            </a:xfrm>
          </p:grpSpPr>
          <p:sp>
            <p:nvSpPr>
              <p:cNvPr id="97389" name="Line 108"/>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7390" name="Line 109"/>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7391" name="Line 110"/>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97392" name="Line 111"/>
          <p:cNvSpPr/>
          <p:nvPr/>
        </p:nvSpPr>
        <p:spPr>
          <a:xfrm>
            <a:off x="6735763" y="3552825"/>
            <a:ext cx="1333500" cy="0"/>
          </a:xfrm>
          <a:prstGeom prst="line">
            <a:avLst/>
          </a:prstGeom>
          <a:ln w="19050" cap="flat" cmpd="sng">
            <a:solidFill>
              <a:srgbClr val="000000"/>
            </a:solidFill>
            <a:prstDash val="solid"/>
            <a:round/>
            <a:headEnd type="none" w="med" len="med"/>
            <a:tailEnd type="none" w="med" len="med"/>
          </a:ln>
        </p:spPr>
      </p:sp>
      <p:sp>
        <p:nvSpPr>
          <p:cNvPr id="97393" name="Line 112"/>
          <p:cNvSpPr/>
          <p:nvPr/>
        </p:nvSpPr>
        <p:spPr>
          <a:xfrm>
            <a:off x="6945313" y="3552825"/>
            <a:ext cx="0" cy="171450"/>
          </a:xfrm>
          <a:prstGeom prst="line">
            <a:avLst/>
          </a:prstGeom>
          <a:ln w="19050" cap="flat" cmpd="sng">
            <a:solidFill>
              <a:srgbClr val="000000"/>
            </a:solidFill>
            <a:prstDash val="solid"/>
            <a:round/>
            <a:headEnd type="none" w="med" len="med"/>
            <a:tailEnd type="none" w="med" len="med"/>
          </a:ln>
        </p:spPr>
      </p:sp>
      <p:sp>
        <p:nvSpPr>
          <p:cNvPr id="97394" name="Line 113"/>
          <p:cNvSpPr/>
          <p:nvPr/>
        </p:nvSpPr>
        <p:spPr>
          <a:xfrm>
            <a:off x="7797800" y="3386138"/>
            <a:ext cx="0" cy="171450"/>
          </a:xfrm>
          <a:prstGeom prst="line">
            <a:avLst/>
          </a:prstGeom>
          <a:ln w="19050" cap="flat" cmpd="sng">
            <a:solidFill>
              <a:srgbClr val="000000"/>
            </a:solidFill>
            <a:prstDash val="solid"/>
            <a:round/>
            <a:headEnd type="none" w="med" len="med"/>
            <a:tailEnd type="none" w="med" len="med"/>
          </a:ln>
        </p:spPr>
      </p:sp>
      <p:grpSp>
        <p:nvGrpSpPr>
          <p:cNvPr id="97395" name="Group 114"/>
          <p:cNvGrpSpPr/>
          <p:nvPr/>
        </p:nvGrpSpPr>
        <p:grpSpPr>
          <a:xfrm>
            <a:off x="7340600" y="2914650"/>
            <a:ext cx="914400" cy="590550"/>
            <a:chOff x="10665" y="3225"/>
            <a:chExt cx="1440" cy="930"/>
          </a:xfrm>
        </p:grpSpPr>
        <p:sp>
          <p:nvSpPr>
            <p:cNvPr id="97396" name="Oval 115"/>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7397" name="Group 116"/>
            <p:cNvGrpSpPr/>
            <p:nvPr/>
          </p:nvGrpSpPr>
          <p:grpSpPr>
            <a:xfrm>
              <a:off x="11031" y="3335"/>
              <a:ext cx="565" cy="643"/>
              <a:chOff x="2870" y="1518"/>
              <a:chExt cx="292" cy="320"/>
            </a:xfrm>
          </p:grpSpPr>
          <p:graphicFrame>
            <p:nvGraphicFramePr>
              <p:cNvPr id="97398" name="Object 1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0" name="" r:id="rId1" imgW="826770" imgH="840105" progId="">
                      <p:embed/>
                    </p:oleObj>
                  </mc:Choice>
                  <mc:Fallback>
                    <p:oleObj name="" r:id="rId1" imgW="826770" imgH="840105" progId="">
                      <p:embed/>
                      <p:pic>
                        <p:nvPicPr>
                          <p:cNvPr id="0" name="图片 3139"/>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97399" name="Object 1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38" name="" r:id="rId3" imgW="1268095" imgH="1199515" progId="">
                      <p:embed/>
                    </p:oleObj>
                  </mc:Choice>
                  <mc:Fallback>
                    <p:oleObj name="" r:id="rId3" imgW="1268095" imgH="1199515" progId="">
                      <p:embed/>
                      <p:pic>
                        <p:nvPicPr>
                          <p:cNvPr id="0" name="图片 313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97400" name="Freeform 119"/>
          <p:cNvSpPr/>
          <p:nvPr/>
        </p:nvSpPr>
        <p:spPr>
          <a:xfrm>
            <a:off x="3954463" y="3432175"/>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97401" name="Text Box 120"/>
          <p:cNvSpPr txBox="1"/>
          <p:nvPr/>
        </p:nvSpPr>
        <p:spPr>
          <a:xfrm>
            <a:off x="4129088" y="3729038"/>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97402" name="Freeform 121"/>
          <p:cNvSpPr/>
          <p:nvPr/>
        </p:nvSpPr>
        <p:spPr>
          <a:xfrm>
            <a:off x="3259138" y="4995863"/>
            <a:ext cx="2944812" cy="911225"/>
          </a:xfrm>
          <a:custGeom>
            <a:avLst/>
            <a:gdLst/>
            <a:ahLst/>
            <a:cxnLst>
              <a:cxn ang="0">
                <a:pos x="136781944" y="6048375"/>
              </a:cxn>
              <a:cxn ang="0">
                <a:pos x="76258943" y="260080125"/>
              </a:cxn>
              <a:cxn ang="0">
                <a:pos x="324402548" y="508063500"/>
              </a:cxn>
              <a:cxn ang="0">
                <a:pos x="790428575" y="574595625"/>
              </a:cxn>
              <a:cxn ang="0">
                <a:pos x="1419866895" y="532257000"/>
              </a:cxn>
              <a:cxn ang="0">
                <a:pos x="1583278553" y="393144375"/>
              </a:cxn>
              <a:cxn ang="0">
                <a:pos x="1833036215" y="310080025"/>
              </a:cxn>
              <a:cxn ang="0">
                <a:pos x="1714411616" y="112096550"/>
              </a:cxn>
              <a:cxn ang="0">
                <a:pos x="896545346" y="30645100"/>
              </a:cxn>
              <a:cxn ang="0">
                <a:pos x="136781944" y="6048375"/>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97403" name="Object 122"/>
          <p:cNvGraphicFramePr>
            <a:graphicFrameLocks noChangeAspect="1"/>
          </p:cNvGraphicFramePr>
          <p:nvPr/>
        </p:nvGraphicFramePr>
        <p:xfrm>
          <a:off x="4392613" y="5178425"/>
          <a:ext cx="415925" cy="317500"/>
        </p:xfrm>
        <a:graphic>
          <a:graphicData uri="http://schemas.openxmlformats.org/presentationml/2006/ole">
            <mc:AlternateContent xmlns:mc="http://schemas.openxmlformats.org/markup-compatibility/2006">
              <mc:Choice xmlns:v="urn:schemas-microsoft-com:vml" Requires="v">
                <p:oleObj spid="_x0000_s3139" name="" r:id="rId5" imgW="1307465" imgH="1083945" progId="">
                  <p:embed/>
                </p:oleObj>
              </mc:Choice>
              <mc:Fallback>
                <p:oleObj name="" r:id="rId5" imgW="1307465" imgH="1083945" progId="">
                  <p:embed/>
                  <p:pic>
                    <p:nvPicPr>
                      <p:cNvPr id="0" name="图片 3138"/>
                      <p:cNvPicPr/>
                      <p:nvPr/>
                    </p:nvPicPr>
                    <p:blipFill>
                      <a:blip r:embed="rId6"/>
                      <a:stretch>
                        <a:fillRect/>
                      </a:stretch>
                    </p:blipFill>
                    <p:spPr>
                      <a:xfrm>
                        <a:off x="4392613" y="5178425"/>
                        <a:ext cx="415925" cy="317500"/>
                      </a:xfrm>
                      <a:prstGeom prst="rect">
                        <a:avLst/>
                      </a:prstGeom>
                      <a:noFill/>
                      <a:ln w="38100">
                        <a:noFill/>
                        <a:miter/>
                      </a:ln>
                    </p:spPr>
                  </p:pic>
                </p:oleObj>
              </mc:Fallback>
            </mc:AlternateContent>
          </a:graphicData>
        </a:graphic>
      </p:graphicFrame>
      <p:sp>
        <p:nvSpPr>
          <p:cNvPr id="97404" name="Text Box 123"/>
          <p:cNvSpPr txBox="1"/>
          <p:nvPr/>
        </p:nvSpPr>
        <p:spPr>
          <a:xfrm>
            <a:off x="3984625" y="5473700"/>
            <a:ext cx="1387475" cy="304800"/>
          </a:xfrm>
          <a:prstGeom prst="rect">
            <a:avLst/>
          </a:prstGeom>
          <a:noFill/>
          <a:ln w="9525">
            <a:noFill/>
          </a:ln>
        </p:spPr>
        <p:txBody>
          <a:bodyPr wrap="none" anchor="t" anchorCtr="0">
            <a:spAutoFit/>
          </a:bodyPr>
          <a:p>
            <a:pPr eaLnBrk="0" hangingPunct="0">
              <a:buClrTx/>
              <a:buFontTx/>
            </a:pPr>
            <a:r>
              <a:rPr lang="en-US" altLang="zh-CN" sz="1400" dirty="0">
                <a:latin typeface="Comic Sans MS" panose="030F0702030302020204" pitchFamily="66" charset="0"/>
                <a:ea typeface="宋体" panose="02010600030101010101" pitchFamily="2" charset="-122"/>
              </a:rPr>
              <a:t>correspondent</a:t>
            </a:r>
            <a:endParaRPr lang="en-US" altLang="zh-CN" dirty="0">
              <a:latin typeface="Comic Sans MS" panose="030F0702030302020204" pitchFamily="66" charset="0"/>
              <a:ea typeface="宋体" panose="02010600030101010101" pitchFamily="2" charset="-122"/>
            </a:endParaRPr>
          </a:p>
        </p:txBody>
      </p:sp>
      <p:sp>
        <p:nvSpPr>
          <p:cNvPr id="97405" name="Line 124"/>
          <p:cNvSpPr/>
          <p:nvPr/>
        </p:nvSpPr>
        <p:spPr>
          <a:xfrm>
            <a:off x="1169988" y="2298700"/>
            <a:ext cx="511175" cy="712788"/>
          </a:xfrm>
          <a:prstGeom prst="line">
            <a:avLst/>
          </a:prstGeom>
          <a:ln w="28575" cap="flat" cmpd="sng">
            <a:solidFill>
              <a:srgbClr val="FF0000"/>
            </a:solidFill>
            <a:prstDash val="solid"/>
            <a:round/>
            <a:headEnd type="none" w="med" len="med"/>
            <a:tailEnd type="triangle" w="med" len="med"/>
          </a:ln>
        </p:spPr>
      </p:sp>
      <p:sp>
        <p:nvSpPr>
          <p:cNvPr id="97406" name="Line 125"/>
          <p:cNvSpPr/>
          <p:nvPr/>
        </p:nvSpPr>
        <p:spPr>
          <a:xfrm flipV="1">
            <a:off x="757238" y="3216275"/>
            <a:ext cx="996950" cy="1103313"/>
          </a:xfrm>
          <a:prstGeom prst="line">
            <a:avLst/>
          </a:prstGeom>
          <a:ln w="28575" cap="flat" cmpd="sng">
            <a:solidFill>
              <a:srgbClr val="FF0000"/>
            </a:solidFill>
            <a:prstDash val="solid"/>
            <a:round/>
            <a:headEnd type="none" w="med" len="med"/>
            <a:tailEnd type="triangle" w="med" len="med"/>
          </a:ln>
        </p:spPr>
      </p:sp>
      <p:sp>
        <p:nvSpPr>
          <p:cNvPr id="97407" name="Line 126"/>
          <p:cNvSpPr/>
          <p:nvPr/>
        </p:nvSpPr>
        <p:spPr>
          <a:xfrm flipH="1">
            <a:off x="3003550" y="1711325"/>
            <a:ext cx="1263650" cy="1843088"/>
          </a:xfrm>
          <a:prstGeom prst="line">
            <a:avLst/>
          </a:prstGeom>
          <a:ln w="28575" cap="flat" cmpd="sng">
            <a:solidFill>
              <a:srgbClr val="FF0000"/>
            </a:solidFill>
            <a:prstDash val="solid"/>
            <a:round/>
            <a:headEnd type="none" w="med" len="med"/>
            <a:tailEnd type="triangle" w="med" len="med"/>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993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99331" name="Freeform 2"/>
          <p:cNvSpPr/>
          <p:nvPr/>
        </p:nvSpPr>
        <p:spPr>
          <a:xfrm>
            <a:off x="1612900" y="2838450"/>
            <a:ext cx="1866900" cy="1589088"/>
          </a:xfrm>
          <a:custGeom>
            <a:avLst/>
            <a:gdLst/>
            <a:ahLst/>
            <a:cxnLst>
              <a:cxn ang="0">
                <a:pos x="1067567260" y="74768525"/>
              </a:cxn>
              <a:cxn ang="0">
                <a:pos x="159164371" y="106813132"/>
              </a:cxn>
              <a:cxn ang="0">
                <a:pos x="112579643" y="715645981"/>
              </a:cxn>
              <a:cxn ang="0">
                <a:pos x="54349081" y="1281754912"/>
              </a:cxn>
              <a:cxn ang="0">
                <a:pos x="217394932" y="1548787074"/>
              </a:cxn>
              <a:cxn ang="0">
                <a:pos x="1044274200" y="1559467720"/>
              </a:cxn>
              <a:cxn ang="0">
                <a:pos x="1242260338" y="2008081539"/>
              </a:cxn>
              <a:cxn ang="0">
                <a:pos x="2147483646" y="1954675640"/>
              </a:cxn>
              <a:cxn ang="0">
                <a:pos x="2147483646" y="1014722750"/>
              </a:cxn>
              <a:cxn ang="0">
                <a:pos x="2147483646" y="608832849"/>
              </a:cxn>
              <a:cxn ang="0">
                <a:pos x="1475183977" y="512701698"/>
              </a:cxn>
              <a:cxn ang="0">
                <a:pos x="1067567260" y="74768525"/>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99332" name="Group 3"/>
          <p:cNvGrpSpPr/>
          <p:nvPr/>
        </p:nvGrpSpPr>
        <p:grpSpPr>
          <a:xfrm>
            <a:off x="2668588" y="3832225"/>
            <a:ext cx="501650" cy="233363"/>
            <a:chOff x="3600" y="219"/>
            <a:chExt cx="360" cy="175"/>
          </a:xfrm>
        </p:grpSpPr>
        <p:sp>
          <p:nvSpPr>
            <p:cNvPr id="99333" name="Oval 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9334" name="Line 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99335" name="Line 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99336" name="Rectangle 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99337" name="Oval 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9338" name="Group 9"/>
            <p:cNvGrpSpPr/>
            <p:nvPr/>
          </p:nvGrpSpPr>
          <p:grpSpPr>
            <a:xfrm>
              <a:off x="3686" y="244"/>
              <a:ext cx="177" cy="66"/>
              <a:chOff x="2848" y="848"/>
              <a:chExt cx="140" cy="98"/>
            </a:xfrm>
          </p:grpSpPr>
          <p:sp>
            <p:nvSpPr>
              <p:cNvPr id="99339"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9340"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9341"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99342" name="Group 13"/>
            <p:cNvGrpSpPr/>
            <p:nvPr/>
          </p:nvGrpSpPr>
          <p:grpSpPr>
            <a:xfrm flipV="1">
              <a:off x="3686" y="243"/>
              <a:ext cx="177" cy="66"/>
              <a:chOff x="2848" y="848"/>
              <a:chExt cx="140" cy="98"/>
            </a:xfrm>
          </p:grpSpPr>
          <p:sp>
            <p:nvSpPr>
              <p:cNvPr id="99343"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9344"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9345"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99346" name="Group 17"/>
          <p:cNvGrpSpPr/>
          <p:nvPr/>
        </p:nvGrpSpPr>
        <p:grpSpPr>
          <a:xfrm>
            <a:off x="1771650" y="3486150"/>
            <a:ext cx="1333500" cy="342900"/>
            <a:chOff x="8025" y="5070"/>
            <a:chExt cx="2100" cy="540"/>
          </a:xfrm>
        </p:grpSpPr>
        <p:sp>
          <p:nvSpPr>
            <p:cNvPr id="99347" name="Line 18"/>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99348" name="Line 19"/>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99349" name="Line 20"/>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sp>
        <p:nvSpPr>
          <p:cNvPr id="99350" name="Rectangle 21"/>
          <p:cNvSpPr>
            <a:spLocks noGrp="1"/>
          </p:cNvSpPr>
          <p:nvPr>
            <p:ph type="title"/>
          </p:nvPr>
        </p:nvSpPr>
        <p:spPr>
          <a:xfrm>
            <a:off x="392113" y="220663"/>
            <a:ext cx="7772400" cy="1143000"/>
          </a:xfrm>
          <a:ln/>
        </p:spPr>
        <p:txBody>
          <a:bodyPr vert="horz" wrap="square" lIns="91440" tIns="45720" rIns="91440" bIns="45720" anchor="ctr" anchorCtr="0"/>
          <a:p>
            <a:r>
              <a:rPr lang="en-US" altLang="zh-CN" dirty="0">
                <a:ea typeface="宋体" panose="02010600030101010101" pitchFamily="2" charset="-122"/>
              </a:rPr>
              <a:t>Mobility: more vocabulary</a:t>
            </a:r>
            <a:endParaRPr lang="en-US" altLang="zh-CN" dirty="0">
              <a:ea typeface="宋体" panose="02010600030101010101" pitchFamily="2" charset="-122"/>
            </a:endParaRPr>
          </a:p>
        </p:txBody>
      </p:sp>
      <p:sp>
        <p:nvSpPr>
          <p:cNvPr id="99351" name="Text Box 22"/>
          <p:cNvSpPr txBox="1"/>
          <p:nvPr/>
        </p:nvSpPr>
        <p:spPr>
          <a:xfrm>
            <a:off x="2728913" y="2665413"/>
            <a:ext cx="3335337" cy="946150"/>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Care-of-address:</a:t>
            </a:r>
            <a:r>
              <a:rPr lang="en-US" altLang="zh-CN" sz="2000" dirty="0">
                <a:latin typeface="Comic Sans MS" panose="030F0702030302020204" pitchFamily="66" charset="0"/>
                <a:ea typeface="宋体" panose="02010600030101010101" pitchFamily="2" charset="-122"/>
              </a:rPr>
              <a:t> address in visited network.</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1600" dirty="0">
                <a:latin typeface="Comic Sans MS" panose="030F0702030302020204" pitchFamily="66" charset="0"/>
                <a:ea typeface="宋体" panose="02010600030101010101" pitchFamily="2" charset="-122"/>
              </a:rPr>
              <a:t>(e.g., 79,129.13.2) </a:t>
            </a:r>
            <a:endParaRPr lang="en-US" altLang="zh-CN" sz="1600" dirty="0">
              <a:latin typeface="Comic Sans MS" panose="030F0702030302020204" pitchFamily="66" charset="0"/>
              <a:ea typeface="宋体" panose="02010600030101010101" pitchFamily="2" charset="-122"/>
            </a:endParaRPr>
          </a:p>
        </p:txBody>
      </p:sp>
      <p:grpSp>
        <p:nvGrpSpPr>
          <p:cNvPr id="99352" name="Group 23"/>
          <p:cNvGrpSpPr/>
          <p:nvPr/>
        </p:nvGrpSpPr>
        <p:grpSpPr>
          <a:xfrm>
            <a:off x="1520825" y="3044825"/>
            <a:ext cx="914400" cy="590550"/>
            <a:chOff x="10665" y="3225"/>
            <a:chExt cx="1440" cy="930"/>
          </a:xfrm>
        </p:grpSpPr>
        <p:sp>
          <p:nvSpPr>
            <p:cNvPr id="99353" name="Oval 24"/>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9354" name="Group 25"/>
            <p:cNvGrpSpPr/>
            <p:nvPr/>
          </p:nvGrpSpPr>
          <p:grpSpPr>
            <a:xfrm>
              <a:off x="11038" y="3281"/>
              <a:ext cx="618" cy="667"/>
              <a:chOff x="8023" y="4451"/>
              <a:chExt cx="618" cy="667"/>
            </a:xfrm>
          </p:grpSpPr>
          <p:sp>
            <p:nvSpPr>
              <p:cNvPr id="99355" name="Freeform 26"/>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99356" name="Freeform 27"/>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9357" name="Freeform 28"/>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9358" name="Freeform 29"/>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99359" name="Freeform 30"/>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0" name="Freeform 31"/>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1" name="Freeform 32"/>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2" name="Freeform 33"/>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3" name="Freeform 34"/>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4" name="Freeform 35"/>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5" name="Freeform 36"/>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6" name="Freeform 37"/>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7" name="Freeform 38"/>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8" name="Freeform 39"/>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69" name="Freeform 40"/>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99370" name="Freeform 41"/>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99371" name="Freeform 42"/>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99372" name="Freeform 43"/>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99373" name="Freeform 44"/>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99374" name="Freeform 45"/>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99375" name="Freeform 46"/>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99376" name="Freeform 47"/>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77" name="Freeform 48"/>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78" name="Freeform 49"/>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79" name="Freeform 50"/>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0" name="Freeform 51"/>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1" name="Freeform 52"/>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2" name="Freeform 53"/>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3" name="Freeform 54"/>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4" name="Freeform 55"/>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5" name="Freeform 56"/>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6" name="Freeform 57"/>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7" name="Freeform 58"/>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8" name="Freeform 59"/>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89" name="Freeform 60"/>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0" name="Freeform 61"/>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1" name="Freeform 62"/>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2" name="Freeform 63"/>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3" name="Freeform 64"/>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4" name="Freeform 65"/>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5" name="Freeform 66"/>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6" name="Freeform 67"/>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7" name="Freeform 68"/>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8" name="Freeform 69"/>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399" name="Freeform 70"/>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0" name="Freeform 71"/>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1" name="Freeform 72"/>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2" name="Freeform 73"/>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3" name="Freeform 74"/>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4" name="Freeform 75"/>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5" name="Freeform 76"/>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6" name="Freeform 77"/>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99407" name="Freeform 78"/>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99408" name="Freeform 79"/>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99409" name="Freeform 80"/>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99410" name="Freeform 81"/>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99411" name="Freeform 82"/>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99412" name="Freeform 83"/>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99413" name="Freeform 84"/>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99414" name="Freeform 85"/>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99415" name="Freeform 86"/>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99416" name="Freeform 87"/>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99417" name="Freeform 88"/>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99418" name="Freeform 89"/>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99419" name="Freeform 90"/>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99420" name="Freeform 91"/>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99421" name="Freeform 92"/>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99422" name="Freeform 93"/>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99423" name="Freeform 94"/>
          <p:cNvSpPr/>
          <p:nvPr/>
        </p:nvSpPr>
        <p:spPr>
          <a:xfrm>
            <a:off x="6413500" y="2708275"/>
            <a:ext cx="1838325" cy="1711325"/>
          </a:xfrm>
          <a:custGeom>
            <a:avLst/>
            <a:gdLst/>
            <a:ahLst/>
            <a:cxnLst>
              <a:cxn ang="0">
                <a:pos x="1614093" y="537490135"/>
              </a:cxn>
              <a:cxn ang="0">
                <a:pos x="140823064" y="205546464"/>
              </a:cxn>
              <a:cxn ang="0">
                <a:pos x="558449341" y="138915361"/>
              </a:cxn>
              <a:cxn ang="0">
                <a:pos x="1047495879" y="68649996"/>
              </a:cxn>
              <a:cxn ang="0">
                <a:pos x="1163704826" y="550815974"/>
              </a:cxn>
              <a:cxn ang="0">
                <a:pos x="1072916090" y="865798907"/>
              </a:cxn>
              <a:cxn ang="0">
                <a:pos x="848972025" y="1011175744"/>
              </a:cxn>
              <a:cxn ang="0">
                <a:pos x="661342818" y="1041462320"/>
              </a:cxn>
              <a:cxn ang="0">
                <a:pos x="421257827" y="1062057319"/>
              </a:cxn>
              <a:cxn ang="0">
                <a:pos x="139612335" y="888816959"/>
              </a:cxn>
              <a:cxn ang="0">
                <a:pos x="1614093" y="53749013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99424" name="Group 95"/>
          <p:cNvGrpSpPr/>
          <p:nvPr/>
        </p:nvGrpSpPr>
        <p:grpSpPr>
          <a:xfrm>
            <a:off x="6705600" y="3946525"/>
            <a:ext cx="501650" cy="233363"/>
            <a:chOff x="3600" y="219"/>
            <a:chExt cx="360" cy="175"/>
          </a:xfrm>
        </p:grpSpPr>
        <p:sp>
          <p:nvSpPr>
            <p:cNvPr id="99425" name="Oval 96"/>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99426" name="Line 97"/>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99427" name="Line 98"/>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99428" name="Rectangle 99"/>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99429" name="Oval 100"/>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9430" name="Group 101"/>
            <p:cNvGrpSpPr/>
            <p:nvPr/>
          </p:nvGrpSpPr>
          <p:grpSpPr>
            <a:xfrm>
              <a:off x="3686" y="244"/>
              <a:ext cx="177" cy="66"/>
              <a:chOff x="2848" y="848"/>
              <a:chExt cx="140" cy="98"/>
            </a:xfrm>
          </p:grpSpPr>
          <p:sp>
            <p:nvSpPr>
              <p:cNvPr id="99431" name="Line 10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9432" name="Line 10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9433" name="Line 10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99434" name="Group 105"/>
            <p:cNvGrpSpPr/>
            <p:nvPr/>
          </p:nvGrpSpPr>
          <p:grpSpPr>
            <a:xfrm flipV="1">
              <a:off x="3686" y="243"/>
              <a:ext cx="177" cy="66"/>
              <a:chOff x="2848" y="848"/>
              <a:chExt cx="140" cy="98"/>
            </a:xfrm>
          </p:grpSpPr>
          <p:sp>
            <p:nvSpPr>
              <p:cNvPr id="99435" name="Line 10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99436" name="Line 10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99437" name="Line 10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99438" name="Line 109"/>
          <p:cNvSpPr/>
          <p:nvPr/>
        </p:nvSpPr>
        <p:spPr>
          <a:xfrm>
            <a:off x="6735763" y="3775075"/>
            <a:ext cx="1333500" cy="0"/>
          </a:xfrm>
          <a:prstGeom prst="line">
            <a:avLst/>
          </a:prstGeom>
          <a:ln w="19050" cap="flat" cmpd="sng">
            <a:solidFill>
              <a:srgbClr val="000000"/>
            </a:solidFill>
            <a:prstDash val="solid"/>
            <a:round/>
            <a:headEnd type="none" w="med" len="med"/>
            <a:tailEnd type="none" w="med" len="med"/>
          </a:ln>
        </p:spPr>
      </p:sp>
      <p:sp>
        <p:nvSpPr>
          <p:cNvPr id="99439" name="Line 110"/>
          <p:cNvSpPr/>
          <p:nvPr/>
        </p:nvSpPr>
        <p:spPr>
          <a:xfrm>
            <a:off x="6945313" y="3775075"/>
            <a:ext cx="0" cy="171450"/>
          </a:xfrm>
          <a:prstGeom prst="line">
            <a:avLst/>
          </a:prstGeom>
          <a:ln w="19050" cap="flat" cmpd="sng">
            <a:solidFill>
              <a:srgbClr val="000000"/>
            </a:solidFill>
            <a:prstDash val="solid"/>
            <a:round/>
            <a:headEnd type="none" w="med" len="med"/>
            <a:tailEnd type="none" w="med" len="med"/>
          </a:ln>
        </p:spPr>
      </p:sp>
      <p:sp>
        <p:nvSpPr>
          <p:cNvPr id="99440" name="Line 111"/>
          <p:cNvSpPr/>
          <p:nvPr/>
        </p:nvSpPr>
        <p:spPr>
          <a:xfrm>
            <a:off x="7797800" y="3608388"/>
            <a:ext cx="0" cy="171450"/>
          </a:xfrm>
          <a:prstGeom prst="line">
            <a:avLst/>
          </a:prstGeom>
          <a:ln w="19050" cap="flat" cmpd="sng">
            <a:solidFill>
              <a:srgbClr val="000000"/>
            </a:solidFill>
            <a:prstDash val="solid"/>
            <a:round/>
            <a:headEnd type="none" w="med" len="med"/>
            <a:tailEnd type="none" w="med" len="med"/>
          </a:ln>
        </p:spPr>
      </p:sp>
      <p:grpSp>
        <p:nvGrpSpPr>
          <p:cNvPr id="99441" name="Group 112"/>
          <p:cNvGrpSpPr/>
          <p:nvPr/>
        </p:nvGrpSpPr>
        <p:grpSpPr>
          <a:xfrm>
            <a:off x="7340600" y="3136900"/>
            <a:ext cx="914400" cy="590550"/>
            <a:chOff x="10665" y="3225"/>
            <a:chExt cx="1440" cy="930"/>
          </a:xfrm>
        </p:grpSpPr>
        <p:sp>
          <p:nvSpPr>
            <p:cNvPr id="99442" name="Oval 113"/>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99443" name="Group 114"/>
            <p:cNvGrpSpPr/>
            <p:nvPr/>
          </p:nvGrpSpPr>
          <p:grpSpPr>
            <a:xfrm>
              <a:off x="11031" y="3335"/>
              <a:ext cx="565" cy="643"/>
              <a:chOff x="2870" y="1518"/>
              <a:chExt cx="292" cy="320"/>
            </a:xfrm>
          </p:grpSpPr>
          <p:graphicFrame>
            <p:nvGraphicFramePr>
              <p:cNvPr id="99444" name="Object 1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3" name="" r:id="rId1" imgW="826770" imgH="840105" progId="">
                      <p:embed/>
                    </p:oleObj>
                  </mc:Choice>
                  <mc:Fallback>
                    <p:oleObj name="" r:id="rId1" imgW="826770" imgH="840105" progId="">
                      <p:embed/>
                      <p:pic>
                        <p:nvPicPr>
                          <p:cNvPr id="0" name="图片 314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99445" name="Object 1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1" name="" r:id="rId3" imgW="1268095" imgH="1199515" progId="">
                      <p:embed/>
                    </p:oleObj>
                  </mc:Choice>
                  <mc:Fallback>
                    <p:oleObj name="" r:id="rId3" imgW="1268095" imgH="1199515" progId="">
                      <p:embed/>
                      <p:pic>
                        <p:nvPicPr>
                          <p:cNvPr id="0" name="图片 3140"/>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99446" name="Freeform 117"/>
          <p:cNvSpPr/>
          <p:nvPr/>
        </p:nvSpPr>
        <p:spPr>
          <a:xfrm>
            <a:off x="3954463" y="3654425"/>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99447" name="Text Box 118"/>
          <p:cNvSpPr txBox="1"/>
          <p:nvPr/>
        </p:nvSpPr>
        <p:spPr>
          <a:xfrm>
            <a:off x="4129088" y="3951288"/>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99448" name="Freeform 119"/>
          <p:cNvSpPr/>
          <p:nvPr/>
        </p:nvSpPr>
        <p:spPr>
          <a:xfrm>
            <a:off x="3259138" y="5218113"/>
            <a:ext cx="2944812" cy="911225"/>
          </a:xfrm>
          <a:custGeom>
            <a:avLst/>
            <a:gdLst/>
            <a:ahLst/>
            <a:cxnLst>
              <a:cxn ang="0">
                <a:pos x="136781944" y="6048375"/>
              </a:cxn>
              <a:cxn ang="0">
                <a:pos x="76258943" y="260080125"/>
              </a:cxn>
              <a:cxn ang="0">
                <a:pos x="324402548" y="508063500"/>
              </a:cxn>
              <a:cxn ang="0">
                <a:pos x="790428575" y="574595625"/>
              </a:cxn>
              <a:cxn ang="0">
                <a:pos x="1419866895" y="532257000"/>
              </a:cxn>
              <a:cxn ang="0">
                <a:pos x="1583278553" y="393144375"/>
              </a:cxn>
              <a:cxn ang="0">
                <a:pos x="1833036215" y="310080025"/>
              </a:cxn>
              <a:cxn ang="0">
                <a:pos x="1714411616" y="112096550"/>
              </a:cxn>
              <a:cxn ang="0">
                <a:pos x="896545346" y="30645100"/>
              </a:cxn>
              <a:cxn ang="0">
                <a:pos x="136781944" y="6048375"/>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99449" name="Object 120"/>
          <p:cNvGraphicFramePr>
            <a:graphicFrameLocks noChangeAspect="1"/>
          </p:cNvGraphicFramePr>
          <p:nvPr/>
        </p:nvGraphicFramePr>
        <p:xfrm>
          <a:off x="4392613" y="5400675"/>
          <a:ext cx="415925" cy="317500"/>
        </p:xfrm>
        <a:graphic>
          <a:graphicData uri="http://schemas.openxmlformats.org/presentationml/2006/ole">
            <mc:AlternateContent xmlns:mc="http://schemas.openxmlformats.org/markup-compatibility/2006">
              <mc:Choice xmlns:v="urn:schemas-microsoft-com:vml" Requires="v">
                <p:oleObj spid="_x0000_s3142" name="" r:id="rId5" imgW="1307465" imgH="1083945" progId="">
                  <p:embed/>
                </p:oleObj>
              </mc:Choice>
              <mc:Fallback>
                <p:oleObj name="" r:id="rId5" imgW="1307465" imgH="1083945" progId="">
                  <p:embed/>
                  <p:pic>
                    <p:nvPicPr>
                      <p:cNvPr id="0" name="图片 3141"/>
                      <p:cNvPicPr/>
                      <p:nvPr/>
                    </p:nvPicPr>
                    <p:blipFill>
                      <a:blip r:embed="rId6"/>
                      <a:stretch>
                        <a:fillRect/>
                      </a:stretch>
                    </p:blipFill>
                    <p:spPr>
                      <a:xfrm>
                        <a:off x="4392613" y="5400675"/>
                        <a:ext cx="415925" cy="317500"/>
                      </a:xfrm>
                      <a:prstGeom prst="rect">
                        <a:avLst/>
                      </a:prstGeom>
                      <a:noFill/>
                      <a:ln w="38100">
                        <a:noFill/>
                        <a:miter/>
                      </a:ln>
                    </p:spPr>
                  </p:pic>
                </p:oleObj>
              </mc:Fallback>
            </mc:AlternateContent>
          </a:graphicData>
        </a:graphic>
      </p:graphicFrame>
      <p:sp>
        <p:nvSpPr>
          <p:cNvPr id="99450" name="Line 121"/>
          <p:cNvSpPr/>
          <p:nvPr/>
        </p:nvSpPr>
        <p:spPr>
          <a:xfrm>
            <a:off x="4894263" y="2238375"/>
            <a:ext cx="2528887" cy="1087438"/>
          </a:xfrm>
          <a:prstGeom prst="line">
            <a:avLst/>
          </a:prstGeom>
          <a:ln w="28575" cap="flat" cmpd="sng">
            <a:solidFill>
              <a:srgbClr val="FF0000"/>
            </a:solidFill>
            <a:prstDash val="solid"/>
            <a:round/>
            <a:headEnd type="none" w="med" len="med"/>
            <a:tailEnd type="triangle" w="med" len="med"/>
          </a:ln>
        </p:spPr>
      </p:sp>
      <p:sp>
        <p:nvSpPr>
          <p:cNvPr id="99451" name="Line 122"/>
          <p:cNvSpPr/>
          <p:nvPr/>
        </p:nvSpPr>
        <p:spPr>
          <a:xfrm flipH="1" flipV="1">
            <a:off x="6916738" y="4244975"/>
            <a:ext cx="255587" cy="539750"/>
          </a:xfrm>
          <a:prstGeom prst="line">
            <a:avLst/>
          </a:prstGeom>
          <a:ln w="28575" cap="flat" cmpd="sng">
            <a:solidFill>
              <a:srgbClr val="FF0000"/>
            </a:solidFill>
            <a:prstDash val="solid"/>
            <a:round/>
            <a:headEnd type="none" w="med" len="med"/>
            <a:tailEnd type="triangle" w="med" len="med"/>
          </a:ln>
        </p:spPr>
      </p:sp>
      <p:sp>
        <p:nvSpPr>
          <p:cNvPr id="99452" name="Line 123"/>
          <p:cNvSpPr/>
          <p:nvPr/>
        </p:nvSpPr>
        <p:spPr>
          <a:xfrm flipH="1">
            <a:off x="7951788" y="2243138"/>
            <a:ext cx="215900" cy="779462"/>
          </a:xfrm>
          <a:prstGeom prst="line">
            <a:avLst/>
          </a:prstGeom>
          <a:ln w="28575" cap="flat" cmpd="sng">
            <a:solidFill>
              <a:srgbClr val="FF0000"/>
            </a:solidFill>
            <a:prstDash val="solid"/>
            <a:round/>
            <a:headEnd type="none" w="med" len="med"/>
            <a:tailEnd type="triangle" w="med" len="med"/>
          </a:ln>
        </p:spPr>
      </p:sp>
      <p:sp>
        <p:nvSpPr>
          <p:cNvPr id="99453" name="Text Box 124"/>
          <p:cNvSpPr txBox="1"/>
          <p:nvPr/>
        </p:nvSpPr>
        <p:spPr>
          <a:xfrm>
            <a:off x="5500688" y="1330325"/>
            <a:ext cx="3349625" cy="1006475"/>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visited network:</a:t>
            </a:r>
            <a:r>
              <a:rPr lang="en-US" altLang="zh-CN" sz="2000" dirty="0">
                <a:latin typeface="Comic Sans MS" panose="030F0702030302020204" pitchFamily="66" charset="0"/>
                <a:ea typeface="宋体" panose="02010600030101010101" pitchFamily="2" charset="-122"/>
              </a:rPr>
              <a:t> network in which mobile currently resides </a:t>
            </a:r>
            <a:r>
              <a:rPr lang="en-US" altLang="zh-CN" sz="1600" dirty="0">
                <a:latin typeface="Comic Sans MS" panose="030F0702030302020204" pitchFamily="66" charset="0"/>
                <a:ea typeface="宋体" panose="02010600030101010101" pitchFamily="2" charset="-122"/>
              </a:rPr>
              <a:t>(e.g., 79.129.13/24)</a:t>
            </a:r>
            <a:endParaRPr lang="en-US" altLang="zh-CN" sz="1600" dirty="0">
              <a:latin typeface="Comic Sans MS" panose="030F0702030302020204" pitchFamily="66" charset="0"/>
              <a:ea typeface="宋体" panose="02010600030101010101" pitchFamily="2" charset="-122"/>
            </a:endParaRPr>
          </a:p>
        </p:txBody>
      </p:sp>
      <p:sp>
        <p:nvSpPr>
          <p:cNvPr id="99454" name="Text Box 125"/>
          <p:cNvSpPr txBox="1"/>
          <p:nvPr/>
        </p:nvSpPr>
        <p:spPr>
          <a:xfrm>
            <a:off x="1684338" y="1700213"/>
            <a:ext cx="3671887" cy="701675"/>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Permanent address:</a:t>
            </a:r>
            <a:r>
              <a:rPr lang="en-US" altLang="zh-CN" sz="2000" dirty="0">
                <a:latin typeface="Comic Sans MS" panose="030F0702030302020204" pitchFamily="66" charset="0"/>
                <a:ea typeface="宋体" panose="02010600030101010101" pitchFamily="2" charset="-122"/>
              </a:rPr>
              <a:t> remains constant (</a:t>
            </a:r>
            <a:r>
              <a:rPr lang="en-US" altLang="zh-CN" sz="1600" dirty="0">
                <a:latin typeface="Comic Sans MS" panose="030F0702030302020204" pitchFamily="66" charset="0"/>
                <a:ea typeface="宋体" panose="02010600030101010101" pitchFamily="2" charset="-122"/>
              </a:rPr>
              <a:t>e.g., 128.119.40.186)</a:t>
            </a:r>
            <a:endParaRPr lang="en-US" altLang="zh-CN" sz="1600" dirty="0">
              <a:latin typeface="Comic Sans MS" panose="030F0702030302020204" pitchFamily="66" charset="0"/>
              <a:ea typeface="宋体" panose="02010600030101010101" pitchFamily="2" charset="-122"/>
            </a:endParaRPr>
          </a:p>
        </p:txBody>
      </p:sp>
      <p:sp>
        <p:nvSpPr>
          <p:cNvPr id="99455" name="Text Box 126"/>
          <p:cNvSpPr txBox="1"/>
          <p:nvPr/>
        </p:nvSpPr>
        <p:spPr>
          <a:xfrm>
            <a:off x="6396038" y="4740275"/>
            <a:ext cx="2747962" cy="1616075"/>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foreign agent: </a:t>
            </a:r>
            <a:r>
              <a:rPr lang="en-US" altLang="zh-CN" sz="2000" i="1" dirty="0">
                <a:latin typeface="Comic Sans MS" panose="030F0702030302020204" pitchFamily="66" charset="0"/>
                <a:ea typeface="宋体" panose="02010600030101010101" pitchFamily="2" charset="-122"/>
              </a:rPr>
              <a:t>entity in visited network that performs mobility functions on behalf of mobile. </a:t>
            </a:r>
            <a:endParaRPr lang="en-US" altLang="zh-CN" sz="2000" dirty="0">
              <a:latin typeface="Comic Sans MS" panose="030F0702030302020204" pitchFamily="66" charset="0"/>
              <a:ea typeface="宋体" panose="02010600030101010101" pitchFamily="2" charset="-122"/>
            </a:endParaRPr>
          </a:p>
        </p:txBody>
      </p:sp>
      <p:sp>
        <p:nvSpPr>
          <p:cNvPr id="99456" name="Line 127"/>
          <p:cNvSpPr/>
          <p:nvPr/>
        </p:nvSpPr>
        <p:spPr>
          <a:xfrm>
            <a:off x="5073650" y="3130550"/>
            <a:ext cx="2393950" cy="347663"/>
          </a:xfrm>
          <a:prstGeom prst="line">
            <a:avLst/>
          </a:prstGeom>
          <a:ln w="28575" cap="flat" cmpd="sng">
            <a:solidFill>
              <a:srgbClr val="FF0000"/>
            </a:solidFill>
            <a:prstDash val="solid"/>
            <a:round/>
            <a:headEnd type="none" w="med" len="med"/>
            <a:tailEnd type="triangle" w="med" len="med"/>
          </a:ln>
        </p:spPr>
      </p:sp>
      <p:sp>
        <p:nvSpPr>
          <p:cNvPr id="99457" name="Text Box 128"/>
          <p:cNvSpPr txBox="1"/>
          <p:nvPr/>
        </p:nvSpPr>
        <p:spPr>
          <a:xfrm>
            <a:off x="496888" y="5605463"/>
            <a:ext cx="2747962" cy="1006475"/>
          </a:xfrm>
          <a:prstGeom prst="rect">
            <a:avLst/>
          </a:prstGeom>
          <a:noFill/>
          <a:ln w="9525">
            <a:noFill/>
          </a:ln>
        </p:spPr>
        <p:txBody>
          <a:bodyPr anchor="t" anchorCtr="0">
            <a:spAutoFit/>
          </a:bodyPr>
          <a:p>
            <a:pPr eaLnBrk="0" hangingPunct="0">
              <a:buClrTx/>
              <a:buFontTx/>
            </a:pPr>
            <a:r>
              <a:rPr lang="en-US" altLang="zh-CN" sz="2000" i="1" dirty="0">
                <a:solidFill>
                  <a:srgbClr val="FF0000"/>
                </a:solidFill>
                <a:latin typeface="Comic Sans MS" panose="030F0702030302020204" pitchFamily="66" charset="0"/>
                <a:ea typeface="宋体" panose="02010600030101010101" pitchFamily="2" charset="-122"/>
              </a:rPr>
              <a:t>correspondent: </a:t>
            </a:r>
            <a:r>
              <a:rPr lang="en-US" altLang="zh-CN" sz="2000" i="1" dirty="0">
                <a:latin typeface="Comic Sans MS" panose="030F0702030302020204" pitchFamily="66" charset="0"/>
                <a:ea typeface="宋体" panose="02010600030101010101" pitchFamily="2" charset="-122"/>
              </a:rPr>
              <a:t>wants to communicate with mobile</a:t>
            </a:r>
            <a:endParaRPr lang="en-US" altLang="zh-CN" sz="2000" dirty="0">
              <a:latin typeface="Comic Sans MS" panose="030F0702030302020204" pitchFamily="66" charset="0"/>
              <a:ea typeface="宋体" panose="02010600030101010101" pitchFamily="2" charset="-122"/>
            </a:endParaRPr>
          </a:p>
        </p:txBody>
      </p:sp>
      <p:sp>
        <p:nvSpPr>
          <p:cNvPr id="99458" name="Line 129"/>
          <p:cNvSpPr/>
          <p:nvPr/>
        </p:nvSpPr>
        <p:spPr>
          <a:xfrm flipV="1">
            <a:off x="3209925" y="5621338"/>
            <a:ext cx="1169988" cy="311150"/>
          </a:xfrm>
          <a:prstGeom prst="line">
            <a:avLst/>
          </a:prstGeom>
          <a:ln w="28575" cap="flat" cmpd="sng">
            <a:solidFill>
              <a:srgbClr val="FF0000"/>
            </a:solidFill>
            <a:prstDash val="solid"/>
            <a:round/>
            <a:headEnd type="none" w="med" len="med"/>
            <a:tailEnd type="triangle" w="med" len="me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137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1379"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How do </a:t>
            </a:r>
            <a:r>
              <a:rPr lang="en-US" altLang="zh-CN" sz="3200" i="1" dirty="0">
                <a:ea typeface="宋体" panose="02010600030101010101" pitchFamily="2" charset="-122"/>
              </a:rPr>
              <a:t>you</a:t>
            </a:r>
            <a:r>
              <a:rPr lang="en-US" altLang="zh-CN" sz="3200" dirty="0">
                <a:ea typeface="宋体" panose="02010600030101010101" pitchFamily="2" charset="-122"/>
              </a:rPr>
              <a:t> contact a mobile friend:</a:t>
            </a:r>
            <a:endParaRPr lang="en-US" altLang="zh-CN" sz="3200" dirty="0">
              <a:ea typeface="宋体" panose="02010600030101010101" pitchFamily="2" charset="-122"/>
            </a:endParaRPr>
          </a:p>
        </p:txBody>
      </p:sp>
      <p:sp>
        <p:nvSpPr>
          <p:cNvPr id="101380" name="Rectangle 3"/>
          <p:cNvSpPr>
            <a:spLocks noGrp="1"/>
          </p:cNvSpPr>
          <p:nvPr>
            <p:ph type="body" sz="half" idx="1"/>
          </p:nvPr>
        </p:nvSpPr>
        <p:spPr>
          <a:xfrm>
            <a:off x="469900" y="2546350"/>
            <a:ext cx="3824288" cy="2473325"/>
          </a:xfrm>
          <a:ln/>
        </p:spPr>
        <p:txBody>
          <a:bodyPr vert="horz" wrap="square" lIns="91440" tIns="45720" rIns="91440" bIns="45720" anchor="t" anchorCtr="0"/>
          <a:p>
            <a:pPr>
              <a:buClr>
                <a:schemeClr val="accent2"/>
              </a:buClr>
              <a:buSzPct val="85000"/>
              <a:buFont typeface="ZapfDingbats" pitchFamily="82" charset="2"/>
            </a:pPr>
            <a:r>
              <a:rPr lang="en-US" altLang="zh-CN" sz="2400" dirty="0">
                <a:ea typeface="宋体" panose="02010600030101010101" pitchFamily="2" charset="-122"/>
              </a:rPr>
              <a:t>search all phone books?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call her parents?</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expect her to let you know where he/she is?</a:t>
            </a:r>
            <a:endParaRPr lang="en-US" altLang="zh-CN" sz="2400" dirty="0">
              <a:ea typeface="宋体" panose="02010600030101010101" pitchFamily="2" charset="-122"/>
            </a:endParaRPr>
          </a:p>
        </p:txBody>
      </p:sp>
      <p:pic>
        <p:nvPicPr>
          <p:cNvPr id="101381" name="Picture 4"/>
          <p:cNvPicPr>
            <a:picLocks noGrp="1" noChangeAspect="1"/>
          </p:cNvPicPr>
          <p:nvPr>
            <p:ph sz="half" idx="2"/>
          </p:nvPr>
        </p:nvPicPr>
        <p:blipFill>
          <a:blip r:embed="rId1"/>
          <a:stretch>
            <a:fillRect/>
          </a:stretch>
        </p:blipFill>
        <p:spPr>
          <a:xfrm>
            <a:off x="4060825" y="3729038"/>
            <a:ext cx="4813300" cy="2489200"/>
          </a:xfrm>
          <a:ln/>
        </p:spPr>
      </p:pic>
      <p:pic>
        <p:nvPicPr>
          <p:cNvPr id="101382" name="Picture 5"/>
          <p:cNvPicPr>
            <a:picLocks noChangeAspect="1"/>
          </p:cNvPicPr>
          <p:nvPr/>
        </p:nvPicPr>
        <p:blipFill>
          <a:blip r:embed="rId2"/>
          <a:stretch>
            <a:fillRect/>
          </a:stretch>
        </p:blipFill>
        <p:spPr>
          <a:xfrm>
            <a:off x="5627688" y="5354638"/>
            <a:ext cx="561975" cy="693737"/>
          </a:xfrm>
          <a:prstGeom prst="rect">
            <a:avLst/>
          </a:prstGeom>
          <a:noFill/>
          <a:ln w="9525">
            <a:noFill/>
          </a:ln>
        </p:spPr>
      </p:pic>
      <p:pic>
        <p:nvPicPr>
          <p:cNvPr id="101383" name="Picture 6"/>
          <p:cNvPicPr>
            <a:picLocks noChangeAspect="1"/>
          </p:cNvPicPr>
          <p:nvPr/>
        </p:nvPicPr>
        <p:blipFill>
          <a:blip r:embed="rId3"/>
          <a:stretch>
            <a:fillRect/>
          </a:stretch>
        </p:blipFill>
        <p:spPr>
          <a:xfrm>
            <a:off x="6645275" y="3151188"/>
            <a:ext cx="676275" cy="690562"/>
          </a:xfrm>
          <a:prstGeom prst="rect">
            <a:avLst/>
          </a:prstGeom>
          <a:noFill/>
          <a:ln w="9525">
            <a:noFill/>
          </a:ln>
        </p:spPr>
      </p:pic>
      <p:sp>
        <p:nvSpPr>
          <p:cNvPr id="101384" name="Text Box 7"/>
          <p:cNvSpPr txBox="1"/>
          <p:nvPr/>
        </p:nvSpPr>
        <p:spPr>
          <a:xfrm>
            <a:off x="6381750" y="1616075"/>
            <a:ext cx="2644775" cy="822325"/>
          </a:xfrm>
          <a:prstGeom prst="rect">
            <a:avLst/>
          </a:prstGeom>
          <a:noFill/>
          <a:ln w="9525">
            <a:noFill/>
          </a:ln>
        </p:spPr>
        <p:txBody>
          <a:bodyPr anchor="t" anchorCtr="0">
            <a:spAutoFit/>
          </a:bodyPr>
          <a:p>
            <a:pPr eaLnBrk="0" hangingPunct="0">
              <a:buClrTx/>
              <a:buFontTx/>
            </a:pPr>
            <a:r>
              <a:rPr lang="en-US" altLang="zh-CN" sz="2400" dirty="0">
                <a:latin typeface="Comic Sans MS" panose="030F0702030302020204" pitchFamily="66" charset="0"/>
                <a:ea typeface="宋体" panose="02010600030101010101" pitchFamily="2" charset="-122"/>
              </a:rPr>
              <a:t>I wonder where Alice moved to?</a:t>
            </a:r>
            <a:endParaRPr lang="en-US" altLang="zh-CN" sz="2400" dirty="0">
              <a:latin typeface="Times New Roman" panose="02020603050405020304" pitchFamily="18" charset="0"/>
              <a:ea typeface="宋体" panose="02010600030101010101" pitchFamily="2" charset="-122"/>
            </a:endParaRPr>
          </a:p>
        </p:txBody>
      </p:sp>
      <p:sp>
        <p:nvSpPr>
          <p:cNvPr id="101385" name="Oval 8"/>
          <p:cNvSpPr/>
          <p:nvPr/>
        </p:nvSpPr>
        <p:spPr>
          <a:xfrm>
            <a:off x="5975350" y="1528763"/>
            <a:ext cx="3168650" cy="992187"/>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1386" name="Oval 9"/>
          <p:cNvSpPr/>
          <p:nvPr/>
        </p:nvSpPr>
        <p:spPr>
          <a:xfrm>
            <a:off x="6473825" y="2420938"/>
            <a:ext cx="1387475" cy="268287"/>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1387" name="Oval 10"/>
          <p:cNvSpPr/>
          <p:nvPr/>
        </p:nvSpPr>
        <p:spPr>
          <a:xfrm>
            <a:off x="6405563" y="2760663"/>
            <a:ext cx="708025" cy="142875"/>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1388" name="Oval 11"/>
          <p:cNvSpPr/>
          <p:nvPr/>
        </p:nvSpPr>
        <p:spPr>
          <a:xfrm>
            <a:off x="6557963" y="2960688"/>
            <a:ext cx="280987" cy="95250"/>
          </a:xfrm>
          <a:prstGeom prst="ellipse">
            <a:avLst/>
          </a:prstGeom>
          <a:no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1389" name="Rectangle 12"/>
          <p:cNvSpPr/>
          <p:nvPr/>
        </p:nvSpPr>
        <p:spPr>
          <a:xfrm>
            <a:off x="417513" y="1720850"/>
            <a:ext cx="5322887" cy="1100138"/>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pPr>
            <a:r>
              <a:rPr lang="en-US" altLang="zh-CN" sz="2400" dirty="0">
                <a:latin typeface="Comic Sans MS" panose="030F0702030302020204" pitchFamily="66" charset="0"/>
                <a:ea typeface="宋体" panose="02010600030101010101" pitchFamily="2" charset="-122"/>
              </a:rPr>
              <a:t>Consider friend frequently changing addresses, how do you find her?</a:t>
            </a:r>
            <a:endParaRPr lang="en-US" altLang="zh-CN" sz="2400" dirty="0">
              <a:latin typeface="Comic Sans MS" panose="030F0702030302020204" pitchFamily="66"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34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342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Mobility: approaches</a:t>
            </a:r>
            <a:endParaRPr lang="en-US" altLang="zh-CN" dirty="0">
              <a:ea typeface="宋体" panose="02010600030101010101" pitchFamily="2" charset="-122"/>
            </a:endParaRPr>
          </a:p>
        </p:txBody>
      </p:sp>
      <p:sp>
        <p:nvSpPr>
          <p:cNvPr id="103428" name="Rectangle 3"/>
          <p:cNvSpPr>
            <a:spLocks noGrp="1"/>
          </p:cNvSpPr>
          <p:nvPr>
            <p:ph idx="1"/>
          </p:nvPr>
        </p:nvSpPr>
        <p:spPr>
          <a:xfrm>
            <a:off x="663575" y="1571625"/>
            <a:ext cx="8107363" cy="4487863"/>
          </a:xfrm>
          <a:ln/>
        </p:spPr>
        <p:txBody>
          <a:bodyPr vert="horz" wrap="square" lIns="91440" tIns="45720" rIns="91440" bIns="45720" anchor="t" anchorCtr="0"/>
          <a:p>
            <a:r>
              <a:rPr lang="en-US" altLang="zh-CN" sz="2400" i="1" dirty="0">
                <a:solidFill>
                  <a:srgbClr val="FF0000"/>
                </a:solidFill>
                <a:ea typeface="宋体" panose="02010600030101010101" pitchFamily="2" charset="-122"/>
              </a:rPr>
              <a:t>Let routing handle it: </a:t>
            </a:r>
            <a:r>
              <a:rPr lang="en-US" altLang="zh-CN" sz="2400" dirty="0">
                <a:ea typeface="宋体" panose="02010600030101010101" pitchFamily="2" charset="-122"/>
              </a:rPr>
              <a:t>routers advertise permanent address of mobile-nodes-in-residence via usual routing table exchange.</a:t>
            </a:r>
            <a:endParaRPr lang="en-US" altLang="zh-CN" sz="2400" dirty="0">
              <a:ea typeface="宋体" panose="02010600030101010101" pitchFamily="2" charset="-122"/>
            </a:endParaRPr>
          </a:p>
          <a:p>
            <a:pPr lvl="1"/>
            <a:r>
              <a:rPr lang="en-US" altLang="zh-CN" dirty="0">
                <a:ea typeface="宋体" panose="02010600030101010101" pitchFamily="2" charset="-122"/>
              </a:rPr>
              <a:t>routing tables indicate where each mobile located</a:t>
            </a:r>
            <a:endParaRPr lang="en-US" altLang="zh-CN" dirty="0">
              <a:ea typeface="宋体" panose="02010600030101010101" pitchFamily="2" charset="-122"/>
            </a:endParaRPr>
          </a:p>
          <a:p>
            <a:pPr lvl="1"/>
            <a:r>
              <a:rPr lang="en-US" altLang="zh-CN" dirty="0">
                <a:ea typeface="宋体" panose="02010600030101010101" pitchFamily="2" charset="-122"/>
              </a:rPr>
              <a:t>no changes to end-systems</a:t>
            </a:r>
            <a:endParaRPr lang="en-US" altLang="zh-CN" dirty="0">
              <a:ea typeface="宋体" panose="02010600030101010101" pitchFamily="2" charset="-122"/>
            </a:endParaRPr>
          </a:p>
          <a:p>
            <a:r>
              <a:rPr lang="en-US" altLang="zh-CN" sz="2400" i="1" dirty="0">
                <a:solidFill>
                  <a:srgbClr val="FF0000"/>
                </a:solidFill>
                <a:ea typeface="宋体" panose="02010600030101010101" pitchFamily="2" charset="-122"/>
              </a:rPr>
              <a:t>Let end-systems handle it: </a:t>
            </a:r>
            <a:endParaRPr lang="en-US" altLang="zh-CN" sz="2400" i="1" dirty="0">
              <a:solidFill>
                <a:srgbClr val="FF0000"/>
              </a:solidFill>
              <a:ea typeface="宋体" panose="02010600030101010101" pitchFamily="2" charset="-122"/>
            </a:endParaRPr>
          </a:p>
          <a:p>
            <a:pPr lvl="1"/>
            <a:r>
              <a:rPr lang="en-US" altLang="zh-CN" i="1" dirty="0">
                <a:solidFill>
                  <a:srgbClr val="FF0000"/>
                </a:solidFill>
                <a:ea typeface="宋体" panose="02010600030101010101" pitchFamily="2" charset="-122"/>
              </a:rPr>
              <a:t>indirect routing:</a:t>
            </a:r>
            <a:r>
              <a:rPr lang="en-US" altLang="zh-CN" dirty="0">
                <a:ea typeface="宋体" panose="02010600030101010101" pitchFamily="2" charset="-122"/>
              </a:rPr>
              <a:t> communication from correspondent to mobile goes through home agent, then forwarded to remote</a:t>
            </a:r>
            <a:endParaRPr lang="en-US" altLang="zh-CN" dirty="0">
              <a:ea typeface="宋体" panose="02010600030101010101" pitchFamily="2" charset="-122"/>
            </a:endParaRPr>
          </a:p>
          <a:p>
            <a:pPr lvl="1"/>
            <a:r>
              <a:rPr lang="en-US" altLang="zh-CN" i="1" dirty="0">
                <a:solidFill>
                  <a:srgbClr val="FF0000"/>
                </a:solidFill>
                <a:ea typeface="宋体" panose="02010600030101010101" pitchFamily="2" charset="-122"/>
              </a:rPr>
              <a:t>direct routing:</a:t>
            </a:r>
            <a:r>
              <a:rPr lang="en-US" altLang="zh-CN" dirty="0">
                <a:ea typeface="宋体" panose="02010600030101010101" pitchFamily="2" charset="-122"/>
              </a:rPr>
              <a:t> correspondent gets foreign address of mobile, sends directly to mobile</a:t>
            </a:r>
            <a:endParaRPr lang="en-US" altLang="zh-CN" dirty="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54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547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Mobility: approaches</a:t>
            </a:r>
            <a:endParaRPr lang="en-US" altLang="zh-CN" dirty="0">
              <a:ea typeface="宋体" panose="02010600030101010101" pitchFamily="2" charset="-122"/>
            </a:endParaRPr>
          </a:p>
        </p:txBody>
      </p:sp>
      <p:sp>
        <p:nvSpPr>
          <p:cNvPr id="105476" name="Rectangle 3"/>
          <p:cNvSpPr>
            <a:spLocks noGrp="1"/>
          </p:cNvSpPr>
          <p:nvPr>
            <p:ph idx="1"/>
          </p:nvPr>
        </p:nvSpPr>
        <p:spPr>
          <a:xfrm>
            <a:off x="663575" y="1571625"/>
            <a:ext cx="8107363" cy="4487863"/>
          </a:xfrm>
          <a:ln/>
        </p:spPr>
        <p:txBody>
          <a:bodyPr vert="horz" wrap="square" lIns="91440" tIns="45720" rIns="91440" bIns="45720" anchor="t" anchorCtr="0"/>
          <a:p>
            <a:r>
              <a:rPr lang="en-US" altLang="zh-CN" sz="2400" i="1" dirty="0">
                <a:solidFill>
                  <a:schemeClr val="folHlink"/>
                </a:solidFill>
                <a:ea typeface="宋体" panose="02010600030101010101" pitchFamily="2" charset="-122"/>
              </a:rPr>
              <a:t>Let routing handle it: </a:t>
            </a:r>
            <a:r>
              <a:rPr lang="en-US" altLang="zh-CN" sz="2400" dirty="0">
                <a:solidFill>
                  <a:schemeClr val="folHlink"/>
                </a:solidFill>
                <a:ea typeface="宋体" panose="02010600030101010101" pitchFamily="2" charset="-122"/>
              </a:rPr>
              <a:t>routers advertise permanent address of mobile-nodes-in-residence via usual routing table exchange.</a:t>
            </a:r>
            <a:endParaRPr lang="en-US" altLang="zh-CN" sz="2400" dirty="0">
              <a:solidFill>
                <a:schemeClr val="folHlink"/>
              </a:solidFill>
              <a:ea typeface="宋体" panose="02010600030101010101" pitchFamily="2" charset="-122"/>
            </a:endParaRPr>
          </a:p>
          <a:p>
            <a:pPr lvl="1"/>
            <a:r>
              <a:rPr lang="en-US" altLang="zh-CN" dirty="0">
                <a:solidFill>
                  <a:schemeClr val="folHlink"/>
                </a:solidFill>
                <a:ea typeface="宋体" panose="02010600030101010101" pitchFamily="2" charset="-122"/>
              </a:rPr>
              <a:t>routing tables indicate where each mobile located</a:t>
            </a:r>
            <a:endParaRPr lang="en-US" altLang="zh-CN" dirty="0">
              <a:solidFill>
                <a:schemeClr val="folHlink"/>
              </a:solidFill>
              <a:ea typeface="宋体" panose="02010600030101010101" pitchFamily="2" charset="-122"/>
            </a:endParaRPr>
          </a:p>
          <a:p>
            <a:pPr lvl="1"/>
            <a:r>
              <a:rPr lang="en-US" altLang="zh-CN" dirty="0">
                <a:solidFill>
                  <a:schemeClr val="folHlink"/>
                </a:solidFill>
                <a:ea typeface="宋体" panose="02010600030101010101" pitchFamily="2" charset="-122"/>
              </a:rPr>
              <a:t>no changes to end-systems</a:t>
            </a:r>
            <a:endParaRPr lang="en-US" altLang="zh-CN" dirty="0">
              <a:solidFill>
                <a:schemeClr val="folHlink"/>
              </a:solidFill>
              <a:ea typeface="宋体" panose="02010600030101010101" pitchFamily="2" charset="-122"/>
            </a:endParaRPr>
          </a:p>
          <a:p>
            <a:r>
              <a:rPr lang="en-US" altLang="zh-CN" sz="2400" i="1" dirty="0">
                <a:solidFill>
                  <a:srgbClr val="FF0000"/>
                </a:solidFill>
                <a:ea typeface="宋体" panose="02010600030101010101" pitchFamily="2" charset="-122"/>
              </a:rPr>
              <a:t>let end-systems handle it: </a:t>
            </a:r>
            <a:endParaRPr lang="en-US" altLang="zh-CN" sz="2400" i="1" dirty="0">
              <a:solidFill>
                <a:srgbClr val="FF0000"/>
              </a:solidFill>
              <a:ea typeface="宋体" panose="02010600030101010101" pitchFamily="2" charset="-122"/>
            </a:endParaRPr>
          </a:p>
          <a:p>
            <a:pPr lvl="1"/>
            <a:r>
              <a:rPr lang="en-US" altLang="zh-CN" i="1" dirty="0">
                <a:solidFill>
                  <a:srgbClr val="FF0000"/>
                </a:solidFill>
                <a:ea typeface="宋体" panose="02010600030101010101" pitchFamily="2" charset="-122"/>
              </a:rPr>
              <a:t>indirect routing:</a:t>
            </a:r>
            <a:r>
              <a:rPr lang="en-US" altLang="zh-CN" dirty="0">
                <a:ea typeface="宋体" panose="02010600030101010101" pitchFamily="2" charset="-122"/>
              </a:rPr>
              <a:t> communication from correspondent to mobile goes through home agent, then forwarded to remote</a:t>
            </a:r>
            <a:endParaRPr lang="en-US" altLang="zh-CN" dirty="0">
              <a:ea typeface="宋体" panose="02010600030101010101" pitchFamily="2" charset="-122"/>
            </a:endParaRPr>
          </a:p>
          <a:p>
            <a:pPr lvl="1"/>
            <a:r>
              <a:rPr lang="en-US" altLang="zh-CN" i="1" dirty="0">
                <a:solidFill>
                  <a:srgbClr val="FF0000"/>
                </a:solidFill>
                <a:ea typeface="宋体" panose="02010600030101010101" pitchFamily="2" charset="-122"/>
              </a:rPr>
              <a:t>direct routing:</a:t>
            </a:r>
            <a:r>
              <a:rPr lang="en-US" altLang="zh-CN" dirty="0">
                <a:ea typeface="宋体" panose="02010600030101010101" pitchFamily="2" charset="-122"/>
              </a:rPr>
              <a:t> correspondent gets foreign address of mobile, sends directly to mobile</a:t>
            </a:r>
            <a:endParaRPr lang="en-US" altLang="zh-CN" dirty="0">
              <a:ea typeface="宋体" panose="02010600030101010101" pitchFamily="2" charset="-122"/>
            </a:endParaRPr>
          </a:p>
        </p:txBody>
      </p:sp>
      <p:sp>
        <p:nvSpPr>
          <p:cNvPr id="105477" name="Oval 4"/>
          <p:cNvSpPr/>
          <p:nvPr/>
        </p:nvSpPr>
        <p:spPr>
          <a:xfrm>
            <a:off x="3265488" y="1770063"/>
            <a:ext cx="1887537" cy="1743075"/>
          </a:xfrm>
          <a:prstGeom prst="ellipse">
            <a:avLst/>
          </a:prstGeom>
          <a:solidFill>
            <a:schemeClr val="bg1"/>
          </a:solidFill>
          <a:ln w="7620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5478" name="Line 5"/>
          <p:cNvSpPr/>
          <p:nvPr/>
        </p:nvSpPr>
        <p:spPr>
          <a:xfrm>
            <a:off x="3700463" y="1944688"/>
            <a:ext cx="1133475" cy="1365250"/>
          </a:xfrm>
          <a:prstGeom prst="line">
            <a:avLst/>
          </a:prstGeom>
          <a:ln w="76200" cap="flat" cmpd="sng">
            <a:solidFill>
              <a:srgbClr val="FF0000"/>
            </a:solidFill>
            <a:prstDash val="solid"/>
            <a:round/>
            <a:headEnd type="none" w="med" len="med"/>
            <a:tailEnd type="none" w="med" len="med"/>
          </a:ln>
        </p:spPr>
      </p:sp>
      <p:sp>
        <p:nvSpPr>
          <p:cNvPr id="105479" name="Text Box 6"/>
          <p:cNvSpPr txBox="1"/>
          <p:nvPr/>
        </p:nvSpPr>
        <p:spPr>
          <a:xfrm>
            <a:off x="3101975" y="1958975"/>
            <a:ext cx="2271713" cy="1311275"/>
          </a:xfrm>
          <a:prstGeom prst="rect">
            <a:avLst/>
          </a:prstGeom>
          <a:noFill/>
          <a:ln w="9525">
            <a:noFill/>
          </a:ln>
        </p:spPr>
        <p:txBody>
          <a:bodyPr anchor="t" anchorCtr="0">
            <a:spAutoFit/>
          </a:bodyPr>
          <a:p>
            <a:pPr algn="ctr" eaLnBrk="0" hangingPunct="0">
              <a:buClrTx/>
              <a:buFontTx/>
            </a:pPr>
            <a:r>
              <a:rPr lang="en-US" altLang="zh-CN" sz="2000" dirty="0">
                <a:latin typeface="Comic Sans MS" panose="030F0702030302020204" pitchFamily="66" charset="0"/>
                <a:ea typeface="宋体" panose="02010600030101010101" pitchFamily="2" charset="-122"/>
              </a:rPr>
              <a:t>not </a:t>
            </a:r>
            <a:endParaRPr lang="en-US" altLang="zh-CN" sz="2000" dirty="0">
              <a:latin typeface="Comic Sans MS" panose="030F0702030302020204" pitchFamily="66" charset="0"/>
              <a:ea typeface="宋体" panose="02010600030101010101" pitchFamily="2" charset="-122"/>
            </a:endParaRPr>
          </a:p>
          <a:p>
            <a:pPr algn="ctr" eaLnBrk="0" hangingPunct="0">
              <a:buClrTx/>
              <a:buFontTx/>
            </a:pPr>
            <a:r>
              <a:rPr lang="en-US" altLang="zh-CN" sz="2000" dirty="0">
                <a:latin typeface="Comic Sans MS" panose="030F0702030302020204" pitchFamily="66" charset="0"/>
                <a:ea typeface="宋体" panose="02010600030101010101" pitchFamily="2" charset="-122"/>
              </a:rPr>
              <a:t>scalable</a:t>
            </a:r>
            <a:endParaRPr lang="en-US" altLang="zh-CN" sz="2000" dirty="0">
              <a:latin typeface="Comic Sans MS" panose="030F0702030302020204" pitchFamily="66" charset="0"/>
              <a:ea typeface="宋体" panose="02010600030101010101" pitchFamily="2" charset="-122"/>
            </a:endParaRPr>
          </a:p>
          <a:p>
            <a:pPr algn="ctr" eaLnBrk="0" hangingPunct="0">
              <a:buClrTx/>
              <a:buFontTx/>
            </a:pPr>
            <a:r>
              <a:rPr lang="en-US" altLang="zh-CN" sz="2000" dirty="0">
                <a:latin typeface="Comic Sans MS" panose="030F0702030302020204" pitchFamily="66" charset="0"/>
                <a:ea typeface="宋体" panose="02010600030101010101" pitchFamily="2" charset="-122"/>
              </a:rPr>
              <a:t> to millions of</a:t>
            </a:r>
            <a:endParaRPr lang="en-US" altLang="zh-CN" sz="2000" dirty="0">
              <a:latin typeface="Comic Sans MS" panose="030F0702030302020204" pitchFamily="66" charset="0"/>
              <a:ea typeface="宋体" panose="02010600030101010101" pitchFamily="2" charset="-122"/>
            </a:endParaRPr>
          </a:p>
          <a:p>
            <a:pPr algn="ctr" eaLnBrk="0" hangingPunct="0">
              <a:buClrTx/>
              <a:buFontTx/>
            </a:pPr>
            <a:r>
              <a:rPr lang="en-US" altLang="zh-CN" sz="2000" dirty="0">
                <a:latin typeface="Comic Sans MS" panose="030F0702030302020204" pitchFamily="66" charset="0"/>
                <a:ea typeface="宋体" panose="02010600030101010101" pitchFamily="2" charset="-122"/>
              </a:rPr>
              <a:t>  mobiles</a:t>
            </a:r>
            <a:endParaRPr lang="en-US" altLang="zh-CN" sz="2000" dirty="0">
              <a:latin typeface="Comic Sans MS" panose="030F0702030302020204" pitchFamily="66"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75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7523" name="Freeform 2"/>
          <p:cNvSpPr/>
          <p:nvPr/>
        </p:nvSpPr>
        <p:spPr>
          <a:xfrm>
            <a:off x="1257300" y="1727200"/>
            <a:ext cx="1866900" cy="1589088"/>
          </a:xfrm>
          <a:custGeom>
            <a:avLst/>
            <a:gdLst/>
            <a:ahLst/>
            <a:cxnLst>
              <a:cxn ang="0">
                <a:pos x="1067567260" y="74768525"/>
              </a:cxn>
              <a:cxn ang="0">
                <a:pos x="159164371" y="106813132"/>
              </a:cxn>
              <a:cxn ang="0">
                <a:pos x="112579643" y="715645981"/>
              </a:cxn>
              <a:cxn ang="0">
                <a:pos x="54349081" y="1281754912"/>
              </a:cxn>
              <a:cxn ang="0">
                <a:pos x="217394932" y="1548787074"/>
              </a:cxn>
              <a:cxn ang="0">
                <a:pos x="1044274200" y="1559467720"/>
              </a:cxn>
              <a:cxn ang="0">
                <a:pos x="1242260338" y="2008081539"/>
              </a:cxn>
              <a:cxn ang="0">
                <a:pos x="2147483646" y="1954675640"/>
              </a:cxn>
              <a:cxn ang="0">
                <a:pos x="2147483646" y="1014722750"/>
              </a:cxn>
              <a:cxn ang="0">
                <a:pos x="2147483646" y="608832849"/>
              </a:cxn>
              <a:cxn ang="0">
                <a:pos x="1475183977" y="512701698"/>
              </a:cxn>
              <a:cxn ang="0">
                <a:pos x="1067567260" y="74768525"/>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07524" name="Group 3"/>
          <p:cNvGrpSpPr/>
          <p:nvPr/>
        </p:nvGrpSpPr>
        <p:grpSpPr>
          <a:xfrm>
            <a:off x="2312988" y="2708275"/>
            <a:ext cx="501650" cy="233363"/>
            <a:chOff x="3600" y="219"/>
            <a:chExt cx="360" cy="175"/>
          </a:xfrm>
        </p:grpSpPr>
        <p:sp>
          <p:nvSpPr>
            <p:cNvPr id="107525" name="Oval 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526" name="Line 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07527" name="Line 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07528" name="Rectangle 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07529" name="Oval 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7530" name="Group 9"/>
            <p:cNvGrpSpPr/>
            <p:nvPr/>
          </p:nvGrpSpPr>
          <p:grpSpPr>
            <a:xfrm>
              <a:off x="3686" y="244"/>
              <a:ext cx="177" cy="66"/>
              <a:chOff x="2848" y="848"/>
              <a:chExt cx="140" cy="98"/>
            </a:xfrm>
          </p:grpSpPr>
          <p:sp>
            <p:nvSpPr>
              <p:cNvPr id="107531"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7532"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7533"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07534" name="Group 13"/>
            <p:cNvGrpSpPr/>
            <p:nvPr/>
          </p:nvGrpSpPr>
          <p:grpSpPr>
            <a:xfrm flipV="1">
              <a:off x="3686" y="243"/>
              <a:ext cx="177" cy="66"/>
              <a:chOff x="2848" y="848"/>
              <a:chExt cx="140" cy="98"/>
            </a:xfrm>
          </p:grpSpPr>
          <p:sp>
            <p:nvSpPr>
              <p:cNvPr id="107535"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7536"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7537"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07538" name="Group 17"/>
          <p:cNvGrpSpPr/>
          <p:nvPr/>
        </p:nvGrpSpPr>
        <p:grpSpPr>
          <a:xfrm>
            <a:off x="1416050" y="2362200"/>
            <a:ext cx="1333500" cy="342900"/>
            <a:chOff x="8025" y="5070"/>
            <a:chExt cx="2100" cy="540"/>
          </a:xfrm>
        </p:grpSpPr>
        <p:sp>
          <p:nvSpPr>
            <p:cNvPr id="107539" name="Line 18"/>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07540" name="Line 19"/>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07541" name="Line 20"/>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sp>
        <p:nvSpPr>
          <p:cNvPr id="107542" name="Rectangle 21"/>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Mobility: registration</a:t>
            </a:r>
            <a:endParaRPr lang="en-US" altLang="zh-CN" sz="3600" dirty="0">
              <a:ea typeface="宋体" panose="02010600030101010101" pitchFamily="2" charset="-122"/>
            </a:endParaRPr>
          </a:p>
        </p:txBody>
      </p:sp>
      <p:sp>
        <p:nvSpPr>
          <p:cNvPr id="434198" name="Rectangle 22"/>
          <p:cNvSpPr>
            <a:spLocks noGrp="1"/>
          </p:cNvSpPr>
          <p:nvPr>
            <p:ph idx="1"/>
          </p:nvPr>
        </p:nvSpPr>
        <p:spPr>
          <a:xfrm>
            <a:off x="914400" y="5029200"/>
            <a:ext cx="7772400" cy="1828800"/>
          </a:xfrm>
          <a:ln/>
        </p:spPr>
        <p:txBody>
          <a:bodyPr vert="horz" wrap="square" lIns="91440" tIns="45720" rIns="91440" bIns="45720" anchor="t" anchorCtr="0"/>
          <a:p>
            <a:pPr>
              <a:buNone/>
            </a:pPr>
            <a:r>
              <a:rPr lang="en-US" altLang="zh-CN" sz="2400" dirty="0">
                <a:ea typeface="宋体" panose="02010600030101010101" pitchFamily="2" charset="-122"/>
              </a:rPr>
              <a:t>End result:</a:t>
            </a:r>
            <a:endParaRPr lang="en-US" altLang="zh-CN" sz="2400" dirty="0">
              <a:ea typeface="宋体" panose="02010600030101010101" pitchFamily="2" charset="-122"/>
            </a:endParaRPr>
          </a:p>
          <a:p>
            <a:r>
              <a:rPr lang="en-US" altLang="zh-CN" sz="2400" dirty="0">
                <a:ea typeface="宋体" panose="02010600030101010101" pitchFamily="2" charset="-122"/>
              </a:rPr>
              <a:t>Foreign agent knows about mobile</a:t>
            </a:r>
            <a:endParaRPr lang="en-US" altLang="zh-CN" sz="2400" dirty="0">
              <a:ea typeface="宋体" panose="02010600030101010101" pitchFamily="2" charset="-122"/>
            </a:endParaRPr>
          </a:p>
          <a:p>
            <a:r>
              <a:rPr lang="en-US" altLang="zh-CN" sz="2400" dirty="0">
                <a:ea typeface="宋体" panose="02010600030101010101" pitchFamily="2" charset="-122"/>
              </a:rPr>
              <a:t>Home agent knows location of mobile</a:t>
            </a:r>
            <a:endParaRPr lang="en-US" altLang="zh-CN" sz="2400" dirty="0">
              <a:ea typeface="宋体" panose="02010600030101010101" pitchFamily="2" charset="-122"/>
            </a:endParaRPr>
          </a:p>
        </p:txBody>
      </p:sp>
      <p:grpSp>
        <p:nvGrpSpPr>
          <p:cNvPr id="107544" name="Group 23"/>
          <p:cNvGrpSpPr/>
          <p:nvPr/>
        </p:nvGrpSpPr>
        <p:grpSpPr>
          <a:xfrm>
            <a:off x="1165225" y="1920875"/>
            <a:ext cx="914400" cy="590550"/>
            <a:chOff x="10665" y="3225"/>
            <a:chExt cx="1440" cy="930"/>
          </a:xfrm>
        </p:grpSpPr>
        <p:sp>
          <p:nvSpPr>
            <p:cNvPr id="107545" name="Oval 24"/>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7546" name="Group 25"/>
            <p:cNvGrpSpPr/>
            <p:nvPr/>
          </p:nvGrpSpPr>
          <p:grpSpPr>
            <a:xfrm>
              <a:off x="11038" y="3281"/>
              <a:ext cx="618" cy="667"/>
              <a:chOff x="8023" y="4451"/>
              <a:chExt cx="618" cy="667"/>
            </a:xfrm>
          </p:grpSpPr>
          <p:sp>
            <p:nvSpPr>
              <p:cNvPr id="107547" name="Freeform 26"/>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07548" name="Freeform 27"/>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7549" name="Freeform 28"/>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7550" name="Freeform 29"/>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7551" name="Freeform 30"/>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2" name="Freeform 31"/>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3" name="Freeform 32"/>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4" name="Freeform 33"/>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5" name="Freeform 34"/>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6" name="Freeform 35"/>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7" name="Freeform 36"/>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8" name="Freeform 37"/>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59" name="Freeform 38"/>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60" name="Freeform 39"/>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61" name="Freeform 40"/>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7562" name="Freeform 41"/>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07563" name="Freeform 42"/>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07564" name="Freeform 43"/>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07565" name="Freeform 44"/>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07566" name="Freeform 45"/>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07567" name="Freeform 46"/>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07568" name="Freeform 47"/>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69" name="Freeform 48"/>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0" name="Freeform 49"/>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1" name="Freeform 50"/>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2" name="Freeform 51"/>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3" name="Freeform 52"/>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4" name="Freeform 53"/>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5" name="Freeform 54"/>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6" name="Freeform 55"/>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7" name="Freeform 56"/>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8" name="Freeform 57"/>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79" name="Freeform 58"/>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0" name="Freeform 59"/>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1" name="Freeform 60"/>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2" name="Freeform 61"/>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3" name="Freeform 62"/>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4" name="Freeform 63"/>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5" name="Freeform 64"/>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6" name="Freeform 65"/>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7" name="Freeform 66"/>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8" name="Freeform 67"/>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89" name="Freeform 68"/>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0" name="Freeform 69"/>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1" name="Freeform 70"/>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2" name="Freeform 71"/>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3" name="Freeform 72"/>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4" name="Freeform 73"/>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5" name="Freeform 74"/>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6" name="Freeform 75"/>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7" name="Freeform 76"/>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8" name="Freeform 77"/>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7599" name="Freeform 78"/>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07600" name="Freeform 79"/>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07601" name="Freeform 80"/>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07602" name="Freeform 81"/>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07603" name="Freeform 82"/>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07604" name="Freeform 83"/>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07605" name="Freeform 84"/>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07606" name="Freeform 85"/>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07607" name="Freeform 86"/>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07608" name="Freeform 87"/>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07609" name="Freeform 88"/>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07610" name="Freeform 89"/>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07611" name="Freeform 90"/>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07612" name="Freeform 91"/>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07613" name="Freeform 92"/>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07614" name="Freeform 93"/>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07615" name="Freeform 94"/>
          <p:cNvSpPr/>
          <p:nvPr/>
        </p:nvSpPr>
        <p:spPr>
          <a:xfrm>
            <a:off x="6057900" y="1584325"/>
            <a:ext cx="1838325" cy="1711325"/>
          </a:xfrm>
          <a:custGeom>
            <a:avLst/>
            <a:gdLst/>
            <a:ahLst/>
            <a:cxnLst>
              <a:cxn ang="0">
                <a:pos x="1614093" y="537490135"/>
              </a:cxn>
              <a:cxn ang="0">
                <a:pos x="140823064" y="205546464"/>
              </a:cxn>
              <a:cxn ang="0">
                <a:pos x="558449341" y="138915361"/>
              </a:cxn>
              <a:cxn ang="0">
                <a:pos x="1047495879" y="68649996"/>
              </a:cxn>
              <a:cxn ang="0">
                <a:pos x="1163704826" y="550815974"/>
              </a:cxn>
              <a:cxn ang="0">
                <a:pos x="1072916090" y="865798907"/>
              </a:cxn>
              <a:cxn ang="0">
                <a:pos x="848972025" y="1011175744"/>
              </a:cxn>
              <a:cxn ang="0">
                <a:pos x="661342818" y="1041462320"/>
              </a:cxn>
              <a:cxn ang="0">
                <a:pos x="421257827" y="1062057319"/>
              </a:cxn>
              <a:cxn ang="0">
                <a:pos x="139612335" y="888816959"/>
              </a:cxn>
              <a:cxn ang="0">
                <a:pos x="1614093" y="53749013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07616" name="Group 95"/>
          <p:cNvGrpSpPr/>
          <p:nvPr/>
        </p:nvGrpSpPr>
        <p:grpSpPr>
          <a:xfrm>
            <a:off x="6350000" y="2822575"/>
            <a:ext cx="501650" cy="233363"/>
            <a:chOff x="3600" y="219"/>
            <a:chExt cx="360" cy="175"/>
          </a:xfrm>
        </p:grpSpPr>
        <p:sp>
          <p:nvSpPr>
            <p:cNvPr id="107617" name="Oval 96"/>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618" name="Line 97"/>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07619" name="Line 98"/>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07620" name="Rectangle 99"/>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07621" name="Oval 100"/>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7622" name="Group 101"/>
            <p:cNvGrpSpPr/>
            <p:nvPr/>
          </p:nvGrpSpPr>
          <p:grpSpPr>
            <a:xfrm>
              <a:off x="3686" y="244"/>
              <a:ext cx="177" cy="66"/>
              <a:chOff x="2848" y="848"/>
              <a:chExt cx="140" cy="98"/>
            </a:xfrm>
          </p:grpSpPr>
          <p:sp>
            <p:nvSpPr>
              <p:cNvPr id="107623" name="Line 10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7624" name="Line 10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7625" name="Line 10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07626" name="Group 105"/>
            <p:cNvGrpSpPr/>
            <p:nvPr/>
          </p:nvGrpSpPr>
          <p:grpSpPr>
            <a:xfrm flipV="1">
              <a:off x="3686" y="243"/>
              <a:ext cx="177" cy="66"/>
              <a:chOff x="2848" y="848"/>
              <a:chExt cx="140" cy="98"/>
            </a:xfrm>
          </p:grpSpPr>
          <p:sp>
            <p:nvSpPr>
              <p:cNvPr id="107627" name="Line 10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7628" name="Line 10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7629" name="Line 10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07630" name="Line 109"/>
          <p:cNvSpPr/>
          <p:nvPr/>
        </p:nvSpPr>
        <p:spPr>
          <a:xfrm>
            <a:off x="6380163" y="2651125"/>
            <a:ext cx="1333500" cy="1588"/>
          </a:xfrm>
          <a:prstGeom prst="line">
            <a:avLst/>
          </a:prstGeom>
          <a:ln w="19050" cap="flat" cmpd="sng">
            <a:solidFill>
              <a:srgbClr val="000000"/>
            </a:solidFill>
            <a:prstDash val="solid"/>
            <a:round/>
            <a:headEnd type="none" w="med" len="med"/>
            <a:tailEnd type="none" w="med" len="med"/>
          </a:ln>
        </p:spPr>
      </p:sp>
      <p:sp>
        <p:nvSpPr>
          <p:cNvPr id="107631" name="Line 110"/>
          <p:cNvSpPr/>
          <p:nvPr/>
        </p:nvSpPr>
        <p:spPr>
          <a:xfrm>
            <a:off x="6589713" y="2651125"/>
            <a:ext cx="0" cy="171450"/>
          </a:xfrm>
          <a:prstGeom prst="line">
            <a:avLst/>
          </a:prstGeom>
          <a:ln w="19050" cap="flat" cmpd="sng">
            <a:solidFill>
              <a:srgbClr val="000000"/>
            </a:solidFill>
            <a:prstDash val="solid"/>
            <a:round/>
            <a:headEnd type="none" w="med" len="med"/>
            <a:tailEnd type="none" w="med" len="med"/>
          </a:ln>
        </p:spPr>
      </p:sp>
      <p:sp>
        <p:nvSpPr>
          <p:cNvPr id="107632" name="Line 111"/>
          <p:cNvSpPr/>
          <p:nvPr/>
        </p:nvSpPr>
        <p:spPr>
          <a:xfrm>
            <a:off x="7442200" y="2484438"/>
            <a:ext cx="0" cy="171450"/>
          </a:xfrm>
          <a:prstGeom prst="line">
            <a:avLst/>
          </a:prstGeom>
          <a:ln w="19050" cap="flat" cmpd="sng">
            <a:solidFill>
              <a:srgbClr val="000000"/>
            </a:solidFill>
            <a:prstDash val="solid"/>
            <a:round/>
            <a:headEnd type="none" w="med" len="med"/>
            <a:tailEnd type="none" w="med" len="med"/>
          </a:ln>
        </p:spPr>
      </p:sp>
      <p:grpSp>
        <p:nvGrpSpPr>
          <p:cNvPr id="107633" name="Group 112"/>
          <p:cNvGrpSpPr/>
          <p:nvPr/>
        </p:nvGrpSpPr>
        <p:grpSpPr>
          <a:xfrm>
            <a:off x="6985000" y="2012950"/>
            <a:ext cx="914400" cy="590550"/>
            <a:chOff x="10665" y="3225"/>
            <a:chExt cx="1440" cy="930"/>
          </a:xfrm>
        </p:grpSpPr>
        <p:sp>
          <p:nvSpPr>
            <p:cNvPr id="107634" name="Oval 113"/>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7635" name="Group 114"/>
            <p:cNvGrpSpPr/>
            <p:nvPr/>
          </p:nvGrpSpPr>
          <p:grpSpPr>
            <a:xfrm>
              <a:off x="11031" y="3335"/>
              <a:ext cx="565" cy="643"/>
              <a:chOff x="2870" y="1518"/>
              <a:chExt cx="292" cy="320"/>
            </a:xfrm>
          </p:grpSpPr>
          <p:graphicFrame>
            <p:nvGraphicFramePr>
              <p:cNvPr id="107636" name="Object 1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4" name="" r:id="rId1" imgW="826770" imgH="840105" progId="">
                      <p:embed/>
                    </p:oleObj>
                  </mc:Choice>
                  <mc:Fallback>
                    <p:oleObj name="" r:id="rId1" imgW="826770" imgH="840105" progId="">
                      <p:embed/>
                      <p:pic>
                        <p:nvPicPr>
                          <p:cNvPr id="0" name="图片 3143"/>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7637" name="Object 1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5" name="" r:id="rId3" imgW="1268095" imgH="1199515" progId="">
                      <p:embed/>
                    </p:oleObj>
                  </mc:Choice>
                  <mc:Fallback>
                    <p:oleObj name="" r:id="rId3" imgW="1268095" imgH="1199515" progId="">
                      <p:embed/>
                      <p:pic>
                        <p:nvPicPr>
                          <p:cNvPr id="0" name="图片 3144"/>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07638" name="Freeform 117"/>
          <p:cNvSpPr/>
          <p:nvPr/>
        </p:nvSpPr>
        <p:spPr>
          <a:xfrm>
            <a:off x="3598863" y="2530475"/>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07639" name="Text Box 118"/>
          <p:cNvSpPr txBox="1"/>
          <p:nvPr/>
        </p:nvSpPr>
        <p:spPr>
          <a:xfrm>
            <a:off x="3773488" y="2827338"/>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107640" name="Text Box 119"/>
          <p:cNvSpPr txBox="1"/>
          <p:nvPr/>
        </p:nvSpPr>
        <p:spPr>
          <a:xfrm>
            <a:off x="1635125" y="1535113"/>
            <a:ext cx="1887538" cy="3968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home network</a:t>
            </a:r>
            <a:endParaRPr lang="en-US" altLang="zh-CN" sz="2000" dirty="0">
              <a:latin typeface="Comic Sans MS" panose="030F0702030302020204" pitchFamily="66" charset="0"/>
              <a:ea typeface="宋体" panose="02010600030101010101" pitchFamily="2" charset="-122"/>
            </a:endParaRPr>
          </a:p>
        </p:txBody>
      </p:sp>
      <p:sp>
        <p:nvSpPr>
          <p:cNvPr id="107641" name="Text Box 120"/>
          <p:cNvSpPr txBox="1"/>
          <p:nvPr/>
        </p:nvSpPr>
        <p:spPr>
          <a:xfrm>
            <a:off x="5861050" y="1300163"/>
            <a:ext cx="2265363" cy="3968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visited network</a:t>
            </a:r>
            <a:endParaRPr lang="en-US" altLang="zh-CN" sz="2000" dirty="0">
              <a:latin typeface="Comic Sans MS" panose="030F0702030302020204" pitchFamily="66" charset="0"/>
              <a:ea typeface="宋体" panose="02010600030101010101" pitchFamily="2" charset="-122"/>
            </a:endParaRPr>
          </a:p>
        </p:txBody>
      </p:sp>
      <p:grpSp>
        <p:nvGrpSpPr>
          <p:cNvPr id="434297" name="Group 121"/>
          <p:cNvGrpSpPr/>
          <p:nvPr/>
        </p:nvGrpSpPr>
        <p:grpSpPr>
          <a:xfrm>
            <a:off x="6600825" y="2409825"/>
            <a:ext cx="2141538" cy="2341563"/>
            <a:chOff x="4158" y="1518"/>
            <a:chExt cx="1349" cy="1475"/>
          </a:xfrm>
        </p:grpSpPr>
        <p:sp>
          <p:nvSpPr>
            <p:cNvPr id="107643" name="Line 122"/>
            <p:cNvSpPr/>
            <p:nvPr/>
          </p:nvSpPr>
          <p:spPr>
            <a:xfrm flipV="1">
              <a:off x="4261" y="1538"/>
              <a:ext cx="310" cy="258"/>
            </a:xfrm>
            <a:prstGeom prst="line">
              <a:avLst/>
            </a:prstGeom>
            <a:ln w="28575" cap="flat" cmpd="sng">
              <a:solidFill>
                <a:srgbClr val="FF0000"/>
              </a:solidFill>
              <a:prstDash val="solid"/>
              <a:round/>
              <a:headEnd type="triangle" w="med" len="med"/>
              <a:tailEnd type="triangle" w="med" len="med"/>
            </a:ln>
          </p:spPr>
        </p:sp>
        <p:grpSp>
          <p:nvGrpSpPr>
            <p:cNvPr id="107644" name="Group 123"/>
            <p:cNvGrpSpPr/>
            <p:nvPr/>
          </p:nvGrpSpPr>
          <p:grpSpPr>
            <a:xfrm>
              <a:off x="4324" y="1518"/>
              <a:ext cx="202" cy="231"/>
              <a:chOff x="618" y="3500"/>
              <a:chExt cx="202" cy="231"/>
            </a:xfrm>
          </p:grpSpPr>
          <p:sp>
            <p:nvSpPr>
              <p:cNvPr id="107645" name="Oval 124"/>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646" name="Text Box 125"/>
              <p:cNvSpPr txBox="1"/>
              <p:nvPr/>
            </p:nvSpPr>
            <p:spPr>
              <a:xfrm>
                <a:off x="628" y="3500"/>
                <a:ext cx="18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1</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07647" name="Text Box 126"/>
            <p:cNvSpPr txBox="1"/>
            <p:nvPr/>
          </p:nvSpPr>
          <p:spPr>
            <a:xfrm>
              <a:off x="4158" y="2167"/>
              <a:ext cx="1349" cy="826"/>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mobile contacts foreign agent on entering visited network</a:t>
              </a:r>
              <a:endParaRPr lang="en-US" altLang="zh-CN" sz="2000" dirty="0">
                <a:latin typeface="Comic Sans MS" panose="030F0702030302020204" pitchFamily="66" charset="0"/>
                <a:ea typeface="宋体" panose="02010600030101010101" pitchFamily="2" charset="-122"/>
              </a:endParaRPr>
            </a:p>
          </p:txBody>
        </p:sp>
        <p:sp>
          <p:nvSpPr>
            <p:cNvPr id="107648" name="Line 127"/>
            <p:cNvSpPr/>
            <p:nvPr/>
          </p:nvSpPr>
          <p:spPr>
            <a:xfrm>
              <a:off x="4512" y="1760"/>
              <a:ext cx="560" cy="456"/>
            </a:xfrm>
            <a:prstGeom prst="line">
              <a:avLst/>
            </a:prstGeom>
            <a:ln w="19050" cap="flat" cmpd="sng">
              <a:solidFill>
                <a:schemeClr val="tx1"/>
              </a:solidFill>
              <a:prstDash val="solid"/>
              <a:round/>
              <a:headEnd type="none" w="med" len="med"/>
              <a:tailEnd type="none" w="med" len="med"/>
            </a:ln>
          </p:spPr>
        </p:sp>
      </p:grpSp>
      <p:grpSp>
        <p:nvGrpSpPr>
          <p:cNvPr id="434304" name="Group 128"/>
          <p:cNvGrpSpPr/>
          <p:nvPr/>
        </p:nvGrpSpPr>
        <p:grpSpPr>
          <a:xfrm>
            <a:off x="2435225" y="2676525"/>
            <a:ext cx="4046538" cy="2087563"/>
            <a:chOff x="1534" y="1686"/>
            <a:chExt cx="2549" cy="1315"/>
          </a:xfrm>
        </p:grpSpPr>
        <p:sp>
          <p:nvSpPr>
            <p:cNvPr id="107650" name="Line 129"/>
            <p:cNvSpPr/>
            <p:nvPr/>
          </p:nvSpPr>
          <p:spPr>
            <a:xfrm flipH="1" flipV="1">
              <a:off x="1801" y="1762"/>
              <a:ext cx="2167" cy="106"/>
            </a:xfrm>
            <a:prstGeom prst="line">
              <a:avLst/>
            </a:prstGeom>
            <a:ln w="28575" cap="flat" cmpd="sng">
              <a:solidFill>
                <a:srgbClr val="FF0000"/>
              </a:solidFill>
              <a:prstDash val="solid"/>
              <a:round/>
              <a:headEnd type="triangle" w="med" len="med"/>
              <a:tailEnd type="triangle" w="med" len="med"/>
            </a:ln>
          </p:spPr>
        </p:sp>
        <p:grpSp>
          <p:nvGrpSpPr>
            <p:cNvPr id="107651" name="Group 130"/>
            <p:cNvGrpSpPr/>
            <p:nvPr/>
          </p:nvGrpSpPr>
          <p:grpSpPr>
            <a:xfrm>
              <a:off x="2724" y="1686"/>
              <a:ext cx="214" cy="231"/>
              <a:chOff x="618" y="3500"/>
              <a:chExt cx="214" cy="231"/>
            </a:xfrm>
          </p:grpSpPr>
          <p:sp>
            <p:nvSpPr>
              <p:cNvPr id="107652" name="Oval 131"/>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7653" name="Text Box 132"/>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2</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07654" name="Text Box 133"/>
            <p:cNvSpPr txBox="1"/>
            <p:nvPr/>
          </p:nvSpPr>
          <p:spPr>
            <a:xfrm>
              <a:off x="1534" y="2367"/>
              <a:ext cx="2549" cy="634"/>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foreign agent contacts home agent home: “this mobile is resident in my network”</a:t>
              </a:r>
              <a:endParaRPr lang="en-US" altLang="zh-CN" sz="2000" dirty="0">
                <a:latin typeface="Comic Sans MS" panose="030F0702030302020204" pitchFamily="66" charset="0"/>
                <a:ea typeface="宋体" panose="02010600030101010101" pitchFamily="2" charset="-122"/>
              </a:endParaRPr>
            </a:p>
          </p:txBody>
        </p:sp>
        <p:sp>
          <p:nvSpPr>
            <p:cNvPr id="107655" name="Line 134"/>
            <p:cNvSpPr/>
            <p:nvPr/>
          </p:nvSpPr>
          <p:spPr>
            <a:xfrm flipH="1" flipV="1">
              <a:off x="2824" y="1944"/>
              <a:ext cx="0" cy="464"/>
            </a:xfrm>
            <a:prstGeom prst="line">
              <a:avLst/>
            </a:prstGeom>
            <a:ln w="19050"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2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43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4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9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0957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09571" name="Freeform 2"/>
          <p:cNvSpPr/>
          <p:nvPr/>
        </p:nvSpPr>
        <p:spPr>
          <a:xfrm>
            <a:off x="1612900" y="2616200"/>
            <a:ext cx="1866900" cy="1589088"/>
          </a:xfrm>
          <a:custGeom>
            <a:avLst/>
            <a:gdLst/>
            <a:ahLst/>
            <a:cxnLst>
              <a:cxn ang="0">
                <a:pos x="1067567260" y="74768525"/>
              </a:cxn>
              <a:cxn ang="0">
                <a:pos x="159164371" y="106813132"/>
              </a:cxn>
              <a:cxn ang="0">
                <a:pos x="112579643" y="715645981"/>
              </a:cxn>
              <a:cxn ang="0">
                <a:pos x="54349081" y="1281754912"/>
              </a:cxn>
              <a:cxn ang="0">
                <a:pos x="217394932" y="1548787074"/>
              </a:cxn>
              <a:cxn ang="0">
                <a:pos x="1044274200" y="1559467720"/>
              </a:cxn>
              <a:cxn ang="0">
                <a:pos x="1242260338" y="2008081539"/>
              </a:cxn>
              <a:cxn ang="0">
                <a:pos x="2147483646" y="1954675640"/>
              </a:cxn>
              <a:cxn ang="0">
                <a:pos x="2147483646" y="1014722750"/>
              </a:cxn>
              <a:cxn ang="0">
                <a:pos x="2147483646" y="608832849"/>
              </a:cxn>
              <a:cxn ang="0">
                <a:pos x="1475183977" y="512701698"/>
              </a:cxn>
              <a:cxn ang="0">
                <a:pos x="1067567260" y="74768525"/>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09572" name="Group 3"/>
          <p:cNvGrpSpPr/>
          <p:nvPr/>
        </p:nvGrpSpPr>
        <p:grpSpPr>
          <a:xfrm>
            <a:off x="2668588" y="3609975"/>
            <a:ext cx="501650" cy="233363"/>
            <a:chOff x="3600" y="219"/>
            <a:chExt cx="360" cy="175"/>
          </a:xfrm>
        </p:grpSpPr>
        <p:sp>
          <p:nvSpPr>
            <p:cNvPr id="109573" name="Oval 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574" name="Line 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09575" name="Line 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09576" name="Rectangle 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09577" name="Oval 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9578" name="Group 9"/>
            <p:cNvGrpSpPr/>
            <p:nvPr/>
          </p:nvGrpSpPr>
          <p:grpSpPr>
            <a:xfrm>
              <a:off x="3686" y="244"/>
              <a:ext cx="177" cy="66"/>
              <a:chOff x="2848" y="848"/>
              <a:chExt cx="140" cy="98"/>
            </a:xfrm>
          </p:grpSpPr>
          <p:sp>
            <p:nvSpPr>
              <p:cNvPr id="109579"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9580"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9581"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09582" name="Group 13"/>
            <p:cNvGrpSpPr/>
            <p:nvPr/>
          </p:nvGrpSpPr>
          <p:grpSpPr>
            <a:xfrm flipV="1">
              <a:off x="3686" y="243"/>
              <a:ext cx="177" cy="66"/>
              <a:chOff x="2848" y="848"/>
              <a:chExt cx="140" cy="98"/>
            </a:xfrm>
          </p:grpSpPr>
          <p:sp>
            <p:nvSpPr>
              <p:cNvPr id="109583"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9584"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9585"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09586" name="Group 17"/>
          <p:cNvGrpSpPr/>
          <p:nvPr/>
        </p:nvGrpSpPr>
        <p:grpSpPr>
          <a:xfrm>
            <a:off x="1771650" y="3263900"/>
            <a:ext cx="1333500" cy="342900"/>
            <a:chOff x="8025" y="5070"/>
            <a:chExt cx="2100" cy="540"/>
          </a:xfrm>
        </p:grpSpPr>
        <p:sp>
          <p:nvSpPr>
            <p:cNvPr id="109587" name="Line 18"/>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09588" name="Line 19"/>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09589" name="Line 20"/>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sp>
        <p:nvSpPr>
          <p:cNvPr id="109590" name="Rectangle 21"/>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Mobility via Indirect Routing</a:t>
            </a:r>
            <a:endParaRPr lang="en-US" altLang="zh-CN" sz="3600" dirty="0">
              <a:ea typeface="宋体" panose="02010600030101010101" pitchFamily="2" charset="-122"/>
            </a:endParaRPr>
          </a:p>
        </p:txBody>
      </p:sp>
      <p:grpSp>
        <p:nvGrpSpPr>
          <p:cNvPr id="109591" name="Group 22"/>
          <p:cNvGrpSpPr/>
          <p:nvPr/>
        </p:nvGrpSpPr>
        <p:grpSpPr>
          <a:xfrm>
            <a:off x="1520825" y="2822575"/>
            <a:ext cx="914400" cy="590550"/>
            <a:chOff x="10665" y="3225"/>
            <a:chExt cx="1440" cy="930"/>
          </a:xfrm>
        </p:grpSpPr>
        <p:sp>
          <p:nvSpPr>
            <p:cNvPr id="109592" name="Oval 23"/>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9593" name="Group 24"/>
            <p:cNvGrpSpPr/>
            <p:nvPr/>
          </p:nvGrpSpPr>
          <p:grpSpPr>
            <a:xfrm>
              <a:off x="11038" y="3281"/>
              <a:ext cx="618" cy="667"/>
              <a:chOff x="8023" y="4451"/>
              <a:chExt cx="618" cy="667"/>
            </a:xfrm>
          </p:grpSpPr>
          <p:sp>
            <p:nvSpPr>
              <p:cNvPr id="109594" name="Freeform 25"/>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09595" name="Freeform 26"/>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9596" name="Freeform 27"/>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9597" name="Freeform 28"/>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09598" name="Freeform 29"/>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599" name="Freeform 30"/>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0" name="Freeform 31"/>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1" name="Freeform 32"/>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2" name="Freeform 33"/>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3" name="Freeform 34"/>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4" name="Freeform 35"/>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5" name="Freeform 36"/>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6" name="Freeform 37"/>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7" name="Freeform 38"/>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8" name="Freeform 39"/>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09609" name="Freeform 40"/>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09610" name="Freeform 41"/>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09611" name="Freeform 42"/>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09612" name="Freeform 43"/>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09613" name="Freeform 44"/>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09614" name="Freeform 45"/>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09615" name="Freeform 46"/>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16" name="Freeform 47"/>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17" name="Freeform 48"/>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18" name="Freeform 49"/>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19" name="Freeform 50"/>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0" name="Freeform 51"/>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1" name="Freeform 52"/>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2" name="Freeform 53"/>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3" name="Freeform 54"/>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4" name="Freeform 55"/>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5" name="Freeform 56"/>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6" name="Freeform 57"/>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7" name="Freeform 58"/>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8" name="Freeform 59"/>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29" name="Freeform 60"/>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0" name="Freeform 61"/>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1" name="Freeform 62"/>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2" name="Freeform 63"/>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3" name="Freeform 64"/>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4" name="Freeform 65"/>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5" name="Freeform 66"/>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6" name="Freeform 67"/>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7" name="Freeform 68"/>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8" name="Freeform 69"/>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39" name="Freeform 70"/>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0" name="Freeform 71"/>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1" name="Freeform 72"/>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2" name="Freeform 73"/>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3" name="Freeform 74"/>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4" name="Freeform 75"/>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5" name="Freeform 76"/>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09646" name="Freeform 77"/>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09647" name="Freeform 78"/>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09648" name="Freeform 79"/>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09649" name="Freeform 80"/>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09650" name="Freeform 81"/>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09651" name="Freeform 82"/>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09652" name="Freeform 83"/>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09653" name="Freeform 84"/>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09654" name="Freeform 85"/>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09655" name="Freeform 86"/>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09656" name="Freeform 87"/>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09657" name="Freeform 88"/>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09658" name="Freeform 89"/>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09659" name="Freeform 90"/>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09660" name="Freeform 91"/>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09661" name="Freeform 92"/>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09662" name="Freeform 93"/>
          <p:cNvSpPr/>
          <p:nvPr/>
        </p:nvSpPr>
        <p:spPr>
          <a:xfrm>
            <a:off x="6413500" y="2486025"/>
            <a:ext cx="1838325" cy="1711325"/>
          </a:xfrm>
          <a:custGeom>
            <a:avLst/>
            <a:gdLst/>
            <a:ahLst/>
            <a:cxnLst>
              <a:cxn ang="0">
                <a:pos x="1614093" y="537490135"/>
              </a:cxn>
              <a:cxn ang="0">
                <a:pos x="140823064" y="205546464"/>
              </a:cxn>
              <a:cxn ang="0">
                <a:pos x="558449341" y="138915361"/>
              </a:cxn>
              <a:cxn ang="0">
                <a:pos x="1047495879" y="68649996"/>
              </a:cxn>
              <a:cxn ang="0">
                <a:pos x="1163704826" y="550815974"/>
              </a:cxn>
              <a:cxn ang="0">
                <a:pos x="1072916090" y="865798907"/>
              </a:cxn>
              <a:cxn ang="0">
                <a:pos x="848972025" y="1011175744"/>
              </a:cxn>
              <a:cxn ang="0">
                <a:pos x="661342818" y="1041462320"/>
              </a:cxn>
              <a:cxn ang="0">
                <a:pos x="421257827" y="1062057319"/>
              </a:cxn>
              <a:cxn ang="0">
                <a:pos x="139612335" y="888816959"/>
              </a:cxn>
              <a:cxn ang="0">
                <a:pos x="1614093" y="53749013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09663" name="Group 94"/>
          <p:cNvGrpSpPr/>
          <p:nvPr/>
        </p:nvGrpSpPr>
        <p:grpSpPr>
          <a:xfrm>
            <a:off x="6705600" y="3724275"/>
            <a:ext cx="501650" cy="233363"/>
            <a:chOff x="3600" y="219"/>
            <a:chExt cx="360" cy="175"/>
          </a:xfrm>
        </p:grpSpPr>
        <p:sp>
          <p:nvSpPr>
            <p:cNvPr id="109664" name="Oval 95"/>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665" name="Line 96"/>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09666" name="Line 97"/>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09667" name="Rectangle 98"/>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09668" name="Oval 99"/>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9669" name="Group 100"/>
            <p:cNvGrpSpPr/>
            <p:nvPr/>
          </p:nvGrpSpPr>
          <p:grpSpPr>
            <a:xfrm>
              <a:off x="3686" y="244"/>
              <a:ext cx="177" cy="66"/>
              <a:chOff x="2848" y="848"/>
              <a:chExt cx="140" cy="98"/>
            </a:xfrm>
          </p:grpSpPr>
          <p:sp>
            <p:nvSpPr>
              <p:cNvPr id="109670" name="Line 101"/>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9671" name="Line 102"/>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9672" name="Line 103"/>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09673" name="Group 104"/>
            <p:cNvGrpSpPr/>
            <p:nvPr/>
          </p:nvGrpSpPr>
          <p:grpSpPr>
            <a:xfrm flipV="1">
              <a:off x="3686" y="243"/>
              <a:ext cx="177" cy="66"/>
              <a:chOff x="2848" y="848"/>
              <a:chExt cx="140" cy="98"/>
            </a:xfrm>
          </p:grpSpPr>
          <p:sp>
            <p:nvSpPr>
              <p:cNvPr id="109674" name="Line 10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09675" name="Line 10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09676" name="Line 10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09677" name="Line 108"/>
          <p:cNvSpPr/>
          <p:nvPr/>
        </p:nvSpPr>
        <p:spPr>
          <a:xfrm>
            <a:off x="6735763" y="3552825"/>
            <a:ext cx="1333500" cy="0"/>
          </a:xfrm>
          <a:prstGeom prst="line">
            <a:avLst/>
          </a:prstGeom>
          <a:ln w="19050" cap="flat" cmpd="sng">
            <a:solidFill>
              <a:srgbClr val="000000"/>
            </a:solidFill>
            <a:prstDash val="solid"/>
            <a:round/>
            <a:headEnd type="none" w="med" len="med"/>
            <a:tailEnd type="none" w="med" len="med"/>
          </a:ln>
        </p:spPr>
      </p:sp>
      <p:sp>
        <p:nvSpPr>
          <p:cNvPr id="109678" name="Line 109"/>
          <p:cNvSpPr/>
          <p:nvPr/>
        </p:nvSpPr>
        <p:spPr>
          <a:xfrm>
            <a:off x="6945313" y="3552825"/>
            <a:ext cx="0" cy="171450"/>
          </a:xfrm>
          <a:prstGeom prst="line">
            <a:avLst/>
          </a:prstGeom>
          <a:ln w="19050" cap="flat" cmpd="sng">
            <a:solidFill>
              <a:srgbClr val="000000"/>
            </a:solidFill>
            <a:prstDash val="solid"/>
            <a:round/>
            <a:headEnd type="none" w="med" len="med"/>
            <a:tailEnd type="none" w="med" len="med"/>
          </a:ln>
        </p:spPr>
      </p:sp>
      <p:sp>
        <p:nvSpPr>
          <p:cNvPr id="109679" name="Line 110"/>
          <p:cNvSpPr/>
          <p:nvPr/>
        </p:nvSpPr>
        <p:spPr>
          <a:xfrm>
            <a:off x="7797800" y="3386138"/>
            <a:ext cx="0" cy="171450"/>
          </a:xfrm>
          <a:prstGeom prst="line">
            <a:avLst/>
          </a:prstGeom>
          <a:ln w="19050" cap="flat" cmpd="sng">
            <a:solidFill>
              <a:srgbClr val="000000"/>
            </a:solidFill>
            <a:prstDash val="solid"/>
            <a:round/>
            <a:headEnd type="none" w="med" len="med"/>
            <a:tailEnd type="none" w="med" len="med"/>
          </a:ln>
        </p:spPr>
      </p:sp>
      <p:grpSp>
        <p:nvGrpSpPr>
          <p:cNvPr id="109680" name="Group 111"/>
          <p:cNvGrpSpPr/>
          <p:nvPr/>
        </p:nvGrpSpPr>
        <p:grpSpPr>
          <a:xfrm>
            <a:off x="7340600" y="2914650"/>
            <a:ext cx="914400" cy="590550"/>
            <a:chOff x="10665" y="3225"/>
            <a:chExt cx="1440" cy="930"/>
          </a:xfrm>
        </p:grpSpPr>
        <p:sp>
          <p:nvSpPr>
            <p:cNvPr id="109681" name="Oval 112"/>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09682" name="Group 113"/>
            <p:cNvGrpSpPr/>
            <p:nvPr/>
          </p:nvGrpSpPr>
          <p:grpSpPr>
            <a:xfrm>
              <a:off x="11031" y="3335"/>
              <a:ext cx="565" cy="643"/>
              <a:chOff x="2870" y="1518"/>
              <a:chExt cx="292" cy="320"/>
            </a:xfrm>
          </p:grpSpPr>
          <p:graphicFrame>
            <p:nvGraphicFramePr>
              <p:cNvPr id="109683" name="Object 1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7" name="" r:id="rId1" imgW="826770" imgH="840105" progId="">
                      <p:embed/>
                    </p:oleObj>
                  </mc:Choice>
                  <mc:Fallback>
                    <p:oleObj name="" r:id="rId1" imgW="826770" imgH="840105" progId="">
                      <p:embed/>
                      <p:pic>
                        <p:nvPicPr>
                          <p:cNvPr id="0" name="图片 3146"/>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09684" name="Object 1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48" name="" r:id="rId3" imgW="1268095" imgH="1199515" progId="">
                      <p:embed/>
                    </p:oleObj>
                  </mc:Choice>
                  <mc:Fallback>
                    <p:oleObj name="" r:id="rId3" imgW="1268095" imgH="1199515" progId="">
                      <p:embed/>
                      <p:pic>
                        <p:nvPicPr>
                          <p:cNvPr id="0" name="图片 3147"/>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09685" name="Freeform 116"/>
          <p:cNvSpPr/>
          <p:nvPr/>
        </p:nvSpPr>
        <p:spPr>
          <a:xfrm>
            <a:off x="3954463" y="3432175"/>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09686" name="Text Box 117"/>
          <p:cNvSpPr txBox="1"/>
          <p:nvPr/>
        </p:nvSpPr>
        <p:spPr>
          <a:xfrm>
            <a:off x="4129088" y="3729038"/>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109687" name="Freeform 118"/>
          <p:cNvSpPr/>
          <p:nvPr/>
        </p:nvSpPr>
        <p:spPr>
          <a:xfrm>
            <a:off x="3259138" y="4995863"/>
            <a:ext cx="2944812" cy="911225"/>
          </a:xfrm>
          <a:custGeom>
            <a:avLst/>
            <a:gdLst/>
            <a:ahLst/>
            <a:cxnLst>
              <a:cxn ang="0">
                <a:pos x="136781944" y="6048375"/>
              </a:cxn>
              <a:cxn ang="0">
                <a:pos x="76258943" y="260080125"/>
              </a:cxn>
              <a:cxn ang="0">
                <a:pos x="324402548" y="508063500"/>
              </a:cxn>
              <a:cxn ang="0">
                <a:pos x="790428575" y="574595625"/>
              </a:cxn>
              <a:cxn ang="0">
                <a:pos x="1419866895" y="532257000"/>
              </a:cxn>
              <a:cxn ang="0">
                <a:pos x="1583278553" y="393144375"/>
              </a:cxn>
              <a:cxn ang="0">
                <a:pos x="1833036215" y="310080025"/>
              </a:cxn>
              <a:cxn ang="0">
                <a:pos x="1714411616" y="112096550"/>
              </a:cxn>
              <a:cxn ang="0">
                <a:pos x="896545346" y="30645100"/>
              </a:cxn>
              <a:cxn ang="0">
                <a:pos x="136781944" y="6048375"/>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09688" name="Object 119"/>
          <p:cNvGraphicFramePr>
            <a:graphicFrameLocks noChangeAspect="1"/>
          </p:cNvGraphicFramePr>
          <p:nvPr/>
        </p:nvGraphicFramePr>
        <p:xfrm>
          <a:off x="4392613" y="5178425"/>
          <a:ext cx="415925" cy="317500"/>
        </p:xfrm>
        <a:graphic>
          <a:graphicData uri="http://schemas.openxmlformats.org/presentationml/2006/ole">
            <mc:AlternateContent xmlns:mc="http://schemas.openxmlformats.org/markup-compatibility/2006">
              <mc:Choice xmlns:v="urn:schemas-microsoft-com:vml" Requires="v">
                <p:oleObj spid="_x0000_s3146" name="" r:id="rId5" imgW="1307465" imgH="1083945" progId="">
                  <p:embed/>
                </p:oleObj>
              </mc:Choice>
              <mc:Fallback>
                <p:oleObj name="" r:id="rId5" imgW="1307465" imgH="1083945" progId="">
                  <p:embed/>
                  <p:pic>
                    <p:nvPicPr>
                      <p:cNvPr id="0" name="图片 3145"/>
                      <p:cNvPicPr/>
                      <p:nvPr/>
                    </p:nvPicPr>
                    <p:blipFill>
                      <a:blip r:embed="rId6"/>
                      <a:stretch>
                        <a:fillRect/>
                      </a:stretch>
                    </p:blipFill>
                    <p:spPr>
                      <a:xfrm>
                        <a:off x="4392613" y="5178425"/>
                        <a:ext cx="415925" cy="317500"/>
                      </a:xfrm>
                      <a:prstGeom prst="rect">
                        <a:avLst/>
                      </a:prstGeom>
                      <a:noFill/>
                      <a:ln w="38100">
                        <a:noFill/>
                        <a:miter/>
                      </a:ln>
                    </p:spPr>
                  </p:pic>
                </p:oleObj>
              </mc:Fallback>
            </mc:AlternateContent>
          </a:graphicData>
        </a:graphic>
      </p:graphicFrame>
      <p:sp>
        <p:nvSpPr>
          <p:cNvPr id="109689" name="Text Box 120"/>
          <p:cNvSpPr txBox="1"/>
          <p:nvPr/>
        </p:nvSpPr>
        <p:spPr>
          <a:xfrm>
            <a:off x="473075" y="2852738"/>
            <a:ext cx="1887538" cy="7016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home</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network</a:t>
            </a:r>
            <a:endParaRPr lang="en-US" altLang="zh-CN" sz="2000" dirty="0">
              <a:latin typeface="Comic Sans MS" panose="030F0702030302020204" pitchFamily="66" charset="0"/>
              <a:ea typeface="宋体" panose="02010600030101010101" pitchFamily="2" charset="-122"/>
            </a:endParaRPr>
          </a:p>
        </p:txBody>
      </p:sp>
      <p:sp>
        <p:nvSpPr>
          <p:cNvPr id="109690" name="Text Box 121"/>
          <p:cNvSpPr txBox="1"/>
          <p:nvPr/>
        </p:nvSpPr>
        <p:spPr>
          <a:xfrm>
            <a:off x="7874000" y="2174875"/>
            <a:ext cx="1270000" cy="7016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visited</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network</a:t>
            </a:r>
            <a:endParaRPr lang="en-US" altLang="zh-CN" sz="2000" dirty="0">
              <a:latin typeface="Comic Sans MS" panose="030F0702030302020204" pitchFamily="66" charset="0"/>
              <a:ea typeface="宋体" panose="02010600030101010101" pitchFamily="2" charset="-122"/>
            </a:endParaRPr>
          </a:p>
        </p:txBody>
      </p:sp>
      <p:grpSp>
        <p:nvGrpSpPr>
          <p:cNvPr id="435322" name="Group 122"/>
          <p:cNvGrpSpPr/>
          <p:nvPr/>
        </p:nvGrpSpPr>
        <p:grpSpPr>
          <a:xfrm>
            <a:off x="7119938" y="3325813"/>
            <a:ext cx="492125" cy="366712"/>
            <a:chOff x="4485" y="2095"/>
            <a:chExt cx="310" cy="231"/>
          </a:xfrm>
        </p:grpSpPr>
        <p:sp>
          <p:nvSpPr>
            <p:cNvPr id="109692" name="Line 123"/>
            <p:cNvSpPr/>
            <p:nvPr/>
          </p:nvSpPr>
          <p:spPr>
            <a:xfrm flipV="1">
              <a:off x="4485" y="2106"/>
              <a:ext cx="310" cy="210"/>
            </a:xfrm>
            <a:prstGeom prst="line">
              <a:avLst/>
            </a:prstGeom>
            <a:ln w="28575" cap="flat" cmpd="sng">
              <a:solidFill>
                <a:srgbClr val="FF0000"/>
              </a:solidFill>
              <a:prstDash val="solid"/>
              <a:round/>
              <a:headEnd type="none" w="med" len="med"/>
              <a:tailEnd type="triangle" w="med" len="med"/>
            </a:ln>
          </p:spPr>
        </p:sp>
        <p:grpSp>
          <p:nvGrpSpPr>
            <p:cNvPr id="109693" name="Group 124"/>
            <p:cNvGrpSpPr/>
            <p:nvPr/>
          </p:nvGrpSpPr>
          <p:grpSpPr>
            <a:xfrm>
              <a:off x="4530" y="2095"/>
              <a:ext cx="214" cy="231"/>
              <a:chOff x="618" y="3500"/>
              <a:chExt cx="214" cy="231"/>
            </a:xfrm>
          </p:grpSpPr>
          <p:sp>
            <p:nvSpPr>
              <p:cNvPr id="109694" name="Oval 125"/>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695" name="Text Box 126"/>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3</a:t>
                </a:r>
                <a:endParaRPr lang="en-US" altLang="zh-CN" dirty="0">
                  <a:solidFill>
                    <a:srgbClr val="FF0000"/>
                  </a:solidFill>
                  <a:latin typeface="Comic Sans MS" panose="030F0702030302020204" pitchFamily="66" charset="0"/>
                  <a:ea typeface="宋体" panose="02010600030101010101" pitchFamily="2" charset="-122"/>
                </a:endParaRPr>
              </a:p>
            </p:txBody>
          </p:sp>
        </p:grpSp>
      </p:grpSp>
      <p:grpSp>
        <p:nvGrpSpPr>
          <p:cNvPr id="435327" name="Group 127"/>
          <p:cNvGrpSpPr/>
          <p:nvPr/>
        </p:nvGrpSpPr>
        <p:grpSpPr>
          <a:xfrm>
            <a:off x="3181350" y="3838575"/>
            <a:ext cx="3486150" cy="638175"/>
            <a:chOff x="2004" y="2418"/>
            <a:chExt cx="2196" cy="402"/>
          </a:xfrm>
        </p:grpSpPr>
        <p:sp>
          <p:nvSpPr>
            <p:cNvPr id="109697" name="Freeform 128"/>
            <p:cNvSpPr/>
            <p:nvPr/>
          </p:nvSpPr>
          <p:spPr>
            <a:xfrm>
              <a:off x="2004" y="2418"/>
              <a:ext cx="2196" cy="318"/>
            </a:xfrm>
            <a:custGeom>
              <a:avLst/>
              <a:gdLst/>
              <a:ahLst/>
              <a:cxnLst>
                <a:cxn ang="0">
                  <a:pos x="0" y="0"/>
                </a:cxn>
                <a:cxn ang="0">
                  <a:pos x="1194" y="306"/>
                </a:cxn>
                <a:cxn ang="0">
                  <a:pos x="2196" y="30"/>
                </a:cxn>
              </a:cxnLst>
              <a:pathLst>
                <a:path w="2196" h="318">
                  <a:moveTo>
                    <a:pt x="0" y="0"/>
                  </a:moveTo>
                  <a:cubicBezTo>
                    <a:pt x="199" y="51"/>
                    <a:pt x="828" y="301"/>
                    <a:pt x="1194" y="306"/>
                  </a:cubicBezTo>
                  <a:cubicBezTo>
                    <a:pt x="1536" y="318"/>
                    <a:pt x="1987" y="88"/>
                    <a:pt x="2196" y="3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09698" name="Group 129"/>
            <p:cNvGrpSpPr/>
            <p:nvPr/>
          </p:nvGrpSpPr>
          <p:grpSpPr>
            <a:xfrm>
              <a:off x="3083" y="2589"/>
              <a:ext cx="214" cy="231"/>
              <a:chOff x="618" y="3500"/>
              <a:chExt cx="214" cy="231"/>
            </a:xfrm>
          </p:grpSpPr>
          <p:sp>
            <p:nvSpPr>
              <p:cNvPr id="109699" name="Oval 130"/>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700" name="Text Box 131"/>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2</a:t>
                </a:r>
                <a:endParaRPr lang="en-US" altLang="zh-CN" dirty="0">
                  <a:solidFill>
                    <a:srgbClr val="FF0000"/>
                  </a:solidFill>
                  <a:latin typeface="Comic Sans MS" panose="030F0702030302020204" pitchFamily="66" charset="0"/>
                  <a:ea typeface="宋体" panose="02010600030101010101" pitchFamily="2" charset="-122"/>
                </a:endParaRPr>
              </a:p>
            </p:txBody>
          </p:sp>
        </p:grpSp>
      </p:grpSp>
      <p:grpSp>
        <p:nvGrpSpPr>
          <p:cNvPr id="435332" name="Group 132"/>
          <p:cNvGrpSpPr/>
          <p:nvPr/>
        </p:nvGrpSpPr>
        <p:grpSpPr>
          <a:xfrm>
            <a:off x="4826000" y="3424238"/>
            <a:ext cx="3103563" cy="2016125"/>
            <a:chOff x="3040" y="2157"/>
            <a:chExt cx="1955" cy="1270"/>
          </a:xfrm>
        </p:grpSpPr>
        <p:sp>
          <p:nvSpPr>
            <p:cNvPr id="109702" name="Freeform 133"/>
            <p:cNvSpPr/>
            <p:nvPr/>
          </p:nvSpPr>
          <p:spPr>
            <a:xfrm>
              <a:off x="3040" y="2157"/>
              <a:ext cx="1955" cy="1270"/>
            </a:xfrm>
            <a:custGeom>
              <a:avLst/>
              <a:gdLst/>
              <a:ahLst/>
              <a:cxnLst>
                <a:cxn ang="0">
                  <a:pos x="1955" y="0"/>
                </a:cxn>
                <a:cxn ang="0">
                  <a:pos x="1077" y="765"/>
                </a:cxn>
                <a:cxn ang="0">
                  <a:pos x="0" y="1270"/>
                </a:cxn>
              </a:cxnLst>
              <a:pathLst>
                <a:path w="1955" h="1270">
                  <a:moveTo>
                    <a:pt x="1955" y="0"/>
                  </a:moveTo>
                  <a:cubicBezTo>
                    <a:pt x="1809" y="127"/>
                    <a:pt x="1425" y="536"/>
                    <a:pt x="1077" y="765"/>
                  </a:cubicBezTo>
                  <a:cubicBezTo>
                    <a:pt x="729" y="994"/>
                    <a:pt x="224" y="1165"/>
                    <a:pt x="0" y="127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09703" name="Group 134"/>
            <p:cNvGrpSpPr/>
            <p:nvPr/>
          </p:nvGrpSpPr>
          <p:grpSpPr>
            <a:xfrm>
              <a:off x="3982" y="2835"/>
              <a:ext cx="214" cy="231"/>
              <a:chOff x="618" y="3500"/>
              <a:chExt cx="214" cy="231"/>
            </a:xfrm>
          </p:grpSpPr>
          <p:sp>
            <p:nvSpPr>
              <p:cNvPr id="109704" name="Oval 135"/>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705" name="Text Box 136"/>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4</a:t>
                </a:r>
                <a:endParaRPr lang="en-US" altLang="zh-CN" dirty="0">
                  <a:solidFill>
                    <a:srgbClr val="FF0000"/>
                  </a:solidFill>
                  <a:latin typeface="Comic Sans MS" panose="030F0702030302020204" pitchFamily="66" charset="0"/>
                  <a:ea typeface="宋体" panose="02010600030101010101" pitchFamily="2" charset="-122"/>
                </a:endParaRPr>
              </a:p>
            </p:txBody>
          </p:sp>
        </p:grpSp>
      </p:grpSp>
      <p:grpSp>
        <p:nvGrpSpPr>
          <p:cNvPr id="435337" name="Group 137"/>
          <p:cNvGrpSpPr/>
          <p:nvPr/>
        </p:nvGrpSpPr>
        <p:grpSpPr>
          <a:xfrm>
            <a:off x="2986088" y="3889375"/>
            <a:ext cx="1357312" cy="1298575"/>
            <a:chOff x="1881" y="2450"/>
            <a:chExt cx="855" cy="818"/>
          </a:xfrm>
        </p:grpSpPr>
        <p:sp>
          <p:nvSpPr>
            <p:cNvPr id="109707" name="Line 138"/>
            <p:cNvSpPr/>
            <p:nvPr/>
          </p:nvSpPr>
          <p:spPr>
            <a:xfrm flipH="1" flipV="1">
              <a:off x="1881" y="2450"/>
              <a:ext cx="855" cy="818"/>
            </a:xfrm>
            <a:prstGeom prst="line">
              <a:avLst/>
            </a:prstGeom>
            <a:ln w="28575" cap="flat" cmpd="sng">
              <a:solidFill>
                <a:srgbClr val="FF0000"/>
              </a:solidFill>
              <a:prstDash val="solid"/>
              <a:round/>
              <a:headEnd type="none" w="med" len="med"/>
              <a:tailEnd type="triangle" w="med" len="med"/>
            </a:ln>
          </p:spPr>
        </p:sp>
        <p:grpSp>
          <p:nvGrpSpPr>
            <p:cNvPr id="109708" name="Group 139"/>
            <p:cNvGrpSpPr/>
            <p:nvPr/>
          </p:nvGrpSpPr>
          <p:grpSpPr>
            <a:xfrm>
              <a:off x="2172" y="2702"/>
              <a:ext cx="202" cy="231"/>
              <a:chOff x="618" y="3500"/>
              <a:chExt cx="202" cy="231"/>
            </a:xfrm>
          </p:grpSpPr>
          <p:sp>
            <p:nvSpPr>
              <p:cNvPr id="109709" name="Oval 140"/>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09710" name="Text Box 141"/>
              <p:cNvSpPr txBox="1"/>
              <p:nvPr/>
            </p:nvSpPr>
            <p:spPr>
              <a:xfrm>
                <a:off x="628" y="3500"/>
                <a:ext cx="18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1</a:t>
                </a:r>
                <a:endParaRPr lang="en-US" altLang="zh-CN" dirty="0">
                  <a:solidFill>
                    <a:srgbClr val="FF0000"/>
                  </a:solidFill>
                  <a:latin typeface="Comic Sans MS" panose="030F0702030302020204" pitchFamily="66" charset="0"/>
                  <a:ea typeface="宋体" panose="02010600030101010101" pitchFamily="2" charset="-122"/>
                </a:endParaRPr>
              </a:p>
            </p:txBody>
          </p:sp>
        </p:grpSp>
      </p:grpSp>
      <p:grpSp>
        <p:nvGrpSpPr>
          <p:cNvPr id="435342" name="Group 142"/>
          <p:cNvGrpSpPr/>
          <p:nvPr/>
        </p:nvGrpSpPr>
        <p:grpSpPr>
          <a:xfrm>
            <a:off x="908050" y="4598988"/>
            <a:ext cx="2535238" cy="1198562"/>
            <a:chOff x="572" y="2897"/>
            <a:chExt cx="1597" cy="755"/>
          </a:xfrm>
        </p:grpSpPr>
        <p:sp>
          <p:nvSpPr>
            <p:cNvPr id="109712" name="Text Box 143"/>
            <p:cNvSpPr txBox="1"/>
            <p:nvPr/>
          </p:nvSpPr>
          <p:spPr>
            <a:xfrm>
              <a:off x="572" y="2902"/>
              <a:ext cx="1597" cy="750"/>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correspondent addresses packets using home address of mobile</a:t>
              </a:r>
              <a:endParaRPr lang="en-US" altLang="zh-CN" dirty="0">
                <a:latin typeface="Comic Sans MS" panose="030F0702030302020204" pitchFamily="66" charset="0"/>
                <a:ea typeface="宋体" panose="02010600030101010101" pitchFamily="2" charset="-122"/>
              </a:endParaRPr>
            </a:p>
          </p:txBody>
        </p:sp>
        <p:sp>
          <p:nvSpPr>
            <p:cNvPr id="109713" name="Line 144"/>
            <p:cNvSpPr/>
            <p:nvPr/>
          </p:nvSpPr>
          <p:spPr>
            <a:xfrm flipV="1">
              <a:off x="1703" y="2897"/>
              <a:ext cx="465" cy="144"/>
            </a:xfrm>
            <a:prstGeom prst="line">
              <a:avLst/>
            </a:prstGeom>
            <a:ln w="19050" cap="flat" cmpd="sng">
              <a:solidFill>
                <a:schemeClr val="tx1"/>
              </a:solidFill>
              <a:prstDash val="solid"/>
              <a:round/>
              <a:headEnd type="none" w="med" len="med"/>
              <a:tailEnd type="none" w="med" len="med"/>
            </a:ln>
          </p:spPr>
        </p:sp>
      </p:grpSp>
      <p:grpSp>
        <p:nvGrpSpPr>
          <p:cNvPr id="435345" name="Group 145"/>
          <p:cNvGrpSpPr/>
          <p:nvPr/>
        </p:nvGrpSpPr>
        <p:grpSpPr>
          <a:xfrm>
            <a:off x="2506663" y="1882775"/>
            <a:ext cx="2794000" cy="2168525"/>
            <a:chOff x="1579" y="1186"/>
            <a:chExt cx="1760" cy="1366"/>
          </a:xfrm>
        </p:grpSpPr>
        <p:sp>
          <p:nvSpPr>
            <p:cNvPr id="109715" name="Text Box 146"/>
            <p:cNvSpPr txBox="1"/>
            <p:nvPr/>
          </p:nvSpPr>
          <p:spPr>
            <a:xfrm>
              <a:off x="1579" y="1186"/>
              <a:ext cx="1760" cy="57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home agent intercepts packets, forwards to foreign agent</a:t>
              </a:r>
              <a:endParaRPr lang="en-US" altLang="zh-CN" dirty="0">
                <a:latin typeface="Comic Sans MS" panose="030F0702030302020204" pitchFamily="66" charset="0"/>
                <a:ea typeface="宋体" panose="02010600030101010101" pitchFamily="2" charset="-122"/>
              </a:endParaRPr>
            </a:p>
          </p:txBody>
        </p:sp>
        <p:sp>
          <p:nvSpPr>
            <p:cNvPr id="109716" name="Line 147"/>
            <p:cNvSpPr/>
            <p:nvPr/>
          </p:nvSpPr>
          <p:spPr>
            <a:xfrm>
              <a:off x="2652" y="1698"/>
              <a:ext cx="466" cy="854"/>
            </a:xfrm>
            <a:prstGeom prst="line">
              <a:avLst/>
            </a:prstGeom>
            <a:ln w="19050" cap="flat" cmpd="sng">
              <a:solidFill>
                <a:schemeClr val="tx1"/>
              </a:solidFill>
              <a:prstDash val="solid"/>
              <a:round/>
              <a:headEnd type="none" w="med" len="med"/>
              <a:tailEnd type="none" w="med" len="med"/>
            </a:ln>
          </p:spPr>
        </p:sp>
      </p:grpSp>
      <p:grpSp>
        <p:nvGrpSpPr>
          <p:cNvPr id="435348" name="Group 148"/>
          <p:cNvGrpSpPr/>
          <p:nvPr/>
        </p:nvGrpSpPr>
        <p:grpSpPr>
          <a:xfrm>
            <a:off x="5432425" y="1387475"/>
            <a:ext cx="2338388" cy="1924050"/>
            <a:chOff x="3422" y="874"/>
            <a:chExt cx="1473" cy="1212"/>
          </a:xfrm>
        </p:grpSpPr>
        <p:sp>
          <p:nvSpPr>
            <p:cNvPr id="109718" name="Text Box 149"/>
            <p:cNvSpPr txBox="1"/>
            <p:nvPr/>
          </p:nvSpPr>
          <p:spPr>
            <a:xfrm>
              <a:off x="3422" y="874"/>
              <a:ext cx="1473" cy="57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foreign agent receives packets, forwards to mobile</a:t>
              </a:r>
              <a:endParaRPr lang="en-US" altLang="zh-CN" dirty="0">
                <a:latin typeface="Comic Sans MS" panose="030F0702030302020204" pitchFamily="66" charset="0"/>
                <a:ea typeface="宋体" panose="02010600030101010101" pitchFamily="2" charset="-122"/>
              </a:endParaRPr>
            </a:p>
          </p:txBody>
        </p:sp>
        <p:sp>
          <p:nvSpPr>
            <p:cNvPr id="109719" name="Line 150"/>
            <p:cNvSpPr/>
            <p:nvPr/>
          </p:nvSpPr>
          <p:spPr>
            <a:xfrm>
              <a:off x="4211" y="1420"/>
              <a:ext cx="377" cy="666"/>
            </a:xfrm>
            <a:prstGeom prst="line">
              <a:avLst/>
            </a:prstGeom>
            <a:ln w="9525" cap="flat" cmpd="sng">
              <a:solidFill>
                <a:schemeClr val="tx1"/>
              </a:solidFill>
              <a:prstDash val="solid"/>
              <a:round/>
              <a:headEnd type="none" w="med" len="med"/>
              <a:tailEnd type="none" w="med" len="med"/>
            </a:ln>
          </p:spPr>
        </p:sp>
      </p:grpSp>
      <p:grpSp>
        <p:nvGrpSpPr>
          <p:cNvPr id="435351" name="Group 151"/>
          <p:cNvGrpSpPr/>
          <p:nvPr/>
        </p:nvGrpSpPr>
        <p:grpSpPr>
          <a:xfrm>
            <a:off x="6653213" y="4776788"/>
            <a:ext cx="2247900" cy="1165225"/>
            <a:chOff x="4191" y="3009"/>
            <a:chExt cx="1416" cy="734"/>
          </a:xfrm>
        </p:grpSpPr>
        <p:sp>
          <p:nvSpPr>
            <p:cNvPr id="109721" name="Text Box 152"/>
            <p:cNvSpPr txBox="1"/>
            <p:nvPr/>
          </p:nvSpPr>
          <p:spPr>
            <a:xfrm>
              <a:off x="4332" y="3166"/>
              <a:ext cx="1275" cy="57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mobile replies directly to correspondent</a:t>
              </a:r>
              <a:endParaRPr lang="en-US" altLang="zh-CN" dirty="0">
                <a:latin typeface="Comic Sans MS" panose="030F0702030302020204" pitchFamily="66" charset="0"/>
                <a:ea typeface="宋体" panose="02010600030101010101" pitchFamily="2" charset="-122"/>
              </a:endParaRPr>
            </a:p>
          </p:txBody>
        </p:sp>
        <p:sp>
          <p:nvSpPr>
            <p:cNvPr id="109722" name="Line 153"/>
            <p:cNvSpPr/>
            <p:nvPr/>
          </p:nvSpPr>
          <p:spPr>
            <a:xfrm flipH="1" flipV="1">
              <a:off x="4191" y="3009"/>
              <a:ext cx="248" cy="179"/>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33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35342"/>
                                        </p:tgtEl>
                                        <p:attrNameLst>
                                          <p:attrName>style.visibility</p:attrName>
                                        </p:attrNameLst>
                                      </p:cBhvr>
                                      <p:to>
                                        <p:strVal val="visible"/>
                                      </p:to>
                                    </p:set>
                                  </p:childTnLst>
                                  <p:subTnLst>
                                    <p:set>
                                      <p:cBhvr override="childStyle">
                                        <p:cTn dur="1" fill="hold" display="0" masterRel="nextClick" afterEffect="1"/>
                                        <p:tgtEl>
                                          <p:spTgt spid="435342"/>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3532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435345"/>
                                        </p:tgtEl>
                                        <p:attrNameLst>
                                          <p:attrName>style.visibility</p:attrName>
                                        </p:attrNameLst>
                                      </p:cBhvr>
                                      <p:to>
                                        <p:strVal val="visible"/>
                                      </p:to>
                                    </p:set>
                                  </p:childTnLst>
                                  <p:subTnLst>
                                    <p:set>
                                      <p:cBhvr override="childStyle">
                                        <p:cTn dur="1" fill="hold" display="0" masterRel="nextClick" afterEffect="1"/>
                                        <p:tgtEl>
                                          <p:spTgt spid="435345"/>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35322"/>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435348"/>
                                        </p:tgtEl>
                                        <p:attrNameLst>
                                          <p:attrName>style.visibility</p:attrName>
                                        </p:attrNameLst>
                                      </p:cBhvr>
                                      <p:to>
                                        <p:strVal val="visible"/>
                                      </p:to>
                                    </p:set>
                                  </p:childTnLst>
                                  <p:subTnLst>
                                    <p:set>
                                      <p:cBhvr override="childStyle">
                                        <p:cTn dur="1" fill="hold" display="0" masterRel="nextClick" afterEffect="1"/>
                                        <p:tgtEl>
                                          <p:spTgt spid="435348"/>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3533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435351"/>
                                        </p:tgtEl>
                                        <p:attrNameLst>
                                          <p:attrName>style.visibility</p:attrName>
                                        </p:attrNameLst>
                                      </p:cBhvr>
                                      <p:to>
                                        <p:strVal val="visible"/>
                                      </p:to>
                                    </p:set>
                                  </p:childTnLst>
                                  <p:subTnLst>
                                    <p:set>
                                      <p:cBhvr override="childStyle">
                                        <p:cTn dur="1" fill="hold" display="0" masterRel="nextClick" afterEffect="1"/>
                                        <p:tgtEl>
                                          <p:spTgt spid="43535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116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1619" name="Rectangle 2"/>
          <p:cNvSpPr>
            <a:spLocks noGrp="1"/>
          </p:cNvSpPr>
          <p:nvPr>
            <p:ph type="title"/>
          </p:nvPr>
        </p:nvSpPr>
        <p:spPr>
          <a:xfrm>
            <a:off x="533400" y="228600"/>
            <a:ext cx="8120063" cy="1143000"/>
          </a:xfrm>
          <a:ln/>
        </p:spPr>
        <p:txBody>
          <a:bodyPr vert="horz" wrap="square" lIns="91440" tIns="45720" rIns="91440" bIns="45720" anchor="ctr" anchorCtr="0"/>
          <a:p>
            <a:r>
              <a:rPr lang="en-US" altLang="zh-CN" sz="3600" dirty="0">
                <a:ea typeface="宋体" panose="02010600030101010101" pitchFamily="2" charset="-122"/>
              </a:rPr>
              <a:t>Indirect Routing: comments</a:t>
            </a:r>
            <a:endParaRPr lang="en-US" altLang="zh-CN" sz="3600" dirty="0">
              <a:ea typeface="宋体" panose="02010600030101010101" pitchFamily="2" charset="-122"/>
            </a:endParaRPr>
          </a:p>
        </p:txBody>
      </p:sp>
      <p:sp>
        <p:nvSpPr>
          <p:cNvPr id="111620" name="Rectangle 3"/>
          <p:cNvSpPr>
            <a:spLocks noGrp="1"/>
          </p:cNvSpPr>
          <p:nvPr>
            <p:ph idx="1"/>
          </p:nvPr>
        </p:nvSpPr>
        <p:spPr>
          <a:xfrm>
            <a:off x="581025" y="1347788"/>
            <a:ext cx="8089900" cy="4648200"/>
          </a:xfrm>
          <a:ln/>
        </p:spPr>
        <p:txBody>
          <a:bodyPr vert="horz" wrap="square" lIns="91440" tIns="45720" rIns="91440" bIns="45720" anchor="t" anchorCtr="0"/>
          <a:p>
            <a:r>
              <a:rPr lang="en-US" altLang="zh-CN" sz="2400" dirty="0">
                <a:ea typeface="宋体" panose="02010600030101010101" pitchFamily="2" charset="-122"/>
              </a:rPr>
              <a:t>Mobile uses two addresses:</a:t>
            </a:r>
            <a:endParaRPr lang="en-US" altLang="zh-CN" sz="2400" dirty="0">
              <a:ea typeface="宋体" panose="02010600030101010101" pitchFamily="2" charset="-122"/>
            </a:endParaRPr>
          </a:p>
          <a:p>
            <a:pPr lvl="1"/>
            <a:r>
              <a:rPr lang="en-US" altLang="zh-CN" dirty="0">
                <a:solidFill>
                  <a:schemeClr val="accent2"/>
                </a:solidFill>
                <a:ea typeface="宋体" panose="02010600030101010101" pitchFamily="2" charset="-122"/>
              </a:rPr>
              <a:t>permanent address:</a:t>
            </a:r>
            <a:r>
              <a:rPr lang="en-US" altLang="zh-CN" dirty="0">
                <a:ea typeface="宋体" panose="02010600030101010101" pitchFamily="2" charset="-122"/>
              </a:rPr>
              <a:t> used by correspondent (hence mobile location is </a:t>
            </a:r>
            <a:r>
              <a:rPr lang="en-US" altLang="zh-CN" i="1" dirty="0">
                <a:solidFill>
                  <a:srgbClr val="FF0000"/>
                </a:solidFill>
                <a:ea typeface="宋体" panose="02010600030101010101" pitchFamily="2" charset="-122"/>
              </a:rPr>
              <a:t>transparent</a:t>
            </a:r>
            <a:r>
              <a:rPr lang="en-US" altLang="zh-CN" dirty="0">
                <a:ea typeface="宋体" panose="02010600030101010101" pitchFamily="2" charset="-122"/>
              </a:rPr>
              <a:t> to correspondent)</a:t>
            </a:r>
            <a:endParaRPr lang="en-US" altLang="zh-CN" dirty="0">
              <a:ea typeface="宋体" panose="02010600030101010101" pitchFamily="2" charset="-122"/>
            </a:endParaRPr>
          </a:p>
          <a:p>
            <a:pPr lvl="1"/>
            <a:r>
              <a:rPr lang="en-US" altLang="zh-CN" dirty="0">
                <a:solidFill>
                  <a:schemeClr val="accent2"/>
                </a:solidFill>
                <a:ea typeface="宋体" panose="02010600030101010101" pitchFamily="2" charset="-122"/>
              </a:rPr>
              <a:t>care-of-address:</a:t>
            </a:r>
            <a:r>
              <a:rPr lang="en-US" altLang="zh-CN" dirty="0">
                <a:ea typeface="宋体" panose="02010600030101010101" pitchFamily="2" charset="-122"/>
              </a:rPr>
              <a:t> used by home agent to forward datagrams to mobile</a:t>
            </a:r>
            <a:endParaRPr lang="en-US" altLang="zh-CN" dirty="0">
              <a:ea typeface="宋体" panose="02010600030101010101" pitchFamily="2" charset="-122"/>
            </a:endParaRPr>
          </a:p>
          <a:p>
            <a:r>
              <a:rPr lang="en-US" altLang="zh-CN" sz="2400" dirty="0">
                <a:ea typeface="宋体" panose="02010600030101010101" pitchFamily="2" charset="-122"/>
              </a:rPr>
              <a:t>foreign agent functions may be done by mobile itself</a:t>
            </a:r>
            <a:endParaRPr lang="en-US" altLang="zh-CN" sz="2400" dirty="0">
              <a:ea typeface="宋体" panose="02010600030101010101" pitchFamily="2" charset="-122"/>
            </a:endParaRPr>
          </a:p>
          <a:p>
            <a:r>
              <a:rPr lang="en-US" altLang="zh-CN" sz="2400" dirty="0">
                <a:solidFill>
                  <a:schemeClr val="accent2"/>
                </a:solidFill>
                <a:ea typeface="宋体" panose="02010600030101010101" pitchFamily="2" charset="-122"/>
              </a:rPr>
              <a:t>triangle routing:</a:t>
            </a:r>
            <a:r>
              <a:rPr lang="en-US" altLang="zh-CN" sz="2400" dirty="0">
                <a:ea typeface="宋体" panose="02010600030101010101" pitchFamily="2" charset="-122"/>
              </a:rPr>
              <a:t> correspondent-home-network-mobile</a:t>
            </a:r>
            <a:endParaRPr lang="en-US" altLang="zh-CN" sz="2400" dirty="0">
              <a:ea typeface="宋体" panose="02010600030101010101" pitchFamily="2" charset="-122"/>
            </a:endParaRPr>
          </a:p>
          <a:p>
            <a:pPr lvl="1"/>
            <a:r>
              <a:rPr lang="en-US" altLang="zh-CN" dirty="0">
                <a:ea typeface="宋体" panose="02010600030101010101" pitchFamily="2" charset="-122"/>
              </a:rPr>
              <a:t>inefficient when </a:t>
            </a:r>
            <a:endParaRPr lang="en-US" altLang="zh-CN" dirty="0">
              <a:ea typeface="宋体" panose="02010600030101010101" pitchFamily="2" charset="-122"/>
            </a:endParaRPr>
          </a:p>
          <a:p>
            <a:pPr lvl="1">
              <a:buNone/>
            </a:pPr>
            <a:r>
              <a:rPr lang="en-US" altLang="zh-CN" dirty="0">
                <a:ea typeface="宋体" panose="02010600030101010101" pitchFamily="2" charset="-122"/>
              </a:rPr>
              <a:t>correspondent, mobile </a:t>
            </a:r>
            <a:endParaRPr lang="en-US" altLang="zh-CN" dirty="0">
              <a:ea typeface="宋体" panose="02010600030101010101" pitchFamily="2" charset="-122"/>
            </a:endParaRPr>
          </a:p>
          <a:p>
            <a:pPr lvl="1">
              <a:buNone/>
            </a:pPr>
            <a:r>
              <a:rPr lang="en-US" altLang="zh-CN" dirty="0">
                <a:ea typeface="宋体" panose="02010600030101010101" pitchFamily="2" charset="-122"/>
              </a:rPr>
              <a:t>are in same network</a:t>
            </a:r>
            <a:endParaRPr lang="en-US" altLang="zh-CN" sz="2000" dirty="0">
              <a:ea typeface="宋体" panose="02010600030101010101" pitchFamily="2" charset="-122"/>
            </a:endParaRPr>
          </a:p>
        </p:txBody>
      </p:sp>
      <p:grpSp>
        <p:nvGrpSpPr>
          <p:cNvPr id="111621" name="Group 4"/>
          <p:cNvGrpSpPr/>
          <p:nvPr/>
        </p:nvGrpSpPr>
        <p:grpSpPr>
          <a:xfrm>
            <a:off x="4687888" y="4364038"/>
            <a:ext cx="3154362" cy="1449387"/>
            <a:chOff x="958" y="1566"/>
            <a:chExt cx="4242" cy="2155"/>
          </a:xfrm>
        </p:grpSpPr>
        <p:sp>
          <p:nvSpPr>
            <p:cNvPr id="111622" name="Freeform 5"/>
            <p:cNvSpPr/>
            <p:nvPr/>
          </p:nvSpPr>
          <p:spPr>
            <a:xfrm>
              <a:off x="1016" y="1648"/>
              <a:ext cx="1176" cy="1001"/>
            </a:xfrm>
            <a:custGeom>
              <a:avLst/>
              <a:gdLst/>
              <a:ahLst/>
              <a:cxnLst>
                <a:cxn ang="0">
                  <a:pos x="424" y="29"/>
                </a:cxn>
                <a:cxn ang="0">
                  <a:pos x="63" y="42"/>
                </a:cxn>
                <a:cxn ang="0">
                  <a:pos x="45" y="284"/>
                </a:cxn>
                <a:cxn ang="0">
                  <a:pos x="22" y="508"/>
                </a:cxn>
                <a:cxn ang="0">
                  <a:pos x="86" y="614"/>
                </a:cxn>
                <a:cxn ang="0">
                  <a:pos x="414" y="619"/>
                </a:cxn>
                <a:cxn ang="0">
                  <a:pos x="493" y="797"/>
                </a:cxn>
                <a:cxn ang="0">
                  <a:pos x="950" y="776"/>
                </a:cxn>
                <a:cxn ang="0">
                  <a:pos x="983" y="403"/>
                </a:cxn>
                <a:cxn ang="0">
                  <a:pos x="928" y="241"/>
                </a:cxn>
                <a:cxn ang="0">
                  <a:pos x="585" y="203"/>
                </a:cxn>
                <a:cxn ang="0">
                  <a:pos x="424" y="29"/>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11623" name="Group 6"/>
            <p:cNvGrpSpPr/>
            <p:nvPr/>
          </p:nvGrpSpPr>
          <p:grpSpPr>
            <a:xfrm>
              <a:off x="1681" y="2274"/>
              <a:ext cx="316" cy="147"/>
              <a:chOff x="3600" y="219"/>
              <a:chExt cx="360" cy="175"/>
            </a:xfrm>
          </p:grpSpPr>
          <p:sp>
            <p:nvSpPr>
              <p:cNvPr id="111624" name="Oval 7"/>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625" name="Line 8"/>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1626" name="Line 9"/>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1627" name="Rectangle 10"/>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1628" name="Oval 11"/>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1629" name="Group 12"/>
              <p:cNvGrpSpPr/>
              <p:nvPr/>
            </p:nvGrpSpPr>
            <p:grpSpPr>
              <a:xfrm>
                <a:off x="3686" y="244"/>
                <a:ext cx="177" cy="66"/>
                <a:chOff x="2848" y="848"/>
                <a:chExt cx="140" cy="98"/>
              </a:xfrm>
            </p:grpSpPr>
            <p:sp>
              <p:nvSpPr>
                <p:cNvPr id="111630" name="Line 13"/>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1631" name="Line 14"/>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1632" name="Line 15"/>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1633" name="Group 16"/>
              <p:cNvGrpSpPr/>
              <p:nvPr/>
            </p:nvGrpSpPr>
            <p:grpSpPr>
              <a:xfrm flipV="1">
                <a:off x="3686" y="243"/>
                <a:ext cx="177" cy="66"/>
                <a:chOff x="2848" y="848"/>
                <a:chExt cx="140" cy="98"/>
              </a:xfrm>
            </p:grpSpPr>
            <p:sp>
              <p:nvSpPr>
                <p:cNvPr id="111634" name="Line 17"/>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1635" name="Line 18"/>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1636" name="Line 19"/>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11637" name="Group 20"/>
            <p:cNvGrpSpPr/>
            <p:nvPr/>
          </p:nvGrpSpPr>
          <p:grpSpPr>
            <a:xfrm>
              <a:off x="1116" y="2056"/>
              <a:ext cx="840" cy="216"/>
              <a:chOff x="8025" y="5070"/>
              <a:chExt cx="2100" cy="540"/>
            </a:xfrm>
          </p:grpSpPr>
          <p:sp>
            <p:nvSpPr>
              <p:cNvPr id="111638" name="Line 21"/>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11639" name="Line 22"/>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11640" name="Line 23"/>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grpSp>
          <p:nvGrpSpPr>
            <p:cNvPr id="111641" name="Group 24"/>
            <p:cNvGrpSpPr/>
            <p:nvPr/>
          </p:nvGrpSpPr>
          <p:grpSpPr>
            <a:xfrm>
              <a:off x="958" y="1778"/>
              <a:ext cx="576" cy="372"/>
              <a:chOff x="10665" y="3225"/>
              <a:chExt cx="1440" cy="930"/>
            </a:xfrm>
          </p:grpSpPr>
          <p:sp>
            <p:nvSpPr>
              <p:cNvPr id="111642" name="Oval 25"/>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1643" name="Group 26"/>
              <p:cNvGrpSpPr/>
              <p:nvPr/>
            </p:nvGrpSpPr>
            <p:grpSpPr>
              <a:xfrm>
                <a:off x="11038" y="3281"/>
                <a:ext cx="618" cy="667"/>
                <a:chOff x="8023" y="4451"/>
                <a:chExt cx="618" cy="667"/>
              </a:xfrm>
            </p:grpSpPr>
            <p:sp>
              <p:nvSpPr>
                <p:cNvPr id="111644" name="Freeform 27"/>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11645" name="Freeform 28"/>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1646" name="Freeform 29"/>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1647" name="Freeform 30"/>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1648" name="Freeform 31"/>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49" name="Freeform 32"/>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0" name="Freeform 33"/>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1" name="Freeform 34"/>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2" name="Freeform 35"/>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3" name="Freeform 36"/>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4" name="Freeform 37"/>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5" name="Freeform 38"/>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6" name="Freeform 39"/>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7" name="Freeform 40"/>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8" name="Freeform 41"/>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1659" name="Freeform 42"/>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11660" name="Freeform 43"/>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11661" name="Freeform 44"/>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11662" name="Freeform 45"/>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11663" name="Freeform 46"/>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11664" name="Freeform 47"/>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11665" name="Freeform 48"/>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66" name="Freeform 49"/>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67" name="Freeform 50"/>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68" name="Freeform 51"/>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69" name="Freeform 52"/>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0" name="Freeform 53"/>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1" name="Freeform 54"/>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2" name="Freeform 55"/>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3" name="Freeform 56"/>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4" name="Freeform 57"/>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5" name="Freeform 58"/>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6" name="Freeform 59"/>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7" name="Freeform 60"/>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8" name="Freeform 61"/>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79" name="Freeform 62"/>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0" name="Freeform 63"/>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1" name="Freeform 64"/>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2" name="Freeform 65"/>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3" name="Freeform 66"/>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4" name="Freeform 67"/>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5" name="Freeform 68"/>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6" name="Freeform 69"/>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7" name="Freeform 70"/>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8" name="Freeform 71"/>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89" name="Freeform 72"/>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0" name="Freeform 73"/>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1" name="Freeform 74"/>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2" name="Freeform 75"/>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3" name="Freeform 76"/>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4" name="Freeform 77"/>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5" name="Freeform 78"/>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1696" name="Freeform 79"/>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11697" name="Freeform 80"/>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11698" name="Freeform 81"/>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11699" name="Freeform 82"/>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11700" name="Freeform 83"/>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11701" name="Freeform 84"/>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11702" name="Freeform 85"/>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11703" name="Freeform 86"/>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11704" name="Freeform 87"/>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11705" name="Freeform 88"/>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11706" name="Freeform 89"/>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11707" name="Freeform 90"/>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11708" name="Freeform 91"/>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11709" name="Freeform 92"/>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11710" name="Freeform 93"/>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11711" name="Freeform 94"/>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11712" name="Freeform 95"/>
            <p:cNvSpPr/>
            <p:nvPr/>
          </p:nvSpPr>
          <p:spPr>
            <a:xfrm>
              <a:off x="4040" y="1566"/>
              <a:ext cx="1158" cy="1078"/>
            </a:xfrm>
            <a:custGeom>
              <a:avLst/>
              <a:gdLst/>
              <a:ahLst/>
              <a:cxnLst>
                <a:cxn ang="0">
                  <a:pos x="1" y="213"/>
                </a:cxn>
                <a:cxn ang="0">
                  <a:pos x="56" y="82"/>
                </a:cxn>
                <a:cxn ang="0">
                  <a:pos x="222" y="55"/>
                </a:cxn>
                <a:cxn ang="0">
                  <a:pos x="416" y="27"/>
                </a:cxn>
                <a:cxn ang="0">
                  <a:pos x="462" y="219"/>
                </a:cxn>
                <a:cxn ang="0">
                  <a:pos x="426" y="343"/>
                </a:cxn>
                <a:cxn ang="0">
                  <a:pos x="337" y="401"/>
                </a:cxn>
                <a:cxn ang="0">
                  <a:pos x="262" y="413"/>
                </a:cxn>
                <a:cxn ang="0">
                  <a:pos x="167" y="422"/>
                </a:cxn>
                <a:cxn ang="0">
                  <a:pos x="55" y="353"/>
                </a:cxn>
                <a:cxn ang="0">
                  <a:pos x="1" y="213"/>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11713" name="Group 96"/>
            <p:cNvGrpSpPr/>
            <p:nvPr/>
          </p:nvGrpSpPr>
          <p:grpSpPr>
            <a:xfrm>
              <a:off x="4224" y="2346"/>
              <a:ext cx="316" cy="147"/>
              <a:chOff x="3600" y="219"/>
              <a:chExt cx="360" cy="175"/>
            </a:xfrm>
          </p:grpSpPr>
          <p:sp>
            <p:nvSpPr>
              <p:cNvPr id="111714" name="Oval 97"/>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715" name="Line 98"/>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1716" name="Line 99"/>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1717" name="Rectangle 100"/>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1718" name="Oval 101"/>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1719" name="Group 102"/>
              <p:cNvGrpSpPr/>
              <p:nvPr/>
            </p:nvGrpSpPr>
            <p:grpSpPr>
              <a:xfrm>
                <a:off x="3686" y="244"/>
                <a:ext cx="177" cy="66"/>
                <a:chOff x="2848" y="848"/>
                <a:chExt cx="140" cy="98"/>
              </a:xfrm>
            </p:grpSpPr>
            <p:sp>
              <p:nvSpPr>
                <p:cNvPr id="111720" name="Line 103"/>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1721" name="Line 104"/>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1722" name="Line 105"/>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1723" name="Group 106"/>
              <p:cNvGrpSpPr/>
              <p:nvPr/>
            </p:nvGrpSpPr>
            <p:grpSpPr>
              <a:xfrm flipV="1">
                <a:off x="3686" y="243"/>
                <a:ext cx="177" cy="66"/>
                <a:chOff x="2848" y="848"/>
                <a:chExt cx="140" cy="98"/>
              </a:xfrm>
            </p:grpSpPr>
            <p:sp>
              <p:nvSpPr>
                <p:cNvPr id="111724" name="Line 107"/>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1725" name="Line 108"/>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1726" name="Line 109"/>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1727" name="Line 110"/>
            <p:cNvSpPr/>
            <p:nvPr/>
          </p:nvSpPr>
          <p:spPr>
            <a:xfrm>
              <a:off x="4243" y="2238"/>
              <a:ext cx="840" cy="0"/>
            </a:xfrm>
            <a:prstGeom prst="line">
              <a:avLst/>
            </a:prstGeom>
            <a:ln w="19050" cap="flat" cmpd="sng">
              <a:solidFill>
                <a:srgbClr val="000000"/>
              </a:solidFill>
              <a:prstDash val="solid"/>
              <a:round/>
              <a:headEnd type="none" w="med" len="med"/>
              <a:tailEnd type="none" w="med" len="med"/>
            </a:ln>
          </p:spPr>
        </p:sp>
        <p:sp>
          <p:nvSpPr>
            <p:cNvPr id="111728" name="Line 111"/>
            <p:cNvSpPr/>
            <p:nvPr/>
          </p:nvSpPr>
          <p:spPr>
            <a:xfrm>
              <a:off x="4375" y="2238"/>
              <a:ext cx="0" cy="108"/>
            </a:xfrm>
            <a:prstGeom prst="line">
              <a:avLst/>
            </a:prstGeom>
            <a:ln w="19050" cap="flat" cmpd="sng">
              <a:solidFill>
                <a:srgbClr val="000000"/>
              </a:solidFill>
              <a:prstDash val="solid"/>
              <a:round/>
              <a:headEnd type="none" w="med" len="med"/>
              <a:tailEnd type="none" w="med" len="med"/>
            </a:ln>
          </p:spPr>
        </p:sp>
        <p:sp>
          <p:nvSpPr>
            <p:cNvPr id="111729" name="Line 112"/>
            <p:cNvSpPr/>
            <p:nvPr/>
          </p:nvSpPr>
          <p:spPr>
            <a:xfrm>
              <a:off x="4912" y="2133"/>
              <a:ext cx="0" cy="108"/>
            </a:xfrm>
            <a:prstGeom prst="line">
              <a:avLst/>
            </a:prstGeom>
            <a:ln w="19050" cap="flat" cmpd="sng">
              <a:solidFill>
                <a:srgbClr val="000000"/>
              </a:solidFill>
              <a:prstDash val="solid"/>
              <a:round/>
              <a:headEnd type="none" w="med" len="med"/>
              <a:tailEnd type="none" w="med" len="med"/>
            </a:ln>
          </p:spPr>
        </p:sp>
        <p:grpSp>
          <p:nvGrpSpPr>
            <p:cNvPr id="111730" name="Group 113"/>
            <p:cNvGrpSpPr/>
            <p:nvPr/>
          </p:nvGrpSpPr>
          <p:grpSpPr>
            <a:xfrm>
              <a:off x="4624" y="1836"/>
              <a:ext cx="576" cy="372"/>
              <a:chOff x="10665" y="3225"/>
              <a:chExt cx="1440" cy="930"/>
            </a:xfrm>
          </p:grpSpPr>
          <p:sp>
            <p:nvSpPr>
              <p:cNvPr id="111731" name="Oval 114"/>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1732" name="Group 115"/>
              <p:cNvGrpSpPr/>
              <p:nvPr/>
            </p:nvGrpSpPr>
            <p:grpSpPr>
              <a:xfrm>
                <a:off x="11031" y="3335"/>
                <a:ext cx="565" cy="643"/>
                <a:chOff x="2870" y="1518"/>
                <a:chExt cx="292" cy="320"/>
              </a:xfrm>
            </p:grpSpPr>
            <p:graphicFrame>
              <p:nvGraphicFramePr>
                <p:cNvPr id="111733" name="Object 11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49" name="" r:id="rId1" imgW="826770" imgH="840105" progId="">
                        <p:embed/>
                      </p:oleObj>
                    </mc:Choice>
                    <mc:Fallback>
                      <p:oleObj name="" r:id="rId1" imgW="826770" imgH="840105" progId="">
                        <p:embed/>
                        <p:pic>
                          <p:nvPicPr>
                            <p:cNvPr id="0" name="图片 3148"/>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11734" name="Object 11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0" name="" r:id="rId3" imgW="1268095" imgH="1199515" progId="">
                        <p:embed/>
                      </p:oleObj>
                    </mc:Choice>
                    <mc:Fallback>
                      <p:oleObj name="" r:id="rId3" imgW="1268095" imgH="1199515" progId="">
                        <p:embed/>
                        <p:pic>
                          <p:nvPicPr>
                            <p:cNvPr id="0" name="图片 3149"/>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11735" name="Freeform 118"/>
            <p:cNvSpPr/>
            <p:nvPr/>
          </p:nvSpPr>
          <p:spPr>
            <a:xfrm>
              <a:off x="2491" y="2162"/>
              <a:ext cx="1329" cy="788"/>
            </a:xfrm>
            <a:custGeom>
              <a:avLst/>
              <a:gdLst/>
              <a:ahLst/>
              <a:cxnLst>
                <a:cxn ang="0">
                  <a:pos x="95" y="2"/>
                </a:cxn>
                <a:cxn ang="0">
                  <a:pos x="24" y="53"/>
                </a:cxn>
                <a:cxn ang="0">
                  <a:pos x="0" y="170"/>
                </a:cxn>
                <a:cxn ang="0">
                  <a:pos x="27" y="257"/>
                </a:cxn>
                <a:cxn ang="0">
                  <a:pos x="97" y="293"/>
                </a:cxn>
                <a:cxn ang="0">
                  <a:pos x="173" y="276"/>
                </a:cxn>
                <a:cxn ang="0">
                  <a:pos x="247" y="300"/>
                </a:cxn>
                <a:cxn ang="0">
                  <a:pos x="379" y="307"/>
                </a:cxn>
                <a:cxn ang="0">
                  <a:pos x="519" y="252"/>
                </a:cxn>
                <a:cxn ang="0">
                  <a:pos x="457" y="150"/>
                </a:cxn>
                <a:cxn ang="0">
                  <a:pos x="434" y="71"/>
                </a:cxn>
                <a:cxn ang="0">
                  <a:pos x="274" y="39"/>
                </a:cxn>
                <a:cxn ang="0">
                  <a:pos x="95" y="2"/>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11736" name="Freeform 119"/>
            <p:cNvSpPr/>
            <p:nvPr/>
          </p:nvSpPr>
          <p:spPr>
            <a:xfrm>
              <a:off x="2053" y="3147"/>
              <a:ext cx="1855" cy="574"/>
            </a:xfrm>
            <a:custGeom>
              <a:avLst/>
              <a:gdLst/>
              <a:ahLst/>
              <a:cxnLst>
                <a:cxn ang="0">
                  <a:pos x="54" y="2"/>
                </a:cxn>
                <a:cxn ang="0">
                  <a:pos x="30" y="103"/>
                </a:cxn>
                <a:cxn ang="0">
                  <a:pos x="129" y="202"/>
                </a:cxn>
                <a:cxn ang="0">
                  <a:pos x="314" y="228"/>
                </a:cxn>
                <a:cxn ang="0">
                  <a:pos x="563" y="211"/>
                </a:cxn>
                <a:cxn ang="0">
                  <a:pos x="628" y="156"/>
                </a:cxn>
                <a:cxn ang="0">
                  <a:pos x="727" y="123"/>
                </a:cxn>
                <a:cxn ang="0">
                  <a:pos x="680" y="44"/>
                </a:cxn>
                <a:cxn ang="0">
                  <a:pos x="356" y="12"/>
                </a:cxn>
                <a:cxn ang="0">
                  <a:pos x="54" y="2"/>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11737" name="Object 120"/>
            <p:cNvGraphicFramePr>
              <a:graphicFrameLocks noChangeAspect="1"/>
            </p:cNvGraphicFramePr>
            <p:nvPr/>
          </p:nvGraphicFramePr>
          <p:xfrm>
            <a:off x="2767" y="3262"/>
            <a:ext cx="262" cy="200"/>
          </p:xfrm>
          <a:graphic>
            <a:graphicData uri="http://schemas.openxmlformats.org/presentationml/2006/ole">
              <mc:AlternateContent xmlns:mc="http://schemas.openxmlformats.org/markup-compatibility/2006">
                <mc:Choice xmlns:v="urn:schemas-microsoft-com:vml" Requires="v">
                  <p:oleObj spid="_x0000_s3151" name="" r:id="rId5" imgW="1307465" imgH="1083945" progId="">
                    <p:embed/>
                  </p:oleObj>
                </mc:Choice>
                <mc:Fallback>
                  <p:oleObj name="" r:id="rId5" imgW="1307465" imgH="1083945" progId="">
                    <p:embed/>
                    <p:pic>
                      <p:nvPicPr>
                        <p:cNvPr id="0" name="图片 3150"/>
                        <p:cNvPicPr/>
                        <p:nvPr/>
                      </p:nvPicPr>
                      <p:blipFill>
                        <a:blip r:embed="rId6"/>
                        <a:stretch>
                          <a:fillRect/>
                        </a:stretch>
                      </p:blipFill>
                      <p:spPr>
                        <a:xfrm>
                          <a:off x="2767" y="3262"/>
                          <a:ext cx="262" cy="200"/>
                        </a:xfrm>
                        <a:prstGeom prst="rect">
                          <a:avLst/>
                        </a:prstGeom>
                        <a:noFill/>
                        <a:ln w="38100">
                          <a:noFill/>
                          <a:miter/>
                        </a:ln>
                      </p:spPr>
                    </p:pic>
                  </p:oleObj>
                </mc:Fallback>
              </mc:AlternateContent>
            </a:graphicData>
          </a:graphic>
        </p:graphicFrame>
        <p:grpSp>
          <p:nvGrpSpPr>
            <p:cNvPr id="111738" name="Group 121"/>
            <p:cNvGrpSpPr/>
            <p:nvPr/>
          </p:nvGrpSpPr>
          <p:grpSpPr>
            <a:xfrm>
              <a:off x="4475" y="2095"/>
              <a:ext cx="320" cy="545"/>
              <a:chOff x="4475" y="2095"/>
              <a:chExt cx="320" cy="545"/>
            </a:xfrm>
          </p:grpSpPr>
          <p:sp>
            <p:nvSpPr>
              <p:cNvPr id="111739" name="Line 122"/>
              <p:cNvSpPr/>
              <p:nvPr/>
            </p:nvSpPr>
            <p:spPr>
              <a:xfrm flipV="1">
                <a:off x="4485" y="2106"/>
                <a:ext cx="310" cy="210"/>
              </a:xfrm>
              <a:prstGeom prst="line">
                <a:avLst/>
              </a:prstGeom>
              <a:ln w="28575" cap="flat" cmpd="sng">
                <a:solidFill>
                  <a:srgbClr val="FF0000"/>
                </a:solidFill>
                <a:prstDash val="solid"/>
                <a:round/>
                <a:headEnd type="none" w="med" len="med"/>
                <a:tailEnd type="triangle" w="med" len="med"/>
              </a:ln>
            </p:spPr>
          </p:sp>
          <p:grpSp>
            <p:nvGrpSpPr>
              <p:cNvPr id="111740" name="Group 123"/>
              <p:cNvGrpSpPr/>
              <p:nvPr/>
            </p:nvGrpSpPr>
            <p:grpSpPr>
              <a:xfrm>
                <a:off x="4475" y="2095"/>
                <a:ext cx="257" cy="545"/>
                <a:chOff x="563" y="3500"/>
                <a:chExt cx="257" cy="545"/>
              </a:xfrm>
            </p:grpSpPr>
            <p:sp>
              <p:nvSpPr>
                <p:cNvPr id="111741" name="Oval 124"/>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742" name="Text Box 125"/>
                <p:cNvSpPr txBox="1"/>
                <p:nvPr/>
              </p:nvSpPr>
              <p:spPr>
                <a:xfrm>
                  <a:off x="563" y="3500"/>
                  <a:ext cx="246" cy="545"/>
                </a:xfrm>
                <a:prstGeom prst="rect">
                  <a:avLst/>
                </a:prstGeom>
                <a:noFill/>
                <a:ln w="9525">
                  <a:noFill/>
                </a:ln>
              </p:spPr>
              <p:txBody>
                <a:bodyPr wrap="none" anchor="t" anchorCtr="0">
                  <a:spAutoFit/>
                </a:bodyPr>
                <a:p>
                  <a:pPr eaLnBrk="0" hangingPunct="0">
                    <a:buClrTx/>
                    <a:buFontTx/>
                  </a:pPr>
                  <a:endParaRPr lang="zh-CN" altLang="zh-CN" dirty="0">
                    <a:solidFill>
                      <a:srgbClr val="FF0000"/>
                    </a:solidFill>
                    <a:latin typeface="Comic Sans MS" panose="030F0702030302020204" pitchFamily="66" charset="0"/>
                    <a:ea typeface="宋体" panose="02010600030101010101" pitchFamily="2" charset="-122"/>
                  </a:endParaRPr>
                </a:p>
              </p:txBody>
            </p:sp>
          </p:grpSp>
        </p:grpSp>
        <p:grpSp>
          <p:nvGrpSpPr>
            <p:cNvPr id="111743" name="Group 126"/>
            <p:cNvGrpSpPr/>
            <p:nvPr/>
          </p:nvGrpSpPr>
          <p:grpSpPr>
            <a:xfrm>
              <a:off x="2004" y="2418"/>
              <a:ext cx="2196" cy="716"/>
              <a:chOff x="2004" y="2418"/>
              <a:chExt cx="2196" cy="716"/>
            </a:xfrm>
          </p:grpSpPr>
          <p:sp>
            <p:nvSpPr>
              <p:cNvPr id="111744" name="Freeform 127"/>
              <p:cNvSpPr/>
              <p:nvPr/>
            </p:nvSpPr>
            <p:spPr>
              <a:xfrm>
                <a:off x="2004" y="2418"/>
                <a:ext cx="2196" cy="318"/>
              </a:xfrm>
              <a:custGeom>
                <a:avLst/>
                <a:gdLst/>
                <a:ahLst/>
                <a:cxnLst>
                  <a:cxn ang="0">
                    <a:pos x="0" y="0"/>
                  </a:cxn>
                  <a:cxn ang="0">
                    <a:pos x="1194" y="306"/>
                  </a:cxn>
                  <a:cxn ang="0">
                    <a:pos x="2196" y="30"/>
                  </a:cxn>
                </a:cxnLst>
                <a:pathLst>
                  <a:path w="2196" h="318">
                    <a:moveTo>
                      <a:pt x="0" y="0"/>
                    </a:moveTo>
                    <a:cubicBezTo>
                      <a:pt x="199" y="51"/>
                      <a:pt x="828" y="301"/>
                      <a:pt x="1194" y="306"/>
                    </a:cubicBezTo>
                    <a:cubicBezTo>
                      <a:pt x="1536" y="318"/>
                      <a:pt x="1987" y="88"/>
                      <a:pt x="2196" y="3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1745" name="Group 128"/>
              <p:cNvGrpSpPr/>
              <p:nvPr/>
            </p:nvGrpSpPr>
            <p:grpSpPr>
              <a:xfrm>
                <a:off x="3027" y="2589"/>
                <a:ext cx="258" cy="545"/>
                <a:chOff x="562" y="3500"/>
                <a:chExt cx="258" cy="545"/>
              </a:xfrm>
            </p:grpSpPr>
            <p:sp>
              <p:nvSpPr>
                <p:cNvPr id="111746" name="Oval 129"/>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747" name="Text Box 130"/>
                <p:cNvSpPr txBox="1"/>
                <p:nvPr/>
              </p:nvSpPr>
              <p:spPr>
                <a:xfrm>
                  <a:off x="562" y="3500"/>
                  <a:ext cx="249" cy="545"/>
                </a:xfrm>
                <a:prstGeom prst="rect">
                  <a:avLst/>
                </a:prstGeom>
                <a:noFill/>
                <a:ln w="9525">
                  <a:noFill/>
                </a:ln>
              </p:spPr>
              <p:txBody>
                <a:bodyPr wrap="none" anchor="t" anchorCtr="0">
                  <a:spAutoFit/>
                </a:bodyPr>
                <a:p>
                  <a:pPr eaLnBrk="0" hangingPunct="0">
                    <a:buClrTx/>
                    <a:buFontTx/>
                  </a:pPr>
                  <a:endParaRPr lang="zh-CN" altLang="zh-CN" dirty="0">
                    <a:solidFill>
                      <a:srgbClr val="FF0000"/>
                    </a:solidFill>
                    <a:latin typeface="Comic Sans MS" panose="030F0702030302020204" pitchFamily="66" charset="0"/>
                    <a:ea typeface="宋体" panose="02010600030101010101" pitchFamily="2" charset="-122"/>
                  </a:endParaRPr>
                </a:p>
              </p:txBody>
            </p:sp>
          </p:grpSp>
        </p:grpSp>
        <p:grpSp>
          <p:nvGrpSpPr>
            <p:cNvPr id="111748" name="Group 131"/>
            <p:cNvGrpSpPr/>
            <p:nvPr/>
          </p:nvGrpSpPr>
          <p:grpSpPr>
            <a:xfrm>
              <a:off x="3040" y="2157"/>
              <a:ext cx="1955" cy="1270"/>
              <a:chOff x="3040" y="2157"/>
              <a:chExt cx="1955" cy="1270"/>
            </a:xfrm>
          </p:grpSpPr>
          <p:sp>
            <p:nvSpPr>
              <p:cNvPr id="111749" name="Freeform 132"/>
              <p:cNvSpPr/>
              <p:nvPr/>
            </p:nvSpPr>
            <p:spPr>
              <a:xfrm>
                <a:off x="3040" y="2157"/>
                <a:ext cx="1955" cy="1270"/>
              </a:xfrm>
              <a:custGeom>
                <a:avLst/>
                <a:gdLst/>
                <a:ahLst/>
                <a:cxnLst>
                  <a:cxn ang="0">
                    <a:pos x="1955" y="0"/>
                  </a:cxn>
                  <a:cxn ang="0">
                    <a:pos x="1077" y="765"/>
                  </a:cxn>
                  <a:cxn ang="0">
                    <a:pos x="0" y="1270"/>
                  </a:cxn>
                </a:cxnLst>
                <a:pathLst>
                  <a:path w="1955" h="1270">
                    <a:moveTo>
                      <a:pt x="1955" y="0"/>
                    </a:moveTo>
                    <a:cubicBezTo>
                      <a:pt x="1809" y="127"/>
                      <a:pt x="1425" y="536"/>
                      <a:pt x="1077" y="765"/>
                    </a:cubicBezTo>
                    <a:cubicBezTo>
                      <a:pt x="729" y="994"/>
                      <a:pt x="224" y="1165"/>
                      <a:pt x="0" y="127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1750" name="Group 133"/>
              <p:cNvGrpSpPr/>
              <p:nvPr/>
            </p:nvGrpSpPr>
            <p:grpSpPr>
              <a:xfrm>
                <a:off x="3927" y="2835"/>
                <a:ext cx="257" cy="545"/>
                <a:chOff x="563" y="3500"/>
                <a:chExt cx="257" cy="545"/>
              </a:xfrm>
            </p:grpSpPr>
            <p:sp>
              <p:nvSpPr>
                <p:cNvPr id="111751" name="Oval 134"/>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752" name="Text Box 135"/>
                <p:cNvSpPr txBox="1"/>
                <p:nvPr/>
              </p:nvSpPr>
              <p:spPr>
                <a:xfrm>
                  <a:off x="563" y="3500"/>
                  <a:ext cx="246" cy="545"/>
                </a:xfrm>
                <a:prstGeom prst="rect">
                  <a:avLst/>
                </a:prstGeom>
                <a:noFill/>
                <a:ln w="9525">
                  <a:noFill/>
                </a:ln>
              </p:spPr>
              <p:txBody>
                <a:bodyPr wrap="none" anchor="t" anchorCtr="0">
                  <a:spAutoFit/>
                </a:bodyPr>
                <a:p>
                  <a:pPr eaLnBrk="0" hangingPunct="0">
                    <a:buClrTx/>
                    <a:buFontTx/>
                  </a:pPr>
                  <a:endParaRPr lang="zh-CN" altLang="zh-CN" dirty="0">
                    <a:solidFill>
                      <a:srgbClr val="FF0000"/>
                    </a:solidFill>
                    <a:latin typeface="Comic Sans MS" panose="030F0702030302020204" pitchFamily="66" charset="0"/>
                    <a:ea typeface="宋体" panose="02010600030101010101" pitchFamily="2" charset="-122"/>
                  </a:endParaRPr>
                </a:p>
              </p:txBody>
            </p:sp>
          </p:grpSp>
        </p:grpSp>
        <p:grpSp>
          <p:nvGrpSpPr>
            <p:cNvPr id="111753" name="Group 136"/>
            <p:cNvGrpSpPr/>
            <p:nvPr/>
          </p:nvGrpSpPr>
          <p:grpSpPr>
            <a:xfrm>
              <a:off x="1881" y="2450"/>
              <a:ext cx="855" cy="818"/>
              <a:chOff x="1881" y="2450"/>
              <a:chExt cx="855" cy="818"/>
            </a:xfrm>
          </p:grpSpPr>
          <p:sp>
            <p:nvSpPr>
              <p:cNvPr id="111754" name="Line 137"/>
              <p:cNvSpPr/>
              <p:nvPr/>
            </p:nvSpPr>
            <p:spPr>
              <a:xfrm flipH="1" flipV="1">
                <a:off x="1881" y="2450"/>
                <a:ext cx="855" cy="818"/>
              </a:xfrm>
              <a:prstGeom prst="line">
                <a:avLst/>
              </a:prstGeom>
              <a:ln w="28575" cap="flat" cmpd="sng">
                <a:solidFill>
                  <a:srgbClr val="FF0000"/>
                </a:solidFill>
                <a:prstDash val="solid"/>
                <a:round/>
                <a:headEnd type="none" w="med" len="med"/>
                <a:tailEnd type="triangle" w="med" len="med"/>
              </a:ln>
            </p:spPr>
          </p:sp>
          <p:grpSp>
            <p:nvGrpSpPr>
              <p:cNvPr id="111755" name="Group 138"/>
              <p:cNvGrpSpPr/>
              <p:nvPr/>
            </p:nvGrpSpPr>
            <p:grpSpPr>
              <a:xfrm>
                <a:off x="2117" y="2702"/>
                <a:ext cx="257" cy="550"/>
                <a:chOff x="563" y="3500"/>
                <a:chExt cx="257" cy="550"/>
              </a:xfrm>
            </p:grpSpPr>
            <p:sp>
              <p:nvSpPr>
                <p:cNvPr id="111756" name="Oval 139"/>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1757" name="Text Box 140"/>
                <p:cNvSpPr txBox="1"/>
                <p:nvPr/>
              </p:nvSpPr>
              <p:spPr>
                <a:xfrm>
                  <a:off x="563" y="3500"/>
                  <a:ext cx="246" cy="550"/>
                </a:xfrm>
                <a:prstGeom prst="rect">
                  <a:avLst/>
                </a:prstGeom>
                <a:noFill/>
                <a:ln w="9525">
                  <a:noFill/>
                </a:ln>
              </p:spPr>
              <p:txBody>
                <a:bodyPr wrap="none" anchor="t" anchorCtr="0">
                  <a:spAutoFit/>
                </a:bodyPr>
                <a:p>
                  <a:pPr eaLnBrk="0" hangingPunct="0">
                    <a:buClrTx/>
                    <a:buFontTx/>
                  </a:pPr>
                  <a:endParaRPr lang="zh-CN" altLang="zh-CN" dirty="0">
                    <a:solidFill>
                      <a:srgbClr val="FF0000"/>
                    </a:solidFill>
                    <a:latin typeface="Comic Sans MS" panose="030F0702030302020204" pitchFamily="66" charset="0"/>
                    <a:ea typeface="宋体" panose="02010600030101010101" pitchFamily="2" charset="-122"/>
                  </a:endParaRPr>
                </a:p>
              </p:txBody>
            </p:sp>
          </p:gr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1366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3667" name="Rectangle 2"/>
          <p:cNvSpPr>
            <a:spLocks noGrp="1"/>
          </p:cNvSpPr>
          <p:nvPr>
            <p:ph type="title"/>
          </p:nvPr>
        </p:nvSpPr>
        <p:spPr>
          <a:xfrm>
            <a:off x="360363" y="228600"/>
            <a:ext cx="8561387" cy="1143000"/>
          </a:xfrm>
          <a:ln/>
        </p:spPr>
        <p:txBody>
          <a:bodyPr vert="horz" wrap="square" lIns="91440" tIns="45720" rIns="91440" bIns="45720" anchor="ctr" anchorCtr="0"/>
          <a:p>
            <a:r>
              <a:rPr lang="en-US" altLang="zh-CN" sz="3200" dirty="0">
                <a:ea typeface="宋体" panose="02010600030101010101" pitchFamily="2" charset="-122"/>
              </a:rPr>
              <a:t>Indirect Routing: moving between networks</a:t>
            </a:r>
            <a:endParaRPr lang="en-US" altLang="zh-CN" sz="3200" dirty="0">
              <a:ea typeface="宋体" panose="02010600030101010101" pitchFamily="2" charset="-122"/>
            </a:endParaRPr>
          </a:p>
        </p:txBody>
      </p:sp>
      <p:sp>
        <p:nvSpPr>
          <p:cNvPr id="113668" name="Rectangle 3"/>
          <p:cNvSpPr>
            <a:spLocks noGrp="1"/>
          </p:cNvSpPr>
          <p:nvPr>
            <p:ph idx="1"/>
          </p:nvPr>
        </p:nvSpPr>
        <p:spPr>
          <a:xfrm>
            <a:off x="581025" y="1347788"/>
            <a:ext cx="8089900" cy="4648200"/>
          </a:xfrm>
          <a:ln/>
        </p:spPr>
        <p:txBody>
          <a:bodyPr vert="horz" wrap="square" lIns="91440" tIns="45720" rIns="91440" bIns="45720" anchor="t" anchorCtr="0"/>
          <a:p>
            <a:r>
              <a:rPr lang="en-US" altLang="zh-CN" dirty="0">
                <a:ea typeface="宋体" panose="02010600030101010101" pitchFamily="2" charset="-122"/>
              </a:rPr>
              <a:t>suppose mobile user moves to another network</a:t>
            </a:r>
            <a:endParaRPr lang="en-US" altLang="zh-CN" dirty="0">
              <a:ea typeface="宋体" panose="02010600030101010101" pitchFamily="2" charset="-122"/>
            </a:endParaRPr>
          </a:p>
          <a:p>
            <a:pPr lvl="1"/>
            <a:r>
              <a:rPr lang="en-US" altLang="zh-CN" dirty="0">
                <a:ea typeface="宋体" panose="02010600030101010101" pitchFamily="2" charset="-122"/>
              </a:rPr>
              <a:t>registers with new foreign agent</a:t>
            </a:r>
            <a:endParaRPr lang="en-US" altLang="zh-CN" dirty="0">
              <a:ea typeface="宋体" panose="02010600030101010101" pitchFamily="2" charset="-122"/>
            </a:endParaRPr>
          </a:p>
          <a:p>
            <a:pPr lvl="1"/>
            <a:r>
              <a:rPr lang="en-US" altLang="zh-CN" dirty="0">
                <a:ea typeface="宋体" panose="02010600030101010101" pitchFamily="2" charset="-122"/>
              </a:rPr>
              <a:t>new foreign agent registers with home agent</a:t>
            </a:r>
            <a:endParaRPr lang="en-US" altLang="zh-CN" dirty="0">
              <a:ea typeface="宋体" panose="02010600030101010101" pitchFamily="2" charset="-122"/>
            </a:endParaRPr>
          </a:p>
          <a:p>
            <a:pPr lvl="1"/>
            <a:r>
              <a:rPr lang="en-US" altLang="zh-CN" dirty="0">
                <a:ea typeface="宋体" panose="02010600030101010101" pitchFamily="2" charset="-122"/>
              </a:rPr>
              <a:t>home agent update care-of-address for mobile</a:t>
            </a:r>
            <a:endParaRPr lang="en-US" altLang="zh-CN" dirty="0">
              <a:ea typeface="宋体" panose="02010600030101010101" pitchFamily="2" charset="-122"/>
            </a:endParaRPr>
          </a:p>
          <a:p>
            <a:pPr lvl="1"/>
            <a:r>
              <a:rPr lang="en-US" altLang="zh-CN" dirty="0">
                <a:ea typeface="宋体" panose="02010600030101010101" pitchFamily="2" charset="-122"/>
              </a:rPr>
              <a:t>packets continue to be forwarded to mobile (but with new care-of-address)</a:t>
            </a:r>
            <a:endParaRPr lang="en-US" altLang="zh-CN" dirty="0">
              <a:ea typeface="宋体" panose="02010600030101010101" pitchFamily="2" charset="-122"/>
            </a:endParaRPr>
          </a:p>
          <a:p>
            <a:r>
              <a:rPr lang="en-US" altLang="zh-CN" dirty="0">
                <a:ea typeface="宋体" panose="02010600030101010101" pitchFamily="2" charset="-122"/>
              </a:rPr>
              <a:t>mobility, changing foreign networks transparent: </a:t>
            </a:r>
            <a:r>
              <a:rPr lang="en-US" altLang="zh-CN" i="1" dirty="0">
                <a:solidFill>
                  <a:srgbClr val="FF0000"/>
                </a:solidFill>
                <a:ea typeface="宋体" panose="02010600030101010101" pitchFamily="2" charset="-122"/>
              </a:rPr>
              <a:t>on going connections can be maintained!</a:t>
            </a:r>
            <a:endParaRPr lang="en-US" altLang="zh-CN" i="1" dirty="0">
              <a:solidFill>
                <a:srgbClr val="FF0000"/>
              </a:solidFill>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157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5715" name="Freeform 2"/>
          <p:cNvSpPr/>
          <p:nvPr/>
        </p:nvSpPr>
        <p:spPr>
          <a:xfrm>
            <a:off x="1612900" y="2616200"/>
            <a:ext cx="1866900" cy="1589088"/>
          </a:xfrm>
          <a:custGeom>
            <a:avLst/>
            <a:gdLst/>
            <a:ahLst/>
            <a:cxnLst>
              <a:cxn ang="0">
                <a:pos x="1067567260" y="74768525"/>
              </a:cxn>
              <a:cxn ang="0">
                <a:pos x="159164371" y="106813132"/>
              </a:cxn>
              <a:cxn ang="0">
                <a:pos x="112579643" y="715645981"/>
              </a:cxn>
              <a:cxn ang="0">
                <a:pos x="54349081" y="1281754912"/>
              </a:cxn>
              <a:cxn ang="0">
                <a:pos x="217394932" y="1548787074"/>
              </a:cxn>
              <a:cxn ang="0">
                <a:pos x="1044274200" y="1559467720"/>
              </a:cxn>
              <a:cxn ang="0">
                <a:pos x="1242260338" y="2008081539"/>
              </a:cxn>
              <a:cxn ang="0">
                <a:pos x="2147483646" y="1954675640"/>
              </a:cxn>
              <a:cxn ang="0">
                <a:pos x="2147483646" y="1014722750"/>
              </a:cxn>
              <a:cxn ang="0">
                <a:pos x="2147483646" y="608832849"/>
              </a:cxn>
              <a:cxn ang="0">
                <a:pos x="1475183977" y="512701698"/>
              </a:cxn>
              <a:cxn ang="0">
                <a:pos x="1067567260" y="74768525"/>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15716" name="Group 3"/>
          <p:cNvGrpSpPr/>
          <p:nvPr/>
        </p:nvGrpSpPr>
        <p:grpSpPr>
          <a:xfrm>
            <a:off x="2668588" y="3609975"/>
            <a:ext cx="501650" cy="233363"/>
            <a:chOff x="3600" y="219"/>
            <a:chExt cx="360" cy="175"/>
          </a:xfrm>
        </p:grpSpPr>
        <p:sp>
          <p:nvSpPr>
            <p:cNvPr id="115717" name="Oval 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718" name="Line 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5719" name="Line 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5720" name="Rectangle 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5721" name="Oval 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5722" name="Group 9"/>
            <p:cNvGrpSpPr/>
            <p:nvPr/>
          </p:nvGrpSpPr>
          <p:grpSpPr>
            <a:xfrm>
              <a:off x="3686" y="244"/>
              <a:ext cx="177" cy="66"/>
              <a:chOff x="2848" y="848"/>
              <a:chExt cx="140" cy="98"/>
            </a:xfrm>
          </p:grpSpPr>
          <p:sp>
            <p:nvSpPr>
              <p:cNvPr id="115723" name="Line 1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5724" name="Line 1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5725" name="Line 1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5726" name="Group 13"/>
            <p:cNvGrpSpPr/>
            <p:nvPr/>
          </p:nvGrpSpPr>
          <p:grpSpPr>
            <a:xfrm flipV="1">
              <a:off x="3686" y="243"/>
              <a:ext cx="177" cy="66"/>
              <a:chOff x="2848" y="848"/>
              <a:chExt cx="140" cy="98"/>
            </a:xfrm>
          </p:grpSpPr>
          <p:sp>
            <p:nvSpPr>
              <p:cNvPr id="115727" name="Line 1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5728" name="Line 1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5729" name="Line 1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15730" name="Group 17"/>
          <p:cNvGrpSpPr/>
          <p:nvPr/>
        </p:nvGrpSpPr>
        <p:grpSpPr>
          <a:xfrm>
            <a:off x="1771650" y="3263900"/>
            <a:ext cx="1333500" cy="342900"/>
            <a:chOff x="8025" y="5070"/>
            <a:chExt cx="2100" cy="540"/>
          </a:xfrm>
        </p:grpSpPr>
        <p:sp>
          <p:nvSpPr>
            <p:cNvPr id="115731" name="Line 18"/>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15732" name="Line 19"/>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15733" name="Line 20"/>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sp>
        <p:nvSpPr>
          <p:cNvPr id="115734" name="Rectangle 21"/>
          <p:cNvSpPr>
            <a:spLocks noGrp="1"/>
          </p:cNvSpPr>
          <p:nvPr>
            <p:ph type="title"/>
          </p:nvPr>
        </p:nvSpPr>
        <p:spPr>
          <a:ln/>
        </p:spPr>
        <p:txBody>
          <a:bodyPr vert="horz" wrap="square" lIns="91440" tIns="45720" rIns="91440" bIns="45720" anchor="ctr" anchorCtr="0"/>
          <a:p>
            <a:r>
              <a:rPr lang="en-US" altLang="zh-CN" sz="3600" dirty="0">
                <a:ea typeface="宋体" panose="02010600030101010101" pitchFamily="2" charset="-122"/>
              </a:rPr>
              <a:t>Mobility via Direct Routing</a:t>
            </a:r>
            <a:endParaRPr lang="en-US" altLang="zh-CN" sz="3600" dirty="0">
              <a:ea typeface="宋体" panose="02010600030101010101" pitchFamily="2" charset="-122"/>
            </a:endParaRPr>
          </a:p>
        </p:txBody>
      </p:sp>
      <p:grpSp>
        <p:nvGrpSpPr>
          <p:cNvPr id="115735" name="Group 22"/>
          <p:cNvGrpSpPr/>
          <p:nvPr/>
        </p:nvGrpSpPr>
        <p:grpSpPr>
          <a:xfrm>
            <a:off x="1520825" y="2822575"/>
            <a:ext cx="914400" cy="590550"/>
            <a:chOff x="10665" y="3225"/>
            <a:chExt cx="1440" cy="930"/>
          </a:xfrm>
        </p:grpSpPr>
        <p:sp>
          <p:nvSpPr>
            <p:cNvPr id="115736" name="Oval 23"/>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5737" name="Group 24"/>
            <p:cNvGrpSpPr/>
            <p:nvPr/>
          </p:nvGrpSpPr>
          <p:grpSpPr>
            <a:xfrm>
              <a:off x="11038" y="3281"/>
              <a:ext cx="618" cy="667"/>
              <a:chOff x="8023" y="4451"/>
              <a:chExt cx="618" cy="667"/>
            </a:xfrm>
          </p:grpSpPr>
          <p:sp>
            <p:nvSpPr>
              <p:cNvPr id="115738" name="Freeform 25"/>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15739" name="Freeform 26"/>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5740" name="Freeform 27"/>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5741" name="Freeform 28"/>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5742" name="Freeform 29"/>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3" name="Freeform 30"/>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4" name="Freeform 31"/>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5" name="Freeform 32"/>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6" name="Freeform 33"/>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7" name="Freeform 34"/>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8" name="Freeform 35"/>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49" name="Freeform 36"/>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50" name="Freeform 37"/>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51" name="Freeform 38"/>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52" name="Freeform 39"/>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5753" name="Freeform 40"/>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15754" name="Freeform 41"/>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15755" name="Freeform 42"/>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15756" name="Freeform 43"/>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15757" name="Freeform 44"/>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15758" name="Freeform 45"/>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15759" name="Freeform 46"/>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0" name="Freeform 47"/>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1" name="Freeform 48"/>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2" name="Freeform 49"/>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3" name="Freeform 50"/>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4" name="Freeform 51"/>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5" name="Freeform 52"/>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6" name="Freeform 53"/>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7" name="Freeform 54"/>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8" name="Freeform 55"/>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69" name="Freeform 56"/>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0" name="Freeform 57"/>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1" name="Freeform 58"/>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2" name="Freeform 59"/>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3" name="Freeform 60"/>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4" name="Freeform 61"/>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5" name="Freeform 62"/>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6" name="Freeform 63"/>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7" name="Freeform 64"/>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8" name="Freeform 65"/>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79" name="Freeform 66"/>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0" name="Freeform 67"/>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1" name="Freeform 68"/>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2" name="Freeform 69"/>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3" name="Freeform 70"/>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4" name="Freeform 71"/>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5" name="Freeform 72"/>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6" name="Freeform 73"/>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7" name="Freeform 74"/>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8" name="Freeform 75"/>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89" name="Freeform 76"/>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5790" name="Freeform 77"/>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15791" name="Freeform 78"/>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15792" name="Freeform 79"/>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15793" name="Freeform 80"/>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15794" name="Freeform 81"/>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15795" name="Freeform 82"/>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15796" name="Freeform 83"/>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15797" name="Freeform 84"/>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15798" name="Freeform 85"/>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15799" name="Freeform 86"/>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15800" name="Freeform 87"/>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15801" name="Freeform 88"/>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15802" name="Freeform 89"/>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15803" name="Freeform 90"/>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15804" name="Freeform 91"/>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15805" name="Freeform 92"/>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15806" name="Freeform 93"/>
          <p:cNvSpPr/>
          <p:nvPr/>
        </p:nvSpPr>
        <p:spPr>
          <a:xfrm>
            <a:off x="6413500" y="2486025"/>
            <a:ext cx="1838325" cy="1711325"/>
          </a:xfrm>
          <a:custGeom>
            <a:avLst/>
            <a:gdLst/>
            <a:ahLst/>
            <a:cxnLst>
              <a:cxn ang="0">
                <a:pos x="1614093" y="537490135"/>
              </a:cxn>
              <a:cxn ang="0">
                <a:pos x="140823064" y="205546464"/>
              </a:cxn>
              <a:cxn ang="0">
                <a:pos x="558449341" y="138915361"/>
              </a:cxn>
              <a:cxn ang="0">
                <a:pos x="1047495879" y="68649996"/>
              </a:cxn>
              <a:cxn ang="0">
                <a:pos x="1163704826" y="550815974"/>
              </a:cxn>
              <a:cxn ang="0">
                <a:pos x="1072916090" y="865798907"/>
              </a:cxn>
              <a:cxn ang="0">
                <a:pos x="848972025" y="1011175744"/>
              </a:cxn>
              <a:cxn ang="0">
                <a:pos x="661342818" y="1041462320"/>
              </a:cxn>
              <a:cxn ang="0">
                <a:pos x="421257827" y="1062057319"/>
              </a:cxn>
              <a:cxn ang="0">
                <a:pos x="139612335" y="888816959"/>
              </a:cxn>
              <a:cxn ang="0">
                <a:pos x="1614093" y="53749013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15807" name="Group 94"/>
          <p:cNvGrpSpPr/>
          <p:nvPr/>
        </p:nvGrpSpPr>
        <p:grpSpPr>
          <a:xfrm>
            <a:off x="6689725" y="3692525"/>
            <a:ext cx="501650" cy="233363"/>
            <a:chOff x="3600" y="219"/>
            <a:chExt cx="360" cy="175"/>
          </a:xfrm>
        </p:grpSpPr>
        <p:sp>
          <p:nvSpPr>
            <p:cNvPr id="115808" name="Oval 95"/>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09" name="Line 96"/>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5810" name="Line 97"/>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5811" name="Rectangle 98"/>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5812" name="Oval 99"/>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5813" name="Group 100"/>
            <p:cNvGrpSpPr/>
            <p:nvPr/>
          </p:nvGrpSpPr>
          <p:grpSpPr>
            <a:xfrm>
              <a:off x="3686" y="244"/>
              <a:ext cx="177" cy="66"/>
              <a:chOff x="2848" y="848"/>
              <a:chExt cx="140" cy="98"/>
            </a:xfrm>
          </p:grpSpPr>
          <p:sp>
            <p:nvSpPr>
              <p:cNvPr id="115814" name="Line 101"/>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5815" name="Line 102"/>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5816" name="Line 103"/>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5817" name="Group 104"/>
            <p:cNvGrpSpPr/>
            <p:nvPr/>
          </p:nvGrpSpPr>
          <p:grpSpPr>
            <a:xfrm flipV="1">
              <a:off x="3686" y="243"/>
              <a:ext cx="177" cy="66"/>
              <a:chOff x="2848" y="848"/>
              <a:chExt cx="140" cy="98"/>
            </a:xfrm>
          </p:grpSpPr>
          <p:sp>
            <p:nvSpPr>
              <p:cNvPr id="115818" name="Line 10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5819" name="Line 10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5820" name="Line 10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5821" name="Line 108"/>
          <p:cNvSpPr/>
          <p:nvPr/>
        </p:nvSpPr>
        <p:spPr>
          <a:xfrm>
            <a:off x="6735763" y="3552825"/>
            <a:ext cx="1333500" cy="0"/>
          </a:xfrm>
          <a:prstGeom prst="line">
            <a:avLst/>
          </a:prstGeom>
          <a:ln w="19050" cap="flat" cmpd="sng">
            <a:solidFill>
              <a:srgbClr val="000000"/>
            </a:solidFill>
            <a:prstDash val="solid"/>
            <a:round/>
            <a:headEnd type="none" w="med" len="med"/>
            <a:tailEnd type="none" w="med" len="med"/>
          </a:ln>
        </p:spPr>
      </p:sp>
      <p:sp>
        <p:nvSpPr>
          <p:cNvPr id="115822" name="Line 109"/>
          <p:cNvSpPr/>
          <p:nvPr/>
        </p:nvSpPr>
        <p:spPr>
          <a:xfrm>
            <a:off x="6945313" y="3552825"/>
            <a:ext cx="0" cy="171450"/>
          </a:xfrm>
          <a:prstGeom prst="line">
            <a:avLst/>
          </a:prstGeom>
          <a:ln w="19050" cap="flat" cmpd="sng">
            <a:solidFill>
              <a:srgbClr val="000000"/>
            </a:solidFill>
            <a:prstDash val="solid"/>
            <a:round/>
            <a:headEnd type="none" w="med" len="med"/>
            <a:tailEnd type="none" w="med" len="med"/>
          </a:ln>
        </p:spPr>
      </p:sp>
      <p:sp>
        <p:nvSpPr>
          <p:cNvPr id="115823" name="Line 110"/>
          <p:cNvSpPr/>
          <p:nvPr/>
        </p:nvSpPr>
        <p:spPr>
          <a:xfrm>
            <a:off x="7797800" y="3386138"/>
            <a:ext cx="0" cy="171450"/>
          </a:xfrm>
          <a:prstGeom prst="line">
            <a:avLst/>
          </a:prstGeom>
          <a:ln w="19050" cap="flat" cmpd="sng">
            <a:solidFill>
              <a:srgbClr val="000000"/>
            </a:solidFill>
            <a:prstDash val="solid"/>
            <a:round/>
            <a:headEnd type="none" w="med" len="med"/>
            <a:tailEnd type="none" w="med" len="med"/>
          </a:ln>
        </p:spPr>
      </p:sp>
      <p:grpSp>
        <p:nvGrpSpPr>
          <p:cNvPr id="115824" name="Group 111"/>
          <p:cNvGrpSpPr/>
          <p:nvPr/>
        </p:nvGrpSpPr>
        <p:grpSpPr>
          <a:xfrm>
            <a:off x="7340600" y="2914650"/>
            <a:ext cx="914400" cy="590550"/>
            <a:chOff x="10665" y="3225"/>
            <a:chExt cx="1440" cy="930"/>
          </a:xfrm>
        </p:grpSpPr>
        <p:sp>
          <p:nvSpPr>
            <p:cNvPr id="115825" name="Oval 112"/>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5826" name="Group 113"/>
            <p:cNvGrpSpPr/>
            <p:nvPr/>
          </p:nvGrpSpPr>
          <p:grpSpPr>
            <a:xfrm>
              <a:off x="11031" y="3335"/>
              <a:ext cx="565" cy="643"/>
              <a:chOff x="2870" y="1518"/>
              <a:chExt cx="292" cy="320"/>
            </a:xfrm>
          </p:grpSpPr>
          <p:graphicFrame>
            <p:nvGraphicFramePr>
              <p:cNvPr id="115827" name="Object 11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3" name="" r:id="rId1" imgW="826770" imgH="840105" progId="">
                      <p:embed/>
                    </p:oleObj>
                  </mc:Choice>
                  <mc:Fallback>
                    <p:oleObj name="" r:id="rId1" imgW="826770" imgH="840105" progId="">
                      <p:embed/>
                      <p:pic>
                        <p:nvPicPr>
                          <p:cNvPr id="0" name="图片 3152"/>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15828" name="Object 11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2" name="" r:id="rId3" imgW="1268095" imgH="1199515" progId="">
                      <p:embed/>
                    </p:oleObj>
                  </mc:Choice>
                  <mc:Fallback>
                    <p:oleObj name="" r:id="rId3" imgW="1268095" imgH="1199515" progId="">
                      <p:embed/>
                      <p:pic>
                        <p:nvPicPr>
                          <p:cNvPr id="0" name="图片 3151"/>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15829" name="Freeform 116"/>
          <p:cNvSpPr/>
          <p:nvPr/>
        </p:nvSpPr>
        <p:spPr>
          <a:xfrm>
            <a:off x="3954463" y="3432175"/>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15830" name="Text Box 117"/>
          <p:cNvSpPr txBox="1"/>
          <p:nvPr/>
        </p:nvSpPr>
        <p:spPr>
          <a:xfrm>
            <a:off x="4129088" y="3729038"/>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115831" name="Freeform 118"/>
          <p:cNvSpPr/>
          <p:nvPr/>
        </p:nvSpPr>
        <p:spPr>
          <a:xfrm>
            <a:off x="3259138" y="4995863"/>
            <a:ext cx="2944812" cy="911225"/>
          </a:xfrm>
          <a:custGeom>
            <a:avLst/>
            <a:gdLst/>
            <a:ahLst/>
            <a:cxnLst>
              <a:cxn ang="0">
                <a:pos x="136781944" y="6048375"/>
              </a:cxn>
              <a:cxn ang="0">
                <a:pos x="76258943" y="260080125"/>
              </a:cxn>
              <a:cxn ang="0">
                <a:pos x="324402548" y="508063500"/>
              </a:cxn>
              <a:cxn ang="0">
                <a:pos x="790428575" y="574595625"/>
              </a:cxn>
              <a:cxn ang="0">
                <a:pos x="1419866895" y="532257000"/>
              </a:cxn>
              <a:cxn ang="0">
                <a:pos x="1583278553" y="393144375"/>
              </a:cxn>
              <a:cxn ang="0">
                <a:pos x="1833036215" y="310080025"/>
              </a:cxn>
              <a:cxn ang="0">
                <a:pos x="1714411616" y="112096550"/>
              </a:cxn>
              <a:cxn ang="0">
                <a:pos x="896545346" y="30645100"/>
              </a:cxn>
              <a:cxn ang="0">
                <a:pos x="136781944" y="6048375"/>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15832" name="Object 119"/>
          <p:cNvGraphicFramePr>
            <a:graphicFrameLocks noChangeAspect="1"/>
          </p:cNvGraphicFramePr>
          <p:nvPr/>
        </p:nvGraphicFramePr>
        <p:xfrm>
          <a:off x="4392613" y="5178425"/>
          <a:ext cx="415925" cy="317500"/>
        </p:xfrm>
        <a:graphic>
          <a:graphicData uri="http://schemas.openxmlformats.org/presentationml/2006/ole">
            <mc:AlternateContent xmlns:mc="http://schemas.openxmlformats.org/markup-compatibility/2006">
              <mc:Choice xmlns:v="urn:schemas-microsoft-com:vml" Requires="v">
                <p:oleObj spid="_x0000_s3154" name="" r:id="rId5" imgW="1307465" imgH="1083945" progId="">
                  <p:embed/>
                </p:oleObj>
              </mc:Choice>
              <mc:Fallback>
                <p:oleObj name="" r:id="rId5" imgW="1307465" imgH="1083945" progId="">
                  <p:embed/>
                  <p:pic>
                    <p:nvPicPr>
                      <p:cNvPr id="0" name="图片 3153"/>
                      <p:cNvPicPr/>
                      <p:nvPr/>
                    </p:nvPicPr>
                    <p:blipFill>
                      <a:blip r:embed="rId6"/>
                      <a:stretch>
                        <a:fillRect/>
                      </a:stretch>
                    </p:blipFill>
                    <p:spPr>
                      <a:xfrm>
                        <a:off x="4392613" y="5178425"/>
                        <a:ext cx="415925" cy="317500"/>
                      </a:xfrm>
                      <a:prstGeom prst="rect">
                        <a:avLst/>
                      </a:prstGeom>
                      <a:noFill/>
                      <a:ln w="38100">
                        <a:noFill/>
                        <a:miter/>
                      </a:ln>
                    </p:spPr>
                  </p:pic>
                </p:oleObj>
              </mc:Fallback>
            </mc:AlternateContent>
          </a:graphicData>
        </a:graphic>
      </p:graphicFrame>
      <p:sp>
        <p:nvSpPr>
          <p:cNvPr id="115833" name="Text Box 120"/>
          <p:cNvSpPr txBox="1"/>
          <p:nvPr/>
        </p:nvSpPr>
        <p:spPr>
          <a:xfrm>
            <a:off x="473075" y="2852738"/>
            <a:ext cx="1887538" cy="7016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home</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network</a:t>
            </a:r>
            <a:endParaRPr lang="en-US" altLang="zh-CN" sz="2000" dirty="0">
              <a:latin typeface="Comic Sans MS" panose="030F0702030302020204" pitchFamily="66" charset="0"/>
              <a:ea typeface="宋体" panose="02010600030101010101" pitchFamily="2" charset="-122"/>
            </a:endParaRPr>
          </a:p>
        </p:txBody>
      </p:sp>
      <p:sp>
        <p:nvSpPr>
          <p:cNvPr id="115834" name="Text Box 121"/>
          <p:cNvSpPr txBox="1"/>
          <p:nvPr/>
        </p:nvSpPr>
        <p:spPr>
          <a:xfrm>
            <a:off x="7874000" y="2174875"/>
            <a:ext cx="1270000" cy="701675"/>
          </a:xfrm>
          <a:prstGeom prst="rect">
            <a:avLst/>
          </a:prstGeom>
          <a:noFill/>
          <a:ln w="9525">
            <a:noFill/>
          </a:ln>
        </p:spPr>
        <p:txBody>
          <a:bodyPr anchor="t" anchorCtr="0">
            <a:spAutoFit/>
          </a:bodyPr>
          <a:p>
            <a:pPr eaLnBrk="0" hangingPunct="0">
              <a:buClrTx/>
              <a:buFontTx/>
            </a:pPr>
            <a:r>
              <a:rPr lang="en-US" altLang="zh-CN" sz="2000" dirty="0">
                <a:latin typeface="Comic Sans MS" panose="030F0702030302020204" pitchFamily="66" charset="0"/>
                <a:ea typeface="宋体" panose="02010600030101010101" pitchFamily="2" charset="-122"/>
              </a:rPr>
              <a:t>visited</a:t>
            </a:r>
            <a:endParaRPr lang="en-US" altLang="zh-CN" sz="2000" dirty="0">
              <a:latin typeface="Comic Sans MS" panose="030F0702030302020204" pitchFamily="66" charset="0"/>
              <a:ea typeface="宋体" panose="02010600030101010101" pitchFamily="2" charset="-122"/>
            </a:endParaRPr>
          </a:p>
          <a:p>
            <a:pPr eaLnBrk="0" hangingPunct="0">
              <a:buClrTx/>
              <a:buFontTx/>
            </a:pPr>
            <a:r>
              <a:rPr lang="en-US" altLang="zh-CN" sz="2000" dirty="0">
                <a:latin typeface="Comic Sans MS" panose="030F0702030302020204" pitchFamily="66" charset="0"/>
                <a:ea typeface="宋体" panose="02010600030101010101" pitchFamily="2" charset="-122"/>
              </a:rPr>
              <a:t>network</a:t>
            </a:r>
            <a:endParaRPr lang="en-US" altLang="zh-CN" sz="2000" dirty="0">
              <a:latin typeface="Comic Sans MS" panose="030F0702030302020204" pitchFamily="66" charset="0"/>
              <a:ea typeface="宋体" panose="02010600030101010101" pitchFamily="2" charset="-122"/>
            </a:endParaRPr>
          </a:p>
        </p:txBody>
      </p:sp>
      <p:sp>
        <p:nvSpPr>
          <p:cNvPr id="115835" name="Line 122"/>
          <p:cNvSpPr/>
          <p:nvPr/>
        </p:nvSpPr>
        <p:spPr>
          <a:xfrm flipV="1">
            <a:off x="7056438" y="3343275"/>
            <a:ext cx="555625" cy="301625"/>
          </a:xfrm>
          <a:prstGeom prst="line">
            <a:avLst/>
          </a:prstGeom>
          <a:ln w="28575" cap="flat" cmpd="sng">
            <a:solidFill>
              <a:srgbClr val="FF0000"/>
            </a:solidFill>
            <a:prstDash val="solid"/>
            <a:round/>
            <a:headEnd type="none" w="med" len="med"/>
            <a:tailEnd type="triangle" w="med" len="med"/>
          </a:ln>
        </p:spPr>
      </p:sp>
      <p:grpSp>
        <p:nvGrpSpPr>
          <p:cNvPr id="115836" name="Group 123"/>
          <p:cNvGrpSpPr/>
          <p:nvPr/>
        </p:nvGrpSpPr>
        <p:grpSpPr>
          <a:xfrm>
            <a:off x="7191375" y="3278188"/>
            <a:ext cx="339725" cy="366712"/>
            <a:chOff x="618" y="3500"/>
            <a:chExt cx="214" cy="231"/>
          </a:xfrm>
        </p:grpSpPr>
        <p:sp>
          <p:nvSpPr>
            <p:cNvPr id="115837" name="Oval 124"/>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38" name="Text Box 125"/>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4</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5839" name="Freeform 126"/>
          <p:cNvSpPr/>
          <p:nvPr/>
        </p:nvSpPr>
        <p:spPr>
          <a:xfrm>
            <a:off x="3181350" y="3838575"/>
            <a:ext cx="1311275" cy="1238250"/>
          </a:xfrm>
          <a:custGeom>
            <a:avLst/>
            <a:gdLst/>
            <a:ahLst/>
            <a:cxnLst>
              <a:cxn ang="0">
                <a:pos x="0" y="0"/>
              </a:cxn>
              <a:cxn ang="0">
                <a:pos x="2081649063" y="1965721875"/>
              </a:cxn>
            </a:cxnLst>
            <a:pathLst>
              <a:path w="826" h="780">
                <a:moveTo>
                  <a:pt x="0" y="0"/>
                </a:moveTo>
                <a:cubicBezTo>
                  <a:pt x="138" y="130"/>
                  <a:pt x="654" y="618"/>
                  <a:pt x="826" y="780"/>
                </a:cubicBezTo>
              </a:path>
            </a:pathLst>
          </a:custGeom>
          <a:noFill/>
          <a:ln w="28575" cap="flat" cmpd="sng">
            <a:solidFill>
              <a:srgbClr val="FF0000"/>
            </a:solidFill>
            <a:prstDash val="dash"/>
            <a:round/>
            <a:headEnd type="none" w="med" len="med"/>
            <a:tailEnd type="triangle" w="med" len="med"/>
          </a:ln>
        </p:spPr>
        <p:txBody>
          <a:bodyPr/>
          <a:p>
            <a:endParaRPr lang="zh-CN" altLang="en-US"/>
          </a:p>
        </p:txBody>
      </p:sp>
      <p:grpSp>
        <p:nvGrpSpPr>
          <p:cNvPr id="115840" name="Group 127"/>
          <p:cNvGrpSpPr/>
          <p:nvPr/>
        </p:nvGrpSpPr>
        <p:grpSpPr>
          <a:xfrm>
            <a:off x="3460750" y="3998913"/>
            <a:ext cx="339725" cy="366712"/>
            <a:chOff x="618" y="3500"/>
            <a:chExt cx="214" cy="231"/>
          </a:xfrm>
        </p:grpSpPr>
        <p:sp>
          <p:nvSpPr>
            <p:cNvPr id="115841" name="Oval 128"/>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42" name="Text Box 129"/>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2</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5843" name="Freeform 130"/>
          <p:cNvSpPr/>
          <p:nvPr/>
        </p:nvSpPr>
        <p:spPr>
          <a:xfrm>
            <a:off x="4826000" y="3424238"/>
            <a:ext cx="3103563" cy="2016125"/>
          </a:xfrm>
          <a:custGeom>
            <a:avLst/>
            <a:gdLst/>
            <a:ahLst/>
            <a:cxnLst>
              <a:cxn ang="0">
                <a:pos x="2147483646" y="0"/>
              </a:cxn>
              <a:cxn ang="0">
                <a:pos x="1597779320" y="1645662825"/>
              </a:cxn>
              <a:cxn ang="0">
                <a:pos x="0" y="2147483646"/>
              </a:cxn>
            </a:cxnLst>
            <a:pathLst>
              <a:path w="1955" h="1270">
                <a:moveTo>
                  <a:pt x="1955" y="0"/>
                </a:moveTo>
                <a:cubicBezTo>
                  <a:pt x="1735" y="109"/>
                  <a:pt x="982" y="424"/>
                  <a:pt x="634" y="653"/>
                </a:cubicBezTo>
                <a:cubicBezTo>
                  <a:pt x="286" y="882"/>
                  <a:pt x="132" y="1142"/>
                  <a:pt x="0" y="127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5844" name="Group 131"/>
          <p:cNvGrpSpPr/>
          <p:nvPr/>
        </p:nvGrpSpPr>
        <p:grpSpPr>
          <a:xfrm>
            <a:off x="6321425" y="4500563"/>
            <a:ext cx="339725" cy="366712"/>
            <a:chOff x="618" y="3500"/>
            <a:chExt cx="214" cy="231"/>
          </a:xfrm>
        </p:grpSpPr>
        <p:sp>
          <p:nvSpPr>
            <p:cNvPr id="115845" name="Oval 132"/>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46" name="Text Box 133"/>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4</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5847" name="Line 134"/>
          <p:cNvSpPr/>
          <p:nvPr/>
        </p:nvSpPr>
        <p:spPr>
          <a:xfrm flipH="1" flipV="1">
            <a:off x="2986088" y="3889375"/>
            <a:ext cx="1357312" cy="1298575"/>
          </a:xfrm>
          <a:prstGeom prst="line">
            <a:avLst/>
          </a:prstGeom>
          <a:ln w="28575" cap="flat" cmpd="sng">
            <a:solidFill>
              <a:srgbClr val="FF0000"/>
            </a:solidFill>
            <a:prstDash val="dash"/>
            <a:round/>
            <a:headEnd type="none" w="med" len="med"/>
            <a:tailEnd type="triangle" w="med" len="med"/>
          </a:ln>
        </p:spPr>
      </p:sp>
      <p:grpSp>
        <p:nvGrpSpPr>
          <p:cNvPr id="115848" name="Group 135"/>
          <p:cNvGrpSpPr/>
          <p:nvPr/>
        </p:nvGrpSpPr>
        <p:grpSpPr>
          <a:xfrm>
            <a:off x="3668713" y="4541838"/>
            <a:ext cx="320675" cy="366712"/>
            <a:chOff x="618" y="3500"/>
            <a:chExt cx="202" cy="231"/>
          </a:xfrm>
        </p:grpSpPr>
        <p:sp>
          <p:nvSpPr>
            <p:cNvPr id="115849" name="Oval 136"/>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50" name="Text Box 137"/>
            <p:cNvSpPr txBox="1"/>
            <p:nvPr/>
          </p:nvSpPr>
          <p:spPr>
            <a:xfrm>
              <a:off x="628" y="3500"/>
              <a:ext cx="18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1</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5851" name="Text Box 138"/>
          <p:cNvSpPr txBox="1"/>
          <p:nvPr/>
        </p:nvSpPr>
        <p:spPr>
          <a:xfrm>
            <a:off x="908050" y="4606925"/>
            <a:ext cx="2535238" cy="1190625"/>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correspondent requests, receives foreign address of mobile</a:t>
            </a:r>
            <a:endParaRPr lang="en-US" altLang="zh-CN" dirty="0">
              <a:latin typeface="Comic Sans MS" panose="030F0702030302020204" pitchFamily="66" charset="0"/>
              <a:ea typeface="宋体" panose="02010600030101010101" pitchFamily="2" charset="-122"/>
            </a:endParaRPr>
          </a:p>
        </p:txBody>
      </p:sp>
      <p:sp>
        <p:nvSpPr>
          <p:cNvPr id="115852" name="Line 139"/>
          <p:cNvSpPr/>
          <p:nvPr/>
        </p:nvSpPr>
        <p:spPr>
          <a:xfrm flipV="1">
            <a:off x="2703513" y="4598988"/>
            <a:ext cx="738187" cy="228600"/>
          </a:xfrm>
          <a:prstGeom prst="line">
            <a:avLst/>
          </a:prstGeom>
          <a:ln w="19050" cap="flat" cmpd="sng">
            <a:solidFill>
              <a:schemeClr val="tx1"/>
            </a:solidFill>
            <a:prstDash val="solid"/>
            <a:round/>
            <a:headEnd type="none" w="med" len="med"/>
            <a:tailEnd type="none" w="med" len="med"/>
          </a:ln>
        </p:spPr>
      </p:sp>
      <p:sp>
        <p:nvSpPr>
          <p:cNvPr id="115853" name="Text Box 140"/>
          <p:cNvSpPr txBox="1"/>
          <p:nvPr/>
        </p:nvSpPr>
        <p:spPr>
          <a:xfrm>
            <a:off x="2506663" y="1882775"/>
            <a:ext cx="2794000" cy="641350"/>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correspondent forwards to foreign agent</a:t>
            </a:r>
            <a:endParaRPr lang="en-US" altLang="zh-CN" dirty="0">
              <a:latin typeface="Comic Sans MS" panose="030F0702030302020204" pitchFamily="66" charset="0"/>
              <a:ea typeface="宋体" panose="02010600030101010101" pitchFamily="2" charset="-122"/>
            </a:endParaRPr>
          </a:p>
        </p:txBody>
      </p:sp>
      <p:sp>
        <p:nvSpPr>
          <p:cNvPr id="115854" name="Line 141"/>
          <p:cNvSpPr/>
          <p:nvPr/>
        </p:nvSpPr>
        <p:spPr>
          <a:xfrm>
            <a:off x="4210050" y="2695575"/>
            <a:ext cx="1150938" cy="1498600"/>
          </a:xfrm>
          <a:prstGeom prst="line">
            <a:avLst/>
          </a:prstGeom>
          <a:ln w="19050" cap="flat" cmpd="sng">
            <a:solidFill>
              <a:schemeClr val="tx1"/>
            </a:solidFill>
            <a:prstDash val="solid"/>
            <a:round/>
            <a:headEnd type="none" w="med" len="med"/>
            <a:tailEnd type="none" w="med" len="med"/>
          </a:ln>
        </p:spPr>
      </p:sp>
      <p:grpSp>
        <p:nvGrpSpPr>
          <p:cNvPr id="115855" name="Group 142"/>
          <p:cNvGrpSpPr/>
          <p:nvPr/>
        </p:nvGrpSpPr>
        <p:grpSpPr>
          <a:xfrm>
            <a:off x="5432425" y="1387475"/>
            <a:ext cx="2338388" cy="1924050"/>
            <a:chOff x="3422" y="874"/>
            <a:chExt cx="1473" cy="1212"/>
          </a:xfrm>
        </p:grpSpPr>
        <p:sp>
          <p:nvSpPr>
            <p:cNvPr id="115856" name="Text Box 143"/>
            <p:cNvSpPr txBox="1"/>
            <p:nvPr/>
          </p:nvSpPr>
          <p:spPr>
            <a:xfrm>
              <a:off x="3422" y="874"/>
              <a:ext cx="1473" cy="57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foreign agent receives packets, forwards to mobile</a:t>
              </a:r>
              <a:endParaRPr lang="en-US" altLang="zh-CN" dirty="0">
                <a:latin typeface="Comic Sans MS" panose="030F0702030302020204" pitchFamily="66" charset="0"/>
                <a:ea typeface="宋体" panose="02010600030101010101" pitchFamily="2" charset="-122"/>
              </a:endParaRPr>
            </a:p>
          </p:txBody>
        </p:sp>
        <p:sp>
          <p:nvSpPr>
            <p:cNvPr id="115857" name="Line 144"/>
            <p:cNvSpPr/>
            <p:nvPr/>
          </p:nvSpPr>
          <p:spPr>
            <a:xfrm>
              <a:off x="4211" y="1420"/>
              <a:ext cx="377" cy="666"/>
            </a:xfrm>
            <a:prstGeom prst="line">
              <a:avLst/>
            </a:prstGeom>
            <a:ln w="9525" cap="flat" cmpd="sng">
              <a:solidFill>
                <a:schemeClr val="tx1"/>
              </a:solidFill>
              <a:prstDash val="solid"/>
              <a:round/>
              <a:headEnd type="none" w="med" len="med"/>
              <a:tailEnd type="none" w="med" len="med"/>
            </a:ln>
          </p:spPr>
        </p:sp>
      </p:grpSp>
      <p:grpSp>
        <p:nvGrpSpPr>
          <p:cNvPr id="115858" name="Group 145"/>
          <p:cNvGrpSpPr/>
          <p:nvPr/>
        </p:nvGrpSpPr>
        <p:grpSpPr>
          <a:xfrm>
            <a:off x="6653213" y="4776788"/>
            <a:ext cx="2247900" cy="1165225"/>
            <a:chOff x="4191" y="3009"/>
            <a:chExt cx="1416" cy="734"/>
          </a:xfrm>
        </p:grpSpPr>
        <p:sp>
          <p:nvSpPr>
            <p:cNvPr id="115859" name="Text Box 146"/>
            <p:cNvSpPr txBox="1"/>
            <p:nvPr/>
          </p:nvSpPr>
          <p:spPr>
            <a:xfrm>
              <a:off x="4332" y="3166"/>
              <a:ext cx="1275" cy="577"/>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mobile replies directly to correspondent</a:t>
              </a:r>
              <a:endParaRPr lang="en-US" altLang="zh-CN" dirty="0">
                <a:latin typeface="Comic Sans MS" panose="030F0702030302020204" pitchFamily="66" charset="0"/>
                <a:ea typeface="宋体" panose="02010600030101010101" pitchFamily="2" charset="-122"/>
              </a:endParaRPr>
            </a:p>
          </p:txBody>
        </p:sp>
        <p:sp>
          <p:nvSpPr>
            <p:cNvPr id="115860" name="Line 147"/>
            <p:cNvSpPr/>
            <p:nvPr/>
          </p:nvSpPr>
          <p:spPr>
            <a:xfrm flipH="1" flipV="1">
              <a:off x="4191" y="3009"/>
              <a:ext cx="248" cy="179"/>
            </a:xfrm>
            <a:prstGeom prst="line">
              <a:avLst/>
            </a:prstGeom>
            <a:ln w="9525" cap="flat" cmpd="sng">
              <a:solidFill>
                <a:schemeClr val="tx1"/>
              </a:solidFill>
              <a:prstDash val="solid"/>
              <a:round/>
              <a:headEnd type="none" w="med" len="med"/>
              <a:tailEnd type="none" w="med" len="med"/>
            </a:ln>
          </p:spPr>
        </p:sp>
      </p:grpSp>
      <p:sp>
        <p:nvSpPr>
          <p:cNvPr id="115861" name="Line 148"/>
          <p:cNvSpPr/>
          <p:nvPr/>
        </p:nvSpPr>
        <p:spPr>
          <a:xfrm flipV="1">
            <a:off x="2730500" y="4262438"/>
            <a:ext cx="769938" cy="576262"/>
          </a:xfrm>
          <a:prstGeom prst="line">
            <a:avLst/>
          </a:prstGeom>
          <a:ln w="19050" cap="flat" cmpd="sng">
            <a:solidFill>
              <a:schemeClr val="tx1"/>
            </a:solidFill>
            <a:prstDash val="solid"/>
            <a:round/>
            <a:headEnd type="none" w="med" len="med"/>
            <a:tailEnd type="none" w="med" len="med"/>
          </a:ln>
        </p:spPr>
      </p:sp>
      <p:sp>
        <p:nvSpPr>
          <p:cNvPr id="115862" name="Freeform 149"/>
          <p:cNvSpPr/>
          <p:nvPr/>
        </p:nvSpPr>
        <p:spPr>
          <a:xfrm>
            <a:off x="4695825" y="3830638"/>
            <a:ext cx="1909763" cy="1416050"/>
          </a:xfrm>
          <a:custGeom>
            <a:avLst/>
            <a:gdLst/>
            <a:ahLst/>
            <a:cxnLst>
              <a:cxn ang="0">
                <a:pos x="0" y="2147483646"/>
              </a:cxn>
              <a:cxn ang="0">
                <a:pos x="1381045987" y="902215938"/>
              </a:cxn>
              <a:cxn ang="0">
                <a:pos x="2147483646" y="0"/>
              </a:cxn>
            </a:cxnLst>
            <a:pathLst>
              <a:path w="1203" h="892">
                <a:moveTo>
                  <a:pt x="0" y="892"/>
                </a:moveTo>
                <a:cubicBezTo>
                  <a:pt x="91" y="803"/>
                  <a:pt x="348" y="507"/>
                  <a:pt x="548" y="358"/>
                </a:cubicBezTo>
                <a:cubicBezTo>
                  <a:pt x="816" y="202"/>
                  <a:pt x="1067" y="75"/>
                  <a:pt x="1203"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5863" name="Group 150"/>
          <p:cNvGrpSpPr/>
          <p:nvPr/>
        </p:nvGrpSpPr>
        <p:grpSpPr>
          <a:xfrm>
            <a:off x="5356225" y="4187825"/>
            <a:ext cx="339725" cy="366713"/>
            <a:chOff x="618" y="3500"/>
            <a:chExt cx="214" cy="231"/>
          </a:xfrm>
        </p:grpSpPr>
        <p:sp>
          <p:nvSpPr>
            <p:cNvPr id="115864" name="Oval 151"/>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5865" name="Text Box 152"/>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3</a:t>
              </a:r>
              <a:endParaRPr lang="en-US" altLang="zh-CN" dirty="0">
                <a:solidFill>
                  <a:srgbClr val="FF0000"/>
                </a:solidFill>
                <a:latin typeface="Comic Sans MS" panose="030F0702030302020204" pitchFamily="66" charset="0"/>
                <a:ea typeface="宋体" panose="02010600030101010101" pitchFamily="2"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177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7763" name="Rectangle 2"/>
          <p:cNvSpPr>
            <a:spLocks noGrp="1"/>
          </p:cNvSpPr>
          <p:nvPr>
            <p:ph type="title"/>
          </p:nvPr>
        </p:nvSpPr>
        <p:spPr>
          <a:xfrm>
            <a:off x="533400" y="228600"/>
            <a:ext cx="8120063" cy="1143000"/>
          </a:xfrm>
          <a:ln/>
        </p:spPr>
        <p:txBody>
          <a:bodyPr vert="horz" wrap="square" lIns="91440" tIns="45720" rIns="91440" bIns="45720" anchor="ctr" anchorCtr="0"/>
          <a:p>
            <a:r>
              <a:rPr lang="en-US" altLang="zh-CN" sz="3200" dirty="0">
                <a:ea typeface="宋体" panose="02010600030101010101" pitchFamily="2" charset="-122"/>
              </a:rPr>
              <a:t>Mobility via Direct Routing: comments</a:t>
            </a:r>
            <a:endParaRPr lang="en-US" altLang="zh-CN" sz="3200" dirty="0">
              <a:ea typeface="宋体" panose="02010600030101010101" pitchFamily="2" charset="-122"/>
            </a:endParaRPr>
          </a:p>
        </p:txBody>
      </p:sp>
      <p:sp>
        <p:nvSpPr>
          <p:cNvPr id="117764" name="Rectangle 3"/>
          <p:cNvSpPr>
            <a:spLocks noGrp="1"/>
          </p:cNvSpPr>
          <p:nvPr>
            <p:ph idx="1"/>
          </p:nvPr>
        </p:nvSpPr>
        <p:spPr>
          <a:xfrm>
            <a:off x="581025" y="1347788"/>
            <a:ext cx="8089900" cy="4648200"/>
          </a:xfrm>
          <a:ln/>
        </p:spPr>
        <p:txBody>
          <a:bodyPr vert="horz" wrap="square" lIns="91440" tIns="45720" rIns="91440" bIns="45720" anchor="t" anchorCtr="0"/>
          <a:p>
            <a:r>
              <a:rPr lang="en-US" altLang="zh-CN" dirty="0">
                <a:ea typeface="宋体" panose="02010600030101010101" pitchFamily="2" charset="-122"/>
              </a:rPr>
              <a:t>overcome triangle routing problem</a:t>
            </a:r>
            <a:endParaRPr lang="en-US" altLang="zh-CN" dirty="0">
              <a:ea typeface="宋体" panose="02010600030101010101" pitchFamily="2" charset="-122"/>
            </a:endParaRPr>
          </a:p>
          <a:p>
            <a:r>
              <a:rPr lang="en-US" altLang="zh-CN" dirty="0">
                <a:solidFill>
                  <a:srgbClr val="FF0000"/>
                </a:solidFill>
                <a:ea typeface="宋体" panose="02010600030101010101" pitchFamily="2" charset="-122"/>
              </a:rPr>
              <a:t>non-transparent to correspondent:</a:t>
            </a:r>
            <a:r>
              <a:rPr lang="en-US" altLang="zh-CN" dirty="0">
                <a:ea typeface="宋体" panose="02010600030101010101" pitchFamily="2" charset="-122"/>
              </a:rPr>
              <a:t> correspondent must get care-of-address from home agent</a:t>
            </a:r>
            <a:endParaRPr lang="en-US" altLang="zh-CN" dirty="0">
              <a:ea typeface="宋体" panose="02010600030101010101" pitchFamily="2" charset="-122"/>
            </a:endParaRPr>
          </a:p>
          <a:p>
            <a:pPr lvl="1"/>
            <a:r>
              <a:rPr lang="en-US" altLang="zh-CN" dirty="0">
                <a:ea typeface="宋体" panose="02010600030101010101" pitchFamily="2" charset="-122"/>
              </a:rPr>
              <a:t>what if mobile changes visited network?</a:t>
            </a:r>
            <a:endParaRPr lang="en-US" altLang="zh-CN" dirty="0">
              <a:ea typeface="宋体" panose="02010600030101010101" pitchFamily="2" charset="-122"/>
            </a:endParaRPr>
          </a:p>
        </p:txBody>
      </p:sp>
      <p:grpSp>
        <p:nvGrpSpPr>
          <p:cNvPr id="117765" name="Group 4"/>
          <p:cNvGrpSpPr/>
          <p:nvPr/>
        </p:nvGrpSpPr>
        <p:grpSpPr>
          <a:xfrm>
            <a:off x="2311400" y="3952875"/>
            <a:ext cx="4967288" cy="1938338"/>
            <a:chOff x="958" y="1566"/>
            <a:chExt cx="4242" cy="2155"/>
          </a:xfrm>
        </p:grpSpPr>
        <p:sp>
          <p:nvSpPr>
            <p:cNvPr id="117766" name="Freeform 5"/>
            <p:cNvSpPr/>
            <p:nvPr/>
          </p:nvSpPr>
          <p:spPr>
            <a:xfrm>
              <a:off x="1016" y="1648"/>
              <a:ext cx="1176" cy="1001"/>
            </a:xfrm>
            <a:custGeom>
              <a:avLst/>
              <a:gdLst/>
              <a:ahLst/>
              <a:cxnLst>
                <a:cxn ang="0">
                  <a:pos x="424" y="29"/>
                </a:cxn>
                <a:cxn ang="0">
                  <a:pos x="63" y="42"/>
                </a:cxn>
                <a:cxn ang="0">
                  <a:pos x="45" y="284"/>
                </a:cxn>
                <a:cxn ang="0">
                  <a:pos x="22" y="508"/>
                </a:cxn>
                <a:cxn ang="0">
                  <a:pos x="86" y="614"/>
                </a:cxn>
                <a:cxn ang="0">
                  <a:pos x="414" y="619"/>
                </a:cxn>
                <a:cxn ang="0">
                  <a:pos x="493" y="797"/>
                </a:cxn>
                <a:cxn ang="0">
                  <a:pos x="950" y="776"/>
                </a:cxn>
                <a:cxn ang="0">
                  <a:pos x="983" y="403"/>
                </a:cxn>
                <a:cxn ang="0">
                  <a:pos x="928" y="241"/>
                </a:cxn>
                <a:cxn ang="0">
                  <a:pos x="585" y="203"/>
                </a:cxn>
                <a:cxn ang="0">
                  <a:pos x="424" y="29"/>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17767" name="Group 6"/>
            <p:cNvGrpSpPr/>
            <p:nvPr/>
          </p:nvGrpSpPr>
          <p:grpSpPr>
            <a:xfrm>
              <a:off x="1681" y="2274"/>
              <a:ext cx="316" cy="147"/>
              <a:chOff x="3600" y="219"/>
              <a:chExt cx="360" cy="175"/>
            </a:xfrm>
          </p:grpSpPr>
          <p:sp>
            <p:nvSpPr>
              <p:cNvPr id="117768" name="Oval 7"/>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7769" name="Line 8"/>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7770" name="Line 9"/>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7771" name="Rectangle 10"/>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7772" name="Oval 11"/>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7773" name="Group 12"/>
              <p:cNvGrpSpPr/>
              <p:nvPr/>
            </p:nvGrpSpPr>
            <p:grpSpPr>
              <a:xfrm>
                <a:off x="3686" y="244"/>
                <a:ext cx="177" cy="66"/>
                <a:chOff x="2848" y="848"/>
                <a:chExt cx="140" cy="98"/>
              </a:xfrm>
            </p:grpSpPr>
            <p:sp>
              <p:nvSpPr>
                <p:cNvPr id="117774" name="Line 13"/>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7775" name="Line 14"/>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7776" name="Line 15"/>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7777" name="Group 16"/>
              <p:cNvGrpSpPr/>
              <p:nvPr/>
            </p:nvGrpSpPr>
            <p:grpSpPr>
              <a:xfrm flipV="1">
                <a:off x="3686" y="243"/>
                <a:ext cx="177" cy="66"/>
                <a:chOff x="2848" y="848"/>
                <a:chExt cx="140" cy="98"/>
              </a:xfrm>
            </p:grpSpPr>
            <p:sp>
              <p:nvSpPr>
                <p:cNvPr id="117778" name="Line 17"/>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7779" name="Line 18"/>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7780" name="Line 19"/>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17781" name="Group 20"/>
            <p:cNvGrpSpPr/>
            <p:nvPr/>
          </p:nvGrpSpPr>
          <p:grpSpPr>
            <a:xfrm>
              <a:off x="1116" y="2056"/>
              <a:ext cx="840" cy="216"/>
              <a:chOff x="8025" y="5070"/>
              <a:chExt cx="2100" cy="540"/>
            </a:xfrm>
          </p:grpSpPr>
          <p:sp>
            <p:nvSpPr>
              <p:cNvPr id="117782" name="Line 21"/>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17783" name="Line 22"/>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17784" name="Line 23"/>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grpSp>
          <p:nvGrpSpPr>
            <p:cNvPr id="117785" name="Group 24"/>
            <p:cNvGrpSpPr/>
            <p:nvPr/>
          </p:nvGrpSpPr>
          <p:grpSpPr>
            <a:xfrm>
              <a:off x="958" y="1778"/>
              <a:ext cx="576" cy="372"/>
              <a:chOff x="10665" y="3225"/>
              <a:chExt cx="1440" cy="930"/>
            </a:xfrm>
          </p:grpSpPr>
          <p:sp>
            <p:nvSpPr>
              <p:cNvPr id="117786" name="Oval 25"/>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7787" name="Group 26"/>
              <p:cNvGrpSpPr/>
              <p:nvPr/>
            </p:nvGrpSpPr>
            <p:grpSpPr>
              <a:xfrm>
                <a:off x="11038" y="3281"/>
                <a:ext cx="618" cy="667"/>
                <a:chOff x="8023" y="4451"/>
                <a:chExt cx="618" cy="667"/>
              </a:xfrm>
            </p:grpSpPr>
            <p:sp>
              <p:nvSpPr>
                <p:cNvPr id="117788" name="Freeform 27"/>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17789" name="Freeform 28"/>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7790" name="Freeform 29"/>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7791" name="Freeform 30"/>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7792" name="Freeform 31"/>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3" name="Freeform 32"/>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4" name="Freeform 33"/>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5" name="Freeform 34"/>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6" name="Freeform 35"/>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7" name="Freeform 36"/>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8" name="Freeform 37"/>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799" name="Freeform 38"/>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800" name="Freeform 39"/>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801" name="Freeform 40"/>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802" name="Freeform 41"/>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7803" name="Freeform 42"/>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17804" name="Freeform 43"/>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17805" name="Freeform 44"/>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17806" name="Freeform 45"/>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17807" name="Freeform 46"/>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17808" name="Freeform 47"/>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17809" name="Freeform 48"/>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0" name="Freeform 49"/>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1" name="Freeform 50"/>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2" name="Freeform 51"/>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3" name="Freeform 52"/>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4" name="Freeform 53"/>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5" name="Freeform 54"/>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6" name="Freeform 55"/>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7" name="Freeform 56"/>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8" name="Freeform 57"/>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19" name="Freeform 58"/>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0" name="Freeform 59"/>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1" name="Freeform 60"/>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2" name="Freeform 61"/>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3" name="Freeform 62"/>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4" name="Freeform 63"/>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5" name="Freeform 64"/>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6" name="Freeform 65"/>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7" name="Freeform 66"/>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8" name="Freeform 67"/>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29" name="Freeform 68"/>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0" name="Freeform 69"/>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1" name="Freeform 70"/>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2" name="Freeform 71"/>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3" name="Freeform 72"/>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4" name="Freeform 73"/>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5" name="Freeform 74"/>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6" name="Freeform 75"/>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7" name="Freeform 76"/>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8" name="Freeform 77"/>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39" name="Freeform 78"/>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7840" name="Freeform 79"/>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17841" name="Freeform 80"/>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17842" name="Freeform 81"/>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17843" name="Freeform 82"/>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17844" name="Freeform 83"/>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17845" name="Freeform 84"/>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17846" name="Freeform 85"/>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17847" name="Freeform 86"/>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17848" name="Freeform 87"/>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17849" name="Freeform 88"/>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17850" name="Freeform 89"/>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17851" name="Freeform 90"/>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17852" name="Freeform 91"/>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17853" name="Freeform 92"/>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17854" name="Freeform 93"/>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17855" name="Freeform 94"/>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17856" name="Freeform 95"/>
            <p:cNvSpPr/>
            <p:nvPr/>
          </p:nvSpPr>
          <p:spPr>
            <a:xfrm>
              <a:off x="4040" y="1566"/>
              <a:ext cx="1158" cy="1078"/>
            </a:xfrm>
            <a:custGeom>
              <a:avLst/>
              <a:gdLst/>
              <a:ahLst/>
              <a:cxnLst>
                <a:cxn ang="0">
                  <a:pos x="1" y="213"/>
                </a:cxn>
                <a:cxn ang="0">
                  <a:pos x="56" y="82"/>
                </a:cxn>
                <a:cxn ang="0">
                  <a:pos x="222" y="55"/>
                </a:cxn>
                <a:cxn ang="0">
                  <a:pos x="416" y="27"/>
                </a:cxn>
                <a:cxn ang="0">
                  <a:pos x="462" y="219"/>
                </a:cxn>
                <a:cxn ang="0">
                  <a:pos x="426" y="343"/>
                </a:cxn>
                <a:cxn ang="0">
                  <a:pos x="337" y="401"/>
                </a:cxn>
                <a:cxn ang="0">
                  <a:pos x="262" y="413"/>
                </a:cxn>
                <a:cxn ang="0">
                  <a:pos x="167" y="422"/>
                </a:cxn>
                <a:cxn ang="0">
                  <a:pos x="55" y="353"/>
                </a:cxn>
                <a:cxn ang="0">
                  <a:pos x="1" y="213"/>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17857" name="Group 96"/>
            <p:cNvGrpSpPr/>
            <p:nvPr/>
          </p:nvGrpSpPr>
          <p:grpSpPr>
            <a:xfrm>
              <a:off x="4214" y="2326"/>
              <a:ext cx="316" cy="147"/>
              <a:chOff x="3600" y="219"/>
              <a:chExt cx="360" cy="175"/>
            </a:xfrm>
          </p:grpSpPr>
          <p:sp>
            <p:nvSpPr>
              <p:cNvPr id="117858" name="Oval 97"/>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7859" name="Line 98"/>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7860" name="Line 99"/>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7861" name="Rectangle 100"/>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7862" name="Oval 101"/>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7863" name="Group 102"/>
              <p:cNvGrpSpPr/>
              <p:nvPr/>
            </p:nvGrpSpPr>
            <p:grpSpPr>
              <a:xfrm>
                <a:off x="3686" y="244"/>
                <a:ext cx="177" cy="66"/>
                <a:chOff x="2848" y="848"/>
                <a:chExt cx="140" cy="98"/>
              </a:xfrm>
            </p:grpSpPr>
            <p:sp>
              <p:nvSpPr>
                <p:cNvPr id="117864" name="Line 103"/>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7865" name="Line 104"/>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7866" name="Line 105"/>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7867" name="Group 106"/>
              <p:cNvGrpSpPr/>
              <p:nvPr/>
            </p:nvGrpSpPr>
            <p:grpSpPr>
              <a:xfrm flipV="1">
                <a:off x="3686" y="243"/>
                <a:ext cx="177" cy="66"/>
                <a:chOff x="2848" y="848"/>
                <a:chExt cx="140" cy="98"/>
              </a:xfrm>
            </p:grpSpPr>
            <p:sp>
              <p:nvSpPr>
                <p:cNvPr id="117868" name="Line 107"/>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7869" name="Line 108"/>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7870" name="Line 109"/>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7871" name="Line 110"/>
            <p:cNvSpPr/>
            <p:nvPr/>
          </p:nvSpPr>
          <p:spPr>
            <a:xfrm>
              <a:off x="4243" y="2238"/>
              <a:ext cx="840" cy="1"/>
            </a:xfrm>
            <a:prstGeom prst="line">
              <a:avLst/>
            </a:prstGeom>
            <a:ln w="19050" cap="flat" cmpd="sng">
              <a:solidFill>
                <a:srgbClr val="000000"/>
              </a:solidFill>
              <a:prstDash val="solid"/>
              <a:round/>
              <a:headEnd type="none" w="med" len="med"/>
              <a:tailEnd type="none" w="med" len="med"/>
            </a:ln>
          </p:spPr>
        </p:sp>
        <p:sp>
          <p:nvSpPr>
            <p:cNvPr id="117872" name="Line 111"/>
            <p:cNvSpPr/>
            <p:nvPr/>
          </p:nvSpPr>
          <p:spPr>
            <a:xfrm>
              <a:off x="4375" y="2238"/>
              <a:ext cx="1" cy="108"/>
            </a:xfrm>
            <a:prstGeom prst="line">
              <a:avLst/>
            </a:prstGeom>
            <a:ln w="19050" cap="flat" cmpd="sng">
              <a:solidFill>
                <a:srgbClr val="000000"/>
              </a:solidFill>
              <a:prstDash val="solid"/>
              <a:round/>
              <a:headEnd type="none" w="med" len="med"/>
              <a:tailEnd type="none" w="med" len="med"/>
            </a:ln>
          </p:spPr>
        </p:sp>
        <p:sp>
          <p:nvSpPr>
            <p:cNvPr id="117873" name="Line 112"/>
            <p:cNvSpPr/>
            <p:nvPr/>
          </p:nvSpPr>
          <p:spPr>
            <a:xfrm>
              <a:off x="4912" y="2133"/>
              <a:ext cx="1" cy="108"/>
            </a:xfrm>
            <a:prstGeom prst="line">
              <a:avLst/>
            </a:prstGeom>
            <a:ln w="19050" cap="flat" cmpd="sng">
              <a:solidFill>
                <a:srgbClr val="000000"/>
              </a:solidFill>
              <a:prstDash val="solid"/>
              <a:round/>
              <a:headEnd type="none" w="med" len="med"/>
              <a:tailEnd type="none" w="med" len="med"/>
            </a:ln>
          </p:spPr>
        </p:sp>
        <p:grpSp>
          <p:nvGrpSpPr>
            <p:cNvPr id="117874" name="Group 113"/>
            <p:cNvGrpSpPr/>
            <p:nvPr/>
          </p:nvGrpSpPr>
          <p:grpSpPr>
            <a:xfrm>
              <a:off x="4624" y="1836"/>
              <a:ext cx="576" cy="372"/>
              <a:chOff x="10665" y="3225"/>
              <a:chExt cx="1440" cy="930"/>
            </a:xfrm>
          </p:grpSpPr>
          <p:sp>
            <p:nvSpPr>
              <p:cNvPr id="117875" name="Oval 114"/>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7876" name="Group 115"/>
              <p:cNvGrpSpPr/>
              <p:nvPr/>
            </p:nvGrpSpPr>
            <p:grpSpPr>
              <a:xfrm>
                <a:off x="11031" y="3335"/>
                <a:ext cx="565" cy="643"/>
                <a:chOff x="2870" y="1518"/>
                <a:chExt cx="292" cy="320"/>
              </a:xfrm>
            </p:grpSpPr>
            <p:graphicFrame>
              <p:nvGraphicFramePr>
                <p:cNvPr id="117877" name="Object 11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6" name="" r:id="rId1" imgW="826770" imgH="840105" progId="">
                        <p:embed/>
                      </p:oleObj>
                    </mc:Choice>
                    <mc:Fallback>
                      <p:oleObj name="" r:id="rId1" imgW="826770" imgH="840105" progId="">
                        <p:embed/>
                        <p:pic>
                          <p:nvPicPr>
                            <p:cNvPr id="0" name="图片 3155"/>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17878" name="Object 11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5" name="" r:id="rId3" imgW="1268095" imgH="1199515" progId="">
                        <p:embed/>
                      </p:oleObj>
                    </mc:Choice>
                    <mc:Fallback>
                      <p:oleObj name="" r:id="rId3" imgW="1268095" imgH="1199515" progId="">
                        <p:embed/>
                        <p:pic>
                          <p:nvPicPr>
                            <p:cNvPr id="0" name="图片 3154"/>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17879" name="Freeform 118"/>
            <p:cNvSpPr/>
            <p:nvPr/>
          </p:nvSpPr>
          <p:spPr>
            <a:xfrm>
              <a:off x="2491" y="2162"/>
              <a:ext cx="1329" cy="788"/>
            </a:xfrm>
            <a:custGeom>
              <a:avLst/>
              <a:gdLst/>
              <a:ahLst/>
              <a:cxnLst>
                <a:cxn ang="0">
                  <a:pos x="95" y="2"/>
                </a:cxn>
                <a:cxn ang="0">
                  <a:pos x="24" y="53"/>
                </a:cxn>
                <a:cxn ang="0">
                  <a:pos x="0" y="170"/>
                </a:cxn>
                <a:cxn ang="0">
                  <a:pos x="27" y="257"/>
                </a:cxn>
                <a:cxn ang="0">
                  <a:pos x="97" y="293"/>
                </a:cxn>
                <a:cxn ang="0">
                  <a:pos x="173" y="276"/>
                </a:cxn>
                <a:cxn ang="0">
                  <a:pos x="247" y="300"/>
                </a:cxn>
                <a:cxn ang="0">
                  <a:pos x="379" y="307"/>
                </a:cxn>
                <a:cxn ang="0">
                  <a:pos x="519" y="252"/>
                </a:cxn>
                <a:cxn ang="0">
                  <a:pos x="457" y="150"/>
                </a:cxn>
                <a:cxn ang="0">
                  <a:pos x="434" y="71"/>
                </a:cxn>
                <a:cxn ang="0">
                  <a:pos x="274" y="39"/>
                </a:cxn>
                <a:cxn ang="0">
                  <a:pos x="95" y="2"/>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17880" name="Freeform 119"/>
            <p:cNvSpPr/>
            <p:nvPr/>
          </p:nvSpPr>
          <p:spPr>
            <a:xfrm>
              <a:off x="2053" y="3147"/>
              <a:ext cx="1855" cy="574"/>
            </a:xfrm>
            <a:custGeom>
              <a:avLst/>
              <a:gdLst/>
              <a:ahLst/>
              <a:cxnLst>
                <a:cxn ang="0">
                  <a:pos x="54" y="2"/>
                </a:cxn>
                <a:cxn ang="0">
                  <a:pos x="30" y="103"/>
                </a:cxn>
                <a:cxn ang="0">
                  <a:pos x="129" y="202"/>
                </a:cxn>
                <a:cxn ang="0">
                  <a:pos x="314" y="228"/>
                </a:cxn>
                <a:cxn ang="0">
                  <a:pos x="563" y="211"/>
                </a:cxn>
                <a:cxn ang="0">
                  <a:pos x="628" y="156"/>
                </a:cxn>
                <a:cxn ang="0">
                  <a:pos x="727" y="123"/>
                </a:cxn>
                <a:cxn ang="0">
                  <a:pos x="680" y="44"/>
                </a:cxn>
                <a:cxn ang="0">
                  <a:pos x="356" y="12"/>
                </a:cxn>
                <a:cxn ang="0">
                  <a:pos x="54" y="2"/>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17881" name="Object 120"/>
            <p:cNvGraphicFramePr>
              <a:graphicFrameLocks noChangeAspect="1"/>
            </p:cNvGraphicFramePr>
            <p:nvPr/>
          </p:nvGraphicFramePr>
          <p:xfrm>
            <a:off x="2767" y="3262"/>
            <a:ext cx="262" cy="200"/>
          </p:xfrm>
          <a:graphic>
            <a:graphicData uri="http://schemas.openxmlformats.org/presentationml/2006/ole">
              <mc:AlternateContent xmlns:mc="http://schemas.openxmlformats.org/markup-compatibility/2006">
                <mc:Choice xmlns:v="urn:schemas-microsoft-com:vml" Requires="v">
                  <p:oleObj spid="_x0000_s3157" name="" r:id="rId5" imgW="1307465" imgH="1083945" progId="">
                    <p:embed/>
                  </p:oleObj>
                </mc:Choice>
                <mc:Fallback>
                  <p:oleObj name="" r:id="rId5" imgW="1307465" imgH="1083945" progId="">
                    <p:embed/>
                    <p:pic>
                      <p:nvPicPr>
                        <p:cNvPr id="0" name="图片 3156"/>
                        <p:cNvPicPr/>
                        <p:nvPr/>
                      </p:nvPicPr>
                      <p:blipFill>
                        <a:blip r:embed="rId6"/>
                        <a:stretch>
                          <a:fillRect/>
                        </a:stretch>
                      </p:blipFill>
                      <p:spPr>
                        <a:xfrm>
                          <a:off x="2767" y="3262"/>
                          <a:ext cx="262" cy="200"/>
                        </a:xfrm>
                        <a:prstGeom prst="rect">
                          <a:avLst/>
                        </a:prstGeom>
                        <a:noFill/>
                        <a:ln w="38100">
                          <a:noFill/>
                          <a:miter/>
                        </a:ln>
                      </p:spPr>
                    </p:pic>
                  </p:oleObj>
                </mc:Fallback>
              </mc:AlternateContent>
            </a:graphicData>
          </a:graphic>
        </p:graphicFrame>
        <p:sp>
          <p:nvSpPr>
            <p:cNvPr id="117882" name="Line 121"/>
            <p:cNvSpPr/>
            <p:nvPr/>
          </p:nvSpPr>
          <p:spPr>
            <a:xfrm flipV="1">
              <a:off x="4445" y="2106"/>
              <a:ext cx="350" cy="190"/>
            </a:xfrm>
            <a:prstGeom prst="line">
              <a:avLst/>
            </a:prstGeom>
            <a:ln w="28575" cap="flat" cmpd="sng">
              <a:solidFill>
                <a:srgbClr val="FF0000"/>
              </a:solidFill>
              <a:prstDash val="solid"/>
              <a:round/>
              <a:headEnd type="none" w="med" len="med"/>
              <a:tailEnd type="triangle" w="med" len="med"/>
            </a:ln>
          </p:spPr>
        </p:sp>
        <p:sp>
          <p:nvSpPr>
            <p:cNvPr id="117883" name="Freeform 122"/>
            <p:cNvSpPr/>
            <p:nvPr/>
          </p:nvSpPr>
          <p:spPr>
            <a:xfrm>
              <a:off x="2004" y="2418"/>
              <a:ext cx="826" cy="780"/>
            </a:xfrm>
            <a:custGeom>
              <a:avLst/>
              <a:gdLst/>
              <a:ahLst/>
              <a:cxnLst>
                <a:cxn ang="0">
                  <a:pos x="0" y="0"/>
                </a:cxn>
                <a:cxn ang="0">
                  <a:pos x="826" y="780"/>
                </a:cxn>
              </a:cxnLst>
              <a:pathLst>
                <a:path w="826" h="780">
                  <a:moveTo>
                    <a:pt x="0" y="0"/>
                  </a:moveTo>
                  <a:cubicBezTo>
                    <a:pt x="138" y="130"/>
                    <a:pt x="654" y="618"/>
                    <a:pt x="826" y="780"/>
                  </a:cubicBezTo>
                </a:path>
              </a:pathLst>
            </a:custGeom>
            <a:noFill/>
            <a:ln w="28575" cap="flat" cmpd="sng">
              <a:solidFill>
                <a:srgbClr val="FF0000"/>
              </a:solidFill>
              <a:prstDash val="dash"/>
              <a:round/>
              <a:headEnd type="none" w="med" len="med"/>
              <a:tailEnd type="triangle" w="med" len="med"/>
            </a:ln>
          </p:spPr>
          <p:txBody>
            <a:bodyPr/>
            <a:p>
              <a:endParaRPr lang="zh-CN" altLang="en-US"/>
            </a:p>
          </p:txBody>
        </p:sp>
        <p:sp>
          <p:nvSpPr>
            <p:cNvPr id="117884" name="Freeform 123"/>
            <p:cNvSpPr/>
            <p:nvPr/>
          </p:nvSpPr>
          <p:spPr>
            <a:xfrm>
              <a:off x="3040" y="2157"/>
              <a:ext cx="1955" cy="1270"/>
            </a:xfrm>
            <a:custGeom>
              <a:avLst/>
              <a:gdLst/>
              <a:ahLst/>
              <a:cxnLst>
                <a:cxn ang="0">
                  <a:pos x="1955" y="0"/>
                </a:cxn>
                <a:cxn ang="0">
                  <a:pos x="634" y="653"/>
                </a:cxn>
                <a:cxn ang="0">
                  <a:pos x="0" y="1270"/>
                </a:cxn>
              </a:cxnLst>
              <a:pathLst>
                <a:path w="1955" h="1270">
                  <a:moveTo>
                    <a:pt x="1955" y="0"/>
                  </a:moveTo>
                  <a:cubicBezTo>
                    <a:pt x="1735" y="109"/>
                    <a:pt x="982" y="424"/>
                    <a:pt x="634" y="653"/>
                  </a:cubicBezTo>
                  <a:cubicBezTo>
                    <a:pt x="286" y="882"/>
                    <a:pt x="132" y="1142"/>
                    <a:pt x="0" y="127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17885" name="Line 124"/>
            <p:cNvSpPr/>
            <p:nvPr/>
          </p:nvSpPr>
          <p:spPr>
            <a:xfrm flipH="1" flipV="1">
              <a:off x="1881" y="2450"/>
              <a:ext cx="855" cy="818"/>
            </a:xfrm>
            <a:prstGeom prst="line">
              <a:avLst/>
            </a:prstGeom>
            <a:ln w="28575" cap="flat" cmpd="sng">
              <a:solidFill>
                <a:srgbClr val="FF0000"/>
              </a:solidFill>
              <a:prstDash val="dash"/>
              <a:round/>
              <a:headEnd type="none" w="med" len="med"/>
              <a:tailEnd type="triangle" w="med" len="med"/>
            </a:ln>
          </p:spPr>
        </p:sp>
        <p:sp>
          <p:nvSpPr>
            <p:cNvPr id="117886" name="Freeform 125"/>
            <p:cNvSpPr/>
            <p:nvPr/>
          </p:nvSpPr>
          <p:spPr>
            <a:xfrm>
              <a:off x="2958" y="2413"/>
              <a:ext cx="1203" cy="892"/>
            </a:xfrm>
            <a:custGeom>
              <a:avLst/>
              <a:gdLst/>
              <a:ahLst/>
              <a:cxnLst>
                <a:cxn ang="0">
                  <a:pos x="0" y="892"/>
                </a:cxn>
                <a:cxn ang="0">
                  <a:pos x="548" y="358"/>
                </a:cxn>
                <a:cxn ang="0">
                  <a:pos x="1203" y="0"/>
                </a:cxn>
              </a:cxnLst>
              <a:pathLst>
                <a:path w="1203" h="892">
                  <a:moveTo>
                    <a:pt x="0" y="892"/>
                  </a:moveTo>
                  <a:cubicBezTo>
                    <a:pt x="91" y="803"/>
                    <a:pt x="348" y="507"/>
                    <a:pt x="548" y="358"/>
                  </a:cubicBezTo>
                  <a:cubicBezTo>
                    <a:pt x="816" y="202"/>
                    <a:pt x="1067" y="75"/>
                    <a:pt x="1203"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198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19811" name="Freeform 92"/>
          <p:cNvSpPr/>
          <p:nvPr/>
        </p:nvSpPr>
        <p:spPr>
          <a:xfrm>
            <a:off x="4219575" y="3071813"/>
            <a:ext cx="1838325" cy="1406525"/>
          </a:xfrm>
          <a:custGeom>
            <a:avLst/>
            <a:gdLst/>
            <a:ahLst/>
            <a:cxnLst>
              <a:cxn ang="0">
                <a:pos x="1614093" y="363078264"/>
              </a:cxn>
              <a:cxn ang="0">
                <a:pos x="140823064" y="138847991"/>
              </a:cxn>
              <a:cxn ang="0">
                <a:pos x="558449341" y="93838668"/>
              </a:cxn>
              <a:cxn ang="0">
                <a:pos x="1047495879" y="46373542"/>
              </a:cxn>
              <a:cxn ang="0">
                <a:pos x="1163704826" y="372080442"/>
              </a:cxn>
              <a:cxn ang="0">
                <a:pos x="1072916090" y="584853255"/>
              </a:cxn>
              <a:cxn ang="0">
                <a:pos x="848972025" y="683056173"/>
              </a:cxn>
              <a:cxn ang="0">
                <a:pos x="661342818" y="703515288"/>
              </a:cxn>
              <a:cxn ang="0">
                <a:pos x="421257827" y="717427507"/>
              </a:cxn>
              <a:cxn ang="0">
                <a:pos x="139612335" y="600402329"/>
              </a:cxn>
              <a:cxn ang="0">
                <a:pos x="1614093" y="363078264"/>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19812" name="Group 93"/>
          <p:cNvGrpSpPr/>
          <p:nvPr/>
        </p:nvGrpSpPr>
        <p:grpSpPr>
          <a:xfrm>
            <a:off x="4495800" y="4062413"/>
            <a:ext cx="501650" cy="233362"/>
            <a:chOff x="3600" y="219"/>
            <a:chExt cx="360" cy="175"/>
          </a:xfrm>
        </p:grpSpPr>
        <p:sp>
          <p:nvSpPr>
            <p:cNvPr id="119813" name="Oval 94"/>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814" name="Line 95"/>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9815" name="Line 96"/>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9816" name="Rectangle 97"/>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9817" name="Oval 98"/>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9818" name="Group 99"/>
            <p:cNvGrpSpPr/>
            <p:nvPr/>
          </p:nvGrpSpPr>
          <p:grpSpPr>
            <a:xfrm>
              <a:off x="3686" y="244"/>
              <a:ext cx="177" cy="66"/>
              <a:chOff x="2848" y="848"/>
              <a:chExt cx="140" cy="98"/>
            </a:xfrm>
          </p:grpSpPr>
          <p:sp>
            <p:nvSpPr>
              <p:cNvPr id="119819" name="Line 100"/>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820" name="Line 101"/>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821" name="Line 102"/>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9822" name="Group 103"/>
            <p:cNvGrpSpPr/>
            <p:nvPr/>
          </p:nvGrpSpPr>
          <p:grpSpPr>
            <a:xfrm flipV="1">
              <a:off x="3686" y="243"/>
              <a:ext cx="177" cy="66"/>
              <a:chOff x="2848" y="848"/>
              <a:chExt cx="140" cy="98"/>
            </a:xfrm>
          </p:grpSpPr>
          <p:sp>
            <p:nvSpPr>
              <p:cNvPr id="119823" name="Line 104"/>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824" name="Line 105"/>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825" name="Line 106"/>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9826" name="Line 107"/>
          <p:cNvSpPr/>
          <p:nvPr/>
        </p:nvSpPr>
        <p:spPr>
          <a:xfrm>
            <a:off x="4541838" y="3922713"/>
            <a:ext cx="1333500" cy="0"/>
          </a:xfrm>
          <a:prstGeom prst="line">
            <a:avLst/>
          </a:prstGeom>
          <a:ln w="19050" cap="flat" cmpd="sng">
            <a:solidFill>
              <a:srgbClr val="000000"/>
            </a:solidFill>
            <a:prstDash val="solid"/>
            <a:round/>
            <a:headEnd type="none" w="med" len="med"/>
            <a:tailEnd type="none" w="med" len="med"/>
          </a:ln>
        </p:spPr>
      </p:sp>
      <p:sp>
        <p:nvSpPr>
          <p:cNvPr id="119827" name="Line 108"/>
          <p:cNvSpPr/>
          <p:nvPr/>
        </p:nvSpPr>
        <p:spPr>
          <a:xfrm>
            <a:off x="4751388" y="3922713"/>
            <a:ext cx="0" cy="171450"/>
          </a:xfrm>
          <a:prstGeom prst="line">
            <a:avLst/>
          </a:prstGeom>
          <a:ln w="19050" cap="flat" cmpd="sng">
            <a:solidFill>
              <a:srgbClr val="000000"/>
            </a:solidFill>
            <a:prstDash val="solid"/>
            <a:round/>
            <a:headEnd type="none" w="med" len="med"/>
            <a:tailEnd type="none" w="med" len="med"/>
          </a:ln>
        </p:spPr>
      </p:sp>
      <p:sp>
        <p:nvSpPr>
          <p:cNvPr id="119828" name="Line 109"/>
          <p:cNvSpPr/>
          <p:nvPr/>
        </p:nvSpPr>
        <p:spPr>
          <a:xfrm>
            <a:off x="5603875" y="3756025"/>
            <a:ext cx="0" cy="171450"/>
          </a:xfrm>
          <a:prstGeom prst="line">
            <a:avLst/>
          </a:prstGeom>
          <a:ln w="19050" cap="flat" cmpd="sng">
            <a:solidFill>
              <a:srgbClr val="000000"/>
            </a:solidFill>
            <a:prstDash val="solid"/>
            <a:round/>
            <a:headEnd type="none" w="med" len="med"/>
            <a:tailEnd type="none" w="med" len="med"/>
          </a:ln>
        </p:spPr>
      </p:sp>
      <p:sp>
        <p:nvSpPr>
          <p:cNvPr id="119829" name="Freeform 110"/>
          <p:cNvSpPr/>
          <p:nvPr/>
        </p:nvSpPr>
        <p:spPr>
          <a:xfrm>
            <a:off x="1760538" y="3802063"/>
            <a:ext cx="2109787" cy="1250950"/>
          </a:xfrm>
          <a:custGeom>
            <a:avLst/>
            <a:gdLst/>
            <a:ahLst/>
            <a:cxnLst>
              <a:cxn ang="0">
                <a:pos x="240105058" y="6042133"/>
              </a:cxn>
              <a:cxn ang="0">
                <a:pos x="60026106" y="132929463"/>
              </a:cxn>
              <a:cxn ang="0">
                <a:pos x="1208494" y="429402074"/>
              </a:cxn>
              <a:cxn ang="0">
                <a:pos x="67680748" y="646922668"/>
              </a:cxn>
              <a:cxn ang="0">
                <a:pos x="245342078" y="737555931"/>
              </a:cxn>
              <a:cxn ang="0">
                <a:pos x="436298747" y="695260366"/>
              </a:cxn>
              <a:cxn ang="0">
                <a:pos x="623628664" y="755682965"/>
              </a:cxn>
              <a:cxn ang="0">
                <a:pos x="955989300" y="773809363"/>
              </a:cxn>
              <a:cxn ang="0">
                <a:pos x="1306477983" y="634837767"/>
              </a:cxn>
              <a:cxn ang="0">
                <a:pos x="1151779311" y="376633056"/>
              </a:cxn>
              <a:cxn ang="0">
                <a:pos x="1093364742" y="178850308"/>
              </a:cxn>
              <a:cxn ang="0">
                <a:pos x="690503961" y="97481437"/>
              </a:cxn>
              <a:cxn ang="0">
                <a:pos x="240105058" y="6042133"/>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19830" name="Text Box 111"/>
          <p:cNvSpPr txBox="1"/>
          <p:nvPr/>
        </p:nvSpPr>
        <p:spPr>
          <a:xfrm>
            <a:off x="1935163" y="4098925"/>
            <a:ext cx="1447800" cy="581025"/>
          </a:xfrm>
          <a:prstGeom prst="rect">
            <a:avLst/>
          </a:prstGeom>
          <a:noFill/>
          <a:ln w="9525">
            <a:noFill/>
          </a:ln>
        </p:spPr>
        <p:txBody>
          <a:bodyPr anchor="t" anchorCtr="0">
            <a:spAutoFit/>
          </a:bodyPr>
          <a:p>
            <a:pPr algn="ctr" eaLnBrk="0" hangingPunct="0">
              <a:buClrTx/>
              <a:buFontTx/>
            </a:pPr>
            <a:r>
              <a:rPr lang="en-US" altLang="zh-CN" sz="1600" dirty="0">
                <a:solidFill>
                  <a:schemeClr val="bg1"/>
                </a:solidFill>
                <a:latin typeface="Comic Sans MS" panose="030F0702030302020204" pitchFamily="66" charset="0"/>
                <a:ea typeface="宋体" panose="02010600030101010101" pitchFamily="2" charset="-122"/>
              </a:rPr>
              <a:t>wide area network</a:t>
            </a:r>
            <a:endParaRPr lang="en-US" altLang="zh-CN" sz="1600" dirty="0">
              <a:solidFill>
                <a:schemeClr val="bg1"/>
              </a:solidFill>
              <a:latin typeface="Comic Sans MS" panose="030F0702030302020204" pitchFamily="66" charset="0"/>
              <a:ea typeface="宋体" panose="02010600030101010101" pitchFamily="2" charset="-122"/>
            </a:endParaRPr>
          </a:p>
        </p:txBody>
      </p:sp>
      <p:sp>
        <p:nvSpPr>
          <p:cNvPr id="119831" name="Freeform 112"/>
          <p:cNvSpPr/>
          <p:nvPr/>
        </p:nvSpPr>
        <p:spPr>
          <a:xfrm>
            <a:off x="1065213" y="5365750"/>
            <a:ext cx="2944812" cy="911225"/>
          </a:xfrm>
          <a:custGeom>
            <a:avLst/>
            <a:gdLst/>
            <a:ahLst/>
            <a:cxnLst>
              <a:cxn ang="0">
                <a:pos x="136781944" y="6048375"/>
              </a:cxn>
              <a:cxn ang="0">
                <a:pos x="76258943" y="260080125"/>
              </a:cxn>
              <a:cxn ang="0">
                <a:pos x="324402548" y="508063500"/>
              </a:cxn>
              <a:cxn ang="0">
                <a:pos x="790428575" y="574595625"/>
              </a:cxn>
              <a:cxn ang="0">
                <a:pos x="1419866895" y="532257000"/>
              </a:cxn>
              <a:cxn ang="0">
                <a:pos x="1583278553" y="393144375"/>
              </a:cxn>
              <a:cxn ang="0">
                <a:pos x="1833036215" y="310080025"/>
              </a:cxn>
              <a:cxn ang="0">
                <a:pos x="1714411616" y="112096550"/>
              </a:cxn>
              <a:cxn ang="0">
                <a:pos x="896545346" y="30645100"/>
              </a:cxn>
              <a:cxn ang="0">
                <a:pos x="136781944" y="6048375"/>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19832" name="Object 113"/>
          <p:cNvGraphicFramePr>
            <a:graphicFrameLocks noChangeAspect="1"/>
          </p:cNvGraphicFramePr>
          <p:nvPr/>
        </p:nvGraphicFramePr>
        <p:xfrm>
          <a:off x="1703388" y="5700713"/>
          <a:ext cx="415925" cy="317500"/>
        </p:xfrm>
        <a:graphic>
          <a:graphicData uri="http://schemas.openxmlformats.org/presentationml/2006/ole">
            <mc:AlternateContent xmlns:mc="http://schemas.openxmlformats.org/markup-compatibility/2006">
              <mc:Choice xmlns:v="urn:schemas-microsoft-com:vml" Requires="v">
                <p:oleObj spid="_x0000_s3158" name="" r:id="rId1" imgW="1307465" imgH="1083945" progId="">
                  <p:embed/>
                </p:oleObj>
              </mc:Choice>
              <mc:Fallback>
                <p:oleObj name="" r:id="rId1" imgW="1307465" imgH="1083945" progId="">
                  <p:embed/>
                  <p:pic>
                    <p:nvPicPr>
                      <p:cNvPr id="0" name="图片 3157"/>
                      <p:cNvPicPr/>
                      <p:nvPr/>
                    </p:nvPicPr>
                    <p:blipFill>
                      <a:blip r:embed="rId2"/>
                      <a:stretch>
                        <a:fillRect/>
                      </a:stretch>
                    </p:blipFill>
                    <p:spPr>
                      <a:xfrm>
                        <a:off x="1703388" y="5700713"/>
                        <a:ext cx="415925" cy="317500"/>
                      </a:xfrm>
                      <a:prstGeom prst="rect">
                        <a:avLst/>
                      </a:prstGeom>
                      <a:noFill/>
                      <a:ln w="38100">
                        <a:noFill/>
                        <a:miter/>
                      </a:ln>
                    </p:spPr>
                  </p:pic>
                </p:oleObj>
              </mc:Fallback>
            </mc:AlternateContent>
          </a:graphicData>
        </a:graphic>
      </p:graphicFrame>
      <p:sp>
        <p:nvSpPr>
          <p:cNvPr id="119833" name="Freeform 115"/>
          <p:cNvSpPr/>
          <p:nvPr/>
        </p:nvSpPr>
        <p:spPr>
          <a:xfrm>
            <a:off x="5045075" y="3789363"/>
            <a:ext cx="512763" cy="301625"/>
          </a:xfrm>
          <a:custGeom>
            <a:avLst/>
            <a:gdLst/>
            <a:ahLst/>
            <a:cxnLst>
              <a:cxn ang="0">
                <a:pos x="0" y="382258994"/>
              </a:cxn>
              <a:cxn ang="0">
                <a:pos x="1118833592" y="0"/>
              </a:cxn>
            </a:cxnLst>
            <a:pathLst>
              <a:path w="235" h="238">
                <a:moveTo>
                  <a:pt x="0" y="238"/>
                </a:moveTo>
                <a:lnTo>
                  <a:pt x="235" y="0"/>
                </a:ln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19834" name="Freeform 116"/>
          <p:cNvSpPr/>
          <p:nvPr/>
        </p:nvSpPr>
        <p:spPr>
          <a:xfrm>
            <a:off x="2501900" y="4319588"/>
            <a:ext cx="2047875" cy="1296987"/>
          </a:xfrm>
          <a:custGeom>
            <a:avLst/>
            <a:gdLst/>
            <a:ahLst/>
            <a:cxnLst>
              <a:cxn ang="0">
                <a:pos x="0" y="2058966069"/>
              </a:cxn>
              <a:cxn ang="0">
                <a:pos x="1381045625" y="713203150"/>
              </a:cxn>
              <a:cxn ang="0">
                <a:pos x="2147483646" y="0"/>
              </a:cxn>
            </a:cxnLst>
            <a:pathLst>
              <a:path w="1290" h="817">
                <a:moveTo>
                  <a:pt x="0" y="817"/>
                </a:moveTo>
                <a:cubicBezTo>
                  <a:pt x="91" y="728"/>
                  <a:pt x="333" y="419"/>
                  <a:pt x="548" y="283"/>
                </a:cubicBezTo>
                <a:cubicBezTo>
                  <a:pt x="816" y="127"/>
                  <a:pt x="1136" y="59"/>
                  <a:pt x="1290"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9835" name="Group 117"/>
          <p:cNvGrpSpPr/>
          <p:nvPr/>
        </p:nvGrpSpPr>
        <p:grpSpPr>
          <a:xfrm>
            <a:off x="3162300" y="4557713"/>
            <a:ext cx="320675" cy="366712"/>
            <a:chOff x="618" y="3500"/>
            <a:chExt cx="202" cy="231"/>
          </a:xfrm>
        </p:grpSpPr>
        <p:sp>
          <p:nvSpPr>
            <p:cNvPr id="119836" name="Oval 118"/>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837" name="Text Box 119"/>
            <p:cNvSpPr txBox="1"/>
            <p:nvPr/>
          </p:nvSpPr>
          <p:spPr>
            <a:xfrm>
              <a:off x="628" y="3500"/>
              <a:ext cx="18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1</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9838" name="Text Box 121"/>
          <p:cNvSpPr txBox="1"/>
          <p:nvPr/>
        </p:nvSpPr>
        <p:spPr>
          <a:xfrm>
            <a:off x="6056313" y="3221038"/>
            <a:ext cx="1647825" cy="517525"/>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foreign net  visited </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at session start</a:t>
            </a:r>
            <a:endParaRPr lang="en-US" altLang="zh-CN" sz="1400" dirty="0">
              <a:latin typeface="Arial" panose="020B0604020202020204" pitchFamily="34" charset="0"/>
              <a:ea typeface="宋体" panose="02010600030101010101" pitchFamily="2" charset="-122"/>
            </a:endParaRPr>
          </a:p>
        </p:txBody>
      </p:sp>
      <p:sp>
        <p:nvSpPr>
          <p:cNvPr id="119839" name="Text Box 122"/>
          <p:cNvSpPr txBox="1"/>
          <p:nvPr/>
        </p:nvSpPr>
        <p:spPr>
          <a:xfrm>
            <a:off x="3867150" y="3641725"/>
            <a:ext cx="985838" cy="730250"/>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anchor</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foreign</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agent</a:t>
            </a:r>
            <a:endParaRPr lang="en-US" altLang="zh-CN" sz="1400" dirty="0">
              <a:latin typeface="Arial" panose="020B0604020202020204" pitchFamily="34" charset="0"/>
              <a:ea typeface="宋体" panose="02010600030101010101" pitchFamily="2" charset="-122"/>
            </a:endParaRPr>
          </a:p>
        </p:txBody>
      </p:sp>
      <p:sp>
        <p:nvSpPr>
          <p:cNvPr id="119840" name="Freeform 123"/>
          <p:cNvSpPr/>
          <p:nvPr/>
        </p:nvSpPr>
        <p:spPr>
          <a:xfrm>
            <a:off x="5146675" y="4430713"/>
            <a:ext cx="1838325" cy="1406525"/>
          </a:xfrm>
          <a:custGeom>
            <a:avLst/>
            <a:gdLst/>
            <a:ahLst/>
            <a:cxnLst>
              <a:cxn ang="0">
                <a:pos x="1614093" y="363078264"/>
              </a:cxn>
              <a:cxn ang="0">
                <a:pos x="140823064" y="138847991"/>
              </a:cxn>
              <a:cxn ang="0">
                <a:pos x="558449341" y="93838668"/>
              </a:cxn>
              <a:cxn ang="0">
                <a:pos x="1047495879" y="46373542"/>
              </a:cxn>
              <a:cxn ang="0">
                <a:pos x="1163704826" y="372080442"/>
              </a:cxn>
              <a:cxn ang="0">
                <a:pos x="1072916090" y="584853255"/>
              </a:cxn>
              <a:cxn ang="0">
                <a:pos x="848972025" y="683056173"/>
              </a:cxn>
              <a:cxn ang="0">
                <a:pos x="661342818" y="703515288"/>
              </a:cxn>
              <a:cxn ang="0">
                <a:pos x="421257827" y="717427507"/>
              </a:cxn>
              <a:cxn ang="0">
                <a:pos x="139612335" y="600402329"/>
              </a:cxn>
              <a:cxn ang="0">
                <a:pos x="1614093" y="363078264"/>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19841" name="Group 124"/>
          <p:cNvGrpSpPr/>
          <p:nvPr/>
        </p:nvGrpSpPr>
        <p:grpSpPr>
          <a:xfrm>
            <a:off x="5422900" y="5408613"/>
            <a:ext cx="501650" cy="233362"/>
            <a:chOff x="3600" y="219"/>
            <a:chExt cx="360" cy="175"/>
          </a:xfrm>
        </p:grpSpPr>
        <p:sp>
          <p:nvSpPr>
            <p:cNvPr id="119842" name="Oval 125"/>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843" name="Line 126"/>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9844" name="Line 127"/>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9845" name="Rectangle 128"/>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9846" name="Oval 129"/>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9847" name="Group 130"/>
            <p:cNvGrpSpPr/>
            <p:nvPr/>
          </p:nvGrpSpPr>
          <p:grpSpPr>
            <a:xfrm>
              <a:off x="3686" y="244"/>
              <a:ext cx="177" cy="66"/>
              <a:chOff x="2848" y="848"/>
              <a:chExt cx="140" cy="98"/>
            </a:xfrm>
          </p:grpSpPr>
          <p:sp>
            <p:nvSpPr>
              <p:cNvPr id="119848" name="Line 131"/>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849" name="Line 132"/>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850" name="Line 133"/>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9851" name="Group 134"/>
            <p:cNvGrpSpPr/>
            <p:nvPr/>
          </p:nvGrpSpPr>
          <p:grpSpPr>
            <a:xfrm flipV="1">
              <a:off x="3686" y="243"/>
              <a:ext cx="177" cy="66"/>
              <a:chOff x="2848" y="848"/>
              <a:chExt cx="140" cy="98"/>
            </a:xfrm>
          </p:grpSpPr>
          <p:sp>
            <p:nvSpPr>
              <p:cNvPr id="119852" name="Line 13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853" name="Line 13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854" name="Line 13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9855" name="Line 138"/>
          <p:cNvSpPr/>
          <p:nvPr/>
        </p:nvSpPr>
        <p:spPr>
          <a:xfrm>
            <a:off x="5468938" y="5268913"/>
            <a:ext cx="1333500" cy="0"/>
          </a:xfrm>
          <a:prstGeom prst="line">
            <a:avLst/>
          </a:prstGeom>
          <a:ln w="19050" cap="flat" cmpd="sng">
            <a:solidFill>
              <a:srgbClr val="000000"/>
            </a:solidFill>
            <a:prstDash val="solid"/>
            <a:round/>
            <a:headEnd type="none" w="med" len="med"/>
            <a:tailEnd type="none" w="med" len="med"/>
          </a:ln>
        </p:spPr>
      </p:sp>
      <p:sp>
        <p:nvSpPr>
          <p:cNvPr id="119856" name="Line 139"/>
          <p:cNvSpPr/>
          <p:nvPr/>
        </p:nvSpPr>
        <p:spPr>
          <a:xfrm>
            <a:off x="5678488" y="5268913"/>
            <a:ext cx="0" cy="171450"/>
          </a:xfrm>
          <a:prstGeom prst="line">
            <a:avLst/>
          </a:prstGeom>
          <a:ln w="19050" cap="flat" cmpd="sng">
            <a:solidFill>
              <a:srgbClr val="000000"/>
            </a:solidFill>
            <a:prstDash val="solid"/>
            <a:round/>
            <a:headEnd type="none" w="med" len="med"/>
            <a:tailEnd type="none" w="med" len="med"/>
          </a:ln>
        </p:spPr>
      </p:sp>
      <p:sp>
        <p:nvSpPr>
          <p:cNvPr id="119857" name="Line 140"/>
          <p:cNvSpPr/>
          <p:nvPr/>
        </p:nvSpPr>
        <p:spPr>
          <a:xfrm>
            <a:off x="6530975" y="5102225"/>
            <a:ext cx="0" cy="171450"/>
          </a:xfrm>
          <a:prstGeom prst="line">
            <a:avLst/>
          </a:prstGeom>
          <a:ln w="19050" cap="flat" cmpd="sng">
            <a:solidFill>
              <a:srgbClr val="000000"/>
            </a:solidFill>
            <a:prstDash val="solid"/>
            <a:round/>
            <a:headEnd type="none" w="med" len="med"/>
            <a:tailEnd type="none" w="med" len="med"/>
          </a:ln>
        </p:spPr>
      </p:sp>
      <p:grpSp>
        <p:nvGrpSpPr>
          <p:cNvPr id="119858" name="Group 141"/>
          <p:cNvGrpSpPr/>
          <p:nvPr/>
        </p:nvGrpSpPr>
        <p:grpSpPr>
          <a:xfrm>
            <a:off x="6073775" y="4630738"/>
            <a:ext cx="914400" cy="590550"/>
            <a:chOff x="10665" y="3225"/>
            <a:chExt cx="1440" cy="930"/>
          </a:xfrm>
        </p:grpSpPr>
        <p:sp>
          <p:nvSpPr>
            <p:cNvPr id="119859" name="Oval 142"/>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9860" name="Group 143"/>
            <p:cNvGrpSpPr/>
            <p:nvPr/>
          </p:nvGrpSpPr>
          <p:grpSpPr>
            <a:xfrm>
              <a:off x="11031" y="3335"/>
              <a:ext cx="565" cy="643"/>
              <a:chOff x="2870" y="1518"/>
              <a:chExt cx="292" cy="320"/>
            </a:xfrm>
          </p:grpSpPr>
          <p:graphicFrame>
            <p:nvGraphicFramePr>
              <p:cNvPr id="119861" name="Object 144"/>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0" name="" r:id="rId3" imgW="826770" imgH="840105" progId="">
                      <p:embed/>
                    </p:oleObj>
                  </mc:Choice>
                  <mc:Fallback>
                    <p:oleObj name="" r:id="rId3" imgW="826770" imgH="840105" progId="">
                      <p:embed/>
                      <p:pic>
                        <p:nvPicPr>
                          <p:cNvPr id="0" name="图片 3159"/>
                          <p:cNvPicPr/>
                          <p:nvPr/>
                        </p:nvPicPr>
                        <p:blipFill>
                          <a:blip r:embed="rId4"/>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19862" name="Object 145"/>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9" name="" r:id="rId5" imgW="1268095" imgH="1199515" progId="">
                      <p:embed/>
                    </p:oleObj>
                  </mc:Choice>
                  <mc:Fallback>
                    <p:oleObj name="" r:id="rId5" imgW="1268095" imgH="1199515" progId="">
                      <p:embed/>
                      <p:pic>
                        <p:nvPicPr>
                          <p:cNvPr id="0" name="图片 3158"/>
                          <p:cNvPicPr/>
                          <p:nvPr/>
                        </p:nvPicPr>
                        <p:blipFill>
                          <a:blip r:embed="rId6"/>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19863" name="Freeform 146"/>
          <p:cNvSpPr/>
          <p:nvPr/>
        </p:nvSpPr>
        <p:spPr>
          <a:xfrm>
            <a:off x="4892675" y="4332288"/>
            <a:ext cx="596900" cy="1054100"/>
          </a:xfrm>
          <a:custGeom>
            <a:avLst/>
            <a:gdLst/>
            <a:ahLst/>
            <a:cxnLst>
              <a:cxn ang="0">
                <a:pos x="947578750" y="1673383750"/>
              </a:cxn>
              <a:cxn ang="0">
                <a:pos x="0" y="0"/>
              </a:cxn>
            </a:cxnLst>
            <a:pathLst>
              <a:path w="376" h="664">
                <a:moveTo>
                  <a:pt x="376" y="664"/>
                </a:moveTo>
                <a:lnTo>
                  <a:pt x="0" y="0"/>
                </a:lnTo>
              </a:path>
            </a:pathLst>
          </a:custGeom>
          <a:noFill/>
          <a:ln w="28575" cap="flat" cmpd="sng">
            <a:solidFill>
              <a:srgbClr val="FF0000"/>
            </a:solidFill>
            <a:prstDash val="solid"/>
            <a:round/>
            <a:headEnd type="triangle" w="med" len="med"/>
            <a:tailEnd type="triangle" w="med" len="med"/>
          </a:ln>
        </p:spPr>
        <p:txBody>
          <a:bodyPr/>
          <a:p>
            <a:endParaRPr lang="zh-CN" altLang="en-US"/>
          </a:p>
        </p:txBody>
      </p:sp>
      <p:grpSp>
        <p:nvGrpSpPr>
          <p:cNvPr id="119864" name="Group 147"/>
          <p:cNvGrpSpPr/>
          <p:nvPr/>
        </p:nvGrpSpPr>
        <p:grpSpPr>
          <a:xfrm>
            <a:off x="5562600" y="3649663"/>
            <a:ext cx="914400" cy="590550"/>
            <a:chOff x="10665" y="3225"/>
            <a:chExt cx="1440" cy="930"/>
          </a:xfrm>
        </p:grpSpPr>
        <p:sp>
          <p:nvSpPr>
            <p:cNvPr id="119865" name="Oval 148"/>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9866" name="Group 149"/>
            <p:cNvGrpSpPr/>
            <p:nvPr/>
          </p:nvGrpSpPr>
          <p:grpSpPr>
            <a:xfrm>
              <a:off x="11038" y="3281"/>
              <a:ext cx="618" cy="667"/>
              <a:chOff x="8023" y="4451"/>
              <a:chExt cx="618" cy="667"/>
            </a:xfrm>
          </p:grpSpPr>
          <p:sp>
            <p:nvSpPr>
              <p:cNvPr id="119867" name="Freeform 150"/>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19868" name="Freeform 151"/>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9869" name="Freeform 152"/>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9870" name="Freeform 153"/>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19871" name="Freeform 154"/>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2" name="Freeform 155"/>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3" name="Freeform 156"/>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4" name="Freeform 157"/>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5" name="Freeform 158"/>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6" name="Freeform 159"/>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7" name="Freeform 160"/>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8" name="Freeform 161"/>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79" name="Freeform 162"/>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80" name="Freeform 163"/>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81" name="Freeform 164"/>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19882" name="Freeform 165"/>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19883" name="Freeform 166"/>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19884" name="Freeform 167"/>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19885" name="Freeform 168"/>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19886" name="Freeform 169"/>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19887" name="Freeform 170"/>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19888" name="Freeform 171"/>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89" name="Freeform 172"/>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0" name="Freeform 173"/>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1" name="Freeform 174"/>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2" name="Freeform 175"/>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3" name="Freeform 176"/>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4" name="Freeform 177"/>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5" name="Freeform 178"/>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6" name="Freeform 179"/>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7" name="Freeform 180"/>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8" name="Freeform 181"/>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899" name="Freeform 182"/>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0" name="Freeform 183"/>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1" name="Freeform 184"/>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2" name="Freeform 185"/>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3" name="Freeform 186"/>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4" name="Freeform 187"/>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5" name="Freeform 188"/>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6" name="Freeform 189"/>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7" name="Freeform 190"/>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8" name="Freeform 191"/>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09" name="Freeform 192"/>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0" name="Freeform 193"/>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1" name="Freeform 194"/>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2" name="Freeform 195"/>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3" name="Freeform 196"/>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4" name="Freeform 197"/>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5" name="Freeform 198"/>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6" name="Freeform 199"/>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7" name="Freeform 200"/>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8" name="Freeform 201"/>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19919" name="Freeform 202"/>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19920" name="Freeform 203"/>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19921" name="Freeform 204"/>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19922" name="Freeform 205"/>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19923" name="Freeform 206"/>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19924" name="Freeform 207"/>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19925" name="Freeform 208"/>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19926" name="Freeform 209"/>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19927" name="Freeform 210"/>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19928" name="Freeform 211"/>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19929" name="Freeform 212"/>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19930" name="Freeform 213"/>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19931" name="Freeform 214"/>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19932" name="Freeform 215"/>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19933" name="Freeform 216"/>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19934" name="Freeform 217"/>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grpSp>
        <p:nvGrpSpPr>
          <p:cNvPr id="119935" name="Group 218"/>
          <p:cNvGrpSpPr/>
          <p:nvPr/>
        </p:nvGrpSpPr>
        <p:grpSpPr>
          <a:xfrm>
            <a:off x="5743575" y="3506788"/>
            <a:ext cx="203200" cy="330200"/>
            <a:chOff x="4544" y="808"/>
            <a:chExt cx="128" cy="208"/>
          </a:xfrm>
        </p:grpSpPr>
        <p:sp>
          <p:nvSpPr>
            <p:cNvPr id="119936" name="Line 219"/>
            <p:cNvSpPr/>
            <p:nvPr/>
          </p:nvSpPr>
          <p:spPr>
            <a:xfrm flipH="1" flipV="1">
              <a:off x="4624" y="808"/>
              <a:ext cx="48" cy="128"/>
            </a:xfrm>
            <a:prstGeom prst="line">
              <a:avLst/>
            </a:prstGeom>
            <a:ln w="28575" cap="flat" cmpd="sng">
              <a:solidFill>
                <a:schemeClr val="bg2"/>
              </a:solidFill>
              <a:prstDash val="sysDot"/>
              <a:round/>
              <a:headEnd type="none" w="med" len="med"/>
              <a:tailEnd type="none" w="med" len="med"/>
            </a:ln>
          </p:spPr>
        </p:sp>
        <p:sp>
          <p:nvSpPr>
            <p:cNvPr id="119937" name="Line 220"/>
            <p:cNvSpPr/>
            <p:nvPr/>
          </p:nvSpPr>
          <p:spPr>
            <a:xfrm flipH="1" flipV="1">
              <a:off x="4584" y="848"/>
              <a:ext cx="48" cy="128"/>
            </a:xfrm>
            <a:prstGeom prst="line">
              <a:avLst/>
            </a:prstGeom>
            <a:ln w="28575" cap="flat" cmpd="sng">
              <a:solidFill>
                <a:schemeClr val="bg2"/>
              </a:solidFill>
              <a:prstDash val="sysDot"/>
              <a:round/>
              <a:headEnd type="none" w="med" len="med"/>
              <a:tailEnd type="none" w="med" len="med"/>
            </a:ln>
          </p:spPr>
        </p:sp>
        <p:sp>
          <p:nvSpPr>
            <p:cNvPr id="119938" name="Line 221"/>
            <p:cNvSpPr/>
            <p:nvPr/>
          </p:nvSpPr>
          <p:spPr>
            <a:xfrm flipH="1" flipV="1">
              <a:off x="4544" y="888"/>
              <a:ext cx="48" cy="128"/>
            </a:xfrm>
            <a:prstGeom prst="line">
              <a:avLst/>
            </a:prstGeom>
            <a:ln w="28575" cap="flat" cmpd="sng">
              <a:solidFill>
                <a:schemeClr val="bg2"/>
              </a:solidFill>
              <a:prstDash val="sysDot"/>
              <a:round/>
              <a:headEnd type="none" w="med" len="med"/>
              <a:tailEnd type="none" w="med" len="med"/>
            </a:ln>
          </p:spPr>
        </p:sp>
      </p:grpSp>
      <p:sp>
        <p:nvSpPr>
          <p:cNvPr id="119939" name="Line 222"/>
          <p:cNvSpPr/>
          <p:nvPr/>
        </p:nvSpPr>
        <p:spPr>
          <a:xfrm>
            <a:off x="6022975" y="4027488"/>
            <a:ext cx="317500" cy="673100"/>
          </a:xfrm>
          <a:prstGeom prst="line">
            <a:avLst/>
          </a:prstGeom>
          <a:ln w="28575" cap="flat" cmpd="sng">
            <a:solidFill>
              <a:schemeClr val="bg2"/>
            </a:solidFill>
            <a:prstDash val="sysDot"/>
            <a:round/>
            <a:headEnd type="none" w="med" len="med"/>
            <a:tailEnd type="triangle" w="med" len="med"/>
          </a:ln>
        </p:spPr>
      </p:sp>
      <p:grpSp>
        <p:nvGrpSpPr>
          <p:cNvPr id="119940" name="Group 223"/>
          <p:cNvGrpSpPr/>
          <p:nvPr/>
        </p:nvGrpSpPr>
        <p:grpSpPr>
          <a:xfrm>
            <a:off x="6194425" y="4152900"/>
            <a:ext cx="357188" cy="366713"/>
            <a:chOff x="618" y="3500"/>
            <a:chExt cx="202" cy="231"/>
          </a:xfrm>
        </p:grpSpPr>
        <p:sp>
          <p:nvSpPr>
            <p:cNvPr id="119941" name="Oval 224"/>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942" name="Text Box 225"/>
            <p:cNvSpPr txBox="1"/>
            <p:nvPr/>
          </p:nvSpPr>
          <p:spPr>
            <a:xfrm>
              <a:off x="628" y="3500"/>
              <a:ext cx="183"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2</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9943" name="Freeform 226"/>
          <p:cNvSpPr/>
          <p:nvPr/>
        </p:nvSpPr>
        <p:spPr>
          <a:xfrm>
            <a:off x="4587875" y="4408488"/>
            <a:ext cx="1828800" cy="1392237"/>
          </a:xfrm>
          <a:custGeom>
            <a:avLst/>
            <a:gdLst/>
            <a:ahLst/>
            <a:cxnLst>
              <a:cxn ang="0">
                <a:pos x="0" y="0"/>
              </a:cxn>
              <a:cxn ang="0">
                <a:pos x="1129030000" y="1955640548"/>
              </a:cxn>
              <a:cxn ang="0">
                <a:pos x="2147483646" y="1532254450"/>
              </a:cxn>
              <a:cxn ang="0">
                <a:pos x="2147483646" y="1149190837"/>
              </a:cxn>
            </a:cxnLst>
            <a:pathLst>
              <a:path w="1152" h="877">
                <a:moveTo>
                  <a:pt x="0" y="0"/>
                </a:moveTo>
                <a:cubicBezTo>
                  <a:pt x="75" y="129"/>
                  <a:pt x="291" y="675"/>
                  <a:pt x="448" y="776"/>
                </a:cubicBezTo>
                <a:cubicBezTo>
                  <a:pt x="605" y="877"/>
                  <a:pt x="840" y="665"/>
                  <a:pt x="944" y="608"/>
                </a:cubicBezTo>
                <a:lnTo>
                  <a:pt x="1152" y="456"/>
                </a:ln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19944" name="Group 227"/>
          <p:cNvGrpSpPr/>
          <p:nvPr/>
        </p:nvGrpSpPr>
        <p:grpSpPr>
          <a:xfrm>
            <a:off x="4978400" y="4565650"/>
            <a:ext cx="339725" cy="366713"/>
            <a:chOff x="618" y="3500"/>
            <a:chExt cx="214" cy="231"/>
          </a:xfrm>
        </p:grpSpPr>
        <p:sp>
          <p:nvSpPr>
            <p:cNvPr id="119945" name="Oval 228"/>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946" name="Text Box 229"/>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4</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19947" name="Text Box 230"/>
          <p:cNvSpPr txBox="1"/>
          <p:nvPr/>
        </p:nvSpPr>
        <p:spPr>
          <a:xfrm>
            <a:off x="5035550" y="5686425"/>
            <a:ext cx="1570038" cy="517525"/>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new foreign</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agent</a:t>
            </a:r>
            <a:endParaRPr lang="en-US" altLang="zh-CN" sz="1400" dirty="0">
              <a:latin typeface="Arial" panose="020B0604020202020204" pitchFamily="34" charset="0"/>
              <a:ea typeface="宋体" panose="02010600030101010101" pitchFamily="2" charset="-122"/>
            </a:endParaRPr>
          </a:p>
        </p:txBody>
      </p:sp>
      <p:sp>
        <p:nvSpPr>
          <p:cNvPr id="119948" name="Freeform 231"/>
          <p:cNvSpPr/>
          <p:nvPr/>
        </p:nvSpPr>
        <p:spPr>
          <a:xfrm flipH="1">
            <a:off x="5768975" y="4929188"/>
            <a:ext cx="546100" cy="419100"/>
          </a:xfrm>
          <a:custGeom>
            <a:avLst/>
            <a:gdLst/>
            <a:ahLst/>
            <a:cxnLst>
              <a:cxn ang="0">
                <a:pos x="793152154" y="264525316"/>
              </a:cxn>
              <a:cxn ang="0">
                <a:pos x="0" y="0"/>
              </a:cxn>
            </a:cxnLst>
            <a:pathLst>
              <a:path w="376" h="664">
                <a:moveTo>
                  <a:pt x="376" y="664"/>
                </a:moveTo>
                <a:lnTo>
                  <a:pt x="0" y="0"/>
                </a:lnTo>
              </a:path>
            </a:pathLst>
          </a:custGeom>
          <a:noFill/>
          <a:ln w="28575" cap="flat" cmpd="sng">
            <a:solidFill>
              <a:srgbClr val="FF0000"/>
            </a:solidFill>
            <a:prstDash val="solid"/>
            <a:round/>
            <a:headEnd type="triangle" w="med" len="med"/>
            <a:tailEnd type="triangle" w="med" len="med"/>
          </a:ln>
        </p:spPr>
        <p:txBody>
          <a:bodyPr/>
          <a:p>
            <a:endParaRPr lang="zh-CN" altLang="en-US"/>
          </a:p>
        </p:txBody>
      </p:sp>
      <p:grpSp>
        <p:nvGrpSpPr>
          <p:cNvPr id="119949" name="Group 232"/>
          <p:cNvGrpSpPr/>
          <p:nvPr/>
        </p:nvGrpSpPr>
        <p:grpSpPr>
          <a:xfrm>
            <a:off x="5867400" y="4938713"/>
            <a:ext cx="339725" cy="366712"/>
            <a:chOff x="618" y="3500"/>
            <a:chExt cx="214" cy="231"/>
          </a:xfrm>
        </p:grpSpPr>
        <p:sp>
          <p:nvSpPr>
            <p:cNvPr id="119950" name="Oval 233"/>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951" name="Text Box 234"/>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3</a:t>
              </a:r>
              <a:endParaRPr lang="en-US" altLang="zh-CN" dirty="0">
                <a:solidFill>
                  <a:srgbClr val="FF0000"/>
                </a:solidFill>
                <a:latin typeface="Comic Sans MS" panose="030F0702030302020204" pitchFamily="66" charset="0"/>
                <a:ea typeface="宋体" panose="02010600030101010101" pitchFamily="2" charset="-122"/>
              </a:endParaRPr>
            </a:p>
          </p:txBody>
        </p:sp>
      </p:grpSp>
      <p:grpSp>
        <p:nvGrpSpPr>
          <p:cNvPr id="119952" name="Group 235"/>
          <p:cNvGrpSpPr/>
          <p:nvPr/>
        </p:nvGrpSpPr>
        <p:grpSpPr>
          <a:xfrm>
            <a:off x="4851400" y="5073650"/>
            <a:ext cx="339725" cy="366713"/>
            <a:chOff x="618" y="3500"/>
            <a:chExt cx="214" cy="231"/>
          </a:xfrm>
        </p:grpSpPr>
        <p:sp>
          <p:nvSpPr>
            <p:cNvPr id="119953" name="Oval 236"/>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954" name="Text Box 237"/>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5</a:t>
              </a:r>
              <a:endParaRPr lang="en-US" altLang="zh-CN" dirty="0">
                <a:solidFill>
                  <a:srgbClr val="FF0000"/>
                </a:solidFill>
                <a:latin typeface="Comic Sans MS" panose="030F0702030302020204" pitchFamily="66" charset="0"/>
                <a:ea typeface="宋体" panose="02010600030101010101" pitchFamily="2" charset="-122"/>
              </a:endParaRPr>
            </a:p>
          </p:txBody>
        </p:sp>
      </p:grpSp>
      <p:grpSp>
        <p:nvGrpSpPr>
          <p:cNvPr id="119955" name="Group 238"/>
          <p:cNvGrpSpPr/>
          <p:nvPr/>
        </p:nvGrpSpPr>
        <p:grpSpPr>
          <a:xfrm>
            <a:off x="2227263" y="5605463"/>
            <a:ext cx="501650" cy="233362"/>
            <a:chOff x="3600" y="219"/>
            <a:chExt cx="360" cy="175"/>
          </a:xfrm>
        </p:grpSpPr>
        <p:sp>
          <p:nvSpPr>
            <p:cNvPr id="119956" name="Oval 239"/>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19957" name="Line 240"/>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19958" name="Line 241"/>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19959" name="Rectangle 242"/>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19960" name="Oval 243"/>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19961" name="Group 244"/>
            <p:cNvGrpSpPr/>
            <p:nvPr/>
          </p:nvGrpSpPr>
          <p:grpSpPr>
            <a:xfrm>
              <a:off x="3686" y="244"/>
              <a:ext cx="177" cy="66"/>
              <a:chOff x="2848" y="848"/>
              <a:chExt cx="140" cy="98"/>
            </a:xfrm>
          </p:grpSpPr>
          <p:sp>
            <p:nvSpPr>
              <p:cNvPr id="119962" name="Line 245"/>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963" name="Line 246"/>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964" name="Line 247"/>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19965" name="Group 248"/>
            <p:cNvGrpSpPr/>
            <p:nvPr/>
          </p:nvGrpSpPr>
          <p:grpSpPr>
            <a:xfrm flipV="1">
              <a:off x="3686" y="243"/>
              <a:ext cx="177" cy="66"/>
              <a:chOff x="2848" y="848"/>
              <a:chExt cx="140" cy="98"/>
            </a:xfrm>
          </p:grpSpPr>
          <p:sp>
            <p:nvSpPr>
              <p:cNvPr id="119966" name="Line 249"/>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19967" name="Line 250"/>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19968" name="Line 251"/>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19969" name="Text Box 252"/>
          <p:cNvSpPr txBox="1"/>
          <p:nvPr/>
        </p:nvSpPr>
        <p:spPr>
          <a:xfrm>
            <a:off x="2686050" y="5572125"/>
            <a:ext cx="1430338" cy="517525"/>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agent</a:t>
            </a:r>
            <a:endParaRPr lang="en-US" altLang="zh-CN" sz="1400" dirty="0">
              <a:latin typeface="Arial" panose="020B0604020202020204" pitchFamily="34" charset="0"/>
              <a:ea typeface="宋体" panose="02010600030101010101" pitchFamily="2" charset="-122"/>
            </a:endParaRPr>
          </a:p>
        </p:txBody>
      </p:sp>
      <p:sp>
        <p:nvSpPr>
          <p:cNvPr id="119970" name="Text Box 253"/>
          <p:cNvSpPr txBox="1"/>
          <p:nvPr/>
        </p:nvSpPr>
        <p:spPr>
          <a:xfrm>
            <a:off x="1162050" y="5978525"/>
            <a:ext cx="1430338" cy="304800"/>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p:txBody>
      </p:sp>
      <p:sp>
        <p:nvSpPr>
          <p:cNvPr id="119971" name="Text Box 254"/>
          <p:cNvSpPr txBox="1"/>
          <p:nvPr/>
        </p:nvSpPr>
        <p:spPr>
          <a:xfrm>
            <a:off x="6381750" y="5356225"/>
            <a:ext cx="909638" cy="730250"/>
          </a:xfrm>
          <a:prstGeom prst="rect">
            <a:avLst/>
          </a:prstGeom>
          <a:noFill/>
          <a:ln w="9525">
            <a:noFill/>
          </a:ln>
        </p:spPr>
        <p:txBody>
          <a:bodyPr anchor="t" anchorCtr="0">
            <a:spAutoFit/>
          </a:bodyPr>
          <a:p>
            <a:pPr eaLnBrk="0" hangingPunct="0">
              <a:buClrTx/>
              <a:buFontTx/>
            </a:pPr>
            <a:r>
              <a:rPr lang="en-US" altLang="zh-CN" sz="1400" dirty="0">
                <a:latin typeface="Arial" panose="020B0604020202020204" pitchFamily="34" charset="0"/>
                <a:ea typeface="宋体" panose="02010600030101010101" pitchFamily="2" charset="-122"/>
              </a:rPr>
              <a:t>new </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foreign</a:t>
            </a:r>
            <a:endParaRPr lang="en-US" altLang="zh-CN" sz="1400" dirty="0">
              <a:latin typeface="Arial" panose="020B0604020202020204" pitchFamily="34" charset="0"/>
              <a:ea typeface="宋体" panose="02010600030101010101" pitchFamily="2" charset="-122"/>
            </a:endParaRPr>
          </a:p>
          <a:p>
            <a:pPr eaLnBrk="0" hangingPunct="0">
              <a:buClrTx/>
              <a:buFontTx/>
            </a:pPr>
            <a:r>
              <a:rPr lang="en-US" altLang="zh-CN" sz="1400" dirty="0">
                <a:latin typeface="Arial" panose="020B0604020202020204" pitchFamily="34" charset="0"/>
                <a:ea typeface="宋体" panose="02010600030101010101" pitchFamily="2" charset="-122"/>
              </a:rPr>
              <a:t>network</a:t>
            </a:r>
            <a:endParaRPr lang="en-US" altLang="zh-CN" sz="1400" dirty="0">
              <a:latin typeface="Arial" panose="020B0604020202020204" pitchFamily="34" charset="0"/>
              <a:ea typeface="宋体" panose="02010600030101010101" pitchFamily="2" charset="-122"/>
            </a:endParaRPr>
          </a:p>
        </p:txBody>
      </p:sp>
      <p:sp>
        <p:nvSpPr>
          <p:cNvPr id="119972" name="Rectangle 256"/>
          <p:cNvSpPr>
            <a:spLocks noGrp="1"/>
          </p:cNvSpPr>
          <p:nvPr>
            <p:ph type="title"/>
          </p:nvPr>
        </p:nvSpPr>
        <p:spPr>
          <a:xfrm>
            <a:off x="381000" y="228600"/>
            <a:ext cx="8596313" cy="1143000"/>
          </a:xfrm>
          <a:ln/>
        </p:spPr>
        <p:txBody>
          <a:bodyPr vert="horz" wrap="square" lIns="91440" tIns="45720" rIns="91440" bIns="45720" anchor="ctr" anchorCtr="0"/>
          <a:p>
            <a:r>
              <a:rPr lang="en-US" altLang="zh-CN" sz="3200" dirty="0">
                <a:ea typeface="宋体" panose="02010600030101010101" pitchFamily="2" charset="-122"/>
              </a:rPr>
              <a:t>Accommodating mobility with direct routing</a:t>
            </a:r>
            <a:endParaRPr lang="en-US" altLang="zh-CN" sz="3200" dirty="0">
              <a:ea typeface="宋体" panose="02010600030101010101" pitchFamily="2" charset="-122"/>
            </a:endParaRPr>
          </a:p>
        </p:txBody>
      </p:sp>
      <p:sp>
        <p:nvSpPr>
          <p:cNvPr id="119973" name="Rectangle 257"/>
          <p:cNvSpPr>
            <a:spLocks noGrp="1"/>
          </p:cNvSpPr>
          <p:nvPr>
            <p:ph idx="1"/>
          </p:nvPr>
        </p:nvSpPr>
        <p:spPr>
          <a:xfrm>
            <a:off x="625475" y="1204913"/>
            <a:ext cx="7772400" cy="1646237"/>
          </a:xfrm>
          <a:ln/>
        </p:spPr>
        <p:txBody>
          <a:bodyPr vert="horz" wrap="square" lIns="91440" tIns="45720" rIns="91440" bIns="45720" anchor="t" anchorCtr="0"/>
          <a:p>
            <a:pPr>
              <a:lnSpc>
                <a:spcPct val="90000"/>
              </a:lnSpc>
            </a:pPr>
            <a:r>
              <a:rPr lang="en-US" altLang="zh-CN" sz="2400" dirty="0">
                <a:ea typeface="宋体" panose="02010600030101010101" pitchFamily="2" charset="-122"/>
              </a:rPr>
              <a:t>anchor foreign agent: FA in first visited network</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data always routed first to anchor FA</a:t>
            </a:r>
            <a:endParaRPr lang="en-US" altLang="zh-CN" sz="2400" dirty="0">
              <a:ea typeface="宋体" panose="02010600030101010101" pitchFamily="2" charset="-122"/>
            </a:endParaRPr>
          </a:p>
          <a:p>
            <a:pPr>
              <a:lnSpc>
                <a:spcPct val="90000"/>
              </a:lnSpc>
            </a:pPr>
            <a:r>
              <a:rPr lang="en-US" altLang="zh-CN" sz="2400" dirty="0">
                <a:ea typeface="宋体" panose="02010600030101010101" pitchFamily="2" charset="-122"/>
              </a:rPr>
              <a:t>when mobile moves: new FA arranges to have data forwarded from old FA (chaining)</a:t>
            </a:r>
            <a:endParaRPr lang="en-US" altLang="zh-CN" sz="2400" dirty="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2185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1859"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outline</a:t>
            </a:r>
            <a:endParaRPr lang="en-US" altLang="zh-CN" dirty="0">
              <a:ea typeface="宋体" panose="02010600030101010101" pitchFamily="2" charset="-122"/>
            </a:endParaRPr>
          </a:p>
        </p:txBody>
      </p:sp>
      <p:sp>
        <p:nvSpPr>
          <p:cNvPr id="121860"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6.1</a:t>
            </a:r>
            <a:r>
              <a:rPr lang="en-US" altLang="zh-CN" sz="2400" dirty="0">
                <a:ea typeface="宋体" panose="02010600030101010101" pitchFamily="2" charset="-122"/>
              </a:rPr>
              <a:t> Introduction</a:t>
            </a:r>
            <a:r>
              <a:rPr lang="en-US" altLang="zh-CN" sz="2400" dirty="0">
                <a:solidFill>
                  <a:srgbClr val="FF0000"/>
                </a:solidFill>
                <a:ea typeface="宋体" panose="02010600030101010101" pitchFamily="2" charset="-122"/>
              </a:rPr>
              <a:t> </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buNone/>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Wireless</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6.2 </a:t>
            </a:r>
            <a:r>
              <a:rPr lang="en-US" altLang="zh-CN" sz="2400" dirty="0">
                <a:ea typeface="宋体" panose="02010600030101010101" pitchFamily="2" charset="-122"/>
              </a:rPr>
              <a:t>Wireless links, characteristics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chemeClr val="accent2"/>
                </a:solidFill>
                <a:ea typeface="宋体" panose="02010600030101010101" pitchFamily="2" charset="-122"/>
              </a:rPr>
              <a:t>6.3</a:t>
            </a:r>
            <a:r>
              <a:rPr lang="en-US" altLang="zh-CN" sz="2400" dirty="0">
                <a:solidFill>
                  <a:srgbClr val="FF0000"/>
                </a:solidFill>
                <a:ea typeface="宋体" panose="02010600030101010101" pitchFamily="2" charset="-122"/>
              </a:rPr>
              <a:t> </a:t>
            </a:r>
            <a:r>
              <a:rPr lang="en-US" altLang="zh-CN" sz="2400" dirty="0">
                <a:solidFill>
                  <a:schemeClr val="tx2"/>
                </a:solidFill>
                <a:ea typeface="宋体" panose="02010600030101010101" pitchFamily="2" charset="-122"/>
              </a:rPr>
              <a:t>IEEE 802.11 wireless LANs (“wi-fi”)</a:t>
            </a:r>
            <a:endParaRPr lang="en-US" altLang="zh-CN" sz="2400" dirty="0">
              <a:solidFill>
                <a:schemeClr val="tx2"/>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6.4</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Cellular Internet Access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a:t>
            </a:r>
            <a:endParaRPr lang="en-US" altLang="zh-CN" sz="2000" dirty="0">
              <a:ea typeface="宋体" panose="02010600030101010101" pitchFamily="2" charset="-122"/>
            </a:endParaRPr>
          </a:p>
        </p:txBody>
      </p:sp>
      <p:sp>
        <p:nvSpPr>
          <p:cNvPr id="121861" name="Rectangle 4"/>
          <p:cNvSpPr>
            <a:spLocks noGrp="1"/>
          </p:cNvSpPr>
          <p:nvPr>
            <p:ph sz="half" idx="2"/>
          </p:nvPr>
        </p:nvSpPr>
        <p:spPr>
          <a:xfrm>
            <a:off x="4495800" y="1600200"/>
            <a:ext cx="4054475" cy="4648200"/>
          </a:xfrm>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Mobility</a:t>
            </a:r>
            <a:endParaRPr lang="en-US" altLang="zh-CN" sz="2400" dirty="0">
              <a:solidFill>
                <a:srgbClr val="0000FF"/>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6.5</a:t>
            </a:r>
            <a:r>
              <a:rPr lang="en-US" altLang="zh-CN" sz="2400" dirty="0">
                <a:ea typeface="宋体" panose="02010600030101010101" pitchFamily="2" charset="-122"/>
              </a:rPr>
              <a:t> Principles: addressing and routing to mobile users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FF0000"/>
                </a:solidFill>
                <a:ea typeface="宋体" panose="02010600030101010101" pitchFamily="2" charset="-122"/>
              </a:rPr>
              <a:t>6.6 Mobile IP</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FF0000"/>
                </a:solidFill>
                <a:ea typeface="宋体" panose="02010600030101010101" pitchFamily="2" charset="-122"/>
              </a:rPr>
              <a:t>6.7 Handling mobility in cellular networks</a:t>
            </a:r>
            <a:endParaRPr lang="en-US" altLang="zh-CN" sz="2400" dirty="0">
              <a:solidFill>
                <a:srgbClr val="FF0000"/>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solidFill>
                  <a:srgbClr val="0000FF"/>
                </a:solidFill>
                <a:ea typeface="宋体" panose="02010600030101010101" pitchFamily="2" charset="-122"/>
              </a:rPr>
              <a:t>6.8</a:t>
            </a:r>
            <a:r>
              <a:rPr lang="en-US" altLang="zh-CN" sz="2400" dirty="0">
                <a:ea typeface="宋体" panose="02010600030101010101" pitchFamily="2" charset="-122"/>
              </a:rPr>
              <a:t> Mobility and higher-layer protocols</a:t>
            </a: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pPr>
            <a:endParaRPr lang="en-US" altLang="zh-CN" sz="2400" dirty="0">
              <a:ea typeface="宋体" panose="02010600030101010101" pitchFamily="2" charset="-122"/>
            </a:endParaRPr>
          </a:p>
          <a:p>
            <a:pPr>
              <a:lnSpc>
                <a:spcPct val="90000"/>
              </a:lnSpc>
              <a:buClr>
                <a:schemeClr val="accent2"/>
              </a:buClr>
              <a:buSzPct val="85000"/>
              <a:buFont typeface="ZapfDingbats" pitchFamily="82" charset="2"/>
              <a:buNone/>
            </a:pPr>
            <a:r>
              <a:rPr lang="en-US" altLang="zh-CN" sz="2400" dirty="0">
                <a:solidFill>
                  <a:srgbClr val="0000FF"/>
                </a:solidFill>
                <a:ea typeface="宋体" panose="02010600030101010101" pitchFamily="2" charset="-122"/>
              </a:rPr>
              <a:t>6.9</a:t>
            </a:r>
            <a:r>
              <a:rPr lang="en-US" altLang="zh-CN" sz="2400" dirty="0">
                <a:solidFill>
                  <a:srgbClr val="FF0000"/>
                </a:solidFill>
                <a:ea typeface="宋体" panose="02010600030101010101" pitchFamily="2" charset="-122"/>
              </a:rPr>
              <a:t> </a:t>
            </a:r>
            <a:r>
              <a:rPr lang="en-US" altLang="zh-CN" sz="2400" dirty="0">
                <a:ea typeface="宋体" panose="02010600030101010101" pitchFamily="2" charset="-122"/>
              </a:rPr>
              <a:t>Summary</a:t>
            </a:r>
            <a:endParaRPr lang="en-US" altLang="zh-CN" sz="2400" dirty="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239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3907"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Mobile IP</a:t>
            </a:r>
            <a:endParaRPr lang="en-US" altLang="zh-CN" dirty="0">
              <a:ea typeface="宋体" panose="02010600030101010101" pitchFamily="2" charset="-122"/>
            </a:endParaRPr>
          </a:p>
        </p:txBody>
      </p:sp>
      <p:sp>
        <p:nvSpPr>
          <p:cNvPr id="123908" name="Rectangle 3"/>
          <p:cNvSpPr>
            <a:spLocks noGrp="1"/>
          </p:cNvSpPr>
          <p:nvPr>
            <p:ph idx="1"/>
          </p:nvPr>
        </p:nvSpPr>
        <p:spPr>
          <a:ln/>
        </p:spPr>
        <p:txBody>
          <a:bodyPr vert="horz" wrap="square" lIns="91440" tIns="45720" rIns="91440" bIns="45720" anchor="t" anchorCtr="0"/>
          <a:p>
            <a:r>
              <a:rPr lang="en-US" altLang="zh-CN" dirty="0">
                <a:ea typeface="宋体" panose="02010600030101010101" pitchFamily="2" charset="-122"/>
              </a:rPr>
              <a:t>RFC 3344</a:t>
            </a:r>
            <a:endParaRPr lang="en-US" altLang="zh-CN" dirty="0">
              <a:ea typeface="宋体" panose="02010600030101010101" pitchFamily="2" charset="-122"/>
            </a:endParaRPr>
          </a:p>
          <a:p>
            <a:r>
              <a:rPr lang="en-US" altLang="zh-CN" dirty="0">
                <a:ea typeface="宋体" panose="02010600030101010101" pitchFamily="2" charset="-122"/>
              </a:rPr>
              <a:t>has many features we’ve seen: </a:t>
            </a:r>
            <a:endParaRPr lang="en-US" altLang="zh-CN" dirty="0">
              <a:ea typeface="宋体" panose="02010600030101010101" pitchFamily="2" charset="-122"/>
            </a:endParaRPr>
          </a:p>
          <a:p>
            <a:pPr lvl="1"/>
            <a:r>
              <a:rPr lang="en-US" altLang="zh-CN" dirty="0">
                <a:ea typeface="宋体" panose="02010600030101010101" pitchFamily="2" charset="-122"/>
              </a:rPr>
              <a:t>home agents, foreign agents, foreign-agent registration, care-of-addresses, encapsulation (packet-within-a-packet)</a:t>
            </a:r>
            <a:endParaRPr lang="en-US" altLang="zh-CN" dirty="0">
              <a:ea typeface="宋体" panose="02010600030101010101" pitchFamily="2" charset="-122"/>
            </a:endParaRPr>
          </a:p>
          <a:p>
            <a:r>
              <a:rPr lang="en-US" altLang="zh-CN" dirty="0">
                <a:ea typeface="宋体" panose="02010600030101010101" pitchFamily="2" charset="-122"/>
              </a:rPr>
              <a:t>three components to standard:</a:t>
            </a:r>
            <a:endParaRPr lang="en-US" altLang="zh-CN" dirty="0">
              <a:ea typeface="宋体" panose="02010600030101010101" pitchFamily="2" charset="-122"/>
            </a:endParaRPr>
          </a:p>
          <a:p>
            <a:pPr lvl="1"/>
            <a:r>
              <a:rPr lang="en-US" altLang="zh-CN" dirty="0">
                <a:ea typeface="宋体" panose="02010600030101010101" pitchFamily="2" charset="-122"/>
              </a:rPr>
              <a:t>indirect routing of datagrams</a:t>
            </a:r>
            <a:endParaRPr lang="en-US" altLang="zh-CN" dirty="0">
              <a:ea typeface="宋体" panose="02010600030101010101" pitchFamily="2" charset="-122"/>
            </a:endParaRPr>
          </a:p>
          <a:p>
            <a:pPr lvl="1"/>
            <a:r>
              <a:rPr lang="en-US" altLang="zh-CN" dirty="0">
                <a:ea typeface="宋体" panose="02010600030101010101" pitchFamily="2" charset="-122"/>
              </a:rPr>
              <a:t>agent discovery</a:t>
            </a:r>
            <a:endParaRPr lang="en-US" altLang="zh-CN" dirty="0">
              <a:ea typeface="宋体" panose="02010600030101010101" pitchFamily="2" charset="-122"/>
            </a:endParaRPr>
          </a:p>
          <a:p>
            <a:pPr lvl="1"/>
            <a:r>
              <a:rPr lang="en-US" altLang="zh-CN" dirty="0">
                <a:ea typeface="宋体" panose="02010600030101010101" pitchFamily="2" charset="-122"/>
              </a:rPr>
              <a:t>registration with home agent</a:t>
            </a:r>
            <a:endParaRPr lang="en-US" altLang="zh-CN" dirty="0">
              <a:ea typeface="宋体" panose="02010600030101010101" pitchFamily="2" charset="-122"/>
            </a:endParaRPr>
          </a:p>
          <a:p>
            <a:pPr lvl="1"/>
            <a:endParaRPr lang="en-US" altLang="zh-CN" dirty="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2595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5955" name="Freeform 2"/>
          <p:cNvSpPr/>
          <p:nvPr/>
        </p:nvSpPr>
        <p:spPr>
          <a:xfrm>
            <a:off x="4302125" y="4129088"/>
            <a:ext cx="1838325" cy="1089025"/>
          </a:xfrm>
          <a:custGeom>
            <a:avLst/>
            <a:gdLst/>
            <a:ahLst/>
            <a:cxnLst>
              <a:cxn ang="0">
                <a:pos x="182292267" y="4579320"/>
              </a:cxn>
              <a:cxn ang="0">
                <a:pos x="45573205" y="100743377"/>
              </a:cxn>
              <a:cxn ang="0">
                <a:pos x="917503" y="325431722"/>
              </a:cxn>
              <a:cxn ang="0">
                <a:pos x="51384613" y="490284470"/>
              </a:cxn>
              <a:cxn ang="0">
                <a:pos x="186268668" y="558973161"/>
              </a:cxn>
              <a:cxn ang="0">
                <a:pos x="331246366" y="526918475"/>
              </a:cxn>
              <a:cxn ang="0">
                <a:pos x="473471001" y="572710567"/>
              </a:cxn>
              <a:cxn ang="0">
                <a:pos x="725805441" y="586448527"/>
              </a:cxn>
              <a:cxn ang="0">
                <a:pos x="991903538" y="481125830"/>
              </a:cxn>
              <a:cxn ang="0">
                <a:pos x="874453706" y="285439475"/>
              </a:cxn>
              <a:cxn ang="0">
                <a:pos x="830103839" y="135545765"/>
              </a:cxn>
              <a:cxn ang="0">
                <a:pos x="524243945" y="73878550"/>
              </a:cxn>
              <a:cxn ang="0">
                <a:pos x="182292267" y="4579320"/>
              </a:cxn>
            </a:cxnLst>
            <a:pathLst>
              <a:path w="3324" h="1971">
                <a:moveTo>
                  <a:pt x="596" y="15"/>
                </a:moveTo>
                <a:cubicBezTo>
                  <a:pt x="335" y="29"/>
                  <a:pt x="248" y="155"/>
                  <a:pt x="149" y="330"/>
                </a:cubicBezTo>
                <a:cubicBezTo>
                  <a:pt x="50" y="505"/>
                  <a:pt x="0" y="853"/>
                  <a:pt x="3" y="1066"/>
                </a:cubicBezTo>
                <a:cubicBezTo>
                  <a:pt x="6" y="1279"/>
                  <a:pt x="67" y="1478"/>
                  <a:pt x="168" y="1606"/>
                </a:cubicBezTo>
                <a:cubicBezTo>
                  <a:pt x="269" y="1734"/>
                  <a:pt x="457" y="1811"/>
                  <a:pt x="609" y="1831"/>
                </a:cubicBezTo>
                <a:cubicBezTo>
                  <a:pt x="761" y="1851"/>
                  <a:pt x="927" y="1719"/>
                  <a:pt x="1083" y="1726"/>
                </a:cubicBezTo>
                <a:cubicBezTo>
                  <a:pt x="1239" y="1733"/>
                  <a:pt x="1333" y="1844"/>
                  <a:pt x="1548" y="1876"/>
                </a:cubicBezTo>
                <a:cubicBezTo>
                  <a:pt x="1763" y="1908"/>
                  <a:pt x="2091" y="1971"/>
                  <a:pt x="2373" y="1921"/>
                </a:cubicBezTo>
                <a:cubicBezTo>
                  <a:pt x="2655" y="1871"/>
                  <a:pt x="3162" y="1740"/>
                  <a:pt x="3243" y="1576"/>
                </a:cubicBezTo>
                <a:cubicBezTo>
                  <a:pt x="3324" y="1412"/>
                  <a:pt x="2947" y="1124"/>
                  <a:pt x="2859" y="935"/>
                </a:cubicBezTo>
                <a:cubicBezTo>
                  <a:pt x="2771" y="746"/>
                  <a:pt x="2905" y="559"/>
                  <a:pt x="2714" y="444"/>
                </a:cubicBezTo>
                <a:cubicBezTo>
                  <a:pt x="2523" y="328"/>
                  <a:pt x="2063" y="315"/>
                  <a:pt x="1714" y="242"/>
                </a:cubicBezTo>
                <a:cubicBezTo>
                  <a:pt x="1366" y="168"/>
                  <a:pt x="857" y="0"/>
                  <a:pt x="596" y="15"/>
                </a:cubicBezTo>
                <a:close/>
              </a:path>
            </a:pathLst>
          </a:custGeom>
          <a:solidFill>
            <a:srgbClr val="33CCCC"/>
          </a:solidFill>
          <a:ln w="9525">
            <a:noFill/>
          </a:ln>
        </p:spPr>
        <p:txBody>
          <a:bodyPr/>
          <a:p>
            <a:endParaRPr lang="zh-CN" altLang="en-US"/>
          </a:p>
        </p:txBody>
      </p:sp>
      <p:sp>
        <p:nvSpPr>
          <p:cNvPr id="125956" name="Rectangle 3"/>
          <p:cNvSpPr>
            <a:spLocks noGrp="1"/>
          </p:cNvSpPr>
          <p:nvPr>
            <p:ph type="title"/>
          </p:nvPr>
        </p:nvSpPr>
        <p:spPr>
          <a:xfrm>
            <a:off x="533400" y="228600"/>
            <a:ext cx="8120063" cy="1143000"/>
          </a:xfrm>
          <a:ln/>
        </p:spPr>
        <p:txBody>
          <a:bodyPr vert="horz" wrap="square" lIns="91440" tIns="45720" rIns="91440" bIns="45720" anchor="ctr" anchorCtr="0"/>
          <a:p>
            <a:r>
              <a:rPr lang="en-US" altLang="zh-CN" sz="3600" dirty="0">
                <a:ea typeface="宋体" panose="02010600030101010101" pitchFamily="2" charset="-122"/>
              </a:rPr>
              <a:t>Mobile IP: indirect routing</a:t>
            </a:r>
            <a:endParaRPr lang="en-US" altLang="zh-CN" sz="3600" dirty="0">
              <a:ea typeface="宋体" panose="02010600030101010101" pitchFamily="2" charset="-122"/>
            </a:endParaRPr>
          </a:p>
        </p:txBody>
      </p:sp>
      <p:sp>
        <p:nvSpPr>
          <p:cNvPr id="125957" name="Freeform 4"/>
          <p:cNvSpPr/>
          <p:nvPr/>
        </p:nvSpPr>
        <p:spPr>
          <a:xfrm>
            <a:off x="2317750" y="3646488"/>
            <a:ext cx="1625600" cy="1384300"/>
          </a:xfrm>
          <a:custGeom>
            <a:avLst/>
            <a:gdLst/>
            <a:ahLst/>
            <a:cxnLst>
              <a:cxn ang="0">
                <a:pos x="809432339" y="56740028"/>
              </a:cxn>
              <a:cxn ang="0">
                <a:pos x="120678964" y="81056518"/>
              </a:cxn>
              <a:cxn ang="0">
                <a:pos x="85358558" y="543079138"/>
              </a:cxn>
              <a:cxn ang="0">
                <a:pos x="41207747" y="972678221"/>
              </a:cxn>
              <a:cxn ang="0">
                <a:pos x="164829774" y="1175320679"/>
              </a:cxn>
              <a:cxn ang="0">
                <a:pos x="791771530" y="1183425401"/>
              </a:cxn>
              <a:cxn ang="0">
                <a:pos x="941884771" y="1523863243"/>
              </a:cxn>
              <a:cxn ang="0">
                <a:pos x="1816071795" y="1483334984"/>
              </a:cxn>
              <a:cxn ang="0">
                <a:pos x="1877882202" y="770036925"/>
              </a:cxn>
              <a:cxn ang="0">
                <a:pos x="1771920984" y="462022620"/>
              </a:cxn>
              <a:cxn ang="0">
                <a:pos x="1118488014" y="389071986"/>
              </a:cxn>
              <a:cxn ang="0">
                <a:pos x="809432339" y="56740028"/>
              </a:cxn>
            </a:cxnLst>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33CCCC"/>
          </a:solidFill>
          <a:ln w="9525">
            <a:noFill/>
          </a:ln>
        </p:spPr>
        <p:txBody>
          <a:bodyPr/>
          <a:p>
            <a:endParaRPr lang="zh-CN" altLang="en-US"/>
          </a:p>
        </p:txBody>
      </p:sp>
      <p:grpSp>
        <p:nvGrpSpPr>
          <p:cNvPr id="125958" name="Group 5"/>
          <p:cNvGrpSpPr/>
          <p:nvPr/>
        </p:nvGrpSpPr>
        <p:grpSpPr>
          <a:xfrm>
            <a:off x="3236913" y="4511675"/>
            <a:ext cx="436562" cy="203200"/>
            <a:chOff x="3600" y="219"/>
            <a:chExt cx="360" cy="175"/>
          </a:xfrm>
        </p:grpSpPr>
        <p:sp>
          <p:nvSpPr>
            <p:cNvPr id="125959" name="Oval 6"/>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5960" name="Line 7"/>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25961" name="Line 8"/>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25962" name="Rectangle 9"/>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25963" name="Oval 10"/>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25964" name="Group 11"/>
            <p:cNvGrpSpPr/>
            <p:nvPr/>
          </p:nvGrpSpPr>
          <p:grpSpPr>
            <a:xfrm>
              <a:off x="3686" y="244"/>
              <a:ext cx="177" cy="66"/>
              <a:chOff x="2848" y="848"/>
              <a:chExt cx="140" cy="98"/>
            </a:xfrm>
          </p:grpSpPr>
          <p:sp>
            <p:nvSpPr>
              <p:cNvPr id="125965" name="Line 1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25966" name="Line 1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25967" name="Line 1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25968" name="Group 15"/>
            <p:cNvGrpSpPr/>
            <p:nvPr/>
          </p:nvGrpSpPr>
          <p:grpSpPr>
            <a:xfrm flipV="1">
              <a:off x="3686" y="243"/>
              <a:ext cx="177" cy="66"/>
              <a:chOff x="2848" y="848"/>
              <a:chExt cx="140" cy="98"/>
            </a:xfrm>
          </p:grpSpPr>
          <p:sp>
            <p:nvSpPr>
              <p:cNvPr id="125969" name="Line 1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25970" name="Line 1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25971" name="Line 1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grpSp>
        <p:nvGrpSpPr>
          <p:cNvPr id="125972" name="Group 19"/>
          <p:cNvGrpSpPr/>
          <p:nvPr/>
        </p:nvGrpSpPr>
        <p:grpSpPr>
          <a:xfrm>
            <a:off x="2455863" y="4211638"/>
            <a:ext cx="1160462" cy="298450"/>
            <a:chOff x="8025" y="5070"/>
            <a:chExt cx="2100" cy="540"/>
          </a:xfrm>
        </p:grpSpPr>
        <p:sp>
          <p:nvSpPr>
            <p:cNvPr id="125973" name="Line 20"/>
            <p:cNvSpPr/>
            <p:nvPr/>
          </p:nvSpPr>
          <p:spPr>
            <a:xfrm>
              <a:off x="8025" y="5325"/>
              <a:ext cx="2100" cy="0"/>
            </a:xfrm>
            <a:prstGeom prst="line">
              <a:avLst/>
            </a:prstGeom>
            <a:ln w="19050" cap="flat" cmpd="sng">
              <a:solidFill>
                <a:srgbClr val="000000"/>
              </a:solidFill>
              <a:prstDash val="solid"/>
              <a:round/>
              <a:headEnd type="none" w="med" len="med"/>
              <a:tailEnd type="none" w="med" len="med"/>
            </a:ln>
          </p:spPr>
        </p:sp>
        <p:sp>
          <p:nvSpPr>
            <p:cNvPr id="125974" name="Line 21"/>
            <p:cNvSpPr/>
            <p:nvPr/>
          </p:nvSpPr>
          <p:spPr>
            <a:xfrm>
              <a:off x="8355" y="5070"/>
              <a:ext cx="0" cy="270"/>
            </a:xfrm>
            <a:prstGeom prst="line">
              <a:avLst/>
            </a:prstGeom>
            <a:ln w="19050" cap="flat" cmpd="sng">
              <a:solidFill>
                <a:srgbClr val="000000"/>
              </a:solidFill>
              <a:prstDash val="solid"/>
              <a:round/>
              <a:headEnd type="none" w="med" len="med"/>
              <a:tailEnd type="none" w="med" len="med"/>
            </a:ln>
          </p:spPr>
        </p:sp>
        <p:sp>
          <p:nvSpPr>
            <p:cNvPr id="125975" name="Line 22"/>
            <p:cNvSpPr/>
            <p:nvPr/>
          </p:nvSpPr>
          <p:spPr>
            <a:xfrm>
              <a:off x="9765" y="5340"/>
              <a:ext cx="0" cy="270"/>
            </a:xfrm>
            <a:prstGeom prst="line">
              <a:avLst/>
            </a:prstGeom>
            <a:ln w="19050" cap="flat" cmpd="sng">
              <a:solidFill>
                <a:srgbClr val="000000"/>
              </a:solidFill>
              <a:prstDash val="solid"/>
              <a:round/>
              <a:headEnd type="none" w="med" len="med"/>
              <a:tailEnd type="none" w="med" len="med"/>
            </a:ln>
          </p:spPr>
        </p:sp>
      </p:grpSp>
      <p:grpSp>
        <p:nvGrpSpPr>
          <p:cNvPr id="125976" name="Group 23"/>
          <p:cNvGrpSpPr/>
          <p:nvPr/>
        </p:nvGrpSpPr>
        <p:grpSpPr>
          <a:xfrm>
            <a:off x="2236788" y="3827463"/>
            <a:ext cx="796925" cy="512762"/>
            <a:chOff x="10665" y="3225"/>
            <a:chExt cx="1440" cy="930"/>
          </a:xfrm>
        </p:grpSpPr>
        <p:sp>
          <p:nvSpPr>
            <p:cNvPr id="125977" name="Oval 24"/>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25978" name="Group 25"/>
            <p:cNvGrpSpPr/>
            <p:nvPr/>
          </p:nvGrpSpPr>
          <p:grpSpPr>
            <a:xfrm>
              <a:off x="11038" y="3281"/>
              <a:ext cx="618" cy="667"/>
              <a:chOff x="8023" y="4451"/>
              <a:chExt cx="618" cy="667"/>
            </a:xfrm>
          </p:grpSpPr>
          <p:sp>
            <p:nvSpPr>
              <p:cNvPr id="125979" name="Freeform 26"/>
              <p:cNvSpPr/>
              <p:nvPr/>
            </p:nvSpPr>
            <p:spPr>
              <a:xfrm>
                <a:off x="8279" y="4653"/>
                <a:ext cx="263" cy="380"/>
              </a:xfrm>
              <a:custGeom>
                <a:avLst/>
                <a:gdLst/>
                <a:ahLst/>
                <a:cxnLst>
                  <a:cxn ang="0">
                    <a:pos x="33" y="0"/>
                  </a:cxn>
                  <a:cxn ang="0">
                    <a:pos x="29" y="0"/>
                  </a:cxn>
                  <a:cxn ang="0">
                    <a:pos x="24" y="0"/>
                  </a:cxn>
                  <a:cxn ang="0">
                    <a:pos x="19" y="1"/>
                  </a:cxn>
                  <a:cxn ang="0">
                    <a:pos x="13" y="3"/>
                  </a:cxn>
                  <a:cxn ang="0">
                    <a:pos x="7" y="5"/>
                  </a:cxn>
                  <a:cxn ang="0">
                    <a:pos x="3" y="8"/>
                  </a:cxn>
                  <a:cxn ang="0">
                    <a:pos x="1" y="12"/>
                  </a:cxn>
                  <a:cxn ang="0">
                    <a:pos x="0" y="15"/>
                  </a:cxn>
                  <a:cxn ang="0">
                    <a:pos x="0" y="17"/>
                  </a:cxn>
                  <a:cxn ang="0">
                    <a:pos x="1" y="22"/>
                  </a:cxn>
                  <a:cxn ang="0">
                    <a:pos x="4" y="32"/>
                  </a:cxn>
                  <a:cxn ang="0">
                    <a:pos x="8" y="46"/>
                  </a:cxn>
                  <a:cxn ang="0">
                    <a:pos x="14" y="60"/>
                  </a:cxn>
                  <a:cxn ang="0">
                    <a:pos x="20" y="76"/>
                  </a:cxn>
                  <a:cxn ang="0">
                    <a:pos x="26" y="91"/>
                  </a:cxn>
                  <a:cxn ang="0">
                    <a:pos x="33" y="106"/>
                  </a:cxn>
                  <a:cxn ang="0">
                    <a:pos x="39" y="118"/>
                  </a:cxn>
                  <a:cxn ang="0">
                    <a:pos x="43" y="124"/>
                  </a:cxn>
                  <a:cxn ang="0">
                    <a:pos x="45" y="126"/>
                  </a:cxn>
                  <a:cxn ang="0">
                    <a:pos x="49" y="126"/>
                  </a:cxn>
                  <a:cxn ang="0">
                    <a:pos x="54" y="124"/>
                  </a:cxn>
                  <a:cxn ang="0">
                    <a:pos x="61" y="121"/>
                  </a:cxn>
                  <a:cxn ang="0">
                    <a:pos x="68" y="119"/>
                  </a:cxn>
                  <a:cxn ang="0">
                    <a:pos x="74" y="116"/>
                  </a:cxn>
                  <a:cxn ang="0">
                    <a:pos x="80" y="113"/>
                  </a:cxn>
                  <a:cxn ang="0">
                    <a:pos x="85" y="110"/>
                  </a:cxn>
                  <a:cxn ang="0">
                    <a:pos x="87" y="108"/>
                  </a:cxn>
                  <a:cxn ang="0">
                    <a:pos x="84" y="102"/>
                  </a:cxn>
                  <a:cxn ang="0">
                    <a:pos x="76" y="90"/>
                  </a:cxn>
                  <a:cxn ang="0">
                    <a:pos x="68" y="77"/>
                  </a:cxn>
                  <a:cxn ang="0">
                    <a:pos x="60" y="62"/>
                  </a:cxn>
                  <a:cxn ang="0">
                    <a:pos x="52" y="47"/>
                  </a:cxn>
                  <a:cxn ang="0">
                    <a:pos x="45" y="32"/>
                  </a:cxn>
                  <a:cxn ang="0">
                    <a:pos x="39" y="18"/>
                  </a:cxn>
                  <a:cxn ang="0">
                    <a:pos x="35" y="5"/>
                  </a:cxn>
                </a:cxnLst>
                <a:pathLst>
                  <a:path w="788" h="1138">
                    <a:moveTo>
                      <a:pt x="310" y="2"/>
                    </a:moveTo>
                    <a:lnTo>
                      <a:pt x="298" y="0"/>
                    </a:lnTo>
                    <a:lnTo>
                      <a:pt x="282" y="0"/>
                    </a:lnTo>
                    <a:lnTo>
                      <a:pt x="263" y="0"/>
                    </a:lnTo>
                    <a:lnTo>
                      <a:pt x="242" y="2"/>
                    </a:lnTo>
                    <a:lnTo>
                      <a:pt x="219" y="4"/>
                    </a:lnTo>
                    <a:lnTo>
                      <a:pt x="192" y="7"/>
                    </a:lnTo>
                    <a:lnTo>
                      <a:pt x="167" y="12"/>
                    </a:lnTo>
                    <a:lnTo>
                      <a:pt x="141" y="17"/>
                    </a:lnTo>
                    <a:lnTo>
                      <a:pt x="116" y="25"/>
                    </a:lnTo>
                    <a:lnTo>
                      <a:pt x="91" y="35"/>
                    </a:lnTo>
                    <a:lnTo>
                      <a:pt x="67" y="45"/>
                    </a:lnTo>
                    <a:lnTo>
                      <a:pt x="47" y="58"/>
                    </a:lnTo>
                    <a:lnTo>
                      <a:pt x="29" y="73"/>
                    </a:lnTo>
                    <a:lnTo>
                      <a:pt x="16" y="91"/>
                    </a:lnTo>
                    <a:lnTo>
                      <a:pt x="6" y="109"/>
                    </a:lnTo>
                    <a:lnTo>
                      <a:pt x="0" y="131"/>
                    </a:lnTo>
                    <a:lnTo>
                      <a:pt x="0" y="137"/>
                    </a:lnTo>
                    <a:lnTo>
                      <a:pt x="1" y="144"/>
                    </a:lnTo>
                    <a:lnTo>
                      <a:pt x="3" y="152"/>
                    </a:lnTo>
                    <a:lnTo>
                      <a:pt x="4" y="162"/>
                    </a:lnTo>
                    <a:lnTo>
                      <a:pt x="13" y="197"/>
                    </a:lnTo>
                    <a:lnTo>
                      <a:pt x="25" y="240"/>
                    </a:lnTo>
                    <a:lnTo>
                      <a:pt x="39" y="290"/>
                    </a:lnTo>
                    <a:lnTo>
                      <a:pt x="57" y="348"/>
                    </a:lnTo>
                    <a:lnTo>
                      <a:pt x="76" y="410"/>
                    </a:lnTo>
                    <a:lnTo>
                      <a:pt x="100" y="474"/>
                    </a:lnTo>
                    <a:lnTo>
                      <a:pt x="123" y="543"/>
                    </a:lnTo>
                    <a:lnTo>
                      <a:pt x="150" y="612"/>
                    </a:lnTo>
                    <a:lnTo>
                      <a:pt x="176" y="684"/>
                    </a:lnTo>
                    <a:lnTo>
                      <a:pt x="205" y="753"/>
                    </a:lnTo>
                    <a:lnTo>
                      <a:pt x="235" y="822"/>
                    </a:lnTo>
                    <a:lnTo>
                      <a:pt x="264" y="887"/>
                    </a:lnTo>
                    <a:lnTo>
                      <a:pt x="293" y="949"/>
                    </a:lnTo>
                    <a:lnTo>
                      <a:pt x="323" y="1005"/>
                    </a:lnTo>
                    <a:lnTo>
                      <a:pt x="352" y="1055"/>
                    </a:lnTo>
                    <a:lnTo>
                      <a:pt x="381" y="1098"/>
                    </a:lnTo>
                    <a:lnTo>
                      <a:pt x="389" y="1109"/>
                    </a:lnTo>
                    <a:lnTo>
                      <a:pt x="398" y="1120"/>
                    </a:lnTo>
                    <a:lnTo>
                      <a:pt x="406" y="1130"/>
                    </a:lnTo>
                    <a:lnTo>
                      <a:pt x="414" y="1138"/>
                    </a:lnTo>
                    <a:lnTo>
                      <a:pt x="436" y="1130"/>
                    </a:lnTo>
                    <a:lnTo>
                      <a:pt x="461" y="1121"/>
                    </a:lnTo>
                    <a:lnTo>
                      <a:pt x="487" y="1111"/>
                    </a:lnTo>
                    <a:lnTo>
                      <a:pt x="517" y="1099"/>
                    </a:lnTo>
                    <a:lnTo>
                      <a:pt x="547" y="1088"/>
                    </a:lnTo>
                    <a:lnTo>
                      <a:pt x="578" y="1075"/>
                    </a:lnTo>
                    <a:lnTo>
                      <a:pt x="609" y="1062"/>
                    </a:lnTo>
                    <a:lnTo>
                      <a:pt x="640" y="1049"/>
                    </a:lnTo>
                    <a:lnTo>
                      <a:pt x="669" y="1036"/>
                    </a:lnTo>
                    <a:lnTo>
                      <a:pt x="697" y="1023"/>
                    </a:lnTo>
                    <a:lnTo>
                      <a:pt x="722" y="1012"/>
                    </a:lnTo>
                    <a:lnTo>
                      <a:pt x="744" y="999"/>
                    </a:lnTo>
                    <a:lnTo>
                      <a:pt x="762" y="987"/>
                    </a:lnTo>
                    <a:lnTo>
                      <a:pt x="775" y="977"/>
                    </a:lnTo>
                    <a:lnTo>
                      <a:pt x="785" y="967"/>
                    </a:lnTo>
                    <a:lnTo>
                      <a:pt x="788" y="959"/>
                    </a:lnTo>
                    <a:lnTo>
                      <a:pt x="756" y="915"/>
                    </a:lnTo>
                    <a:lnTo>
                      <a:pt x="722" y="868"/>
                    </a:lnTo>
                    <a:lnTo>
                      <a:pt x="687" y="813"/>
                    </a:lnTo>
                    <a:lnTo>
                      <a:pt x="650" y="755"/>
                    </a:lnTo>
                    <a:lnTo>
                      <a:pt x="612" y="693"/>
                    </a:lnTo>
                    <a:lnTo>
                      <a:pt x="575" y="627"/>
                    </a:lnTo>
                    <a:lnTo>
                      <a:pt x="537" y="561"/>
                    </a:lnTo>
                    <a:lnTo>
                      <a:pt x="500" y="492"/>
                    </a:lnTo>
                    <a:lnTo>
                      <a:pt x="467" y="423"/>
                    </a:lnTo>
                    <a:lnTo>
                      <a:pt x="433" y="354"/>
                    </a:lnTo>
                    <a:lnTo>
                      <a:pt x="404" y="287"/>
                    </a:lnTo>
                    <a:lnTo>
                      <a:pt x="376" y="223"/>
                    </a:lnTo>
                    <a:lnTo>
                      <a:pt x="352" y="161"/>
                    </a:lnTo>
                    <a:lnTo>
                      <a:pt x="333" y="102"/>
                    </a:lnTo>
                    <a:lnTo>
                      <a:pt x="318" y="49"/>
                    </a:lnTo>
                    <a:lnTo>
                      <a:pt x="310" y="2"/>
                    </a:lnTo>
                    <a:close/>
                  </a:path>
                </a:pathLst>
              </a:custGeom>
              <a:solidFill>
                <a:srgbClr val="F4FCEA"/>
              </a:solidFill>
              <a:ln w="9525" cap="flat" cmpd="sng">
                <a:solidFill>
                  <a:srgbClr val="969696"/>
                </a:solidFill>
                <a:prstDash val="solid"/>
                <a:round/>
                <a:headEnd type="none" w="med" len="med"/>
                <a:tailEnd type="none" w="med" len="med"/>
              </a:ln>
            </p:spPr>
            <p:txBody>
              <a:bodyPr/>
              <a:p>
                <a:endParaRPr lang="zh-CN" altLang="en-US"/>
              </a:p>
            </p:txBody>
          </p:sp>
          <p:sp>
            <p:nvSpPr>
              <p:cNvPr id="125980" name="Freeform 27"/>
              <p:cNvSpPr/>
              <p:nvPr/>
            </p:nvSpPr>
            <p:spPr>
              <a:xfrm>
                <a:off x="8264" y="4707"/>
                <a:ext cx="142" cy="312"/>
              </a:xfrm>
              <a:custGeom>
                <a:avLst/>
                <a:gdLst/>
                <a:ahLst/>
                <a:cxnLst>
                  <a:cxn ang="0">
                    <a:pos x="5" y="0"/>
                  </a:cxn>
                  <a:cxn ang="0">
                    <a:pos x="5" y="0"/>
                  </a:cxn>
                  <a:cxn ang="0">
                    <a:pos x="5" y="1"/>
                  </a:cxn>
                  <a:cxn ang="0">
                    <a:pos x="5" y="1"/>
                  </a:cxn>
                  <a:cxn ang="0">
                    <a:pos x="5" y="2"/>
                  </a:cxn>
                  <a:cxn ang="0">
                    <a:pos x="4" y="4"/>
                  </a:cxn>
                  <a:cxn ang="0">
                    <a:pos x="4" y="6"/>
                  </a:cxn>
                  <a:cxn ang="0">
                    <a:pos x="2" y="9"/>
                  </a:cxn>
                  <a:cxn ang="0">
                    <a:pos x="1" y="13"/>
                  </a:cxn>
                  <a:cxn ang="0">
                    <a:pos x="0" y="16"/>
                  </a:cxn>
                  <a:cxn ang="0">
                    <a:pos x="0" y="20"/>
                  </a:cxn>
                  <a:cxn ang="0">
                    <a:pos x="0" y="24"/>
                  </a:cxn>
                  <a:cxn ang="0">
                    <a:pos x="1" y="30"/>
                  </a:cxn>
                  <a:cxn ang="0">
                    <a:pos x="3" y="36"/>
                  </a:cxn>
                  <a:cxn ang="0">
                    <a:pos x="5" y="43"/>
                  </a:cxn>
                  <a:cxn ang="0">
                    <a:pos x="6" y="50"/>
                  </a:cxn>
                  <a:cxn ang="0">
                    <a:pos x="9" y="57"/>
                  </a:cxn>
                  <a:cxn ang="0">
                    <a:pos x="11" y="63"/>
                  </a:cxn>
                  <a:cxn ang="0">
                    <a:pos x="13" y="70"/>
                  </a:cxn>
                  <a:cxn ang="0">
                    <a:pos x="15" y="76"/>
                  </a:cxn>
                  <a:cxn ang="0">
                    <a:pos x="17" y="81"/>
                  </a:cxn>
                  <a:cxn ang="0">
                    <a:pos x="19" y="86"/>
                  </a:cxn>
                  <a:cxn ang="0">
                    <a:pos x="21" y="90"/>
                  </a:cxn>
                  <a:cxn ang="0">
                    <a:pos x="22" y="92"/>
                  </a:cxn>
                  <a:cxn ang="0">
                    <a:pos x="23" y="94"/>
                  </a:cxn>
                  <a:cxn ang="0">
                    <a:pos x="25" y="95"/>
                  </a:cxn>
                  <a:cxn ang="0">
                    <a:pos x="27" y="96"/>
                  </a:cxn>
                  <a:cxn ang="0">
                    <a:pos x="29" y="97"/>
                  </a:cxn>
                  <a:cxn ang="0">
                    <a:pos x="31" y="98"/>
                  </a:cxn>
                  <a:cxn ang="0">
                    <a:pos x="35" y="100"/>
                  </a:cxn>
                  <a:cxn ang="0">
                    <a:pos x="38" y="101"/>
                  </a:cxn>
                  <a:cxn ang="0">
                    <a:pos x="42" y="102"/>
                  </a:cxn>
                  <a:cxn ang="0">
                    <a:pos x="47" y="104"/>
                  </a:cxn>
                  <a:cxn ang="0">
                    <a:pos x="44" y="99"/>
                  </a:cxn>
                  <a:cxn ang="0">
                    <a:pos x="41" y="94"/>
                  </a:cxn>
                  <a:cxn ang="0">
                    <a:pos x="38" y="87"/>
                  </a:cxn>
                  <a:cxn ang="0">
                    <a:pos x="34" y="81"/>
                  </a:cxn>
                  <a:cxn ang="0">
                    <a:pos x="31" y="73"/>
                  </a:cxn>
                  <a:cxn ang="0">
                    <a:pos x="28" y="66"/>
                  </a:cxn>
                  <a:cxn ang="0">
                    <a:pos x="25" y="58"/>
                  </a:cxn>
                  <a:cxn ang="0">
                    <a:pos x="22" y="50"/>
                  </a:cxn>
                  <a:cxn ang="0">
                    <a:pos x="19" y="42"/>
                  </a:cxn>
                  <a:cxn ang="0">
                    <a:pos x="16" y="35"/>
                  </a:cxn>
                  <a:cxn ang="0">
                    <a:pos x="13" y="28"/>
                  </a:cxn>
                  <a:cxn ang="0">
                    <a:pos x="11" y="21"/>
                  </a:cxn>
                  <a:cxn ang="0">
                    <a:pos x="9" y="14"/>
                  </a:cxn>
                  <a:cxn ang="0">
                    <a:pos x="8" y="9"/>
                  </a:cxn>
                  <a:cxn ang="0">
                    <a:pos x="6" y="4"/>
                  </a:cxn>
                  <a:cxn ang="0">
                    <a:pos x="5" y="0"/>
                  </a:cxn>
                </a:cxnLst>
                <a:pathLst>
                  <a:path w="425" h="936">
                    <a:moveTo>
                      <a:pt x="48" y="0"/>
                    </a:moveTo>
                    <a:lnTo>
                      <a:pt x="48" y="2"/>
                    </a:lnTo>
                    <a:lnTo>
                      <a:pt x="48" y="5"/>
                    </a:lnTo>
                    <a:lnTo>
                      <a:pt x="47" y="11"/>
                    </a:lnTo>
                    <a:lnTo>
                      <a:pt x="44" y="19"/>
                    </a:lnTo>
                    <a:lnTo>
                      <a:pt x="39" y="35"/>
                    </a:lnTo>
                    <a:lnTo>
                      <a:pt x="32" y="55"/>
                    </a:lnTo>
                    <a:lnTo>
                      <a:pt x="20" y="82"/>
                    </a:lnTo>
                    <a:lnTo>
                      <a:pt x="6" y="117"/>
                    </a:lnTo>
                    <a:lnTo>
                      <a:pt x="0" y="141"/>
                    </a:lnTo>
                    <a:lnTo>
                      <a:pt x="0" y="177"/>
                    </a:lnTo>
                    <a:lnTo>
                      <a:pt x="4" y="220"/>
                    </a:lnTo>
                    <a:lnTo>
                      <a:pt x="13" y="271"/>
                    </a:lnTo>
                    <a:lnTo>
                      <a:pt x="26" y="325"/>
                    </a:lnTo>
                    <a:lnTo>
                      <a:pt x="41" y="386"/>
                    </a:lnTo>
                    <a:lnTo>
                      <a:pt x="58" y="446"/>
                    </a:lnTo>
                    <a:lnTo>
                      <a:pt x="78" y="509"/>
                    </a:lnTo>
                    <a:lnTo>
                      <a:pt x="98" y="570"/>
                    </a:lnTo>
                    <a:lnTo>
                      <a:pt x="119" y="628"/>
                    </a:lnTo>
                    <a:lnTo>
                      <a:pt x="138" y="683"/>
                    </a:lnTo>
                    <a:lnTo>
                      <a:pt x="157" y="733"/>
                    </a:lnTo>
                    <a:lnTo>
                      <a:pt x="174" y="775"/>
                    </a:lnTo>
                    <a:lnTo>
                      <a:pt x="189" y="808"/>
                    </a:lnTo>
                    <a:lnTo>
                      <a:pt x="201" y="831"/>
                    </a:lnTo>
                    <a:lnTo>
                      <a:pt x="210" y="843"/>
                    </a:lnTo>
                    <a:lnTo>
                      <a:pt x="223" y="853"/>
                    </a:lnTo>
                    <a:lnTo>
                      <a:pt x="239" y="861"/>
                    </a:lnTo>
                    <a:lnTo>
                      <a:pt x="258" y="873"/>
                    </a:lnTo>
                    <a:lnTo>
                      <a:pt x="282" y="883"/>
                    </a:lnTo>
                    <a:lnTo>
                      <a:pt x="310" y="896"/>
                    </a:lnTo>
                    <a:lnTo>
                      <a:pt x="342" y="907"/>
                    </a:lnTo>
                    <a:lnTo>
                      <a:pt x="380" y="922"/>
                    </a:lnTo>
                    <a:lnTo>
                      <a:pt x="425" y="936"/>
                    </a:lnTo>
                    <a:lnTo>
                      <a:pt x="396" y="893"/>
                    </a:lnTo>
                    <a:lnTo>
                      <a:pt x="367" y="843"/>
                    </a:lnTo>
                    <a:lnTo>
                      <a:pt x="337" y="787"/>
                    </a:lnTo>
                    <a:lnTo>
                      <a:pt x="308" y="725"/>
                    </a:lnTo>
                    <a:lnTo>
                      <a:pt x="279" y="660"/>
                    </a:lnTo>
                    <a:lnTo>
                      <a:pt x="249" y="591"/>
                    </a:lnTo>
                    <a:lnTo>
                      <a:pt x="220" y="522"/>
                    </a:lnTo>
                    <a:lnTo>
                      <a:pt x="194" y="450"/>
                    </a:lnTo>
                    <a:lnTo>
                      <a:pt x="167" y="381"/>
                    </a:lnTo>
                    <a:lnTo>
                      <a:pt x="144" y="312"/>
                    </a:lnTo>
                    <a:lnTo>
                      <a:pt x="120" y="248"/>
                    </a:lnTo>
                    <a:lnTo>
                      <a:pt x="101" y="186"/>
                    </a:lnTo>
                    <a:lnTo>
                      <a:pt x="83" y="128"/>
                    </a:lnTo>
                    <a:lnTo>
                      <a:pt x="69" y="78"/>
                    </a:lnTo>
                    <a:lnTo>
                      <a:pt x="57" y="35"/>
                    </a:lnTo>
                    <a:lnTo>
                      <a:pt x="48" y="0"/>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25981" name="Freeform 28"/>
              <p:cNvSpPr/>
              <p:nvPr/>
            </p:nvSpPr>
            <p:spPr>
              <a:xfrm>
                <a:off x="8310" y="4696"/>
                <a:ext cx="64" cy="69"/>
              </a:xfrm>
              <a:custGeom>
                <a:avLst/>
                <a:gdLst/>
                <a:ahLst/>
                <a:cxnLst>
                  <a:cxn ang="0">
                    <a:pos x="3" y="1"/>
                  </a:cxn>
                  <a:cxn ang="0">
                    <a:pos x="1" y="3"/>
                  </a:cxn>
                  <a:cxn ang="0">
                    <a:pos x="0" y="5"/>
                  </a:cxn>
                  <a:cxn ang="0">
                    <a:pos x="0" y="7"/>
                  </a:cxn>
                  <a:cxn ang="0">
                    <a:pos x="0" y="10"/>
                  </a:cxn>
                  <a:cxn ang="0">
                    <a:pos x="0" y="13"/>
                  </a:cxn>
                  <a:cxn ang="0">
                    <a:pos x="1" y="16"/>
                  </a:cxn>
                  <a:cxn ang="0">
                    <a:pos x="2" y="19"/>
                  </a:cxn>
                  <a:cxn ang="0">
                    <a:pos x="4" y="21"/>
                  </a:cxn>
                  <a:cxn ang="0">
                    <a:pos x="6" y="22"/>
                  </a:cxn>
                  <a:cxn ang="0">
                    <a:pos x="8" y="23"/>
                  </a:cxn>
                  <a:cxn ang="0">
                    <a:pos x="10" y="23"/>
                  </a:cxn>
                  <a:cxn ang="0">
                    <a:pos x="12" y="23"/>
                  </a:cxn>
                  <a:cxn ang="0">
                    <a:pos x="14" y="22"/>
                  </a:cxn>
                  <a:cxn ang="0">
                    <a:pos x="16" y="21"/>
                  </a:cxn>
                  <a:cxn ang="0">
                    <a:pos x="18" y="19"/>
                  </a:cxn>
                  <a:cxn ang="0">
                    <a:pos x="19" y="18"/>
                  </a:cxn>
                  <a:cxn ang="0">
                    <a:pos x="21" y="14"/>
                  </a:cxn>
                  <a:cxn ang="0">
                    <a:pos x="21" y="10"/>
                  </a:cxn>
                  <a:cxn ang="0">
                    <a:pos x="21" y="6"/>
                  </a:cxn>
                  <a:cxn ang="0">
                    <a:pos x="18" y="3"/>
                  </a:cxn>
                  <a:cxn ang="0">
                    <a:pos x="17" y="2"/>
                  </a:cxn>
                  <a:cxn ang="0">
                    <a:pos x="15" y="2"/>
                  </a:cxn>
                  <a:cxn ang="0">
                    <a:pos x="14" y="1"/>
                  </a:cxn>
                  <a:cxn ang="0">
                    <a:pos x="12" y="0"/>
                  </a:cxn>
                  <a:cxn ang="0">
                    <a:pos x="9" y="0"/>
                  </a:cxn>
                  <a:cxn ang="0">
                    <a:pos x="7" y="0"/>
                  </a:cxn>
                  <a:cxn ang="0">
                    <a:pos x="5" y="0"/>
                  </a:cxn>
                  <a:cxn ang="0">
                    <a:pos x="3" y="1"/>
                  </a:cxn>
                </a:cxnLst>
                <a:pathLst>
                  <a:path w="192" h="208">
                    <a:moveTo>
                      <a:pt x="26" y="11"/>
                    </a:moveTo>
                    <a:lnTo>
                      <a:pt x="13" y="24"/>
                    </a:lnTo>
                    <a:lnTo>
                      <a:pt x="4" y="43"/>
                    </a:lnTo>
                    <a:lnTo>
                      <a:pt x="0" y="67"/>
                    </a:lnTo>
                    <a:lnTo>
                      <a:pt x="0" y="93"/>
                    </a:lnTo>
                    <a:lnTo>
                      <a:pt x="3" y="120"/>
                    </a:lnTo>
                    <a:lnTo>
                      <a:pt x="10" y="148"/>
                    </a:lnTo>
                    <a:lnTo>
                      <a:pt x="20" y="171"/>
                    </a:lnTo>
                    <a:lnTo>
                      <a:pt x="35" y="189"/>
                    </a:lnTo>
                    <a:lnTo>
                      <a:pt x="51" y="201"/>
                    </a:lnTo>
                    <a:lnTo>
                      <a:pt x="70" y="206"/>
                    </a:lnTo>
                    <a:lnTo>
                      <a:pt x="91" y="208"/>
                    </a:lnTo>
                    <a:lnTo>
                      <a:pt x="111" y="204"/>
                    </a:lnTo>
                    <a:lnTo>
                      <a:pt x="130" y="196"/>
                    </a:lnTo>
                    <a:lnTo>
                      <a:pt x="148" y="186"/>
                    </a:lnTo>
                    <a:lnTo>
                      <a:pt x="163" y="176"/>
                    </a:lnTo>
                    <a:lnTo>
                      <a:pt x="174" y="163"/>
                    </a:lnTo>
                    <a:lnTo>
                      <a:pt x="189" y="130"/>
                    </a:lnTo>
                    <a:lnTo>
                      <a:pt x="192" y="89"/>
                    </a:lnTo>
                    <a:lnTo>
                      <a:pt x="185" y="50"/>
                    </a:lnTo>
                    <a:lnTo>
                      <a:pt x="166" y="27"/>
                    </a:lnTo>
                    <a:lnTo>
                      <a:pt x="152" y="21"/>
                    </a:lnTo>
                    <a:lnTo>
                      <a:pt x="138" y="14"/>
                    </a:lnTo>
                    <a:lnTo>
                      <a:pt x="122" y="8"/>
                    </a:lnTo>
                    <a:lnTo>
                      <a:pt x="104" y="2"/>
                    </a:lnTo>
                    <a:lnTo>
                      <a:pt x="85" y="0"/>
                    </a:lnTo>
                    <a:lnTo>
                      <a:pt x="66" y="0"/>
                    </a:lnTo>
                    <a:lnTo>
                      <a:pt x="47" y="2"/>
                    </a:lnTo>
                    <a:lnTo>
                      <a:pt x="26" y="11"/>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25982" name="Freeform 29"/>
              <p:cNvSpPr/>
              <p:nvPr/>
            </p:nvSpPr>
            <p:spPr>
              <a:xfrm>
                <a:off x="8406" y="4895"/>
                <a:ext cx="82" cy="84"/>
              </a:xfrm>
              <a:custGeom>
                <a:avLst/>
                <a:gdLst/>
                <a:ahLst/>
                <a:cxnLst>
                  <a:cxn ang="0">
                    <a:pos x="4" y="3"/>
                  </a:cxn>
                  <a:cxn ang="0">
                    <a:pos x="2" y="5"/>
                  </a:cxn>
                  <a:cxn ang="0">
                    <a:pos x="1" y="7"/>
                  </a:cxn>
                  <a:cxn ang="0">
                    <a:pos x="1" y="9"/>
                  </a:cxn>
                  <a:cxn ang="0">
                    <a:pos x="0" y="11"/>
                  </a:cxn>
                  <a:cxn ang="0">
                    <a:pos x="0" y="13"/>
                  </a:cxn>
                  <a:cxn ang="0">
                    <a:pos x="1" y="15"/>
                  </a:cxn>
                  <a:cxn ang="0">
                    <a:pos x="1" y="17"/>
                  </a:cxn>
                  <a:cxn ang="0">
                    <a:pos x="3" y="19"/>
                  </a:cxn>
                  <a:cxn ang="0">
                    <a:pos x="5" y="21"/>
                  </a:cxn>
                  <a:cxn ang="0">
                    <a:pos x="6" y="23"/>
                  </a:cxn>
                  <a:cxn ang="0">
                    <a:pos x="9" y="25"/>
                  </a:cxn>
                  <a:cxn ang="0">
                    <a:pos x="11" y="26"/>
                  </a:cxn>
                  <a:cxn ang="0">
                    <a:pos x="13" y="27"/>
                  </a:cxn>
                  <a:cxn ang="0">
                    <a:pos x="15" y="28"/>
                  </a:cxn>
                  <a:cxn ang="0">
                    <a:pos x="16" y="28"/>
                  </a:cxn>
                  <a:cxn ang="0">
                    <a:pos x="18" y="27"/>
                  </a:cxn>
                  <a:cxn ang="0">
                    <a:pos x="20" y="26"/>
                  </a:cxn>
                  <a:cxn ang="0">
                    <a:pos x="22" y="25"/>
                  </a:cxn>
                  <a:cxn ang="0">
                    <a:pos x="23" y="25"/>
                  </a:cxn>
                  <a:cxn ang="0">
                    <a:pos x="25" y="24"/>
                  </a:cxn>
                  <a:cxn ang="0">
                    <a:pos x="26" y="23"/>
                  </a:cxn>
                  <a:cxn ang="0">
                    <a:pos x="27" y="21"/>
                  </a:cxn>
                  <a:cxn ang="0">
                    <a:pos x="27" y="20"/>
                  </a:cxn>
                  <a:cxn ang="0">
                    <a:pos x="27" y="18"/>
                  </a:cxn>
                  <a:cxn ang="0">
                    <a:pos x="27" y="16"/>
                  </a:cxn>
                  <a:cxn ang="0">
                    <a:pos x="26" y="13"/>
                  </a:cxn>
                  <a:cxn ang="0">
                    <a:pos x="25" y="11"/>
                  </a:cxn>
                  <a:cxn ang="0">
                    <a:pos x="24" y="8"/>
                  </a:cxn>
                  <a:cxn ang="0">
                    <a:pos x="22" y="6"/>
                  </a:cxn>
                  <a:cxn ang="0">
                    <a:pos x="20" y="3"/>
                  </a:cxn>
                  <a:cxn ang="0">
                    <a:pos x="18" y="2"/>
                  </a:cxn>
                  <a:cxn ang="0">
                    <a:pos x="16" y="1"/>
                  </a:cxn>
                  <a:cxn ang="0">
                    <a:pos x="14" y="0"/>
                  </a:cxn>
                  <a:cxn ang="0">
                    <a:pos x="12" y="0"/>
                  </a:cxn>
                  <a:cxn ang="0">
                    <a:pos x="10" y="0"/>
                  </a:cxn>
                  <a:cxn ang="0">
                    <a:pos x="9" y="0"/>
                  </a:cxn>
                  <a:cxn ang="0">
                    <a:pos x="7" y="1"/>
                  </a:cxn>
                  <a:cxn ang="0">
                    <a:pos x="6" y="1"/>
                  </a:cxn>
                  <a:cxn ang="0">
                    <a:pos x="5" y="2"/>
                  </a:cxn>
                  <a:cxn ang="0">
                    <a:pos x="4" y="3"/>
                  </a:cxn>
                </a:cxnLst>
                <a:pathLst>
                  <a:path w="247" h="251">
                    <a:moveTo>
                      <a:pt x="33" y="29"/>
                    </a:moveTo>
                    <a:lnTo>
                      <a:pt x="21" y="44"/>
                    </a:lnTo>
                    <a:lnTo>
                      <a:pt x="12" y="60"/>
                    </a:lnTo>
                    <a:lnTo>
                      <a:pt x="5" y="79"/>
                    </a:lnTo>
                    <a:lnTo>
                      <a:pt x="0" y="97"/>
                    </a:lnTo>
                    <a:lnTo>
                      <a:pt x="0" y="116"/>
                    </a:lnTo>
                    <a:lnTo>
                      <a:pt x="5" y="135"/>
                    </a:lnTo>
                    <a:lnTo>
                      <a:pt x="12" y="152"/>
                    </a:lnTo>
                    <a:lnTo>
                      <a:pt x="25" y="169"/>
                    </a:lnTo>
                    <a:lnTo>
                      <a:pt x="42" y="187"/>
                    </a:lnTo>
                    <a:lnTo>
                      <a:pt x="58" y="202"/>
                    </a:lnTo>
                    <a:lnTo>
                      <a:pt x="77" y="220"/>
                    </a:lnTo>
                    <a:lnTo>
                      <a:pt x="96" y="233"/>
                    </a:lnTo>
                    <a:lnTo>
                      <a:pt x="114" y="244"/>
                    </a:lnTo>
                    <a:lnTo>
                      <a:pt x="133" y="251"/>
                    </a:lnTo>
                    <a:lnTo>
                      <a:pt x="149" y="251"/>
                    </a:lnTo>
                    <a:lnTo>
                      <a:pt x="165" y="246"/>
                    </a:lnTo>
                    <a:lnTo>
                      <a:pt x="180" y="237"/>
                    </a:lnTo>
                    <a:lnTo>
                      <a:pt x="196" y="228"/>
                    </a:lnTo>
                    <a:lnTo>
                      <a:pt x="209" y="220"/>
                    </a:lnTo>
                    <a:lnTo>
                      <a:pt x="222" y="212"/>
                    </a:lnTo>
                    <a:lnTo>
                      <a:pt x="232" y="202"/>
                    </a:lnTo>
                    <a:lnTo>
                      <a:pt x="240" y="191"/>
                    </a:lnTo>
                    <a:lnTo>
                      <a:pt x="246" y="178"/>
                    </a:lnTo>
                    <a:lnTo>
                      <a:pt x="247" y="162"/>
                    </a:lnTo>
                    <a:lnTo>
                      <a:pt x="244" y="142"/>
                    </a:lnTo>
                    <a:lnTo>
                      <a:pt x="238" y="120"/>
                    </a:lnTo>
                    <a:lnTo>
                      <a:pt x="228" y="96"/>
                    </a:lnTo>
                    <a:lnTo>
                      <a:pt x="215" y="72"/>
                    </a:lnTo>
                    <a:lnTo>
                      <a:pt x="200" y="50"/>
                    </a:lnTo>
                    <a:lnTo>
                      <a:pt x="184" y="30"/>
                    </a:lnTo>
                    <a:lnTo>
                      <a:pt x="165" y="16"/>
                    </a:lnTo>
                    <a:lnTo>
                      <a:pt x="147" y="7"/>
                    </a:lnTo>
                    <a:lnTo>
                      <a:pt x="130" y="3"/>
                    </a:lnTo>
                    <a:lnTo>
                      <a:pt x="112" y="0"/>
                    </a:lnTo>
                    <a:lnTo>
                      <a:pt x="94" y="1"/>
                    </a:lnTo>
                    <a:lnTo>
                      <a:pt x="80" y="3"/>
                    </a:lnTo>
                    <a:lnTo>
                      <a:pt x="65" y="7"/>
                    </a:lnTo>
                    <a:lnTo>
                      <a:pt x="52" y="13"/>
                    </a:lnTo>
                    <a:lnTo>
                      <a:pt x="42" y="20"/>
                    </a:lnTo>
                    <a:lnTo>
                      <a:pt x="33" y="29"/>
                    </a:lnTo>
                    <a:close/>
                  </a:path>
                </a:pathLst>
              </a:custGeom>
              <a:solidFill>
                <a:srgbClr val="CCEF72"/>
              </a:solidFill>
              <a:ln w="9525" cap="flat" cmpd="sng">
                <a:solidFill>
                  <a:srgbClr val="969696"/>
                </a:solidFill>
                <a:prstDash val="solid"/>
                <a:round/>
                <a:headEnd type="none" w="med" len="med"/>
                <a:tailEnd type="none" w="med" len="med"/>
              </a:ln>
            </p:spPr>
            <p:txBody>
              <a:bodyPr/>
              <a:p>
                <a:endParaRPr lang="zh-CN" altLang="en-US"/>
              </a:p>
            </p:txBody>
          </p:sp>
          <p:sp>
            <p:nvSpPr>
              <p:cNvPr id="125983" name="Freeform 30"/>
              <p:cNvSpPr/>
              <p:nvPr/>
            </p:nvSpPr>
            <p:spPr>
              <a:xfrm>
                <a:off x="8313" y="4687"/>
                <a:ext cx="75" cy="80"/>
              </a:xfrm>
              <a:custGeom>
                <a:avLst/>
                <a:gdLst/>
                <a:ahLst/>
                <a:cxnLst>
                  <a:cxn ang="0">
                    <a:pos x="13" y="0"/>
                  </a:cxn>
                  <a:cxn ang="0">
                    <a:pos x="10" y="0"/>
                  </a:cxn>
                  <a:cxn ang="0">
                    <a:pos x="7" y="0"/>
                  </a:cxn>
                  <a:cxn ang="0">
                    <a:pos x="5" y="1"/>
                  </a:cxn>
                  <a:cxn ang="0">
                    <a:pos x="2" y="4"/>
                  </a:cxn>
                  <a:cxn ang="0">
                    <a:pos x="0" y="9"/>
                  </a:cxn>
                  <a:cxn ang="0">
                    <a:pos x="0" y="14"/>
                  </a:cxn>
                  <a:cxn ang="0">
                    <a:pos x="2" y="19"/>
                  </a:cxn>
                  <a:cxn ang="0">
                    <a:pos x="4" y="22"/>
                  </a:cxn>
                  <a:cxn ang="0">
                    <a:pos x="6" y="25"/>
                  </a:cxn>
                  <a:cxn ang="0">
                    <a:pos x="9" y="26"/>
                  </a:cxn>
                  <a:cxn ang="0">
                    <a:pos x="13" y="27"/>
                  </a:cxn>
                  <a:cxn ang="0">
                    <a:pos x="17" y="25"/>
                  </a:cxn>
                  <a:cxn ang="0">
                    <a:pos x="21" y="23"/>
                  </a:cxn>
                  <a:cxn ang="0">
                    <a:pos x="24" y="19"/>
                  </a:cxn>
                  <a:cxn ang="0">
                    <a:pos x="25" y="15"/>
                  </a:cxn>
                  <a:cxn ang="0">
                    <a:pos x="25" y="12"/>
                  </a:cxn>
                  <a:cxn ang="0">
                    <a:pos x="24" y="11"/>
                  </a:cxn>
                  <a:cxn ang="0">
                    <a:pos x="22" y="11"/>
                  </a:cxn>
                  <a:cxn ang="0">
                    <a:pos x="21" y="12"/>
                  </a:cxn>
                  <a:cxn ang="0">
                    <a:pos x="21" y="14"/>
                  </a:cxn>
                  <a:cxn ang="0">
                    <a:pos x="20" y="18"/>
                  </a:cxn>
                  <a:cxn ang="0">
                    <a:pos x="18" y="20"/>
                  </a:cxn>
                  <a:cxn ang="0">
                    <a:pos x="14" y="22"/>
                  </a:cxn>
                  <a:cxn ang="0">
                    <a:pos x="10" y="22"/>
                  </a:cxn>
                  <a:cxn ang="0">
                    <a:pos x="7" y="20"/>
                  </a:cxn>
                  <a:cxn ang="0">
                    <a:pos x="5" y="16"/>
                  </a:cxn>
                  <a:cxn ang="0">
                    <a:pos x="4" y="12"/>
                  </a:cxn>
                  <a:cxn ang="0">
                    <a:pos x="4" y="8"/>
                  </a:cxn>
                  <a:cxn ang="0">
                    <a:pos x="5" y="6"/>
                  </a:cxn>
                  <a:cxn ang="0">
                    <a:pos x="6" y="4"/>
                  </a:cxn>
                  <a:cxn ang="0">
                    <a:pos x="8" y="3"/>
                  </a:cxn>
                  <a:cxn ang="0">
                    <a:pos x="10" y="3"/>
                  </a:cxn>
                  <a:cxn ang="0">
                    <a:pos x="12" y="3"/>
                  </a:cxn>
                  <a:cxn ang="0">
                    <a:pos x="14" y="3"/>
                  </a:cxn>
                  <a:cxn ang="0">
                    <a:pos x="14" y="1"/>
                  </a:cxn>
                </a:cxnLst>
                <a:pathLst>
                  <a:path w="226" h="240">
                    <a:moveTo>
                      <a:pt x="125" y="6"/>
                    </a:moveTo>
                    <a:lnTo>
                      <a:pt x="115" y="3"/>
                    </a:lnTo>
                    <a:lnTo>
                      <a:pt x="104" y="0"/>
                    </a:lnTo>
                    <a:lnTo>
                      <a:pt x="93" y="0"/>
                    </a:lnTo>
                    <a:lnTo>
                      <a:pt x="79" y="0"/>
                    </a:lnTo>
                    <a:lnTo>
                      <a:pt x="66" y="2"/>
                    </a:lnTo>
                    <a:lnTo>
                      <a:pt x="54" y="6"/>
                    </a:lnTo>
                    <a:lnTo>
                      <a:pt x="43" y="12"/>
                    </a:lnTo>
                    <a:lnTo>
                      <a:pt x="32" y="19"/>
                    </a:lnTo>
                    <a:lnTo>
                      <a:pt x="16" y="37"/>
                    </a:lnTo>
                    <a:lnTo>
                      <a:pt x="6" y="58"/>
                    </a:lnTo>
                    <a:lnTo>
                      <a:pt x="0" y="79"/>
                    </a:lnTo>
                    <a:lnTo>
                      <a:pt x="0" y="101"/>
                    </a:lnTo>
                    <a:lnTo>
                      <a:pt x="2" y="124"/>
                    </a:lnTo>
                    <a:lnTo>
                      <a:pt x="7" y="145"/>
                    </a:lnTo>
                    <a:lnTo>
                      <a:pt x="15" y="168"/>
                    </a:lnTo>
                    <a:lnTo>
                      <a:pt x="24" y="188"/>
                    </a:lnTo>
                    <a:lnTo>
                      <a:pt x="32" y="201"/>
                    </a:lnTo>
                    <a:lnTo>
                      <a:pt x="43" y="213"/>
                    </a:lnTo>
                    <a:lnTo>
                      <a:pt x="56" y="223"/>
                    </a:lnTo>
                    <a:lnTo>
                      <a:pt x="69" y="231"/>
                    </a:lnTo>
                    <a:lnTo>
                      <a:pt x="84" y="237"/>
                    </a:lnTo>
                    <a:lnTo>
                      <a:pt x="98" y="240"/>
                    </a:lnTo>
                    <a:lnTo>
                      <a:pt x="113" y="240"/>
                    </a:lnTo>
                    <a:lnTo>
                      <a:pt x="129" y="237"/>
                    </a:lnTo>
                    <a:lnTo>
                      <a:pt x="151" y="229"/>
                    </a:lnTo>
                    <a:lnTo>
                      <a:pt x="172" y="219"/>
                    </a:lnTo>
                    <a:lnTo>
                      <a:pt x="189" y="204"/>
                    </a:lnTo>
                    <a:lnTo>
                      <a:pt x="206" y="188"/>
                    </a:lnTo>
                    <a:lnTo>
                      <a:pt x="216" y="171"/>
                    </a:lnTo>
                    <a:lnTo>
                      <a:pt x="223" y="152"/>
                    </a:lnTo>
                    <a:lnTo>
                      <a:pt x="226" y="131"/>
                    </a:lnTo>
                    <a:lnTo>
                      <a:pt x="223" y="109"/>
                    </a:lnTo>
                    <a:lnTo>
                      <a:pt x="222" y="104"/>
                    </a:lnTo>
                    <a:lnTo>
                      <a:pt x="219" y="98"/>
                    </a:lnTo>
                    <a:lnTo>
                      <a:pt x="213" y="95"/>
                    </a:lnTo>
                    <a:lnTo>
                      <a:pt x="207" y="95"/>
                    </a:lnTo>
                    <a:lnTo>
                      <a:pt x="201" y="96"/>
                    </a:lnTo>
                    <a:lnTo>
                      <a:pt x="197" y="99"/>
                    </a:lnTo>
                    <a:lnTo>
                      <a:pt x="194" y="105"/>
                    </a:lnTo>
                    <a:lnTo>
                      <a:pt x="192" y="111"/>
                    </a:lnTo>
                    <a:lnTo>
                      <a:pt x="191" y="127"/>
                    </a:lnTo>
                    <a:lnTo>
                      <a:pt x="188" y="142"/>
                    </a:lnTo>
                    <a:lnTo>
                      <a:pt x="182" y="158"/>
                    </a:lnTo>
                    <a:lnTo>
                      <a:pt x="173" y="171"/>
                    </a:lnTo>
                    <a:lnTo>
                      <a:pt x="162" y="183"/>
                    </a:lnTo>
                    <a:lnTo>
                      <a:pt x="147" y="191"/>
                    </a:lnTo>
                    <a:lnTo>
                      <a:pt x="131" y="197"/>
                    </a:lnTo>
                    <a:lnTo>
                      <a:pt x="110" y="200"/>
                    </a:lnTo>
                    <a:lnTo>
                      <a:pt x="90" y="197"/>
                    </a:lnTo>
                    <a:lnTo>
                      <a:pt x="74" y="190"/>
                    </a:lnTo>
                    <a:lnTo>
                      <a:pt x="60" y="177"/>
                    </a:lnTo>
                    <a:lnTo>
                      <a:pt x="51" y="161"/>
                    </a:lnTo>
                    <a:lnTo>
                      <a:pt x="44" y="144"/>
                    </a:lnTo>
                    <a:lnTo>
                      <a:pt x="38" y="124"/>
                    </a:lnTo>
                    <a:lnTo>
                      <a:pt x="34" y="105"/>
                    </a:lnTo>
                    <a:lnTo>
                      <a:pt x="32" y="86"/>
                    </a:lnTo>
                    <a:lnTo>
                      <a:pt x="32" y="76"/>
                    </a:lnTo>
                    <a:lnTo>
                      <a:pt x="35" y="66"/>
                    </a:lnTo>
                    <a:lnTo>
                      <a:pt x="41" y="56"/>
                    </a:lnTo>
                    <a:lnTo>
                      <a:pt x="47" y="46"/>
                    </a:lnTo>
                    <a:lnTo>
                      <a:pt x="54" y="39"/>
                    </a:lnTo>
                    <a:lnTo>
                      <a:pt x="63" y="32"/>
                    </a:lnTo>
                    <a:lnTo>
                      <a:pt x="74" y="26"/>
                    </a:lnTo>
                    <a:lnTo>
                      <a:pt x="84" y="25"/>
                    </a:lnTo>
                    <a:lnTo>
                      <a:pt x="87" y="25"/>
                    </a:lnTo>
                    <a:lnTo>
                      <a:pt x="94" y="23"/>
                    </a:lnTo>
                    <a:lnTo>
                      <a:pt x="106" y="25"/>
                    </a:lnTo>
                    <a:lnTo>
                      <a:pt x="119" y="26"/>
                    </a:lnTo>
                    <a:lnTo>
                      <a:pt x="126" y="25"/>
                    </a:lnTo>
                    <a:lnTo>
                      <a:pt x="131" y="19"/>
                    </a:lnTo>
                    <a:lnTo>
                      <a:pt x="129" y="12"/>
                    </a:lnTo>
                    <a:lnTo>
                      <a:pt x="125" y="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4" name="Freeform 31"/>
              <p:cNvSpPr/>
              <p:nvPr/>
            </p:nvSpPr>
            <p:spPr>
              <a:xfrm>
                <a:off x="8412" y="4892"/>
                <a:ext cx="93" cy="90"/>
              </a:xfrm>
              <a:custGeom>
                <a:avLst/>
                <a:gdLst/>
                <a:ahLst/>
                <a:cxnLst>
                  <a:cxn ang="0">
                    <a:pos x="7" y="1"/>
                  </a:cxn>
                  <a:cxn ang="0">
                    <a:pos x="4" y="3"/>
                  </a:cxn>
                  <a:cxn ang="0">
                    <a:pos x="2" y="6"/>
                  </a:cxn>
                  <a:cxn ang="0">
                    <a:pos x="0" y="9"/>
                  </a:cxn>
                  <a:cxn ang="0">
                    <a:pos x="0" y="12"/>
                  </a:cxn>
                  <a:cxn ang="0">
                    <a:pos x="1" y="16"/>
                  </a:cxn>
                  <a:cxn ang="0">
                    <a:pos x="2" y="19"/>
                  </a:cxn>
                  <a:cxn ang="0">
                    <a:pos x="4" y="23"/>
                  </a:cxn>
                  <a:cxn ang="0">
                    <a:pos x="7" y="26"/>
                  </a:cxn>
                  <a:cxn ang="0">
                    <a:pos x="11" y="29"/>
                  </a:cxn>
                  <a:cxn ang="0">
                    <a:pos x="16" y="30"/>
                  </a:cxn>
                  <a:cxn ang="0">
                    <a:pos x="21" y="29"/>
                  </a:cxn>
                  <a:cxn ang="0">
                    <a:pos x="24" y="27"/>
                  </a:cxn>
                  <a:cxn ang="0">
                    <a:pos x="27" y="24"/>
                  </a:cxn>
                  <a:cxn ang="0">
                    <a:pos x="29" y="21"/>
                  </a:cxn>
                  <a:cxn ang="0">
                    <a:pos x="31" y="18"/>
                  </a:cxn>
                  <a:cxn ang="0">
                    <a:pos x="31" y="15"/>
                  </a:cxn>
                  <a:cxn ang="0">
                    <a:pos x="30" y="13"/>
                  </a:cxn>
                  <a:cxn ang="0">
                    <a:pos x="29" y="13"/>
                  </a:cxn>
                  <a:cxn ang="0">
                    <a:pos x="27" y="14"/>
                  </a:cxn>
                  <a:cxn ang="0">
                    <a:pos x="27" y="15"/>
                  </a:cxn>
                  <a:cxn ang="0">
                    <a:pos x="26" y="17"/>
                  </a:cxn>
                  <a:cxn ang="0">
                    <a:pos x="24" y="20"/>
                  </a:cxn>
                  <a:cxn ang="0">
                    <a:pos x="22" y="22"/>
                  </a:cxn>
                  <a:cxn ang="0">
                    <a:pos x="17" y="23"/>
                  </a:cxn>
                  <a:cxn ang="0">
                    <a:pos x="11" y="22"/>
                  </a:cxn>
                  <a:cxn ang="0">
                    <a:pos x="7" y="18"/>
                  </a:cxn>
                  <a:cxn ang="0">
                    <a:pos x="4" y="13"/>
                  </a:cxn>
                  <a:cxn ang="0">
                    <a:pos x="5" y="8"/>
                  </a:cxn>
                  <a:cxn ang="0">
                    <a:pos x="7" y="6"/>
                  </a:cxn>
                  <a:cxn ang="0">
                    <a:pos x="9" y="3"/>
                  </a:cxn>
                  <a:cxn ang="0">
                    <a:pos x="11" y="2"/>
                  </a:cxn>
                  <a:cxn ang="0">
                    <a:pos x="12" y="0"/>
                  </a:cxn>
                  <a:cxn ang="0">
                    <a:pos x="10" y="0"/>
                  </a:cxn>
                </a:cxnLst>
                <a:pathLst>
                  <a:path w="279" h="270">
                    <a:moveTo>
                      <a:pt x="75" y="3"/>
                    </a:moveTo>
                    <a:lnTo>
                      <a:pt x="60" y="8"/>
                    </a:lnTo>
                    <a:lnTo>
                      <a:pt x="47" y="17"/>
                    </a:lnTo>
                    <a:lnTo>
                      <a:pt x="34" y="27"/>
                    </a:lnTo>
                    <a:lnTo>
                      <a:pt x="24" y="39"/>
                    </a:lnTo>
                    <a:lnTo>
                      <a:pt x="15" y="50"/>
                    </a:lnTo>
                    <a:lnTo>
                      <a:pt x="7" y="64"/>
                    </a:lnTo>
                    <a:lnTo>
                      <a:pt x="3" y="80"/>
                    </a:lnTo>
                    <a:lnTo>
                      <a:pt x="0" y="96"/>
                    </a:lnTo>
                    <a:lnTo>
                      <a:pt x="0" y="112"/>
                    </a:lnTo>
                    <a:lnTo>
                      <a:pt x="2" y="129"/>
                    </a:lnTo>
                    <a:lnTo>
                      <a:pt x="6" y="145"/>
                    </a:lnTo>
                    <a:lnTo>
                      <a:pt x="12" y="161"/>
                    </a:lnTo>
                    <a:lnTo>
                      <a:pt x="18" y="175"/>
                    </a:lnTo>
                    <a:lnTo>
                      <a:pt x="27" y="189"/>
                    </a:lnTo>
                    <a:lnTo>
                      <a:pt x="37" y="204"/>
                    </a:lnTo>
                    <a:lnTo>
                      <a:pt x="49" y="217"/>
                    </a:lnTo>
                    <a:lnTo>
                      <a:pt x="65" y="231"/>
                    </a:lnTo>
                    <a:lnTo>
                      <a:pt x="82" y="244"/>
                    </a:lnTo>
                    <a:lnTo>
                      <a:pt x="101" y="257"/>
                    </a:lnTo>
                    <a:lnTo>
                      <a:pt x="122" y="266"/>
                    </a:lnTo>
                    <a:lnTo>
                      <a:pt x="142" y="270"/>
                    </a:lnTo>
                    <a:lnTo>
                      <a:pt x="165" y="270"/>
                    </a:lnTo>
                    <a:lnTo>
                      <a:pt x="185" y="263"/>
                    </a:lnTo>
                    <a:lnTo>
                      <a:pt x="206" y="250"/>
                    </a:lnTo>
                    <a:lnTo>
                      <a:pt x="219" y="240"/>
                    </a:lnTo>
                    <a:lnTo>
                      <a:pt x="232" y="228"/>
                    </a:lnTo>
                    <a:lnTo>
                      <a:pt x="244" y="215"/>
                    </a:lnTo>
                    <a:lnTo>
                      <a:pt x="254" y="202"/>
                    </a:lnTo>
                    <a:lnTo>
                      <a:pt x="263" y="188"/>
                    </a:lnTo>
                    <a:lnTo>
                      <a:pt x="270" y="174"/>
                    </a:lnTo>
                    <a:lnTo>
                      <a:pt x="276" y="158"/>
                    </a:lnTo>
                    <a:lnTo>
                      <a:pt x="279" y="141"/>
                    </a:lnTo>
                    <a:lnTo>
                      <a:pt x="279" y="133"/>
                    </a:lnTo>
                    <a:lnTo>
                      <a:pt x="278" y="126"/>
                    </a:lnTo>
                    <a:lnTo>
                      <a:pt x="273" y="120"/>
                    </a:lnTo>
                    <a:lnTo>
                      <a:pt x="266" y="116"/>
                    </a:lnTo>
                    <a:lnTo>
                      <a:pt x="258" y="116"/>
                    </a:lnTo>
                    <a:lnTo>
                      <a:pt x="251" y="118"/>
                    </a:lnTo>
                    <a:lnTo>
                      <a:pt x="245" y="122"/>
                    </a:lnTo>
                    <a:lnTo>
                      <a:pt x="241" y="129"/>
                    </a:lnTo>
                    <a:lnTo>
                      <a:pt x="241" y="132"/>
                    </a:lnTo>
                    <a:lnTo>
                      <a:pt x="238" y="139"/>
                    </a:lnTo>
                    <a:lnTo>
                      <a:pt x="235" y="151"/>
                    </a:lnTo>
                    <a:lnTo>
                      <a:pt x="229" y="164"/>
                    </a:lnTo>
                    <a:lnTo>
                      <a:pt x="220" y="176"/>
                    </a:lnTo>
                    <a:lnTo>
                      <a:pt x="210" y="191"/>
                    </a:lnTo>
                    <a:lnTo>
                      <a:pt x="198" y="201"/>
                    </a:lnTo>
                    <a:lnTo>
                      <a:pt x="182" y="210"/>
                    </a:lnTo>
                    <a:lnTo>
                      <a:pt x="154" y="211"/>
                    </a:lnTo>
                    <a:lnTo>
                      <a:pt x="126" y="207"/>
                    </a:lnTo>
                    <a:lnTo>
                      <a:pt x="100" y="197"/>
                    </a:lnTo>
                    <a:lnTo>
                      <a:pt x="78" y="181"/>
                    </a:lnTo>
                    <a:lnTo>
                      <a:pt x="59" y="162"/>
                    </a:lnTo>
                    <a:lnTo>
                      <a:pt x="46" y="139"/>
                    </a:lnTo>
                    <a:lnTo>
                      <a:pt x="40" y="113"/>
                    </a:lnTo>
                    <a:lnTo>
                      <a:pt x="40" y="86"/>
                    </a:lnTo>
                    <a:lnTo>
                      <a:pt x="44" y="73"/>
                    </a:lnTo>
                    <a:lnTo>
                      <a:pt x="50" y="62"/>
                    </a:lnTo>
                    <a:lnTo>
                      <a:pt x="60" y="50"/>
                    </a:lnTo>
                    <a:lnTo>
                      <a:pt x="71" y="39"/>
                    </a:lnTo>
                    <a:lnTo>
                      <a:pt x="81" y="30"/>
                    </a:lnTo>
                    <a:lnTo>
                      <a:pt x="93" y="21"/>
                    </a:lnTo>
                    <a:lnTo>
                      <a:pt x="103" y="16"/>
                    </a:lnTo>
                    <a:lnTo>
                      <a:pt x="112" y="11"/>
                    </a:lnTo>
                    <a:lnTo>
                      <a:pt x="109" y="4"/>
                    </a:lnTo>
                    <a:lnTo>
                      <a:pt x="100" y="0"/>
                    </a:lnTo>
                    <a:lnTo>
                      <a:pt x="88" y="0"/>
                    </a:lnTo>
                    <a:lnTo>
                      <a:pt x="75" y="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5" name="Freeform 32"/>
              <p:cNvSpPr/>
              <p:nvPr/>
            </p:nvSpPr>
            <p:spPr>
              <a:xfrm>
                <a:off x="8347" y="4786"/>
                <a:ext cx="24" cy="25"/>
              </a:xfrm>
              <a:custGeom>
                <a:avLst/>
                <a:gdLst/>
                <a:ahLst/>
                <a:cxnLst>
                  <a:cxn ang="0">
                    <a:pos x="1" y="7"/>
                  </a:cxn>
                  <a:cxn ang="0">
                    <a:pos x="2" y="8"/>
                  </a:cxn>
                  <a:cxn ang="0">
                    <a:pos x="3" y="8"/>
                  </a:cxn>
                  <a:cxn ang="0">
                    <a:pos x="4" y="8"/>
                  </a:cxn>
                  <a:cxn ang="0">
                    <a:pos x="4" y="8"/>
                  </a:cxn>
                  <a:cxn ang="0">
                    <a:pos x="4" y="8"/>
                  </a:cxn>
                  <a:cxn ang="0">
                    <a:pos x="5" y="8"/>
                  </a:cxn>
                  <a:cxn ang="0">
                    <a:pos x="6" y="7"/>
                  </a:cxn>
                  <a:cxn ang="0">
                    <a:pos x="7" y="7"/>
                  </a:cxn>
                  <a:cxn ang="0">
                    <a:pos x="8" y="6"/>
                  </a:cxn>
                  <a:cxn ang="0">
                    <a:pos x="8" y="6"/>
                  </a:cxn>
                  <a:cxn ang="0">
                    <a:pos x="8" y="5"/>
                  </a:cxn>
                  <a:cxn ang="0">
                    <a:pos x="8" y="5"/>
                  </a:cxn>
                  <a:cxn ang="0">
                    <a:pos x="7" y="4"/>
                  </a:cxn>
                  <a:cxn ang="0">
                    <a:pos x="7" y="4"/>
                  </a:cxn>
                  <a:cxn ang="0">
                    <a:pos x="7" y="4"/>
                  </a:cxn>
                  <a:cxn ang="0">
                    <a:pos x="6" y="4"/>
                  </a:cxn>
                  <a:cxn ang="0">
                    <a:pos x="5" y="5"/>
                  </a:cxn>
                  <a:cxn ang="0">
                    <a:pos x="4" y="5"/>
                  </a:cxn>
                  <a:cxn ang="0">
                    <a:pos x="4" y="6"/>
                  </a:cxn>
                  <a:cxn ang="0">
                    <a:pos x="3" y="6"/>
                  </a:cxn>
                  <a:cxn ang="0">
                    <a:pos x="3" y="5"/>
                  </a:cxn>
                  <a:cxn ang="0">
                    <a:pos x="2" y="3"/>
                  </a:cxn>
                  <a:cxn ang="0">
                    <a:pos x="1" y="1"/>
                  </a:cxn>
                  <a:cxn ang="0">
                    <a:pos x="0" y="0"/>
                  </a:cxn>
                  <a:cxn ang="0">
                    <a:pos x="0" y="2"/>
                  </a:cxn>
                  <a:cxn ang="0">
                    <a:pos x="0" y="4"/>
                  </a:cxn>
                  <a:cxn ang="0">
                    <a:pos x="1" y="6"/>
                  </a:cxn>
                  <a:cxn ang="0">
                    <a:pos x="1" y="7"/>
                  </a:cxn>
                </a:cxnLst>
                <a:pathLst>
                  <a:path w="72" h="75">
                    <a:moveTo>
                      <a:pt x="7" y="65"/>
                    </a:moveTo>
                    <a:lnTo>
                      <a:pt x="15" y="72"/>
                    </a:lnTo>
                    <a:lnTo>
                      <a:pt x="25" y="75"/>
                    </a:lnTo>
                    <a:lnTo>
                      <a:pt x="32" y="75"/>
                    </a:lnTo>
                    <a:lnTo>
                      <a:pt x="37" y="73"/>
                    </a:lnTo>
                    <a:lnTo>
                      <a:pt x="39" y="72"/>
                    </a:lnTo>
                    <a:lnTo>
                      <a:pt x="47" y="71"/>
                    </a:lnTo>
                    <a:lnTo>
                      <a:pt x="56" y="66"/>
                    </a:lnTo>
                    <a:lnTo>
                      <a:pt x="64" y="60"/>
                    </a:lnTo>
                    <a:lnTo>
                      <a:pt x="69" y="56"/>
                    </a:lnTo>
                    <a:lnTo>
                      <a:pt x="72" y="52"/>
                    </a:lnTo>
                    <a:lnTo>
                      <a:pt x="72" y="49"/>
                    </a:lnTo>
                    <a:lnTo>
                      <a:pt x="70" y="45"/>
                    </a:lnTo>
                    <a:lnTo>
                      <a:pt x="67" y="40"/>
                    </a:lnTo>
                    <a:lnTo>
                      <a:pt x="63" y="39"/>
                    </a:lnTo>
                    <a:lnTo>
                      <a:pt x="59" y="38"/>
                    </a:lnTo>
                    <a:lnTo>
                      <a:pt x="54" y="39"/>
                    </a:lnTo>
                    <a:lnTo>
                      <a:pt x="48" y="42"/>
                    </a:lnTo>
                    <a:lnTo>
                      <a:pt x="39" y="46"/>
                    </a:lnTo>
                    <a:lnTo>
                      <a:pt x="32" y="50"/>
                    </a:lnTo>
                    <a:lnTo>
                      <a:pt x="29" y="52"/>
                    </a:lnTo>
                    <a:lnTo>
                      <a:pt x="26" y="43"/>
                    </a:lnTo>
                    <a:lnTo>
                      <a:pt x="20" y="25"/>
                    </a:lnTo>
                    <a:lnTo>
                      <a:pt x="12" y="7"/>
                    </a:lnTo>
                    <a:lnTo>
                      <a:pt x="1" y="0"/>
                    </a:lnTo>
                    <a:lnTo>
                      <a:pt x="0" y="17"/>
                    </a:lnTo>
                    <a:lnTo>
                      <a:pt x="3" y="39"/>
                    </a:lnTo>
                    <a:lnTo>
                      <a:pt x="6" y="58"/>
                    </a:lnTo>
                    <a:lnTo>
                      <a:pt x="7" y="6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6" name="Freeform 33"/>
              <p:cNvSpPr/>
              <p:nvPr/>
            </p:nvSpPr>
            <p:spPr>
              <a:xfrm>
                <a:off x="8370" y="4780"/>
                <a:ext cx="23" cy="20"/>
              </a:xfrm>
              <a:custGeom>
                <a:avLst/>
                <a:gdLst/>
                <a:ahLst/>
                <a:cxnLst>
                  <a:cxn ang="0">
                    <a:pos x="2" y="6"/>
                  </a:cxn>
                  <a:cxn ang="0">
                    <a:pos x="2" y="6"/>
                  </a:cxn>
                  <a:cxn ang="0">
                    <a:pos x="2" y="6"/>
                  </a:cxn>
                  <a:cxn ang="0">
                    <a:pos x="3" y="7"/>
                  </a:cxn>
                  <a:cxn ang="0">
                    <a:pos x="3" y="7"/>
                  </a:cxn>
                  <a:cxn ang="0">
                    <a:pos x="4" y="7"/>
                  </a:cxn>
                  <a:cxn ang="0">
                    <a:pos x="5" y="6"/>
                  </a:cxn>
                  <a:cxn ang="0">
                    <a:pos x="6" y="6"/>
                  </a:cxn>
                  <a:cxn ang="0">
                    <a:pos x="7" y="6"/>
                  </a:cxn>
                  <a:cxn ang="0">
                    <a:pos x="7" y="5"/>
                  </a:cxn>
                  <a:cxn ang="0">
                    <a:pos x="8" y="5"/>
                  </a:cxn>
                  <a:cxn ang="0">
                    <a:pos x="8" y="5"/>
                  </a:cxn>
                  <a:cxn ang="0">
                    <a:pos x="8" y="4"/>
                  </a:cxn>
                  <a:cxn ang="0">
                    <a:pos x="6" y="4"/>
                  </a:cxn>
                  <a:cxn ang="0">
                    <a:pos x="5" y="4"/>
                  </a:cxn>
                  <a:cxn ang="0">
                    <a:pos x="4" y="4"/>
                  </a:cxn>
                  <a:cxn ang="0">
                    <a:pos x="3" y="5"/>
                  </a:cxn>
                  <a:cxn ang="0">
                    <a:pos x="2" y="3"/>
                  </a:cxn>
                  <a:cxn ang="0">
                    <a:pos x="2" y="2"/>
                  </a:cxn>
                  <a:cxn ang="0">
                    <a:pos x="1" y="0"/>
                  </a:cxn>
                  <a:cxn ang="0">
                    <a:pos x="0" y="0"/>
                  </a:cxn>
                  <a:cxn ang="0">
                    <a:pos x="0" y="2"/>
                  </a:cxn>
                  <a:cxn ang="0">
                    <a:pos x="0" y="4"/>
                  </a:cxn>
                  <a:cxn ang="0">
                    <a:pos x="1" y="6"/>
                  </a:cxn>
                  <a:cxn ang="0">
                    <a:pos x="2" y="6"/>
                  </a:cxn>
                </a:cxnLst>
                <a:pathLst>
                  <a:path w="70" h="59">
                    <a:moveTo>
                      <a:pt x="15" y="53"/>
                    </a:moveTo>
                    <a:lnTo>
                      <a:pt x="16" y="55"/>
                    </a:lnTo>
                    <a:lnTo>
                      <a:pt x="20" y="57"/>
                    </a:lnTo>
                    <a:lnTo>
                      <a:pt x="25" y="59"/>
                    </a:lnTo>
                    <a:lnTo>
                      <a:pt x="26" y="59"/>
                    </a:lnTo>
                    <a:lnTo>
                      <a:pt x="35" y="59"/>
                    </a:lnTo>
                    <a:lnTo>
                      <a:pt x="45" y="56"/>
                    </a:lnTo>
                    <a:lnTo>
                      <a:pt x="54" y="55"/>
                    </a:lnTo>
                    <a:lnTo>
                      <a:pt x="63" y="50"/>
                    </a:lnTo>
                    <a:lnTo>
                      <a:pt x="66" y="47"/>
                    </a:lnTo>
                    <a:lnTo>
                      <a:pt x="69" y="44"/>
                    </a:lnTo>
                    <a:lnTo>
                      <a:pt x="70" y="40"/>
                    </a:lnTo>
                    <a:lnTo>
                      <a:pt x="69" y="37"/>
                    </a:lnTo>
                    <a:lnTo>
                      <a:pt x="56" y="32"/>
                    </a:lnTo>
                    <a:lnTo>
                      <a:pt x="42" y="33"/>
                    </a:lnTo>
                    <a:lnTo>
                      <a:pt x="32" y="37"/>
                    </a:lnTo>
                    <a:lnTo>
                      <a:pt x="28" y="40"/>
                    </a:lnTo>
                    <a:lnTo>
                      <a:pt x="20" y="30"/>
                    </a:lnTo>
                    <a:lnTo>
                      <a:pt x="16" y="14"/>
                    </a:lnTo>
                    <a:lnTo>
                      <a:pt x="10" y="3"/>
                    </a:lnTo>
                    <a:lnTo>
                      <a:pt x="3" y="0"/>
                    </a:lnTo>
                    <a:lnTo>
                      <a:pt x="0" y="19"/>
                    </a:lnTo>
                    <a:lnTo>
                      <a:pt x="4" y="36"/>
                    </a:lnTo>
                    <a:lnTo>
                      <a:pt x="12" y="49"/>
                    </a:lnTo>
                    <a:lnTo>
                      <a:pt x="15"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7" name="Freeform 34"/>
              <p:cNvSpPr/>
              <p:nvPr/>
            </p:nvSpPr>
            <p:spPr>
              <a:xfrm>
                <a:off x="8390" y="4771"/>
                <a:ext cx="22" cy="20"/>
              </a:xfrm>
              <a:custGeom>
                <a:avLst/>
                <a:gdLst/>
                <a:ahLst/>
                <a:cxnLst>
                  <a:cxn ang="0">
                    <a:pos x="0" y="5"/>
                  </a:cxn>
                  <a:cxn ang="0">
                    <a:pos x="1" y="6"/>
                  </a:cxn>
                  <a:cxn ang="0">
                    <a:pos x="2" y="7"/>
                  </a:cxn>
                  <a:cxn ang="0">
                    <a:pos x="3" y="7"/>
                  </a:cxn>
                  <a:cxn ang="0">
                    <a:pos x="4" y="7"/>
                  </a:cxn>
                  <a:cxn ang="0">
                    <a:pos x="5" y="6"/>
                  </a:cxn>
                  <a:cxn ang="0">
                    <a:pos x="6" y="6"/>
                  </a:cxn>
                  <a:cxn ang="0">
                    <a:pos x="7" y="5"/>
                  </a:cxn>
                  <a:cxn ang="0">
                    <a:pos x="7" y="4"/>
                  </a:cxn>
                  <a:cxn ang="0">
                    <a:pos x="7" y="4"/>
                  </a:cxn>
                  <a:cxn ang="0">
                    <a:pos x="7" y="4"/>
                  </a:cxn>
                  <a:cxn ang="0">
                    <a:pos x="6" y="4"/>
                  </a:cxn>
                  <a:cxn ang="0">
                    <a:pos x="6" y="4"/>
                  </a:cxn>
                  <a:cxn ang="0">
                    <a:pos x="3" y="4"/>
                  </a:cxn>
                  <a:cxn ang="0">
                    <a:pos x="3" y="3"/>
                  </a:cxn>
                  <a:cxn ang="0">
                    <a:pos x="2" y="2"/>
                  </a:cxn>
                  <a:cxn ang="0">
                    <a:pos x="1" y="0"/>
                  </a:cxn>
                  <a:cxn ang="0">
                    <a:pos x="0" y="0"/>
                  </a:cxn>
                  <a:cxn ang="0">
                    <a:pos x="0" y="2"/>
                  </a:cxn>
                  <a:cxn ang="0">
                    <a:pos x="0" y="3"/>
                  </a:cxn>
                  <a:cxn ang="0">
                    <a:pos x="0" y="5"/>
                  </a:cxn>
                  <a:cxn ang="0">
                    <a:pos x="0" y="5"/>
                  </a:cxn>
                </a:cxnLst>
                <a:pathLst>
                  <a:path w="65" h="60">
                    <a:moveTo>
                      <a:pt x="4" y="46"/>
                    </a:moveTo>
                    <a:lnTo>
                      <a:pt x="9" y="56"/>
                    </a:lnTo>
                    <a:lnTo>
                      <a:pt x="21" y="60"/>
                    </a:lnTo>
                    <a:lnTo>
                      <a:pt x="31" y="60"/>
                    </a:lnTo>
                    <a:lnTo>
                      <a:pt x="35" y="60"/>
                    </a:lnTo>
                    <a:lnTo>
                      <a:pt x="44" y="57"/>
                    </a:lnTo>
                    <a:lnTo>
                      <a:pt x="54" y="51"/>
                    </a:lnTo>
                    <a:lnTo>
                      <a:pt x="62" y="46"/>
                    </a:lnTo>
                    <a:lnTo>
                      <a:pt x="65" y="40"/>
                    </a:lnTo>
                    <a:lnTo>
                      <a:pt x="63" y="36"/>
                    </a:lnTo>
                    <a:lnTo>
                      <a:pt x="60" y="34"/>
                    </a:lnTo>
                    <a:lnTo>
                      <a:pt x="56" y="33"/>
                    </a:lnTo>
                    <a:lnTo>
                      <a:pt x="51" y="33"/>
                    </a:lnTo>
                    <a:lnTo>
                      <a:pt x="26" y="37"/>
                    </a:lnTo>
                    <a:lnTo>
                      <a:pt x="24" y="30"/>
                    </a:lnTo>
                    <a:lnTo>
                      <a:pt x="18" y="15"/>
                    </a:lnTo>
                    <a:lnTo>
                      <a:pt x="9" y="2"/>
                    </a:lnTo>
                    <a:lnTo>
                      <a:pt x="0" y="0"/>
                    </a:lnTo>
                    <a:lnTo>
                      <a:pt x="0" y="14"/>
                    </a:lnTo>
                    <a:lnTo>
                      <a:pt x="2" y="30"/>
                    </a:lnTo>
                    <a:lnTo>
                      <a:pt x="3" y="41"/>
                    </a:lnTo>
                    <a:lnTo>
                      <a:pt x="4"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8" name="Freeform 35"/>
              <p:cNvSpPr/>
              <p:nvPr/>
            </p:nvSpPr>
            <p:spPr>
              <a:xfrm>
                <a:off x="8362" y="4825"/>
                <a:ext cx="23" cy="16"/>
              </a:xfrm>
              <a:custGeom>
                <a:avLst/>
                <a:gdLst/>
                <a:ahLst/>
                <a:cxnLst>
                  <a:cxn ang="0">
                    <a:pos x="1" y="5"/>
                  </a:cxn>
                  <a:cxn ang="0">
                    <a:pos x="1" y="5"/>
                  </a:cxn>
                  <a:cxn ang="0">
                    <a:pos x="2" y="5"/>
                  </a:cxn>
                  <a:cxn ang="0">
                    <a:pos x="2" y="5"/>
                  </a:cxn>
                  <a:cxn ang="0">
                    <a:pos x="3" y="5"/>
                  </a:cxn>
                  <a:cxn ang="0">
                    <a:pos x="3" y="5"/>
                  </a:cxn>
                  <a:cxn ang="0">
                    <a:pos x="4" y="5"/>
                  </a:cxn>
                  <a:cxn ang="0">
                    <a:pos x="5" y="5"/>
                  </a:cxn>
                  <a:cxn ang="0">
                    <a:pos x="6" y="4"/>
                  </a:cxn>
                  <a:cxn ang="0">
                    <a:pos x="7" y="4"/>
                  </a:cxn>
                  <a:cxn ang="0">
                    <a:pos x="7" y="3"/>
                  </a:cxn>
                  <a:cxn ang="0">
                    <a:pos x="8" y="3"/>
                  </a:cxn>
                  <a:cxn ang="0">
                    <a:pos x="7" y="2"/>
                  </a:cxn>
                  <a:cxn ang="0">
                    <a:pos x="7" y="2"/>
                  </a:cxn>
                  <a:cxn ang="0">
                    <a:pos x="6" y="2"/>
                  </a:cxn>
                  <a:cxn ang="0">
                    <a:pos x="5" y="2"/>
                  </a:cxn>
                  <a:cxn ang="0">
                    <a:pos x="4" y="2"/>
                  </a:cxn>
                  <a:cxn ang="0">
                    <a:pos x="4" y="2"/>
                  </a:cxn>
                  <a:cxn ang="0">
                    <a:pos x="3" y="3"/>
                  </a:cxn>
                  <a:cxn ang="0">
                    <a:pos x="2" y="3"/>
                  </a:cxn>
                  <a:cxn ang="0">
                    <a:pos x="2" y="3"/>
                  </a:cxn>
                  <a:cxn ang="0">
                    <a:pos x="2" y="2"/>
                  </a:cxn>
                  <a:cxn ang="0">
                    <a:pos x="2" y="2"/>
                  </a:cxn>
                  <a:cxn ang="0">
                    <a:pos x="1" y="1"/>
                  </a:cxn>
                  <a:cxn ang="0">
                    <a:pos x="1" y="0"/>
                  </a:cxn>
                  <a:cxn ang="0">
                    <a:pos x="1" y="0"/>
                  </a:cxn>
                  <a:cxn ang="0">
                    <a:pos x="1" y="0"/>
                  </a:cxn>
                  <a:cxn ang="0">
                    <a:pos x="0" y="0"/>
                  </a:cxn>
                  <a:cxn ang="0">
                    <a:pos x="0" y="0"/>
                  </a:cxn>
                  <a:cxn ang="0">
                    <a:pos x="0" y="1"/>
                  </a:cxn>
                  <a:cxn ang="0">
                    <a:pos x="0" y="3"/>
                  </a:cxn>
                  <a:cxn ang="0">
                    <a:pos x="1" y="5"/>
                  </a:cxn>
                  <a:cxn ang="0">
                    <a:pos x="1" y="5"/>
                  </a:cxn>
                </a:cxnLst>
                <a:pathLst>
                  <a:path w="69" h="47">
                    <a:moveTo>
                      <a:pt x="9" y="46"/>
                    </a:moveTo>
                    <a:lnTo>
                      <a:pt x="12" y="47"/>
                    </a:lnTo>
                    <a:lnTo>
                      <a:pt x="16" y="47"/>
                    </a:lnTo>
                    <a:lnTo>
                      <a:pt x="22" y="47"/>
                    </a:lnTo>
                    <a:lnTo>
                      <a:pt x="23" y="47"/>
                    </a:lnTo>
                    <a:lnTo>
                      <a:pt x="31" y="46"/>
                    </a:lnTo>
                    <a:lnTo>
                      <a:pt x="40" y="45"/>
                    </a:lnTo>
                    <a:lnTo>
                      <a:pt x="48" y="42"/>
                    </a:lnTo>
                    <a:lnTo>
                      <a:pt x="56" y="37"/>
                    </a:lnTo>
                    <a:lnTo>
                      <a:pt x="63" y="34"/>
                    </a:lnTo>
                    <a:lnTo>
                      <a:pt x="67" y="30"/>
                    </a:lnTo>
                    <a:lnTo>
                      <a:pt x="69" y="26"/>
                    </a:lnTo>
                    <a:lnTo>
                      <a:pt x="66" y="20"/>
                    </a:lnTo>
                    <a:lnTo>
                      <a:pt x="62" y="17"/>
                    </a:lnTo>
                    <a:lnTo>
                      <a:pt x="56" y="17"/>
                    </a:lnTo>
                    <a:lnTo>
                      <a:pt x="48" y="17"/>
                    </a:lnTo>
                    <a:lnTo>
                      <a:pt x="40" y="19"/>
                    </a:lnTo>
                    <a:lnTo>
                      <a:pt x="32" y="22"/>
                    </a:lnTo>
                    <a:lnTo>
                      <a:pt x="26" y="23"/>
                    </a:lnTo>
                    <a:lnTo>
                      <a:pt x="22" y="26"/>
                    </a:lnTo>
                    <a:lnTo>
                      <a:pt x="20" y="26"/>
                    </a:lnTo>
                    <a:lnTo>
                      <a:pt x="19" y="22"/>
                    </a:lnTo>
                    <a:lnTo>
                      <a:pt x="16" y="14"/>
                    </a:lnTo>
                    <a:lnTo>
                      <a:pt x="12" y="7"/>
                    </a:lnTo>
                    <a:lnTo>
                      <a:pt x="10" y="4"/>
                    </a:lnTo>
                    <a:lnTo>
                      <a:pt x="7" y="1"/>
                    </a:lnTo>
                    <a:lnTo>
                      <a:pt x="6" y="0"/>
                    </a:lnTo>
                    <a:lnTo>
                      <a:pt x="3" y="0"/>
                    </a:lnTo>
                    <a:lnTo>
                      <a:pt x="0" y="3"/>
                    </a:lnTo>
                    <a:lnTo>
                      <a:pt x="0" y="11"/>
                    </a:lnTo>
                    <a:lnTo>
                      <a:pt x="3" y="26"/>
                    </a:lnTo>
                    <a:lnTo>
                      <a:pt x="7" y="40"/>
                    </a:lnTo>
                    <a:lnTo>
                      <a:pt x="9" y="46"/>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89" name="Freeform 36"/>
              <p:cNvSpPr/>
              <p:nvPr/>
            </p:nvSpPr>
            <p:spPr>
              <a:xfrm>
                <a:off x="8390" y="4813"/>
                <a:ext cx="20" cy="20"/>
              </a:xfrm>
              <a:custGeom>
                <a:avLst/>
                <a:gdLst/>
                <a:ahLst/>
                <a:cxnLst>
                  <a:cxn ang="0">
                    <a:pos x="1" y="6"/>
                  </a:cxn>
                  <a:cxn ang="0">
                    <a:pos x="2" y="7"/>
                  </a:cxn>
                  <a:cxn ang="0">
                    <a:pos x="4" y="7"/>
                  </a:cxn>
                  <a:cxn ang="0">
                    <a:pos x="5" y="7"/>
                  </a:cxn>
                  <a:cxn ang="0">
                    <a:pos x="6" y="6"/>
                  </a:cxn>
                  <a:cxn ang="0">
                    <a:pos x="6" y="6"/>
                  </a:cxn>
                  <a:cxn ang="0">
                    <a:pos x="7" y="6"/>
                  </a:cxn>
                  <a:cxn ang="0">
                    <a:pos x="7" y="5"/>
                  </a:cxn>
                  <a:cxn ang="0">
                    <a:pos x="7" y="4"/>
                  </a:cxn>
                  <a:cxn ang="0">
                    <a:pos x="6" y="4"/>
                  </a:cxn>
                  <a:cxn ang="0">
                    <a:pos x="6" y="4"/>
                  </a:cxn>
                  <a:cxn ang="0">
                    <a:pos x="5" y="4"/>
                  </a:cxn>
                  <a:cxn ang="0">
                    <a:pos x="5" y="4"/>
                  </a:cxn>
                  <a:cxn ang="0">
                    <a:pos x="4" y="4"/>
                  </a:cxn>
                  <a:cxn ang="0">
                    <a:pos x="3" y="4"/>
                  </a:cxn>
                  <a:cxn ang="0">
                    <a:pos x="2" y="4"/>
                  </a:cxn>
                  <a:cxn ang="0">
                    <a:pos x="2" y="4"/>
                  </a:cxn>
                  <a:cxn ang="0">
                    <a:pos x="2" y="3"/>
                  </a:cxn>
                  <a:cxn ang="0">
                    <a:pos x="2" y="2"/>
                  </a:cxn>
                  <a:cxn ang="0">
                    <a:pos x="2" y="0"/>
                  </a:cxn>
                  <a:cxn ang="0">
                    <a:pos x="1" y="0"/>
                  </a:cxn>
                  <a:cxn ang="0">
                    <a:pos x="0" y="1"/>
                  </a:cxn>
                  <a:cxn ang="0">
                    <a:pos x="0" y="3"/>
                  </a:cxn>
                  <a:cxn ang="0">
                    <a:pos x="0" y="5"/>
                  </a:cxn>
                  <a:cxn ang="0">
                    <a:pos x="1" y="6"/>
                  </a:cxn>
                </a:cxnLst>
                <a:pathLst>
                  <a:path w="60" h="58">
                    <a:moveTo>
                      <a:pt x="13" y="52"/>
                    </a:moveTo>
                    <a:lnTo>
                      <a:pt x="20" y="55"/>
                    </a:lnTo>
                    <a:lnTo>
                      <a:pt x="32" y="58"/>
                    </a:lnTo>
                    <a:lnTo>
                      <a:pt x="45" y="56"/>
                    </a:lnTo>
                    <a:lnTo>
                      <a:pt x="55" y="50"/>
                    </a:lnTo>
                    <a:lnTo>
                      <a:pt x="58" y="49"/>
                    </a:lnTo>
                    <a:lnTo>
                      <a:pt x="60" y="46"/>
                    </a:lnTo>
                    <a:lnTo>
                      <a:pt x="60" y="42"/>
                    </a:lnTo>
                    <a:lnTo>
                      <a:pt x="60" y="39"/>
                    </a:lnTo>
                    <a:lnTo>
                      <a:pt x="58" y="36"/>
                    </a:lnTo>
                    <a:lnTo>
                      <a:pt x="54" y="33"/>
                    </a:lnTo>
                    <a:lnTo>
                      <a:pt x="49" y="32"/>
                    </a:lnTo>
                    <a:lnTo>
                      <a:pt x="45" y="32"/>
                    </a:lnTo>
                    <a:lnTo>
                      <a:pt x="36" y="35"/>
                    </a:lnTo>
                    <a:lnTo>
                      <a:pt x="27" y="36"/>
                    </a:lnTo>
                    <a:lnTo>
                      <a:pt x="20" y="35"/>
                    </a:lnTo>
                    <a:lnTo>
                      <a:pt x="17" y="35"/>
                    </a:lnTo>
                    <a:lnTo>
                      <a:pt x="17" y="29"/>
                    </a:lnTo>
                    <a:lnTo>
                      <a:pt x="17" y="16"/>
                    </a:lnTo>
                    <a:lnTo>
                      <a:pt x="14" y="3"/>
                    </a:lnTo>
                    <a:lnTo>
                      <a:pt x="5" y="0"/>
                    </a:lnTo>
                    <a:lnTo>
                      <a:pt x="1" y="12"/>
                    </a:lnTo>
                    <a:lnTo>
                      <a:pt x="0" y="26"/>
                    </a:lnTo>
                    <a:lnTo>
                      <a:pt x="3" y="40"/>
                    </a:lnTo>
                    <a:lnTo>
                      <a:pt x="13"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90" name="Freeform 37"/>
              <p:cNvSpPr/>
              <p:nvPr/>
            </p:nvSpPr>
            <p:spPr>
              <a:xfrm>
                <a:off x="8411" y="4806"/>
                <a:ext cx="20" cy="18"/>
              </a:xfrm>
              <a:custGeom>
                <a:avLst/>
                <a:gdLst/>
                <a:ahLst/>
                <a:cxnLst>
                  <a:cxn ang="0">
                    <a:pos x="2" y="6"/>
                  </a:cxn>
                  <a:cxn ang="0">
                    <a:pos x="4" y="6"/>
                  </a:cxn>
                  <a:cxn ang="0">
                    <a:pos x="5" y="6"/>
                  </a:cxn>
                  <a:cxn ang="0">
                    <a:pos x="6" y="5"/>
                  </a:cxn>
                  <a:cxn ang="0">
                    <a:pos x="7" y="4"/>
                  </a:cxn>
                  <a:cxn ang="0">
                    <a:pos x="6" y="3"/>
                  </a:cxn>
                  <a:cxn ang="0">
                    <a:pos x="6" y="3"/>
                  </a:cxn>
                  <a:cxn ang="0">
                    <a:pos x="6" y="3"/>
                  </a:cxn>
                  <a:cxn ang="0">
                    <a:pos x="5" y="3"/>
                  </a:cxn>
                  <a:cxn ang="0">
                    <a:pos x="5" y="3"/>
                  </a:cxn>
                  <a:cxn ang="0">
                    <a:pos x="4" y="4"/>
                  </a:cxn>
                  <a:cxn ang="0">
                    <a:pos x="4" y="4"/>
                  </a:cxn>
                  <a:cxn ang="0">
                    <a:pos x="4" y="4"/>
                  </a:cxn>
                  <a:cxn ang="0">
                    <a:pos x="3" y="3"/>
                  </a:cxn>
                  <a:cxn ang="0">
                    <a:pos x="2" y="2"/>
                  </a:cxn>
                  <a:cxn ang="0">
                    <a:pos x="1" y="1"/>
                  </a:cxn>
                  <a:cxn ang="0">
                    <a:pos x="0" y="0"/>
                  </a:cxn>
                  <a:cxn ang="0">
                    <a:pos x="0" y="2"/>
                  </a:cxn>
                  <a:cxn ang="0">
                    <a:pos x="1" y="4"/>
                  </a:cxn>
                  <a:cxn ang="0">
                    <a:pos x="2" y="5"/>
                  </a:cxn>
                  <a:cxn ang="0">
                    <a:pos x="2" y="6"/>
                  </a:cxn>
                </a:cxnLst>
                <a:pathLst>
                  <a:path w="59" h="55">
                    <a:moveTo>
                      <a:pt x="19" y="52"/>
                    </a:moveTo>
                    <a:lnTo>
                      <a:pt x="31" y="55"/>
                    </a:lnTo>
                    <a:lnTo>
                      <a:pt x="43" y="54"/>
                    </a:lnTo>
                    <a:lnTo>
                      <a:pt x="53" y="46"/>
                    </a:lnTo>
                    <a:lnTo>
                      <a:pt x="59" y="35"/>
                    </a:lnTo>
                    <a:lnTo>
                      <a:pt x="57" y="31"/>
                    </a:lnTo>
                    <a:lnTo>
                      <a:pt x="54" y="29"/>
                    </a:lnTo>
                    <a:lnTo>
                      <a:pt x="49" y="28"/>
                    </a:lnTo>
                    <a:lnTo>
                      <a:pt x="44" y="29"/>
                    </a:lnTo>
                    <a:lnTo>
                      <a:pt x="41" y="32"/>
                    </a:lnTo>
                    <a:lnTo>
                      <a:pt x="38" y="35"/>
                    </a:lnTo>
                    <a:lnTo>
                      <a:pt x="34" y="36"/>
                    </a:lnTo>
                    <a:lnTo>
                      <a:pt x="31" y="39"/>
                    </a:lnTo>
                    <a:lnTo>
                      <a:pt x="28" y="32"/>
                    </a:lnTo>
                    <a:lnTo>
                      <a:pt x="21" y="18"/>
                    </a:lnTo>
                    <a:lnTo>
                      <a:pt x="10" y="5"/>
                    </a:lnTo>
                    <a:lnTo>
                      <a:pt x="0" y="0"/>
                    </a:lnTo>
                    <a:lnTo>
                      <a:pt x="2" y="18"/>
                    </a:lnTo>
                    <a:lnTo>
                      <a:pt x="9" y="35"/>
                    </a:lnTo>
                    <a:lnTo>
                      <a:pt x="16" y="46"/>
                    </a:lnTo>
                    <a:lnTo>
                      <a:pt x="19" y="52"/>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91" name="Freeform 38"/>
              <p:cNvSpPr/>
              <p:nvPr/>
            </p:nvSpPr>
            <p:spPr>
              <a:xfrm>
                <a:off x="8374" y="4857"/>
                <a:ext cx="27" cy="25"/>
              </a:xfrm>
              <a:custGeom>
                <a:avLst/>
                <a:gdLst/>
                <a:ahLst/>
                <a:cxnLst>
                  <a:cxn ang="0">
                    <a:pos x="4" y="8"/>
                  </a:cxn>
                  <a:cxn ang="0">
                    <a:pos x="4" y="8"/>
                  </a:cxn>
                  <a:cxn ang="0">
                    <a:pos x="5" y="8"/>
                  </a:cxn>
                  <a:cxn ang="0">
                    <a:pos x="5" y="8"/>
                  </a:cxn>
                  <a:cxn ang="0">
                    <a:pos x="6" y="8"/>
                  </a:cxn>
                  <a:cxn ang="0">
                    <a:pos x="7" y="8"/>
                  </a:cxn>
                  <a:cxn ang="0">
                    <a:pos x="7" y="7"/>
                  </a:cxn>
                  <a:cxn ang="0">
                    <a:pos x="8" y="7"/>
                  </a:cxn>
                  <a:cxn ang="0">
                    <a:pos x="8" y="6"/>
                  </a:cxn>
                  <a:cxn ang="0">
                    <a:pos x="9" y="6"/>
                  </a:cxn>
                  <a:cxn ang="0">
                    <a:pos x="9" y="6"/>
                  </a:cxn>
                  <a:cxn ang="0">
                    <a:pos x="9" y="5"/>
                  </a:cxn>
                  <a:cxn ang="0">
                    <a:pos x="9" y="5"/>
                  </a:cxn>
                  <a:cxn ang="0">
                    <a:pos x="8" y="4"/>
                  </a:cxn>
                  <a:cxn ang="0">
                    <a:pos x="7" y="4"/>
                  </a:cxn>
                  <a:cxn ang="0">
                    <a:pos x="6" y="4"/>
                  </a:cxn>
                  <a:cxn ang="0">
                    <a:pos x="5" y="4"/>
                  </a:cxn>
                  <a:cxn ang="0">
                    <a:pos x="4" y="5"/>
                  </a:cxn>
                  <a:cxn ang="0">
                    <a:pos x="4" y="5"/>
                  </a:cxn>
                  <a:cxn ang="0">
                    <a:pos x="4" y="5"/>
                  </a:cxn>
                  <a:cxn ang="0">
                    <a:pos x="3" y="6"/>
                  </a:cxn>
                  <a:cxn ang="0">
                    <a:pos x="3" y="5"/>
                  </a:cxn>
                  <a:cxn ang="0">
                    <a:pos x="3" y="3"/>
                  </a:cxn>
                  <a:cxn ang="0">
                    <a:pos x="2" y="1"/>
                  </a:cxn>
                  <a:cxn ang="0">
                    <a:pos x="0" y="0"/>
                  </a:cxn>
                  <a:cxn ang="0">
                    <a:pos x="0" y="2"/>
                  </a:cxn>
                  <a:cxn ang="0">
                    <a:pos x="0" y="3"/>
                  </a:cxn>
                  <a:cxn ang="0">
                    <a:pos x="0" y="5"/>
                  </a:cxn>
                  <a:cxn ang="0">
                    <a:pos x="1" y="6"/>
                  </a:cxn>
                  <a:cxn ang="0">
                    <a:pos x="2" y="7"/>
                  </a:cxn>
                  <a:cxn ang="0">
                    <a:pos x="3" y="8"/>
                  </a:cxn>
                  <a:cxn ang="0">
                    <a:pos x="3" y="8"/>
                  </a:cxn>
                  <a:cxn ang="0">
                    <a:pos x="4" y="8"/>
                  </a:cxn>
                </a:cxnLst>
                <a:pathLst>
                  <a:path w="82" h="76">
                    <a:moveTo>
                      <a:pt x="32" y="75"/>
                    </a:moveTo>
                    <a:lnTo>
                      <a:pt x="38" y="76"/>
                    </a:lnTo>
                    <a:lnTo>
                      <a:pt x="44" y="76"/>
                    </a:lnTo>
                    <a:lnTo>
                      <a:pt x="50" y="76"/>
                    </a:lnTo>
                    <a:lnTo>
                      <a:pt x="57" y="75"/>
                    </a:lnTo>
                    <a:lnTo>
                      <a:pt x="61" y="72"/>
                    </a:lnTo>
                    <a:lnTo>
                      <a:pt x="67" y="67"/>
                    </a:lnTo>
                    <a:lnTo>
                      <a:pt x="72" y="64"/>
                    </a:lnTo>
                    <a:lnTo>
                      <a:pt x="76" y="59"/>
                    </a:lnTo>
                    <a:lnTo>
                      <a:pt x="80" y="56"/>
                    </a:lnTo>
                    <a:lnTo>
                      <a:pt x="82" y="52"/>
                    </a:lnTo>
                    <a:lnTo>
                      <a:pt x="82" y="47"/>
                    </a:lnTo>
                    <a:lnTo>
                      <a:pt x="79" y="43"/>
                    </a:lnTo>
                    <a:lnTo>
                      <a:pt x="70" y="39"/>
                    </a:lnTo>
                    <a:lnTo>
                      <a:pt x="63" y="37"/>
                    </a:lnTo>
                    <a:lnTo>
                      <a:pt x="54" y="39"/>
                    </a:lnTo>
                    <a:lnTo>
                      <a:pt x="47" y="41"/>
                    </a:lnTo>
                    <a:lnTo>
                      <a:pt x="39" y="44"/>
                    </a:lnTo>
                    <a:lnTo>
                      <a:pt x="35" y="49"/>
                    </a:lnTo>
                    <a:lnTo>
                      <a:pt x="32" y="50"/>
                    </a:lnTo>
                    <a:lnTo>
                      <a:pt x="30" y="52"/>
                    </a:lnTo>
                    <a:lnTo>
                      <a:pt x="29" y="43"/>
                    </a:lnTo>
                    <a:lnTo>
                      <a:pt x="23" y="23"/>
                    </a:lnTo>
                    <a:lnTo>
                      <a:pt x="14" y="6"/>
                    </a:lnTo>
                    <a:lnTo>
                      <a:pt x="4" y="0"/>
                    </a:lnTo>
                    <a:lnTo>
                      <a:pt x="0" y="17"/>
                    </a:lnTo>
                    <a:lnTo>
                      <a:pt x="0" y="31"/>
                    </a:lnTo>
                    <a:lnTo>
                      <a:pt x="4" y="44"/>
                    </a:lnTo>
                    <a:lnTo>
                      <a:pt x="11" y="54"/>
                    </a:lnTo>
                    <a:lnTo>
                      <a:pt x="19" y="63"/>
                    </a:lnTo>
                    <a:lnTo>
                      <a:pt x="25" y="70"/>
                    </a:lnTo>
                    <a:lnTo>
                      <a:pt x="30" y="73"/>
                    </a:lnTo>
                    <a:lnTo>
                      <a:pt x="32" y="75"/>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92" name="Freeform 39"/>
              <p:cNvSpPr/>
              <p:nvPr/>
            </p:nvSpPr>
            <p:spPr>
              <a:xfrm>
                <a:off x="8404" y="4847"/>
                <a:ext cx="25" cy="22"/>
              </a:xfrm>
              <a:custGeom>
                <a:avLst/>
                <a:gdLst/>
                <a:ahLst/>
                <a:cxnLst>
                  <a:cxn ang="0">
                    <a:pos x="1" y="6"/>
                  </a:cxn>
                  <a:cxn ang="0">
                    <a:pos x="2" y="6"/>
                  </a:cxn>
                  <a:cxn ang="0">
                    <a:pos x="2" y="7"/>
                  </a:cxn>
                  <a:cxn ang="0">
                    <a:pos x="3" y="7"/>
                  </a:cxn>
                  <a:cxn ang="0">
                    <a:pos x="3" y="7"/>
                  </a:cxn>
                  <a:cxn ang="0">
                    <a:pos x="4" y="7"/>
                  </a:cxn>
                  <a:cxn ang="0">
                    <a:pos x="4" y="7"/>
                  </a:cxn>
                  <a:cxn ang="0">
                    <a:pos x="5" y="7"/>
                  </a:cxn>
                  <a:cxn ang="0">
                    <a:pos x="6" y="7"/>
                  </a:cxn>
                  <a:cxn ang="0">
                    <a:pos x="7" y="7"/>
                  </a:cxn>
                  <a:cxn ang="0">
                    <a:pos x="8" y="7"/>
                  </a:cxn>
                  <a:cxn ang="0">
                    <a:pos x="8" y="6"/>
                  </a:cxn>
                  <a:cxn ang="0">
                    <a:pos x="8" y="5"/>
                  </a:cxn>
                  <a:cxn ang="0">
                    <a:pos x="8" y="4"/>
                  </a:cxn>
                  <a:cxn ang="0">
                    <a:pos x="7" y="4"/>
                  </a:cxn>
                  <a:cxn ang="0">
                    <a:pos x="7" y="4"/>
                  </a:cxn>
                  <a:cxn ang="0">
                    <a:pos x="6" y="4"/>
                  </a:cxn>
                  <a:cxn ang="0">
                    <a:pos x="5" y="4"/>
                  </a:cxn>
                  <a:cxn ang="0">
                    <a:pos x="4" y="4"/>
                  </a:cxn>
                  <a:cxn ang="0">
                    <a:pos x="3" y="4"/>
                  </a:cxn>
                  <a:cxn ang="0">
                    <a:pos x="3" y="4"/>
                  </a:cxn>
                  <a:cxn ang="0">
                    <a:pos x="3" y="4"/>
                  </a:cxn>
                  <a:cxn ang="0">
                    <a:pos x="2" y="2"/>
                  </a:cxn>
                  <a:cxn ang="0">
                    <a:pos x="1" y="0"/>
                  </a:cxn>
                  <a:cxn ang="0">
                    <a:pos x="0" y="0"/>
                  </a:cxn>
                  <a:cxn ang="0">
                    <a:pos x="0" y="2"/>
                  </a:cxn>
                  <a:cxn ang="0">
                    <a:pos x="1" y="4"/>
                  </a:cxn>
                  <a:cxn ang="0">
                    <a:pos x="1" y="5"/>
                  </a:cxn>
                  <a:cxn ang="0">
                    <a:pos x="1" y="6"/>
                  </a:cxn>
                </a:cxnLst>
                <a:pathLst>
                  <a:path w="75" h="66">
                    <a:moveTo>
                      <a:pt x="12" y="53"/>
                    </a:moveTo>
                    <a:lnTo>
                      <a:pt x="15" y="56"/>
                    </a:lnTo>
                    <a:lnTo>
                      <a:pt x="19" y="60"/>
                    </a:lnTo>
                    <a:lnTo>
                      <a:pt x="25" y="62"/>
                    </a:lnTo>
                    <a:lnTo>
                      <a:pt x="27" y="63"/>
                    </a:lnTo>
                    <a:lnTo>
                      <a:pt x="32" y="65"/>
                    </a:lnTo>
                    <a:lnTo>
                      <a:pt x="40" y="65"/>
                    </a:lnTo>
                    <a:lnTo>
                      <a:pt x="49" y="66"/>
                    </a:lnTo>
                    <a:lnTo>
                      <a:pt x="57" y="65"/>
                    </a:lnTo>
                    <a:lnTo>
                      <a:pt x="65" y="63"/>
                    </a:lnTo>
                    <a:lnTo>
                      <a:pt x="71" y="60"/>
                    </a:lnTo>
                    <a:lnTo>
                      <a:pt x="75" y="55"/>
                    </a:lnTo>
                    <a:lnTo>
                      <a:pt x="75" y="46"/>
                    </a:lnTo>
                    <a:lnTo>
                      <a:pt x="72" y="39"/>
                    </a:lnTo>
                    <a:lnTo>
                      <a:pt x="66" y="35"/>
                    </a:lnTo>
                    <a:lnTo>
                      <a:pt x="59" y="33"/>
                    </a:lnTo>
                    <a:lnTo>
                      <a:pt x="50" y="33"/>
                    </a:lnTo>
                    <a:lnTo>
                      <a:pt x="41" y="35"/>
                    </a:lnTo>
                    <a:lnTo>
                      <a:pt x="34" y="36"/>
                    </a:lnTo>
                    <a:lnTo>
                      <a:pt x="28" y="39"/>
                    </a:lnTo>
                    <a:lnTo>
                      <a:pt x="27" y="39"/>
                    </a:lnTo>
                    <a:lnTo>
                      <a:pt x="25" y="32"/>
                    </a:lnTo>
                    <a:lnTo>
                      <a:pt x="19" y="16"/>
                    </a:lnTo>
                    <a:lnTo>
                      <a:pt x="10" y="3"/>
                    </a:lnTo>
                    <a:lnTo>
                      <a:pt x="0" y="0"/>
                    </a:lnTo>
                    <a:lnTo>
                      <a:pt x="0" y="22"/>
                    </a:lnTo>
                    <a:lnTo>
                      <a:pt x="5" y="39"/>
                    </a:lnTo>
                    <a:lnTo>
                      <a:pt x="9" y="49"/>
                    </a:lnTo>
                    <a:lnTo>
                      <a:pt x="12" y="53"/>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93" name="Freeform 40"/>
              <p:cNvSpPr/>
              <p:nvPr/>
            </p:nvSpPr>
            <p:spPr>
              <a:xfrm>
                <a:off x="8434" y="4844"/>
                <a:ext cx="25" cy="21"/>
              </a:xfrm>
              <a:custGeom>
                <a:avLst/>
                <a:gdLst/>
                <a:ahLst/>
                <a:cxnLst>
                  <a:cxn ang="0">
                    <a:pos x="0" y="5"/>
                  </a:cxn>
                  <a:cxn ang="0">
                    <a:pos x="0" y="5"/>
                  </a:cxn>
                  <a:cxn ang="0">
                    <a:pos x="1" y="6"/>
                  </a:cxn>
                  <a:cxn ang="0">
                    <a:pos x="2" y="6"/>
                  </a:cxn>
                  <a:cxn ang="0">
                    <a:pos x="2" y="6"/>
                  </a:cxn>
                  <a:cxn ang="0">
                    <a:pos x="3" y="7"/>
                  </a:cxn>
                  <a:cxn ang="0">
                    <a:pos x="4" y="7"/>
                  </a:cxn>
                  <a:cxn ang="0">
                    <a:pos x="5" y="7"/>
                  </a:cxn>
                  <a:cxn ang="0">
                    <a:pos x="6" y="7"/>
                  </a:cxn>
                  <a:cxn ang="0">
                    <a:pos x="7" y="6"/>
                  </a:cxn>
                  <a:cxn ang="0">
                    <a:pos x="8" y="6"/>
                  </a:cxn>
                  <a:cxn ang="0">
                    <a:pos x="8" y="5"/>
                  </a:cxn>
                  <a:cxn ang="0">
                    <a:pos x="8" y="4"/>
                  </a:cxn>
                  <a:cxn ang="0">
                    <a:pos x="7" y="4"/>
                  </a:cxn>
                  <a:cxn ang="0">
                    <a:pos x="7" y="3"/>
                  </a:cxn>
                  <a:cxn ang="0">
                    <a:pos x="6" y="3"/>
                  </a:cxn>
                  <a:cxn ang="0">
                    <a:pos x="5" y="3"/>
                  </a:cxn>
                  <a:cxn ang="0">
                    <a:pos x="4" y="3"/>
                  </a:cxn>
                  <a:cxn ang="0">
                    <a:pos x="3" y="4"/>
                  </a:cxn>
                  <a:cxn ang="0">
                    <a:pos x="3" y="4"/>
                  </a:cxn>
                  <a:cxn ang="0">
                    <a:pos x="3" y="4"/>
                  </a:cxn>
                  <a:cxn ang="0">
                    <a:pos x="3" y="3"/>
                  </a:cxn>
                  <a:cxn ang="0">
                    <a:pos x="2" y="2"/>
                  </a:cxn>
                  <a:cxn ang="0">
                    <a:pos x="1" y="0"/>
                  </a:cxn>
                  <a:cxn ang="0">
                    <a:pos x="0" y="0"/>
                  </a:cxn>
                  <a:cxn ang="0">
                    <a:pos x="0" y="2"/>
                  </a:cxn>
                  <a:cxn ang="0">
                    <a:pos x="0" y="3"/>
                  </a:cxn>
                  <a:cxn ang="0">
                    <a:pos x="0" y="4"/>
                  </a:cxn>
                  <a:cxn ang="0">
                    <a:pos x="0" y="5"/>
                  </a:cxn>
                </a:cxnLst>
                <a:pathLst>
                  <a:path w="75" h="63">
                    <a:moveTo>
                      <a:pt x="3" y="41"/>
                    </a:moveTo>
                    <a:lnTo>
                      <a:pt x="4" y="46"/>
                    </a:lnTo>
                    <a:lnTo>
                      <a:pt x="10" y="50"/>
                    </a:lnTo>
                    <a:lnTo>
                      <a:pt x="14" y="56"/>
                    </a:lnTo>
                    <a:lnTo>
                      <a:pt x="16" y="57"/>
                    </a:lnTo>
                    <a:lnTo>
                      <a:pt x="23" y="60"/>
                    </a:lnTo>
                    <a:lnTo>
                      <a:pt x="32" y="63"/>
                    </a:lnTo>
                    <a:lnTo>
                      <a:pt x="42" y="63"/>
                    </a:lnTo>
                    <a:lnTo>
                      <a:pt x="54" y="61"/>
                    </a:lnTo>
                    <a:lnTo>
                      <a:pt x="64" y="58"/>
                    </a:lnTo>
                    <a:lnTo>
                      <a:pt x="72" y="54"/>
                    </a:lnTo>
                    <a:lnTo>
                      <a:pt x="75" y="47"/>
                    </a:lnTo>
                    <a:lnTo>
                      <a:pt x="73" y="40"/>
                    </a:lnTo>
                    <a:lnTo>
                      <a:pt x="67" y="34"/>
                    </a:lnTo>
                    <a:lnTo>
                      <a:pt x="60" y="30"/>
                    </a:lnTo>
                    <a:lnTo>
                      <a:pt x="53" y="28"/>
                    </a:lnTo>
                    <a:lnTo>
                      <a:pt x="45" y="30"/>
                    </a:lnTo>
                    <a:lnTo>
                      <a:pt x="36" y="31"/>
                    </a:lnTo>
                    <a:lnTo>
                      <a:pt x="31" y="33"/>
                    </a:lnTo>
                    <a:lnTo>
                      <a:pt x="26" y="36"/>
                    </a:lnTo>
                    <a:lnTo>
                      <a:pt x="25" y="36"/>
                    </a:lnTo>
                    <a:lnTo>
                      <a:pt x="23" y="30"/>
                    </a:lnTo>
                    <a:lnTo>
                      <a:pt x="17" y="15"/>
                    </a:lnTo>
                    <a:lnTo>
                      <a:pt x="10" y="2"/>
                    </a:lnTo>
                    <a:lnTo>
                      <a:pt x="0" y="0"/>
                    </a:lnTo>
                    <a:lnTo>
                      <a:pt x="0" y="15"/>
                    </a:lnTo>
                    <a:lnTo>
                      <a:pt x="1" y="28"/>
                    </a:lnTo>
                    <a:lnTo>
                      <a:pt x="3" y="38"/>
                    </a:lnTo>
                    <a:lnTo>
                      <a:pt x="3" y="41"/>
                    </a:lnTo>
                    <a:close/>
                  </a:path>
                </a:pathLst>
              </a:custGeom>
              <a:solidFill>
                <a:srgbClr val="FFFFFF"/>
              </a:solidFill>
              <a:ln w="9525" cap="flat" cmpd="sng">
                <a:solidFill>
                  <a:srgbClr val="969696"/>
                </a:solidFill>
                <a:prstDash val="solid"/>
                <a:round/>
                <a:headEnd type="none" w="med" len="med"/>
                <a:tailEnd type="none" w="med" len="med"/>
              </a:ln>
            </p:spPr>
            <p:txBody>
              <a:bodyPr/>
              <a:p>
                <a:endParaRPr lang="zh-CN" altLang="en-US"/>
              </a:p>
            </p:txBody>
          </p:sp>
          <p:sp>
            <p:nvSpPr>
              <p:cNvPr id="125994" name="Freeform 41"/>
              <p:cNvSpPr/>
              <p:nvPr/>
            </p:nvSpPr>
            <p:spPr>
              <a:xfrm>
                <a:off x="8126" y="4482"/>
                <a:ext cx="83" cy="97"/>
              </a:xfrm>
              <a:custGeom>
                <a:avLst/>
                <a:gdLst/>
                <a:ahLst/>
                <a:cxnLst>
                  <a:cxn ang="0">
                    <a:pos x="10" y="4"/>
                  </a:cxn>
                  <a:cxn ang="0">
                    <a:pos x="8" y="5"/>
                  </a:cxn>
                  <a:cxn ang="0">
                    <a:pos x="6" y="7"/>
                  </a:cxn>
                  <a:cxn ang="0">
                    <a:pos x="4" y="9"/>
                  </a:cxn>
                  <a:cxn ang="0">
                    <a:pos x="3" y="11"/>
                  </a:cxn>
                  <a:cxn ang="0">
                    <a:pos x="2" y="13"/>
                  </a:cxn>
                  <a:cxn ang="0">
                    <a:pos x="1" y="15"/>
                  </a:cxn>
                  <a:cxn ang="0">
                    <a:pos x="0" y="18"/>
                  </a:cxn>
                  <a:cxn ang="0">
                    <a:pos x="0" y="20"/>
                  </a:cxn>
                  <a:cxn ang="0">
                    <a:pos x="0" y="23"/>
                  </a:cxn>
                  <a:cxn ang="0">
                    <a:pos x="2" y="26"/>
                  </a:cxn>
                  <a:cxn ang="0">
                    <a:pos x="4" y="28"/>
                  </a:cxn>
                  <a:cxn ang="0">
                    <a:pos x="6" y="30"/>
                  </a:cxn>
                  <a:cxn ang="0">
                    <a:pos x="9" y="32"/>
                  </a:cxn>
                  <a:cxn ang="0">
                    <a:pos x="12" y="32"/>
                  </a:cxn>
                  <a:cxn ang="0">
                    <a:pos x="15" y="32"/>
                  </a:cxn>
                  <a:cxn ang="0">
                    <a:pos x="19" y="32"/>
                  </a:cxn>
                  <a:cxn ang="0">
                    <a:pos x="19" y="32"/>
                  </a:cxn>
                  <a:cxn ang="0">
                    <a:pos x="20" y="32"/>
                  </a:cxn>
                  <a:cxn ang="0">
                    <a:pos x="20" y="31"/>
                  </a:cxn>
                  <a:cxn ang="0">
                    <a:pos x="20" y="30"/>
                  </a:cxn>
                  <a:cxn ang="0">
                    <a:pos x="20" y="30"/>
                  </a:cxn>
                  <a:cxn ang="0">
                    <a:pos x="19" y="29"/>
                  </a:cxn>
                  <a:cxn ang="0">
                    <a:pos x="19" y="28"/>
                  </a:cxn>
                  <a:cxn ang="0">
                    <a:pos x="18" y="28"/>
                  </a:cxn>
                  <a:cxn ang="0">
                    <a:pos x="16" y="28"/>
                  </a:cxn>
                  <a:cxn ang="0">
                    <a:pos x="15" y="27"/>
                  </a:cxn>
                  <a:cxn ang="0">
                    <a:pos x="13" y="27"/>
                  </a:cxn>
                  <a:cxn ang="0">
                    <a:pos x="12" y="27"/>
                  </a:cxn>
                  <a:cxn ang="0">
                    <a:pos x="10" y="26"/>
                  </a:cxn>
                  <a:cxn ang="0">
                    <a:pos x="9" y="26"/>
                  </a:cxn>
                  <a:cxn ang="0">
                    <a:pos x="7" y="25"/>
                  </a:cxn>
                  <a:cxn ang="0">
                    <a:pos x="6" y="23"/>
                  </a:cxn>
                  <a:cxn ang="0">
                    <a:pos x="6" y="18"/>
                  </a:cxn>
                  <a:cxn ang="0">
                    <a:pos x="7" y="13"/>
                  </a:cxn>
                  <a:cxn ang="0">
                    <a:pos x="9" y="10"/>
                  </a:cxn>
                  <a:cxn ang="0">
                    <a:pos x="13" y="7"/>
                  </a:cxn>
                  <a:cxn ang="0">
                    <a:pos x="17" y="5"/>
                  </a:cxn>
                  <a:cxn ang="0">
                    <a:pos x="21" y="3"/>
                  </a:cxn>
                  <a:cxn ang="0">
                    <a:pos x="25" y="2"/>
                  </a:cxn>
                  <a:cxn ang="0">
                    <a:pos x="28" y="1"/>
                  </a:cxn>
                  <a:cxn ang="0">
                    <a:pos x="26" y="0"/>
                  </a:cxn>
                  <a:cxn ang="0">
                    <a:pos x="24" y="0"/>
                  </a:cxn>
                  <a:cxn ang="0">
                    <a:pos x="22" y="0"/>
                  </a:cxn>
                  <a:cxn ang="0">
                    <a:pos x="19" y="1"/>
                  </a:cxn>
                  <a:cxn ang="0">
                    <a:pos x="17" y="1"/>
                  </a:cxn>
                  <a:cxn ang="0">
                    <a:pos x="14" y="2"/>
                  </a:cxn>
                  <a:cxn ang="0">
                    <a:pos x="12" y="3"/>
                  </a:cxn>
                  <a:cxn ang="0">
                    <a:pos x="10" y="4"/>
                  </a:cxn>
                </a:cxnLst>
                <a:pathLst>
                  <a:path w="250" h="290">
                    <a:moveTo>
                      <a:pt x="88" y="37"/>
                    </a:moveTo>
                    <a:lnTo>
                      <a:pt x="69" y="49"/>
                    </a:lnTo>
                    <a:lnTo>
                      <a:pt x="53" y="63"/>
                    </a:lnTo>
                    <a:lnTo>
                      <a:pt x="39" y="79"/>
                    </a:lnTo>
                    <a:lnTo>
                      <a:pt x="25" y="96"/>
                    </a:lnTo>
                    <a:lnTo>
                      <a:pt x="15" y="115"/>
                    </a:lnTo>
                    <a:lnTo>
                      <a:pt x="8" y="135"/>
                    </a:lnTo>
                    <a:lnTo>
                      <a:pt x="3" y="157"/>
                    </a:lnTo>
                    <a:lnTo>
                      <a:pt x="0" y="178"/>
                    </a:lnTo>
                    <a:lnTo>
                      <a:pt x="3" y="208"/>
                    </a:lnTo>
                    <a:lnTo>
                      <a:pt x="15" y="233"/>
                    </a:lnTo>
                    <a:lnTo>
                      <a:pt x="33" y="254"/>
                    </a:lnTo>
                    <a:lnTo>
                      <a:pt x="56" y="270"/>
                    </a:lnTo>
                    <a:lnTo>
                      <a:pt x="83" y="283"/>
                    </a:lnTo>
                    <a:lnTo>
                      <a:pt x="110" y="289"/>
                    </a:lnTo>
                    <a:lnTo>
                      <a:pt x="140" y="290"/>
                    </a:lnTo>
                    <a:lnTo>
                      <a:pt x="168" y="286"/>
                    </a:lnTo>
                    <a:lnTo>
                      <a:pt x="174" y="286"/>
                    </a:lnTo>
                    <a:lnTo>
                      <a:pt x="179" y="283"/>
                    </a:lnTo>
                    <a:lnTo>
                      <a:pt x="184" y="279"/>
                    </a:lnTo>
                    <a:lnTo>
                      <a:pt x="185" y="273"/>
                    </a:lnTo>
                    <a:lnTo>
                      <a:pt x="182" y="266"/>
                    </a:lnTo>
                    <a:lnTo>
                      <a:pt x="176" y="260"/>
                    </a:lnTo>
                    <a:lnTo>
                      <a:pt x="169" y="254"/>
                    </a:lnTo>
                    <a:lnTo>
                      <a:pt x="162" y="252"/>
                    </a:lnTo>
                    <a:lnTo>
                      <a:pt x="147" y="247"/>
                    </a:lnTo>
                    <a:lnTo>
                      <a:pt x="132" y="244"/>
                    </a:lnTo>
                    <a:lnTo>
                      <a:pt x="118" y="242"/>
                    </a:lnTo>
                    <a:lnTo>
                      <a:pt x="105" y="239"/>
                    </a:lnTo>
                    <a:lnTo>
                      <a:pt x="91" y="234"/>
                    </a:lnTo>
                    <a:lnTo>
                      <a:pt x="78" y="229"/>
                    </a:lnTo>
                    <a:lnTo>
                      <a:pt x="66" y="221"/>
                    </a:lnTo>
                    <a:lnTo>
                      <a:pt x="55" y="210"/>
                    </a:lnTo>
                    <a:lnTo>
                      <a:pt x="50" y="161"/>
                    </a:lnTo>
                    <a:lnTo>
                      <a:pt x="62" y="121"/>
                    </a:lnTo>
                    <a:lnTo>
                      <a:pt x="85" y="89"/>
                    </a:lnTo>
                    <a:lnTo>
                      <a:pt x="118" y="63"/>
                    </a:lnTo>
                    <a:lnTo>
                      <a:pt x="153" y="43"/>
                    </a:lnTo>
                    <a:lnTo>
                      <a:pt x="190" y="27"/>
                    </a:lnTo>
                    <a:lnTo>
                      <a:pt x="223" y="16"/>
                    </a:lnTo>
                    <a:lnTo>
                      <a:pt x="250" y="6"/>
                    </a:lnTo>
                    <a:lnTo>
                      <a:pt x="234" y="2"/>
                    </a:lnTo>
                    <a:lnTo>
                      <a:pt x="216" y="0"/>
                    </a:lnTo>
                    <a:lnTo>
                      <a:pt x="196" y="3"/>
                    </a:lnTo>
                    <a:lnTo>
                      <a:pt x="174" y="6"/>
                    </a:lnTo>
                    <a:lnTo>
                      <a:pt x="152" y="13"/>
                    </a:lnTo>
                    <a:lnTo>
                      <a:pt x="130" y="20"/>
                    </a:lnTo>
                    <a:lnTo>
                      <a:pt x="107" y="29"/>
                    </a:lnTo>
                    <a:lnTo>
                      <a:pt x="88" y="37"/>
                    </a:lnTo>
                    <a:close/>
                  </a:path>
                </a:pathLst>
              </a:custGeom>
              <a:solidFill>
                <a:srgbClr val="C9E8FF"/>
              </a:solidFill>
              <a:ln w="9525">
                <a:noFill/>
              </a:ln>
            </p:spPr>
            <p:txBody>
              <a:bodyPr/>
              <a:p>
                <a:endParaRPr lang="zh-CN" altLang="en-US"/>
              </a:p>
            </p:txBody>
          </p:sp>
          <p:sp>
            <p:nvSpPr>
              <p:cNvPr id="125995" name="Freeform 42"/>
              <p:cNvSpPr/>
              <p:nvPr/>
            </p:nvSpPr>
            <p:spPr>
              <a:xfrm>
                <a:off x="8268" y="4481"/>
                <a:ext cx="53" cy="75"/>
              </a:xfrm>
              <a:custGeom>
                <a:avLst/>
                <a:gdLst/>
                <a:ahLst/>
                <a:cxnLst>
                  <a:cxn ang="0">
                    <a:pos x="15" y="8"/>
                  </a:cxn>
                  <a:cxn ang="0">
                    <a:pos x="16" y="11"/>
                  </a:cxn>
                  <a:cxn ang="0">
                    <a:pos x="15" y="13"/>
                  </a:cxn>
                  <a:cxn ang="0">
                    <a:pos x="14" y="15"/>
                  </a:cxn>
                  <a:cxn ang="0">
                    <a:pos x="13" y="17"/>
                  </a:cxn>
                  <a:cxn ang="0">
                    <a:pos x="11" y="18"/>
                  </a:cxn>
                  <a:cxn ang="0">
                    <a:pos x="8" y="20"/>
                  </a:cxn>
                  <a:cxn ang="0">
                    <a:pos x="6" y="21"/>
                  </a:cxn>
                  <a:cxn ang="0">
                    <a:pos x="4" y="23"/>
                  </a:cxn>
                  <a:cxn ang="0">
                    <a:pos x="4" y="23"/>
                  </a:cxn>
                  <a:cxn ang="0">
                    <a:pos x="4" y="24"/>
                  </a:cxn>
                  <a:cxn ang="0">
                    <a:pos x="4" y="24"/>
                  </a:cxn>
                  <a:cxn ang="0">
                    <a:pos x="4" y="25"/>
                  </a:cxn>
                  <a:cxn ang="0">
                    <a:pos x="4" y="25"/>
                  </a:cxn>
                  <a:cxn ang="0">
                    <a:pos x="5" y="25"/>
                  </a:cxn>
                  <a:cxn ang="0">
                    <a:pos x="5" y="25"/>
                  </a:cxn>
                  <a:cxn ang="0">
                    <a:pos x="6" y="25"/>
                  </a:cxn>
                  <a:cxn ang="0">
                    <a:pos x="8" y="23"/>
                  </a:cxn>
                  <a:cxn ang="0">
                    <a:pos x="11" y="22"/>
                  </a:cxn>
                  <a:cxn ang="0">
                    <a:pos x="13" y="20"/>
                  </a:cxn>
                  <a:cxn ang="0">
                    <a:pos x="15" y="18"/>
                  </a:cxn>
                  <a:cxn ang="0">
                    <a:pos x="17" y="16"/>
                  </a:cxn>
                  <a:cxn ang="0">
                    <a:pos x="18" y="13"/>
                  </a:cxn>
                  <a:cxn ang="0">
                    <a:pos x="18" y="11"/>
                  </a:cxn>
                  <a:cxn ang="0">
                    <a:pos x="17" y="8"/>
                  </a:cxn>
                  <a:cxn ang="0">
                    <a:pos x="16" y="5"/>
                  </a:cxn>
                  <a:cxn ang="0">
                    <a:pos x="13" y="3"/>
                  </a:cxn>
                  <a:cxn ang="0">
                    <a:pos x="11" y="2"/>
                  </a:cxn>
                  <a:cxn ang="0">
                    <a:pos x="8" y="1"/>
                  </a:cxn>
                  <a:cxn ang="0">
                    <a:pos x="5" y="0"/>
                  </a:cxn>
                  <a:cxn ang="0">
                    <a:pos x="3" y="0"/>
                  </a:cxn>
                  <a:cxn ang="0">
                    <a:pos x="1" y="0"/>
                  </a:cxn>
                  <a:cxn ang="0">
                    <a:pos x="0" y="0"/>
                  </a:cxn>
                  <a:cxn ang="0">
                    <a:pos x="2" y="1"/>
                  </a:cxn>
                  <a:cxn ang="0">
                    <a:pos x="4" y="2"/>
                  </a:cxn>
                  <a:cxn ang="0">
                    <a:pos x="6" y="3"/>
                  </a:cxn>
                  <a:cxn ang="0">
                    <a:pos x="8" y="3"/>
                  </a:cxn>
                  <a:cxn ang="0">
                    <a:pos x="10" y="4"/>
                  </a:cxn>
                  <a:cxn ang="0">
                    <a:pos x="12" y="5"/>
                  </a:cxn>
                  <a:cxn ang="0">
                    <a:pos x="14" y="6"/>
                  </a:cxn>
                  <a:cxn ang="0">
                    <a:pos x="15" y="8"/>
                  </a:cxn>
                </a:cxnLst>
                <a:pathLst>
                  <a:path w="160" h="225">
                    <a:moveTo>
                      <a:pt x="135" y="73"/>
                    </a:moveTo>
                    <a:lnTo>
                      <a:pt x="141" y="96"/>
                    </a:lnTo>
                    <a:lnTo>
                      <a:pt x="140" y="118"/>
                    </a:lnTo>
                    <a:lnTo>
                      <a:pt x="129" y="135"/>
                    </a:lnTo>
                    <a:lnTo>
                      <a:pt x="115" y="151"/>
                    </a:lnTo>
                    <a:lnTo>
                      <a:pt x="97" y="165"/>
                    </a:lnTo>
                    <a:lnTo>
                      <a:pt x="76" y="179"/>
                    </a:lnTo>
                    <a:lnTo>
                      <a:pt x="56" y="192"/>
                    </a:lnTo>
                    <a:lnTo>
                      <a:pt x="38" y="205"/>
                    </a:lnTo>
                    <a:lnTo>
                      <a:pt x="35" y="210"/>
                    </a:lnTo>
                    <a:lnTo>
                      <a:pt x="34" y="212"/>
                    </a:lnTo>
                    <a:lnTo>
                      <a:pt x="34" y="217"/>
                    </a:lnTo>
                    <a:lnTo>
                      <a:pt x="35" y="221"/>
                    </a:lnTo>
                    <a:lnTo>
                      <a:pt x="40" y="224"/>
                    </a:lnTo>
                    <a:lnTo>
                      <a:pt x="44" y="225"/>
                    </a:lnTo>
                    <a:lnTo>
                      <a:pt x="47" y="225"/>
                    </a:lnTo>
                    <a:lnTo>
                      <a:pt x="51" y="224"/>
                    </a:lnTo>
                    <a:lnTo>
                      <a:pt x="75" y="211"/>
                    </a:lnTo>
                    <a:lnTo>
                      <a:pt x="97" y="197"/>
                    </a:lnTo>
                    <a:lnTo>
                      <a:pt x="117" y="181"/>
                    </a:lnTo>
                    <a:lnTo>
                      <a:pt x="137" y="162"/>
                    </a:lnTo>
                    <a:lnTo>
                      <a:pt x="150" y="142"/>
                    </a:lnTo>
                    <a:lnTo>
                      <a:pt x="159" y="119"/>
                    </a:lnTo>
                    <a:lnTo>
                      <a:pt x="160" y="95"/>
                    </a:lnTo>
                    <a:lnTo>
                      <a:pt x="154" y="69"/>
                    </a:lnTo>
                    <a:lnTo>
                      <a:pt x="141" y="49"/>
                    </a:lnTo>
                    <a:lnTo>
                      <a:pt x="122" y="31"/>
                    </a:lnTo>
                    <a:lnTo>
                      <a:pt x="98" y="18"/>
                    </a:lnTo>
                    <a:lnTo>
                      <a:pt x="72" y="8"/>
                    </a:lnTo>
                    <a:lnTo>
                      <a:pt x="46" y="3"/>
                    </a:lnTo>
                    <a:lnTo>
                      <a:pt x="24" y="0"/>
                    </a:lnTo>
                    <a:lnTo>
                      <a:pt x="7" y="0"/>
                    </a:lnTo>
                    <a:lnTo>
                      <a:pt x="0" y="4"/>
                    </a:lnTo>
                    <a:lnTo>
                      <a:pt x="18" y="11"/>
                    </a:lnTo>
                    <a:lnTo>
                      <a:pt x="37" y="17"/>
                    </a:lnTo>
                    <a:lnTo>
                      <a:pt x="57" y="23"/>
                    </a:lnTo>
                    <a:lnTo>
                      <a:pt x="76" y="29"/>
                    </a:lnTo>
                    <a:lnTo>
                      <a:pt x="95" y="36"/>
                    </a:lnTo>
                    <a:lnTo>
                      <a:pt x="112" y="46"/>
                    </a:lnTo>
                    <a:lnTo>
                      <a:pt x="125" y="57"/>
                    </a:lnTo>
                    <a:lnTo>
                      <a:pt x="135" y="73"/>
                    </a:lnTo>
                    <a:close/>
                  </a:path>
                </a:pathLst>
              </a:custGeom>
              <a:solidFill>
                <a:srgbClr val="C9E8FF"/>
              </a:solidFill>
              <a:ln w="9525">
                <a:noFill/>
              </a:ln>
            </p:spPr>
            <p:txBody>
              <a:bodyPr/>
              <a:p>
                <a:endParaRPr lang="zh-CN" altLang="en-US"/>
              </a:p>
            </p:txBody>
          </p:sp>
          <p:sp>
            <p:nvSpPr>
              <p:cNvPr id="125996" name="Freeform 43"/>
              <p:cNvSpPr/>
              <p:nvPr/>
            </p:nvSpPr>
            <p:spPr>
              <a:xfrm>
                <a:off x="8073" y="4463"/>
                <a:ext cx="135" cy="158"/>
              </a:xfrm>
              <a:custGeom>
                <a:avLst/>
                <a:gdLst/>
                <a:ahLst/>
                <a:cxnLst>
                  <a:cxn ang="0">
                    <a:pos x="14" y="10"/>
                  </a:cxn>
                  <a:cxn ang="0">
                    <a:pos x="8" y="16"/>
                  </a:cxn>
                  <a:cxn ang="0">
                    <a:pos x="2" y="23"/>
                  </a:cxn>
                  <a:cxn ang="0">
                    <a:pos x="0" y="32"/>
                  </a:cxn>
                  <a:cxn ang="0">
                    <a:pos x="1" y="37"/>
                  </a:cxn>
                  <a:cxn ang="0">
                    <a:pos x="1" y="40"/>
                  </a:cxn>
                  <a:cxn ang="0">
                    <a:pos x="3" y="42"/>
                  </a:cxn>
                  <a:cxn ang="0">
                    <a:pos x="5" y="44"/>
                  </a:cxn>
                  <a:cxn ang="0">
                    <a:pos x="8" y="46"/>
                  </a:cxn>
                  <a:cxn ang="0">
                    <a:pos x="12" y="48"/>
                  </a:cxn>
                  <a:cxn ang="0">
                    <a:pos x="17" y="49"/>
                  </a:cxn>
                  <a:cxn ang="0">
                    <a:pos x="21" y="50"/>
                  </a:cxn>
                  <a:cxn ang="0">
                    <a:pos x="26" y="51"/>
                  </a:cxn>
                  <a:cxn ang="0">
                    <a:pos x="31" y="52"/>
                  </a:cxn>
                  <a:cxn ang="0">
                    <a:pos x="36" y="53"/>
                  </a:cxn>
                  <a:cxn ang="0">
                    <a:pos x="40" y="53"/>
                  </a:cxn>
                  <a:cxn ang="0">
                    <a:pos x="44" y="53"/>
                  </a:cxn>
                  <a:cxn ang="0">
                    <a:pos x="45" y="52"/>
                  </a:cxn>
                  <a:cxn ang="0">
                    <a:pos x="45" y="51"/>
                  </a:cxn>
                  <a:cxn ang="0">
                    <a:pos x="44" y="50"/>
                  </a:cxn>
                  <a:cxn ang="0">
                    <a:pos x="41" y="49"/>
                  </a:cxn>
                  <a:cxn ang="0">
                    <a:pos x="37" y="48"/>
                  </a:cxn>
                  <a:cxn ang="0">
                    <a:pos x="32" y="47"/>
                  </a:cxn>
                  <a:cxn ang="0">
                    <a:pos x="28" y="47"/>
                  </a:cxn>
                  <a:cxn ang="0">
                    <a:pos x="24" y="46"/>
                  </a:cxn>
                  <a:cxn ang="0">
                    <a:pos x="19" y="45"/>
                  </a:cxn>
                  <a:cxn ang="0">
                    <a:pos x="15" y="43"/>
                  </a:cxn>
                  <a:cxn ang="0">
                    <a:pos x="11" y="42"/>
                  </a:cxn>
                  <a:cxn ang="0">
                    <a:pos x="8" y="40"/>
                  </a:cxn>
                  <a:cxn ang="0">
                    <a:pos x="5" y="36"/>
                  </a:cxn>
                  <a:cxn ang="0">
                    <a:pos x="5" y="32"/>
                  </a:cxn>
                  <a:cxn ang="0">
                    <a:pos x="5" y="28"/>
                  </a:cxn>
                  <a:cxn ang="0">
                    <a:pos x="7" y="24"/>
                  </a:cxn>
                  <a:cxn ang="0">
                    <a:pos x="10" y="19"/>
                  </a:cxn>
                  <a:cxn ang="0">
                    <a:pos x="13" y="15"/>
                  </a:cxn>
                  <a:cxn ang="0">
                    <a:pos x="17" y="11"/>
                  </a:cxn>
                  <a:cxn ang="0">
                    <a:pos x="21" y="8"/>
                  </a:cxn>
                  <a:cxn ang="0">
                    <a:pos x="27" y="5"/>
                  </a:cxn>
                  <a:cxn ang="0">
                    <a:pos x="33" y="3"/>
                  </a:cxn>
                  <a:cxn ang="0">
                    <a:pos x="37" y="1"/>
                  </a:cxn>
                  <a:cxn ang="0">
                    <a:pos x="36" y="0"/>
                  </a:cxn>
                  <a:cxn ang="0">
                    <a:pos x="31" y="1"/>
                  </a:cxn>
                  <a:cxn ang="0">
                    <a:pos x="25" y="3"/>
                  </a:cxn>
                  <a:cxn ang="0">
                    <a:pos x="20" y="5"/>
                  </a:cxn>
                </a:cxnLst>
                <a:pathLst>
                  <a:path w="404" h="472">
                    <a:moveTo>
                      <a:pt x="157" y="61"/>
                    </a:moveTo>
                    <a:lnTo>
                      <a:pt x="127" y="87"/>
                    </a:lnTo>
                    <a:lnTo>
                      <a:pt x="96" y="113"/>
                    </a:lnTo>
                    <a:lnTo>
                      <a:pt x="68" y="143"/>
                    </a:lnTo>
                    <a:lnTo>
                      <a:pt x="43" y="175"/>
                    </a:lnTo>
                    <a:lnTo>
                      <a:pt x="22" y="208"/>
                    </a:lnTo>
                    <a:lnTo>
                      <a:pt x="8" y="244"/>
                    </a:lnTo>
                    <a:lnTo>
                      <a:pt x="0" y="283"/>
                    </a:lnTo>
                    <a:lnTo>
                      <a:pt x="2" y="323"/>
                    </a:lnTo>
                    <a:lnTo>
                      <a:pt x="5" y="333"/>
                    </a:lnTo>
                    <a:lnTo>
                      <a:pt x="8" y="344"/>
                    </a:lnTo>
                    <a:lnTo>
                      <a:pt x="12" y="353"/>
                    </a:lnTo>
                    <a:lnTo>
                      <a:pt x="18" y="363"/>
                    </a:lnTo>
                    <a:lnTo>
                      <a:pt x="25" y="372"/>
                    </a:lnTo>
                    <a:lnTo>
                      <a:pt x="34" y="380"/>
                    </a:lnTo>
                    <a:lnTo>
                      <a:pt x="41" y="388"/>
                    </a:lnTo>
                    <a:lnTo>
                      <a:pt x="52" y="393"/>
                    </a:lnTo>
                    <a:lnTo>
                      <a:pt x="71" y="405"/>
                    </a:lnTo>
                    <a:lnTo>
                      <a:pt x="90" y="415"/>
                    </a:lnTo>
                    <a:lnTo>
                      <a:pt x="109" y="424"/>
                    </a:lnTo>
                    <a:lnTo>
                      <a:pt x="129" y="431"/>
                    </a:lnTo>
                    <a:lnTo>
                      <a:pt x="150" y="438"/>
                    </a:lnTo>
                    <a:lnTo>
                      <a:pt x="171" y="444"/>
                    </a:lnTo>
                    <a:lnTo>
                      <a:pt x="191" y="449"/>
                    </a:lnTo>
                    <a:lnTo>
                      <a:pt x="212" y="454"/>
                    </a:lnTo>
                    <a:lnTo>
                      <a:pt x="234" y="458"/>
                    </a:lnTo>
                    <a:lnTo>
                      <a:pt x="254" y="461"/>
                    </a:lnTo>
                    <a:lnTo>
                      <a:pt x="276" y="464"/>
                    </a:lnTo>
                    <a:lnTo>
                      <a:pt x="298" y="467"/>
                    </a:lnTo>
                    <a:lnTo>
                      <a:pt x="319" y="468"/>
                    </a:lnTo>
                    <a:lnTo>
                      <a:pt x="341" y="470"/>
                    </a:lnTo>
                    <a:lnTo>
                      <a:pt x="363" y="471"/>
                    </a:lnTo>
                    <a:lnTo>
                      <a:pt x="383" y="472"/>
                    </a:lnTo>
                    <a:lnTo>
                      <a:pt x="391" y="472"/>
                    </a:lnTo>
                    <a:lnTo>
                      <a:pt x="397" y="470"/>
                    </a:lnTo>
                    <a:lnTo>
                      <a:pt x="401" y="464"/>
                    </a:lnTo>
                    <a:lnTo>
                      <a:pt x="404" y="458"/>
                    </a:lnTo>
                    <a:lnTo>
                      <a:pt x="404" y="451"/>
                    </a:lnTo>
                    <a:lnTo>
                      <a:pt x="401" y="445"/>
                    </a:lnTo>
                    <a:lnTo>
                      <a:pt x="395" y="441"/>
                    </a:lnTo>
                    <a:lnTo>
                      <a:pt x="388" y="438"/>
                    </a:lnTo>
                    <a:lnTo>
                      <a:pt x="369" y="434"/>
                    </a:lnTo>
                    <a:lnTo>
                      <a:pt x="350" y="431"/>
                    </a:lnTo>
                    <a:lnTo>
                      <a:pt x="331" y="426"/>
                    </a:lnTo>
                    <a:lnTo>
                      <a:pt x="310" y="424"/>
                    </a:lnTo>
                    <a:lnTo>
                      <a:pt x="291" y="421"/>
                    </a:lnTo>
                    <a:lnTo>
                      <a:pt x="272" y="418"/>
                    </a:lnTo>
                    <a:lnTo>
                      <a:pt x="251" y="415"/>
                    </a:lnTo>
                    <a:lnTo>
                      <a:pt x="232" y="411"/>
                    </a:lnTo>
                    <a:lnTo>
                      <a:pt x="213" y="408"/>
                    </a:lnTo>
                    <a:lnTo>
                      <a:pt x="194" y="403"/>
                    </a:lnTo>
                    <a:lnTo>
                      <a:pt x="175" y="398"/>
                    </a:lnTo>
                    <a:lnTo>
                      <a:pt x="156" y="393"/>
                    </a:lnTo>
                    <a:lnTo>
                      <a:pt x="138" y="386"/>
                    </a:lnTo>
                    <a:lnTo>
                      <a:pt x="119" y="379"/>
                    </a:lnTo>
                    <a:lnTo>
                      <a:pt x="102" y="372"/>
                    </a:lnTo>
                    <a:lnTo>
                      <a:pt x="84" y="362"/>
                    </a:lnTo>
                    <a:lnTo>
                      <a:pt x="69" y="352"/>
                    </a:lnTo>
                    <a:lnTo>
                      <a:pt x="58" y="339"/>
                    </a:lnTo>
                    <a:lnTo>
                      <a:pt x="49" y="324"/>
                    </a:lnTo>
                    <a:lnTo>
                      <a:pt x="44" y="307"/>
                    </a:lnTo>
                    <a:lnTo>
                      <a:pt x="43" y="290"/>
                    </a:lnTo>
                    <a:lnTo>
                      <a:pt x="44" y="270"/>
                    </a:lnTo>
                    <a:lnTo>
                      <a:pt x="49" y="250"/>
                    </a:lnTo>
                    <a:lnTo>
                      <a:pt x="55" y="234"/>
                    </a:lnTo>
                    <a:lnTo>
                      <a:pt x="65" y="212"/>
                    </a:lnTo>
                    <a:lnTo>
                      <a:pt x="77" y="191"/>
                    </a:lnTo>
                    <a:lnTo>
                      <a:pt x="90" y="172"/>
                    </a:lnTo>
                    <a:lnTo>
                      <a:pt x="104" y="155"/>
                    </a:lnTo>
                    <a:lnTo>
                      <a:pt x="119" y="138"/>
                    </a:lnTo>
                    <a:lnTo>
                      <a:pt x="135" y="120"/>
                    </a:lnTo>
                    <a:lnTo>
                      <a:pt x="154" y="103"/>
                    </a:lnTo>
                    <a:lnTo>
                      <a:pt x="173" y="86"/>
                    </a:lnTo>
                    <a:lnTo>
                      <a:pt x="193" y="71"/>
                    </a:lnTo>
                    <a:lnTo>
                      <a:pt x="218" y="59"/>
                    </a:lnTo>
                    <a:lnTo>
                      <a:pt x="245" y="47"/>
                    </a:lnTo>
                    <a:lnTo>
                      <a:pt x="273" y="36"/>
                    </a:lnTo>
                    <a:lnTo>
                      <a:pt x="298" y="25"/>
                    </a:lnTo>
                    <a:lnTo>
                      <a:pt x="319" y="17"/>
                    </a:lnTo>
                    <a:lnTo>
                      <a:pt x="332" y="8"/>
                    </a:lnTo>
                    <a:lnTo>
                      <a:pt x="336" y="2"/>
                    </a:lnTo>
                    <a:lnTo>
                      <a:pt x="322" y="0"/>
                    </a:lnTo>
                    <a:lnTo>
                      <a:pt x="301" y="1"/>
                    </a:lnTo>
                    <a:lnTo>
                      <a:pt x="278" y="5"/>
                    </a:lnTo>
                    <a:lnTo>
                      <a:pt x="253" y="13"/>
                    </a:lnTo>
                    <a:lnTo>
                      <a:pt x="226" y="23"/>
                    </a:lnTo>
                    <a:lnTo>
                      <a:pt x="201" y="34"/>
                    </a:lnTo>
                    <a:lnTo>
                      <a:pt x="178" y="47"/>
                    </a:lnTo>
                    <a:lnTo>
                      <a:pt x="157" y="61"/>
                    </a:lnTo>
                    <a:close/>
                  </a:path>
                </a:pathLst>
              </a:custGeom>
              <a:solidFill>
                <a:srgbClr val="C9E8FF"/>
              </a:solidFill>
              <a:ln w="9525">
                <a:noFill/>
              </a:ln>
            </p:spPr>
            <p:txBody>
              <a:bodyPr/>
              <a:p>
                <a:endParaRPr lang="zh-CN" altLang="en-US"/>
              </a:p>
            </p:txBody>
          </p:sp>
          <p:sp>
            <p:nvSpPr>
              <p:cNvPr id="125997" name="Freeform 44"/>
              <p:cNvSpPr/>
              <p:nvPr/>
            </p:nvSpPr>
            <p:spPr>
              <a:xfrm>
                <a:off x="8263" y="4458"/>
                <a:ext cx="118" cy="105"/>
              </a:xfrm>
              <a:custGeom>
                <a:avLst/>
                <a:gdLst/>
                <a:ahLst/>
                <a:cxnLst>
                  <a:cxn ang="0">
                    <a:pos x="33" y="11"/>
                  </a:cxn>
                  <a:cxn ang="0">
                    <a:pos x="34" y="13"/>
                  </a:cxn>
                  <a:cxn ang="0">
                    <a:pos x="36" y="15"/>
                  </a:cxn>
                  <a:cxn ang="0">
                    <a:pos x="36" y="17"/>
                  </a:cxn>
                  <a:cxn ang="0">
                    <a:pos x="36" y="20"/>
                  </a:cxn>
                  <a:cxn ang="0">
                    <a:pos x="36" y="22"/>
                  </a:cxn>
                  <a:cxn ang="0">
                    <a:pos x="35" y="24"/>
                  </a:cxn>
                  <a:cxn ang="0">
                    <a:pos x="34" y="25"/>
                  </a:cxn>
                  <a:cxn ang="0">
                    <a:pos x="33" y="27"/>
                  </a:cxn>
                  <a:cxn ang="0">
                    <a:pos x="31" y="28"/>
                  </a:cxn>
                  <a:cxn ang="0">
                    <a:pos x="30" y="30"/>
                  </a:cxn>
                  <a:cxn ang="0">
                    <a:pos x="28" y="31"/>
                  </a:cxn>
                  <a:cxn ang="0">
                    <a:pos x="27" y="33"/>
                  </a:cxn>
                  <a:cxn ang="0">
                    <a:pos x="27" y="33"/>
                  </a:cxn>
                  <a:cxn ang="0">
                    <a:pos x="27" y="34"/>
                  </a:cxn>
                  <a:cxn ang="0">
                    <a:pos x="27" y="34"/>
                  </a:cxn>
                  <a:cxn ang="0">
                    <a:pos x="27" y="34"/>
                  </a:cxn>
                  <a:cxn ang="0">
                    <a:pos x="27" y="35"/>
                  </a:cxn>
                  <a:cxn ang="0">
                    <a:pos x="28" y="35"/>
                  </a:cxn>
                  <a:cxn ang="0">
                    <a:pos x="29" y="35"/>
                  </a:cxn>
                  <a:cxn ang="0">
                    <a:pos x="29" y="34"/>
                  </a:cxn>
                  <a:cxn ang="0">
                    <a:pos x="32" y="32"/>
                  </a:cxn>
                  <a:cxn ang="0">
                    <a:pos x="35" y="30"/>
                  </a:cxn>
                  <a:cxn ang="0">
                    <a:pos x="37" y="27"/>
                  </a:cxn>
                  <a:cxn ang="0">
                    <a:pos x="39" y="23"/>
                  </a:cxn>
                  <a:cxn ang="0">
                    <a:pos x="39" y="20"/>
                  </a:cxn>
                  <a:cxn ang="0">
                    <a:pos x="39" y="16"/>
                  </a:cxn>
                  <a:cxn ang="0">
                    <a:pos x="38" y="13"/>
                  </a:cxn>
                  <a:cxn ang="0">
                    <a:pos x="35" y="10"/>
                  </a:cxn>
                  <a:cxn ang="0">
                    <a:pos x="33" y="8"/>
                  </a:cxn>
                  <a:cxn ang="0">
                    <a:pos x="31" y="7"/>
                  </a:cxn>
                  <a:cxn ang="0">
                    <a:pos x="28" y="5"/>
                  </a:cxn>
                  <a:cxn ang="0">
                    <a:pos x="26" y="4"/>
                  </a:cxn>
                  <a:cxn ang="0">
                    <a:pos x="23" y="3"/>
                  </a:cxn>
                  <a:cxn ang="0">
                    <a:pos x="20" y="2"/>
                  </a:cxn>
                  <a:cxn ang="0">
                    <a:pos x="17" y="2"/>
                  </a:cxn>
                  <a:cxn ang="0">
                    <a:pos x="14" y="1"/>
                  </a:cxn>
                  <a:cxn ang="0">
                    <a:pos x="12" y="1"/>
                  </a:cxn>
                  <a:cxn ang="0">
                    <a:pos x="9" y="0"/>
                  </a:cxn>
                  <a:cxn ang="0">
                    <a:pos x="7" y="0"/>
                  </a:cxn>
                  <a:cxn ang="0">
                    <a:pos x="5" y="0"/>
                  </a:cxn>
                  <a:cxn ang="0">
                    <a:pos x="3" y="0"/>
                  </a:cxn>
                  <a:cxn ang="0">
                    <a:pos x="2" y="0"/>
                  </a:cxn>
                  <a:cxn ang="0">
                    <a:pos x="1" y="0"/>
                  </a:cxn>
                  <a:cxn ang="0">
                    <a:pos x="0" y="1"/>
                  </a:cxn>
                  <a:cxn ang="0">
                    <a:pos x="2" y="1"/>
                  </a:cxn>
                  <a:cxn ang="0">
                    <a:pos x="3" y="1"/>
                  </a:cxn>
                  <a:cxn ang="0">
                    <a:pos x="5" y="1"/>
                  </a:cxn>
                  <a:cxn ang="0">
                    <a:pos x="7" y="2"/>
                  </a:cxn>
                  <a:cxn ang="0">
                    <a:pos x="9" y="2"/>
                  </a:cxn>
                  <a:cxn ang="0">
                    <a:pos x="11" y="3"/>
                  </a:cxn>
                  <a:cxn ang="0">
                    <a:pos x="14" y="3"/>
                  </a:cxn>
                  <a:cxn ang="0">
                    <a:pos x="16" y="3"/>
                  </a:cxn>
                  <a:cxn ang="0">
                    <a:pos x="18" y="4"/>
                  </a:cxn>
                  <a:cxn ang="0">
                    <a:pos x="20" y="5"/>
                  </a:cxn>
                  <a:cxn ang="0">
                    <a:pos x="23" y="5"/>
                  </a:cxn>
                  <a:cxn ang="0">
                    <a:pos x="25" y="6"/>
                  </a:cxn>
                  <a:cxn ang="0">
                    <a:pos x="27" y="7"/>
                  </a:cxn>
                  <a:cxn ang="0">
                    <a:pos x="29" y="8"/>
                  </a:cxn>
                  <a:cxn ang="0">
                    <a:pos x="31" y="9"/>
                  </a:cxn>
                  <a:cxn ang="0">
                    <a:pos x="33" y="11"/>
                  </a:cxn>
                </a:cxnLst>
                <a:pathLst>
                  <a:path w="354" h="315">
                    <a:moveTo>
                      <a:pt x="294" y="96"/>
                    </a:moveTo>
                    <a:lnTo>
                      <a:pt x="310" y="113"/>
                    </a:lnTo>
                    <a:lnTo>
                      <a:pt x="320" y="133"/>
                    </a:lnTo>
                    <a:lnTo>
                      <a:pt x="325" y="155"/>
                    </a:lnTo>
                    <a:lnTo>
                      <a:pt x="325" y="178"/>
                    </a:lnTo>
                    <a:lnTo>
                      <a:pt x="322" y="197"/>
                    </a:lnTo>
                    <a:lnTo>
                      <a:pt x="316" y="212"/>
                    </a:lnTo>
                    <a:lnTo>
                      <a:pt x="306" y="228"/>
                    </a:lnTo>
                    <a:lnTo>
                      <a:pt x="295" y="241"/>
                    </a:lnTo>
                    <a:lnTo>
                      <a:pt x="282" y="256"/>
                    </a:lnTo>
                    <a:lnTo>
                      <a:pt x="269" y="267"/>
                    </a:lnTo>
                    <a:lnTo>
                      <a:pt x="256" y="280"/>
                    </a:lnTo>
                    <a:lnTo>
                      <a:pt x="243" y="293"/>
                    </a:lnTo>
                    <a:lnTo>
                      <a:pt x="240" y="297"/>
                    </a:lnTo>
                    <a:lnTo>
                      <a:pt x="240" y="302"/>
                    </a:lnTo>
                    <a:lnTo>
                      <a:pt x="240" y="306"/>
                    </a:lnTo>
                    <a:lnTo>
                      <a:pt x="243" y="310"/>
                    </a:lnTo>
                    <a:lnTo>
                      <a:pt x="247" y="313"/>
                    </a:lnTo>
                    <a:lnTo>
                      <a:pt x="253" y="315"/>
                    </a:lnTo>
                    <a:lnTo>
                      <a:pt x="257" y="313"/>
                    </a:lnTo>
                    <a:lnTo>
                      <a:pt x="262" y="310"/>
                    </a:lnTo>
                    <a:lnTo>
                      <a:pt x="291" y="292"/>
                    </a:lnTo>
                    <a:lnTo>
                      <a:pt x="316" y="267"/>
                    </a:lnTo>
                    <a:lnTo>
                      <a:pt x="335" y="240"/>
                    </a:lnTo>
                    <a:lnTo>
                      <a:pt x="348" y="208"/>
                    </a:lnTo>
                    <a:lnTo>
                      <a:pt x="354" y="177"/>
                    </a:lnTo>
                    <a:lnTo>
                      <a:pt x="351" y="143"/>
                    </a:lnTo>
                    <a:lnTo>
                      <a:pt x="339" y="113"/>
                    </a:lnTo>
                    <a:lnTo>
                      <a:pt x="316" y="86"/>
                    </a:lnTo>
                    <a:lnTo>
                      <a:pt x="298" y="72"/>
                    </a:lnTo>
                    <a:lnTo>
                      <a:pt x="278" y="60"/>
                    </a:lnTo>
                    <a:lnTo>
                      <a:pt x="256" y="49"/>
                    </a:lnTo>
                    <a:lnTo>
                      <a:pt x="231" y="39"/>
                    </a:lnTo>
                    <a:lnTo>
                      <a:pt x="206" y="29"/>
                    </a:lnTo>
                    <a:lnTo>
                      <a:pt x="181" y="21"/>
                    </a:lnTo>
                    <a:lnTo>
                      <a:pt x="155" y="16"/>
                    </a:lnTo>
                    <a:lnTo>
                      <a:pt x="130" y="10"/>
                    </a:lnTo>
                    <a:lnTo>
                      <a:pt x="105" y="6"/>
                    </a:lnTo>
                    <a:lnTo>
                      <a:pt x="83" y="3"/>
                    </a:lnTo>
                    <a:lnTo>
                      <a:pt x="61" y="0"/>
                    </a:lnTo>
                    <a:lnTo>
                      <a:pt x="43" y="0"/>
                    </a:lnTo>
                    <a:lnTo>
                      <a:pt x="27" y="0"/>
                    </a:lnTo>
                    <a:lnTo>
                      <a:pt x="14" y="0"/>
                    </a:lnTo>
                    <a:lnTo>
                      <a:pt x="5" y="3"/>
                    </a:lnTo>
                    <a:lnTo>
                      <a:pt x="0" y="6"/>
                    </a:lnTo>
                    <a:lnTo>
                      <a:pt x="15" y="8"/>
                    </a:lnTo>
                    <a:lnTo>
                      <a:pt x="30" y="10"/>
                    </a:lnTo>
                    <a:lnTo>
                      <a:pt x="47" y="13"/>
                    </a:lnTo>
                    <a:lnTo>
                      <a:pt x="65" y="16"/>
                    </a:lnTo>
                    <a:lnTo>
                      <a:pt x="83" y="20"/>
                    </a:lnTo>
                    <a:lnTo>
                      <a:pt x="103" y="23"/>
                    </a:lnTo>
                    <a:lnTo>
                      <a:pt x="122" y="27"/>
                    </a:lnTo>
                    <a:lnTo>
                      <a:pt x="143" y="31"/>
                    </a:lnTo>
                    <a:lnTo>
                      <a:pt x="162" y="37"/>
                    </a:lnTo>
                    <a:lnTo>
                      <a:pt x="182" y="43"/>
                    </a:lnTo>
                    <a:lnTo>
                      <a:pt x="203" y="49"/>
                    </a:lnTo>
                    <a:lnTo>
                      <a:pt x="222" y="56"/>
                    </a:lnTo>
                    <a:lnTo>
                      <a:pt x="241" y="64"/>
                    </a:lnTo>
                    <a:lnTo>
                      <a:pt x="260" y="75"/>
                    </a:lnTo>
                    <a:lnTo>
                      <a:pt x="278" y="85"/>
                    </a:lnTo>
                    <a:lnTo>
                      <a:pt x="294" y="96"/>
                    </a:lnTo>
                    <a:close/>
                  </a:path>
                </a:pathLst>
              </a:custGeom>
              <a:solidFill>
                <a:srgbClr val="C9E8FF"/>
              </a:solidFill>
              <a:ln w="6350">
                <a:noFill/>
              </a:ln>
            </p:spPr>
            <p:txBody>
              <a:bodyPr/>
              <a:p>
                <a:endParaRPr lang="zh-CN" altLang="en-US"/>
              </a:p>
            </p:txBody>
          </p:sp>
          <p:sp>
            <p:nvSpPr>
              <p:cNvPr id="125998" name="Freeform 45"/>
              <p:cNvSpPr/>
              <p:nvPr/>
            </p:nvSpPr>
            <p:spPr>
              <a:xfrm>
                <a:off x="8023" y="4506"/>
                <a:ext cx="47" cy="99"/>
              </a:xfrm>
              <a:custGeom>
                <a:avLst/>
                <a:gdLst/>
                <a:ahLst/>
                <a:cxnLst>
                  <a:cxn ang="0">
                    <a:pos x="0" y="18"/>
                  </a:cxn>
                  <a:cxn ang="0">
                    <a:pos x="0" y="21"/>
                  </a:cxn>
                  <a:cxn ang="0">
                    <a:pos x="1" y="23"/>
                  </a:cxn>
                  <a:cxn ang="0">
                    <a:pos x="2" y="26"/>
                  </a:cxn>
                  <a:cxn ang="0">
                    <a:pos x="3" y="28"/>
                  </a:cxn>
                  <a:cxn ang="0">
                    <a:pos x="5" y="30"/>
                  </a:cxn>
                  <a:cxn ang="0">
                    <a:pos x="8" y="31"/>
                  </a:cxn>
                  <a:cxn ang="0">
                    <a:pos x="10" y="32"/>
                  </a:cxn>
                  <a:cxn ang="0">
                    <a:pos x="12" y="33"/>
                  </a:cxn>
                  <a:cxn ang="0">
                    <a:pos x="13" y="33"/>
                  </a:cxn>
                  <a:cxn ang="0">
                    <a:pos x="14" y="33"/>
                  </a:cxn>
                  <a:cxn ang="0">
                    <a:pos x="15" y="32"/>
                  </a:cxn>
                  <a:cxn ang="0">
                    <a:pos x="15" y="32"/>
                  </a:cxn>
                  <a:cxn ang="0">
                    <a:pos x="15" y="31"/>
                  </a:cxn>
                  <a:cxn ang="0">
                    <a:pos x="15" y="30"/>
                  </a:cxn>
                  <a:cxn ang="0">
                    <a:pos x="14" y="29"/>
                  </a:cxn>
                  <a:cxn ang="0">
                    <a:pos x="13" y="29"/>
                  </a:cxn>
                  <a:cxn ang="0">
                    <a:pos x="11" y="28"/>
                  </a:cxn>
                  <a:cxn ang="0">
                    <a:pos x="9" y="27"/>
                  </a:cxn>
                  <a:cxn ang="0">
                    <a:pos x="7" y="25"/>
                  </a:cxn>
                  <a:cxn ang="0">
                    <a:pos x="5" y="23"/>
                  </a:cxn>
                  <a:cxn ang="0">
                    <a:pos x="4" y="21"/>
                  </a:cxn>
                  <a:cxn ang="0">
                    <a:pos x="4" y="18"/>
                  </a:cxn>
                  <a:cxn ang="0">
                    <a:pos x="4" y="15"/>
                  </a:cxn>
                  <a:cxn ang="0">
                    <a:pos x="5" y="13"/>
                  </a:cxn>
                  <a:cxn ang="0">
                    <a:pos x="6" y="11"/>
                  </a:cxn>
                  <a:cxn ang="0">
                    <a:pos x="7" y="9"/>
                  </a:cxn>
                  <a:cxn ang="0">
                    <a:pos x="8" y="7"/>
                  </a:cxn>
                  <a:cxn ang="0">
                    <a:pos x="10" y="5"/>
                  </a:cxn>
                  <a:cxn ang="0">
                    <a:pos x="12" y="4"/>
                  </a:cxn>
                  <a:cxn ang="0">
                    <a:pos x="13" y="3"/>
                  </a:cxn>
                  <a:cxn ang="0">
                    <a:pos x="14" y="1"/>
                  </a:cxn>
                  <a:cxn ang="0">
                    <a:pos x="15" y="0"/>
                  </a:cxn>
                  <a:cxn ang="0">
                    <a:pos x="14" y="0"/>
                  </a:cxn>
                  <a:cxn ang="0">
                    <a:pos x="12" y="1"/>
                  </a:cxn>
                  <a:cxn ang="0">
                    <a:pos x="10" y="3"/>
                  </a:cxn>
                  <a:cxn ang="0">
                    <a:pos x="8" y="5"/>
                  </a:cxn>
                  <a:cxn ang="0">
                    <a:pos x="5" y="8"/>
                  </a:cxn>
                  <a:cxn ang="0">
                    <a:pos x="3" y="11"/>
                  </a:cxn>
                  <a:cxn ang="0">
                    <a:pos x="1" y="15"/>
                  </a:cxn>
                  <a:cxn ang="0">
                    <a:pos x="0" y="18"/>
                  </a:cxn>
                </a:cxnLst>
                <a:pathLst>
                  <a:path w="143" h="297">
                    <a:moveTo>
                      <a:pt x="0" y="162"/>
                    </a:moveTo>
                    <a:lnTo>
                      <a:pt x="0" y="187"/>
                    </a:lnTo>
                    <a:lnTo>
                      <a:pt x="5" y="210"/>
                    </a:lnTo>
                    <a:lnTo>
                      <a:pt x="16" y="231"/>
                    </a:lnTo>
                    <a:lnTo>
                      <a:pt x="30" y="250"/>
                    </a:lnTo>
                    <a:lnTo>
                      <a:pt x="48" y="266"/>
                    </a:lnTo>
                    <a:lnTo>
                      <a:pt x="69" y="280"/>
                    </a:lnTo>
                    <a:lnTo>
                      <a:pt x="92" y="290"/>
                    </a:lnTo>
                    <a:lnTo>
                      <a:pt x="116" y="296"/>
                    </a:lnTo>
                    <a:lnTo>
                      <a:pt x="123" y="297"/>
                    </a:lnTo>
                    <a:lnTo>
                      <a:pt x="130" y="295"/>
                    </a:lnTo>
                    <a:lnTo>
                      <a:pt x="136" y="290"/>
                    </a:lnTo>
                    <a:lnTo>
                      <a:pt x="139" y="284"/>
                    </a:lnTo>
                    <a:lnTo>
                      <a:pt x="139" y="277"/>
                    </a:lnTo>
                    <a:lnTo>
                      <a:pt x="138" y="270"/>
                    </a:lnTo>
                    <a:lnTo>
                      <a:pt x="133" y="264"/>
                    </a:lnTo>
                    <a:lnTo>
                      <a:pt x="126" y="261"/>
                    </a:lnTo>
                    <a:lnTo>
                      <a:pt x="102" y="253"/>
                    </a:lnTo>
                    <a:lnTo>
                      <a:pt x="80" y="241"/>
                    </a:lnTo>
                    <a:lnTo>
                      <a:pt x="63" y="226"/>
                    </a:lnTo>
                    <a:lnTo>
                      <a:pt x="50" y="208"/>
                    </a:lnTo>
                    <a:lnTo>
                      <a:pt x="41" y="187"/>
                    </a:lnTo>
                    <a:lnTo>
                      <a:pt x="36" y="164"/>
                    </a:lnTo>
                    <a:lnTo>
                      <a:pt x="36" y="139"/>
                    </a:lnTo>
                    <a:lnTo>
                      <a:pt x="44" y="113"/>
                    </a:lnTo>
                    <a:lnTo>
                      <a:pt x="52" y="95"/>
                    </a:lnTo>
                    <a:lnTo>
                      <a:pt x="64" y="78"/>
                    </a:lnTo>
                    <a:lnTo>
                      <a:pt x="77" y="62"/>
                    </a:lnTo>
                    <a:lnTo>
                      <a:pt x="92" y="47"/>
                    </a:lnTo>
                    <a:lnTo>
                      <a:pt x="105" y="34"/>
                    </a:lnTo>
                    <a:lnTo>
                      <a:pt x="120" y="23"/>
                    </a:lnTo>
                    <a:lnTo>
                      <a:pt x="133" y="11"/>
                    </a:lnTo>
                    <a:lnTo>
                      <a:pt x="143" y="1"/>
                    </a:lnTo>
                    <a:lnTo>
                      <a:pt x="133" y="0"/>
                    </a:lnTo>
                    <a:lnTo>
                      <a:pt x="117" y="7"/>
                    </a:lnTo>
                    <a:lnTo>
                      <a:pt x="95" y="23"/>
                    </a:lnTo>
                    <a:lnTo>
                      <a:pt x="70" y="44"/>
                    </a:lnTo>
                    <a:lnTo>
                      <a:pt x="47" y="72"/>
                    </a:lnTo>
                    <a:lnTo>
                      <a:pt x="25" y="101"/>
                    </a:lnTo>
                    <a:lnTo>
                      <a:pt x="8" y="132"/>
                    </a:lnTo>
                    <a:lnTo>
                      <a:pt x="0" y="162"/>
                    </a:lnTo>
                    <a:close/>
                  </a:path>
                </a:pathLst>
              </a:custGeom>
              <a:solidFill>
                <a:srgbClr val="C9E8FF"/>
              </a:solidFill>
              <a:ln w="9525">
                <a:noFill/>
              </a:ln>
            </p:spPr>
            <p:txBody>
              <a:bodyPr/>
              <a:p>
                <a:endParaRPr lang="zh-CN" altLang="en-US"/>
              </a:p>
            </p:txBody>
          </p:sp>
          <p:sp>
            <p:nvSpPr>
              <p:cNvPr id="125999" name="Freeform 46"/>
              <p:cNvSpPr/>
              <p:nvPr/>
            </p:nvSpPr>
            <p:spPr>
              <a:xfrm>
                <a:off x="8360" y="4451"/>
                <a:ext cx="103" cy="129"/>
              </a:xfrm>
              <a:custGeom>
                <a:avLst/>
                <a:gdLst/>
                <a:ahLst/>
                <a:cxnLst>
                  <a:cxn ang="0">
                    <a:pos x="29" y="17"/>
                  </a:cxn>
                  <a:cxn ang="0">
                    <a:pos x="31" y="20"/>
                  </a:cxn>
                  <a:cxn ang="0">
                    <a:pos x="31" y="23"/>
                  </a:cxn>
                  <a:cxn ang="0">
                    <a:pos x="31" y="26"/>
                  </a:cxn>
                  <a:cxn ang="0">
                    <a:pos x="29" y="29"/>
                  </a:cxn>
                  <a:cxn ang="0">
                    <a:pos x="26" y="32"/>
                  </a:cxn>
                  <a:cxn ang="0">
                    <a:pos x="23" y="34"/>
                  </a:cxn>
                  <a:cxn ang="0">
                    <a:pos x="20" y="37"/>
                  </a:cxn>
                  <a:cxn ang="0">
                    <a:pos x="18" y="39"/>
                  </a:cxn>
                  <a:cxn ang="0">
                    <a:pos x="17" y="40"/>
                  </a:cxn>
                  <a:cxn ang="0">
                    <a:pos x="17" y="41"/>
                  </a:cxn>
                  <a:cxn ang="0">
                    <a:pos x="17" y="42"/>
                  </a:cxn>
                  <a:cxn ang="0">
                    <a:pos x="18" y="43"/>
                  </a:cxn>
                  <a:cxn ang="0">
                    <a:pos x="19" y="43"/>
                  </a:cxn>
                  <a:cxn ang="0">
                    <a:pos x="22" y="41"/>
                  </a:cxn>
                  <a:cxn ang="0">
                    <a:pos x="25" y="37"/>
                  </a:cxn>
                  <a:cxn ang="0">
                    <a:pos x="29" y="34"/>
                  </a:cxn>
                  <a:cxn ang="0">
                    <a:pos x="32" y="30"/>
                  </a:cxn>
                  <a:cxn ang="0">
                    <a:pos x="34" y="26"/>
                  </a:cxn>
                  <a:cxn ang="0">
                    <a:pos x="34" y="21"/>
                  </a:cxn>
                  <a:cxn ang="0">
                    <a:pos x="32" y="17"/>
                  </a:cxn>
                  <a:cxn ang="0">
                    <a:pos x="28" y="13"/>
                  </a:cxn>
                  <a:cxn ang="0">
                    <a:pos x="25" y="10"/>
                  </a:cxn>
                  <a:cxn ang="0">
                    <a:pos x="21" y="8"/>
                  </a:cxn>
                  <a:cxn ang="0">
                    <a:pos x="18" y="6"/>
                  </a:cxn>
                  <a:cxn ang="0">
                    <a:pos x="14" y="4"/>
                  </a:cxn>
                  <a:cxn ang="0">
                    <a:pos x="10" y="2"/>
                  </a:cxn>
                  <a:cxn ang="0">
                    <a:pos x="7" y="1"/>
                  </a:cxn>
                  <a:cxn ang="0">
                    <a:pos x="3" y="0"/>
                  </a:cxn>
                  <a:cxn ang="0">
                    <a:pos x="1" y="0"/>
                  </a:cxn>
                  <a:cxn ang="0">
                    <a:pos x="1" y="1"/>
                  </a:cxn>
                  <a:cxn ang="0">
                    <a:pos x="4" y="2"/>
                  </a:cxn>
                  <a:cxn ang="0">
                    <a:pos x="7" y="3"/>
                  </a:cxn>
                  <a:cxn ang="0">
                    <a:pos x="11" y="5"/>
                  </a:cxn>
                  <a:cxn ang="0">
                    <a:pos x="15" y="7"/>
                  </a:cxn>
                  <a:cxn ang="0">
                    <a:pos x="19" y="10"/>
                  </a:cxn>
                  <a:cxn ang="0">
                    <a:pos x="23" y="12"/>
                  </a:cxn>
                  <a:cxn ang="0">
                    <a:pos x="26" y="15"/>
                  </a:cxn>
                </a:cxnLst>
                <a:pathLst>
                  <a:path w="309" h="388">
                    <a:moveTo>
                      <a:pt x="250" y="145"/>
                    </a:moveTo>
                    <a:lnTo>
                      <a:pt x="260" y="155"/>
                    </a:lnTo>
                    <a:lnTo>
                      <a:pt x="269" y="167"/>
                    </a:lnTo>
                    <a:lnTo>
                      <a:pt x="275" y="180"/>
                    </a:lnTo>
                    <a:lnTo>
                      <a:pt x="281" y="193"/>
                    </a:lnTo>
                    <a:lnTo>
                      <a:pt x="282" y="206"/>
                    </a:lnTo>
                    <a:lnTo>
                      <a:pt x="282" y="220"/>
                    </a:lnTo>
                    <a:lnTo>
                      <a:pt x="278" y="234"/>
                    </a:lnTo>
                    <a:lnTo>
                      <a:pt x="272" y="247"/>
                    </a:lnTo>
                    <a:lnTo>
                      <a:pt x="262" y="262"/>
                    </a:lnTo>
                    <a:lnTo>
                      <a:pt x="250" y="275"/>
                    </a:lnTo>
                    <a:lnTo>
                      <a:pt x="237" y="286"/>
                    </a:lnTo>
                    <a:lnTo>
                      <a:pt x="222" y="298"/>
                    </a:lnTo>
                    <a:lnTo>
                      <a:pt x="209" y="308"/>
                    </a:lnTo>
                    <a:lnTo>
                      <a:pt x="194" y="319"/>
                    </a:lnTo>
                    <a:lnTo>
                      <a:pt x="180" y="331"/>
                    </a:lnTo>
                    <a:lnTo>
                      <a:pt x="166" y="344"/>
                    </a:lnTo>
                    <a:lnTo>
                      <a:pt x="162" y="348"/>
                    </a:lnTo>
                    <a:lnTo>
                      <a:pt x="159" y="354"/>
                    </a:lnTo>
                    <a:lnTo>
                      <a:pt x="156" y="359"/>
                    </a:lnTo>
                    <a:lnTo>
                      <a:pt x="153" y="365"/>
                    </a:lnTo>
                    <a:lnTo>
                      <a:pt x="152" y="371"/>
                    </a:lnTo>
                    <a:lnTo>
                      <a:pt x="152" y="377"/>
                    </a:lnTo>
                    <a:lnTo>
                      <a:pt x="153" y="382"/>
                    </a:lnTo>
                    <a:lnTo>
                      <a:pt x="158" y="387"/>
                    </a:lnTo>
                    <a:lnTo>
                      <a:pt x="163" y="388"/>
                    </a:lnTo>
                    <a:lnTo>
                      <a:pt x="169" y="388"/>
                    </a:lnTo>
                    <a:lnTo>
                      <a:pt x="175" y="387"/>
                    </a:lnTo>
                    <a:lnTo>
                      <a:pt x="180" y="382"/>
                    </a:lnTo>
                    <a:lnTo>
                      <a:pt x="194" y="367"/>
                    </a:lnTo>
                    <a:lnTo>
                      <a:pt x="210" y="351"/>
                    </a:lnTo>
                    <a:lnTo>
                      <a:pt x="227" y="337"/>
                    </a:lnTo>
                    <a:lnTo>
                      <a:pt x="244" y="322"/>
                    </a:lnTo>
                    <a:lnTo>
                      <a:pt x="260" y="308"/>
                    </a:lnTo>
                    <a:lnTo>
                      <a:pt x="275" y="292"/>
                    </a:lnTo>
                    <a:lnTo>
                      <a:pt x="290" y="275"/>
                    </a:lnTo>
                    <a:lnTo>
                      <a:pt x="300" y="256"/>
                    </a:lnTo>
                    <a:lnTo>
                      <a:pt x="307" y="234"/>
                    </a:lnTo>
                    <a:lnTo>
                      <a:pt x="309" y="213"/>
                    </a:lnTo>
                    <a:lnTo>
                      <a:pt x="304" y="191"/>
                    </a:lnTo>
                    <a:lnTo>
                      <a:pt x="297" y="171"/>
                    </a:lnTo>
                    <a:lnTo>
                      <a:pt x="285" y="151"/>
                    </a:lnTo>
                    <a:lnTo>
                      <a:pt x="271" y="134"/>
                    </a:lnTo>
                    <a:lnTo>
                      <a:pt x="253" y="118"/>
                    </a:lnTo>
                    <a:lnTo>
                      <a:pt x="235" y="104"/>
                    </a:lnTo>
                    <a:lnTo>
                      <a:pt x="222" y="94"/>
                    </a:lnTo>
                    <a:lnTo>
                      <a:pt x="207" y="85"/>
                    </a:lnTo>
                    <a:lnTo>
                      <a:pt x="191" y="75"/>
                    </a:lnTo>
                    <a:lnTo>
                      <a:pt x="175" y="65"/>
                    </a:lnTo>
                    <a:lnTo>
                      <a:pt x="159" y="55"/>
                    </a:lnTo>
                    <a:lnTo>
                      <a:pt x="141" y="45"/>
                    </a:lnTo>
                    <a:lnTo>
                      <a:pt x="124" y="36"/>
                    </a:lnTo>
                    <a:lnTo>
                      <a:pt x="108" y="28"/>
                    </a:lnTo>
                    <a:lnTo>
                      <a:pt x="92" y="20"/>
                    </a:lnTo>
                    <a:lnTo>
                      <a:pt x="75" y="13"/>
                    </a:lnTo>
                    <a:lnTo>
                      <a:pt x="59" y="9"/>
                    </a:lnTo>
                    <a:lnTo>
                      <a:pt x="45" y="5"/>
                    </a:lnTo>
                    <a:lnTo>
                      <a:pt x="31" y="2"/>
                    </a:lnTo>
                    <a:lnTo>
                      <a:pt x="20" y="0"/>
                    </a:lnTo>
                    <a:lnTo>
                      <a:pt x="9" y="2"/>
                    </a:lnTo>
                    <a:lnTo>
                      <a:pt x="0" y="5"/>
                    </a:lnTo>
                    <a:lnTo>
                      <a:pt x="11" y="7"/>
                    </a:lnTo>
                    <a:lnTo>
                      <a:pt x="23" y="12"/>
                    </a:lnTo>
                    <a:lnTo>
                      <a:pt x="36" y="17"/>
                    </a:lnTo>
                    <a:lnTo>
                      <a:pt x="49" y="23"/>
                    </a:lnTo>
                    <a:lnTo>
                      <a:pt x="65" y="30"/>
                    </a:lnTo>
                    <a:lnTo>
                      <a:pt x="81" y="38"/>
                    </a:lnTo>
                    <a:lnTo>
                      <a:pt x="99" y="46"/>
                    </a:lnTo>
                    <a:lnTo>
                      <a:pt x="116" y="55"/>
                    </a:lnTo>
                    <a:lnTo>
                      <a:pt x="134" y="65"/>
                    </a:lnTo>
                    <a:lnTo>
                      <a:pt x="152" y="75"/>
                    </a:lnTo>
                    <a:lnTo>
                      <a:pt x="169" y="86"/>
                    </a:lnTo>
                    <a:lnTo>
                      <a:pt x="187" y="98"/>
                    </a:lnTo>
                    <a:lnTo>
                      <a:pt x="205" y="109"/>
                    </a:lnTo>
                    <a:lnTo>
                      <a:pt x="221" y="121"/>
                    </a:lnTo>
                    <a:lnTo>
                      <a:pt x="235" y="132"/>
                    </a:lnTo>
                    <a:lnTo>
                      <a:pt x="250" y="145"/>
                    </a:lnTo>
                    <a:close/>
                  </a:path>
                </a:pathLst>
              </a:custGeom>
              <a:solidFill>
                <a:srgbClr val="C9E8FF"/>
              </a:solidFill>
              <a:ln w="9525">
                <a:noFill/>
              </a:ln>
            </p:spPr>
            <p:txBody>
              <a:bodyPr/>
              <a:p>
                <a:endParaRPr lang="zh-CN" altLang="en-US"/>
              </a:p>
            </p:txBody>
          </p:sp>
          <p:sp>
            <p:nvSpPr>
              <p:cNvPr id="126000" name="Freeform 47"/>
              <p:cNvSpPr/>
              <p:nvPr/>
            </p:nvSpPr>
            <p:spPr>
              <a:xfrm>
                <a:off x="8279" y="4648"/>
                <a:ext cx="135" cy="97"/>
              </a:xfrm>
              <a:custGeom>
                <a:avLst/>
                <a:gdLst/>
                <a:ahLst/>
                <a:cxnLst>
                  <a:cxn ang="0">
                    <a:pos x="37" y="7"/>
                  </a:cxn>
                  <a:cxn ang="0">
                    <a:pos x="39" y="14"/>
                  </a:cxn>
                  <a:cxn ang="0">
                    <a:pos x="41" y="20"/>
                  </a:cxn>
                  <a:cxn ang="0">
                    <a:pos x="44" y="26"/>
                  </a:cxn>
                  <a:cxn ang="0">
                    <a:pos x="45" y="30"/>
                  </a:cxn>
                  <a:cxn ang="0">
                    <a:pos x="45" y="31"/>
                  </a:cxn>
                  <a:cxn ang="0">
                    <a:pos x="44" y="32"/>
                  </a:cxn>
                  <a:cxn ang="0">
                    <a:pos x="42" y="32"/>
                  </a:cxn>
                  <a:cxn ang="0">
                    <a:pos x="40" y="28"/>
                  </a:cxn>
                  <a:cxn ang="0">
                    <a:pos x="38" y="19"/>
                  </a:cxn>
                  <a:cxn ang="0">
                    <a:pos x="35" y="10"/>
                  </a:cxn>
                  <a:cxn ang="0">
                    <a:pos x="34" y="5"/>
                  </a:cxn>
                  <a:cxn ang="0">
                    <a:pos x="31" y="4"/>
                  </a:cxn>
                  <a:cxn ang="0">
                    <a:pos x="26" y="4"/>
                  </a:cxn>
                  <a:cxn ang="0">
                    <a:pos x="21" y="6"/>
                  </a:cxn>
                  <a:cxn ang="0">
                    <a:pos x="16" y="7"/>
                  </a:cxn>
                  <a:cxn ang="0">
                    <a:pos x="12" y="9"/>
                  </a:cxn>
                  <a:cxn ang="0">
                    <a:pos x="7" y="11"/>
                  </a:cxn>
                  <a:cxn ang="0">
                    <a:pos x="4" y="14"/>
                  </a:cxn>
                  <a:cxn ang="0">
                    <a:pos x="1" y="16"/>
                  </a:cxn>
                  <a:cxn ang="0">
                    <a:pos x="0" y="15"/>
                  </a:cxn>
                  <a:cxn ang="0">
                    <a:pos x="2" y="11"/>
                  </a:cxn>
                  <a:cxn ang="0">
                    <a:pos x="6" y="8"/>
                  </a:cxn>
                  <a:cxn ang="0">
                    <a:pos x="10" y="5"/>
                  </a:cxn>
                  <a:cxn ang="0">
                    <a:pos x="15" y="3"/>
                  </a:cxn>
                  <a:cxn ang="0">
                    <a:pos x="23" y="1"/>
                  </a:cxn>
                  <a:cxn ang="0">
                    <a:pos x="31" y="0"/>
                  </a:cxn>
                  <a:cxn ang="0">
                    <a:pos x="36" y="0"/>
                  </a:cxn>
                  <a:cxn ang="0">
                    <a:pos x="37" y="0"/>
                  </a:cxn>
                  <a:cxn ang="0">
                    <a:pos x="38" y="1"/>
                  </a:cxn>
                  <a:cxn ang="0">
                    <a:pos x="38" y="3"/>
                  </a:cxn>
                  <a:cxn ang="0">
                    <a:pos x="37" y="4"/>
                  </a:cxn>
                </a:cxnLst>
                <a:pathLst>
                  <a:path w="406" h="292">
                    <a:moveTo>
                      <a:pt x="326" y="36"/>
                    </a:moveTo>
                    <a:lnTo>
                      <a:pt x="332" y="65"/>
                    </a:lnTo>
                    <a:lnTo>
                      <a:pt x="340" y="93"/>
                    </a:lnTo>
                    <a:lnTo>
                      <a:pt x="351" y="123"/>
                    </a:lnTo>
                    <a:lnTo>
                      <a:pt x="361" y="152"/>
                    </a:lnTo>
                    <a:lnTo>
                      <a:pt x="373" y="181"/>
                    </a:lnTo>
                    <a:lnTo>
                      <a:pt x="384" y="210"/>
                    </a:lnTo>
                    <a:lnTo>
                      <a:pt x="395" y="237"/>
                    </a:lnTo>
                    <a:lnTo>
                      <a:pt x="405" y="266"/>
                    </a:lnTo>
                    <a:lnTo>
                      <a:pt x="406" y="273"/>
                    </a:lnTo>
                    <a:lnTo>
                      <a:pt x="406" y="279"/>
                    </a:lnTo>
                    <a:lnTo>
                      <a:pt x="404" y="284"/>
                    </a:lnTo>
                    <a:lnTo>
                      <a:pt x="399" y="289"/>
                    </a:lnTo>
                    <a:lnTo>
                      <a:pt x="393" y="292"/>
                    </a:lnTo>
                    <a:lnTo>
                      <a:pt x="387" y="292"/>
                    </a:lnTo>
                    <a:lnTo>
                      <a:pt x="381" y="289"/>
                    </a:lnTo>
                    <a:lnTo>
                      <a:pt x="377" y="283"/>
                    </a:lnTo>
                    <a:lnTo>
                      <a:pt x="364" y="251"/>
                    </a:lnTo>
                    <a:lnTo>
                      <a:pt x="352" y="213"/>
                    </a:lnTo>
                    <a:lnTo>
                      <a:pt x="339" y="171"/>
                    </a:lnTo>
                    <a:lnTo>
                      <a:pt x="329" y="131"/>
                    </a:lnTo>
                    <a:lnTo>
                      <a:pt x="318" y="93"/>
                    </a:lnTo>
                    <a:lnTo>
                      <a:pt x="311" y="63"/>
                    </a:lnTo>
                    <a:lnTo>
                      <a:pt x="307" y="42"/>
                    </a:lnTo>
                    <a:lnTo>
                      <a:pt x="305" y="34"/>
                    </a:lnTo>
                    <a:lnTo>
                      <a:pt x="283" y="34"/>
                    </a:lnTo>
                    <a:lnTo>
                      <a:pt x="261" y="36"/>
                    </a:lnTo>
                    <a:lnTo>
                      <a:pt x="239" y="39"/>
                    </a:lnTo>
                    <a:lnTo>
                      <a:pt x="216" y="43"/>
                    </a:lnTo>
                    <a:lnTo>
                      <a:pt x="192" y="50"/>
                    </a:lnTo>
                    <a:lnTo>
                      <a:pt x="170" y="57"/>
                    </a:lnTo>
                    <a:lnTo>
                      <a:pt x="148" y="65"/>
                    </a:lnTo>
                    <a:lnTo>
                      <a:pt x="126" y="73"/>
                    </a:lnTo>
                    <a:lnTo>
                      <a:pt x="106" y="83"/>
                    </a:lnTo>
                    <a:lnTo>
                      <a:pt x="85" y="93"/>
                    </a:lnTo>
                    <a:lnTo>
                      <a:pt x="67" y="103"/>
                    </a:lnTo>
                    <a:lnTo>
                      <a:pt x="50" y="113"/>
                    </a:lnTo>
                    <a:lnTo>
                      <a:pt x="34" y="122"/>
                    </a:lnTo>
                    <a:lnTo>
                      <a:pt x="20" y="132"/>
                    </a:lnTo>
                    <a:lnTo>
                      <a:pt x="9" y="141"/>
                    </a:lnTo>
                    <a:lnTo>
                      <a:pt x="0" y="148"/>
                    </a:lnTo>
                    <a:lnTo>
                      <a:pt x="0" y="133"/>
                    </a:lnTo>
                    <a:lnTo>
                      <a:pt x="7" y="118"/>
                    </a:lnTo>
                    <a:lnTo>
                      <a:pt x="19" y="102"/>
                    </a:lnTo>
                    <a:lnTo>
                      <a:pt x="35" y="86"/>
                    </a:lnTo>
                    <a:lnTo>
                      <a:pt x="53" y="70"/>
                    </a:lnTo>
                    <a:lnTo>
                      <a:pt x="73" y="54"/>
                    </a:lnTo>
                    <a:lnTo>
                      <a:pt x="92" y="43"/>
                    </a:lnTo>
                    <a:lnTo>
                      <a:pt x="111" y="33"/>
                    </a:lnTo>
                    <a:lnTo>
                      <a:pt x="139" y="23"/>
                    </a:lnTo>
                    <a:lnTo>
                      <a:pt x="173" y="14"/>
                    </a:lnTo>
                    <a:lnTo>
                      <a:pt x="210" y="8"/>
                    </a:lnTo>
                    <a:lnTo>
                      <a:pt x="245" y="4"/>
                    </a:lnTo>
                    <a:lnTo>
                      <a:pt x="277" y="1"/>
                    </a:lnTo>
                    <a:lnTo>
                      <a:pt x="304" y="0"/>
                    </a:lnTo>
                    <a:lnTo>
                      <a:pt x="321" y="0"/>
                    </a:lnTo>
                    <a:lnTo>
                      <a:pt x="329" y="0"/>
                    </a:lnTo>
                    <a:lnTo>
                      <a:pt x="336" y="1"/>
                    </a:lnTo>
                    <a:lnTo>
                      <a:pt x="342" y="6"/>
                    </a:lnTo>
                    <a:lnTo>
                      <a:pt x="345" y="11"/>
                    </a:lnTo>
                    <a:lnTo>
                      <a:pt x="346" y="19"/>
                    </a:lnTo>
                    <a:lnTo>
                      <a:pt x="345" y="26"/>
                    </a:lnTo>
                    <a:lnTo>
                      <a:pt x="340" y="31"/>
                    </a:lnTo>
                    <a:lnTo>
                      <a:pt x="335" y="34"/>
                    </a:lnTo>
                    <a:lnTo>
                      <a:pt x="326"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1" name="Freeform 48"/>
              <p:cNvSpPr/>
              <p:nvPr/>
            </p:nvSpPr>
            <p:spPr>
              <a:xfrm>
                <a:off x="8272" y="4697"/>
                <a:ext cx="146" cy="320"/>
              </a:xfrm>
              <a:custGeom>
                <a:avLst/>
                <a:gdLst/>
                <a:ahLst/>
                <a:cxnLst>
                  <a:cxn ang="0">
                    <a:pos x="9" y="32"/>
                  </a:cxn>
                  <a:cxn ang="0">
                    <a:pos x="10" y="35"/>
                  </a:cxn>
                  <a:cxn ang="0">
                    <a:pos x="12" y="42"/>
                  </a:cxn>
                  <a:cxn ang="0">
                    <a:pos x="16" y="51"/>
                  </a:cxn>
                  <a:cxn ang="0">
                    <a:pos x="19" y="59"/>
                  </a:cxn>
                  <a:cxn ang="0">
                    <a:pos x="23" y="68"/>
                  </a:cxn>
                  <a:cxn ang="0">
                    <a:pos x="27" y="76"/>
                  </a:cxn>
                  <a:cxn ang="0">
                    <a:pos x="32" y="85"/>
                  </a:cxn>
                  <a:cxn ang="0">
                    <a:pos x="36" y="93"/>
                  </a:cxn>
                  <a:cxn ang="0">
                    <a:pos x="41" y="102"/>
                  </a:cxn>
                  <a:cxn ang="0">
                    <a:pos x="43" y="106"/>
                  </a:cxn>
                  <a:cxn ang="0">
                    <a:pos x="45" y="107"/>
                  </a:cxn>
                  <a:cxn ang="0">
                    <a:pos x="47" y="107"/>
                  </a:cxn>
                  <a:cxn ang="0">
                    <a:pos x="48" y="106"/>
                  </a:cxn>
                  <a:cxn ang="0">
                    <a:pos x="49" y="105"/>
                  </a:cxn>
                  <a:cxn ang="0">
                    <a:pos x="48" y="104"/>
                  </a:cxn>
                  <a:cxn ang="0">
                    <a:pos x="46" y="100"/>
                  </a:cxn>
                  <a:cxn ang="0">
                    <a:pos x="42" y="94"/>
                  </a:cxn>
                  <a:cxn ang="0">
                    <a:pos x="39" y="87"/>
                  </a:cxn>
                  <a:cxn ang="0">
                    <a:pos x="35" y="80"/>
                  </a:cxn>
                  <a:cxn ang="0">
                    <a:pos x="30" y="71"/>
                  </a:cxn>
                  <a:cxn ang="0">
                    <a:pos x="24" y="59"/>
                  </a:cxn>
                  <a:cxn ang="0">
                    <a:pos x="19" y="47"/>
                  </a:cxn>
                  <a:cxn ang="0">
                    <a:pos x="14" y="35"/>
                  </a:cxn>
                  <a:cxn ang="0">
                    <a:pos x="10" y="24"/>
                  </a:cxn>
                  <a:cxn ang="0">
                    <a:pos x="7" y="15"/>
                  </a:cxn>
                  <a:cxn ang="0">
                    <a:pos x="4" y="7"/>
                  </a:cxn>
                  <a:cxn ang="0">
                    <a:pos x="2" y="1"/>
                  </a:cxn>
                  <a:cxn ang="0">
                    <a:pos x="1" y="0"/>
                  </a:cxn>
                  <a:cxn ang="0">
                    <a:pos x="0" y="1"/>
                  </a:cxn>
                  <a:cxn ang="0">
                    <a:pos x="1" y="5"/>
                  </a:cxn>
                  <a:cxn ang="0">
                    <a:pos x="2" y="13"/>
                  </a:cxn>
                  <a:cxn ang="0">
                    <a:pos x="4" y="20"/>
                  </a:cxn>
                  <a:cxn ang="0">
                    <a:pos x="6" y="27"/>
                  </a:cxn>
                </a:cxnLst>
                <a:pathLst>
                  <a:path w="439" h="960">
                    <a:moveTo>
                      <a:pt x="72" y="270"/>
                    </a:moveTo>
                    <a:lnTo>
                      <a:pt x="82" y="289"/>
                    </a:lnTo>
                    <a:lnTo>
                      <a:pt x="85" y="302"/>
                    </a:lnTo>
                    <a:lnTo>
                      <a:pt x="87" y="316"/>
                    </a:lnTo>
                    <a:lnTo>
                      <a:pt x="93" y="336"/>
                    </a:lnTo>
                    <a:lnTo>
                      <a:pt x="107" y="376"/>
                    </a:lnTo>
                    <a:lnTo>
                      <a:pt x="124" y="417"/>
                    </a:lnTo>
                    <a:lnTo>
                      <a:pt x="141" y="455"/>
                    </a:lnTo>
                    <a:lnTo>
                      <a:pt x="157" y="494"/>
                    </a:lnTo>
                    <a:lnTo>
                      <a:pt x="175" y="533"/>
                    </a:lnTo>
                    <a:lnTo>
                      <a:pt x="193" y="572"/>
                    </a:lnTo>
                    <a:lnTo>
                      <a:pt x="210" y="611"/>
                    </a:lnTo>
                    <a:lnTo>
                      <a:pt x="229" y="649"/>
                    </a:lnTo>
                    <a:lnTo>
                      <a:pt x="248" y="687"/>
                    </a:lnTo>
                    <a:lnTo>
                      <a:pt x="267" y="726"/>
                    </a:lnTo>
                    <a:lnTo>
                      <a:pt x="287" y="763"/>
                    </a:lnTo>
                    <a:lnTo>
                      <a:pt x="307" y="802"/>
                    </a:lnTo>
                    <a:lnTo>
                      <a:pt x="326" y="839"/>
                    </a:lnTo>
                    <a:lnTo>
                      <a:pt x="347" y="878"/>
                    </a:lnTo>
                    <a:lnTo>
                      <a:pt x="367" y="915"/>
                    </a:lnTo>
                    <a:lnTo>
                      <a:pt x="388" y="954"/>
                    </a:lnTo>
                    <a:lnTo>
                      <a:pt x="391" y="957"/>
                    </a:lnTo>
                    <a:lnTo>
                      <a:pt x="397" y="958"/>
                    </a:lnTo>
                    <a:lnTo>
                      <a:pt x="404" y="960"/>
                    </a:lnTo>
                    <a:lnTo>
                      <a:pt x="413" y="960"/>
                    </a:lnTo>
                    <a:lnTo>
                      <a:pt x="420" y="960"/>
                    </a:lnTo>
                    <a:lnTo>
                      <a:pt x="427" y="958"/>
                    </a:lnTo>
                    <a:lnTo>
                      <a:pt x="433" y="957"/>
                    </a:lnTo>
                    <a:lnTo>
                      <a:pt x="436" y="954"/>
                    </a:lnTo>
                    <a:lnTo>
                      <a:pt x="439" y="948"/>
                    </a:lnTo>
                    <a:lnTo>
                      <a:pt x="439" y="943"/>
                    </a:lnTo>
                    <a:lnTo>
                      <a:pt x="436" y="937"/>
                    </a:lnTo>
                    <a:lnTo>
                      <a:pt x="432" y="932"/>
                    </a:lnTo>
                    <a:lnTo>
                      <a:pt x="414" y="902"/>
                    </a:lnTo>
                    <a:lnTo>
                      <a:pt x="398" y="874"/>
                    </a:lnTo>
                    <a:lnTo>
                      <a:pt x="380" y="843"/>
                    </a:lnTo>
                    <a:lnTo>
                      <a:pt x="364" y="813"/>
                    </a:lnTo>
                    <a:lnTo>
                      <a:pt x="348" y="784"/>
                    </a:lnTo>
                    <a:lnTo>
                      <a:pt x="332" y="754"/>
                    </a:lnTo>
                    <a:lnTo>
                      <a:pt x="314" y="724"/>
                    </a:lnTo>
                    <a:lnTo>
                      <a:pt x="298" y="694"/>
                    </a:lnTo>
                    <a:lnTo>
                      <a:pt x="269" y="638"/>
                    </a:lnTo>
                    <a:lnTo>
                      <a:pt x="242" y="585"/>
                    </a:lnTo>
                    <a:lnTo>
                      <a:pt x="216" y="532"/>
                    </a:lnTo>
                    <a:lnTo>
                      <a:pt x="193" y="477"/>
                    </a:lnTo>
                    <a:lnTo>
                      <a:pt x="169" y="424"/>
                    </a:lnTo>
                    <a:lnTo>
                      <a:pt x="149" y="369"/>
                    </a:lnTo>
                    <a:lnTo>
                      <a:pt x="128" y="312"/>
                    </a:lnTo>
                    <a:lnTo>
                      <a:pt x="107" y="253"/>
                    </a:lnTo>
                    <a:lnTo>
                      <a:pt x="91" y="220"/>
                    </a:lnTo>
                    <a:lnTo>
                      <a:pt x="75" y="181"/>
                    </a:lnTo>
                    <a:lnTo>
                      <a:pt x="60" y="139"/>
                    </a:lnTo>
                    <a:lnTo>
                      <a:pt x="47" y="99"/>
                    </a:lnTo>
                    <a:lnTo>
                      <a:pt x="35" y="62"/>
                    </a:lnTo>
                    <a:lnTo>
                      <a:pt x="25" y="31"/>
                    </a:lnTo>
                    <a:lnTo>
                      <a:pt x="15" y="10"/>
                    </a:lnTo>
                    <a:lnTo>
                      <a:pt x="8" y="0"/>
                    </a:lnTo>
                    <a:lnTo>
                      <a:pt x="5" y="1"/>
                    </a:lnTo>
                    <a:lnTo>
                      <a:pt x="2" y="4"/>
                    </a:lnTo>
                    <a:lnTo>
                      <a:pt x="0" y="10"/>
                    </a:lnTo>
                    <a:lnTo>
                      <a:pt x="0" y="14"/>
                    </a:lnTo>
                    <a:lnTo>
                      <a:pt x="6" y="47"/>
                    </a:lnTo>
                    <a:lnTo>
                      <a:pt x="11" y="82"/>
                    </a:lnTo>
                    <a:lnTo>
                      <a:pt x="16" y="115"/>
                    </a:lnTo>
                    <a:lnTo>
                      <a:pt x="24" y="146"/>
                    </a:lnTo>
                    <a:lnTo>
                      <a:pt x="33" y="179"/>
                    </a:lnTo>
                    <a:lnTo>
                      <a:pt x="43" y="211"/>
                    </a:lnTo>
                    <a:lnTo>
                      <a:pt x="56" y="241"/>
                    </a:lnTo>
                    <a:lnTo>
                      <a:pt x="72" y="27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2" name="Freeform 49"/>
              <p:cNvSpPr/>
              <p:nvPr/>
            </p:nvSpPr>
            <p:spPr>
              <a:xfrm>
                <a:off x="8416" y="4972"/>
                <a:ext cx="128" cy="66"/>
              </a:xfrm>
              <a:custGeom>
                <a:avLst/>
                <a:gdLst/>
                <a:ahLst/>
                <a:cxnLst>
                  <a:cxn ang="0">
                    <a:pos x="0" y="20"/>
                  </a:cxn>
                  <a:cxn ang="0">
                    <a:pos x="0" y="21"/>
                  </a:cxn>
                  <a:cxn ang="0">
                    <a:pos x="0" y="21"/>
                  </a:cxn>
                  <a:cxn ang="0">
                    <a:pos x="0" y="22"/>
                  </a:cxn>
                  <a:cxn ang="0">
                    <a:pos x="1" y="22"/>
                  </a:cxn>
                  <a:cxn ang="0">
                    <a:pos x="3" y="21"/>
                  </a:cxn>
                  <a:cxn ang="0">
                    <a:pos x="6" y="20"/>
                  </a:cxn>
                  <a:cxn ang="0">
                    <a:pos x="8" y="18"/>
                  </a:cxn>
                  <a:cxn ang="0">
                    <a:pos x="11" y="17"/>
                  </a:cxn>
                  <a:cxn ang="0">
                    <a:pos x="14" y="16"/>
                  </a:cxn>
                  <a:cxn ang="0">
                    <a:pos x="16" y="15"/>
                  </a:cxn>
                  <a:cxn ang="0">
                    <a:pos x="19" y="14"/>
                  </a:cxn>
                  <a:cxn ang="0">
                    <a:pos x="22" y="13"/>
                  </a:cxn>
                  <a:cxn ang="0">
                    <a:pos x="24" y="12"/>
                  </a:cxn>
                  <a:cxn ang="0">
                    <a:pos x="27" y="11"/>
                  </a:cxn>
                  <a:cxn ang="0">
                    <a:pos x="30" y="10"/>
                  </a:cxn>
                  <a:cxn ang="0">
                    <a:pos x="32" y="9"/>
                  </a:cxn>
                  <a:cxn ang="0">
                    <a:pos x="35" y="7"/>
                  </a:cxn>
                  <a:cxn ang="0">
                    <a:pos x="37" y="6"/>
                  </a:cxn>
                  <a:cxn ang="0">
                    <a:pos x="40" y="5"/>
                  </a:cxn>
                  <a:cxn ang="0">
                    <a:pos x="42" y="3"/>
                  </a:cxn>
                  <a:cxn ang="0">
                    <a:pos x="43" y="3"/>
                  </a:cxn>
                  <a:cxn ang="0">
                    <a:pos x="43" y="2"/>
                  </a:cxn>
                  <a:cxn ang="0">
                    <a:pos x="43" y="1"/>
                  </a:cxn>
                  <a:cxn ang="0">
                    <a:pos x="43" y="1"/>
                  </a:cxn>
                  <a:cxn ang="0">
                    <a:pos x="42" y="0"/>
                  </a:cxn>
                  <a:cxn ang="0">
                    <a:pos x="42" y="0"/>
                  </a:cxn>
                  <a:cxn ang="0">
                    <a:pos x="41" y="0"/>
                  </a:cxn>
                  <a:cxn ang="0">
                    <a:pos x="40" y="0"/>
                  </a:cxn>
                  <a:cxn ang="0">
                    <a:pos x="38" y="2"/>
                  </a:cxn>
                  <a:cxn ang="0">
                    <a:pos x="35" y="3"/>
                  </a:cxn>
                  <a:cxn ang="0">
                    <a:pos x="31" y="5"/>
                  </a:cxn>
                  <a:cxn ang="0">
                    <a:pos x="28" y="6"/>
                  </a:cxn>
                  <a:cxn ang="0">
                    <a:pos x="25" y="8"/>
                  </a:cxn>
                  <a:cxn ang="0">
                    <a:pos x="22" y="9"/>
                  </a:cxn>
                  <a:cxn ang="0">
                    <a:pos x="18" y="11"/>
                  </a:cxn>
                  <a:cxn ang="0">
                    <a:pos x="15" y="12"/>
                  </a:cxn>
                  <a:cxn ang="0">
                    <a:pos x="12" y="14"/>
                  </a:cxn>
                  <a:cxn ang="0">
                    <a:pos x="9" y="15"/>
                  </a:cxn>
                  <a:cxn ang="0">
                    <a:pos x="7" y="16"/>
                  </a:cxn>
                  <a:cxn ang="0">
                    <a:pos x="4" y="18"/>
                  </a:cxn>
                  <a:cxn ang="0">
                    <a:pos x="3" y="18"/>
                  </a:cxn>
                  <a:cxn ang="0">
                    <a:pos x="1" y="19"/>
                  </a:cxn>
                  <a:cxn ang="0">
                    <a:pos x="1" y="20"/>
                  </a:cxn>
                  <a:cxn ang="0">
                    <a:pos x="0" y="20"/>
                  </a:cxn>
                  <a:cxn ang="0">
                    <a:pos x="0" y="20"/>
                  </a:cxn>
                </a:cxnLst>
                <a:pathLst>
                  <a:path w="382" h="198">
                    <a:moveTo>
                      <a:pt x="2" y="182"/>
                    </a:moveTo>
                    <a:lnTo>
                      <a:pt x="0" y="187"/>
                    </a:lnTo>
                    <a:lnTo>
                      <a:pt x="0" y="191"/>
                    </a:lnTo>
                    <a:lnTo>
                      <a:pt x="2" y="195"/>
                    </a:lnTo>
                    <a:lnTo>
                      <a:pt x="6" y="198"/>
                    </a:lnTo>
                    <a:lnTo>
                      <a:pt x="30" y="187"/>
                    </a:lnTo>
                    <a:lnTo>
                      <a:pt x="52" y="176"/>
                    </a:lnTo>
                    <a:lnTo>
                      <a:pt x="75" y="166"/>
                    </a:lnTo>
                    <a:lnTo>
                      <a:pt x="99" y="156"/>
                    </a:lnTo>
                    <a:lnTo>
                      <a:pt x="124" y="146"/>
                    </a:lnTo>
                    <a:lnTo>
                      <a:pt x="147" y="138"/>
                    </a:lnTo>
                    <a:lnTo>
                      <a:pt x="171" y="128"/>
                    </a:lnTo>
                    <a:lnTo>
                      <a:pt x="194" y="119"/>
                    </a:lnTo>
                    <a:lnTo>
                      <a:pt x="218" y="109"/>
                    </a:lnTo>
                    <a:lnTo>
                      <a:pt x="241" y="99"/>
                    </a:lnTo>
                    <a:lnTo>
                      <a:pt x="265" y="89"/>
                    </a:lnTo>
                    <a:lnTo>
                      <a:pt x="287" y="77"/>
                    </a:lnTo>
                    <a:lnTo>
                      <a:pt x="310" y="66"/>
                    </a:lnTo>
                    <a:lnTo>
                      <a:pt x="332" y="54"/>
                    </a:lnTo>
                    <a:lnTo>
                      <a:pt x="354" y="41"/>
                    </a:lnTo>
                    <a:lnTo>
                      <a:pt x="376" y="27"/>
                    </a:lnTo>
                    <a:lnTo>
                      <a:pt x="381" y="23"/>
                    </a:lnTo>
                    <a:lnTo>
                      <a:pt x="382" y="17"/>
                    </a:lnTo>
                    <a:lnTo>
                      <a:pt x="382" y="11"/>
                    </a:lnTo>
                    <a:lnTo>
                      <a:pt x="379" y="7"/>
                    </a:lnTo>
                    <a:lnTo>
                      <a:pt x="375" y="3"/>
                    </a:lnTo>
                    <a:lnTo>
                      <a:pt x="369" y="0"/>
                    </a:lnTo>
                    <a:lnTo>
                      <a:pt x="363" y="0"/>
                    </a:lnTo>
                    <a:lnTo>
                      <a:pt x="359" y="3"/>
                    </a:lnTo>
                    <a:lnTo>
                      <a:pt x="335" y="16"/>
                    </a:lnTo>
                    <a:lnTo>
                      <a:pt x="309" y="28"/>
                    </a:lnTo>
                    <a:lnTo>
                      <a:pt x="281" y="41"/>
                    </a:lnTo>
                    <a:lnTo>
                      <a:pt x="253" y="56"/>
                    </a:lnTo>
                    <a:lnTo>
                      <a:pt x="223" y="70"/>
                    </a:lnTo>
                    <a:lnTo>
                      <a:pt x="193" y="84"/>
                    </a:lnTo>
                    <a:lnTo>
                      <a:pt x="163" y="97"/>
                    </a:lnTo>
                    <a:lnTo>
                      <a:pt x="135" y="112"/>
                    </a:lnTo>
                    <a:lnTo>
                      <a:pt x="107" y="125"/>
                    </a:lnTo>
                    <a:lnTo>
                      <a:pt x="83" y="136"/>
                    </a:lnTo>
                    <a:lnTo>
                      <a:pt x="61" y="148"/>
                    </a:lnTo>
                    <a:lnTo>
                      <a:pt x="40" y="158"/>
                    </a:lnTo>
                    <a:lnTo>
                      <a:pt x="24" y="166"/>
                    </a:lnTo>
                    <a:lnTo>
                      <a:pt x="12" y="174"/>
                    </a:lnTo>
                    <a:lnTo>
                      <a:pt x="5" y="179"/>
                    </a:lnTo>
                    <a:lnTo>
                      <a:pt x="2" y="18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3" name="Freeform 50"/>
              <p:cNvSpPr/>
              <p:nvPr/>
            </p:nvSpPr>
            <p:spPr>
              <a:xfrm>
                <a:off x="8304" y="4693"/>
                <a:ext cx="76" cy="80"/>
              </a:xfrm>
              <a:custGeom>
                <a:avLst/>
                <a:gdLst/>
                <a:ahLst/>
                <a:cxnLst>
                  <a:cxn ang="0">
                    <a:pos x="13" y="0"/>
                  </a:cxn>
                  <a:cxn ang="0">
                    <a:pos x="12" y="0"/>
                  </a:cxn>
                  <a:cxn ang="0">
                    <a:pos x="10" y="0"/>
                  </a:cxn>
                  <a:cxn ang="0">
                    <a:pos x="8" y="0"/>
                  </a:cxn>
                  <a:cxn ang="0">
                    <a:pos x="6" y="0"/>
                  </a:cxn>
                  <a:cxn ang="0">
                    <a:pos x="5" y="1"/>
                  </a:cxn>
                  <a:cxn ang="0">
                    <a:pos x="2" y="4"/>
                  </a:cxn>
                  <a:cxn ang="0">
                    <a:pos x="0" y="8"/>
                  </a:cxn>
                  <a:cxn ang="0">
                    <a:pos x="0" y="13"/>
                  </a:cxn>
                  <a:cxn ang="0">
                    <a:pos x="2" y="19"/>
                  </a:cxn>
                  <a:cxn ang="0">
                    <a:pos x="4" y="22"/>
                  </a:cxn>
                  <a:cxn ang="0">
                    <a:pos x="6" y="25"/>
                  </a:cxn>
                  <a:cxn ang="0">
                    <a:pos x="9" y="26"/>
                  </a:cxn>
                  <a:cxn ang="0">
                    <a:pos x="13" y="27"/>
                  </a:cxn>
                  <a:cxn ang="0">
                    <a:pos x="17" y="25"/>
                  </a:cxn>
                  <a:cxn ang="0">
                    <a:pos x="21" y="23"/>
                  </a:cxn>
                  <a:cxn ang="0">
                    <a:pos x="24" y="19"/>
                  </a:cxn>
                  <a:cxn ang="0">
                    <a:pos x="25" y="15"/>
                  </a:cxn>
                  <a:cxn ang="0">
                    <a:pos x="25" y="11"/>
                  </a:cxn>
                  <a:cxn ang="0">
                    <a:pos x="24" y="11"/>
                  </a:cxn>
                  <a:cxn ang="0">
                    <a:pos x="23" y="11"/>
                  </a:cxn>
                  <a:cxn ang="0">
                    <a:pos x="22" y="12"/>
                  </a:cxn>
                  <a:cxn ang="0">
                    <a:pos x="21" y="14"/>
                  </a:cxn>
                  <a:cxn ang="0">
                    <a:pos x="20" y="18"/>
                  </a:cxn>
                  <a:cxn ang="0">
                    <a:pos x="18" y="20"/>
                  </a:cxn>
                  <a:cxn ang="0">
                    <a:pos x="15" y="22"/>
                  </a:cxn>
                  <a:cxn ang="0">
                    <a:pos x="10" y="22"/>
                  </a:cxn>
                  <a:cxn ang="0">
                    <a:pos x="7" y="20"/>
                  </a:cxn>
                  <a:cxn ang="0">
                    <a:pos x="5" y="16"/>
                  </a:cxn>
                  <a:cxn ang="0">
                    <a:pos x="4" y="11"/>
                  </a:cxn>
                  <a:cxn ang="0">
                    <a:pos x="4" y="8"/>
                  </a:cxn>
                  <a:cxn ang="0">
                    <a:pos x="5" y="6"/>
                  </a:cxn>
                  <a:cxn ang="0">
                    <a:pos x="6" y="4"/>
                  </a:cxn>
                  <a:cxn ang="0">
                    <a:pos x="9" y="2"/>
                  </a:cxn>
                  <a:cxn ang="0">
                    <a:pos x="11" y="2"/>
                  </a:cxn>
                  <a:cxn ang="0">
                    <a:pos x="13" y="2"/>
                  </a:cxn>
                  <a:cxn ang="0">
                    <a:pos x="15" y="2"/>
                  </a:cxn>
                  <a:cxn ang="0">
                    <a:pos x="15" y="1"/>
                  </a:cxn>
                </a:cxnLst>
                <a:pathLst>
                  <a:path w="229" h="240">
                    <a:moveTo>
                      <a:pt x="126" y="4"/>
                    </a:moveTo>
                    <a:lnTo>
                      <a:pt x="119" y="3"/>
                    </a:lnTo>
                    <a:lnTo>
                      <a:pt x="111" y="3"/>
                    </a:lnTo>
                    <a:lnTo>
                      <a:pt x="105" y="1"/>
                    </a:lnTo>
                    <a:lnTo>
                      <a:pt x="102" y="1"/>
                    </a:lnTo>
                    <a:lnTo>
                      <a:pt x="94" y="0"/>
                    </a:lnTo>
                    <a:lnTo>
                      <a:pt x="83" y="0"/>
                    </a:lnTo>
                    <a:lnTo>
                      <a:pt x="75" y="1"/>
                    </a:lnTo>
                    <a:lnTo>
                      <a:pt x="66" y="3"/>
                    </a:lnTo>
                    <a:lnTo>
                      <a:pt x="57" y="4"/>
                    </a:lnTo>
                    <a:lnTo>
                      <a:pt x="48" y="9"/>
                    </a:lnTo>
                    <a:lnTo>
                      <a:pt x="41" y="13"/>
                    </a:lnTo>
                    <a:lnTo>
                      <a:pt x="33" y="17"/>
                    </a:lnTo>
                    <a:lnTo>
                      <a:pt x="17" y="34"/>
                    </a:lnTo>
                    <a:lnTo>
                      <a:pt x="6" y="55"/>
                    </a:lnTo>
                    <a:lnTo>
                      <a:pt x="1" y="76"/>
                    </a:lnTo>
                    <a:lnTo>
                      <a:pt x="0" y="98"/>
                    </a:lnTo>
                    <a:lnTo>
                      <a:pt x="3" y="121"/>
                    </a:lnTo>
                    <a:lnTo>
                      <a:pt x="8" y="144"/>
                    </a:lnTo>
                    <a:lnTo>
                      <a:pt x="16" y="167"/>
                    </a:lnTo>
                    <a:lnTo>
                      <a:pt x="26" y="187"/>
                    </a:lnTo>
                    <a:lnTo>
                      <a:pt x="35" y="200"/>
                    </a:lnTo>
                    <a:lnTo>
                      <a:pt x="45" y="213"/>
                    </a:lnTo>
                    <a:lnTo>
                      <a:pt x="57" y="223"/>
                    </a:lnTo>
                    <a:lnTo>
                      <a:pt x="70" y="230"/>
                    </a:lnTo>
                    <a:lnTo>
                      <a:pt x="85" y="236"/>
                    </a:lnTo>
                    <a:lnTo>
                      <a:pt x="101" y="240"/>
                    </a:lnTo>
                    <a:lnTo>
                      <a:pt x="116" y="240"/>
                    </a:lnTo>
                    <a:lnTo>
                      <a:pt x="132" y="237"/>
                    </a:lnTo>
                    <a:lnTo>
                      <a:pt x="154" y="228"/>
                    </a:lnTo>
                    <a:lnTo>
                      <a:pt x="174" y="218"/>
                    </a:lnTo>
                    <a:lnTo>
                      <a:pt x="192" y="204"/>
                    </a:lnTo>
                    <a:lnTo>
                      <a:pt x="208" y="188"/>
                    </a:lnTo>
                    <a:lnTo>
                      <a:pt x="218" y="171"/>
                    </a:lnTo>
                    <a:lnTo>
                      <a:pt x="226" y="151"/>
                    </a:lnTo>
                    <a:lnTo>
                      <a:pt x="229" y="131"/>
                    </a:lnTo>
                    <a:lnTo>
                      <a:pt x="226" y="109"/>
                    </a:lnTo>
                    <a:lnTo>
                      <a:pt x="224" y="103"/>
                    </a:lnTo>
                    <a:lnTo>
                      <a:pt x="221" y="98"/>
                    </a:lnTo>
                    <a:lnTo>
                      <a:pt x="215" y="95"/>
                    </a:lnTo>
                    <a:lnTo>
                      <a:pt x="210" y="93"/>
                    </a:lnTo>
                    <a:lnTo>
                      <a:pt x="204" y="95"/>
                    </a:lnTo>
                    <a:lnTo>
                      <a:pt x="198" y="99"/>
                    </a:lnTo>
                    <a:lnTo>
                      <a:pt x="195" y="105"/>
                    </a:lnTo>
                    <a:lnTo>
                      <a:pt x="195" y="111"/>
                    </a:lnTo>
                    <a:lnTo>
                      <a:pt x="193" y="126"/>
                    </a:lnTo>
                    <a:lnTo>
                      <a:pt x="189" y="142"/>
                    </a:lnTo>
                    <a:lnTo>
                      <a:pt x="183" y="158"/>
                    </a:lnTo>
                    <a:lnTo>
                      <a:pt x="174" y="171"/>
                    </a:lnTo>
                    <a:lnTo>
                      <a:pt x="164" y="181"/>
                    </a:lnTo>
                    <a:lnTo>
                      <a:pt x="149" y="190"/>
                    </a:lnTo>
                    <a:lnTo>
                      <a:pt x="133" y="195"/>
                    </a:lnTo>
                    <a:lnTo>
                      <a:pt x="113" y="198"/>
                    </a:lnTo>
                    <a:lnTo>
                      <a:pt x="92" y="197"/>
                    </a:lnTo>
                    <a:lnTo>
                      <a:pt x="76" y="188"/>
                    </a:lnTo>
                    <a:lnTo>
                      <a:pt x="63" y="177"/>
                    </a:lnTo>
                    <a:lnTo>
                      <a:pt x="54" y="161"/>
                    </a:lnTo>
                    <a:lnTo>
                      <a:pt x="47" y="142"/>
                    </a:lnTo>
                    <a:lnTo>
                      <a:pt x="41" y="124"/>
                    </a:lnTo>
                    <a:lnTo>
                      <a:pt x="36" y="103"/>
                    </a:lnTo>
                    <a:lnTo>
                      <a:pt x="35" y="85"/>
                    </a:lnTo>
                    <a:lnTo>
                      <a:pt x="35" y="73"/>
                    </a:lnTo>
                    <a:lnTo>
                      <a:pt x="36" y="62"/>
                    </a:lnTo>
                    <a:lnTo>
                      <a:pt x="41" y="50"/>
                    </a:lnTo>
                    <a:lnTo>
                      <a:pt x="48" y="40"/>
                    </a:lnTo>
                    <a:lnTo>
                      <a:pt x="55" y="33"/>
                    </a:lnTo>
                    <a:lnTo>
                      <a:pt x="66" y="26"/>
                    </a:lnTo>
                    <a:lnTo>
                      <a:pt x="77" y="21"/>
                    </a:lnTo>
                    <a:lnTo>
                      <a:pt x="92" y="19"/>
                    </a:lnTo>
                    <a:lnTo>
                      <a:pt x="97" y="19"/>
                    </a:lnTo>
                    <a:lnTo>
                      <a:pt x="105" y="19"/>
                    </a:lnTo>
                    <a:lnTo>
                      <a:pt x="120" y="19"/>
                    </a:lnTo>
                    <a:lnTo>
                      <a:pt x="135" y="21"/>
                    </a:lnTo>
                    <a:lnTo>
                      <a:pt x="139" y="20"/>
                    </a:lnTo>
                    <a:lnTo>
                      <a:pt x="139" y="14"/>
                    </a:lnTo>
                    <a:lnTo>
                      <a:pt x="133" y="9"/>
                    </a:lnTo>
                    <a:lnTo>
                      <a:pt x="126"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4" name="Freeform 51"/>
              <p:cNvSpPr/>
              <p:nvPr/>
            </p:nvSpPr>
            <p:spPr>
              <a:xfrm>
                <a:off x="8401" y="4895"/>
                <a:ext cx="93" cy="90"/>
              </a:xfrm>
              <a:custGeom>
                <a:avLst/>
                <a:gdLst/>
                <a:ahLst/>
                <a:cxnLst>
                  <a:cxn ang="0">
                    <a:pos x="7" y="1"/>
                  </a:cxn>
                  <a:cxn ang="0">
                    <a:pos x="4" y="3"/>
                  </a:cxn>
                  <a:cxn ang="0">
                    <a:pos x="2" y="6"/>
                  </a:cxn>
                  <a:cxn ang="0">
                    <a:pos x="0" y="9"/>
                  </a:cxn>
                  <a:cxn ang="0">
                    <a:pos x="0" y="13"/>
                  </a:cxn>
                  <a:cxn ang="0">
                    <a:pos x="1" y="16"/>
                  </a:cxn>
                  <a:cxn ang="0">
                    <a:pos x="2" y="20"/>
                  </a:cxn>
                  <a:cxn ang="0">
                    <a:pos x="4" y="23"/>
                  </a:cxn>
                  <a:cxn ang="0">
                    <a:pos x="7" y="26"/>
                  </a:cxn>
                  <a:cxn ang="0">
                    <a:pos x="11" y="29"/>
                  </a:cxn>
                  <a:cxn ang="0">
                    <a:pos x="16" y="30"/>
                  </a:cxn>
                  <a:cxn ang="0">
                    <a:pos x="20" y="29"/>
                  </a:cxn>
                  <a:cxn ang="0">
                    <a:pos x="24" y="27"/>
                  </a:cxn>
                  <a:cxn ang="0">
                    <a:pos x="27" y="24"/>
                  </a:cxn>
                  <a:cxn ang="0">
                    <a:pos x="29" y="21"/>
                  </a:cxn>
                  <a:cxn ang="0">
                    <a:pos x="30" y="18"/>
                  </a:cxn>
                  <a:cxn ang="0">
                    <a:pos x="31" y="15"/>
                  </a:cxn>
                  <a:cxn ang="0">
                    <a:pos x="30" y="13"/>
                  </a:cxn>
                  <a:cxn ang="0">
                    <a:pos x="28" y="13"/>
                  </a:cxn>
                  <a:cxn ang="0">
                    <a:pos x="27" y="14"/>
                  </a:cxn>
                  <a:cxn ang="0">
                    <a:pos x="26" y="15"/>
                  </a:cxn>
                  <a:cxn ang="0">
                    <a:pos x="26" y="17"/>
                  </a:cxn>
                  <a:cxn ang="0">
                    <a:pos x="24" y="20"/>
                  </a:cxn>
                  <a:cxn ang="0">
                    <a:pos x="22" y="23"/>
                  </a:cxn>
                  <a:cxn ang="0">
                    <a:pos x="17" y="24"/>
                  </a:cxn>
                  <a:cxn ang="0">
                    <a:pos x="11" y="22"/>
                  </a:cxn>
                  <a:cxn ang="0">
                    <a:pos x="7" y="18"/>
                  </a:cxn>
                  <a:cxn ang="0">
                    <a:pos x="4" y="13"/>
                  </a:cxn>
                  <a:cxn ang="0">
                    <a:pos x="5" y="8"/>
                  </a:cxn>
                  <a:cxn ang="0">
                    <a:pos x="7" y="6"/>
                  </a:cxn>
                  <a:cxn ang="0">
                    <a:pos x="9" y="3"/>
                  </a:cxn>
                  <a:cxn ang="0">
                    <a:pos x="11" y="2"/>
                  </a:cxn>
                  <a:cxn ang="0">
                    <a:pos x="12" y="1"/>
                  </a:cxn>
                  <a:cxn ang="0">
                    <a:pos x="10" y="0"/>
                  </a:cxn>
                </a:cxnLst>
                <a:pathLst>
                  <a:path w="281" h="270">
                    <a:moveTo>
                      <a:pt x="75" y="5"/>
                    </a:moveTo>
                    <a:lnTo>
                      <a:pt x="61" y="10"/>
                    </a:lnTo>
                    <a:lnTo>
                      <a:pt x="47" y="19"/>
                    </a:lnTo>
                    <a:lnTo>
                      <a:pt x="34" y="28"/>
                    </a:lnTo>
                    <a:lnTo>
                      <a:pt x="24" y="39"/>
                    </a:lnTo>
                    <a:lnTo>
                      <a:pt x="15" y="52"/>
                    </a:lnTo>
                    <a:lnTo>
                      <a:pt x="8" y="65"/>
                    </a:lnTo>
                    <a:lnTo>
                      <a:pt x="3" y="81"/>
                    </a:lnTo>
                    <a:lnTo>
                      <a:pt x="0" y="97"/>
                    </a:lnTo>
                    <a:lnTo>
                      <a:pt x="0" y="114"/>
                    </a:lnTo>
                    <a:lnTo>
                      <a:pt x="2" y="130"/>
                    </a:lnTo>
                    <a:lnTo>
                      <a:pt x="6" y="145"/>
                    </a:lnTo>
                    <a:lnTo>
                      <a:pt x="12" y="161"/>
                    </a:lnTo>
                    <a:lnTo>
                      <a:pt x="18" y="176"/>
                    </a:lnTo>
                    <a:lnTo>
                      <a:pt x="27" y="191"/>
                    </a:lnTo>
                    <a:lnTo>
                      <a:pt x="37" y="204"/>
                    </a:lnTo>
                    <a:lnTo>
                      <a:pt x="49" y="217"/>
                    </a:lnTo>
                    <a:lnTo>
                      <a:pt x="65" y="232"/>
                    </a:lnTo>
                    <a:lnTo>
                      <a:pt x="83" y="245"/>
                    </a:lnTo>
                    <a:lnTo>
                      <a:pt x="102" y="258"/>
                    </a:lnTo>
                    <a:lnTo>
                      <a:pt x="122" y="266"/>
                    </a:lnTo>
                    <a:lnTo>
                      <a:pt x="143" y="270"/>
                    </a:lnTo>
                    <a:lnTo>
                      <a:pt x="165" y="270"/>
                    </a:lnTo>
                    <a:lnTo>
                      <a:pt x="185" y="265"/>
                    </a:lnTo>
                    <a:lnTo>
                      <a:pt x="206" y="252"/>
                    </a:lnTo>
                    <a:lnTo>
                      <a:pt x="219" y="240"/>
                    </a:lnTo>
                    <a:lnTo>
                      <a:pt x="232" y="229"/>
                    </a:lnTo>
                    <a:lnTo>
                      <a:pt x="244" y="216"/>
                    </a:lnTo>
                    <a:lnTo>
                      <a:pt x="254" y="203"/>
                    </a:lnTo>
                    <a:lnTo>
                      <a:pt x="263" y="189"/>
                    </a:lnTo>
                    <a:lnTo>
                      <a:pt x="270" y="174"/>
                    </a:lnTo>
                    <a:lnTo>
                      <a:pt x="276" y="158"/>
                    </a:lnTo>
                    <a:lnTo>
                      <a:pt x="279" y="141"/>
                    </a:lnTo>
                    <a:lnTo>
                      <a:pt x="281" y="134"/>
                    </a:lnTo>
                    <a:lnTo>
                      <a:pt x="279" y="127"/>
                    </a:lnTo>
                    <a:lnTo>
                      <a:pt x="275" y="121"/>
                    </a:lnTo>
                    <a:lnTo>
                      <a:pt x="268" y="117"/>
                    </a:lnTo>
                    <a:lnTo>
                      <a:pt x="259" y="117"/>
                    </a:lnTo>
                    <a:lnTo>
                      <a:pt x="251" y="118"/>
                    </a:lnTo>
                    <a:lnTo>
                      <a:pt x="245" y="122"/>
                    </a:lnTo>
                    <a:lnTo>
                      <a:pt x="243" y="130"/>
                    </a:lnTo>
                    <a:lnTo>
                      <a:pt x="243" y="133"/>
                    </a:lnTo>
                    <a:lnTo>
                      <a:pt x="240" y="140"/>
                    </a:lnTo>
                    <a:lnTo>
                      <a:pt x="235" y="151"/>
                    </a:lnTo>
                    <a:lnTo>
                      <a:pt x="229" y="164"/>
                    </a:lnTo>
                    <a:lnTo>
                      <a:pt x="222" y="179"/>
                    </a:lnTo>
                    <a:lnTo>
                      <a:pt x="210" y="191"/>
                    </a:lnTo>
                    <a:lnTo>
                      <a:pt x="199" y="203"/>
                    </a:lnTo>
                    <a:lnTo>
                      <a:pt x="182" y="210"/>
                    </a:lnTo>
                    <a:lnTo>
                      <a:pt x="154" y="212"/>
                    </a:lnTo>
                    <a:lnTo>
                      <a:pt x="127" y="207"/>
                    </a:lnTo>
                    <a:lnTo>
                      <a:pt x="100" y="197"/>
                    </a:lnTo>
                    <a:lnTo>
                      <a:pt x="78" y="181"/>
                    </a:lnTo>
                    <a:lnTo>
                      <a:pt x="59" y="163"/>
                    </a:lnTo>
                    <a:lnTo>
                      <a:pt x="46" y="140"/>
                    </a:lnTo>
                    <a:lnTo>
                      <a:pt x="40" y="114"/>
                    </a:lnTo>
                    <a:lnTo>
                      <a:pt x="40" y="87"/>
                    </a:lnTo>
                    <a:lnTo>
                      <a:pt x="44" y="74"/>
                    </a:lnTo>
                    <a:lnTo>
                      <a:pt x="50" y="62"/>
                    </a:lnTo>
                    <a:lnTo>
                      <a:pt x="59" y="51"/>
                    </a:lnTo>
                    <a:lnTo>
                      <a:pt x="69" y="41"/>
                    </a:lnTo>
                    <a:lnTo>
                      <a:pt x="80" y="31"/>
                    </a:lnTo>
                    <a:lnTo>
                      <a:pt x="91" y="23"/>
                    </a:lnTo>
                    <a:lnTo>
                      <a:pt x="102" y="19"/>
                    </a:lnTo>
                    <a:lnTo>
                      <a:pt x="112" y="16"/>
                    </a:lnTo>
                    <a:lnTo>
                      <a:pt x="110" y="5"/>
                    </a:lnTo>
                    <a:lnTo>
                      <a:pt x="102" y="0"/>
                    </a:lnTo>
                    <a:lnTo>
                      <a:pt x="88" y="2"/>
                    </a:lnTo>
                    <a:lnTo>
                      <a:pt x="75" y="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5" name="Freeform 52"/>
              <p:cNvSpPr/>
              <p:nvPr/>
            </p:nvSpPr>
            <p:spPr>
              <a:xfrm>
                <a:off x="8431" y="4921"/>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5" h="13">
                    <a:moveTo>
                      <a:pt x="0" y="6"/>
                    </a:moveTo>
                    <a:lnTo>
                      <a:pt x="2" y="9"/>
                    </a:lnTo>
                    <a:lnTo>
                      <a:pt x="3" y="11"/>
                    </a:lnTo>
                    <a:lnTo>
                      <a:pt x="5" y="13"/>
                    </a:lnTo>
                    <a:lnTo>
                      <a:pt x="8" y="13"/>
                    </a:lnTo>
                    <a:lnTo>
                      <a:pt x="11" y="13"/>
                    </a:lnTo>
                    <a:lnTo>
                      <a:pt x="14" y="11"/>
                    </a:lnTo>
                    <a:lnTo>
                      <a:pt x="15" y="9"/>
                    </a:lnTo>
                    <a:lnTo>
                      <a:pt x="15" y="6"/>
                    </a:lnTo>
                    <a:lnTo>
                      <a:pt x="15" y="4"/>
                    </a:lnTo>
                    <a:lnTo>
                      <a:pt x="14" y="1"/>
                    </a:lnTo>
                    <a:lnTo>
                      <a:pt x="11" y="0"/>
                    </a:lnTo>
                    <a:lnTo>
                      <a:pt x="8" y="0"/>
                    </a:lnTo>
                    <a:lnTo>
                      <a:pt x="5" y="0"/>
                    </a:lnTo>
                    <a:lnTo>
                      <a:pt x="3" y="1"/>
                    </a:lnTo>
                    <a:lnTo>
                      <a:pt x="2"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6" name="Freeform 53"/>
              <p:cNvSpPr/>
              <p:nvPr/>
            </p:nvSpPr>
            <p:spPr>
              <a:xfrm>
                <a:off x="8447" y="4911"/>
                <a:ext cx="6"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7" h="17">
                    <a:moveTo>
                      <a:pt x="0" y="9"/>
                    </a:moveTo>
                    <a:lnTo>
                      <a:pt x="1" y="13"/>
                    </a:lnTo>
                    <a:lnTo>
                      <a:pt x="3" y="15"/>
                    </a:lnTo>
                    <a:lnTo>
                      <a:pt x="6" y="17"/>
                    </a:lnTo>
                    <a:lnTo>
                      <a:pt x="9" y="17"/>
                    </a:lnTo>
                    <a:lnTo>
                      <a:pt x="13" y="17"/>
                    </a:lnTo>
                    <a:lnTo>
                      <a:pt x="16" y="15"/>
                    </a:lnTo>
                    <a:lnTo>
                      <a:pt x="17" y="13"/>
                    </a:lnTo>
                    <a:lnTo>
                      <a:pt x="17" y="9"/>
                    </a:lnTo>
                    <a:lnTo>
                      <a:pt x="17" y="6"/>
                    </a:lnTo>
                    <a:lnTo>
                      <a:pt x="16" y="3"/>
                    </a:lnTo>
                    <a:lnTo>
                      <a:pt x="13" y="2"/>
                    </a:lnTo>
                    <a:lnTo>
                      <a:pt x="9" y="0"/>
                    </a:lnTo>
                    <a:lnTo>
                      <a:pt x="6" y="2"/>
                    </a:lnTo>
                    <a:lnTo>
                      <a:pt x="3" y="3"/>
                    </a:lnTo>
                    <a:lnTo>
                      <a:pt x="1" y="6"/>
                    </a:lnTo>
                    <a:lnTo>
                      <a:pt x="0" y="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7" name="Freeform 54"/>
              <p:cNvSpPr/>
              <p:nvPr/>
            </p:nvSpPr>
            <p:spPr>
              <a:xfrm>
                <a:off x="8468" y="4904"/>
                <a:ext cx="3"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9" h="9">
                    <a:moveTo>
                      <a:pt x="0" y="4"/>
                    </a:moveTo>
                    <a:lnTo>
                      <a:pt x="0" y="6"/>
                    </a:lnTo>
                    <a:lnTo>
                      <a:pt x="1" y="7"/>
                    </a:lnTo>
                    <a:lnTo>
                      <a:pt x="3" y="9"/>
                    </a:lnTo>
                    <a:lnTo>
                      <a:pt x="4" y="9"/>
                    </a:lnTo>
                    <a:lnTo>
                      <a:pt x="6" y="9"/>
                    </a:lnTo>
                    <a:lnTo>
                      <a:pt x="7" y="7"/>
                    </a:lnTo>
                    <a:lnTo>
                      <a:pt x="9" y="6"/>
                    </a:lnTo>
                    <a:lnTo>
                      <a:pt x="9" y="4"/>
                    </a:lnTo>
                    <a:lnTo>
                      <a:pt x="9" y="3"/>
                    </a:lnTo>
                    <a:lnTo>
                      <a:pt x="7" y="2"/>
                    </a:lnTo>
                    <a:lnTo>
                      <a:pt x="6" y="0"/>
                    </a:lnTo>
                    <a:lnTo>
                      <a:pt x="4" y="0"/>
                    </a:lnTo>
                    <a:lnTo>
                      <a:pt x="3" y="0"/>
                    </a:lnTo>
                    <a:lnTo>
                      <a:pt x="1" y="2"/>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8" name="Freeform 55"/>
              <p:cNvSpPr/>
              <p:nvPr/>
            </p:nvSpPr>
            <p:spPr>
              <a:xfrm>
                <a:off x="8459" y="4927"/>
                <a:ext cx="2" cy="3"/>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1"/>
                  </a:cxn>
                  <a:cxn ang="0">
                    <a:pos x="0" y="1"/>
                  </a:cxn>
                </a:cxnLst>
                <a:pathLst>
                  <a:path w="7" h="8">
                    <a:moveTo>
                      <a:pt x="0" y="4"/>
                    </a:moveTo>
                    <a:lnTo>
                      <a:pt x="0" y="5"/>
                    </a:lnTo>
                    <a:lnTo>
                      <a:pt x="1" y="7"/>
                    </a:lnTo>
                    <a:lnTo>
                      <a:pt x="3" y="8"/>
                    </a:lnTo>
                    <a:lnTo>
                      <a:pt x="4" y="8"/>
                    </a:lnTo>
                    <a:lnTo>
                      <a:pt x="6" y="8"/>
                    </a:lnTo>
                    <a:lnTo>
                      <a:pt x="6" y="7"/>
                    </a:lnTo>
                    <a:lnTo>
                      <a:pt x="7" y="5"/>
                    </a:lnTo>
                    <a:lnTo>
                      <a:pt x="7" y="4"/>
                    </a:lnTo>
                    <a:lnTo>
                      <a:pt x="7" y="2"/>
                    </a:lnTo>
                    <a:lnTo>
                      <a:pt x="6" y="1"/>
                    </a:lnTo>
                    <a:lnTo>
                      <a:pt x="6" y="0"/>
                    </a:lnTo>
                    <a:lnTo>
                      <a:pt x="4" y="0"/>
                    </a:lnTo>
                    <a:lnTo>
                      <a:pt x="3" y="0"/>
                    </a:lnTo>
                    <a:lnTo>
                      <a:pt x="1" y="1"/>
                    </a:lnTo>
                    <a:lnTo>
                      <a:pt x="0" y="2"/>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09" name="Freeform 56"/>
              <p:cNvSpPr/>
              <p:nvPr/>
            </p:nvSpPr>
            <p:spPr>
              <a:xfrm>
                <a:off x="8443" y="4936"/>
                <a:ext cx="2" cy="3"/>
              </a:xfrm>
              <a:custGeom>
                <a:avLst/>
                <a:gdLst/>
                <a:ahLst/>
                <a:cxnLst>
                  <a:cxn ang="0">
                    <a:pos x="0" y="0"/>
                  </a:cxn>
                  <a:cxn ang="0">
                    <a:pos x="0" y="1"/>
                  </a:cxn>
                  <a:cxn ang="0">
                    <a:pos x="0" y="1"/>
                  </a:cxn>
                  <a:cxn ang="0">
                    <a:pos x="0" y="1"/>
                  </a:cxn>
                  <a:cxn ang="0">
                    <a:pos x="0" y="1"/>
                  </a:cxn>
                  <a:cxn ang="0">
                    <a:pos x="0" y="1"/>
                  </a:cxn>
                  <a:cxn ang="0">
                    <a:pos x="0"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Lst>
                <a:pathLst>
                  <a:path w="7" h="9">
                    <a:moveTo>
                      <a:pt x="0" y="4"/>
                    </a:moveTo>
                    <a:lnTo>
                      <a:pt x="0" y="6"/>
                    </a:lnTo>
                    <a:lnTo>
                      <a:pt x="1" y="7"/>
                    </a:lnTo>
                    <a:lnTo>
                      <a:pt x="3" y="9"/>
                    </a:lnTo>
                    <a:lnTo>
                      <a:pt x="4" y="9"/>
                    </a:lnTo>
                    <a:lnTo>
                      <a:pt x="5" y="9"/>
                    </a:lnTo>
                    <a:lnTo>
                      <a:pt x="5" y="7"/>
                    </a:lnTo>
                    <a:lnTo>
                      <a:pt x="7" y="6"/>
                    </a:lnTo>
                    <a:lnTo>
                      <a:pt x="7" y="4"/>
                    </a:lnTo>
                    <a:lnTo>
                      <a:pt x="7" y="3"/>
                    </a:lnTo>
                    <a:lnTo>
                      <a:pt x="5" y="1"/>
                    </a:lnTo>
                    <a:lnTo>
                      <a:pt x="5" y="0"/>
                    </a:lnTo>
                    <a:lnTo>
                      <a:pt x="4" y="0"/>
                    </a:lnTo>
                    <a:lnTo>
                      <a:pt x="3" y="0"/>
                    </a:lnTo>
                    <a:lnTo>
                      <a:pt x="1" y="1"/>
                    </a:lnTo>
                    <a:lnTo>
                      <a:pt x="0" y="3"/>
                    </a:lnTo>
                    <a:lnTo>
                      <a:pt x="0" y="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0" name="Freeform 57"/>
              <p:cNvSpPr/>
              <p:nvPr/>
            </p:nvSpPr>
            <p:spPr>
              <a:xfrm>
                <a:off x="8474" y="4919"/>
                <a:ext cx="7" cy="6"/>
              </a:xfrm>
              <a:custGeom>
                <a:avLst/>
                <a:gdLst/>
                <a:ahLst/>
                <a:cxnLst>
                  <a:cxn ang="0">
                    <a:pos x="0" y="1"/>
                  </a:cxn>
                  <a:cxn ang="0">
                    <a:pos x="0" y="2"/>
                  </a:cxn>
                  <a:cxn ang="0">
                    <a:pos x="0" y="2"/>
                  </a:cxn>
                  <a:cxn ang="0">
                    <a:pos x="1" y="2"/>
                  </a:cxn>
                  <a:cxn ang="0">
                    <a:pos x="1" y="2"/>
                  </a:cxn>
                  <a:cxn ang="0">
                    <a:pos x="2" y="2"/>
                  </a:cxn>
                  <a:cxn ang="0">
                    <a:pos x="2" y="2"/>
                  </a:cxn>
                  <a:cxn ang="0">
                    <a:pos x="2" y="2"/>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20" h="20">
                    <a:moveTo>
                      <a:pt x="0" y="10"/>
                    </a:moveTo>
                    <a:lnTo>
                      <a:pt x="0" y="15"/>
                    </a:lnTo>
                    <a:lnTo>
                      <a:pt x="2" y="17"/>
                    </a:lnTo>
                    <a:lnTo>
                      <a:pt x="5" y="20"/>
                    </a:lnTo>
                    <a:lnTo>
                      <a:pt x="10" y="20"/>
                    </a:lnTo>
                    <a:lnTo>
                      <a:pt x="14" y="20"/>
                    </a:lnTo>
                    <a:lnTo>
                      <a:pt x="17" y="17"/>
                    </a:lnTo>
                    <a:lnTo>
                      <a:pt x="20" y="15"/>
                    </a:lnTo>
                    <a:lnTo>
                      <a:pt x="20" y="10"/>
                    </a:lnTo>
                    <a:lnTo>
                      <a:pt x="20" y="6"/>
                    </a:lnTo>
                    <a:lnTo>
                      <a:pt x="17" y="3"/>
                    </a:lnTo>
                    <a:lnTo>
                      <a:pt x="14" y="0"/>
                    </a:lnTo>
                    <a:lnTo>
                      <a:pt x="10" y="0"/>
                    </a:lnTo>
                    <a:lnTo>
                      <a:pt x="5" y="0"/>
                    </a:lnTo>
                    <a:lnTo>
                      <a:pt x="2" y="3"/>
                    </a:lnTo>
                    <a:lnTo>
                      <a:pt x="0" y="6"/>
                    </a:lnTo>
                    <a:lnTo>
                      <a:pt x="0" y="10"/>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1" name="Freeform 58"/>
              <p:cNvSpPr/>
              <p:nvPr/>
            </p:nvSpPr>
            <p:spPr>
              <a:xfrm>
                <a:off x="8332" y="4713"/>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1"/>
                  </a:cxn>
                  <a:cxn ang="0">
                    <a:pos x="0" y="1"/>
                  </a:cxn>
                  <a:cxn ang="0">
                    <a:pos x="0" y="1"/>
                  </a:cxn>
                </a:cxnLst>
                <a:pathLst>
                  <a:path w="12" h="13">
                    <a:moveTo>
                      <a:pt x="0" y="7"/>
                    </a:moveTo>
                    <a:lnTo>
                      <a:pt x="0" y="9"/>
                    </a:lnTo>
                    <a:lnTo>
                      <a:pt x="2" y="12"/>
                    </a:lnTo>
                    <a:lnTo>
                      <a:pt x="3" y="13"/>
                    </a:lnTo>
                    <a:lnTo>
                      <a:pt x="6" y="13"/>
                    </a:lnTo>
                    <a:lnTo>
                      <a:pt x="9" y="13"/>
                    </a:lnTo>
                    <a:lnTo>
                      <a:pt x="11" y="12"/>
                    </a:lnTo>
                    <a:lnTo>
                      <a:pt x="12" y="9"/>
                    </a:lnTo>
                    <a:lnTo>
                      <a:pt x="12" y="7"/>
                    </a:lnTo>
                    <a:lnTo>
                      <a:pt x="12" y="5"/>
                    </a:lnTo>
                    <a:lnTo>
                      <a:pt x="11" y="2"/>
                    </a:lnTo>
                    <a:lnTo>
                      <a:pt x="9" y="0"/>
                    </a:lnTo>
                    <a:lnTo>
                      <a:pt x="6" y="0"/>
                    </a:lnTo>
                    <a:lnTo>
                      <a:pt x="3" y="0"/>
                    </a:lnTo>
                    <a:lnTo>
                      <a:pt x="2" y="2"/>
                    </a:lnTo>
                    <a:lnTo>
                      <a:pt x="0" y="5"/>
                    </a:lnTo>
                    <a:lnTo>
                      <a:pt x="0" y="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2" name="Freeform 59"/>
              <p:cNvSpPr/>
              <p:nvPr/>
            </p:nvSpPr>
            <p:spPr>
              <a:xfrm>
                <a:off x="8349" y="4708"/>
                <a:ext cx="5" cy="4"/>
              </a:xfrm>
              <a:custGeom>
                <a:avLst/>
                <a:gdLst/>
                <a:ahLst/>
                <a:cxnLst>
                  <a:cxn ang="0">
                    <a:pos x="0" y="1"/>
                  </a:cxn>
                  <a:cxn ang="0">
                    <a:pos x="0" y="1"/>
                  </a:cxn>
                  <a:cxn ang="0">
                    <a:pos x="0" y="1"/>
                  </a:cxn>
                  <a:cxn ang="0">
                    <a:pos x="1" y="1"/>
                  </a:cxn>
                  <a:cxn ang="0">
                    <a:pos x="1" y="1"/>
                  </a:cxn>
                  <a:cxn ang="0">
                    <a:pos x="1" y="1"/>
                  </a:cxn>
                  <a:cxn ang="0">
                    <a:pos x="2" y="1"/>
                  </a:cxn>
                  <a:cxn ang="0">
                    <a:pos x="2" y="1"/>
                  </a:cxn>
                  <a:cxn ang="0">
                    <a:pos x="2" y="1"/>
                  </a:cxn>
                  <a:cxn ang="0">
                    <a:pos x="2" y="0"/>
                  </a:cxn>
                  <a:cxn ang="0">
                    <a:pos x="2" y="0"/>
                  </a:cxn>
                  <a:cxn ang="0">
                    <a:pos x="1" y="0"/>
                  </a:cxn>
                  <a:cxn ang="0">
                    <a:pos x="1" y="0"/>
                  </a:cxn>
                  <a:cxn ang="0">
                    <a:pos x="1" y="0"/>
                  </a:cxn>
                  <a:cxn ang="0">
                    <a:pos x="0" y="0"/>
                  </a:cxn>
                  <a:cxn ang="0">
                    <a:pos x="0" y="0"/>
                  </a:cxn>
                  <a:cxn ang="0">
                    <a:pos x="0" y="1"/>
                  </a:cxn>
                  <a:cxn ang="0">
                    <a:pos x="0" y="1"/>
                  </a:cxn>
                </a:cxnLst>
                <a:pathLst>
                  <a:path w="13" h="12">
                    <a:moveTo>
                      <a:pt x="0" y="6"/>
                    </a:moveTo>
                    <a:lnTo>
                      <a:pt x="0" y="8"/>
                    </a:lnTo>
                    <a:lnTo>
                      <a:pt x="2" y="10"/>
                    </a:lnTo>
                    <a:lnTo>
                      <a:pt x="5" y="12"/>
                    </a:lnTo>
                    <a:lnTo>
                      <a:pt x="8" y="12"/>
                    </a:lnTo>
                    <a:lnTo>
                      <a:pt x="9" y="12"/>
                    </a:lnTo>
                    <a:lnTo>
                      <a:pt x="12" y="10"/>
                    </a:lnTo>
                    <a:lnTo>
                      <a:pt x="13" y="8"/>
                    </a:lnTo>
                    <a:lnTo>
                      <a:pt x="13" y="6"/>
                    </a:lnTo>
                    <a:lnTo>
                      <a:pt x="13" y="3"/>
                    </a:lnTo>
                    <a:lnTo>
                      <a:pt x="12" y="2"/>
                    </a:lnTo>
                    <a:lnTo>
                      <a:pt x="9" y="0"/>
                    </a:lnTo>
                    <a:lnTo>
                      <a:pt x="8" y="0"/>
                    </a:lnTo>
                    <a:lnTo>
                      <a:pt x="5" y="0"/>
                    </a:lnTo>
                    <a:lnTo>
                      <a:pt x="2" y="2"/>
                    </a:lnTo>
                    <a:lnTo>
                      <a:pt x="0" y="3"/>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3" name="Freeform 60"/>
              <p:cNvSpPr/>
              <p:nvPr/>
            </p:nvSpPr>
            <p:spPr>
              <a:xfrm>
                <a:off x="8366" y="4704"/>
                <a:ext cx="2" cy="2"/>
              </a:xfrm>
              <a:custGeom>
                <a:avLst/>
                <a:gdLst/>
                <a:ahLst/>
                <a:cxnLst>
                  <a:cxn ang="0">
                    <a:pos x="0" y="0"/>
                  </a:cxn>
                  <a:cxn ang="0">
                    <a:pos x="0" y="0"/>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8" h="7">
                    <a:moveTo>
                      <a:pt x="0" y="3"/>
                    </a:moveTo>
                    <a:lnTo>
                      <a:pt x="0" y="4"/>
                    </a:lnTo>
                    <a:lnTo>
                      <a:pt x="1" y="6"/>
                    </a:lnTo>
                    <a:lnTo>
                      <a:pt x="3" y="7"/>
                    </a:lnTo>
                    <a:lnTo>
                      <a:pt x="4" y="7"/>
                    </a:lnTo>
                    <a:lnTo>
                      <a:pt x="6" y="7"/>
                    </a:lnTo>
                    <a:lnTo>
                      <a:pt x="7" y="6"/>
                    </a:lnTo>
                    <a:lnTo>
                      <a:pt x="8" y="4"/>
                    </a:lnTo>
                    <a:lnTo>
                      <a:pt x="8" y="3"/>
                    </a:lnTo>
                    <a:lnTo>
                      <a:pt x="8" y="1"/>
                    </a:lnTo>
                    <a:lnTo>
                      <a:pt x="7" y="1"/>
                    </a:lnTo>
                    <a:lnTo>
                      <a:pt x="6" y="0"/>
                    </a:lnTo>
                    <a:lnTo>
                      <a:pt x="4" y="0"/>
                    </a:lnTo>
                    <a:lnTo>
                      <a:pt x="3" y="0"/>
                    </a:lnTo>
                    <a:lnTo>
                      <a:pt x="1" y="1"/>
                    </a:lnTo>
                    <a:lnTo>
                      <a:pt x="0" y="1"/>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4" name="Freeform 61"/>
              <p:cNvSpPr/>
              <p:nvPr/>
            </p:nvSpPr>
            <p:spPr>
              <a:xfrm>
                <a:off x="8338" y="4730"/>
                <a:ext cx="2" cy="3"/>
              </a:xfrm>
              <a:custGeom>
                <a:avLst/>
                <a:gdLst/>
                <a:ahLst/>
                <a:cxnLst>
                  <a:cxn ang="0">
                    <a:pos x="0" y="0"/>
                  </a:cxn>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Lst>
                <a:pathLst>
                  <a:path w="7" h="8">
                    <a:moveTo>
                      <a:pt x="0" y="3"/>
                    </a:moveTo>
                    <a:lnTo>
                      <a:pt x="0" y="5"/>
                    </a:lnTo>
                    <a:lnTo>
                      <a:pt x="1" y="6"/>
                    </a:lnTo>
                    <a:lnTo>
                      <a:pt x="3" y="8"/>
                    </a:lnTo>
                    <a:lnTo>
                      <a:pt x="4" y="8"/>
                    </a:lnTo>
                    <a:lnTo>
                      <a:pt x="6" y="8"/>
                    </a:lnTo>
                    <a:lnTo>
                      <a:pt x="6" y="6"/>
                    </a:lnTo>
                    <a:lnTo>
                      <a:pt x="7" y="5"/>
                    </a:lnTo>
                    <a:lnTo>
                      <a:pt x="7" y="3"/>
                    </a:lnTo>
                    <a:lnTo>
                      <a:pt x="7" y="2"/>
                    </a:lnTo>
                    <a:lnTo>
                      <a:pt x="6" y="2"/>
                    </a:lnTo>
                    <a:lnTo>
                      <a:pt x="6" y="0"/>
                    </a:lnTo>
                    <a:lnTo>
                      <a:pt x="4" y="0"/>
                    </a:lnTo>
                    <a:lnTo>
                      <a:pt x="3" y="0"/>
                    </a:lnTo>
                    <a:lnTo>
                      <a:pt x="1" y="2"/>
                    </a:lnTo>
                    <a:lnTo>
                      <a:pt x="0" y="2"/>
                    </a:lnTo>
                    <a:lnTo>
                      <a:pt x="0" y="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5" name="Freeform 62"/>
              <p:cNvSpPr/>
              <p:nvPr/>
            </p:nvSpPr>
            <p:spPr>
              <a:xfrm>
                <a:off x="8370" y="4713"/>
                <a:ext cx="6" cy="6"/>
              </a:xfrm>
              <a:custGeom>
                <a:avLst/>
                <a:gdLst/>
                <a:ahLst/>
                <a:cxnLst>
                  <a:cxn ang="0">
                    <a:pos x="0" y="1"/>
                  </a:cxn>
                  <a:cxn ang="0">
                    <a:pos x="0" y="1"/>
                  </a:cxn>
                  <a:cxn ang="0">
                    <a:pos x="0" y="2"/>
                  </a:cxn>
                  <a:cxn ang="0">
                    <a:pos x="1" y="2"/>
                  </a:cxn>
                  <a:cxn ang="0">
                    <a:pos x="1" y="2"/>
                  </a:cxn>
                  <a:cxn ang="0">
                    <a:pos x="2" y="2"/>
                  </a:cxn>
                  <a:cxn ang="0">
                    <a:pos x="2" y="2"/>
                  </a:cxn>
                  <a:cxn ang="0">
                    <a:pos x="2" y="1"/>
                  </a:cxn>
                  <a:cxn ang="0">
                    <a:pos x="2" y="1"/>
                  </a:cxn>
                  <a:cxn ang="0">
                    <a:pos x="2" y="1"/>
                  </a:cxn>
                  <a:cxn ang="0">
                    <a:pos x="2" y="0"/>
                  </a:cxn>
                  <a:cxn ang="0">
                    <a:pos x="2" y="0"/>
                  </a:cxn>
                  <a:cxn ang="0">
                    <a:pos x="1" y="0"/>
                  </a:cxn>
                  <a:cxn ang="0">
                    <a:pos x="1" y="0"/>
                  </a:cxn>
                  <a:cxn ang="0">
                    <a:pos x="0" y="0"/>
                  </a:cxn>
                  <a:cxn ang="0">
                    <a:pos x="0" y="1"/>
                  </a:cxn>
                  <a:cxn ang="0">
                    <a:pos x="0" y="1"/>
                  </a:cxn>
                  <a:cxn ang="0">
                    <a:pos x="0" y="1"/>
                  </a:cxn>
                </a:cxnLst>
                <a:pathLst>
                  <a:path w="16" h="17">
                    <a:moveTo>
                      <a:pt x="0" y="8"/>
                    </a:moveTo>
                    <a:lnTo>
                      <a:pt x="0" y="11"/>
                    </a:lnTo>
                    <a:lnTo>
                      <a:pt x="3" y="14"/>
                    </a:lnTo>
                    <a:lnTo>
                      <a:pt x="5" y="16"/>
                    </a:lnTo>
                    <a:lnTo>
                      <a:pt x="9" y="17"/>
                    </a:lnTo>
                    <a:lnTo>
                      <a:pt x="12" y="16"/>
                    </a:lnTo>
                    <a:lnTo>
                      <a:pt x="15" y="14"/>
                    </a:lnTo>
                    <a:lnTo>
                      <a:pt x="16" y="11"/>
                    </a:lnTo>
                    <a:lnTo>
                      <a:pt x="16" y="8"/>
                    </a:lnTo>
                    <a:lnTo>
                      <a:pt x="16" y="5"/>
                    </a:lnTo>
                    <a:lnTo>
                      <a:pt x="15" y="3"/>
                    </a:lnTo>
                    <a:lnTo>
                      <a:pt x="12" y="1"/>
                    </a:lnTo>
                    <a:lnTo>
                      <a:pt x="9" y="0"/>
                    </a:lnTo>
                    <a:lnTo>
                      <a:pt x="5" y="1"/>
                    </a:lnTo>
                    <a:lnTo>
                      <a:pt x="3" y="3"/>
                    </a:lnTo>
                    <a:lnTo>
                      <a:pt x="0" y="5"/>
                    </a:lnTo>
                    <a:lnTo>
                      <a:pt x="0" y="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6" name="Freeform 63"/>
              <p:cNvSpPr/>
              <p:nvPr/>
            </p:nvSpPr>
            <p:spPr>
              <a:xfrm>
                <a:off x="8353" y="4721"/>
                <a:ext cx="4" cy="4"/>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1"/>
                  </a:cxn>
                  <a:cxn ang="0">
                    <a:pos x="0" y="1"/>
                  </a:cxn>
                </a:cxnLst>
                <a:pathLst>
                  <a:path w="12" h="12">
                    <a:moveTo>
                      <a:pt x="0" y="6"/>
                    </a:moveTo>
                    <a:lnTo>
                      <a:pt x="0" y="7"/>
                    </a:lnTo>
                    <a:lnTo>
                      <a:pt x="1" y="10"/>
                    </a:lnTo>
                    <a:lnTo>
                      <a:pt x="4" y="12"/>
                    </a:lnTo>
                    <a:lnTo>
                      <a:pt x="6" y="12"/>
                    </a:lnTo>
                    <a:lnTo>
                      <a:pt x="7" y="12"/>
                    </a:lnTo>
                    <a:lnTo>
                      <a:pt x="10" y="10"/>
                    </a:lnTo>
                    <a:lnTo>
                      <a:pt x="12" y="7"/>
                    </a:lnTo>
                    <a:lnTo>
                      <a:pt x="12" y="6"/>
                    </a:lnTo>
                    <a:lnTo>
                      <a:pt x="12" y="4"/>
                    </a:lnTo>
                    <a:lnTo>
                      <a:pt x="10" y="2"/>
                    </a:lnTo>
                    <a:lnTo>
                      <a:pt x="7" y="0"/>
                    </a:lnTo>
                    <a:lnTo>
                      <a:pt x="6" y="0"/>
                    </a:lnTo>
                    <a:lnTo>
                      <a:pt x="4" y="0"/>
                    </a:lnTo>
                    <a:lnTo>
                      <a:pt x="1" y="2"/>
                    </a:lnTo>
                    <a:lnTo>
                      <a:pt x="0" y="4"/>
                    </a:lnTo>
                    <a:lnTo>
                      <a:pt x="0" y="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7" name="Freeform 64"/>
              <p:cNvSpPr/>
              <p:nvPr/>
            </p:nvSpPr>
            <p:spPr>
              <a:xfrm>
                <a:off x="8343" y="4794"/>
                <a:ext cx="25" cy="25"/>
              </a:xfrm>
              <a:custGeom>
                <a:avLst/>
                <a:gdLst/>
                <a:ahLst/>
                <a:cxnLst>
                  <a:cxn ang="0">
                    <a:pos x="1" y="7"/>
                  </a:cxn>
                  <a:cxn ang="0">
                    <a:pos x="2" y="8"/>
                  </a:cxn>
                  <a:cxn ang="0">
                    <a:pos x="3" y="8"/>
                  </a:cxn>
                  <a:cxn ang="0">
                    <a:pos x="4" y="8"/>
                  </a:cxn>
                  <a:cxn ang="0">
                    <a:pos x="4" y="8"/>
                  </a:cxn>
                  <a:cxn ang="0">
                    <a:pos x="4" y="8"/>
                  </a:cxn>
                  <a:cxn ang="0">
                    <a:pos x="5" y="8"/>
                  </a:cxn>
                  <a:cxn ang="0">
                    <a:pos x="6" y="8"/>
                  </a:cxn>
                  <a:cxn ang="0">
                    <a:pos x="7" y="7"/>
                  </a:cxn>
                  <a:cxn ang="0">
                    <a:pos x="7" y="7"/>
                  </a:cxn>
                  <a:cxn ang="0">
                    <a:pos x="8" y="6"/>
                  </a:cxn>
                  <a:cxn ang="0">
                    <a:pos x="8" y="6"/>
                  </a:cxn>
                  <a:cxn ang="0">
                    <a:pos x="8" y="5"/>
                  </a:cxn>
                  <a:cxn ang="0">
                    <a:pos x="7" y="4"/>
                  </a:cxn>
                  <a:cxn ang="0">
                    <a:pos x="5" y="4"/>
                  </a:cxn>
                  <a:cxn ang="0">
                    <a:pos x="4" y="5"/>
                  </a:cxn>
                  <a:cxn ang="0">
                    <a:pos x="3" y="6"/>
                  </a:cxn>
                  <a:cxn ang="0">
                    <a:pos x="3" y="5"/>
                  </a:cxn>
                  <a:cxn ang="0">
                    <a:pos x="3" y="3"/>
                  </a:cxn>
                  <a:cxn ang="0">
                    <a:pos x="1" y="1"/>
                  </a:cxn>
                  <a:cxn ang="0">
                    <a:pos x="0" y="0"/>
                  </a:cxn>
                  <a:cxn ang="0">
                    <a:pos x="0" y="2"/>
                  </a:cxn>
                  <a:cxn ang="0">
                    <a:pos x="0" y="4"/>
                  </a:cxn>
                  <a:cxn ang="0">
                    <a:pos x="1" y="6"/>
                  </a:cxn>
                  <a:cxn ang="0">
                    <a:pos x="1" y="7"/>
                  </a:cxn>
                </a:cxnLst>
                <a:pathLst>
                  <a:path w="74" h="75">
                    <a:moveTo>
                      <a:pt x="7" y="65"/>
                    </a:moveTo>
                    <a:lnTo>
                      <a:pt x="15" y="72"/>
                    </a:lnTo>
                    <a:lnTo>
                      <a:pt x="25" y="75"/>
                    </a:lnTo>
                    <a:lnTo>
                      <a:pt x="32" y="75"/>
                    </a:lnTo>
                    <a:lnTo>
                      <a:pt x="37" y="73"/>
                    </a:lnTo>
                    <a:lnTo>
                      <a:pt x="38" y="73"/>
                    </a:lnTo>
                    <a:lnTo>
                      <a:pt x="44" y="71"/>
                    </a:lnTo>
                    <a:lnTo>
                      <a:pt x="50" y="69"/>
                    </a:lnTo>
                    <a:lnTo>
                      <a:pt x="59" y="65"/>
                    </a:lnTo>
                    <a:lnTo>
                      <a:pt x="65" y="60"/>
                    </a:lnTo>
                    <a:lnTo>
                      <a:pt x="71" y="56"/>
                    </a:lnTo>
                    <a:lnTo>
                      <a:pt x="74" y="50"/>
                    </a:lnTo>
                    <a:lnTo>
                      <a:pt x="72" y="45"/>
                    </a:lnTo>
                    <a:lnTo>
                      <a:pt x="59" y="35"/>
                    </a:lnTo>
                    <a:lnTo>
                      <a:pt x="46" y="39"/>
                    </a:lnTo>
                    <a:lnTo>
                      <a:pt x="35" y="48"/>
                    </a:lnTo>
                    <a:lnTo>
                      <a:pt x="31" y="52"/>
                    </a:lnTo>
                    <a:lnTo>
                      <a:pt x="29" y="43"/>
                    </a:lnTo>
                    <a:lnTo>
                      <a:pt x="24" y="26"/>
                    </a:lnTo>
                    <a:lnTo>
                      <a:pt x="13" y="7"/>
                    </a:lnTo>
                    <a:lnTo>
                      <a:pt x="2" y="0"/>
                    </a:lnTo>
                    <a:lnTo>
                      <a:pt x="0" y="19"/>
                    </a:lnTo>
                    <a:lnTo>
                      <a:pt x="3" y="40"/>
                    </a:lnTo>
                    <a:lnTo>
                      <a:pt x="6" y="58"/>
                    </a:lnTo>
                    <a:lnTo>
                      <a:pt x="7" y="65"/>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8" name="Freeform 65"/>
              <p:cNvSpPr/>
              <p:nvPr/>
            </p:nvSpPr>
            <p:spPr>
              <a:xfrm>
                <a:off x="8367" y="4788"/>
                <a:ext cx="23" cy="20"/>
              </a:xfrm>
              <a:custGeom>
                <a:avLst/>
                <a:gdLst/>
                <a:ahLst/>
                <a:cxnLst>
                  <a:cxn ang="0">
                    <a:pos x="3" y="7"/>
                  </a:cxn>
                  <a:cxn ang="0">
                    <a:pos x="3" y="7"/>
                  </a:cxn>
                  <a:cxn ang="0">
                    <a:pos x="4" y="6"/>
                  </a:cxn>
                  <a:cxn ang="0">
                    <a:pos x="5" y="6"/>
                  </a:cxn>
                  <a:cxn ang="0">
                    <a:pos x="6" y="6"/>
                  </a:cxn>
                  <a:cxn ang="0">
                    <a:pos x="7" y="6"/>
                  </a:cxn>
                  <a:cxn ang="0">
                    <a:pos x="8" y="5"/>
                  </a:cxn>
                  <a:cxn ang="0">
                    <a:pos x="8" y="5"/>
                  </a:cxn>
                  <a:cxn ang="0">
                    <a:pos x="7" y="4"/>
                  </a:cxn>
                  <a:cxn ang="0">
                    <a:pos x="6" y="4"/>
                  </a:cxn>
                  <a:cxn ang="0">
                    <a:pos x="5" y="4"/>
                  </a:cxn>
                  <a:cxn ang="0">
                    <a:pos x="3" y="4"/>
                  </a:cxn>
                  <a:cxn ang="0">
                    <a:pos x="3" y="5"/>
                  </a:cxn>
                  <a:cxn ang="0">
                    <a:pos x="2" y="3"/>
                  </a:cxn>
                  <a:cxn ang="0">
                    <a:pos x="2" y="1"/>
                  </a:cxn>
                  <a:cxn ang="0">
                    <a:pos x="2" y="0"/>
                  </a:cxn>
                  <a:cxn ang="0">
                    <a:pos x="0" y="0"/>
                  </a:cxn>
                  <a:cxn ang="0">
                    <a:pos x="0" y="3"/>
                  </a:cxn>
                  <a:cxn ang="0">
                    <a:pos x="1" y="5"/>
                  </a:cxn>
                  <a:cxn ang="0">
                    <a:pos x="2" y="6"/>
                  </a:cxn>
                  <a:cxn ang="0">
                    <a:pos x="3" y="7"/>
                  </a:cxn>
                </a:cxnLst>
                <a:pathLst>
                  <a:path w="69" h="59">
                    <a:moveTo>
                      <a:pt x="24" y="59"/>
                    </a:moveTo>
                    <a:lnTo>
                      <a:pt x="29" y="59"/>
                    </a:lnTo>
                    <a:lnTo>
                      <a:pt x="38" y="57"/>
                    </a:lnTo>
                    <a:lnTo>
                      <a:pt x="47" y="56"/>
                    </a:lnTo>
                    <a:lnTo>
                      <a:pt x="56" y="54"/>
                    </a:lnTo>
                    <a:lnTo>
                      <a:pt x="63" y="52"/>
                    </a:lnTo>
                    <a:lnTo>
                      <a:pt x="68" y="47"/>
                    </a:lnTo>
                    <a:lnTo>
                      <a:pt x="69" y="43"/>
                    </a:lnTo>
                    <a:lnTo>
                      <a:pt x="66" y="37"/>
                    </a:lnTo>
                    <a:lnTo>
                      <a:pt x="54" y="32"/>
                    </a:lnTo>
                    <a:lnTo>
                      <a:pt x="41" y="33"/>
                    </a:lnTo>
                    <a:lnTo>
                      <a:pt x="29" y="37"/>
                    </a:lnTo>
                    <a:lnTo>
                      <a:pt x="25" y="40"/>
                    </a:lnTo>
                    <a:lnTo>
                      <a:pt x="21" y="29"/>
                    </a:lnTo>
                    <a:lnTo>
                      <a:pt x="19" y="13"/>
                    </a:lnTo>
                    <a:lnTo>
                      <a:pt x="15" y="1"/>
                    </a:lnTo>
                    <a:lnTo>
                      <a:pt x="0" y="0"/>
                    </a:lnTo>
                    <a:lnTo>
                      <a:pt x="0" y="27"/>
                    </a:lnTo>
                    <a:lnTo>
                      <a:pt x="9" y="44"/>
                    </a:lnTo>
                    <a:lnTo>
                      <a:pt x="19" y="56"/>
                    </a:lnTo>
                    <a:lnTo>
                      <a:pt x="24" y="59"/>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19" name="Freeform 66"/>
              <p:cNvSpPr/>
              <p:nvPr/>
            </p:nvSpPr>
            <p:spPr>
              <a:xfrm>
                <a:off x="8386" y="4779"/>
                <a:ext cx="23" cy="20"/>
              </a:xfrm>
              <a:custGeom>
                <a:avLst/>
                <a:gdLst/>
                <a:ahLst/>
                <a:cxnLst>
                  <a:cxn ang="0">
                    <a:pos x="1" y="5"/>
                  </a:cxn>
                  <a:cxn ang="0">
                    <a:pos x="2" y="6"/>
                  </a:cxn>
                  <a:cxn ang="0">
                    <a:pos x="2" y="7"/>
                  </a:cxn>
                  <a:cxn ang="0">
                    <a:pos x="3" y="7"/>
                  </a:cxn>
                  <a:cxn ang="0">
                    <a:pos x="4" y="7"/>
                  </a:cxn>
                  <a:cxn ang="0">
                    <a:pos x="5" y="7"/>
                  </a:cxn>
                  <a:cxn ang="0">
                    <a:pos x="6" y="6"/>
                  </a:cxn>
                  <a:cxn ang="0">
                    <a:pos x="6" y="6"/>
                  </a:cxn>
                  <a:cxn ang="0">
                    <a:pos x="7" y="6"/>
                  </a:cxn>
                  <a:cxn ang="0">
                    <a:pos x="7" y="6"/>
                  </a:cxn>
                  <a:cxn ang="0">
                    <a:pos x="7" y="5"/>
                  </a:cxn>
                  <a:cxn ang="0">
                    <a:pos x="8" y="5"/>
                  </a:cxn>
                  <a:cxn ang="0">
                    <a:pos x="7" y="4"/>
                  </a:cxn>
                  <a:cxn ang="0">
                    <a:pos x="6" y="3"/>
                  </a:cxn>
                  <a:cxn ang="0">
                    <a:pos x="5" y="3"/>
                  </a:cxn>
                  <a:cxn ang="0">
                    <a:pos x="4" y="4"/>
                  </a:cxn>
                  <a:cxn ang="0">
                    <a:pos x="3" y="4"/>
                  </a:cxn>
                  <a:cxn ang="0">
                    <a:pos x="3" y="3"/>
                  </a:cxn>
                  <a:cxn ang="0">
                    <a:pos x="2" y="2"/>
                  </a:cxn>
                  <a:cxn ang="0">
                    <a:pos x="1" y="0"/>
                  </a:cxn>
                  <a:cxn ang="0">
                    <a:pos x="0" y="0"/>
                  </a:cxn>
                  <a:cxn ang="0">
                    <a:pos x="0" y="2"/>
                  </a:cxn>
                  <a:cxn ang="0">
                    <a:pos x="0" y="3"/>
                  </a:cxn>
                  <a:cxn ang="0">
                    <a:pos x="0" y="5"/>
                  </a:cxn>
                  <a:cxn ang="0">
                    <a:pos x="1" y="5"/>
                  </a:cxn>
                </a:cxnLst>
                <a:pathLst>
                  <a:path w="69" h="60">
                    <a:moveTo>
                      <a:pt x="6" y="46"/>
                    </a:moveTo>
                    <a:lnTo>
                      <a:pt x="15" y="54"/>
                    </a:lnTo>
                    <a:lnTo>
                      <a:pt x="22" y="59"/>
                    </a:lnTo>
                    <a:lnTo>
                      <a:pt x="31" y="60"/>
                    </a:lnTo>
                    <a:lnTo>
                      <a:pt x="38" y="60"/>
                    </a:lnTo>
                    <a:lnTo>
                      <a:pt x="45" y="59"/>
                    </a:lnTo>
                    <a:lnTo>
                      <a:pt x="51" y="56"/>
                    </a:lnTo>
                    <a:lnTo>
                      <a:pt x="57" y="53"/>
                    </a:lnTo>
                    <a:lnTo>
                      <a:pt x="60" y="51"/>
                    </a:lnTo>
                    <a:lnTo>
                      <a:pt x="64" y="50"/>
                    </a:lnTo>
                    <a:lnTo>
                      <a:pt x="67" y="47"/>
                    </a:lnTo>
                    <a:lnTo>
                      <a:pt x="69" y="43"/>
                    </a:lnTo>
                    <a:lnTo>
                      <a:pt x="67" y="40"/>
                    </a:lnTo>
                    <a:lnTo>
                      <a:pt x="54" y="31"/>
                    </a:lnTo>
                    <a:lnTo>
                      <a:pt x="41" y="31"/>
                    </a:lnTo>
                    <a:lnTo>
                      <a:pt x="32" y="34"/>
                    </a:lnTo>
                    <a:lnTo>
                      <a:pt x="28" y="37"/>
                    </a:lnTo>
                    <a:lnTo>
                      <a:pt x="26" y="30"/>
                    </a:lnTo>
                    <a:lnTo>
                      <a:pt x="20" y="15"/>
                    </a:lnTo>
                    <a:lnTo>
                      <a:pt x="12" y="2"/>
                    </a:lnTo>
                    <a:lnTo>
                      <a:pt x="1" y="0"/>
                    </a:lnTo>
                    <a:lnTo>
                      <a:pt x="0" y="14"/>
                    </a:lnTo>
                    <a:lnTo>
                      <a:pt x="1" y="30"/>
                    </a:lnTo>
                    <a:lnTo>
                      <a:pt x="4" y="41"/>
                    </a:lnTo>
                    <a:lnTo>
                      <a:pt x="6" y="4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0" name="Freeform 67"/>
              <p:cNvSpPr/>
              <p:nvPr/>
            </p:nvSpPr>
            <p:spPr>
              <a:xfrm>
                <a:off x="8357" y="4833"/>
                <a:ext cx="25" cy="16"/>
              </a:xfrm>
              <a:custGeom>
                <a:avLst/>
                <a:gdLst/>
                <a:ahLst/>
                <a:cxnLst>
                  <a:cxn ang="0">
                    <a:pos x="1" y="5"/>
                  </a:cxn>
                  <a:cxn ang="0">
                    <a:pos x="2" y="5"/>
                  </a:cxn>
                  <a:cxn ang="0">
                    <a:pos x="3" y="5"/>
                  </a:cxn>
                  <a:cxn ang="0">
                    <a:pos x="5" y="5"/>
                  </a:cxn>
                  <a:cxn ang="0">
                    <a:pos x="6" y="5"/>
                  </a:cxn>
                  <a:cxn ang="0">
                    <a:pos x="7" y="5"/>
                  </a:cxn>
                  <a:cxn ang="0">
                    <a:pos x="8" y="4"/>
                  </a:cxn>
                  <a:cxn ang="0">
                    <a:pos x="8" y="3"/>
                  </a:cxn>
                  <a:cxn ang="0">
                    <a:pos x="8" y="2"/>
                  </a:cxn>
                  <a:cxn ang="0">
                    <a:pos x="7" y="2"/>
                  </a:cxn>
                  <a:cxn ang="0">
                    <a:pos x="7" y="2"/>
                  </a:cxn>
                  <a:cxn ang="0">
                    <a:pos x="6" y="2"/>
                  </a:cxn>
                  <a:cxn ang="0">
                    <a:pos x="5" y="2"/>
                  </a:cxn>
                  <a:cxn ang="0">
                    <a:pos x="4" y="2"/>
                  </a:cxn>
                  <a:cxn ang="0">
                    <a:pos x="3" y="2"/>
                  </a:cxn>
                  <a:cxn ang="0">
                    <a:pos x="3" y="3"/>
                  </a:cxn>
                  <a:cxn ang="0">
                    <a:pos x="3" y="3"/>
                  </a:cxn>
                  <a:cxn ang="0">
                    <a:pos x="2" y="2"/>
                  </a:cxn>
                  <a:cxn ang="0">
                    <a:pos x="2" y="1"/>
                  </a:cxn>
                  <a:cxn ang="0">
                    <a:pos x="2" y="1"/>
                  </a:cxn>
                  <a:cxn ang="0">
                    <a:pos x="2" y="0"/>
                  </a:cxn>
                  <a:cxn ang="0">
                    <a:pos x="1" y="0"/>
                  </a:cxn>
                  <a:cxn ang="0">
                    <a:pos x="1" y="0"/>
                  </a:cxn>
                  <a:cxn ang="0">
                    <a:pos x="0" y="0"/>
                  </a:cxn>
                  <a:cxn ang="0">
                    <a:pos x="0" y="1"/>
                  </a:cxn>
                  <a:cxn ang="0">
                    <a:pos x="0" y="1"/>
                  </a:cxn>
                  <a:cxn ang="0">
                    <a:pos x="1" y="3"/>
                  </a:cxn>
                  <a:cxn ang="0">
                    <a:pos x="1" y="4"/>
                  </a:cxn>
                  <a:cxn ang="0">
                    <a:pos x="1" y="5"/>
                  </a:cxn>
                </a:cxnLst>
                <a:pathLst>
                  <a:path w="75" h="48">
                    <a:moveTo>
                      <a:pt x="12" y="44"/>
                    </a:moveTo>
                    <a:lnTo>
                      <a:pt x="19" y="46"/>
                    </a:lnTo>
                    <a:lnTo>
                      <a:pt x="31" y="48"/>
                    </a:lnTo>
                    <a:lnTo>
                      <a:pt x="43" y="48"/>
                    </a:lnTo>
                    <a:lnTo>
                      <a:pt x="56" y="46"/>
                    </a:lnTo>
                    <a:lnTo>
                      <a:pt x="66" y="42"/>
                    </a:lnTo>
                    <a:lnTo>
                      <a:pt x="74" y="36"/>
                    </a:lnTo>
                    <a:lnTo>
                      <a:pt x="75" y="29"/>
                    </a:lnTo>
                    <a:lnTo>
                      <a:pt x="71" y="19"/>
                    </a:lnTo>
                    <a:lnTo>
                      <a:pt x="66" y="16"/>
                    </a:lnTo>
                    <a:lnTo>
                      <a:pt x="59" y="15"/>
                    </a:lnTo>
                    <a:lnTo>
                      <a:pt x="52" y="15"/>
                    </a:lnTo>
                    <a:lnTo>
                      <a:pt x="43" y="18"/>
                    </a:lnTo>
                    <a:lnTo>
                      <a:pt x="35" y="19"/>
                    </a:lnTo>
                    <a:lnTo>
                      <a:pt x="30" y="22"/>
                    </a:lnTo>
                    <a:lnTo>
                      <a:pt x="25" y="23"/>
                    </a:lnTo>
                    <a:lnTo>
                      <a:pt x="24" y="25"/>
                    </a:lnTo>
                    <a:lnTo>
                      <a:pt x="22" y="21"/>
                    </a:lnTo>
                    <a:lnTo>
                      <a:pt x="19" y="13"/>
                    </a:lnTo>
                    <a:lnTo>
                      <a:pt x="16" y="5"/>
                    </a:lnTo>
                    <a:lnTo>
                      <a:pt x="15" y="2"/>
                    </a:lnTo>
                    <a:lnTo>
                      <a:pt x="12" y="0"/>
                    </a:lnTo>
                    <a:lnTo>
                      <a:pt x="8" y="0"/>
                    </a:lnTo>
                    <a:lnTo>
                      <a:pt x="3" y="2"/>
                    </a:lnTo>
                    <a:lnTo>
                      <a:pt x="0" y="5"/>
                    </a:lnTo>
                    <a:lnTo>
                      <a:pt x="0" y="13"/>
                    </a:lnTo>
                    <a:lnTo>
                      <a:pt x="5" y="26"/>
                    </a:lnTo>
                    <a:lnTo>
                      <a:pt x="9" y="38"/>
                    </a:lnTo>
                    <a:lnTo>
                      <a:pt x="12" y="4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1" name="Freeform 68"/>
              <p:cNvSpPr/>
              <p:nvPr/>
            </p:nvSpPr>
            <p:spPr>
              <a:xfrm>
                <a:off x="8385" y="4821"/>
                <a:ext cx="21" cy="19"/>
              </a:xfrm>
              <a:custGeom>
                <a:avLst/>
                <a:gdLst/>
                <a:ahLst/>
                <a:cxnLst>
                  <a:cxn ang="0">
                    <a:pos x="2" y="6"/>
                  </a:cxn>
                  <a:cxn ang="0">
                    <a:pos x="2" y="6"/>
                  </a:cxn>
                  <a:cxn ang="0">
                    <a:pos x="4" y="6"/>
                  </a:cxn>
                  <a:cxn ang="0">
                    <a:pos x="5" y="6"/>
                  </a:cxn>
                  <a:cxn ang="0">
                    <a:pos x="6" y="6"/>
                  </a:cxn>
                  <a:cxn ang="0">
                    <a:pos x="7" y="5"/>
                  </a:cxn>
                  <a:cxn ang="0">
                    <a:pos x="7" y="5"/>
                  </a:cxn>
                  <a:cxn ang="0">
                    <a:pos x="7" y="5"/>
                  </a:cxn>
                  <a:cxn ang="0">
                    <a:pos x="7" y="4"/>
                  </a:cxn>
                  <a:cxn ang="0">
                    <a:pos x="7" y="4"/>
                  </a:cxn>
                  <a:cxn ang="0">
                    <a:pos x="6" y="4"/>
                  </a:cxn>
                  <a:cxn ang="0">
                    <a:pos x="6" y="3"/>
                  </a:cxn>
                  <a:cxn ang="0">
                    <a:pos x="5" y="4"/>
                  </a:cxn>
                  <a:cxn ang="0">
                    <a:pos x="4" y="4"/>
                  </a:cxn>
                  <a:cxn ang="0">
                    <a:pos x="3" y="4"/>
                  </a:cxn>
                  <a:cxn ang="0">
                    <a:pos x="3" y="4"/>
                  </a:cxn>
                  <a:cxn ang="0">
                    <a:pos x="2" y="4"/>
                  </a:cxn>
                  <a:cxn ang="0">
                    <a:pos x="2" y="3"/>
                  </a:cxn>
                  <a:cxn ang="0">
                    <a:pos x="2" y="2"/>
                  </a:cxn>
                  <a:cxn ang="0">
                    <a:pos x="2" y="0"/>
                  </a:cxn>
                  <a:cxn ang="0">
                    <a:pos x="1" y="0"/>
                  </a:cxn>
                  <a:cxn ang="0">
                    <a:pos x="0" y="2"/>
                  </a:cxn>
                  <a:cxn ang="0">
                    <a:pos x="0" y="4"/>
                  </a:cxn>
                  <a:cxn ang="0">
                    <a:pos x="1" y="5"/>
                  </a:cxn>
                  <a:cxn ang="0">
                    <a:pos x="2" y="6"/>
                  </a:cxn>
                </a:cxnLst>
                <a:pathLst>
                  <a:path w="63" h="57">
                    <a:moveTo>
                      <a:pt x="15" y="53"/>
                    </a:moveTo>
                    <a:lnTo>
                      <a:pt x="22" y="54"/>
                    </a:lnTo>
                    <a:lnTo>
                      <a:pt x="34" y="57"/>
                    </a:lnTo>
                    <a:lnTo>
                      <a:pt x="47" y="56"/>
                    </a:lnTo>
                    <a:lnTo>
                      <a:pt x="58" y="50"/>
                    </a:lnTo>
                    <a:lnTo>
                      <a:pt x="61" y="48"/>
                    </a:lnTo>
                    <a:lnTo>
                      <a:pt x="62" y="46"/>
                    </a:lnTo>
                    <a:lnTo>
                      <a:pt x="63" y="43"/>
                    </a:lnTo>
                    <a:lnTo>
                      <a:pt x="62" y="40"/>
                    </a:lnTo>
                    <a:lnTo>
                      <a:pt x="61" y="36"/>
                    </a:lnTo>
                    <a:lnTo>
                      <a:pt x="58" y="33"/>
                    </a:lnTo>
                    <a:lnTo>
                      <a:pt x="53" y="31"/>
                    </a:lnTo>
                    <a:lnTo>
                      <a:pt x="47" y="33"/>
                    </a:lnTo>
                    <a:lnTo>
                      <a:pt x="39" y="36"/>
                    </a:lnTo>
                    <a:lnTo>
                      <a:pt x="30" y="36"/>
                    </a:lnTo>
                    <a:lnTo>
                      <a:pt x="24" y="36"/>
                    </a:lnTo>
                    <a:lnTo>
                      <a:pt x="21" y="36"/>
                    </a:lnTo>
                    <a:lnTo>
                      <a:pt x="21" y="30"/>
                    </a:lnTo>
                    <a:lnTo>
                      <a:pt x="21" y="17"/>
                    </a:lnTo>
                    <a:lnTo>
                      <a:pt x="17" y="4"/>
                    </a:lnTo>
                    <a:lnTo>
                      <a:pt x="8" y="0"/>
                    </a:lnTo>
                    <a:lnTo>
                      <a:pt x="0" y="18"/>
                    </a:lnTo>
                    <a:lnTo>
                      <a:pt x="0" y="34"/>
                    </a:lnTo>
                    <a:lnTo>
                      <a:pt x="6" y="46"/>
                    </a:lnTo>
                    <a:lnTo>
                      <a:pt x="15" y="5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2" name="Freeform 69"/>
              <p:cNvSpPr/>
              <p:nvPr/>
            </p:nvSpPr>
            <p:spPr>
              <a:xfrm>
                <a:off x="8406" y="4814"/>
                <a:ext cx="21" cy="19"/>
              </a:xfrm>
              <a:custGeom>
                <a:avLst/>
                <a:gdLst/>
                <a:ahLst/>
                <a:cxnLst>
                  <a:cxn ang="0">
                    <a:pos x="3" y="6"/>
                  </a:cxn>
                  <a:cxn ang="0">
                    <a:pos x="3" y="6"/>
                  </a:cxn>
                  <a:cxn ang="0">
                    <a:pos x="4" y="6"/>
                  </a:cxn>
                  <a:cxn ang="0">
                    <a:pos x="5" y="6"/>
                  </a:cxn>
                  <a:cxn ang="0">
                    <a:pos x="6" y="5"/>
                  </a:cxn>
                  <a:cxn ang="0">
                    <a:pos x="6" y="5"/>
                  </a:cxn>
                  <a:cxn ang="0">
                    <a:pos x="7" y="5"/>
                  </a:cxn>
                  <a:cxn ang="0">
                    <a:pos x="7" y="4"/>
                  </a:cxn>
                  <a:cxn ang="0">
                    <a:pos x="6" y="4"/>
                  </a:cxn>
                  <a:cxn ang="0">
                    <a:pos x="5" y="3"/>
                  </a:cxn>
                  <a:cxn ang="0">
                    <a:pos x="5" y="3"/>
                  </a:cxn>
                  <a:cxn ang="0">
                    <a:pos x="4" y="4"/>
                  </a:cxn>
                  <a:cxn ang="0">
                    <a:pos x="4" y="4"/>
                  </a:cxn>
                  <a:cxn ang="0">
                    <a:pos x="3" y="4"/>
                  </a:cxn>
                  <a:cxn ang="0">
                    <a:pos x="3" y="2"/>
                  </a:cxn>
                  <a:cxn ang="0">
                    <a:pos x="2" y="1"/>
                  </a:cxn>
                  <a:cxn ang="0">
                    <a:pos x="1" y="0"/>
                  </a:cxn>
                  <a:cxn ang="0">
                    <a:pos x="0" y="2"/>
                  </a:cxn>
                  <a:cxn ang="0">
                    <a:pos x="1" y="4"/>
                  </a:cxn>
                  <a:cxn ang="0">
                    <a:pos x="2" y="5"/>
                  </a:cxn>
                  <a:cxn ang="0">
                    <a:pos x="3" y="6"/>
                  </a:cxn>
                </a:cxnLst>
                <a:pathLst>
                  <a:path w="65" h="57">
                    <a:moveTo>
                      <a:pt x="24" y="52"/>
                    </a:moveTo>
                    <a:lnTo>
                      <a:pt x="32" y="57"/>
                    </a:lnTo>
                    <a:lnTo>
                      <a:pt x="41" y="55"/>
                    </a:lnTo>
                    <a:lnTo>
                      <a:pt x="50" y="52"/>
                    </a:lnTo>
                    <a:lnTo>
                      <a:pt x="59" y="48"/>
                    </a:lnTo>
                    <a:lnTo>
                      <a:pt x="63" y="45"/>
                    </a:lnTo>
                    <a:lnTo>
                      <a:pt x="65" y="42"/>
                    </a:lnTo>
                    <a:lnTo>
                      <a:pt x="65" y="38"/>
                    </a:lnTo>
                    <a:lnTo>
                      <a:pt x="63" y="34"/>
                    </a:lnTo>
                    <a:lnTo>
                      <a:pt x="53" y="28"/>
                    </a:lnTo>
                    <a:lnTo>
                      <a:pt x="46" y="29"/>
                    </a:lnTo>
                    <a:lnTo>
                      <a:pt x="40" y="35"/>
                    </a:lnTo>
                    <a:lnTo>
                      <a:pt x="35" y="39"/>
                    </a:lnTo>
                    <a:lnTo>
                      <a:pt x="32" y="32"/>
                    </a:lnTo>
                    <a:lnTo>
                      <a:pt x="25" y="18"/>
                    </a:lnTo>
                    <a:lnTo>
                      <a:pt x="16" y="5"/>
                    </a:lnTo>
                    <a:lnTo>
                      <a:pt x="6" y="0"/>
                    </a:lnTo>
                    <a:lnTo>
                      <a:pt x="0" y="21"/>
                    </a:lnTo>
                    <a:lnTo>
                      <a:pt x="7" y="36"/>
                    </a:lnTo>
                    <a:lnTo>
                      <a:pt x="18" y="48"/>
                    </a:lnTo>
                    <a:lnTo>
                      <a:pt x="24" y="52"/>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3" name="Freeform 70"/>
              <p:cNvSpPr/>
              <p:nvPr/>
            </p:nvSpPr>
            <p:spPr>
              <a:xfrm>
                <a:off x="8371" y="4865"/>
                <a:ext cx="26" cy="26"/>
              </a:xfrm>
              <a:custGeom>
                <a:avLst/>
                <a:gdLst/>
                <a:ahLst/>
                <a:cxnLst>
                  <a:cxn ang="0">
                    <a:pos x="2" y="7"/>
                  </a:cxn>
                  <a:cxn ang="0">
                    <a:pos x="2" y="7"/>
                  </a:cxn>
                  <a:cxn ang="0">
                    <a:pos x="3" y="8"/>
                  </a:cxn>
                  <a:cxn ang="0">
                    <a:pos x="3" y="8"/>
                  </a:cxn>
                  <a:cxn ang="0">
                    <a:pos x="4" y="8"/>
                  </a:cxn>
                  <a:cxn ang="0">
                    <a:pos x="5" y="8"/>
                  </a:cxn>
                  <a:cxn ang="0">
                    <a:pos x="6" y="8"/>
                  </a:cxn>
                  <a:cxn ang="0">
                    <a:pos x="7" y="7"/>
                  </a:cxn>
                  <a:cxn ang="0">
                    <a:pos x="8" y="6"/>
                  </a:cxn>
                  <a:cxn ang="0">
                    <a:pos x="8" y="6"/>
                  </a:cxn>
                  <a:cxn ang="0">
                    <a:pos x="9" y="5"/>
                  </a:cxn>
                  <a:cxn ang="0">
                    <a:pos x="9" y="5"/>
                  </a:cxn>
                  <a:cxn ang="0">
                    <a:pos x="9" y="5"/>
                  </a:cxn>
                  <a:cxn ang="0">
                    <a:pos x="8" y="4"/>
                  </a:cxn>
                  <a:cxn ang="0">
                    <a:pos x="7" y="4"/>
                  </a:cxn>
                  <a:cxn ang="0">
                    <a:pos x="6" y="4"/>
                  </a:cxn>
                  <a:cxn ang="0">
                    <a:pos x="5" y="4"/>
                  </a:cxn>
                  <a:cxn ang="0">
                    <a:pos x="4" y="5"/>
                  </a:cxn>
                  <a:cxn ang="0">
                    <a:pos x="4" y="5"/>
                  </a:cxn>
                  <a:cxn ang="0">
                    <a:pos x="3" y="5"/>
                  </a:cxn>
                  <a:cxn ang="0">
                    <a:pos x="3" y="6"/>
                  </a:cxn>
                  <a:cxn ang="0">
                    <a:pos x="3" y="5"/>
                  </a:cxn>
                  <a:cxn ang="0">
                    <a:pos x="2" y="3"/>
                  </a:cxn>
                  <a:cxn ang="0">
                    <a:pos x="1" y="1"/>
                  </a:cxn>
                  <a:cxn ang="0">
                    <a:pos x="0" y="0"/>
                  </a:cxn>
                  <a:cxn ang="0">
                    <a:pos x="0" y="3"/>
                  </a:cxn>
                  <a:cxn ang="0">
                    <a:pos x="1" y="5"/>
                  </a:cxn>
                  <a:cxn ang="0">
                    <a:pos x="1" y="7"/>
                  </a:cxn>
                  <a:cxn ang="0">
                    <a:pos x="2" y="7"/>
                  </a:cxn>
                </a:cxnLst>
                <a:pathLst>
                  <a:path w="79" h="80">
                    <a:moveTo>
                      <a:pt x="16" y="67"/>
                    </a:moveTo>
                    <a:lnTo>
                      <a:pt x="19" y="70"/>
                    </a:lnTo>
                    <a:lnTo>
                      <a:pt x="23" y="73"/>
                    </a:lnTo>
                    <a:lnTo>
                      <a:pt x="31" y="77"/>
                    </a:lnTo>
                    <a:lnTo>
                      <a:pt x="38" y="79"/>
                    </a:lnTo>
                    <a:lnTo>
                      <a:pt x="47" y="80"/>
                    </a:lnTo>
                    <a:lnTo>
                      <a:pt x="57" y="77"/>
                    </a:lnTo>
                    <a:lnTo>
                      <a:pt x="66" y="70"/>
                    </a:lnTo>
                    <a:lnTo>
                      <a:pt x="73" y="59"/>
                    </a:lnTo>
                    <a:lnTo>
                      <a:pt x="76" y="54"/>
                    </a:lnTo>
                    <a:lnTo>
                      <a:pt x="78" y="50"/>
                    </a:lnTo>
                    <a:lnTo>
                      <a:pt x="79" y="46"/>
                    </a:lnTo>
                    <a:lnTo>
                      <a:pt x="78" y="43"/>
                    </a:lnTo>
                    <a:lnTo>
                      <a:pt x="70" y="39"/>
                    </a:lnTo>
                    <a:lnTo>
                      <a:pt x="61" y="37"/>
                    </a:lnTo>
                    <a:lnTo>
                      <a:pt x="53" y="39"/>
                    </a:lnTo>
                    <a:lnTo>
                      <a:pt x="45" y="40"/>
                    </a:lnTo>
                    <a:lnTo>
                      <a:pt x="39" y="44"/>
                    </a:lnTo>
                    <a:lnTo>
                      <a:pt x="34" y="47"/>
                    </a:lnTo>
                    <a:lnTo>
                      <a:pt x="31" y="50"/>
                    </a:lnTo>
                    <a:lnTo>
                      <a:pt x="29" y="52"/>
                    </a:lnTo>
                    <a:lnTo>
                      <a:pt x="28" y="43"/>
                    </a:lnTo>
                    <a:lnTo>
                      <a:pt x="22" y="24"/>
                    </a:lnTo>
                    <a:lnTo>
                      <a:pt x="13" y="6"/>
                    </a:lnTo>
                    <a:lnTo>
                      <a:pt x="1" y="0"/>
                    </a:lnTo>
                    <a:lnTo>
                      <a:pt x="0" y="24"/>
                    </a:lnTo>
                    <a:lnTo>
                      <a:pt x="6" y="46"/>
                    </a:lnTo>
                    <a:lnTo>
                      <a:pt x="13" y="62"/>
                    </a:lnTo>
                    <a:lnTo>
                      <a:pt x="16" y="67"/>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4" name="Freeform 71"/>
              <p:cNvSpPr/>
              <p:nvPr/>
            </p:nvSpPr>
            <p:spPr>
              <a:xfrm>
                <a:off x="8399" y="4855"/>
                <a:ext cx="27" cy="22"/>
              </a:xfrm>
              <a:custGeom>
                <a:avLst/>
                <a:gdLst/>
                <a:ahLst/>
                <a:cxnLst>
                  <a:cxn ang="0">
                    <a:pos x="1" y="6"/>
                  </a:cxn>
                  <a:cxn ang="0">
                    <a:pos x="2" y="6"/>
                  </a:cxn>
                  <a:cxn ang="0">
                    <a:pos x="2" y="6"/>
                  </a:cxn>
                  <a:cxn ang="0">
                    <a:pos x="3" y="7"/>
                  </a:cxn>
                  <a:cxn ang="0">
                    <a:pos x="4" y="7"/>
                  </a:cxn>
                  <a:cxn ang="0">
                    <a:pos x="5" y="7"/>
                  </a:cxn>
                  <a:cxn ang="0">
                    <a:pos x="6" y="7"/>
                  </a:cxn>
                  <a:cxn ang="0">
                    <a:pos x="7" y="7"/>
                  </a:cxn>
                  <a:cxn ang="0">
                    <a:pos x="8" y="7"/>
                  </a:cxn>
                  <a:cxn ang="0">
                    <a:pos x="9" y="7"/>
                  </a:cxn>
                  <a:cxn ang="0">
                    <a:pos x="9" y="6"/>
                  </a:cxn>
                  <a:cxn ang="0">
                    <a:pos x="9" y="6"/>
                  </a:cxn>
                  <a:cxn ang="0">
                    <a:pos x="9" y="5"/>
                  </a:cxn>
                  <a:cxn ang="0">
                    <a:pos x="9" y="4"/>
                  </a:cxn>
                  <a:cxn ang="0">
                    <a:pos x="8" y="4"/>
                  </a:cxn>
                  <a:cxn ang="0">
                    <a:pos x="6" y="4"/>
                  </a:cxn>
                  <a:cxn ang="0">
                    <a:pos x="5" y="4"/>
                  </a:cxn>
                  <a:cxn ang="0">
                    <a:pos x="5" y="4"/>
                  </a:cxn>
                  <a:cxn ang="0">
                    <a:pos x="4" y="4"/>
                  </a:cxn>
                  <a:cxn ang="0">
                    <a:pos x="3" y="4"/>
                  </a:cxn>
                  <a:cxn ang="0">
                    <a:pos x="3" y="4"/>
                  </a:cxn>
                  <a:cxn ang="0">
                    <a:pos x="3" y="4"/>
                  </a:cxn>
                  <a:cxn ang="0">
                    <a:pos x="3" y="2"/>
                  </a:cxn>
                  <a:cxn ang="0">
                    <a:pos x="2" y="0"/>
                  </a:cxn>
                  <a:cxn ang="0">
                    <a:pos x="0" y="0"/>
                  </a:cxn>
                  <a:cxn ang="0">
                    <a:pos x="0" y="2"/>
                  </a:cxn>
                  <a:cxn ang="0">
                    <a:pos x="0" y="4"/>
                  </a:cxn>
                  <a:cxn ang="0">
                    <a:pos x="1" y="5"/>
                  </a:cxn>
                  <a:cxn ang="0">
                    <a:pos x="1" y="6"/>
                  </a:cxn>
                </a:cxnLst>
                <a:pathLst>
                  <a:path w="79" h="67">
                    <a:moveTo>
                      <a:pt x="13" y="54"/>
                    </a:moveTo>
                    <a:lnTo>
                      <a:pt x="16" y="56"/>
                    </a:lnTo>
                    <a:lnTo>
                      <a:pt x="20" y="59"/>
                    </a:lnTo>
                    <a:lnTo>
                      <a:pt x="26" y="61"/>
                    </a:lnTo>
                    <a:lnTo>
                      <a:pt x="34" y="64"/>
                    </a:lnTo>
                    <a:lnTo>
                      <a:pt x="41" y="67"/>
                    </a:lnTo>
                    <a:lnTo>
                      <a:pt x="50" y="67"/>
                    </a:lnTo>
                    <a:lnTo>
                      <a:pt x="59" y="67"/>
                    </a:lnTo>
                    <a:lnTo>
                      <a:pt x="66" y="64"/>
                    </a:lnTo>
                    <a:lnTo>
                      <a:pt x="72" y="61"/>
                    </a:lnTo>
                    <a:lnTo>
                      <a:pt x="76" y="57"/>
                    </a:lnTo>
                    <a:lnTo>
                      <a:pt x="79" y="53"/>
                    </a:lnTo>
                    <a:lnTo>
                      <a:pt x="78" y="47"/>
                    </a:lnTo>
                    <a:lnTo>
                      <a:pt x="72" y="41"/>
                    </a:lnTo>
                    <a:lnTo>
                      <a:pt x="65" y="37"/>
                    </a:lnTo>
                    <a:lnTo>
                      <a:pt x="56" y="36"/>
                    </a:lnTo>
                    <a:lnTo>
                      <a:pt x="48" y="36"/>
                    </a:lnTo>
                    <a:lnTo>
                      <a:pt x="40" y="37"/>
                    </a:lnTo>
                    <a:lnTo>
                      <a:pt x="34" y="38"/>
                    </a:lnTo>
                    <a:lnTo>
                      <a:pt x="29" y="40"/>
                    </a:lnTo>
                    <a:lnTo>
                      <a:pt x="28" y="40"/>
                    </a:lnTo>
                    <a:lnTo>
                      <a:pt x="26" y="33"/>
                    </a:lnTo>
                    <a:lnTo>
                      <a:pt x="22" y="17"/>
                    </a:lnTo>
                    <a:lnTo>
                      <a:pt x="15" y="4"/>
                    </a:lnTo>
                    <a:lnTo>
                      <a:pt x="3" y="0"/>
                    </a:lnTo>
                    <a:lnTo>
                      <a:pt x="0" y="21"/>
                    </a:lnTo>
                    <a:lnTo>
                      <a:pt x="4" y="38"/>
                    </a:lnTo>
                    <a:lnTo>
                      <a:pt x="10" y="50"/>
                    </a:lnTo>
                    <a:lnTo>
                      <a:pt x="13" y="5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5" name="Freeform 72"/>
              <p:cNvSpPr/>
              <p:nvPr/>
            </p:nvSpPr>
            <p:spPr>
              <a:xfrm>
                <a:off x="8429" y="4851"/>
                <a:ext cx="26" cy="20"/>
              </a:xfrm>
              <a:custGeom>
                <a:avLst/>
                <a:gdLst/>
                <a:ahLst/>
                <a:cxnLst>
                  <a:cxn ang="0">
                    <a:pos x="1" y="6"/>
                  </a:cxn>
                  <a:cxn ang="0">
                    <a:pos x="2" y="6"/>
                  </a:cxn>
                  <a:cxn ang="0">
                    <a:pos x="3" y="6"/>
                  </a:cxn>
                  <a:cxn ang="0">
                    <a:pos x="5" y="6"/>
                  </a:cxn>
                  <a:cxn ang="0">
                    <a:pos x="6" y="6"/>
                  </a:cxn>
                  <a:cxn ang="0">
                    <a:pos x="7" y="6"/>
                  </a:cxn>
                  <a:cxn ang="0">
                    <a:pos x="8" y="6"/>
                  </a:cxn>
                  <a:cxn ang="0">
                    <a:pos x="9" y="5"/>
                  </a:cxn>
                  <a:cxn ang="0">
                    <a:pos x="8" y="5"/>
                  </a:cxn>
                  <a:cxn ang="0">
                    <a:pos x="8" y="4"/>
                  </a:cxn>
                  <a:cxn ang="0">
                    <a:pos x="7" y="4"/>
                  </a:cxn>
                  <a:cxn ang="0">
                    <a:pos x="6" y="3"/>
                  </a:cxn>
                  <a:cxn ang="0">
                    <a:pos x="5" y="3"/>
                  </a:cxn>
                  <a:cxn ang="0">
                    <a:pos x="4" y="4"/>
                  </a:cxn>
                  <a:cxn ang="0">
                    <a:pos x="4" y="4"/>
                  </a:cxn>
                  <a:cxn ang="0">
                    <a:pos x="3" y="4"/>
                  </a:cxn>
                  <a:cxn ang="0">
                    <a:pos x="3" y="4"/>
                  </a:cxn>
                  <a:cxn ang="0">
                    <a:pos x="3" y="3"/>
                  </a:cxn>
                  <a:cxn ang="0">
                    <a:pos x="2" y="2"/>
                  </a:cxn>
                  <a:cxn ang="0">
                    <a:pos x="2" y="0"/>
                  </a:cxn>
                  <a:cxn ang="0">
                    <a:pos x="0" y="0"/>
                  </a:cxn>
                  <a:cxn ang="0">
                    <a:pos x="0" y="2"/>
                  </a:cxn>
                  <a:cxn ang="0">
                    <a:pos x="0" y="4"/>
                  </a:cxn>
                  <a:cxn ang="0">
                    <a:pos x="1" y="5"/>
                  </a:cxn>
                  <a:cxn ang="0">
                    <a:pos x="1" y="6"/>
                  </a:cxn>
                </a:cxnLst>
                <a:pathLst>
                  <a:path w="77" h="62">
                    <a:moveTo>
                      <a:pt x="9" y="58"/>
                    </a:moveTo>
                    <a:lnTo>
                      <a:pt x="17" y="60"/>
                    </a:lnTo>
                    <a:lnTo>
                      <a:pt x="27" y="62"/>
                    </a:lnTo>
                    <a:lnTo>
                      <a:pt x="40" y="62"/>
                    </a:lnTo>
                    <a:lnTo>
                      <a:pt x="53" y="60"/>
                    </a:lnTo>
                    <a:lnTo>
                      <a:pt x="65" y="58"/>
                    </a:lnTo>
                    <a:lnTo>
                      <a:pt x="72" y="55"/>
                    </a:lnTo>
                    <a:lnTo>
                      <a:pt x="77" y="49"/>
                    </a:lnTo>
                    <a:lnTo>
                      <a:pt x="75" y="42"/>
                    </a:lnTo>
                    <a:lnTo>
                      <a:pt x="69" y="36"/>
                    </a:lnTo>
                    <a:lnTo>
                      <a:pt x="62" y="33"/>
                    </a:lnTo>
                    <a:lnTo>
                      <a:pt x="53" y="32"/>
                    </a:lnTo>
                    <a:lnTo>
                      <a:pt x="46" y="32"/>
                    </a:lnTo>
                    <a:lnTo>
                      <a:pt x="39" y="33"/>
                    </a:lnTo>
                    <a:lnTo>
                      <a:pt x="33" y="35"/>
                    </a:lnTo>
                    <a:lnTo>
                      <a:pt x="28" y="37"/>
                    </a:lnTo>
                    <a:lnTo>
                      <a:pt x="27" y="37"/>
                    </a:lnTo>
                    <a:lnTo>
                      <a:pt x="25" y="30"/>
                    </a:lnTo>
                    <a:lnTo>
                      <a:pt x="21" y="16"/>
                    </a:lnTo>
                    <a:lnTo>
                      <a:pt x="14" y="3"/>
                    </a:lnTo>
                    <a:lnTo>
                      <a:pt x="2" y="0"/>
                    </a:lnTo>
                    <a:lnTo>
                      <a:pt x="0" y="17"/>
                    </a:lnTo>
                    <a:lnTo>
                      <a:pt x="3" y="36"/>
                    </a:lnTo>
                    <a:lnTo>
                      <a:pt x="8" y="52"/>
                    </a:lnTo>
                    <a:lnTo>
                      <a:pt x="9" y="5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6" name="Freeform 73"/>
              <p:cNvSpPr/>
              <p:nvPr/>
            </p:nvSpPr>
            <p:spPr>
              <a:xfrm>
                <a:off x="8258" y="4730"/>
                <a:ext cx="122" cy="281"/>
              </a:xfrm>
              <a:custGeom>
                <a:avLst/>
                <a:gdLst/>
                <a:ahLst/>
                <a:cxnLst>
                  <a:cxn ang="0">
                    <a:pos x="1" y="17"/>
                  </a:cxn>
                  <a:cxn ang="0">
                    <a:pos x="2" y="27"/>
                  </a:cxn>
                  <a:cxn ang="0">
                    <a:pos x="5" y="38"/>
                  </a:cxn>
                  <a:cxn ang="0">
                    <a:pos x="9" y="52"/>
                  </a:cxn>
                  <a:cxn ang="0">
                    <a:pos x="14" y="65"/>
                  </a:cxn>
                  <a:cxn ang="0">
                    <a:pos x="18" y="77"/>
                  </a:cxn>
                  <a:cxn ang="0">
                    <a:pos x="22" y="86"/>
                  </a:cxn>
                  <a:cxn ang="0">
                    <a:pos x="25" y="89"/>
                  </a:cxn>
                  <a:cxn ang="0">
                    <a:pos x="30" y="92"/>
                  </a:cxn>
                  <a:cxn ang="0">
                    <a:pos x="35" y="93"/>
                  </a:cxn>
                  <a:cxn ang="0">
                    <a:pos x="39" y="93"/>
                  </a:cxn>
                  <a:cxn ang="0">
                    <a:pos x="40" y="92"/>
                  </a:cxn>
                  <a:cxn ang="0">
                    <a:pos x="41" y="90"/>
                  </a:cxn>
                  <a:cxn ang="0">
                    <a:pos x="39" y="89"/>
                  </a:cxn>
                  <a:cxn ang="0">
                    <a:pos x="37" y="88"/>
                  </a:cxn>
                  <a:cxn ang="0">
                    <a:pos x="33" y="87"/>
                  </a:cxn>
                  <a:cxn ang="0">
                    <a:pos x="29" y="86"/>
                  </a:cxn>
                  <a:cxn ang="0">
                    <a:pos x="27" y="84"/>
                  </a:cxn>
                  <a:cxn ang="0">
                    <a:pos x="24" y="78"/>
                  </a:cxn>
                  <a:cxn ang="0">
                    <a:pos x="22" y="71"/>
                  </a:cxn>
                  <a:cxn ang="0">
                    <a:pos x="19" y="64"/>
                  </a:cxn>
                  <a:cxn ang="0">
                    <a:pos x="17" y="57"/>
                  </a:cxn>
                  <a:cxn ang="0">
                    <a:pos x="14" y="48"/>
                  </a:cxn>
                  <a:cxn ang="0">
                    <a:pos x="10" y="39"/>
                  </a:cxn>
                  <a:cxn ang="0">
                    <a:pos x="7" y="29"/>
                  </a:cxn>
                  <a:cxn ang="0">
                    <a:pos x="5" y="19"/>
                  </a:cxn>
                  <a:cxn ang="0">
                    <a:pos x="5" y="12"/>
                  </a:cxn>
                  <a:cxn ang="0">
                    <a:pos x="4" y="7"/>
                  </a:cxn>
                  <a:cxn ang="0">
                    <a:pos x="2" y="3"/>
                  </a:cxn>
                  <a:cxn ang="0">
                    <a:pos x="1" y="0"/>
                  </a:cxn>
                  <a:cxn ang="0">
                    <a:pos x="1" y="2"/>
                  </a:cxn>
                  <a:cxn ang="0">
                    <a:pos x="1" y="8"/>
                  </a:cxn>
                </a:cxnLst>
                <a:pathLst>
                  <a:path w="366" h="845">
                    <a:moveTo>
                      <a:pt x="15" y="104"/>
                    </a:moveTo>
                    <a:lnTo>
                      <a:pt x="12" y="150"/>
                    </a:lnTo>
                    <a:lnTo>
                      <a:pt x="12" y="196"/>
                    </a:lnTo>
                    <a:lnTo>
                      <a:pt x="16" y="241"/>
                    </a:lnTo>
                    <a:lnTo>
                      <a:pt x="27" y="286"/>
                    </a:lnTo>
                    <a:lnTo>
                      <a:pt x="46" y="346"/>
                    </a:lnTo>
                    <a:lnTo>
                      <a:pt x="65" y="406"/>
                    </a:lnTo>
                    <a:lnTo>
                      <a:pt x="84" y="465"/>
                    </a:lnTo>
                    <a:lnTo>
                      <a:pt x="103" y="524"/>
                    </a:lnTo>
                    <a:lnTo>
                      <a:pt x="122" y="583"/>
                    </a:lnTo>
                    <a:lnTo>
                      <a:pt x="143" y="640"/>
                    </a:lnTo>
                    <a:lnTo>
                      <a:pt x="163" y="699"/>
                    </a:lnTo>
                    <a:lnTo>
                      <a:pt x="185" y="758"/>
                    </a:lnTo>
                    <a:lnTo>
                      <a:pt x="195" y="778"/>
                    </a:lnTo>
                    <a:lnTo>
                      <a:pt x="210" y="796"/>
                    </a:lnTo>
                    <a:lnTo>
                      <a:pt x="228" y="810"/>
                    </a:lnTo>
                    <a:lnTo>
                      <a:pt x="247" y="822"/>
                    </a:lnTo>
                    <a:lnTo>
                      <a:pt x="269" y="830"/>
                    </a:lnTo>
                    <a:lnTo>
                      <a:pt x="292" y="837"/>
                    </a:lnTo>
                    <a:lnTo>
                      <a:pt x="316" y="842"/>
                    </a:lnTo>
                    <a:lnTo>
                      <a:pt x="339" y="845"/>
                    </a:lnTo>
                    <a:lnTo>
                      <a:pt x="348" y="843"/>
                    </a:lnTo>
                    <a:lnTo>
                      <a:pt x="355" y="840"/>
                    </a:lnTo>
                    <a:lnTo>
                      <a:pt x="361" y="833"/>
                    </a:lnTo>
                    <a:lnTo>
                      <a:pt x="366" y="824"/>
                    </a:lnTo>
                    <a:lnTo>
                      <a:pt x="366" y="816"/>
                    </a:lnTo>
                    <a:lnTo>
                      <a:pt x="361" y="809"/>
                    </a:lnTo>
                    <a:lnTo>
                      <a:pt x="354" y="803"/>
                    </a:lnTo>
                    <a:lnTo>
                      <a:pt x="345" y="800"/>
                    </a:lnTo>
                    <a:lnTo>
                      <a:pt x="329" y="796"/>
                    </a:lnTo>
                    <a:lnTo>
                      <a:pt x="313" y="793"/>
                    </a:lnTo>
                    <a:lnTo>
                      <a:pt x="295" y="788"/>
                    </a:lnTo>
                    <a:lnTo>
                      <a:pt x="279" y="784"/>
                    </a:lnTo>
                    <a:lnTo>
                      <a:pt x="264" y="778"/>
                    </a:lnTo>
                    <a:lnTo>
                      <a:pt x="251" y="768"/>
                    </a:lnTo>
                    <a:lnTo>
                      <a:pt x="239" y="757"/>
                    </a:lnTo>
                    <a:lnTo>
                      <a:pt x="231" y="741"/>
                    </a:lnTo>
                    <a:lnTo>
                      <a:pt x="217" y="708"/>
                    </a:lnTo>
                    <a:lnTo>
                      <a:pt x="206" y="676"/>
                    </a:lnTo>
                    <a:lnTo>
                      <a:pt x="194" y="643"/>
                    </a:lnTo>
                    <a:lnTo>
                      <a:pt x="184" y="610"/>
                    </a:lnTo>
                    <a:lnTo>
                      <a:pt x="172" y="577"/>
                    </a:lnTo>
                    <a:lnTo>
                      <a:pt x="162" y="544"/>
                    </a:lnTo>
                    <a:lnTo>
                      <a:pt x="151" y="511"/>
                    </a:lnTo>
                    <a:lnTo>
                      <a:pt x="141" y="478"/>
                    </a:lnTo>
                    <a:lnTo>
                      <a:pt x="126" y="435"/>
                    </a:lnTo>
                    <a:lnTo>
                      <a:pt x="110" y="392"/>
                    </a:lnTo>
                    <a:lnTo>
                      <a:pt x="94" y="349"/>
                    </a:lnTo>
                    <a:lnTo>
                      <a:pt x="79" y="306"/>
                    </a:lnTo>
                    <a:lnTo>
                      <a:pt x="65" y="263"/>
                    </a:lnTo>
                    <a:lnTo>
                      <a:pt x="54" y="219"/>
                    </a:lnTo>
                    <a:lnTo>
                      <a:pt x="49" y="175"/>
                    </a:lnTo>
                    <a:lnTo>
                      <a:pt x="47" y="129"/>
                    </a:lnTo>
                    <a:lnTo>
                      <a:pt x="46" y="110"/>
                    </a:lnTo>
                    <a:lnTo>
                      <a:pt x="41" y="89"/>
                    </a:lnTo>
                    <a:lnTo>
                      <a:pt x="35" y="67"/>
                    </a:lnTo>
                    <a:lnTo>
                      <a:pt x="28" y="46"/>
                    </a:lnTo>
                    <a:lnTo>
                      <a:pt x="21" y="27"/>
                    </a:lnTo>
                    <a:lnTo>
                      <a:pt x="13" y="11"/>
                    </a:lnTo>
                    <a:lnTo>
                      <a:pt x="6" y="1"/>
                    </a:lnTo>
                    <a:lnTo>
                      <a:pt x="0" y="0"/>
                    </a:lnTo>
                    <a:lnTo>
                      <a:pt x="5" y="17"/>
                    </a:lnTo>
                    <a:lnTo>
                      <a:pt x="10" y="44"/>
                    </a:lnTo>
                    <a:lnTo>
                      <a:pt x="13" y="76"/>
                    </a:lnTo>
                    <a:lnTo>
                      <a:pt x="15" y="104"/>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7" name="Freeform 74"/>
              <p:cNvSpPr/>
              <p:nvPr/>
            </p:nvSpPr>
            <p:spPr>
              <a:xfrm>
                <a:off x="8517" y="4850"/>
                <a:ext cx="29" cy="29"/>
              </a:xfrm>
              <a:custGeom>
                <a:avLst/>
                <a:gdLst/>
                <a:ahLst/>
                <a:cxnLst>
                  <a:cxn ang="0">
                    <a:pos x="9" y="3"/>
                  </a:cxn>
                  <a:cxn ang="0">
                    <a:pos x="10" y="2"/>
                  </a:cxn>
                  <a:cxn ang="0">
                    <a:pos x="10" y="1"/>
                  </a:cxn>
                  <a:cxn ang="0">
                    <a:pos x="9" y="1"/>
                  </a:cxn>
                  <a:cxn ang="0">
                    <a:pos x="8" y="0"/>
                  </a:cxn>
                  <a:cxn ang="0">
                    <a:pos x="8" y="0"/>
                  </a:cxn>
                  <a:cxn ang="0">
                    <a:pos x="7" y="0"/>
                  </a:cxn>
                  <a:cxn ang="0">
                    <a:pos x="6" y="0"/>
                  </a:cxn>
                  <a:cxn ang="0">
                    <a:pos x="5" y="1"/>
                  </a:cxn>
                  <a:cxn ang="0">
                    <a:pos x="5" y="1"/>
                  </a:cxn>
                  <a:cxn ang="0">
                    <a:pos x="4" y="2"/>
                  </a:cxn>
                  <a:cxn ang="0">
                    <a:pos x="3" y="3"/>
                  </a:cxn>
                  <a:cxn ang="0">
                    <a:pos x="2" y="5"/>
                  </a:cxn>
                  <a:cxn ang="0">
                    <a:pos x="1" y="6"/>
                  </a:cxn>
                  <a:cxn ang="0">
                    <a:pos x="0" y="8"/>
                  </a:cxn>
                  <a:cxn ang="0">
                    <a:pos x="0" y="9"/>
                  </a:cxn>
                  <a:cxn ang="0">
                    <a:pos x="0" y="10"/>
                  </a:cxn>
                  <a:cxn ang="0">
                    <a:pos x="2" y="9"/>
                  </a:cxn>
                  <a:cxn ang="0">
                    <a:pos x="3" y="8"/>
                  </a:cxn>
                  <a:cxn ang="0">
                    <a:pos x="4" y="7"/>
                  </a:cxn>
                  <a:cxn ang="0">
                    <a:pos x="6" y="6"/>
                  </a:cxn>
                  <a:cxn ang="0">
                    <a:pos x="7" y="5"/>
                  </a:cxn>
                  <a:cxn ang="0">
                    <a:pos x="8" y="4"/>
                  </a:cxn>
                  <a:cxn ang="0">
                    <a:pos x="9" y="3"/>
                  </a:cxn>
                  <a:cxn ang="0">
                    <a:pos x="9" y="3"/>
                  </a:cxn>
                </a:cxnLst>
                <a:pathLst>
                  <a:path w="88" h="87">
                    <a:moveTo>
                      <a:pt x="84" y="23"/>
                    </a:moveTo>
                    <a:lnTo>
                      <a:pt x="88" y="18"/>
                    </a:lnTo>
                    <a:lnTo>
                      <a:pt x="87" y="13"/>
                    </a:lnTo>
                    <a:lnTo>
                      <a:pt x="84" y="7"/>
                    </a:lnTo>
                    <a:lnTo>
                      <a:pt x="77" y="3"/>
                    </a:lnTo>
                    <a:lnTo>
                      <a:pt x="71" y="0"/>
                    </a:lnTo>
                    <a:lnTo>
                      <a:pt x="62" y="0"/>
                    </a:lnTo>
                    <a:lnTo>
                      <a:pt x="55" y="1"/>
                    </a:lnTo>
                    <a:lnTo>
                      <a:pt x="47" y="5"/>
                    </a:lnTo>
                    <a:lnTo>
                      <a:pt x="41" y="11"/>
                    </a:lnTo>
                    <a:lnTo>
                      <a:pt x="34" y="20"/>
                    </a:lnTo>
                    <a:lnTo>
                      <a:pt x="25" y="31"/>
                    </a:lnTo>
                    <a:lnTo>
                      <a:pt x="16" y="43"/>
                    </a:lnTo>
                    <a:lnTo>
                      <a:pt x="9" y="56"/>
                    </a:lnTo>
                    <a:lnTo>
                      <a:pt x="3" y="69"/>
                    </a:lnTo>
                    <a:lnTo>
                      <a:pt x="0" y="79"/>
                    </a:lnTo>
                    <a:lnTo>
                      <a:pt x="3" y="87"/>
                    </a:lnTo>
                    <a:lnTo>
                      <a:pt x="15" y="80"/>
                    </a:lnTo>
                    <a:lnTo>
                      <a:pt x="27" y="70"/>
                    </a:lnTo>
                    <a:lnTo>
                      <a:pt x="40" y="60"/>
                    </a:lnTo>
                    <a:lnTo>
                      <a:pt x="52" y="50"/>
                    </a:lnTo>
                    <a:lnTo>
                      <a:pt x="63" y="41"/>
                    </a:lnTo>
                    <a:lnTo>
                      <a:pt x="72" y="33"/>
                    </a:lnTo>
                    <a:lnTo>
                      <a:pt x="80" y="27"/>
                    </a:lnTo>
                    <a:lnTo>
                      <a:pt x="84"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8" name="Freeform 75"/>
              <p:cNvSpPr/>
              <p:nvPr/>
            </p:nvSpPr>
            <p:spPr>
              <a:xfrm>
                <a:off x="8536" y="4890"/>
                <a:ext cx="34" cy="9"/>
              </a:xfrm>
              <a:custGeom>
                <a:avLst/>
                <a:gdLst/>
                <a:ahLst/>
                <a:cxnLst>
                  <a:cxn ang="0">
                    <a:pos x="10" y="2"/>
                  </a:cxn>
                  <a:cxn ang="0">
                    <a:pos x="11" y="2"/>
                  </a:cxn>
                  <a:cxn ang="0">
                    <a:pos x="11" y="2"/>
                  </a:cxn>
                  <a:cxn ang="0">
                    <a:pos x="11" y="2"/>
                  </a:cxn>
                  <a:cxn ang="0">
                    <a:pos x="11" y="1"/>
                  </a:cxn>
                  <a:cxn ang="0">
                    <a:pos x="11" y="1"/>
                  </a:cxn>
                  <a:cxn ang="0">
                    <a:pos x="11" y="0"/>
                  </a:cxn>
                  <a:cxn ang="0">
                    <a:pos x="10" y="0"/>
                  </a:cxn>
                  <a:cxn ang="0">
                    <a:pos x="10" y="0"/>
                  </a:cxn>
                  <a:cxn ang="0">
                    <a:pos x="8" y="0"/>
                  </a:cxn>
                  <a:cxn ang="0">
                    <a:pos x="7" y="1"/>
                  </a:cxn>
                  <a:cxn ang="0">
                    <a:pos x="5" y="1"/>
                  </a:cxn>
                  <a:cxn ang="0">
                    <a:pos x="4" y="1"/>
                  </a:cxn>
                  <a:cxn ang="0">
                    <a:pos x="2" y="2"/>
                  </a:cxn>
                  <a:cxn ang="0">
                    <a:pos x="1" y="2"/>
                  </a:cxn>
                  <a:cxn ang="0">
                    <a:pos x="0" y="2"/>
                  </a:cxn>
                  <a:cxn ang="0">
                    <a:pos x="0" y="3"/>
                  </a:cxn>
                  <a:cxn ang="0">
                    <a:pos x="1" y="3"/>
                  </a:cxn>
                  <a:cxn ang="0">
                    <a:pos x="2" y="3"/>
                  </a:cxn>
                  <a:cxn ang="0">
                    <a:pos x="4" y="3"/>
                  </a:cxn>
                  <a:cxn ang="0">
                    <a:pos x="5" y="3"/>
                  </a:cxn>
                  <a:cxn ang="0">
                    <a:pos x="6" y="3"/>
                  </a:cxn>
                  <a:cxn ang="0">
                    <a:pos x="7" y="3"/>
                  </a:cxn>
                  <a:cxn ang="0">
                    <a:pos x="9" y="3"/>
                  </a:cxn>
                  <a:cxn ang="0">
                    <a:pos x="10" y="2"/>
                  </a:cxn>
                </a:cxnLst>
                <a:pathLst>
                  <a:path w="102" h="28">
                    <a:moveTo>
                      <a:pt x="92" y="23"/>
                    </a:moveTo>
                    <a:lnTo>
                      <a:pt x="96" y="21"/>
                    </a:lnTo>
                    <a:lnTo>
                      <a:pt x="99" y="18"/>
                    </a:lnTo>
                    <a:lnTo>
                      <a:pt x="101" y="14"/>
                    </a:lnTo>
                    <a:lnTo>
                      <a:pt x="102" y="10"/>
                    </a:lnTo>
                    <a:lnTo>
                      <a:pt x="101" y="5"/>
                    </a:lnTo>
                    <a:lnTo>
                      <a:pt x="98" y="1"/>
                    </a:lnTo>
                    <a:lnTo>
                      <a:pt x="93" y="0"/>
                    </a:lnTo>
                    <a:lnTo>
                      <a:pt x="88" y="0"/>
                    </a:lnTo>
                    <a:lnTo>
                      <a:pt x="76" y="2"/>
                    </a:lnTo>
                    <a:lnTo>
                      <a:pt x="61" y="7"/>
                    </a:lnTo>
                    <a:lnTo>
                      <a:pt x="46" y="10"/>
                    </a:lnTo>
                    <a:lnTo>
                      <a:pt x="33" y="11"/>
                    </a:lnTo>
                    <a:lnTo>
                      <a:pt x="20" y="15"/>
                    </a:lnTo>
                    <a:lnTo>
                      <a:pt x="10" y="18"/>
                    </a:lnTo>
                    <a:lnTo>
                      <a:pt x="2" y="23"/>
                    </a:lnTo>
                    <a:lnTo>
                      <a:pt x="0" y="28"/>
                    </a:lnTo>
                    <a:lnTo>
                      <a:pt x="10" y="28"/>
                    </a:lnTo>
                    <a:lnTo>
                      <a:pt x="20" y="28"/>
                    </a:lnTo>
                    <a:lnTo>
                      <a:pt x="32" y="27"/>
                    </a:lnTo>
                    <a:lnTo>
                      <a:pt x="44" y="27"/>
                    </a:lnTo>
                    <a:lnTo>
                      <a:pt x="55" y="25"/>
                    </a:lnTo>
                    <a:lnTo>
                      <a:pt x="67" y="24"/>
                    </a:lnTo>
                    <a:lnTo>
                      <a:pt x="80" y="24"/>
                    </a:lnTo>
                    <a:lnTo>
                      <a:pt x="92" y="23"/>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29" name="Freeform 76"/>
              <p:cNvSpPr/>
              <p:nvPr/>
            </p:nvSpPr>
            <p:spPr>
              <a:xfrm>
                <a:off x="8550" y="4921"/>
                <a:ext cx="47" cy="12"/>
              </a:xfrm>
              <a:custGeom>
                <a:avLst/>
                <a:gdLst/>
                <a:ahLst/>
                <a:cxnLst>
                  <a:cxn ang="0">
                    <a:pos x="14" y="4"/>
                  </a:cxn>
                  <a:cxn ang="0">
                    <a:pos x="14" y="4"/>
                  </a:cxn>
                  <a:cxn ang="0">
                    <a:pos x="15" y="4"/>
                  </a:cxn>
                  <a:cxn ang="0">
                    <a:pos x="15" y="3"/>
                  </a:cxn>
                  <a:cxn ang="0">
                    <a:pos x="16" y="2"/>
                  </a:cxn>
                  <a:cxn ang="0">
                    <a:pos x="16" y="2"/>
                  </a:cxn>
                  <a:cxn ang="0">
                    <a:pos x="15" y="1"/>
                  </a:cxn>
                  <a:cxn ang="0">
                    <a:pos x="15" y="1"/>
                  </a:cxn>
                  <a:cxn ang="0">
                    <a:pos x="14" y="0"/>
                  </a:cxn>
                  <a:cxn ang="0">
                    <a:pos x="12" y="0"/>
                  </a:cxn>
                  <a:cxn ang="0">
                    <a:pos x="10" y="0"/>
                  </a:cxn>
                  <a:cxn ang="0">
                    <a:pos x="7" y="0"/>
                  </a:cxn>
                  <a:cxn ang="0">
                    <a:pos x="5" y="0"/>
                  </a:cxn>
                  <a:cxn ang="0">
                    <a:pos x="3" y="0"/>
                  </a:cxn>
                  <a:cxn ang="0">
                    <a:pos x="1" y="0"/>
                  </a:cxn>
                  <a:cxn ang="0">
                    <a:pos x="0" y="1"/>
                  </a:cxn>
                  <a:cxn ang="0">
                    <a:pos x="0" y="1"/>
                  </a:cxn>
                  <a:cxn ang="0">
                    <a:pos x="1" y="1"/>
                  </a:cxn>
                  <a:cxn ang="0">
                    <a:pos x="2" y="2"/>
                  </a:cxn>
                  <a:cxn ang="0">
                    <a:pos x="4" y="2"/>
                  </a:cxn>
                  <a:cxn ang="0">
                    <a:pos x="6" y="2"/>
                  </a:cxn>
                  <a:cxn ang="0">
                    <a:pos x="8" y="3"/>
                  </a:cxn>
                  <a:cxn ang="0">
                    <a:pos x="10" y="3"/>
                  </a:cxn>
                  <a:cxn ang="0">
                    <a:pos x="12" y="4"/>
                  </a:cxn>
                  <a:cxn ang="0">
                    <a:pos x="14" y="4"/>
                  </a:cxn>
                </a:cxnLst>
                <a:pathLst>
                  <a:path w="142" h="36">
                    <a:moveTo>
                      <a:pt x="123" y="36"/>
                    </a:moveTo>
                    <a:lnTo>
                      <a:pt x="129" y="36"/>
                    </a:lnTo>
                    <a:lnTo>
                      <a:pt x="135" y="32"/>
                    </a:lnTo>
                    <a:lnTo>
                      <a:pt x="139" y="28"/>
                    </a:lnTo>
                    <a:lnTo>
                      <a:pt x="142" y="20"/>
                    </a:lnTo>
                    <a:lnTo>
                      <a:pt x="141" y="15"/>
                    </a:lnTo>
                    <a:lnTo>
                      <a:pt x="138" y="9"/>
                    </a:lnTo>
                    <a:lnTo>
                      <a:pt x="133" y="5"/>
                    </a:lnTo>
                    <a:lnTo>
                      <a:pt x="126" y="3"/>
                    </a:lnTo>
                    <a:lnTo>
                      <a:pt x="108" y="3"/>
                    </a:lnTo>
                    <a:lnTo>
                      <a:pt x="88" y="3"/>
                    </a:lnTo>
                    <a:lnTo>
                      <a:pt x="67" y="2"/>
                    </a:lnTo>
                    <a:lnTo>
                      <a:pt x="47" y="2"/>
                    </a:lnTo>
                    <a:lnTo>
                      <a:pt x="29" y="0"/>
                    </a:lnTo>
                    <a:lnTo>
                      <a:pt x="13" y="2"/>
                    </a:lnTo>
                    <a:lnTo>
                      <a:pt x="4" y="5"/>
                    </a:lnTo>
                    <a:lnTo>
                      <a:pt x="0" y="9"/>
                    </a:lnTo>
                    <a:lnTo>
                      <a:pt x="10" y="12"/>
                    </a:lnTo>
                    <a:lnTo>
                      <a:pt x="22" y="16"/>
                    </a:lnTo>
                    <a:lnTo>
                      <a:pt x="38" y="19"/>
                    </a:lnTo>
                    <a:lnTo>
                      <a:pt x="54" y="22"/>
                    </a:lnTo>
                    <a:lnTo>
                      <a:pt x="72" y="25"/>
                    </a:lnTo>
                    <a:lnTo>
                      <a:pt x="89" y="29"/>
                    </a:lnTo>
                    <a:lnTo>
                      <a:pt x="107" y="32"/>
                    </a:lnTo>
                    <a:lnTo>
                      <a:pt x="123" y="36"/>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30" name="Freeform 77"/>
              <p:cNvSpPr/>
              <p:nvPr/>
            </p:nvSpPr>
            <p:spPr>
              <a:xfrm>
                <a:off x="8416" y="4751"/>
                <a:ext cx="117" cy="200"/>
              </a:xfrm>
              <a:custGeom>
                <a:avLst/>
                <a:gdLst/>
                <a:ahLst/>
                <a:cxnLst>
                  <a:cxn ang="0">
                    <a:pos x="12" y="33"/>
                  </a:cxn>
                  <a:cxn ang="0">
                    <a:pos x="15" y="37"/>
                  </a:cxn>
                  <a:cxn ang="0">
                    <a:pos x="17" y="42"/>
                  </a:cxn>
                  <a:cxn ang="0">
                    <a:pos x="20" y="46"/>
                  </a:cxn>
                  <a:cxn ang="0">
                    <a:pos x="23" y="50"/>
                  </a:cxn>
                  <a:cxn ang="0">
                    <a:pos x="26" y="54"/>
                  </a:cxn>
                  <a:cxn ang="0">
                    <a:pos x="29" y="58"/>
                  </a:cxn>
                  <a:cxn ang="0">
                    <a:pos x="32" y="62"/>
                  </a:cxn>
                  <a:cxn ang="0">
                    <a:pos x="36" y="66"/>
                  </a:cxn>
                  <a:cxn ang="0">
                    <a:pos x="36" y="66"/>
                  </a:cxn>
                  <a:cxn ang="0">
                    <a:pos x="37" y="67"/>
                  </a:cxn>
                  <a:cxn ang="0">
                    <a:pos x="37" y="67"/>
                  </a:cxn>
                  <a:cxn ang="0">
                    <a:pos x="38" y="66"/>
                  </a:cxn>
                  <a:cxn ang="0">
                    <a:pos x="39" y="66"/>
                  </a:cxn>
                  <a:cxn ang="0">
                    <a:pos x="39" y="65"/>
                  </a:cxn>
                  <a:cxn ang="0">
                    <a:pos x="39" y="65"/>
                  </a:cxn>
                  <a:cxn ang="0">
                    <a:pos x="39" y="64"/>
                  </a:cxn>
                  <a:cxn ang="0">
                    <a:pos x="36" y="60"/>
                  </a:cxn>
                  <a:cxn ang="0">
                    <a:pos x="34" y="55"/>
                  </a:cxn>
                  <a:cxn ang="0">
                    <a:pos x="31" y="51"/>
                  </a:cxn>
                  <a:cxn ang="0">
                    <a:pos x="28" y="47"/>
                  </a:cxn>
                  <a:cxn ang="0">
                    <a:pos x="25" y="43"/>
                  </a:cxn>
                  <a:cxn ang="0">
                    <a:pos x="22" y="39"/>
                  </a:cxn>
                  <a:cxn ang="0">
                    <a:pos x="19" y="35"/>
                  </a:cxn>
                  <a:cxn ang="0">
                    <a:pos x="16" y="31"/>
                  </a:cxn>
                  <a:cxn ang="0">
                    <a:pos x="14" y="27"/>
                  </a:cxn>
                  <a:cxn ang="0">
                    <a:pos x="11" y="22"/>
                  </a:cxn>
                  <a:cxn ang="0">
                    <a:pos x="9" y="17"/>
                  </a:cxn>
                  <a:cxn ang="0">
                    <a:pos x="7" y="12"/>
                  </a:cxn>
                  <a:cxn ang="0">
                    <a:pos x="4" y="7"/>
                  </a:cxn>
                  <a:cxn ang="0">
                    <a:pos x="2" y="3"/>
                  </a:cxn>
                  <a:cxn ang="0">
                    <a:pos x="1" y="1"/>
                  </a:cxn>
                  <a:cxn ang="0">
                    <a:pos x="0" y="0"/>
                  </a:cxn>
                  <a:cxn ang="0">
                    <a:pos x="0" y="2"/>
                  </a:cxn>
                  <a:cxn ang="0">
                    <a:pos x="1" y="5"/>
                  </a:cxn>
                  <a:cxn ang="0">
                    <a:pos x="3" y="9"/>
                  </a:cxn>
                  <a:cxn ang="0">
                    <a:pos x="4" y="14"/>
                  </a:cxn>
                  <a:cxn ang="0">
                    <a:pos x="6" y="19"/>
                  </a:cxn>
                  <a:cxn ang="0">
                    <a:pos x="8" y="24"/>
                  </a:cxn>
                  <a:cxn ang="0">
                    <a:pos x="10" y="29"/>
                  </a:cxn>
                  <a:cxn ang="0">
                    <a:pos x="12" y="33"/>
                  </a:cxn>
                </a:cxnLst>
                <a:pathLst>
                  <a:path w="351" h="601">
                    <a:moveTo>
                      <a:pt x="108" y="298"/>
                    </a:moveTo>
                    <a:lnTo>
                      <a:pt x="132" y="338"/>
                    </a:lnTo>
                    <a:lnTo>
                      <a:pt x="157" y="377"/>
                    </a:lnTo>
                    <a:lnTo>
                      <a:pt x="182" y="414"/>
                    </a:lnTo>
                    <a:lnTo>
                      <a:pt x="208" y="451"/>
                    </a:lnTo>
                    <a:lnTo>
                      <a:pt x="235" y="487"/>
                    </a:lnTo>
                    <a:lnTo>
                      <a:pt x="263" y="523"/>
                    </a:lnTo>
                    <a:lnTo>
                      <a:pt x="292" y="559"/>
                    </a:lnTo>
                    <a:lnTo>
                      <a:pt x="321" y="594"/>
                    </a:lnTo>
                    <a:lnTo>
                      <a:pt x="326" y="598"/>
                    </a:lnTo>
                    <a:lnTo>
                      <a:pt x="332" y="601"/>
                    </a:lnTo>
                    <a:lnTo>
                      <a:pt x="337" y="601"/>
                    </a:lnTo>
                    <a:lnTo>
                      <a:pt x="343" y="598"/>
                    </a:lnTo>
                    <a:lnTo>
                      <a:pt x="349" y="594"/>
                    </a:lnTo>
                    <a:lnTo>
                      <a:pt x="351" y="588"/>
                    </a:lnTo>
                    <a:lnTo>
                      <a:pt x="351" y="582"/>
                    </a:lnTo>
                    <a:lnTo>
                      <a:pt x="349" y="576"/>
                    </a:lnTo>
                    <a:lnTo>
                      <a:pt x="327" y="538"/>
                    </a:lnTo>
                    <a:lnTo>
                      <a:pt x="304" y="499"/>
                    </a:lnTo>
                    <a:lnTo>
                      <a:pt x="279" y="463"/>
                    </a:lnTo>
                    <a:lnTo>
                      <a:pt x="252" y="427"/>
                    </a:lnTo>
                    <a:lnTo>
                      <a:pt x="224" y="391"/>
                    </a:lnTo>
                    <a:lnTo>
                      <a:pt x="198" y="355"/>
                    </a:lnTo>
                    <a:lnTo>
                      <a:pt x="172" y="319"/>
                    </a:lnTo>
                    <a:lnTo>
                      <a:pt x="147" y="280"/>
                    </a:lnTo>
                    <a:lnTo>
                      <a:pt x="125" y="242"/>
                    </a:lnTo>
                    <a:lnTo>
                      <a:pt x="101" y="197"/>
                    </a:lnTo>
                    <a:lnTo>
                      <a:pt x="79" y="150"/>
                    </a:lnTo>
                    <a:lnTo>
                      <a:pt x="59" y="104"/>
                    </a:lnTo>
                    <a:lnTo>
                      <a:pt x="38" y="62"/>
                    </a:lnTo>
                    <a:lnTo>
                      <a:pt x="22" y="29"/>
                    </a:lnTo>
                    <a:lnTo>
                      <a:pt x="9" y="7"/>
                    </a:lnTo>
                    <a:lnTo>
                      <a:pt x="0" y="0"/>
                    </a:lnTo>
                    <a:lnTo>
                      <a:pt x="4" y="17"/>
                    </a:lnTo>
                    <a:lnTo>
                      <a:pt x="13" y="45"/>
                    </a:lnTo>
                    <a:lnTo>
                      <a:pt x="23" y="82"/>
                    </a:lnTo>
                    <a:lnTo>
                      <a:pt x="38" y="124"/>
                    </a:lnTo>
                    <a:lnTo>
                      <a:pt x="54" y="170"/>
                    </a:lnTo>
                    <a:lnTo>
                      <a:pt x="70" y="216"/>
                    </a:lnTo>
                    <a:lnTo>
                      <a:pt x="89" y="259"/>
                    </a:lnTo>
                    <a:lnTo>
                      <a:pt x="108" y="298"/>
                    </a:lnTo>
                    <a:close/>
                  </a:path>
                </a:pathLst>
              </a:custGeom>
              <a:solidFill>
                <a:srgbClr val="000000"/>
              </a:solidFill>
              <a:ln w="9525" cap="flat" cmpd="sng">
                <a:solidFill>
                  <a:srgbClr val="969696"/>
                </a:solidFill>
                <a:prstDash val="solid"/>
                <a:round/>
                <a:headEnd type="none" w="med" len="med"/>
                <a:tailEnd type="none" w="med" len="med"/>
              </a:ln>
            </p:spPr>
            <p:txBody>
              <a:bodyPr/>
              <a:p>
                <a:endParaRPr lang="zh-CN" altLang="en-US"/>
              </a:p>
            </p:txBody>
          </p:sp>
          <p:sp>
            <p:nvSpPr>
              <p:cNvPr id="126031" name="Freeform 78"/>
              <p:cNvSpPr/>
              <p:nvPr/>
            </p:nvSpPr>
            <p:spPr>
              <a:xfrm>
                <a:off x="8100" y="4623"/>
                <a:ext cx="541" cy="495"/>
              </a:xfrm>
              <a:custGeom>
                <a:avLst/>
                <a:gdLst/>
                <a:ahLst/>
                <a:cxnLst>
                  <a:cxn ang="0">
                    <a:pos x="47" y="0"/>
                  </a:cxn>
                  <a:cxn ang="0">
                    <a:pos x="48" y="0"/>
                  </a:cxn>
                  <a:cxn ang="0">
                    <a:pos x="50" y="0"/>
                  </a:cxn>
                  <a:cxn ang="0">
                    <a:pos x="53" y="0"/>
                  </a:cxn>
                  <a:cxn ang="0">
                    <a:pos x="57" y="0"/>
                  </a:cxn>
                  <a:cxn ang="0">
                    <a:pos x="62" y="1"/>
                  </a:cxn>
                  <a:cxn ang="0">
                    <a:pos x="67" y="1"/>
                  </a:cxn>
                  <a:cxn ang="0">
                    <a:pos x="73" y="2"/>
                  </a:cxn>
                  <a:cxn ang="0">
                    <a:pos x="80" y="3"/>
                  </a:cxn>
                  <a:cxn ang="0">
                    <a:pos x="87" y="4"/>
                  </a:cxn>
                  <a:cxn ang="0">
                    <a:pos x="94" y="5"/>
                  </a:cxn>
                  <a:cxn ang="0">
                    <a:pos x="101" y="6"/>
                  </a:cxn>
                  <a:cxn ang="0">
                    <a:pos x="109" y="8"/>
                  </a:cxn>
                  <a:cxn ang="0">
                    <a:pos x="117" y="10"/>
                  </a:cxn>
                  <a:cxn ang="0">
                    <a:pos x="124" y="13"/>
                  </a:cxn>
                  <a:cxn ang="0">
                    <a:pos x="132" y="16"/>
                  </a:cxn>
                  <a:cxn ang="0">
                    <a:pos x="124" y="74"/>
                  </a:cxn>
                  <a:cxn ang="0">
                    <a:pos x="125" y="75"/>
                  </a:cxn>
                  <a:cxn ang="0">
                    <a:pos x="126" y="76"/>
                  </a:cxn>
                  <a:cxn ang="0">
                    <a:pos x="127" y="80"/>
                  </a:cxn>
                  <a:cxn ang="0">
                    <a:pos x="126" y="87"/>
                  </a:cxn>
                  <a:cxn ang="0">
                    <a:pos x="102" y="115"/>
                  </a:cxn>
                  <a:cxn ang="0">
                    <a:pos x="95" y="124"/>
                  </a:cxn>
                  <a:cxn ang="0">
                    <a:pos x="93" y="124"/>
                  </a:cxn>
                  <a:cxn ang="0">
                    <a:pos x="91" y="123"/>
                  </a:cxn>
                  <a:cxn ang="0">
                    <a:pos x="87" y="123"/>
                  </a:cxn>
                  <a:cxn ang="0">
                    <a:pos x="83" y="122"/>
                  </a:cxn>
                  <a:cxn ang="0">
                    <a:pos x="78" y="122"/>
                  </a:cxn>
                  <a:cxn ang="0">
                    <a:pos x="72" y="121"/>
                  </a:cxn>
                  <a:cxn ang="0">
                    <a:pos x="66" y="119"/>
                  </a:cxn>
                  <a:cxn ang="0">
                    <a:pos x="59" y="118"/>
                  </a:cxn>
                  <a:cxn ang="0">
                    <a:pos x="51" y="116"/>
                  </a:cxn>
                  <a:cxn ang="0">
                    <a:pos x="44" y="114"/>
                  </a:cxn>
                  <a:cxn ang="0">
                    <a:pos x="36" y="112"/>
                  </a:cxn>
                  <a:cxn ang="0">
                    <a:pos x="28" y="109"/>
                  </a:cxn>
                  <a:cxn ang="0">
                    <a:pos x="20" y="106"/>
                  </a:cxn>
                  <a:cxn ang="0">
                    <a:pos x="12" y="103"/>
                  </a:cxn>
                  <a:cxn ang="0">
                    <a:pos x="5" y="100"/>
                  </a:cxn>
                  <a:cxn ang="0">
                    <a:pos x="1" y="97"/>
                  </a:cxn>
                  <a:cxn ang="0">
                    <a:pos x="1" y="95"/>
                  </a:cxn>
                  <a:cxn ang="0">
                    <a:pos x="0" y="91"/>
                  </a:cxn>
                  <a:cxn ang="0">
                    <a:pos x="0" y="87"/>
                  </a:cxn>
                  <a:cxn ang="0">
                    <a:pos x="28" y="63"/>
                  </a:cxn>
                  <a:cxn ang="0">
                    <a:pos x="28" y="62"/>
                  </a:cxn>
                  <a:cxn ang="0">
                    <a:pos x="28" y="60"/>
                  </a:cxn>
                  <a:cxn ang="0">
                    <a:pos x="30" y="57"/>
                  </a:cxn>
                  <a:cxn ang="0">
                    <a:pos x="34" y="53"/>
                  </a:cxn>
                </a:cxnLst>
                <a:pathLst>
                  <a:path w="2164" h="1979">
                    <a:moveTo>
                      <a:pt x="743" y="0"/>
                    </a:moveTo>
                    <a:lnTo>
                      <a:pt x="746" y="0"/>
                    </a:lnTo>
                    <a:lnTo>
                      <a:pt x="753" y="0"/>
                    </a:lnTo>
                    <a:lnTo>
                      <a:pt x="763" y="0"/>
                    </a:lnTo>
                    <a:lnTo>
                      <a:pt x="778" y="0"/>
                    </a:lnTo>
                    <a:lnTo>
                      <a:pt x="798" y="1"/>
                    </a:lnTo>
                    <a:lnTo>
                      <a:pt x="822" y="1"/>
                    </a:lnTo>
                    <a:lnTo>
                      <a:pt x="848" y="2"/>
                    </a:lnTo>
                    <a:lnTo>
                      <a:pt x="878" y="3"/>
                    </a:lnTo>
                    <a:lnTo>
                      <a:pt x="912" y="5"/>
                    </a:lnTo>
                    <a:lnTo>
                      <a:pt x="949" y="7"/>
                    </a:lnTo>
                    <a:lnTo>
                      <a:pt x="987" y="10"/>
                    </a:lnTo>
                    <a:lnTo>
                      <a:pt x="1030" y="13"/>
                    </a:lnTo>
                    <a:lnTo>
                      <a:pt x="1074" y="16"/>
                    </a:lnTo>
                    <a:lnTo>
                      <a:pt x="1121" y="21"/>
                    </a:lnTo>
                    <a:lnTo>
                      <a:pt x="1171" y="27"/>
                    </a:lnTo>
                    <a:lnTo>
                      <a:pt x="1222" y="32"/>
                    </a:lnTo>
                    <a:lnTo>
                      <a:pt x="1275" y="39"/>
                    </a:lnTo>
                    <a:lnTo>
                      <a:pt x="1329" y="47"/>
                    </a:lnTo>
                    <a:lnTo>
                      <a:pt x="1386" y="56"/>
                    </a:lnTo>
                    <a:lnTo>
                      <a:pt x="1443" y="65"/>
                    </a:lnTo>
                    <a:lnTo>
                      <a:pt x="1502" y="75"/>
                    </a:lnTo>
                    <a:lnTo>
                      <a:pt x="1560" y="87"/>
                    </a:lnTo>
                    <a:lnTo>
                      <a:pt x="1620" y="100"/>
                    </a:lnTo>
                    <a:lnTo>
                      <a:pt x="1681" y="115"/>
                    </a:lnTo>
                    <a:lnTo>
                      <a:pt x="1742" y="129"/>
                    </a:lnTo>
                    <a:lnTo>
                      <a:pt x="1804" y="146"/>
                    </a:lnTo>
                    <a:lnTo>
                      <a:pt x="1865" y="164"/>
                    </a:lnTo>
                    <a:lnTo>
                      <a:pt x="1926" y="183"/>
                    </a:lnTo>
                    <a:lnTo>
                      <a:pt x="1987" y="204"/>
                    </a:lnTo>
                    <a:lnTo>
                      <a:pt x="2047" y="226"/>
                    </a:lnTo>
                    <a:lnTo>
                      <a:pt x="2105" y="250"/>
                    </a:lnTo>
                    <a:lnTo>
                      <a:pt x="2164" y="276"/>
                    </a:lnTo>
                    <a:lnTo>
                      <a:pt x="1975" y="1184"/>
                    </a:lnTo>
                    <a:lnTo>
                      <a:pt x="1980" y="1185"/>
                    </a:lnTo>
                    <a:lnTo>
                      <a:pt x="1990" y="1191"/>
                    </a:lnTo>
                    <a:lnTo>
                      <a:pt x="2005" y="1201"/>
                    </a:lnTo>
                    <a:lnTo>
                      <a:pt x="2020" y="1219"/>
                    </a:lnTo>
                    <a:lnTo>
                      <a:pt x="2031" y="1246"/>
                    </a:lnTo>
                    <a:lnTo>
                      <a:pt x="2035" y="1282"/>
                    </a:lnTo>
                    <a:lnTo>
                      <a:pt x="2030" y="1332"/>
                    </a:lnTo>
                    <a:lnTo>
                      <a:pt x="2011" y="1394"/>
                    </a:lnTo>
                    <a:lnTo>
                      <a:pt x="1681" y="1835"/>
                    </a:lnTo>
                    <a:lnTo>
                      <a:pt x="1636" y="1835"/>
                    </a:lnTo>
                    <a:lnTo>
                      <a:pt x="1512" y="1979"/>
                    </a:lnTo>
                    <a:lnTo>
                      <a:pt x="1510" y="1979"/>
                    </a:lnTo>
                    <a:lnTo>
                      <a:pt x="1502" y="1978"/>
                    </a:lnTo>
                    <a:lnTo>
                      <a:pt x="1490" y="1977"/>
                    </a:lnTo>
                    <a:lnTo>
                      <a:pt x="1474" y="1974"/>
                    </a:lnTo>
                    <a:lnTo>
                      <a:pt x="1451" y="1972"/>
                    </a:lnTo>
                    <a:lnTo>
                      <a:pt x="1427" y="1969"/>
                    </a:lnTo>
                    <a:lnTo>
                      <a:pt x="1397" y="1965"/>
                    </a:lnTo>
                    <a:lnTo>
                      <a:pt x="1364" y="1961"/>
                    </a:lnTo>
                    <a:lnTo>
                      <a:pt x="1328" y="1955"/>
                    </a:lnTo>
                    <a:lnTo>
                      <a:pt x="1288" y="1950"/>
                    </a:lnTo>
                    <a:lnTo>
                      <a:pt x="1246" y="1943"/>
                    </a:lnTo>
                    <a:lnTo>
                      <a:pt x="1200" y="1935"/>
                    </a:lnTo>
                    <a:lnTo>
                      <a:pt x="1152" y="1927"/>
                    </a:lnTo>
                    <a:lnTo>
                      <a:pt x="1101" y="1918"/>
                    </a:lnTo>
                    <a:lnTo>
                      <a:pt x="1049" y="1907"/>
                    </a:lnTo>
                    <a:lnTo>
                      <a:pt x="993" y="1896"/>
                    </a:lnTo>
                    <a:lnTo>
                      <a:pt x="937" y="1884"/>
                    </a:lnTo>
                    <a:lnTo>
                      <a:pt x="878" y="1871"/>
                    </a:lnTo>
                    <a:lnTo>
                      <a:pt x="818" y="1856"/>
                    </a:lnTo>
                    <a:lnTo>
                      <a:pt x="758" y="1841"/>
                    </a:lnTo>
                    <a:lnTo>
                      <a:pt x="696" y="1824"/>
                    </a:lnTo>
                    <a:lnTo>
                      <a:pt x="634" y="1806"/>
                    </a:lnTo>
                    <a:lnTo>
                      <a:pt x="572" y="1787"/>
                    </a:lnTo>
                    <a:lnTo>
                      <a:pt x="508" y="1768"/>
                    </a:lnTo>
                    <a:lnTo>
                      <a:pt x="445" y="1747"/>
                    </a:lnTo>
                    <a:lnTo>
                      <a:pt x="382" y="1724"/>
                    </a:lnTo>
                    <a:lnTo>
                      <a:pt x="319" y="1700"/>
                    </a:lnTo>
                    <a:lnTo>
                      <a:pt x="257" y="1674"/>
                    </a:lnTo>
                    <a:lnTo>
                      <a:pt x="196" y="1647"/>
                    </a:lnTo>
                    <a:lnTo>
                      <a:pt x="135" y="1620"/>
                    </a:lnTo>
                    <a:lnTo>
                      <a:pt x="76" y="1590"/>
                    </a:lnTo>
                    <a:lnTo>
                      <a:pt x="19" y="1559"/>
                    </a:lnTo>
                    <a:lnTo>
                      <a:pt x="18" y="1554"/>
                    </a:lnTo>
                    <a:lnTo>
                      <a:pt x="13" y="1538"/>
                    </a:lnTo>
                    <a:lnTo>
                      <a:pt x="8" y="1514"/>
                    </a:lnTo>
                    <a:lnTo>
                      <a:pt x="3" y="1486"/>
                    </a:lnTo>
                    <a:lnTo>
                      <a:pt x="0" y="1456"/>
                    </a:lnTo>
                    <a:lnTo>
                      <a:pt x="0" y="1424"/>
                    </a:lnTo>
                    <a:lnTo>
                      <a:pt x="3" y="1396"/>
                    </a:lnTo>
                    <a:lnTo>
                      <a:pt x="13" y="1371"/>
                    </a:lnTo>
                    <a:lnTo>
                      <a:pt x="443" y="1002"/>
                    </a:lnTo>
                    <a:lnTo>
                      <a:pt x="441" y="999"/>
                    </a:lnTo>
                    <a:lnTo>
                      <a:pt x="440" y="989"/>
                    </a:lnTo>
                    <a:lnTo>
                      <a:pt x="440" y="973"/>
                    </a:lnTo>
                    <a:lnTo>
                      <a:pt x="445" y="953"/>
                    </a:lnTo>
                    <a:lnTo>
                      <a:pt x="453" y="928"/>
                    </a:lnTo>
                    <a:lnTo>
                      <a:pt x="471" y="902"/>
                    </a:lnTo>
                    <a:lnTo>
                      <a:pt x="497" y="874"/>
                    </a:lnTo>
                    <a:lnTo>
                      <a:pt x="534" y="845"/>
                    </a:lnTo>
                    <a:lnTo>
                      <a:pt x="743" y="0"/>
                    </a:lnTo>
                    <a:close/>
                  </a:path>
                </a:pathLst>
              </a:custGeom>
              <a:solidFill>
                <a:srgbClr val="808080"/>
              </a:solidFill>
              <a:ln w="9525">
                <a:noFill/>
              </a:ln>
            </p:spPr>
            <p:txBody>
              <a:bodyPr/>
              <a:p>
                <a:endParaRPr lang="zh-CN" altLang="en-US"/>
              </a:p>
            </p:txBody>
          </p:sp>
          <p:sp>
            <p:nvSpPr>
              <p:cNvPr id="126032" name="Freeform 79"/>
              <p:cNvSpPr/>
              <p:nvPr/>
            </p:nvSpPr>
            <p:spPr>
              <a:xfrm>
                <a:off x="8279" y="4656"/>
                <a:ext cx="311" cy="233"/>
              </a:xfrm>
              <a:custGeom>
                <a:avLst/>
                <a:gdLst/>
                <a:ahLst/>
                <a:cxnLst>
                  <a:cxn ang="0">
                    <a:pos x="10" y="0"/>
                  </a:cxn>
                  <a:cxn ang="0">
                    <a:pos x="78" y="14"/>
                  </a:cxn>
                  <a:cxn ang="0">
                    <a:pos x="67" y="58"/>
                  </a:cxn>
                  <a:cxn ang="0">
                    <a:pos x="0" y="43"/>
                  </a:cxn>
                  <a:cxn ang="0">
                    <a:pos x="10" y="0"/>
                  </a:cxn>
                </a:cxnLst>
                <a:pathLst>
                  <a:path w="1244" h="930">
                    <a:moveTo>
                      <a:pt x="164" y="0"/>
                    </a:moveTo>
                    <a:lnTo>
                      <a:pt x="1244" y="214"/>
                    </a:lnTo>
                    <a:lnTo>
                      <a:pt x="1067" y="930"/>
                    </a:lnTo>
                    <a:lnTo>
                      <a:pt x="0" y="688"/>
                    </a:lnTo>
                    <a:lnTo>
                      <a:pt x="164" y="0"/>
                    </a:lnTo>
                    <a:close/>
                  </a:path>
                </a:pathLst>
              </a:custGeom>
              <a:solidFill>
                <a:srgbClr val="C0C0C0"/>
              </a:solidFill>
              <a:ln w="9525">
                <a:noFill/>
              </a:ln>
            </p:spPr>
            <p:txBody>
              <a:bodyPr/>
              <a:p>
                <a:endParaRPr lang="zh-CN" altLang="en-US"/>
              </a:p>
            </p:txBody>
          </p:sp>
          <p:sp>
            <p:nvSpPr>
              <p:cNvPr id="126033" name="Freeform 80"/>
              <p:cNvSpPr/>
              <p:nvPr/>
            </p:nvSpPr>
            <p:spPr>
              <a:xfrm>
                <a:off x="8300" y="4672"/>
                <a:ext cx="237" cy="91"/>
              </a:xfrm>
              <a:custGeom>
                <a:avLst/>
                <a:gdLst/>
                <a:ahLst/>
                <a:cxnLst>
                  <a:cxn ang="0">
                    <a:pos x="7" y="0"/>
                  </a:cxn>
                  <a:cxn ang="0">
                    <a:pos x="59" y="9"/>
                  </a:cxn>
                  <a:cxn ang="0">
                    <a:pos x="12" y="7"/>
                  </a:cxn>
                  <a:cxn ang="0">
                    <a:pos x="0" y="23"/>
                  </a:cxn>
                  <a:cxn ang="0">
                    <a:pos x="7" y="0"/>
                  </a:cxn>
                </a:cxnLst>
                <a:pathLst>
                  <a:path w="952" h="366">
                    <a:moveTo>
                      <a:pt x="112" y="0"/>
                    </a:moveTo>
                    <a:lnTo>
                      <a:pt x="952" y="153"/>
                    </a:lnTo>
                    <a:lnTo>
                      <a:pt x="200" y="108"/>
                    </a:lnTo>
                    <a:lnTo>
                      <a:pt x="0" y="366"/>
                    </a:lnTo>
                    <a:lnTo>
                      <a:pt x="112" y="0"/>
                    </a:lnTo>
                    <a:close/>
                  </a:path>
                </a:pathLst>
              </a:custGeom>
              <a:solidFill>
                <a:srgbClr val="FFFFFF"/>
              </a:solidFill>
              <a:ln w="9525">
                <a:noFill/>
              </a:ln>
            </p:spPr>
            <p:txBody>
              <a:bodyPr/>
              <a:p>
                <a:endParaRPr lang="zh-CN" altLang="en-US"/>
              </a:p>
            </p:txBody>
          </p:sp>
          <p:sp>
            <p:nvSpPr>
              <p:cNvPr id="126034" name="Freeform 81"/>
              <p:cNvSpPr/>
              <p:nvPr/>
            </p:nvSpPr>
            <p:spPr>
              <a:xfrm>
                <a:off x="8222" y="4885"/>
                <a:ext cx="315" cy="84"/>
              </a:xfrm>
              <a:custGeom>
                <a:avLst/>
                <a:gdLst/>
                <a:ahLst/>
                <a:cxnLst>
                  <a:cxn ang="0">
                    <a:pos x="3" y="0"/>
                  </a:cxn>
                  <a:cxn ang="0">
                    <a:pos x="79" y="18"/>
                  </a:cxn>
                  <a:cxn ang="0">
                    <a:pos x="77" y="21"/>
                  </a:cxn>
                  <a:cxn ang="0">
                    <a:pos x="0" y="2"/>
                  </a:cxn>
                  <a:cxn ang="0">
                    <a:pos x="3" y="0"/>
                  </a:cxn>
                </a:cxnLst>
                <a:pathLst>
                  <a:path w="1259" h="337">
                    <a:moveTo>
                      <a:pt x="40" y="0"/>
                    </a:moveTo>
                    <a:lnTo>
                      <a:pt x="1259" y="288"/>
                    </a:lnTo>
                    <a:lnTo>
                      <a:pt x="1226" y="337"/>
                    </a:lnTo>
                    <a:lnTo>
                      <a:pt x="0" y="32"/>
                    </a:lnTo>
                    <a:lnTo>
                      <a:pt x="40" y="0"/>
                    </a:lnTo>
                    <a:close/>
                  </a:path>
                </a:pathLst>
              </a:custGeom>
              <a:solidFill>
                <a:srgbClr val="7F7F7F"/>
              </a:solidFill>
              <a:ln w="9525">
                <a:noFill/>
              </a:ln>
            </p:spPr>
            <p:txBody>
              <a:bodyPr/>
              <a:p>
                <a:endParaRPr lang="zh-CN" altLang="en-US"/>
              </a:p>
            </p:txBody>
          </p:sp>
          <p:sp>
            <p:nvSpPr>
              <p:cNvPr id="126035" name="Freeform 82"/>
              <p:cNvSpPr/>
              <p:nvPr/>
            </p:nvSpPr>
            <p:spPr>
              <a:xfrm>
                <a:off x="8193" y="4910"/>
                <a:ext cx="316" cy="86"/>
              </a:xfrm>
              <a:custGeom>
                <a:avLst/>
                <a:gdLst/>
                <a:ahLst/>
                <a:cxnLst>
                  <a:cxn ang="0">
                    <a:pos x="3" y="0"/>
                  </a:cxn>
                  <a:cxn ang="0">
                    <a:pos x="79" y="18"/>
                  </a:cxn>
                  <a:cxn ang="0">
                    <a:pos x="76" y="22"/>
                  </a:cxn>
                  <a:cxn ang="0">
                    <a:pos x="0" y="2"/>
                  </a:cxn>
                  <a:cxn ang="0">
                    <a:pos x="3" y="0"/>
                  </a:cxn>
                </a:cxnLst>
                <a:pathLst>
                  <a:path w="1265" h="342">
                    <a:moveTo>
                      <a:pt x="46" y="0"/>
                    </a:moveTo>
                    <a:lnTo>
                      <a:pt x="1265" y="286"/>
                    </a:lnTo>
                    <a:lnTo>
                      <a:pt x="1226" y="342"/>
                    </a:lnTo>
                    <a:lnTo>
                      <a:pt x="0" y="37"/>
                    </a:lnTo>
                    <a:lnTo>
                      <a:pt x="46" y="0"/>
                    </a:lnTo>
                    <a:close/>
                  </a:path>
                </a:pathLst>
              </a:custGeom>
              <a:solidFill>
                <a:srgbClr val="7F7F7F"/>
              </a:solidFill>
              <a:ln w="9525">
                <a:noFill/>
              </a:ln>
            </p:spPr>
            <p:txBody>
              <a:bodyPr/>
              <a:p>
                <a:endParaRPr lang="zh-CN" altLang="en-US"/>
              </a:p>
            </p:txBody>
          </p:sp>
          <p:sp>
            <p:nvSpPr>
              <p:cNvPr id="126036" name="Freeform 83"/>
              <p:cNvSpPr/>
              <p:nvPr/>
            </p:nvSpPr>
            <p:spPr>
              <a:xfrm>
                <a:off x="8165" y="4936"/>
                <a:ext cx="316" cy="86"/>
              </a:xfrm>
              <a:custGeom>
                <a:avLst/>
                <a:gdLst/>
                <a:ahLst/>
                <a:cxnLst>
                  <a:cxn ang="0">
                    <a:pos x="3" y="0"/>
                  </a:cxn>
                  <a:cxn ang="0">
                    <a:pos x="79" y="18"/>
                  </a:cxn>
                  <a:cxn ang="0">
                    <a:pos x="77" y="22"/>
                  </a:cxn>
                  <a:cxn ang="0">
                    <a:pos x="0" y="2"/>
                  </a:cxn>
                  <a:cxn ang="0">
                    <a:pos x="3" y="0"/>
                  </a:cxn>
                </a:cxnLst>
                <a:pathLst>
                  <a:path w="1264" h="344">
                    <a:moveTo>
                      <a:pt x="45" y="0"/>
                    </a:moveTo>
                    <a:lnTo>
                      <a:pt x="1264" y="287"/>
                    </a:lnTo>
                    <a:lnTo>
                      <a:pt x="1224" y="344"/>
                    </a:lnTo>
                    <a:lnTo>
                      <a:pt x="0" y="37"/>
                    </a:lnTo>
                    <a:lnTo>
                      <a:pt x="45" y="0"/>
                    </a:lnTo>
                    <a:close/>
                  </a:path>
                </a:pathLst>
              </a:custGeom>
              <a:solidFill>
                <a:srgbClr val="7F7F7F"/>
              </a:solidFill>
              <a:ln w="9525">
                <a:noFill/>
              </a:ln>
            </p:spPr>
            <p:txBody>
              <a:bodyPr/>
              <a:p>
                <a:endParaRPr lang="zh-CN" altLang="en-US"/>
              </a:p>
            </p:txBody>
          </p:sp>
          <p:sp>
            <p:nvSpPr>
              <p:cNvPr id="126037" name="Freeform 84"/>
              <p:cNvSpPr/>
              <p:nvPr/>
            </p:nvSpPr>
            <p:spPr>
              <a:xfrm>
                <a:off x="8243" y="4989"/>
                <a:ext cx="48" cy="19"/>
              </a:xfrm>
              <a:custGeom>
                <a:avLst/>
                <a:gdLst/>
                <a:ahLst/>
                <a:cxnLst>
                  <a:cxn ang="0">
                    <a:pos x="1" y="0"/>
                  </a:cxn>
                  <a:cxn ang="0">
                    <a:pos x="2" y="0"/>
                  </a:cxn>
                  <a:cxn ang="0">
                    <a:pos x="3" y="0"/>
                  </a:cxn>
                  <a:cxn ang="0">
                    <a:pos x="4" y="0"/>
                  </a:cxn>
                  <a:cxn ang="0">
                    <a:pos x="6" y="0"/>
                  </a:cxn>
                  <a:cxn ang="0">
                    <a:pos x="8" y="0"/>
                  </a:cxn>
                  <a:cxn ang="0">
                    <a:pos x="9" y="1"/>
                  </a:cxn>
                  <a:cxn ang="0">
                    <a:pos x="11" y="2"/>
                  </a:cxn>
                  <a:cxn ang="0">
                    <a:pos x="12" y="3"/>
                  </a:cxn>
                  <a:cxn ang="0">
                    <a:pos x="12" y="3"/>
                  </a:cxn>
                  <a:cxn ang="0">
                    <a:pos x="12" y="4"/>
                  </a:cxn>
                  <a:cxn ang="0">
                    <a:pos x="12" y="4"/>
                  </a:cxn>
                  <a:cxn ang="0">
                    <a:pos x="12" y="4"/>
                  </a:cxn>
                  <a:cxn ang="0">
                    <a:pos x="12" y="5"/>
                  </a:cxn>
                  <a:cxn ang="0">
                    <a:pos x="11" y="5"/>
                  </a:cxn>
                  <a:cxn ang="0">
                    <a:pos x="10" y="5"/>
                  </a:cxn>
                  <a:cxn ang="0">
                    <a:pos x="9" y="4"/>
                  </a:cxn>
                  <a:cxn ang="0">
                    <a:pos x="9" y="4"/>
                  </a:cxn>
                  <a:cxn ang="0">
                    <a:pos x="9" y="4"/>
                  </a:cxn>
                  <a:cxn ang="0">
                    <a:pos x="9" y="3"/>
                  </a:cxn>
                  <a:cxn ang="0">
                    <a:pos x="8" y="3"/>
                  </a:cxn>
                  <a:cxn ang="0">
                    <a:pos x="7" y="2"/>
                  </a:cxn>
                  <a:cxn ang="0">
                    <a:pos x="6" y="2"/>
                  </a:cxn>
                  <a:cxn ang="0">
                    <a:pos x="4" y="2"/>
                  </a:cxn>
                  <a:cxn ang="0">
                    <a:pos x="2" y="2"/>
                  </a:cxn>
                  <a:cxn ang="0">
                    <a:pos x="1" y="2"/>
                  </a:cxn>
                  <a:cxn ang="0">
                    <a:pos x="1" y="2"/>
                  </a:cxn>
                  <a:cxn ang="0">
                    <a:pos x="1" y="1"/>
                  </a:cxn>
                  <a:cxn ang="0">
                    <a:pos x="0" y="1"/>
                  </a:cxn>
                  <a:cxn ang="0">
                    <a:pos x="0" y="1"/>
                  </a:cxn>
                  <a:cxn ang="0">
                    <a:pos x="0" y="1"/>
                  </a:cxn>
                  <a:cxn ang="0">
                    <a:pos x="1" y="0"/>
                  </a:cxn>
                  <a:cxn ang="0">
                    <a:pos x="1" y="0"/>
                  </a:cxn>
                </a:cxnLst>
                <a:pathLst>
                  <a:path w="190" h="79">
                    <a:moveTo>
                      <a:pt x="18" y="1"/>
                    </a:moveTo>
                    <a:lnTo>
                      <a:pt x="23" y="1"/>
                    </a:lnTo>
                    <a:lnTo>
                      <a:pt x="40" y="0"/>
                    </a:lnTo>
                    <a:lnTo>
                      <a:pt x="62" y="0"/>
                    </a:lnTo>
                    <a:lnTo>
                      <a:pt x="90" y="3"/>
                    </a:lnTo>
                    <a:lnTo>
                      <a:pt x="120" y="8"/>
                    </a:lnTo>
                    <a:lnTo>
                      <a:pt x="148" y="18"/>
                    </a:lnTo>
                    <a:lnTo>
                      <a:pt x="173" y="34"/>
                    </a:lnTo>
                    <a:lnTo>
                      <a:pt x="190" y="57"/>
                    </a:lnTo>
                    <a:lnTo>
                      <a:pt x="190" y="58"/>
                    </a:lnTo>
                    <a:lnTo>
                      <a:pt x="190" y="62"/>
                    </a:lnTo>
                    <a:lnTo>
                      <a:pt x="189" y="68"/>
                    </a:lnTo>
                    <a:lnTo>
                      <a:pt x="187" y="74"/>
                    </a:lnTo>
                    <a:lnTo>
                      <a:pt x="181" y="78"/>
                    </a:lnTo>
                    <a:lnTo>
                      <a:pt x="173" y="79"/>
                    </a:lnTo>
                    <a:lnTo>
                      <a:pt x="160" y="78"/>
                    </a:lnTo>
                    <a:lnTo>
                      <a:pt x="143" y="71"/>
                    </a:lnTo>
                    <a:lnTo>
                      <a:pt x="143" y="69"/>
                    </a:lnTo>
                    <a:lnTo>
                      <a:pt x="142" y="65"/>
                    </a:lnTo>
                    <a:lnTo>
                      <a:pt x="139" y="58"/>
                    </a:lnTo>
                    <a:lnTo>
                      <a:pt x="130" y="50"/>
                    </a:lnTo>
                    <a:lnTo>
                      <a:pt x="116" y="42"/>
                    </a:lnTo>
                    <a:lnTo>
                      <a:pt x="94" y="35"/>
                    </a:lnTo>
                    <a:lnTo>
                      <a:pt x="63" y="32"/>
                    </a:lnTo>
                    <a:lnTo>
                      <a:pt x="22" y="32"/>
                    </a:lnTo>
                    <a:lnTo>
                      <a:pt x="20" y="32"/>
                    </a:lnTo>
                    <a:lnTo>
                      <a:pt x="15" y="30"/>
                    </a:lnTo>
                    <a:lnTo>
                      <a:pt x="9" y="27"/>
                    </a:lnTo>
                    <a:lnTo>
                      <a:pt x="5" y="24"/>
                    </a:lnTo>
                    <a:lnTo>
                      <a:pt x="0" y="19"/>
                    </a:lnTo>
                    <a:lnTo>
                      <a:pt x="0" y="15"/>
                    </a:lnTo>
                    <a:lnTo>
                      <a:pt x="6" y="8"/>
                    </a:lnTo>
                    <a:lnTo>
                      <a:pt x="18" y="1"/>
                    </a:lnTo>
                    <a:close/>
                  </a:path>
                </a:pathLst>
              </a:custGeom>
              <a:solidFill>
                <a:srgbClr val="BFBFBF"/>
              </a:solidFill>
              <a:ln w="9525">
                <a:noFill/>
              </a:ln>
            </p:spPr>
            <p:txBody>
              <a:bodyPr/>
              <a:p>
                <a:endParaRPr lang="zh-CN" altLang="en-US"/>
              </a:p>
            </p:txBody>
          </p:sp>
          <p:sp>
            <p:nvSpPr>
              <p:cNvPr id="126038" name="Freeform 85"/>
              <p:cNvSpPr/>
              <p:nvPr/>
            </p:nvSpPr>
            <p:spPr>
              <a:xfrm>
                <a:off x="8246" y="5003"/>
                <a:ext cx="27" cy="15"/>
              </a:xfrm>
              <a:custGeom>
                <a:avLst/>
                <a:gdLst/>
                <a:ahLst/>
                <a:cxnLst>
                  <a:cxn ang="0">
                    <a:pos x="3" y="3"/>
                  </a:cxn>
                  <a:cxn ang="0">
                    <a:pos x="4" y="4"/>
                  </a:cxn>
                  <a:cxn ang="0">
                    <a:pos x="4" y="4"/>
                  </a:cxn>
                  <a:cxn ang="0">
                    <a:pos x="5" y="4"/>
                  </a:cxn>
                  <a:cxn ang="0">
                    <a:pos x="5" y="4"/>
                  </a:cxn>
                  <a:cxn ang="0">
                    <a:pos x="6" y="4"/>
                  </a:cxn>
                  <a:cxn ang="0">
                    <a:pos x="6" y="3"/>
                  </a:cxn>
                  <a:cxn ang="0">
                    <a:pos x="7" y="3"/>
                  </a:cxn>
                  <a:cxn ang="0">
                    <a:pos x="7" y="3"/>
                  </a:cxn>
                  <a:cxn ang="0">
                    <a:pos x="7" y="2"/>
                  </a:cxn>
                  <a:cxn ang="0">
                    <a:pos x="7" y="2"/>
                  </a:cxn>
                  <a:cxn ang="0">
                    <a:pos x="7" y="2"/>
                  </a:cxn>
                  <a:cxn ang="0">
                    <a:pos x="6" y="1"/>
                  </a:cxn>
                  <a:cxn ang="0">
                    <a:pos x="6" y="1"/>
                  </a:cxn>
                  <a:cxn ang="0">
                    <a:pos x="5" y="1"/>
                  </a:cxn>
                  <a:cxn ang="0">
                    <a:pos x="5" y="0"/>
                  </a:cxn>
                  <a:cxn ang="0">
                    <a:pos x="4" y="0"/>
                  </a:cxn>
                  <a:cxn ang="0">
                    <a:pos x="3" y="0"/>
                  </a:cxn>
                  <a:cxn ang="0">
                    <a:pos x="3" y="0"/>
                  </a:cxn>
                  <a:cxn ang="0">
                    <a:pos x="2" y="0"/>
                  </a:cxn>
                  <a:cxn ang="0">
                    <a:pos x="2" y="0"/>
                  </a:cxn>
                  <a:cxn ang="0">
                    <a:pos x="1" y="0"/>
                  </a:cxn>
                  <a:cxn ang="0">
                    <a:pos x="1" y="0"/>
                  </a:cxn>
                  <a:cxn ang="0">
                    <a:pos x="0" y="0"/>
                  </a:cxn>
                  <a:cxn ang="0">
                    <a:pos x="0" y="1"/>
                  </a:cxn>
                  <a:cxn ang="0">
                    <a:pos x="0" y="1"/>
                  </a:cxn>
                  <a:cxn ang="0">
                    <a:pos x="0" y="1"/>
                  </a:cxn>
                  <a:cxn ang="0">
                    <a:pos x="0" y="2"/>
                  </a:cxn>
                  <a:cxn ang="0">
                    <a:pos x="1" y="2"/>
                  </a:cxn>
                  <a:cxn ang="0">
                    <a:pos x="1" y="2"/>
                  </a:cxn>
                  <a:cxn ang="0">
                    <a:pos x="2" y="3"/>
                  </a:cxn>
                  <a:cxn ang="0">
                    <a:pos x="2" y="3"/>
                  </a:cxn>
                  <a:cxn ang="0">
                    <a:pos x="3" y="3"/>
                  </a:cxn>
                </a:cxnLst>
                <a:pathLst>
                  <a:path w="107" h="63">
                    <a:moveTo>
                      <a:pt x="43" y="58"/>
                    </a:moveTo>
                    <a:lnTo>
                      <a:pt x="54" y="61"/>
                    </a:lnTo>
                    <a:lnTo>
                      <a:pt x="64" y="63"/>
                    </a:lnTo>
                    <a:lnTo>
                      <a:pt x="74" y="63"/>
                    </a:lnTo>
                    <a:lnTo>
                      <a:pt x="83" y="63"/>
                    </a:lnTo>
                    <a:lnTo>
                      <a:pt x="91" y="61"/>
                    </a:lnTo>
                    <a:lnTo>
                      <a:pt x="97" y="57"/>
                    </a:lnTo>
                    <a:lnTo>
                      <a:pt x="102" y="54"/>
                    </a:lnTo>
                    <a:lnTo>
                      <a:pt x="106" y="48"/>
                    </a:lnTo>
                    <a:lnTo>
                      <a:pt x="107" y="43"/>
                    </a:lnTo>
                    <a:lnTo>
                      <a:pt x="106" y="37"/>
                    </a:lnTo>
                    <a:lnTo>
                      <a:pt x="102" y="30"/>
                    </a:lnTo>
                    <a:lnTo>
                      <a:pt x="97" y="24"/>
                    </a:lnTo>
                    <a:lnTo>
                      <a:pt x="90" y="19"/>
                    </a:lnTo>
                    <a:lnTo>
                      <a:pt x="82" y="13"/>
                    </a:lnTo>
                    <a:lnTo>
                      <a:pt x="74" y="9"/>
                    </a:lnTo>
                    <a:lnTo>
                      <a:pt x="63" y="4"/>
                    </a:lnTo>
                    <a:lnTo>
                      <a:pt x="53" y="2"/>
                    </a:lnTo>
                    <a:lnTo>
                      <a:pt x="42" y="0"/>
                    </a:lnTo>
                    <a:lnTo>
                      <a:pt x="32" y="0"/>
                    </a:lnTo>
                    <a:lnTo>
                      <a:pt x="23" y="1"/>
                    </a:lnTo>
                    <a:lnTo>
                      <a:pt x="15" y="2"/>
                    </a:lnTo>
                    <a:lnTo>
                      <a:pt x="8" y="5"/>
                    </a:lnTo>
                    <a:lnTo>
                      <a:pt x="3" y="10"/>
                    </a:lnTo>
                    <a:lnTo>
                      <a:pt x="1" y="14"/>
                    </a:lnTo>
                    <a:lnTo>
                      <a:pt x="0" y="20"/>
                    </a:lnTo>
                    <a:lnTo>
                      <a:pt x="1" y="26"/>
                    </a:lnTo>
                    <a:lnTo>
                      <a:pt x="5" y="32"/>
                    </a:lnTo>
                    <a:lnTo>
                      <a:pt x="9" y="38"/>
                    </a:lnTo>
                    <a:lnTo>
                      <a:pt x="16" y="44"/>
                    </a:lnTo>
                    <a:lnTo>
                      <a:pt x="25" y="49"/>
                    </a:lnTo>
                    <a:lnTo>
                      <a:pt x="33" y="54"/>
                    </a:lnTo>
                    <a:lnTo>
                      <a:pt x="43" y="58"/>
                    </a:lnTo>
                    <a:close/>
                  </a:path>
                </a:pathLst>
              </a:custGeom>
              <a:solidFill>
                <a:srgbClr val="BFBFBF"/>
              </a:solidFill>
              <a:ln w="9525">
                <a:noFill/>
              </a:ln>
            </p:spPr>
            <p:txBody>
              <a:bodyPr/>
              <a:p>
                <a:endParaRPr lang="zh-CN" altLang="en-US"/>
              </a:p>
            </p:txBody>
          </p:sp>
          <p:sp>
            <p:nvSpPr>
              <p:cNvPr id="126039" name="Freeform 86"/>
              <p:cNvSpPr/>
              <p:nvPr/>
            </p:nvSpPr>
            <p:spPr>
              <a:xfrm>
                <a:off x="8113" y="4974"/>
                <a:ext cx="367" cy="131"/>
              </a:xfrm>
              <a:custGeom>
                <a:avLst/>
                <a:gdLst/>
                <a:ahLst/>
                <a:cxnLst>
                  <a:cxn ang="0">
                    <a:pos x="91" y="25"/>
                  </a:cxn>
                  <a:cxn ang="0">
                    <a:pos x="90" y="25"/>
                  </a:cxn>
                  <a:cxn ang="0">
                    <a:pos x="88" y="25"/>
                  </a:cxn>
                  <a:cxn ang="0">
                    <a:pos x="84" y="24"/>
                  </a:cxn>
                  <a:cxn ang="0">
                    <a:pos x="80" y="24"/>
                  </a:cxn>
                  <a:cxn ang="0">
                    <a:pos x="75" y="23"/>
                  </a:cxn>
                  <a:cxn ang="0">
                    <a:pos x="69" y="22"/>
                  </a:cxn>
                  <a:cxn ang="0">
                    <a:pos x="63" y="21"/>
                  </a:cxn>
                  <a:cxn ang="0">
                    <a:pos x="56" y="19"/>
                  </a:cxn>
                  <a:cxn ang="0">
                    <a:pos x="49" y="18"/>
                  </a:cxn>
                  <a:cxn ang="0">
                    <a:pos x="41" y="16"/>
                  </a:cxn>
                  <a:cxn ang="0">
                    <a:pos x="34" y="13"/>
                  </a:cxn>
                  <a:cxn ang="0">
                    <a:pos x="26" y="11"/>
                  </a:cxn>
                  <a:cxn ang="0">
                    <a:pos x="18" y="8"/>
                  </a:cxn>
                  <a:cxn ang="0">
                    <a:pos x="11" y="5"/>
                  </a:cxn>
                  <a:cxn ang="0">
                    <a:pos x="4" y="2"/>
                  </a:cxn>
                  <a:cxn ang="0">
                    <a:pos x="0" y="0"/>
                  </a:cxn>
                  <a:cxn ang="0">
                    <a:pos x="0" y="2"/>
                  </a:cxn>
                  <a:cxn ang="0">
                    <a:pos x="0" y="5"/>
                  </a:cxn>
                  <a:cxn ang="0">
                    <a:pos x="0" y="8"/>
                  </a:cxn>
                  <a:cxn ang="0">
                    <a:pos x="1" y="9"/>
                  </a:cxn>
                  <a:cxn ang="0">
                    <a:pos x="2" y="9"/>
                  </a:cxn>
                  <a:cxn ang="0">
                    <a:pos x="3" y="10"/>
                  </a:cxn>
                  <a:cxn ang="0">
                    <a:pos x="5" y="11"/>
                  </a:cxn>
                  <a:cxn ang="0">
                    <a:pos x="8" y="12"/>
                  </a:cxn>
                  <a:cxn ang="0">
                    <a:pos x="11" y="14"/>
                  </a:cxn>
                  <a:cxn ang="0">
                    <a:pos x="15" y="15"/>
                  </a:cxn>
                  <a:cxn ang="0">
                    <a:pos x="20" y="17"/>
                  </a:cxn>
                  <a:cxn ang="0">
                    <a:pos x="25" y="19"/>
                  </a:cxn>
                  <a:cxn ang="0">
                    <a:pos x="32" y="21"/>
                  </a:cxn>
                  <a:cxn ang="0">
                    <a:pos x="38" y="23"/>
                  </a:cxn>
                  <a:cxn ang="0">
                    <a:pos x="46" y="25"/>
                  </a:cxn>
                  <a:cxn ang="0">
                    <a:pos x="54" y="27"/>
                  </a:cxn>
                  <a:cxn ang="0">
                    <a:pos x="63" y="29"/>
                  </a:cxn>
                  <a:cxn ang="0">
                    <a:pos x="73" y="30"/>
                  </a:cxn>
                  <a:cxn ang="0">
                    <a:pos x="84" y="32"/>
                  </a:cxn>
                  <a:cxn ang="0">
                    <a:pos x="90" y="33"/>
                  </a:cxn>
                  <a:cxn ang="0">
                    <a:pos x="90" y="31"/>
                  </a:cxn>
                  <a:cxn ang="0">
                    <a:pos x="91" y="29"/>
                  </a:cxn>
                  <a:cxn ang="0">
                    <a:pos x="92" y="27"/>
                  </a:cxn>
                </a:cxnLst>
                <a:pathLst>
                  <a:path w="1469" h="525">
                    <a:moveTo>
                      <a:pt x="1468" y="407"/>
                    </a:moveTo>
                    <a:lnTo>
                      <a:pt x="1466" y="407"/>
                    </a:lnTo>
                    <a:lnTo>
                      <a:pt x="1458" y="406"/>
                    </a:lnTo>
                    <a:lnTo>
                      <a:pt x="1446" y="405"/>
                    </a:lnTo>
                    <a:lnTo>
                      <a:pt x="1429" y="402"/>
                    </a:lnTo>
                    <a:lnTo>
                      <a:pt x="1408" y="400"/>
                    </a:lnTo>
                    <a:lnTo>
                      <a:pt x="1382" y="397"/>
                    </a:lnTo>
                    <a:lnTo>
                      <a:pt x="1353" y="393"/>
                    </a:lnTo>
                    <a:lnTo>
                      <a:pt x="1321" y="389"/>
                    </a:lnTo>
                    <a:lnTo>
                      <a:pt x="1285" y="383"/>
                    </a:lnTo>
                    <a:lnTo>
                      <a:pt x="1245" y="376"/>
                    </a:lnTo>
                    <a:lnTo>
                      <a:pt x="1203" y="370"/>
                    </a:lnTo>
                    <a:lnTo>
                      <a:pt x="1158" y="363"/>
                    </a:lnTo>
                    <a:lnTo>
                      <a:pt x="1110" y="354"/>
                    </a:lnTo>
                    <a:lnTo>
                      <a:pt x="1060" y="345"/>
                    </a:lnTo>
                    <a:lnTo>
                      <a:pt x="1008" y="335"/>
                    </a:lnTo>
                    <a:lnTo>
                      <a:pt x="954" y="323"/>
                    </a:lnTo>
                    <a:lnTo>
                      <a:pt x="898" y="311"/>
                    </a:lnTo>
                    <a:lnTo>
                      <a:pt x="841" y="299"/>
                    </a:lnTo>
                    <a:lnTo>
                      <a:pt x="782" y="284"/>
                    </a:lnTo>
                    <a:lnTo>
                      <a:pt x="723" y="269"/>
                    </a:lnTo>
                    <a:lnTo>
                      <a:pt x="663" y="253"/>
                    </a:lnTo>
                    <a:lnTo>
                      <a:pt x="602" y="236"/>
                    </a:lnTo>
                    <a:lnTo>
                      <a:pt x="541" y="217"/>
                    </a:lnTo>
                    <a:lnTo>
                      <a:pt x="480" y="198"/>
                    </a:lnTo>
                    <a:lnTo>
                      <a:pt x="417" y="178"/>
                    </a:lnTo>
                    <a:lnTo>
                      <a:pt x="356" y="156"/>
                    </a:lnTo>
                    <a:lnTo>
                      <a:pt x="296" y="133"/>
                    </a:lnTo>
                    <a:lnTo>
                      <a:pt x="236" y="109"/>
                    </a:lnTo>
                    <a:lnTo>
                      <a:pt x="178" y="84"/>
                    </a:lnTo>
                    <a:lnTo>
                      <a:pt x="120" y="57"/>
                    </a:lnTo>
                    <a:lnTo>
                      <a:pt x="64" y="29"/>
                    </a:lnTo>
                    <a:lnTo>
                      <a:pt x="9" y="0"/>
                    </a:lnTo>
                    <a:lnTo>
                      <a:pt x="7" y="4"/>
                    </a:lnTo>
                    <a:lnTo>
                      <a:pt x="5" y="15"/>
                    </a:lnTo>
                    <a:lnTo>
                      <a:pt x="3" y="33"/>
                    </a:lnTo>
                    <a:lnTo>
                      <a:pt x="0" y="55"/>
                    </a:lnTo>
                    <a:lnTo>
                      <a:pt x="0" y="79"/>
                    </a:lnTo>
                    <a:lnTo>
                      <a:pt x="3" y="102"/>
                    </a:lnTo>
                    <a:lnTo>
                      <a:pt x="10" y="125"/>
                    </a:lnTo>
                    <a:lnTo>
                      <a:pt x="22" y="143"/>
                    </a:lnTo>
                    <a:lnTo>
                      <a:pt x="23" y="144"/>
                    </a:lnTo>
                    <a:lnTo>
                      <a:pt x="26" y="146"/>
                    </a:lnTo>
                    <a:lnTo>
                      <a:pt x="33" y="150"/>
                    </a:lnTo>
                    <a:lnTo>
                      <a:pt x="43" y="154"/>
                    </a:lnTo>
                    <a:lnTo>
                      <a:pt x="54" y="161"/>
                    </a:lnTo>
                    <a:lnTo>
                      <a:pt x="69" y="169"/>
                    </a:lnTo>
                    <a:lnTo>
                      <a:pt x="86" y="177"/>
                    </a:lnTo>
                    <a:lnTo>
                      <a:pt x="106" y="187"/>
                    </a:lnTo>
                    <a:lnTo>
                      <a:pt x="128" y="197"/>
                    </a:lnTo>
                    <a:lnTo>
                      <a:pt x="154" y="208"/>
                    </a:lnTo>
                    <a:lnTo>
                      <a:pt x="182" y="221"/>
                    </a:lnTo>
                    <a:lnTo>
                      <a:pt x="213" y="234"/>
                    </a:lnTo>
                    <a:lnTo>
                      <a:pt x="247" y="248"/>
                    </a:lnTo>
                    <a:lnTo>
                      <a:pt x="283" y="262"/>
                    </a:lnTo>
                    <a:lnTo>
                      <a:pt x="322" y="277"/>
                    </a:lnTo>
                    <a:lnTo>
                      <a:pt x="364" y="292"/>
                    </a:lnTo>
                    <a:lnTo>
                      <a:pt x="410" y="308"/>
                    </a:lnTo>
                    <a:lnTo>
                      <a:pt x="457" y="323"/>
                    </a:lnTo>
                    <a:lnTo>
                      <a:pt x="508" y="339"/>
                    </a:lnTo>
                    <a:lnTo>
                      <a:pt x="562" y="355"/>
                    </a:lnTo>
                    <a:lnTo>
                      <a:pt x="618" y="371"/>
                    </a:lnTo>
                    <a:lnTo>
                      <a:pt x="678" y="387"/>
                    </a:lnTo>
                    <a:lnTo>
                      <a:pt x="740" y="402"/>
                    </a:lnTo>
                    <a:lnTo>
                      <a:pt x="805" y="418"/>
                    </a:lnTo>
                    <a:lnTo>
                      <a:pt x="874" y="433"/>
                    </a:lnTo>
                    <a:lnTo>
                      <a:pt x="945" y="449"/>
                    </a:lnTo>
                    <a:lnTo>
                      <a:pt x="1018" y="462"/>
                    </a:lnTo>
                    <a:lnTo>
                      <a:pt x="1096" y="477"/>
                    </a:lnTo>
                    <a:lnTo>
                      <a:pt x="1176" y="490"/>
                    </a:lnTo>
                    <a:lnTo>
                      <a:pt x="1259" y="503"/>
                    </a:lnTo>
                    <a:lnTo>
                      <a:pt x="1346" y="514"/>
                    </a:lnTo>
                    <a:lnTo>
                      <a:pt x="1435" y="525"/>
                    </a:lnTo>
                    <a:lnTo>
                      <a:pt x="1436" y="523"/>
                    </a:lnTo>
                    <a:lnTo>
                      <a:pt x="1441" y="516"/>
                    </a:lnTo>
                    <a:lnTo>
                      <a:pt x="1447" y="506"/>
                    </a:lnTo>
                    <a:lnTo>
                      <a:pt x="1454" y="491"/>
                    </a:lnTo>
                    <a:lnTo>
                      <a:pt x="1461" y="474"/>
                    </a:lnTo>
                    <a:lnTo>
                      <a:pt x="1466" y="454"/>
                    </a:lnTo>
                    <a:lnTo>
                      <a:pt x="1469" y="432"/>
                    </a:lnTo>
                    <a:lnTo>
                      <a:pt x="1468" y="407"/>
                    </a:lnTo>
                    <a:close/>
                  </a:path>
                </a:pathLst>
              </a:custGeom>
              <a:solidFill>
                <a:srgbClr val="F2E5BF"/>
              </a:solidFill>
              <a:ln w="9525">
                <a:noFill/>
              </a:ln>
            </p:spPr>
            <p:txBody>
              <a:bodyPr/>
              <a:p>
                <a:endParaRPr lang="zh-CN" altLang="en-US"/>
              </a:p>
            </p:txBody>
          </p:sp>
          <p:sp>
            <p:nvSpPr>
              <p:cNvPr id="126040" name="Freeform 87"/>
              <p:cNvSpPr/>
              <p:nvPr/>
            </p:nvSpPr>
            <p:spPr>
              <a:xfrm>
                <a:off x="8253" y="4846"/>
                <a:ext cx="42" cy="29"/>
              </a:xfrm>
              <a:custGeom>
                <a:avLst/>
                <a:gdLst/>
                <a:ahLst/>
                <a:cxnLst>
                  <a:cxn ang="0">
                    <a:pos x="3" y="0"/>
                  </a:cxn>
                  <a:cxn ang="0">
                    <a:pos x="3" y="0"/>
                  </a:cxn>
                  <a:cxn ang="0">
                    <a:pos x="2" y="0"/>
                  </a:cxn>
                  <a:cxn ang="0">
                    <a:pos x="2" y="0"/>
                  </a:cxn>
                  <a:cxn ang="0">
                    <a:pos x="1" y="1"/>
                  </a:cxn>
                  <a:cxn ang="0">
                    <a:pos x="0" y="1"/>
                  </a:cxn>
                  <a:cxn ang="0">
                    <a:pos x="0" y="2"/>
                  </a:cxn>
                  <a:cxn ang="0">
                    <a:pos x="0" y="4"/>
                  </a:cxn>
                  <a:cxn ang="0">
                    <a:pos x="0" y="6"/>
                  </a:cxn>
                  <a:cxn ang="0">
                    <a:pos x="6" y="7"/>
                  </a:cxn>
                  <a:cxn ang="0">
                    <a:pos x="6" y="7"/>
                  </a:cxn>
                  <a:cxn ang="0">
                    <a:pos x="6" y="6"/>
                  </a:cxn>
                  <a:cxn ang="0">
                    <a:pos x="6" y="5"/>
                  </a:cxn>
                  <a:cxn ang="0">
                    <a:pos x="6" y="4"/>
                  </a:cxn>
                  <a:cxn ang="0">
                    <a:pos x="7" y="3"/>
                  </a:cxn>
                  <a:cxn ang="0">
                    <a:pos x="7" y="2"/>
                  </a:cxn>
                  <a:cxn ang="0">
                    <a:pos x="9" y="1"/>
                  </a:cxn>
                  <a:cxn ang="0">
                    <a:pos x="10" y="1"/>
                  </a:cxn>
                  <a:cxn ang="0">
                    <a:pos x="3" y="0"/>
                  </a:cxn>
                </a:cxnLst>
                <a:pathLst>
                  <a:path w="170" h="120">
                    <a:moveTo>
                      <a:pt x="53" y="0"/>
                    </a:moveTo>
                    <a:lnTo>
                      <a:pt x="49" y="0"/>
                    </a:lnTo>
                    <a:lnTo>
                      <a:pt x="41" y="3"/>
                    </a:lnTo>
                    <a:lnTo>
                      <a:pt x="30" y="7"/>
                    </a:lnTo>
                    <a:lnTo>
                      <a:pt x="17" y="15"/>
                    </a:lnTo>
                    <a:lnTo>
                      <a:pt x="7" y="26"/>
                    </a:lnTo>
                    <a:lnTo>
                      <a:pt x="1" y="43"/>
                    </a:lnTo>
                    <a:lnTo>
                      <a:pt x="0" y="65"/>
                    </a:lnTo>
                    <a:lnTo>
                      <a:pt x="7" y="94"/>
                    </a:lnTo>
                    <a:lnTo>
                      <a:pt x="98" y="120"/>
                    </a:lnTo>
                    <a:lnTo>
                      <a:pt x="97" y="114"/>
                    </a:lnTo>
                    <a:lnTo>
                      <a:pt x="97" y="102"/>
                    </a:lnTo>
                    <a:lnTo>
                      <a:pt x="97" y="84"/>
                    </a:lnTo>
                    <a:lnTo>
                      <a:pt x="101" y="64"/>
                    </a:lnTo>
                    <a:lnTo>
                      <a:pt x="108" y="44"/>
                    </a:lnTo>
                    <a:lnTo>
                      <a:pt x="121" y="30"/>
                    </a:lnTo>
                    <a:lnTo>
                      <a:pt x="141" y="22"/>
                    </a:lnTo>
                    <a:lnTo>
                      <a:pt x="170" y="25"/>
                    </a:lnTo>
                    <a:lnTo>
                      <a:pt x="53" y="0"/>
                    </a:lnTo>
                    <a:close/>
                  </a:path>
                </a:pathLst>
              </a:custGeom>
              <a:solidFill>
                <a:srgbClr val="F2E5BF"/>
              </a:solidFill>
              <a:ln w="9525">
                <a:noFill/>
              </a:ln>
            </p:spPr>
            <p:txBody>
              <a:bodyPr/>
              <a:p>
                <a:endParaRPr lang="zh-CN" altLang="en-US"/>
              </a:p>
            </p:txBody>
          </p:sp>
          <p:sp>
            <p:nvSpPr>
              <p:cNvPr id="126041" name="Freeform 88"/>
              <p:cNvSpPr/>
              <p:nvPr/>
            </p:nvSpPr>
            <p:spPr>
              <a:xfrm>
                <a:off x="8494" y="4901"/>
                <a:ext cx="43" cy="29"/>
              </a:xfrm>
              <a:custGeom>
                <a:avLst/>
                <a:gdLst/>
                <a:ahLst/>
                <a:cxnLst>
                  <a:cxn ang="0">
                    <a:pos x="3" y="0"/>
                  </a:cxn>
                  <a:cxn ang="0">
                    <a:pos x="3" y="0"/>
                  </a:cxn>
                  <a:cxn ang="0">
                    <a:pos x="3" y="0"/>
                  </a:cxn>
                  <a:cxn ang="0">
                    <a:pos x="2" y="0"/>
                  </a:cxn>
                  <a:cxn ang="0">
                    <a:pos x="1" y="1"/>
                  </a:cxn>
                  <a:cxn ang="0">
                    <a:pos x="1" y="1"/>
                  </a:cxn>
                  <a:cxn ang="0">
                    <a:pos x="0" y="2"/>
                  </a:cxn>
                  <a:cxn ang="0">
                    <a:pos x="0" y="4"/>
                  </a:cxn>
                  <a:cxn ang="0">
                    <a:pos x="1" y="6"/>
                  </a:cxn>
                  <a:cxn ang="0">
                    <a:pos x="6" y="7"/>
                  </a:cxn>
                  <a:cxn ang="0">
                    <a:pos x="6" y="7"/>
                  </a:cxn>
                  <a:cxn ang="0">
                    <a:pos x="6" y="6"/>
                  </a:cxn>
                  <a:cxn ang="0">
                    <a:pos x="6" y="5"/>
                  </a:cxn>
                  <a:cxn ang="0">
                    <a:pos x="6" y="4"/>
                  </a:cxn>
                  <a:cxn ang="0">
                    <a:pos x="7" y="3"/>
                  </a:cxn>
                  <a:cxn ang="0">
                    <a:pos x="8" y="2"/>
                  </a:cxn>
                  <a:cxn ang="0">
                    <a:pos x="9" y="1"/>
                  </a:cxn>
                  <a:cxn ang="0">
                    <a:pos x="11" y="1"/>
                  </a:cxn>
                  <a:cxn ang="0">
                    <a:pos x="3" y="0"/>
                  </a:cxn>
                </a:cxnLst>
                <a:pathLst>
                  <a:path w="170" h="119">
                    <a:moveTo>
                      <a:pt x="53" y="0"/>
                    </a:moveTo>
                    <a:lnTo>
                      <a:pt x="49" y="0"/>
                    </a:lnTo>
                    <a:lnTo>
                      <a:pt x="41" y="3"/>
                    </a:lnTo>
                    <a:lnTo>
                      <a:pt x="29" y="7"/>
                    </a:lnTo>
                    <a:lnTo>
                      <a:pt x="18" y="14"/>
                    </a:lnTo>
                    <a:lnTo>
                      <a:pt x="7" y="25"/>
                    </a:lnTo>
                    <a:lnTo>
                      <a:pt x="0" y="42"/>
                    </a:lnTo>
                    <a:lnTo>
                      <a:pt x="0" y="65"/>
                    </a:lnTo>
                    <a:lnTo>
                      <a:pt x="7" y="94"/>
                    </a:lnTo>
                    <a:lnTo>
                      <a:pt x="97" y="119"/>
                    </a:lnTo>
                    <a:lnTo>
                      <a:pt x="96" y="114"/>
                    </a:lnTo>
                    <a:lnTo>
                      <a:pt x="96" y="101"/>
                    </a:lnTo>
                    <a:lnTo>
                      <a:pt x="96" y="83"/>
                    </a:lnTo>
                    <a:lnTo>
                      <a:pt x="100" y="62"/>
                    </a:lnTo>
                    <a:lnTo>
                      <a:pt x="107" y="44"/>
                    </a:lnTo>
                    <a:lnTo>
                      <a:pt x="120" y="30"/>
                    </a:lnTo>
                    <a:lnTo>
                      <a:pt x="141" y="22"/>
                    </a:lnTo>
                    <a:lnTo>
                      <a:pt x="170" y="25"/>
                    </a:lnTo>
                    <a:lnTo>
                      <a:pt x="53" y="0"/>
                    </a:lnTo>
                    <a:close/>
                  </a:path>
                </a:pathLst>
              </a:custGeom>
              <a:solidFill>
                <a:srgbClr val="F2E5BF"/>
              </a:solidFill>
              <a:ln w="9525">
                <a:noFill/>
              </a:ln>
            </p:spPr>
            <p:txBody>
              <a:bodyPr/>
              <a:p>
                <a:endParaRPr lang="zh-CN" altLang="en-US"/>
              </a:p>
            </p:txBody>
          </p:sp>
          <p:sp>
            <p:nvSpPr>
              <p:cNvPr id="126042" name="Freeform 89"/>
              <p:cNvSpPr/>
              <p:nvPr/>
            </p:nvSpPr>
            <p:spPr>
              <a:xfrm>
                <a:off x="8299" y="4855"/>
                <a:ext cx="182" cy="50"/>
              </a:xfrm>
              <a:custGeom>
                <a:avLst/>
                <a:gdLst/>
                <a:ahLst/>
                <a:cxnLst>
                  <a:cxn ang="0">
                    <a:pos x="0" y="3"/>
                  </a:cxn>
                  <a:cxn ang="0">
                    <a:pos x="43" y="13"/>
                  </a:cxn>
                  <a:cxn ang="0">
                    <a:pos x="45" y="10"/>
                  </a:cxn>
                  <a:cxn ang="0">
                    <a:pos x="2" y="0"/>
                  </a:cxn>
                  <a:cxn ang="0">
                    <a:pos x="0" y="3"/>
                  </a:cxn>
                </a:cxnLst>
                <a:pathLst>
                  <a:path w="730" h="200">
                    <a:moveTo>
                      <a:pt x="0" y="44"/>
                    </a:moveTo>
                    <a:lnTo>
                      <a:pt x="697" y="200"/>
                    </a:lnTo>
                    <a:lnTo>
                      <a:pt x="730" y="156"/>
                    </a:lnTo>
                    <a:lnTo>
                      <a:pt x="33" y="0"/>
                    </a:lnTo>
                    <a:lnTo>
                      <a:pt x="0" y="44"/>
                    </a:lnTo>
                    <a:close/>
                  </a:path>
                </a:pathLst>
              </a:custGeom>
              <a:solidFill>
                <a:srgbClr val="F2E5BF"/>
              </a:solidFill>
              <a:ln w="9525">
                <a:noFill/>
              </a:ln>
            </p:spPr>
            <p:txBody>
              <a:bodyPr/>
              <a:p>
                <a:endParaRPr lang="zh-CN" altLang="en-US"/>
              </a:p>
            </p:txBody>
          </p:sp>
          <p:sp>
            <p:nvSpPr>
              <p:cNvPr id="126043" name="Freeform 90"/>
              <p:cNvSpPr/>
              <p:nvPr/>
            </p:nvSpPr>
            <p:spPr>
              <a:xfrm>
                <a:off x="8297" y="4875"/>
                <a:ext cx="176" cy="47"/>
              </a:xfrm>
              <a:custGeom>
                <a:avLst/>
                <a:gdLst/>
                <a:ahLst/>
                <a:cxnLst>
                  <a:cxn ang="0">
                    <a:pos x="0" y="2"/>
                  </a:cxn>
                  <a:cxn ang="0">
                    <a:pos x="44" y="12"/>
                  </a:cxn>
                  <a:cxn ang="0">
                    <a:pos x="44" y="10"/>
                  </a:cxn>
                  <a:cxn ang="0">
                    <a:pos x="1" y="0"/>
                  </a:cxn>
                  <a:cxn ang="0">
                    <a:pos x="0" y="2"/>
                  </a:cxn>
                </a:cxnLst>
                <a:pathLst>
                  <a:path w="703" h="187">
                    <a:moveTo>
                      <a:pt x="0" y="30"/>
                    </a:moveTo>
                    <a:lnTo>
                      <a:pt x="696" y="187"/>
                    </a:lnTo>
                    <a:lnTo>
                      <a:pt x="703" y="157"/>
                    </a:lnTo>
                    <a:lnTo>
                      <a:pt x="6" y="0"/>
                    </a:lnTo>
                    <a:lnTo>
                      <a:pt x="0" y="30"/>
                    </a:lnTo>
                    <a:close/>
                  </a:path>
                </a:pathLst>
              </a:custGeom>
              <a:solidFill>
                <a:srgbClr val="F2E5BF"/>
              </a:solidFill>
              <a:ln w="9525">
                <a:noFill/>
              </a:ln>
            </p:spPr>
            <p:txBody>
              <a:bodyPr/>
              <a:p>
                <a:endParaRPr lang="zh-CN" altLang="en-US"/>
              </a:p>
            </p:txBody>
          </p:sp>
          <p:sp>
            <p:nvSpPr>
              <p:cNvPr id="126044" name="Freeform 91"/>
              <p:cNvSpPr/>
              <p:nvPr/>
            </p:nvSpPr>
            <p:spPr>
              <a:xfrm>
                <a:off x="8486" y="4969"/>
                <a:ext cx="106" cy="127"/>
              </a:xfrm>
              <a:custGeom>
                <a:avLst/>
                <a:gdLst/>
                <a:ahLst/>
                <a:cxnLst>
                  <a:cxn ang="0">
                    <a:pos x="0" y="32"/>
                  </a:cxn>
                  <a:cxn ang="0">
                    <a:pos x="6" y="24"/>
                  </a:cxn>
                  <a:cxn ang="0">
                    <a:pos x="8" y="24"/>
                  </a:cxn>
                  <a:cxn ang="0">
                    <a:pos x="27" y="0"/>
                  </a:cxn>
                  <a:cxn ang="0">
                    <a:pos x="8" y="18"/>
                  </a:cxn>
                  <a:cxn ang="0">
                    <a:pos x="4" y="18"/>
                  </a:cxn>
                  <a:cxn ang="0">
                    <a:pos x="0" y="23"/>
                  </a:cxn>
                  <a:cxn ang="0">
                    <a:pos x="0" y="32"/>
                  </a:cxn>
                </a:cxnLst>
                <a:pathLst>
                  <a:path w="424" h="508">
                    <a:moveTo>
                      <a:pt x="0" y="508"/>
                    </a:moveTo>
                    <a:lnTo>
                      <a:pt x="86" y="388"/>
                    </a:lnTo>
                    <a:lnTo>
                      <a:pt x="124" y="388"/>
                    </a:lnTo>
                    <a:lnTo>
                      <a:pt x="424" y="0"/>
                    </a:lnTo>
                    <a:lnTo>
                      <a:pt x="130" y="282"/>
                    </a:lnTo>
                    <a:lnTo>
                      <a:pt x="66" y="289"/>
                    </a:lnTo>
                    <a:lnTo>
                      <a:pt x="0" y="358"/>
                    </a:lnTo>
                    <a:lnTo>
                      <a:pt x="0" y="508"/>
                    </a:lnTo>
                    <a:close/>
                  </a:path>
                </a:pathLst>
              </a:custGeom>
              <a:solidFill>
                <a:srgbClr val="F2E5BF"/>
              </a:solidFill>
              <a:ln w="9525">
                <a:noFill/>
              </a:ln>
            </p:spPr>
            <p:txBody>
              <a:bodyPr/>
              <a:p>
                <a:endParaRPr lang="zh-CN" altLang="en-US"/>
              </a:p>
            </p:txBody>
          </p:sp>
          <p:sp>
            <p:nvSpPr>
              <p:cNvPr id="126045" name="Freeform 92"/>
              <p:cNvSpPr/>
              <p:nvPr/>
            </p:nvSpPr>
            <p:spPr>
              <a:xfrm>
                <a:off x="8312" y="4637"/>
                <a:ext cx="296" cy="61"/>
              </a:xfrm>
              <a:custGeom>
                <a:avLst/>
                <a:gdLst/>
                <a:ahLst/>
                <a:cxnLst>
                  <a:cxn ang="0">
                    <a:pos x="0" y="0"/>
                  </a:cxn>
                  <a:cxn ang="0">
                    <a:pos x="74" y="15"/>
                  </a:cxn>
                  <a:cxn ang="0">
                    <a:pos x="74" y="15"/>
                  </a:cxn>
                  <a:cxn ang="0">
                    <a:pos x="74" y="15"/>
                  </a:cxn>
                  <a:cxn ang="0">
                    <a:pos x="73" y="15"/>
                  </a:cxn>
                  <a:cxn ang="0">
                    <a:pos x="72" y="14"/>
                  </a:cxn>
                  <a:cxn ang="0">
                    <a:pos x="71" y="14"/>
                  </a:cxn>
                  <a:cxn ang="0">
                    <a:pos x="70" y="14"/>
                  </a:cxn>
                  <a:cxn ang="0">
                    <a:pos x="69" y="13"/>
                  </a:cxn>
                  <a:cxn ang="0">
                    <a:pos x="68" y="13"/>
                  </a:cxn>
                  <a:cxn ang="0">
                    <a:pos x="66" y="12"/>
                  </a:cxn>
                  <a:cxn ang="0">
                    <a:pos x="65" y="12"/>
                  </a:cxn>
                  <a:cxn ang="0">
                    <a:pos x="63" y="11"/>
                  </a:cxn>
                  <a:cxn ang="0">
                    <a:pos x="61" y="10"/>
                  </a:cxn>
                  <a:cxn ang="0">
                    <a:pos x="59" y="9"/>
                  </a:cxn>
                  <a:cxn ang="0">
                    <a:pos x="57" y="9"/>
                  </a:cxn>
                  <a:cxn ang="0">
                    <a:pos x="54" y="8"/>
                  </a:cxn>
                  <a:cxn ang="0">
                    <a:pos x="52" y="7"/>
                  </a:cxn>
                  <a:cxn ang="0">
                    <a:pos x="49" y="7"/>
                  </a:cxn>
                  <a:cxn ang="0">
                    <a:pos x="46" y="6"/>
                  </a:cxn>
                  <a:cxn ang="0">
                    <a:pos x="44" y="5"/>
                  </a:cxn>
                  <a:cxn ang="0">
                    <a:pos x="41" y="4"/>
                  </a:cxn>
                  <a:cxn ang="0">
                    <a:pos x="38" y="4"/>
                  </a:cxn>
                  <a:cxn ang="0">
                    <a:pos x="35" y="3"/>
                  </a:cxn>
                  <a:cxn ang="0">
                    <a:pos x="31" y="3"/>
                  </a:cxn>
                  <a:cxn ang="0">
                    <a:pos x="28" y="2"/>
                  </a:cxn>
                  <a:cxn ang="0">
                    <a:pos x="25" y="2"/>
                  </a:cxn>
                  <a:cxn ang="0">
                    <a:pos x="21" y="1"/>
                  </a:cxn>
                  <a:cxn ang="0">
                    <a:pos x="18" y="1"/>
                  </a:cxn>
                  <a:cxn ang="0">
                    <a:pos x="14" y="0"/>
                  </a:cxn>
                  <a:cxn ang="0">
                    <a:pos x="11" y="0"/>
                  </a:cxn>
                  <a:cxn ang="0">
                    <a:pos x="7" y="0"/>
                  </a:cxn>
                  <a:cxn ang="0">
                    <a:pos x="4" y="0"/>
                  </a:cxn>
                  <a:cxn ang="0">
                    <a:pos x="0" y="0"/>
                  </a:cxn>
                </a:cxnLst>
                <a:pathLst>
                  <a:path w="1186" h="245">
                    <a:moveTo>
                      <a:pt x="0" y="0"/>
                    </a:moveTo>
                    <a:lnTo>
                      <a:pt x="1186" y="245"/>
                    </a:lnTo>
                    <a:lnTo>
                      <a:pt x="1184" y="244"/>
                    </a:lnTo>
                    <a:lnTo>
                      <a:pt x="1180" y="242"/>
                    </a:lnTo>
                    <a:lnTo>
                      <a:pt x="1172" y="239"/>
                    </a:lnTo>
                    <a:lnTo>
                      <a:pt x="1161" y="233"/>
                    </a:lnTo>
                    <a:lnTo>
                      <a:pt x="1147" y="228"/>
                    </a:lnTo>
                    <a:lnTo>
                      <a:pt x="1130" y="222"/>
                    </a:lnTo>
                    <a:lnTo>
                      <a:pt x="1112" y="214"/>
                    </a:lnTo>
                    <a:lnTo>
                      <a:pt x="1091" y="205"/>
                    </a:lnTo>
                    <a:lnTo>
                      <a:pt x="1066" y="196"/>
                    </a:lnTo>
                    <a:lnTo>
                      <a:pt x="1039" y="187"/>
                    </a:lnTo>
                    <a:lnTo>
                      <a:pt x="1010" y="177"/>
                    </a:lnTo>
                    <a:lnTo>
                      <a:pt x="979" y="166"/>
                    </a:lnTo>
                    <a:lnTo>
                      <a:pt x="945" y="154"/>
                    </a:lnTo>
                    <a:lnTo>
                      <a:pt x="910" y="143"/>
                    </a:lnTo>
                    <a:lnTo>
                      <a:pt x="871" y="132"/>
                    </a:lnTo>
                    <a:lnTo>
                      <a:pt x="832" y="121"/>
                    </a:lnTo>
                    <a:lnTo>
                      <a:pt x="790" y="108"/>
                    </a:lnTo>
                    <a:lnTo>
                      <a:pt x="747" y="97"/>
                    </a:lnTo>
                    <a:lnTo>
                      <a:pt x="702" y="86"/>
                    </a:lnTo>
                    <a:lnTo>
                      <a:pt x="655" y="74"/>
                    </a:lnTo>
                    <a:lnTo>
                      <a:pt x="607" y="64"/>
                    </a:lnTo>
                    <a:lnTo>
                      <a:pt x="557" y="54"/>
                    </a:lnTo>
                    <a:lnTo>
                      <a:pt x="506" y="45"/>
                    </a:lnTo>
                    <a:lnTo>
                      <a:pt x="454" y="36"/>
                    </a:lnTo>
                    <a:lnTo>
                      <a:pt x="400" y="28"/>
                    </a:lnTo>
                    <a:lnTo>
                      <a:pt x="346" y="20"/>
                    </a:lnTo>
                    <a:lnTo>
                      <a:pt x="290" y="15"/>
                    </a:lnTo>
                    <a:lnTo>
                      <a:pt x="233" y="9"/>
                    </a:lnTo>
                    <a:lnTo>
                      <a:pt x="176" y="4"/>
                    </a:lnTo>
                    <a:lnTo>
                      <a:pt x="118" y="2"/>
                    </a:lnTo>
                    <a:lnTo>
                      <a:pt x="60" y="0"/>
                    </a:lnTo>
                    <a:lnTo>
                      <a:pt x="0" y="0"/>
                    </a:lnTo>
                    <a:close/>
                  </a:path>
                </a:pathLst>
              </a:custGeom>
              <a:solidFill>
                <a:srgbClr val="F2E5BF"/>
              </a:solidFill>
              <a:ln w="9525">
                <a:noFill/>
              </a:ln>
            </p:spPr>
            <p:txBody>
              <a:bodyPr/>
              <a:p>
                <a:endParaRPr lang="zh-CN" altLang="en-US"/>
              </a:p>
            </p:txBody>
          </p:sp>
          <p:sp>
            <p:nvSpPr>
              <p:cNvPr id="126046" name="Freeform 93"/>
              <p:cNvSpPr/>
              <p:nvPr/>
            </p:nvSpPr>
            <p:spPr>
              <a:xfrm>
                <a:off x="8250" y="4639"/>
                <a:ext cx="60" cy="185"/>
              </a:xfrm>
              <a:custGeom>
                <a:avLst/>
                <a:gdLst/>
                <a:ahLst/>
                <a:cxnLst>
                  <a:cxn ang="0">
                    <a:pos x="15" y="0"/>
                  </a:cxn>
                  <a:cxn ang="0">
                    <a:pos x="3" y="46"/>
                  </a:cxn>
                  <a:cxn ang="0">
                    <a:pos x="0" y="46"/>
                  </a:cxn>
                  <a:cxn ang="0">
                    <a:pos x="10" y="0"/>
                  </a:cxn>
                  <a:cxn ang="0">
                    <a:pos x="15" y="0"/>
                  </a:cxn>
                </a:cxnLst>
                <a:pathLst>
                  <a:path w="241" h="738">
                    <a:moveTo>
                      <a:pt x="241" y="0"/>
                    </a:moveTo>
                    <a:lnTo>
                      <a:pt x="52" y="738"/>
                    </a:lnTo>
                    <a:lnTo>
                      <a:pt x="0" y="726"/>
                    </a:lnTo>
                    <a:lnTo>
                      <a:pt x="169" y="0"/>
                    </a:lnTo>
                    <a:lnTo>
                      <a:pt x="241" y="0"/>
                    </a:lnTo>
                    <a:close/>
                  </a:path>
                </a:pathLst>
              </a:custGeom>
              <a:solidFill>
                <a:srgbClr val="F2E5BF"/>
              </a:solidFill>
              <a:ln w="9525">
                <a:noFill/>
              </a:ln>
            </p:spPr>
            <p:txBody>
              <a:bodyPr/>
              <a:p>
                <a:endParaRPr lang="zh-CN" altLang="en-US"/>
              </a:p>
            </p:txBody>
          </p:sp>
        </p:grpSp>
      </p:grpSp>
      <p:sp>
        <p:nvSpPr>
          <p:cNvPr id="126047" name="Freeform 94"/>
          <p:cNvSpPr/>
          <p:nvPr/>
        </p:nvSpPr>
        <p:spPr>
          <a:xfrm>
            <a:off x="6445250" y="3305175"/>
            <a:ext cx="1600200" cy="1489075"/>
          </a:xfrm>
          <a:custGeom>
            <a:avLst/>
            <a:gdLst/>
            <a:ahLst/>
            <a:cxnLst>
              <a:cxn ang="0">
                <a:pos x="1223097" y="406947665"/>
              </a:cxn>
              <a:cxn ang="0">
                <a:pos x="106703039" y="155624649"/>
              </a:cxn>
              <a:cxn ang="0">
                <a:pos x="423143418" y="105176359"/>
              </a:cxn>
              <a:cxn ang="0">
                <a:pos x="793699753" y="51976625"/>
              </a:cxn>
              <a:cxn ang="0">
                <a:pos x="881752776" y="417037212"/>
              </a:cxn>
              <a:cxn ang="0">
                <a:pos x="812961317" y="655518683"/>
              </a:cxn>
              <a:cxn ang="0">
                <a:pos x="643275977" y="765587480"/>
              </a:cxn>
              <a:cxn ang="0">
                <a:pos x="501106998" y="788518571"/>
              </a:cxn>
              <a:cxn ang="0">
                <a:pos x="319191794" y="804111559"/>
              </a:cxn>
              <a:cxn ang="0">
                <a:pos x="105785716" y="672946335"/>
              </a:cxn>
              <a:cxn ang="0">
                <a:pos x="1223097" y="406947665"/>
              </a:cxn>
            </a:cxnLst>
            <a:pathLst>
              <a:path w="2894" h="2693">
                <a:moveTo>
                  <a:pt x="4" y="1331"/>
                </a:moveTo>
                <a:cubicBezTo>
                  <a:pt x="4" y="1049"/>
                  <a:pt x="119" y="673"/>
                  <a:pt x="349" y="509"/>
                </a:cubicBezTo>
                <a:cubicBezTo>
                  <a:pt x="579" y="345"/>
                  <a:pt x="1010" y="400"/>
                  <a:pt x="1384" y="344"/>
                </a:cubicBezTo>
                <a:cubicBezTo>
                  <a:pt x="1758" y="288"/>
                  <a:pt x="2346" y="0"/>
                  <a:pt x="2596" y="170"/>
                </a:cubicBezTo>
                <a:cubicBezTo>
                  <a:pt x="2846" y="340"/>
                  <a:pt x="2874" y="1035"/>
                  <a:pt x="2884" y="1364"/>
                </a:cubicBezTo>
                <a:cubicBezTo>
                  <a:pt x="2894" y="1693"/>
                  <a:pt x="2789" y="1954"/>
                  <a:pt x="2659" y="2144"/>
                </a:cubicBezTo>
                <a:cubicBezTo>
                  <a:pt x="2529" y="2334"/>
                  <a:pt x="2274" y="2432"/>
                  <a:pt x="2104" y="2504"/>
                </a:cubicBezTo>
                <a:cubicBezTo>
                  <a:pt x="1934" y="2576"/>
                  <a:pt x="1816" y="2558"/>
                  <a:pt x="1639" y="2579"/>
                </a:cubicBezTo>
                <a:cubicBezTo>
                  <a:pt x="1462" y="2600"/>
                  <a:pt x="1259" y="2693"/>
                  <a:pt x="1044" y="2630"/>
                </a:cubicBezTo>
                <a:cubicBezTo>
                  <a:pt x="829" y="2567"/>
                  <a:pt x="520" y="2418"/>
                  <a:pt x="346" y="2201"/>
                </a:cubicBezTo>
                <a:cubicBezTo>
                  <a:pt x="173" y="1985"/>
                  <a:pt x="0" y="1682"/>
                  <a:pt x="4" y="1331"/>
                </a:cubicBezTo>
                <a:close/>
              </a:path>
            </a:pathLst>
          </a:custGeom>
          <a:solidFill>
            <a:srgbClr val="33CCCC"/>
          </a:solidFill>
          <a:ln w="9525">
            <a:noFill/>
          </a:ln>
        </p:spPr>
        <p:txBody>
          <a:bodyPr/>
          <a:p>
            <a:endParaRPr lang="zh-CN" altLang="en-US"/>
          </a:p>
        </p:txBody>
      </p:sp>
      <p:grpSp>
        <p:nvGrpSpPr>
          <p:cNvPr id="126048" name="Group 95"/>
          <p:cNvGrpSpPr/>
          <p:nvPr/>
        </p:nvGrpSpPr>
        <p:grpSpPr>
          <a:xfrm>
            <a:off x="6699250" y="4383088"/>
            <a:ext cx="436563" cy="203200"/>
            <a:chOff x="3600" y="219"/>
            <a:chExt cx="360" cy="175"/>
          </a:xfrm>
        </p:grpSpPr>
        <p:sp>
          <p:nvSpPr>
            <p:cNvPr id="126049" name="Oval 96"/>
            <p:cNvSpPr/>
            <p:nvPr/>
          </p:nvSpPr>
          <p:spPr>
            <a:xfrm>
              <a:off x="3603" y="297"/>
              <a:ext cx="357" cy="97"/>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050" name="Line 97"/>
            <p:cNvSpPr/>
            <p:nvPr/>
          </p:nvSpPr>
          <p:spPr>
            <a:xfrm>
              <a:off x="3603" y="289"/>
              <a:ext cx="0" cy="60"/>
            </a:xfrm>
            <a:prstGeom prst="line">
              <a:avLst/>
            </a:prstGeom>
            <a:ln w="12700" cap="flat" cmpd="sng">
              <a:solidFill>
                <a:srgbClr val="000000"/>
              </a:solidFill>
              <a:prstDash val="solid"/>
              <a:round/>
              <a:headEnd type="none" w="med" len="med"/>
              <a:tailEnd type="none" w="med" len="med"/>
            </a:ln>
          </p:spPr>
        </p:sp>
        <p:sp>
          <p:nvSpPr>
            <p:cNvPr id="126051" name="Line 98"/>
            <p:cNvSpPr/>
            <p:nvPr/>
          </p:nvSpPr>
          <p:spPr>
            <a:xfrm>
              <a:off x="3960" y="289"/>
              <a:ext cx="0" cy="60"/>
            </a:xfrm>
            <a:prstGeom prst="line">
              <a:avLst/>
            </a:prstGeom>
            <a:ln w="12700" cap="flat" cmpd="sng">
              <a:solidFill>
                <a:srgbClr val="000000"/>
              </a:solidFill>
              <a:prstDash val="solid"/>
              <a:round/>
              <a:headEnd type="none" w="med" len="med"/>
              <a:tailEnd type="none" w="med" len="med"/>
            </a:ln>
          </p:spPr>
        </p:sp>
        <p:sp>
          <p:nvSpPr>
            <p:cNvPr id="126052" name="Rectangle 99"/>
            <p:cNvSpPr/>
            <p:nvPr/>
          </p:nvSpPr>
          <p:spPr>
            <a:xfrm>
              <a:off x="3603" y="284"/>
              <a:ext cx="231" cy="69"/>
            </a:xfrm>
            <a:prstGeom prst="rect">
              <a:avLst/>
            </a:prstGeom>
            <a:solidFill>
              <a:srgbClr val="CCCCFF"/>
            </a:solidFill>
            <a:ln w="12700">
              <a:noFill/>
            </a:ln>
          </p:spPr>
          <p:txBody>
            <a:bodyPr wrap="none" anchor="ctr" anchorCtr="0"/>
            <a:p>
              <a:pPr algn="ctr" eaLnBrk="0" hangingPunct="0">
                <a:buClrTx/>
                <a:buFontTx/>
              </a:pPr>
              <a:endParaRPr lang="zh-CN" altLang="zh-CN" dirty="0">
                <a:latin typeface="Comic Sans MS" panose="030F0702030302020204" pitchFamily="66" charset="0"/>
                <a:ea typeface="宋体" panose="02010600030101010101" pitchFamily="2" charset="-122"/>
              </a:endParaRPr>
            </a:p>
          </p:txBody>
        </p:sp>
        <p:sp>
          <p:nvSpPr>
            <p:cNvPr id="126053" name="Oval 100"/>
            <p:cNvSpPr/>
            <p:nvPr/>
          </p:nvSpPr>
          <p:spPr>
            <a:xfrm>
              <a:off x="3600" y="219"/>
              <a:ext cx="357" cy="113"/>
            </a:xfrm>
            <a:prstGeom prst="ellipse">
              <a:avLst/>
            </a:prstGeom>
            <a:solidFill>
              <a:srgbClr val="CCCCFF"/>
            </a:solidFill>
            <a:ln w="12700" cap="flat" cmpd="sng">
              <a:solidFill>
                <a:srgbClr val="00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26054" name="Group 101"/>
            <p:cNvGrpSpPr/>
            <p:nvPr/>
          </p:nvGrpSpPr>
          <p:grpSpPr>
            <a:xfrm>
              <a:off x="3686" y="244"/>
              <a:ext cx="177" cy="66"/>
              <a:chOff x="2848" y="848"/>
              <a:chExt cx="140" cy="98"/>
            </a:xfrm>
          </p:grpSpPr>
          <p:sp>
            <p:nvSpPr>
              <p:cNvPr id="126055" name="Line 102"/>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26056" name="Line 103"/>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26057" name="Line 104"/>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nvGrpSpPr>
            <p:cNvPr id="126058" name="Group 105"/>
            <p:cNvGrpSpPr/>
            <p:nvPr/>
          </p:nvGrpSpPr>
          <p:grpSpPr>
            <a:xfrm flipV="1">
              <a:off x="3686" y="243"/>
              <a:ext cx="177" cy="66"/>
              <a:chOff x="2848" y="848"/>
              <a:chExt cx="140" cy="98"/>
            </a:xfrm>
          </p:grpSpPr>
          <p:sp>
            <p:nvSpPr>
              <p:cNvPr id="126059" name="Line 106"/>
              <p:cNvSpPr/>
              <p:nvPr/>
            </p:nvSpPr>
            <p:spPr>
              <a:xfrm flipV="1">
                <a:off x="2848" y="848"/>
                <a:ext cx="50" cy="2"/>
              </a:xfrm>
              <a:prstGeom prst="line">
                <a:avLst/>
              </a:prstGeom>
              <a:ln w="28575" cap="flat" cmpd="sng">
                <a:solidFill>
                  <a:srgbClr val="000000"/>
                </a:solidFill>
                <a:prstDash val="solid"/>
                <a:round/>
                <a:headEnd type="none" w="med" len="med"/>
                <a:tailEnd type="none" w="med" len="med"/>
              </a:ln>
            </p:spPr>
          </p:sp>
          <p:sp>
            <p:nvSpPr>
              <p:cNvPr id="126060" name="Line 107"/>
              <p:cNvSpPr/>
              <p:nvPr/>
            </p:nvSpPr>
            <p:spPr>
              <a:xfrm>
                <a:off x="2944" y="946"/>
                <a:ext cx="44" cy="0"/>
              </a:xfrm>
              <a:prstGeom prst="line">
                <a:avLst/>
              </a:prstGeom>
              <a:ln w="28575" cap="flat" cmpd="sng">
                <a:solidFill>
                  <a:srgbClr val="000000"/>
                </a:solidFill>
                <a:prstDash val="solid"/>
                <a:round/>
                <a:headEnd type="none" w="med" len="med"/>
                <a:tailEnd type="none" w="med" len="med"/>
              </a:ln>
            </p:spPr>
          </p:sp>
          <p:sp>
            <p:nvSpPr>
              <p:cNvPr id="126061" name="Line 108"/>
              <p:cNvSpPr/>
              <p:nvPr/>
            </p:nvSpPr>
            <p:spPr>
              <a:xfrm>
                <a:off x="2894" y="850"/>
                <a:ext cx="52" cy="96"/>
              </a:xfrm>
              <a:prstGeom prst="line">
                <a:avLst/>
              </a:prstGeom>
              <a:ln w="28575" cap="flat" cmpd="sng">
                <a:solidFill>
                  <a:srgbClr val="000000"/>
                </a:solidFill>
                <a:prstDash val="solid"/>
                <a:round/>
                <a:headEnd type="none" w="med" len="med"/>
                <a:tailEnd type="none" w="med" len="med"/>
              </a:ln>
            </p:spPr>
          </p:sp>
        </p:grpSp>
      </p:grpSp>
      <p:sp>
        <p:nvSpPr>
          <p:cNvPr id="126062" name="Line 109"/>
          <p:cNvSpPr/>
          <p:nvPr/>
        </p:nvSpPr>
        <p:spPr>
          <a:xfrm>
            <a:off x="6724650" y="4233863"/>
            <a:ext cx="1162050" cy="0"/>
          </a:xfrm>
          <a:prstGeom prst="line">
            <a:avLst/>
          </a:prstGeom>
          <a:ln w="19050" cap="flat" cmpd="sng">
            <a:solidFill>
              <a:srgbClr val="000000"/>
            </a:solidFill>
            <a:prstDash val="solid"/>
            <a:round/>
            <a:headEnd type="none" w="med" len="med"/>
            <a:tailEnd type="none" w="med" len="med"/>
          </a:ln>
        </p:spPr>
      </p:sp>
      <p:sp>
        <p:nvSpPr>
          <p:cNvPr id="126063" name="Line 110"/>
          <p:cNvSpPr/>
          <p:nvPr/>
        </p:nvSpPr>
        <p:spPr>
          <a:xfrm>
            <a:off x="6907213" y="4233863"/>
            <a:ext cx="0" cy="149225"/>
          </a:xfrm>
          <a:prstGeom prst="line">
            <a:avLst/>
          </a:prstGeom>
          <a:ln w="19050" cap="flat" cmpd="sng">
            <a:solidFill>
              <a:srgbClr val="000000"/>
            </a:solidFill>
            <a:prstDash val="solid"/>
            <a:round/>
            <a:headEnd type="none" w="med" len="med"/>
            <a:tailEnd type="none" w="med" len="med"/>
          </a:ln>
        </p:spPr>
      </p:sp>
      <p:sp>
        <p:nvSpPr>
          <p:cNvPr id="126064" name="Line 111"/>
          <p:cNvSpPr/>
          <p:nvPr/>
        </p:nvSpPr>
        <p:spPr>
          <a:xfrm>
            <a:off x="7650163" y="4089400"/>
            <a:ext cx="0" cy="149225"/>
          </a:xfrm>
          <a:prstGeom prst="line">
            <a:avLst/>
          </a:prstGeom>
          <a:ln w="19050" cap="flat" cmpd="sng">
            <a:solidFill>
              <a:srgbClr val="000000"/>
            </a:solidFill>
            <a:prstDash val="solid"/>
            <a:round/>
            <a:headEnd type="none" w="med" len="med"/>
            <a:tailEnd type="none" w="med" len="med"/>
          </a:ln>
        </p:spPr>
      </p:sp>
      <p:grpSp>
        <p:nvGrpSpPr>
          <p:cNvPr id="126065" name="Group 112"/>
          <p:cNvGrpSpPr/>
          <p:nvPr/>
        </p:nvGrpSpPr>
        <p:grpSpPr>
          <a:xfrm>
            <a:off x="7251700" y="3678238"/>
            <a:ext cx="796925" cy="514350"/>
            <a:chOff x="10665" y="3225"/>
            <a:chExt cx="1440" cy="930"/>
          </a:xfrm>
        </p:grpSpPr>
        <p:sp>
          <p:nvSpPr>
            <p:cNvPr id="126066" name="Oval 113"/>
            <p:cNvSpPr/>
            <p:nvPr/>
          </p:nvSpPr>
          <p:spPr>
            <a:xfrm>
              <a:off x="10665" y="3225"/>
              <a:ext cx="1440" cy="930"/>
            </a:xfrm>
            <a:prstGeom prst="ellipse">
              <a:avLst/>
            </a:prstGeom>
            <a:gradFill rotWithShape="1">
              <a:gsLst>
                <a:gs pos="0">
                  <a:srgbClr val="FF0000"/>
                </a:gs>
                <a:gs pos="100000">
                  <a:srgbClr val="FFFFFF">
                    <a:alpha val="0"/>
                  </a:srgbClr>
                </a:gs>
              </a:gsLst>
              <a:path path="shape">
                <a:fillToRect l="50000" t="50000" r="50000" b="50000"/>
              </a:path>
              <a:tileRect/>
            </a:gradFill>
            <a:ln w="9525">
              <a:noFill/>
            </a:ln>
          </p:spPr>
          <p:txBody>
            <a:bodyPr anchor="t"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26067" name="Group 114"/>
            <p:cNvGrpSpPr/>
            <p:nvPr/>
          </p:nvGrpSpPr>
          <p:grpSpPr>
            <a:xfrm>
              <a:off x="11031" y="3335"/>
              <a:ext cx="565" cy="643"/>
              <a:chOff x="2870" y="1518"/>
              <a:chExt cx="292" cy="320"/>
            </a:xfrm>
          </p:grpSpPr>
          <p:graphicFrame>
            <p:nvGraphicFramePr>
              <p:cNvPr id="126068" name="Object 115"/>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2" name="" r:id="rId1" imgW="826770" imgH="840105" progId="">
                      <p:embed/>
                    </p:oleObj>
                  </mc:Choice>
                  <mc:Fallback>
                    <p:oleObj name="" r:id="rId1" imgW="826770" imgH="840105" progId="">
                      <p:embed/>
                      <p:pic>
                        <p:nvPicPr>
                          <p:cNvPr id="0" name="图片 3161"/>
                          <p:cNvPicPr/>
                          <p:nvPr/>
                        </p:nvPicPr>
                        <p:blipFill>
                          <a:blip r:embed="rId2"/>
                          <a:stretch>
                            <a:fillRect/>
                          </a:stretch>
                        </p:blipFill>
                        <p:spPr>
                          <a:xfrm>
                            <a:off x="2870" y="1518"/>
                            <a:ext cx="272" cy="282"/>
                          </a:xfrm>
                          <a:prstGeom prst="rect">
                            <a:avLst/>
                          </a:prstGeom>
                          <a:noFill/>
                          <a:ln w="38100">
                            <a:noFill/>
                            <a:miter/>
                          </a:ln>
                        </p:spPr>
                      </p:pic>
                    </p:oleObj>
                  </mc:Fallback>
                </mc:AlternateContent>
              </a:graphicData>
            </a:graphic>
          </p:graphicFrame>
          <p:graphicFrame>
            <p:nvGraphicFramePr>
              <p:cNvPr id="126069" name="Object 116"/>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1" name="" r:id="rId3" imgW="1268095" imgH="1199515" progId="">
                      <p:embed/>
                    </p:oleObj>
                  </mc:Choice>
                  <mc:Fallback>
                    <p:oleObj name="" r:id="rId3" imgW="1268095" imgH="1199515" progId="">
                      <p:embed/>
                      <p:pic>
                        <p:nvPicPr>
                          <p:cNvPr id="0" name="图片 3160"/>
                          <p:cNvPicPr/>
                          <p:nvPr/>
                        </p:nvPicPr>
                        <p:blipFill>
                          <a:blip r:embed="rId4"/>
                          <a:stretch>
                            <a:fillRect/>
                          </a:stretch>
                        </p:blipFill>
                        <p:spPr>
                          <a:xfrm>
                            <a:off x="2913" y="1602"/>
                            <a:ext cx="249" cy="236"/>
                          </a:xfrm>
                          <a:prstGeom prst="rect">
                            <a:avLst/>
                          </a:prstGeom>
                          <a:noFill/>
                          <a:ln w="38100">
                            <a:noFill/>
                            <a:miter/>
                          </a:ln>
                        </p:spPr>
                      </p:pic>
                    </p:oleObj>
                  </mc:Fallback>
                </mc:AlternateContent>
              </a:graphicData>
            </a:graphic>
          </p:graphicFrame>
        </p:grpSp>
      </p:grpSp>
      <p:sp>
        <p:nvSpPr>
          <p:cNvPr id="126070" name="Freeform 117"/>
          <p:cNvSpPr/>
          <p:nvPr/>
        </p:nvSpPr>
        <p:spPr>
          <a:xfrm>
            <a:off x="3697288" y="5489575"/>
            <a:ext cx="2565400" cy="793750"/>
          </a:xfrm>
          <a:custGeom>
            <a:avLst/>
            <a:gdLst/>
            <a:ahLst/>
            <a:cxnLst>
              <a:cxn ang="0">
                <a:pos x="103806288" y="4589368"/>
              </a:cxn>
              <a:cxn ang="0">
                <a:pos x="57874229" y="197343950"/>
              </a:cxn>
              <a:cxn ang="0">
                <a:pos x="246194842" y="385508611"/>
              </a:cxn>
              <a:cxn ang="0">
                <a:pos x="599870869" y="435992217"/>
              </a:cxn>
              <a:cxn ang="0">
                <a:pos x="1077562625" y="403866084"/>
              </a:cxn>
              <a:cxn ang="0">
                <a:pos x="1201578909" y="298310057"/>
              </a:cxn>
              <a:cxn ang="0">
                <a:pos x="1391124672" y="235282435"/>
              </a:cxn>
              <a:cxn ang="0">
                <a:pos x="1301098279" y="85056812"/>
              </a:cxn>
              <a:cxn ang="0">
                <a:pos x="680404839" y="23252726"/>
              </a:cxn>
              <a:cxn ang="0">
                <a:pos x="103806288" y="4589368"/>
              </a:cxn>
            </a:cxnLst>
            <a:pathLst>
              <a:path w="4636" h="1435">
                <a:moveTo>
                  <a:pt x="339" y="15"/>
                </a:moveTo>
                <a:cubicBezTo>
                  <a:pt x="0" y="110"/>
                  <a:pt x="112" y="438"/>
                  <a:pt x="189" y="645"/>
                </a:cubicBezTo>
                <a:cubicBezTo>
                  <a:pt x="266" y="852"/>
                  <a:pt x="509" y="1130"/>
                  <a:pt x="804" y="1260"/>
                </a:cubicBezTo>
                <a:cubicBezTo>
                  <a:pt x="1099" y="1390"/>
                  <a:pt x="1507" y="1415"/>
                  <a:pt x="1959" y="1425"/>
                </a:cubicBezTo>
                <a:cubicBezTo>
                  <a:pt x="2411" y="1435"/>
                  <a:pt x="3192" y="1395"/>
                  <a:pt x="3519" y="1320"/>
                </a:cubicBezTo>
                <a:cubicBezTo>
                  <a:pt x="3846" y="1245"/>
                  <a:pt x="3753" y="1067"/>
                  <a:pt x="3924" y="975"/>
                </a:cubicBezTo>
                <a:cubicBezTo>
                  <a:pt x="4095" y="883"/>
                  <a:pt x="4489" y="885"/>
                  <a:pt x="4543" y="769"/>
                </a:cubicBezTo>
                <a:cubicBezTo>
                  <a:pt x="4597" y="653"/>
                  <a:pt x="4636" y="393"/>
                  <a:pt x="4249" y="278"/>
                </a:cubicBezTo>
                <a:cubicBezTo>
                  <a:pt x="3863" y="162"/>
                  <a:pt x="2874" y="120"/>
                  <a:pt x="2222" y="76"/>
                </a:cubicBezTo>
                <a:cubicBezTo>
                  <a:pt x="1570" y="32"/>
                  <a:pt x="868" y="0"/>
                  <a:pt x="339" y="15"/>
                </a:cubicBezTo>
                <a:close/>
              </a:path>
            </a:pathLst>
          </a:custGeom>
          <a:solidFill>
            <a:srgbClr val="33CCCC"/>
          </a:solidFill>
          <a:ln w="9525">
            <a:noFill/>
          </a:ln>
        </p:spPr>
        <p:txBody>
          <a:bodyPr/>
          <a:p>
            <a:endParaRPr lang="zh-CN" altLang="en-US"/>
          </a:p>
        </p:txBody>
      </p:sp>
      <p:graphicFrame>
        <p:nvGraphicFramePr>
          <p:cNvPr id="126071" name="Object 118"/>
          <p:cNvGraphicFramePr>
            <a:graphicFrameLocks noChangeAspect="1"/>
          </p:cNvGraphicFramePr>
          <p:nvPr/>
        </p:nvGraphicFramePr>
        <p:xfrm>
          <a:off x="4684713" y="5648325"/>
          <a:ext cx="361950" cy="277813"/>
        </p:xfrm>
        <a:graphic>
          <a:graphicData uri="http://schemas.openxmlformats.org/presentationml/2006/ole">
            <mc:AlternateContent xmlns:mc="http://schemas.openxmlformats.org/markup-compatibility/2006">
              <mc:Choice xmlns:v="urn:schemas-microsoft-com:vml" Requires="v">
                <p:oleObj spid="_x0000_s3163" name="" r:id="rId5" imgW="1307465" imgH="1083945" progId="">
                  <p:embed/>
                </p:oleObj>
              </mc:Choice>
              <mc:Fallback>
                <p:oleObj name="" r:id="rId5" imgW="1307465" imgH="1083945" progId="">
                  <p:embed/>
                  <p:pic>
                    <p:nvPicPr>
                      <p:cNvPr id="0" name="图片 3162"/>
                      <p:cNvPicPr/>
                      <p:nvPr/>
                    </p:nvPicPr>
                    <p:blipFill>
                      <a:blip r:embed="rId6"/>
                      <a:stretch>
                        <a:fillRect/>
                      </a:stretch>
                    </p:blipFill>
                    <p:spPr>
                      <a:xfrm>
                        <a:off x="4684713" y="5648325"/>
                        <a:ext cx="361950" cy="277813"/>
                      </a:xfrm>
                      <a:prstGeom prst="rect">
                        <a:avLst/>
                      </a:prstGeom>
                      <a:noFill/>
                      <a:ln w="38100">
                        <a:noFill/>
                        <a:miter/>
                      </a:ln>
                    </p:spPr>
                  </p:pic>
                </p:oleObj>
              </mc:Fallback>
            </mc:AlternateContent>
          </a:graphicData>
        </a:graphic>
      </p:graphicFrame>
      <p:sp>
        <p:nvSpPr>
          <p:cNvPr id="126072" name="Line 119"/>
          <p:cNvSpPr/>
          <p:nvPr/>
        </p:nvSpPr>
        <p:spPr>
          <a:xfrm flipV="1">
            <a:off x="7059613" y="4052888"/>
            <a:ext cx="428625" cy="288925"/>
          </a:xfrm>
          <a:prstGeom prst="line">
            <a:avLst/>
          </a:prstGeom>
          <a:ln w="28575" cap="flat" cmpd="sng">
            <a:solidFill>
              <a:srgbClr val="FF0000"/>
            </a:solidFill>
            <a:prstDash val="solid"/>
            <a:round/>
            <a:headEnd type="none" w="med" len="med"/>
            <a:tailEnd type="triangle" w="med" len="med"/>
          </a:ln>
        </p:spPr>
      </p:sp>
      <p:sp>
        <p:nvSpPr>
          <p:cNvPr id="126073" name="Freeform 120"/>
          <p:cNvSpPr/>
          <p:nvPr/>
        </p:nvSpPr>
        <p:spPr>
          <a:xfrm>
            <a:off x="3695700" y="4630738"/>
            <a:ext cx="2970213" cy="292100"/>
          </a:xfrm>
          <a:custGeom>
            <a:avLst/>
            <a:gdLst/>
            <a:ahLst/>
            <a:cxnLst>
              <a:cxn ang="0">
                <a:pos x="0" y="0"/>
              </a:cxn>
              <a:cxn ang="0">
                <a:pos x="2147483646" y="258184251"/>
              </a:cxn>
              <a:cxn ang="0">
                <a:pos x="2147483646" y="25312578"/>
              </a:cxn>
            </a:cxnLst>
            <a:pathLst>
              <a:path w="2196" h="318">
                <a:moveTo>
                  <a:pt x="0" y="0"/>
                </a:moveTo>
                <a:cubicBezTo>
                  <a:pt x="199" y="51"/>
                  <a:pt x="828" y="301"/>
                  <a:pt x="1194" y="306"/>
                </a:cubicBezTo>
                <a:cubicBezTo>
                  <a:pt x="1536" y="318"/>
                  <a:pt x="1987" y="88"/>
                  <a:pt x="2196" y="3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26074" name="Line 121"/>
          <p:cNvSpPr/>
          <p:nvPr/>
        </p:nvSpPr>
        <p:spPr>
          <a:xfrm flipH="1" flipV="1">
            <a:off x="3660775" y="4743450"/>
            <a:ext cx="981075" cy="914400"/>
          </a:xfrm>
          <a:prstGeom prst="line">
            <a:avLst/>
          </a:prstGeom>
          <a:ln w="28575" cap="flat" cmpd="sng">
            <a:solidFill>
              <a:srgbClr val="FF0000"/>
            </a:solidFill>
            <a:prstDash val="solid"/>
            <a:round/>
            <a:headEnd type="none" w="med" len="med"/>
            <a:tailEnd type="triangle" w="med" len="med"/>
          </a:ln>
        </p:spPr>
      </p:sp>
      <p:sp>
        <p:nvSpPr>
          <p:cNvPr id="126075" name="Text Box 122"/>
          <p:cNvSpPr txBox="1"/>
          <p:nvPr/>
        </p:nvSpPr>
        <p:spPr>
          <a:xfrm>
            <a:off x="254000" y="3963988"/>
            <a:ext cx="2100263" cy="581025"/>
          </a:xfrm>
          <a:prstGeom prst="rect">
            <a:avLst/>
          </a:prstGeom>
          <a:noFill/>
          <a:ln w="9525">
            <a:noFill/>
          </a:ln>
        </p:spPr>
        <p:txBody>
          <a:bodyPr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Permanent address: 128.119.40.186</a:t>
            </a:r>
            <a:endParaRPr lang="en-US" altLang="zh-CN" sz="1600" dirty="0">
              <a:latin typeface="Comic Sans MS" panose="030F0702030302020204" pitchFamily="66" charset="0"/>
              <a:ea typeface="宋体" panose="02010600030101010101" pitchFamily="2" charset="-122"/>
            </a:endParaRPr>
          </a:p>
        </p:txBody>
      </p:sp>
      <p:sp>
        <p:nvSpPr>
          <p:cNvPr id="126076" name="Text Box 123"/>
          <p:cNvSpPr txBox="1"/>
          <p:nvPr/>
        </p:nvSpPr>
        <p:spPr>
          <a:xfrm>
            <a:off x="6305550" y="4710113"/>
            <a:ext cx="2100263" cy="581025"/>
          </a:xfrm>
          <a:prstGeom prst="rect">
            <a:avLst/>
          </a:prstGeom>
          <a:noFill/>
          <a:ln w="9525">
            <a:noFill/>
          </a:ln>
        </p:spPr>
        <p:txBody>
          <a:bodyPr anchor="t" anchorCtr="0">
            <a:spAutoFit/>
          </a:bodyPr>
          <a:p>
            <a:pPr algn="r" eaLnBrk="0" hangingPunct="0">
              <a:buClrTx/>
              <a:buFontTx/>
            </a:pPr>
            <a:r>
              <a:rPr lang="en-US" altLang="zh-CN" sz="1600" dirty="0">
                <a:latin typeface="Comic Sans MS" panose="030F0702030302020204" pitchFamily="66" charset="0"/>
                <a:ea typeface="宋体" panose="02010600030101010101" pitchFamily="2" charset="-122"/>
              </a:rPr>
              <a:t>Care-of address: 79.129.13.2</a:t>
            </a:r>
            <a:endParaRPr lang="en-US" altLang="zh-CN" sz="1600" dirty="0">
              <a:latin typeface="Comic Sans MS" panose="030F0702030302020204" pitchFamily="66" charset="0"/>
              <a:ea typeface="宋体" panose="02010600030101010101" pitchFamily="2" charset="-122"/>
            </a:endParaRPr>
          </a:p>
        </p:txBody>
      </p:sp>
      <p:grpSp>
        <p:nvGrpSpPr>
          <p:cNvPr id="446588" name="Group 124"/>
          <p:cNvGrpSpPr/>
          <p:nvPr/>
        </p:nvGrpSpPr>
        <p:grpSpPr>
          <a:xfrm>
            <a:off x="1385888" y="5038725"/>
            <a:ext cx="3021012" cy="1068388"/>
            <a:chOff x="873" y="3174"/>
            <a:chExt cx="1903" cy="673"/>
          </a:xfrm>
        </p:grpSpPr>
        <p:grpSp>
          <p:nvGrpSpPr>
            <p:cNvPr id="126078" name="Group 125"/>
            <p:cNvGrpSpPr/>
            <p:nvPr/>
          </p:nvGrpSpPr>
          <p:grpSpPr>
            <a:xfrm>
              <a:off x="908" y="3174"/>
              <a:ext cx="1868" cy="286"/>
              <a:chOff x="527" y="2649"/>
              <a:chExt cx="1868" cy="286"/>
            </a:xfrm>
          </p:grpSpPr>
          <p:sp>
            <p:nvSpPr>
              <p:cNvPr id="126079" name="Rectangle 126"/>
              <p:cNvSpPr/>
              <p:nvPr/>
            </p:nvSpPr>
            <p:spPr>
              <a:xfrm>
                <a:off x="546" y="2680"/>
                <a:ext cx="1849" cy="23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080" name="Text Box 127"/>
              <p:cNvSpPr txBox="1"/>
              <p:nvPr/>
            </p:nvSpPr>
            <p:spPr>
              <a:xfrm>
                <a:off x="527" y="2698"/>
                <a:ext cx="1780" cy="212"/>
              </a:xfrm>
              <a:prstGeom prst="rect">
                <a:avLst/>
              </a:prstGeom>
              <a:noFill/>
              <a:ln w="9525">
                <a:noFill/>
              </a:ln>
            </p:spPr>
            <p:txBody>
              <a:bodyPr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dest: 128.119.40.186</a:t>
                </a:r>
                <a:endParaRPr lang="en-US" altLang="zh-CN" sz="1600" dirty="0">
                  <a:latin typeface="Comic Sans MS" panose="030F0702030302020204" pitchFamily="66" charset="0"/>
                  <a:ea typeface="宋体" panose="02010600030101010101" pitchFamily="2" charset="-122"/>
                </a:endParaRPr>
              </a:p>
            </p:txBody>
          </p:sp>
          <p:sp>
            <p:nvSpPr>
              <p:cNvPr id="126081" name="Line 128"/>
              <p:cNvSpPr/>
              <p:nvPr/>
            </p:nvSpPr>
            <p:spPr>
              <a:xfrm>
                <a:off x="1847" y="2680"/>
                <a:ext cx="3" cy="234"/>
              </a:xfrm>
              <a:prstGeom prst="line">
                <a:avLst/>
              </a:prstGeom>
              <a:ln w="9525" cap="flat" cmpd="sng">
                <a:solidFill>
                  <a:schemeClr val="tx1"/>
                </a:solidFill>
                <a:prstDash val="solid"/>
                <a:round/>
                <a:headEnd type="none" w="med" len="med"/>
                <a:tailEnd type="none" w="med" len="med"/>
              </a:ln>
            </p:spPr>
          </p:sp>
          <p:grpSp>
            <p:nvGrpSpPr>
              <p:cNvPr id="126082" name="Group 129"/>
              <p:cNvGrpSpPr/>
              <p:nvPr/>
            </p:nvGrpSpPr>
            <p:grpSpPr>
              <a:xfrm>
                <a:off x="2148" y="2649"/>
                <a:ext cx="111" cy="109"/>
                <a:chOff x="1941" y="2928"/>
                <a:chExt cx="111" cy="109"/>
              </a:xfrm>
            </p:grpSpPr>
            <p:sp>
              <p:nvSpPr>
                <p:cNvPr id="126083" name="Freeform 130"/>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084" name="Line 131"/>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085" name="Line 132"/>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nvGrpSpPr>
              <p:cNvPr id="126086" name="Group 133"/>
              <p:cNvGrpSpPr/>
              <p:nvPr/>
            </p:nvGrpSpPr>
            <p:grpSpPr>
              <a:xfrm>
                <a:off x="2136" y="2826"/>
                <a:ext cx="111" cy="109"/>
                <a:chOff x="1941" y="2928"/>
                <a:chExt cx="111" cy="109"/>
              </a:xfrm>
            </p:grpSpPr>
            <p:sp>
              <p:nvSpPr>
                <p:cNvPr id="126087" name="Freeform 134"/>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088" name="Line 135"/>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089" name="Line 136"/>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sp>
          <p:nvSpPr>
            <p:cNvPr id="126090" name="Text Box 137"/>
            <p:cNvSpPr txBox="1"/>
            <p:nvPr/>
          </p:nvSpPr>
          <p:spPr>
            <a:xfrm>
              <a:off x="873" y="3443"/>
              <a:ext cx="1187" cy="404"/>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packet sent by correspondent</a:t>
              </a:r>
              <a:endParaRPr lang="en-US" altLang="zh-CN" dirty="0">
                <a:latin typeface="Comic Sans MS" panose="030F0702030302020204" pitchFamily="66" charset="0"/>
                <a:ea typeface="宋体" panose="02010600030101010101" pitchFamily="2" charset="-122"/>
              </a:endParaRPr>
            </a:p>
          </p:txBody>
        </p:sp>
      </p:grpSp>
      <p:grpSp>
        <p:nvGrpSpPr>
          <p:cNvPr id="446602" name="Group 138"/>
          <p:cNvGrpSpPr/>
          <p:nvPr/>
        </p:nvGrpSpPr>
        <p:grpSpPr>
          <a:xfrm>
            <a:off x="879475" y="2039938"/>
            <a:ext cx="5287963" cy="2814637"/>
            <a:chOff x="554" y="1285"/>
            <a:chExt cx="3331" cy="1773"/>
          </a:xfrm>
        </p:grpSpPr>
        <p:sp>
          <p:nvSpPr>
            <p:cNvPr id="126092" name="Rectangle 139"/>
            <p:cNvSpPr/>
            <p:nvPr/>
          </p:nvSpPr>
          <p:spPr>
            <a:xfrm>
              <a:off x="2931" y="2982"/>
              <a:ext cx="356" cy="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093" name="Freeform 140"/>
            <p:cNvSpPr/>
            <p:nvPr/>
          </p:nvSpPr>
          <p:spPr>
            <a:xfrm>
              <a:off x="576" y="2009"/>
              <a:ext cx="3303" cy="990"/>
            </a:xfrm>
            <a:custGeom>
              <a:avLst/>
              <a:gdLst/>
              <a:ahLst/>
              <a:cxnLst>
                <a:cxn ang="0">
                  <a:pos x="2439" y="981"/>
                </a:cxn>
                <a:cxn ang="0">
                  <a:pos x="1490" y="346"/>
                </a:cxn>
                <a:cxn ang="0">
                  <a:pos x="0" y="41"/>
                </a:cxn>
                <a:cxn ang="0">
                  <a:pos x="3303" y="49"/>
                </a:cxn>
                <a:cxn ang="0">
                  <a:pos x="2829" y="337"/>
                </a:cxn>
                <a:cxn ang="0">
                  <a:pos x="2558" y="973"/>
                </a:cxn>
                <a:cxn ang="0">
                  <a:pos x="2439" y="981"/>
                </a:cxn>
              </a:cxnLst>
              <a:pathLst>
                <a:path w="3303" h="990">
                  <a:moveTo>
                    <a:pt x="2439" y="981"/>
                  </a:moveTo>
                  <a:cubicBezTo>
                    <a:pt x="2439" y="981"/>
                    <a:pt x="1882" y="501"/>
                    <a:pt x="1490" y="346"/>
                  </a:cubicBezTo>
                  <a:cubicBezTo>
                    <a:pt x="1098" y="191"/>
                    <a:pt x="13" y="47"/>
                    <a:pt x="0" y="41"/>
                  </a:cubicBezTo>
                  <a:cubicBezTo>
                    <a:pt x="13" y="59"/>
                    <a:pt x="2832" y="0"/>
                    <a:pt x="3303" y="49"/>
                  </a:cubicBezTo>
                  <a:cubicBezTo>
                    <a:pt x="3301" y="41"/>
                    <a:pt x="2925" y="183"/>
                    <a:pt x="2829" y="337"/>
                  </a:cubicBezTo>
                  <a:cubicBezTo>
                    <a:pt x="2733" y="491"/>
                    <a:pt x="2550" y="990"/>
                    <a:pt x="2558" y="973"/>
                  </a:cubicBezTo>
                  <a:cubicBezTo>
                    <a:pt x="2558" y="990"/>
                    <a:pt x="2439" y="981"/>
                    <a:pt x="2439" y="981"/>
                  </a:cubicBezTo>
                  <a:close/>
                </a:path>
              </a:pathLst>
            </a:custGeom>
            <a:gradFill rotWithShape="1">
              <a:gsLst>
                <a:gs pos="0">
                  <a:schemeClr val="bg2"/>
                </a:gs>
                <a:gs pos="100000">
                  <a:srgbClr val="FFFFFF"/>
                </a:gs>
              </a:gsLst>
              <a:lin ang="5400000" scaled="1"/>
              <a:tileRect/>
            </a:gradFill>
            <a:ln w="9525">
              <a:noFill/>
            </a:ln>
          </p:spPr>
          <p:txBody>
            <a:bodyPr/>
            <a:p>
              <a:endParaRPr lang="zh-CN" altLang="en-US"/>
            </a:p>
          </p:txBody>
        </p:sp>
        <p:grpSp>
          <p:nvGrpSpPr>
            <p:cNvPr id="126094" name="Group 141"/>
            <p:cNvGrpSpPr/>
            <p:nvPr/>
          </p:nvGrpSpPr>
          <p:grpSpPr>
            <a:xfrm>
              <a:off x="561" y="1649"/>
              <a:ext cx="3324" cy="464"/>
              <a:chOff x="1240" y="1226"/>
              <a:chExt cx="3324" cy="464"/>
            </a:xfrm>
          </p:grpSpPr>
          <p:grpSp>
            <p:nvGrpSpPr>
              <p:cNvPr id="126095" name="Group 142"/>
              <p:cNvGrpSpPr/>
              <p:nvPr/>
            </p:nvGrpSpPr>
            <p:grpSpPr>
              <a:xfrm>
                <a:off x="1240" y="1226"/>
                <a:ext cx="3324" cy="464"/>
                <a:chOff x="1198" y="3598"/>
                <a:chExt cx="3324" cy="464"/>
              </a:xfrm>
            </p:grpSpPr>
            <p:sp>
              <p:nvSpPr>
                <p:cNvPr id="126096" name="Rectangle 143"/>
                <p:cNvSpPr/>
                <p:nvPr/>
              </p:nvSpPr>
              <p:spPr>
                <a:xfrm>
                  <a:off x="1221" y="3665"/>
                  <a:ext cx="3301" cy="34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097" name="Text Box 144"/>
                <p:cNvSpPr txBox="1"/>
                <p:nvPr/>
              </p:nvSpPr>
              <p:spPr>
                <a:xfrm>
                  <a:off x="1198" y="3733"/>
                  <a:ext cx="1780" cy="212"/>
                </a:xfrm>
                <a:prstGeom prst="rect">
                  <a:avLst/>
                </a:prstGeom>
                <a:noFill/>
                <a:ln w="9525">
                  <a:noFill/>
                </a:ln>
              </p:spPr>
              <p:txBody>
                <a:bodyPr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dest: 79.129.13.2</a:t>
                  </a:r>
                  <a:endParaRPr lang="en-US" altLang="zh-CN" sz="1600" dirty="0">
                    <a:latin typeface="Comic Sans MS" panose="030F0702030302020204" pitchFamily="66" charset="0"/>
                    <a:ea typeface="宋体" panose="02010600030101010101" pitchFamily="2" charset="-122"/>
                  </a:endParaRPr>
                </a:p>
              </p:txBody>
            </p:sp>
            <p:sp>
              <p:nvSpPr>
                <p:cNvPr id="126098" name="Line 145"/>
                <p:cNvSpPr/>
                <p:nvPr/>
              </p:nvSpPr>
              <p:spPr>
                <a:xfrm>
                  <a:off x="2311" y="3659"/>
                  <a:ext cx="8" cy="345"/>
                </a:xfrm>
                <a:prstGeom prst="line">
                  <a:avLst/>
                </a:prstGeom>
                <a:ln w="9525" cap="flat" cmpd="sng">
                  <a:solidFill>
                    <a:schemeClr val="tx1"/>
                  </a:solidFill>
                  <a:prstDash val="solid"/>
                  <a:round/>
                  <a:headEnd type="none" w="med" len="med"/>
                  <a:tailEnd type="none" w="med" len="med"/>
                </a:ln>
              </p:spPr>
            </p:sp>
            <p:grpSp>
              <p:nvGrpSpPr>
                <p:cNvPr id="126099" name="Group 146"/>
                <p:cNvGrpSpPr/>
                <p:nvPr/>
              </p:nvGrpSpPr>
              <p:grpSpPr>
                <a:xfrm>
                  <a:off x="4374" y="3598"/>
                  <a:ext cx="111" cy="109"/>
                  <a:chOff x="1941" y="2928"/>
                  <a:chExt cx="111" cy="109"/>
                </a:xfrm>
              </p:grpSpPr>
              <p:sp>
                <p:nvSpPr>
                  <p:cNvPr id="126100" name="Freeform 147"/>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01" name="Line 148"/>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02" name="Line 149"/>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nvGrpSpPr>
                <p:cNvPr id="126103" name="Group 150"/>
                <p:cNvGrpSpPr/>
                <p:nvPr/>
              </p:nvGrpSpPr>
              <p:grpSpPr>
                <a:xfrm>
                  <a:off x="4355" y="3953"/>
                  <a:ext cx="111" cy="109"/>
                  <a:chOff x="1941" y="2928"/>
                  <a:chExt cx="111" cy="109"/>
                </a:xfrm>
              </p:grpSpPr>
              <p:sp>
                <p:nvSpPr>
                  <p:cNvPr id="126104" name="Freeform 151"/>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05" name="Line 152"/>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06" name="Line 153"/>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grpSp>
            <p:nvGrpSpPr>
              <p:cNvPr id="126107" name="Group 154"/>
              <p:cNvGrpSpPr/>
              <p:nvPr/>
            </p:nvGrpSpPr>
            <p:grpSpPr>
              <a:xfrm>
                <a:off x="2520" y="1313"/>
                <a:ext cx="1868" cy="286"/>
                <a:chOff x="527" y="2649"/>
                <a:chExt cx="1868" cy="286"/>
              </a:xfrm>
            </p:grpSpPr>
            <p:sp>
              <p:nvSpPr>
                <p:cNvPr id="126108" name="Rectangle 155"/>
                <p:cNvSpPr/>
                <p:nvPr/>
              </p:nvSpPr>
              <p:spPr>
                <a:xfrm>
                  <a:off x="546" y="2680"/>
                  <a:ext cx="1849" cy="23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109" name="Text Box 156"/>
                <p:cNvSpPr txBox="1"/>
                <p:nvPr/>
              </p:nvSpPr>
              <p:spPr>
                <a:xfrm>
                  <a:off x="527" y="2698"/>
                  <a:ext cx="1780" cy="212"/>
                </a:xfrm>
                <a:prstGeom prst="rect">
                  <a:avLst/>
                </a:prstGeom>
                <a:noFill/>
                <a:ln w="9525">
                  <a:noFill/>
                </a:ln>
              </p:spPr>
              <p:txBody>
                <a:bodyPr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dest: 128.119.40.186</a:t>
                  </a:r>
                  <a:endParaRPr lang="en-US" altLang="zh-CN" sz="1600" dirty="0">
                    <a:latin typeface="Comic Sans MS" panose="030F0702030302020204" pitchFamily="66" charset="0"/>
                    <a:ea typeface="宋体" panose="02010600030101010101" pitchFamily="2" charset="-122"/>
                  </a:endParaRPr>
                </a:p>
              </p:txBody>
            </p:sp>
            <p:sp>
              <p:nvSpPr>
                <p:cNvPr id="126110" name="Line 157"/>
                <p:cNvSpPr/>
                <p:nvPr/>
              </p:nvSpPr>
              <p:spPr>
                <a:xfrm>
                  <a:off x="1847" y="2680"/>
                  <a:ext cx="3" cy="234"/>
                </a:xfrm>
                <a:prstGeom prst="line">
                  <a:avLst/>
                </a:prstGeom>
                <a:ln w="9525" cap="flat" cmpd="sng">
                  <a:solidFill>
                    <a:schemeClr val="tx1"/>
                  </a:solidFill>
                  <a:prstDash val="solid"/>
                  <a:round/>
                  <a:headEnd type="none" w="med" len="med"/>
                  <a:tailEnd type="none" w="med" len="med"/>
                </a:ln>
              </p:spPr>
            </p:sp>
            <p:grpSp>
              <p:nvGrpSpPr>
                <p:cNvPr id="126111" name="Group 158"/>
                <p:cNvGrpSpPr/>
                <p:nvPr/>
              </p:nvGrpSpPr>
              <p:grpSpPr>
                <a:xfrm>
                  <a:off x="2148" y="2649"/>
                  <a:ext cx="111" cy="109"/>
                  <a:chOff x="1941" y="2928"/>
                  <a:chExt cx="111" cy="109"/>
                </a:xfrm>
              </p:grpSpPr>
              <p:sp>
                <p:nvSpPr>
                  <p:cNvPr id="126112" name="Freeform 159"/>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13" name="Line 160"/>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14" name="Line 161"/>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nvGrpSpPr>
                <p:cNvPr id="126115" name="Group 162"/>
                <p:cNvGrpSpPr/>
                <p:nvPr/>
              </p:nvGrpSpPr>
              <p:grpSpPr>
                <a:xfrm>
                  <a:off x="2136" y="2826"/>
                  <a:ext cx="111" cy="109"/>
                  <a:chOff x="1941" y="2928"/>
                  <a:chExt cx="111" cy="109"/>
                </a:xfrm>
              </p:grpSpPr>
              <p:sp>
                <p:nvSpPr>
                  <p:cNvPr id="126116" name="Freeform 163"/>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17" name="Line 164"/>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18" name="Line 165"/>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grpSp>
        <p:sp>
          <p:nvSpPr>
            <p:cNvPr id="126119" name="Text Box 166"/>
            <p:cNvSpPr txBox="1"/>
            <p:nvPr/>
          </p:nvSpPr>
          <p:spPr>
            <a:xfrm>
              <a:off x="554" y="1285"/>
              <a:ext cx="2855" cy="404"/>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packet sent by home agent to foreign agent: a </a:t>
              </a:r>
              <a:r>
                <a:rPr lang="en-US" altLang="zh-CN" i="1" dirty="0">
                  <a:latin typeface="Comic Sans MS" panose="030F0702030302020204" pitchFamily="66" charset="0"/>
                  <a:ea typeface="宋体" panose="02010600030101010101" pitchFamily="2" charset="-122"/>
                </a:rPr>
                <a:t>packet within a packet</a:t>
              </a:r>
              <a:endParaRPr lang="en-US" altLang="zh-CN" i="1" dirty="0">
                <a:latin typeface="Comic Sans MS" panose="030F0702030302020204" pitchFamily="66" charset="0"/>
                <a:ea typeface="宋体" panose="02010600030101010101" pitchFamily="2" charset="-122"/>
              </a:endParaRPr>
            </a:p>
          </p:txBody>
        </p:sp>
      </p:grpSp>
      <p:grpSp>
        <p:nvGrpSpPr>
          <p:cNvPr id="446631" name="Group 167"/>
          <p:cNvGrpSpPr/>
          <p:nvPr/>
        </p:nvGrpSpPr>
        <p:grpSpPr>
          <a:xfrm>
            <a:off x="5426075" y="1611313"/>
            <a:ext cx="3567113" cy="2562225"/>
            <a:chOff x="3418" y="1015"/>
            <a:chExt cx="2247" cy="1614"/>
          </a:xfrm>
        </p:grpSpPr>
        <p:sp>
          <p:nvSpPr>
            <p:cNvPr id="126121" name="Rectangle 168"/>
            <p:cNvSpPr/>
            <p:nvPr/>
          </p:nvSpPr>
          <p:spPr>
            <a:xfrm>
              <a:off x="4382" y="2569"/>
              <a:ext cx="263" cy="6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122" name="Freeform 169"/>
            <p:cNvSpPr/>
            <p:nvPr/>
          </p:nvSpPr>
          <p:spPr>
            <a:xfrm>
              <a:off x="3693" y="1469"/>
              <a:ext cx="1849" cy="1132"/>
            </a:xfrm>
            <a:custGeom>
              <a:avLst/>
              <a:gdLst/>
              <a:ahLst/>
              <a:cxnLst>
                <a:cxn ang="0">
                  <a:pos x="779" y="1132"/>
                </a:cxn>
                <a:cxn ang="0">
                  <a:pos x="686" y="344"/>
                </a:cxn>
                <a:cxn ang="0">
                  <a:pos x="0" y="39"/>
                </a:cxn>
                <a:cxn ang="0">
                  <a:pos x="1849" y="49"/>
                </a:cxn>
                <a:cxn ang="0">
                  <a:pos x="1375" y="337"/>
                </a:cxn>
                <a:cxn ang="0">
                  <a:pos x="906" y="996"/>
                </a:cxn>
                <a:cxn ang="0">
                  <a:pos x="779" y="1132"/>
                </a:cxn>
              </a:cxnLst>
              <a:pathLst>
                <a:path w="1849" h="1132">
                  <a:moveTo>
                    <a:pt x="779" y="1132"/>
                  </a:moveTo>
                  <a:cubicBezTo>
                    <a:pt x="779" y="1132"/>
                    <a:pt x="1078" y="499"/>
                    <a:pt x="686" y="344"/>
                  </a:cubicBezTo>
                  <a:cubicBezTo>
                    <a:pt x="294" y="189"/>
                    <a:pt x="13" y="45"/>
                    <a:pt x="0" y="39"/>
                  </a:cubicBezTo>
                  <a:cubicBezTo>
                    <a:pt x="13" y="57"/>
                    <a:pt x="1378" y="0"/>
                    <a:pt x="1849" y="49"/>
                  </a:cubicBezTo>
                  <a:cubicBezTo>
                    <a:pt x="1847" y="41"/>
                    <a:pt x="1471" y="183"/>
                    <a:pt x="1375" y="337"/>
                  </a:cubicBezTo>
                  <a:cubicBezTo>
                    <a:pt x="1279" y="491"/>
                    <a:pt x="898" y="1013"/>
                    <a:pt x="906" y="996"/>
                  </a:cubicBezTo>
                  <a:cubicBezTo>
                    <a:pt x="906" y="1013"/>
                    <a:pt x="779" y="1132"/>
                    <a:pt x="779" y="1132"/>
                  </a:cubicBezTo>
                  <a:close/>
                </a:path>
              </a:pathLst>
            </a:custGeom>
            <a:gradFill rotWithShape="1">
              <a:gsLst>
                <a:gs pos="0">
                  <a:schemeClr val="bg2"/>
                </a:gs>
                <a:gs pos="100000">
                  <a:srgbClr val="FFFFFF"/>
                </a:gs>
              </a:gsLst>
              <a:lin ang="5400000" scaled="1"/>
              <a:tileRect/>
            </a:gradFill>
            <a:ln w="9525">
              <a:noFill/>
            </a:ln>
          </p:spPr>
          <p:txBody>
            <a:bodyPr/>
            <a:p>
              <a:endParaRPr lang="zh-CN" altLang="en-US"/>
            </a:p>
          </p:txBody>
        </p:sp>
        <p:grpSp>
          <p:nvGrpSpPr>
            <p:cNvPr id="126123" name="Group 170"/>
            <p:cNvGrpSpPr/>
            <p:nvPr/>
          </p:nvGrpSpPr>
          <p:grpSpPr>
            <a:xfrm>
              <a:off x="3672" y="1254"/>
              <a:ext cx="1868" cy="286"/>
              <a:chOff x="527" y="2649"/>
              <a:chExt cx="1868" cy="286"/>
            </a:xfrm>
          </p:grpSpPr>
          <p:sp>
            <p:nvSpPr>
              <p:cNvPr id="126124" name="Rectangle 171"/>
              <p:cNvSpPr/>
              <p:nvPr/>
            </p:nvSpPr>
            <p:spPr>
              <a:xfrm>
                <a:off x="546" y="2680"/>
                <a:ext cx="1849" cy="239"/>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26125" name="Text Box 172"/>
              <p:cNvSpPr txBox="1"/>
              <p:nvPr/>
            </p:nvSpPr>
            <p:spPr>
              <a:xfrm>
                <a:off x="527" y="2698"/>
                <a:ext cx="1780" cy="212"/>
              </a:xfrm>
              <a:prstGeom prst="rect">
                <a:avLst/>
              </a:prstGeom>
              <a:noFill/>
              <a:ln w="9525">
                <a:noFill/>
              </a:ln>
            </p:spPr>
            <p:txBody>
              <a:bodyPr anchor="t" anchorCtr="0">
                <a:spAutoFit/>
              </a:bodyPr>
              <a:p>
                <a:pPr eaLnBrk="0" hangingPunct="0">
                  <a:buClrTx/>
                  <a:buFontTx/>
                </a:pPr>
                <a:r>
                  <a:rPr lang="en-US" altLang="zh-CN" sz="1600" dirty="0">
                    <a:latin typeface="Comic Sans MS" panose="030F0702030302020204" pitchFamily="66" charset="0"/>
                    <a:ea typeface="宋体" panose="02010600030101010101" pitchFamily="2" charset="-122"/>
                  </a:rPr>
                  <a:t>dest: 128.119.40.186</a:t>
                </a:r>
                <a:endParaRPr lang="en-US" altLang="zh-CN" sz="1600" dirty="0">
                  <a:latin typeface="Comic Sans MS" panose="030F0702030302020204" pitchFamily="66" charset="0"/>
                  <a:ea typeface="宋体" panose="02010600030101010101" pitchFamily="2" charset="-122"/>
                </a:endParaRPr>
              </a:p>
            </p:txBody>
          </p:sp>
          <p:sp>
            <p:nvSpPr>
              <p:cNvPr id="126126" name="Line 173"/>
              <p:cNvSpPr/>
              <p:nvPr/>
            </p:nvSpPr>
            <p:spPr>
              <a:xfrm>
                <a:off x="1847" y="2680"/>
                <a:ext cx="3" cy="234"/>
              </a:xfrm>
              <a:prstGeom prst="line">
                <a:avLst/>
              </a:prstGeom>
              <a:ln w="9525" cap="flat" cmpd="sng">
                <a:solidFill>
                  <a:schemeClr val="tx1"/>
                </a:solidFill>
                <a:prstDash val="solid"/>
                <a:round/>
                <a:headEnd type="none" w="med" len="med"/>
                <a:tailEnd type="none" w="med" len="med"/>
              </a:ln>
            </p:spPr>
          </p:sp>
          <p:grpSp>
            <p:nvGrpSpPr>
              <p:cNvPr id="126127" name="Group 174"/>
              <p:cNvGrpSpPr/>
              <p:nvPr/>
            </p:nvGrpSpPr>
            <p:grpSpPr>
              <a:xfrm>
                <a:off x="2148" y="2649"/>
                <a:ext cx="111" cy="109"/>
                <a:chOff x="1941" y="2928"/>
                <a:chExt cx="111" cy="109"/>
              </a:xfrm>
            </p:grpSpPr>
            <p:sp>
              <p:nvSpPr>
                <p:cNvPr id="126128" name="Freeform 175"/>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29" name="Line 176"/>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30" name="Line 177"/>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nvGrpSpPr>
              <p:cNvPr id="126131" name="Group 178"/>
              <p:cNvGrpSpPr/>
              <p:nvPr/>
            </p:nvGrpSpPr>
            <p:grpSpPr>
              <a:xfrm>
                <a:off x="2136" y="2826"/>
                <a:ext cx="111" cy="109"/>
                <a:chOff x="1941" y="2928"/>
                <a:chExt cx="111" cy="109"/>
              </a:xfrm>
            </p:grpSpPr>
            <p:sp>
              <p:nvSpPr>
                <p:cNvPr id="126132" name="Freeform 179"/>
                <p:cNvSpPr/>
                <p:nvPr/>
              </p:nvSpPr>
              <p:spPr>
                <a:xfrm>
                  <a:off x="1941" y="2928"/>
                  <a:ext cx="111" cy="108"/>
                </a:xfrm>
                <a:custGeom>
                  <a:avLst/>
                  <a:gdLst/>
                  <a:ahLst/>
                  <a:cxnLst>
                    <a:cxn ang="0">
                      <a:pos x="57" y="0"/>
                    </a:cxn>
                    <a:cxn ang="0">
                      <a:pos x="111" y="0"/>
                    </a:cxn>
                    <a:cxn ang="0">
                      <a:pos x="48" y="108"/>
                    </a:cxn>
                    <a:cxn ang="0">
                      <a:pos x="0" y="105"/>
                    </a:cxn>
                    <a:cxn ang="0">
                      <a:pos x="57" y="0"/>
                    </a:cxn>
                  </a:cxnLst>
                  <a:pathLst>
                    <a:path w="111" h="108">
                      <a:moveTo>
                        <a:pt x="57" y="0"/>
                      </a:moveTo>
                      <a:lnTo>
                        <a:pt x="111" y="0"/>
                      </a:lnTo>
                      <a:lnTo>
                        <a:pt x="48" y="108"/>
                      </a:lnTo>
                      <a:lnTo>
                        <a:pt x="0" y="105"/>
                      </a:lnTo>
                      <a:lnTo>
                        <a:pt x="57" y="0"/>
                      </a:lnTo>
                      <a:close/>
                    </a:path>
                  </a:pathLst>
                </a:custGeom>
                <a:solidFill>
                  <a:schemeClr val="bg1"/>
                </a:solidFill>
                <a:ln w="9525">
                  <a:noFill/>
                </a:ln>
              </p:spPr>
              <p:txBody>
                <a:bodyPr/>
                <a:p>
                  <a:endParaRPr lang="zh-CN" altLang="en-US"/>
                </a:p>
              </p:txBody>
            </p:sp>
            <p:sp>
              <p:nvSpPr>
                <p:cNvPr id="126133" name="Line 180"/>
                <p:cNvSpPr/>
                <p:nvPr/>
              </p:nvSpPr>
              <p:spPr>
                <a:xfrm flipH="1">
                  <a:off x="1943" y="2932"/>
                  <a:ext cx="57" cy="99"/>
                </a:xfrm>
                <a:prstGeom prst="line">
                  <a:avLst/>
                </a:prstGeom>
                <a:ln w="9525" cap="flat" cmpd="sng">
                  <a:solidFill>
                    <a:schemeClr val="tx1"/>
                  </a:solidFill>
                  <a:prstDash val="solid"/>
                  <a:round/>
                  <a:headEnd type="none" w="med" len="med"/>
                  <a:tailEnd type="none" w="med" len="med"/>
                </a:ln>
              </p:spPr>
            </p:sp>
            <p:sp>
              <p:nvSpPr>
                <p:cNvPr id="126134" name="Line 181"/>
                <p:cNvSpPr/>
                <p:nvPr/>
              </p:nvSpPr>
              <p:spPr>
                <a:xfrm flipH="1">
                  <a:off x="1985" y="2938"/>
                  <a:ext cx="57" cy="99"/>
                </a:xfrm>
                <a:prstGeom prst="line">
                  <a:avLst/>
                </a:prstGeom>
                <a:ln w="9525" cap="flat" cmpd="sng">
                  <a:solidFill>
                    <a:schemeClr val="tx1"/>
                  </a:solidFill>
                  <a:prstDash val="solid"/>
                  <a:round/>
                  <a:headEnd type="none" w="med" len="med"/>
                  <a:tailEnd type="none" w="med" len="med"/>
                </a:ln>
              </p:spPr>
            </p:sp>
          </p:grpSp>
        </p:grpSp>
        <p:sp>
          <p:nvSpPr>
            <p:cNvPr id="126135" name="Text Box 182"/>
            <p:cNvSpPr txBox="1"/>
            <p:nvPr/>
          </p:nvSpPr>
          <p:spPr>
            <a:xfrm>
              <a:off x="3418" y="1015"/>
              <a:ext cx="2247" cy="231"/>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foreign-agent-to-mobile packet</a:t>
              </a:r>
              <a:endParaRPr lang="en-US" altLang="zh-CN" dirty="0">
                <a:latin typeface="Comic Sans MS" panose="030F0702030302020204" pitchFamily="66"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65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66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6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2800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28003"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Mobile IP: agent discovery</a:t>
            </a:r>
            <a:endParaRPr lang="en-US" altLang="zh-CN" dirty="0">
              <a:ea typeface="宋体" panose="02010600030101010101" pitchFamily="2" charset="-122"/>
            </a:endParaRPr>
          </a:p>
        </p:txBody>
      </p:sp>
      <p:sp>
        <p:nvSpPr>
          <p:cNvPr id="128004" name="Rectangle 3"/>
          <p:cNvSpPr>
            <a:spLocks noGrp="1"/>
          </p:cNvSpPr>
          <p:nvPr>
            <p:ph type="body" sz="half" idx="1"/>
          </p:nvPr>
        </p:nvSpPr>
        <p:spPr>
          <a:xfrm>
            <a:off x="549275" y="1443038"/>
            <a:ext cx="8034338" cy="4648200"/>
          </a:xfrm>
          <a:ln/>
        </p:spPr>
        <p:txBody>
          <a:bodyPr vert="horz" wrap="square" lIns="91440" tIns="45720" rIns="91440" bIns="45720" anchor="t" anchorCtr="0"/>
          <a:p>
            <a:pPr>
              <a:buClr>
                <a:schemeClr val="accent2"/>
              </a:buClr>
              <a:buSzPct val="85000"/>
              <a:buFont typeface="ZapfDingbats" pitchFamily="82" charset="2"/>
            </a:pPr>
            <a:r>
              <a:rPr lang="en-US" altLang="zh-CN" sz="2400" dirty="0">
                <a:solidFill>
                  <a:srgbClr val="FF0000"/>
                </a:solidFill>
                <a:ea typeface="宋体" panose="02010600030101010101" pitchFamily="2" charset="-122"/>
              </a:rPr>
              <a:t>agent advertisement:</a:t>
            </a:r>
            <a:r>
              <a:rPr lang="en-US" altLang="zh-CN" sz="2400" dirty="0">
                <a:ea typeface="宋体" panose="02010600030101010101" pitchFamily="2" charset="-122"/>
              </a:rPr>
              <a:t> foreign/home agents advertise service by broadcasting ICMP messages</a:t>
            </a:r>
            <a:r>
              <a:rPr lang="en-US" altLang="zh-CN" sz="2000" dirty="0">
                <a:ea typeface="宋体" panose="02010600030101010101" pitchFamily="2" charset="-122"/>
              </a:rPr>
              <a:t> (typefield = 9)</a:t>
            </a:r>
            <a:endParaRPr lang="en-US" altLang="zh-CN" sz="2000" dirty="0">
              <a:ea typeface="宋体" panose="02010600030101010101" pitchFamily="2" charset="-122"/>
            </a:endParaRPr>
          </a:p>
        </p:txBody>
      </p:sp>
      <p:graphicFrame>
        <p:nvGraphicFramePr>
          <p:cNvPr id="128005" name="Object 4"/>
          <p:cNvGraphicFramePr>
            <a:graphicFrameLocks noGrp="1" noChangeAspect="1"/>
          </p:cNvGraphicFramePr>
          <p:nvPr>
            <p:ph sz="half" idx="2"/>
          </p:nvPr>
        </p:nvGraphicFramePr>
        <p:xfrm>
          <a:off x="2824163" y="2406650"/>
          <a:ext cx="5470525" cy="3951288"/>
        </p:xfrm>
        <a:graphic>
          <a:graphicData uri="http://schemas.openxmlformats.org/presentationml/2006/ole">
            <mc:AlternateContent xmlns:mc="http://schemas.openxmlformats.org/markup-compatibility/2006">
              <mc:Choice xmlns:v="urn:schemas-microsoft-com:vml" Requires="v">
                <p:oleObj spid="_x0000_s3165" name="" r:id="rId1" imgW="4051935" imgH="2919730" progId="Word.Picture.8">
                  <p:embed/>
                </p:oleObj>
              </mc:Choice>
              <mc:Fallback>
                <p:oleObj name="" r:id="rId1" imgW="4051935" imgH="2919730" progId="Word.Picture.8">
                  <p:embed/>
                  <p:pic>
                    <p:nvPicPr>
                      <p:cNvPr id="0" name="图片 3164"/>
                      <p:cNvPicPr/>
                      <p:nvPr/>
                    </p:nvPicPr>
                    <p:blipFill>
                      <a:blip r:embed="rId2"/>
                      <a:stretch>
                        <a:fillRect/>
                      </a:stretch>
                    </p:blipFill>
                    <p:spPr>
                      <a:xfrm>
                        <a:off x="2824163" y="2406650"/>
                        <a:ext cx="5470525" cy="3951288"/>
                      </a:xfrm>
                      <a:prstGeom prst="rect">
                        <a:avLst/>
                      </a:prstGeom>
                      <a:noFill/>
                      <a:ln w="38100">
                        <a:miter/>
                      </a:ln>
                    </p:spPr>
                  </p:pic>
                </p:oleObj>
              </mc:Fallback>
            </mc:AlternateContent>
          </a:graphicData>
        </a:graphic>
      </p:graphicFrame>
      <p:sp>
        <p:nvSpPr>
          <p:cNvPr id="128006" name="Text Box 5"/>
          <p:cNvSpPr txBox="1"/>
          <p:nvPr/>
        </p:nvSpPr>
        <p:spPr>
          <a:xfrm>
            <a:off x="333375" y="4164013"/>
            <a:ext cx="2300288" cy="641350"/>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R bit: registration required</a:t>
            </a:r>
            <a:endParaRPr lang="en-US" altLang="zh-CN" dirty="0">
              <a:latin typeface="Comic Sans MS" panose="030F0702030302020204" pitchFamily="66" charset="0"/>
              <a:ea typeface="宋体" panose="02010600030101010101" pitchFamily="2" charset="-122"/>
            </a:endParaRPr>
          </a:p>
        </p:txBody>
      </p:sp>
      <p:sp>
        <p:nvSpPr>
          <p:cNvPr id="128007" name="Text Box 6"/>
          <p:cNvSpPr txBox="1"/>
          <p:nvPr/>
        </p:nvSpPr>
        <p:spPr>
          <a:xfrm>
            <a:off x="344488" y="3230563"/>
            <a:ext cx="2457450" cy="641350"/>
          </a:xfrm>
          <a:prstGeom prst="rect">
            <a:avLst/>
          </a:prstGeom>
          <a:noFill/>
          <a:ln w="9525">
            <a:noFill/>
          </a:ln>
        </p:spPr>
        <p:txBody>
          <a:bodyPr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H,F bits: home and/or foreign agent</a:t>
            </a:r>
            <a:endParaRPr lang="en-US" altLang="zh-CN" dirty="0">
              <a:latin typeface="Comic Sans MS" panose="030F0702030302020204" pitchFamily="66" charset="0"/>
              <a:ea typeface="宋体" panose="02010600030101010101" pitchFamily="2" charset="-122"/>
            </a:endParaRPr>
          </a:p>
        </p:txBody>
      </p:sp>
      <p:sp>
        <p:nvSpPr>
          <p:cNvPr id="128008" name="Line 7"/>
          <p:cNvSpPr/>
          <p:nvPr/>
        </p:nvSpPr>
        <p:spPr>
          <a:xfrm>
            <a:off x="2790825" y="3768725"/>
            <a:ext cx="2538413" cy="1103313"/>
          </a:xfrm>
          <a:prstGeom prst="line">
            <a:avLst/>
          </a:prstGeom>
          <a:ln w="28575" cap="flat" cmpd="sng">
            <a:solidFill>
              <a:schemeClr val="accent2"/>
            </a:solidFill>
            <a:prstDash val="solid"/>
            <a:round/>
            <a:headEnd type="none" w="med" len="med"/>
            <a:tailEnd type="none" w="med" len="med"/>
          </a:ln>
        </p:spPr>
      </p:sp>
      <p:sp>
        <p:nvSpPr>
          <p:cNvPr id="128009" name="Line 8"/>
          <p:cNvSpPr/>
          <p:nvPr/>
        </p:nvSpPr>
        <p:spPr>
          <a:xfrm>
            <a:off x="2501900" y="4348163"/>
            <a:ext cx="2490788" cy="582612"/>
          </a:xfrm>
          <a:prstGeom prst="line">
            <a:avLst/>
          </a:prstGeom>
          <a:ln w="28575" cap="flat" cmpd="sng">
            <a:solidFill>
              <a:schemeClr val="accent2"/>
            </a:solidFill>
            <a:prstDash val="solid"/>
            <a:round/>
            <a:headEnd type="none" w="med" len="med"/>
            <a:tailEnd type="none" w="med" len="med"/>
          </a:ln>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3005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005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Mobile IP: registration example</a:t>
            </a:r>
            <a:endParaRPr lang="en-US" altLang="zh-CN" dirty="0">
              <a:ea typeface="宋体" panose="02010600030101010101" pitchFamily="2" charset="-122"/>
            </a:endParaRPr>
          </a:p>
        </p:txBody>
      </p:sp>
      <p:graphicFrame>
        <p:nvGraphicFramePr>
          <p:cNvPr id="130052" name="Object 3"/>
          <p:cNvGraphicFramePr>
            <a:graphicFrameLocks noGrp="1" noChangeAspect="1"/>
          </p:cNvGraphicFramePr>
          <p:nvPr>
            <p:ph idx="1"/>
          </p:nvPr>
        </p:nvGraphicFramePr>
        <p:xfrm>
          <a:off x="428625" y="1428750"/>
          <a:ext cx="8469313" cy="4913313"/>
        </p:xfrm>
        <a:graphic>
          <a:graphicData uri="http://schemas.openxmlformats.org/presentationml/2006/ole">
            <mc:AlternateContent xmlns:mc="http://schemas.openxmlformats.org/markup-compatibility/2006">
              <mc:Choice xmlns:v="urn:schemas-microsoft-com:vml" Requires="v">
                <p:oleObj spid="_x0000_s3164" name="" r:id="rId1" imgW="6835775" imgH="3956050" progId="Word.Picture.8">
                  <p:embed/>
                </p:oleObj>
              </mc:Choice>
              <mc:Fallback>
                <p:oleObj name="" r:id="rId1" imgW="6835775" imgH="3956050" progId="Word.Picture.8">
                  <p:embed/>
                  <p:pic>
                    <p:nvPicPr>
                      <p:cNvPr id="0" name="图片 3163"/>
                      <p:cNvPicPr/>
                      <p:nvPr/>
                    </p:nvPicPr>
                    <p:blipFill>
                      <a:blip r:embed="rId2"/>
                      <a:stretch>
                        <a:fillRect/>
                      </a:stretch>
                    </p:blipFill>
                    <p:spPr>
                      <a:xfrm>
                        <a:off x="428625" y="1428750"/>
                        <a:ext cx="8469313" cy="4913313"/>
                      </a:xfrm>
                      <a:prstGeom prst="rect">
                        <a:avLst/>
                      </a:prstGeom>
                      <a:noFill/>
                      <a:ln w="38100">
                        <a:miter/>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32098"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2099" name="Freeform 128"/>
          <p:cNvSpPr/>
          <p:nvPr/>
        </p:nvSpPr>
        <p:spPr>
          <a:xfrm>
            <a:off x="4554538" y="2600325"/>
            <a:ext cx="3065462" cy="2527300"/>
          </a:xfrm>
          <a:custGeom>
            <a:avLst/>
            <a:gdLst/>
            <a:ahLst/>
            <a:cxnLst>
              <a:cxn ang="0">
                <a:pos x="2147483646" y="801409688"/>
              </a:cxn>
              <a:cxn ang="0">
                <a:pos x="2147483646" y="1769149688"/>
              </a:cxn>
              <a:cxn ang="0">
                <a:pos x="2147483646" y="1905238125"/>
              </a:cxn>
              <a:cxn ang="0">
                <a:pos x="2147483646" y="2147483646"/>
              </a:cxn>
              <a:cxn ang="0">
                <a:pos x="2147483646" y="2147483646"/>
              </a:cxn>
              <a:cxn ang="0">
                <a:pos x="2147483646" y="2147483646"/>
              </a:cxn>
              <a:cxn ang="0">
                <a:pos x="1827112189" y="2147483646"/>
              </a:cxn>
              <a:cxn ang="0">
                <a:pos x="224293076" y="2147483646"/>
              </a:cxn>
              <a:cxn ang="0">
                <a:pos x="481348971" y="2147483646"/>
              </a:cxn>
              <a:cxn ang="0">
                <a:pos x="688001750" y="1496972813"/>
              </a:cxn>
              <a:cxn ang="0">
                <a:pos x="1313000398" y="861893438"/>
              </a:cxn>
              <a:cxn ang="0">
                <a:pos x="2147483646" y="120967500"/>
              </a:cxn>
              <a:cxn ang="0">
                <a:pos x="2147483646" y="136088438"/>
              </a:cxn>
              <a:cxn ang="0">
                <a:pos x="2147483646" y="801409688"/>
              </a:cxn>
            </a:cxnLst>
            <a:pathLst>
              <a:path w="1931" h="1592">
                <a:moveTo>
                  <a:pt x="1757" y="318"/>
                </a:moveTo>
                <a:cubicBezTo>
                  <a:pt x="1793" y="564"/>
                  <a:pt x="1673" y="629"/>
                  <a:pt x="1691" y="702"/>
                </a:cubicBezTo>
                <a:cubicBezTo>
                  <a:pt x="1709" y="775"/>
                  <a:pt x="1834" y="653"/>
                  <a:pt x="1865" y="756"/>
                </a:cubicBezTo>
                <a:cubicBezTo>
                  <a:pt x="1896" y="859"/>
                  <a:pt x="1931" y="1196"/>
                  <a:pt x="1877" y="1320"/>
                </a:cubicBezTo>
                <a:cubicBezTo>
                  <a:pt x="1823" y="1444"/>
                  <a:pt x="1668" y="1505"/>
                  <a:pt x="1541" y="1500"/>
                </a:cubicBezTo>
                <a:cubicBezTo>
                  <a:pt x="1414" y="1495"/>
                  <a:pt x="1251" y="1276"/>
                  <a:pt x="1115" y="1290"/>
                </a:cubicBezTo>
                <a:cubicBezTo>
                  <a:pt x="979" y="1304"/>
                  <a:pt x="896" y="1576"/>
                  <a:pt x="725" y="1584"/>
                </a:cubicBezTo>
                <a:cubicBezTo>
                  <a:pt x="554" y="1592"/>
                  <a:pt x="178" y="1436"/>
                  <a:pt x="89" y="1338"/>
                </a:cubicBezTo>
                <a:cubicBezTo>
                  <a:pt x="0" y="1240"/>
                  <a:pt x="160" y="1120"/>
                  <a:pt x="191" y="996"/>
                </a:cubicBezTo>
                <a:cubicBezTo>
                  <a:pt x="222" y="872"/>
                  <a:pt x="218" y="703"/>
                  <a:pt x="273" y="594"/>
                </a:cubicBezTo>
                <a:cubicBezTo>
                  <a:pt x="328" y="485"/>
                  <a:pt x="401" y="433"/>
                  <a:pt x="521" y="342"/>
                </a:cubicBezTo>
                <a:cubicBezTo>
                  <a:pt x="641" y="251"/>
                  <a:pt x="849" y="96"/>
                  <a:pt x="995" y="48"/>
                </a:cubicBezTo>
                <a:cubicBezTo>
                  <a:pt x="1141" y="0"/>
                  <a:pt x="1313" y="53"/>
                  <a:pt x="1397" y="54"/>
                </a:cubicBezTo>
                <a:cubicBezTo>
                  <a:pt x="1397" y="54"/>
                  <a:pt x="1709" y="174"/>
                  <a:pt x="1757" y="318"/>
                </a:cubicBezTo>
                <a:close/>
              </a:path>
            </a:pathLst>
          </a:custGeom>
          <a:solidFill>
            <a:srgbClr val="99CCFF"/>
          </a:solidFill>
          <a:ln w="9525">
            <a:noFill/>
          </a:ln>
        </p:spPr>
        <p:txBody>
          <a:bodyPr/>
          <a:p>
            <a:endParaRPr lang="zh-CN" altLang="en-US"/>
          </a:p>
        </p:txBody>
      </p:sp>
      <p:sp>
        <p:nvSpPr>
          <p:cNvPr id="132100" name="Freeform 805"/>
          <p:cNvSpPr/>
          <p:nvPr/>
        </p:nvSpPr>
        <p:spPr>
          <a:xfrm>
            <a:off x="2009775" y="2892425"/>
            <a:ext cx="2578100" cy="1973263"/>
          </a:xfrm>
          <a:custGeom>
            <a:avLst/>
            <a:gdLst/>
            <a:ahLst/>
            <a:cxnLst>
              <a:cxn ang="0">
                <a:pos x="446068450" y="0"/>
              </a:cxn>
              <a:cxn ang="0">
                <a:pos x="88206263" y="304939777"/>
              </a:cxn>
              <a:cxn ang="0">
                <a:pos x="75604688" y="1055946530"/>
              </a:cxn>
              <a:cxn ang="0">
                <a:pos x="544353750" y="1441529740"/>
              </a:cxn>
              <a:cxn ang="0">
                <a:pos x="665321250" y="1970762687"/>
              </a:cxn>
              <a:cxn ang="0">
                <a:pos x="1166833138" y="2147483646"/>
              </a:cxn>
              <a:cxn ang="0">
                <a:pos x="2147483646" y="2147483646"/>
              </a:cxn>
              <a:cxn ang="0">
                <a:pos x="2147483646" y="2147483646"/>
              </a:cxn>
              <a:cxn ang="0">
                <a:pos x="2147483646" y="2147483646"/>
              </a:cxn>
              <a:cxn ang="0">
                <a:pos x="2147483646" y="1396166916"/>
              </a:cxn>
              <a:cxn ang="0">
                <a:pos x="2147483646" y="519152319"/>
              </a:cxn>
              <a:cxn ang="0">
                <a:pos x="2147483646" y="156249727"/>
              </a:cxn>
              <a:cxn ang="0">
                <a:pos x="1391126250" y="50403138"/>
              </a:cxn>
            </a:cxnLst>
            <a:pathLst>
              <a:path w="1624" h="1243">
                <a:moveTo>
                  <a:pt x="177" y="0"/>
                </a:moveTo>
                <a:cubicBezTo>
                  <a:pt x="94" y="5"/>
                  <a:pt x="59" y="52"/>
                  <a:pt x="35" y="121"/>
                </a:cubicBezTo>
                <a:cubicBezTo>
                  <a:pt x="10" y="191"/>
                  <a:pt x="0" y="344"/>
                  <a:pt x="30" y="419"/>
                </a:cubicBezTo>
                <a:cubicBezTo>
                  <a:pt x="60" y="494"/>
                  <a:pt x="177" y="512"/>
                  <a:pt x="216" y="572"/>
                </a:cubicBezTo>
                <a:cubicBezTo>
                  <a:pt x="255" y="632"/>
                  <a:pt x="223" y="726"/>
                  <a:pt x="264" y="782"/>
                </a:cubicBezTo>
                <a:cubicBezTo>
                  <a:pt x="305" y="838"/>
                  <a:pt x="333" y="843"/>
                  <a:pt x="463" y="911"/>
                </a:cubicBezTo>
                <a:cubicBezTo>
                  <a:pt x="593" y="979"/>
                  <a:pt x="888" y="1143"/>
                  <a:pt x="1044" y="1190"/>
                </a:cubicBezTo>
                <a:cubicBezTo>
                  <a:pt x="1200" y="1237"/>
                  <a:pt x="1321" y="1243"/>
                  <a:pt x="1398" y="1196"/>
                </a:cubicBezTo>
                <a:cubicBezTo>
                  <a:pt x="1475" y="1149"/>
                  <a:pt x="1480" y="1015"/>
                  <a:pt x="1506" y="908"/>
                </a:cubicBezTo>
                <a:cubicBezTo>
                  <a:pt x="1532" y="801"/>
                  <a:pt x="1624" y="671"/>
                  <a:pt x="1554" y="554"/>
                </a:cubicBezTo>
                <a:cubicBezTo>
                  <a:pt x="1484" y="437"/>
                  <a:pt x="1183" y="288"/>
                  <a:pt x="1086" y="206"/>
                </a:cubicBezTo>
                <a:cubicBezTo>
                  <a:pt x="989" y="124"/>
                  <a:pt x="1061" y="93"/>
                  <a:pt x="972" y="62"/>
                </a:cubicBezTo>
                <a:cubicBezTo>
                  <a:pt x="883" y="31"/>
                  <a:pt x="639" y="29"/>
                  <a:pt x="552" y="20"/>
                </a:cubicBezTo>
              </a:path>
            </a:pathLst>
          </a:custGeom>
          <a:solidFill>
            <a:srgbClr val="99CCFF"/>
          </a:solidFill>
          <a:ln w="9525">
            <a:noFill/>
          </a:ln>
        </p:spPr>
        <p:txBody>
          <a:bodyPr/>
          <a:p>
            <a:endParaRPr lang="zh-CN" altLang="en-US"/>
          </a:p>
        </p:txBody>
      </p:sp>
      <p:sp>
        <p:nvSpPr>
          <p:cNvPr id="132101" name="Rectangle 258"/>
          <p:cNvSpPr/>
          <p:nvPr/>
        </p:nvSpPr>
        <p:spPr>
          <a:xfrm>
            <a:off x="214313" y="601663"/>
            <a:ext cx="8658225" cy="579437"/>
          </a:xfrm>
          <a:prstGeom prst="rect">
            <a:avLst/>
          </a:prstGeom>
          <a:noFill/>
          <a:ln w="9525">
            <a:noFill/>
          </a:ln>
        </p:spPr>
        <p:txBody>
          <a:bodyPr wrap="none" anchor="t" anchorCtr="0">
            <a:spAutoFit/>
          </a:bodyPr>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Components of cellular network architecture</a:t>
            </a:r>
            <a:endParaRPr lang="en-US" altLang="zh-CN" sz="3200" u="sng" dirty="0">
              <a:solidFill>
                <a:schemeClr val="accent2"/>
              </a:solidFill>
              <a:latin typeface="Comic Sans MS" panose="030F0702030302020204" pitchFamily="66" charset="0"/>
              <a:ea typeface="宋体" panose="02010600030101010101" pitchFamily="2" charset="-122"/>
            </a:endParaRPr>
          </a:p>
        </p:txBody>
      </p:sp>
      <p:pic>
        <p:nvPicPr>
          <p:cNvPr id="132102" name="Picture 288"/>
          <p:cNvPicPr>
            <a:picLocks noChangeAspect="1"/>
          </p:cNvPicPr>
          <p:nvPr/>
        </p:nvPicPr>
        <p:blipFill>
          <a:blip r:embed="rId1"/>
          <a:stretch>
            <a:fillRect/>
          </a:stretch>
        </p:blipFill>
        <p:spPr>
          <a:xfrm>
            <a:off x="5364163" y="2289175"/>
            <a:ext cx="411162" cy="477838"/>
          </a:xfrm>
          <a:prstGeom prst="rect">
            <a:avLst/>
          </a:prstGeom>
          <a:noFill/>
          <a:ln w="9525">
            <a:noFill/>
          </a:ln>
        </p:spPr>
      </p:pic>
      <p:sp>
        <p:nvSpPr>
          <p:cNvPr id="132103" name="Text Box 289"/>
          <p:cNvSpPr txBox="1"/>
          <p:nvPr/>
        </p:nvSpPr>
        <p:spPr>
          <a:xfrm>
            <a:off x="5291138" y="1995488"/>
            <a:ext cx="131603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p:txBody>
      </p:sp>
      <p:grpSp>
        <p:nvGrpSpPr>
          <p:cNvPr id="132104" name="Group 292"/>
          <p:cNvGrpSpPr/>
          <p:nvPr/>
        </p:nvGrpSpPr>
        <p:grpSpPr>
          <a:xfrm>
            <a:off x="2206625" y="3184525"/>
            <a:ext cx="1020763" cy="841375"/>
            <a:chOff x="1807" y="2856"/>
            <a:chExt cx="803" cy="674"/>
          </a:xfrm>
        </p:grpSpPr>
        <p:sp>
          <p:nvSpPr>
            <p:cNvPr id="132105" name="AutoShape 293"/>
            <p:cNvSpPr/>
            <p:nvPr/>
          </p:nvSpPr>
          <p:spPr>
            <a:xfrm>
              <a:off x="1807" y="2856"/>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106" name="AutoShape 294"/>
            <p:cNvSpPr/>
            <p:nvPr/>
          </p:nvSpPr>
          <p:spPr>
            <a:xfrm>
              <a:off x="2047" y="3258"/>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107" name="AutoShape 295"/>
            <p:cNvSpPr/>
            <p:nvPr/>
          </p:nvSpPr>
          <p:spPr>
            <a:xfrm>
              <a:off x="2043" y="2985"/>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108" name="AutoShape 296"/>
            <p:cNvSpPr/>
            <p:nvPr/>
          </p:nvSpPr>
          <p:spPr>
            <a:xfrm>
              <a:off x="2282" y="3123"/>
              <a:ext cx="314" cy="272"/>
            </a:xfrm>
            <a:prstGeom prst="hexagon">
              <a:avLst>
                <a:gd name="adj" fmla="val 28860"/>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109" name="Group 297"/>
            <p:cNvGrpSpPr/>
            <p:nvPr/>
          </p:nvGrpSpPr>
          <p:grpSpPr>
            <a:xfrm>
              <a:off x="2407" y="3162"/>
              <a:ext cx="72" cy="145"/>
              <a:chOff x="3796" y="1043"/>
              <a:chExt cx="865" cy="1237"/>
            </a:xfrm>
          </p:grpSpPr>
          <p:sp>
            <p:nvSpPr>
              <p:cNvPr id="132110" name="Line 29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111" name="Line 29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112" name="Line 30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113" name="Line 30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114" name="Line 30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115" name="Line 30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116" name="Line 30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117" name="Line 30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118" name="Line 30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119" name="Line 30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120" name="Line 30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121" name="Line 30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122" name="Line 31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123" name="Line 31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124" name="Line 31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125" name="Group 313"/>
              <p:cNvGrpSpPr/>
              <p:nvPr/>
            </p:nvGrpSpPr>
            <p:grpSpPr>
              <a:xfrm>
                <a:off x="4269" y="1415"/>
                <a:ext cx="392" cy="137"/>
                <a:chOff x="4227" y="1360"/>
                <a:chExt cx="863" cy="270"/>
              </a:xfrm>
            </p:grpSpPr>
            <p:sp>
              <p:nvSpPr>
                <p:cNvPr id="132126" name="Line 3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27" name="Line 3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28" name="Line 3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29" name="Line 3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30" name="Group 318"/>
              <p:cNvGrpSpPr/>
              <p:nvPr/>
            </p:nvGrpSpPr>
            <p:grpSpPr>
              <a:xfrm rot="5700496">
                <a:off x="4050" y="1168"/>
                <a:ext cx="392" cy="137"/>
                <a:chOff x="4227" y="1360"/>
                <a:chExt cx="863" cy="270"/>
              </a:xfrm>
            </p:grpSpPr>
            <p:sp>
              <p:nvSpPr>
                <p:cNvPr id="132131" name="Line 3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32" name="Line 3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33" name="Line 3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34" name="Line 3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35" name="Group 323"/>
              <p:cNvGrpSpPr/>
              <p:nvPr/>
            </p:nvGrpSpPr>
            <p:grpSpPr>
              <a:xfrm rot="10800000">
                <a:off x="3796" y="1402"/>
                <a:ext cx="392" cy="137"/>
                <a:chOff x="4227" y="1360"/>
                <a:chExt cx="863" cy="270"/>
              </a:xfrm>
            </p:grpSpPr>
            <p:sp>
              <p:nvSpPr>
                <p:cNvPr id="132136" name="Line 3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37" name="Line 3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38" name="Line 3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39" name="Line 3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140" name="Group 328"/>
            <p:cNvGrpSpPr/>
            <p:nvPr/>
          </p:nvGrpSpPr>
          <p:grpSpPr>
            <a:xfrm>
              <a:off x="2164" y="3034"/>
              <a:ext cx="72" cy="145"/>
              <a:chOff x="3796" y="1043"/>
              <a:chExt cx="865" cy="1237"/>
            </a:xfrm>
          </p:grpSpPr>
          <p:sp>
            <p:nvSpPr>
              <p:cNvPr id="132141" name="Line 32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142" name="Line 33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143" name="Line 33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144" name="Line 33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145" name="Line 33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146" name="Line 33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147" name="Line 33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148" name="Line 33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149" name="Line 33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150" name="Line 33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151" name="Line 33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152" name="Line 34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153" name="Line 34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154" name="Line 34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155" name="Line 34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156" name="Group 344"/>
              <p:cNvGrpSpPr/>
              <p:nvPr/>
            </p:nvGrpSpPr>
            <p:grpSpPr>
              <a:xfrm>
                <a:off x="4269" y="1415"/>
                <a:ext cx="392" cy="137"/>
                <a:chOff x="4227" y="1360"/>
                <a:chExt cx="863" cy="270"/>
              </a:xfrm>
            </p:grpSpPr>
            <p:sp>
              <p:nvSpPr>
                <p:cNvPr id="132157" name="Line 34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58" name="Line 34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59" name="Line 34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60" name="Line 34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61" name="Group 349"/>
              <p:cNvGrpSpPr/>
              <p:nvPr/>
            </p:nvGrpSpPr>
            <p:grpSpPr>
              <a:xfrm rot="5700496">
                <a:off x="4050" y="1168"/>
                <a:ext cx="392" cy="137"/>
                <a:chOff x="4227" y="1360"/>
                <a:chExt cx="863" cy="270"/>
              </a:xfrm>
            </p:grpSpPr>
            <p:sp>
              <p:nvSpPr>
                <p:cNvPr id="132162" name="Line 3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63" name="Line 3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64" name="Line 3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65" name="Line 3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66" name="Group 354"/>
              <p:cNvGrpSpPr/>
              <p:nvPr/>
            </p:nvGrpSpPr>
            <p:grpSpPr>
              <a:xfrm rot="10800000">
                <a:off x="3796" y="1402"/>
                <a:ext cx="392" cy="137"/>
                <a:chOff x="4227" y="1360"/>
                <a:chExt cx="863" cy="270"/>
              </a:xfrm>
            </p:grpSpPr>
            <p:sp>
              <p:nvSpPr>
                <p:cNvPr id="132167" name="Line 3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68" name="Line 3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69" name="Line 3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70" name="Line 3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171" name="Group 359"/>
            <p:cNvGrpSpPr/>
            <p:nvPr/>
          </p:nvGrpSpPr>
          <p:grpSpPr>
            <a:xfrm>
              <a:off x="2175" y="3302"/>
              <a:ext cx="72" cy="144"/>
              <a:chOff x="3796" y="1043"/>
              <a:chExt cx="865" cy="1237"/>
            </a:xfrm>
          </p:grpSpPr>
          <p:sp>
            <p:nvSpPr>
              <p:cNvPr id="132172" name="Line 36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173" name="Line 36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174" name="Line 36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175" name="Line 36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176" name="Line 36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177" name="Line 36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178" name="Line 36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179" name="Line 36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180" name="Line 36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181" name="Line 36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182" name="Line 37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183" name="Line 37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184" name="Line 37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185" name="Line 37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186" name="Line 37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187" name="Group 375"/>
              <p:cNvGrpSpPr/>
              <p:nvPr/>
            </p:nvGrpSpPr>
            <p:grpSpPr>
              <a:xfrm>
                <a:off x="4269" y="1415"/>
                <a:ext cx="392" cy="137"/>
                <a:chOff x="4227" y="1360"/>
                <a:chExt cx="863" cy="270"/>
              </a:xfrm>
            </p:grpSpPr>
            <p:sp>
              <p:nvSpPr>
                <p:cNvPr id="132188" name="Line 37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89" name="Line 37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90" name="Line 37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91" name="Line 37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92" name="Group 380"/>
              <p:cNvGrpSpPr/>
              <p:nvPr/>
            </p:nvGrpSpPr>
            <p:grpSpPr>
              <a:xfrm rot="5700496">
                <a:off x="4050" y="1168"/>
                <a:ext cx="392" cy="137"/>
                <a:chOff x="4227" y="1360"/>
                <a:chExt cx="863" cy="270"/>
              </a:xfrm>
            </p:grpSpPr>
            <p:sp>
              <p:nvSpPr>
                <p:cNvPr id="132193" name="Line 3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94" name="Line 3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195" name="Line 3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196" name="Line 3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197" name="Group 385"/>
              <p:cNvGrpSpPr/>
              <p:nvPr/>
            </p:nvGrpSpPr>
            <p:grpSpPr>
              <a:xfrm rot="10800000">
                <a:off x="3796" y="1402"/>
                <a:ext cx="392" cy="137"/>
                <a:chOff x="4227" y="1360"/>
                <a:chExt cx="863" cy="270"/>
              </a:xfrm>
            </p:grpSpPr>
            <p:sp>
              <p:nvSpPr>
                <p:cNvPr id="132198" name="Line 3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199" name="Line 3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00" name="Line 3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01" name="Line 3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202" name="Group 390"/>
            <p:cNvGrpSpPr/>
            <p:nvPr/>
          </p:nvGrpSpPr>
          <p:grpSpPr>
            <a:xfrm>
              <a:off x="1934" y="2899"/>
              <a:ext cx="72" cy="145"/>
              <a:chOff x="3796" y="1043"/>
              <a:chExt cx="865" cy="1237"/>
            </a:xfrm>
          </p:grpSpPr>
          <p:sp>
            <p:nvSpPr>
              <p:cNvPr id="132203" name="Line 39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204" name="Line 39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205" name="Line 39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206" name="Line 39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207" name="Line 39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208" name="Line 39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209" name="Line 39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210" name="Line 39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211" name="Line 39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212" name="Line 40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213" name="Line 40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214" name="Line 40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215" name="Line 40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216" name="Line 40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217" name="Line 40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218" name="Group 406"/>
              <p:cNvGrpSpPr/>
              <p:nvPr/>
            </p:nvGrpSpPr>
            <p:grpSpPr>
              <a:xfrm>
                <a:off x="4269" y="1415"/>
                <a:ext cx="392" cy="137"/>
                <a:chOff x="4227" y="1360"/>
                <a:chExt cx="863" cy="270"/>
              </a:xfrm>
            </p:grpSpPr>
            <p:sp>
              <p:nvSpPr>
                <p:cNvPr id="132219" name="Line 40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20" name="Line 40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21" name="Line 40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22" name="Line 41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223" name="Group 411"/>
              <p:cNvGrpSpPr/>
              <p:nvPr/>
            </p:nvGrpSpPr>
            <p:grpSpPr>
              <a:xfrm rot="5700496">
                <a:off x="4050" y="1168"/>
                <a:ext cx="392" cy="137"/>
                <a:chOff x="4227" y="1360"/>
                <a:chExt cx="863" cy="270"/>
              </a:xfrm>
            </p:grpSpPr>
            <p:sp>
              <p:nvSpPr>
                <p:cNvPr id="132224" name="Line 41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25" name="Line 41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26" name="Line 41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27" name="Line 41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228" name="Group 416"/>
              <p:cNvGrpSpPr/>
              <p:nvPr/>
            </p:nvGrpSpPr>
            <p:grpSpPr>
              <a:xfrm rot="10800000">
                <a:off x="3796" y="1402"/>
                <a:ext cx="392" cy="137"/>
                <a:chOff x="4227" y="1360"/>
                <a:chExt cx="863" cy="270"/>
              </a:xfrm>
            </p:grpSpPr>
            <p:sp>
              <p:nvSpPr>
                <p:cNvPr id="132229" name="Line 41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30" name="Line 41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31" name="Line 41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32" name="Line 42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233" name="Line 421"/>
            <p:cNvSpPr/>
            <p:nvPr/>
          </p:nvSpPr>
          <p:spPr>
            <a:xfrm flipV="1">
              <a:off x="2460" y="3031"/>
              <a:ext cx="150" cy="250"/>
            </a:xfrm>
            <a:prstGeom prst="line">
              <a:avLst/>
            </a:prstGeom>
            <a:ln w="9525" cap="flat" cmpd="sng">
              <a:solidFill>
                <a:schemeClr val="tx1"/>
              </a:solidFill>
              <a:prstDash val="solid"/>
              <a:round/>
              <a:headEnd type="none" w="med" len="med"/>
              <a:tailEnd type="none" w="med" len="med"/>
            </a:ln>
          </p:spPr>
        </p:sp>
        <p:sp>
          <p:nvSpPr>
            <p:cNvPr id="132234" name="Line 422"/>
            <p:cNvSpPr/>
            <p:nvPr/>
          </p:nvSpPr>
          <p:spPr>
            <a:xfrm flipV="1">
              <a:off x="2226" y="3031"/>
              <a:ext cx="254" cy="395"/>
            </a:xfrm>
            <a:prstGeom prst="line">
              <a:avLst/>
            </a:prstGeom>
            <a:ln w="9525" cap="flat" cmpd="sng">
              <a:solidFill>
                <a:schemeClr val="tx1"/>
              </a:solidFill>
              <a:prstDash val="solid"/>
              <a:round/>
              <a:headEnd type="none" w="med" len="med"/>
              <a:tailEnd type="none" w="med" len="med"/>
            </a:ln>
          </p:spPr>
        </p:sp>
        <p:sp>
          <p:nvSpPr>
            <p:cNvPr id="132235" name="Line 423"/>
            <p:cNvSpPr/>
            <p:nvPr/>
          </p:nvSpPr>
          <p:spPr>
            <a:xfrm flipV="1">
              <a:off x="2219" y="3031"/>
              <a:ext cx="245" cy="138"/>
            </a:xfrm>
            <a:prstGeom prst="line">
              <a:avLst/>
            </a:prstGeom>
            <a:ln w="9525" cap="flat" cmpd="sng">
              <a:solidFill>
                <a:schemeClr val="tx1"/>
              </a:solidFill>
              <a:prstDash val="solid"/>
              <a:round/>
              <a:headEnd type="none" w="med" len="med"/>
              <a:tailEnd type="none" w="med" len="med"/>
            </a:ln>
          </p:spPr>
        </p:sp>
        <p:sp>
          <p:nvSpPr>
            <p:cNvPr id="132236" name="Line 424"/>
            <p:cNvSpPr/>
            <p:nvPr/>
          </p:nvSpPr>
          <p:spPr>
            <a:xfrm flipV="1">
              <a:off x="1989" y="2974"/>
              <a:ext cx="452" cy="53"/>
            </a:xfrm>
            <a:prstGeom prst="line">
              <a:avLst/>
            </a:prstGeom>
            <a:ln w="9525" cap="flat" cmpd="sng">
              <a:solidFill>
                <a:schemeClr val="tx1"/>
              </a:solidFill>
              <a:prstDash val="solid"/>
              <a:round/>
              <a:headEnd type="none" w="med" len="med"/>
              <a:tailEnd type="none" w="med" len="med"/>
            </a:ln>
          </p:spPr>
        </p:sp>
      </p:grpSp>
      <p:grpSp>
        <p:nvGrpSpPr>
          <p:cNvPr id="132237" name="Group 425"/>
          <p:cNvGrpSpPr/>
          <p:nvPr/>
        </p:nvGrpSpPr>
        <p:grpSpPr>
          <a:xfrm>
            <a:off x="2813050" y="3108325"/>
            <a:ext cx="977900" cy="330200"/>
            <a:chOff x="717" y="1160"/>
            <a:chExt cx="616" cy="208"/>
          </a:xfrm>
        </p:grpSpPr>
        <p:sp>
          <p:nvSpPr>
            <p:cNvPr id="132238" name="Rectangle 426"/>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239" name="Text Box 427"/>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nvGrpSpPr>
          <p:cNvPr id="132240" name="Group 428"/>
          <p:cNvGrpSpPr/>
          <p:nvPr/>
        </p:nvGrpSpPr>
        <p:grpSpPr>
          <a:xfrm>
            <a:off x="3127375" y="3830638"/>
            <a:ext cx="1016000" cy="931862"/>
            <a:chOff x="291" y="1263"/>
            <a:chExt cx="640" cy="587"/>
          </a:xfrm>
        </p:grpSpPr>
        <p:sp>
          <p:nvSpPr>
            <p:cNvPr id="132241" name="AutoShape 429"/>
            <p:cNvSpPr/>
            <p:nvPr/>
          </p:nvSpPr>
          <p:spPr>
            <a:xfrm>
              <a:off x="487" y="13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242" name="AutoShape 430"/>
            <p:cNvSpPr/>
            <p:nvPr/>
          </p:nvSpPr>
          <p:spPr>
            <a:xfrm>
              <a:off x="679" y="1636"/>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243" name="AutoShape 431"/>
            <p:cNvSpPr/>
            <p:nvPr/>
          </p:nvSpPr>
          <p:spPr>
            <a:xfrm>
              <a:off x="676" y="1421"/>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244" name="Group 432"/>
            <p:cNvGrpSpPr/>
            <p:nvPr/>
          </p:nvGrpSpPr>
          <p:grpSpPr>
            <a:xfrm>
              <a:off x="291" y="1422"/>
              <a:ext cx="252" cy="214"/>
              <a:chOff x="867" y="1530"/>
              <a:chExt cx="252" cy="214"/>
            </a:xfrm>
          </p:grpSpPr>
          <p:sp>
            <p:nvSpPr>
              <p:cNvPr id="132245" name="AutoShape 433"/>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246" name="Group 434"/>
              <p:cNvGrpSpPr/>
              <p:nvPr/>
            </p:nvGrpSpPr>
            <p:grpSpPr>
              <a:xfrm>
                <a:off x="967" y="1561"/>
                <a:ext cx="58" cy="114"/>
                <a:chOff x="3796" y="1043"/>
                <a:chExt cx="865" cy="1237"/>
              </a:xfrm>
            </p:grpSpPr>
            <p:sp>
              <p:nvSpPr>
                <p:cNvPr id="132247" name="Line 43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248" name="Line 43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249" name="Line 43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250" name="Line 43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251" name="Line 43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252" name="Line 44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253" name="Line 44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254" name="Line 44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255" name="Line 44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256" name="Line 44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257" name="Line 44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258" name="Line 44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259" name="Line 44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260" name="Line 44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261" name="Line 44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262" name="Group 450"/>
                <p:cNvGrpSpPr/>
                <p:nvPr/>
              </p:nvGrpSpPr>
              <p:grpSpPr>
                <a:xfrm>
                  <a:off x="4269" y="1415"/>
                  <a:ext cx="392" cy="137"/>
                  <a:chOff x="4227" y="1360"/>
                  <a:chExt cx="863" cy="270"/>
                </a:xfrm>
              </p:grpSpPr>
              <p:sp>
                <p:nvSpPr>
                  <p:cNvPr id="132263" name="Line 4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64" name="Line 4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65" name="Line 4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66" name="Line 4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267" name="Group 455"/>
                <p:cNvGrpSpPr/>
                <p:nvPr/>
              </p:nvGrpSpPr>
              <p:grpSpPr>
                <a:xfrm rot="5700496">
                  <a:off x="4050" y="1168"/>
                  <a:ext cx="392" cy="137"/>
                  <a:chOff x="4227" y="1360"/>
                  <a:chExt cx="863" cy="270"/>
                </a:xfrm>
              </p:grpSpPr>
              <p:sp>
                <p:nvSpPr>
                  <p:cNvPr id="132268" name="Line 4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69" name="Line 4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70" name="Line 4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71" name="Line 4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272" name="Group 460"/>
                <p:cNvGrpSpPr/>
                <p:nvPr/>
              </p:nvGrpSpPr>
              <p:grpSpPr>
                <a:xfrm rot="10800000">
                  <a:off x="3796" y="1402"/>
                  <a:ext cx="392" cy="137"/>
                  <a:chOff x="4227" y="1360"/>
                  <a:chExt cx="863" cy="270"/>
                </a:xfrm>
              </p:grpSpPr>
              <p:sp>
                <p:nvSpPr>
                  <p:cNvPr id="132273" name="Line 46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74" name="Line 46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75" name="Line 46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76" name="Line 46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32277" name="Group 465"/>
            <p:cNvGrpSpPr/>
            <p:nvPr/>
          </p:nvGrpSpPr>
          <p:grpSpPr>
            <a:xfrm>
              <a:off x="773" y="1460"/>
              <a:ext cx="58" cy="114"/>
              <a:chOff x="3796" y="1043"/>
              <a:chExt cx="865" cy="1237"/>
            </a:xfrm>
          </p:grpSpPr>
          <p:sp>
            <p:nvSpPr>
              <p:cNvPr id="132278" name="Line 46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279" name="Line 46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280" name="Line 46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281" name="Line 46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282" name="Line 47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283" name="Line 47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284" name="Line 47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285" name="Line 47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286" name="Line 47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287" name="Line 47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288" name="Line 47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289" name="Line 47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290" name="Line 47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291" name="Line 47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292" name="Line 48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293" name="Group 481"/>
              <p:cNvGrpSpPr/>
              <p:nvPr/>
            </p:nvGrpSpPr>
            <p:grpSpPr>
              <a:xfrm>
                <a:off x="4269" y="1415"/>
                <a:ext cx="392" cy="137"/>
                <a:chOff x="4227" y="1360"/>
                <a:chExt cx="863" cy="270"/>
              </a:xfrm>
            </p:grpSpPr>
            <p:sp>
              <p:nvSpPr>
                <p:cNvPr id="132294" name="Line 48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295" name="Line 48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296" name="Line 48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297" name="Line 48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298" name="Group 486"/>
              <p:cNvGrpSpPr/>
              <p:nvPr/>
            </p:nvGrpSpPr>
            <p:grpSpPr>
              <a:xfrm rot="5700496">
                <a:off x="4050" y="1168"/>
                <a:ext cx="392" cy="137"/>
                <a:chOff x="4227" y="1360"/>
                <a:chExt cx="863" cy="270"/>
              </a:xfrm>
            </p:grpSpPr>
            <p:sp>
              <p:nvSpPr>
                <p:cNvPr id="132299" name="Line 4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00" name="Line 4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01" name="Line 4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02" name="Line 4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03" name="Group 491"/>
              <p:cNvGrpSpPr/>
              <p:nvPr/>
            </p:nvGrpSpPr>
            <p:grpSpPr>
              <a:xfrm rot="10800000">
                <a:off x="3796" y="1402"/>
                <a:ext cx="392" cy="137"/>
                <a:chOff x="4227" y="1360"/>
                <a:chExt cx="863" cy="270"/>
              </a:xfrm>
            </p:grpSpPr>
            <p:sp>
              <p:nvSpPr>
                <p:cNvPr id="132304" name="Line 49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05" name="Line 49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06" name="Line 49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07" name="Line 49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308" name="Group 496"/>
            <p:cNvGrpSpPr/>
            <p:nvPr/>
          </p:nvGrpSpPr>
          <p:grpSpPr>
            <a:xfrm>
              <a:off x="782" y="1671"/>
              <a:ext cx="57" cy="113"/>
              <a:chOff x="3796" y="1043"/>
              <a:chExt cx="865" cy="1237"/>
            </a:xfrm>
          </p:grpSpPr>
          <p:sp>
            <p:nvSpPr>
              <p:cNvPr id="132309" name="Line 49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310" name="Line 49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311" name="Line 49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312" name="Line 50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313" name="Line 50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314" name="Line 50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315" name="Line 50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316" name="Line 50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317" name="Line 50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318" name="Line 50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319" name="Line 50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320" name="Line 50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321" name="Line 50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322" name="Line 51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323" name="Line 51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324" name="Group 512"/>
              <p:cNvGrpSpPr/>
              <p:nvPr/>
            </p:nvGrpSpPr>
            <p:grpSpPr>
              <a:xfrm>
                <a:off x="4269" y="1415"/>
                <a:ext cx="392" cy="137"/>
                <a:chOff x="4227" y="1360"/>
                <a:chExt cx="863" cy="270"/>
              </a:xfrm>
            </p:grpSpPr>
            <p:sp>
              <p:nvSpPr>
                <p:cNvPr id="132325" name="Line 51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26" name="Line 51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27" name="Line 51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28" name="Line 51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29" name="Group 517"/>
              <p:cNvGrpSpPr/>
              <p:nvPr/>
            </p:nvGrpSpPr>
            <p:grpSpPr>
              <a:xfrm rot="5700496">
                <a:off x="4050" y="1168"/>
                <a:ext cx="392" cy="137"/>
                <a:chOff x="4227" y="1360"/>
                <a:chExt cx="863" cy="270"/>
              </a:xfrm>
            </p:grpSpPr>
            <p:sp>
              <p:nvSpPr>
                <p:cNvPr id="132330" name="Line 5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31" name="Line 5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32" name="Line 5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33" name="Line 5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34" name="Group 522"/>
              <p:cNvGrpSpPr/>
              <p:nvPr/>
            </p:nvGrpSpPr>
            <p:grpSpPr>
              <a:xfrm rot="10800000">
                <a:off x="3796" y="1402"/>
                <a:ext cx="392" cy="137"/>
                <a:chOff x="4227" y="1360"/>
                <a:chExt cx="863" cy="270"/>
              </a:xfrm>
            </p:grpSpPr>
            <p:sp>
              <p:nvSpPr>
                <p:cNvPr id="132335" name="Line 5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36" name="Line 5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37" name="Line 5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38" name="Line 5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339" name="Group 527"/>
            <p:cNvGrpSpPr/>
            <p:nvPr/>
          </p:nvGrpSpPr>
          <p:grpSpPr>
            <a:xfrm>
              <a:off x="589" y="1354"/>
              <a:ext cx="57" cy="114"/>
              <a:chOff x="3796" y="1043"/>
              <a:chExt cx="865" cy="1237"/>
            </a:xfrm>
          </p:grpSpPr>
          <p:sp>
            <p:nvSpPr>
              <p:cNvPr id="132340" name="Line 52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341" name="Line 52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342" name="Line 53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343" name="Line 53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344" name="Line 53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345" name="Line 53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346" name="Line 53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347" name="Line 53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348" name="Line 53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349" name="Line 53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350" name="Line 53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351" name="Line 53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352" name="Line 54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353" name="Line 54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354" name="Line 54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355" name="Group 543"/>
              <p:cNvGrpSpPr/>
              <p:nvPr/>
            </p:nvGrpSpPr>
            <p:grpSpPr>
              <a:xfrm>
                <a:off x="4269" y="1415"/>
                <a:ext cx="392" cy="137"/>
                <a:chOff x="4227" y="1360"/>
                <a:chExt cx="863" cy="270"/>
              </a:xfrm>
            </p:grpSpPr>
            <p:sp>
              <p:nvSpPr>
                <p:cNvPr id="132356" name="Line 54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57" name="Line 54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58" name="Line 54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59" name="Line 54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60" name="Group 548"/>
              <p:cNvGrpSpPr/>
              <p:nvPr/>
            </p:nvGrpSpPr>
            <p:grpSpPr>
              <a:xfrm rot="5700496">
                <a:off x="4050" y="1168"/>
                <a:ext cx="392" cy="137"/>
                <a:chOff x="4227" y="1360"/>
                <a:chExt cx="863" cy="270"/>
              </a:xfrm>
            </p:grpSpPr>
            <p:sp>
              <p:nvSpPr>
                <p:cNvPr id="132361" name="Line 54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62" name="Line 55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63" name="Line 55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64" name="Line 55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65" name="Group 553"/>
              <p:cNvGrpSpPr/>
              <p:nvPr/>
            </p:nvGrpSpPr>
            <p:grpSpPr>
              <a:xfrm rot="10800000">
                <a:off x="3796" y="1402"/>
                <a:ext cx="392" cy="137"/>
                <a:chOff x="4227" y="1360"/>
                <a:chExt cx="863" cy="270"/>
              </a:xfrm>
            </p:grpSpPr>
            <p:sp>
              <p:nvSpPr>
                <p:cNvPr id="132366" name="Line 55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67" name="Line 55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68" name="Line 55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69" name="Line 55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370" name="Line 558"/>
            <p:cNvSpPr/>
            <p:nvPr/>
          </p:nvSpPr>
          <p:spPr>
            <a:xfrm flipV="1">
              <a:off x="626" y="1272"/>
              <a:ext cx="236" cy="318"/>
            </a:xfrm>
            <a:prstGeom prst="line">
              <a:avLst/>
            </a:prstGeom>
            <a:ln w="9525" cap="flat" cmpd="sng">
              <a:solidFill>
                <a:schemeClr val="tx1"/>
              </a:solidFill>
              <a:prstDash val="solid"/>
              <a:round/>
              <a:headEnd type="none" w="med" len="med"/>
              <a:tailEnd type="none" w="med" len="med"/>
            </a:ln>
          </p:spPr>
        </p:sp>
        <p:sp>
          <p:nvSpPr>
            <p:cNvPr id="132371" name="Line 559"/>
            <p:cNvSpPr/>
            <p:nvPr/>
          </p:nvSpPr>
          <p:spPr>
            <a:xfrm flipV="1">
              <a:off x="823" y="1276"/>
              <a:ext cx="75" cy="492"/>
            </a:xfrm>
            <a:prstGeom prst="line">
              <a:avLst/>
            </a:prstGeom>
            <a:ln w="9525" cap="flat" cmpd="sng">
              <a:solidFill>
                <a:schemeClr val="tx1"/>
              </a:solidFill>
              <a:prstDash val="solid"/>
              <a:round/>
              <a:headEnd type="none" w="med" len="med"/>
              <a:tailEnd type="none" w="med" len="med"/>
            </a:ln>
          </p:spPr>
        </p:sp>
        <p:sp>
          <p:nvSpPr>
            <p:cNvPr id="132372" name="Line 560"/>
            <p:cNvSpPr/>
            <p:nvPr/>
          </p:nvSpPr>
          <p:spPr>
            <a:xfrm flipV="1">
              <a:off x="817" y="1264"/>
              <a:ext cx="58" cy="302"/>
            </a:xfrm>
            <a:prstGeom prst="line">
              <a:avLst/>
            </a:prstGeom>
            <a:ln w="9525" cap="flat" cmpd="sng">
              <a:solidFill>
                <a:schemeClr val="tx1"/>
              </a:solidFill>
              <a:prstDash val="solid"/>
              <a:round/>
              <a:headEnd type="none" w="med" len="med"/>
              <a:tailEnd type="none" w="med" len="med"/>
            </a:ln>
          </p:spPr>
        </p:sp>
        <p:sp>
          <p:nvSpPr>
            <p:cNvPr id="132373" name="Line 561"/>
            <p:cNvSpPr/>
            <p:nvPr/>
          </p:nvSpPr>
          <p:spPr>
            <a:xfrm flipV="1">
              <a:off x="633" y="1263"/>
              <a:ext cx="226" cy="191"/>
            </a:xfrm>
            <a:prstGeom prst="line">
              <a:avLst/>
            </a:prstGeom>
            <a:ln w="9525" cap="flat" cmpd="sng">
              <a:solidFill>
                <a:schemeClr val="tx1"/>
              </a:solidFill>
              <a:prstDash val="solid"/>
              <a:round/>
              <a:headEnd type="none" w="med" len="med"/>
              <a:tailEnd type="none" w="med" len="med"/>
            </a:ln>
          </p:spPr>
        </p:sp>
        <p:grpSp>
          <p:nvGrpSpPr>
            <p:cNvPr id="132374" name="Group 562"/>
            <p:cNvGrpSpPr/>
            <p:nvPr/>
          </p:nvGrpSpPr>
          <p:grpSpPr>
            <a:xfrm>
              <a:off x="483" y="1532"/>
              <a:ext cx="252" cy="214"/>
              <a:chOff x="867" y="1530"/>
              <a:chExt cx="252" cy="214"/>
            </a:xfrm>
          </p:grpSpPr>
          <p:sp>
            <p:nvSpPr>
              <p:cNvPr id="132375" name="AutoShape 563"/>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376" name="Group 564"/>
              <p:cNvGrpSpPr/>
              <p:nvPr/>
            </p:nvGrpSpPr>
            <p:grpSpPr>
              <a:xfrm>
                <a:off x="967" y="1561"/>
                <a:ext cx="58" cy="114"/>
                <a:chOff x="3796" y="1043"/>
                <a:chExt cx="865" cy="1237"/>
              </a:xfrm>
            </p:grpSpPr>
            <p:sp>
              <p:nvSpPr>
                <p:cNvPr id="132377" name="Line 56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378" name="Line 56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379" name="Line 56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380" name="Line 56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381" name="Line 56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382" name="Line 57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383" name="Line 57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384" name="Line 57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385" name="Line 57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386" name="Line 57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387" name="Line 57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388" name="Line 57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389" name="Line 57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390" name="Line 57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391" name="Line 57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392" name="Group 580"/>
                <p:cNvGrpSpPr/>
                <p:nvPr/>
              </p:nvGrpSpPr>
              <p:grpSpPr>
                <a:xfrm>
                  <a:off x="4269" y="1415"/>
                  <a:ext cx="392" cy="137"/>
                  <a:chOff x="4227" y="1360"/>
                  <a:chExt cx="863" cy="270"/>
                </a:xfrm>
              </p:grpSpPr>
              <p:sp>
                <p:nvSpPr>
                  <p:cNvPr id="132393" name="Line 5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94" name="Line 5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395" name="Line 5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396" name="Line 5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397" name="Group 585"/>
                <p:cNvGrpSpPr/>
                <p:nvPr/>
              </p:nvGrpSpPr>
              <p:grpSpPr>
                <a:xfrm rot="5700496">
                  <a:off x="4050" y="1168"/>
                  <a:ext cx="392" cy="137"/>
                  <a:chOff x="4227" y="1360"/>
                  <a:chExt cx="863" cy="270"/>
                </a:xfrm>
              </p:grpSpPr>
              <p:sp>
                <p:nvSpPr>
                  <p:cNvPr id="132398" name="Line 5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399" name="Line 5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00" name="Line 5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01" name="Line 5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02" name="Group 590"/>
                <p:cNvGrpSpPr/>
                <p:nvPr/>
              </p:nvGrpSpPr>
              <p:grpSpPr>
                <a:xfrm rot="10800000">
                  <a:off x="3796" y="1402"/>
                  <a:ext cx="392" cy="137"/>
                  <a:chOff x="4227" y="1360"/>
                  <a:chExt cx="863" cy="270"/>
                </a:xfrm>
              </p:grpSpPr>
              <p:sp>
                <p:nvSpPr>
                  <p:cNvPr id="132403" name="Line 59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04" name="Line 59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05" name="Line 59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06" name="Line 59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32407" name="Line 595"/>
            <p:cNvSpPr/>
            <p:nvPr/>
          </p:nvSpPr>
          <p:spPr>
            <a:xfrm flipV="1">
              <a:off x="414" y="1266"/>
              <a:ext cx="430" cy="300"/>
            </a:xfrm>
            <a:prstGeom prst="line">
              <a:avLst/>
            </a:prstGeom>
            <a:ln w="9525" cap="flat" cmpd="sng">
              <a:solidFill>
                <a:schemeClr val="tx1"/>
              </a:solidFill>
              <a:prstDash val="solid"/>
              <a:round/>
              <a:headEnd type="none" w="med" len="med"/>
              <a:tailEnd type="none" w="med" len="med"/>
            </a:ln>
          </p:spPr>
        </p:sp>
      </p:grpSp>
      <p:grpSp>
        <p:nvGrpSpPr>
          <p:cNvPr id="132408" name="Group 597"/>
          <p:cNvGrpSpPr/>
          <p:nvPr/>
        </p:nvGrpSpPr>
        <p:grpSpPr>
          <a:xfrm>
            <a:off x="4760913" y="3881438"/>
            <a:ext cx="1309687" cy="1147762"/>
            <a:chOff x="146" y="711"/>
            <a:chExt cx="825" cy="723"/>
          </a:xfrm>
        </p:grpSpPr>
        <p:sp>
          <p:nvSpPr>
            <p:cNvPr id="132409" name="AutoShape 598"/>
            <p:cNvSpPr/>
            <p:nvPr/>
          </p:nvSpPr>
          <p:spPr>
            <a:xfrm>
              <a:off x="719" y="90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410" name="AutoShape 599"/>
            <p:cNvSpPr/>
            <p:nvPr/>
          </p:nvSpPr>
          <p:spPr>
            <a:xfrm>
              <a:off x="335" y="1115"/>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411" name="Group 600"/>
            <p:cNvGrpSpPr/>
            <p:nvPr/>
          </p:nvGrpSpPr>
          <p:grpSpPr>
            <a:xfrm>
              <a:off x="523" y="1006"/>
              <a:ext cx="252" cy="214"/>
              <a:chOff x="867" y="1530"/>
              <a:chExt cx="252" cy="214"/>
            </a:xfrm>
          </p:grpSpPr>
          <p:sp>
            <p:nvSpPr>
              <p:cNvPr id="132412" name="AutoShape 601"/>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413" name="Group 602"/>
              <p:cNvGrpSpPr/>
              <p:nvPr/>
            </p:nvGrpSpPr>
            <p:grpSpPr>
              <a:xfrm>
                <a:off x="967" y="1561"/>
                <a:ext cx="58" cy="114"/>
                <a:chOff x="3796" y="1043"/>
                <a:chExt cx="865" cy="1237"/>
              </a:xfrm>
            </p:grpSpPr>
            <p:sp>
              <p:nvSpPr>
                <p:cNvPr id="132414" name="Line 60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415" name="Line 60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416" name="Line 60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417" name="Line 60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418" name="Line 60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419" name="Line 60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420" name="Line 60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421" name="Line 61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422" name="Line 61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423" name="Line 61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424" name="Line 61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425" name="Line 61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426" name="Line 61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427" name="Line 61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428" name="Line 61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429" name="Group 618"/>
                <p:cNvGrpSpPr/>
                <p:nvPr/>
              </p:nvGrpSpPr>
              <p:grpSpPr>
                <a:xfrm>
                  <a:off x="4269" y="1415"/>
                  <a:ext cx="392" cy="137"/>
                  <a:chOff x="4227" y="1360"/>
                  <a:chExt cx="863" cy="270"/>
                </a:xfrm>
              </p:grpSpPr>
              <p:sp>
                <p:nvSpPr>
                  <p:cNvPr id="132430" name="Line 6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31" name="Line 6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32" name="Line 6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33" name="Line 6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34" name="Group 623"/>
                <p:cNvGrpSpPr/>
                <p:nvPr/>
              </p:nvGrpSpPr>
              <p:grpSpPr>
                <a:xfrm rot="5700496">
                  <a:off x="4050" y="1168"/>
                  <a:ext cx="392" cy="137"/>
                  <a:chOff x="4227" y="1360"/>
                  <a:chExt cx="863" cy="270"/>
                </a:xfrm>
              </p:grpSpPr>
              <p:sp>
                <p:nvSpPr>
                  <p:cNvPr id="132435" name="Line 6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36" name="Line 6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37" name="Line 6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38" name="Line 6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39" name="Group 628"/>
                <p:cNvGrpSpPr/>
                <p:nvPr/>
              </p:nvGrpSpPr>
              <p:grpSpPr>
                <a:xfrm rot="10800000">
                  <a:off x="3796" y="1402"/>
                  <a:ext cx="392" cy="137"/>
                  <a:chOff x="4227" y="1360"/>
                  <a:chExt cx="863" cy="270"/>
                </a:xfrm>
              </p:grpSpPr>
              <p:sp>
                <p:nvSpPr>
                  <p:cNvPr id="132440" name="Line 62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41" name="Line 63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42" name="Line 63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43" name="Line 63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32444" name="Group 633"/>
            <p:cNvGrpSpPr/>
            <p:nvPr/>
          </p:nvGrpSpPr>
          <p:grpSpPr>
            <a:xfrm>
              <a:off x="429" y="1159"/>
              <a:ext cx="57" cy="113"/>
              <a:chOff x="3796" y="1043"/>
              <a:chExt cx="865" cy="1237"/>
            </a:xfrm>
          </p:grpSpPr>
          <p:sp>
            <p:nvSpPr>
              <p:cNvPr id="132445" name="Line 63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446" name="Line 63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447" name="Line 63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448" name="Line 63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449" name="Line 63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450" name="Line 63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451" name="Line 64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452" name="Line 64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453" name="Line 64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454" name="Line 64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455" name="Line 64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456" name="Line 64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457" name="Line 64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458" name="Line 64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459" name="Line 64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460" name="Group 649"/>
              <p:cNvGrpSpPr/>
              <p:nvPr/>
            </p:nvGrpSpPr>
            <p:grpSpPr>
              <a:xfrm>
                <a:off x="4269" y="1415"/>
                <a:ext cx="392" cy="137"/>
                <a:chOff x="4227" y="1360"/>
                <a:chExt cx="863" cy="270"/>
              </a:xfrm>
            </p:grpSpPr>
            <p:sp>
              <p:nvSpPr>
                <p:cNvPr id="132461" name="Line 6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62" name="Line 6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63" name="Line 6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64" name="Line 6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65" name="Group 654"/>
              <p:cNvGrpSpPr/>
              <p:nvPr/>
            </p:nvGrpSpPr>
            <p:grpSpPr>
              <a:xfrm rot="5700496">
                <a:off x="4050" y="1168"/>
                <a:ext cx="392" cy="137"/>
                <a:chOff x="4227" y="1360"/>
                <a:chExt cx="863" cy="270"/>
              </a:xfrm>
            </p:grpSpPr>
            <p:sp>
              <p:nvSpPr>
                <p:cNvPr id="132466" name="Line 6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67" name="Line 6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68" name="Line 6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69" name="Line 6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70" name="Group 659"/>
              <p:cNvGrpSpPr/>
              <p:nvPr/>
            </p:nvGrpSpPr>
            <p:grpSpPr>
              <a:xfrm rot="10800000">
                <a:off x="3796" y="1402"/>
                <a:ext cx="392" cy="137"/>
                <a:chOff x="4227" y="1360"/>
                <a:chExt cx="863" cy="270"/>
              </a:xfrm>
            </p:grpSpPr>
            <p:sp>
              <p:nvSpPr>
                <p:cNvPr id="132471" name="Line 66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72" name="Line 66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73" name="Line 66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74" name="Line 66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475" name="Group 664"/>
            <p:cNvGrpSpPr/>
            <p:nvPr/>
          </p:nvGrpSpPr>
          <p:grpSpPr>
            <a:xfrm>
              <a:off x="821" y="938"/>
              <a:ext cx="57" cy="114"/>
              <a:chOff x="3796" y="1043"/>
              <a:chExt cx="865" cy="1237"/>
            </a:xfrm>
          </p:grpSpPr>
          <p:sp>
            <p:nvSpPr>
              <p:cNvPr id="132476" name="Line 66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477" name="Line 66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478" name="Line 66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479" name="Line 66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480" name="Line 66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481" name="Line 67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482" name="Line 67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483" name="Line 67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484" name="Line 67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485" name="Line 67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486" name="Line 67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487" name="Line 67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488" name="Line 67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489" name="Line 67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490" name="Line 67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491" name="Group 680"/>
              <p:cNvGrpSpPr/>
              <p:nvPr/>
            </p:nvGrpSpPr>
            <p:grpSpPr>
              <a:xfrm>
                <a:off x="4269" y="1415"/>
                <a:ext cx="392" cy="137"/>
                <a:chOff x="4227" y="1360"/>
                <a:chExt cx="863" cy="270"/>
              </a:xfrm>
            </p:grpSpPr>
            <p:sp>
              <p:nvSpPr>
                <p:cNvPr id="132492" name="Line 6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93" name="Line 6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94" name="Line 6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495" name="Line 6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496" name="Group 685"/>
              <p:cNvGrpSpPr/>
              <p:nvPr/>
            </p:nvGrpSpPr>
            <p:grpSpPr>
              <a:xfrm rot="5700496">
                <a:off x="4050" y="1168"/>
                <a:ext cx="392" cy="137"/>
                <a:chOff x="4227" y="1360"/>
                <a:chExt cx="863" cy="270"/>
              </a:xfrm>
            </p:grpSpPr>
            <p:sp>
              <p:nvSpPr>
                <p:cNvPr id="132497" name="Line 6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498" name="Line 6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499" name="Line 6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00" name="Line 6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501" name="Group 690"/>
              <p:cNvGrpSpPr/>
              <p:nvPr/>
            </p:nvGrpSpPr>
            <p:grpSpPr>
              <a:xfrm rot="10800000">
                <a:off x="3796" y="1402"/>
                <a:ext cx="392" cy="137"/>
                <a:chOff x="4227" y="1360"/>
                <a:chExt cx="863" cy="270"/>
              </a:xfrm>
            </p:grpSpPr>
            <p:sp>
              <p:nvSpPr>
                <p:cNvPr id="132502" name="Line 69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03" name="Line 69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04" name="Line 69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05" name="Line 69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506" name="Line 695"/>
            <p:cNvSpPr/>
            <p:nvPr/>
          </p:nvSpPr>
          <p:spPr>
            <a:xfrm flipH="1" flipV="1">
              <a:off x="602" y="916"/>
              <a:ext cx="256" cy="258"/>
            </a:xfrm>
            <a:prstGeom prst="line">
              <a:avLst/>
            </a:prstGeom>
            <a:ln w="9525" cap="flat" cmpd="sng">
              <a:solidFill>
                <a:schemeClr val="tx1"/>
              </a:solidFill>
              <a:prstDash val="solid"/>
              <a:round/>
              <a:headEnd type="none" w="med" len="med"/>
              <a:tailEnd type="none" w="med" len="med"/>
            </a:ln>
          </p:spPr>
        </p:sp>
        <p:sp>
          <p:nvSpPr>
            <p:cNvPr id="132507" name="Line 696"/>
            <p:cNvSpPr/>
            <p:nvPr/>
          </p:nvSpPr>
          <p:spPr>
            <a:xfrm flipV="1">
              <a:off x="455" y="914"/>
              <a:ext cx="3" cy="351"/>
            </a:xfrm>
            <a:prstGeom prst="line">
              <a:avLst/>
            </a:prstGeom>
            <a:ln w="9525" cap="flat" cmpd="sng">
              <a:solidFill>
                <a:schemeClr val="tx1"/>
              </a:solidFill>
              <a:prstDash val="solid"/>
              <a:round/>
              <a:headEnd type="none" w="med" len="med"/>
              <a:tailEnd type="none" w="med" len="med"/>
            </a:ln>
          </p:spPr>
        </p:sp>
        <p:sp>
          <p:nvSpPr>
            <p:cNvPr id="132508" name="Line 697"/>
            <p:cNvSpPr/>
            <p:nvPr/>
          </p:nvSpPr>
          <p:spPr>
            <a:xfrm flipH="1" flipV="1">
              <a:off x="501" y="920"/>
              <a:ext cx="140" cy="449"/>
            </a:xfrm>
            <a:prstGeom prst="line">
              <a:avLst/>
            </a:prstGeom>
            <a:ln w="9525" cap="flat" cmpd="sng">
              <a:solidFill>
                <a:schemeClr val="tx1"/>
              </a:solidFill>
              <a:prstDash val="solid"/>
              <a:round/>
              <a:headEnd type="none" w="med" len="med"/>
              <a:tailEnd type="none" w="med" len="med"/>
            </a:ln>
          </p:spPr>
        </p:sp>
        <p:sp>
          <p:nvSpPr>
            <p:cNvPr id="132509" name="Line 698"/>
            <p:cNvSpPr/>
            <p:nvPr/>
          </p:nvSpPr>
          <p:spPr>
            <a:xfrm flipH="1" flipV="1">
              <a:off x="647" y="925"/>
              <a:ext cx="218" cy="113"/>
            </a:xfrm>
            <a:prstGeom prst="line">
              <a:avLst/>
            </a:prstGeom>
            <a:ln w="9525" cap="flat" cmpd="sng">
              <a:solidFill>
                <a:schemeClr val="tx1"/>
              </a:solidFill>
              <a:prstDash val="solid"/>
              <a:round/>
              <a:headEnd type="none" w="med" len="med"/>
              <a:tailEnd type="none" w="med" len="med"/>
            </a:ln>
          </p:spPr>
        </p:sp>
        <p:grpSp>
          <p:nvGrpSpPr>
            <p:cNvPr id="132510" name="Group 699"/>
            <p:cNvGrpSpPr/>
            <p:nvPr/>
          </p:nvGrpSpPr>
          <p:grpSpPr>
            <a:xfrm>
              <a:off x="715" y="1116"/>
              <a:ext cx="252" cy="214"/>
              <a:chOff x="867" y="1530"/>
              <a:chExt cx="252" cy="214"/>
            </a:xfrm>
          </p:grpSpPr>
          <p:sp>
            <p:nvSpPr>
              <p:cNvPr id="132511" name="AutoShape 700"/>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512" name="Group 701"/>
              <p:cNvGrpSpPr/>
              <p:nvPr/>
            </p:nvGrpSpPr>
            <p:grpSpPr>
              <a:xfrm>
                <a:off x="967" y="1561"/>
                <a:ext cx="58" cy="114"/>
                <a:chOff x="3796" y="1043"/>
                <a:chExt cx="865" cy="1237"/>
              </a:xfrm>
            </p:grpSpPr>
            <p:sp>
              <p:nvSpPr>
                <p:cNvPr id="132513" name="Line 70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514" name="Line 70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515" name="Line 70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516" name="Line 70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517" name="Line 70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518" name="Line 70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519" name="Line 70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520" name="Line 70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521" name="Line 71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522" name="Line 71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523" name="Line 71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524" name="Line 71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525" name="Line 71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526" name="Line 71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527" name="Line 71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528" name="Group 717"/>
                <p:cNvGrpSpPr/>
                <p:nvPr/>
              </p:nvGrpSpPr>
              <p:grpSpPr>
                <a:xfrm>
                  <a:off x="4269" y="1415"/>
                  <a:ext cx="392" cy="137"/>
                  <a:chOff x="4227" y="1360"/>
                  <a:chExt cx="863" cy="270"/>
                </a:xfrm>
              </p:grpSpPr>
              <p:sp>
                <p:nvSpPr>
                  <p:cNvPr id="132529" name="Line 7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30" name="Line 7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31" name="Line 7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32" name="Line 7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533" name="Group 722"/>
                <p:cNvGrpSpPr/>
                <p:nvPr/>
              </p:nvGrpSpPr>
              <p:grpSpPr>
                <a:xfrm rot="5700496">
                  <a:off x="4050" y="1168"/>
                  <a:ext cx="392" cy="137"/>
                  <a:chOff x="4227" y="1360"/>
                  <a:chExt cx="863" cy="270"/>
                </a:xfrm>
              </p:grpSpPr>
              <p:sp>
                <p:nvSpPr>
                  <p:cNvPr id="132534" name="Line 7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35" name="Line 7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36" name="Line 7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37" name="Line 7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538" name="Group 727"/>
                <p:cNvGrpSpPr/>
                <p:nvPr/>
              </p:nvGrpSpPr>
              <p:grpSpPr>
                <a:xfrm rot="10800000">
                  <a:off x="3796" y="1402"/>
                  <a:ext cx="392" cy="137"/>
                  <a:chOff x="4227" y="1360"/>
                  <a:chExt cx="863" cy="270"/>
                </a:xfrm>
              </p:grpSpPr>
              <p:sp>
                <p:nvSpPr>
                  <p:cNvPr id="132539" name="Line 72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40" name="Line 72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41" name="Line 73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42" name="Line 73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32543" name="Line 732"/>
            <p:cNvSpPr/>
            <p:nvPr/>
          </p:nvSpPr>
          <p:spPr>
            <a:xfrm flipH="1" flipV="1">
              <a:off x="554" y="928"/>
              <a:ext cx="92" cy="222"/>
            </a:xfrm>
            <a:prstGeom prst="line">
              <a:avLst/>
            </a:prstGeom>
            <a:ln w="9525" cap="flat" cmpd="sng">
              <a:solidFill>
                <a:schemeClr val="tx1"/>
              </a:solidFill>
              <a:prstDash val="solid"/>
              <a:round/>
              <a:headEnd type="none" w="med" len="med"/>
              <a:tailEnd type="none" w="med" len="med"/>
            </a:ln>
          </p:spPr>
        </p:sp>
        <p:grpSp>
          <p:nvGrpSpPr>
            <p:cNvPr id="132544" name="Group 733"/>
            <p:cNvGrpSpPr/>
            <p:nvPr/>
          </p:nvGrpSpPr>
          <p:grpSpPr>
            <a:xfrm>
              <a:off x="191" y="711"/>
              <a:ext cx="616" cy="208"/>
              <a:chOff x="717" y="1160"/>
              <a:chExt cx="616" cy="208"/>
            </a:xfrm>
          </p:grpSpPr>
          <p:sp>
            <p:nvSpPr>
              <p:cNvPr id="132545" name="Rectangle 734"/>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546" name="Text Box 735"/>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sp>
          <p:nvSpPr>
            <p:cNvPr id="132547" name="AutoShape 736"/>
            <p:cNvSpPr/>
            <p:nvPr/>
          </p:nvSpPr>
          <p:spPr>
            <a:xfrm>
              <a:off x="146" y="1007"/>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548" name="Group 737"/>
            <p:cNvGrpSpPr/>
            <p:nvPr/>
          </p:nvGrpSpPr>
          <p:grpSpPr>
            <a:xfrm>
              <a:off x="237" y="1051"/>
              <a:ext cx="57" cy="113"/>
              <a:chOff x="3796" y="1043"/>
              <a:chExt cx="865" cy="1237"/>
            </a:xfrm>
          </p:grpSpPr>
          <p:sp>
            <p:nvSpPr>
              <p:cNvPr id="132549" name="Line 73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550" name="Line 73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551" name="Line 74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552" name="Line 74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553" name="Line 74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554" name="Line 74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555" name="Line 74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556" name="Line 74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557" name="Line 74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558" name="Line 74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559" name="Line 74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560" name="Line 74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561" name="Line 75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562" name="Line 75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563" name="Line 75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564" name="Group 753"/>
              <p:cNvGrpSpPr/>
              <p:nvPr/>
            </p:nvGrpSpPr>
            <p:grpSpPr>
              <a:xfrm>
                <a:off x="4269" y="1415"/>
                <a:ext cx="392" cy="137"/>
                <a:chOff x="4227" y="1360"/>
                <a:chExt cx="863" cy="270"/>
              </a:xfrm>
            </p:grpSpPr>
            <p:sp>
              <p:nvSpPr>
                <p:cNvPr id="132565" name="Line 75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66" name="Line 75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67" name="Line 75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68" name="Line 75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569" name="Group 758"/>
              <p:cNvGrpSpPr/>
              <p:nvPr/>
            </p:nvGrpSpPr>
            <p:grpSpPr>
              <a:xfrm rot="5700496">
                <a:off x="4050" y="1168"/>
                <a:ext cx="392" cy="137"/>
                <a:chOff x="4227" y="1360"/>
                <a:chExt cx="863" cy="270"/>
              </a:xfrm>
            </p:grpSpPr>
            <p:sp>
              <p:nvSpPr>
                <p:cNvPr id="132570" name="Line 75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71" name="Line 76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72" name="Line 76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73" name="Line 76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574" name="Group 763"/>
              <p:cNvGrpSpPr/>
              <p:nvPr/>
            </p:nvGrpSpPr>
            <p:grpSpPr>
              <a:xfrm rot="10800000">
                <a:off x="3796" y="1402"/>
                <a:ext cx="392" cy="137"/>
                <a:chOff x="4227" y="1360"/>
                <a:chExt cx="863" cy="270"/>
              </a:xfrm>
            </p:grpSpPr>
            <p:sp>
              <p:nvSpPr>
                <p:cNvPr id="132575" name="Line 76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76" name="Line 76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77" name="Line 76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578" name="Line 76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579" name="AutoShape 768"/>
            <p:cNvSpPr/>
            <p:nvPr/>
          </p:nvSpPr>
          <p:spPr>
            <a:xfrm>
              <a:off x="527" y="12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580" name="Group 769"/>
            <p:cNvGrpSpPr/>
            <p:nvPr/>
          </p:nvGrpSpPr>
          <p:grpSpPr>
            <a:xfrm>
              <a:off x="627" y="1270"/>
              <a:ext cx="57" cy="113"/>
              <a:chOff x="3796" y="1043"/>
              <a:chExt cx="865" cy="1237"/>
            </a:xfrm>
          </p:grpSpPr>
          <p:sp>
            <p:nvSpPr>
              <p:cNvPr id="132581" name="Line 77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582" name="Line 77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583" name="Line 77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584" name="Line 77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585" name="Line 77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586" name="Line 77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587" name="Line 77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588" name="Line 77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589" name="Line 77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590" name="Line 77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591" name="Line 78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592" name="Line 78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593" name="Line 78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594" name="Line 78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595" name="Line 78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596" name="Group 785"/>
              <p:cNvGrpSpPr/>
              <p:nvPr/>
            </p:nvGrpSpPr>
            <p:grpSpPr>
              <a:xfrm>
                <a:off x="4269" y="1415"/>
                <a:ext cx="392" cy="137"/>
                <a:chOff x="4227" y="1360"/>
                <a:chExt cx="863" cy="270"/>
              </a:xfrm>
            </p:grpSpPr>
            <p:sp>
              <p:nvSpPr>
                <p:cNvPr id="132597" name="Line 7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598" name="Line 7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599" name="Line 7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00" name="Line 7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01" name="Group 790"/>
              <p:cNvGrpSpPr/>
              <p:nvPr/>
            </p:nvGrpSpPr>
            <p:grpSpPr>
              <a:xfrm rot="5700496">
                <a:off x="4050" y="1168"/>
                <a:ext cx="392" cy="137"/>
                <a:chOff x="4227" y="1360"/>
                <a:chExt cx="863" cy="270"/>
              </a:xfrm>
            </p:grpSpPr>
            <p:sp>
              <p:nvSpPr>
                <p:cNvPr id="132602" name="Line 79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03" name="Line 79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04" name="Line 79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05" name="Line 79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06" name="Group 795"/>
              <p:cNvGrpSpPr/>
              <p:nvPr/>
            </p:nvGrpSpPr>
            <p:grpSpPr>
              <a:xfrm rot="10800000">
                <a:off x="3796" y="1402"/>
                <a:ext cx="392" cy="137"/>
                <a:chOff x="4227" y="1360"/>
                <a:chExt cx="863" cy="270"/>
              </a:xfrm>
            </p:grpSpPr>
            <p:sp>
              <p:nvSpPr>
                <p:cNvPr id="132607" name="Line 79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08" name="Line 79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09" name="Line 79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10" name="Line 79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611" name="Line 800"/>
            <p:cNvSpPr/>
            <p:nvPr/>
          </p:nvSpPr>
          <p:spPr>
            <a:xfrm flipV="1">
              <a:off x="269" y="920"/>
              <a:ext cx="156" cy="240"/>
            </a:xfrm>
            <a:prstGeom prst="line">
              <a:avLst/>
            </a:prstGeom>
            <a:ln w="9525" cap="flat" cmpd="sng">
              <a:solidFill>
                <a:schemeClr val="tx1"/>
              </a:solidFill>
              <a:prstDash val="solid"/>
              <a:round/>
              <a:headEnd type="none" w="med" len="med"/>
              <a:tailEnd type="none" w="med" len="med"/>
            </a:ln>
          </p:spPr>
        </p:sp>
      </p:grpSp>
      <p:grpSp>
        <p:nvGrpSpPr>
          <p:cNvPr id="132612" name="Group 802"/>
          <p:cNvGrpSpPr/>
          <p:nvPr/>
        </p:nvGrpSpPr>
        <p:grpSpPr>
          <a:xfrm>
            <a:off x="3763963" y="3609975"/>
            <a:ext cx="623887" cy="330200"/>
            <a:chOff x="2647" y="2987"/>
            <a:chExt cx="393" cy="208"/>
          </a:xfrm>
        </p:grpSpPr>
        <p:sp>
          <p:nvSpPr>
            <p:cNvPr id="132613" name="Rectangle 803"/>
            <p:cNvSpPr/>
            <p:nvPr/>
          </p:nvSpPr>
          <p:spPr>
            <a:xfrm>
              <a:off x="2647" y="2987"/>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614" name="Text Box 804"/>
            <p:cNvSpPr txBox="1"/>
            <p:nvPr/>
          </p:nvSpPr>
          <p:spPr>
            <a:xfrm>
              <a:off x="2649" y="2995"/>
              <a:ext cx="391"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nvGrpSpPr>
          <p:cNvPr id="132615" name="Group 806"/>
          <p:cNvGrpSpPr/>
          <p:nvPr/>
        </p:nvGrpSpPr>
        <p:grpSpPr>
          <a:xfrm>
            <a:off x="6122988" y="3700463"/>
            <a:ext cx="1309687" cy="1147762"/>
            <a:chOff x="146" y="711"/>
            <a:chExt cx="825" cy="723"/>
          </a:xfrm>
        </p:grpSpPr>
        <p:sp>
          <p:nvSpPr>
            <p:cNvPr id="132616" name="AutoShape 807"/>
            <p:cNvSpPr/>
            <p:nvPr/>
          </p:nvSpPr>
          <p:spPr>
            <a:xfrm>
              <a:off x="719" y="90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617" name="AutoShape 808"/>
            <p:cNvSpPr/>
            <p:nvPr/>
          </p:nvSpPr>
          <p:spPr>
            <a:xfrm>
              <a:off x="335" y="1115"/>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618" name="Group 809"/>
            <p:cNvGrpSpPr/>
            <p:nvPr/>
          </p:nvGrpSpPr>
          <p:grpSpPr>
            <a:xfrm>
              <a:off x="523" y="1006"/>
              <a:ext cx="252" cy="214"/>
              <a:chOff x="867" y="1530"/>
              <a:chExt cx="252" cy="214"/>
            </a:xfrm>
          </p:grpSpPr>
          <p:sp>
            <p:nvSpPr>
              <p:cNvPr id="132619" name="AutoShape 810"/>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620" name="Group 811"/>
              <p:cNvGrpSpPr/>
              <p:nvPr/>
            </p:nvGrpSpPr>
            <p:grpSpPr>
              <a:xfrm>
                <a:off x="967" y="1561"/>
                <a:ext cx="58" cy="114"/>
                <a:chOff x="3796" y="1043"/>
                <a:chExt cx="865" cy="1237"/>
              </a:xfrm>
            </p:grpSpPr>
            <p:sp>
              <p:nvSpPr>
                <p:cNvPr id="132621" name="Line 81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622" name="Line 81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623" name="Line 81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624" name="Line 81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625" name="Line 81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626" name="Line 81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627" name="Line 81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628" name="Line 81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629" name="Line 82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630" name="Line 82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631" name="Line 82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632" name="Line 82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633" name="Line 82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634" name="Line 82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635" name="Line 82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636" name="Group 827"/>
                <p:cNvGrpSpPr/>
                <p:nvPr/>
              </p:nvGrpSpPr>
              <p:grpSpPr>
                <a:xfrm>
                  <a:off x="4269" y="1415"/>
                  <a:ext cx="392" cy="137"/>
                  <a:chOff x="4227" y="1360"/>
                  <a:chExt cx="863" cy="270"/>
                </a:xfrm>
              </p:grpSpPr>
              <p:sp>
                <p:nvSpPr>
                  <p:cNvPr id="132637" name="Line 82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38" name="Line 82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39" name="Line 83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40" name="Line 83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41" name="Group 832"/>
                <p:cNvGrpSpPr/>
                <p:nvPr/>
              </p:nvGrpSpPr>
              <p:grpSpPr>
                <a:xfrm rot="5700496">
                  <a:off x="4050" y="1168"/>
                  <a:ext cx="392" cy="137"/>
                  <a:chOff x="4227" y="1360"/>
                  <a:chExt cx="863" cy="270"/>
                </a:xfrm>
              </p:grpSpPr>
              <p:sp>
                <p:nvSpPr>
                  <p:cNvPr id="132642" name="Line 83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43" name="Line 83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44" name="Line 83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45" name="Line 83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46" name="Group 837"/>
                <p:cNvGrpSpPr/>
                <p:nvPr/>
              </p:nvGrpSpPr>
              <p:grpSpPr>
                <a:xfrm rot="10800000">
                  <a:off x="3796" y="1402"/>
                  <a:ext cx="392" cy="137"/>
                  <a:chOff x="4227" y="1360"/>
                  <a:chExt cx="863" cy="270"/>
                </a:xfrm>
              </p:grpSpPr>
              <p:sp>
                <p:nvSpPr>
                  <p:cNvPr id="132647" name="Line 83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48" name="Line 83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49" name="Line 84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50" name="Line 84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32651" name="Group 842"/>
            <p:cNvGrpSpPr/>
            <p:nvPr/>
          </p:nvGrpSpPr>
          <p:grpSpPr>
            <a:xfrm>
              <a:off x="429" y="1159"/>
              <a:ext cx="57" cy="113"/>
              <a:chOff x="3796" y="1043"/>
              <a:chExt cx="865" cy="1237"/>
            </a:xfrm>
          </p:grpSpPr>
          <p:sp>
            <p:nvSpPr>
              <p:cNvPr id="132652" name="Line 84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653" name="Line 84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654" name="Line 84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655" name="Line 84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656" name="Line 84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657" name="Line 84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658" name="Line 84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659" name="Line 85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660" name="Line 85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661" name="Line 85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662" name="Line 85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663" name="Line 85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664" name="Line 85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665" name="Line 85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666" name="Line 85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667" name="Group 858"/>
              <p:cNvGrpSpPr/>
              <p:nvPr/>
            </p:nvGrpSpPr>
            <p:grpSpPr>
              <a:xfrm>
                <a:off x="4269" y="1415"/>
                <a:ext cx="392" cy="137"/>
                <a:chOff x="4227" y="1360"/>
                <a:chExt cx="863" cy="270"/>
              </a:xfrm>
            </p:grpSpPr>
            <p:sp>
              <p:nvSpPr>
                <p:cNvPr id="132668" name="Line 85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69" name="Line 86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70" name="Line 86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71" name="Line 86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72" name="Group 863"/>
              <p:cNvGrpSpPr/>
              <p:nvPr/>
            </p:nvGrpSpPr>
            <p:grpSpPr>
              <a:xfrm rot="5700496">
                <a:off x="4050" y="1168"/>
                <a:ext cx="392" cy="137"/>
                <a:chOff x="4227" y="1360"/>
                <a:chExt cx="863" cy="270"/>
              </a:xfrm>
            </p:grpSpPr>
            <p:sp>
              <p:nvSpPr>
                <p:cNvPr id="132673" name="Line 86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74" name="Line 86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75" name="Line 86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76" name="Line 86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677" name="Group 868"/>
              <p:cNvGrpSpPr/>
              <p:nvPr/>
            </p:nvGrpSpPr>
            <p:grpSpPr>
              <a:xfrm rot="10800000">
                <a:off x="3796" y="1402"/>
                <a:ext cx="392" cy="137"/>
                <a:chOff x="4227" y="1360"/>
                <a:chExt cx="863" cy="270"/>
              </a:xfrm>
            </p:grpSpPr>
            <p:sp>
              <p:nvSpPr>
                <p:cNvPr id="132678" name="Line 86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679" name="Line 87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680" name="Line 87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681" name="Line 87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682" name="Group 873"/>
            <p:cNvGrpSpPr/>
            <p:nvPr/>
          </p:nvGrpSpPr>
          <p:grpSpPr>
            <a:xfrm>
              <a:off x="821" y="938"/>
              <a:ext cx="57" cy="114"/>
              <a:chOff x="3796" y="1043"/>
              <a:chExt cx="865" cy="1237"/>
            </a:xfrm>
          </p:grpSpPr>
          <p:sp>
            <p:nvSpPr>
              <p:cNvPr id="132683" name="Line 87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684" name="Line 87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685" name="Line 87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686" name="Line 87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687" name="Line 87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688" name="Line 87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689" name="Line 88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690" name="Line 88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691" name="Line 88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692" name="Line 88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693" name="Line 88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694" name="Line 88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695" name="Line 88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696" name="Line 88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697" name="Line 88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698" name="Group 889"/>
              <p:cNvGrpSpPr/>
              <p:nvPr/>
            </p:nvGrpSpPr>
            <p:grpSpPr>
              <a:xfrm>
                <a:off x="4269" y="1415"/>
                <a:ext cx="392" cy="137"/>
                <a:chOff x="4227" y="1360"/>
                <a:chExt cx="863" cy="270"/>
              </a:xfrm>
            </p:grpSpPr>
            <p:sp>
              <p:nvSpPr>
                <p:cNvPr id="132699" name="Line 89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00" name="Line 89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01" name="Line 89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02" name="Line 89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03" name="Group 894"/>
              <p:cNvGrpSpPr/>
              <p:nvPr/>
            </p:nvGrpSpPr>
            <p:grpSpPr>
              <a:xfrm rot="5700496">
                <a:off x="4050" y="1168"/>
                <a:ext cx="392" cy="137"/>
                <a:chOff x="4227" y="1360"/>
                <a:chExt cx="863" cy="270"/>
              </a:xfrm>
            </p:grpSpPr>
            <p:sp>
              <p:nvSpPr>
                <p:cNvPr id="132704" name="Line 89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05" name="Line 89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06" name="Line 89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07" name="Line 89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08" name="Group 899"/>
              <p:cNvGrpSpPr/>
              <p:nvPr/>
            </p:nvGrpSpPr>
            <p:grpSpPr>
              <a:xfrm rot="10800000">
                <a:off x="3796" y="1402"/>
                <a:ext cx="392" cy="137"/>
                <a:chOff x="4227" y="1360"/>
                <a:chExt cx="863" cy="270"/>
              </a:xfrm>
            </p:grpSpPr>
            <p:sp>
              <p:nvSpPr>
                <p:cNvPr id="132709" name="Line 90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10" name="Line 90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11" name="Line 90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12" name="Line 90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713" name="Line 904"/>
            <p:cNvSpPr/>
            <p:nvPr/>
          </p:nvSpPr>
          <p:spPr>
            <a:xfrm flipH="1" flipV="1">
              <a:off x="602" y="916"/>
              <a:ext cx="256" cy="258"/>
            </a:xfrm>
            <a:prstGeom prst="line">
              <a:avLst/>
            </a:prstGeom>
            <a:ln w="9525" cap="flat" cmpd="sng">
              <a:solidFill>
                <a:schemeClr val="tx1"/>
              </a:solidFill>
              <a:prstDash val="solid"/>
              <a:round/>
              <a:headEnd type="none" w="med" len="med"/>
              <a:tailEnd type="none" w="med" len="med"/>
            </a:ln>
          </p:spPr>
        </p:sp>
        <p:sp>
          <p:nvSpPr>
            <p:cNvPr id="132714" name="Line 905"/>
            <p:cNvSpPr/>
            <p:nvPr/>
          </p:nvSpPr>
          <p:spPr>
            <a:xfrm flipV="1">
              <a:off x="455" y="914"/>
              <a:ext cx="3" cy="351"/>
            </a:xfrm>
            <a:prstGeom prst="line">
              <a:avLst/>
            </a:prstGeom>
            <a:ln w="9525" cap="flat" cmpd="sng">
              <a:solidFill>
                <a:schemeClr val="tx1"/>
              </a:solidFill>
              <a:prstDash val="solid"/>
              <a:round/>
              <a:headEnd type="none" w="med" len="med"/>
              <a:tailEnd type="none" w="med" len="med"/>
            </a:ln>
          </p:spPr>
        </p:sp>
        <p:sp>
          <p:nvSpPr>
            <p:cNvPr id="132715" name="Line 906"/>
            <p:cNvSpPr/>
            <p:nvPr/>
          </p:nvSpPr>
          <p:spPr>
            <a:xfrm flipH="1" flipV="1">
              <a:off x="501" y="920"/>
              <a:ext cx="140" cy="449"/>
            </a:xfrm>
            <a:prstGeom prst="line">
              <a:avLst/>
            </a:prstGeom>
            <a:ln w="9525" cap="flat" cmpd="sng">
              <a:solidFill>
                <a:schemeClr val="tx1"/>
              </a:solidFill>
              <a:prstDash val="solid"/>
              <a:round/>
              <a:headEnd type="none" w="med" len="med"/>
              <a:tailEnd type="none" w="med" len="med"/>
            </a:ln>
          </p:spPr>
        </p:sp>
        <p:sp>
          <p:nvSpPr>
            <p:cNvPr id="132716" name="Line 907"/>
            <p:cNvSpPr/>
            <p:nvPr/>
          </p:nvSpPr>
          <p:spPr>
            <a:xfrm flipH="1" flipV="1">
              <a:off x="647" y="925"/>
              <a:ext cx="218" cy="113"/>
            </a:xfrm>
            <a:prstGeom prst="line">
              <a:avLst/>
            </a:prstGeom>
            <a:ln w="9525" cap="flat" cmpd="sng">
              <a:solidFill>
                <a:schemeClr val="tx1"/>
              </a:solidFill>
              <a:prstDash val="solid"/>
              <a:round/>
              <a:headEnd type="none" w="med" len="med"/>
              <a:tailEnd type="none" w="med" len="med"/>
            </a:ln>
          </p:spPr>
        </p:sp>
        <p:grpSp>
          <p:nvGrpSpPr>
            <p:cNvPr id="132717" name="Group 908"/>
            <p:cNvGrpSpPr/>
            <p:nvPr/>
          </p:nvGrpSpPr>
          <p:grpSpPr>
            <a:xfrm>
              <a:off x="715" y="1116"/>
              <a:ext cx="252" cy="214"/>
              <a:chOff x="867" y="1530"/>
              <a:chExt cx="252" cy="214"/>
            </a:xfrm>
          </p:grpSpPr>
          <p:sp>
            <p:nvSpPr>
              <p:cNvPr id="132718" name="AutoShape 909"/>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719" name="Group 910"/>
              <p:cNvGrpSpPr/>
              <p:nvPr/>
            </p:nvGrpSpPr>
            <p:grpSpPr>
              <a:xfrm>
                <a:off x="967" y="1561"/>
                <a:ext cx="58" cy="114"/>
                <a:chOff x="3796" y="1043"/>
                <a:chExt cx="865" cy="1237"/>
              </a:xfrm>
            </p:grpSpPr>
            <p:sp>
              <p:nvSpPr>
                <p:cNvPr id="132720" name="Line 91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721" name="Line 91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722" name="Line 91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723" name="Line 91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724" name="Line 91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725" name="Line 91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726" name="Line 91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727" name="Line 91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728" name="Line 91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729" name="Line 92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730" name="Line 92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731" name="Line 92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732" name="Line 92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733" name="Line 92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734" name="Line 92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735" name="Group 926"/>
                <p:cNvGrpSpPr/>
                <p:nvPr/>
              </p:nvGrpSpPr>
              <p:grpSpPr>
                <a:xfrm>
                  <a:off x="4269" y="1415"/>
                  <a:ext cx="392" cy="137"/>
                  <a:chOff x="4227" y="1360"/>
                  <a:chExt cx="863" cy="270"/>
                </a:xfrm>
              </p:grpSpPr>
              <p:sp>
                <p:nvSpPr>
                  <p:cNvPr id="132736" name="Line 92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37" name="Line 92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38" name="Line 92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39" name="Line 93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40" name="Group 931"/>
                <p:cNvGrpSpPr/>
                <p:nvPr/>
              </p:nvGrpSpPr>
              <p:grpSpPr>
                <a:xfrm rot="5700496">
                  <a:off x="4050" y="1168"/>
                  <a:ext cx="392" cy="137"/>
                  <a:chOff x="4227" y="1360"/>
                  <a:chExt cx="863" cy="270"/>
                </a:xfrm>
              </p:grpSpPr>
              <p:sp>
                <p:nvSpPr>
                  <p:cNvPr id="132741" name="Line 93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42" name="Line 93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43" name="Line 93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44" name="Line 93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45" name="Group 936"/>
                <p:cNvGrpSpPr/>
                <p:nvPr/>
              </p:nvGrpSpPr>
              <p:grpSpPr>
                <a:xfrm rot="10800000">
                  <a:off x="3796" y="1402"/>
                  <a:ext cx="392" cy="137"/>
                  <a:chOff x="4227" y="1360"/>
                  <a:chExt cx="863" cy="270"/>
                </a:xfrm>
              </p:grpSpPr>
              <p:sp>
                <p:nvSpPr>
                  <p:cNvPr id="132746" name="Line 93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47" name="Line 93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48" name="Line 93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49" name="Line 94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32750" name="Line 941"/>
            <p:cNvSpPr/>
            <p:nvPr/>
          </p:nvSpPr>
          <p:spPr>
            <a:xfrm flipH="1" flipV="1">
              <a:off x="554" y="928"/>
              <a:ext cx="92" cy="222"/>
            </a:xfrm>
            <a:prstGeom prst="line">
              <a:avLst/>
            </a:prstGeom>
            <a:ln w="9525" cap="flat" cmpd="sng">
              <a:solidFill>
                <a:schemeClr val="tx1"/>
              </a:solidFill>
              <a:prstDash val="solid"/>
              <a:round/>
              <a:headEnd type="none" w="med" len="med"/>
              <a:tailEnd type="none" w="med" len="med"/>
            </a:ln>
          </p:spPr>
        </p:sp>
        <p:grpSp>
          <p:nvGrpSpPr>
            <p:cNvPr id="132751" name="Group 942"/>
            <p:cNvGrpSpPr/>
            <p:nvPr/>
          </p:nvGrpSpPr>
          <p:grpSpPr>
            <a:xfrm>
              <a:off x="191" y="711"/>
              <a:ext cx="616" cy="208"/>
              <a:chOff x="717" y="1160"/>
              <a:chExt cx="616" cy="208"/>
            </a:xfrm>
          </p:grpSpPr>
          <p:sp>
            <p:nvSpPr>
              <p:cNvPr id="132752" name="Rectangle 943"/>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753" name="Text Box 944"/>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sp>
          <p:nvSpPr>
            <p:cNvPr id="132754" name="AutoShape 945"/>
            <p:cNvSpPr/>
            <p:nvPr/>
          </p:nvSpPr>
          <p:spPr>
            <a:xfrm>
              <a:off x="146" y="1007"/>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755" name="Group 946"/>
            <p:cNvGrpSpPr/>
            <p:nvPr/>
          </p:nvGrpSpPr>
          <p:grpSpPr>
            <a:xfrm>
              <a:off x="237" y="1051"/>
              <a:ext cx="57" cy="113"/>
              <a:chOff x="3796" y="1043"/>
              <a:chExt cx="865" cy="1237"/>
            </a:xfrm>
          </p:grpSpPr>
          <p:sp>
            <p:nvSpPr>
              <p:cNvPr id="132756" name="Line 94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757" name="Line 94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758" name="Line 94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759" name="Line 95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760" name="Line 95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761" name="Line 95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762" name="Line 95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763" name="Line 95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764" name="Line 95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765" name="Line 95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766" name="Line 95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767" name="Line 95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768" name="Line 95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769" name="Line 96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770" name="Line 96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771" name="Group 962"/>
              <p:cNvGrpSpPr/>
              <p:nvPr/>
            </p:nvGrpSpPr>
            <p:grpSpPr>
              <a:xfrm>
                <a:off x="4269" y="1415"/>
                <a:ext cx="392" cy="137"/>
                <a:chOff x="4227" y="1360"/>
                <a:chExt cx="863" cy="270"/>
              </a:xfrm>
            </p:grpSpPr>
            <p:sp>
              <p:nvSpPr>
                <p:cNvPr id="132772" name="Line 96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73" name="Line 96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74" name="Line 96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75" name="Line 96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76" name="Group 967"/>
              <p:cNvGrpSpPr/>
              <p:nvPr/>
            </p:nvGrpSpPr>
            <p:grpSpPr>
              <a:xfrm rot="5700496">
                <a:off x="4050" y="1168"/>
                <a:ext cx="392" cy="137"/>
                <a:chOff x="4227" y="1360"/>
                <a:chExt cx="863" cy="270"/>
              </a:xfrm>
            </p:grpSpPr>
            <p:sp>
              <p:nvSpPr>
                <p:cNvPr id="132777" name="Line 96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78" name="Line 96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79" name="Line 97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80" name="Line 97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781" name="Group 972"/>
              <p:cNvGrpSpPr/>
              <p:nvPr/>
            </p:nvGrpSpPr>
            <p:grpSpPr>
              <a:xfrm rot="10800000">
                <a:off x="3796" y="1402"/>
                <a:ext cx="392" cy="137"/>
                <a:chOff x="4227" y="1360"/>
                <a:chExt cx="863" cy="270"/>
              </a:xfrm>
            </p:grpSpPr>
            <p:sp>
              <p:nvSpPr>
                <p:cNvPr id="132782" name="Line 97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783" name="Line 97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784" name="Line 97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785" name="Line 97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786" name="AutoShape 977"/>
            <p:cNvSpPr/>
            <p:nvPr/>
          </p:nvSpPr>
          <p:spPr>
            <a:xfrm>
              <a:off x="527" y="12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787" name="Group 978"/>
            <p:cNvGrpSpPr/>
            <p:nvPr/>
          </p:nvGrpSpPr>
          <p:grpSpPr>
            <a:xfrm>
              <a:off x="627" y="1270"/>
              <a:ext cx="57" cy="113"/>
              <a:chOff x="3796" y="1043"/>
              <a:chExt cx="865" cy="1237"/>
            </a:xfrm>
          </p:grpSpPr>
          <p:sp>
            <p:nvSpPr>
              <p:cNvPr id="132788" name="Line 97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789" name="Line 98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790" name="Line 98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791" name="Line 98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792" name="Line 98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793" name="Line 98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794" name="Line 98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795" name="Line 98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796" name="Line 98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797" name="Line 98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798" name="Line 98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799" name="Line 99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800" name="Line 99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801" name="Line 99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802" name="Line 99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803" name="Group 994"/>
              <p:cNvGrpSpPr/>
              <p:nvPr/>
            </p:nvGrpSpPr>
            <p:grpSpPr>
              <a:xfrm>
                <a:off x="4269" y="1415"/>
                <a:ext cx="392" cy="137"/>
                <a:chOff x="4227" y="1360"/>
                <a:chExt cx="863" cy="270"/>
              </a:xfrm>
            </p:grpSpPr>
            <p:sp>
              <p:nvSpPr>
                <p:cNvPr id="132804" name="Line 99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05" name="Line 99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06" name="Line 99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07" name="Line 99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08" name="Group 999"/>
              <p:cNvGrpSpPr/>
              <p:nvPr/>
            </p:nvGrpSpPr>
            <p:grpSpPr>
              <a:xfrm rot="5700496">
                <a:off x="4050" y="1168"/>
                <a:ext cx="392" cy="137"/>
                <a:chOff x="4227" y="1360"/>
                <a:chExt cx="863" cy="270"/>
              </a:xfrm>
            </p:grpSpPr>
            <p:sp>
              <p:nvSpPr>
                <p:cNvPr id="132809" name="Line 100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10" name="Line 100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11" name="Line 100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12" name="Line 100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13" name="Group 1004"/>
              <p:cNvGrpSpPr/>
              <p:nvPr/>
            </p:nvGrpSpPr>
            <p:grpSpPr>
              <a:xfrm rot="10800000">
                <a:off x="3796" y="1402"/>
                <a:ext cx="392" cy="137"/>
                <a:chOff x="4227" y="1360"/>
                <a:chExt cx="863" cy="270"/>
              </a:xfrm>
            </p:grpSpPr>
            <p:sp>
              <p:nvSpPr>
                <p:cNvPr id="132814" name="Line 100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15" name="Line 100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16" name="Line 100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17" name="Line 100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818" name="Line 1009"/>
            <p:cNvSpPr/>
            <p:nvPr/>
          </p:nvSpPr>
          <p:spPr>
            <a:xfrm flipV="1">
              <a:off x="269" y="920"/>
              <a:ext cx="156" cy="240"/>
            </a:xfrm>
            <a:prstGeom prst="line">
              <a:avLst/>
            </a:prstGeom>
            <a:ln w="9525" cap="flat" cmpd="sng">
              <a:solidFill>
                <a:schemeClr val="tx1"/>
              </a:solidFill>
              <a:prstDash val="solid"/>
              <a:round/>
              <a:headEnd type="none" w="med" len="med"/>
              <a:tailEnd type="none" w="med" len="med"/>
            </a:ln>
          </p:spPr>
        </p:sp>
      </p:grpSp>
      <p:grpSp>
        <p:nvGrpSpPr>
          <p:cNvPr id="132819" name="Group 122"/>
          <p:cNvGrpSpPr/>
          <p:nvPr/>
        </p:nvGrpSpPr>
        <p:grpSpPr>
          <a:xfrm>
            <a:off x="5394325" y="2746375"/>
            <a:ext cx="1749425" cy="841375"/>
            <a:chOff x="1064" y="824"/>
            <a:chExt cx="1102" cy="530"/>
          </a:xfrm>
        </p:grpSpPr>
        <p:sp>
          <p:nvSpPr>
            <p:cNvPr id="132820" name="AutoShape 1011"/>
            <p:cNvSpPr/>
            <p:nvPr/>
          </p:nvSpPr>
          <p:spPr>
            <a:xfrm>
              <a:off x="1534" y="82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821" name="AutoShape 1012"/>
            <p:cNvSpPr/>
            <p:nvPr/>
          </p:nvSpPr>
          <p:spPr>
            <a:xfrm>
              <a:off x="1726" y="114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822" name="AutoShape 1013"/>
            <p:cNvSpPr/>
            <p:nvPr/>
          </p:nvSpPr>
          <p:spPr>
            <a:xfrm>
              <a:off x="1723" y="925"/>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823" name="AutoShape 1014"/>
            <p:cNvSpPr/>
            <p:nvPr/>
          </p:nvSpPr>
          <p:spPr>
            <a:xfrm>
              <a:off x="1914" y="103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2824" name="Group 1015"/>
            <p:cNvGrpSpPr/>
            <p:nvPr/>
          </p:nvGrpSpPr>
          <p:grpSpPr>
            <a:xfrm>
              <a:off x="2014" y="1065"/>
              <a:ext cx="58" cy="114"/>
              <a:chOff x="3796" y="1043"/>
              <a:chExt cx="865" cy="1237"/>
            </a:xfrm>
          </p:grpSpPr>
          <p:sp>
            <p:nvSpPr>
              <p:cNvPr id="132825" name="Line 101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826" name="Line 101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827" name="Line 101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828" name="Line 101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829" name="Line 102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830" name="Line 102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831" name="Line 102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832" name="Line 102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833" name="Line 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834" name="Line 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835" name="Line 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836" name="Line 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837" name="Line 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838" name="Line 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839" name="Line 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840" name="Group 7"/>
              <p:cNvGrpSpPr/>
              <p:nvPr/>
            </p:nvGrpSpPr>
            <p:grpSpPr>
              <a:xfrm>
                <a:off x="4269" y="1415"/>
                <a:ext cx="392" cy="137"/>
                <a:chOff x="4227" y="1360"/>
                <a:chExt cx="863" cy="270"/>
              </a:xfrm>
            </p:grpSpPr>
            <p:sp>
              <p:nvSpPr>
                <p:cNvPr id="132841" name="Line 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42" name="Line 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43" name="Line 1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44" name="Line 1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45" name="Group 12"/>
              <p:cNvGrpSpPr/>
              <p:nvPr/>
            </p:nvGrpSpPr>
            <p:grpSpPr>
              <a:xfrm rot="5700496">
                <a:off x="4050" y="1168"/>
                <a:ext cx="392" cy="137"/>
                <a:chOff x="4227" y="1360"/>
                <a:chExt cx="863" cy="270"/>
              </a:xfrm>
            </p:grpSpPr>
            <p:sp>
              <p:nvSpPr>
                <p:cNvPr id="132846" name="Line 1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47" name="Line 1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48" name="Line 1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49" name="Line 1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50" name="Group 17"/>
              <p:cNvGrpSpPr/>
              <p:nvPr/>
            </p:nvGrpSpPr>
            <p:grpSpPr>
              <a:xfrm rot="10800000">
                <a:off x="3796" y="1402"/>
                <a:ext cx="392" cy="137"/>
                <a:chOff x="4227" y="1360"/>
                <a:chExt cx="863" cy="270"/>
              </a:xfrm>
            </p:grpSpPr>
            <p:sp>
              <p:nvSpPr>
                <p:cNvPr id="132851" name="Line 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52" name="Line 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53" name="Line 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54" name="Line 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855" name="Group 22"/>
            <p:cNvGrpSpPr/>
            <p:nvPr/>
          </p:nvGrpSpPr>
          <p:grpSpPr>
            <a:xfrm>
              <a:off x="1820" y="964"/>
              <a:ext cx="58" cy="114"/>
              <a:chOff x="3796" y="1043"/>
              <a:chExt cx="865" cy="1237"/>
            </a:xfrm>
          </p:grpSpPr>
          <p:sp>
            <p:nvSpPr>
              <p:cNvPr id="132856" name="Line 2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857" name="Line 2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858" name="Line 2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859" name="Line 2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860" name="Line 2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861" name="Line 2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862" name="Line 2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863" name="Line 3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864" name="Line 3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865" name="Line 3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866" name="Line 3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867" name="Line 3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868" name="Line 3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869" name="Line 3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870" name="Line 3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871" name="Group 38"/>
              <p:cNvGrpSpPr/>
              <p:nvPr/>
            </p:nvGrpSpPr>
            <p:grpSpPr>
              <a:xfrm>
                <a:off x="4269" y="1415"/>
                <a:ext cx="392" cy="137"/>
                <a:chOff x="4227" y="1360"/>
                <a:chExt cx="863" cy="270"/>
              </a:xfrm>
            </p:grpSpPr>
            <p:sp>
              <p:nvSpPr>
                <p:cNvPr id="132872" name="Line 3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73" name="Line 4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74" name="Line 4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75" name="Line 4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76" name="Group 43"/>
              <p:cNvGrpSpPr/>
              <p:nvPr/>
            </p:nvGrpSpPr>
            <p:grpSpPr>
              <a:xfrm rot="5700496">
                <a:off x="4050" y="1168"/>
                <a:ext cx="392" cy="137"/>
                <a:chOff x="4227" y="1360"/>
                <a:chExt cx="863" cy="270"/>
              </a:xfrm>
            </p:grpSpPr>
            <p:sp>
              <p:nvSpPr>
                <p:cNvPr id="132877" name="Line 4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78" name="Line 4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79" name="Line 4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80" name="Line 4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881" name="Group 48"/>
              <p:cNvGrpSpPr/>
              <p:nvPr/>
            </p:nvGrpSpPr>
            <p:grpSpPr>
              <a:xfrm rot="10800000">
                <a:off x="3796" y="1402"/>
                <a:ext cx="392" cy="137"/>
                <a:chOff x="4227" y="1360"/>
                <a:chExt cx="863" cy="270"/>
              </a:xfrm>
            </p:grpSpPr>
            <p:sp>
              <p:nvSpPr>
                <p:cNvPr id="132882" name="Line 4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883" name="Line 5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884" name="Line 5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885" name="Line 5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886" name="Group 53"/>
            <p:cNvGrpSpPr/>
            <p:nvPr/>
          </p:nvGrpSpPr>
          <p:grpSpPr>
            <a:xfrm>
              <a:off x="1829" y="1175"/>
              <a:ext cx="57" cy="113"/>
              <a:chOff x="3796" y="1043"/>
              <a:chExt cx="865" cy="1237"/>
            </a:xfrm>
          </p:grpSpPr>
          <p:sp>
            <p:nvSpPr>
              <p:cNvPr id="132887" name="Line 5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888" name="Line 5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889" name="Line 5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890" name="Line 5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891" name="Line 5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892" name="Line 5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893" name="Line 6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894" name="Line 6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895" name="Line 6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896" name="Line 6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897" name="Line 6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898" name="Line 6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899" name="Line 6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900" name="Line 6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901" name="Line 6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902" name="Group 69"/>
              <p:cNvGrpSpPr/>
              <p:nvPr/>
            </p:nvGrpSpPr>
            <p:grpSpPr>
              <a:xfrm>
                <a:off x="4269" y="1415"/>
                <a:ext cx="392" cy="137"/>
                <a:chOff x="4227" y="1360"/>
                <a:chExt cx="863" cy="270"/>
              </a:xfrm>
            </p:grpSpPr>
            <p:sp>
              <p:nvSpPr>
                <p:cNvPr id="132903" name="Line 7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04" name="Line 7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05" name="Line 7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06" name="Line 7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907" name="Group 74"/>
              <p:cNvGrpSpPr/>
              <p:nvPr/>
            </p:nvGrpSpPr>
            <p:grpSpPr>
              <a:xfrm rot="5700496">
                <a:off x="4050" y="1168"/>
                <a:ext cx="392" cy="137"/>
                <a:chOff x="4227" y="1360"/>
                <a:chExt cx="863" cy="270"/>
              </a:xfrm>
            </p:grpSpPr>
            <p:sp>
              <p:nvSpPr>
                <p:cNvPr id="132908" name="Line 7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09" name="Line 7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10" name="Line 7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11" name="Line 7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912" name="Group 79"/>
              <p:cNvGrpSpPr/>
              <p:nvPr/>
            </p:nvGrpSpPr>
            <p:grpSpPr>
              <a:xfrm rot="10800000">
                <a:off x="3796" y="1402"/>
                <a:ext cx="392" cy="137"/>
                <a:chOff x="4227" y="1360"/>
                <a:chExt cx="863" cy="270"/>
              </a:xfrm>
            </p:grpSpPr>
            <p:sp>
              <p:nvSpPr>
                <p:cNvPr id="132913" name="Line 8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14" name="Line 8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15" name="Line 8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16" name="Line 8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2917" name="Group 84"/>
            <p:cNvGrpSpPr/>
            <p:nvPr/>
          </p:nvGrpSpPr>
          <p:grpSpPr>
            <a:xfrm>
              <a:off x="1636" y="858"/>
              <a:ext cx="57" cy="114"/>
              <a:chOff x="3796" y="1043"/>
              <a:chExt cx="865" cy="1237"/>
            </a:xfrm>
          </p:grpSpPr>
          <p:sp>
            <p:nvSpPr>
              <p:cNvPr id="132918" name="Line 8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2919" name="Line 8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2920" name="Line 8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2921" name="Line 8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2922" name="Line 8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2923" name="Line 9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2924" name="Line 9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2925" name="Line 9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2926" name="Line 9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2927" name="Line 9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2928" name="Line 9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2929" name="Line 9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2930" name="Line 9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2931" name="Line 9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2932" name="Line 9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2933" name="Group 100"/>
              <p:cNvGrpSpPr/>
              <p:nvPr/>
            </p:nvGrpSpPr>
            <p:grpSpPr>
              <a:xfrm>
                <a:off x="4269" y="1415"/>
                <a:ext cx="392" cy="137"/>
                <a:chOff x="4227" y="1360"/>
                <a:chExt cx="863" cy="270"/>
              </a:xfrm>
            </p:grpSpPr>
            <p:sp>
              <p:nvSpPr>
                <p:cNvPr id="132934" name="Line 10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35" name="Line 10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36" name="Line 10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37" name="Line 10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938" name="Group 105"/>
              <p:cNvGrpSpPr/>
              <p:nvPr/>
            </p:nvGrpSpPr>
            <p:grpSpPr>
              <a:xfrm rot="5700496">
                <a:off x="4050" y="1168"/>
                <a:ext cx="392" cy="137"/>
                <a:chOff x="4227" y="1360"/>
                <a:chExt cx="863" cy="270"/>
              </a:xfrm>
            </p:grpSpPr>
            <p:sp>
              <p:nvSpPr>
                <p:cNvPr id="132939" name="Line 10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40" name="Line 10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41" name="Line 10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42" name="Line 10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2943" name="Group 110"/>
              <p:cNvGrpSpPr/>
              <p:nvPr/>
            </p:nvGrpSpPr>
            <p:grpSpPr>
              <a:xfrm rot="10800000">
                <a:off x="3796" y="1402"/>
                <a:ext cx="392" cy="137"/>
                <a:chOff x="4227" y="1360"/>
                <a:chExt cx="863" cy="270"/>
              </a:xfrm>
            </p:grpSpPr>
            <p:sp>
              <p:nvSpPr>
                <p:cNvPr id="132944" name="Line 11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2945" name="Line 11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2946" name="Line 11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2947" name="Line 11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2948" name="Line 115"/>
            <p:cNvSpPr/>
            <p:nvPr/>
          </p:nvSpPr>
          <p:spPr>
            <a:xfrm flipH="1">
              <a:off x="1511" y="1158"/>
              <a:ext cx="546" cy="2"/>
            </a:xfrm>
            <a:prstGeom prst="line">
              <a:avLst/>
            </a:prstGeom>
            <a:ln w="9525" cap="flat" cmpd="sng">
              <a:solidFill>
                <a:schemeClr val="tx1"/>
              </a:solidFill>
              <a:prstDash val="solid"/>
              <a:round/>
              <a:headEnd type="none" w="med" len="med"/>
              <a:tailEnd type="none" w="med" len="med"/>
            </a:ln>
          </p:spPr>
        </p:sp>
        <p:sp>
          <p:nvSpPr>
            <p:cNvPr id="132949" name="Line 116"/>
            <p:cNvSpPr/>
            <p:nvPr/>
          </p:nvSpPr>
          <p:spPr>
            <a:xfrm flipH="1" flipV="1">
              <a:off x="1509" y="1184"/>
              <a:ext cx="361" cy="88"/>
            </a:xfrm>
            <a:prstGeom prst="line">
              <a:avLst/>
            </a:prstGeom>
            <a:ln w="9525" cap="flat" cmpd="sng">
              <a:solidFill>
                <a:schemeClr val="tx1"/>
              </a:solidFill>
              <a:prstDash val="solid"/>
              <a:round/>
              <a:headEnd type="none" w="med" len="med"/>
              <a:tailEnd type="none" w="med" len="med"/>
            </a:ln>
          </p:spPr>
        </p:sp>
        <p:sp>
          <p:nvSpPr>
            <p:cNvPr id="132950" name="Line 117"/>
            <p:cNvSpPr/>
            <p:nvPr/>
          </p:nvSpPr>
          <p:spPr>
            <a:xfrm flipH="1">
              <a:off x="1454" y="1070"/>
              <a:ext cx="410" cy="54"/>
            </a:xfrm>
            <a:prstGeom prst="line">
              <a:avLst/>
            </a:prstGeom>
            <a:ln w="9525" cap="flat" cmpd="sng">
              <a:solidFill>
                <a:schemeClr val="tx1"/>
              </a:solidFill>
              <a:prstDash val="solid"/>
              <a:round/>
              <a:headEnd type="none" w="med" len="med"/>
              <a:tailEnd type="none" w="med" len="med"/>
            </a:ln>
          </p:spPr>
        </p:sp>
        <p:sp>
          <p:nvSpPr>
            <p:cNvPr id="132951" name="Line 118"/>
            <p:cNvSpPr/>
            <p:nvPr/>
          </p:nvSpPr>
          <p:spPr>
            <a:xfrm flipH="1">
              <a:off x="1502" y="958"/>
              <a:ext cx="178" cy="157"/>
            </a:xfrm>
            <a:prstGeom prst="line">
              <a:avLst/>
            </a:prstGeom>
            <a:ln w="9525" cap="flat" cmpd="sng">
              <a:solidFill>
                <a:schemeClr val="tx1"/>
              </a:solidFill>
              <a:prstDash val="solid"/>
              <a:round/>
              <a:headEnd type="none" w="med" len="med"/>
              <a:tailEnd type="none" w="med" len="med"/>
            </a:ln>
          </p:spPr>
        </p:sp>
        <p:grpSp>
          <p:nvGrpSpPr>
            <p:cNvPr id="132952" name="Group 119"/>
            <p:cNvGrpSpPr/>
            <p:nvPr/>
          </p:nvGrpSpPr>
          <p:grpSpPr>
            <a:xfrm>
              <a:off x="1064" y="1052"/>
              <a:ext cx="616" cy="208"/>
              <a:chOff x="717" y="1160"/>
              <a:chExt cx="616" cy="208"/>
            </a:xfrm>
          </p:grpSpPr>
          <p:sp>
            <p:nvSpPr>
              <p:cNvPr id="132953" name="Rectangle 120"/>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2954" name="Text Box 121"/>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sp>
        <p:nvSpPr>
          <p:cNvPr id="132955" name="Line 123"/>
          <p:cNvSpPr/>
          <p:nvPr/>
        </p:nvSpPr>
        <p:spPr>
          <a:xfrm flipV="1">
            <a:off x="3609975" y="3000375"/>
            <a:ext cx="685800" cy="266700"/>
          </a:xfrm>
          <a:prstGeom prst="line">
            <a:avLst/>
          </a:prstGeom>
          <a:ln w="9525" cap="flat" cmpd="sng">
            <a:solidFill>
              <a:schemeClr val="tx1"/>
            </a:solidFill>
            <a:prstDash val="solid"/>
            <a:round/>
            <a:headEnd type="none" w="med" len="med"/>
            <a:tailEnd type="none" w="med" len="med"/>
          </a:ln>
        </p:spPr>
      </p:sp>
      <p:sp>
        <p:nvSpPr>
          <p:cNvPr id="132956" name="Line 124"/>
          <p:cNvSpPr/>
          <p:nvPr/>
        </p:nvSpPr>
        <p:spPr>
          <a:xfrm flipV="1">
            <a:off x="4076700" y="3152775"/>
            <a:ext cx="371475" cy="438150"/>
          </a:xfrm>
          <a:prstGeom prst="line">
            <a:avLst/>
          </a:prstGeom>
          <a:ln w="9525" cap="flat" cmpd="sng">
            <a:solidFill>
              <a:schemeClr val="tx1"/>
            </a:solidFill>
            <a:prstDash val="solid"/>
            <a:round/>
            <a:headEnd type="none" w="med" len="med"/>
            <a:tailEnd type="none" w="med" len="med"/>
          </a:ln>
        </p:spPr>
      </p:sp>
      <p:sp>
        <p:nvSpPr>
          <p:cNvPr id="132957" name="Line 125"/>
          <p:cNvSpPr/>
          <p:nvPr/>
        </p:nvSpPr>
        <p:spPr>
          <a:xfrm flipH="1" flipV="1">
            <a:off x="4676775" y="3228975"/>
            <a:ext cx="590550" cy="647700"/>
          </a:xfrm>
          <a:prstGeom prst="line">
            <a:avLst/>
          </a:prstGeom>
          <a:ln w="9525" cap="flat" cmpd="sng">
            <a:solidFill>
              <a:schemeClr val="tx1"/>
            </a:solidFill>
            <a:prstDash val="solid"/>
            <a:round/>
            <a:headEnd type="none" w="med" len="med"/>
            <a:tailEnd type="none" w="med" len="med"/>
          </a:ln>
        </p:spPr>
      </p:sp>
      <p:sp>
        <p:nvSpPr>
          <p:cNvPr id="132958" name="Line 126"/>
          <p:cNvSpPr/>
          <p:nvPr/>
        </p:nvSpPr>
        <p:spPr>
          <a:xfrm flipH="1" flipV="1">
            <a:off x="4876800" y="3257550"/>
            <a:ext cx="1485900" cy="600075"/>
          </a:xfrm>
          <a:prstGeom prst="line">
            <a:avLst/>
          </a:prstGeom>
          <a:ln w="9525" cap="flat" cmpd="sng">
            <a:solidFill>
              <a:schemeClr val="tx1"/>
            </a:solidFill>
            <a:prstDash val="solid"/>
            <a:round/>
            <a:headEnd type="none" w="med" len="med"/>
            <a:tailEnd type="none" w="med" len="med"/>
          </a:ln>
        </p:spPr>
      </p:sp>
      <p:sp>
        <p:nvSpPr>
          <p:cNvPr id="132959" name="Line 127"/>
          <p:cNvSpPr/>
          <p:nvPr/>
        </p:nvSpPr>
        <p:spPr>
          <a:xfrm flipH="1" flipV="1">
            <a:off x="4772025" y="3114675"/>
            <a:ext cx="771525" cy="171450"/>
          </a:xfrm>
          <a:prstGeom prst="line">
            <a:avLst/>
          </a:prstGeom>
          <a:ln w="9525" cap="flat" cmpd="sng">
            <a:solidFill>
              <a:schemeClr val="tx1"/>
            </a:solidFill>
            <a:prstDash val="solid"/>
            <a:round/>
            <a:headEnd type="none" w="med" len="med"/>
            <a:tailEnd type="none" w="med" len="med"/>
          </a:ln>
        </p:spPr>
      </p:sp>
      <p:sp>
        <p:nvSpPr>
          <p:cNvPr id="132960" name="Freeform 282"/>
          <p:cNvSpPr/>
          <p:nvPr/>
        </p:nvSpPr>
        <p:spPr>
          <a:xfrm>
            <a:off x="3711575" y="1854200"/>
            <a:ext cx="1436688" cy="1617663"/>
          </a:xfrm>
          <a:custGeom>
            <a:avLst/>
            <a:gdLst/>
            <a:ahLst/>
            <a:cxnLst>
              <a:cxn ang="0">
                <a:pos x="295527389" y="11630417"/>
              </a:cxn>
              <a:cxn ang="0">
                <a:pos x="43278558" y="260848481"/>
              </a:cxn>
              <a:cxn ang="0">
                <a:pos x="35859377" y="868941537"/>
              </a:cxn>
              <a:cxn ang="0">
                <a:pos x="65534990" y="1377346594"/>
              </a:cxn>
              <a:cxn ang="0">
                <a:pos x="302946570" y="1447127806"/>
              </a:cxn>
              <a:cxn ang="0">
                <a:pos x="800026162" y="1875782722"/>
              </a:cxn>
              <a:cxn ang="0">
                <a:pos x="1230334234" y="2055219573"/>
              </a:cxn>
              <a:cxn ang="0">
                <a:pos x="1482583065" y="1696345871"/>
              </a:cxn>
              <a:cxn ang="0">
                <a:pos x="1571612129" y="739348040"/>
              </a:cxn>
              <a:cxn ang="0">
                <a:pos x="1490002246" y="350567551"/>
              </a:cxn>
              <a:cxn ang="0">
                <a:pos x="926151134" y="191067268"/>
              </a:cxn>
              <a:cxn ang="0">
                <a:pos x="295527389" y="11630417"/>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132961" name="Text Box 283"/>
          <p:cNvSpPr txBox="1"/>
          <p:nvPr/>
        </p:nvSpPr>
        <p:spPr>
          <a:xfrm>
            <a:off x="3902075" y="2247900"/>
            <a:ext cx="1247775" cy="730250"/>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wired public telephone</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network</a:t>
            </a:r>
            <a:endParaRPr lang="en-US" altLang="zh-CN" sz="1400" dirty="0">
              <a:latin typeface="Arial" panose="020B0604020202020204" pitchFamily="34" charset="0"/>
              <a:ea typeface="宋体" panose="02010600030101010101" pitchFamily="2" charset="-122"/>
            </a:endParaRPr>
          </a:p>
        </p:txBody>
      </p:sp>
      <p:sp>
        <p:nvSpPr>
          <p:cNvPr id="132962" name="Line 129"/>
          <p:cNvSpPr/>
          <p:nvPr/>
        </p:nvSpPr>
        <p:spPr>
          <a:xfrm flipV="1">
            <a:off x="5067300" y="2514600"/>
            <a:ext cx="342900" cy="123825"/>
          </a:xfrm>
          <a:prstGeom prst="line">
            <a:avLst/>
          </a:prstGeom>
          <a:ln w="9525" cap="flat" cmpd="sng">
            <a:solidFill>
              <a:schemeClr val="tx1"/>
            </a:solidFill>
            <a:prstDash val="solid"/>
            <a:round/>
            <a:headEnd type="none" w="med" len="med"/>
            <a:tailEnd type="none" w="med" len="med"/>
          </a:ln>
        </p:spPr>
      </p:sp>
      <p:sp>
        <p:nvSpPr>
          <p:cNvPr id="132963" name="Text Box 130"/>
          <p:cNvSpPr txBox="1"/>
          <p:nvPr/>
        </p:nvSpPr>
        <p:spPr>
          <a:xfrm>
            <a:off x="2468563" y="5503863"/>
            <a:ext cx="3632200" cy="641350"/>
          </a:xfrm>
          <a:prstGeom prst="rect">
            <a:avLst/>
          </a:prstGeom>
          <a:noFill/>
          <a:ln w="9525">
            <a:noFill/>
          </a:ln>
        </p:spPr>
        <p:txBody>
          <a:bodyPr wrap="none" anchor="t" anchorCtr="0">
            <a:spAutoFit/>
          </a:bodyPr>
          <a:p>
            <a:pPr eaLnBrk="0" hangingPunct="0">
              <a:buClrTx/>
              <a:buFontTx/>
            </a:pPr>
            <a:r>
              <a:rPr lang="en-US" altLang="zh-CN" dirty="0">
                <a:latin typeface="Comic Sans MS" panose="030F0702030302020204" pitchFamily="66" charset="0"/>
                <a:ea typeface="宋体" panose="02010600030101010101" pitchFamily="2" charset="-122"/>
              </a:rPr>
              <a:t>different cellular networks,</a:t>
            </a:r>
            <a:endParaRPr lang="en-US" altLang="zh-CN" dirty="0">
              <a:latin typeface="Comic Sans MS" panose="030F0702030302020204" pitchFamily="66" charset="0"/>
              <a:ea typeface="宋体" panose="02010600030101010101" pitchFamily="2" charset="-122"/>
            </a:endParaRPr>
          </a:p>
          <a:p>
            <a:pPr eaLnBrk="0" hangingPunct="0">
              <a:buClrTx/>
              <a:buFontTx/>
            </a:pPr>
            <a:r>
              <a:rPr lang="en-US" altLang="zh-CN" dirty="0">
                <a:latin typeface="Comic Sans MS" panose="030F0702030302020204" pitchFamily="66" charset="0"/>
                <a:ea typeface="宋体" panose="02010600030101010101" pitchFamily="2" charset="-122"/>
              </a:rPr>
              <a:t>operated by different providers</a:t>
            </a:r>
            <a:endParaRPr lang="en-US" altLang="zh-CN" dirty="0">
              <a:latin typeface="Comic Sans MS" panose="030F0702030302020204" pitchFamily="66" charset="0"/>
              <a:ea typeface="宋体" panose="02010600030101010101" pitchFamily="2" charset="-122"/>
            </a:endParaRPr>
          </a:p>
        </p:txBody>
      </p:sp>
      <p:sp>
        <p:nvSpPr>
          <p:cNvPr id="132964" name="Line 131"/>
          <p:cNvSpPr/>
          <p:nvPr/>
        </p:nvSpPr>
        <p:spPr>
          <a:xfrm flipH="1" flipV="1">
            <a:off x="3854450" y="4910138"/>
            <a:ext cx="309563" cy="604837"/>
          </a:xfrm>
          <a:prstGeom prst="line">
            <a:avLst/>
          </a:prstGeom>
          <a:ln w="9525" cap="flat" cmpd="sng">
            <a:solidFill>
              <a:schemeClr val="tx1"/>
            </a:solidFill>
            <a:prstDash val="solid"/>
            <a:round/>
            <a:headEnd type="none" w="med" len="med"/>
            <a:tailEnd type="triangle" w="med" len="med"/>
          </a:ln>
        </p:spPr>
      </p:sp>
      <p:sp>
        <p:nvSpPr>
          <p:cNvPr id="132965" name="Line 132"/>
          <p:cNvSpPr/>
          <p:nvPr/>
        </p:nvSpPr>
        <p:spPr>
          <a:xfrm flipV="1">
            <a:off x="4160838" y="5006975"/>
            <a:ext cx="873125" cy="477838"/>
          </a:xfrm>
          <a:prstGeom prst="line">
            <a:avLst/>
          </a:prstGeom>
          <a:ln w="9525" cap="flat" cmpd="sng">
            <a:solidFill>
              <a:schemeClr val="tx1"/>
            </a:solidFill>
            <a:prstDash val="solid"/>
            <a:round/>
            <a:headEnd type="none" w="med" len="med"/>
            <a:tailEnd type="triangle" w="med" len="med"/>
          </a:ln>
        </p:spPr>
      </p:sp>
      <p:sp>
        <p:nvSpPr>
          <p:cNvPr id="132966" name="Text Box 133"/>
          <p:cNvSpPr txBox="1"/>
          <p:nvPr/>
        </p:nvSpPr>
        <p:spPr>
          <a:xfrm>
            <a:off x="1328738" y="1733550"/>
            <a:ext cx="1068387" cy="457200"/>
          </a:xfrm>
          <a:prstGeom prst="rect">
            <a:avLst/>
          </a:prstGeom>
          <a:noFill/>
          <a:ln w="9525">
            <a:noFill/>
          </a:ln>
        </p:spPr>
        <p:txBody>
          <a:bodyPr wrap="none" anchor="t" anchorCtr="0">
            <a:spAutoFit/>
          </a:bodyPr>
          <a:p>
            <a:pPr eaLnBrk="0" hangingPunct="0">
              <a:buClrTx/>
              <a:buFontTx/>
            </a:pPr>
            <a:r>
              <a:rPr lang="en-US" altLang="zh-CN" sz="2400" dirty="0">
                <a:latin typeface="Comic Sans MS" panose="030F0702030302020204" pitchFamily="66" charset="0"/>
                <a:ea typeface="宋体" panose="02010600030101010101" pitchFamily="2" charset="-122"/>
              </a:rPr>
              <a:t>recall:</a:t>
            </a:r>
            <a:endParaRPr lang="en-US" altLang="zh-CN" sz="2400" dirty="0">
              <a:latin typeface="Comic Sans MS" panose="030F0702030302020204" pitchFamily="66"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3414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4147" name="Rectangle 2"/>
          <p:cNvSpPr>
            <a:spLocks noGrp="1"/>
          </p:cNvSpPr>
          <p:nvPr>
            <p:ph type="title"/>
          </p:nvPr>
        </p:nvSpPr>
        <p:spPr>
          <a:ln/>
        </p:spPr>
        <p:txBody>
          <a:bodyPr vert="horz" wrap="square" lIns="91440" tIns="45720" rIns="91440" bIns="45720" anchor="ctr" anchorCtr="0"/>
          <a:p>
            <a:r>
              <a:rPr lang="en-US" altLang="zh-CN" sz="3200" dirty="0">
                <a:ea typeface="宋体" panose="02010600030101010101" pitchFamily="2" charset="-122"/>
              </a:rPr>
              <a:t>Handling mobility in cellular networks</a:t>
            </a:r>
            <a:r>
              <a:rPr lang="zh-CN" altLang="en-US" sz="3200" dirty="0">
                <a:ea typeface="宋体" panose="02010600030101010101" pitchFamily="2" charset="-122"/>
              </a:rPr>
              <a:t>（题）</a:t>
            </a:r>
            <a:endParaRPr lang="zh-CN" altLang="en-US" sz="3200" dirty="0">
              <a:ea typeface="宋体" panose="02010600030101010101" pitchFamily="2" charset="-122"/>
            </a:endParaRPr>
          </a:p>
        </p:txBody>
      </p:sp>
      <p:sp>
        <p:nvSpPr>
          <p:cNvPr id="134148" name="Rectangle 3"/>
          <p:cNvSpPr>
            <a:spLocks noGrp="1"/>
          </p:cNvSpPr>
          <p:nvPr>
            <p:ph idx="1"/>
          </p:nvPr>
        </p:nvSpPr>
        <p:spPr>
          <a:ln/>
        </p:spPr>
        <p:txBody>
          <a:bodyPr vert="horz" wrap="square" lIns="91440" tIns="45720" rIns="91440" bIns="45720" anchor="t" anchorCtr="0"/>
          <a:p>
            <a:pPr>
              <a:lnSpc>
                <a:spcPct val="90000"/>
              </a:lnSpc>
            </a:pPr>
            <a:r>
              <a:rPr lang="en-US" altLang="zh-CN" sz="2400" i="1" dirty="0">
                <a:solidFill>
                  <a:srgbClr val="FF0000"/>
                </a:solidFill>
                <a:ea typeface="宋体" panose="02010600030101010101" pitchFamily="2" charset="-122"/>
              </a:rPr>
              <a:t>home network:</a:t>
            </a:r>
            <a:r>
              <a:rPr lang="en-US" altLang="zh-CN" sz="2400" dirty="0">
                <a:ea typeface="宋体" panose="02010600030101010101" pitchFamily="2" charset="-122"/>
              </a:rPr>
              <a:t> network of cellular provider you subscribe to (e.g., Sprint PCS, Verizon)</a:t>
            </a:r>
            <a:endParaRPr lang="en-US" altLang="zh-CN" sz="2400" dirty="0">
              <a:ea typeface="宋体" panose="02010600030101010101" pitchFamily="2" charset="-122"/>
            </a:endParaRPr>
          </a:p>
          <a:p>
            <a:pPr lvl="1">
              <a:lnSpc>
                <a:spcPct val="90000"/>
              </a:lnSpc>
            </a:pPr>
            <a:r>
              <a:rPr lang="en-US" altLang="zh-CN" i="1" dirty="0">
                <a:solidFill>
                  <a:srgbClr val="FF0000"/>
                </a:solidFill>
                <a:ea typeface="宋体" panose="02010600030101010101" pitchFamily="2" charset="-122"/>
              </a:rPr>
              <a:t>home location register (HLR):</a:t>
            </a:r>
            <a:r>
              <a:rPr lang="en-US" altLang="zh-CN" dirty="0">
                <a:ea typeface="宋体" panose="02010600030101010101" pitchFamily="2" charset="-122"/>
              </a:rPr>
              <a:t> database in home network containing permanent cell phone #, profile information (services, preferences, billing), information about current location (could be in another network)</a:t>
            </a:r>
            <a:endParaRPr lang="en-US" altLang="zh-CN" dirty="0">
              <a:ea typeface="宋体" panose="02010600030101010101" pitchFamily="2" charset="-122"/>
            </a:endParaRPr>
          </a:p>
          <a:p>
            <a:pPr>
              <a:lnSpc>
                <a:spcPct val="90000"/>
              </a:lnSpc>
            </a:pPr>
            <a:r>
              <a:rPr lang="en-US" altLang="zh-CN" sz="2400" i="1" dirty="0">
                <a:solidFill>
                  <a:srgbClr val="FF0000"/>
                </a:solidFill>
                <a:ea typeface="宋体" panose="02010600030101010101" pitchFamily="2" charset="-122"/>
              </a:rPr>
              <a:t>visited network:</a:t>
            </a:r>
            <a:r>
              <a:rPr lang="en-US" altLang="zh-CN" sz="2400" dirty="0">
                <a:ea typeface="宋体" panose="02010600030101010101" pitchFamily="2" charset="-122"/>
              </a:rPr>
              <a:t> network in which mobile currently resides</a:t>
            </a:r>
            <a:endParaRPr lang="en-US" altLang="zh-CN" sz="2400" dirty="0">
              <a:ea typeface="宋体" panose="02010600030101010101" pitchFamily="2" charset="-122"/>
            </a:endParaRPr>
          </a:p>
          <a:p>
            <a:pPr lvl="1">
              <a:lnSpc>
                <a:spcPct val="90000"/>
              </a:lnSpc>
            </a:pPr>
            <a:r>
              <a:rPr lang="en-US" altLang="zh-CN" i="1" dirty="0">
                <a:solidFill>
                  <a:srgbClr val="FF0000"/>
                </a:solidFill>
                <a:ea typeface="宋体" panose="02010600030101010101" pitchFamily="2" charset="-122"/>
              </a:rPr>
              <a:t>visitor location register (VLR):</a:t>
            </a:r>
            <a:r>
              <a:rPr lang="en-US" altLang="zh-CN" dirty="0">
                <a:ea typeface="宋体" panose="02010600030101010101" pitchFamily="2" charset="-122"/>
              </a:rPr>
              <a:t> database with entry for each user currently in network</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could be home network</a:t>
            </a:r>
            <a:endParaRPr lang="en-US" altLang="zh-CN" dirty="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36194"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36195" name="AutoShape 2"/>
          <p:cNvSpPr/>
          <p:nvPr/>
        </p:nvSpPr>
        <p:spPr>
          <a:xfrm>
            <a:off x="1441450" y="4057650"/>
            <a:ext cx="1057275" cy="914400"/>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196" name="AutoShape 3"/>
          <p:cNvSpPr/>
          <p:nvPr/>
        </p:nvSpPr>
        <p:spPr>
          <a:xfrm>
            <a:off x="2249488" y="5407025"/>
            <a:ext cx="1057275" cy="914400"/>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197" name="AutoShape 4"/>
          <p:cNvSpPr/>
          <p:nvPr/>
        </p:nvSpPr>
        <p:spPr>
          <a:xfrm>
            <a:off x="2235200" y="4489450"/>
            <a:ext cx="1057275" cy="914400"/>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198" name="AutoShape 5"/>
          <p:cNvSpPr/>
          <p:nvPr/>
        </p:nvSpPr>
        <p:spPr>
          <a:xfrm>
            <a:off x="3036888" y="4954588"/>
            <a:ext cx="1057275" cy="914400"/>
          </a:xfrm>
          <a:prstGeom prst="hexagon">
            <a:avLst>
              <a:gd name="adj" fmla="val 28906"/>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36199" name="Group 6"/>
          <p:cNvGrpSpPr/>
          <p:nvPr/>
        </p:nvGrpSpPr>
        <p:grpSpPr>
          <a:xfrm>
            <a:off x="3457575" y="5084763"/>
            <a:ext cx="242888" cy="485775"/>
            <a:chOff x="3796" y="1043"/>
            <a:chExt cx="865" cy="1237"/>
          </a:xfrm>
        </p:grpSpPr>
        <p:sp>
          <p:nvSpPr>
            <p:cNvPr id="136200" name="Line 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6201" name="Line 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6202" name="Line 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6203" name="Line 1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6204" name="Line 1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6205" name="Line 1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6206" name="Line 1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6207" name="Line 1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6208" name="Line 1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6209" name="Line 1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6210" name="Line 1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6211" name="Line 1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6212" name="Line 1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6213" name="Line 2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6214" name="Line 2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6215" name="Group 22"/>
            <p:cNvGrpSpPr/>
            <p:nvPr/>
          </p:nvGrpSpPr>
          <p:grpSpPr>
            <a:xfrm>
              <a:off x="4269" y="1415"/>
              <a:ext cx="392" cy="137"/>
              <a:chOff x="4227" y="1360"/>
              <a:chExt cx="863" cy="270"/>
            </a:xfrm>
          </p:grpSpPr>
          <p:sp>
            <p:nvSpPr>
              <p:cNvPr id="136216" name="Line 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17" name="Line 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18" name="Line 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19" name="Line 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20" name="Group 27"/>
            <p:cNvGrpSpPr/>
            <p:nvPr/>
          </p:nvGrpSpPr>
          <p:grpSpPr>
            <a:xfrm rot="5700496">
              <a:off x="4050" y="1168"/>
              <a:ext cx="392" cy="137"/>
              <a:chOff x="4227" y="1360"/>
              <a:chExt cx="863" cy="270"/>
            </a:xfrm>
          </p:grpSpPr>
          <p:sp>
            <p:nvSpPr>
              <p:cNvPr id="136221" name="Line 2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22" name="Line 2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23" name="Line 3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24" name="Line 3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25" name="Group 32"/>
            <p:cNvGrpSpPr/>
            <p:nvPr/>
          </p:nvGrpSpPr>
          <p:grpSpPr>
            <a:xfrm rot="10800000">
              <a:off x="3796" y="1402"/>
              <a:ext cx="392" cy="137"/>
              <a:chOff x="4227" y="1360"/>
              <a:chExt cx="863" cy="270"/>
            </a:xfrm>
          </p:grpSpPr>
          <p:sp>
            <p:nvSpPr>
              <p:cNvPr id="136226" name="Line 3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27" name="Line 3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28" name="Line 3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29" name="Line 3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6230" name="Group 37"/>
          <p:cNvGrpSpPr/>
          <p:nvPr/>
        </p:nvGrpSpPr>
        <p:grpSpPr>
          <a:xfrm>
            <a:off x="2641600" y="4656138"/>
            <a:ext cx="242888" cy="485775"/>
            <a:chOff x="3796" y="1043"/>
            <a:chExt cx="865" cy="1237"/>
          </a:xfrm>
        </p:grpSpPr>
        <p:sp>
          <p:nvSpPr>
            <p:cNvPr id="136231" name="Line 3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6232" name="Line 3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6233" name="Line 4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6234" name="Line 4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6235" name="Line 4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6236" name="Line 4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6237" name="Line 4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6238" name="Line 4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6239" name="Line 4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6240" name="Line 4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6241" name="Line 4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6242" name="Line 4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6243" name="Line 5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6244" name="Line 5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6245" name="Line 5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6246" name="Group 53"/>
            <p:cNvGrpSpPr/>
            <p:nvPr/>
          </p:nvGrpSpPr>
          <p:grpSpPr>
            <a:xfrm>
              <a:off x="4269" y="1415"/>
              <a:ext cx="392" cy="137"/>
              <a:chOff x="4227" y="1360"/>
              <a:chExt cx="863" cy="270"/>
            </a:xfrm>
          </p:grpSpPr>
          <p:sp>
            <p:nvSpPr>
              <p:cNvPr id="136247" name="Line 5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48" name="Line 5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49" name="Line 5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50" name="Line 5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51" name="Group 58"/>
            <p:cNvGrpSpPr/>
            <p:nvPr/>
          </p:nvGrpSpPr>
          <p:grpSpPr>
            <a:xfrm rot="5700496">
              <a:off x="4050" y="1168"/>
              <a:ext cx="392" cy="137"/>
              <a:chOff x="4227" y="1360"/>
              <a:chExt cx="863" cy="270"/>
            </a:xfrm>
          </p:grpSpPr>
          <p:sp>
            <p:nvSpPr>
              <p:cNvPr id="136252" name="Line 5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53" name="Line 6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54" name="Line 6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55" name="Line 6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56" name="Group 63"/>
            <p:cNvGrpSpPr/>
            <p:nvPr/>
          </p:nvGrpSpPr>
          <p:grpSpPr>
            <a:xfrm rot="10800000">
              <a:off x="3796" y="1402"/>
              <a:ext cx="392" cy="137"/>
              <a:chOff x="4227" y="1360"/>
              <a:chExt cx="863" cy="270"/>
            </a:xfrm>
          </p:grpSpPr>
          <p:sp>
            <p:nvSpPr>
              <p:cNvPr id="136257" name="Line 6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58" name="Line 6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59" name="Line 6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60" name="Line 6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6261" name="Group 68"/>
          <p:cNvGrpSpPr/>
          <p:nvPr/>
        </p:nvGrpSpPr>
        <p:grpSpPr>
          <a:xfrm>
            <a:off x="2678113" y="5554663"/>
            <a:ext cx="242887" cy="485775"/>
            <a:chOff x="3796" y="1043"/>
            <a:chExt cx="865" cy="1237"/>
          </a:xfrm>
        </p:grpSpPr>
        <p:sp>
          <p:nvSpPr>
            <p:cNvPr id="136262" name="Line 6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6263" name="Line 7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6264" name="Line 7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6265" name="Line 7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6266" name="Line 7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6267" name="Line 7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6268" name="Line 7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6269" name="Line 7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6270" name="Line 7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6271" name="Line 7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6272" name="Line 7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6273" name="Line 8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6274" name="Line 8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6275" name="Line 8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6276" name="Line 8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6277" name="Group 84"/>
            <p:cNvGrpSpPr/>
            <p:nvPr/>
          </p:nvGrpSpPr>
          <p:grpSpPr>
            <a:xfrm>
              <a:off x="4269" y="1415"/>
              <a:ext cx="392" cy="137"/>
              <a:chOff x="4227" y="1360"/>
              <a:chExt cx="863" cy="270"/>
            </a:xfrm>
          </p:grpSpPr>
          <p:sp>
            <p:nvSpPr>
              <p:cNvPr id="136278" name="Line 8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79" name="Line 8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80" name="Line 8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81" name="Line 8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82" name="Group 89"/>
            <p:cNvGrpSpPr/>
            <p:nvPr/>
          </p:nvGrpSpPr>
          <p:grpSpPr>
            <a:xfrm rot="5700496">
              <a:off x="4050" y="1168"/>
              <a:ext cx="392" cy="137"/>
              <a:chOff x="4227" y="1360"/>
              <a:chExt cx="863" cy="270"/>
            </a:xfrm>
          </p:grpSpPr>
          <p:sp>
            <p:nvSpPr>
              <p:cNvPr id="136283" name="Line 9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84" name="Line 9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85" name="Line 9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86" name="Line 9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287" name="Group 94"/>
            <p:cNvGrpSpPr/>
            <p:nvPr/>
          </p:nvGrpSpPr>
          <p:grpSpPr>
            <a:xfrm rot="10800000">
              <a:off x="3796" y="1402"/>
              <a:ext cx="392" cy="137"/>
              <a:chOff x="4227" y="1360"/>
              <a:chExt cx="863" cy="270"/>
            </a:xfrm>
          </p:grpSpPr>
          <p:sp>
            <p:nvSpPr>
              <p:cNvPr id="136288" name="Line 9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289" name="Line 9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290" name="Line 9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291" name="Line 9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36292" name="Group 99"/>
          <p:cNvGrpSpPr/>
          <p:nvPr/>
        </p:nvGrpSpPr>
        <p:grpSpPr>
          <a:xfrm>
            <a:off x="1866900" y="4202113"/>
            <a:ext cx="242888" cy="485775"/>
            <a:chOff x="3796" y="1043"/>
            <a:chExt cx="865" cy="1237"/>
          </a:xfrm>
        </p:grpSpPr>
        <p:sp>
          <p:nvSpPr>
            <p:cNvPr id="136293" name="Line 10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6294" name="Line 10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6295" name="Line 10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6296" name="Line 10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6297" name="Line 10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6298" name="Line 10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6299" name="Line 10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6300" name="Line 10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6301" name="Line 10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6302" name="Line 10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6303" name="Line 11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6304" name="Line 11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6305" name="Line 11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6306" name="Line 11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6307" name="Line 11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6308" name="Group 115"/>
            <p:cNvGrpSpPr/>
            <p:nvPr/>
          </p:nvGrpSpPr>
          <p:grpSpPr>
            <a:xfrm>
              <a:off x="4269" y="1415"/>
              <a:ext cx="392" cy="137"/>
              <a:chOff x="4227" y="1360"/>
              <a:chExt cx="863" cy="270"/>
            </a:xfrm>
          </p:grpSpPr>
          <p:sp>
            <p:nvSpPr>
              <p:cNvPr id="136309" name="Line 11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310" name="Line 11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311" name="Line 11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312" name="Line 11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313" name="Group 120"/>
            <p:cNvGrpSpPr/>
            <p:nvPr/>
          </p:nvGrpSpPr>
          <p:grpSpPr>
            <a:xfrm rot="5700496">
              <a:off x="4050" y="1168"/>
              <a:ext cx="392" cy="137"/>
              <a:chOff x="4227" y="1360"/>
              <a:chExt cx="863" cy="270"/>
            </a:xfrm>
          </p:grpSpPr>
          <p:sp>
            <p:nvSpPr>
              <p:cNvPr id="136314" name="Line 12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315" name="Line 12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316" name="Line 12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317" name="Line 12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6318" name="Group 125"/>
            <p:cNvGrpSpPr/>
            <p:nvPr/>
          </p:nvGrpSpPr>
          <p:grpSpPr>
            <a:xfrm rot="10800000">
              <a:off x="3796" y="1402"/>
              <a:ext cx="392" cy="137"/>
              <a:chOff x="4227" y="1360"/>
              <a:chExt cx="863" cy="270"/>
            </a:xfrm>
          </p:grpSpPr>
          <p:sp>
            <p:nvSpPr>
              <p:cNvPr id="136319" name="Line 12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6320" name="Line 12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6321" name="Line 12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6322" name="Line 12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6323" name="Line 130"/>
          <p:cNvSpPr/>
          <p:nvPr/>
        </p:nvSpPr>
        <p:spPr>
          <a:xfrm flipV="1">
            <a:off x="3636963" y="4645025"/>
            <a:ext cx="501650" cy="838200"/>
          </a:xfrm>
          <a:prstGeom prst="line">
            <a:avLst/>
          </a:prstGeom>
          <a:ln w="9525" cap="flat" cmpd="sng">
            <a:solidFill>
              <a:schemeClr val="tx1"/>
            </a:solidFill>
            <a:prstDash val="solid"/>
            <a:round/>
            <a:headEnd type="none" w="med" len="med"/>
            <a:tailEnd type="none" w="med" len="med"/>
          </a:ln>
        </p:spPr>
      </p:sp>
      <p:sp>
        <p:nvSpPr>
          <p:cNvPr id="136324" name="Line 131"/>
          <p:cNvSpPr/>
          <p:nvPr/>
        </p:nvSpPr>
        <p:spPr>
          <a:xfrm flipV="1">
            <a:off x="2851150" y="4645025"/>
            <a:ext cx="850900" cy="1327150"/>
          </a:xfrm>
          <a:prstGeom prst="line">
            <a:avLst/>
          </a:prstGeom>
          <a:ln w="9525" cap="flat" cmpd="sng">
            <a:solidFill>
              <a:schemeClr val="tx1"/>
            </a:solidFill>
            <a:prstDash val="solid"/>
            <a:round/>
            <a:headEnd type="none" w="med" len="med"/>
            <a:tailEnd type="none" w="med" len="med"/>
          </a:ln>
        </p:spPr>
      </p:sp>
      <p:sp>
        <p:nvSpPr>
          <p:cNvPr id="136325" name="Line 132"/>
          <p:cNvSpPr/>
          <p:nvPr/>
        </p:nvSpPr>
        <p:spPr>
          <a:xfrm flipV="1">
            <a:off x="2825750" y="4645025"/>
            <a:ext cx="823913" cy="463550"/>
          </a:xfrm>
          <a:prstGeom prst="line">
            <a:avLst/>
          </a:prstGeom>
          <a:ln w="9525" cap="flat" cmpd="sng">
            <a:solidFill>
              <a:schemeClr val="tx1"/>
            </a:solidFill>
            <a:prstDash val="solid"/>
            <a:round/>
            <a:headEnd type="none" w="med" len="med"/>
            <a:tailEnd type="none" w="med" len="med"/>
          </a:ln>
        </p:spPr>
      </p:sp>
      <p:sp>
        <p:nvSpPr>
          <p:cNvPr id="136326" name="Line 133"/>
          <p:cNvSpPr/>
          <p:nvPr/>
        </p:nvSpPr>
        <p:spPr>
          <a:xfrm flipV="1">
            <a:off x="2052638" y="4452938"/>
            <a:ext cx="1519237" cy="179387"/>
          </a:xfrm>
          <a:prstGeom prst="line">
            <a:avLst/>
          </a:prstGeom>
          <a:ln w="9525" cap="flat" cmpd="sng">
            <a:solidFill>
              <a:schemeClr val="tx1"/>
            </a:solidFill>
            <a:prstDash val="solid"/>
            <a:round/>
            <a:headEnd type="none" w="med" len="med"/>
            <a:tailEnd type="none" w="med" len="med"/>
          </a:ln>
        </p:spPr>
      </p:sp>
      <p:sp>
        <p:nvSpPr>
          <p:cNvPr id="136327" name="Freeform 134"/>
          <p:cNvSpPr/>
          <p:nvPr/>
        </p:nvSpPr>
        <p:spPr>
          <a:xfrm>
            <a:off x="5029200" y="2590800"/>
            <a:ext cx="2046288" cy="2328863"/>
          </a:xfrm>
          <a:custGeom>
            <a:avLst/>
            <a:gdLst/>
            <a:ahLst/>
            <a:cxnLst>
              <a:cxn ang="0">
                <a:pos x="599524372" y="24105124"/>
              </a:cxn>
              <a:cxn ang="0">
                <a:pos x="87795575" y="540630236"/>
              </a:cxn>
              <a:cxn ang="0">
                <a:pos x="72746172" y="1800951510"/>
              </a:cxn>
              <a:cxn ang="0">
                <a:pos x="132948535" y="2147483646"/>
              </a:cxn>
              <a:cxn ang="0">
                <a:pos x="614573775" y="2147483646"/>
              </a:cxn>
              <a:cxn ang="0">
                <a:pos x="1622978800" y="2147483646"/>
              </a:cxn>
              <a:cxn ang="0">
                <a:pos x="2147483646" y="2147483646"/>
              </a:cxn>
              <a:cxn ang="0">
                <a:pos x="2147483646" y="2147483646"/>
              </a:cxn>
              <a:cxn ang="0">
                <a:pos x="2147483646" y="1532358452"/>
              </a:cxn>
              <a:cxn ang="0">
                <a:pos x="2147483646" y="726579277"/>
              </a:cxn>
              <a:cxn ang="0">
                <a:pos x="1878842407" y="396003205"/>
              </a:cxn>
              <a:cxn ang="0">
                <a:pos x="599524372" y="24105124"/>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136328" name="Text Box 135"/>
          <p:cNvSpPr txBox="1"/>
          <p:nvPr/>
        </p:nvSpPr>
        <p:spPr>
          <a:xfrm>
            <a:off x="5973763" y="3668713"/>
            <a:ext cx="1314450" cy="942975"/>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Public switched </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telephone</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network </a:t>
            </a:r>
            <a:endParaRPr lang="en-US" altLang="zh-CN" sz="1400" dirty="0">
              <a:latin typeface="Arial" panose="020B0604020202020204" pitchFamily="34" charset="0"/>
              <a:ea typeface="宋体" panose="02010600030101010101" pitchFamily="2" charset="-122"/>
            </a:endParaRPr>
          </a:p>
        </p:txBody>
      </p:sp>
      <p:pic>
        <p:nvPicPr>
          <p:cNvPr id="136329" name="Picture 137"/>
          <p:cNvPicPr>
            <a:picLocks noChangeAspect="1"/>
          </p:cNvPicPr>
          <p:nvPr/>
        </p:nvPicPr>
        <p:blipFill>
          <a:blip r:embed="rId1"/>
          <a:stretch>
            <a:fillRect/>
          </a:stretch>
        </p:blipFill>
        <p:spPr>
          <a:xfrm>
            <a:off x="2847975" y="4673600"/>
            <a:ext cx="252413" cy="182563"/>
          </a:xfrm>
          <a:prstGeom prst="rect">
            <a:avLst/>
          </a:prstGeom>
          <a:noFill/>
          <a:ln w="9525">
            <a:noFill/>
          </a:ln>
        </p:spPr>
      </p:pic>
      <p:pic>
        <p:nvPicPr>
          <p:cNvPr id="136330" name="Picture 138"/>
          <p:cNvPicPr>
            <a:picLocks noChangeAspect="1"/>
          </p:cNvPicPr>
          <p:nvPr/>
        </p:nvPicPr>
        <p:blipFill>
          <a:blip r:embed="rId1"/>
          <a:stretch>
            <a:fillRect/>
          </a:stretch>
        </p:blipFill>
        <p:spPr>
          <a:xfrm>
            <a:off x="2378075" y="5753100"/>
            <a:ext cx="252413" cy="182563"/>
          </a:xfrm>
          <a:prstGeom prst="rect">
            <a:avLst/>
          </a:prstGeom>
          <a:noFill/>
          <a:ln w="9525">
            <a:noFill/>
          </a:ln>
        </p:spPr>
      </p:pic>
      <p:pic>
        <p:nvPicPr>
          <p:cNvPr id="136331" name="Picture 139"/>
          <p:cNvPicPr>
            <a:picLocks noChangeAspect="1"/>
          </p:cNvPicPr>
          <p:nvPr/>
        </p:nvPicPr>
        <p:blipFill>
          <a:blip r:embed="rId1"/>
          <a:stretch>
            <a:fillRect/>
          </a:stretch>
        </p:blipFill>
        <p:spPr>
          <a:xfrm>
            <a:off x="2327275" y="4876800"/>
            <a:ext cx="252413" cy="182563"/>
          </a:xfrm>
          <a:prstGeom prst="rect">
            <a:avLst/>
          </a:prstGeom>
          <a:noFill/>
          <a:ln w="9525">
            <a:noFill/>
          </a:ln>
        </p:spPr>
      </p:pic>
      <p:grpSp>
        <p:nvGrpSpPr>
          <p:cNvPr id="136332" name="Group 140"/>
          <p:cNvGrpSpPr/>
          <p:nvPr/>
        </p:nvGrpSpPr>
        <p:grpSpPr>
          <a:xfrm>
            <a:off x="1404938" y="5129213"/>
            <a:ext cx="1441450" cy="346075"/>
            <a:chOff x="3072" y="739"/>
            <a:chExt cx="652" cy="146"/>
          </a:xfrm>
        </p:grpSpPr>
        <p:pic>
          <p:nvPicPr>
            <p:cNvPr id="136333" name="Picture 141"/>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136334" name="Line 142"/>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136335" name="Line 143"/>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sp>
        <p:nvSpPr>
          <p:cNvPr id="136336" name="Line 144"/>
          <p:cNvSpPr/>
          <p:nvPr/>
        </p:nvSpPr>
        <p:spPr>
          <a:xfrm flipV="1">
            <a:off x="4541838" y="4083050"/>
            <a:ext cx="508000" cy="254000"/>
          </a:xfrm>
          <a:prstGeom prst="line">
            <a:avLst/>
          </a:prstGeom>
          <a:ln w="9525" cap="flat" cmpd="sng">
            <a:solidFill>
              <a:schemeClr val="tx1"/>
            </a:solidFill>
            <a:prstDash val="solid"/>
            <a:round/>
            <a:headEnd type="none" w="med" len="med"/>
            <a:tailEnd type="none" w="med" len="med"/>
          </a:ln>
        </p:spPr>
      </p:sp>
      <p:sp>
        <p:nvSpPr>
          <p:cNvPr id="136337" name="Text Box 145"/>
          <p:cNvSpPr txBox="1"/>
          <p:nvPr/>
        </p:nvSpPr>
        <p:spPr>
          <a:xfrm>
            <a:off x="1490663" y="5389563"/>
            <a:ext cx="706437" cy="517525"/>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mobile</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user</a:t>
            </a:r>
            <a:endParaRPr lang="en-US" altLang="zh-CN" sz="1400" dirty="0">
              <a:latin typeface="Arial" panose="020B0604020202020204" pitchFamily="34" charset="0"/>
              <a:ea typeface="宋体" panose="02010600030101010101" pitchFamily="2" charset="-122"/>
            </a:endParaRPr>
          </a:p>
        </p:txBody>
      </p:sp>
      <p:sp>
        <p:nvSpPr>
          <p:cNvPr id="136338" name="Freeform 146"/>
          <p:cNvSpPr/>
          <p:nvPr/>
        </p:nvSpPr>
        <p:spPr>
          <a:xfrm>
            <a:off x="2336800" y="1295400"/>
            <a:ext cx="2236788" cy="1863725"/>
          </a:xfrm>
          <a:custGeom>
            <a:avLst/>
            <a:gdLst/>
            <a:ahLst/>
            <a:cxnLst>
              <a:cxn ang="0">
                <a:pos x="766735404" y="16206519"/>
              </a:cxn>
              <a:cxn ang="0">
                <a:pos x="112956869" y="380852368"/>
              </a:cxn>
              <a:cxn ang="0">
                <a:pos x="92418752" y="1272209254"/>
              </a:cxn>
              <a:cxn ang="0">
                <a:pos x="171146659" y="2017707472"/>
              </a:cxn>
              <a:cxn ang="0">
                <a:pos x="510015416" y="2147483646"/>
              </a:cxn>
              <a:cxn ang="0">
                <a:pos x="1605351443" y="2147483646"/>
              </a:cxn>
              <a:cxn ang="0">
                <a:pos x="2147483646" y="2147483646"/>
              </a:cxn>
              <a:cxn ang="0">
                <a:pos x="2147483646" y="2147483646"/>
              </a:cxn>
              <a:cxn ang="0">
                <a:pos x="2147483646" y="1083133202"/>
              </a:cxn>
              <a:cxn ang="0">
                <a:pos x="2147483646" y="513204783"/>
              </a:cxn>
              <a:cxn ang="0">
                <a:pos x="2147483646" y="280912991"/>
              </a:cxn>
              <a:cxn ang="0">
                <a:pos x="766735404" y="16206519"/>
              </a:cxn>
            </a:cxnLst>
            <a:pathLst>
              <a:path w="1209" h="1134">
                <a:moveTo>
                  <a:pt x="224" y="6"/>
                </a:moveTo>
                <a:cubicBezTo>
                  <a:pt x="112" y="13"/>
                  <a:pt x="66" y="64"/>
                  <a:pt x="33" y="141"/>
                </a:cubicBezTo>
                <a:cubicBezTo>
                  <a:pt x="0" y="219"/>
                  <a:pt x="24" y="370"/>
                  <a:pt x="27" y="471"/>
                </a:cubicBezTo>
                <a:cubicBezTo>
                  <a:pt x="30" y="572"/>
                  <a:pt x="30" y="664"/>
                  <a:pt x="50" y="747"/>
                </a:cubicBezTo>
                <a:cubicBezTo>
                  <a:pt x="70" y="830"/>
                  <a:pt x="79" y="924"/>
                  <a:pt x="149" y="972"/>
                </a:cubicBezTo>
                <a:cubicBezTo>
                  <a:pt x="219" y="1020"/>
                  <a:pt x="339" y="1012"/>
                  <a:pt x="469" y="1036"/>
                </a:cubicBezTo>
                <a:cubicBezTo>
                  <a:pt x="599" y="1060"/>
                  <a:pt x="822" y="1134"/>
                  <a:pt x="931" y="1115"/>
                </a:cubicBezTo>
                <a:cubicBezTo>
                  <a:pt x="1040" y="1096"/>
                  <a:pt x="1079" y="1039"/>
                  <a:pt x="1122" y="920"/>
                </a:cubicBezTo>
                <a:cubicBezTo>
                  <a:pt x="1165" y="801"/>
                  <a:pt x="1188" y="523"/>
                  <a:pt x="1189" y="401"/>
                </a:cubicBezTo>
                <a:cubicBezTo>
                  <a:pt x="1190" y="279"/>
                  <a:pt x="1209" y="240"/>
                  <a:pt x="1128" y="190"/>
                </a:cubicBezTo>
                <a:cubicBezTo>
                  <a:pt x="1046" y="141"/>
                  <a:pt x="850" y="135"/>
                  <a:pt x="701" y="104"/>
                </a:cubicBezTo>
                <a:cubicBezTo>
                  <a:pt x="552" y="72"/>
                  <a:pt x="335" y="0"/>
                  <a:pt x="224" y="6"/>
                </a:cubicBezTo>
                <a:close/>
              </a:path>
            </a:pathLst>
          </a:custGeom>
          <a:solidFill>
            <a:srgbClr val="00FFFF"/>
          </a:solidFill>
          <a:ln w="9525">
            <a:noFill/>
          </a:ln>
        </p:spPr>
        <p:txBody>
          <a:bodyPr/>
          <a:p>
            <a:endParaRPr lang="zh-CN" altLang="en-US"/>
          </a:p>
        </p:txBody>
      </p:sp>
      <p:grpSp>
        <p:nvGrpSpPr>
          <p:cNvPr id="136339" name="Group 147"/>
          <p:cNvGrpSpPr/>
          <p:nvPr/>
        </p:nvGrpSpPr>
        <p:grpSpPr>
          <a:xfrm>
            <a:off x="3190875" y="2030413"/>
            <a:ext cx="1143000" cy="942975"/>
            <a:chOff x="661" y="883"/>
            <a:chExt cx="720" cy="594"/>
          </a:xfrm>
        </p:grpSpPr>
        <p:grpSp>
          <p:nvGrpSpPr>
            <p:cNvPr id="136340" name="Group 148"/>
            <p:cNvGrpSpPr/>
            <p:nvPr/>
          </p:nvGrpSpPr>
          <p:grpSpPr>
            <a:xfrm>
              <a:off x="718" y="912"/>
              <a:ext cx="621" cy="562"/>
              <a:chOff x="3164" y="2556"/>
              <a:chExt cx="901" cy="338"/>
            </a:xfrm>
          </p:grpSpPr>
          <p:sp>
            <p:nvSpPr>
              <p:cNvPr id="136341" name="Rectangle 149"/>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42" name="Text Box 150"/>
              <p:cNvSpPr txBox="1"/>
              <p:nvPr/>
            </p:nvSpPr>
            <p:spPr>
              <a:xfrm>
                <a:off x="3212" y="2573"/>
                <a:ext cx="168" cy="139"/>
              </a:xfrm>
              <a:prstGeom prst="rect">
                <a:avLst/>
              </a:prstGeom>
              <a:solidFill>
                <a:schemeClr val="accent1"/>
              </a:solidFill>
              <a:ln w="9525">
                <a:noFill/>
              </a:ln>
            </p:spPr>
            <p:txBody>
              <a:bodyPr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136343" name="Text Box 151"/>
            <p:cNvSpPr txBox="1"/>
            <p:nvPr/>
          </p:nvSpPr>
          <p:spPr>
            <a:xfrm>
              <a:off x="661" y="883"/>
              <a:ext cx="720" cy="594"/>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home</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grpSp>
        <p:nvGrpSpPr>
          <p:cNvPr id="136344" name="Group 152"/>
          <p:cNvGrpSpPr/>
          <p:nvPr/>
        </p:nvGrpSpPr>
        <p:grpSpPr>
          <a:xfrm>
            <a:off x="2500313" y="1403350"/>
            <a:ext cx="636587" cy="493713"/>
            <a:chOff x="3202" y="3056"/>
            <a:chExt cx="401" cy="311"/>
          </a:xfrm>
        </p:grpSpPr>
        <p:sp>
          <p:nvSpPr>
            <p:cNvPr id="136345" name="Oval 153"/>
            <p:cNvSpPr/>
            <p:nvPr/>
          </p:nvSpPr>
          <p:spPr>
            <a:xfrm>
              <a:off x="3203" y="3295"/>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46" name="Line 154"/>
            <p:cNvSpPr/>
            <p:nvPr/>
          </p:nvSpPr>
          <p:spPr>
            <a:xfrm>
              <a:off x="3204" y="3096"/>
              <a:ext cx="0" cy="234"/>
            </a:xfrm>
            <a:prstGeom prst="line">
              <a:avLst/>
            </a:prstGeom>
            <a:ln w="9525" cap="flat" cmpd="sng">
              <a:solidFill>
                <a:schemeClr val="tx1"/>
              </a:solidFill>
              <a:prstDash val="solid"/>
              <a:round/>
              <a:headEnd type="none" w="med" len="med"/>
              <a:tailEnd type="none" w="med" len="med"/>
            </a:ln>
          </p:spPr>
        </p:sp>
        <p:sp>
          <p:nvSpPr>
            <p:cNvPr id="136347" name="Rectangle 155"/>
            <p:cNvSpPr/>
            <p:nvPr/>
          </p:nvSpPr>
          <p:spPr>
            <a:xfrm>
              <a:off x="3210" y="3090"/>
              <a:ext cx="393" cy="234"/>
            </a:xfrm>
            <a:prstGeom prst="rect">
              <a:avLst/>
            </a:prstGeom>
            <a:solidFill>
              <a:schemeClr val="accent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48" name="Oval 156"/>
            <p:cNvSpPr/>
            <p:nvPr/>
          </p:nvSpPr>
          <p:spPr>
            <a:xfrm>
              <a:off x="3202" y="3056"/>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49" name="Line 157"/>
            <p:cNvSpPr/>
            <p:nvPr/>
          </p:nvSpPr>
          <p:spPr>
            <a:xfrm>
              <a:off x="3603" y="3099"/>
              <a:ext cx="0" cy="234"/>
            </a:xfrm>
            <a:prstGeom prst="line">
              <a:avLst/>
            </a:prstGeom>
            <a:ln w="9525" cap="flat" cmpd="sng">
              <a:solidFill>
                <a:schemeClr val="tx1"/>
              </a:solidFill>
              <a:prstDash val="solid"/>
              <a:round/>
              <a:headEnd type="none" w="med" len="med"/>
              <a:tailEnd type="none" w="med" len="med"/>
            </a:ln>
          </p:spPr>
        </p:sp>
        <p:sp>
          <p:nvSpPr>
            <p:cNvPr id="136350" name="Text Box 158"/>
            <p:cNvSpPr txBox="1"/>
            <p:nvPr/>
          </p:nvSpPr>
          <p:spPr>
            <a:xfrm>
              <a:off x="3218" y="3137"/>
              <a:ext cx="371" cy="212"/>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HLR</a:t>
              </a:r>
              <a:endParaRPr lang="en-US" altLang="zh-CN" sz="1600" dirty="0">
                <a:latin typeface="Arial" panose="020B0604020202020204" pitchFamily="34" charset="0"/>
                <a:ea typeface="宋体" panose="02010600030101010101" pitchFamily="2" charset="-122"/>
              </a:endParaRPr>
            </a:p>
          </p:txBody>
        </p:sp>
      </p:grpSp>
      <p:sp>
        <p:nvSpPr>
          <p:cNvPr id="136351" name="Text Box 159"/>
          <p:cNvSpPr txBox="1"/>
          <p:nvPr/>
        </p:nvSpPr>
        <p:spPr>
          <a:xfrm>
            <a:off x="3614738" y="1447800"/>
            <a:ext cx="804862" cy="517525"/>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home </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network</a:t>
            </a:r>
            <a:endParaRPr lang="en-US" altLang="zh-CN" sz="1400" dirty="0">
              <a:latin typeface="Arial" panose="020B0604020202020204" pitchFamily="34" charset="0"/>
              <a:ea typeface="宋体" panose="02010600030101010101" pitchFamily="2" charset="-122"/>
            </a:endParaRPr>
          </a:p>
        </p:txBody>
      </p:sp>
      <p:sp>
        <p:nvSpPr>
          <p:cNvPr id="136352" name="Text Box 160"/>
          <p:cNvSpPr txBox="1"/>
          <p:nvPr/>
        </p:nvSpPr>
        <p:spPr>
          <a:xfrm>
            <a:off x="3294063" y="5922963"/>
            <a:ext cx="804862" cy="517525"/>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visited</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network</a:t>
            </a:r>
            <a:endParaRPr lang="en-US" altLang="zh-CN" sz="1400" dirty="0">
              <a:latin typeface="Arial" panose="020B0604020202020204" pitchFamily="34" charset="0"/>
              <a:ea typeface="宋体" panose="02010600030101010101" pitchFamily="2" charset="-122"/>
            </a:endParaRPr>
          </a:p>
        </p:txBody>
      </p:sp>
      <p:pic>
        <p:nvPicPr>
          <p:cNvPr id="136353" name="Picture 161"/>
          <p:cNvPicPr>
            <a:picLocks noChangeAspect="1"/>
          </p:cNvPicPr>
          <p:nvPr/>
        </p:nvPicPr>
        <p:blipFill>
          <a:blip r:embed="rId3"/>
          <a:stretch>
            <a:fillRect/>
          </a:stretch>
        </p:blipFill>
        <p:spPr>
          <a:xfrm>
            <a:off x="7034213" y="2009775"/>
            <a:ext cx="512762" cy="595313"/>
          </a:xfrm>
          <a:prstGeom prst="rect">
            <a:avLst/>
          </a:prstGeom>
          <a:noFill/>
          <a:ln w="9525">
            <a:noFill/>
          </a:ln>
        </p:spPr>
      </p:pic>
      <p:sp>
        <p:nvSpPr>
          <p:cNvPr id="136354" name="Line 162"/>
          <p:cNvSpPr/>
          <p:nvPr/>
        </p:nvSpPr>
        <p:spPr>
          <a:xfrm flipV="1">
            <a:off x="6827838" y="2546350"/>
            <a:ext cx="393700" cy="406400"/>
          </a:xfrm>
          <a:prstGeom prst="line">
            <a:avLst/>
          </a:prstGeom>
          <a:ln w="9525" cap="flat" cmpd="sng">
            <a:solidFill>
              <a:schemeClr val="tx1"/>
            </a:solidFill>
            <a:prstDash val="solid"/>
            <a:round/>
            <a:headEnd type="none" w="med" len="med"/>
            <a:tailEnd type="none" w="med" len="med"/>
          </a:ln>
        </p:spPr>
      </p:sp>
      <p:sp>
        <p:nvSpPr>
          <p:cNvPr id="136355" name="Text Box 163"/>
          <p:cNvSpPr txBox="1"/>
          <p:nvPr/>
        </p:nvSpPr>
        <p:spPr>
          <a:xfrm>
            <a:off x="6253163" y="1706563"/>
            <a:ext cx="131603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p:txBody>
      </p:sp>
      <p:grpSp>
        <p:nvGrpSpPr>
          <p:cNvPr id="136356" name="Group 172"/>
          <p:cNvGrpSpPr/>
          <p:nvPr/>
        </p:nvGrpSpPr>
        <p:grpSpPr>
          <a:xfrm>
            <a:off x="3559175" y="3986213"/>
            <a:ext cx="987425" cy="730250"/>
            <a:chOff x="2197" y="1155"/>
            <a:chExt cx="622" cy="460"/>
          </a:xfrm>
        </p:grpSpPr>
        <p:grpSp>
          <p:nvGrpSpPr>
            <p:cNvPr id="136357" name="Group 173"/>
            <p:cNvGrpSpPr/>
            <p:nvPr/>
          </p:nvGrpSpPr>
          <p:grpSpPr>
            <a:xfrm>
              <a:off x="2198" y="1176"/>
              <a:ext cx="621" cy="426"/>
              <a:chOff x="3164" y="2556"/>
              <a:chExt cx="901" cy="338"/>
            </a:xfrm>
          </p:grpSpPr>
          <p:sp>
            <p:nvSpPr>
              <p:cNvPr id="136358" name="Rectangle 174"/>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59" name="Text Box 175"/>
              <p:cNvSpPr txBox="1"/>
              <p:nvPr/>
            </p:nvSpPr>
            <p:spPr>
              <a:xfrm>
                <a:off x="3212" y="2573"/>
                <a:ext cx="168" cy="183"/>
              </a:xfrm>
              <a:prstGeom prst="rect">
                <a:avLst/>
              </a:prstGeom>
              <a:solidFill>
                <a:schemeClr val="accent1"/>
              </a:solid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136360" name="Text Box 176"/>
            <p:cNvSpPr txBox="1"/>
            <p:nvPr/>
          </p:nvSpPr>
          <p:spPr>
            <a:xfrm>
              <a:off x="2197" y="1155"/>
              <a:ext cx="616" cy="460"/>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grpSp>
        <p:nvGrpSpPr>
          <p:cNvPr id="136361" name="Group 177"/>
          <p:cNvGrpSpPr/>
          <p:nvPr/>
        </p:nvGrpSpPr>
        <p:grpSpPr>
          <a:xfrm>
            <a:off x="3097213" y="3727450"/>
            <a:ext cx="636587" cy="493713"/>
            <a:chOff x="3202" y="3056"/>
            <a:chExt cx="401" cy="311"/>
          </a:xfrm>
        </p:grpSpPr>
        <p:sp>
          <p:nvSpPr>
            <p:cNvPr id="136362" name="Oval 178"/>
            <p:cNvSpPr/>
            <p:nvPr/>
          </p:nvSpPr>
          <p:spPr>
            <a:xfrm>
              <a:off x="3203" y="3295"/>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63" name="Line 179"/>
            <p:cNvSpPr/>
            <p:nvPr/>
          </p:nvSpPr>
          <p:spPr>
            <a:xfrm>
              <a:off x="3204" y="3096"/>
              <a:ext cx="0" cy="234"/>
            </a:xfrm>
            <a:prstGeom prst="line">
              <a:avLst/>
            </a:prstGeom>
            <a:ln w="9525" cap="flat" cmpd="sng">
              <a:solidFill>
                <a:schemeClr val="tx1"/>
              </a:solidFill>
              <a:prstDash val="solid"/>
              <a:round/>
              <a:headEnd type="none" w="med" len="med"/>
              <a:tailEnd type="none" w="med" len="med"/>
            </a:ln>
          </p:spPr>
        </p:sp>
        <p:sp>
          <p:nvSpPr>
            <p:cNvPr id="136364" name="Rectangle 180"/>
            <p:cNvSpPr/>
            <p:nvPr/>
          </p:nvSpPr>
          <p:spPr>
            <a:xfrm>
              <a:off x="3210" y="3090"/>
              <a:ext cx="393" cy="234"/>
            </a:xfrm>
            <a:prstGeom prst="rect">
              <a:avLst/>
            </a:prstGeom>
            <a:solidFill>
              <a:schemeClr val="accent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65" name="Oval 181"/>
            <p:cNvSpPr/>
            <p:nvPr/>
          </p:nvSpPr>
          <p:spPr>
            <a:xfrm>
              <a:off x="3202" y="3056"/>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66" name="Line 182"/>
            <p:cNvSpPr/>
            <p:nvPr/>
          </p:nvSpPr>
          <p:spPr>
            <a:xfrm>
              <a:off x="3603" y="3099"/>
              <a:ext cx="0" cy="234"/>
            </a:xfrm>
            <a:prstGeom prst="line">
              <a:avLst/>
            </a:prstGeom>
            <a:ln w="9525" cap="flat" cmpd="sng">
              <a:solidFill>
                <a:schemeClr val="tx1"/>
              </a:solidFill>
              <a:prstDash val="solid"/>
              <a:round/>
              <a:headEnd type="none" w="med" len="med"/>
              <a:tailEnd type="none" w="med" len="med"/>
            </a:ln>
          </p:spPr>
        </p:sp>
        <p:sp>
          <p:nvSpPr>
            <p:cNvPr id="136367" name="Text Box 183"/>
            <p:cNvSpPr txBox="1"/>
            <p:nvPr/>
          </p:nvSpPr>
          <p:spPr>
            <a:xfrm>
              <a:off x="3218" y="3137"/>
              <a:ext cx="364" cy="212"/>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VLR</a:t>
              </a:r>
              <a:endParaRPr lang="en-US" altLang="zh-CN" sz="1600" dirty="0">
                <a:latin typeface="Arial" panose="020B0604020202020204" pitchFamily="34" charset="0"/>
                <a:ea typeface="宋体" panose="02010600030101010101" pitchFamily="2" charset="-122"/>
              </a:endParaRPr>
            </a:p>
          </p:txBody>
        </p:sp>
      </p:grpSp>
      <p:sp>
        <p:nvSpPr>
          <p:cNvPr id="136368" name="Rectangle 187"/>
          <p:cNvSpPr/>
          <p:nvPr/>
        </p:nvSpPr>
        <p:spPr>
          <a:xfrm>
            <a:off x="503238" y="214313"/>
            <a:ext cx="7772400" cy="11430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GSM: indirect routing to mobile</a:t>
            </a:r>
            <a:endParaRPr lang="en-US" altLang="zh-CN" sz="3200" u="sng" dirty="0">
              <a:solidFill>
                <a:schemeClr val="accent2"/>
              </a:solidFill>
              <a:latin typeface="Comic Sans MS" panose="030F0702030302020204" pitchFamily="66" charset="0"/>
              <a:ea typeface="宋体" panose="02010600030101010101" pitchFamily="2" charset="-122"/>
            </a:endParaRPr>
          </a:p>
        </p:txBody>
      </p:sp>
      <p:grpSp>
        <p:nvGrpSpPr>
          <p:cNvPr id="453822" name="Group 190"/>
          <p:cNvGrpSpPr/>
          <p:nvPr/>
        </p:nvGrpSpPr>
        <p:grpSpPr>
          <a:xfrm>
            <a:off x="4070350" y="2559050"/>
            <a:ext cx="4800600" cy="1274763"/>
            <a:chOff x="2564" y="1612"/>
            <a:chExt cx="3024" cy="803"/>
          </a:xfrm>
        </p:grpSpPr>
        <p:sp>
          <p:nvSpPr>
            <p:cNvPr id="136370" name="Freeform 164"/>
            <p:cNvSpPr/>
            <p:nvPr/>
          </p:nvSpPr>
          <p:spPr>
            <a:xfrm>
              <a:off x="2564" y="1612"/>
              <a:ext cx="1825" cy="571"/>
            </a:xfrm>
            <a:custGeom>
              <a:avLst/>
              <a:gdLst/>
              <a:ahLst/>
              <a:cxnLst>
                <a:cxn ang="0">
                  <a:pos x="1825" y="0"/>
                </a:cxn>
                <a:cxn ang="0">
                  <a:pos x="1409" y="480"/>
                </a:cxn>
                <a:cxn ang="0">
                  <a:pos x="905" y="544"/>
                </a:cxn>
                <a:cxn ang="0">
                  <a:pos x="425" y="424"/>
                </a:cxn>
                <a:cxn ang="0">
                  <a:pos x="153" y="200"/>
                </a:cxn>
                <a:cxn ang="0">
                  <a:pos x="25" y="208"/>
                </a:cxn>
                <a:cxn ang="0">
                  <a:pos x="1" y="280"/>
                </a:cxn>
              </a:cxnLst>
              <a:pathLst>
                <a:path w="1825" h="571">
                  <a:moveTo>
                    <a:pt x="1825" y="0"/>
                  </a:moveTo>
                  <a:cubicBezTo>
                    <a:pt x="1756" y="80"/>
                    <a:pt x="1562" y="389"/>
                    <a:pt x="1409" y="480"/>
                  </a:cubicBezTo>
                  <a:cubicBezTo>
                    <a:pt x="1256" y="571"/>
                    <a:pt x="1069" y="553"/>
                    <a:pt x="905" y="544"/>
                  </a:cubicBezTo>
                  <a:cubicBezTo>
                    <a:pt x="741" y="535"/>
                    <a:pt x="550" y="481"/>
                    <a:pt x="425" y="424"/>
                  </a:cubicBezTo>
                  <a:cubicBezTo>
                    <a:pt x="300" y="367"/>
                    <a:pt x="220" y="236"/>
                    <a:pt x="153" y="200"/>
                  </a:cubicBezTo>
                  <a:cubicBezTo>
                    <a:pt x="86" y="164"/>
                    <a:pt x="50" y="195"/>
                    <a:pt x="25" y="208"/>
                  </a:cubicBezTo>
                  <a:cubicBezTo>
                    <a:pt x="0" y="221"/>
                    <a:pt x="6" y="265"/>
                    <a:pt x="1" y="28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36371" name="Group 165"/>
            <p:cNvGrpSpPr/>
            <p:nvPr/>
          </p:nvGrpSpPr>
          <p:grpSpPr>
            <a:xfrm>
              <a:off x="3619" y="2058"/>
              <a:ext cx="202" cy="231"/>
              <a:chOff x="618" y="3500"/>
              <a:chExt cx="202" cy="231"/>
            </a:xfrm>
          </p:grpSpPr>
          <p:sp>
            <p:nvSpPr>
              <p:cNvPr id="136372" name="Oval 166"/>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73" name="Text Box 167"/>
              <p:cNvSpPr txBox="1"/>
              <p:nvPr/>
            </p:nvSpPr>
            <p:spPr>
              <a:xfrm>
                <a:off x="628" y="3500"/>
                <a:ext cx="181"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1</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36374" name="Text Box 188"/>
            <p:cNvSpPr txBox="1"/>
            <p:nvPr/>
          </p:nvSpPr>
          <p:spPr>
            <a:xfrm>
              <a:off x="4408" y="2011"/>
              <a:ext cx="1180" cy="404"/>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call routed </a:t>
              </a:r>
              <a:endParaRPr lang="en-US" altLang="zh-CN" dirty="0">
                <a:latin typeface="Arial" panose="020B0604020202020204" pitchFamily="34" charset="0"/>
                <a:ea typeface="宋体" panose="02010600030101010101" pitchFamily="2" charset="-122"/>
              </a:endParaRPr>
            </a:p>
            <a:p>
              <a:pPr eaLnBrk="0" hangingPunct="0">
                <a:buClrTx/>
                <a:buFontTx/>
              </a:pPr>
              <a:r>
                <a:rPr lang="en-US" altLang="zh-CN" dirty="0">
                  <a:latin typeface="Arial" panose="020B0604020202020204" pitchFamily="34" charset="0"/>
                  <a:ea typeface="宋体" panose="02010600030101010101" pitchFamily="2" charset="-122"/>
                </a:rPr>
                <a:t>to home network</a:t>
              </a:r>
              <a:endParaRPr lang="en-US" altLang="zh-CN" dirty="0">
                <a:latin typeface="Arial" panose="020B0604020202020204" pitchFamily="34" charset="0"/>
                <a:ea typeface="宋体" panose="02010600030101010101" pitchFamily="2" charset="-122"/>
              </a:endParaRPr>
            </a:p>
          </p:txBody>
        </p:sp>
        <p:sp>
          <p:nvSpPr>
            <p:cNvPr id="136375" name="Line 189"/>
            <p:cNvSpPr/>
            <p:nvPr/>
          </p:nvSpPr>
          <p:spPr>
            <a:xfrm flipV="1">
              <a:off x="3872" y="2127"/>
              <a:ext cx="568" cy="63"/>
            </a:xfrm>
            <a:prstGeom prst="line">
              <a:avLst/>
            </a:prstGeom>
            <a:ln w="9525" cap="flat" cmpd="sng">
              <a:solidFill>
                <a:schemeClr val="tx1"/>
              </a:solidFill>
              <a:prstDash val="solid"/>
              <a:round/>
              <a:headEnd type="none" w="med" len="med"/>
              <a:tailEnd type="none" w="med" len="med"/>
            </a:ln>
          </p:spPr>
        </p:sp>
      </p:grpSp>
      <p:grpSp>
        <p:nvGrpSpPr>
          <p:cNvPr id="453825" name="Group 193"/>
          <p:cNvGrpSpPr/>
          <p:nvPr/>
        </p:nvGrpSpPr>
        <p:grpSpPr>
          <a:xfrm>
            <a:off x="273050" y="1819275"/>
            <a:ext cx="3068638" cy="1400175"/>
            <a:chOff x="172" y="1146"/>
            <a:chExt cx="1933" cy="882"/>
          </a:xfrm>
        </p:grpSpPr>
        <p:grpSp>
          <p:nvGrpSpPr>
            <p:cNvPr id="136377" name="Group 184"/>
            <p:cNvGrpSpPr/>
            <p:nvPr/>
          </p:nvGrpSpPr>
          <p:grpSpPr>
            <a:xfrm>
              <a:off x="1891" y="1146"/>
              <a:ext cx="214" cy="231"/>
              <a:chOff x="618" y="3500"/>
              <a:chExt cx="214" cy="231"/>
            </a:xfrm>
          </p:grpSpPr>
          <p:sp>
            <p:nvSpPr>
              <p:cNvPr id="136378" name="Oval 185"/>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79" name="Text Box 186"/>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2</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36380" name="Text Box 191"/>
            <p:cNvSpPr txBox="1"/>
            <p:nvPr/>
          </p:nvSpPr>
          <p:spPr>
            <a:xfrm>
              <a:off x="172" y="1508"/>
              <a:ext cx="1588" cy="520"/>
            </a:xfrm>
            <a:prstGeom prst="rect">
              <a:avLst/>
            </a:prstGeom>
            <a:noFill/>
            <a:ln w="9525">
              <a:noFill/>
            </a:ln>
          </p:spPr>
          <p:txBody>
            <a:bodyPr wrap="none" anchor="t" anchorCtr="0">
              <a:spAutoFit/>
            </a:bodyPr>
            <a:p>
              <a:pPr eaLnBrk="0" hangingPunct="0">
                <a:buClrTx/>
                <a:buFontTx/>
              </a:pPr>
              <a:r>
                <a:rPr lang="en-US" altLang="zh-CN" sz="1600" dirty="0">
                  <a:latin typeface="Arial" panose="020B0604020202020204" pitchFamily="34" charset="0"/>
                  <a:ea typeface="宋体" panose="02010600030101010101" pitchFamily="2" charset="-122"/>
                </a:rPr>
                <a:t>home MSC consults HLR,</a:t>
              </a:r>
              <a:endParaRPr lang="en-US" altLang="zh-CN" sz="1600" dirty="0">
                <a:latin typeface="Arial" panose="020B0604020202020204" pitchFamily="34" charset="0"/>
                <a:ea typeface="宋体" panose="02010600030101010101" pitchFamily="2" charset="-122"/>
              </a:endParaRPr>
            </a:p>
            <a:p>
              <a:pPr eaLnBrk="0" hangingPunct="0">
                <a:buClrTx/>
                <a:buFontTx/>
              </a:pPr>
              <a:r>
                <a:rPr lang="en-US" altLang="zh-CN" sz="1600" dirty="0">
                  <a:latin typeface="Arial" panose="020B0604020202020204" pitchFamily="34" charset="0"/>
                  <a:ea typeface="宋体" panose="02010600030101010101" pitchFamily="2" charset="-122"/>
                </a:rPr>
                <a:t>gets roaming number of</a:t>
              </a:r>
              <a:endParaRPr lang="en-US" altLang="zh-CN" sz="1600" dirty="0">
                <a:latin typeface="Arial" panose="020B0604020202020204" pitchFamily="34" charset="0"/>
                <a:ea typeface="宋体" panose="02010600030101010101" pitchFamily="2" charset="-122"/>
              </a:endParaRPr>
            </a:p>
            <a:p>
              <a:pPr eaLnBrk="0" hangingPunct="0">
                <a:buClrTx/>
                <a:buFontTx/>
              </a:pPr>
              <a:r>
                <a:rPr lang="en-US" altLang="zh-CN" sz="1600" dirty="0">
                  <a:latin typeface="Arial" panose="020B0604020202020204" pitchFamily="34" charset="0"/>
                  <a:ea typeface="宋体" panose="02010600030101010101" pitchFamily="2" charset="-122"/>
                </a:rPr>
                <a:t>mobile in visited network</a:t>
              </a:r>
              <a:endParaRPr lang="en-US" altLang="zh-CN" sz="1600" dirty="0">
                <a:latin typeface="Arial" panose="020B0604020202020204" pitchFamily="34" charset="0"/>
                <a:ea typeface="宋体" panose="02010600030101010101" pitchFamily="2" charset="-122"/>
              </a:endParaRPr>
            </a:p>
          </p:txBody>
        </p:sp>
        <p:sp>
          <p:nvSpPr>
            <p:cNvPr id="136381" name="Line 192"/>
            <p:cNvSpPr/>
            <p:nvPr/>
          </p:nvSpPr>
          <p:spPr>
            <a:xfrm flipV="1">
              <a:off x="1709" y="1373"/>
              <a:ext cx="182" cy="173"/>
            </a:xfrm>
            <a:prstGeom prst="line">
              <a:avLst/>
            </a:prstGeom>
            <a:ln w="9525" cap="flat" cmpd="sng">
              <a:solidFill>
                <a:schemeClr val="tx1"/>
              </a:solidFill>
              <a:prstDash val="solid"/>
              <a:round/>
              <a:headEnd type="none" w="med" len="med"/>
              <a:tailEnd type="none" w="med" len="med"/>
            </a:ln>
          </p:spPr>
        </p:sp>
      </p:grpSp>
      <p:grpSp>
        <p:nvGrpSpPr>
          <p:cNvPr id="453833" name="Group 201"/>
          <p:cNvGrpSpPr/>
          <p:nvPr/>
        </p:nvGrpSpPr>
        <p:grpSpPr>
          <a:xfrm>
            <a:off x="4097338" y="3016250"/>
            <a:ext cx="4338637" cy="2447925"/>
            <a:chOff x="2581" y="1900"/>
            <a:chExt cx="2733" cy="1542"/>
          </a:xfrm>
        </p:grpSpPr>
        <p:sp>
          <p:nvSpPr>
            <p:cNvPr id="136383" name="Freeform 168"/>
            <p:cNvSpPr/>
            <p:nvPr/>
          </p:nvSpPr>
          <p:spPr>
            <a:xfrm>
              <a:off x="2581" y="1900"/>
              <a:ext cx="666" cy="721"/>
            </a:xfrm>
            <a:custGeom>
              <a:avLst/>
              <a:gdLst/>
              <a:ahLst/>
              <a:cxnLst>
                <a:cxn ang="0">
                  <a:pos x="0" y="0"/>
                </a:cxn>
                <a:cxn ang="0">
                  <a:pos x="552" y="336"/>
                </a:cxn>
                <a:cxn ang="0">
                  <a:pos x="624" y="560"/>
                </a:cxn>
                <a:cxn ang="0">
                  <a:pos x="299" y="721"/>
                </a:cxn>
              </a:cxnLst>
              <a:pathLst>
                <a:path w="666" h="721">
                  <a:moveTo>
                    <a:pt x="0" y="0"/>
                  </a:moveTo>
                  <a:cubicBezTo>
                    <a:pt x="92" y="56"/>
                    <a:pt x="448" y="243"/>
                    <a:pt x="552" y="336"/>
                  </a:cubicBezTo>
                  <a:cubicBezTo>
                    <a:pt x="656" y="429"/>
                    <a:pt x="666" y="496"/>
                    <a:pt x="624" y="560"/>
                  </a:cubicBezTo>
                  <a:cubicBezTo>
                    <a:pt x="582" y="624"/>
                    <a:pt x="367" y="688"/>
                    <a:pt x="299" y="721"/>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36384" name="Group 169"/>
            <p:cNvGrpSpPr/>
            <p:nvPr/>
          </p:nvGrpSpPr>
          <p:grpSpPr>
            <a:xfrm>
              <a:off x="3131" y="2274"/>
              <a:ext cx="214" cy="231"/>
              <a:chOff x="618" y="3500"/>
              <a:chExt cx="214" cy="231"/>
            </a:xfrm>
          </p:grpSpPr>
          <p:sp>
            <p:nvSpPr>
              <p:cNvPr id="136385" name="Oval 170"/>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86" name="Text Box 171"/>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3</a:t>
                </a:r>
                <a:endParaRPr lang="en-US" altLang="zh-CN" dirty="0">
                  <a:solidFill>
                    <a:srgbClr val="FF0000"/>
                  </a:solidFill>
                  <a:latin typeface="Comic Sans MS" panose="030F0702030302020204" pitchFamily="66" charset="0"/>
                  <a:ea typeface="宋体" panose="02010600030101010101" pitchFamily="2" charset="-122"/>
                </a:endParaRPr>
              </a:p>
            </p:txBody>
          </p:sp>
        </p:grpSp>
        <p:sp>
          <p:nvSpPr>
            <p:cNvPr id="136387" name="Text Box 194"/>
            <p:cNvSpPr txBox="1"/>
            <p:nvPr/>
          </p:nvSpPr>
          <p:spPr>
            <a:xfrm>
              <a:off x="3100" y="3038"/>
              <a:ext cx="2214" cy="404"/>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home MSC sets up 2</a:t>
              </a:r>
              <a:r>
                <a:rPr lang="en-US" altLang="zh-CN" baseline="30000" dirty="0">
                  <a:latin typeface="Arial" panose="020B0604020202020204" pitchFamily="34" charset="0"/>
                  <a:ea typeface="宋体" panose="02010600030101010101" pitchFamily="2" charset="-122"/>
                </a:rPr>
                <a:t>nd</a:t>
              </a:r>
              <a:r>
                <a:rPr lang="en-US" altLang="zh-CN" dirty="0">
                  <a:latin typeface="Arial" panose="020B0604020202020204" pitchFamily="34" charset="0"/>
                  <a:ea typeface="宋体" panose="02010600030101010101" pitchFamily="2" charset="-122"/>
                </a:rPr>
                <a:t> leg of call</a:t>
              </a:r>
              <a:endParaRPr lang="en-US" altLang="zh-CN" dirty="0">
                <a:latin typeface="Arial" panose="020B0604020202020204" pitchFamily="34" charset="0"/>
                <a:ea typeface="宋体" panose="02010600030101010101" pitchFamily="2" charset="-122"/>
              </a:endParaRPr>
            </a:p>
            <a:p>
              <a:pPr eaLnBrk="0" hangingPunct="0">
                <a:buClrTx/>
                <a:buFontTx/>
              </a:pPr>
              <a:r>
                <a:rPr lang="en-US" altLang="zh-CN" dirty="0">
                  <a:latin typeface="Arial" panose="020B0604020202020204" pitchFamily="34" charset="0"/>
                  <a:ea typeface="宋体" panose="02010600030101010101" pitchFamily="2" charset="-122"/>
                </a:rPr>
                <a:t>to MSC in visited network</a:t>
              </a:r>
              <a:endParaRPr lang="en-US" altLang="zh-CN" dirty="0">
                <a:latin typeface="Arial" panose="020B0604020202020204" pitchFamily="34" charset="0"/>
                <a:ea typeface="宋体" panose="02010600030101010101" pitchFamily="2" charset="-122"/>
              </a:endParaRPr>
            </a:p>
          </p:txBody>
        </p:sp>
        <p:sp>
          <p:nvSpPr>
            <p:cNvPr id="136388" name="Line 200"/>
            <p:cNvSpPr/>
            <p:nvPr/>
          </p:nvSpPr>
          <p:spPr>
            <a:xfrm>
              <a:off x="3273" y="2516"/>
              <a:ext cx="126" cy="527"/>
            </a:xfrm>
            <a:prstGeom prst="line">
              <a:avLst/>
            </a:prstGeom>
            <a:ln w="9525" cap="flat" cmpd="sng">
              <a:solidFill>
                <a:schemeClr val="tx1"/>
              </a:solidFill>
              <a:prstDash val="solid"/>
              <a:round/>
              <a:headEnd type="none" w="med" len="med"/>
              <a:tailEnd type="none" w="med" len="med"/>
            </a:ln>
          </p:spPr>
        </p:sp>
      </p:grpSp>
      <p:grpSp>
        <p:nvGrpSpPr>
          <p:cNvPr id="453836" name="Group 204"/>
          <p:cNvGrpSpPr/>
          <p:nvPr/>
        </p:nvGrpSpPr>
        <p:grpSpPr>
          <a:xfrm>
            <a:off x="2544763" y="4664075"/>
            <a:ext cx="5710237" cy="1592263"/>
            <a:chOff x="1603" y="2938"/>
            <a:chExt cx="3597" cy="1003"/>
          </a:xfrm>
        </p:grpSpPr>
        <p:grpSp>
          <p:nvGrpSpPr>
            <p:cNvPr id="136390" name="Group 199"/>
            <p:cNvGrpSpPr/>
            <p:nvPr/>
          </p:nvGrpSpPr>
          <p:grpSpPr>
            <a:xfrm>
              <a:off x="1603" y="2938"/>
              <a:ext cx="557" cy="307"/>
              <a:chOff x="1603" y="2938"/>
              <a:chExt cx="557" cy="307"/>
            </a:xfrm>
          </p:grpSpPr>
          <p:sp>
            <p:nvSpPr>
              <p:cNvPr id="136391" name="Line 195"/>
              <p:cNvSpPr/>
              <p:nvPr/>
            </p:nvSpPr>
            <p:spPr>
              <a:xfrm flipH="1">
                <a:off x="1603" y="2938"/>
                <a:ext cx="557" cy="307"/>
              </a:xfrm>
              <a:prstGeom prst="line">
                <a:avLst/>
              </a:prstGeom>
              <a:ln w="28575" cap="flat" cmpd="sng">
                <a:solidFill>
                  <a:srgbClr val="FF3300"/>
                </a:solidFill>
                <a:prstDash val="solid"/>
                <a:round/>
                <a:headEnd type="none" w="med" len="med"/>
                <a:tailEnd type="triangle" w="med" len="med"/>
              </a:ln>
            </p:spPr>
          </p:sp>
          <p:grpSp>
            <p:nvGrpSpPr>
              <p:cNvPr id="136392" name="Group 196"/>
              <p:cNvGrpSpPr/>
              <p:nvPr/>
            </p:nvGrpSpPr>
            <p:grpSpPr>
              <a:xfrm>
                <a:off x="1844" y="2946"/>
                <a:ext cx="214" cy="231"/>
                <a:chOff x="618" y="3500"/>
                <a:chExt cx="214" cy="231"/>
              </a:xfrm>
            </p:grpSpPr>
            <p:sp>
              <p:nvSpPr>
                <p:cNvPr id="136393" name="Oval 197"/>
                <p:cNvSpPr/>
                <p:nvPr/>
              </p:nvSpPr>
              <p:spPr>
                <a:xfrm>
                  <a:off x="618" y="3520"/>
                  <a:ext cx="202" cy="201"/>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6394" name="Text Box 198"/>
                <p:cNvSpPr txBox="1"/>
                <p:nvPr/>
              </p:nvSpPr>
              <p:spPr>
                <a:xfrm>
                  <a:off x="628" y="3500"/>
                  <a:ext cx="204" cy="231"/>
                </a:xfrm>
                <a:prstGeom prst="rect">
                  <a:avLst/>
                </a:prstGeom>
                <a:noFill/>
                <a:ln w="9525">
                  <a:noFill/>
                </a:ln>
              </p:spPr>
              <p:txBody>
                <a:bodyPr wrap="none" anchor="t" anchorCtr="0">
                  <a:spAutoFit/>
                </a:bodyPr>
                <a:p>
                  <a:pPr eaLnBrk="0" hangingPunct="0">
                    <a:buClrTx/>
                    <a:buFontTx/>
                  </a:pPr>
                  <a:r>
                    <a:rPr lang="en-US" altLang="zh-CN" dirty="0">
                      <a:solidFill>
                        <a:srgbClr val="FF0000"/>
                      </a:solidFill>
                      <a:latin typeface="Comic Sans MS" panose="030F0702030302020204" pitchFamily="66" charset="0"/>
                      <a:ea typeface="宋体" panose="02010600030101010101" pitchFamily="2" charset="-122"/>
                    </a:rPr>
                    <a:t>4</a:t>
                  </a:r>
                  <a:endParaRPr lang="en-US" altLang="zh-CN" dirty="0">
                    <a:solidFill>
                      <a:srgbClr val="FF0000"/>
                    </a:solidFill>
                    <a:latin typeface="Comic Sans MS" panose="030F0702030302020204" pitchFamily="66" charset="0"/>
                    <a:ea typeface="宋体" panose="02010600030101010101" pitchFamily="2" charset="-122"/>
                  </a:endParaRPr>
                </a:p>
              </p:txBody>
            </p:sp>
          </p:grpSp>
        </p:grpSp>
        <p:sp>
          <p:nvSpPr>
            <p:cNvPr id="136395" name="Text Box 202"/>
            <p:cNvSpPr txBox="1"/>
            <p:nvPr/>
          </p:nvSpPr>
          <p:spPr>
            <a:xfrm>
              <a:off x="2900" y="3537"/>
              <a:ext cx="2300" cy="404"/>
            </a:xfrm>
            <a:prstGeom prst="rect">
              <a:avLst/>
            </a:prstGeom>
            <a:noFill/>
            <a:ln w="9525">
              <a:noFill/>
            </a:ln>
          </p:spPr>
          <p:txBody>
            <a:bodyPr wrap="none" anchor="t" anchorCtr="0">
              <a:spAutoFit/>
            </a:bodyPr>
            <a:p>
              <a:pPr eaLnBrk="0" hangingPunct="0">
                <a:buClrTx/>
                <a:buFontTx/>
              </a:pPr>
              <a:r>
                <a:rPr lang="en-US" altLang="zh-CN" dirty="0">
                  <a:latin typeface="Arial" panose="020B0604020202020204" pitchFamily="34" charset="0"/>
                  <a:ea typeface="宋体" panose="02010600030101010101" pitchFamily="2" charset="-122"/>
                </a:rPr>
                <a:t>MSC in visited network completes</a:t>
              </a:r>
              <a:endParaRPr lang="en-US" altLang="zh-CN" dirty="0">
                <a:latin typeface="Arial" panose="020B0604020202020204" pitchFamily="34" charset="0"/>
                <a:ea typeface="宋体" panose="02010600030101010101" pitchFamily="2" charset="-122"/>
              </a:endParaRPr>
            </a:p>
            <a:p>
              <a:pPr eaLnBrk="0" hangingPunct="0">
                <a:buClrTx/>
                <a:buFontTx/>
              </a:pPr>
              <a:r>
                <a:rPr lang="en-US" altLang="zh-CN" dirty="0">
                  <a:latin typeface="Arial" panose="020B0604020202020204" pitchFamily="34" charset="0"/>
                  <a:ea typeface="宋体" panose="02010600030101010101" pitchFamily="2" charset="-122"/>
                </a:rPr>
                <a:t>call through base station to mobile</a:t>
              </a:r>
              <a:endParaRPr lang="en-US" altLang="zh-CN" dirty="0">
                <a:latin typeface="Arial" panose="020B0604020202020204" pitchFamily="34" charset="0"/>
                <a:ea typeface="宋体" panose="02010600030101010101" pitchFamily="2" charset="-122"/>
              </a:endParaRPr>
            </a:p>
          </p:txBody>
        </p:sp>
        <p:sp>
          <p:nvSpPr>
            <p:cNvPr id="136396" name="Line 203"/>
            <p:cNvSpPr/>
            <p:nvPr/>
          </p:nvSpPr>
          <p:spPr>
            <a:xfrm flipH="1" flipV="1">
              <a:off x="2074" y="3091"/>
              <a:ext cx="835" cy="547"/>
            </a:xfrm>
            <a:prstGeom prst="line">
              <a:avLst/>
            </a:prstGeom>
            <a:ln w="952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53822"/>
                                        </p:tgtEl>
                                        <p:attrNameLst>
                                          <p:attrName>style.visibility</p:attrName>
                                        </p:attrNameLst>
                                      </p:cBhvr>
                                      <p:to>
                                        <p:strVal val="visible"/>
                                      </p:to>
                                    </p:set>
                                    <p:animEffect transition="in" filter="dissolve">
                                      <p:cBhvr>
                                        <p:cTn id="7" dur="500"/>
                                        <p:tgtEl>
                                          <p:spTgt spid="4538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53825"/>
                                        </p:tgtEl>
                                        <p:attrNameLst>
                                          <p:attrName>style.visibility</p:attrName>
                                        </p:attrNameLst>
                                      </p:cBhvr>
                                      <p:to>
                                        <p:strVal val="visible"/>
                                      </p:to>
                                    </p:set>
                                    <p:animEffect transition="in" filter="dissolve">
                                      <p:cBhvr>
                                        <p:cTn id="12" dur="500"/>
                                        <p:tgtEl>
                                          <p:spTgt spid="4538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53833"/>
                                        </p:tgtEl>
                                        <p:attrNameLst>
                                          <p:attrName>style.visibility</p:attrName>
                                        </p:attrNameLst>
                                      </p:cBhvr>
                                      <p:to>
                                        <p:strVal val="visible"/>
                                      </p:to>
                                    </p:set>
                                    <p:animEffect transition="in" filter="dissolve">
                                      <p:cBhvr>
                                        <p:cTn id="17" dur="500"/>
                                        <p:tgtEl>
                                          <p:spTgt spid="4538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53836"/>
                                        </p:tgtEl>
                                        <p:attrNameLst>
                                          <p:attrName>style.visibility</p:attrName>
                                        </p:attrNameLst>
                                      </p:cBhvr>
                                      <p:to>
                                        <p:strVal val="visible"/>
                                      </p:to>
                                    </p:set>
                                    <p:animEffect transition="in" filter="dissolve">
                                      <p:cBhvr>
                                        <p:cTn id="22" dur="500"/>
                                        <p:tgtEl>
                                          <p:spTgt spid="453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3824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138243" name="Group 3"/>
          <p:cNvGrpSpPr/>
          <p:nvPr/>
        </p:nvGrpSpPr>
        <p:grpSpPr>
          <a:xfrm>
            <a:off x="358775" y="3587750"/>
            <a:ext cx="498475" cy="636588"/>
            <a:chOff x="3796" y="1043"/>
            <a:chExt cx="865" cy="1237"/>
          </a:xfrm>
        </p:grpSpPr>
        <p:sp>
          <p:nvSpPr>
            <p:cNvPr id="138244" name="Line 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8245" name="Line 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8246" name="Line 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8247" name="Line 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8248" name="Line 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8249" name="Line 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8250" name="Line 1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8251" name="Line 1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8252" name="Line 1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8253" name="Line 1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8254" name="Line 1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8255" name="Line 1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8256" name="Line 1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8257" name="Line 1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8258" name="Line 1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8259" name="Group 19"/>
            <p:cNvGrpSpPr/>
            <p:nvPr/>
          </p:nvGrpSpPr>
          <p:grpSpPr>
            <a:xfrm>
              <a:off x="4269" y="1415"/>
              <a:ext cx="392" cy="137"/>
              <a:chOff x="4227" y="1360"/>
              <a:chExt cx="863" cy="270"/>
            </a:xfrm>
          </p:grpSpPr>
          <p:sp>
            <p:nvSpPr>
              <p:cNvPr id="138260" name="Line 2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261" name="Line 2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262" name="Line 2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263" name="Line 2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8264" name="Group 24"/>
            <p:cNvGrpSpPr/>
            <p:nvPr/>
          </p:nvGrpSpPr>
          <p:grpSpPr>
            <a:xfrm rot="5700496">
              <a:off x="4050" y="1168"/>
              <a:ext cx="392" cy="137"/>
              <a:chOff x="4227" y="1360"/>
              <a:chExt cx="863" cy="270"/>
            </a:xfrm>
          </p:grpSpPr>
          <p:sp>
            <p:nvSpPr>
              <p:cNvPr id="138265" name="Line 2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266" name="Line 2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267" name="Line 2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268" name="Line 2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8269" name="Group 29"/>
            <p:cNvGrpSpPr/>
            <p:nvPr/>
          </p:nvGrpSpPr>
          <p:grpSpPr>
            <a:xfrm rot="10800000">
              <a:off x="3796" y="1402"/>
              <a:ext cx="392" cy="137"/>
              <a:chOff x="4227" y="1360"/>
              <a:chExt cx="863" cy="270"/>
            </a:xfrm>
          </p:grpSpPr>
          <p:sp>
            <p:nvSpPr>
              <p:cNvPr id="138270" name="Line 3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271" name="Line 3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272" name="Line 3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273" name="Line 3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8274" name="Line 34"/>
          <p:cNvSpPr/>
          <p:nvPr/>
        </p:nvSpPr>
        <p:spPr>
          <a:xfrm flipV="1">
            <a:off x="598488" y="3432175"/>
            <a:ext cx="1176337" cy="776288"/>
          </a:xfrm>
          <a:prstGeom prst="line">
            <a:avLst/>
          </a:prstGeom>
          <a:ln w="9525" cap="flat" cmpd="sng">
            <a:solidFill>
              <a:schemeClr val="tx1"/>
            </a:solidFill>
            <a:prstDash val="solid"/>
            <a:round/>
            <a:headEnd type="none" w="med" len="med"/>
            <a:tailEnd type="none" w="med" len="med"/>
          </a:ln>
        </p:spPr>
      </p:sp>
      <p:grpSp>
        <p:nvGrpSpPr>
          <p:cNvPr id="138275" name="Group 35"/>
          <p:cNvGrpSpPr/>
          <p:nvPr/>
        </p:nvGrpSpPr>
        <p:grpSpPr>
          <a:xfrm>
            <a:off x="1157288" y="4425950"/>
            <a:ext cx="1441450" cy="346075"/>
            <a:chOff x="3072" y="739"/>
            <a:chExt cx="652" cy="146"/>
          </a:xfrm>
        </p:grpSpPr>
        <p:pic>
          <p:nvPicPr>
            <p:cNvPr id="138276" name="Picture 36"/>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138277" name="Line 37"/>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138278" name="Line 38"/>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grpSp>
        <p:nvGrpSpPr>
          <p:cNvPr id="138279" name="Group 39"/>
          <p:cNvGrpSpPr/>
          <p:nvPr/>
        </p:nvGrpSpPr>
        <p:grpSpPr>
          <a:xfrm>
            <a:off x="1622425" y="2736850"/>
            <a:ext cx="987425" cy="730250"/>
            <a:chOff x="2197" y="1155"/>
            <a:chExt cx="622" cy="460"/>
          </a:xfrm>
        </p:grpSpPr>
        <p:grpSp>
          <p:nvGrpSpPr>
            <p:cNvPr id="138280" name="Group 40"/>
            <p:cNvGrpSpPr/>
            <p:nvPr/>
          </p:nvGrpSpPr>
          <p:grpSpPr>
            <a:xfrm>
              <a:off x="2198" y="1176"/>
              <a:ext cx="621" cy="426"/>
              <a:chOff x="3164" y="2556"/>
              <a:chExt cx="901" cy="338"/>
            </a:xfrm>
          </p:grpSpPr>
          <p:sp>
            <p:nvSpPr>
              <p:cNvPr id="138281" name="Rectangle 41"/>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8282" name="Text Box 42"/>
              <p:cNvSpPr txBox="1"/>
              <p:nvPr/>
            </p:nvSpPr>
            <p:spPr>
              <a:xfrm>
                <a:off x="3212" y="2573"/>
                <a:ext cx="168" cy="183"/>
              </a:xfrm>
              <a:prstGeom prst="rect">
                <a:avLst/>
              </a:prstGeom>
              <a:solidFill>
                <a:schemeClr val="accent1"/>
              </a:solid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138283" name="Text Box 43"/>
            <p:cNvSpPr txBox="1"/>
            <p:nvPr/>
          </p:nvSpPr>
          <p:spPr>
            <a:xfrm>
              <a:off x="2197" y="1155"/>
              <a:ext cx="616" cy="460"/>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grpSp>
        <p:nvGrpSpPr>
          <p:cNvPr id="138284" name="Group 44"/>
          <p:cNvGrpSpPr/>
          <p:nvPr/>
        </p:nvGrpSpPr>
        <p:grpSpPr>
          <a:xfrm>
            <a:off x="1135063" y="2528888"/>
            <a:ext cx="636587" cy="493712"/>
            <a:chOff x="3202" y="3056"/>
            <a:chExt cx="401" cy="311"/>
          </a:xfrm>
        </p:grpSpPr>
        <p:sp>
          <p:nvSpPr>
            <p:cNvPr id="138285" name="Oval 45"/>
            <p:cNvSpPr/>
            <p:nvPr/>
          </p:nvSpPr>
          <p:spPr>
            <a:xfrm>
              <a:off x="3203" y="3295"/>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8286" name="Line 46"/>
            <p:cNvSpPr/>
            <p:nvPr/>
          </p:nvSpPr>
          <p:spPr>
            <a:xfrm>
              <a:off x="3204" y="3096"/>
              <a:ext cx="0" cy="234"/>
            </a:xfrm>
            <a:prstGeom prst="line">
              <a:avLst/>
            </a:prstGeom>
            <a:ln w="9525" cap="flat" cmpd="sng">
              <a:solidFill>
                <a:schemeClr val="tx1"/>
              </a:solidFill>
              <a:prstDash val="solid"/>
              <a:round/>
              <a:headEnd type="none" w="med" len="med"/>
              <a:tailEnd type="none" w="med" len="med"/>
            </a:ln>
          </p:spPr>
        </p:sp>
        <p:sp>
          <p:nvSpPr>
            <p:cNvPr id="138287" name="Rectangle 47"/>
            <p:cNvSpPr/>
            <p:nvPr/>
          </p:nvSpPr>
          <p:spPr>
            <a:xfrm>
              <a:off x="3210" y="3090"/>
              <a:ext cx="393" cy="234"/>
            </a:xfrm>
            <a:prstGeom prst="rect">
              <a:avLst/>
            </a:prstGeom>
            <a:solidFill>
              <a:schemeClr val="accent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8288" name="Oval 48"/>
            <p:cNvSpPr/>
            <p:nvPr/>
          </p:nvSpPr>
          <p:spPr>
            <a:xfrm>
              <a:off x="3202" y="3056"/>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38289" name="Line 49"/>
            <p:cNvSpPr/>
            <p:nvPr/>
          </p:nvSpPr>
          <p:spPr>
            <a:xfrm>
              <a:off x="3603" y="3099"/>
              <a:ext cx="0" cy="234"/>
            </a:xfrm>
            <a:prstGeom prst="line">
              <a:avLst/>
            </a:prstGeom>
            <a:ln w="9525" cap="flat" cmpd="sng">
              <a:solidFill>
                <a:schemeClr val="tx1"/>
              </a:solidFill>
              <a:prstDash val="solid"/>
              <a:round/>
              <a:headEnd type="none" w="med" len="med"/>
              <a:tailEnd type="none" w="med" len="med"/>
            </a:ln>
          </p:spPr>
        </p:sp>
        <p:sp>
          <p:nvSpPr>
            <p:cNvPr id="138290" name="Text Box 50"/>
            <p:cNvSpPr txBox="1"/>
            <p:nvPr/>
          </p:nvSpPr>
          <p:spPr>
            <a:xfrm>
              <a:off x="3218" y="3137"/>
              <a:ext cx="364" cy="212"/>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VLR</a:t>
              </a:r>
              <a:endParaRPr lang="en-US" altLang="zh-CN" sz="1600" dirty="0">
                <a:latin typeface="Arial" panose="020B0604020202020204" pitchFamily="34" charset="0"/>
                <a:ea typeface="宋体" panose="02010600030101010101" pitchFamily="2" charset="-122"/>
              </a:endParaRPr>
            </a:p>
          </p:txBody>
        </p:sp>
      </p:grpSp>
      <p:grpSp>
        <p:nvGrpSpPr>
          <p:cNvPr id="138291" name="Group 51"/>
          <p:cNvGrpSpPr/>
          <p:nvPr/>
        </p:nvGrpSpPr>
        <p:grpSpPr>
          <a:xfrm>
            <a:off x="3343275" y="3587750"/>
            <a:ext cx="498475" cy="636588"/>
            <a:chOff x="3796" y="1043"/>
            <a:chExt cx="865" cy="1237"/>
          </a:xfrm>
        </p:grpSpPr>
        <p:sp>
          <p:nvSpPr>
            <p:cNvPr id="138292" name="Line 5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38293" name="Line 5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38294" name="Line 5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38295" name="Line 5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38296" name="Line 5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38297" name="Line 5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38298" name="Line 5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38299" name="Line 5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38300" name="Line 6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38301" name="Line 6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38302" name="Line 6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38303" name="Line 6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38304" name="Line 6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38305" name="Line 6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38306" name="Line 6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38307" name="Group 67"/>
            <p:cNvGrpSpPr/>
            <p:nvPr/>
          </p:nvGrpSpPr>
          <p:grpSpPr>
            <a:xfrm>
              <a:off x="4269" y="1415"/>
              <a:ext cx="392" cy="137"/>
              <a:chOff x="4227" y="1360"/>
              <a:chExt cx="863" cy="270"/>
            </a:xfrm>
          </p:grpSpPr>
          <p:sp>
            <p:nvSpPr>
              <p:cNvPr id="138308" name="Line 6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309" name="Line 6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310" name="Line 7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311" name="Line 7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8312" name="Group 72"/>
            <p:cNvGrpSpPr/>
            <p:nvPr/>
          </p:nvGrpSpPr>
          <p:grpSpPr>
            <a:xfrm rot="5700496">
              <a:off x="4050" y="1168"/>
              <a:ext cx="392" cy="137"/>
              <a:chOff x="4227" y="1360"/>
              <a:chExt cx="863" cy="270"/>
            </a:xfrm>
          </p:grpSpPr>
          <p:sp>
            <p:nvSpPr>
              <p:cNvPr id="138313" name="Line 7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314" name="Line 7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315" name="Line 7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316" name="Line 7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38317" name="Group 77"/>
            <p:cNvGrpSpPr/>
            <p:nvPr/>
          </p:nvGrpSpPr>
          <p:grpSpPr>
            <a:xfrm rot="10800000">
              <a:off x="3796" y="1402"/>
              <a:ext cx="392" cy="137"/>
              <a:chOff x="4227" y="1360"/>
              <a:chExt cx="863" cy="270"/>
            </a:xfrm>
          </p:grpSpPr>
          <p:sp>
            <p:nvSpPr>
              <p:cNvPr id="138318" name="Line 7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38319" name="Line 7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38320" name="Line 8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38321" name="Line 8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38322" name="Line 82"/>
          <p:cNvSpPr/>
          <p:nvPr/>
        </p:nvSpPr>
        <p:spPr>
          <a:xfrm flipH="1" flipV="1">
            <a:off x="2439988" y="3444875"/>
            <a:ext cx="1176337" cy="776288"/>
          </a:xfrm>
          <a:prstGeom prst="line">
            <a:avLst/>
          </a:prstGeom>
          <a:ln w="9525" cap="flat" cmpd="sng">
            <a:solidFill>
              <a:schemeClr val="tx1"/>
            </a:solidFill>
            <a:prstDash val="solid"/>
            <a:round/>
            <a:headEnd type="none" w="med" len="med"/>
            <a:tailEnd type="none" w="med" len="med"/>
          </a:ln>
        </p:spPr>
      </p:sp>
      <p:sp>
        <p:nvSpPr>
          <p:cNvPr id="138323" name="Freeform 83"/>
          <p:cNvSpPr/>
          <p:nvPr/>
        </p:nvSpPr>
        <p:spPr>
          <a:xfrm>
            <a:off x="788988" y="2135188"/>
            <a:ext cx="1328737" cy="2324100"/>
          </a:xfrm>
          <a:custGeom>
            <a:avLst/>
            <a:gdLst/>
            <a:ahLst/>
            <a:cxnLst>
              <a:cxn ang="0">
                <a:pos x="2056446726" y="0"/>
              </a:cxn>
              <a:cxn ang="0">
                <a:pos x="2036285484" y="1532255000"/>
              </a:cxn>
              <a:cxn ang="0">
                <a:pos x="2036285484" y="1975802500"/>
              </a:cxn>
              <a:cxn ang="0">
                <a:pos x="1592738151" y="2147483646"/>
              </a:cxn>
              <a:cxn ang="0">
                <a:pos x="0" y="2147483646"/>
              </a:cxn>
              <a:cxn ang="0">
                <a:pos x="1592738151" y="2147483646"/>
              </a:cxn>
            </a:cxnLst>
            <a:pathLst>
              <a:path w="837" h="1464">
                <a:moveTo>
                  <a:pt x="816" y="0"/>
                </a:moveTo>
                <a:cubicBezTo>
                  <a:pt x="813" y="101"/>
                  <a:pt x="809" y="477"/>
                  <a:pt x="808" y="608"/>
                </a:cubicBezTo>
                <a:cubicBezTo>
                  <a:pt x="807" y="739"/>
                  <a:pt x="837" y="733"/>
                  <a:pt x="808" y="784"/>
                </a:cubicBezTo>
                <a:cubicBezTo>
                  <a:pt x="779" y="835"/>
                  <a:pt x="767" y="824"/>
                  <a:pt x="632" y="912"/>
                </a:cubicBezTo>
                <a:cubicBezTo>
                  <a:pt x="497" y="1000"/>
                  <a:pt x="0" y="1220"/>
                  <a:pt x="0" y="1312"/>
                </a:cubicBezTo>
                <a:cubicBezTo>
                  <a:pt x="0" y="1404"/>
                  <a:pt x="500" y="1432"/>
                  <a:pt x="632" y="1464"/>
                </a:cubicBezTo>
              </a:path>
            </a:pathLst>
          </a:custGeom>
          <a:noFill/>
          <a:ln w="38100" cap="flat" cmpd="sng">
            <a:solidFill>
              <a:srgbClr val="FF0000"/>
            </a:solidFill>
            <a:prstDash val="solid"/>
            <a:round/>
            <a:headEnd type="none" w="med" len="med"/>
            <a:tailEnd type="triangle" w="med" len="med"/>
          </a:ln>
        </p:spPr>
        <p:txBody>
          <a:bodyPr/>
          <a:p>
            <a:endParaRPr lang="zh-CN" altLang="en-US"/>
          </a:p>
        </p:txBody>
      </p:sp>
      <p:sp>
        <p:nvSpPr>
          <p:cNvPr id="138324" name="Freeform 84"/>
          <p:cNvSpPr/>
          <p:nvPr/>
        </p:nvSpPr>
        <p:spPr>
          <a:xfrm>
            <a:off x="2093913" y="3367088"/>
            <a:ext cx="1282700" cy="1079500"/>
          </a:xfrm>
          <a:custGeom>
            <a:avLst/>
            <a:gdLst/>
            <a:ahLst/>
            <a:cxnLst>
              <a:cxn ang="0">
                <a:pos x="0" y="0"/>
              </a:cxn>
              <a:cxn ang="0">
                <a:pos x="443547500" y="322580000"/>
              </a:cxn>
              <a:cxn ang="0">
                <a:pos x="2036286250" y="1330642500"/>
              </a:cxn>
              <a:cxn ang="0">
                <a:pos x="443547500" y="1713706250"/>
              </a:cxn>
            </a:cxnLst>
            <a:pathLst>
              <a:path w="808" h="680">
                <a:moveTo>
                  <a:pt x="0" y="0"/>
                </a:moveTo>
                <a:cubicBezTo>
                  <a:pt x="29" y="21"/>
                  <a:pt x="41" y="40"/>
                  <a:pt x="176" y="128"/>
                </a:cubicBezTo>
                <a:cubicBezTo>
                  <a:pt x="311" y="216"/>
                  <a:pt x="808" y="436"/>
                  <a:pt x="808" y="528"/>
                </a:cubicBezTo>
                <a:cubicBezTo>
                  <a:pt x="808" y="620"/>
                  <a:pt x="308" y="648"/>
                  <a:pt x="176" y="680"/>
                </a:cubicBezTo>
              </a:path>
            </a:pathLst>
          </a:custGeom>
          <a:noFill/>
          <a:ln w="38100" cap="flat" cmpd="sng">
            <a:solidFill>
              <a:srgbClr val="FF0000"/>
            </a:solidFill>
            <a:prstDash val="dash"/>
            <a:round/>
            <a:headEnd type="none" w="med" len="med"/>
            <a:tailEnd type="triangle" w="med" len="med"/>
          </a:ln>
        </p:spPr>
        <p:txBody>
          <a:bodyPr/>
          <a:p>
            <a:endParaRPr lang="zh-CN" altLang="en-US"/>
          </a:p>
        </p:txBody>
      </p:sp>
      <p:sp>
        <p:nvSpPr>
          <p:cNvPr id="138325" name="Text Box 85"/>
          <p:cNvSpPr txBox="1"/>
          <p:nvPr/>
        </p:nvSpPr>
        <p:spPr>
          <a:xfrm>
            <a:off x="331788" y="4229100"/>
            <a:ext cx="82708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old BSS</a:t>
            </a:r>
            <a:endParaRPr lang="en-US" altLang="zh-CN" sz="1400" dirty="0">
              <a:latin typeface="Arial" panose="020B0604020202020204" pitchFamily="34" charset="0"/>
              <a:ea typeface="宋体" panose="02010600030101010101" pitchFamily="2" charset="-122"/>
            </a:endParaRPr>
          </a:p>
        </p:txBody>
      </p:sp>
      <p:sp>
        <p:nvSpPr>
          <p:cNvPr id="138326" name="Text Box 86"/>
          <p:cNvSpPr txBox="1"/>
          <p:nvPr/>
        </p:nvSpPr>
        <p:spPr>
          <a:xfrm>
            <a:off x="3024188" y="4360863"/>
            <a:ext cx="91598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new BSS</a:t>
            </a:r>
            <a:endParaRPr lang="en-US" altLang="zh-CN" sz="1400" dirty="0">
              <a:latin typeface="Arial" panose="020B0604020202020204" pitchFamily="34" charset="0"/>
              <a:ea typeface="宋体" panose="02010600030101010101" pitchFamily="2" charset="-122"/>
            </a:endParaRPr>
          </a:p>
        </p:txBody>
      </p:sp>
      <p:sp>
        <p:nvSpPr>
          <p:cNvPr id="138327" name="Text Box 87"/>
          <p:cNvSpPr txBox="1"/>
          <p:nvPr/>
        </p:nvSpPr>
        <p:spPr>
          <a:xfrm>
            <a:off x="1217613" y="3759200"/>
            <a:ext cx="725487" cy="517525"/>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old </a:t>
            </a:r>
            <a:endParaRPr lang="en-US" altLang="zh-CN" sz="1400" dirty="0">
              <a:latin typeface="Arial" panose="020B0604020202020204" pitchFamily="34" charset="0"/>
              <a:ea typeface="宋体" panose="02010600030101010101" pitchFamily="2" charset="-122"/>
            </a:endParaRPr>
          </a:p>
          <a:p>
            <a:pPr>
              <a:buClrTx/>
              <a:buFontTx/>
            </a:pPr>
            <a:r>
              <a:rPr lang="en-US" altLang="zh-CN" sz="1400" dirty="0">
                <a:latin typeface="Arial" panose="020B0604020202020204" pitchFamily="34" charset="0"/>
                <a:ea typeface="宋体" panose="02010600030101010101" pitchFamily="2" charset="-122"/>
              </a:rPr>
              <a:t>routing</a:t>
            </a:r>
            <a:endParaRPr lang="en-US" altLang="zh-CN" sz="1400" dirty="0">
              <a:latin typeface="Arial" panose="020B0604020202020204" pitchFamily="34" charset="0"/>
              <a:ea typeface="宋体" panose="02010600030101010101" pitchFamily="2" charset="-122"/>
            </a:endParaRPr>
          </a:p>
        </p:txBody>
      </p:sp>
      <p:sp>
        <p:nvSpPr>
          <p:cNvPr id="138328" name="Text Box 88"/>
          <p:cNvSpPr txBox="1"/>
          <p:nvPr/>
        </p:nvSpPr>
        <p:spPr>
          <a:xfrm>
            <a:off x="2208213" y="3746500"/>
            <a:ext cx="725487" cy="517525"/>
          </a:xfrm>
          <a:prstGeom prst="rect">
            <a:avLst/>
          </a:prstGeom>
          <a:noFill/>
          <a:ln w="9525">
            <a:noFill/>
          </a:ln>
        </p:spPr>
        <p:txBody>
          <a:bodyPr wrap="none" anchor="t" anchorCtr="0">
            <a:spAutoFit/>
          </a:bodyPr>
          <a:p>
            <a:pPr algn="r">
              <a:buClrTx/>
              <a:buFontTx/>
            </a:pPr>
            <a:r>
              <a:rPr lang="en-US" altLang="zh-CN" sz="1400" dirty="0">
                <a:latin typeface="Arial" panose="020B0604020202020204" pitchFamily="34" charset="0"/>
                <a:ea typeface="宋体" panose="02010600030101010101" pitchFamily="2" charset="-122"/>
              </a:rPr>
              <a:t>new</a:t>
            </a:r>
            <a:endParaRPr lang="en-US" altLang="zh-CN" sz="1400" dirty="0">
              <a:latin typeface="Arial" panose="020B0604020202020204" pitchFamily="34" charset="0"/>
              <a:ea typeface="宋体" panose="02010600030101010101" pitchFamily="2" charset="-122"/>
            </a:endParaRPr>
          </a:p>
          <a:p>
            <a:pPr algn="r">
              <a:buClrTx/>
              <a:buFontTx/>
            </a:pPr>
            <a:r>
              <a:rPr lang="en-US" altLang="zh-CN" sz="1400" dirty="0">
                <a:latin typeface="Arial" panose="020B0604020202020204" pitchFamily="34" charset="0"/>
                <a:ea typeface="宋体" panose="02010600030101010101" pitchFamily="2" charset="-122"/>
              </a:rPr>
              <a:t>routing</a:t>
            </a:r>
            <a:endParaRPr lang="en-US" altLang="zh-CN" sz="1400" dirty="0">
              <a:latin typeface="Arial" panose="020B0604020202020204" pitchFamily="34" charset="0"/>
              <a:ea typeface="宋体" panose="02010600030101010101" pitchFamily="2" charset="-122"/>
            </a:endParaRPr>
          </a:p>
        </p:txBody>
      </p:sp>
      <p:sp>
        <p:nvSpPr>
          <p:cNvPr id="138329" name="Rectangle 90"/>
          <p:cNvSpPr/>
          <p:nvPr/>
        </p:nvSpPr>
        <p:spPr>
          <a:xfrm>
            <a:off x="519113" y="290513"/>
            <a:ext cx="7772400" cy="11430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GSM: handoff with common MSC</a:t>
            </a:r>
            <a:endParaRPr lang="en-US" altLang="zh-CN" sz="3200" u="sng" dirty="0">
              <a:solidFill>
                <a:schemeClr val="accent2"/>
              </a:solidFill>
              <a:latin typeface="Comic Sans MS" panose="030F0702030302020204" pitchFamily="66" charset="0"/>
              <a:ea typeface="宋体" panose="02010600030101010101" pitchFamily="2" charset="-122"/>
            </a:endParaRPr>
          </a:p>
        </p:txBody>
      </p:sp>
      <p:sp>
        <p:nvSpPr>
          <p:cNvPr id="138330" name="Rectangle 93"/>
          <p:cNvSpPr>
            <a:spLocks noGrp="1"/>
          </p:cNvSpPr>
          <p:nvPr>
            <p:ph sz="half" idx="2"/>
          </p:nvPr>
        </p:nvSpPr>
        <p:spPr>
          <a:xfrm>
            <a:off x="4495800" y="1600200"/>
            <a:ext cx="4159250" cy="4648200"/>
          </a:xfrm>
          <a:ln/>
        </p:spPr>
        <p:txBody>
          <a:bodyPr vert="horz" wrap="square" lIns="91440" tIns="45720" rIns="91440" bIns="45720" anchor="t" anchorCtr="0"/>
          <a:p>
            <a:pPr>
              <a:buClr>
                <a:schemeClr val="accent2"/>
              </a:buClr>
              <a:buSzPct val="85000"/>
              <a:buFont typeface="ZapfDingbats" pitchFamily="82" charset="2"/>
            </a:pPr>
            <a:r>
              <a:rPr lang="en-US" altLang="zh-CN" sz="2000" dirty="0">
                <a:ea typeface="宋体" panose="02010600030101010101" pitchFamily="2" charset="-122"/>
              </a:rPr>
              <a:t>Handoff goal: route call via new base station (without interruption)</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reasons for handoff:</a:t>
            </a:r>
            <a:endParaRPr lang="en-US" altLang="zh-CN" sz="20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stronger signal to/from new BSS (continuing connectivity, less battery drain)</a:t>
            </a:r>
            <a:endParaRPr lang="en-US" altLang="zh-CN" sz="18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load balance: free up channel in current BSS</a:t>
            </a:r>
            <a:endParaRPr lang="en-US" altLang="zh-CN" sz="1800" dirty="0">
              <a:ea typeface="宋体" panose="02010600030101010101" pitchFamily="2" charset="-122"/>
            </a:endParaRPr>
          </a:p>
          <a:p>
            <a:pPr lvl="1">
              <a:buClr>
                <a:schemeClr val="accent2"/>
              </a:buClr>
              <a:buSzPct val="75000"/>
              <a:buFont typeface="ZapfDingbats" pitchFamily="82" charset="2"/>
            </a:pPr>
            <a:r>
              <a:rPr lang="en-US" altLang="zh-CN" sz="1800" dirty="0">
                <a:ea typeface="宋体" panose="02010600030101010101" pitchFamily="2" charset="-122"/>
              </a:rPr>
              <a:t>GSM doesn’t mandate why to perform handoff (policy), only how (mechanism)</a:t>
            </a:r>
            <a:endParaRPr lang="en-US" altLang="zh-CN" sz="1800" dirty="0">
              <a:ea typeface="宋体" panose="02010600030101010101" pitchFamily="2" charset="-122"/>
            </a:endParaRPr>
          </a:p>
          <a:p>
            <a:pPr>
              <a:buClr>
                <a:schemeClr val="accent2"/>
              </a:buClr>
              <a:buSzPct val="85000"/>
              <a:buFont typeface="ZapfDingbats" pitchFamily="82" charset="2"/>
            </a:pPr>
            <a:r>
              <a:rPr lang="en-US" altLang="zh-CN" sz="2000" dirty="0">
                <a:ea typeface="宋体" panose="02010600030101010101" pitchFamily="2" charset="-122"/>
              </a:rPr>
              <a:t>handoff initiated by old BSS</a:t>
            </a:r>
            <a:endParaRPr lang="en-US" altLang="zh-CN" sz="2000" dirty="0">
              <a:ea typeface="宋体" panose="02010600030101010101" pitchFamily="2" charset="-122"/>
            </a:endParaRPr>
          </a:p>
          <a:p>
            <a:pPr lvl="1">
              <a:buClr>
                <a:schemeClr val="accent2"/>
              </a:buClr>
              <a:buSzPct val="75000"/>
              <a:buFont typeface="ZapfDingbats" pitchFamily="82" charset="2"/>
            </a:pPr>
            <a:endParaRPr lang="en-US" altLang="zh-CN" sz="1800" dirty="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0290"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0291" name="Line 3"/>
          <p:cNvSpPr/>
          <p:nvPr/>
        </p:nvSpPr>
        <p:spPr>
          <a:xfrm flipV="1">
            <a:off x="982663" y="3452813"/>
            <a:ext cx="520700" cy="342900"/>
          </a:xfrm>
          <a:prstGeom prst="line">
            <a:avLst/>
          </a:prstGeom>
          <a:ln w="28575" cap="flat" cmpd="sng">
            <a:solidFill>
              <a:srgbClr val="FF0000"/>
            </a:solidFill>
            <a:prstDash val="solid"/>
            <a:round/>
            <a:headEnd type="none" w="med" len="med"/>
            <a:tailEnd type="triangle" w="med" len="med"/>
          </a:ln>
        </p:spPr>
      </p:sp>
      <p:grpSp>
        <p:nvGrpSpPr>
          <p:cNvPr id="140292" name="Group 5"/>
          <p:cNvGrpSpPr/>
          <p:nvPr/>
        </p:nvGrpSpPr>
        <p:grpSpPr>
          <a:xfrm>
            <a:off x="368300" y="3590925"/>
            <a:ext cx="498475" cy="636588"/>
            <a:chOff x="3796" y="1043"/>
            <a:chExt cx="865" cy="1237"/>
          </a:xfrm>
        </p:grpSpPr>
        <p:sp>
          <p:nvSpPr>
            <p:cNvPr id="140293" name="Line 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0294" name="Line 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0295" name="Line 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0296" name="Line 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0297" name="Line 1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0298" name="Line 1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0299" name="Line 1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0300" name="Line 1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0301" name="Line 1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0302" name="Line 1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0303" name="Line 1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0304" name="Line 1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0305" name="Line 1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0306" name="Line 1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0307" name="Line 2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0308" name="Group 21"/>
            <p:cNvGrpSpPr/>
            <p:nvPr/>
          </p:nvGrpSpPr>
          <p:grpSpPr>
            <a:xfrm>
              <a:off x="4269" y="1415"/>
              <a:ext cx="392" cy="137"/>
              <a:chOff x="4227" y="1360"/>
              <a:chExt cx="863" cy="270"/>
            </a:xfrm>
          </p:grpSpPr>
          <p:sp>
            <p:nvSpPr>
              <p:cNvPr id="140309" name="Line 2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10" name="Line 2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11" name="Line 2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12" name="Line 2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0313" name="Group 26"/>
            <p:cNvGrpSpPr/>
            <p:nvPr/>
          </p:nvGrpSpPr>
          <p:grpSpPr>
            <a:xfrm rot="5700496">
              <a:off x="4050" y="1168"/>
              <a:ext cx="392" cy="137"/>
              <a:chOff x="4227" y="1360"/>
              <a:chExt cx="863" cy="270"/>
            </a:xfrm>
          </p:grpSpPr>
          <p:sp>
            <p:nvSpPr>
              <p:cNvPr id="140314" name="Line 2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15" name="Line 2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16" name="Line 2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17" name="Line 3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0318" name="Group 31"/>
            <p:cNvGrpSpPr/>
            <p:nvPr/>
          </p:nvGrpSpPr>
          <p:grpSpPr>
            <a:xfrm rot="10800000">
              <a:off x="3796" y="1402"/>
              <a:ext cx="392" cy="137"/>
              <a:chOff x="4227" y="1360"/>
              <a:chExt cx="863" cy="270"/>
            </a:xfrm>
          </p:grpSpPr>
          <p:sp>
            <p:nvSpPr>
              <p:cNvPr id="140319" name="Line 3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20" name="Line 3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21" name="Line 3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22" name="Line 3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0323" name="Line 36"/>
          <p:cNvSpPr/>
          <p:nvPr/>
        </p:nvSpPr>
        <p:spPr>
          <a:xfrm flipV="1">
            <a:off x="608013" y="3435350"/>
            <a:ext cx="1176337" cy="776288"/>
          </a:xfrm>
          <a:prstGeom prst="line">
            <a:avLst/>
          </a:prstGeom>
          <a:ln w="9525" cap="flat" cmpd="sng">
            <a:solidFill>
              <a:schemeClr val="tx1"/>
            </a:solidFill>
            <a:prstDash val="solid"/>
            <a:round/>
            <a:headEnd type="none" w="med" len="med"/>
            <a:tailEnd type="none" w="med" len="med"/>
          </a:ln>
        </p:spPr>
      </p:sp>
      <p:grpSp>
        <p:nvGrpSpPr>
          <p:cNvPr id="140324" name="Group 37"/>
          <p:cNvGrpSpPr/>
          <p:nvPr/>
        </p:nvGrpSpPr>
        <p:grpSpPr>
          <a:xfrm>
            <a:off x="1166813" y="4429125"/>
            <a:ext cx="1441450" cy="346075"/>
            <a:chOff x="3072" y="739"/>
            <a:chExt cx="652" cy="146"/>
          </a:xfrm>
        </p:grpSpPr>
        <p:pic>
          <p:nvPicPr>
            <p:cNvPr id="140325" name="Picture 38"/>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140326" name="Line 39"/>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140327" name="Line 40"/>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grpSp>
        <p:nvGrpSpPr>
          <p:cNvPr id="140328" name="Group 41"/>
          <p:cNvGrpSpPr/>
          <p:nvPr/>
        </p:nvGrpSpPr>
        <p:grpSpPr>
          <a:xfrm>
            <a:off x="1631950" y="2740025"/>
            <a:ext cx="987425" cy="730250"/>
            <a:chOff x="2197" y="1155"/>
            <a:chExt cx="622" cy="460"/>
          </a:xfrm>
        </p:grpSpPr>
        <p:grpSp>
          <p:nvGrpSpPr>
            <p:cNvPr id="140329" name="Group 42"/>
            <p:cNvGrpSpPr/>
            <p:nvPr/>
          </p:nvGrpSpPr>
          <p:grpSpPr>
            <a:xfrm>
              <a:off x="2198" y="1176"/>
              <a:ext cx="621" cy="426"/>
              <a:chOff x="3164" y="2556"/>
              <a:chExt cx="901" cy="338"/>
            </a:xfrm>
          </p:grpSpPr>
          <p:sp>
            <p:nvSpPr>
              <p:cNvPr id="140330" name="Rectangle 43"/>
              <p:cNvSpPr/>
              <p:nvPr/>
            </p:nvSpPr>
            <p:spPr>
              <a:xfrm>
                <a:off x="3164" y="2556"/>
                <a:ext cx="901" cy="3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31" name="Text Box 44"/>
              <p:cNvSpPr txBox="1"/>
              <p:nvPr/>
            </p:nvSpPr>
            <p:spPr>
              <a:xfrm>
                <a:off x="3212" y="2573"/>
                <a:ext cx="168" cy="183"/>
              </a:xfrm>
              <a:prstGeom prst="rect">
                <a:avLst/>
              </a:prstGeom>
              <a:solidFill>
                <a:schemeClr val="accent1"/>
              </a:solid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grpSp>
        <p:sp>
          <p:nvSpPr>
            <p:cNvPr id="140332" name="Text Box 45"/>
            <p:cNvSpPr txBox="1"/>
            <p:nvPr/>
          </p:nvSpPr>
          <p:spPr>
            <a:xfrm>
              <a:off x="2197" y="1155"/>
              <a:ext cx="616" cy="460"/>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Mobile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Switching </a:t>
              </a:r>
              <a:endParaRPr lang="en-US" altLang="zh-CN" sz="1400" dirty="0">
                <a:latin typeface="Arial" panose="020B0604020202020204" pitchFamily="34" charset="0"/>
                <a:ea typeface="宋体" panose="02010600030101010101" pitchFamily="2" charset="-122"/>
              </a:endParaRPr>
            </a:p>
            <a:p>
              <a:pPr algn="ctr">
                <a:buClrTx/>
                <a:buFontTx/>
              </a:pPr>
              <a:r>
                <a:rPr lang="en-US" altLang="zh-CN" sz="1400" dirty="0">
                  <a:latin typeface="Arial" panose="020B0604020202020204" pitchFamily="34" charset="0"/>
                  <a:ea typeface="宋体" panose="02010600030101010101" pitchFamily="2" charset="-122"/>
                </a:rPr>
                <a:t>Center</a:t>
              </a:r>
              <a:endParaRPr lang="en-US" altLang="zh-CN" sz="1400" dirty="0">
                <a:latin typeface="Arial" panose="020B0604020202020204" pitchFamily="34" charset="0"/>
                <a:ea typeface="宋体" panose="02010600030101010101" pitchFamily="2" charset="-122"/>
              </a:endParaRPr>
            </a:p>
          </p:txBody>
        </p:sp>
      </p:grpSp>
      <p:grpSp>
        <p:nvGrpSpPr>
          <p:cNvPr id="140333" name="Group 46"/>
          <p:cNvGrpSpPr/>
          <p:nvPr/>
        </p:nvGrpSpPr>
        <p:grpSpPr>
          <a:xfrm>
            <a:off x="1144588" y="2532063"/>
            <a:ext cx="636587" cy="493712"/>
            <a:chOff x="3202" y="3056"/>
            <a:chExt cx="401" cy="311"/>
          </a:xfrm>
        </p:grpSpPr>
        <p:sp>
          <p:nvSpPr>
            <p:cNvPr id="140334" name="Oval 47"/>
            <p:cNvSpPr/>
            <p:nvPr/>
          </p:nvSpPr>
          <p:spPr>
            <a:xfrm>
              <a:off x="3203" y="3295"/>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35" name="Line 48"/>
            <p:cNvSpPr/>
            <p:nvPr/>
          </p:nvSpPr>
          <p:spPr>
            <a:xfrm>
              <a:off x="3204" y="3096"/>
              <a:ext cx="0" cy="234"/>
            </a:xfrm>
            <a:prstGeom prst="line">
              <a:avLst/>
            </a:prstGeom>
            <a:ln w="9525" cap="flat" cmpd="sng">
              <a:solidFill>
                <a:schemeClr val="tx1"/>
              </a:solidFill>
              <a:prstDash val="solid"/>
              <a:round/>
              <a:headEnd type="none" w="med" len="med"/>
              <a:tailEnd type="none" w="med" len="med"/>
            </a:ln>
          </p:spPr>
        </p:sp>
        <p:sp>
          <p:nvSpPr>
            <p:cNvPr id="140336" name="Rectangle 49"/>
            <p:cNvSpPr/>
            <p:nvPr/>
          </p:nvSpPr>
          <p:spPr>
            <a:xfrm>
              <a:off x="3210" y="3090"/>
              <a:ext cx="393" cy="234"/>
            </a:xfrm>
            <a:prstGeom prst="rect">
              <a:avLst/>
            </a:prstGeom>
            <a:solidFill>
              <a:schemeClr val="accent1"/>
            </a:solidFill>
            <a:ln w="9525">
              <a:noFill/>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37" name="Oval 50"/>
            <p:cNvSpPr/>
            <p:nvPr/>
          </p:nvSpPr>
          <p:spPr>
            <a:xfrm>
              <a:off x="3202" y="3056"/>
              <a:ext cx="400" cy="7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38" name="Line 51"/>
            <p:cNvSpPr/>
            <p:nvPr/>
          </p:nvSpPr>
          <p:spPr>
            <a:xfrm>
              <a:off x="3603" y="3099"/>
              <a:ext cx="0" cy="234"/>
            </a:xfrm>
            <a:prstGeom prst="line">
              <a:avLst/>
            </a:prstGeom>
            <a:ln w="9525" cap="flat" cmpd="sng">
              <a:solidFill>
                <a:schemeClr val="tx1"/>
              </a:solidFill>
              <a:prstDash val="solid"/>
              <a:round/>
              <a:headEnd type="none" w="med" len="med"/>
              <a:tailEnd type="none" w="med" len="med"/>
            </a:ln>
          </p:spPr>
        </p:sp>
        <p:sp>
          <p:nvSpPr>
            <p:cNvPr id="140339" name="Text Box 52"/>
            <p:cNvSpPr txBox="1"/>
            <p:nvPr/>
          </p:nvSpPr>
          <p:spPr>
            <a:xfrm>
              <a:off x="3218" y="3137"/>
              <a:ext cx="364" cy="212"/>
            </a:xfrm>
            <a:prstGeom prst="rect">
              <a:avLst/>
            </a:prstGeom>
            <a:noFill/>
            <a:ln w="9525">
              <a:noFill/>
            </a:ln>
          </p:spPr>
          <p:txBody>
            <a:bodyPr wrap="none" anchor="t" anchorCtr="0">
              <a:spAutoFit/>
            </a:bodyPr>
            <a:p>
              <a:pPr>
                <a:buClrTx/>
                <a:buFontTx/>
              </a:pPr>
              <a:r>
                <a:rPr lang="en-US" altLang="zh-CN" sz="1600" dirty="0">
                  <a:latin typeface="Arial" panose="020B0604020202020204" pitchFamily="34" charset="0"/>
                  <a:ea typeface="宋体" panose="02010600030101010101" pitchFamily="2" charset="-122"/>
                </a:rPr>
                <a:t>VLR</a:t>
              </a:r>
              <a:endParaRPr lang="en-US" altLang="zh-CN" sz="1600" dirty="0">
                <a:latin typeface="Arial" panose="020B0604020202020204" pitchFamily="34" charset="0"/>
                <a:ea typeface="宋体" panose="02010600030101010101" pitchFamily="2" charset="-122"/>
              </a:endParaRPr>
            </a:p>
          </p:txBody>
        </p:sp>
      </p:grpSp>
      <p:grpSp>
        <p:nvGrpSpPr>
          <p:cNvPr id="140340" name="Group 53"/>
          <p:cNvGrpSpPr/>
          <p:nvPr/>
        </p:nvGrpSpPr>
        <p:grpSpPr>
          <a:xfrm>
            <a:off x="3352800" y="3590925"/>
            <a:ext cx="498475" cy="636588"/>
            <a:chOff x="3796" y="1043"/>
            <a:chExt cx="865" cy="1237"/>
          </a:xfrm>
        </p:grpSpPr>
        <p:sp>
          <p:nvSpPr>
            <p:cNvPr id="140341" name="Line 5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0342" name="Line 5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0343" name="Line 5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0344" name="Line 5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0345" name="Line 5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0346" name="Line 5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0347" name="Line 6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0348" name="Line 6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0349" name="Line 6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0350" name="Line 6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0351" name="Line 6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0352" name="Line 6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0353" name="Line 6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0354" name="Line 6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0355" name="Line 6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0356" name="Group 69"/>
            <p:cNvGrpSpPr/>
            <p:nvPr/>
          </p:nvGrpSpPr>
          <p:grpSpPr>
            <a:xfrm>
              <a:off x="4269" y="1415"/>
              <a:ext cx="392" cy="137"/>
              <a:chOff x="4227" y="1360"/>
              <a:chExt cx="863" cy="270"/>
            </a:xfrm>
          </p:grpSpPr>
          <p:sp>
            <p:nvSpPr>
              <p:cNvPr id="140357" name="Line 7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58" name="Line 7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59" name="Line 7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60" name="Line 7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0361" name="Group 74"/>
            <p:cNvGrpSpPr/>
            <p:nvPr/>
          </p:nvGrpSpPr>
          <p:grpSpPr>
            <a:xfrm rot="5700496">
              <a:off x="4050" y="1168"/>
              <a:ext cx="392" cy="137"/>
              <a:chOff x="4227" y="1360"/>
              <a:chExt cx="863" cy="270"/>
            </a:xfrm>
          </p:grpSpPr>
          <p:sp>
            <p:nvSpPr>
              <p:cNvPr id="140362" name="Line 7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63" name="Line 7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64" name="Line 7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65" name="Line 7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0366" name="Group 79"/>
            <p:cNvGrpSpPr/>
            <p:nvPr/>
          </p:nvGrpSpPr>
          <p:grpSpPr>
            <a:xfrm rot="10800000">
              <a:off x="3796" y="1402"/>
              <a:ext cx="392" cy="137"/>
              <a:chOff x="4227" y="1360"/>
              <a:chExt cx="863" cy="270"/>
            </a:xfrm>
          </p:grpSpPr>
          <p:sp>
            <p:nvSpPr>
              <p:cNvPr id="140367" name="Line 8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0368" name="Line 8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0369" name="Line 8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0370" name="Line 8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0371" name="Line 84"/>
          <p:cNvSpPr/>
          <p:nvPr/>
        </p:nvSpPr>
        <p:spPr>
          <a:xfrm flipH="1" flipV="1">
            <a:off x="2449513" y="3448050"/>
            <a:ext cx="1176337" cy="776288"/>
          </a:xfrm>
          <a:prstGeom prst="line">
            <a:avLst/>
          </a:prstGeom>
          <a:ln w="9525" cap="flat" cmpd="sng">
            <a:solidFill>
              <a:schemeClr val="tx1"/>
            </a:solidFill>
            <a:prstDash val="solid"/>
            <a:round/>
            <a:headEnd type="none" w="med" len="med"/>
            <a:tailEnd type="none" w="med" len="med"/>
          </a:ln>
        </p:spPr>
      </p:sp>
      <p:sp>
        <p:nvSpPr>
          <p:cNvPr id="140372" name="Text Box 85"/>
          <p:cNvSpPr txBox="1"/>
          <p:nvPr/>
        </p:nvSpPr>
        <p:spPr>
          <a:xfrm>
            <a:off x="198438" y="4232275"/>
            <a:ext cx="82708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old BSS</a:t>
            </a:r>
            <a:endParaRPr lang="en-US" altLang="zh-CN" sz="1400" dirty="0">
              <a:latin typeface="Arial" panose="020B0604020202020204" pitchFamily="34" charset="0"/>
              <a:ea typeface="宋体" panose="02010600030101010101" pitchFamily="2" charset="-122"/>
            </a:endParaRPr>
          </a:p>
        </p:txBody>
      </p:sp>
      <p:grpSp>
        <p:nvGrpSpPr>
          <p:cNvPr id="140373" name="Group 87"/>
          <p:cNvGrpSpPr/>
          <p:nvPr/>
        </p:nvGrpSpPr>
        <p:grpSpPr>
          <a:xfrm>
            <a:off x="1039813" y="3487738"/>
            <a:ext cx="296862" cy="336550"/>
            <a:chOff x="3312" y="2598"/>
            <a:chExt cx="187" cy="212"/>
          </a:xfrm>
        </p:grpSpPr>
        <p:sp>
          <p:nvSpPr>
            <p:cNvPr id="140374" name="Oval 88"/>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75" name="Text Box 89"/>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1</a:t>
              </a:r>
              <a:endParaRPr lang="en-US" altLang="zh-CN" sz="1600" dirty="0">
                <a:solidFill>
                  <a:srgbClr val="FF0000"/>
                </a:solidFill>
                <a:latin typeface="Arial" panose="020B0604020202020204" pitchFamily="34" charset="0"/>
                <a:ea typeface="宋体" panose="02010600030101010101" pitchFamily="2" charset="-122"/>
              </a:endParaRPr>
            </a:p>
          </p:txBody>
        </p:sp>
      </p:grpSp>
      <p:grpSp>
        <p:nvGrpSpPr>
          <p:cNvPr id="140376" name="Group 90"/>
          <p:cNvGrpSpPr/>
          <p:nvPr/>
        </p:nvGrpSpPr>
        <p:grpSpPr>
          <a:xfrm>
            <a:off x="3319463" y="3919538"/>
            <a:ext cx="296862" cy="336550"/>
            <a:chOff x="3312" y="2598"/>
            <a:chExt cx="187" cy="212"/>
          </a:xfrm>
        </p:grpSpPr>
        <p:sp>
          <p:nvSpPr>
            <p:cNvPr id="140377" name="Oval 91"/>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78" name="Text Box 92"/>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3</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79" name="Line 93"/>
          <p:cNvSpPr/>
          <p:nvPr/>
        </p:nvSpPr>
        <p:spPr>
          <a:xfrm>
            <a:off x="2500313" y="3357563"/>
            <a:ext cx="920750" cy="584200"/>
          </a:xfrm>
          <a:prstGeom prst="line">
            <a:avLst/>
          </a:prstGeom>
          <a:ln w="28575" cap="flat" cmpd="sng">
            <a:solidFill>
              <a:srgbClr val="FF0000"/>
            </a:solidFill>
            <a:prstDash val="solid"/>
            <a:round/>
            <a:headEnd type="none" w="med" len="med"/>
            <a:tailEnd type="triangle" w="med" len="med"/>
          </a:ln>
        </p:spPr>
      </p:sp>
      <p:grpSp>
        <p:nvGrpSpPr>
          <p:cNvPr id="140380" name="Group 94"/>
          <p:cNvGrpSpPr/>
          <p:nvPr/>
        </p:nvGrpSpPr>
        <p:grpSpPr>
          <a:xfrm>
            <a:off x="2379663" y="3208338"/>
            <a:ext cx="296862" cy="336550"/>
            <a:chOff x="3312" y="2598"/>
            <a:chExt cx="187" cy="212"/>
          </a:xfrm>
        </p:grpSpPr>
        <p:sp>
          <p:nvSpPr>
            <p:cNvPr id="140381" name="Oval 95"/>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82" name="Text Box 96"/>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2</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83" name="Freeform 97"/>
          <p:cNvSpPr/>
          <p:nvPr/>
        </p:nvSpPr>
        <p:spPr>
          <a:xfrm>
            <a:off x="823913" y="3406775"/>
            <a:ext cx="2425700" cy="738188"/>
          </a:xfrm>
          <a:custGeom>
            <a:avLst/>
            <a:gdLst/>
            <a:ahLst/>
            <a:cxnLst>
              <a:cxn ang="0">
                <a:pos x="2147483646" y="1071067925"/>
              </a:cxn>
              <a:cxn ang="0">
                <a:pos x="2147483646" y="183972325"/>
              </a:cxn>
              <a:cxn ang="0">
                <a:pos x="1592738750" y="163811061"/>
              </a:cxn>
              <a:cxn ang="0">
                <a:pos x="0" y="1171874244"/>
              </a:cxn>
            </a:cxnLst>
            <a:pathLst>
              <a:path w="1528" h="465">
                <a:moveTo>
                  <a:pt x="1528" y="425"/>
                </a:moveTo>
                <a:cubicBezTo>
                  <a:pt x="1340" y="279"/>
                  <a:pt x="1153" y="133"/>
                  <a:pt x="1004" y="73"/>
                </a:cubicBezTo>
                <a:cubicBezTo>
                  <a:pt x="855" y="13"/>
                  <a:pt x="799" y="0"/>
                  <a:pt x="632" y="65"/>
                </a:cubicBezTo>
                <a:cubicBezTo>
                  <a:pt x="465" y="130"/>
                  <a:pt x="232" y="297"/>
                  <a:pt x="0" y="465"/>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0384" name="Group 98"/>
          <p:cNvGrpSpPr/>
          <p:nvPr/>
        </p:nvGrpSpPr>
        <p:grpSpPr>
          <a:xfrm>
            <a:off x="1947863" y="3341688"/>
            <a:ext cx="296862" cy="336550"/>
            <a:chOff x="3312" y="2598"/>
            <a:chExt cx="187" cy="212"/>
          </a:xfrm>
        </p:grpSpPr>
        <p:sp>
          <p:nvSpPr>
            <p:cNvPr id="140385" name="Oval 99"/>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86" name="Text Box 100"/>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4</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87" name="Line 101"/>
          <p:cNvSpPr/>
          <p:nvPr/>
        </p:nvSpPr>
        <p:spPr>
          <a:xfrm>
            <a:off x="957263" y="4259263"/>
            <a:ext cx="596900" cy="254000"/>
          </a:xfrm>
          <a:prstGeom prst="line">
            <a:avLst/>
          </a:prstGeom>
          <a:ln w="28575" cap="flat" cmpd="sng">
            <a:solidFill>
              <a:srgbClr val="FF0000"/>
            </a:solidFill>
            <a:prstDash val="solid"/>
            <a:round/>
            <a:headEnd type="none" w="med" len="med"/>
            <a:tailEnd type="triangle" w="med" len="med"/>
          </a:ln>
        </p:spPr>
      </p:sp>
      <p:grpSp>
        <p:nvGrpSpPr>
          <p:cNvPr id="140388" name="Group 102"/>
          <p:cNvGrpSpPr/>
          <p:nvPr/>
        </p:nvGrpSpPr>
        <p:grpSpPr>
          <a:xfrm>
            <a:off x="1071563" y="4192588"/>
            <a:ext cx="296862" cy="336550"/>
            <a:chOff x="3312" y="2598"/>
            <a:chExt cx="187" cy="212"/>
          </a:xfrm>
        </p:grpSpPr>
        <p:sp>
          <p:nvSpPr>
            <p:cNvPr id="140389" name="Oval 103"/>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90" name="Text Box 104"/>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5</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91" name="Freeform 105"/>
          <p:cNvSpPr/>
          <p:nvPr/>
        </p:nvSpPr>
        <p:spPr>
          <a:xfrm>
            <a:off x="2525713" y="4100513"/>
            <a:ext cx="844550" cy="520700"/>
          </a:xfrm>
          <a:custGeom>
            <a:avLst/>
            <a:gdLst/>
            <a:ahLst/>
            <a:cxnLst>
              <a:cxn ang="0">
                <a:pos x="0" y="685482500"/>
              </a:cxn>
              <a:cxn ang="0">
                <a:pos x="1239916875" y="131048125"/>
              </a:cxn>
              <a:cxn ang="0">
                <a:pos x="171370625" y="826611250"/>
              </a:cxn>
            </a:cxnLst>
            <a:pathLst>
              <a:path w="532" h="328">
                <a:moveTo>
                  <a:pt x="0" y="272"/>
                </a:moveTo>
                <a:cubicBezTo>
                  <a:pt x="82" y="235"/>
                  <a:pt x="452" y="0"/>
                  <a:pt x="492" y="52"/>
                </a:cubicBezTo>
                <a:cubicBezTo>
                  <a:pt x="532" y="104"/>
                  <a:pt x="156" y="270"/>
                  <a:pt x="68" y="328"/>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0392" name="Group 106"/>
          <p:cNvGrpSpPr/>
          <p:nvPr/>
        </p:nvGrpSpPr>
        <p:grpSpPr>
          <a:xfrm>
            <a:off x="2811463" y="4211638"/>
            <a:ext cx="296862" cy="336550"/>
            <a:chOff x="3312" y="2598"/>
            <a:chExt cx="187" cy="212"/>
          </a:xfrm>
        </p:grpSpPr>
        <p:sp>
          <p:nvSpPr>
            <p:cNvPr id="140393" name="Oval 107"/>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94" name="Text Box 108"/>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6</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95" name="Freeform 109"/>
          <p:cNvSpPr/>
          <p:nvPr/>
        </p:nvSpPr>
        <p:spPr>
          <a:xfrm>
            <a:off x="2303463" y="3567113"/>
            <a:ext cx="755650" cy="920750"/>
          </a:xfrm>
          <a:custGeom>
            <a:avLst/>
            <a:gdLst/>
            <a:ahLst/>
            <a:cxnLst>
              <a:cxn ang="0">
                <a:pos x="171370625" y="1461690625"/>
              </a:cxn>
              <a:cxn ang="0">
                <a:pos x="1189513750" y="816530625"/>
              </a:cxn>
              <a:cxn ang="0">
                <a:pos x="0" y="0"/>
              </a:cxn>
            </a:cxnLst>
            <a:pathLst>
              <a:path w="476" h="580">
                <a:moveTo>
                  <a:pt x="68" y="580"/>
                </a:moveTo>
                <a:cubicBezTo>
                  <a:pt x="135" y="537"/>
                  <a:pt x="468" y="380"/>
                  <a:pt x="472" y="324"/>
                </a:cubicBezTo>
                <a:cubicBezTo>
                  <a:pt x="476" y="268"/>
                  <a:pt x="98" y="67"/>
                  <a:pt x="0"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0396" name="Group 110"/>
          <p:cNvGrpSpPr/>
          <p:nvPr/>
        </p:nvGrpSpPr>
        <p:grpSpPr>
          <a:xfrm>
            <a:off x="2411413" y="3627438"/>
            <a:ext cx="296862" cy="336550"/>
            <a:chOff x="3312" y="2598"/>
            <a:chExt cx="187" cy="212"/>
          </a:xfrm>
        </p:grpSpPr>
        <p:sp>
          <p:nvSpPr>
            <p:cNvPr id="140397" name="Oval 111"/>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398" name="Text Box 112"/>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7</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399" name="Line 113"/>
          <p:cNvSpPr/>
          <p:nvPr/>
        </p:nvSpPr>
        <p:spPr>
          <a:xfrm flipH="1">
            <a:off x="1058863" y="3598863"/>
            <a:ext cx="812800" cy="539750"/>
          </a:xfrm>
          <a:prstGeom prst="line">
            <a:avLst/>
          </a:prstGeom>
          <a:ln w="28575" cap="flat" cmpd="sng">
            <a:solidFill>
              <a:srgbClr val="FF0000"/>
            </a:solidFill>
            <a:prstDash val="solid"/>
            <a:round/>
            <a:headEnd type="none" w="med" len="med"/>
            <a:tailEnd type="triangle" w="med" len="med"/>
          </a:ln>
        </p:spPr>
      </p:sp>
      <p:grpSp>
        <p:nvGrpSpPr>
          <p:cNvPr id="140400" name="Group 114"/>
          <p:cNvGrpSpPr/>
          <p:nvPr/>
        </p:nvGrpSpPr>
        <p:grpSpPr>
          <a:xfrm>
            <a:off x="1370013" y="3741738"/>
            <a:ext cx="296862" cy="336550"/>
            <a:chOff x="3312" y="2598"/>
            <a:chExt cx="187" cy="212"/>
          </a:xfrm>
        </p:grpSpPr>
        <p:sp>
          <p:nvSpPr>
            <p:cNvPr id="140401" name="Oval 115"/>
            <p:cNvSpPr/>
            <p:nvPr/>
          </p:nvSpPr>
          <p:spPr>
            <a:xfrm>
              <a:off x="3334" y="2622"/>
              <a:ext cx="150" cy="159"/>
            </a:xfrm>
            <a:prstGeom prst="ellipse">
              <a:avLst/>
            </a:prstGeom>
            <a:solidFill>
              <a:schemeClr val="bg1"/>
            </a:solidFill>
            <a:ln w="19050" cap="flat" cmpd="sng">
              <a:solidFill>
                <a:srgbClr val="FF0000"/>
              </a:solidFill>
              <a:prstDash val="solid"/>
              <a:round/>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0402" name="Text Box 116"/>
            <p:cNvSpPr txBox="1"/>
            <p:nvPr/>
          </p:nvSpPr>
          <p:spPr>
            <a:xfrm>
              <a:off x="3312" y="2598"/>
              <a:ext cx="187" cy="212"/>
            </a:xfrm>
            <a:prstGeom prst="rect">
              <a:avLst/>
            </a:prstGeom>
            <a:noFill/>
            <a:ln w="9525">
              <a:noFill/>
            </a:ln>
          </p:spPr>
          <p:txBody>
            <a:bodyPr wrap="none" anchor="t" anchorCtr="0">
              <a:spAutoFit/>
            </a:bodyPr>
            <a:p>
              <a:pPr eaLnBrk="0" hangingPunct="0">
                <a:buClrTx/>
                <a:buFontTx/>
              </a:pPr>
              <a:r>
                <a:rPr lang="en-US" altLang="zh-CN" sz="1600" dirty="0">
                  <a:solidFill>
                    <a:srgbClr val="FF0000"/>
                  </a:solidFill>
                  <a:latin typeface="Arial" panose="020B0604020202020204" pitchFamily="34" charset="0"/>
                  <a:ea typeface="宋体" panose="02010600030101010101" pitchFamily="2" charset="-122"/>
                </a:rPr>
                <a:t>8</a:t>
              </a:r>
              <a:endParaRPr lang="en-US" altLang="zh-CN" sz="1600" dirty="0">
                <a:solidFill>
                  <a:srgbClr val="FF0000"/>
                </a:solidFill>
                <a:latin typeface="Arial" panose="020B0604020202020204" pitchFamily="34" charset="0"/>
                <a:ea typeface="宋体" panose="02010600030101010101" pitchFamily="2" charset="-122"/>
              </a:endParaRPr>
            </a:p>
          </p:txBody>
        </p:sp>
      </p:grpSp>
      <p:sp>
        <p:nvSpPr>
          <p:cNvPr id="140403" name="Rectangle 118"/>
          <p:cNvSpPr/>
          <p:nvPr/>
        </p:nvSpPr>
        <p:spPr>
          <a:xfrm>
            <a:off x="519113" y="290513"/>
            <a:ext cx="7772400" cy="11430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GSM: handoff with common MSC</a:t>
            </a:r>
            <a:endParaRPr lang="en-US" altLang="zh-CN" sz="3200" u="sng" dirty="0">
              <a:solidFill>
                <a:schemeClr val="accent2"/>
              </a:solidFill>
              <a:latin typeface="Comic Sans MS" panose="030F0702030302020204" pitchFamily="66" charset="0"/>
              <a:ea typeface="宋体" panose="02010600030101010101" pitchFamily="2" charset="-122"/>
            </a:endParaRPr>
          </a:p>
        </p:txBody>
      </p:sp>
      <p:sp>
        <p:nvSpPr>
          <p:cNvPr id="140404" name="Text Box 119"/>
          <p:cNvSpPr txBox="1"/>
          <p:nvPr/>
        </p:nvSpPr>
        <p:spPr>
          <a:xfrm>
            <a:off x="3024188" y="4360863"/>
            <a:ext cx="91598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new BSS</a:t>
            </a:r>
            <a:endParaRPr lang="en-US" altLang="zh-CN" sz="1400" dirty="0">
              <a:latin typeface="Arial" panose="020B0604020202020204" pitchFamily="34" charset="0"/>
              <a:ea typeface="宋体" panose="02010600030101010101" pitchFamily="2" charset="-122"/>
            </a:endParaRPr>
          </a:p>
        </p:txBody>
      </p:sp>
      <p:sp>
        <p:nvSpPr>
          <p:cNvPr id="140405" name="Rectangle 120"/>
          <p:cNvSpPr/>
          <p:nvPr/>
        </p:nvSpPr>
        <p:spPr>
          <a:xfrm>
            <a:off x="4140200" y="1360488"/>
            <a:ext cx="5003800" cy="4648200"/>
          </a:xfrm>
          <a:prstGeom prst="rect">
            <a:avLst/>
          </a:prstGeom>
          <a:noFill/>
          <a:ln w="9525">
            <a:noFill/>
          </a:ln>
        </p:spPr>
        <p:txBody>
          <a:bodyPr anchor="t" anchorCtr="0"/>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1. old BSS informs MSC of impending handoff, provides list of 1</a:t>
            </a:r>
            <a:r>
              <a:rPr lang="en-US" altLang="zh-CN" sz="2000" baseline="30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new BSSs </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2. MSC sets up path (allocates resources) to new BSS</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3. new BSS allocates radio channel for use by mobile</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4. new BSS signals MSC, old BSS: ready </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5. old BSS tells mobile: perform handoff to new BSS</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6. mobile, new BSS signal to activate new channel</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7. mobile signals via new BSS to MSC: handoff complete.  MSC reroutes call</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r>
              <a:rPr lang="en-US" altLang="zh-CN" sz="2000" dirty="0">
                <a:latin typeface="Arial" panose="020B0604020202020204" pitchFamily="34" charset="0"/>
                <a:ea typeface="宋体" panose="02010600030101010101" pitchFamily="2" charset="-122"/>
              </a:rPr>
              <a:t>8 MSC-old-BSS resources released</a:t>
            </a:r>
            <a:endParaRPr lang="en-US" altLang="zh-CN" sz="2000" dirty="0">
              <a:latin typeface="Arial" panose="020B0604020202020204" pitchFamily="34" charset="0"/>
              <a:ea typeface="宋体" panose="02010600030101010101" pitchFamily="2" charset="-122"/>
            </a:endParaRPr>
          </a:p>
          <a:p>
            <a:pPr marL="281305" indent="-281305" eaLnBrk="0" hangingPunct="0">
              <a:spcBef>
                <a:spcPct val="20000"/>
              </a:spcBef>
              <a:buClr>
                <a:schemeClr val="accent2"/>
              </a:buClr>
              <a:buSzPct val="85000"/>
              <a:buFont typeface="ZapfDingbats" pitchFamily="82" charset="2"/>
            </a:pPr>
            <a:endParaRPr lang="en-US" altLang="zh-CN" sz="2400" dirty="0">
              <a:latin typeface="Arial" panose="020B0604020202020204" pitchFamily="34" charset="0"/>
              <a:ea typeface="宋体" panose="02010600030101010101" pitchFamily="2" charset="-122"/>
            </a:endParaRPr>
          </a:p>
          <a:p>
            <a:pPr marL="889000" lvl="1" indent="-381000" algn="l" rtl="0" eaLnBrk="0" fontAlgn="base" hangingPunct="0">
              <a:spcBef>
                <a:spcPct val="20000"/>
              </a:spcBef>
              <a:spcAft>
                <a:spcPct val="0"/>
              </a:spcAft>
              <a:buClr>
                <a:schemeClr val="accent2"/>
              </a:buClr>
              <a:buSzPct val="75000"/>
              <a:buFont typeface="ZapfDingbats" pitchFamily="82" charset="2"/>
              <a:buNone/>
            </a:pPr>
            <a:endParaRPr lang="en-US" altLang="zh-CN" sz="2000" dirty="0">
              <a:solidFill>
                <a:schemeClr val="tx1"/>
              </a:solidFill>
              <a:latin typeface="Comic Sans MS" panose="030F0702030302020204" pitchFamily="66" charset="0"/>
              <a:ea typeface="宋体" panose="02010600030101010101" pitchFamily="2" charset="-122"/>
            </a:endParaRPr>
          </a:p>
        </p:txBody>
      </p:sp>
      <p:sp>
        <p:nvSpPr>
          <p:cNvPr id="140406" name="Line 121"/>
          <p:cNvSpPr/>
          <p:nvPr/>
        </p:nvSpPr>
        <p:spPr>
          <a:xfrm>
            <a:off x="2101850" y="2019300"/>
            <a:ext cx="0" cy="750888"/>
          </a:xfrm>
          <a:prstGeom prst="line">
            <a:avLst/>
          </a:prstGeom>
          <a:ln w="38100" cap="flat" cmpd="sng">
            <a:solidFill>
              <a:srgbClr val="FF3300"/>
            </a:solidFill>
            <a:prstDash val="solid"/>
            <a:round/>
            <a:headEnd type="none" w="med" len="med"/>
            <a:tailEnd type="triangle" w="med" len="med"/>
          </a:ln>
        </p:spPr>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233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142339" name="Group 2"/>
          <p:cNvGrpSpPr/>
          <p:nvPr/>
        </p:nvGrpSpPr>
        <p:grpSpPr>
          <a:xfrm>
            <a:off x="422275" y="2239963"/>
            <a:ext cx="1408113" cy="1109662"/>
            <a:chOff x="125" y="951"/>
            <a:chExt cx="887" cy="699"/>
          </a:xfrm>
        </p:grpSpPr>
        <p:sp>
          <p:nvSpPr>
            <p:cNvPr id="142340" name="Freeform 3"/>
            <p:cNvSpPr/>
            <p:nvPr/>
          </p:nvSpPr>
          <p:spPr>
            <a:xfrm>
              <a:off x="147" y="1148"/>
              <a:ext cx="817" cy="502"/>
            </a:xfrm>
            <a:custGeom>
              <a:avLst/>
              <a:gdLst/>
              <a:ahLst/>
              <a:cxnLst>
                <a:cxn ang="0">
                  <a:pos x="102" y="1"/>
                </a:cxn>
                <a:cxn ang="0">
                  <a:pos x="15" y="27"/>
                </a:cxn>
                <a:cxn ang="0">
                  <a:pos x="12" y="93"/>
                </a:cxn>
                <a:cxn ang="0">
                  <a:pos x="23" y="147"/>
                </a:cxn>
                <a:cxn ang="0">
                  <a:pos x="68" y="190"/>
                </a:cxn>
                <a:cxn ang="0">
                  <a:pos x="214" y="203"/>
                </a:cxn>
                <a:cxn ang="0">
                  <a:pos x="425" y="219"/>
                </a:cxn>
                <a:cxn ang="0">
                  <a:pos x="512" y="180"/>
                </a:cxn>
                <a:cxn ang="0">
                  <a:pos x="543" y="79"/>
                </a:cxn>
                <a:cxn ang="0">
                  <a:pos x="515" y="37"/>
                </a:cxn>
                <a:cxn ang="0">
                  <a:pos x="320" y="20"/>
                </a:cxn>
                <a:cxn ang="0">
                  <a:pos x="102" y="1"/>
                </a:cxn>
              </a:cxnLst>
              <a:pathLst>
                <a:path w="1209" h="1134">
                  <a:moveTo>
                    <a:pt x="224" y="6"/>
                  </a:moveTo>
                  <a:cubicBezTo>
                    <a:pt x="112" y="13"/>
                    <a:pt x="66" y="64"/>
                    <a:pt x="33" y="141"/>
                  </a:cubicBezTo>
                  <a:cubicBezTo>
                    <a:pt x="0" y="219"/>
                    <a:pt x="24" y="370"/>
                    <a:pt x="27" y="471"/>
                  </a:cubicBezTo>
                  <a:cubicBezTo>
                    <a:pt x="30" y="572"/>
                    <a:pt x="30" y="664"/>
                    <a:pt x="50" y="747"/>
                  </a:cubicBezTo>
                  <a:cubicBezTo>
                    <a:pt x="70" y="830"/>
                    <a:pt x="79" y="924"/>
                    <a:pt x="149" y="972"/>
                  </a:cubicBezTo>
                  <a:cubicBezTo>
                    <a:pt x="219" y="1020"/>
                    <a:pt x="339" y="1012"/>
                    <a:pt x="469" y="1036"/>
                  </a:cubicBezTo>
                  <a:cubicBezTo>
                    <a:pt x="599" y="1060"/>
                    <a:pt x="822" y="1134"/>
                    <a:pt x="931" y="1115"/>
                  </a:cubicBezTo>
                  <a:cubicBezTo>
                    <a:pt x="1040" y="1096"/>
                    <a:pt x="1079" y="1039"/>
                    <a:pt x="1122" y="920"/>
                  </a:cubicBezTo>
                  <a:cubicBezTo>
                    <a:pt x="1165" y="801"/>
                    <a:pt x="1188" y="523"/>
                    <a:pt x="1189" y="401"/>
                  </a:cubicBezTo>
                  <a:cubicBezTo>
                    <a:pt x="1190" y="279"/>
                    <a:pt x="1209" y="240"/>
                    <a:pt x="1128" y="190"/>
                  </a:cubicBezTo>
                  <a:cubicBezTo>
                    <a:pt x="1046" y="141"/>
                    <a:pt x="850" y="135"/>
                    <a:pt x="701" y="104"/>
                  </a:cubicBezTo>
                  <a:cubicBezTo>
                    <a:pt x="552" y="72"/>
                    <a:pt x="335" y="0"/>
                    <a:pt x="224" y="6"/>
                  </a:cubicBezTo>
                  <a:close/>
                </a:path>
              </a:pathLst>
            </a:custGeom>
            <a:solidFill>
              <a:srgbClr val="00FFFF"/>
            </a:solidFill>
            <a:ln w="9525">
              <a:noFill/>
            </a:ln>
          </p:spPr>
          <p:txBody>
            <a:bodyPr/>
            <a:p>
              <a:endParaRPr lang="zh-CN" altLang="en-US"/>
            </a:p>
          </p:txBody>
        </p:sp>
        <p:sp>
          <p:nvSpPr>
            <p:cNvPr id="142341" name="Text Box 4"/>
            <p:cNvSpPr txBox="1"/>
            <p:nvPr/>
          </p:nvSpPr>
          <p:spPr>
            <a:xfrm>
              <a:off x="142" y="951"/>
              <a:ext cx="870" cy="192"/>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home network</a:t>
              </a:r>
              <a:endParaRPr lang="en-US" altLang="zh-CN" sz="1400" dirty="0">
                <a:latin typeface="Arial" panose="020B0604020202020204" pitchFamily="34" charset="0"/>
                <a:ea typeface="宋体" panose="02010600030101010101" pitchFamily="2" charset="-122"/>
              </a:endParaRPr>
            </a:p>
          </p:txBody>
        </p:sp>
        <p:grpSp>
          <p:nvGrpSpPr>
            <p:cNvPr id="142342" name="Group 5"/>
            <p:cNvGrpSpPr/>
            <p:nvPr/>
          </p:nvGrpSpPr>
          <p:grpSpPr>
            <a:xfrm>
              <a:off x="125" y="1203"/>
              <a:ext cx="616" cy="326"/>
              <a:chOff x="581" y="459"/>
              <a:chExt cx="616" cy="326"/>
            </a:xfrm>
          </p:grpSpPr>
          <p:sp>
            <p:nvSpPr>
              <p:cNvPr id="142343" name="Rectangle 6"/>
              <p:cNvSpPr/>
              <p:nvPr/>
            </p:nvSpPr>
            <p:spPr>
              <a:xfrm>
                <a:off x="696" y="464"/>
                <a:ext cx="384" cy="3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344" name="Text Box 7"/>
              <p:cNvSpPr txBox="1"/>
              <p:nvPr/>
            </p:nvSpPr>
            <p:spPr>
              <a:xfrm>
                <a:off x="581" y="459"/>
                <a:ext cx="616" cy="326"/>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Home MSC</a:t>
                </a:r>
                <a:endParaRPr lang="en-US" altLang="zh-CN" sz="1400" dirty="0">
                  <a:latin typeface="Arial" panose="020B0604020202020204" pitchFamily="34" charset="0"/>
                  <a:ea typeface="宋体" panose="02010600030101010101" pitchFamily="2" charset="-122"/>
                </a:endParaRPr>
              </a:p>
            </p:txBody>
          </p:sp>
        </p:grpSp>
      </p:grpSp>
      <p:sp>
        <p:nvSpPr>
          <p:cNvPr id="142345" name="Freeform 15"/>
          <p:cNvSpPr/>
          <p:nvPr/>
        </p:nvSpPr>
        <p:spPr>
          <a:xfrm>
            <a:off x="1816100" y="2933700"/>
            <a:ext cx="1436688" cy="1617663"/>
          </a:xfrm>
          <a:custGeom>
            <a:avLst/>
            <a:gdLst/>
            <a:ahLst/>
            <a:cxnLst>
              <a:cxn ang="0">
                <a:pos x="295527389" y="11630417"/>
              </a:cxn>
              <a:cxn ang="0">
                <a:pos x="43278558" y="260848481"/>
              </a:cxn>
              <a:cxn ang="0">
                <a:pos x="35859377" y="868941537"/>
              </a:cxn>
              <a:cxn ang="0">
                <a:pos x="65534990" y="1377346594"/>
              </a:cxn>
              <a:cxn ang="0">
                <a:pos x="302946570" y="1447127806"/>
              </a:cxn>
              <a:cxn ang="0">
                <a:pos x="800026162" y="1875782722"/>
              </a:cxn>
              <a:cxn ang="0">
                <a:pos x="1230334234" y="2055219573"/>
              </a:cxn>
              <a:cxn ang="0">
                <a:pos x="1482583065" y="1696345871"/>
              </a:cxn>
              <a:cxn ang="0">
                <a:pos x="1571612129" y="739348040"/>
              </a:cxn>
              <a:cxn ang="0">
                <a:pos x="1490002246" y="350567551"/>
              </a:cxn>
              <a:cxn ang="0">
                <a:pos x="926151134" y="191067268"/>
              </a:cxn>
              <a:cxn ang="0">
                <a:pos x="295527389" y="11630417"/>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142346" name="Text Box 16"/>
          <p:cNvSpPr txBox="1"/>
          <p:nvPr/>
        </p:nvSpPr>
        <p:spPr>
          <a:xfrm>
            <a:off x="2316163" y="3529013"/>
            <a:ext cx="717550" cy="304800"/>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PSTN</a:t>
            </a:r>
            <a:endParaRPr lang="en-US" altLang="zh-CN" sz="1400" dirty="0">
              <a:latin typeface="Arial" panose="020B0604020202020204" pitchFamily="34" charset="0"/>
              <a:ea typeface="宋体" panose="02010600030101010101" pitchFamily="2" charset="-122"/>
            </a:endParaRPr>
          </a:p>
        </p:txBody>
      </p:sp>
      <p:grpSp>
        <p:nvGrpSpPr>
          <p:cNvPr id="142347" name="Group 17"/>
          <p:cNvGrpSpPr/>
          <p:nvPr/>
        </p:nvGrpSpPr>
        <p:grpSpPr>
          <a:xfrm>
            <a:off x="1709738" y="5129213"/>
            <a:ext cx="1441450" cy="346075"/>
            <a:chOff x="3072" y="739"/>
            <a:chExt cx="652" cy="146"/>
          </a:xfrm>
        </p:grpSpPr>
        <p:pic>
          <p:nvPicPr>
            <p:cNvPr id="142348" name="Picture 18"/>
            <p:cNvPicPr>
              <a:picLocks noChangeAspect="1"/>
            </p:cNvPicPr>
            <p:nvPr/>
          </p:nvPicPr>
          <p:blipFill>
            <a:blip r:embed="rId1"/>
            <a:stretch>
              <a:fillRect/>
            </a:stretch>
          </p:blipFill>
          <p:spPr>
            <a:xfrm flipH="1">
              <a:off x="3237" y="739"/>
              <a:ext cx="487" cy="146"/>
            </a:xfrm>
            <a:prstGeom prst="rect">
              <a:avLst/>
            </a:prstGeom>
            <a:noFill/>
            <a:ln w="9525">
              <a:noFill/>
            </a:ln>
          </p:spPr>
        </p:pic>
        <p:sp>
          <p:nvSpPr>
            <p:cNvPr id="142349" name="Line 19"/>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142350" name="Line 20"/>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pic>
        <p:nvPicPr>
          <p:cNvPr id="142351" name="Picture 21"/>
          <p:cNvPicPr>
            <a:picLocks noChangeAspect="1"/>
          </p:cNvPicPr>
          <p:nvPr/>
        </p:nvPicPr>
        <p:blipFill>
          <a:blip r:embed="rId2"/>
          <a:stretch>
            <a:fillRect/>
          </a:stretch>
        </p:blipFill>
        <p:spPr>
          <a:xfrm>
            <a:off x="3363913" y="2749550"/>
            <a:ext cx="411162" cy="477838"/>
          </a:xfrm>
          <a:prstGeom prst="rect">
            <a:avLst/>
          </a:prstGeom>
          <a:noFill/>
          <a:ln w="9525">
            <a:noFill/>
          </a:ln>
        </p:spPr>
      </p:pic>
      <p:sp>
        <p:nvSpPr>
          <p:cNvPr id="142352" name="Text Box 22"/>
          <p:cNvSpPr txBox="1"/>
          <p:nvPr/>
        </p:nvSpPr>
        <p:spPr>
          <a:xfrm>
            <a:off x="2633663" y="2455863"/>
            <a:ext cx="131603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p:txBody>
      </p:sp>
      <p:sp>
        <p:nvSpPr>
          <p:cNvPr id="142353" name="Freeform 23"/>
          <p:cNvSpPr/>
          <p:nvPr/>
        </p:nvSpPr>
        <p:spPr>
          <a:xfrm>
            <a:off x="1214438" y="2978150"/>
            <a:ext cx="2222500" cy="446088"/>
          </a:xfrm>
          <a:custGeom>
            <a:avLst/>
            <a:gdLst/>
            <a:ahLst/>
            <a:cxnLst>
              <a:cxn ang="0">
                <a:pos x="2147483646" y="262096544"/>
              </a:cxn>
              <a:cxn ang="0">
                <a:pos x="2147483646" y="524193088"/>
              </a:cxn>
              <a:cxn ang="0">
                <a:pos x="1995963750" y="685483268"/>
              </a:cxn>
              <a:cxn ang="0">
                <a:pos x="786288750" y="383064179"/>
              </a:cxn>
              <a:cxn ang="0">
                <a:pos x="0" y="0"/>
              </a:cxn>
            </a:cxnLst>
            <a:pathLst>
              <a:path w="1400" h="281">
                <a:moveTo>
                  <a:pt x="1400" y="104"/>
                </a:moveTo>
                <a:cubicBezTo>
                  <a:pt x="1381" y="121"/>
                  <a:pt x="1397" y="180"/>
                  <a:pt x="1296" y="208"/>
                </a:cubicBezTo>
                <a:cubicBezTo>
                  <a:pt x="1195" y="236"/>
                  <a:pt x="956" y="281"/>
                  <a:pt x="792" y="272"/>
                </a:cubicBezTo>
                <a:cubicBezTo>
                  <a:pt x="628" y="263"/>
                  <a:pt x="444" y="197"/>
                  <a:pt x="312" y="152"/>
                </a:cubicBezTo>
                <a:cubicBezTo>
                  <a:pt x="180" y="107"/>
                  <a:pt x="65" y="32"/>
                  <a:pt x="0"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42354" name="Freeform 24"/>
          <p:cNvSpPr/>
          <p:nvPr/>
        </p:nvSpPr>
        <p:spPr>
          <a:xfrm>
            <a:off x="1062038" y="3003550"/>
            <a:ext cx="1087437" cy="882650"/>
          </a:xfrm>
          <a:custGeom>
            <a:avLst/>
            <a:gdLst/>
            <a:ahLst/>
            <a:cxnLst>
              <a:cxn ang="0">
                <a:pos x="0" y="0"/>
              </a:cxn>
              <a:cxn ang="0">
                <a:pos x="1451609333" y="826611250"/>
              </a:cxn>
              <a:cxn ang="0">
                <a:pos x="1653221740" y="1189513750"/>
              </a:cxn>
              <a:cxn ang="0">
                <a:pos x="1126508532" y="1401206875"/>
              </a:cxn>
            </a:cxnLst>
            <a:pathLst>
              <a:path w="685" h="556">
                <a:moveTo>
                  <a:pt x="0" y="0"/>
                </a:moveTo>
                <a:cubicBezTo>
                  <a:pt x="96" y="55"/>
                  <a:pt x="467" y="249"/>
                  <a:pt x="576" y="328"/>
                </a:cubicBezTo>
                <a:cubicBezTo>
                  <a:pt x="685" y="407"/>
                  <a:pt x="677" y="434"/>
                  <a:pt x="656" y="472"/>
                </a:cubicBezTo>
                <a:cubicBezTo>
                  <a:pt x="635" y="510"/>
                  <a:pt x="491" y="539"/>
                  <a:pt x="447" y="556"/>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2355" name="Group 25"/>
          <p:cNvGrpSpPr/>
          <p:nvPr/>
        </p:nvGrpSpPr>
        <p:grpSpPr>
          <a:xfrm>
            <a:off x="387350" y="3778250"/>
            <a:ext cx="1020763" cy="841375"/>
            <a:chOff x="1807" y="2856"/>
            <a:chExt cx="803" cy="674"/>
          </a:xfrm>
        </p:grpSpPr>
        <p:sp>
          <p:nvSpPr>
            <p:cNvPr id="142356" name="AutoShape 26"/>
            <p:cNvSpPr/>
            <p:nvPr/>
          </p:nvSpPr>
          <p:spPr>
            <a:xfrm>
              <a:off x="1807" y="2856"/>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357" name="AutoShape 27"/>
            <p:cNvSpPr/>
            <p:nvPr/>
          </p:nvSpPr>
          <p:spPr>
            <a:xfrm>
              <a:off x="2047" y="3258"/>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358" name="AutoShape 28"/>
            <p:cNvSpPr/>
            <p:nvPr/>
          </p:nvSpPr>
          <p:spPr>
            <a:xfrm>
              <a:off x="2043" y="2985"/>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359" name="AutoShape 29"/>
            <p:cNvSpPr/>
            <p:nvPr/>
          </p:nvSpPr>
          <p:spPr>
            <a:xfrm>
              <a:off x="2282" y="3123"/>
              <a:ext cx="314" cy="272"/>
            </a:xfrm>
            <a:prstGeom prst="hexagon">
              <a:avLst>
                <a:gd name="adj" fmla="val 28860"/>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360" name="Group 30"/>
            <p:cNvGrpSpPr/>
            <p:nvPr/>
          </p:nvGrpSpPr>
          <p:grpSpPr>
            <a:xfrm>
              <a:off x="2407" y="3162"/>
              <a:ext cx="72" cy="145"/>
              <a:chOff x="3796" y="1043"/>
              <a:chExt cx="865" cy="1237"/>
            </a:xfrm>
          </p:grpSpPr>
          <p:sp>
            <p:nvSpPr>
              <p:cNvPr id="142361" name="Line 3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362" name="Line 3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363" name="Line 3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364" name="Line 3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365" name="Line 3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366" name="Line 3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367" name="Line 3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368" name="Line 3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369" name="Line 3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370" name="Line 4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371" name="Line 4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372" name="Line 4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373" name="Line 4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374" name="Line 4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375" name="Line 4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376" name="Group 46"/>
              <p:cNvGrpSpPr/>
              <p:nvPr/>
            </p:nvGrpSpPr>
            <p:grpSpPr>
              <a:xfrm>
                <a:off x="4269" y="1415"/>
                <a:ext cx="392" cy="137"/>
                <a:chOff x="4227" y="1360"/>
                <a:chExt cx="863" cy="270"/>
              </a:xfrm>
            </p:grpSpPr>
            <p:sp>
              <p:nvSpPr>
                <p:cNvPr id="142377" name="Line 4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378" name="Line 4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379" name="Line 4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380" name="Line 5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381" name="Group 51"/>
              <p:cNvGrpSpPr/>
              <p:nvPr/>
            </p:nvGrpSpPr>
            <p:grpSpPr>
              <a:xfrm rot="5700496">
                <a:off x="4050" y="1168"/>
                <a:ext cx="392" cy="137"/>
                <a:chOff x="4227" y="1360"/>
                <a:chExt cx="863" cy="270"/>
              </a:xfrm>
            </p:grpSpPr>
            <p:sp>
              <p:nvSpPr>
                <p:cNvPr id="142382" name="Line 5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383" name="Line 5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384" name="Line 5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385" name="Line 5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386" name="Group 56"/>
              <p:cNvGrpSpPr/>
              <p:nvPr/>
            </p:nvGrpSpPr>
            <p:grpSpPr>
              <a:xfrm rot="10800000">
                <a:off x="3796" y="1402"/>
                <a:ext cx="392" cy="137"/>
                <a:chOff x="4227" y="1360"/>
                <a:chExt cx="863" cy="270"/>
              </a:xfrm>
            </p:grpSpPr>
            <p:sp>
              <p:nvSpPr>
                <p:cNvPr id="142387" name="Line 5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388" name="Line 5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389" name="Line 5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390" name="Line 6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391" name="Group 61"/>
            <p:cNvGrpSpPr/>
            <p:nvPr/>
          </p:nvGrpSpPr>
          <p:grpSpPr>
            <a:xfrm>
              <a:off x="2164" y="3034"/>
              <a:ext cx="72" cy="145"/>
              <a:chOff x="3796" y="1043"/>
              <a:chExt cx="865" cy="1237"/>
            </a:xfrm>
          </p:grpSpPr>
          <p:sp>
            <p:nvSpPr>
              <p:cNvPr id="142392" name="Line 6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393" name="Line 6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394" name="Line 6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395" name="Line 6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396" name="Line 6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397" name="Line 6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398" name="Line 6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399" name="Line 6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400" name="Line 7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401" name="Line 7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402" name="Line 7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403" name="Line 7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404" name="Line 7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405" name="Line 7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406" name="Line 7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407" name="Group 77"/>
              <p:cNvGrpSpPr/>
              <p:nvPr/>
            </p:nvGrpSpPr>
            <p:grpSpPr>
              <a:xfrm>
                <a:off x="4269" y="1415"/>
                <a:ext cx="392" cy="137"/>
                <a:chOff x="4227" y="1360"/>
                <a:chExt cx="863" cy="270"/>
              </a:xfrm>
            </p:grpSpPr>
            <p:sp>
              <p:nvSpPr>
                <p:cNvPr id="142408" name="Line 7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09" name="Line 7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10" name="Line 8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11" name="Line 8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12" name="Group 82"/>
              <p:cNvGrpSpPr/>
              <p:nvPr/>
            </p:nvGrpSpPr>
            <p:grpSpPr>
              <a:xfrm rot="5700496">
                <a:off x="4050" y="1168"/>
                <a:ext cx="392" cy="137"/>
                <a:chOff x="4227" y="1360"/>
                <a:chExt cx="863" cy="270"/>
              </a:xfrm>
            </p:grpSpPr>
            <p:sp>
              <p:nvSpPr>
                <p:cNvPr id="142413" name="Line 8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14" name="Line 8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15" name="Line 8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16" name="Line 8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17" name="Group 87"/>
              <p:cNvGrpSpPr/>
              <p:nvPr/>
            </p:nvGrpSpPr>
            <p:grpSpPr>
              <a:xfrm rot="10800000">
                <a:off x="3796" y="1402"/>
                <a:ext cx="392" cy="137"/>
                <a:chOff x="4227" y="1360"/>
                <a:chExt cx="863" cy="270"/>
              </a:xfrm>
            </p:grpSpPr>
            <p:sp>
              <p:nvSpPr>
                <p:cNvPr id="142418" name="Line 8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19" name="Line 8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20" name="Line 9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21" name="Line 9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422" name="Group 92"/>
            <p:cNvGrpSpPr/>
            <p:nvPr/>
          </p:nvGrpSpPr>
          <p:grpSpPr>
            <a:xfrm>
              <a:off x="2175" y="3302"/>
              <a:ext cx="72" cy="144"/>
              <a:chOff x="3796" y="1043"/>
              <a:chExt cx="865" cy="1237"/>
            </a:xfrm>
          </p:grpSpPr>
          <p:sp>
            <p:nvSpPr>
              <p:cNvPr id="142423" name="Line 9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424" name="Line 9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425" name="Line 9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426" name="Line 9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427" name="Line 9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428" name="Line 9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429" name="Line 9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430" name="Line 10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431" name="Line 10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432" name="Line 10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433" name="Line 10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434" name="Line 10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435" name="Line 10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436" name="Line 10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437" name="Line 10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438" name="Group 108"/>
              <p:cNvGrpSpPr/>
              <p:nvPr/>
            </p:nvGrpSpPr>
            <p:grpSpPr>
              <a:xfrm>
                <a:off x="4269" y="1415"/>
                <a:ext cx="392" cy="137"/>
                <a:chOff x="4227" y="1360"/>
                <a:chExt cx="863" cy="270"/>
              </a:xfrm>
            </p:grpSpPr>
            <p:sp>
              <p:nvSpPr>
                <p:cNvPr id="142439" name="Line 10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40" name="Line 11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41" name="Line 11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42" name="Line 11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43" name="Group 113"/>
              <p:cNvGrpSpPr/>
              <p:nvPr/>
            </p:nvGrpSpPr>
            <p:grpSpPr>
              <a:xfrm rot="5700496">
                <a:off x="4050" y="1168"/>
                <a:ext cx="392" cy="137"/>
                <a:chOff x="4227" y="1360"/>
                <a:chExt cx="863" cy="270"/>
              </a:xfrm>
            </p:grpSpPr>
            <p:sp>
              <p:nvSpPr>
                <p:cNvPr id="142444" name="Line 1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45" name="Line 1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46" name="Line 1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47" name="Line 1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48" name="Group 118"/>
              <p:cNvGrpSpPr/>
              <p:nvPr/>
            </p:nvGrpSpPr>
            <p:grpSpPr>
              <a:xfrm rot="10800000">
                <a:off x="3796" y="1402"/>
                <a:ext cx="392" cy="137"/>
                <a:chOff x="4227" y="1360"/>
                <a:chExt cx="863" cy="270"/>
              </a:xfrm>
            </p:grpSpPr>
            <p:sp>
              <p:nvSpPr>
                <p:cNvPr id="142449" name="Line 1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50" name="Line 1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51" name="Line 1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52" name="Line 1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453" name="Group 123"/>
            <p:cNvGrpSpPr/>
            <p:nvPr/>
          </p:nvGrpSpPr>
          <p:grpSpPr>
            <a:xfrm>
              <a:off x="1934" y="2899"/>
              <a:ext cx="72" cy="145"/>
              <a:chOff x="3796" y="1043"/>
              <a:chExt cx="865" cy="1237"/>
            </a:xfrm>
          </p:grpSpPr>
          <p:sp>
            <p:nvSpPr>
              <p:cNvPr id="142454" name="Line 12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455" name="Line 12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456" name="Line 12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457" name="Line 12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458" name="Line 12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459" name="Line 12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460" name="Line 13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461" name="Line 13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462" name="Line 13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463" name="Line 13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464" name="Line 13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465" name="Line 13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466" name="Line 13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467" name="Line 13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468" name="Line 13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469" name="Group 139"/>
              <p:cNvGrpSpPr/>
              <p:nvPr/>
            </p:nvGrpSpPr>
            <p:grpSpPr>
              <a:xfrm>
                <a:off x="4269" y="1415"/>
                <a:ext cx="392" cy="137"/>
                <a:chOff x="4227" y="1360"/>
                <a:chExt cx="863" cy="270"/>
              </a:xfrm>
            </p:grpSpPr>
            <p:sp>
              <p:nvSpPr>
                <p:cNvPr id="142470" name="Line 14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71" name="Line 14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72" name="Line 14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73" name="Line 14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74" name="Group 144"/>
              <p:cNvGrpSpPr/>
              <p:nvPr/>
            </p:nvGrpSpPr>
            <p:grpSpPr>
              <a:xfrm rot="5700496">
                <a:off x="4050" y="1168"/>
                <a:ext cx="392" cy="137"/>
                <a:chOff x="4227" y="1360"/>
                <a:chExt cx="863" cy="270"/>
              </a:xfrm>
            </p:grpSpPr>
            <p:sp>
              <p:nvSpPr>
                <p:cNvPr id="142475" name="Line 14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76" name="Line 14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77" name="Line 14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78" name="Line 14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479" name="Group 149"/>
              <p:cNvGrpSpPr/>
              <p:nvPr/>
            </p:nvGrpSpPr>
            <p:grpSpPr>
              <a:xfrm rot="10800000">
                <a:off x="3796" y="1402"/>
                <a:ext cx="392" cy="137"/>
                <a:chOff x="4227" y="1360"/>
                <a:chExt cx="863" cy="270"/>
              </a:xfrm>
            </p:grpSpPr>
            <p:sp>
              <p:nvSpPr>
                <p:cNvPr id="142480" name="Line 1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481" name="Line 1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482" name="Line 1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483" name="Line 1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2484" name="Line 154"/>
            <p:cNvSpPr/>
            <p:nvPr/>
          </p:nvSpPr>
          <p:spPr>
            <a:xfrm flipV="1">
              <a:off x="2460" y="3031"/>
              <a:ext cx="150" cy="250"/>
            </a:xfrm>
            <a:prstGeom prst="line">
              <a:avLst/>
            </a:prstGeom>
            <a:ln w="9525" cap="flat" cmpd="sng">
              <a:solidFill>
                <a:schemeClr val="tx1"/>
              </a:solidFill>
              <a:prstDash val="solid"/>
              <a:round/>
              <a:headEnd type="none" w="med" len="med"/>
              <a:tailEnd type="none" w="med" len="med"/>
            </a:ln>
          </p:spPr>
        </p:sp>
        <p:sp>
          <p:nvSpPr>
            <p:cNvPr id="142485" name="Line 155"/>
            <p:cNvSpPr/>
            <p:nvPr/>
          </p:nvSpPr>
          <p:spPr>
            <a:xfrm flipV="1">
              <a:off x="2226" y="3031"/>
              <a:ext cx="254" cy="395"/>
            </a:xfrm>
            <a:prstGeom prst="line">
              <a:avLst/>
            </a:prstGeom>
            <a:ln w="9525" cap="flat" cmpd="sng">
              <a:solidFill>
                <a:schemeClr val="tx1"/>
              </a:solidFill>
              <a:prstDash val="solid"/>
              <a:round/>
              <a:headEnd type="none" w="med" len="med"/>
              <a:tailEnd type="none" w="med" len="med"/>
            </a:ln>
          </p:spPr>
        </p:sp>
        <p:sp>
          <p:nvSpPr>
            <p:cNvPr id="142486" name="Line 156"/>
            <p:cNvSpPr/>
            <p:nvPr/>
          </p:nvSpPr>
          <p:spPr>
            <a:xfrm flipV="1">
              <a:off x="2219" y="3031"/>
              <a:ext cx="245" cy="138"/>
            </a:xfrm>
            <a:prstGeom prst="line">
              <a:avLst/>
            </a:prstGeom>
            <a:ln w="9525" cap="flat" cmpd="sng">
              <a:solidFill>
                <a:schemeClr val="tx1"/>
              </a:solidFill>
              <a:prstDash val="solid"/>
              <a:round/>
              <a:headEnd type="none" w="med" len="med"/>
              <a:tailEnd type="none" w="med" len="med"/>
            </a:ln>
          </p:spPr>
        </p:sp>
        <p:sp>
          <p:nvSpPr>
            <p:cNvPr id="142487" name="Line 157"/>
            <p:cNvSpPr/>
            <p:nvPr/>
          </p:nvSpPr>
          <p:spPr>
            <a:xfrm flipV="1">
              <a:off x="1989" y="2974"/>
              <a:ext cx="452" cy="53"/>
            </a:xfrm>
            <a:prstGeom prst="line">
              <a:avLst/>
            </a:prstGeom>
            <a:ln w="9525" cap="flat" cmpd="sng">
              <a:solidFill>
                <a:schemeClr val="tx1"/>
              </a:solidFill>
              <a:prstDash val="solid"/>
              <a:round/>
              <a:headEnd type="none" w="med" len="med"/>
              <a:tailEnd type="none" w="med" len="med"/>
            </a:ln>
          </p:spPr>
        </p:sp>
      </p:grpSp>
      <p:grpSp>
        <p:nvGrpSpPr>
          <p:cNvPr id="142488" name="Group 158"/>
          <p:cNvGrpSpPr/>
          <p:nvPr/>
        </p:nvGrpSpPr>
        <p:grpSpPr>
          <a:xfrm>
            <a:off x="993775" y="3702050"/>
            <a:ext cx="977900" cy="330200"/>
            <a:chOff x="717" y="1160"/>
            <a:chExt cx="616" cy="208"/>
          </a:xfrm>
        </p:grpSpPr>
        <p:sp>
          <p:nvSpPr>
            <p:cNvPr id="142489" name="Rectangle 159"/>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490" name="Text Box 160"/>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nvGrpSpPr>
          <p:cNvPr id="142491" name="Group 161"/>
          <p:cNvGrpSpPr/>
          <p:nvPr/>
        </p:nvGrpSpPr>
        <p:grpSpPr>
          <a:xfrm>
            <a:off x="1308100" y="4424363"/>
            <a:ext cx="1016000" cy="931862"/>
            <a:chOff x="291" y="1263"/>
            <a:chExt cx="640" cy="587"/>
          </a:xfrm>
        </p:grpSpPr>
        <p:sp>
          <p:nvSpPr>
            <p:cNvPr id="142492" name="AutoShape 162"/>
            <p:cNvSpPr/>
            <p:nvPr/>
          </p:nvSpPr>
          <p:spPr>
            <a:xfrm>
              <a:off x="487" y="13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493" name="AutoShape 163"/>
            <p:cNvSpPr/>
            <p:nvPr/>
          </p:nvSpPr>
          <p:spPr>
            <a:xfrm>
              <a:off x="679" y="1636"/>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494" name="AutoShape 164"/>
            <p:cNvSpPr/>
            <p:nvPr/>
          </p:nvSpPr>
          <p:spPr>
            <a:xfrm>
              <a:off x="676" y="1421"/>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495" name="Group 165"/>
            <p:cNvGrpSpPr/>
            <p:nvPr/>
          </p:nvGrpSpPr>
          <p:grpSpPr>
            <a:xfrm>
              <a:off x="291" y="1422"/>
              <a:ext cx="252" cy="214"/>
              <a:chOff x="867" y="1530"/>
              <a:chExt cx="252" cy="214"/>
            </a:xfrm>
          </p:grpSpPr>
          <p:sp>
            <p:nvSpPr>
              <p:cNvPr id="142496" name="AutoShape 166"/>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497" name="Group 167"/>
              <p:cNvGrpSpPr/>
              <p:nvPr/>
            </p:nvGrpSpPr>
            <p:grpSpPr>
              <a:xfrm>
                <a:off x="967" y="1561"/>
                <a:ext cx="58" cy="114"/>
                <a:chOff x="3796" y="1043"/>
                <a:chExt cx="865" cy="1237"/>
              </a:xfrm>
            </p:grpSpPr>
            <p:sp>
              <p:nvSpPr>
                <p:cNvPr id="142498" name="Line 16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499" name="Line 16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500" name="Line 17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501" name="Line 17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502" name="Line 17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503" name="Line 17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504" name="Line 17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505" name="Line 17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506" name="Line 17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507" name="Line 17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508" name="Line 17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509" name="Line 17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510" name="Line 18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511" name="Line 18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512" name="Line 18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513" name="Group 183"/>
                <p:cNvGrpSpPr/>
                <p:nvPr/>
              </p:nvGrpSpPr>
              <p:grpSpPr>
                <a:xfrm>
                  <a:off x="4269" y="1415"/>
                  <a:ext cx="392" cy="137"/>
                  <a:chOff x="4227" y="1360"/>
                  <a:chExt cx="863" cy="270"/>
                </a:xfrm>
              </p:grpSpPr>
              <p:sp>
                <p:nvSpPr>
                  <p:cNvPr id="142514" name="Line 18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15" name="Line 18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16" name="Line 18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17" name="Line 18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18" name="Group 188"/>
                <p:cNvGrpSpPr/>
                <p:nvPr/>
              </p:nvGrpSpPr>
              <p:grpSpPr>
                <a:xfrm rot="5700496">
                  <a:off x="4050" y="1168"/>
                  <a:ext cx="392" cy="137"/>
                  <a:chOff x="4227" y="1360"/>
                  <a:chExt cx="863" cy="270"/>
                </a:xfrm>
              </p:grpSpPr>
              <p:sp>
                <p:nvSpPr>
                  <p:cNvPr id="142519" name="Line 18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20" name="Line 19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21" name="Line 19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22" name="Line 19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23" name="Group 193"/>
                <p:cNvGrpSpPr/>
                <p:nvPr/>
              </p:nvGrpSpPr>
              <p:grpSpPr>
                <a:xfrm rot="10800000">
                  <a:off x="3796" y="1402"/>
                  <a:ext cx="392" cy="137"/>
                  <a:chOff x="4227" y="1360"/>
                  <a:chExt cx="863" cy="270"/>
                </a:xfrm>
              </p:grpSpPr>
              <p:sp>
                <p:nvSpPr>
                  <p:cNvPr id="142524" name="Line 19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25" name="Line 19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26" name="Line 19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27" name="Line 19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42528" name="Group 198"/>
            <p:cNvGrpSpPr/>
            <p:nvPr/>
          </p:nvGrpSpPr>
          <p:grpSpPr>
            <a:xfrm>
              <a:off x="773" y="1460"/>
              <a:ext cx="58" cy="114"/>
              <a:chOff x="3796" y="1043"/>
              <a:chExt cx="865" cy="1237"/>
            </a:xfrm>
          </p:grpSpPr>
          <p:sp>
            <p:nvSpPr>
              <p:cNvPr id="142529" name="Line 19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530" name="Line 20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531" name="Line 20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532" name="Line 20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533" name="Line 20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534" name="Line 20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535" name="Line 20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536" name="Line 20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537" name="Line 20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538" name="Line 20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539" name="Line 20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540" name="Line 21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541" name="Line 21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542" name="Line 21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543" name="Line 21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544" name="Group 214"/>
              <p:cNvGrpSpPr/>
              <p:nvPr/>
            </p:nvGrpSpPr>
            <p:grpSpPr>
              <a:xfrm>
                <a:off x="4269" y="1415"/>
                <a:ext cx="392" cy="137"/>
                <a:chOff x="4227" y="1360"/>
                <a:chExt cx="863" cy="270"/>
              </a:xfrm>
            </p:grpSpPr>
            <p:sp>
              <p:nvSpPr>
                <p:cNvPr id="142545" name="Line 21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46" name="Line 21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47" name="Line 21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48" name="Line 21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49" name="Group 219"/>
              <p:cNvGrpSpPr/>
              <p:nvPr/>
            </p:nvGrpSpPr>
            <p:grpSpPr>
              <a:xfrm rot="5700496">
                <a:off x="4050" y="1168"/>
                <a:ext cx="392" cy="137"/>
                <a:chOff x="4227" y="1360"/>
                <a:chExt cx="863" cy="270"/>
              </a:xfrm>
            </p:grpSpPr>
            <p:sp>
              <p:nvSpPr>
                <p:cNvPr id="142550" name="Line 22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51" name="Line 22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52" name="Line 22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53" name="Line 22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54" name="Group 224"/>
              <p:cNvGrpSpPr/>
              <p:nvPr/>
            </p:nvGrpSpPr>
            <p:grpSpPr>
              <a:xfrm rot="10800000">
                <a:off x="3796" y="1402"/>
                <a:ext cx="392" cy="137"/>
                <a:chOff x="4227" y="1360"/>
                <a:chExt cx="863" cy="270"/>
              </a:xfrm>
            </p:grpSpPr>
            <p:sp>
              <p:nvSpPr>
                <p:cNvPr id="142555" name="Line 22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56" name="Line 22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57" name="Line 22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58" name="Line 22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559" name="Group 229"/>
            <p:cNvGrpSpPr/>
            <p:nvPr/>
          </p:nvGrpSpPr>
          <p:grpSpPr>
            <a:xfrm>
              <a:off x="782" y="1671"/>
              <a:ext cx="57" cy="113"/>
              <a:chOff x="3796" y="1043"/>
              <a:chExt cx="865" cy="1237"/>
            </a:xfrm>
          </p:grpSpPr>
          <p:sp>
            <p:nvSpPr>
              <p:cNvPr id="142560" name="Line 23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561" name="Line 23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562" name="Line 23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563" name="Line 23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564" name="Line 23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565" name="Line 23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566" name="Line 23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567" name="Line 23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568" name="Line 23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569" name="Line 23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570" name="Line 24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571" name="Line 24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572" name="Line 24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573" name="Line 24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574" name="Line 24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575" name="Group 245"/>
              <p:cNvGrpSpPr/>
              <p:nvPr/>
            </p:nvGrpSpPr>
            <p:grpSpPr>
              <a:xfrm>
                <a:off x="4269" y="1415"/>
                <a:ext cx="392" cy="137"/>
                <a:chOff x="4227" y="1360"/>
                <a:chExt cx="863" cy="270"/>
              </a:xfrm>
            </p:grpSpPr>
            <p:sp>
              <p:nvSpPr>
                <p:cNvPr id="142576" name="Line 24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77" name="Line 24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78" name="Line 24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79" name="Line 24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80" name="Group 250"/>
              <p:cNvGrpSpPr/>
              <p:nvPr/>
            </p:nvGrpSpPr>
            <p:grpSpPr>
              <a:xfrm rot="5700496">
                <a:off x="4050" y="1168"/>
                <a:ext cx="392" cy="137"/>
                <a:chOff x="4227" y="1360"/>
                <a:chExt cx="863" cy="270"/>
              </a:xfrm>
            </p:grpSpPr>
            <p:sp>
              <p:nvSpPr>
                <p:cNvPr id="142581" name="Line 2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82" name="Line 2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83" name="Line 2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84" name="Line 2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585" name="Group 255"/>
              <p:cNvGrpSpPr/>
              <p:nvPr/>
            </p:nvGrpSpPr>
            <p:grpSpPr>
              <a:xfrm rot="10800000">
                <a:off x="3796" y="1402"/>
                <a:ext cx="392" cy="137"/>
                <a:chOff x="4227" y="1360"/>
                <a:chExt cx="863" cy="270"/>
              </a:xfrm>
            </p:grpSpPr>
            <p:sp>
              <p:nvSpPr>
                <p:cNvPr id="142586" name="Line 2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587" name="Line 2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588" name="Line 2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589" name="Line 2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590" name="Group 260"/>
            <p:cNvGrpSpPr/>
            <p:nvPr/>
          </p:nvGrpSpPr>
          <p:grpSpPr>
            <a:xfrm>
              <a:off x="589" y="1354"/>
              <a:ext cx="57" cy="114"/>
              <a:chOff x="3796" y="1043"/>
              <a:chExt cx="865" cy="1237"/>
            </a:xfrm>
          </p:grpSpPr>
          <p:sp>
            <p:nvSpPr>
              <p:cNvPr id="142591" name="Line 26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592" name="Line 26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593" name="Line 26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594" name="Line 26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595" name="Line 26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596" name="Line 26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597" name="Line 26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598" name="Line 26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599" name="Line 26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600" name="Line 27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601" name="Line 27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602" name="Line 27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603" name="Line 27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604" name="Line 27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605" name="Line 27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606" name="Group 276"/>
              <p:cNvGrpSpPr/>
              <p:nvPr/>
            </p:nvGrpSpPr>
            <p:grpSpPr>
              <a:xfrm>
                <a:off x="4269" y="1415"/>
                <a:ext cx="392" cy="137"/>
                <a:chOff x="4227" y="1360"/>
                <a:chExt cx="863" cy="270"/>
              </a:xfrm>
            </p:grpSpPr>
            <p:sp>
              <p:nvSpPr>
                <p:cNvPr id="142607" name="Line 27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08" name="Line 27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09" name="Line 27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10" name="Line 28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11" name="Group 281"/>
              <p:cNvGrpSpPr/>
              <p:nvPr/>
            </p:nvGrpSpPr>
            <p:grpSpPr>
              <a:xfrm rot="5700496">
                <a:off x="4050" y="1168"/>
                <a:ext cx="392" cy="137"/>
                <a:chOff x="4227" y="1360"/>
                <a:chExt cx="863" cy="270"/>
              </a:xfrm>
            </p:grpSpPr>
            <p:sp>
              <p:nvSpPr>
                <p:cNvPr id="142612" name="Line 28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13" name="Line 28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14" name="Line 28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15" name="Line 28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16" name="Group 286"/>
              <p:cNvGrpSpPr/>
              <p:nvPr/>
            </p:nvGrpSpPr>
            <p:grpSpPr>
              <a:xfrm rot="10800000">
                <a:off x="3796" y="1402"/>
                <a:ext cx="392" cy="137"/>
                <a:chOff x="4227" y="1360"/>
                <a:chExt cx="863" cy="270"/>
              </a:xfrm>
            </p:grpSpPr>
            <p:sp>
              <p:nvSpPr>
                <p:cNvPr id="142617" name="Line 2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18" name="Line 2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19" name="Line 2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20" name="Line 2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2621" name="Line 291"/>
            <p:cNvSpPr/>
            <p:nvPr/>
          </p:nvSpPr>
          <p:spPr>
            <a:xfrm flipV="1">
              <a:off x="626" y="1272"/>
              <a:ext cx="236" cy="318"/>
            </a:xfrm>
            <a:prstGeom prst="line">
              <a:avLst/>
            </a:prstGeom>
            <a:ln w="9525" cap="flat" cmpd="sng">
              <a:solidFill>
                <a:schemeClr val="tx1"/>
              </a:solidFill>
              <a:prstDash val="solid"/>
              <a:round/>
              <a:headEnd type="none" w="med" len="med"/>
              <a:tailEnd type="none" w="med" len="med"/>
            </a:ln>
          </p:spPr>
        </p:sp>
        <p:sp>
          <p:nvSpPr>
            <p:cNvPr id="142622" name="Line 292"/>
            <p:cNvSpPr/>
            <p:nvPr/>
          </p:nvSpPr>
          <p:spPr>
            <a:xfrm flipV="1">
              <a:off x="823" y="1276"/>
              <a:ext cx="75" cy="492"/>
            </a:xfrm>
            <a:prstGeom prst="line">
              <a:avLst/>
            </a:prstGeom>
            <a:ln w="9525" cap="flat" cmpd="sng">
              <a:solidFill>
                <a:schemeClr val="tx1"/>
              </a:solidFill>
              <a:prstDash val="solid"/>
              <a:round/>
              <a:headEnd type="none" w="med" len="med"/>
              <a:tailEnd type="none" w="med" len="med"/>
            </a:ln>
          </p:spPr>
        </p:sp>
        <p:sp>
          <p:nvSpPr>
            <p:cNvPr id="142623" name="Line 293"/>
            <p:cNvSpPr/>
            <p:nvPr/>
          </p:nvSpPr>
          <p:spPr>
            <a:xfrm flipV="1">
              <a:off x="817" y="1264"/>
              <a:ext cx="58" cy="302"/>
            </a:xfrm>
            <a:prstGeom prst="line">
              <a:avLst/>
            </a:prstGeom>
            <a:ln w="9525" cap="flat" cmpd="sng">
              <a:solidFill>
                <a:schemeClr val="tx1"/>
              </a:solidFill>
              <a:prstDash val="solid"/>
              <a:round/>
              <a:headEnd type="none" w="med" len="med"/>
              <a:tailEnd type="none" w="med" len="med"/>
            </a:ln>
          </p:spPr>
        </p:sp>
        <p:sp>
          <p:nvSpPr>
            <p:cNvPr id="142624" name="Line 294"/>
            <p:cNvSpPr/>
            <p:nvPr/>
          </p:nvSpPr>
          <p:spPr>
            <a:xfrm flipV="1">
              <a:off x="633" y="1263"/>
              <a:ext cx="226" cy="191"/>
            </a:xfrm>
            <a:prstGeom prst="line">
              <a:avLst/>
            </a:prstGeom>
            <a:ln w="9525" cap="flat" cmpd="sng">
              <a:solidFill>
                <a:schemeClr val="tx1"/>
              </a:solidFill>
              <a:prstDash val="solid"/>
              <a:round/>
              <a:headEnd type="none" w="med" len="med"/>
              <a:tailEnd type="none" w="med" len="med"/>
            </a:ln>
          </p:spPr>
        </p:sp>
        <p:grpSp>
          <p:nvGrpSpPr>
            <p:cNvPr id="142625" name="Group 295"/>
            <p:cNvGrpSpPr/>
            <p:nvPr/>
          </p:nvGrpSpPr>
          <p:grpSpPr>
            <a:xfrm>
              <a:off x="483" y="1532"/>
              <a:ext cx="252" cy="214"/>
              <a:chOff x="867" y="1530"/>
              <a:chExt cx="252" cy="214"/>
            </a:xfrm>
          </p:grpSpPr>
          <p:sp>
            <p:nvSpPr>
              <p:cNvPr id="142626" name="AutoShape 296"/>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627" name="Group 297"/>
              <p:cNvGrpSpPr/>
              <p:nvPr/>
            </p:nvGrpSpPr>
            <p:grpSpPr>
              <a:xfrm>
                <a:off x="967" y="1561"/>
                <a:ext cx="58" cy="114"/>
                <a:chOff x="3796" y="1043"/>
                <a:chExt cx="865" cy="1237"/>
              </a:xfrm>
            </p:grpSpPr>
            <p:sp>
              <p:nvSpPr>
                <p:cNvPr id="142628" name="Line 29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629" name="Line 29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630" name="Line 30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631" name="Line 30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632" name="Line 30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633" name="Line 30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634" name="Line 30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635" name="Line 30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636" name="Line 30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637" name="Line 30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638" name="Line 30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639" name="Line 30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640" name="Line 31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641" name="Line 31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642" name="Line 31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643" name="Group 313"/>
                <p:cNvGrpSpPr/>
                <p:nvPr/>
              </p:nvGrpSpPr>
              <p:grpSpPr>
                <a:xfrm>
                  <a:off x="4269" y="1415"/>
                  <a:ext cx="392" cy="137"/>
                  <a:chOff x="4227" y="1360"/>
                  <a:chExt cx="863" cy="270"/>
                </a:xfrm>
              </p:grpSpPr>
              <p:sp>
                <p:nvSpPr>
                  <p:cNvPr id="142644" name="Line 3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45" name="Line 3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46" name="Line 3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47" name="Line 3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48" name="Group 318"/>
                <p:cNvGrpSpPr/>
                <p:nvPr/>
              </p:nvGrpSpPr>
              <p:grpSpPr>
                <a:xfrm rot="5700496">
                  <a:off x="4050" y="1168"/>
                  <a:ext cx="392" cy="137"/>
                  <a:chOff x="4227" y="1360"/>
                  <a:chExt cx="863" cy="270"/>
                </a:xfrm>
              </p:grpSpPr>
              <p:sp>
                <p:nvSpPr>
                  <p:cNvPr id="142649" name="Line 3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50" name="Line 3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51" name="Line 3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52" name="Line 3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53" name="Group 323"/>
                <p:cNvGrpSpPr/>
                <p:nvPr/>
              </p:nvGrpSpPr>
              <p:grpSpPr>
                <a:xfrm rot="10800000">
                  <a:off x="3796" y="1402"/>
                  <a:ext cx="392" cy="137"/>
                  <a:chOff x="4227" y="1360"/>
                  <a:chExt cx="863" cy="270"/>
                </a:xfrm>
              </p:grpSpPr>
              <p:sp>
                <p:nvSpPr>
                  <p:cNvPr id="142654" name="Line 3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55" name="Line 3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56" name="Line 3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57" name="Line 3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42658" name="Line 328"/>
            <p:cNvSpPr/>
            <p:nvPr/>
          </p:nvSpPr>
          <p:spPr>
            <a:xfrm flipV="1">
              <a:off x="414" y="1266"/>
              <a:ext cx="430" cy="300"/>
            </a:xfrm>
            <a:prstGeom prst="line">
              <a:avLst/>
            </a:prstGeom>
            <a:ln w="9525" cap="flat" cmpd="sng">
              <a:solidFill>
                <a:schemeClr val="tx1"/>
              </a:solidFill>
              <a:prstDash val="solid"/>
              <a:round/>
              <a:headEnd type="none" w="med" len="med"/>
              <a:tailEnd type="none" w="med" len="med"/>
            </a:ln>
          </p:spPr>
        </p:sp>
      </p:grpSp>
      <p:sp>
        <p:nvSpPr>
          <p:cNvPr id="142659" name="Text Box 329"/>
          <p:cNvSpPr txBox="1"/>
          <p:nvPr/>
        </p:nvSpPr>
        <p:spPr>
          <a:xfrm>
            <a:off x="487363" y="3433763"/>
            <a:ext cx="1381125" cy="304800"/>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anchor MSC</a:t>
            </a:r>
            <a:endParaRPr lang="en-US" altLang="zh-CN" sz="1400" dirty="0">
              <a:latin typeface="Arial" panose="020B0604020202020204" pitchFamily="34" charset="0"/>
              <a:ea typeface="宋体" panose="02010600030101010101" pitchFamily="2" charset="-122"/>
            </a:endParaRPr>
          </a:p>
        </p:txBody>
      </p:sp>
      <p:grpSp>
        <p:nvGrpSpPr>
          <p:cNvPr id="142660" name="Group 330"/>
          <p:cNvGrpSpPr/>
          <p:nvPr/>
        </p:nvGrpSpPr>
        <p:grpSpPr>
          <a:xfrm>
            <a:off x="3084513" y="4132263"/>
            <a:ext cx="1309687" cy="1147762"/>
            <a:chOff x="146" y="711"/>
            <a:chExt cx="825" cy="723"/>
          </a:xfrm>
        </p:grpSpPr>
        <p:sp>
          <p:nvSpPr>
            <p:cNvPr id="142661" name="AutoShape 331"/>
            <p:cNvSpPr/>
            <p:nvPr/>
          </p:nvSpPr>
          <p:spPr>
            <a:xfrm>
              <a:off x="719" y="90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662" name="AutoShape 332"/>
            <p:cNvSpPr/>
            <p:nvPr/>
          </p:nvSpPr>
          <p:spPr>
            <a:xfrm>
              <a:off x="335" y="1115"/>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663" name="Group 333"/>
            <p:cNvGrpSpPr/>
            <p:nvPr/>
          </p:nvGrpSpPr>
          <p:grpSpPr>
            <a:xfrm>
              <a:off x="523" y="1006"/>
              <a:ext cx="252" cy="214"/>
              <a:chOff x="867" y="1530"/>
              <a:chExt cx="252" cy="214"/>
            </a:xfrm>
          </p:grpSpPr>
          <p:sp>
            <p:nvSpPr>
              <p:cNvPr id="142664" name="AutoShape 334"/>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665" name="Group 335"/>
              <p:cNvGrpSpPr/>
              <p:nvPr/>
            </p:nvGrpSpPr>
            <p:grpSpPr>
              <a:xfrm>
                <a:off x="967" y="1561"/>
                <a:ext cx="58" cy="114"/>
                <a:chOff x="3796" y="1043"/>
                <a:chExt cx="865" cy="1237"/>
              </a:xfrm>
            </p:grpSpPr>
            <p:sp>
              <p:nvSpPr>
                <p:cNvPr id="142666" name="Line 33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667" name="Line 33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668" name="Line 33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669" name="Line 33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670" name="Line 34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671" name="Line 34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672" name="Line 34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673" name="Line 34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674" name="Line 34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675" name="Line 34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676" name="Line 34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677" name="Line 34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678" name="Line 34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679" name="Line 34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680" name="Line 35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681" name="Group 351"/>
                <p:cNvGrpSpPr/>
                <p:nvPr/>
              </p:nvGrpSpPr>
              <p:grpSpPr>
                <a:xfrm>
                  <a:off x="4269" y="1415"/>
                  <a:ext cx="392" cy="137"/>
                  <a:chOff x="4227" y="1360"/>
                  <a:chExt cx="863" cy="270"/>
                </a:xfrm>
              </p:grpSpPr>
              <p:sp>
                <p:nvSpPr>
                  <p:cNvPr id="142682" name="Line 35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83" name="Line 35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84" name="Line 35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85" name="Line 35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86" name="Group 356"/>
                <p:cNvGrpSpPr/>
                <p:nvPr/>
              </p:nvGrpSpPr>
              <p:grpSpPr>
                <a:xfrm rot="5700496">
                  <a:off x="4050" y="1168"/>
                  <a:ext cx="392" cy="137"/>
                  <a:chOff x="4227" y="1360"/>
                  <a:chExt cx="863" cy="270"/>
                </a:xfrm>
              </p:grpSpPr>
              <p:sp>
                <p:nvSpPr>
                  <p:cNvPr id="142687" name="Line 35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88" name="Line 35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89" name="Line 35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90" name="Line 36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691" name="Group 361"/>
                <p:cNvGrpSpPr/>
                <p:nvPr/>
              </p:nvGrpSpPr>
              <p:grpSpPr>
                <a:xfrm rot="10800000">
                  <a:off x="3796" y="1402"/>
                  <a:ext cx="392" cy="137"/>
                  <a:chOff x="4227" y="1360"/>
                  <a:chExt cx="863" cy="270"/>
                </a:xfrm>
              </p:grpSpPr>
              <p:sp>
                <p:nvSpPr>
                  <p:cNvPr id="142692" name="Line 36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693" name="Line 36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694" name="Line 36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695" name="Line 36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42696" name="Group 366"/>
            <p:cNvGrpSpPr/>
            <p:nvPr/>
          </p:nvGrpSpPr>
          <p:grpSpPr>
            <a:xfrm>
              <a:off x="429" y="1159"/>
              <a:ext cx="57" cy="113"/>
              <a:chOff x="3796" y="1043"/>
              <a:chExt cx="865" cy="1237"/>
            </a:xfrm>
          </p:grpSpPr>
          <p:sp>
            <p:nvSpPr>
              <p:cNvPr id="142697" name="Line 36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698" name="Line 36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699" name="Line 36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700" name="Line 37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701" name="Line 37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702" name="Line 37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703" name="Line 37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704" name="Line 37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705" name="Line 37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706" name="Line 37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707" name="Line 37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708" name="Line 37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709" name="Line 37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710" name="Line 38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711" name="Line 38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712" name="Group 382"/>
              <p:cNvGrpSpPr/>
              <p:nvPr/>
            </p:nvGrpSpPr>
            <p:grpSpPr>
              <a:xfrm>
                <a:off x="4269" y="1415"/>
                <a:ext cx="392" cy="137"/>
                <a:chOff x="4227" y="1360"/>
                <a:chExt cx="863" cy="270"/>
              </a:xfrm>
            </p:grpSpPr>
            <p:sp>
              <p:nvSpPr>
                <p:cNvPr id="142713" name="Line 38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14" name="Line 38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15" name="Line 38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16" name="Line 38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17" name="Group 387"/>
              <p:cNvGrpSpPr/>
              <p:nvPr/>
            </p:nvGrpSpPr>
            <p:grpSpPr>
              <a:xfrm rot="5700496">
                <a:off x="4050" y="1168"/>
                <a:ext cx="392" cy="137"/>
                <a:chOff x="4227" y="1360"/>
                <a:chExt cx="863" cy="270"/>
              </a:xfrm>
            </p:grpSpPr>
            <p:sp>
              <p:nvSpPr>
                <p:cNvPr id="142718" name="Line 38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19" name="Line 38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20" name="Line 39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21" name="Line 39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22" name="Group 392"/>
              <p:cNvGrpSpPr/>
              <p:nvPr/>
            </p:nvGrpSpPr>
            <p:grpSpPr>
              <a:xfrm rot="10800000">
                <a:off x="3796" y="1402"/>
                <a:ext cx="392" cy="137"/>
                <a:chOff x="4227" y="1360"/>
                <a:chExt cx="863" cy="270"/>
              </a:xfrm>
            </p:grpSpPr>
            <p:sp>
              <p:nvSpPr>
                <p:cNvPr id="142723" name="Line 39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24" name="Line 39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25" name="Line 39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26" name="Line 39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2727" name="Group 397"/>
            <p:cNvGrpSpPr/>
            <p:nvPr/>
          </p:nvGrpSpPr>
          <p:grpSpPr>
            <a:xfrm>
              <a:off x="821" y="938"/>
              <a:ext cx="57" cy="114"/>
              <a:chOff x="3796" y="1043"/>
              <a:chExt cx="865" cy="1237"/>
            </a:xfrm>
          </p:grpSpPr>
          <p:sp>
            <p:nvSpPr>
              <p:cNvPr id="142728" name="Line 39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729" name="Line 39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730" name="Line 40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731" name="Line 40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732" name="Line 40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733" name="Line 40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734" name="Line 40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735" name="Line 40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736" name="Line 40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737" name="Line 40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738" name="Line 40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739" name="Line 40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740" name="Line 41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741" name="Line 41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742" name="Line 41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743" name="Group 413"/>
              <p:cNvGrpSpPr/>
              <p:nvPr/>
            </p:nvGrpSpPr>
            <p:grpSpPr>
              <a:xfrm>
                <a:off x="4269" y="1415"/>
                <a:ext cx="392" cy="137"/>
                <a:chOff x="4227" y="1360"/>
                <a:chExt cx="863" cy="270"/>
              </a:xfrm>
            </p:grpSpPr>
            <p:sp>
              <p:nvSpPr>
                <p:cNvPr id="142744" name="Line 4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45" name="Line 4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46" name="Line 4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47" name="Line 4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48" name="Group 418"/>
              <p:cNvGrpSpPr/>
              <p:nvPr/>
            </p:nvGrpSpPr>
            <p:grpSpPr>
              <a:xfrm rot="5700496">
                <a:off x="4050" y="1168"/>
                <a:ext cx="392" cy="137"/>
                <a:chOff x="4227" y="1360"/>
                <a:chExt cx="863" cy="270"/>
              </a:xfrm>
            </p:grpSpPr>
            <p:sp>
              <p:nvSpPr>
                <p:cNvPr id="142749" name="Line 4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50" name="Line 4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51" name="Line 4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52" name="Line 4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53" name="Group 423"/>
              <p:cNvGrpSpPr/>
              <p:nvPr/>
            </p:nvGrpSpPr>
            <p:grpSpPr>
              <a:xfrm rot="10800000">
                <a:off x="3796" y="1402"/>
                <a:ext cx="392" cy="137"/>
                <a:chOff x="4227" y="1360"/>
                <a:chExt cx="863" cy="270"/>
              </a:xfrm>
            </p:grpSpPr>
            <p:sp>
              <p:nvSpPr>
                <p:cNvPr id="142754" name="Line 4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55" name="Line 4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56" name="Line 4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57" name="Line 4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2758" name="Line 428"/>
            <p:cNvSpPr/>
            <p:nvPr/>
          </p:nvSpPr>
          <p:spPr>
            <a:xfrm flipH="1" flipV="1">
              <a:off x="602" y="916"/>
              <a:ext cx="256" cy="258"/>
            </a:xfrm>
            <a:prstGeom prst="line">
              <a:avLst/>
            </a:prstGeom>
            <a:ln w="9525" cap="flat" cmpd="sng">
              <a:solidFill>
                <a:schemeClr val="tx1"/>
              </a:solidFill>
              <a:prstDash val="solid"/>
              <a:round/>
              <a:headEnd type="none" w="med" len="med"/>
              <a:tailEnd type="none" w="med" len="med"/>
            </a:ln>
          </p:spPr>
        </p:sp>
        <p:sp>
          <p:nvSpPr>
            <p:cNvPr id="142759" name="Line 429"/>
            <p:cNvSpPr/>
            <p:nvPr/>
          </p:nvSpPr>
          <p:spPr>
            <a:xfrm flipV="1">
              <a:off x="455" y="914"/>
              <a:ext cx="3" cy="351"/>
            </a:xfrm>
            <a:prstGeom prst="line">
              <a:avLst/>
            </a:prstGeom>
            <a:ln w="9525" cap="flat" cmpd="sng">
              <a:solidFill>
                <a:schemeClr val="tx1"/>
              </a:solidFill>
              <a:prstDash val="solid"/>
              <a:round/>
              <a:headEnd type="none" w="med" len="med"/>
              <a:tailEnd type="none" w="med" len="med"/>
            </a:ln>
          </p:spPr>
        </p:sp>
        <p:sp>
          <p:nvSpPr>
            <p:cNvPr id="142760" name="Line 430"/>
            <p:cNvSpPr/>
            <p:nvPr/>
          </p:nvSpPr>
          <p:spPr>
            <a:xfrm flipH="1" flipV="1">
              <a:off x="501" y="920"/>
              <a:ext cx="140" cy="449"/>
            </a:xfrm>
            <a:prstGeom prst="line">
              <a:avLst/>
            </a:prstGeom>
            <a:ln w="9525" cap="flat" cmpd="sng">
              <a:solidFill>
                <a:schemeClr val="tx1"/>
              </a:solidFill>
              <a:prstDash val="solid"/>
              <a:round/>
              <a:headEnd type="none" w="med" len="med"/>
              <a:tailEnd type="none" w="med" len="med"/>
            </a:ln>
          </p:spPr>
        </p:sp>
        <p:sp>
          <p:nvSpPr>
            <p:cNvPr id="142761" name="Line 431"/>
            <p:cNvSpPr/>
            <p:nvPr/>
          </p:nvSpPr>
          <p:spPr>
            <a:xfrm flipH="1" flipV="1">
              <a:off x="647" y="925"/>
              <a:ext cx="218" cy="113"/>
            </a:xfrm>
            <a:prstGeom prst="line">
              <a:avLst/>
            </a:prstGeom>
            <a:ln w="9525" cap="flat" cmpd="sng">
              <a:solidFill>
                <a:schemeClr val="tx1"/>
              </a:solidFill>
              <a:prstDash val="solid"/>
              <a:round/>
              <a:headEnd type="none" w="med" len="med"/>
              <a:tailEnd type="none" w="med" len="med"/>
            </a:ln>
          </p:spPr>
        </p:sp>
        <p:grpSp>
          <p:nvGrpSpPr>
            <p:cNvPr id="142762" name="Group 432"/>
            <p:cNvGrpSpPr/>
            <p:nvPr/>
          </p:nvGrpSpPr>
          <p:grpSpPr>
            <a:xfrm>
              <a:off x="715" y="1116"/>
              <a:ext cx="252" cy="214"/>
              <a:chOff x="867" y="1530"/>
              <a:chExt cx="252" cy="214"/>
            </a:xfrm>
          </p:grpSpPr>
          <p:sp>
            <p:nvSpPr>
              <p:cNvPr id="142763" name="AutoShape 433"/>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764" name="Group 434"/>
              <p:cNvGrpSpPr/>
              <p:nvPr/>
            </p:nvGrpSpPr>
            <p:grpSpPr>
              <a:xfrm>
                <a:off x="967" y="1561"/>
                <a:ext cx="58" cy="114"/>
                <a:chOff x="3796" y="1043"/>
                <a:chExt cx="865" cy="1237"/>
              </a:xfrm>
            </p:grpSpPr>
            <p:sp>
              <p:nvSpPr>
                <p:cNvPr id="142765" name="Line 43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766" name="Line 43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767" name="Line 43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768" name="Line 43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769" name="Line 43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770" name="Line 44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771" name="Line 44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772" name="Line 44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773" name="Line 44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774" name="Line 44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775" name="Line 44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776" name="Line 44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777" name="Line 44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778" name="Line 44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779" name="Line 44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780" name="Group 450"/>
                <p:cNvGrpSpPr/>
                <p:nvPr/>
              </p:nvGrpSpPr>
              <p:grpSpPr>
                <a:xfrm>
                  <a:off x="4269" y="1415"/>
                  <a:ext cx="392" cy="137"/>
                  <a:chOff x="4227" y="1360"/>
                  <a:chExt cx="863" cy="270"/>
                </a:xfrm>
              </p:grpSpPr>
              <p:sp>
                <p:nvSpPr>
                  <p:cNvPr id="142781" name="Line 4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82" name="Line 4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83" name="Line 4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84" name="Line 4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85" name="Group 455"/>
                <p:cNvGrpSpPr/>
                <p:nvPr/>
              </p:nvGrpSpPr>
              <p:grpSpPr>
                <a:xfrm rot="5700496">
                  <a:off x="4050" y="1168"/>
                  <a:ext cx="392" cy="137"/>
                  <a:chOff x="4227" y="1360"/>
                  <a:chExt cx="863" cy="270"/>
                </a:xfrm>
              </p:grpSpPr>
              <p:sp>
                <p:nvSpPr>
                  <p:cNvPr id="142786" name="Line 4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87" name="Line 4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88" name="Line 4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89" name="Line 4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790" name="Group 460"/>
                <p:cNvGrpSpPr/>
                <p:nvPr/>
              </p:nvGrpSpPr>
              <p:grpSpPr>
                <a:xfrm rot="10800000">
                  <a:off x="3796" y="1402"/>
                  <a:ext cx="392" cy="137"/>
                  <a:chOff x="4227" y="1360"/>
                  <a:chExt cx="863" cy="270"/>
                </a:xfrm>
              </p:grpSpPr>
              <p:sp>
                <p:nvSpPr>
                  <p:cNvPr id="142791" name="Line 46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792" name="Line 46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793" name="Line 46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794" name="Line 46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42795" name="Line 465"/>
            <p:cNvSpPr/>
            <p:nvPr/>
          </p:nvSpPr>
          <p:spPr>
            <a:xfrm flipH="1" flipV="1">
              <a:off x="554" y="928"/>
              <a:ext cx="92" cy="222"/>
            </a:xfrm>
            <a:prstGeom prst="line">
              <a:avLst/>
            </a:prstGeom>
            <a:ln w="9525" cap="flat" cmpd="sng">
              <a:solidFill>
                <a:schemeClr val="tx1"/>
              </a:solidFill>
              <a:prstDash val="solid"/>
              <a:round/>
              <a:headEnd type="none" w="med" len="med"/>
              <a:tailEnd type="none" w="med" len="med"/>
            </a:ln>
          </p:spPr>
        </p:sp>
        <p:grpSp>
          <p:nvGrpSpPr>
            <p:cNvPr id="142796" name="Group 466"/>
            <p:cNvGrpSpPr/>
            <p:nvPr/>
          </p:nvGrpSpPr>
          <p:grpSpPr>
            <a:xfrm>
              <a:off x="191" y="711"/>
              <a:ext cx="616" cy="208"/>
              <a:chOff x="717" y="1160"/>
              <a:chExt cx="616" cy="208"/>
            </a:xfrm>
          </p:grpSpPr>
          <p:sp>
            <p:nvSpPr>
              <p:cNvPr id="142797" name="Rectangle 467"/>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798" name="Text Box 468"/>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sp>
          <p:nvSpPr>
            <p:cNvPr id="142799" name="AutoShape 469"/>
            <p:cNvSpPr/>
            <p:nvPr/>
          </p:nvSpPr>
          <p:spPr>
            <a:xfrm>
              <a:off x="146" y="1007"/>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800" name="Group 470"/>
            <p:cNvGrpSpPr/>
            <p:nvPr/>
          </p:nvGrpSpPr>
          <p:grpSpPr>
            <a:xfrm>
              <a:off x="237" y="1051"/>
              <a:ext cx="57" cy="113"/>
              <a:chOff x="3796" y="1043"/>
              <a:chExt cx="865" cy="1237"/>
            </a:xfrm>
          </p:grpSpPr>
          <p:sp>
            <p:nvSpPr>
              <p:cNvPr id="142801" name="Line 47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802" name="Line 47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803" name="Line 47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804" name="Line 47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805" name="Line 47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806" name="Line 47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807" name="Line 47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808" name="Line 47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809" name="Line 47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810" name="Line 48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811" name="Line 48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812" name="Line 48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813" name="Line 48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814" name="Line 48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815" name="Line 48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816" name="Group 486"/>
              <p:cNvGrpSpPr/>
              <p:nvPr/>
            </p:nvGrpSpPr>
            <p:grpSpPr>
              <a:xfrm>
                <a:off x="4269" y="1415"/>
                <a:ext cx="392" cy="137"/>
                <a:chOff x="4227" y="1360"/>
                <a:chExt cx="863" cy="270"/>
              </a:xfrm>
            </p:grpSpPr>
            <p:sp>
              <p:nvSpPr>
                <p:cNvPr id="142817" name="Line 4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18" name="Line 4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19" name="Line 4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20" name="Line 4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821" name="Group 491"/>
              <p:cNvGrpSpPr/>
              <p:nvPr/>
            </p:nvGrpSpPr>
            <p:grpSpPr>
              <a:xfrm rot="5700496">
                <a:off x="4050" y="1168"/>
                <a:ext cx="392" cy="137"/>
                <a:chOff x="4227" y="1360"/>
                <a:chExt cx="863" cy="270"/>
              </a:xfrm>
            </p:grpSpPr>
            <p:sp>
              <p:nvSpPr>
                <p:cNvPr id="142822" name="Line 49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23" name="Line 49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24" name="Line 49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25" name="Line 49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826" name="Group 496"/>
              <p:cNvGrpSpPr/>
              <p:nvPr/>
            </p:nvGrpSpPr>
            <p:grpSpPr>
              <a:xfrm rot="10800000">
                <a:off x="3796" y="1402"/>
                <a:ext cx="392" cy="137"/>
                <a:chOff x="4227" y="1360"/>
                <a:chExt cx="863" cy="270"/>
              </a:xfrm>
            </p:grpSpPr>
            <p:sp>
              <p:nvSpPr>
                <p:cNvPr id="142827" name="Line 49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28" name="Line 49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29" name="Line 49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30" name="Line 50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2831" name="AutoShape 501"/>
            <p:cNvSpPr/>
            <p:nvPr/>
          </p:nvSpPr>
          <p:spPr>
            <a:xfrm>
              <a:off x="527" y="12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2832" name="Group 502"/>
            <p:cNvGrpSpPr/>
            <p:nvPr/>
          </p:nvGrpSpPr>
          <p:grpSpPr>
            <a:xfrm>
              <a:off x="627" y="1270"/>
              <a:ext cx="57" cy="113"/>
              <a:chOff x="3796" y="1043"/>
              <a:chExt cx="865" cy="1237"/>
            </a:xfrm>
          </p:grpSpPr>
          <p:sp>
            <p:nvSpPr>
              <p:cNvPr id="142833" name="Line 50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2834" name="Line 50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2835" name="Line 50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2836" name="Line 50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2837" name="Line 50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2838" name="Line 50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2839" name="Line 50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2840" name="Line 51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2841" name="Line 51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2842" name="Line 51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2843" name="Line 51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2844" name="Line 51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2845" name="Line 51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2846" name="Line 51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2847" name="Line 51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2848" name="Group 518"/>
              <p:cNvGrpSpPr/>
              <p:nvPr/>
            </p:nvGrpSpPr>
            <p:grpSpPr>
              <a:xfrm>
                <a:off x="4269" y="1415"/>
                <a:ext cx="392" cy="137"/>
                <a:chOff x="4227" y="1360"/>
                <a:chExt cx="863" cy="270"/>
              </a:xfrm>
            </p:grpSpPr>
            <p:sp>
              <p:nvSpPr>
                <p:cNvPr id="142849" name="Line 5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50" name="Line 5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51" name="Line 5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52" name="Line 5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853" name="Group 523"/>
              <p:cNvGrpSpPr/>
              <p:nvPr/>
            </p:nvGrpSpPr>
            <p:grpSpPr>
              <a:xfrm rot="5700496">
                <a:off x="4050" y="1168"/>
                <a:ext cx="392" cy="137"/>
                <a:chOff x="4227" y="1360"/>
                <a:chExt cx="863" cy="270"/>
              </a:xfrm>
            </p:grpSpPr>
            <p:sp>
              <p:nvSpPr>
                <p:cNvPr id="142854" name="Line 5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55" name="Line 5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56" name="Line 5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57" name="Line 5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2858" name="Group 528"/>
              <p:cNvGrpSpPr/>
              <p:nvPr/>
            </p:nvGrpSpPr>
            <p:grpSpPr>
              <a:xfrm rot="10800000">
                <a:off x="3796" y="1402"/>
                <a:ext cx="392" cy="137"/>
                <a:chOff x="4227" y="1360"/>
                <a:chExt cx="863" cy="270"/>
              </a:xfrm>
            </p:grpSpPr>
            <p:sp>
              <p:nvSpPr>
                <p:cNvPr id="142859" name="Line 52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2860" name="Line 53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2861" name="Line 53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2862" name="Line 53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2863" name="Line 533"/>
            <p:cNvSpPr/>
            <p:nvPr/>
          </p:nvSpPr>
          <p:spPr>
            <a:xfrm flipV="1">
              <a:off x="269" y="920"/>
              <a:ext cx="156" cy="240"/>
            </a:xfrm>
            <a:prstGeom prst="line">
              <a:avLst/>
            </a:prstGeom>
            <a:ln w="9525" cap="flat" cmpd="sng">
              <a:solidFill>
                <a:schemeClr val="tx1"/>
              </a:solidFill>
              <a:prstDash val="solid"/>
              <a:round/>
              <a:headEnd type="none" w="med" len="med"/>
              <a:tailEnd type="none" w="med" len="med"/>
            </a:ln>
          </p:spPr>
        </p:sp>
      </p:grpSp>
      <p:sp>
        <p:nvSpPr>
          <p:cNvPr id="142864" name="Freeform 534"/>
          <p:cNvSpPr/>
          <p:nvPr/>
        </p:nvSpPr>
        <p:spPr>
          <a:xfrm>
            <a:off x="1798638" y="3884613"/>
            <a:ext cx="609600" cy="1373187"/>
          </a:xfrm>
          <a:custGeom>
            <a:avLst/>
            <a:gdLst/>
            <a:ahLst/>
            <a:cxnLst>
              <a:cxn ang="0">
                <a:pos x="0" y="133567439"/>
              </a:cxn>
              <a:cxn ang="0">
                <a:pos x="685482500" y="52922468"/>
              </a:cxn>
              <a:cxn ang="0">
                <a:pos x="947578750" y="456147321"/>
              </a:cxn>
              <a:cxn ang="0">
                <a:pos x="806450000" y="1363403241"/>
              </a:cxn>
              <a:cxn ang="0">
                <a:pos x="675401875" y="1779229665"/>
              </a:cxn>
              <a:cxn ang="0">
                <a:pos x="698084075" y="2147483646"/>
              </a:cxn>
            </a:cxnLst>
            <a:pathLst>
              <a:path w="384" h="865">
                <a:moveTo>
                  <a:pt x="0" y="53"/>
                </a:moveTo>
                <a:cubicBezTo>
                  <a:pt x="104" y="26"/>
                  <a:pt x="209" y="0"/>
                  <a:pt x="272" y="21"/>
                </a:cubicBezTo>
                <a:cubicBezTo>
                  <a:pt x="335" y="42"/>
                  <a:pt x="368" y="94"/>
                  <a:pt x="376" y="181"/>
                </a:cubicBezTo>
                <a:cubicBezTo>
                  <a:pt x="384" y="268"/>
                  <a:pt x="338" y="454"/>
                  <a:pt x="320" y="541"/>
                </a:cubicBezTo>
                <a:cubicBezTo>
                  <a:pt x="302" y="628"/>
                  <a:pt x="275" y="652"/>
                  <a:pt x="268" y="706"/>
                </a:cubicBezTo>
                <a:cubicBezTo>
                  <a:pt x="261" y="760"/>
                  <a:pt x="275" y="832"/>
                  <a:pt x="277" y="865"/>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2865" name="Group 535"/>
          <p:cNvGrpSpPr/>
          <p:nvPr/>
        </p:nvGrpSpPr>
        <p:grpSpPr>
          <a:xfrm>
            <a:off x="1944688" y="4203700"/>
            <a:ext cx="623887" cy="330200"/>
            <a:chOff x="2647" y="2987"/>
            <a:chExt cx="393" cy="208"/>
          </a:xfrm>
        </p:grpSpPr>
        <p:sp>
          <p:nvSpPr>
            <p:cNvPr id="142866" name="Rectangle 536"/>
            <p:cNvSpPr/>
            <p:nvPr/>
          </p:nvSpPr>
          <p:spPr>
            <a:xfrm>
              <a:off x="2647" y="2987"/>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2867" name="Text Box 537"/>
            <p:cNvSpPr txBox="1"/>
            <p:nvPr/>
          </p:nvSpPr>
          <p:spPr>
            <a:xfrm>
              <a:off x="2649" y="2995"/>
              <a:ext cx="391"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sp>
        <p:nvSpPr>
          <p:cNvPr id="142868" name="Text Box 37"/>
          <p:cNvSpPr txBox="1"/>
          <p:nvPr/>
        </p:nvSpPr>
        <p:spPr>
          <a:xfrm>
            <a:off x="1792288" y="5641975"/>
            <a:ext cx="20002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(a) before handoff</a:t>
            </a:r>
            <a:endParaRPr lang="en-US" altLang="zh-CN" dirty="0">
              <a:latin typeface="Arial" panose="020B0604020202020204" pitchFamily="34" charset="0"/>
              <a:ea typeface="宋体" panose="02010600030101010101" pitchFamily="2" charset="-122"/>
            </a:endParaRPr>
          </a:p>
        </p:txBody>
      </p:sp>
      <p:sp>
        <p:nvSpPr>
          <p:cNvPr id="142869" name="Rectangle 39"/>
          <p:cNvSpPr/>
          <p:nvPr/>
        </p:nvSpPr>
        <p:spPr>
          <a:xfrm>
            <a:off x="519113" y="290513"/>
            <a:ext cx="7772400" cy="11430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GSM: handoff between MSCs</a:t>
            </a:r>
            <a:endParaRPr lang="en-US" altLang="zh-CN" sz="3200" u="sng" dirty="0">
              <a:solidFill>
                <a:schemeClr val="accent2"/>
              </a:solidFill>
              <a:latin typeface="Comic Sans MS" panose="030F0702030302020204" pitchFamily="66" charset="0"/>
              <a:ea typeface="宋体" panose="02010600030101010101" pitchFamily="2" charset="-122"/>
            </a:endParaRPr>
          </a:p>
        </p:txBody>
      </p:sp>
      <p:sp>
        <p:nvSpPr>
          <p:cNvPr id="142870" name="Rectangle 42"/>
          <p:cNvSpPr>
            <a:spLocks noGrp="1"/>
          </p:cNvSpPr>
          <p:nvPr>
            <p:ph sz="half" idx="2"/>
          </p:nvPr>
        </p:nvSpPr>
        <p:spPr>
          <a:xfrm>
            <a:off x="4664075" y="1600200"/>
            <a:ext cx="4078288" cy="4648200"/>
          </a:xfrm>
          <a:ln/>
        </p:spPr>
        <p:txBody>
          <a:bodyPr vert="horz" wrap="square" lIns="91440" tIns="45720" rIns="91440" bIns="45720" anchor="t" anchorCtr="0"/>
          <a:p>
            <a:pPr>
              <a:buClr>
                <a:schemeClr val="accent2"/>
              </a:buClr>
              <a:buSzPct val="85000"/>
              <a:buFont typeface="ZapfDingbats" pitchFamily="82" charset="2"/>
            </a:pPr>
            <a:r>
              <a:rPr lang="en-US" altLang="zh-CN" sz="2400" i="1" dirty="0">
                <a:solidFill>
                  <a:srgbClr val="FF3300"/>
                </a:solidFill>
                <a:ea typeface="宋体" panose="02010600030101010101" pitchFamily="2" charset="-122"/>
              </a:rPr>
              <a:t>anchor MSC:</a:t>
            </a:r>
            <a:r>
              <a:rPr lang="en-US" altLang="zh-CN" sz="2400" dirty="0">
                <a:ea typeface="宋体" panose="02010600030101010101" pitchFamily="2" charset="-122"/>
              </a:rPr>
              <a:t> first MSC visited during cal</a:t>
            </a:r>
            <a:endParaRPr lang="en-US" altLang="zh-CN" sz="2400" dirty="0">
              <a:ea typeface="宋体" panose="02010600030101010101" pitchFamily="2" charset="-122"/>
            </a:endParaRPr>
          </a:p>
          <a:p>
            <a:pPr lvl="1">
              <a:buClr>
                <a:schemeClr val="accent2"/>
              </a:buClr>
              <a:buSzPct val="75000"/>
              <a:buFont typeface="ZapfDingbats" pitchFamily="82" charset="2"/>
            </a:pPr>
            <a:r>
              <a:rPr lang="en-US" altLang="zh-CN" sz="2000" dirty="0">
                <a:ea typeface="宋体" panose="02010600030101010101" pitchFamily="2" charset="-122"/>
              </a:rPr>
              <a:t>call remains routed through anchor MSC</a:t>
            </a:r>
            <a:endParaRPr lang="en-US" altLang="zh-CN" sz="20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new MSCs add on to end of MSC chain as mobile moves to new MSC</a:t>
            </a:r>
            <a:endParaRPr lang="en-US" altLang="zh-CN" sz="2400" dirty="0">
              <a:ea typeface="宋体" panose="02010600030101010101" pitchFamily="2" charset="-122"/>
            </a:endParaRPr>
          </a:p>
          <a:p>
            <a:pPr>
              <a:buClr>
                <a:schemeClr val="accent2"/>
              </a:buClr>
              <a:buSzPct val="85000"/>
              <a:buFont typeface="ZapfDingbats" pitchFamily="82" charset="2"/>
            </a:pPr>
            <a:r>
              <a:rPr lang="en-US" altLang="zh-CN" sz="2400" dirty="0">
                <a:ea typeface="宋体" panose="02010600030101010101" pitchFamily="2" charset="-122"/>
              </a:rPr>
              <a:t>IS-41 allows optional path minimization step to shorten multi-MSC chain</a:t>
            </a:r>
            <a:endParaRPr lang="en-US" altLang="zh-CN" sz="2400"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页脚占位符 2"/>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4386" name="灯片编号占位符 3"/>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grpSp>
        <p:nvGrpSpPr>
          <p:cNvPr id="144387" name="Group 2"/>
          <p:cNvGrpSpPr/>
          <p:nvPr/>
        </p:nvGrpSpPr>
        <p:grpSpPr>
          <a:xfrm>
            <a:off x="422275" y="2239963"/>
            <a:ext cx="1408113" cy="1109662"/>
            <a:chOff x="125" y="951"/>
            <a:chExt cx="887" cy="699"/>
          </a:xfrm>
        </p:grpSpPr>
        <p:sp>
          <p:nvSpPr>
            <p:cNvPr id="144388" name="Freeform 3"/>
            <p:cNvSpPr/>
            <p:nvPr/>
          </p:nvSpPr>
          <p:spPr>
            <a:xfrm>
              <a:off x="147" y="1148"/>
              <a:ext cx="817" cy="502"/>
            </a:xfrm>
            <a:custGeom>
              <a:avLst/>
              <a:gdLst/>
              <a:ahLst/>
              <a:cxnLst>
                <a:cxn ang="0">
                  <a:pos x="102" y="1"/>
                </a:cxn>
                <a:cxn ang="0">
                  <a:pos x="15" y="27"/>
                </a:cxn>
                <a:cxn ang="0">
                  <a:pos x="12" y="93"/>
                </a:cxn>
                <a:cxn ang="0">
                  <a:pos x="23" y="147"/>
                </a:cxn>
                <a:cxn ang="0">
                  <a:pos x="68" y="190"/>
                </a:cxn>
                <a:cxn ang="0">
                  <a:pos x="214" y="203"/>
                </a:cxn>
                <a:cxn ang="0">
                  <a:pos x="425" y="219"/>
                </a:cxn>
                <a:cxn ang="0">
                  <a:pos x="512" y="180"/>
                </a:cxn>
                <a:cxn ang="0">
                  <a:pos x="543" y="79"/>
                </a:cxn>
                <a:cxn ang="0">
                  <a:pos x="515" y="37"/>
                </a:cxn>
                <a:cxn ang="0">
                  <a:pos x="320" y="20"/>
                </a:cxn>
                <a:cxn ang="0">
                  <a:pos x="102" y="1"/>
                </a:cxn>
              </a:cxnLst>
              <a:pathLst>
                <a:path w="1209" h="1134">
                  <a:moveTo>
                    <a:pt x="224" y="6"/>
                  </a:moveTo>
                  <a:cubicBezTo>
                    <a:pt x="112" y="13"/>
                    <a:pt x="66" y="64"/>
                    <a:pt x="33" y="141"/>
                  </a:cubicBezTo>
                  <a:cubicBezTo>
                    <a:pt x="0" y="219"/>
                    <a:pt x="24" y="370"/>
                    <a:pt x="27" y="471"/>
                  </a:cubicBezTo>
                  <a:cubicBezTo>
                    <a:pt x="30" y="572"/>
                    <a:pt x="30" y="664"/>
                    <a:pt x="50" y="747"/>
                  </a:cubicBezTo>
                  <a:cubicBezTo>
                    <a:pt x="70" y="830"/>
                    <a:pt x="79" y="924"/>
                    <a:pt x="149" y="972"/>
                  </a:cubicBezTo>
                  <a:cubicBezTo>
                    <a:pt x="219" y="1020"/>
                    <a:pt x="339" y="1012"/>
                    <a:pt x="469" y="1036"/>
                  </a:cubicBezTo>
                  <a:cubicBezTo>
                    <a:pt x="599" y="1060"/>
                    <a:pt x="822" y="1134"/>
                    <a:pt x="931" y="1115"/>
                  </a:cubicBezTo>
                  <a:cubicBezTo>
                    <a:pt x="1040" y="1096"/>
                    <a:pt x="1079" y="1039"/>
                    <a:pt x="1122" y="920"/>
                  </a:cubicBezTo>
                  <a:cubicBezTo>
                    <a:pt x="1165" y="801"/>
                    <a:pt x="1188" y="523"/>
                    <a:pt x="1189" y="401"/>
                  </a:cubicBezTo>
                  <a:cubicBezTo>
                    <a:pt x="1190" y="279"/>
                    <a:pt x="1209" y="240"/>
                    <a:pt x="1128" y="190"/>
                  </a:cubicBezTo>
                  <a:cubicBezTo>
                    <a:pt x="1046" y="141"/>
                    <a:pt x="850" y="135"/>
                    <a:pt x="701" y="104"/>
                  </a:cubicBezTo>
                  <a:cubicBezTo>
                    <a:pt x="552" y="72"/>
                    <a:pt x="335" y="0"/>
                    <a:pt x="224" y="6"/>
                  </a:cubicBezTo>
                  <a:close/>
                </a:path>
              </a:pathLst>
            </a:custGeom>
            <a:solidFill>
              <a:srgbClr val="00FFFF"/>
            </a:solidFill>
            <a:ln w="9525">
              <a:noFill/>
            </a:ln>
          </p:spPr>
          <p:txBody>
            <a:bodyPr/>
            <a:p>
              <a:endParaRPr lang="zh-CN" altLang="en-US"/>
            </a:p>
          </p:txBody>
        </p:sp>
        <p:sp>
          <p:nvSpPr>
            <p:cNvPr id="144389" name="Text Box 4"/>
            <p:cNvSpPr txBox="1"/>
            <p:nvPr/>
          </p:nvSpPr>
          <p:spPr>
            <a:xfrm>
              <a:off x="142" y="951"/>
              <a:ext cx="870" cy="192"/>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home network</a:t>
              </a:r>
              <a:endParaRPr lang="en-US" altLang="zh-CN" sz="1400" dirty="0">
                <a:latin typeface="Arial" panose="020B0604020202020204" pitchFamily="34" charset="0"/>
                <a:ea typeface="宋体" panose="02010600030101010101" pitchFamily="2" charset="-122"/>
              </a:endParaRPr>
            </a:p>
          </p:txBody>
        </p:sp>
        <p:grpSp>
          <p:nvGrpSpPr>
            <p:cNvPr id="144390" name="Group 5"/>
            <p:cNvGrpSpPr/>
            <p:nvPr/>
          </p:nvGrpSpPr>
          <p:grpSpPr>
            <a:xfrm>
              <a:off x="125" y="1203"/>
              <a:ext cx="616" cy="326"/>
              <a:chOff x="581" y="459"/>
              <a:chExt cx="616" cy="326"/>
            </a:xfrm>
          </p:grpSpPr>
          <p:sp>
            <p:nvSpPr>
              <p:cNvPr id="144391" name="Rectangle 6"/>
              <p:cNvSpPr/>
              <p:nvPr/>
            </p:nvSpPr>
            <p:spPr>
              <a:xfrm>
                <a:off x="696" y="464"/>
                <a:ext cx="384" cy="31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392" name="Text Box 7"/>
              <p:cNvSpPr txBox="1"/>
              <p:nvPr/>
            </p:nvSpPr>
            <p:spPr>
              <a:xfrm>
                <a:off x="581" y="459"/>
                <a:ext cx="616" cy="326"/>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Home MSC</a:t>
                </a:r>
                <a:endParaRPr lang="en-US" altLang="zh-CN" sz="1400" dirty="0">
                  <a:latin typeface="Arial" panose="020B0604020202020204" pitchFamily="34" charset="0"/>
                  <a:ea typeface="宋体" panose="02010600030101010101" pitchFamily="2" charset="-122"/>
                </a:endParaRPr>
              </a:p>
            </p:txBody>
          </p:sp>
        </p:grpSp>
      </p:grpSp>
      <p:sp>
        <p:nvSpPr>
          <p:cNvPr id="144393" name="Freeform 14"/>
          <p:cNvSpPr/>
          <p:nvPr/>
        </p:nvSpPr>
        <p:spPr>
          <a:xfrm>
            <a:off x="1816100" y="2933700"/>
            <a:ext cx="1436688" cy="1617663"/>
          </a:xfrm>
          <a:custGeom>
            <a:avLst/>
            <a:gdLst/>
            <a:ahLst/>
            <a:cxnLst>
              <a:cxn ang="0">
                <a:pos x="295527389" y="11630417"/>
              </a:cxn>
              <a:cxn ang="0">
                <a:pos x="43278558" y="260848481"/>
              </a:cxn>
              <a:cxn ang="0">
                <a:pos x="35859377" y="868941537"/>
              </a:cxn>
              <a:cxn ang="0">
                <a:pos x="65534990" y="1377346594"/>
              </a:cxn>
              <a:cxn ang="0">
                <a:pos x="302946570" y="1447127806"/>
              </a:cxn>
              <a:cxn ang="0">
                <a:pos x="800026162" y="1875782722"/>
              </a:cxn>
              <a:cxn ang="0">
                <a:pos x="1230334234" y="2055219573"/>
              </a:cxn>
              <a:cxn ang="0">
                <a:pos x="1482583065" y="1696345871"/>
              </a:cxn>
              <a:cxn ang="0">
                <a:pos x="1571612129" y="739348040"/>
              </a:cxn>
              <a:cxn ang="0">
                <a:pos x="1490002246" y="350567551"/>
              </a:cxn>
              <a:cxn ang="0">
                <a:pos x="926151134" y="191067268"/>
              </a:cxn>
              <a:cxn ang="0">
                <a:pos x="295527389" y="11630417"/>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ln>
        </p:spPr>
        <p:txBody>
          <a:bodyPr/>
          <a:p>
            <a:endParaRPr lang="zh-CN" altLang="en-US"/>
          </a:p>
        </p:txBody>
      </p:sp>
      <p:sp>
        <p:nvSpPr>
          <p:cNvPr id="144394" name="Text Box 15"/>
          <p:cNvSpPr txBox="1"/>
          <p:nvPr/>
        </p:nvSpPr>
        <p:spPr>
          <a:xfrm>
            <a:off x="2316163" y="3529013"/>
            <a:ext cx="717550" cy="304800"/>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PSTN</a:t>
            </a:r>
            <a:endParaRPr lang="en-US" altLang="zh-CN" sz="1400" dirty="0">
              <a:latin typeface="Arial" panose="020B0604020202020204" pitchFamily="34" charset="0"/>
              <a:ea typeface="宋体" panose="02010600030101010101" pitchFamily="2" charset="-122"/>
            </a:endParaRPr>
          </a:p>
        </p:txBody>
      </p:sp>
      <p:pic>
        <p:nvPicPr>
          <p:cNvPr id="144395" name="Picture 20"/>
          <p:cNvPicPr>
            <a:picLocks noChangeAspect="1"/>
          </p:cNvPicPr>
          <p:nvPr/>
        </p:nvPicPr>
        <p:blipFill>
          <a:blip r:embed="rId1"/>
          <a:stretch>
            <a:fillRect/>
          </a:stretch>
        </p:blipFill>
        <p:spPr>
          <a:xfrm>
            <a:off x="3363913" y="2749550"/>
            <a:ext cx="411162" cy="477838"/>
          </a:xfrm>
          <a:prstGeom prst="rect">
            <a:avLst/>
          </a:prstGeom>
          <a:noFill/>
          <a:ln w="9525">
            <a:noFill/>
          </a:ln>
        </p:spPr>
      </p:pic>
      <p:sp>
        <p:nvSpPr>
          <p:cNvPr id="144396" name="Text Box 21"/>
          <p:cNvSpPr txBox="1"/>
          <p:nvPr/>
        </p:nvSpPr>
        <p:spPr>
          <a:xfrm>
            <a:off x="2633663" y="2455863"/>
            <a:ext cx="1316037" cy="304800"/>
          </a:xfrm>
          <a:prstGeom prst="rect">
            <a:avLst/>
          </a:prstGeom>
          <a:noFill/>
          <a:ln w="9525">
            <a:noFill/>
          </a:ln>
        </p:spPr>
        <p:txBody>
          <a:bodyPr wrap="none" anchor="t" anchorCtr="0">
            <a:spAutoFit/>
          </a:bodyPr>
          <a:p>
            <a:pPr>
              <a:buClrTx/>
              <a:buFontTx/>
            </a:pPr>
            <a:r>
              <a:rPr lang="en-US" altLang="zh-CN" sz="1400" dirty="0">
                <a:latin typeface="Arial" panose="020B0604020202020204" pitchFamily="34" charset="0"/>
                <a:ea typeface="宋体" panose="02010600030101010101" pitchFamily="2" charset="-122"/>
              </a:rPr>
              <a:t>correspondent</a:t>
            </a:r>
            <a:endParaRPr lang="en-US" altLang="zh-CN" sz="1400" dirty="0">
              <a:latin typeface="Arial" panose="020B0604020202020204" pitchFamily="34" charset="0"/>
              <a:ea typeface="宋体" panose="02010600030101010101" pitchFamily="2" charset="-122"/>
            </a:endParaRPr>
          </a:p>
        </p:txBody>
      </p:sp>
      <p:sp>
        <p:nvSpPr>
          <p:cNvPr id="144397" name="Freeform 22"/>
          <p:cNvSpPr/>
          <p:nvPr/>
        </p:nvSpPr>
        <p:spPr>
          <a:xfrm>
            <a:off x="1214438" y="2978150"/>
            <a:ext cx="2222500" cy="446088"/>
          </a:xfrm>
          <a:custGeom>
            <a:avLst/>
            <a:gdLst/>
            <a:ahLst/>
            <a:cxnLst>
              <a:cxn ang="0">
                <a:pos x="2147483646" y="262096544"/>
              </a:cxn>
              <a:cxn ang="0">
                <a:pos x="2147483646" y="524193088"/>
              </a:cxn>
              <a:cxn ang="0">
                <a:pos x="1995963750" y="685483268"/>
              </a:cxn>
              <a:cxn ang="0">
                <a:pos x="786288750" y="383064179"/>
              </a:cxn>
              <a:cxn ang="0">
                <a:pos x="0" y="0"/>
              </a:cxn>
            </a:cxnLst>
            <a:pathLst>
              <a:path w="1400" h="281">
                <a:moveTo>
                  <a:pt x="1400" y="104"/>
                </a:moveTo>
                <a:cubicBezTo>
                  <a:pt x="1381" y="121"/>
                  <a:pt x="1397" y="180"/>
                  <a:pt x="1296" y="208"/>
                </a:cubicBezTo>
                <a:cubicBezTo>
                  <a:pt x="1195" y="236"/>
                  <a:pt x="956" y="281"/>
                  <a:pt x="792" y="272"/>
                </a:cubicBezTo>
                <a:cubicBezTo>
                  <a:pt x="628" y="263"/>
                  <a:pt x="444" y="197"/>
                  <a:pt x="312" y="152"/>
                </a:cubicBezTo>
                <a:cubicBezTo>
                  <a:pt x="180" y="107"/>
                  <a:pt x="65" y="32"/>
                  <a:pt x="0" y="0"/>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44398" name="Freeform 23"/>
          <p:cNvSpPr/>
          <p:nvPr/>
        </p:nvSpPr>
        <p:spPr>
          <a:xfrm>
            <a:off x="1062038" y="3003550"/>
            <a:ext cx="1087437" cy="882650"/>
          </a:xfrm>
          <a:custGeom>
            <a:avLst/>
            <a:gdLst/>
            <a:ahLst/>
            <a:cxnLst>
              <a:cxn ang="0">
                <a:pos x="0" y="0"/>
              </a:cxn>
              <a:cxn ang="0">
                <a:pos x="1451609333" y="826611250"/>
              </a:cxn>
              <a:cxn ang="0">
                <a:pos x="1653221740" y="1189513750"/>
              </a:cxn>
              <a:cxn ang="0">
                <a:pos x="1126508532" y="1401206875"/>
              </a:cxn>
            </a:cxnLst>
            <a:pathLst>
              <a:path w="685" h="556">
                <a:moveTo>
                  <a:pt x="0" y="0"/>
                </a:moveTo>
                <a:cubicBezTo>
                  <a:pt x="96" y="55"/>
                  <a:pt x="467" y="249"/>
                  <a:pt x="576" y="328"/>
                </a:cubicBezTo>
                <a:cubicBezTo>
                  <a:pt x="685" y="407"/>
                  <a:pt x="677" y="434"/>
                  <a:pt x="656" y="472"/>
                </a:cubicBezTo>
                <a:cubicBezTo>
                  <a:pt x="635" y="510"/>
                  <a:pt x="491" y="539"/>
                  <a:pt x="447" y="556"/>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grpSp>
        <p:nvGrpSpPr>
          <p:cNvPr id="144399" name="Group 24"/>
          <p:cNvGrpSpPr/>
          <p:nvPr/>
        </p:nvGrpSpPr>
        <p:grpSpPr>
          <a:xfrm>
            <a:off x="387350" y="3778250"/>
            <a:ext cx="1020763" cy="841375"/>
            <a:chOff x="1807" y="2856"/>
            <a:chExt cx="803" cy="674"/>
          </a:xfrm>
        </p:grpSpPr>
        <p:sp>
          <p:nvSpPr>
            <p:cNvPr id="144400" name="AutoShape 25"/>
            <p:cNvSpPr/>
            <p:nvPr/>
          </p:nvSpPr>
          <p:spPr>
            <a:xfrm>
              <a:off x="1807" y="2856"/>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401" name="AutoShape 26"/>
            <p:cNvSpPr/>
            <p:nvPr/>
          </p:nvSpPr>
          <p:spPr>
            <a:xfrm>
              <a:off x="2047" y="3258"/>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402" name="AutoShape 27"/>
            <p:cNvSpPr/>
            <p:nvPr/>
          </p:nvSpPr>
          <p:spPr>
            <a:xfrm>
              <a:off x="2043" y="2985"/>
              <a:ext cx="315" cy="272"/>
            </a:xfrm>
            <a:prstGeom prst="hexagon">
              <a:avLst>
                <a:gd name="adj" fmla="val 28952"/>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403" name="AutoShape 28"/>
            <p:cNvSpPr/>
            <p:nvPr/>
          </p:nvSpPr>
          <p:spPr>
            <a:xfrm>
              <a:off x="2282" y="3123"/>
              <a:ext cx="314" cy="272"/>
            </a:xfrm>
            <a:prstGeom prst="hexagon">
              <a:avLst>
                <a:gd name="adj" fmla="val 28860"/>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404" name="Group 29"/>
            <p:cNvGrpSpPr/>
            <p:nvPr/>
          </p:nvGrpSpPr>
          <p:grpSpPr>
            <a:xfrm>
              <a:off x="2407" y="3162"/>
              <a:ext cx="72" cy="145"/>
              <a:chOff x="3796" y="1043"/>
              <a:chExt cx="865" cy="1237"/>
            </a:xfrm>
          </p:grpSpPr>
          <p:sp>
            <p:nvSpPr>
              <p:cNvPr id="144405" name="Line 3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406" name="Line 3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407" name="Line 3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408" name="Line 3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409" name="Line 3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410" name="Line 3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411" name="Line 3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412" name="Line 3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413" name="Line 3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414" name="Line 3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415" name="Line 4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416" name="Line 4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417" name="Line 4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418" name="Line 4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419" name="Line 4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420" name="Group 45"/>
              <p:cNvGrpSpPr/>
              <p:nvPr/>
            </p:nvGrpSpPr>
            <p:grpSpPr>
              <a:xfrm>
                <a:off x="4269" y="1415"/>
                <a:ext cx="392" cy="137"/>
                <a:chOff x="4227" y="1360"/>
                <a:chExt cx="863" cy="270"/>
              </a:xfrm>
            </p:grpSpPr>
            <p:sp>
              <p:nvSpPr>
                <p:cNvPr id="144421" name="Line 4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22" name="Line 4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23" name="Line 4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24" name="Line 4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25" name="Group 50"/>
              <p:cNvGrpSpPr/>
              <p:nvPr/>
            </p:nvGrpSpPr>
            <p:grpSpPr>
              <a:xfrm rot="5700496">
                <a:off x="4050" y="1168"/>
                <a:ext cx="392" cy="137"/>
                <a:chOff x="4227" y="1360"/>
                <a:chExt cx="863" cy="270"/>
              </a:xfrm>
            </p:grpSpPr>
            <p:sp>
              <p:nvSpPr>
                <p:cNvPr id="144426" name="Line 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27" name="Line 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28" name="Line 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29" name="Line 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30" name="Group 55"/>
              <p:cNvGrpSpPr/>
              <p:nvPr/>
            </p:nvGrpSpPr>
            <p:grpSpPr>
              <a:xfrm rot="10800000">
                <a:off x="3796" y="1402"/>
                <a:ext cx="392" cy="137"/>
                <a:chOff x="4227" y="1360"/>
                <a:chExt cx="863" cy="270"/>
              </a:xfrm>
            </p:grpSpPr>
            <p:sp>
              <p:nvSpPr>
                <p:cNvPr id="144431" name="Line 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32" name="Line 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33" name="Line 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34" name="Line 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435" name="Group 60"/>
            <p:cNvGrpSpPr/>
            <p:nvPr/>
          </p:nvGrpSpPr>
          <p:grpSpPr>
            <a:xfrm>
              <a:off x="2164" y="3034"/>
              <a:ext cx="72" cy="145"/>
              <a:chOff x="3796" y="1043"/>
              <a:chExt cx="865" cy="1237"/>
            </a:xfrm>
          </p:grpSpPr>
          <p:sp>
            <p:nvSpPr>
              <p:cNvPr id="144436" name="Line 61"/>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437" name="Line 62"/>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438" name="Line 63"/>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439" name="Line 64"/>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440" name="Line 65"/>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441" name="Line 66"/>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442" name="Line 67"/>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443" name="Line 68"/>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444" name="Line 69"/>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445" name="Line 70"/>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446" name="Line 71"/>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447" name="Line 72"/>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448" name="Line 73"/>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449" name="Line 74"/>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450" name="Line 75"/>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451" name="Group 76"/>
              <p:cNvGrpSpPr/>
              <p:nvPr/>
            </p:nvGrpSpPr>
            <p:grpSpPr>
              <a:xfrm>
                <a:off x="4269" y="1415"/>
                <a:ext cx="392" cy="137"/>
                <a:chOff x="4227" y="1360"/>
                <a:chExt cx="863" cy="270"/>
              </a:xfrm>
            </p:grpSpPr>
            <p:sp>
              <p:nvSpPr>
                <p:cNvPr id="144452" name="Line 7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53" name="Line 7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54" name="Line 7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55" name="Line 8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56" name="Group 81"/>
              <p:cNvGrpSpPr/>
              <p:nvPr/>
            </p:nvGrpSpPr>
            <p:grpSpPr>
              <a:xfrm rot="5700496">
                <a:off x="4050" y="1168"/>
                <a:ext cx="392" cy="137"/>
                <a:chOff x="4227" y="1360"/>
                <a:chExt cx="863" cy="270"/>
              </a:xfrm>
            </p:grpSpPr>
            <p:sp>
              <p:nvSpPr>
                <p:cNvPr id="144457" name="Line 8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58" name="Line 8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59" name="Line 8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60" name="Line 8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61" name="Group 86"/>
              <p:cNvGrpSpPr/>
              <p:nvPr/>
            </p:nvGrpSpPr>
            <p:grpSpPr>
              <a:xfrm rot="10800000">
                <a:off x="3796" y="1402"/>
                <a:ext cx="392" cy="137"/>
                <a:chOff x="4227" y="1360"/>
                <a:chExt cx="863" cy="270"/>
              </a:xfrm>
            </p:grpSpPr>
            <p:sp>
              <p:nvSpPr>
                <p:cNvPr id="144462" name="Line 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63" name="Line 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64" name="Line 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65" name="Line 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466" name="Group 91"/>
            <p:cNvGrpSpPr/>
            <p:nvPr/>
          </p:nvGrpSpPr>
          <p:grpSpPr>
            <a:xfrm>
              <a:off x="2175" y="3302"/>
              <a:ext cx="72" cy="144"/>
              <a:chOff x="3796" y="1043"/>
              <a:chExt cx="865" cy="1237"/>
            </a:xfrm>
          </p:grpSpPr>
          <p:sp>
            <p:nvSpPr>
              <p:cNvPr id="144467" name="Line 9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468" name="Line 9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469" name="Line 9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470" name="Line 9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471" name="Line 9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472" name="Line 9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473" name="Line 9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474" name="Line 9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475" name="Line 10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476" name="Line 10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477" name="Line 10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478" name="Line 10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479" name="Line 10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480" name="Line 10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481" name="Line 10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482" name="Group 107"/>
              <p:cNvGrpSpPr/>
              <p:nvPr/>
            </p:nvGrpSpPr>
            <p:grpSpPr>
              <a:xfrm>
                <a:off x="4269" y="1415"/>
                <a:ext cx="392" cy="137"/>
                <a:chOff x="4227" y="1360"/>
                <a:chExt cx="863" cy="270"/>
              </a:xfrm>
            </p:grpSpPr>
            <p:sp>
              <p:nvSpPr>
                <p:cNvPr id="144483" name="Line 10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84" name="Line 10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85" name="Line 11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86" name="Line 11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87" name="Group 112"/>
              <p:cNvGrpSpPr/>
              <p:nvPr/>
            </p:nvGrpSpPr>
            <p:grpSpPr>
              <a:xfrm rot="5700496">
                <a:off x="4050" y="1168"/>
                <a:ext cx="392" cy="137"/>
                <a:chOff x="4227" y="1360"/>
                <a:chExt cx="863" cy="270"/>
              </a:xfrm>
            </p:grpSpPr>
            <p:sp>
              <p:nvSpPr>
                <p:cNvPr id="144488" name="Line 11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89" name="Line 11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90" name="Line 11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91" name="Line 11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492" name="Group 117"/>
              <p:cNvGrpSpPr/>
              <p:nvPr/>
            </p:nvGrpSpPr>
            <p:grpSpPr>
              <a:xfrm rot="10800000">
                <a:off x="3796" y="1402"/>
                <a:ext cx="392" cy="137"/>
                <a:chOff x="4227" y="1360"/>
                <a:chExt cx="863" cy="270"/>
              </a:xfrm>
            </p:grpSpPr>
            <p:sp>
              <p:nvSpPr>
                <p:cNvPr id="144493" name="Line 1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494" name="Line 1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495" name="Line 1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496" name="Line 1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497" name="Group 122"/>
            <p:cNvGrpSpPr/>
            <p:nvPr/>
          </p:nvGrpSpPr>
          <p:grpSpPr>
            <a:xfrm>
              <a:off x="1934" y="2899"/>
              <a:ext cx="72" cy="145"/>
              <a:chOff x="3796" y="1043"/>
              <a:chExt cx="865" cy="1237"/>
            </a:xfrm>
          </p:grpSpPr>
          <p:sp>
            <p:nvSpPr>
              <p:cNvPr id="144498" name="Line 123"/>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499" name="Line 124"/>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500" name="Line 125"/>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501" name="Line 126"/>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502" name="Line 127"/>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503" name="Line 128"/>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504" name="Line 129"/>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505" name="Line 130"/>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506" name="Line 131"/>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507" name="Line 132"/>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508" name="Line 133"/>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509" name="Line 134"/>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510" name="Line 135"/>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511" name="Line 136"/>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512" name="Line 137"/>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513" name="Group 138"/>
              <p:cNvGrpSpPr/>
              <p:nvPr/>
            </p:nvGrpSpPr>
            <p:grpSpPr>
              <a:xfrm>
                <a:off x="4269" y="1415"/>
                <a:ext cx="392" cy="137"/>
                <a:chOff x="4227" y="1360"/>
                <a:chExt cx="863" cy="270"/>
              </a:xfrm>
            </p:grpSpPr>
            <p:sp>
              <p:nvSpPr>
                <p:cNvPr id="144514" name="Line 13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15" name="Line 14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16" name="Line 14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17" name="Line 14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18" name="Group 143"/>
              <p:cNvGrpSpPr/>
              <p:nvPr/>
            </p:nvGrpSpPr>
            <p:grpSpPr>
              <a:xfrm rot="5700496">
                <a:off x="4050" y="1168"/>
                <a:ext cx="392" cy="137"/>
                <a:chOff x="4227" y="1360"/>
                <a:chExt cx="863" cy="270"/>
              </a:xfrm>
            </p:grpSpPr>
            <p:sp>
              <p:nvSpPr>
                <p:cNvPr id="144519" name="Line 14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20" name="Line 14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21" name="Line 14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22" name="Line 14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23" name="Group 148"/>
              <p:cNvGrpSpPr/>
              <p:nvPr/>
            </p:nvGrpSpPr>
            <p:grpSpPr>
              <a:xfrm rot="10800000">
                <a:off x="3796" y="1402"/>
                <a:ext cx="392" cy="137"/>
                <a:chOff x="4227" y="1360"/>
                <a:chExt cx="863" cy="270"/>
              </a:xfrm>
            </p:grpSpPr>
            <p:sp>
              <p:nvSpPr>
                <p:cNvPr id="144524" name="Line 14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25" name="Line 15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26" name="Line 15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27" name="Line 15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4528" name="Line 153"/>
            <p:cNvSpPr/>
            <p:nvPr/>
          </p:nvSpPr>
          <p:spPr>
            <a:xfrm flipV="1">
              <a:off x="2460" y="3031"/>
              <a:ext cx="150" cy="250"/>
            </a:xfrm>
            <a:prstGeom prst="line">
              <a:avLst/>
            </a:prstGeom>
            <a:ln w="9525" cap="flat" cmpd="sng">
              <a:solidFill>
                <a:schemeClr val="tx1"/>
              </a:solidFill>
              <a:prstDash val="solid"/>
              <a:round/>
              <a:headEnd type="none" w="med" len="med"/>
              <a:tailEnd type="none" w="med" len="med"/>
            </a:ln>
          </p:spPr>
        </p:sp>
        <p:sp>
          <p:nvSpPr>
            <p:cNvPr id="144529" name="Line 154"/>
            <p:cNvSpPr/>
            <p:nvPr/>
          </p:nvSpPr>
          <p:spPr>
            <a:xfrm flipV="1">
              <a:off x="2226" y="3031"/>
              <a:ext cx="254" cy="395"/>
            </a:xfrm>
            <a:prstGeom prst="line">
              <a:avLst/>
            </a:prstGeom>
            <a:ln w="9525" cap="flat" cmpd="sng">
              <a:solidFill>
                <a:schemeClr val="tx1"/>
              </a:solidFill>
              <a:prstDash val="solid"/>
              <a:round/>
              <a:headEnd type="none" w="med" len="med"/>
              <a:tailEnd type="none" w="med" len="med"/>
            </a:ln>
          </p:spPr>
        </p:sp>
        <p:sp>
          <p:nvSpPr>
            <p:cNvPr id="144530" name="Line 155"/>
            <p:cNvSpPr/>
            <p:nvPr/>
          </p:nvSpPr>
          <p:spPr>
            <a:xfrm flipV="1">
              <a:off x="2219" y="3031"/>
              <a:ext cx="245" cy="138"/>
            </a:xfrm>
            <a:prstGeom prst="line">
              <a:avLst/>
            </a:prstGeom>
            <a:ln w="9525" cap="flat" cmpd="sng">
              <a:solidFill>
                <a:schemeClr val="tx1"/>
              </a:solidFill>
              <a:prstDash val="solid"/>
              <a:round/>
              <a:headEnd type="none" w="med" len="med"/>
              <a:tailEnd type="none" w="med" len="med"/>
            </a:ln>
          </p:spPr>
        </p:sp>
        <p:sp>
          <p:nvSpPr>
            <p:cNvPr id="144531" name="Line 156"/>
            <p:cNvSpPr/>
            <p:nvPr/>
          </p:nvSpPr>
          <p:spPr>
            <a:xfrm flipV="1">
              <a:off x="1989" y="2974"/>
              <a:ext cx="452" cy="53"/>
            </a:xfrm>
            <a:prstGeom prst="line">
              <a:avLst/>
            </a:prstGeom>
            <a:ln w="9525" cap="flat" cmpd="sng">
              <a:solidFill>
                <a:schemeClr val="tx1"/>
              </a:solidFill>
              <a:prstDash val="solid"/>
              <a:round/>
              <a:headEnd type="none" w="med" len="med"/>
              <a:tailEnd type="none" w="med" len="med"/>
            </a:ln>
          </p:spPr>
        </p:sp>
      </p:grpSp>
      <p:grpSp>
        <p:nvGrpSpPr>
          <p:cNvPr id="144532" name="Group 157"/>
          <p:cNvGrpSpPr/>
          <p:nvPr/>
        </p:nvGrpSpPr>
        <p:grpSpPr>
          <a:xfrm>
            <a:off x="993775" y="3702050"/>
            <a:ext cx="977900" cy="330200"/>
            <a:chOff x="717" y="1160"/>
            <a:chExt cx="616" cy="208"/>
          </a:xfrm>
        </p:grpSpPr>
        <p:sp>
          <p:nvSpPr>
            <p:cNvPr id="144533" name="Rectangle 158"/>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534" name="Text Box 159"/>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nvGrpSpPr>
          <p:cNvPr id="144535" name="Group 160"/>
          <p:cNvGrpSpPr/>
          <p:nvPr/>
        </p:nvGrpSpPr>
        <p:grpSpPr>
          <a:xfrm>
            <a:off x="1308100" y="4424363"/>
            <a:ext cx="1016000" cy="931862"/>
            <a:chOff x="291" y="1263"/>
            <a:chExt cx="640" cy="587"/>
          </a:xfrm>
        </p:grpSpPr>
        <p:sp>
          <p:nvSpPr>
            <p:cNvPr id="144536" name="AutoShape 161"/>
            <p:cNvSpPr/>
            <p:nvPr/>
          </p:nvSpPr>
          <p:spPr>
            <a:xfrm>
              <a:off x="487" y="13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537" name="AutoShape 162"/>
            <p:cNvSpPr/>
            <p:nvPr/>
          </p:nvSpPr>
          <p:spPr>
            <a:xfrm>
              <a:off x="679" y="1636"/>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538" name="AutoShape 163"/>
            <p:cNvSpPr/>
            <p:nvPr/>
          </p:nvSpPr>
          <p:spPr>
            <a:xfrm>
              <a:off x="676" y="1421"/>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539" name="Group 164"/>
            <p:cNvGrpSpPr/>
            <p:nvPr/>
          </p:nvGrpSpPr>
          <p:grpSpPr>
            <a:xfrm>
              <a:off x="291" y="1422"/>
              <a:ext cx="252" cy="214"/>
              <a:chOff x="867" y="1530"/>
              <a:chExt cx="252" cy="214"/>
            </a:xfrm>
          </p:grpSpPr>
          <p:sp>
            <p:nvSpPr>
              <p:cNvPr id="144540" name="AutoShape 165"/>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541" name="Group 166"/>
              <p:cNvGrpSpPr/>
              <p:nvPr/>
            </p:nvGrpSpPr>
            <p:grpSpPr>
              <a:xfrm>
                <a:off x="967" y="1561"/>
                <a:ext cx="58" cy="114"/>
                <a:chOff x="3796" y="1043"/>
                <a:chExt cx="865" cy="1237"/>
              </a:xfrm>
            </p:grpSpPr>
            <p:sp>
              <p:nvSpPr>
                <p:cNvPr id="144542" name="Line 16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543" name="Line 16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544" name="Line 16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545" name="Line 17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546" name="Line 17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547" name="Line 17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548" name="Line 17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549" name="Line 17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550" name="Line 17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551" name="Line 17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552" name="Line 17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553" name="Line 17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554" name="Line 17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555" name="Line 18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556" name="Line 18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557" name="Group 182"/>
                <p:cNvGrpSpPr/>
                <p:nvPr/>
              </p:nvGrpSpPr>
              <p:grpSpPr>
                <a:xfrm>
                  <a:off x="4269" y="1415"/>
                  <a:ext cx="392" cy="137"/>
                  <a:chOff x="4227" y="1360"/>
                  <a:chExt cx="863" cy="270"/>
                </a:xfrm>
              </p:grpSpPr>
              <p:sp>
                <p:nvSpPr>
                  <p:cNvPr id="144558" name="Line 18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59" name="Line 18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60" name="Line 18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61" name="Line 18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62" name="Group 187"/>
                <p:cNvGrpSpPr/>
                <p:nvPr/>
              </p:nvGrpSpPr>
              <p:grpSpPr>
                <a:xfrm rot="5700496">
                  <a:off x="4050" y="1168"/>
                  <a:ext cx="392" cy="137"/>
                  <a:chOff x="4227" y="1360"/>
                  <a:chExt cx="863" cy="270"/>
                </a:xfrm>
              </p:grpSpPr>
              <p:sp>
                <p:nvSpPr>
                  <p:cNvPr id="144563" name="Line 18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64" name="Line 18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65" name="Line 19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66" name="Line 19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67" name="Group 192"/>
                <p:cNvGrpSpPr/>
                <p:nvPr/>
              </p:nvGrpSpPr>
              <p:grpSpPr>
                <a:xfrm rot="10800000">
                  <a:off x="3796" y="1402"/>
                  <a:ext cx="392" cy="137"/>
                  <a:chOff x="4227" y="1360"/>
                  <a:chExt cx="863" cy="270"/>
                </a:xfrm>
              </p:grpSpPr>
              <p:sp>
                <p:nvSpPr>
                  <p:cNvPr id="144568" name="Line 19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69" name="Line 19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70" name="Line 19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71" name="Line 19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44572" name="Group 197"/>
            <p:cNvGrpSpPr/>
            <p:nvPr/>
          </p:nvGrpSpPr>
          <p:grpSpPr>
            <a:xfrm>
              <a:off x="773" y="1460"/>
              <a:ext cx="58" cy="114"/>
              <a:chOff x="3796" y="1043"/>
              <a:chExt cx="865" cy="1237"/>
            </a:xfrm>
          </p:grpSpPr>
          <p:sp>
            <p:nvSpPr>
              <p:cNvPr id="144573" name="Line 198"/>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574" name="Line 199"/>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575" name="Line 200"/>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576" name="Line 201"/>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577" name="Line 202"/>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578" name="Line 203"/>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579" name="Line 204"/>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580" name="Line 205"/>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581" name="Line 206"/>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582" name="Line 207"/>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583" name="Line 208"/>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584" name="Line 209"/>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585" name="Line 210"/>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586" name="Line 211"/>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587" name="Line 212"/>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588" name="Group 213"/>
              <p:cNvGrpSpPr/>
              <p:nvPr/>
            </p:nvGrpSpPr>
            <p:grpSpPr>
              <a:xfrm>
                <a:off x="4269" y="1415"/>
                <a:ext cx="392" cy="137"/>
                <a:chOff x="4227" y="1360"/>
                <a:chExt cx="863" cy="270"/>
              </a:xfrm>
            </p:grpSpPr>
            <p:sp>
              <p:nvSpPr>
                <p:cNvPr id="144589" name="Line 21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90" name="Line 21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91" name="Line 21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92" name="Line 21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93" name="Group 218"/>
              <p:cNvGrpSpPr/>
              <p:nvPr/>
            </p:nvGrpSpPr>
            <p:grpSpPr>
              <a:xfrm rot="5700496">
                <a:off x="4050" y="1168"/>
                <a:ext cx="392" cy="137"/>
                <a:chOff x="4227" y="1360"/>
                <a:chExt cx="863" cy="270"/>
              </a:xfrm>
            </p:grpSpPr>
            <p:sp>
              <p:nvSpPr>
                <p:cNvPr id="144594" name="Line 219"/>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595" name="Line 220"/>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596" name="Line 221"/>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597" name="Line 222"/>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598" name="Group 223"/>
              <p:cNvGrpSpPr/>
              <p:nvPr/>
            </p:nvGrpSpPr>
            <p:grpSpPr>
              <a:xfrm rot="10800000">
                <a:off x="3796" y="1402"/>
                <a:ext cx="392" cy="137"/>
                <a:chOff x="4227" y="1360"/>
                <a:chExt cx="863" cy="270"/>
              </a:xfrm>
            </p:grpSpPr>
            <p:sp>
              <p:nvSpPr>
                <p:cNvPr id="144599" name="Line 224"/>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00" name="Line 225"/>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01" name="Line 226"/>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02" name="Line 227"/>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603" name="Group 228"/>
            <p:cNvGrpSpPr/>
            <p:nvPr/>
          </p:nvGrpSpPr>
          <p:grpSpPr>
            <a:xfrm>
              <a:off x="782" y="1671"/>
              <a:ext cx="57" cy="113"/>
              <a:chOff x="3796" y="1043"/>
              <a:chExt cx="865" cy="1237"/>
            </a:xfrm>
          </p:grpSpPr>
          <p:sp>
            <p:nvSpPr>
              <p:cNvPr id="144604" name="Line 229"/>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605" name="Line 230"/>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606" name="Line 231"/>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607" name="Line 232"/>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608" name="Line 233"/>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609" name="Line 234"/>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610" name="Line 235"/>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611" name="Line 236"/>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612" name="Line 237"/>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613" name="Line 238"/>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614" name="Line 239"/>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615" name="Line 240"/>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616" name="Line 241"/>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617" name="Line 242"/>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618" name="Line 243"/>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619" name="Group 244"/>
              <p:cNvGrpSpPr/>
              <p:nvPr/>
            </p:nvGrpSpPr>
            <p:grpSpPr>
              <a:xfrm>
                <a:off x="4269" y="1415"/>
                <a:ext cx="392" cy="137"/>
                <a:chOff x="4227" y="1360"/>
                <a:chExt cx="863" cy="270"/>
              </a:xfrm>
            </p:grpSpPr>
            <p:sp>
              <p:nvSpPr>
                <p:cNvPr id="144620" name="Line 24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21" name="Line 24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22" name="Line 24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23" name="Line 24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24" name="Group 249"/>
              <p:cNvGrpSpPr/>
              <p:nvPr/>
            </p:nvGrpSpPr>
            <p:grpSpPr>
              <a:xfrm rot="5700496">
                <a:off x="4050" y="1168"/>
                <a:ext cx="392" cy="137"/>
                <a:chOff x="4227" y="1360"/>
                <a:chExt cx="863" cy="270"/>
              </a:xfrm>
            </p:grpSpPr>
            <p:sp>
              <p:nvSpPr>
                <p:cNvPr id="144625" name="Line 2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26" name="Line 2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27" name="Line 2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28" name="Line 2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29" name="Group 254"/>
              <p:cNvGrpSpPr/>
              <p:nvPr/>
            </p:nvGrpSpPr>
            <p:grpSpPr>
              <a:xfrm rot="10800000">
                <a:off x="3796" y="1402"/>
                <a:ext cx="392" cy="137"/>
                <a:chOff x="4227" y="1360"/>
                <a:chExt cx="863" cy="270"/>
              </a:xfrm>
            </p:grpSpPr>
            <p:sp>
              <p:nvSpPr>
                <p:cNvPr id="144630" name="Line 2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31" name="Line 2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32" name="Line 2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33" name="Line 2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634" name="Group 259"/>
            <p:cNvGrpSpPr/>
            <p:nvPr/>
          </p:nvGrpSpPr>
          <p:grpSpPr>
            <a:xfrm>
              <a:off x="589" y="1354"/>
              <a:ext cx="57" cy="114"/>
              <a:chOff x="3796" y="1043"/>
              <a:chExt cx="865" cy="1237"/>
            </a:xfrm>
          </p:grpSpPr>
          <p:sp>
            <p:nvSpPr>
              <p:cNvPr id="144635" name="Line 26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636" name="Line 26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637" name="Line 26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638" name="Line 26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639" name="Line 26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640" name="Line 26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641" name="Line 26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642" name="Line 26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643" name="Line 26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644" name="Line 26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645" name="Line 27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646" name="Line 27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647" name="Line 27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648" name="Line 27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649" name="Line 27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650" name="Group 275"/>
              <p:cNvGrpSpPr/>
              <p:nvPr/>
            </p:nvGrpSpPr>
            <p:grpSpPr>
              <a:xfrm>
                <a:off x="4269" y="1415"/>
                <a:ext cx="392" cy="137"/>
                <a:chOff x="4227" y="1360"/>
                <a:chExt cx="863" cy="270"/>
              </a:xfrm>
            </p:grpSpPr>
            <p:sp>
              <p:nvSpPr>
                <p:cNvPr id="144651" name="Line 27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52" name="Line 27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53" name="Line 27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54" name="Line 27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55" name="Group 280"/>
              <p:cNvGrpSpPr/>
              <p:nvPr/>
            </p:nvGrpSpPr>
            <p:grpSpPr>
              <a:xfrm rot="5700496">
                <a:off x="4050" y="1168"/>
                <a:ext cx="392" cy="137"/>
                <a:chOff x="4227" y="1360"/>
                <a:chExt cx="863" cy="270"/>
              </a:xfrm>
            </p:grpSpPr>
            <p:sp>
              <p:nvSpPr>
                <p:cNvPr id="144656" name="Line 28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57" name="Line 28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58" name="Line 28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59" name="Line 28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60" name="Group 285"/>
              <p:cNvGrpSpPr/>
              <p:nvPr/>
            </p:nvGrpSpPr>
            <p:grpSpPr>
              <a:xfrm rot="10800000">
                <a:off x="3796" y="1402"/>
                <a:ext cx="392" cy="137"/>
                <a:chOff x="4227" y="1360"/>
                <a:chExt cx="863" cy="270"/>
              </a:xfrm>
            </p:grpSpPr>
            <p:sp>
              <p:nvSpPr>
                <p:cNvPr id="144661" name="Line 2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62" name="Line 2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63" name="Line 2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64" name="Line 2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4665" name="Line 290"/>
            <p:cNvSpPr/>
            <p:nvPr/>
          </p:nvSpPr>
          <p:spPr>
            <a:xfrm flipV="1">
              <a:off x="626" y="1272"/>
              <a:ext cx="236" cy="318"/>
            </a:xfrm>
            <a:prstGeom prst="line">
              <a:avLst/>
            </a:prstGeom>
            <a:ln w="9525" cap="flat" cmpd="sng">
              <a:solidFill>
                <a:schemeClr val="tx1"/>
              </a:solidFill>
              <a:prstDash val="solid"/>
              <a:round/>
              <a:headEnd type="none" w="med" len="med"/>
              <a:tailEnd type="none" w="med" len="med"/>
            </a:ln>
          </p:spPr>
        </p:sp>
        <p:sp>
          <p:nvSpPr>
            <p:cNvPr id="144666" name="Line 291"/>
            <p:cNvSpPr/>
            <p:nvPr/>
          </p:nvSpPr>
          <p:spPr>
            <a:xfrm flipV="1">
              <a:off x="823" y="1276"/>
              <a:ext cx="75" cy="492"/>
            </a:xfrm>
            <a:prstGeom prst="line">
              <a:avLst/>
            </a:prstGeom>
            <a:ln w="9525" cap="flat" cmpd="sng">
              <a:solidFill>
                <a:schemeClr val="tx1"/>
              </a:solidFill>
              <a:prstDash val="solid"/>
              <a:round/>
              <a:headEnd type="none" w="med" len="med"/>
              <a:tailEnd type="none" w="med" len="med"/>
            </a:ln>
          </p:spPr>
        </p:sp>
        <p:sp>
          <p:nvSpPr>
            <p:cNvPr id="144667" name="Line 292"/>
            <p:cNvSpPr/>
            <p:nvPr/>
          </p:nvSpPr>
          <p:spPr>
            <a:xfrm flipV="1">
              <a:off x="817" y="1264"/>
              <a:ext cx="58" cy="302"/>
            </a:xfrm>
            <a:prstGeom prst="line">
              <a:avLst/>
            </a:prstGeom>
            <a:ln w="9525" cap="flat" cmpd="sng">
              <a:solidFill>
                <a:schemeClr val="tx1"/>
              </a:solidFill>
              <a:prstDash val="solid"/>
              <a:round/>
              <a:headEnd type="none" w="med" len="med"/>
              <a:tailEnd type="none" w="med" len="med"/>
            </a:ln>
          </p:spPr>
        </p:sp>
        <p:sp>
          <p:nvSpPr>
            <p:cNvPr id="144668" name="Line 293"/>
            <p:cNvSpPr/>
            <p:nvPr/>
          </p:nvSpPr>
          <p:spPr>
            <a:xfrm flipV="1">
              <a:off x="633" y="1263"/>
              <a:ext cx="226" cy="191"/>
            </a:xfrm>
            <a:prstGeom prst="line">
              <a:avLst/>
            </a:prstGeom>
            <a:ln w="9525" cap="flat" cmpd="sng">
              <a:solidFill>
                <a:schemeClr val="tx1"/>
              </a:solidFill>
              <a:prstDash val="solid"/>
              <a:round/>
              <a:headEnd type="none" w="med" len="med"/>
              <a:tailEnd type="none" w="med" len="med"/>
            </a:ln>
          </p:spPr>
        </p:sp>
        <p:grpSp>
          <p:nvGrpSpPr>
            <p:cNvPr id="144669" name="Group 294"/>
            <p:cNvGrpSpPr/>
            <p:nvPr/>
          </p:nvGrpSpPr>
          <p:grpSpPr>
            <a:xfrm>
              <a:off x="483" y="1532"/>
              <a:ext cx="252" cy="214"/>
              <a:chOff x="867" y="1530"/>
              <a:chExt cx="252" cy="214"/>
            </a:xfrm>
          </p:grpSpPr>
          <p:sp>
            <p:nvSpPr>
              <p:cNvPr id="144670" name="AutoShape 295"/>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671" name="Group 296"/>
              <p:cNvGrpSpPr/>
              <p:nvPr/>
            </p:nvGrpSpPr>
            <p:grpSpPr>
              <a:xfrm>
                <a:off x="967" y="1561"/>
                <a:ext cx="58" cy="114"/>
                <a:chOff x="3796" y="1043"/>
                <a:chExt cx="865" cy="1237"/>
              </a:xfrm>
            </p:grpSpPr>
            <p:sp>
              <p:nvSpPr>
                <p:cNvPr id="144672" name="Line 29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673" name="Line 29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674" name="Line 29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675" name="Line 30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676" name="Line 30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677" name="Line 30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678" name="Line 30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679" name="Line 30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680" name="Line 30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681" name="Line 30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682" name="Line 30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683" name="Line 30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684" name="Line 30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685" name="Line 31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686" name="Line 31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687" name="Group 312"/>
                <p:cNvGrpSpPr/>
                <p:nvPr/>
              </p:nvGrpSpPr>
              <p:grpSpPr>
                <a:xfrm>
                  <a:off x="4269" y="1415"/>
                  <a:ext cx="392" cy="137"/>
                  <a:chOff x="4227" y="1360"/>
                  <a:chExt cx="863" cy="270"/>
                </a:xfrm>
              </p:grpSpPr>
              <p:sp>
                <p:nvSpPr>
                  <p:cNvPr id="144688" name="Line 31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89" name="Line 31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90" name="Line 31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91" name="Line 31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92" name="Group 317"/>
                <p:cNvGrpSpPr/>
                <p:nvPr/>
              </p:nvGrpSpPr>
              <p:grpSpPr>
                <a:xfrm rot="5700496">
                  <a:off x="4050" y="1168"/>
                  <a:ext cx="392" cy="137"/>
                  <a:chOff x="4227" y="1360"/>
                  <a:chExt cx="863" cy="270"/>
                </a:xfrm>
              </p:grpSpPr>
              <p:sp>
                <p:nvSpPr>
                  <p:cNvPr id="144693" name="Line 3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94" name="Line 3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695" name="Line 3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696" name="Line 3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697" name="Group 322"/>
                <p:cNvGrpSpPr/>
                <p:nvPr/>
              </p:nvGrpSpPr>
              <p:grpSpPr>
                <a:xfrm rot="10800000">
                  <a:off x="3796" y="1402"/>
                  <a:ext cx="392" cy="137"/>
                  <a:chOff x="4227" y="1360"/>
                  <a:chExt cx="863" cy="270"/>
                </a:xfrm>
              </p:grpSpPr>
              <p:sp>
                <p:nvSpPr>
                  <p:cNvPr id="144698" name="Line 3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699" name="Line 3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00" name="Line 3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01" name="Line 3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44702" name="Line 327"/>
            <p:cNvSpPr/>
            <p:nvPr/>
          </p:nvSpPr>
          <p:spPr>
            <a:xfrm flipV="1">
              <a:off x="414" y="1266"/>
              <a:ext cx="430" cy="300"/>
            </a:xfrm>
            <a:prstGeom prst="line">
              <a:avLst/>
            </a:prstGeom>
            <a:ln w="9525" cap="flat" cmpd="sng">
              <a:solidFill>
                <a:schemeClr val="tx1"/>
              </a:solidFill>
              <a:prstDash val="solid"/>
              <a:round/>
              <a:headEnd type="none" w="med" len="med"/>
              <a:tailEnd type="none" w="med" len="med"/>
            </a:ln>
          </p:spPr>
        </p:sp>
      </p:grpSp>
      <p:sp>
        <p:nvSpPr>
          <p:cNvPr id="144703" name="Text Box 328"/>
          <p:cNvSpPr txBox="1"/>
          <p:nvPr/>
        </p:nvSpPr>
        <p:spPr>
          <a:xfrm>
            <a:off x="487363" y="3433763"/>
            <a:ext cx="1381125" cy="304800"/>
          </a:xfrm>
          <a:prstGeom prst="rect">
            <a:avLst/>
          </a:prstGeom>
          <a:noFill/>
          <a:ln w="9525">
            <a:noFill/>
          </a:ln>
        </p:spPr>
        <p:txBody>
          <a:bodyPr anchor="t" anchorCtr="0">
            <a:spAutoFit/>
          </a:bodyPr>
          <a:p>
            <a:pPr>
              <a:buClrTx/>
              <a:buFontTx/>
            </a:pPr>
            <a:r>
              <a:rPr lang="en-US" altLang="zh-CN" sz="1400" dirty="0">
                <a:latin typeface="Arial" panose="020B0604020202020204" pitchFamily="34" charset="0"/>
                <a:ea typeface="宋体" panose="02010600030101010101" pitchFamily="2" charset="-122"/>
              </a:rPr>
              <a:t>anchor MSC</a:t>
            </a:r>
            <a:endParaRPr lang="en-US" altLang="zh-CN" sz="1400" dirty="0">
              <a:latin typeface="Arial" panose="020B0604020202020204" pitchFamily="34" charset="0"/>
              <a:ea typeface="宋体" panose="02010600030101010101" pitchFamily="2" charset="-122"/>
            </a:endParaRPr>
          </a:p>
        </p:txBody>
      </p:sp>
      <p:grpSp>
        <p:nvGrpSpPr>
          <p:cNvPr id="144704" name="Group 329"/>
          <p:cNvGrpSpPr/>
          <p:nvPr/>
        </p:nvGrpSpPr>
        <p:grpSpPr>
          <a:xfrm>
            <a:off x="3084513" y="4132263"/>
            <a:ext cx="1309687" cy="1147762"/>
            <a:chOff x="146" y="711"/>
            <a:chExt cx="825" cy="723"/>
          </a:xfrm>
        </p:grpSpPr>
        <p:sp>
          <p:nvSpPr>
            <p:cNvPr id="144705" name="AutoShape 330"/>
            <p:cNvSpPr/>
            <p:nvPr/>
          </p:nvSpPr>
          <p:spPr>
            <a:xfrm>
              <a:off x="719" y="904"/>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706" name="AutoShape 331"/>
            <p:cNvSpPr/>
            <p:nvPr/>
          </p:nvSpPr>
          <p:spPr>
            <a:xfrm>
              <a:off x="335" y="1115"/>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707" name="Group 332"/>
            <p:cNvGrpSpPr/>
            <p:nvPr/>
          </p:nvGrpSpPr>
          <p:grpSpPr>
            <a:xfrm>
              <a:off x="523" y="1006"/>
              <a:ext cx="252" cy="214"/>
              <a:chOff x="867" y="1530"/>
              <a:chExt cx="252" cy="214"/>
            </a:xfrm>
          </p:grpSpPr>
          <p:sp>
            <p:nvSpPr>
              <p:cNvPr id="144708" name="AutoShape 333"/>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709" name="Group 334"/>
              <p:cNvGrpSpPr/>
              <p:nvPr/>
            </p:nvGrpSpPr>
            <p:grpSpPr>
              <a:xfrm>
                <a:off x="967" y="1561"/>
                <a:ext cx="58" cy="114"/>
                <a:chOff x="3796" y="1043"/>
                <a:chExt cx="865" cy="1237"/>
              </a:xfrm>
            </p:grpSpPr>
            <p:sp>
              <p:nvSpPr>
                <p:cNvPr id="144710" name="Line 335"/>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711" name="Line 336"/>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712" name="Line 337"/>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713" name="Line 338"/>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714" name="Line 339"/>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715" name="Line 340"/>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716" name="Line 341"/>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717" name="Line 342"/>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718" name="Line 343"/>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719" name="Line 344"/>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720" name="Line 345"/>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721" name="Line 346"/>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722" name="Line 347"/>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723" name="Line 348"/>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724" name="Line 349"/>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725" name="Group 350"/>
                <p:cNvGrpSpPr/>
                <p:nvPr/>
              </p:nvGrpSpPr>
              <p:grpSpPr>
                <a:xfrm>
                  <a:off x="4269" y="1415"/>
                  <a:ext cx="392" cy="137"/>
                  <a:chOff x="4227" y="1360"/>
                  <a:chExt cx="863" cy="270"/>
                </a:xfrm>
              </p:grpSpPr>
              <p:sp>
                <p:nvSpPr>
                  <p:cNvPr id="144726" name="Line 35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27" name="Line 35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28" name="Line 35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29" name="Line 35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30" name="Group 355"/>
                <p:cNvGrpSpPr/>
                <p:nvPr/>
              </p:nvGrpSpPr>
              <p:grpSpPr>
                <a:xfrm rot="5700496">
                  <a:off x="4050" y="1168"/>
                  <a:ext cx="392" cy="137"/>
                  <a:chOff x="4227" y="1360"/>
                  <a:chExt cx="863" cy="270"/>
                </a:xfrm>
              </p:grpSpPr>
              <p:sp>
                <p:nvSpPr>
                  <p:cNvPr id="144731" name="Line 35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32" name="Line 35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33" name="Line 35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34" name="Line 35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35" name="Group 360"/>
                <p:cNvGrpSpPr/>
                <p:nvPr/>
              </p:nvGrpSpPr>
              <p:grpSpPr>
                <a:xfrm rot="10800000">
                  <a:off x="3796" y="1402"/>
                  <a:ext cx="392" cy="137"/>
                  <a:chOff x="4227" y="1360"/>
                  <a:chExt cx="863" cy="270"/>
                </a:xfrm>
              </p:grpSpPr>
              <p:sp>
                <p:nvSpPr>
                  <p:cNvPr id="144736" name="Line 36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37" name="Line 36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38" name="Line 36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39" name="Line 36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grpSp>
          <p:nvGrpSpPr>
            <p:cNvPr id="144740" name="Group 365"/>
            <p:cNvGrpSpPr/>
            <p:nvPr/>
          </p:nvGrpSpPr>
          <p:grpSpPr>
            <a:xfrm>
              <a:off x="429" y="1159"/>
              <a:ext cx="57" cy="113"/>
              <a:chOff x="3796" y="1043"/>
              <a:chExt cx="865" cy="1237"/>
            </a:xfrm>
          </p:grpSpPr>
          <p:sp>
            <p:nvSpPr>
              <p:cNvPr id="144741" name="Line 366"/>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742" name="Line 367"/>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743" name="Line 368"/>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744" name="Line 369"/>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745" name="Line 370"/>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746" name="Line 371"/>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747" name="Line 372"/>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748" name="Line 373"/>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749" name="Line 374"/>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750" name="Line 375"/>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751" name="Line 376"/>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752" name="Line 377"/>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753" name="Line 378"/>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754" name="Line 379"/>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755" name="Line 380"/>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756" name="Group 381"/>
              <p:cNvGrpSpPr/>
              <p:nvPr/>
            </p:nvGrpSpPr>
            <p:grpSpPr>
              <a:xfrm>
                <a:off x="4269" y="1415"/>
                <a:ext cx="392" cy="137"/>
                <a:chOff x="4227" y="1360"/>
                <a:chExt cx="863" cy="270"/>
              </a:xfrm>
            </p:grpSpPr>
            <p:sp>
              <p:nvSpPr>
                <p:cNvPr id="144757" name="Line 38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58" name="Line 38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59" name="Line 38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60" name="Line 38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61" name="Group 386"/>
              <p:cNvGrpSpPr/>
              <p:nvPr/>
            </p:nvGrpSpPr>
            <p:grpSpPr>
              <a:xfrm rot="5700496">
                <a:off x="4050" y="1168"/>
                <a:ext cx="392" cy="137"/>
                <a:chOff x="4227" y="1360"/>
                <a:chExt cx="863" cy="270"/>
              </a:xfrm>
            </p:grpSpPr>
            <p:sp>
              <p:nvSpPr>
                <p:cNvPr id="144762" name="Line 387"/>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63" name="Line 388"/>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64" name="Line 389"/>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65" name="Line 390"/>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66" name="Group 391"/>
              <p:cNvGrpSpPr/>
              <p:nvPr/>
            </p:nvGrpSpPr>
            <p:grpSpPr>
              <a:xfrm rot="10800000">
                <a:off x="3796" y="1402"/>
                <a:ext cx="392" cy="137"/>
                <a:chOff x="4227" y="1360"/>
                <a:chExt cx="863" cy="270"/>
              </a:xfrm>
            </p:grpSpPr>
            <p:sp>
              <p:nvSpPr>
                <p:cNvPr id="144767" name="Line 392"/>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68" name="Line 393"/>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69" name="Line 394"/>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70" name="Line 395"/>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nvGrpSpPr>
            <p:cNvPr id="144771" name="Group 396"/>
            <p:cNvGrpSpPr/>
            <p:nvPr/>
          </p:nvGrpSpPr>
          <p:grpSpPr>
            <a:xfrm>
              <a:off x="821" y="938"/>
              <a:ext cx="57" cy="114"/>
              <a:chOff x="3796" y="1043"/>
              <a:chExt cx="865" cy="1237"/>
            </a:xfrm>
          </p:grpSpPr>
          <p:sp>
            <p:nvSpPr>
              <p:cNvPr id="144772" name="Line 397"/>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773" name="Line 398"/>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774" name="Line 399"/>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775" name="Line 400"/>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776" name="Line 401"/>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777" name="Line 402"/>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778" name="Line 403"/>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779" name="Line 404"/>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780" name="Line 405"/>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781" name="Line 406"/>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782" name="Line 407"/>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783" name="Line 408"/>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784" name="Line 409"/>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785" name="Line 410"/>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786" name="Line 411"/>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787" name="Group 412"/>
              <p:cNvGrpSpPr/>
              <p:nvPr/>
            </p:nvGrpSpPr>
            <p:grpSpPr>
              <a:xfrm>
                <a:off x="4269" y="1415"/>
                <a:ext cx="392" cy="137"/>
                <a:chOff x="4227" y="1360"/>
                <a:chExt cx="863" cy="270"/>
              </a:xfrm>
            </p:grpSpPr>
            <p:sp>
              <p:nvSpPr>
                <p:cNvPr id="144788" name="Line 41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89" name="Line 41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90" name="Line 41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91" name="Line 41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92" name="Group 417"/>
              <p:cNvGrpSpPr/>
              <p:nvPr/>
            </p:nvGrpSpPr>
            <p:grpSpPr>
              <a:xfrm rot="5700496">
                <a:off x="4050" y="1168"/>
                <a:ext cx="392" cy="137"/>
                <a:chOff x="4227" y="1360"/>
                <a:chExt cx="863" cy="270"/>
              </a:xfrm>
            </p:grpSpPr>
            <p:sp>
              <p:nvSpPr>
                <p:cNvPr id="144793" name="Line 4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94" name="Line 4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795" name="Line 4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796" name="Line 4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797" name="Group 422"/>
              <p:cNvGrpSpPr/>
              <p:nvPr/>
            </p:nvGrpSpPr>
            <p:grpSpPr>
              <a:xfrm rot="10800000">
                <a:off x="3796" y="1402"/>
                <a:ext cx="392" cy="137"/>
                <a:chOff x="4227" y="1360"/>
                <a:chExt cx="863" cy="270"/>
              </a:xfrm>
            </p:grpSpPr>
            <p:sp>
              <p:nvSpPr>
                <p:cNvPr id="144798" name="Line 4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799" name="Line 4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00" name="Line 4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01" name="Line 4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4802" name="Line 427"/>
            <p:cNvSpPr/>
            <p:nvPr/>
          </p:nvSpPr>
          <p:spPr>
            <a:xfrm flipH="1" flipV="1">
              <a:off x="602" y="916"/>
              <a:ext cx="256" cy="258"/>
            </a:xfrm>
            <a:prstGeom prst="line">
              <a:avLst/>
            </a:prstGeom>
            <a:ln w="9525" cap="flat" cmpd="sng">
              <a:solidFill>
                <a:schemeClr val="tx1"/>
              </a:solidFill>
              <a:prstDash val="solid"/>
              <a:round/>
              <a:headEnd type="none" w="med" len="med"/>
              <a:tailEnd type="none" w="med" len="med"/>
            </a:ln>
          </p:spPr>
        </p:sp>
        <p:sp>
          <p:nvSpPr>
            <p:cNvPr id="144803" name="Line 428"/>
            <p:cNvSpPr/>
            <p:nvPr/>
          </p:nvSpPr>
          <p:spPr>
            <a:xfrm flipV="1">
              <a:off x="455" y="914"/>
              <a:ext cx="3" cy="351"/>
            </a:xfrm>
            <a:prstGeom prst="line">
              <a:avLst/>
            </a:prstGeom>
            <a:ln w="9525" cap="flat" cmpd="sng">
              <a:solidFill>
                <a:schemeClr val="tx1"/>
              </a:solidFill>
              <a:prstDash val="solid"/>
              <a:round/>
              <a:headEnd type="none" w="med" len="med"/>
              <a:tailEnd type="none" w="med" len="med"/>
            </a:ln>
          </p:spPr>
        </p:sp>
        <p:sp>
          <p:nvSpPr>
            <p:cNvPr id="144804" name="Line 429"/>
            <p:cNvSpPr/>
            <p:nvPr/>
          </p:nvSpPr>
          <p:spPr>
            <a:xfrm flipH="1" flipV="1">
              <a:off x="501" y="920"/>
              <a:ext cx="140" cy="449"/>
            </a:xfrm>
            <a:prstGeom prst="line">
              <a:avLst/>
            </a:prstGeom>
            <a:ln w="9525" cap="flat" cmpd="sng">
              <a:solidFill>
                <a:schemeClr val="tx1"/>
              </a:solidFill>
              <a:prstDash val="solid"/>
              <a:round/>
              <a:headEnd type="none" w="med" len="med"/>
              <a:tailEnd type="none" w="med" len="med"/>
            </a:ln>
          </p:spPr>
        </p:sp>
        <p:sp>
          <p:nvSpPr>
            <p:cNvPr id="144805" name="Line 430"/>
            <p:cNvSpPr/>
            <p:nvPr/>
          </p:nvSpPr>
          <p:spPr>
            <a:xfrm flipH="1" flipV="1">
              <a:off x="647" y="925"/>
              <a:ext cx="218" cy="113"/>
            </a:xfrm>
            <a:prstGeom prst="line">
              <a:avLst/>
            </a:prstGeom>
            <a:ln w="9525" cap="flat" cmpd="sng">
              <a:solidFill>
                <a:schemeClr val="tx1"/>
              </a:solidFill>
              <a:prstDash val="solid"/>
              <a:round/>
              <a:headEnd type="none" w="med" len="med"/>
              <a:tailEnd type="none" w="med" len="med"/>
            </a:ln>
          </p:spPr>
        </p:sp>
        <p:grpSp>
          <p:nvGrpSpPr>
            <p:cNvPr id="144806" name="Group 431"/>
            <p:cNvGrpSpPr/>
            <p:nvPr/>
          </p:nvGrpSpPr>
          <p:grpSpPr>
            <a:xfrm>
              <a:off x="715" y="1116"/>
              <a:ext cx="252" cy="214"/>
              <a:chOff x="867" y="1530"/>
              <a:chExt cx="252" cy="214"/>
            </a:xfrm>
          </p:grpSpPr>
          <p:sp>
            <p:nvSpPr>
              <p:cNvPr id="144807" name="AutoShape 432"/>
              <p:cNvSpPr/>
              <p:nvPr/>
            </p:nvSpPr>
            <p:spPr>
              <a:xfrm>
                <a:off x="867" y="153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808" name="Group 433"/>
              <p:cNvGrpSpPr/>
              <p:nvPr/>
            </p:nvGrpSpPr>
            <p:grpSpPr>
              <a:xfrm>
                <a:off x="967" y="1561"/>
                <a:ext cx="58" cy="114"/>
                <a:chOff x="3796" y="1043"/>
                <a:chExt cx="865" cy="1237"/>
              </a:xfrm>
            </p:grpSpPr>
            <p:sp>
              <p:nvSpPr>
                <p:cNvPr id="144809" name="Line 434"/>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810" name="Line 435"/>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811" name="Line 436"/>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812" name="Line 437"/>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813" name="Line 438"/>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814" name="Line 439"/>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815" name="Line 440"/>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816" name="Line 441"/>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817" name="Line 442"/>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818" name="Line 443"/>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819" name="Line 444"/>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820" name="Line 445"/>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821" name="Line 446"/>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822" name="Line 447"/>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823" name="Line 448"/>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824" name="Group 449"/>
                <p:cNvGrpSpPr/>
                <p:nvPr/>
              </p:nvGrpSpPr>
              <p:grpSpPr>
                <a:xfrm>
                  <a:off x="4269" y="1415"/>
                  <a:ext cx="392" cy="137"/>
                  <a:chOff x="4227" y="1360"/>
                  <a:chExt cx="863" cy="270"/>
                </a:xfrm>
              </p:grpSpPr>
              <p:sp>
                <p:nvSpPr>
                  <p:cNvPr id="144825" name="Line 45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26" name="Line 45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27" name="Line 45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28" name="Line 45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829" name="Group 454"/>
                <p:cNvGrpSpPr/>
                <p:nvPr/>
              </p:nvGrpSpPr>
              <p:grpSpPr>
                <a:xfrm rot="5700496">
                  <a:off x="4050" y="1168"/>
                  <a:ext cx="392" cy="137"/>
                  <a:chOff x="4227" y="1360"/>
                  <a:chExt cx="863" cy="270"/>
                </a:xfrm>
              </p:grpSpPr>
              <p:sp>
                <p:nvSpPr>
                  <p:cNvPr id="144830" name="Line 455"/>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31" name="Line 456"/>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32" name="Line 457"/>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33" name="Line 458"/>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834" name="Group 459"/>
                <p:cNvGrpSpPr/>
                <p:nvPr/>
              </p:nvGrpSpPr>
              <p:grpSpPr>
                <a:xfrm rot="10800000">
                  <a:off x="3796" y="1402"/>
                  <a:ext cx="392" cy="137"/>
                  <a:chOff x="4227" y="1360"/>
                  <a:chExt cx="863" cy="270"/>
                </a:xfrm>
              </p:grpSpPr>
              <p:sp>
                <p:nvSpPr>
                  <p:cNvPr id="144835" name="Line 460"/>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36" name="Line 461"/>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37" name="Line 462"/>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38" name="Line 463"/>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grpSp>
        <p:sp>
          <p:nvSpPr>
            <p:cNvPr id="144839" name="Line 464"/>
            <p:cNvSpPr/>
            <p:nvPr/>
          </p:nvSpPr>
          <p:spPr>
            <a:xfrm flipH="1" flipV="1">
              <a:off x="554" y="928"/>
              <a:ext cx="92" cy="222"/>
            </a:xfrm>
            <a:prstGeom prst="line">
              <a:avLst/>
            </a:prstGeom>
            <a:ln w="9525" cap="flat" cmpd="sng">
              <a:solidFill>
                <a:schemeClr val="tx1"/>
              </a:solidFill>
              <a:prstDash val="solid"/>
              <a:round/>
              <a:headEnd type="none" w="med" len="med"/>
              <a:tailEnd type="none" w="med" len="med"/>
            </a:ln>
          </p:spPr>
        </p:sp>
        <p:grpSp>
          <p:nvGrpSpPr>
            <p:cNvPr id="144840" name="Group 465"/>
            <p:cNvGrpSpPr/>
            <p:nvPr/>
          </p:nvGrpSpPr>
          <p:grpSpPr>
            <a:xfrm>
              <a:off x="191" y="711"/>
              <a:ext cx="616" cy="208"/>
              <a:chOff x="717" y="1160"/>
              <a:chExt cx="616" cy="208"/>
            </a:xfrm>
          </p:grpSpPr>
          <p:sp>
            <p:nvSpPr>
              <p:cNvPr id="144841" name="Rectangle 466"/>
              <p:cNvSpPr/>
              <p:nvPr/>
            </p:nvSpPr>
            <p:spPr>
              <a:xfrm>
                <a:off x="832" y="1160"/>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842" name="Text Box 467"/>
              <p:cNvSpPr txBox="1"/>
              <p:nvPr/>
            </p:nvSpPr>
            <p:spPr>
              <a:xfrm>
                <a:off x="717" y="1171"/>
                <a:ext cx="616"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sp>
          <p:nvSpPr>
            <p:cNvPr id="144843" name="AutoShape 468"/>
            <p:cNvSpPr/>
            <p:nvPr/>
          </p:nvSpPr>
          <p:spPr>
            <a:xfrm>
              <a:off x="146" y="1007"/>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844" name="Group 469"/>
            <p:cNvGrpSpPr/>
            <p:nvPr/>
          </p:nvGrpSpPr>
          <p:grpSpPr>
            <a:xfrm>
              <a:off x="237" y="1051"/>
              <a:ext cx="57" cy="113"/>
              <a:chOff x="3796" y="1043"/>
              <a:chExt cx="865" cy="1237"/>
            </a:xfrm>
          </p:grpSpPr>
          <p:sp>
            <p:nvSpPr>
              <p:cNvPr id="144845" name="Line 470"/>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846" name="Line 471"/>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847" name="Line 472"/>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848" name="Line 473"/>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849" name="Line 474"/>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850" name="Line 475"/>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851" name="Line 476"/>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852" name="Line 477"/>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853" name="Line 478"/>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854" name="Line 479"/>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855" name="Line 480"/>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856" name="Line 481"/>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857" name="Line 482"/>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858" name="Line 483"/>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859" name="Line 484"/>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860" name="Group 485"/>
              <p:cNvGrpSpPr/>
              <p:nvPr/>
            </p:nvGrpSpPr>
            <p:grpSpPr>
              <a:xfrm>
                <a:off x="4269" y="1415"/>
                <a:ext cx="392" cy="137"/>
                <a:chOff x="4227" y="1360"/>
                <a:chExt cx="863" cy="270"/>
              </a:xfrm>
            </p:grpSpPr>
            <p:sp>
              <p:nvSpPr>
                <p:cNvPr id="144861" name="Line 48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62" name="Line 48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63" name="Line 48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64" name="Line 48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865" name="Group 490"/>
              <p:cNvGrpSpPr/>
              <p:nvPr/>
            </p:nvGrpSpPr>
            <p:grpSpPr>
              <a:xfrm rot="5700496">
                <a:off x="4050" y="1168"/>
                <a:ext cx="392" cy="137"/>
                <a:chOff x="4227" y="1360"/>
                <a:chExt cx="863" cy="270"/>
              </a:xfrm>
            </p:grpSpPr>
            <p:sp>
              <p:nvSpPr>
                <p:cNvPr id="144866" name="Line 491"/>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67" name="Line 492"/>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68" name="Line 493"/>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69" name="Line 494"/>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870" name="Group 495"/>
              <p:cNvGrpSpPr/>
              <p:nvPr/>
            </p:nvGrpSpPr>
            <p:grpSpPr>
              <a:xfrm rot="10800000">
                <a:off x="3796" y="1402"/>
                <a:ext cx="392" cy="137"/>
                <a:chOff x="4227" y="1360"/>
                <a:chExt cx="863" cy="270"/>
              </a:xfrm>
            </p:grpSpPr>
            <p:sp>
              <p:nvSpPr>
                <p:cNvPr id="144871" name="Line 496"/>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72" name="Line 497"/>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73" name="Line 498"/>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74" name="Line 499"/>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4875" name="AutoShape 500"/>
            <p:cNvSpPr/>
            <p:nvPr/>
          </p:nvSpPr>
          <p:spPr>
            <a:xfrm>
              <a:off x="527" y="1220"/>
              <a:ext cx="252" cy="214"/>
            </a:xfrm>
            <a:prstGeom prst="hexagon">
              <a:avLst>
                <a:gd name="adj" fmla="val 29439"/>
                <a:gd name="vf" fmla="val 115470"/>
              </a:avLst>
            </a:prstGeom>
            <a:no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grpSp>
          <p:nvGrpSpPr>
            <p:cNvPr id="144876" name="Group 501"/>
            <p:cNvGrpSpPr/>
            <p:nvPr/>
          </p:nvGrpSpPr>
          <p:grpSpPr>
            <a:xfrm>
              <a:off x="627" y="1270"/>
              <a:ext cx="57" cy="113"/>
              <a:chOff x="3796" y="1043"/>
              <a:chExt cx="865" cy="1237"/>
            </a:xfrm>
          </p:grpSpPr>
          <p:sp>
            <p:nvSpPr>
              <p:cNvPr id="144877" name="Line 502"/>
              <p:cNvSpPr/>
              <p:nvPr/>
            </p:nvSpPr>
            <p:spPr>
              <a:xfrm flipH="1">
                <a:off x="3992" y="1481"/>
                <a:ext cx="235" cy="724"/>
              </a:xfrm>
              <a:prstGeom prst="line">
                <a:avLst/>
              </a:prstGeom>
              <a:ln w="9525" cap="flat" cmpd="sng">
                <a:solidFill>
                  <a:schemeClr val="tx1"/>
                </a:solidFill>
                <a:prstDash val="solid"/>
                <a:round/>
                <a:headEnd type="none" w="med" len="med"/>
                <a:tailEnd type="none" w="med" len="med"/>
              </a:ln>
            </p:spPr>
          </p:sp>
          <p:sp>
            <p:nvSpPr>
              <p:cNvPr id="144878" name="Line 503"/>
              <p:cNvSpPr/>
              <p:nvPr/>
            </p:nvSpPr>
            <p:spPr>
              <a:xfrm>
                <a:off x="4227" y="1481"/>
                <a:ext cx="236" cy="720"/>
              </a:xfrm>
              <a:prstGeom prst="line">
                <a:avLst/>
              </a:prstGeom>
              <a:ln w="9525" cap="flat" cmpd="sng">
                <a:solidFill>
                  <a:schemeClr val="tx1"/>
                </a:solidFill>
                <a:prstDash val="solid"/>
                <a:round/>
                <a:headEnd type="none" w="med" len="med"/>
                <a:tailEnd type="none" w="med" len="med"/>
              </a:ln>
            </p:spPr>
          </p:sp>
          <p:sp>
            <p:nvSpPr>
              <p:cNvPr id="144879" name="Line 504"/>
              <p:cNvSpPr/>
              <p:nvPr/>
            </p:nvSpPr>
            <p:spPr>
              <a:xfrm>
                <a:off x="3992" y="2201"/>
                <a:ext cx="235" cy="79"/>
              </a:xfrm>
              <a:prstGeom prst="line">
                <a:avLst/>
              </a:prstGeom>
              <a:ln w="9525" cap="flat" cmpd="sng">
                <a:solidFill>
                  <a:schemeClr val="tx1"/>
                </a:solidFill>
                <a:prstDash val="solid"/>
                <a:round/>
                <a:headEnd type="none" w="med" len="med"/>
                <a:tailEnd type="none" w="med" len="med"/>
              </a:ln>
            </p:spPr>
          </p:sp>
          <p:sp>
            <p:nvSpPr>
              <p:cNvPr id="144880" name="Line 505"/>
              <p:cNvSpPr/>
              <p:nvPr/>
            </p:nvSpPr>
            <p:spPr>
              <a:xfrm flipH="1">
                <a:off x="4227" y="2201"/>
                <a:ext cx="236" cy="79"/>
              </a:xfrm>
              <a:prstGeom prst="line">
                <a:avLst/>
              </a:prstGeom>
              <a:ln w="9525" cap="flat" cmpd="sng">
                <a:solidFill>
                  <a:schemeClr val="tx1"/>
                </a:solidFill>
                <a:prstDash val="solid"/>
                <a:round/>
                <a:headEnd type="none" w="med" len="med"/>
                <a:tailEnd type="none" w="med" len="med"/>
              </a:ln>
            </p:spPr>
          </p:sp>
          <p:sp>
            <p:nvSpPr>
              <p:cNvPr id="144881" name="Line 506"/>
              <p:cNvSpPr/>
              <p:nvPr/>
            </p:nvSpPr>
            <p:spPr>
              <a:xfrm>
                <a:off x="4227" y="1497"/>
                <a:ext cx="0" cy="783"/>
              </a:xfrm>
              <a:prstGeom prst="line">
                <a:avLst/>
              </a:prstGeom>
              <a:ln w="9525" cap="flat" cmpd="sng">
                <a:solidFill>
                  <a:schemeClr val="tx1"/>
                </a:solidFill>
                <a:prstDash val="solid"/>
                <a:round/>
                <a:headEnd type="none" w="med" len="med"/>
                <a:tailEnd type="none" w="med" len="med"/>
              </a:ln>
            </p:spPr>
          </p:sp>
          <p:sp>
            <p:nvSpPr>
              <p:cNvPr id="144882" name="Line 507"/>
              <p:cNvSpPr/>
              <p:nvPr/>
            </p:nvSpPr>
            <p:spPr>
              <a:xfrm flipV="1">
                <a:off x="3992" y="2127"/>
                <a:ext cx="235" cy="78"/>
              </a:xfrm>
              <a:prstGeom prst="line">
                <a:avLst/>
              </a:prstGeom>
              <a:ln w="9525" cap="flat" cmpd="sng">
                <a:solidFill>
                  <a:schemeClr val="tx1"/>
                </a:solidFill>
                <a:prstDash val="solid"/>
                <a:round/>
                <a:headEnd type="none" w="med" len="med"/>
                <a:tailEnd type="none" w="med" len="med"/>
              </a:ln>
            </p:spPr>
          </p:sp>
          <p:sp>
            <p:nvSpPr>
              <p:cNvPr id="144883" name="Line 508"/>
              <p:cNvSpPr/>
              <p:nvPr/>
            </p:nvSpPr>
            <p:spPr>
              <a:xfrm flipH="1" flipV="1">
                <a:off x="4227" y="2127"/>
                <a:ext cx="236" cy="74"/>
              </a:xfrm>
              <a:prstGeom prst="line">
                <a:avLst/>
              </a:prstGeom>
              <a:ln w="9525" cap="flat" cmpd="sng">
                <a:solidFill>
                  <a:schemeClr val="tx1"/>
                </a:solidFill>
                <a:prstDash val="solid"/>
                <a:round/>
                <a:headEnd type="none" w="med" len="med"/>
                <a:tailEnd type="none" w="med" len="med"/>
              </a:ln>
            </p:spPr>
          </p:sp>
          <p:sp>
            <p:nvSpPr>
              <p:cNvPr id="144884" name="Line 509"/>
              <p:cNvSpPr/>
              <p:nvPr/>
            </p:nvSpPr>
            <p:spPr>
              <a:xfrm>
                <a:off x="4092" y="1890"/>
                <a:ext cx="135" cy="60"/>
              </a:xfrm>
              <a:prstGeom prst="line">
                <a:avLst/>
              </a:prstGeom>
              <a:ln w="9525" cap="flat" cmpd="sng">
                <a:solidFill>
                  <a:schemeClr val="tx1"/>
                </a:solidFill>
                <a:prstDash val="solid"/>
                <a:round/>
                <a:headEnd type="none" w="med" len="med"/>
                <a:tailEnd type="none" w="med" len="med"/>
              </a:ln>
            </p:spPr>
          </p:sp>
          <p:sp>
            <p:nvSpPr>
              <p:cNvPr id="144885" name="Line 510"/>
              <p:cNvSpPr/>
              <p:nvPr/>
            </p:nvSpPr>
            <p:spPr>
              <a:xfrm flipV="1">
                <a:off x="4227" y="1890"/>
                <a:ext cx="143" cy="60"/>
              </a:xfrm>
              <a:prstGeom prst="line">
                <a:avLst/>
              </a:prstGeom>
              <a:ln w="9525" cap="flat" cmpd="sng">
                <a:solidFill>
                  <a:schemeClr val="tx1"/>
                </a:solidFill>
                <a:prstDash val="solid"/>
                <a:round/>
                <a:headEnd type="none" w="med" len="med"/>
                <a:tailEnd type="none" w="med" len="med"/>
              </a:ln>
            </p:spPr>
          </p:sp>
          <p:sp>
            <p:nvSpPr>
              <p:cNvPr id="144886" name="Line 511"/>
              <p:cNvSpPr/>
              <p:nvPr/>
            </p:nvSpPr>
            <p:spPr>
              <a:xfrm>
                <a:off x="4047" y="1996"/>
                <a:ext cx="175" cy="81"/>
              </a:xfrm>
              <a:prstGeom prst="line">
                <a:avLst/>
              </a:prstGeom>
              <a:ln w="9525" cap="flat" cmpd="sng">
                <a:solidFill>
                  <a:schemeClr val="tx1"/>
                </a:solidFill>
                <a:prstDash val="solid"/>
                <a:round/>
                <a:headEnd type="none" w="med" len="med"/>
                <a:tailEnd type="none" w="med" len="med"/>
              </a:ln>
            </p:spPr>
          </p:sp>
          <p:sp>
            <p:nvSpPr>
              <p:cNvPr id="144887" name="Line 512"/>
              <p:cNvSpPr/>
              <p:nvPr/>
            </p:nvSpPr>
            <p:spPr>
              <a:xfrm flipV="1">
                <a:off x="4227" y="2012"/>
                <a:ext cx="176" cy="71"/>
              </a:xfrm>
              <a:prstGeom prst="line">
                <a:avLst/>
              </a:prstGeom>
              <a:ln w="9525" cap="flat" cmpd="sng">
                <a:solidFill>
                  <a:schemeClr val="tx1"/>
                </a:solidFill>
                <a:prstDash val="solid"/>
                <a:round/>
                <a:headEnd type="none" w="med" len="med"/>
                <a:tailEnd type="none" w="med" len="med"/>
              </a:ln>
            </p:spPr>
          </p:sp>
          <p:sp>
            <p:nvSpPr>
              <p:cNvPr id="144888" name="Line 513"/>
              <p:cNvSpPr/>
              <p:nvPr/>
            </p:nvSpPr>
            <p:spPr>
              <a:xfrm flipV="1">
                <a:off x="4227" y="1782"/>
                <a:ext cx="90" cy="29"/>
              </a:xfrm>
              <a:prstGeom prst="line">
                <a:avLst/>
              </a:prstGeom>
              <a:ln w="9525" cap="flat" cmpd="sng">
                <a:solidFill>
                  <a:schemeClr val="tx1"/>
                </a:solidFill>
                <a:prstDash val="solid"/>
                <a:round/>
                <a:headEnd type="none" w="med" len="med"/>
                <a:tailEnd type="none" w="med" len="med"/>
              </a:ln>
            </p:spPr>
          </p:sp>
          <p:sp>
            <p:nvSpPr>
              <p:cNvPr id="144889" name="Line 514"/>
              <p:cNvSpPr/>
              <p:nvPr/>
            </p:nvSpPr>
            <p:spPr>
              <a:xfrm flipV="1">
                <a:off x="4227" y="1632"/>
                <a:ext cx="57" cy="22"/>
              </a:xfrm>
              <a:prstGeom prst="line">
                <a:avLst/>
              </a:prstGeom>
              <a:ln w="9525" cap="flat" cmpd="sng">
                <a:solidFill>
                  <a:schemeClr val="tx1"/>
                </a:solidFill>
                <a:prstDash val="solid"/>
                <a:round/>
                <a:headEnd type="none" w="med" len="med"/>
                <a:tailEnd type="none" w="med" len="med"/>
              </a:ln>
            </p:spPr>
          </p:sp>
          <p:sp>
            <p:nvSpPr>
              <p:cNvPr id="144890" name="Line 515"/>
              <p:cNvSpPr/>
              <p:nvPr/>
            </p:nvSpPr>
            <p:spPr>
              <a:xfrm>
                <a:off x="4126" y="1772"/>
                <a:ext cx="109" cy="39"/>
              </a:xfrm>
              <a:prstGeom prst="line">
                <a:avLst/>
              </a:prstGeom>
              <a:ln w="9525" cap="flat" cmpd="sng">
                <a:solidFill>
                  <a:schemeClr val="tx1"/>
                </a:solidFill>
                <a:prstDash val="solid"/>
                <a:round/>
                <a:headEnd type="none" w="med" len="med"/>
                <a:tailEnd type="none" w="med" len="med"/>
              </a:ln>
            </p:spPr>
          </p:sp>
          <p:sp>
            <p:nvSpPr>
              <p:cNvPr id="144891" name="Line 516"/>
              <p:cNvSpPr/>
              <p:nvPr/>
            </p:nvSpPr>
            <p:spPr>
              <a:xfrm>
                <a:off x="4175" y="1625"/>
                <a:ext cx="63" cy="39"/>
              </a:xfrm>
              <a:prstGeom prst="line">
                <a:avLst/>
              </a:prstGeom>
              <a:ln w="9525" cap="flat" cmpd="sng">
                <a:solidFill>
                  <a:schemeClr val="tx1"/>
                </a:solidFill>
                <a:prstDash val="solid"/>
                <a:round/>
                <a:headEnd type="none" w="med" len="med"/>
                <a:tailEnd type="none" w="med" len="med"/>
              </a:ln>
            </p:spPr>
          </p:sp>
          <p:grpSp>
            <p:nvGrpSpPr>
              <p:cNvPr id="144892" name="Group 517"/>
              <p:cNvGrpSpPr/>
              <p:nvPr/>
            </p:nvGrpSpPr>
            <p:grpSpPr>
              <a:xfrm>
                <a:off x="4269" y="1415"/>
                <a:ext cx="392" cy="137"/>
                <a:chOff x="4227" y="1360"/>
                <a:chExt cx="863" cy="270"/>
              </a:xfrm>
            </p:grpSpPr>
            <p:sp>
              <p:nvSpPr>
                <p:cNvPr id="144893" name="Line 51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94" name="Line 51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895" name="Line 52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896" name="Line 52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897" name="Group 522"/>
              <p:cNvGrpSpPr/>
              <p:nvPr/>
            </p:nvGrpSpPr>
            <p:grpSpPr>
              <a:xfrm rot="5700496">
                <a:off x="4050" y="1168"/>
                <a:ext cx="392" cy="137"/>
                <a:chOff x="4227" y="1360"/>
                <a:chExt cx="863" cy="270"/>
              </a:xfrm>
            </p:grpSpPr>
            <p:sp>
              <p:nvSpPr>
                <p:cNvPr id="144898" name="Line 523"/>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899" name="Line 524"/>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900" name="Line 525"/>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901" name="Line 526"/>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nvGrpSpPr>
              <p:cNvPr id="144902" name="Group 527"/>
              <p:cNvGrpSpPr/>
              <p:nvPr/>
            </p:nvGrpSpPr>
            <p:grpSpPr>
              <a:xfrm rot="10800000">
                <a:off x="3796" y="1402"/>
                <a:ext cx="392" cy="137"/>
                <a:chOff x="4227" y="1360"/>
                <a:chExt cx="863" cy="270"/>
              </a:xfrm>
            </p:grpSpPr>
            <p:sp>
              <p:nvSpPr>
                <p:cNvPr id="144903" name="Line 528"/>
                <p:cNvSpPr/>
                <p:nvPr/>
              </p:nvSpPr>
              <p:spPr>
                <a:xfrm>
                  <a:off x="4227" y="1604"/>
                  <a:ext cx="0" cy="0"/>
                </a:xfrm>
                <a:prstGeom prst="line">
                  <a:avLst/>
                </a:prstGeom>
                <a:ln w="9525" cap="flat" cmpd="sng">
                  <a:solidFill>
                    <a:schemeClr val="tx1"/>
                  </a:solidFill>
                  <a:prstDash val="solid"/>
                  <a:round/>
                  <a:headEnd type="none" w="med" len="med"/>
                  <a:tailEnd type="none" w="med" len="med"/>
                </a:ln>
              </p:spPr>
            </p:sp>
            <p:sp>
              <p:nvSpPr>
                <p:cNvPr id="144904" name="Line 529"/>
                <p:cNvSpPr/>
                <p:nvPr/>
              </p:nvSpPr>
              <p:spPr>
                <a:xfrm rot="6361956" flipH="1" flipV="1">
                  <a:off x="4462" y="1202"/>
                  <a:ext cx="189" cy="500"/>
                </a:xfrm>
                <a:prstGeom prst="line">
                  <a:avLst/>
                </a:prstGeom>
                <a:ln w="31750" cap="flat" cmpd="sng">
                  <a:solidFill>
                    <a:schemeClr val="tx1"/>
                  </a:solidFill>
                  <a:prstDash val="solid"/>
                  <a:round/>
                  <a:headEnd type="none" w="med" len="med"/>
                  <a:tailEnd type="none" w="med" len="med"/>
                </a:ln>
              </p:spPr>
            </p:sp>
            <p:sp>
              <p:nvSpPr>
                <p:cNvPr id="144905" name="Line 530"/>
                <p:cNvSpPr/>
                <p:nvPr/>
              </p:nvSpPr>
              <p:spPr>
                <a:xfrm rot="6361956">
                  <a:off x="4600" y="1391"/>
                  <a:ext cx="189" cy="203"/>
                </a:xfrm>
                <a:prstGeom prst="line">
                  <a:avLst/>
                </a:prstGeom>
                <a:ln w="31750" cap="flat" cmpd="sng">
                  <a:solidFill>
                    <a:schemeClr val="tx1"/>
                  </a:solidFill>
                  <a:prstDash val="solid"/>
                  <a:round/>
                  <a:headEnd type="none" w="med" len="med"/>
                  <a:tailEnd type="none" w="med" len="med"/>
                </a:ln>
              </p:spPr>
            </p:sp>
            <p:sp>
              <p:nvSpPr>
                <p:cNvPr id="144906" name="Line 531"/>
                <p:cNvSpPr/>
                <p:nvPr/>
              </p:nvSpPr>
              <p:spPr>
                <a:xfrm rot="6361956" flipH="1" flipV="1">
                  <a:off x="4743" y="1283"/>
                  <a:ext cx="189" cy="500"/>
                </a:xfrm>
                <a:prstGeom prst="line">
                  <a:avLst/>
                </a:prstGeom>
                <a:ln w="31750" cap="flat" cmpd="sng">
                  <a:solidFill>
                    <a:schemeClr val="tx1"/>
                  </a:solidFill>
                  <a:prstDash val="solid"/>
                  <a:round/>
                  <a:headEnd type="none" w="med" len="med"/>
                  <a:tailEnd type="none" w="med" len="med"/>
                </a:ln>
              </p:spPr>
            </p:sp>
          </p:grpSp>
        </p:grpSp>
        <p:sp>
          <p:nvSpPr>
            <p:cNvPr id="144907" name="Line 532"/>
            <p:cNvSpPr/>
            <p:nvPr/>
          </p:nvSpPr>
          <p:spPr>
            <a:xfrm flipV="1">
              <a:off x="269" y="920"/>
              <a:ext cx="156" cy="240"/>
            </a:xfrm>
            <a:prstGeom prst="line">
              <a:avLst/>
            </a:prstGeom>
            <a:ln w="9525" cap="flat" cmpd="sng">
              <a:solidFill>
                <a:schemeClr val="tx1"/>
              </a:solidFill>
              <a:prstDash val="solid"/>
              <a:round/>
              <a:headEnd type="none" w="med" len="med"/>
              <a:tailEnd type="none" w="med" len="med"/>
            </a:ln>
          </p:spPr>
        </p:sp>
      </p:grpSp>
      <p:grpSp>
        <p:nvGrpSpPr>
          <p:cNvPr id="144908" name="Group 534"/>
          <p:cNvGrpSpPr/>
          <p:nvPr/>
        </p:nvGrpSpPr>
        <p:grpSpPr>
          <a:xfrm>
            <a:off x="1944688" y="4203700"/>
            <a:ext cx="623887" cy="330200"/>
            <a:chOff x="2647" y="2987"/>
            <a:chExt cx="393" cy="208"/>
          </a:xfrm>
        </p:grpSpPr>
        <p:sp>
          <p:nvSpPr>
            <p:cNvPr id="144909" name="Rectangle 535"/>
            <p:cNvSpPr/>
            <p:nvPr/>
          </p:nvSpPr>
          <p:spPr>
            <a:xfrm>
              <a:off x="2647" y="2987"/>
              <a:ext cx="384" cy="20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0" hangingPunct="0">
                <a:buClrTx/>
                <a:buFontTx/>
              </a:pPr>
              <a:endParaRPr lang="zh-CN" altLang="en-US" dirty="0">
                <a:latin typeface="Comic Sans MS" panose="030F0702030302020204" pitchFamily="66" charset="0"/>
                <a:ea typeface="宋体" panose="02010600030101010101" pitchFamily="2" charset="-122"/>
              </a:endParaRPr>
            </a:p>
          </p:txBody>
        </p:sp>
        <p:sp>
          <p:nvSpPr>
            <p:cNvPr id="144910" name="Text Box 536"/>
            <p:cNvSpPr txBox="1"/>
            <p:nvPr/>
          </p:nvSpPr>
          <p:spPr>
            <a:xfrm>
              <a:off x="2649" y="2995"/>
              <a:ext cx="391" cy="192"/>
            </a:xfrm>
            <a:prstGeom prst="rect">
              <a:avLst/>
            </a:prstGeom>
            <a:noFill/>
            <a:ln w="9525">
              <a:noFill/>
            </a:ln>
          </p:spPr>
          <p:txBody>
            <a:bodyPr anchor="t" anchorCtr="0">
              <a:spAutoFit/>
            </a:bodyPr>
            <a:p>
              <a:pPr algn="ctr">
                <a:buClrTx/>
                <a:buFontTx/>
              </a:pPr>
              <a:r>
                <a:rPr lang="en-US" altLang="zh-CN" sz="1400" dirty="0">
                  <a:latin typeface="Arial" panose="020B0604020202020204" pitchFamily="34" charset="0"/>
                  <a:ea typeface="宋体" panose="02010600030101010101" pitchFamily="2" charset="-122"/>
                </a:rPr>
                <a:t>MSC</a:t>
              </a:r>
              <a:endParaRPr lang="en-US" altLang="zh-CN" sz="1400" dirty="0">
                <a:latin typeface="Arial" panose="020B0604020202020204" pitchFamily="34" charset="0"/>
                <a:ea typeface="宋体" panose="02010600030101010101" pitchFamily="2" charset="-122"/>
              </a:endParaRPr>
            </a:p>
          </p:txBody>
        </p:sp>
      </p:grpSp>
      <p:grpSp>
        <p:nvGrpSpPr>
          <p:cNvPr id="144911" name="Group 539"/>
          <p:cNvGrpSpPr/>
          <p:nvPr/>
        </p:nvGrpSpPr>
        <p:grpSpPr>
          <a:xfrm>
            <a:off x="2497138" y="5040313"/>
            <a:ext cx="1441450" cy="346075"/>
            <a:chOff x="3072" y="739"/>
            <a:chExt cx="652" cy="146"/>
          </a:xfrm>
        </p:grpSpPr>
        <p:pic>
          <p:nvPicPr>
            <p:cNvPr id="144912" name="Picture 540"/>
            <p:cNvPicPr>
              <a:picLocks noChangeAspect="1"/>
            </p:cNvPicPr>
            <p:nvPr/>
          </p:nvPicPr>
          <p:blipFill>
            <a:blip r:embed="rId2"/>
            <a:stretch>
              <a:fillRect/>
            </a:stretch>
          </p:blipFill>
          <p:spPr>
            <a:xfrm flipH="1">
              <a:off x="3237" y="739"/>
              <a:ext cx="487" cy="146"/>
            </a:xfrm>
            <a:prstGeom prst="rect">
              <a:avLst/>
            </a:prstGeom>
            <a:noFill/>
            <a:ln w="9525">
              <a:noFill/>
            </a:ln>
          </p:spPr>
        </p:pic>
        <p:sp>
          <p:nvSpPr>
            <p:cNvPr id="144913" name="Line 541"/>
            <p:cNvSpPr/>
            <p:nvPr/>
          </p:nvSpPr>
          <p:spPr>
            <a:xfrm flipH="1">
              <a:off x="3104" y="784"/>
              <a:ext cx="88" cy="0"/>
            </a:xfrm>
            <a:prstGeom prst="line">
              <a:avLst/>
            </a:prstGeom>
            <a:ln w="9525" cap="flat" cmpd="sng">
              <a:solidFill>
                <a:schemeClr val="tx1"/>
              </a:solidFill>
              <a:prstDash val="solid"/>
              <a:round/>
              <a:headEnd type="none" w="med" len="med"/>
              <a:tailEnd type="none" w="med" len="med"/>
            </a:ln>
          </p:spPr>
        </p:sp>
        <p:sp>
          <p:nvSpPr>
            <p:cNvPr id="144914" name="Line 542"/>
            <p:cNvSpPr/>
            <p:nvPr/>
          </p:nvSpPr>
          <p:spPr>
            <a:xfrm flipH="1">
              <a:off x="3072" y="760"/>
              <a:ext cx="144" cy="0"/>
            </a:xfrm>
            <a:prstGeom prst="line">
              <a:avLst/>
            </a:prstGeom>
            <a:ln w="9525" cap="flat" cmpd="sng">
              <a:solidFill>
                <a:schemeClr val="tx1"/>
              </a:solidFill>
              <a:prstDash val="solid"/>
              <a:round/>
              <a:headEnd type="none" w="med" len="med"/>
              <a:tailEnd type="none" w="med" len="med"/>
            </a:ln>
          </p:spPr>
        </p:sp>
      </p:grpSp>
      <p:sp>
        <p:nvSpPr>
          <p:cNvPr id="144915" name="Freeform 32"/>
          <p:cNvSpPr/>
          <p:nvPr/>
        </p:nvSpPr>
        <p:spPr>
          <a:xfrm>
            <a:off x="1806575" y="3932238"/>
            <a:ext cx="1868488" cy="1003300"/>
          </a:xfrm>
          <a:custGeom>
            <a:avLst/>
            <a:gdLst/>
            <a:ahLst/>
            <a:cxnLst>
              <a:cxn ang="0">
                <a:pos x="0" y="0"/>
              </a:cxn>
              <a:cxn ang="0">
                <a:pos x="2147483646" y="383063750"/>
              </a:cxn>
              <a:cxn ang="0">
                <a:pos x="2147483646" y="1592738750"/>
              </a:cxn>
            </a:cxnLst>
            <a:pathLst>
              <a:path w="1177" h="632">
                <a:moveTo>
                  <a:pt x="0" y="0"/>
                </a:moveTo>
                <a:cubicBezTo>
                  <a:pt x="167" y="25"/>
                  <a:pt x="823" y="47"/>
                  <a:pt x="1000" y="152"/>
                </a:cubicBezTo>
                <a:cubicBezTo>
                  <a:pt x="1177" y="257"/>
                  <a:pt x="1051" y="532"/>
                  <a:pt x="1064" y="632"/>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144916" name="Text Box 36"/>
          <p:cNvSpPr txBox="1"/>
          <p:nvPr/>
        </p:nvSpPr>
        <p:spPr>
          <a:xfrm>
            <a:off x="1792288" y="5641975"/>
            <a:ext cx="1809750" cy="366713"/>
          </a:xfrm>
          <a:prstGeom prst="rect">
            <a:avLst/>
          </a:prstGeom>
          <a:noFill/>
          <a:ln w="9525">
            <a:noFill/>
          </a:ln>
        </p:spPr>
        <p:txBody>
          <a:bodyPr wrap="none" anchor="t" anchorCtr="0">
            <a:spAutoFit/>
          </a:bodyPr>
          <a:p>
            <a:pPr>
              <a:buClrTx/>
              <a:buFontTx/>
            </a:pPr>
            <a:r>
              <a:rPr lang="en-US" altLang="zh-CN" dirty="0">
                <a:latin typeface="Arial" panose="020B0604020202020204" pitchFamily="34" charset="0"/>
                <a:ea typeface="宋体" panose="02010600030101010101" pitchFamily="2" charset="-122"/>
              </a:rPr>
              <a:t>(b) after handoff</a:t>
            </a:r>
            <a:endParaRPr lang="en-US" altLang="zh-CN" dirty="0">
              <a:latin typeface="Arial" panose="020B0604020202020204" pitchFamily="34" charset="0"/>
              <a:ea typeface="宋体" panose="02010600030101010101" pitchFamily="2" charset="-122"/>
            </a:endParaRPr>
          </a:p>
        </p:txBody>
      </p:sp>
      <p:sp>
        <p:nvSpPr>
          <p:cNvPr id="144917" name="Rectangle 38"/>
          <p:cNvSpPr/>
          <p:nvPr/>
        </p:nvSpPr>
        <p:spPr>
          <a:xfrm>
            <a:off x="519113" y="290513"/>
            <a:ext cx="7772400" cy="1143000"/>
          </a:xfrm>
          <a:prstGeom prst="rect">
            <a:avLst/>
          </a:prstGeom>
          <a:noFill/>
          <a:ln w="9525">
            <a:noFill/>
          </a:ln>
        </p:spPr>
        <p:txBody>
          <a:bodyPr anchor="ctr" anchorCtr="0"/>
          <a:p>
            <a:pPr eaLnBrk="0" hangingPunct="0">
              <a:buClrTx/>
              <a:buFontTx/>
            </a:pPr>
            <a:r>
              <a:rPr lang="en-US" altLang="zh-CN" sz="3200" u="sng" dirty="0">
                <a:solidFill>
                  <a:schemeClr val="accent2"/>
                </a:solidFill>
                <a:latin typeface="Comic Sans MS" panose="030F0702030302020204" pitchFamily="66" charset="0"/>
                <a:ea typeface="宋体" panose="02010600030101010101" pitchFamily="2" charset="-122"/>
              </a:rPr>
              <a:t>GSM: handoff between MSCs</a:t>
            </a:r>
            <a:endParaRPr lang="en-US" altLang="zh-CN" sz="3200" u="sng" dirty="0">
              <a:solidFill>
                <a:schemeClr val="accent2"/>
              </a:solidFill>
              <a:latin typeface="Comic Sans MS" panose="030F0702030302020204" pitchFamily="66" charset="0"/>
              <a:ea typeface="宋体" panose="02010600030101010101" pitchFamily="2" charset="-122"/>
            </a:endParaRPr>
          </a:p>
        </p:txBody>
      </p:sp>
      <p:sp>
        <p:nvSpPr>
          <p:cNvPr id="144918" name="Rectangle 39"/>
          <p:cNvSpPr/>
          <p:nvPr/>
        </p:nvSpPr>
        <p:spPr>
          <a:xfrm>
            <a:off x="4664075" y="1600200"/>
            <a:ext cx="4078288" cy="4648200"/>
          </a:xfrm>
          <a:prstGeom prst="rect">
            <a:avLst/>
          </a:prstGeom>
          <a:noFill/>
          <a:ln w="9525">
            <a:noFill/>
          </a:ln>
        </p:spPr>
        <p:txBody>
          <a:bodyPr anchor="t" anchorCtr="0"/>
          <a:p>
            <a:pPr marL="342900" indent="-342900" eaLnBrk="0" hangingPunct="0">
              <a:spcBef>
                <a:spcPct val="20000"/>
              </a:spcBef>
              <a:buClr>
                <a:schemeClr val="accent2"/>
              </a:buClr>
              <a:buSzPct val="85000"/>
              <a:buFont typeface="ZapfDingbats" pitchFamily="82" charset="2"/>
              <a:buChar char="r"/>
            </a:pPr>
            <a:r>
              <a:rPr lang="en-US" altLang="zh-CN" sz="2400" i="1" dirty="0">
                <a:solidFill>
                  <a:srgbClr val="FF3300"/>
                </a:solidFill>
                <a:latin typeface="Comic Sans MS" panose="030F0702030302020204" pitchFamily="66" charset="0"/>
                <a:ea typeface="宋体" panose="02010600030101010101" pitchFamily="2" charset="-122"/>
              </a:rPr>
              <a:t>anchor MSC:</a:t>
            </a:r>
            <a:r>
              <a:rPr lang="en-US" altLang="zh-CN" sz="2400" dirty="0">
                <a:latin typeface="Comic Sans MS" panose="030F0702030302020204" pitchFamily="66" charset="0"/>
                <a:ea typeface="宋体" panose="02010600030101010101" pitchFamily="2" charset="-122"/>
              </a:rPr>
              <a:t> first MSC visited during cal</a:t>
            </a:r>
            <a:endParaRPr lang="en-US" altLang="zh-CN" sz="2400" dirty="0">
              <a:latin typeface="Comic Sans MS" panose="030F0702030302020204" pitchFamily="66" charset="0"/>
              <a:ea typeface="宋体" panose="02010600030101010101" pitchFamily="2" charset="-122"/>
            </a:endParaRPr>
          </a:p>
          <a:p>
            <a:pPr marL="742950" lvl="1" indent="-285750" algn="l" rtl="0" eaLnBrk="0" fontAlgn="base" hangingPunct="0">
              <a:spcBef>
                <a:spcPct val="20000"/>
              </a:spcBef>
              <a:spcAft>
                <a:spcPct val="0"/>
              </a:spcAft>
              <a:buClr>
                <a:schemeClr val="accent2"/>
              </a:buClr>
              <a:buSzPct val="75000"/>
              <a:buFont typeface="ZapfDingbats" pitchFamily="82" charset="2"/>
              <a:buChar char="m"/>
            </a:pPr>
            <a:r>
              <a:rPr lang="en-US" altLang="zh-CN" sz="2000" dirty="0">
                <a:solidFill>
                  <a:schemeClr val="tx1"/>
                </a:solidFill>
                <a:latin typeface="Comic Sans MS" panose="030F0702030302020204" pitchFamily="66" charset="0"/>
                <a:ea typeface="宋体" panose="02010600030101010101" pitchFamily="2" charset="-122"/>
              </a:rPr>
              <a:t>call remains routed through anchor MSC</a:t>
            </a:r>
            <a:endParaRPr lang="en-US" altLang="zh-CN" sz="2000" dirty="0">
              <a:solidFill>
                <a:schemeClr val="tx1"/>
              </a:solidFill>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dirty="0">
                <a:latin typeface="Comic Sans MS" panose="030F0702030302020204" pitchFamily="66" charset="0"/>
                <a:ea typeface="宋体" panose="02010600030101010101" pitchFamily="2" charset="-122"/>
              </a:rPr>
              <a:t>new MSCs add on to end of MSC chain as mobile moves to new MSC</a:t>
            </a:r>
            <a:endParaRPr lang="en-US" altLang="zh-CN" sz="2400" dirty="0">
              <a:latin typeface="Comic Sans MS" panose="030F0702030302020204" pitchFamily="66" charset="0"/>
              <a:ea typeface="宋体" panose="02010600030101010101" pitchFamily="2" charset="-122"/>
            </a:endParaRPr>
          </a:p>
          <a:p>
            <a:pPr marL="342900" indent="-342900" eaLnBrk="0" hangingPunct="0">
              <a:spcBef>
                <a:spcPct val="20000"/>
              </a:spcBef>
              <a:buClr>
                <a:schemeClr val="accent2"/>
              </a:buClr>
              <a:buSzPct val="85000"/>
              <a:buFont typeface="ZapfDingbats" pitchFamily="82" charset="2"/>
              <a:buChar char="r"/>
            </a:pPr>
            <a:r>
              <a:rPr lang="en-US" altLang="zh-CN" sz="2400" dirty="0">
                <a:latin typeface="Comic Sans MS" panose="030F0702030302020204" pitchFamily="66" charset="0"/>
                <a:ea typeface="宋体" panose="02010600030101010101" pitchFamily="2" charset="-122"/>
              </a:rPr>
              <a:t>IS-41 allows optional path minimization step to shorten multi-MSC chain</a:t>
            </a:r>
            <a:endParaRPr lang="en-US" altLang="zh-CN" sz="2400" dirty="0">
              <a:latin typeface="Comic Sans MS" panose="030F0702030302020204" pitchFamily="66"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64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6435"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Mobility: GSM versus Mobile IP</a:t>
            </a:r>
            <a:endParaRPr lang="en-US" altLang="zh-CN" dirty="0">
              <a:ea typeface="宋体" panose="02010600030101010101" pitchFamily="2" charset="-122"/>
            </a:endParaRPr>
          </a:p>
        </p:txBody>
      </p:sp>
      <p:graphicFrame>
        <p:nvGraphicFramePr>
          <p:cNvPr id="444552" name="Group 136"/>
          <p:cNvGraphicFramePr>
            <a:graphicFrameLocks noGrp="1"/>
          </p:cNvGraphicFramePr>
          <p:nvPr/>
        </p:nvGraphicFramePr>
        <p:xfrm>
          <a:off x="671513" y="1296988"/>
          <a:ext cx="8205788" cy="5151438"/>
        </p:xfrm>
        <a:graphic>
          <a:graphicData uri="http://schemas.openxmlformats.org/drawingml/2006/table">
            <a:tbl>
              <a:tblPr/>
              <a:tblGrid>
                <a:gridCol w="2224087"/>
                <a:gridCol w="182563"/>
                <a:gridCol w="3871912"/>
                <a:gridCol w="349250"/>
                <a:gridCol w="1577975"/>
              </a:tblGrid>
              <a:tr h="304819">
                <a:tc gridSpan="2">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FFFFFF"/>
                          </a:solidFill>
                          <a:effectLst/>
                          <a:latin typeface="Arial" panose="020B0604020202020204" pitchFamily="34" charset="0"/>
                          <a:ea typeface="Batang" pitchFamily="18" charset="-127"/>
                          <a:cs typeface="Arial" panose="020B0604020202020204" pitchFamily="34" charset="0"/>
                        </a:rPr>
                        <a:t>GSM element </a:t>
                      </a:r>
                      <a:endParaRPr kumimoji="0" lang="en-US" altLang="zh-CN" sz="14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FFFFFF"/>
                          </a:solidFill>
                          <a:effectLst/>
                          <a:latin typeface="Arial" panose="020B0604020202020204" pitchFamily="34" charset="0"/>
                          <a:ea typeface="Batang" pitchFamily="18" charset="-127"/>
                          <a:cs typeface="Arial" panose="020B0604020202020204" pitchFamily="34" charset="0"/>
                        </a:rPr>
                        <a:t>Comment on GSM element </a:t>
                      </a:r>
                      <a:endParaRPr kumimoji="0" lang="en-US" altLang="zh-CN" sz="14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gridSpan="2">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FFFFFF"/>
                          </a:solidFill>
                          <a:effectLst/>
                          <a:latin typeface="Arial" panose="020B0604020202020204" pitchFamily="34" charset="0"/>
                          <a:ea typeface="Batang" pitchFamily="18" charset="-127"/>
                          <a:cs typeface="Arial" panose="020B0604020202020204" pitchFamily="34" charset="0"/>
                        </a:rPr>
                        <a:t>Mobile IP element</a:t>
                      </a:r>
                      <a:endParaRPr kumimoji="0" lang="en-US" altLang="zh-CN" sz="14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solidFill>
                      <a:srgbClr val="000080"/>
                    </a:solidFill>
                  </a:tcPr>
                </a:tc>
                <a:tc hMerge="1">
                  <a:tcPr/>
                </a:tc>
              </a:tr>
              <a:tr h="579156">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Home system</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rPr>
                        <a:t>Network to which mobile user’s permanent phone number belongs</a:t>
                      </a:r>
                      <a:endPar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rPr>
                        <a:t>Home network</a:t>
                      </a:r>
                      <a:endPar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r>
              <a:tr h="1310721">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Gateway Mobile Switching Center, or “home MSC”. Home Location Register (HLR)</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rPr>
                        <a:t>Home MSC: point of contact to obtain routable address of mobile user. HLR: database in home system containing  permanent phone number, profile information, current location of mobile user, subscription information</a:t>
                      </a:r>
                      <a:endPar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rPr>
                        <a:t>Home agent</a:t>
                      </a:r>
                      <a:endPar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r>
              <a:tr h="579156">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Visited System</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rPr>
                        <a:t>Network other than home system where mobile user is currently residing</a:t>
                      </a:r>
                      <a:endPar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rPr>
                        <a:t>Visited network</a:t>
                      </a:r>
                      <a:endPar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r>
              <a:tr h="1310721">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Visited Mobile services Switching Center.</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Visitor Location Record (VLR)</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rPr>
                        <a:t>Visited MSC: responsible for setting up calls to/from mobile nodes in cells associated with MSC. VLR: temporary database entry in visited system, containing subscription information  for each visiting mobile user</a:t>
                      </a:r>
                      <a:endPar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rPr>
                        <a:t>Foreign agent</a:t>
                      </a:r>
                      <a:endPar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r>
              <a:tr h="1066866">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rPr>
                        <a:t>Mobile Station Roaming Number (MSRN), or “roaming number”</a:t>
                      </a:r>
                      <a:endParaRPr kumimoji="0" lang="en-US" altLang="zh-CN" sz="1600" b="1" i="0" u="none" strike="noStrike" cap="none" normalizeH="0" baseline="0">
                        <a:ln>
                          <a:noFill/>
                        </a:ln>
                        <a:solidFill>
                          <a:schemeClr val="accent2"/>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gridSpan="3">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rPr>
                        <a:t>Routable address for telephone call segment between home MSC and  visited MSC, visible to neither the mobile nor the correspondent.</a:t>
                      </a:r>
                      <a:endParaRPr kumimoji="0" lang="en-US" altLang="zh-CN" sz="1600" b="0" i="0" u="none" strike="noStrike" cap="none" normalizeH="0" baseline="0">
                        <a:ln>
                          <a:noFill/>
                        </a:ln>
                        <a:solidFill>
                          <a:schemeClr val="tx1"/>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c hMerge="1">
                  <a:tcPr/>
                </a:tc>
                <a:tc hMerge="1">
                  <a:tcPr/>
                </a:tc>
                <a:tc>
                  <a:txBody>
                    <a:bodyPr/>
                    <a:lstStyle>
                      <a:lvl1pPr>
                        <a:spcBef>
                          <a:spcPct val="20000"/>
                        </a:spcBef>
                        <a:buClr>
                          <a:schemeClr val="accent2"/>
                        </a:buClr>
                        <a:buSzPct val="85000"/>
                        <a:buFont typeface="ZapfDingbats" pitchFamily="82" charset="2"/>
                        <a:defRPr sz="24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defRPr sz="2000">
                          <a:solidFill>
                            <a:schemeClr val="tx1"/>
                          </a:solidFill>
                          <a:latin typeface="Comic Sans MS" panose="030F0702030302020204" pitchFamily="66" charset="0"/>
                        </a:defRPr>
                      </a:lvl2pPr>
                      <a:lvl3pPr>
                        <a:spcBef>
                          <a:spcPct val="20000"/>
                        </a:spcBef>
                        <a:defRPr>
                          <a:solidFill>
                            <a:schemeClr val="tx1"/>
                          </a:solidFill>
                          <a:latin typeface="Comic Sans MS" panose="030F0702030302020204" pitchFamily="66"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rPr>
                        <a:t>Care-of-address</a:t>
                      </a:r>
                      <a:endParaRPr kumimoji="0" lang="en-US" altLang="zh-CN" sz="1600" b="1" i="0" u="none" strike="noStrike" cap="none" normalizeH="0" baseline="0">
                        <a:ln>
                          <a:noFill/>
                        </a:ln>
                        <a:solidFill>
                          <a:srgbClr val="FF3300"/>
                        </a:solidFill>
                        <a:effectLst/>
                        <a:latin typeface="Arial" panose="020B0604020202020204" pitchFamily="34" charset="0"/>
                        <a:ea typeface="Batang" pitchFamily="18" charset="-127"/>
                        <a:cs typeface="Arial" panose="020B0604020202020204" pitchFamily="34" charset="0"/>
                      </a:endParaRPr>
                    </a:p>
                  </a:txBody>
                  <a:tcPr marT="45723" marB="45723" horzOverflow="overflow">
                    <a:lnL w="12700" cap="flat" cmpd="sng" algn="ctr">
                      <a:solidFill>
                        <a:srgbClr val="000080"/>
                      </a:solidFill>
                      <a:prstDash val="solid"/>
                      <a:round/>
                      <a:headEnd type="none" w="med" len="med"/>
                      <a:tailEnd type="none" w="med" len="med"/>
                    </a:lnL>
                    <a:lnR w="12700" cap="flat" cmpd="sng" algn="ctr">
                      <a:solidFill>
                        <a:srgbClr val="000080"/>
                      </a:solidFill>
                      <a:prstDash val="solid"/>
                      <a:round/>
                      <a:headEnd type="none" w="med" len="med"/>
                      <a:tailEnd type="none" w="med" len="med"/>
                    </a:lnR>
                    <a:lnT w="12700" cap="flat" cmpd="sng" algn="ctr">
                      <a:solidFill>
                        <a:srgbClr val="000080"/>
                      </a:solidFill>
                      <a:prstDash val="solid"/>
                      <a:round/>
                      <a:headEnd type="none" w="med" len="med"/>
                      <a:tailEnd type="none" w="med" len="med"/>
                    </a:lnT>
                    <a:lnB w="12700" cap="flat" cmpd="sng" algn="ctr">
                      <a:solidFill>
                        <a:srgbClr val="00008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页脚占位符 4"/>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484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48483" name="Rectangle 2"/>
          <p:cNvSpPr>
            <a:spLocks noGrp="1"/>
          </p:cNvSpPr>
          <p:nvPr>
            <p:ph type="title"/>
          </p:nvPr>
        </p:nvSpPr>
        <p:spPr>
          <a:xfrm>
            <a:off x="274638" y="228600"/>
            <a:ext cx="8869362" cy="1143000"/>
          </a:xfrm>
          <a:ln/>
        </p:spPr>
        <p:txBody>
          <a:bodyPr vert="horz" wrap="square" lIns="91440" tIns="45720" rIns="91440" bIns="45720" anchor="ctr" anchorCtr="0"/>
          <a:p>
            <a:r>
              <a:rPr lang="en-US" altLang="zh-CN" sz="2800" dirty="0">
                <a:ea typeface="宋体" panose="02010600030101010101" pitchFamily="2" charset="-122"/>
              </a:rPr>
              <a:t>Wireless, mobility: impact on higher layer protocols</a:t>
            </a:r>
            <a:endParaRPr lang="en-US" altLang="zh-CN" sz="2800" dirty="0">
              <a:ea typeface="宋体" panose="02010600030101010101" pitchFamily="2" charset="-122"/>
            </a:endParaRPr>
          </a:p>
        </p:txBody>
      </p:sp>
      <p:sp>
        <p:nvSpPr>
          <p:cNvPr id="148484" name="Rectangle 3"/>
          <p:cNvSpPr>
            <a:spLocks noGrp="1"/>
          </p:cNvSpPr>
          <p:nvPr>
            <p:ph idx="1"/>
          </p:nvPr>
        </p:nvSpPr>
        <p:spPr>
          <a:xfrm>
            <a:off x="396875" y="1422400"/>
            <a:ext cx="8332788" cy="4648200"/>
          </a:xfrm>
          <a:ln/>
        </p:spPr>
        <p:txBody>
          <a:bodyPr vert="horz" wrap="square" lIns="91440" tIns="45720" rIns="91440" bIns="45720" anchor="t" anchorCtr="0"/>
          <a:p>
            <a:r>
              <a:rPr lang="en-US" altLang="zh-CN" sz="2400" dirty="0">
                <a:ea typeface="宋体" panose="02010600030101010101" pitchFamily="2" charset="-122"/>
              </a:rPr>
              <a:t>logically, impact </a:t>
            </a:r>
            <a:r>
              <a:rPr lang="en-US" altLang="zh-CN" sz="2400" i="1" dirty="0">
                <a:ea typeface="宋体" panose="02010600030101010101" pitchFamily="2" charset="-122"/>
              </a:rPr>
              <a:t>should</a:t>
            </a:r>
            <a:r>
              <a:rPr lang="en-US" altLang="zh-CN" sz="2400" dirty="0">
                <a:ea typeface="宋体" panose="02010600030101010101" pitchFamily="2" charset="-122"/>
              </a:rPr>
              <a:t> be minimal …</a:t>
            </a:r>
            <a:endParaRPr lang="en-US" altLang="zh-CN" sz="2400" dirty="0">
              <a:ea typeface="宋体" panose="02010600030101010101" pitchFamily="2" charset="-122"/>
            </a:endParaRPr>
          </a:p>
          <a:p>
            <a:pPr lvl="1"/>
            <a:r>
              <a:rPr lang="en-US" altLang="zh-CN" dirty="0">
                <a:ea typeface="宋体" panose="02010600030101010101" pitchFamily="2" charset="-122"/>
              </a:rPr>
              <a:t>best effort service model remains unchanged </a:t>
            </a:r>
            <a:endParaRPr lang="en-US" altLang="zh-CN" dirty="0">
              <a:ea typeface="宋体" panose="02010600030101010101" pitchFamily="2" charset="-122"/>
            </a:endParaRPr>
          </a:p>
          <a:p>
            <a:pPr lvl="1"/>
            <a:r>
              <a:rPr lang="en-US" altLang="zh-CN" dirty="0">
                <a:ea typeface="宋体" panose="02010600030101010101" pitchFamily="2" charset="-122"/>
              </a:rPr>
              <a:t>TCP and UDP can (and do) run over wireless, mobile</a:t>
            </a:r>
            <a:endParaRPr lang="en-US" altLang="zh-CN" dirty="0">
              <a:ea typeface="宋体" panose="02010600030101010101" pitchFamily="2" charset="-122"/>
            </a:endParaRPr>
          </a:p>
          <a:p>
            <a:r>
              <a:rPr lang="en-US" altLang="zh-CN" sz="2400" dirty="0">
                <a:ea typeface="宋体" panose="02010600030101010101" pitchFamily="2" charset="-122"/>
              </a:rPr>
              <a:t>… but performance-wise:</a:t>
            </a:r>
            <a:endParaRPr lang="en-US" altLang="zh-CN" sz="2400" dirty="0">
              <a:ea typeface="宋体" panose="02010600030101010101" pitchFamily="2" charset="-122"/>
            </a:endParaRPr>
          </a:p>
          <a:p>
            <a:pPr lvl="1"/>
            <a:r>
              <a:rPr lang="en-US" altLang="zh-CN" dirty="0">
                <a:ea typeface="宋体" panose="02010600030101010101" pitchFamily="2" charset="-122"/>
              </a:rPr>
              <a:t>packet loss/delay due to bit-errors (discarded packets, delays for link-layer retransmissions), and handoff</a:t>
            </a:r>
            <a:endParaRPr lang="en-US" altLang="zh-CN" dirty="0">
              <a:ea typeface="宋体" panose="02010600030101010101" pitchFamily="2" charset="-122"/>
            </a:endParaRPr>
          </a:p>
          <a:p>
            <a:pPr lvl="1"/>
            <a:r>
              <a:rPr lang="en-US" altLang="zh-CN" dirty="0">
                <a:ea typeface="宋体" panose="02010600030101010101" pitchFamily="2" charset="-122"/>
              </a:rPr>
              <a:t>TCP interprets loss as congestion, will decrease congestion window un-necessarily</a:t>
            </a:r>
            <a:endParaRPr lang="en-US" altLang="zh-CN" dirty="0">
              <a:ea typeface="宋体" panose="02010600030101010101" pitchFamily="2" charset="-122"/>
            </a:endParaRPr>
          </a:p>
          <a:p>
            <a:pPr lvl="1"/>
            <a:r>
              <a:rPr lang="en-US" altLang="zh-CN" dirty="0">
                <a:ea typeface="宋体" panose="02010600030101010101" pitchFamily="2" charset="-122"/>
              </a:rPr>
              <a:t>delay impairments for real-time traffic</a:t>
            </a:r>
            <a:endParaRPr lang="en-US" altLang="zh-CN" dirty="0">
              <a:ea typeface="宋体" panose="02010600030101010101" pitchFamily="2" charset="-122"/>
            </a:endParaRPr>
          </a:p>
          <a:p>
            <a:pPr lvl="1"/>
            <a:r>
              <a:rPr lang="en-US" altLang="zh-CN" dirty="0">
                <a:ea typeface="宋体" panose="02010600030101010101" pitchFamily="2" charset="-122"/>
              </a:rPr>
              <a:t>limited bandwidth of wireless links</a:t>
            </a:r>
            <a:endParaRPr lang="en-US" altLang="zh-CN" dirty="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页脚占位符 5"/>
          <p:cNvSpPr>
            <a:spLocks noGrp="1"/>
          </p:cNvSpPr>
          <p:nvPr>
            <p:ph type="ftr" sz="quarter" idx="11"/>
          </p:nvPr>
        </p:nvSpPr>
        <p:spPr>
          <a:xfrm>
            <a:off x="4443413" y="6400800"/>
            <a:ext cx="3862387" cy="45720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ea typeface="宋体" panose="02010600030101010101" pitchFamily="2" charset="-122"/>
              </a:rPr>
              <a:t>6: Wireless and Mobile Networks</a:t>
            </a:r>
            <a:endParaRPr lang="en-US" altLang="zh-CN" sz="1400" dirty="0">
              <a:latin typeface="Times New Roman" panose="02020603050405020304" pitchFamily="18" charset="0"/>
              <a:ea typeface="宋体" panose="02010600030101010101" pitchFamily="2" charset="-122"/>
            </a:endParaRPr>
          </a:p>
        </p:txBody>
      </p:sp>
      <p:sp>
        <p:nvSpPr>
          <p:cNvPr id="15053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omic Sans MS" panose="030F0702030302020204" pitchFamily="66"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mn-ea"/>
                <a:cs typeface="+mn-cs"/>
              </a:defRPr>
            </a:lvl5pPr>
          </a:lstStyle>
          <a:p>
            <a:pPr lvl="0" algn="r" eaLnBrk="0" hangingPunct="0">
              <a:buClrTx/>
              <a:buSzTx/>
              <a:buFontTx/>
            </a:pPr>
            <a:r>
              <a:rPr lang="en-US" altLang="zh-CN" sz="1400" dirty="0">
                <a:latin typeface="Times New Roman" panose="02020603050405020304" pitchFamily="18" charset="0"/>
                <a:ea typeface="宋体" panose="02010600030101010101" pitchFamily="2" charset="-122"/>
              </a:rPr>
              <a:t>6-</a:t>
            </a:r>
            <a:fld id="{9A0DB2DC-4C9A-4742-B13C-FB6460FD3503}" type="slidenum">
              <a:rPr lang="en-US" altLang="zh-CN" sz="1400" dirty="0">
                <a:latin typeface="Times New Roman" panose="02020603050405020304" pitchFamily="18" charset="0"/>
                <a:ea typeface="宋体" panose="02010600030101010101" pitchFamily="2" charset="-122"/>
              </a:rPr>
            </a:fld>
            <a:endParaRPr lang="en-US" altLang="zh-CN" sz="1400" dirty="0">
              <a:latin typeface="Times New Roman" panose="02020603050405020304" pitchFamily="18" charset="0"/>
              <a:ea typeface="宋体" panose="02010600030101010101" pitchFamily="2" charset="-122"/>
            </a:endParaRPr>
          </a:p>
        </p:txBody>
      </p:sp>
      <p:sp>
        <p:nvSpPr>
          <p:cNvPr id="150531" name="Rectangle 2"/>
          <p:cNvSpPr>
            <a:spLocks noGrp="1"/>
          </p:cNvSpPr>
          <p:nvPr>
            <p:ph type="title"/>
          </p:nvPr>
        </p:nvSpPr>
        <p:spPr>
          <a:ln/>
        </p:spPr>
        <p:txBody>
          <a:bodyPr vert="horz" wrap="square" lIns="91440" tIns="45720" rIns="91440" bIns="45720" anchor="ctr" anchorCtr="0"/>
          <a:p>
            <a:r>
              <a:rPr lang="en-US" altLang="zh-CN" dirty="0">
                <a:ea typeface="宋体" panose="02010600030101010101" pitchFamily="2" charset="-122"/>
              </a:rPr>
              <a:t>Chapter 6 Summary</a:t>
            </a:r>
            <a:endParaRPr lang="en-US" altLang="zh-CN" dirty="0">
              <a:ea typeface="宋体" panose="02010600030101010101" pitchFamily="2" charset="-122"/>
            </a:endParaRPr>
          </a:p>
        </p:txBody>
      </p:sp>
      <p:sp>
        <p:nvSpPr>
          <p:cNvPr id="150532" name="Rectangle 3"/>
          <p:cNvSpPr>
            <a:spLocks noGrp="1"/>
          </p:cNvSpPr>
          <p:nvPr>
            <p:ph sz="half" idx="1"/>
          </p:nvPr>
        </p:nvSpPr>
        <p:spPr>
          <a:ln/>
        </p:spPr>
        <p:txBody>
          <a:bodyPr vert="horz" wrap="square" lIns="91440" tIns="45720" rIns="91440" bIns="45720" anchor="t" anchorCtr="0"/>
          <a:p>
            <a:pPr>
              <a:lnSpc>
                <a:spcPct val="90000"/>
              </a:lnSpc>
              <a:buClr>
                <a:schemeClr val="accent2"/>
              </a:buClr>
              <a:buSzPct val="85000"/>
              <a:buFont typeface="ZapfDingbats" pitchFamily="82" charset="2"/>
              <a:buNone/>
            </a:pPr>
            <a:r>
              <a:rPr lang="en-US" altLang="zh-CN" sz="2400" dirty="0">
                <a:solidFill>
                  <a:srgbClr val="FF3300"/>
                </a:solidFill>
                <a:ea typeface="宋体" panose="02010600030101010101" pitchFamily="2" charset="-122"/>
              </a:rPr>
              <a:t>Wireless</a:t>
            </a:r>
            <a:endParaRPr lang="en-US" altLang="zh-CN" sz="2400" dirty="0">
              <a:solidFill>
                <a:srgbClr val="FF3300"/>
              </a:solidFill>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wireless links: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capacity, distance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channel impairments</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CDMA</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IEEE 802.11 (“wi-fi”)</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CSMA/CA reflects wireless channel characteristics</a:t>
            </a:r>
            <a:endParaRPr lang="en-US" altLang="zh-CN" sz="2000" dirty="0">
              <a:ea typeface="宋体" panose="02010600030101010101" pitchFamily="2" charset="-122"/>
            </a:endParaRPr>
          </a:p>
          <a:p>
            <a:pPr>
              <a:lnSpc>
                <a:spcPct val="90000"/>
              </a:lnSpc>
              <a:buClr>
                <a:schemeClr val="accent2"/>
              </a:buClr>
              <a:buSzPct val="85000"/>
              <a:buFont typeface="ZapfDingbats" pitchFamily="82" charset="2"/>
            </a:pPr>
            <a:r>
              <a:rPr lang="en-US" altLang="zh-CN" sz="2400" dirty="0">
                <a:ea typeface="宋体" panose="02010600030101010101" pitchFamily="2" charset="-122"/>
              </a:rPr>
              <a:t>cellular access</a:t>
            </a:r>
            <a:endParaRPr lang="en-US" altLang="zh-CN" sz="24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architecture</a:t>
            </a:r>
            <a:endParaRPr lang="en-US" altLang="zh-CN" sz="2000" dirty="0">
              <a:ea typeface="宋体" panose="02010600030101010101" pitchFamily="2" charset="-122"/>
            </a:endParaRPr>
          </a:p>
          <a:p>
            <a:pPr lvl="1">
              <a:lnSpc>
                <a:spcPct val="90000"/>
              </a:lnSpc>
              <a:buClr>
                <a:schemeClr val="accent2"/>
              </a:buClr>
              <a:buSzPct val="75000"/>
              <a:buFont typeface="ZapfDingbats" pitchFamily="82" charset="2"/>
            </a:pPr>
            <a:r>
              <a:rPr lang="en-US" altLang="zh-CN" sz="2000" dirty="0">
                <a:ea typeface="宋体" panose="02010600030101010101" pitchFamily="2" charset="-122"/>
              </a:rPr>
              <a:t>standards (e.g., GSM, CDMA-2000, UMTS)</a:t>
            </a:r>
            <a:endParaRPr lang="en-US" altLang="zh-CN" sz="2000" dirty="0">
              <a:ea typeface="宋体" panose="02010600030101010101" pitchFamily="2" charset="-122"/>
            </a:endParaRPr>
          </a:p>
        </p:txBody>
      </p:sp>
      <p:sp>
        <p:nvSpPr>
          <p:cNvPr id="150533" name="Rectangle 4"/>
          <p:cNvSpPr>
            <a:spLocks noGrp="1"/>
          </p:cNvSpPr>
          <p:nvPr>
            <p:ph sz="half" idx="2"/>
          </p:nvPr>
        </p:nvSpPr>
        <p:spPr>
          <a:xfrm>
            <a:off x="4495800" y="1600200"/>
            <a:ext cx="4054475" cy="4648200"/>
          </a:xfrm>
          <a:ln/>
        </p:spPr>
        <p:txBody>
          <a:bodyPr vert="horz" wrap="square" lIns="91440" tIns="45720" rIns="91440" bIns="45720" anchor="t" anchorCtr="0"/>
          <a:p>
            <a:pPr defTabSz="914400">
              <a:lnSpc>
                <a:spcPct val="90000"/>
              </a:lnSpc>
              <a:buClr>
                <a:schemeClr val="accent2"/>
              </a:buClr>
              <a:buSzPct val="85000"/>
              <a:buFont typeface="ZapfDingbats" pitchFamily="82" charset="2"/>
              <a:buNone/>
              <a:tabLst>
                <a:tab pos="3376930" algn="l"/>
              </a:tabLst>
            </a:pPr>
            <a:r>
              <a:rPr lang="en-US" altLang="zh-CN" sz="2400" dirty="0">
                <a:solidFill>
                  <a:srgbClr val="FF3300"/>
                </a:solidFill>
                <a:ea typeface="宋体" panose="02010600030101010101" pitchFamily="2" charset="-122"/>
              </a:rPr>
              <a:t>Mobility</a:t>
            </a:r>
            <a:endParaRPr lang="en-US" altLang="zh-CN" sz="2400" dirty="0">
              <a:solidFill>
                <a:srgbClr val="FF3300"/>
              </a:solidFill>
              <a:ea typeface="宋体" panose="02010600030101010101" pitchFamily="2" charset="-122"/>
            </a:endParaRPr>
          </a:p>
          <a:p>
            <a:pPr defTabSz="914400">
              <a:lnSpc>
                <a:spcPct val="90000"/>
              </a:lnSpc>
              <a:buClr>
                <a:schemeClr val="accent2"/>
              </a:buClr>
              <a:buSzPct val="85000"/>
              <a:buFont typeface="ZapfDingbats" pitchFamily="82" charset="2"/>
              <a:tabLst>
                <a:tab pos="3376930" algn="l"/>
              </a:tabLst>
            </a:pPr>
            <a:r>
              <a:rPr lang="en-US" altLang="zh-CN" sz="2400" dirty="0">
                <a:ea typeface="宋体" panose="02010600030101010101" pitchFamily="2" charset="-122"/>
              </a:rPr>
              <a:t>principles: addressing, routing to mobile users</a:t>
            </a:r>
            <a:endParaRPr lang="en-US" altLang="zh-CN" sz="2400" dirty="0">
              <a:ea typeface="宋体" panose="02010600030101010101" pitchFamily="2" charset="-122"/>
            </a:endParaRPr>
          </a:p>
          <a:p>
            <a:pPr lvl="1" defTabSz="914400">
              <a:lnSpc>
                <a:spcPct val="90000"/>
              </a:lnSpc>
              <a:buClr>
                <a:schemeClr val="accent2"/>
              </a:buClr>
              <a:buSzPct val="75000"/>
              <a:buFont typeface="ZapfDingbats" pitchFamily="82" charset="2"/>
              <a:tabLst>
                <a:tab pos="3376930" algn="l"/>
              </a:tabLst>
            </a:pPr>
            <a:r>
              <a:rPr lang="en-US" altLang="zh-CN" sz="2000" dirty="0">
                <a:ea typeface="宋体" panose="02010600030101010101" pitchFamily="2" charset="-122"/>
              </a:rPr>
              <a:t>home, visited networks</a:t>
            </a:r>
            <a:endParaRPr lang="en-US" altLang="zh-CN" sz="2000" dirty="0">
              <a:ea typeface="宋体" panose="02010600030101010101" pitchFamily="2" charset="-122"/>
            </a:endParaRPr>
          </a:p>
          <a:p>
            <a:pPr lvl="1" defTabSz="914400">
              <a:lnSpc>
                <a:spcPct val="90000"/>
              </a:lnSpc>
              <a:buClr>
                <a:schemeClr val="accent2"/>
              </a:buClr>
              <a:buSzPct val="75000"/>
              <a:buFont typeface="ZapfDingbats" pitchFamily="82" charset="2"/>
              <a:tabLst>
                <a:tab pos="3376930" algn="l"/>
              </a:tabLst>
            </a:pPr>
            <a:r>
              <a:rPr lang="en-US" altLang="zh-CN" sz="2000" dirty="0">
                <a:ea typeface="宋体" panose="02010600030101010101" pitchFamily="2" charset="-122"/>
              </a:rPr>
              <a:t>direct, indirect routing</a:t>
            </a:r>
            <a:endParaRPr lang="en-US" altLang="zh-CN" sz="2000" dirty="0">
              <a:ea typeface="宋体" panose="02010600030101010101" pitchFamily="2" charset="-122"/>
            </a:endParaRPr>
          </a:p>
          <a:p>
            <a:pPr lvl="1" defTabSz="914400">
              <a:lnSpc>
                <a:spcPct val="90000"/>
              </a:lnSpc>
              <a:buClr>
                <a:schemeClr val="accent2"/>
              </a:buClr>
              <a:buSzPct val="75000"/>
              <a:buFont typeface="ZapfDingbats" pitchFamily="82" charset="2"/>
              <a:tabLst>
                <a:tab pos="3376930" algn="l"/>
              </a:tabLst>
            </a:pPr>
            <a:r>
              <a:rPr lang="en-US" altLang="zh-CN" sz="2000" dirty="0">
                <a:ea typeface="宋体" panose="02010600030101010101" pitchFamily="2" charset="-122"/>
              </a:rPr>
              <a:t>care-of-addresses</a:t>
            </a:r>
            <a:endParaRPr lang="en-US" altLang="zh-CN" sz="2000" dirty="0">
              <a:ea typeface="宋体" panose="02010600030101010101" pitchFamily="2" charset="-122"/>
            </a:endParaRPr>
          </a:p>
          <a:p>
            <a:pPr defTabSz="914400">
              <a:lnSpc>
                <a:spcPct val="90000"/>
              </a:lnSpc>
              <a:buClr>
                <a:schemeClr val="accent2"/>
              </a:buClr>
              <a:buSzPct val="85000"/>
              <a:buFont typeface="ZapfDingbats" pitchFamily="82" charset="2"/>
              <a:tabLst>
                <a:tab pos="3376930" algn="l"/>
              </a:tabLst>
            </a:pPr>
            <a:r>
              <a:rPr lang="en-US" altLang="zh-CN" sz="2400" dirty="0">
                <a:ea typeface="宋体" panose="02010600030101010101" pitchFamily="2" charset="-122"/>
              </a:rPr>
              <a:t>case studies</a:t>
            </a:r>
            <a:endParaRPr lang="en-US" altLang="zh-CN" sz="2400" dirty="0">
              <a:ea typeface="宋体" panose="02010600030101010101" pitchFamily="2" charset="-122"/>
            </a:endParaRPr>
          </a:p>
          <a:p>
            <a:pPr lvl="1" defTabSz="914400">
              <a:lnSpc>
                <a:spcPct val="90000"/>
              </a:lnSpc>
              <a:buClr>
                <a:schemeClr val="accent2"/>
              </a:buClr>
              <a:buSzPct val="75000"/>
              <a:buFont typeface="ZapfDingbats" pitchFamily="82" charset="2"/>
              <a:tabLst>
                <a:tab pos="3376930" algn="l"/>
              </a:tabLst>
            </a:pPr>
            <a:r>
              <a:rPr lang="en-US" altLang="zh-CN" sz="2000" dirty="0">
                <a:ea typeface="宋体" panose="02010600030101010101" pitchFamily="2" charset="-122"/>
              </a:rPr>
              <a:t>mobile IP</a:t>
            </a:r>
            <a:endParaRPr lang="en-US" altLang="zh-CN" sz="2000" dirty="0">
              <a:ea typeface="宋体" panose="02010600030101010101" pitchFamily="2" charset="-122"/>
            </a:endParaRPr>
          </a:p>
          <a:p>
            <a:pPr lvl="1" defTabSz="914400">
              <a:lnSpc>
                <a:spcPct val="90000"/>
              </a:lnSpc>
              <a:buClr>
                <a:schemeClr val="accent2"/>
              </a:buClr>
              <a:buSzPct val="75000"/>
              <a:buFont typeface="ZapfDingbats" pitchFamily="82" charset="2"/>
              <a:tabLst>
                <a:tab pos="3376930" algn="l"/>
              </a:tabLst>
            </a:pPr>
            <a:r>
              <a:rPr lang="en-US" altLang="zh-CN" sz="2000" dirty="0">
                <a:ea typeface="宋体" panose="02010600030101010101" pitchFamily="2" charset="-122"/>
              </a:rPr>
              <a:t>mobility in GSM</a:t>
            </a:r>
            <a:endParaRPr lang="en-US" altLang="zh-CN" sz="2000" dirty="0">
              <a:ea typeface="宋体" panose="02010600030101010101" pitchFamily="2" charset="-122"/>
            </a:endParaRPr>
          </a:p>
          <a:p>
            <a:pPr defTabSz="914400">
              <a:lnSpc>
                <a:spcPct val="90000"/>
              </a:lnSpc>
              <a:buClr>
                <a:schemeClr val="accent2"/>
              </a:buClr>
              <a:buSzPct val="85000"/>
              <a:buFont typeface="ZapfDingbats" pitchFamily="82" charset="2"/>
              <a:tabLst>
                <a:tab pos="3376930" algn="l"/>
              </a:tabLst>
            </a:pPr>
            <a:r>
              <a:rPr lang="en-US" altLang="zh-CN" sz="2400" dirty="0">
                <a:ea typeface="宋体" panose="02010600030101010101" pitchFamily="2" charset="-122"/>
              </a:rPr>
              <a:t>impact on higher-layer protocols</a:t>
            </a:r>
            <a:endParaRPr lang="en-US" altLang="zh-CN" sz="2400" dirty="0">
              <a:ea typeface="宋体" panose="02010600030101010101" pitchFamily="2" charset="-122"/>
            </a:endParaRPr>
          </a:p>
          <a:p>
            <a:pPr defTabSz="914400">
              <a:lnSpc>
                <a:spcPct val="90000"/>
              </a:lnSpc>
              <a:buClr>
                <a:schemeClr val="accent2"/>
              </a:buClr>
              <a:buSzPct val="85000"/>
              <a:buFont typeface="ZapfDingbats" pitchFamily="82" charset="2"/>
              <a:tabLst>
                <a:tab pos="3376930" algn="l"/>
              </a:tabLst>
            </a:pPr>
            <a:endParaRPr lang="en-US" altLang="zh-CN" sz="24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PP_MARK_KEY" val="2bfdc6bf-15e0-4ea0-919d-cc4b6bf61d6d"/>
  <p:tag name="COMMONDATA" val="eyJoZGlkIjoiZjI0NDdjNzQxOTg1ZDMwYzJmY2QxMmM5MThhM2I0ZDg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30514</Words>
  <Application>WPS 演示</Application>
  <PresentationFormat>全屏显示(4:3)</PresentationFormat>
  <Paragraphs>2397</Paragraphs>
  <Slides>75</Slides>
  <Notes>70</Notes>
  <HiddenSlides>1</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190</vt:i4>
      </vt:variant>
      <vt:variant>
        <vt:lpstr>幻灯片标题</vt:lpstr>
      </vt:variant>
      <vt:variant>
        <vt:i4>75</vt:i4>
      </vt:variant>
    </vt:vector>
  </HeadingPairs>
  <TitlesOfParts>
    <vt:vector size="281" baseType="lpstr">
      <vt:lpstr>Arial</vt:lpstr>
      <vt:lpstr>宋体</vt:lpstr>
      <vt:lpstr>Wingdings</vt:lpstr>
      <vt:lpstr>Comic Sans MS</vt:lpstr>
      <vt:lpstr>ZapfDingbats</vt:lpstr>
      <vt:lpstr>Times New Roman</vt:lpstr>
      <vt:lpstr>Symbol</vt:lpstr>
      <vt:lpstr>Gill Sans MT</vt:lpstr>
      <vt:lpstr>MS PGothic</vt:lpstr>
      <vt:lpstr>Tahoma</vt:lpstr>
      <vt:lpstr>Batang</vt:lpstr>
      <vt:lpstr>Constantia</vt:lpstr>
      <vt:lpstr>等线</vt:lpstr>
      <vt:lpstr>微软雅黑</vt:lpstr>
      <vt:lpstr>Arial Unicode MS</vt:lpstr>
      <vt:lpstr>Default Design</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Word.Picture.8</vt:lpstr>
      <vt:lpstr>Word.Picture.8</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MS_ClipArt_Gallery.2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slides, Computer Networking, 3rd edition</dc:title>
  <dc:creator>Jim Kurose and Keith Ross</dc:creator>
  <cp:lastModifiedBy>Zhuqing Jiang</cp:lastModifiedBy>
  <cp:revision>241</cp:revision>
  <cp:lastPrinted>2000-10-23T11:49:35Z</cp:lastPrinted>
  <dcterms:created xsi:type="dcterms:W3CDTF">1999-10-08T19:08:27Z</dcterms:created>
  <dcterms:modified xsi:type="dcterms:W3CDTF">2025-04-12T12:28:01Z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AA9AC1D648284D36AD62F7E67E5AE9DC_13</vt:lpwstr>
  </property>
  <property fmtid="{D5CDD505-2E9C-101B-9397-08002B2CF9AE}" pid="3" name="KSOProductBuildVer">
    <vt:lpwstr>2052-12.1.0.20305</vt:lpwstr>
  </property>
</Properties>
</file>
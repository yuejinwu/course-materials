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11"/>
  </p:notesMasterIdLst>
  <p:handoutMasterIdLst>
    <p:handoutMasterId r:id="rId127"/>
  </p:handoutMasterIdLst>
  <p:sldIdLst>
    <p:sldId id="415" r:id="rId3"/>
    <p:sldId id="471" r:id="rId4"/>
    <p:sldId id="325" r:id="rId5"/>
    <p:sldId id="402" r:id="rId6"/>
    <p:sldId id="379" r:id="rId7"/>
    <p:sldId id="258" r:id="rId8"/>
    <p:sldId id="463" r:id="rId9"/>
    <p:sldId id="380" r:id="rId10"/>
    <p:sldId id="381" r:id="rId12"/>
    <p:sldId id="472" r:id="rId13"/>
    <p:sldId id="382" r:id="rId14"/>
    <p:sldId id="383" r:id="rId15"/>
    <p:sldId id="291" r:id="rId16"/>
    <p:sldId id="327" r:id="rId17"/>
    <p:sldId id="413" r:id="rId18"/>
    <p:sldId id="486" r:id="rId19"/>
    <p:sldId id="326" r:id="rId20"/>
    <p:sldId id="260" r:id="rId21"/>
    <p:sldId id="261" r:id="rId22"/>
    <p:sldId id="262" r:id="rId23"/>
    <p:sldId id="277" r:id="rId24"/>
    <p:sldId id="464" r:id="rId25"/>
    <p:sldId id="329" r:id="rId26"/>
    <p:sldId id="263" r:id="rId27"/>
    <p:sldId id="264" r:id="rId28"/>
    <p:sldId id="331" r:id="rId29"/>
    <p:sldId id="330" r:id="rId30"/>
    <p:sldId id="265" r:id="rId31"/>
    <p:sldId id="266" r:id="rId32"/>
    <p:sldId id="293" r:id="rId33"/>
    <p:sldId id="267" r:id="rId34"/>
    <p:sldId id="269" r:id="rId35"/>
    <p:sldId id="332" r:id="rId36"/>
    <p:sldId id="333" r:id="rId37"/>
    <p:sldId id="268" r:id="rId38"/>
    <p:sldId id="270" r:id="rId39"/>
    <p:sldId id="271" r:id="rId40"/>
    <p:sldId id="487" r:id="rId41"/>
    <p:sldId id="334" r:id="rId42"/>
    <p:sldId id="273" r:id="rId43"/>
    <p:sldId id="335" r:id="rId44"/>
    <p:sldId id="374" r:id="rId45"/>
    <p:sldId id="375" r:id="rId46"/>
    <p:sldId id="376" r:id="rId47"/>
    <p:sldId id="377" r:id="rId48"/>
    <p:sldId id="378" r:id="rId49"/>
    <p:sldId id="274" r:id="rId50"/>
    <p:sldId id="465" r:id="rId51"/>
    <p:sldId id="399" r:id="rId52"/>
    <p:sldId id="400" r:id="rId53"/>
    <p:sldId id="401" r:id="rId54"/>
    <p:sldId id="466" r:id="rId55"/>
    <p:sldId id="281" r:id="rId56"/>
    <p:sldId id="282" r:id="rId57"/>
    <p:sldId id="283" r:id="rId58"/>
    <p:sldId id="338" r:id="rId59"/>
    <p:sldId id="284" r:id="rId60"/>
    <p:sldId id="294" r:id="rId61"/>
    <p:sldId id="592" r:id="rId62"/>
    <p:sldId id="593" r:id="rId63"/>
    <p:sldId id="285" r:id="rId64"/>
    <p:sldId id="286" r:id="rId65"/>
    <p:sldId id="289" r:id="rId66"/>
    <p:sldId id="290" r:id="rId67"/>
    <p:sldId id="339" r:id="rId68"/>
    <p:sldId id="404" r:id="rId69"/>
    <p:sldId id="296" r:id="rId70"/>
    <p:sldId id="297" r:id="rId71"/>
    <p:sldId id="389" r:id="rId72"/>
    <p:sldId id="298" r:id="rId73"/>
    <p:sldId id="405" r:id="rId74"/>
    <p:sldId id="406" r:id="rId75"/>
    <p:sldId id="390" r:id="rId76"/>
    <p:sldId id="391" r:id="rId77"/>
    <p:sldId id="302" r:id="rId78"/>
    <p:sldId id="303" r:id="rId79"/>
    <p:sldId id="304" r:id="rId80"/>
    <p:sldId id="305" r:id="rId81"/>
    <p:sldId id="407" r:id="rId82"/>
    <p:sldId id="467" r:id="rId83"/>
    <p:sldId id="432" r:id="rId84"/>
    <p:sldId id="416" r:id="rId85"/>
    <p:sldId id="418" r:id="rId86"/>
    <p:sldId id="419" r:id="rId87"/>
    <p:sldId id="417" r:id="rId88"/>
    <p:sldId id="420" r:id="rId89"/>
    <p:sldId id="421" r:id="rId90"/>
    <p:sldId id="422" r:id="rId91"/>
    <p:sldId id="434" r:id="rId92"/>
    <p:sldId id="436" r:id="rId93"/>
    <p:sldId id="437" r:id="rId94"/>
    <p:sldId id="438" r:id="rId95"/>
    <p:sldId id="439" r:id="rId96"/>
    <p:sldId id="440" r:id="rId97"/>
    <p:sldId id="442" r:id="rId98"/>
    <p:sldId id="444" r:id="rId99"/>
    <p:sldId id="423" r:id="rId100"/>
    <p:sldId id="433" r:id="rId101"/>
    <p:sldId id="468" r:id="rId102"/>
    <p:sldId id="306" r:id="rId103"/>
    <p:sldId id="458" r:id="rId104"/>
    <p:sldId id="446" r:id="rId105"/>
    <p:sldId id="453" r:id="rId106"/>
    <p:sldId id="473" r:id="rId107"/>
    <p:sldId id="474" r:id="rId108"/>
    <p:sldId id="475" r:id="rId109"/>
    <p:sldId id="476" r:id="rId110"/>
    <p:sldId id="477" r:id="rId111"/>
    <p:sldId id="478" r:id="rId112"/>
    <p:sldId id="456" r:id="rId113"/>
    <p:sldId id="470" r:id="rId114"/>
    <p:sldId id="307" r:id="rId115"/>
    <p:sldId id="308" r:id="rId116"/>
    <p:sldId id="479" r:id="rId117"/>
    <p:sldId id="480" r:id="rId118"/>
    <p:sldId id="481" r:id="rId119"/>
    <p:sldId id="482" r:id="rId120"/>
    <p:sldId id="483" r:id="rId121"/>
    <p:sldId id="484" r:id="rId122"/>
    <p:sldId id="485" r:id="rId123"/>
    <p:sldId id="462" r:id="rId124"/>
    <p:sldId id="321" r:id="rId125"/>
    <p:sldId id="322" r:id="rId126"/>
  </p:sldIdLst>
  <p:sldSz cx="9144000" cy="6858000" type="screen4x3"/>
  <p:notesSz cx="7315200" cy="9601200"/>
  <p:custDataLst>
    <p:tags r:id="rId131"/>
  </p:custDataLst>
  <p:defaultTextStyle>
    <a:defPPr>
      <a:defRPr lang="en-US"/>
    </a:defPPr>
    <a:lvl1pPr algn="l" rtl="0" eaLnBrk="0" fontAlgn="base" hangingPunct="0">
      <a:spcBef>
        <a:spcPct val="20000"/>
      </a:spcBef>
      <a:spcAft>
        <a:spcPct val="0"/>
      </a:spcAft>
      <a:buClr>
        <a:schemeClr val="accent2"/>
      </a:buClr>
      <a:buSzPct val="85000"/>
      <a:buFont typeface="ZapfDingbats" pitchFamily="82" charset="2"/>
      <a:defRPr sz="2400" kern="1200">
        <a:solidFill>
          <a:schemeClr val="tx1"/>
        </a:solidFill>
        <a:latin typeface="Comic Sans MS" panose="030F0702030302020204" pitchFamily="66" charset="0"/>
        <a:ea typeface="+mn-ea"/>
        <a:cs typeface="+mn-cs"/>
      </a:defRPr>
    </a:lvl1pPr>
    <a:lvl2pPr marL="457200" algn="l" rtl="0" eaLnBrk="0" fontAlgn="base" hangingPunct="0">
      <a:spcBef>
        <a:spcPct val="20000"/>
      </a:spcBef>
      <a:spcAft>
        <a:spcPct val="0"/>
      </a:spcAft>
      <a:buClr>
        <a:schemeClr val="accent2"/>
      </a:buClr>
      <a:buSzPct val="85000"/>
      <a:buFont typeface="ZapfDingbats" pitchFamily="82" charset="2"/>
      <a:defRPr sz="2400" kern="1200">
        <a:solidFill>
          <a:schemeClr val="tx1"/>
        </a:solidFill>
        <a:latin typeface="Comic Sans MS" panose="030F0702030302020204" pitchFamily="66" charset="0"/>
        <a:ea typeface="+mn-ea"/>
        <a:cs typeface="+mn-cs"/>
      </a:defRPr>
    </a:lvl2pPr>
    <a:lvl3pPr marL="914400" algn="l" rtl="0" eaLnBrk="0" fontAlgn="base" hangingPunct="0">
      <a:spcBef>
        <a:spcPct val="20000"/>
      </a:spcBef>
      <a:spcAft>
        <a:spcPct val="0"/>
      </a:spcAft>
      <a:buClr>
        <a:schemeClr val="accent2"/>
      </a:buClr>
      <a:buSzPct val="85000"/>
      <a:buFont typeface="ZapfDingbats" pitchFamily="82" charset="2"/>
      <a:defRPr sz="2400" kern="1200">
        <a:solidFill>
          <a:schemeClr val="tx1"/>
        </a:solidFill>
        <a:latin typeface="Comic Sans MS" panose="030F0702030302020204" pitchFamily="66" charset="0"/>
        <a:ea typeface="+mn-ea"/>
        <a:cs typeface="+mn-cs"/>
      </a:defRPr>
    </a:lvl3pPr>
    <a:lvl4pPr marL="1371600" algn="l" rtl="0" eaLnBrk="0" fontAlgn="base" hangingPunct="0">
      <a:spcBef>
        <a:spcPct val="20000"/>
      </a:spcBef>
      <a:spcAft>
        <a:spcPct val="0"/>
      </a:spcAft>
      <a:buClr>
        <a:schemeClr val="accent2"/>
      </a:buClr>
      <a:buSzPct val="85000"/>
      <a:buFont typeface="ZapfDingbats" pitchFamily="82" charset="2"/>
      <a:defRPr sz="2400" kern="1200">
        <a:solidFill>
          <a:schemeClr val="tx1"/>
        </a:solidFill>
        <a:latin typeface="Comic Sans MS" panose="030F0702030302020204" pitchFamily="66" charset="0"/>
        <a:ea typeface="+mn-ea"/>
        <a:cs typeface="+mn-cs"/>
      </a:defRPr>
    </a:lvl4pPr>
    <a:lvl5pPr marL="1828800" algn="l" rtl="0" eaLnBrk="0" fontAlgn="base" hangingPunct="0">
      <a:spcBef>
        <a:spcPct val="20000"/>
      </a:spcBef>
      <a:spcAft>
        <a:spcPct val="0"/>
      </a:spcAft>
      <a:buClr>
        <a:schemeClr val="accent2"/>
      </a:buClr>
      <a:buSzPct val="85000"/>
      <a:buFont typeface="ZapfDingbats" pitchFamily="82" charset="2"/>
      <a:defRPr sz="2400" kern="1200">
        <a:solidFill>
          <a:schemeClr val="tx1"/>
        </a:solidFill>
        <a:latin typeface="Comic Sans MS" panose="030F0702030302020204" pitchFamily="66" charset="0"/>
        <a:ea typeface="+mn-ea"/>
        <a:cs typeface="+mn-cs"/>
      </a:defRPr>
    </a:lvl5pPr>
    <a:lvl6pPr marL="2286000" algn="l" defTabSz="914400" rtl="0" eaLnBrk="1" latinLnBrk="0" hangingPunct="1">
      <a:defRPr sz="2400" kern="1200">
        <a:solidFill>
          <a:schemeClr val="tx1"/>
        </a:solidFill>
        <a:latin typeface="Comic Sans MS" panose="030F0702030302020204" pitchFamily="66" charset="0"/>
        <a:ea typeface="+mn-ea"/>
        <a:cs typeface="+mn-cs"/>
      </a:defRPr>
    </a:lvl6pPr>
    <a:lvl7pPr marL="2743200" algn="l" defTabSz="914400" rtl="0" eaLnBrk="1" latinLnBrk="0" hangingPunct="1">
      <a:defRPr sz="2400" kern="1200">
        <a:solidFill>
          <a:schemeClr val="tx1"/>
        </a:solidFill>
        <a:latin typeface="Comic Sans MS" panose="030F0702030302020204" pitchFamily="66" charset="0"/>
        <a:ea typeface="+mn-ea"/>
        <a:cs typeface="+mn-cs"/>
      </a:defRPr>
    </a:lvl7pPr>
    <a:lvl8pPr marL="3200400" algn="l" defTabSz="914400" rtl="0" eaLnBrk="1" latinLnBrk="0" hangingPunct="1">
      <a:defRPr sz="2400" kern="1200">
        <a:solidFill>
          <a:schemeClr val="tx1"/>
        </a:solidFill>
        <a:latin typeface="Comic Sans MS" panose="030F0702030302020204" pitchFamily="66" charset="0"/>
        <a:ea typeface="+mn-ea"/>
        <a:cs typeface="+mn-cs"/>
      </a:defRPr>
    </a:lvl8pPr>
    <a:lvl9pPr marL="3657600" algn="l" defTabSz="914400" rtl="0" eaLnBrk="1" latinLnBrk="0" hangingPunct="1">
      <a:defRPr sz="2400" kern="1200">
        <a:solidFill>
          <a:schemeClr val="tx1"/>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00"/>
    <a:srgbClr val="DDDDDD"/>
    <a:srgbClr val="FFCCFF"/>
    <a:srgbClr val="FF99CC"/>
    <a:srgbClr val="CCFFFF"/>
    <a:srgbClr val="33CCCC"/>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9824" autoAdjust="0"/>
  </p:normalViewPr>
  <p:slideViewPr>
    <p:cSldViewPr snapToGrid="0" showGuides="1">
      <p:cViewPr>
        <p:scale>
          <a:sx n="66" d="100"/>
          <a:sy n="66" d="100"/>
        </p:scale>
        <p:origin x="1317"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63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1" Type="http://schemas.openxmlformats.org/officeDocument/2006/relationships/tags" Target="tags/tag3.xml"/><Relationship Id="rId130" Type="http://schemas.openxmlformats.org/officeDocument/2006/relationships/tableStyles" Target="tableStyles.xml"/><Relationship Id="rId13" Type="http://schemas.openxmlformats.org/officeDocument/2006/relationships/slide" Target="slides/slide10.xml"/><Relationship Id="rId129" Type="http://schemas.openxmlformats.org/officeDocument/2006/relationships/viewProps" Target="viewProps.xml"/><Relationship Id="rId128" Type="http://schemas.openxmlformats.org/officeDocument/2006/relationships/presProps" Target="presProps.xml"/><Relationship Id="rId127" Type="http://schemas.openxmlformats.org/officeDocument/2006/relationships/handoutMaster" Target="handoutMasters/handoutMaster1.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notesMaster" Target="notesMasters/notesMaster1.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61" tIns="48331" rIns="96661" bIns="48331" numCol="1" anchor="t" anchorCtr="0" compatLnSpc="1"/>
          <a:lstStyle>
            <a:lvl1pPr defTabSz="967105">
              <a:spcBef>
                <a:spcPct val="0"/>
              </a:spcBef>
              <a:buClrTx/>
              <a:buSzTx/>
              <a:buFontTx/>
              <a:buNone/>
              <a:defRPr sz="1300" smtClean="0">
                <a:latin typeface="Times New Roman" panose="02020603050405020304" pitchFamily="18" charset="0"/>
              </a:defRPr>
            </a:lvl1pPr>
          </a:lstStyle>
          <a:p>
            <a:pPr>
              <a:defRPr/>
            </a:pPr>
            <a:endParaRPr lang="en-US"/>
          </a:p>
        </p:txBody>
      </p:sp>
      <p:sp>
        <p:nvSpPr>
          <p:cNvPr id="106499" name="Rectangle 3"/>
          <p:cNvSpPr>
            <a:spLocks noGrp="1" noChangeArrowheads="1"/>
          </p:cNvSpPr>
          <p:nvPr>
            <p:ph type="dt" sz="quarter" idx="1"/>
          </p:nvPr>
        </p:nvSpPr>
        <p:spPr bwMode="auto">
          <a:xfrm>
            <a:off x="4143375" y="0"/>
            <a:ext cx="3170238" cy="479425"/>
          </a:xfrm>
          <a:prstGeom prst="rect">
            <a:avLst/>
          </a:prstGeom>
          <a:noFill/>
          <a:ln w="9525">
            <a:noFill/>
            <a:miter lim="800000"/>
          </a:ln>
          <a:effectLst/>
        </p:spPr>
        <p:txBody>
          <a:bodyPr vert="horz" wrap="square" lIns="96661" tIns="48331" rIns="96661" bIns="48331" numCol="1" anchor="t" anchorCtr="0" compatLnSpc="1"/>
          <a:lstStyle>
            <a:lvl1pPr algn="r" defTabSz="967105">
              <a:spcBef>
                <a:spcPct val="0"/>
              </a:spcBef>
              <a:buClrTx/>
              <a:buSzTx/>
              <a:buFontTx/>
              <a:buNone/>
              <a:defRPr sz="1300" smtClean="0">
                <a:latin typeface="Times New Roman" panose="02020603050405020304" pitchFamily="18" charset="0"/>
              </a:defRPr>
            </a:lvl1pPr>
          </a:lstStyle>
          <a:p>
            <a:pPr>
              <a:defRPr/>
            </a:pPr>
            <a:endParaRPr lang="en-US"/>
          </a:p>
        </p:txBody>
      </p:sp>
      <p:sp>
        <p:nvSpPr>
          <p:cNvPr id="106500" name="Rectangle 4"/>
          <p:cNvSpPr>
            <a:spLocks noGrp="1" noChangeArrowheads="1"/>
          </p:cNvSpPr>
          <p:nvPr>
            <p:ph type="ftr" sz="quarter" idx="2"/>
          </p:nvPr>
        </p:nvSpPr>
        <p:spPr bwMode="auto">
          <a:xfrm>
            <a:off x="0" y="9120188"/>
            <a:ext cx="3170238" cy="479425"/>
          </a:xfrm>
          <a:prstGeom prst="rect">
            <a:avLst/>
          </a:prstGeom>
          <a:noFill/>
          <a:ln w="9525">
            <a:noFill/>
            <a:miter lim="800000"/>
          </a:ln>
          <a:effectLst/>
        </p:spPr>
        <p:txBody>
          <a:bodyPr vert="horz" wrap="square" lIns="96661" tIns="48331" rIns="96661" bIns="48331" numCol="1" anchor="b" anchorCtr="0" compatLnSpc="1"/>
          <a:lstStyle>
            <a:lvl1pPr defTabSz="967105">
              <a:spcBef>
                <a:spcPct val="0"/>
              </a:spcBef>
              <a:buClrTx/>
              <a:buSzTx/>
              <a:buFontTx/>
              <a:buNone/>
              <a:defRPr sz="1300" smtClean="0">
                <a:latin typeface="Times New Roman" panose="02020603050405020304" pitchFamily="18" charset="0"/>
              </a:defRPr>
            </a:lvl1pPr>
          </a:lstStyle>
          <a:p>
            <a:pPr>
              <a:defRPr/>
            </a:pPr>
            <a:endParaRPr lang="en-US"/>
          </a:p>
        </p:txBody>
      </p:sp>
      <p:sp>
        <p:nvSpPr>
          <p:cNvPr id="106501" name="Rectangle 5"/>
          <p:cNvSpPr>
            <a:spLocks noGrp="1" noChangeArrowheads="1"/>
          </p:cNvSpPr>
          <p:nvPr>
            <p:ph type="sldNum" sz="quarter" idx="3"/>
          </p:nvPr>
        </p:nvSpPr>
        <p:spPr bwMode="auto">
          <a:xfrm>
            <a:off x="4143375" y="9120188"/>
            <a:ext cx="3170238" cy="479425"/>
          </a:xfrm>
          <a:prstGeom prst="rect">
            <a:avLst/>
          </a:prstGeom>
          <a:noFill/>
          <a:ln w="9525">
            <a:noFill/>
            <a:miter lim="800000"/>
          </a:ln>
          <a:effectLst/>
        </p:spPr>
        <p:txBody>
          <a:bodyPr vert="horz" wrap="square" lIns="96661" tIns="48331" rIns="96661" bIns="48331" numCol="1" anchor="b" anchorCtr="0" compatLnSpc="1"/>
          <a:lstStyle>
            <a:lvl1pPr algn="r" defTabSz="967105">
              <a:spcBef>
                <a:spcPct val="0"/>
              </a:spcBef>
              <a:buClrTx/>
              <a:buSzTx/>
              <a:buFontTx/>
              <a:buNone/>
              <a:defRPr sz="1300" smtClean="0">
                <a:latin typeface="Times New Roman" panose="02020603050405020304" pitchFamily="18" charset="0"/>
              </a:defRPr>
            </a:lvl1pPr>
          </a:lstStyle>
          <a:p>
            <a:pPr>
              <a:defRPr/>
            </a:pPr>
            <a:fld id="{4332A0BB-111E-440E-99C3-B1DF895B227D}"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61" tIns="48331" rIns="96661" bIns="48331" numCol="1" anchor="t" anchorCtr="0" compatLnSpc="1"/>
          <a:lstStyle>
            <a:lvl1pPr defTabSz="967105">
              <a:spcBef>
                <a:spcPct val="0"/>
              </a:spcBef>
              <a:buClrTx/>
              <a:buSzTx/>
              <a:buFontTx/>
              <a:buNone/>
              <a:defRPr sz="1300" smtClean="0">
                <a:latin typeface="Times New Roman" panose="02020603050405020304" pitchFamily="18" charset="0"/>
              </a:defRPr>
            </a:lvl1pPr>
          </a:lstStyle>
          <a:p>
            <a:pPr>
              <a:defRPr/>
            </a:pPr>
            <a:endParaRPr lang="en-US"/>
          </a:p>
        </p:txBody>
      </p:sp>
      <p:sp>
        <p:nvSpPr>
          <p:cNvPr id="3075" name="Rectangle 3"/>
          <p:cNvSpPr>
            <a:spLocks noGrp="1" noChangeArrowheads="1"/>
          </p:cNvSpPr>
          <p:nvPr>
            <p:ph type="dt" idx="1"/>
          </p:nvPr>
        </p:nvSpPr>
        <p:spPr bwMode="auto">
          <a:xfrm>
            <a:off x="4144963" y="0"/>
            <a:ext cx="3170237" cy="479425"/>
          </a:xfrm>
          <a:prstGeom prst="rect">
            <a:avLst/>
          </a:prstGeom>
          <a:noFill/>
          <a:ln w="9525">
            <a:noFill/>
            <a:miter lim="800000"/>
          </a:ln>
          <a:effectLst/>
        </p:spPr>
        <p:txBody>
          <a:bodyPr vert="horz" wrap="square" lIns="96661" tIns="48331" rIns="96661" bIns="48331" numCol="1" anchor="t" anchorCtr="0" compatLnSpc="1"/>
          <a:lstStyle>
            <a:lvl1pPr algn="r" defTabSz="967105">
              <a:spcBef>
                <a:spcPct val="0"/>
              </a:spcBef>
              <a:buClrTx/>
              <a:buSzTx/>
              <a:buFontTx/>
              <a:buNone/>
              <a:defRPr sz="1300" smtClean="0">
                <a:latin typeface="Times New Roman" panose="02020603050405020304" pitchFamily="18" charset="0"/>
              </a:defRPr>
            </a:lvl1pPr>
          </a:lstStyle>
          <a:p>
            <a:pPr>
              <a:defRPr/>
            </a:pPr>
            <a:endParaRPr lang="en-US"/>
          </a:p>
        </p:txBody>
      </p:sp>
      <p:sp>
        <p:nvSpPr>
          <p:cNvPr id="118788"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ln>
        </p:spPr>
      </p:sp>
      <p:sp>
        <p:nvSpPr>
          <p:cNvPr id="3077" name="Rectangle 5"/>
          <p:cNvSpPr>
            <a:spLocks noGrp="1" noChangeArrowheads="1"/>
          </p:cNvSpPr>
          <p:nvPr>
            <p:ph type="body" sz="quarter" idx="3"/>
          </p:nvPr>
        </p:nvSpPr>
        <p:spPr bwMode="auto">
          <a:xfrm>
            <a:off x="974725" y="4560888"/>
            <a:ext cx="5365750" cy="4319587"/>
          </a:xfrm>
          <a:prstGeom prst="rect">
            <a:avLst/>
          </a:prstGeom>
          <a:noFill/>
          <a:ln w="9525">
            <a:noFill/>
            <a:miter lim="800000"/>
          </a:ln>
          <a:effectLst/>
        </p:spPr>
        <p:txBody>
          <a:bodyPr vert="horz" wrap="square" lIns="96661" tIns="48331" rIns="96661" bIns="48331"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3078" name="Rectangle 6"/>
          <p:cNvSpPr>
            <a:spLocks noGrp="1" noChangeArrowheads="1"/>
          </p:cNvSpPr>
          <p:nvPr>
            <p:ph type="ftr" sz="quarter" idx="4"/>
          </p:nvPr>
        </p:nvSpPr>
        <p:spPr bwMode="auto">
          <a:xfrm>
            <a:off x="0" y="9121775"/>
            <a:ext cx="3170238" cy="479425"/>
          </a:xfrm>
          <a:prstGeom prst="rect">
            <a:avLst/>
          </a:prstGeom>
          <a:noFill/>
          <a:ln w="9525">
            <a:noFill/>
            <a:miter lim="800000"/>
          </a:ln>
          <a:effectLst/>
        </p:spPr>
        <p:txBody>
          <a:bodyPr vert="horz" wrap="square" lIns="96661" tIns="48331" rIns="96661" bIns="48331" numCol="1" anchor="b" anchorCtr="0" compatLnSpc="1"/>
          <a:lstStyle>
            <a:lvl1pPr defTabSz="967105">
              <a:spcBef>
                <a:spcPct val="0"/>
              </a:spcBef>
              <a:buClrTx/>
              <a:buSzTx/>
              <a:buFontTx/>
              <a:buNone/>
              <a:defRPr sz="1300" smtClean="0">
                <a:latin typeface="Times New Roman" panose="02020603050405020304"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4144963" y="9121775"/>
            <a:ext cx="3170237" cy="479425"/>
          </a:xfrm>
          <a:prstGeom prst="rect">
            <a:avLst/>
          </a:prstGeom>
          <a:noFill/>
          <a:ln w="9525">
            <a:noFill/>
            <a:miter lim="800000"/>
          </a:ln>
          <a:effectLst/>
        </p:spPr>
        <p:txBody>
          <a:bodyPr vert="horz" wrap="square" lIns="96661" tIns="48331" rIns="96661" bIns="48331" numCol="1" anchor="b" anchorCtr="0" compatLnSpc="1"/>
          <a:lstStyle>
            <a:lvl1pPr algn="r" defTabSz="967105">
              <a:spcBef>
                <a:spcPct val="0"/>
              </a:spcBef>
              <a:buClrTx/>
              <a:buSzTx/>
              <a:buFontTx/>
              <a:buNone/>
              <a:defRPr sz="1300" smtClean="0">
                <a:latin typeface="Times New Roman" panose="02020603050405020304" pitchFamily="18" charset="0"/>
              </a:defRPr>
            </a:lvl1pPr>
          </a:lstStyle>
          <a:p>
            <a:pPr>
              <a:defRPr/>
            </a:pPr>
            <a:fld id="{865B5AF1-4E42-45FB-8419-8BBD86873575}"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应用架构</a:t>
            </a:r>
            <a:r>
              <a:rPr lang="en-US" altLang="zh-CN"/>
              <a:t> VS </a:t>
            </a:r>
            <a:r>
              <a:rPr lang="zh-CN" altLang="en-US"/>
              <a:t>网络架构</a:t>
            </a:r>
            <a:endParaRPr lang="zh-CN" altLang="en-US"/>
          </a:p>
          <a:p>
            <a:r>
              <a:rPr lang="zh-CN" altLang="en-US"/>
              <a:t>边缘</a:t>
            </a:r>
            <a:r>
              <a:rPr lang="en-US" altLang="zh-CN"/>
              <a:t> </a:t>
            </a:r>
            <a:r>
              <a:rPr lang="zh-CN" altLang="en-US"/>
              <a:t>接入</a:t>
            </a:r>
            <a:r>
              <a:rPr lang="en-US" altLang="zh-CN"/>
              <a:t> </a:t>
            </a:r>
            <a:r>
              <a:rPr lang="zh-CN" altLang="en-US"/>
              <a:t>核心</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用于扩展的服务器群</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百万瓦特</a:t>
            </a:r>
            <a:endParaRPr lang="zh-CN" altLang="en-US"/>
          </a:p>
          <a:p>
            <a:r>
              <a:rPr lang="zh-CN" altLang="en-US"/>
              <a:t>https://www.51cto.com/article/550929.html</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举一个过去蓝屏的</a:t>
            </a:r>
            <a:r>
              <a:rPr lang="zh-CN" altLang="en-US"/>
              <a:t>例子</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航空信</a:t>
            </a:r>
            <a:r>
              <a:rPr lang="en-US" altLang="zh-CN"/>
              <a:t> </a:t>
            </a:r>
            <a:r>
              <a:rPr lang="zh-CN" altLang="en-US"/>
              <a:t>挂号信</a:t>
            </a:r>
            <a:r>
              <a:rPr lang="en-US" altLang="zh-CN"/>
              <a:t> </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学校的快递货架</a:t>
            </a:r>
            <a:endParaRPr lang="zh-CN" altLang="en-US"/>
          </a:p>
          <a:p>
            <a:r>
              <a:rPr lang="en-US" altLang="zh-CN"/>
              <a:t>host name: </a:t>
            </a:r>
            <a:r>
              <a:rPr lang="zh-CN" altLang="en-US"/>
              <a:t>小南门</a:t>
            </a:r>
            <a:endParaRPr lang="zh-CN" altLang="en-US"/>
          </a:p>
          <a:p>
            <a:r>
              <a:rPr lang="en-US" altLang="zh-CN"/>
              <a:t>path name: 2</a:t>
            </a:r>
            <a:r>
              <a:rPr lang="zh-CN" altLang="en-US"/>
              <a:t>号货架，第</a:t>
            </a:r>
            <a:r>
              <a:rPr lang="en-US" altLang="zh-CN"/>
              <a:t>3</a:t>
            </a:r>
            <a:r>
              <a:rPr lang="zh-CN" altLang="en-US"/>
              <a:t>层，第</a:t>
            </a:r>
            <a:r>
              <a:rPr lang="en-US" altLang="zh-CN"/>
              <a:t>5</a:t>
            </a:r>
            <a:r>
              <a:rPr lang="zh-CN" altLang="en-US"/>
              <a:t>格</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a:t>
            </a:r>
            <a:r>
              <a:rPr lang="zh-CN" altLang="en-US"/>
              <a:t>听得到吗？</a:t>
            </a:r>
            <a:r>
              <a:rPr lang="en-US" altLang="zh-CN"/>
              <a:t>(</a:t>
            </a:r>
            <a:r>
              <a:rPr lang="zh-CN" altLang="en-US"/>
              <a:t>线路</a:t>
            </a:r>
            <a:r>
              <a:rPr lang="en-US" altLang="zh-CN"/>
              <a:t>)</a:t>
            </a:r>
            <a:endParaRPr lang="zh-CN" altLang="en-US"/>
          </a:p>
          <a:p>
            <a:r>
              <a:rPr lang="en-US" altLang="zh-CN"/>
              <a:t>-</a:t>
            </a:r>
            <a:r>
              <a:rPr lang="zh-CN" altLang="en-US"/>
              <a:t>听得到</a:t>
            </a:r>
            <a:endParaRPr lang="zh-CN" altLang="en-US"/>
          </a:p>
          <a:p>
            <a:r>
              <a:rPr lang="en-US" altLang="zh-CN"/>
              <a:t>-</a:t>
            </a:r>
            <a:r>
              <a:rPr lang="zh-CN" altLang="en-US"/>
              <a:t>我想咨询个问题</a:t>
            </a:r>
            <a:r>
              <a:rPr lang="en-US" altLang="zh-CN"/>
              <a:t>/</a:t>
            </a:r>
            <a:r>
              <a:rPr lang="zh-CN" altLang="en-US"/>
              <a:t>发起个投诉。（业务）</a:t>
            </a:r>
            <a:endParaRPr lang="zh-CN" altLang="en-US"/>
          </a:p>
          <a:p>
            <a:r>
              <a:rPr lang="en-US" altLang="zh-CN"/>
              <a:t>-</a:t>
            </a:r>
            <a:r>
              <a:rPr lang="zh-CN" altLang="en-US"/>
              <a:t>请讲</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HTTP</a:t>
            </a:r>
            <a:r>
              <a:rPr lang="zh-CN" altLang="en-US"/>
              <a:t>版本不断迭代</a:t>
            </a:r>
            <a:endParaRPr lang="zh-CN" altLang="en-US"/>
          </a:p>
          <a:p>
            <a:r>
              <a:rPr lang="en-US" altLang="zh-CN"/>
              <a:t>GET</a:t>
            </a:r>
            <a:r>
              <a:rPr lang="zh-CN" altLang="en-US"/>
              <a:t>和</a:t>
            </a:r>
            <a:r>
              <a:rPr lang="en-US" altLang="zh-CN"/>
              <a:t>POST</a:t>
            </a:r>
            <a:r>
              <a:rPr lang="zh-CN" altLang="en-US"/>
              <a:t>的数据量越来越失衡，</a:t>
            </a:r>
            <a:r>
              <a:rPr lang="en-US" altLang="zh-CN"/>
              <a:t>HTTP</a:t>
            </a:r>
            <a:r>
              <a:rPr lang="zh-CN" altLang="en-US"/>
              <a:t>的</a:t>
            </a:r>
            <a:r>
              <a:rPr lang="en-US" altLang="zh-CN"/>
              <a:t>POST</a:t>
            </a:r>
            <a:r>
              <a:rPr lang="zh-CN" altLang="en-US"/>
              <a:t>需要传视频和音频</a:t>
            </a:r>
            <a:endParaRPr lang="zh-CN" altLang="en-US"/>
          </a:p>
          <a:p>
            <a:r>
              <a:rPr lang="en-US" altLang="zh-CN"/>
              <a:t>HTTP</a:t>
            </a:r>
            <a:r>
              <a:rPr lang="zh-CN" altLang="en-US"/>
              <a:t>的版本迭代也在优化这个问题</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https://worktile.com/kb/ask/1942272.html</a:t>
            </a:r>
            <a:endParaRPr lang="zh-CN" altLang="en-US"/>
          </a:p>
          <a:p>
            <a:r>
              <a:rPr lang="zh-CN" altLang="en-US"/>
              <a:t>爱奇艺的</a:t>
            </a:r>
            <a:r>
              <a:rPr lang="zh-CN" altLang="en-US"/>
              <a:t>服务器</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为什么是</a:t>
            </a:r>
            <a:r>
              <a:rPr lang="en-US" altLang="zh-CN"/>
              <a:t>minutes</a:t>
            </a:r>
            <a:r>
              <a:rPr lang="zh-CN" altLang="en-US"/>
              <a:t>？因为是假设到达率提高到大于</a:t>
            </a:r>
            <a:r>
              <a:rPr lang="en-US" altLang="zh-CN"/>
              <a:t>1</a:t>
            </a:r>
            <a:r>
              <a:rPr lang="zh-CN" altLang="en-US"/>
              <a:t>的情况下，</a:t>
            </a:r>
            <a:r>
              <a:rPr lang="en-US" altLang="zh-CN"/>
              <a:t>Internet delay</a:t>
            </a:r>
            <a:r>
              <a:rPr lang="zh-CN" altLang="en-US"/>
              <a:t>不变，</a:t>
            </a:r>
            <a:r>
              <a:rPr lang="en-US" altLang="zh-CN"/>
              <a:t>LAN delay</a:t>
            </a:r>
            <a:r>
              <a:rPr lang="zh-CN" altLang="en-US"/>
              <a:t>不变，但是</a:t>
            </a:r>
            <a:r>
              <a:rPr lang="en-US" altLang="zh-CN"/>
              <a:t>access delay</a:t>
            </a:r>
            <a:r>
              <a:rPr lang="zh-CN" altLang="en-US"/>
              <a:t>指数级增长</a:t>
            </a:r>
            <a:r>
              <a:rPr lang="en-US" altLang="zh-CN"/>
              <a:t> </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全部时延</a:t>
            </a:r>
            <a:r>
              <a:rPr lang="en-US" altLang="zh-CN"/>
              <a:t>=request</a:t>
            </a:r>
            <a:r>
              <a:rPr lang="zh-CN" altLang="en-US"/>
              <a:t>从</a:t>
            </a:r>
            <a:r>
              <a:rPr lang="en-US" altLang="zh-CN"/>
              <a:t>host</a:t>
            </a:r>
            <a:r>
              <a:rPr lang="zh-CN" altLang="en-US"/>
              <a:t>到</a:t>
            </a:r>
            <a:r>
              <a:rPr lang="en-US" altLang="zh-CN"/>
              <a:t>institutional router</a:t>
            </a:r>
            <a:r>
              <a:rPr lang="zh-CN" altLang="en-US"/>
              <a:t>（</a:t>
            </a:r>
            <a:r>
              <a:rPr lang="en-US" altLang="zh-CN"/>
              <a:t>1/n LAN</a:t>
            </a:r>
            <a:r>
              <a:rPr lang="zh-CN" altLang="en-US"/>
              <a:t>时延）</a:t>
            </a:r>
            <a:r>
              <a:rPr lang="en-US" altLang="zh-CN"/>
              <a:t>+institutional router</a:t>
            </a:r>
            <a:r>
              <a:rPr lang="zh-CN" altLang="en-US"/>
              <a:t>到接入</a:t>
            </a:r>
            <a:r>
              <a:rPr lang="en-US" altLang="zh-CN"/>
              <a:t>router</a:t>
            </a:r>
            <a:r>
              <a:rPr lang="zh-CN" altLang="en-US"/>
              <a:t>（</a:t>
            </a:r>
            <a:r>
              <a:rPr lang="en-US" altLang="zh-CN"/>
              <a:t>1/m access delay</a:t>
            </a:r>
            <a:r>
              <a:rPr lang="zh-CN" altLang="en-US"/>
              <a:t>）</a:t>
            </a:r>
            <a:r>
              <a:rPr lang="en-US" altLang="zh-CN"/>
              <a:t>+</a:t>
            </a:r>
            <a:r>
              <a:rPr lang="zh-CN" altLang="en-US"/>
              <a:t>接入</a:t>
            </a:r>
            <a:r>
              <a:rPr lang="en-US" altLang="zh-CN"/>
              <a:t>router</a:t>
            </a:r>
            <a:r>
              <a:rPr lang="zh-CN" altLang="en-US"/>
              <a:t>到目的</a:t>
            </a:r>
            <a:r>
              <a:rPr lang="en-US" altLang="zh-CN"/>
              <a:t>server</a:t>
            </a:r>
            <a:r>
              <a:rPr lang="zh-CN" altLang="en-US"/>
              <a:t>，数据从目的</a:t>
            </a:r>
            <a:r>
              <a:rPr lang="en-US" altLang="zh-CN"/>
              <a:t>server</a:t>
            </a:r>
            <a:r>
              <a:rPr lang="zh-CN" altLang="en-US"/>
              <a:t>返回到接入路由（</a:t>
            </a:r>
            <a:r>
              <a:rPr lang="en-US" altLang="zh-CN"/>
              <a:t>Internet Delay</a:t>
            </a:r>
            <a:r>
              <a:rPr lang="zh-CN" altLang="en-US"/>
              <a:t>）</a:t>
            </a:r>
            <a:r>
              <a:rPr lang="en-US" altLang="zh-CN"/>
              <a:t>+</a:t>
            </a:r>
            <a:r>
              <a:rPr lang="zh-CN" altLang="en-US"/>
              <a:t>内容从接入路由到</a:t>
            </a:r>
            <a:r>
              <a:rPr lang="en-US" altLang="zh-CN"/>
              <a:t>institutional router</a:t>
            </a:r>
            <a:r>
              <a:rPr lang="zh-CN" altLang="en-US"/>
              <a:t>（</a:t>
            </a:r>
            <a:r>
              <a:rPr lang="en-US" altLang="zh-CN"/>
              <a:t>1-</a:t>
            </a:r>
            <a:r>
              <a:rPr lang="en-US" altLang="zh-CN">
                <a:sym typeface="+mn-ea"/>
              </a:rPr>
              <a:t>1/m access delay</a:t>
            </a:r>
            <a:r>
              <a:rPr lang="zh-CN" altLang="en-US">
                <a:sym typeface="+mn-ea"/>
              </a:rPr>
              <a:t>）</a:t>
            </a:r>
            <a:r>
              <a:rPr lang="en-US" altLang="zh-CN">
                <a:sym typeface="+mn-ea"/>
              </a:rPr>
              <a:t>+ </a:t>
            </a:r>
            <a:r>
              <a:rPr lang="zh-CN" altLang="en-US">
                <a:sym typeface="+mn-ea"/>
              </a:rPr>
              <a:t>数据从从</a:t>
            </a:r>
            <a:r>
              <a:rPr lang="en-US" altLang="zh-CN">
                <a:sym typeface="+mn-ea"/>
              </a:rPr>
              <a:t>institutional router</a:t>
            </a:r>
            <a:r>
              <a:rPr lang="zh-CN" altLang="en-US">
                <a:sym typeface="+mn-ea"/>
              </a:rPr>
              <a:t>到</a:t>
            </a:r>
            <a:r>
              <a:rPr lang="en-US" altLang="zh-CN">
                <a:sym typeface="+mn-ea"/>
              </a:rPr>
              <a:t>host</a:t>
            </a:r>
            <a:r>
              <a:rPr lang="zh-CN" altLang="en-US">
                <a:sym typeface="+mn-ea"/>
              </a:rPr>
              <a:t>（</a:t>
            </a:r>
            <a:r>
              <a:rPr lang="en-US" altLang="zh-CN">
                <a:sym typeface="+mn-ea"/>
              </a:rPr>
              <a:t>1-1/n LAN</a:t>
            </a:r>
            <a:r>
              <a:rPr lang="zh-CN" altLang="en-US">
                <a:sym typeface="+mn-ea"/>
              </a:rPr>
              <a:t>时延）</a:t>
            </a:r>
            <a:endParaRPr lang="zh-CN" altLang="en-US">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2.01=2s</a:t>
            </a:r>
            <a:r>
              <a:rPr lang="zh-CN" altLang="en-US"/>
              <a:t>（</a:t>
            </a:r>
            <a:r>
              <a:rPr lang="en-US" altLang="zh-CN"/>
              <a:t>Internet Delay)+0.01s</a:t>
            </a:r>
            <a:r>
              <a:rPr lang="zh-CN" altLang="en-US"/>
              <a:t>（</a:t>
            </a:r>
            <a:r>
              <a:rPr lang="en-US" altLang="zh-CN"/>
              <a:t>Access Delay</a:t>
            </a:r>
            <a:r>
              <a:rPr lang="zh-CN" altLang="en-US"/>
              <a:t>），占到</a:t>
            </a:r>
            <a:r>
              <a:rPr lang="en-US" altLang="zh-CN"/>
              <a:t>60%</a:t>
            </a:r>
            <a:endParaRPr lang="zh-CN" altLang="en-US"/>
          </a:p>
          <a:p>
            <a:r>
              <a:rPr lang="en-US" altLang="zh-CN"/>
              <a:t>LAN delay</a:t>
            </a:r>
            <a:r>
              <a:rPr lang="zh-CN" altLang="en-US"/>
              <a:t>是毫秒级的，占到</a:t>
            </a:r>
            <a:r>
              <a:rPr lang="en-US" altLang="zh-CN"/>
              <a:t>40%</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像</a:t>
            </a:r>
            <a:r>
              <a:rPr lang="zh-CN" altLang="en-US"/>
              <a:t>图书馆</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端口号</a:t>
            </a:r>
            <a:r>
              <a:rPr lang="en-US" altLang="zh-CN"/>
              <a:t>Port</a:t>
            </a:r>
            <a:r>
              <a:rPr lang="zh-CN" altLang="en-US"/>
              <a:t>和进程</a:t>
            </a:r>
            <a:r>
              <a:rPr lang="en-US" altLang="zh-CN"/>
              <a:t>Process</a:t>
            </a:r>
            <a:r>
              <a:rPr lang="zh-CN" altLang="en-US"/>
              <a:t>，类似于食堂打饭，端口号是窗口好，进程是食堂工作人员。</a:t>
            </a:r>
            <a:r>
              <a:rPr lang="en-US" altLang="zh-CN"/>
              <a:t>Control</a:t>
            </a:r>
            <a:r>
              <a:rPr lang="zh-CN" altLang="en-US"/>
              <a:t>是下单，</a:t>
            </a:r>
            <a:r>
              <a:rPr lang="en-US" altLang="zh-CN"/>
              <a:t>Data</a:t>
            </a:r>
            <a:r>
              <a:rPr lang="zh-CN" altLang="en-US"/>
              <a:t>是</a:t>
            </a:r>
            <a:r>
              <a:rPr lang="zh-CN" altLang="en-US"/>
              <a:t>取餐</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注意有的是</a:t>
            </a:r>
            <a:r>
              <a:rPr lang="en-US" altLang="zh-CN"/>
              <a:t>Received by</a:t>
            </a:r>
            <a:r>
              <a:rPr lang="zh-CN" altLang="en-US"/>
              <a:t>，有的是</a:t>
            </a:r>
            <a:r>
              <a:rPr lang="en-US" altLang="zh-CN"/>
              <a:t>Received from </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中心化的</a:t>
            </a:r>
            <a:r>
              <a:rPr lang="en-US" altLang="zh-CN"/>
              <a:t>DNS</a:t>
            </a:r>
            <a:r>
              <a:rPr lang="zh-CN" altLang="en-US"/>
              <a:t>没法扩容</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apporx </a:t>
            </a:r>
            <a:r>
              <a:rPr lang="zh-CN" altLang="en-US"/>
              <a:t>举例</a:t>
            </a:r>
            <a:r>
              <a:rPr lang="en-US" altLang="zh-CN"/>
              <a:t> </a:t>
            </a:r>
            <a:r>
              <a:rPr lang="zh-CN" altLang="en-US"/>
              <a:t>类似与</a:t>
            </a:r>
            <a:r>
              <a:rPr lang="en-US" altLang="zh-CN"/>
              <a:t>12345 </a:t>
            </a:r>
            <a:r>
              <a:rPr lang="zh-CN" altLang="en-US"/>
              <a:t>市长热线</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实际上，DNS 根服务器的数量远不止13个。13个字母只是一个符号性的表示方式，用于方便标识这些根服务器的名称。每个字母代表一个名为“根区域”的逻辑区域，而每个根区域都由多个实际的根服务器组成，以提供冗余和高可用性。</a:t>
            </a:r>
            <a:endParaRPr lang="zh-CN" altLang="en-US"/>
          </a:p>
          <a:p>
            <a:endParaRPr lang="zh-CN" altLang="en-US"/>
          </a:p>
          <a:p>
            <a:r>
              <a:rPr lang="zh-CN" altLang="en-US"/>
              <a:t>每个根区域都有多个根服务器，它们被称为“根服务器实例”或“根服务器镜像”。这些实例分布在全球各地的多个地理位置和数据中心，由不同的组织和运营商负责。这样做是为了确保 DNS 服务的稳定性、可靠性和快速响应。</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Root, TLD, Auth.</a:t>
            </a:r>
            <a:endParaRPr lang="en-US" altLang="zh-CN"/>
          </a:p>
          <a:p>
            <a:r>
              <a:rPr lang="zh-CN" altLang="en-US"/>
              <a:t>三层，每层有自己的工作</a:t>
            </a:r>
            <a:endParaRPr lang="zh-CN" altLang="en-US"/>
          </a:p>
          <a:p>
            <a:r>
              <a:rPr lang="en-US" altLang="zh-CN"/>
              <a:t>Root </a:t>
            </a:r>
            <a:r>
              <a:rPr lang="zh-CN" altLang="en-US"/>
              <a:t>储存了不同的</a:t>
            </a:r>
            <a:r>
              <a:rPr lang="en-US" altLang="zh-CN"/>
              <a:t>TLD</a:t>
            </a:r>
            <a:r>
              <a:rPr lang="zh-CN" altLang="en-US"/>
              <a:t>（比如</a:t>
            </a:r>
            <a:r>
              <a:rPr lang="en-US" altLang="zh-CN"/>
              <a:t> </a:t>
            </a:r>
            <a:r>
              <a:rPr lang="zh-CN" altLang="en-US"/>
              <a:t>行业</a:t>
            </a:r>
            <a:r>
              <a:rPr lang="en-US" altLang="zh-CN"/>
              <a:t>.com </a:t>
            </a:r>
            <a:r>
              <a:rPr lang="zh-CN" altLang="en-US"/>
              <a:t>和</a:t>
            </a:r>
            <a:r>
              <a:rPr lang="en-US" altLang="zh-CN"/>
              <a:t> </a:t>
            </a:r>
            <a:r>
              <a:rPr lang="zh-CN" altLang="en-US"/>
              <a:t>国家）</a:t>
            </a:r>
            <a:endParaRPr lang="zh-CN" altLang="en-US"/>
          </a:p>
          <a:p>
            <a:r>
              <a:rPr lang="en-US" altLang="zh-CN"/>
              <a:t>TLD</a:t>
            </a:r>
            <a:r>
              <a:rPr lang="zh-CN" altLang="en-US"/>
              <a:t>储存了不同的</a:t>
            </a:r>
            <a:r>
              <a:rPr lang="en-US" altLang="zh-CN"/>
              <a:t>Auth</a:t>
            </a:r>
            <a:r>
              <a:rPr lang="zh-CN" altLang="en-US"/>
              <a:t>（不同组织，比如说</a:t>
            </a:r>
            <a:r>
              <a:rPr lang="en-US" altLang="zh-CN"/>
              <a:t>baidu.com)</a:t>
            </a:r>
            <a:endParaRPr lang="en-US" altLang="zh-CN"/>
          </a:p>
          <a:p>
            <a:r>
              <a:rPr lang="en-US" altLang="zh-CN"/>
              <a:t>Auth</a:t>
            </a:r>
            <a:r>
              <a:rPr lang="zh-CN" altLang="en-US"/>
              <a:t>储存了</a:t>
            </a:r>
            <a:r>
              <a:rPr lang="en-US" altLang="zh-CN"/>
              <a:t>baidu.com</a:t>
            </a:r>
            <a:r>
              <a:rPr lang="zh-CN" altLang="en-US"/>
              <a:t>的</a:t>
            </a:r>
            <a:r>
              <a:rPr lang="en-US" altLang="zh-CN"/>
              <a:t>IP</a:t>
            </a:r>
            <a:r>
              <a:rPr lang="zh-CN" altLang="en-US"/>
              <a:t>地址</a:t>
            </a:r>
            <a:r>
              <a:rPr lang="en-US" altLang="zh-CN"/>
              <a:t> </a:t>
            </a:r>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循环，雷锋问路（把困难留给自己），常用</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递归，找雷锋问路（雷锋把困难留给自己），不常用</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因为</a:t>
            </a:r>
            <a:r>
              <a:rPr lang="en-US" altLang="zh-CN"/>
              <a:t>N</a:t>
            </a:r>
            <a:r>
              <a:rPr lang="zh-CN" altLang="en-US"/>
              <a:t>个</a:t>
            </a:r>
            <a:r>
              <a:rPr lang="en-US" altLang="zh-CN"/>
              <a:t>Peers</a:t>
            </a:r>
            <a:r>
              <a:rPr lang="zh-CN" altLang="en-US"/>
              <a:t>（除了服务器）都要下载</a:t>
            </a:r>
            <a:r>
              <a:rPr lang="en-US" altLang="zh-CN"/>
              <a:t>Fbits</a:t>
            </a:r>
            <a:r>
              <a:rPr lang="zh-CN" altLang="en-US"/>
              <a:t>，所以一共要下载</a:t>
            </a:r>
            <a:r>
              <a:rPr lang="en-US" altLang="zh-CN"/>
              <a:t>NFbits</a:t>
            </a:r>
            <a:r>
              <a:rPr lang="zh-CN" altLang="en-US"/>
              <a:t>，因此就要求所有客户端（包括</a:t>
            </a:r>
            <a:r>
              <a:rPr lang="zh-CN" altLang="en-US"/>
              <a:t>服务器）必须上传</a:t>
            </a:r>
            <a:r>
              <a:rPr lang="en-US" altLang="zh-CN"/>
              <a:t>NFbits</a:t>
            </a:r>
            <a:r>
              <a:rPr lang="zh-CN" altLang="en-US"/>
              <a:t>，上传</a:t>
            </a:r>
            <a:r>
              <a:rPr lang="en-US" altLang="zh-CN"/>
              <a:t>NFbits</a:t>
            </a:r>
            <a:r>
              <a:rPr lang="zh-CN" altLang="en-US"/>
              <a:t>最快需要多少时间呢？是</a:t>
            </a:r>
            <a:r>
              <a:rPr lang="en-US" altLang="zh-CN"/>
              <a:t>NF/</a:t>
            </a:r>
            <a:r>
              <a:rPr lang="en-US">
                <a:sym typeface="+mn-ea"/>
              </a:rPr>
              <a:t>(u</a:t>
            </a:r>
            <a:r>
              <a:rPr lang="en-US" baseline="-25000">
                <a:sym typeface="+mn-ea"/>
              </a:rPr>
              <a:t>s</a:t>
            </a:r>
            <a:r>
              <a:rPr lang="en-US">
                <a:sym typeface="+mn-ea"/>
              </a:rPr>
              <a:t> + </a:t>
            </a:r>
            <a:r>
              <a:rPr lang="en-US">
                <a:latin typeface="Symbol" panose="05050102010706020507" pitchFamily="18" charset="2"/>
                <a:sym typeface="+mn-ea"/>
              </a:rPr>
              <a:t>S</a:t>
            </a:r>
            <a:r>
              <a:rPr lang="en-US">
                <a:sym typeface="+mn-ea"/>
              </a:rPr>
              <a:t>u</a:t>
            </a:r>
            <a:r>
              <a:rPr lang="en-US" baseline="-25000">
                <a:sym typeface="+mn-ea"/>
              </a:rPr>
              <a:t>i</a:t>
            </a:r>
            <a:r>
              <a:rPr lang="en-US">
                <a:sym typeface="+mn-ea"/>
              </a:rPr>
              <a:t>)</a:t>
            </a:r>
            <a:r>
              <a:rPr lang="zh-CN" altLang="en-US">
                <a:sym typeface="+mn-ea"/>
              </a:rPr>
              <a:t>，是因为所有链路同时参与上传时是最快的。</a:t>
            </a:r>
            <a:endParaRPr lang="zh-CN" altLang="en-US">
              <a:sym typeface="+mn-ea"/>
            </a:endParaRPr>
          </a:p>
          <a:p>
            <a:r>
              <a:rPr lang="zh-CN" altLang="en-US">
                <a:sym typeface="+mn-ea"/>
              </a:rPr>
              <a:t>最后的时间，是三个最小时间取了最大值。为什么？因为如果取最小值，所有文件没有完成上传</a:t>
            </a:r>
            <a:r>
              <a:rPr lang="en-US" altLang="zh-CN">
                <a:sym typeface="+mn-ea"/>
              </a:rPr>
              <a:t>/</a:t>
            </a:r>
            <a:r>
              <a:rPr lang="zh-CN" altLang="en-US">
                <a:sym typeface="+mn-ea"/>
              </a:rPr>
              <a:t>下载，等于说最后的任务没完成，就结束计时了。</a:t>
            </a:r>
            <a:endParaRPr lang="zh-CN" altLang="en-US">
              <a:sym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a:t>
            </a:r>
            <a:r>
              <a:rPr lang="zh-CN" altLang="en-US"/>
              <a:t>在增加</a:t>
            </a:r>
            <a:r>
              <a:rPr lang="en-US" altLang="zh-CN"/>
              <a:t> Sigma(u_i)</a:t>
            </a:r>
            <a:r>
              <a:rPr lang="zh-CN" altLang="en-US"/>
              <a:t>也在增加，因为连加是从</a:t>
            </a:r>
            <a:r>
              <a:rPr lang="en-US" altLang="zh-CN"/>
              <a:t>1</a:t>
            </a:r>
            <a:r>
              <a:rPr lang="zh-CN" altLang="en-US"/>
              <a:t>加到</a:t>
            </a:r>
            <a:r>
              <a:rPr lang="en-US" altLang="zh-CN"/>
              <a:t>N</a:t>
            </a:r>
            <a:r>
              <a:rPr lang="zh-CN" altLang="en-US"/>
              <a:t>，所以不是线性</a:t>
            </a:r>
            <a:r>
              <a:rPr lang="zh-CN" altLang="en-US"/>
              <a:t>的</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overlay </a:t>
            </a:r>
            <a:r>
              <a:rPr lang="zh-CN" altLang="en-US"/>
              <a:t>覆盖</a:t>
            </a:r>
            <a:r>
              <a:rPr lang="en-US" altLang="zh-CN"/>
              <a:t> supernode </a:t>
            </a:r>
            <a:r>
              <a:rPr lang="zh-CN" altLang="en-US"/>
              <a:t>盖住</a:t>
            </a:r>
            <a:r>
              <a:rPr lang="en-US" altLang="zh-CN"/>
              <a:t> clients </a:t>
            </a:r>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relay </a:t>
            </a:r>
            <a:r>
              <a:rPr lang="zh-CN" altLang="en-US"/>
              <a:t>中继</a:t>
            </a:r>
            <a:endParaRPr lang="zh-CN" altLang="en-US"/>
          </a:p>
          <a:p>
            <a:r>
              <a:rPr lang="en-US" altLang="zh-CN"/>
              <a:t>SN </a:t>
            </a:r>
            <a:r>
              <a:rPr lang="zh-CN" altLang="en-US"/>
              <a:t>超级节点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6" name="Rectangle 6"/>
          <p:cNvSpPr>
            <a:spLocks noGrp="1" noChangeArrowheads="1"/>
          </p:cNvSpPr>
          <p:nvPr>
            <p:ph type="sldNum" sz="quarter" idx="12"/>
          </p:nvPr>
        </p:nvSpPr>
        <p:spPr/>
        <p:txBody>
          <a:bodyPr/>
          <a:lstStyle>
            <a:lvl1pPr>
              <a:defRPr/>
            </a:lvl1pPr>
          </a:lstStyle>
          <a:p>
            <a:pPr>
              <a:defRPr/>
            </a:pPr>
            <a:fld id="{EAF54901-B406-4AA3-B538-237915C1F06F}"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6" name="Rectangle 6"/>
          <p:cNvSpPr>
            <a:spLocks noGrp="1" noChangeArrowheads="1"/>
          </p:cNvSpPr>
          <p:nvPr>
            <p:ph type="sldNum" sz="quarter" idx="12"/>
          </p:nvPr>
        </p:nvSpPr>
        <p:spPr/>
        <p:txBody>
          <a:bodyPr/>
          <a:lstStyle>
            <a:lvl1pPr>
              <a:defRPr/>
            </a:lvl1pPr>
          </a:lstStyle>
          <a:p>
            <a:pPr>
              <a:defRPr/>
            </a:pPr>
            <a:fld id="{F0763449-6262-4D75-9142-AE9983774729}"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6" name="Rectangle 6"/>
          <p:cNvSpPr>
            <a:spLocks noGrp="1" noChangeArrowheads="1"/>
          </p:cNvSpPr>
          <p:nvPr>
            <p:ph type="sldNum" sz="quarter" idx="12"/>
          </p:nvPr>
        </p:nvSpPr>
        <p:spPr/>
        <p:txBody>
          <a:bodyPr/>
          <a:lstStyle>
            <a:lvl1pPr>
              <a:defRPr/>
            </a:lvl1pPr>
          </a:lstStyle>
          <a:p>
            <a:pPr>
              <a:defRPr/>
            </a:pPr>
            <a:fld id="{7B293090-BB1E-4577-B28E-509600688BA2}"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7" name="Rectangle 6"/>
          <p:cNvSpPr>
            <a:spLocks noGrp="1" noChangeArrowheads="1"/>
          </p:cNvSpPr>
          <p:nvPr>
            <p:ph type="sldNum" sz="quarter" idx="12"/>
          </p:nvPr>
        </p:nvSpPr>
        <p:spPr/>
        <p:txBody>
          <a:bodyPr/>
          <a:lstStyle>
            <a:lvl1pPr>
              <a:defRPr/>
            </a:lvl1pPr>
          </a:lstStyle>
          <a:p>
            <a:pPr>
              <a:defRPr/>
            </a:pPr>
            <a:fld id="{760F9CF3-966A-41EF-A656-E483F0936DE1}"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9" name="Rectangle 6"/>
          <p:cNvSpPr>
            <a:spLocks noGrp="1" noChangeArrowheads="1"/>
          </p:cNvSpPr>
          <p:nvPr>
            <p:ph type="sldNum" sz="quarter" idx="12"/>
          </p:nvPr>
        </p:nvSpPr>
        <p:spPr/>
        <p:txBody>
          <a:bodyPr/>
          <a:lstStyle>
            <a:lvl1pPr>
              <a:defRPr/>
            </a:lvl1pPr>
          </a:lstStyle>
          <a:p>
            <a:pPr>
              <a:defRPr/>
            </a:pPr>
            <a:fld id="{4C47378C-9877-434F-AF83-2F75727D3202}"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5" name="Rectangle 6"/>
          <p:cNvSpPr>
            <a:spLocks noGrp="1" noChangeArrowheads="1"/>
          </p:cNvSpPr>
          <p:nvPr>
            <p:ph type="sldNum" sz="quarter" idx="12"/>
          </p:nvPr>
        </p:nvSpPr>
        <p:spPr/>
        <p:txBody>
          <a:bodyPr/>
          <a:lstStyle>
            <a:lvl1pPr>
              <a:defRPr/>
            </a:lvl1pPr>
          </a:lstStyle>
          <a:p>
            <a:pPr>
              <a:defRPr/>
            </a:pPr>
            <a:fld id="{C28A9413-D3A1-4AF3-8DD7-3635D5070192}"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4" name="Rectangle 6"/>
          <p:cNvSpPr>
            <a:spLocks noGrp="1" noChangeArrowheads="1"/>
          </p:cNvSpPr>
          <p:nvPr>
            <p:ph type="sldNum" sz="quarter" idx="12"/>
          </p:nvPr>
        </p:nvSpPr>
        <p:spPr/>
        <p:txBody>
          <a:bodyPr/>
          <a:lstStyle>
            <a:lvl1pPr>
              <a:defRPr/>
            </a:lvl1pPr>
          </a:lstStyle>
          <a:p>
            <a:pPr>
              <a:defRPr/>
            </a:pPr>
            <a:fld id="{9659EBD7-DAE3-4AA8-9DEE-CD979B7FF0E0}"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7" name="Rectangle 6"/>
          <p:cNvSpPr>
            <a:spLocks noGrp="1" noChangeArrowheads="1"/>
          </p:cNvSpPr>
          <p:nvPr>
            <p:ph type="sldNum" sz="quarter" idx="12"/>
          </p:nvPr>
        </p:nvSpPr>
        <p:spPr/>
        <p:txBody>
          <a:bodyPr/>
          <a:lstStyle>
            <a:lvl1pPr>
              <a:defRPr/>
            </a:lvl1pPr>
          </a:lstStyle>
          <a:p>
            <a:pPr>
              <a:defRPr/>
            </a:pPr>
            <a:fld id="{B2644DFA-EF20-4A7B-8F0D-80A5E1B5C996}"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7" name="Rectangle 6"/>
          <p:cNvSpPr>
            <a:spLocks noGrp="1" noChangeArrowheads="1"/>
          </p:cNvSpPr>
          <p:nvPr>
            <p:ph type="sldNum" sz="quarter" idx="12"/>
          </p:nvPr>
        </p:nvSpPr>
        <p:spPr/>
        <p:txBody>
          <a:bodyPr/>
          <a:lstStyle>
            <a:lvl1pPr>
              <a:defRPr/>
            </a:lvl1pPr>
          </a:lstStyle>
          <a:p>
            <a:pPr>
              <a:defRPr/>
            </a:pPr>
            <a:fld id="{B0792392-1354-462F-8376-9156B0CBC9DF}"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6" name="Rectangle 6"/>
          <p:cNvSpPr>
            <a:spLocks noGrp="1" noChangeArrowheads="1"/>
          </p:cNvSpPr>
          <p:nvPr>
            <p:ph type="sldNum" sz="quarter" idx="12"/>
          </p:nvPr>
        </p:nvSpPr>
        <p:spPr/>
        <p:txBody>
          <a:bodyPr/>
          <a:lstStyle>
            <a:lvl1pPr>
              <a:defRPr/>
            </a:lvl1pPr>
          </a:lstStyle>
          <a:p>
            <a:pPr>
              <a:defRPr/>
            </a:pPr>
            <a:fld id="{9C7D7121-FB54-4564-9210-48C47F905766}"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6" name="Rectangle 6"/>
          <p:cNvSpPr>
            <a:spLocks noGrp="1" noChangeArrowheads="1"/>
          </p:cNvSpPr>
          <p:nvPr>
            <p:ph type="sldNum" sz="quarter" idx="12"/>
          </p:nvPr>
        </p:nvSpPr>
        <p:spPr/>
        <p:txBody>
          <a:bodyPr/>
          <a:lstStyle>
            <a:lvl1pPr>
              <a:defRPr/>
            </a:lvl1pPr>
          </a:lstStyle>
          <a:p>
            <a:pPr>
              <a:defRPr/>
            </a:pPr>
            <a:fld id="{EA490748-6096-4572-A6E4-54E1B2F4A095}"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endParaRPr lang="en-US"/>
          </a:p>
        </p:txBody>
      </p:sp>
      <p:sp>
        <p:nvSpPr>
          <p:cNvPr id="3" name="Content Placeholder 2"/>
          <p:cNvSpPr>
            <a:spLocks noGrp="1"/>
          </p:cNvSpPr>
          <p:nvPr>
            <p:ph sz="half" idx="1"/>
          </p:nvPr>
        </p:nvSpPr>
        <p:spPr>
          <a:xfrm>
            <a:off x="533400" y="1600200"/>
            <a:ext cx="3810000" cy="464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495800" y="1600200"/>
            <a:ext cx="3810000" cy="464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7" name="Rectangle 6"/>
          <p:cNvSpPr>
            <a:spLocks noGrp="1" noChangeArrowheads="1"/>
          </p:cNvSpPr>
          <p:nvPr>
            <p:ph type="sldNum" sz="quarter" idx="12"/>
          </p:nvPr>
        </p:nvSpPr>
        <p:spPr/>
        <p:txBody>
          <a:bodyPr/>
          <a:lstStyle>
            <a:lvl1pPr>
              <a:defRPr/>
            </a:lvl1pPr>
          </a:lstStyle>
          <a:p>
            <a:pPr>
              <a:defRPr/>
            </a:pPr>
            <a:fld id="{6CD00913-8217-4B62-A994-DB2BCBEE3366}"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7" name="Rectangle 6"/>
          <p:cNvSpPr>
            <a:spLocks noGrp="1" noChangeArrowheads="1"/>
          </p:cNvSpPr>
          <p:nvPr>
            <p:ph type="sldNum" sz="quarter" idx="12"/>
          </p:nvPr>
        </p:nvSpPr>
        <p:spPr/>
        <p:txBody>
          <a:bodyPr/>
          <a:lstStyle>
            <a:lvl1pPr>
              <a:defRPr/>
            </a:lvl1pPr>
          </a:lstStyle>
          <a:p>
            <a:pPr>
              <a:defRPr/>
            </a:pPr>
            <a:fld id="{BC4D7452-0FE9-4C41-9A2A-A7A4F72BBDC2}"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hart Placeholder 3"/>
          <p:cNvSpPr>
            <a:spLocks noGrp="1"/>
          </p:cNvSpPr>
          <p:nvPr>
            <p:ph type="chart" sz="half" idx="2"/>
          </p:nvPr>
        </p:nvSpPr>
        <p:spPr>
          <a:xfrm>
            <a:off x="4495800" y="1600200"/>
            <a:ext cx="3810000" cy="4648200"/>
          </a:xfrm>
        </p:spPr>
        <p:txBody>
          <a:bodyPr/>
          <a:lstStyle/>
          <a:p>
            <a:pPr lvl="0"/>
            <a:endParaRPr lang="en-US" noProof="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7" name="Rectangle 6"/>
          <p:cNvSpPr>
            <a:spLocks noGrp="1" noChangeArrowheads="1"/>
          </p:cNvSpPr>
          <p:nvPr>
            <p:ph type="sldNum" sz="quarter" idx="12"/>
          </p:nvPr>
        </p:nvSpPr>
        <p:spPr/>
        <p:txBody>
          <a:bodyPr/>
          <a:lstStyle>
            <a:lvl1pPr>
              <a:defRPr/>
            </a:lvl1pPr>
          </a:lstStyle>
          <a:p>
            <a:pPr>
              <a:defRPr/>
            </a:pPr>
            <a:fld id="{7E310BEC-508C-4368-B86E-4B2E31C212AA}"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endParaRPr lang="en-US"/>
          </a:p>
        </p:txBody>
      </p:sp>
      <p:sp>
        <p:nvSpPr>
          <p:cNvPr id="3" name="Content Placeholder 2"/>
          <p:cNvSpPr>
            <a:spLocks noGrp="1"/>
          </p:cNvSpPr>
          <p:nvPr>
            <p:ph sz="half" idx="1"/>
          </p:nvPr>
        </p:nvSpPr>
        <p:spPr>
          <a:xfrm>
            <a:off x="533400" y="1600200"/>
            <a:ext cx="7772400" cy="22479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533400" y="4000500"/>
            <a:ext cx="7772400" cy="22479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r>
              <a:rPr lang="en-US"/>
              <a:t>2: Application Layer</a:t>
            </a:r>
            <a:endParaRPr lang="en-US">
              <a:latin typeface="Times New Roman" panose="02020603050405020304" pitchFamily="18" charset="0"/>
            </a:endParaRPr>
          </a:p>
        </p:txBody>
      </p:sp>
      <p:sp>
        <p:nvSpPr>
          <p:cNvPr id="7" name="Rectangle 6"/>
          <p:cNvSpPr>
            <a:spLocks noGrp="1" noChangeArrowheads="1"/>
          </p:cNvSpPr>
          <p:nvPr>
            <p:ph type="sldNum" sz="quarter" idx="12"/>
          </p:nvPr>
        </p:nvSpPr>
        <p:spPr/>
        <p:txBody>
          <a:bodyPr/>
          <a:lstStyle>
            <a:lvl1pPr>
              <a:defRPr/>
            </a:lvl1pPr>
          </a:lstStyle>
          <a:p>
            <a:pPr>
              <a:defRPr/>
            </a:pPr>
            <a:fld id="{5BAD1B45-7B26-434E-8F8E-AE17B70DE539}"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bwMode="auto">
          <a:xfrm>
            <a:off x="533400" y="228600"/>
            <a:ext cx="77724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32771" name="Rectangle 3"/>
          <p:cNvSpPr>
            <a:spLocks noGrp="1" noChangeArrowheads="1"/>
          </p:cNvSpPr>
          <p:nvPr>
            <p:ph type="body" idx="1"/>
          </p:nvPr>
        </p:nvSpPr>
        <p:spPr bwMode="auto">
          <a:xfrm>
            <a:off x="533400" y="1600200"/>
            <a:ext cx="7772400" cy="4648200"/>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buClrTx/>
              <a:buSzTx/>
              <a:buFontTx/>
              <a:buNone/>
              <a:defRPr sz="1400" smtClean="0">
                <a:latin typeface="Times New Roman" panose="02020603050405020304" pitchFamily="18" charset="0"/>
              </a:defRPr>
            </a:lvl1pPr>
          </a:lstStyle>
          <a:p>
            <a:pPr>
              <a:defRPr/>
            </a:pPr>
            <a:endParaRPr lang="en-US"/>
          </a:p>
        </p:txBody>
      </p:sp>
      <p:sp>
        <p:nvSpPr>
          <p:cNvPr id="1029" name="Rectangle 5"/>
          <p:cNvSpPr>
            <a:spLocks noGrp="1" noChangeArrowheads="1"/>
          </p:cNvSpPr>
          <p:nvPr>
            <p:ph type="ftr" sz="quarter" idx="3"/>
          </p:nvPr>
        </p:nvSpPr>
        <p:spPr bwMode="auto">
          <a:xfrm>
            <a:off x="5410200" y="6400800"/>
            <a:ext cx="28956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SzTx/>
              <a:buFontTx/>
              <a:buNone/>
              <a:defRPr sz="1400" smtClean="0"/>
            </a:lvl1pPr>
          </a:lstStyle>
          <a:p>
            <a:pPr>
              <a:defRPr/>
            </a:pPr>
            <a:r>
              <a:rPr lang="en-US"/>
              <a:t>2: Application Layer</a:t>
            </a:r>
            <a:endParaRPr lang="en-US">
              <a:latin typeface="Times New Roman" panose="02020603050405020304" pitchFamily="18" charset="0"/>
            </a:endParaRPr>
          </a:p>
        </p:txBody>
      </p:sp>
      <p:sp>
        <p:nvSpPr>
          <p:cNvPr id="1030" name="Rectangle 6"/>
          <p:cNvSpPr>
            <a:spLocks noGrp="1" noChangeArrowheads="1"/>
          </p:cNvSpPr>
          <p:nvPr>
            <p:ph type="sldNum" sz="quarter" idx="4"/>
          </p:nvPr>
        </p:nvSpPr>
        <p:spPr bwMode="auto">
          <a:xfrm>
            <a:off x="8305800" y="6400800"/>
            <a:ext cx="4572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SzTx/>
              <a:buFontTx/>
              <a:buNone/>
              <a:defRPr sz="1400" smtClean="0">
                <a:latin typeface="Times New Roman" panose="02020603050405020304" pitchFamily="18" charset="0"/>
              </a:defRPr>
            </a:lvl1pPr>
          </a:lstStyle>
          <a:p>
            <a:pPr>
              <a:defRPr/>
            </a:pPr>
            <a:fld id="{9014693C-4FC6-4D93-88FC-53A708D1323F}"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dt="0"/>
  <p:txStyles>
    <p:titleStyle>
      <a:lvl1pPr algn="l" rtl="0" eaLnBrk="0" fontAlgn="base" hangingPunct="0">
        <a:spcBef>
          <a:spcPct val="0"/>
        </a:spcBef>
        <a:spcAft>
          <a:spcPct val="0"/>
        </a:spcAft>
        <a:defRPr sz="4000" u="sng">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anose="030F0702030302020204" pitchFamily="66" charset="0"/>
        </a:defRPr>
      </a:lvl2pPr>
      <a:lvl3pPr algn="l" rtl="0" eaLnBrk="0" fontAlgn="base" hangingPunct="0">
        <a:spcBef>
          <a:spcPct val="0"/>
        </a:spcBef>
        <a:spcAft>
          <a:spcPct val="0"/>
        </a:spcAft>
        <a:defRPr sz="4000" u="sng">
          <a:solidFill>
            <a:schemeClr val="accent2"/>
          </a:solidFill>
          <a:latin typeface="Comic Sans MS" panose="030F0702030302020204" pitchFamily="66" charset="0"/>
        </a:defRPr>
      </a:lvl3pPr>
      <a:lvl4pPr algn="l" rtl="0" eaLnBrk="0" fontAlgn="base" hangingPunct="0">
        <a:spcBef>
          <a:spcPct val="0"/>
        </a:spcBef>
        <a:spcAft>
          <a:spcPct val="0"/>
        </a:spcAft>
        <a:defRPr sz="4000" u="sng">
          <a:solidFill>
            <a:schemeClr val="accent2"/>
          </a:solidFill>
          <a:latin typeface="Comic Sans MS" panose="030F0702030302020204" pitchFamily="66" charset="0"/>
        </a:defRPr>
      </a:lvl4pPr>
      <a:lvl5pPr algn="l" rtl="0" eaLnBrk="0" fontAlgn="base" hangingPunct="0">
        <a:spcBef>
          <a:spcPct val="0"/>
        </a:spcBef>
        <a:spcAft>
          <a:spcPct val="0"/>
        </a:spcAft>
        <a:defRPr sz="4000" u="sng">
          <a:solidFill>
            <a:schemeClr val="accent2"/>
          </a:solidFill>
          <a:latin typeface="Comic Sans MS" panose="030F0702030302020204" pitchFamily="66" charset="0"/>
        </a:defRPr>
      </a:lvl5pPr>
      <a:lvl6pPr marL="457200" algn="l" rtl="0" eaLnBrk="0" fontAlgn="base" hangingPunct="0">
        <a:spcBef>
          <a:spcPct val="0"/>
        </a:spcBef>
        <a:spcAft>
          <a:spcPct val="0"/>
        </a:spcAft>
        <a:defRPr sz="4000" u="sng">
          <a:solidFill>
            <a:schemeClr val="accent2"/>
          </a:solidFill>
          <a:latin typeface="Comic Sans MS" panose="030F0702030302020204" pitchFamily="66" charset="0"/>
        </a:defRPr>
      </a:lvl6pPr>
      <a:lvl7pPr marL="914400" algn="l" rtl="0" eaLnBrk="0" fontAlgn="base" hangingPunct="0">
        <a:spcBef>
          <a:spcPct val="0"/>
        </a:spcBef>
        <a:spcAft>
          <a:spcPct val="0"/>
        </a:spcAft>
        <a:defRPr sz="4000" u="sng">
          <a:solidFill>
            <a:schemeClr val="accent2"/>
          </a:solidFill>
          <a:latin typeface="Comic Sans MS" panose="030F0702030302020204" pitchFamily="66" charset="0"/>
        </a:defRPr>
      </a:lvl7pPr>
      <a:lvl8pPr marL="1371600" algn="l" rtl="0" eaLnBrk="0" fontAlgn="base" hangingPunct="0">
        <a:spcBef>
          <a:spcPct val="0"/>
        </a:spcBef>
        <a:spcAft>
          <a:spcPct val="0"/>
        </a:spcAft>
        <a:defRPr sz="4000" u="sng">
          <a:solidFill>
            <a:schemeClr val="accent2"/>
          </a:solidFill>
          <a:latin typeface="Comic Sans MS" panose="030F0702030302020204" pitchFamily="66" charset="0"/>
        </a:defRPr>
      </a:lvl8pPr>
      <a:lvl9pPr marL="1828800" algn="l" rtl="0" eaLnBrk="0" fontAlgn="base" hangingPunct="0">
        <a:spcBef>
          <a:spcPct val="0"/>
        </a:spcBef>
        <a:spcAft>
          <a:spcPct val="0"/>
        </a:spcAft>
        <a:defRPr sz="4000" u="sng">
          <a:solidFill>
            <a:schemeClr val="accent2"/>
          </a:solidFill>
          <a:latin typeface="Comic Sans MS" panose="030F0702030302020204" pitchFamily="66" charset="0"/>
        </a:defRPr>
      </a:lvl9pPr>
    </p:titleStyle>
    <p:body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anose="05000000000000000000"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oleObject" Target="../embeddings/oleObject4.bin"/><Relationship Id="rId7" Type="http://schemas.openxmlformats.org/officeDocument/2006/relationships/oleObject" Target="../embeddings/oleObject3.bin"/><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 Id="rId3" Type="http://schemas.openxmlformats.org/officeDocument/2006/relationships/oleObject" Target="../embeddings/oleObject1.bin"/><Relationship Id="rId21" Type="http://schemas.openxmlformats.org/officeDocument/2006/relationships/vmlDrawing" Target="../drawings/vmlDrawing1.vml"/><Relationship Id="rId20" Type="http://schemas.openxmlformats.org/officeDocument/2006/relationships/slideLayout" Target="../slideLayouts/slideLayout4.xml"/><Relationship Id="rId2" Type="http://schemas.openxmlformats.org/officeDocument/2006/relationships/image" Target="../media/image8.png"/><Relationship Id="rId19" Type="http://schemas.openxmlformats.org/officeDocument/2006/relationships/image" Target="../media/image12.png"/><Relationship Id="rId18" Type="http://schemas.openxmlformats.org/officeDocument/2006/relationships/oleObject" Target="../embeddings/oleObject13.bin"/><Relationship Id="rId17" Type="http://schemas.openxmlformats.org/officeDocument/2006/relationships/oleObject" Target="../embeddings/oleObject12.bin"/><Relationship Id="rId16" Type="http://schemas.openxmlformats.org/officeDocument/2006/relationships/oleObject" Target="../embeddings/oleObject11.bin"/><Relationship Id="rId15" Type="http://schemas.openxmlformats.org/officeDocument/2006/relationships/oleObject" Target="../embeddings/oleObject10.bin"/><Relationship Id="rId14" Type="http://schemas.openxmlformats.org/officeDocument/2006/relationships/oleObject" Target="../embeddings/oleObject9.bin"/><Relationship Id="rId13" Type="http://schemas.openxmlformats.org/officeDocument/2006/relationships/oleObject" Target="../embeddings/oleObject8.bin"/><Relationship Id="rId12" Type="http://schemas.openxmlformats.org/officeDocument/2006/relationships/oleObject" Target="../embeddings/oleObject7.bin"/><Relationship Id="rId11" Type="http://schemas.openxmlformats.org/officeDocument/2006/relationships/oleObject" Target="../embeddings/oleObject6.bin"/><Relationship Id="rId10" Type="http://schemas.openxmlformats.org/officeDocument/2006/relationships/image" Target="../media/image11.wmf"/><Relationship Id="rId1" Type="http://schemas.openxmlformats.org/officeDocument/2006/relationships/image" Target="../media/image7.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oleObject" Target="../embeddings/oleObject17.bin"/><Relationship Id="rId7" Type="http://schemas.openxmlformats.org/officeDocument/2006/relationships/oleObject" Target="../embeddings/oleObject16.bin"/><Relationship Id="rId6" Type="http://schemas.openxmlformats.org/officeDocument/2006/relationships/image" Target="../media/image10.wmf"/><Relationship Id="rId5" Type="http://schemas.openxmlformats.org/officeDocument/2006/relationships/oleObject" Target="../embeddings/oleObject15.bin"/><Relationship Id="rId4" Type="http://schemas.openxmlformats.org/officeDocument/2006/relationships/image" Target="../media/image9.wmf"/><Relationship Id="rId3" Type="http://schemas.openxmlformats.org/officeDocument/2006/relationships/oleObject" Target="../embeddings/oleObject14.bin"/><Relationship Id="rId22" Type="http://schemas.openxmlformats.org/officeDocument/2006/relationships/notesSlide" Target="../notesSlides/notesSlide2.xml"/><Relationship Id="rId21" Type="http://schemas.openxmlformats.org/officeDocument/2006/relationships/vmlDrawing" Target="../drawings/vmlDrawing2.vml"/><Relationship Id="rId20" Type="http://schemas.openxmlformats.org/officeDocument/2006/relationships/slideLayout" Target="../slideLayouts/slideLayout12.xml"/><Relationship Id="rId2" Type="http://schemas.openxmlformats.org/officeDocument/2006/relationships/image" Target="../media/image8.png"/><Relationship Id="rId19" Type="http://schemas.openxmlformats.org/officeDocument/2006/relationships/image" Target="../media/image12.png"/><Relationship Id="rId18" Type="http://schemas.openxmlformats.org/officeDocument/2006/relationships/oleObject" Target="../embeddings/oleObject26.bin"/><Relationship Id="rId17" Type="http://schemas.openxmlformats.org/officeDocument/2006/relationships/oleObject" Target="../embeddings/oleObject25.bin"/><Relationship Id="rId16" Type="http://schemas.openxmlformats.org/officeDocument/2006/relationships/oleObject" Target="../embeddings/oleObject24.bin"/><Relationship Id="rId15" Type="http://schemas.openxmlformats.org/officeDocument/2006/relationships/oleObject" Target="../embeddings/oleObject23.bin"/><Relationship Id="rId14" Type="http://schemas.openxmlformats.org/officeDocument/2006/relationships/oleObject" Target="../embeddings/oleObject22.bin"/><Relationship Id="rId13" Type="http://schemas.openxmlformats.org/officeDocument/2006/relationships/oleObject" Target="../embeddings/oleObject21.bin"/><Relationship Id="rId12" Type="http://schemas.openxmlformats.org/officeDocument/2006/relationships/oleObject" Target="../embeddings/oleObject20.bin"/><Relationship Id="rId11" Type="http://schemas.openxmlformats.org/officeDocument/2006/relationships/oleObject" Target="../embeddings/oleObject19.bin"/><Relationship Id="rId10" Type="http://schemas.openxmlformats.org/officeDocument/2006/relationships/image" Target="../media/image11.wmf"/><Relationship Id="rId1" Type="http://schemas.openxmlformats.org/officeDocument/2006/relationships/image" Target="../media/image7.w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oleObject" Target="../embeddings/oleObject30.bin"/><Relationship Id="rId7" Type="http://schemas.openxmlformats.org/officeDocument/2006/relationships/oleObject" Target="../embeddings/oleObject29.bin"/><Relationship Id="rId6" Type="http://schemas.openxmlformats.org/officeDocument/2006/relationships/image" Target="../media/image10.wmf"/><Relationship Id="rId5" Type="http://schemas.openxmlformats.org/officeDocument/2006/relationships/oleObject" Target="../embeddings/oleObject28.bin"/><Relationship Id="rId4" Type="http://schemas.openxmlformats.org/officeDocument/2006/relationships/image" Target="../media/image9.wmf"/><Relationship Id="rId3" Type="http://schemas.openxmlformats.org/officeDocument/2006/relationships/oleObject" Target="../embeddings/oleObject27.bin"/><Relationship Id="rId21" Type="http://schemas.openxmlformats.org/officeDocument/2006/relationships/vmlDrawing" Target="../drawings/vmlDrawing3.vml"/><Relationship Id="rId20" Type="http://schemas.openxmlformats.org/officeDocument/2006/relationships/slideLayout" Target="../slideLayouts/slideLayout13.xml"/><Relationship Id="rId2" Type="http://schemas.openxmlformats.org/officeDocument/2006/relationships/image" Target="../media/image8.png"/><Relationship Id="rId19" Type="http://schemas.openxmlformats.org/officeDocument/2006/relationships/image" Target="../media/image12.png"/><Relationship Id="rId18" Type="http://schemas.openxmlformats.org/officeDocument/2006/relationships/oleObject" Target="../embeddings/oleObject39.bin"/><Relationship Id="rId17" Type="http://schemas.openxmlformats.org/officeDocument/2006/relationships/oleObject" Target="../embeddings/oleObject38.bin"/><Relationship Id="rId16" Type="http://schemas.openxmlformats.org/officeDocument/2006/relationships/oleObject" Target="../embeddings/oleObject37.bin"/><Relationship Id="rId15" Type="http://schemas.openxmlformats.org/officeDocument/2006/relationships/oleObject" Target="../embeddings/oleObject36.bin"/><Relationship Id="rId14" Type="http://schemas.openxmlformats.org/officeDocument/2006/relationships/oleObject" Target="../embeddings/oleObject35.bin"/><Relationship Id="rId13" Type="http://schemas.openxmlformats.org/officeDocument/2006/relationships/oleObject" Target="../embeddings/oleObject34.bin"/><Relationship Id="rId12" Type="http://schemas.openxmlformats.org/officeDocument/2006/relationships/oleObject" Target="../embeddings/oleObject33.bin"/><Relationship Id="rId11" Type="http://schemas.openxmlformats.org/officeDocument/2006/relationships/oleObject" Target="../embeddings/oleObject32.bin"/><Relationship Id="rId10" Type="http://schemas.openxmlformats.org/officeDocument/2006/relationships/image" Target="../media/image11.wmf"/><Relationship Id="rId1" Type="http://schemas.openxmlformats.org/officeDocument/2006/relationships/image" Target="../media/image7.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13.xml"/><Relationship Id="rId3" Type="http://schemas.openxmlformats.org/officeDocument/2006/relationships/oleObject" Target="../embeddings/oleObject41.bin"/><Relationship Id="rId2" Type="http://schemas.openxmlformats.org/officeDocument/2006/relationships/image" Target="../media/image11.wmf"/><Relationship Id="rId1" Type="http://schemas.openxmlformats.org/officeDocument/2006/relationships/oleObject" Target="../embeddings/oleObject40.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4.xml"/><Relationship Id="rId3" Type="http://schemas.openxmlformats.org/officeDocument/2006/relationships/oleObject" Target="../embeddings/oleObject43.bin"/><Relationship Id="rId2" Type="http://schemas.openxmlformats.org/officeDocument/2006/relationships/image" Target="../media/image11.wmf"/><Relationship Id="rId1" Type="http://schemas.openxmlformats.org/officeDocument/2006/relationships/oleObject" Target="../embeddings/oleObject4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6.vml"/><Relationship Id="rId3" Type="http://schemas.openxmlformats.org/officeDocument/2006/relationships/slideLayout" Target="../slideLayouts/slideLayout14.xml"/><Relationship Id="rId2" Type="http://schemas.openxmlformats.org/officeDocument/2006/relationships/image" Target="../media/image11.wmf"/><Relationship Id="rId1" Type="http://schemas.openxmlformats.org/officeDocument/2006/relationships/oleObject" Target="../embeddings/oleObject44.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vmlDrawing" Target="../drawings/vmlDrawing7.vml"/><Relationship Id="rId5" Type="http://schemas.openxmlformats.org/officeDocument/2006/relationships/slideLayout" Target="../slideLayouts/slideLayout4.xml"/><Relationship Id="rId4" Type="http://schemas.openxmlformats.org/officeDocument/2006/relationships/image" Target="../media/image18.png"/><Relationship Id="rId3" Type="http://schemas.openxmlformats.org/officeDocument/2006/relationships/oleObject" Target="../embeddings/oleObject46.bin"/><Relationship Id="rId2" Type="http://schemas.openxmlformats.org/officeDocument/2006/relationships/image" Target="../media/image11.wmf"/><Relationship Id="rId1" Type="http://schemas.openxmlformats.org/officeDocument/2006/relationships/oleObject" Target="../embeddings/oleObject45.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vmlDrawing" Target="../drawings/vmlDrawing8.vml"/><Relationship Id="rId6" Type="http://schemas.openxmlformats.org/officeDocument/2006/relationships/slideLayout" Target="../slideLayouts/slideLayout4.xml"/><Relationship Id="rId5" Type="http://schemas.openxmlformats.org/officeDocument/2006/relationships/oleObject" Target="../embeddings/oleObject50.bin"/><Relationship Id="rId4" Type="http://schemas.openxmlformats.org/officeDocument/2006/relationships/oleObject" Target="../embeddings/oleObject49.bin"/><Relationship Id="rId3" Type="http://schemas.openxmlformats.org/officeDocument/2006/relationships/oleObject" Target="../embeddings/oleObject48.bin"/><Relationship Id="rId2" Type="http://schemas.openxmlformats.org/officeDocument/2006/relationships/image" Target="../media/image11.wmf"/><Relationship Id="rId1" Type="http://schemas.openxmlformats.org/officeDocument/2006/relationships/oleObject" Target="../embeddings/oleObject47.bin"/></Relationships>
</file>

<file path=ppt/slides/_rels/slide45.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vmlDrawing" Target="../drawings/vmlDrawing9.vml"/><Relationship Id="rId6" Type="http://schemas.openxmlformats.org/officeDocument/2006/relationships/slideLayout" Target="../slideLayouts/slideLayout4.xml"/><Relationship Id="rId5" Type="http://schemas.openxmlformats.org/officeDocument/2006/relationships/oleObject" Target="../embeddings/oleObject54.bin"/><Relationship Id="rId4" Type="http://schemas.openxmlformats.org/officeDocument/2006/relationships/oleObject" Target="../embeddings/oleObject53.bin"/><Relationship Id="rId3" Type="http://schemas.openxmlformats.org/officeDocument/2006/relationships/oleObject" Target="../embeddings/oleObject52.bin"/><Relationship Id="rId2" Type="http://schemas.openxmlformats.org/officeDocument/2006/relationships/image" Target="../media/image11.wmf"/><Relationship Id="rId1" Type="http://schemas.openxmlformats.org/officeDocument/2006/relationships/oleObject" Target="../embeddings/oleObject51.bin"/></Relationships>
</file>

<file path=ppt/slides/_rels/slide46.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vmlDrawing" Target="../drawings/vmlDrawing10.vml"/><Relationship Id="rId6" Type="http://schemas.openxmlformats.org/officeDocument/2006/relationships/slideLayout" Target="../slideLayouts/slideLayout4.xml"/><Relationship Id="rId5" Type="http://schemas.openxmlformats.org/officeDocument/2006/relationships/oleObject" Target="../embeddings/oleObject58.bin"/><Relationship Id="rId4" Type="http://schemas.openxmlformats.org/officeDocument/2006/relationships/oleObject" Target="../embeddings/oleObject57.bin"/><Relationship Id="rId3" Type="http://schemas.openxmlformats.org/officeDocument/2006/relationships/oleObject" Target="../embeddings/oleObject56.bin"/><Relationship Id="rId2" Type="http://schemas.openxmlformats.org/officeDocument/2006/relationships/image" Target="../media/image11.wmf"/><Relationship Id="rId1" Type="http://schemas.openxmlformats.org/officeDocument/2006/relationships/oleObject" Target="../embeddings/oleObject55.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vmlDrawing" Target="../drawings/vmlDrawing11.vml"/><Relationship Id="rId5" Type="http://schemas.openxmlformats.org/officeDocument/2006/relationships/slideLayout" Target="../slideLayouts/slideLayout4.xml"/><Relationship Id="rId4" Type="http://schemas.openxmlformats.org/officeDocument/2006/relationships/image" Target="../media/image19.png"/><Relationship Id="rId3" Type="http://schemas.openxmlformats.org/officeDocument/2006/relationships/image" Target="../media/image11.wmf"/><Relationship Id="rId2" Type="http://schemas.openxmlformats.org/officeDocument/2006/relationships/oleObject" Target="../embeddings/oleObject60.bin"/><Relationship Id="rId1" Type="http://schemas.openxmlformats.org/officeDocument/2006/relationships/oleObject" Target="../embeddings/oleObject59.bin"/></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12.vml"/><Relationship Id="rId3" Type="http://schemas.openxmlformats.org/officeDocument/2006/relationships/slideLayout" Target="../slideLayouts/slideLayout4.xml"/><Relationship Id="rId2" Type="http://schemas.openxmlformats.org/officeDocument/2006/relationships/image" Target="../media/image11.wmf"/><Relationship Id="rId1" Type="http://schemas.openxmlformats.org/officeDocument/2006/relationships/oleObject" Target="../embeddings/oleObject61.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4.xml"/><Relationship Id="rId7" Type="http://schemas.openxmlformats.org/officeDocument/2006/relationships/oleObject" Target="../embeddings/oleObject67.bin"/><Relationship Id="rId6" Type="http://schemas.openxmlformats.org/officeDocument/2006/relationships/oleObject" Target="../embeddings/oleObject66.bin"/><Relationship Id="rId5" Type="http://schemas.openxmlformats.org/officeDocument/2006/relationships/oleObject" Target="../embeddings/oleObject65.bin"/><Relationship Id="rId4" Type="http://schemas.openxmlformats.org/officeDocument/2006/relationships/oleObject" Target="../embeddings/oleObject64.bin"/><Relationship Id="rId3" Type="http://schemas.openxmlformats.org/officeDocument/2006/relationships/oleObject" Target="../embeddings/oleObject63.bin"/><Relationship Id="rId2" Type="http://schemas.openxmlformats.org/officeDocument/2006/relationships/image" Target="../media/image11.wmf"/><Relationship Id="rId1" Type="http://schemas.openxmlformats.org/officeDocument/2006/relationships/oleObject" Target="../embeddings/oleObject62.bin"/></Relationships>
</file>

<file path=ppt/slides/_rels/slide54.xml.rels><?xml version="1.0" encoding="UTF-8" standalone="yes"?>
<Relationships xmlns="http://schemas.openxmlformats.org/package/2006/relationships"><Relationship Id="rId9" Type="http://schemas.openxmlformats.org/officeDocument/2006/relationships/vmlDrawing" Target="../drawings/vmlDrawing14.vml"/><Relationship Id="rId8" Type="http://schemas.openxmlformats.org/officeDocument/2006/relationships/slideLayout" Target="../slideLayouts/slideLayout4.xml"/><Relationship Id="rId7" Type="http://schemas.openxmlformats.org/officeDocument/2006/relationships/oleObject" Target="../embeddings/oleObject73.bin"/><Relationship Id="rId6" Type="http://schemas.openxmlformats.org/officeDocument/2006/relationships/oleObject" Target="../embeddings/oleObject72.bin"/><Relationship Id="rId5" Type="http://schemas.openxmlformats.org/officeDocument/2006/relationships/oleObject" Target="../embeddings/oleObject71.bin"/><Relationship Id="rId4" Type="http://schemas.openxmlformats.org/officeDocument/2006/relationships/oleObject" Target="../embeddings/oleObject70.bin"/><Relationship Id="rId3" Type="http://schemas.openxmlformats.org/officeDocument/2006/relationships/oleObject" Target="../embeddings/oleObject69.bin"/><Relationship Id="rId2" Type="http://schemas.openxmlformats.org/officeDocument/2006/relationships/image" Target="../media/image11.wmf"/><Relationship Id="rId1" Type="http://schemas.openxmlformats.org/officeDocument/2006/relationships/oleObject" Target="../embeddings/oleObject68.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4.xml"/><Relationship Id="rId5" Type="http://schemas.openxmlformats.org/officeDocument/2006/relationships/oleObject" Target="../embeddings/oleObject75.bin"/><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1.wmf"/><Relationship Id="rId1" Type="http://schemas.openxmlformats.org/officeDocument/2006/relationships/oleObject" Target="../embeddings/oleObject74.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tags" Target="../tags/tag1.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tags" Target="../tags/tag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9" Type="http://schemas.openxmlformats.org/officeDocument/2006/relationships/vmlDrawing" Target="../drawings/vmlDrawing16.vml"/><Relationship Id="rId8" Type="http://schemas.openxmlformats.org/officeDocument/2006/relationships/slideLayout" Target="../slideLayouts/slideLayout4.xml"/><Relationship Id="rId7" Type="http://schemas.openxmlformats.org/officeDocument/2006/relationships/image" Target="../media/image20.png"/><Relationship Id="rId6" Type="http://schemas.openxmlformats.org/officeDocument/2006/relationships/oleObject" Target="../embeddings/oleObject79.bin"/><Relationship Id="rId5" Type="http://schemas.openxmlformats.org/officeDocument/2006/relationships/oleObject" Target="../embeddings/oleObject78.bin"/><Relationship Id="rId4" Type="http://schemas.openxmlformats.org/officeDocument/2006/relationships/image" Target="../media/image19.png"/><Relationship Id="rId3" Type="http://schemas.openxmlformats.org/officeDocument/2006/relationships/oleObject" Target="../embeddings/oleObject77.bin"/><Relationship Id="rId2" Type="http://schemas.openxmlformats.org/officeDocument/2006/relationships/image" Target="../media/image11.wmf"/><Relationship Id="rId1" Type="http://schemas.openxmlformats.org/officeDocument/2006/relationships/oleObject" Target="../embeddings/oleObject76.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vmlDrawing" Target="../drawings/vmlDrawing17.vml"/><Relationship Id="rId4" Type="http://schemas.openxmlformats.org/officeDocument/2006/relationships/slideLayout" Target="../slideLayouts/slideLayout4.xml"/><Relationship Id="rId3" Type="http://schemas.openxmlformats.org/officeDocument/2006/relationships/oleObject" Target="../embeddings/oleObject81.bin"/><Relationship Id="rId2" Type="http://schemas.openxmlformats.org/officeDocument/2006/relationships/image" Target="../media/image11.wmf"/><Relationship Id="rId1" Type="http://schemas.openxmlformats.org/officeDocument/2006/relationships/oleObject" Target="../embeddings/oleObject80.bin"/></Relationships>
</file>

<file path=ppt/slides/_rels/slide74.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vmlDrawing" Target="../drawings/vmlDrawing18.vml"/><Relationship Id="rId4" Type="http://schemas.openxmlformats.org/officeDocument/2006/relationships/slideLayout" Target="../slideLayouts/slideLayout6.xml"/><Relationship Id="rId3" Type="http://schemas.openxmlformats.org/officeDocument/2006/relationships/oleObject" Target="../embeddings/oleObject83.bin"/><Relationship Id="rId2" Type="http://schemas.openxmlformats.org/officeDocument/2006/relationships/image" Target="../media/image11.wmf"/><Relationship Id="rId1" Type="http://schemas.openxmlformats.org/officeDocument/2006/relationships/oleObject" Target="../embeddings/oleObject82.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jpe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6.png"/><Relationship Id="rId1" Type="http://schemas.openxmlformats.org/officeDocument/2006/relationships/image" Target="../media/image25.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9" Type="http://schemas.openxmlformats.org/officeDocument/2006/relationships/oleObject" Target="../embeddings/oleObject88.bin"/><Relationship Id="rId8" Type="http://schemas.openxmlformats.org/officeDocument/2006/relationships/oleObject" Target="../embeddings/oleObject87.bin"/><Relationship Id="rId7" Type="http://schemas.openxmlformats.org/officeDocument/2006/relationships/oleObject" Target="../embeddings/oleObject86.bin"/><Relationship Id="rId6" Type="http://schemas.openxmlformats.org/officeDocument/2006/relationships/image" Target="../media/image10.wmf"/><Relationship Id="rId5" Type="http://schemas.openxmlformats.org/officeDocument/2006/relationships/oleObject" Target="../embeddings/oleObject85.bin"/><Relationship Id="rId4" Type="http://schemas.openxmlformats.org/officeDocument/2006/relationships/image" Target="../media/image9.wmf"/><Relationship Id="rId3" Type="http://schemas.openxmlformats.org/officeDocument/2006/relationships/oleObject" Target="../embeddings/oleObject84.bin"/><Relationship Id="rId21" Type="http://schemas.openxmlformats.org/officeDocument/2006/relationships/vmlDrawing" Target="../drawings/vmlDrawing19.vml"/><Relationship Id="rId20" Type="http://schemas.openxmlformats.org/officeDocument/2006/relationships/slideLayout" Target="../slideLayouts/slideLayout13.xml"/><Relationship Id="rId2" Type="http://schemas.openxmlformats.org/officeDocument/2006/relationships/image" Target="../media/image8.png"/><Relationship Id="rId19" Type="http://schemas.openxmlformats.org/officeDocument/2006/relationships/image" Target="../media/image12.png"/><Relationship Id="rId18" Type="http://schemas.openxmlformats.org/officeDocument/2006/relationships/oleObject" Target="../embeddings/oleObject96.bin"/><Relationship Id="rId17" Type="http://schemas.openxmlformats.org/officeDocument/2006/relationships/oleObject" Target="../embeddings/oleObject95.bin"/><Relationship Id="rId16" Type="http://schemas.openxmlformats.org/officeDocument/2006/relationships/oleObject" Target="../embeddings/oleObject94.bin"/><Relationship Id="rId15" Type="http://schemas.openxmlformats.org/officeDocument/2006/relationships/oleObject" Target="../embeddings/oleObject93.bin"/><Relationship Id="rId14" Type="http://schemas.openxmlformats.org/officeDocument/2006/relationships/oleObject" Target="../embeddings/oleObject92.bin"/><Relationship Id="rId13" Type="http://schemas.openxmlformats.org/officeDocument/2006/relationships/oleObject" Target="../embeddings/oleObject91.bin"/><Relationship Id="rId12" Type="http://schemas.openxmlformats.org/officeDocument/2006/relationships/oleObject" Target="../embeddings/oleObject90.bin"/><Relationship Id="rId11" Type="http://schemas.openxmlformats.org/officeDocument/2006/relationships/oleObject" Target="../embeddings/oleObject89.bin"/><Relationship Id="rId10" Type="http://schemas.openxmlformats.org/officeDocument/2006/relationships/image" Target="../media/image11.wmf"/><Relationship Id="rId1" Type="http://schemas.openxmlformats.org/officeDocument/2006/relationships/image" Target="../media/image7.wmf"/></Relationships>
</file>

<file path=ppt/slides/_rels/slide82.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2.xml"/><Relationship Id="rId4" Type="http://schemas.openxmlformats.org/officeDocument/2006/relationships/oleObject" Target="../embeddings/oleObject99.bin"/><Relationship Id="rId3" Type="http://schemas.openxmlformats.org/officeDocument/2006/relationships/oleObject" Target="../embeddings/oleObject98.bin"/><Relationship Id="rId2" Type="http://schemas.openxmlformats.org/officeDocument/2006/relationships/image" Target="../media/image11.wmf"/><Relationship Id="rId1" Type="http://schemas.openxmlformats.org/officeDocument/2006/relationships/oleObject" Target="../embeddings/oleObject97.bin"/></Relationships>
</file>

<file path=ppt/slides/_rels/slide83.xml.rels><?xml version="1.0" encoding="UTF-8" standalone="yes"?>
<Relationships xmlns="http://schemas.openxmlformats.org/package/2006/relationships"><Relationship Id="rId6" Type="http://schemas.openxmlformats.org/officeDocument/2006/relationships/vmlDrawing" Target="../drawings/vmlDrawing21.vml"/><Relationship Id="rId5" Type="http://schemas.openxmlformats.org/officeDocument/2006/relationships/slideLayout" Target="../slideLayouts/slideLayout2.xml"/><Relationship Id="rId4" Type="http://schemas.openxmlformats.org/officeDocument/2006/relationships/oleObject" Target="../embeddings/oleObject102.bin"/><Relationship Id="rId3" Type="http://schemas.openxmlformats.org/officeDocument/2006/relationships/oleObject" Target="../embeddings/oleObject101.bin"/><Relationship Id="rId2" Type="http://schemas.openxmlformats.org/officeDocument/2006/relationships/image" Target="../media/image11.wmf"/><Relationship Id="rId1" Type="http://schemas.openxmlformats.org/officeDocument/2006/relationships/oleObject" Target="../embeddings/oleObject100.bin"/></Relationships>
</file>

<file path=ppt/slides/_rels/slide84.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vmlDrawing" Target="../drawings/vmlDrawing22.vml"/><Relationship Id="rId5" Type="http://schemas.openxmlformats.org/officeDocument/2006/relationships/slideLayout" Target="../slideLayouts/slideLayout2.xml"/><Relationship Id="rId4" Type="http://schemas.openxmlformats.org/officeDocument/2006/relationships/oleObject" Target="../embeddings/oleObject105.bin"/><Relationship Id="rId3" Type="http://schemas.openxmlformats.org/officeDocument/2006/relationships/oleObject" Target="../embeddings/oleObject104.bin"/><Relationship Id="rId2" Type="http://schemas.openxmlformats.org/officeDocument/2006/relationships/image" Target="../media/image11.wmf"/><Relationship Id="rId1" Type="http://schemas.openxmlformats.org/officeDocument/2006/relationships/oleObject" Target="../embeddings/oleObject103.bin"/></Relationships>
</file>

<file path=ppt/slides/_rels/slide85.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vmlDrawing" Target="../drawings/vmlDrawing23.vml"/><Relationship Id="rId3" Type="http://schemas.openxmlformats.org/officeDocument/2006/relationships/slideLayout" Target="../slideLayouts/slideLayout1.xml"/><Relationship Id="rId2" Type="http://schemas.openxmlformats.org/officeDocument/2006/relationships/image" Target="../media/image27.emf"/><Relationship Id="rId1" Type="http://schemas.openxmlformats.org/officeDocument/2006/relationships/oleObject" Target="../embeddings/oleObject106.bin"/></Relationships>
</file>

<file path=ppt/slides/_rels/slide86.xml.rels><?xml version="1.0" encoding="UTF-8" standalone="yes"?>
<Relationships xmlns="http://schemas.openxmlformats.org/package/2006/relationships"><Relationship Id="rId9" Type="http://schemas.openxmlformats.org/officeDocument/2006/relationships/oleObject" Target="../embeddings/oleObject114.bin"/><Relationship Id="rId8" Type="http://schemas.openxmlformats.org/officeDocument/2006/relationships/oleObject" Target="../embeddings/oleObject113.bin"/><Relationship Id="rId7" Type="http://schemas.openxmlformats.org/officeDocument/2006/relationships/oleObject" Target="../embeddings/oleObject112.bin"/><Relationship Id="rId6" Type="http://schemas.openxmlformats.org/officeDocument/2006/relationships/oleObject" Target="../embeddings/oleObject111.bin"/><Relationship Id="rId5" Type="http://schemas.openxmlformats.org/officeDocument/2006/relationships/oleObject" Target="../embeddings/oleObject110.bin"/><Relationship Id="rId4" Type="http://schemas.openxmlformats.org/officeDocument/2006/relationships/oleObject" Target="../embeddings/oleObject109.bin"/><Relationship Id="rId3" Type="http://schemas.openxmlformats.org/officeDocument/2006/relationships/oleObject" Target="../embeddings/oleObject108.bin"/><Relationship Id="rId2" Type="http://schemas.openxmlformats.org/officeDocument/2006/relationships/image" Target="../media/image11.wmf"/><Relationship Id="rId13" Type="http://schemas.openxmlformats.org/officeDocument/2006/relationships/vmlDrawing" Target="../drawings/vmlDrawing24.vml"/><Relationship Id="rId12" Type="http://schemas.openxmlformats.org/officeDocument/2006/relationships/slideLayout" Target="../slideLayouts/slideLayout2.xml"/><Relationship Id="rId11" Type="http://schemas.openxmlformats.org/officeDocument/2006/relationships/image" Target="../media/image19.png"/><Relationship Id="rId10" Type="http://schemas.openxmlformats.org/officeDocument/2006/relationships/oleObject" Target="../embeddings/oleObject115.bin"/><Relationship Id="rId1" Type="http://schemas.openxmlformats.org/officeDocument/2006/relationships/oleObject" Target="../embeddings/oleObject107.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oleObject" Target="../embeddings/oleObject122.bin"/><Relationship Id="rId7" Type="http://schemas.openxmlformats.org/officeDocument/2006/relationships/oleObject" Target="../embeddings/oleObject121.bin"/><Relationship Id="rId6" Type="http://schemas.openxmlformats.org/officeDocument/2006/relationships/oleObject" Target="../embeddings/oleObject120.bin"/><Relationship Id="rId5" Type="http://schemas.openxmlformats.org/officeDocument/2006/relationships/oleObject" Target="../embeddings/oleObject119.bin"/><Relationship Id="rId4" Type="http://schemas.openxmlformats.org/officeDocument/2006/relationships/oleObject" Target="../embeddings/oleObject118.bin"/><Relationship Id="rId3" Type="http://schemas.openxmlformats.org/officeDocument/2006/relationships/oleObject" Target="../embeddings/oleObject117.bin"/><Relationship Id="rId2" Type="http://schemas.openxmlformats.org/officeDocument/2006/relationships/image" Target="../media/image11.wmf"/><Relationship Id="rId13" Type="http://schemas.openxmlformats.org/officeDocument/2006/relationships/vmlDrawing" Target="../drawings/vmlDrawing25.vml"/><Relationship Id="rId12" Type="http://schemas.openxmlformats.org/officeDocument/2006/relationships/slideLayout" Target="../slideLayouts/slideLayout4.xml"/><Relationship Id="rId11" Type="http://schemas.openxmlformats.org/officeDocument/2006/relationships/image" Target="../media/image19.png"/><Relationship Id="rId10" Type="http://schemas.openxmlformats.org/officeDocument/2006/relationships/oleObject" Target="../embeddings/oleObject124.bin"/><Relationship Id="rId1" Type="http://schemas.openxmlformats.org/officeDocument/2006/relationships/oleObject" Target="../embeddings/oleObject116.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9" Type="http://schemas.openxmlformats.org/officeDocument/2006/relationships/oleObject" Target="../embeddings/oleObject132.bin"/><Relationship Id="rId8" Type="http://schemas.openxmlformats.org/officeDocument/2006/relationships/oleObject" Target="../embeddings/oleObject131.bin"/><Relationship Id="rId7" Type="http://schemas.openxmlformats.org/officeDocument/2006/relationships/oleObject" Target="../embeddings/oleObject130.bin"/><Relationship Id="rId6" Type="http://schemas.openxmlformats.org/officeDocument/2006/relationships/oleObject" Target="../embeddings/oleObject129.bin"/><Relationship Id="rId5" Type="http://schemas.openxmlformats.org/officeDocument/2006/relationships/oleObject" Target="../embeddings/oleObject128.bin"/><Relationship Id="rId4" Type="http://schemas.openxmlformats.org/officeDocument/2006/relationships/oleObject" Target="../embeddings/oleObject127.bin"/><Relationship Id="rId3" Type="http://schemas.openxmlformats.org/officeDocument/2006/relationships/oleObject" Target="../embeddings/oleObject126.bin"/><Relationship Id="rId2" Type="http://schemas.openxmlformats.org/officeDocument/2006/relationships/image" Target="../media/image11.wmf"/><Relationship Id="rId15" Type="http://schemas.openxmlformats.org/officeDocument/2006/relationships/vmlDrawing" Target="../drawings/vmlDrawing26.vml"/><Relationship Id="rId14" Type="http://schemas.openxmlformats.org/officeDocument/2006/relationships/slideLayout" Target="../slideLayouts/slideLayout6.xml"/><Relationship Id="rId13" Type="http://schemas.openxmlformats.org/officeDocument/2006/relationships/image" Target="../media/image20.png"/><Relationship Id="rId12" Type="http://schemas.openxmlformats.org/officeDocument/2006/relationships/image" Target="../media/image19.png"/><Relationship Id="rId11" Type="http://schemas.openxmlformats.org/officeDocument/2006/relationships/oleObject" Target="../embeddings/oleObject134.bin"/><Relationship Id="rId10" Type="http://schemas.openxmlformats.org/officeDocument/2006/relationships/oleObject" Target="../embeddings/oleObject133.bin"/><Relationship Id="rId1" Type="http://schemas.openxmlformats.org/officeDocument/2006/relationships/oleObject" Target="../embeddings/oleObject125.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9" Type="http://schemas.openxmlformats.org/officeDocument/2006/relationships/oleObject" Target="../embeddings/oleObject141.bin"/><Relationship Id="rId8" Type="http://schemas.openxmlformats.org/officeDocument/2006/relationships/oleObject" Target="../embeddings/oleObject140.bin"/><Relationship Id="rId7" Type="http://schemas.openxmlformats.org/officeDocument/2006/relationships/oleObject" Target="../embeddings/oleObject139.bin"/><Relationship Id="rId6" Type="http://schemas.openxmlformats.org/officeDocument/2006/relationships/oleObject" Target="../embeddings/oleObject138.bin"/><Relationship Id="rId5" Type="http://schemas.openxmlformats.org/officeDocument/2006/relationships/oleObject" Target="../embeddings/oleObject137.bin"/><Relationship Id="rId4" Type="http://schemas.openxmlformats.org/officeDocument/2006/relationships/oleObject" Target="../embeddings/oleObject136.bin"/><Relationship Id="rId3" Type="http://schemas.openxmlformats.org/officeDocument/2006/relationships/image" Target="../media/image11.wmf"/><Relationship Id="rId23" Type="http://schemas.openxmlformats.org/officeDocument/2006/relationships/notesSlide" Target="../notesSlides/notesSlide24.xml"/><Relationship Id="rId22" Type="http://schemas.openxmlformats.org/officeDocument/2006/relationships/vmlDrawing" Target="../drawings/vmlDrawing27.vml"/><Relationship Id="rId21" Type="http://schemas.openxmlformats.org/officeDocument/2006/relationships/slideLayout" Target="../slideLayouts/slideLayout2.xml"/><Relationship Id="rId20" Type="http://schemas.openxmlformats.org/officeDocument/2006/relationships/oleObject" Target="../embeddings/oleObject152.bin"/><Relationship Id="rId2" Type="http://schemas.openxmlformats.org/officeDocument/2006/relationships/oleObject" Target="../embeddings/oleObject135.bin"/><Relationship Id="rId19" Type="http://schemas.openxmlformats.org/officeDocument/2006/relationships/oleObject" Target="../embeddings/oleObject151.bin"/><Relationship Id="rId18" Type="http://schemas.openxmlformats.org/officeDocument/2006/relationships/oleObject" Target="../embeddings/oleObject150.bin"/><Relationship Id="rId17" Type="http://schemas.openxmlformats.org/officeDocument/2006/relationships/oleObject" Target="../embeddings/oleObject149.bin"/><Relationship Id="rId16" Type="http://schemas.openxmlformats.org/officeDocument/2006/relationships/oleObject" Target="../embeddings/oleObject148.bin"/><Relationship Id="rId15" Type="http://schemas.openxmlformats.org/officeDocument/2006/relationships/oleObject" Target="../embeddings/oleObject147.bin"/><Relationship Id="rId14" Type="http://schemas.openxmlformats.org/officeDocument/2006/relationships/oleObject" Target="../embeddings/oleObject146.bin"/><Relationship Id="rId13" Type="http://schemas.openxmlformats.org/officeDocument/2006/relationships/oleObject" Target="../embeddings/oleObject145.bin"/><Relationship Id="rId12" Type="http://schemas.openxmlformats.org/officeDocument/2006/relationships/oleObject" Target="../embeddings/oleObject144.bin"/><Relationship Id="rId11" Type="http://schemas.openxmlformats.org/officeDocument/2006/relationships/oleObject" Target="../embeddings/oleObject143.bin"/><Relationship Id="rId10" Type="http://schemas.openxmlformats.org/officeDocument/2006/relationships/oleObject" Target="../embeddings/oleObject142.bin"/><Relationship Id="rId1" Type="http://schemas.openxmlformats.org/officeDocument/2006/relationships/image" Target="../media/image28.png"/></Relationships>
</file>

<file path=ppt/slides/_rels/slide98.xml.rels><?xml version="1.0" encoding="UTF-8" standalone="yes"?>
<Relationships xmlns="http://schemas.openxmlformats.org/package/2006/relationships"><Relationship Id="rId9" Type="http://schemas.openxmlformats.org/officeDocument/2006/relationships/oleObject" Target="../embeddings/oleObject159.bin"/><Relationship Id="rId8" Type="http://schemas.openxmlformats.org/officeDocument/2006/relationships/oleObject" Target="../embeddings/oleObject158.bin"/><Relationship Id="rId7" Type="http://schemas.openxmlformats.org/officeDocument/2006/relationships/oleObject" Target="../embeddings/oleObject157.bin"/><Relationship Id="rId6" Type="http://schemas.openxmlformats.org/officeDocument/2006/relationships/oleObject" Target="../embeddings/oleObject156.bin"/><Relationship Id="rId5" Type="http://schemas.openxmlformats.org/officeDocument/2006/relationships/oleObject" Target="../embeddings/oleObject155.bin"/><Relationship Id="rId4" Type="http://schemas.openxmlformats.org/officeDocument/2006/relationships/oleObject" Target="../embeddings/oleObject154.bin"/><Relationship Id="rId3" Type="http://schemas.openxmlformats.org/officeDocument/2006/relationships/image" Target="../media/image11.wmf"/><Relationship Id="rId22" Type="http://schemas.openxmlformats.org/officeDocument/2006/relationships/notesSlide" Target="../notesSlides/notesSlide25.xml"/><Relationship Id="rId21" Type="http://schemas.openxmlformats.org/officeDocument/2006/relationships/vmlDrawing" Target="../drawings/vmlDrawing28.vml"/><Relationship Id="rId20" Type="http://schemas.openxmlformats.org/officeDocument/2006/relationships/slideLayout" Target="../slideLayouts/slideLayout2.xml"/><Relationship Id="rId2" Type="http://schemas.openxmlformats.org/officeDocument/2006/relationships/oleObject" Target="../embeddings/oleObject153.bin"/><Relationship Id="rId19" Type="http://schemas.openxmlformats.org/officeDocument/2006/relationships/oleObject" Target="../embeddings/oleObject169.bin"/><Relationship Id="rId18" Type="http://schemas.openxmlformats.org/officeDocument/2006/relationships/oleObject" Target="../embeddings/oleObject168.bin"/><Relationship Id="rId17" Type="http://schemas.openxmlformats.org/officeDocument/2006/relationships/oleObject" Target="../embeddings/oleObject167.bin"/><Relationship Id="rId16" Type="http://schemas.openxmlformats.org/officeDocument/2006/relationships/oleObject" Target="../embeddings/oleObject166.bin"/><Relationship Id="rId15" Type="http://schemas.openxmlformats.org/officeDocument/2006/relationships/oleObject" Target="../embeddings/oleObject165.bin"/><Relationship Id="rId14" Type="http://schemas.openxmlformats.org/officeDocument/2006/relationships/oleObject" Target="../embeddings/oleObject164.bin"/><Relationship Id="rId13" Type="http://schemas.openxmlformats.org/officeDocument/2006/relationships/oleObject" Target="../embeddings/oleObject163.bin"/><Relationship Id="rId12" Type="http://schemas.openxmlformats.org/officeDocument/2006/relationships/oleObject" Target="../embeddings/oleObject162.bin"/><Relationship Id="rId11" Type="http://schemas.openxmlformats.org/officeDocument/2006/relationships/oleObject" Target="../embeddings/oleObject161.bin"/><Relationship Id="rId10" Type="http://schemas.openxmlformats.org/officeDocument/2006/relationships/oleObject" Target="../embeddings/oleObject160.bin"/><Relationship Id="rId1" Type="http://schemas.openxmlformats.org/officeDocument/2006/relationships/image" Target="../media/image28.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6.xml"/><Relationship Id="rId2" Type="http://schemas.openxmlformats.org/officeDocument/2006/relationships/image" Target="../media/image29.wmf"/><Relationship Id="rId1" Type="http://schemas.openxmlformats.org/officeDocument/2006/relationships/oleObject" Target="../embeddings/oleObject170.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5" Type="http://schemas.openxmlformats.org/officeDocument/2006/relationships/vmlDrawing" Target="../drawings/vmlDrawing30.vml"/><Relationship Id="rId4" Type="http://schemas.openxmlformats.org/officeDocument/2006/relationships/slideLayout" Target="../slideLayouts/slideLayout2.xml"/><Relationship Id="rId3" Type="http://schemas.openxmlformats.org/officeDocument/2006/relationships/oleObject" Target="../embeddings/oleObject172.bin"/><Relationship Id="rId2" Type="http://schemas.openxmlformats.org/officeDocument/2006/relationships/image" Target="../media/image11.wmf"/><Relationship Id="rId1" Type="http://schemas.openxmlformats.org/officeDocument/2006/relationships/oleObject" Target="../embeddings/oleObject171.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4.xml"/><Relationship Id="rId2" Type="http://schemas.openxmlformats.org/officeDocument/2006/relationships/image" Target="../media/image30.wmf"/><Relationship Id="rId1" Type="http://schemas.openxmlformats.org/officeDocument/2006/relationships/oleObject" Target="../embeddings/oleObject173.bin"/></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2"/>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3795" name="Slide Number Placeholder 3"/>
          <p:cNvSpPr>
            <a:spLocks noGrp="1"/>
          </p:cNvSpPr>
          <p:nvPr>
            <p:ph type="sldNum" sz="quarter" idx="12"/>
          </p:nvPr>
        </p:nvSpPr>
        <p:spPr>
          <a:noFill/>
        </p:spPr>
        <p:txBody>
          <a:bodyPr/>
          <a:lstStyle/>
          <a:p>
            <a:fld id="{F659CEB2-F131-4948-8AA4-C8417E28EFB2}" type="slidenum">
              <a:rPr lang="en-US"/>
            </a:fld>
            <a:endParaRPr lang="en-US"/>
          </a:p>
        </p:txBody>
      </p:sp>
      <p:sp>
        <p:nvSpPr>
          <p:cNvPr id="33796" name="Rectangle 2"/>
          <p:cNvSpPr>
            <a:spLocks noChangeArrowheads="1"/>
          </p:cNvSpPr>
          <p:nvPr/>
        </p:nvSpPr>
        <p:spPr bwMode="auto">
          <a:xfrm>
            <a:off x="382588" y="493713"/>
            <a:ext cx="5764212" cy="1724025"/>
          </a:xfrm>
          <a:prstGeom prst="rect">
            <a:avLst/>
          </a:prstGeom>
          <a:noFill/>
          <a:ln w="9525">
            <a:noFill/>
            <a:miter lim="800000"/>
          </a:ln>
        </p:spPr>
        <p:txBody>
          <a:bodyPr anchor="ctr"/>
          <a:lstStyle/>
          <a:p>
            <a:pPr>
              <a:spcBef>
                <a:spcPct val="0"/>
              </a:spcBef>
              <a:buClrTx/>
              <a:buSzTx/>
              <a:buFontTx/>
              <a:buNone/>
            </a:pPr>
            <a:r>
              <a:rPr lang="en-US" sz="4000">
                <a:solidFill>
                  <a:schemeClr val="accent2"/>
                </a:solidFill>
              </a:rPr>
              <a:t>Chapter 2</a:t>
            </a:r>
            <a:br>
              <a:rPr lang="en-US" sz="4000">
                <a:solidFill>
                  <a:schemeClr val="accent2"/>
                </a:solidFill>
              </a:rPr>
            </a:br>
            <a:r>
              <a:rPr lang="en-US" sz="4000">
                <a:solidFill>
                  <a:schemeClr val="accent2"/>
                </a:solidFill>
              </a:rPr>
              <a:t>Application Layer</a:t>
            </a:r>
            <a:endParaRPr lang="en-US" sz="4000">
              <a:solidFill>
                <a:schemeClr val="accent2"/>
              </a:solidFill>
            </a:endParaRPr>
          </a:p>
        </p:txBody>
      </p:sp>
      <p:sp>
        <p:nvSpPr>
          <p:cNvPr id="33797" name="Rectangle 3"/>
          <p:cNvSpPr>
            <a:spLocks noChangeArrowheads="1"/>
          </p:cNvSpPr>
          <p:nvPr/>
        </p:nvSpPr>
        <p:spPr bwMode="auto">
          <a:xfrm>
            <a:off x="6191250" y="3486150"/>
            <a:ext cx="2730500" cy="2860675"/>
          </a:xfrm>
          <a:prstGeom prst="rect">
            <a:avLst/>
          </a:prstGeom>
          <a:noFill/>
          <a:ln w="9525">
            <a:noFill/>
            <a:miter lim="800000"/>
          </a:ln>
        </p:spPr>
        <p:txBody>
          <a:bodyPr anchor="ctr"/>
          <a:lstStyle/>
          <a:p>
            <a:pPr>
              <a:spcBef>
                <a:spcPct val="0"/>
              </a:spcBef>
              <a:buClrTx/>
              <a:buSzTx/>
              <a:buFontTx/>
              <a:buNone/>
            </a:pPr>
            <a:r>
              <a:rPr lang="en-US" sz="1800" i="1">
                <a:solidFill>
                  <a:schemeClr val="accent2"/>
                </a:solidFill>
              </a:rPr>
              <a:t>Computer Networking: A Top Down Approach</a:t>
            </a:r>
            <a:r>
              <a:rPr lang="en-US" sz="1800">
                <a:solidFill>
                  <a:schemeClr val="accent2"/>
                </a:solidFill>
              </a:rPr>
              <a:t>, </a:t>
            </a:r>
            <a:br>
              <a:rPr lang="en-US" sz="1800">
                <a:solidFill>
                  <a:schemeClr val="accent2"/>
                </a:solidFill>
              </a:rPr>
            </a:br>
            <a:r>
              <a:rPr lang="en-US" sz="1800">
                <a:solidFill>
                  <a:schemeClr val="accent2"/>
                </a:solidFill>
              </a:rPr>
              <a:t>5</a:t>
            </a:r>
            <a:r>
              <a:rPr lang="en-US" sz="1800" baseline="30000">
                <a:solidFill>
                  <a:schemeClr val="accent2"/>
                </a:solidFill>
              </a:rPr>
              <a:t>th</a:t>
            </a:r>
            <a:r>
              <a:rPr lang="en-US" sz="1800">
                <a:solidFill>
                  <a:schemeClr val="accent2"/>
                </a:solidFill>
              </a:rPr>
              <a:t> edition. </a:t>
            </a:r>
            <a:br>
              <a:rPr lang="en-US" sz="1800">
                <a:solidFill>
                  <a:schemeClr val="accent2"/>
                </a:solidFill>
              </a:rPr>
            </a:br>
            <a:r>
              <a:rPr lang="en-US" sz="1800">
                <a:solidFill>
                  <a:schemeClr val="accent2"/>
                </a:solidFill>
              </a:rPr>
              <a:t>Jim Kurose, Keith Ross</a:t>
            </a:r>
            <a:br>
              <a:rPr lang="en-US" sz="1800">
                <a:solidFill>
                  <a:schemeClr val="accent2"/>
                </a:solidFill>
              </a:rPr>
            </a:br>
            <a:r>
              <a:rPr lang="en-US" sz="1800">
                <a:solidFill>
                  <a:schemeClr val="accent2"/>
                </a:solidFill>
              </a:rPr>
              <a:t>Addison-Wesley, April 2009. </a:t>
            </a:r>
            <a:br>
              <a:rPr lang="en-US" sz="1800">
                <a:solidFill>
                  <a:schemeClr val="accent2"/>
                </a:solidFill>
              </a:rPr>
            </a:br>
            <a:endParaRPr lang="en-US" sz="1800">
              <a:solidFill>
                <a:schemeClr val="accent2"/>
              </a:solidFill>
            </a:endParaRPr>
          </a:p>
        </p:txBody>
      </p:sp>
      <p:sp>
        <p:nvSpPr>
          <p:cNvPr id="33798" name="Text Box 4"/>
          <p:cNvSpPr txBox="1">
            <a:spLocks noChangeArrowheads="1"/>
          </p:cNvSpPr>
          <p:nvPr/>
        </p:nvSpPr>
        <p:spPr bwMode="auto">
          <a:xfrm>
            <a:off x="393700" y="3392488"/>
            <a:ext cx="5378450" cy="3170237"/>
          </a:xfrm>
          <a:prstGeom prst="rect">
            <a:avLst/>
          </a:prstGeom>
          <a:noFill/>
          <a:ln w="9525">
            <a:noFill/>
            <a:miter lim="800000"/>
          </a:ln>
        </p:spPr>
        <p:txBody>
          <a:bodyPr>
            <a:spAutoFit/>
          </a:bodyPr>
          <a:lstStyle/>
          <a:p>
            <a:pPr>
              <a:spcBef>
                <a:spcPct val="0"/>
              </a:spcBef>
              <a:buClrTx/>
              <a:buSzTx/>
              <a:buFontTx/>
              <a:buNone/>
            </a:pPr>
            <a:r>
              <a:rPr lang="en-US" sz="2000">
                <a:latin typeface="Arial" panose="020B0604020202020204" pitchFamily="34" charset="0"/>
              </a:rPr>
              <a:t>A note on the use of these ppt slides:</a:t>
            </a:r>
            <a:endParaRPr lang="en-US" sz="2000">
              <a:latin typeface="Arial" panose="020B0604020202020204" pitchFamily="34" charset="0"/>
            </a:endParaRPr>
          </a:p>
          <a:p>
            <a:pPr>
              <a:spcBef>
                <a:spcPct val="0"/>
              </a:spcBef>
              <a:buClrTx/>
              <a:buSzTx/>
              <a:buFontTx/>
              <a:buNone/>
            </a:pPr>
            <a:r>
              <a:rPr lang="en-US" sz="1200">
                <a:latin typeface="Arial" panose="020B0604020202020204" pitchFamily="34" charset="0"/>
              </a:rPr>
              <a:t>We’re making these slides freely available to all (faculty, students, readers). They’re in PowerPoint form so you can add, modify, and delete slides  (including this one) and slide content to suit your needs. They obviously represent a </a:t>
            </a:r>
            <a:r>
              <a:rPr lang="en-US" sz="1200" i="1">
                <a:latin typeface="Arial" panose="020B0604020202020204" pitchFamily="34" charset="0"/>
              </a:rPr>
              <a:t>lot</a:t>
            </a:r>
            <a:r>
              <a:rPr lang="en-US" sz="1200">
                <a:latin typeface="Arial" panose="020B0604020202020204" pitchFamily="34" charset="0"/>
              </a:rPr>
              <a:t> of work on our part. In return for use, we only ask the following:</a:t>
            </a:r>
            <a:endParaRPr lang="en-US" sz="1200">
              <a:latin typeface="Arial" panose="020B0604020202020204" pitchFamily="34" charset="0"/>
            </a:endParaRPr>
          </a:p>
          <a:p>
            <a:pPr>
              <a:spcBef>
                <a:spcPct val="0"/>
              </a:spcBef>
              <a:buSzTx/>
              <a:buFont typeface="Wingdings" panose="05000000000000000000" pitchFamily="2" charset="2"/>
              <a:buChar char="q"/>
            </a:pPr>
            <a:r>
              <a:rPr lang="en-US" sz="1200">
                <a:latin typeface="Arial" panose="020B0604020202020204" pitchFamily="34" charset="0"/>
              </a:rPr>
              <a:t> If you use these slides (e.g., in a class) in substantially unaltered form, that you mention their source (after all, we’d like people to use our book!)</a:t>
            </a:r>
            <a:endParaRPr lang="en-US" sz="1200">
              <a:latin typeface="Arial" panose="020B0604020202020204" pitchFamily="34" charset="0"/>
            </a:endParaRPr>
          </a:p>
          <a:p>
            <a:pPr>
              <a:spcBef>
                <a:spcPct val="0"/>
              </a:spcBef>
              <a:buSzTx/>
              <a:buFont typeface="Wingdings" panose="05000000000000000000" pitchFamily="2" charset="2"/>
              <a:buChar char="q"/>
            </a:pPr>
            <a:r>
              <a:rPr lang="en-US" sz="1200">
                <a:latin typeface="Arial" panose="020B0604020202020204" pitchFamily="34" charset="0"/>
              </a:rPr>
              <a:t> If you post any slides in substantially unaltered form on a www site, that you note that they are adapted from (or perhaps identical to) our slides, and note our copyright of this material.</a:t>
            </a:r>
            <a:endParaRPr lang="en-US" sz="1200">
              <a:latin typeface="Arial" panose="020B0604020202020204" pitchFamily="34" charset="0"/>
            </a:endParaRPr>
          </a:p>
          <a:p>
            <a:pPr>
              <a:spcBef>
                <a:spcPct val="0"/>
              </a:spcBef>
              <a:buSzTx/>
              <a:buFont typeface="Wingdings" panose="05000000000000000000" pitchFamily="2" charset="2"/>
              <a:buChar char="q"/>
            </a:pPr>
            <a:endParaRPr lang="en-US" sz="1200">
              <a:latin typeface="Arial" panose="020B0604020202020204" pitchFamily="34" charset="0"/>
            </a:endParaRPr>
          </a:p>
          <a:p>
            <a:pPr>
              <a:spcBef>
                <a:spcPct val="0"/>
              </a:spcBef>
              <a:buSzTx/>
              <a:buFont typeface="Wingdings" panose="05000000000000000000" pitchFamily="2" charset="2"/>
              <a:buNone/>
            </a:pPr>
            <a:r>
              <a:rPr lang="en-US" sz="1200">
                <a:latin typeface="Arial" panose="020B0604020202020204" pitchFamily="34" charset="0"/>
              </a:rPr>
              <a:t>Thanks and enjoy!  JFK/KWR</a:t>
            </a:r>
            <a:endParaRPr lang="en-US" sz="1200">
              <a:latin typeface="Arial" panose="020B0604020202020204" pitchFamily="34" charset="0"/>
            </a:endParaRPr>
          </a:p>
          <a:p>
            <a:pPr>
              <a:spcBef>
                <a:spcPct val="0"/>
              </a:spcBef>
              <a:buClrTx/>
              <a:buSzTx/>
              <a:buFontTx/>
              <a:buNone/>
            </a:pPr>
            <a:endParaRPr lang="en-US" sz="1200">
              <a:latin typeface="Arial" panose="020B0604020202020204" pitchFamily="34" charset="0"/>
            </a:endParaRPr>
          </a:p>
          <a:p>
            <a:pPr>
              <a:spcBef>
                <a:spcPct val="0"/>
              </a:spcBef>
              <a:buClrTx/>
              <a:buSzTx/>
              <a:buFontTx/>
              <a:buNone/>
            </a:pPr>
            <a:r>
              <a:rPr lang="en-US" sz="1200">
                <a:latin typeface="Arial" panose="020B0604020202020204" pitchFamily="34" charset="0"/>
              </a:rPr>
              <a:t>All material copyright 1996-2009</a:t>
            </a:r>
            <a:endParaRPr lang="en-US" sz="1200">
              <a:latin typeface="Arial" panose="020B0604020202020204" pitchFamily="34" charset="0"/>
            </a:endParaRPr>
          </a:p>
          <a:p>
            <a:pPr>
              <a:spcBef>
                <a:spcPct val="0"/>
              </a:spcBef>
              <a:buClrTx/>
              <a:buSzTx/>
              <a:buFontTx/>
              <a:buNone/>
            </a:pPr>
            <a:r>
              <a:rPr lang="en-US" sz="1200">
                <a:latin typeface="Arial" panose="020B0604020202020204" pitchFamily="34" charset="0"/>
              </a:rPr>
              <a:t>J.F Kurose and K.W. Ross, All Rights Reserved</a:t>
            </a:r>
            <a:endParaRPr lang="en-US" sz="1200">
              <a:latin typeface="Arial" panose="020B0604020202020204" pitchFamily="34" charset="0"/>
            </a:endParaRPr>
          </a:p>
        </p:txBody>
      </p:sp>
      <p:pic>
        <p:nvPicPr>
          <p:cNvPr id="33800" name="Picture 8" descr="0136079679_1"/>
          <p:cNvPicPr>
            <a:picLocks noChangeAspect="1" noChangeArrowheads="1"/>
          </p:cNvPicPr>
          <p:nvPr/>
        </p:nvPicPr>
        <p:blipFill>
          <a:blip r:embed="rId1" cstate="print"/>
          <a:srcRect/>
          <a:stretch>
            <a:fillRect/>
          </a:stretch>
        </p:blipFill>
        <p:spPr bwMode="auto">
          <a:xfrm>
            <a:off x="6289675" y="390525"/>
            <a:ext cx="2425700" cy="299402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2: Application Layer</a:t>
            </a:r>
            <a:endParaRPr lang="en-US">
              <a:latin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a:defRPr/>
            </a:pPr>
            <a:fld id="{9659EBD7-DAE3-4AA8-9DEE-CD979B7FF0E0}" type="slidenum">
              <a:rPr lang="en-US" smtClean="0"/>
            </a:fld>
            <a:endParaRPr lang="en-US"/>
          </a:p>
        </p:txBody>
      </p:sp>
      <p:pic>
        <p:nvPicPr>
          <p:cNvPr id="124931" name="Picture 3"/>
          <p:cNvPicPr>
            <a:picLocks noChangeAspect="1" noChangeArrowheads="1"/>
          </p:cNvPicPr>
          <p:nvPr/>
        </p:nvPicPr>
        <p:blipFill>
          <a:blip r:embed="rId1"/>
          <a:srcRect/>
          <a:stretch>
            <a:fillRect/>
          </a:stretch>
        </p:blipFill>
        <p:spPr bwMode="auto">
          <a:xfrm>
            <a:off x="6074335" y="270455"/>
            <a:ext cx="2685296" cy="2871719"/>
          </a:xfrm>
          <a:prstGeom prst="rect">
            <a:avLst/>
          </a:prstGeom>
          <a:noFill/>
          <a:ln w="9525">
            <a:noFill/>
            <a:miter lim="800000"/>
            <a:headEnd/>
            <a:tailEnd/>
          </a:ln>
        </p:spPr>
      </p:pic>
      <p:pic>
        <p:nvPicPr>
          <p:cNvPr id="124933" name="Picture 5"/>
          <p:cNvPicPr>
            <a:picLocks noChangeAspect="1" noChangeArrowheads="1"/>
          </p:cNvPicPr>
          <p:nvPr/>
        </p:nvPicPr>
        <p:blipFill>
          <a:blip r:embed="rId2"/>
          <a:srcRect/>
          <a:stretch>
            <a:fillRect/>
          </a:stretch>
        </p:blipFill>
        <p:spPr bwMode="auto">
          <a:xfrm>
            <a:off x="6065950" y="3357687"/>
            <a:ext cx="2743199" cy="2933642"/>
          </a:xfrm>
          <a:prstGeom prst="rect">
            <a:avLst/>
          </a:prstGeom>
          <a:noFill/>
          <a:ln w="9525">
            <a:noFill/>
            <a:miter lim="800000"/>
            <a:headEnd/>
            <a:tailEnd/>
          </a:ln>
        </p:spPr>
      </p:pic>
      <p:pic>
        <p:nvPicPr>
          <p:cNvPr id="124934" name="Picture 6"/>
          <p:cNvPicPr>
            <a:picLocks noChangeAspect="1" noChangeArrowheads="1"/>
          </p:cNvPicPr>
          <p:nvPr/>
        </p:nvPicPr>
        <p:blipFill>
          <a:blip r:embed="rId3"/>
          <a:srcRect/>
          <a:stretch>
            <a:fillRect/>
          </a:stretch>
        </p:blipFill>
        <p:spPr bwMode="auto">
          <a:xfrm>
            <a:off x="3564362" y="142607"/>
            <a:ext cx="2218252" cy="3244538"/>
          </a:xfrm>
          <a:prstGeom prst="rect">
            <a:avLst/>
          </a:prstGeom>
          <a:noFill/>
          <a:ln w="9525">
            <a:noFill/>
            <a:miter lim="800000"/>
            <a:headEnd/>
            <a:tailEnd/>
          </a:ln>
        </p:spPr>
      </p:pic>
      <p:pic>
        <p:nvPicPr>
          <p:cNvPr id="9" name="Picture 2"/>
          <p:cNvPicPr>
            <a:picLocks noChangeAspect="1" noChangeArrowheads="1"/>
          </p:cNvPicPr>
          <p:nvPr/>
        </p:nvPicPr>
        <p:blipFill>
          <a:blip r:embed="rId4"/>
          <a:srcRect/>
          <a:stretch>
            <a:fillRect/>
          </a:stretch>
        </p:blipFill>
        <p:spPr bwMode="auto">
          <a:xfrm>
            <a:off x="505899" y="3391110"/>
            <a:ext cx="5276716" cy="3299464"/>
          </a:xfrm>
          <a:prstGeom prst="rect">
            <a:avLst/>
          </a:prstGeom>
          <a:noFill/>
          <a:ln w="9525">
            <a:noFill/>
            <a:miter lim="800000"/>
            <a:headEnd/>
            <a:tailEnd/>
          </a:ln>
          <a:effectLst/>
        </p:spPr>
      </p:pic>
      <p:pic>
        <p:nvPicPr>
          <p:cNvPr id="124935" name="Picture 7"/>
          <p:cNvPicPr>
            <a:picLocks noChangeAspect="1" noChangeArrowheads="1"/>
          </p:cNvPicPr>
          <p:nvPr/>
        </p:nvPicPr>
        <p:blipFill>
          <a:blip r:embed="rId5"/>
          <a:srcRect/>
          <a:stretch>
            <a:fillRect/>
          </a:stretch>
        </p:blipFill>
        <p:spPr bwMode="auto">
          <a:xfrm>
            <a:off x="278842" y="193184"/>
            <a:ext cx="2926153" cy="3129298"/>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4819" name="Slide Number Placeholder 6"/>
          <p:cNvSpPr>
            <a:spLocks noGrp="1"/>
          </p:cNvSpPr>
          <p:nvPr>
            <p:ph type="sldNum" sz="quarter" idx="12"/>
          </p:nvPr>
        </p:nvSpPr>
        <p:spPr>
          <a:noFill/>
        </p:spPr>
        <p:txBody>
          <a:bodyPr/>
          <a:lstStyle/>
          <a:p>
            <a:fld id="{09FB5B14-3207-4596-9B15-A315FEC6D487}" type="slidenum">
              <a:rPr lang="en-US"/>
            </a:fld>
            <a:endParaRPr lang="en-US"/>
          </a:p>
        </p:txBody>
      </p:sp>
      <p:sp>
        <p:nvSpPr>
          <p:cNvPr id="34820" name="Rectangle 2"/>
          <p:cNvSpPr>
            <a:spLocks noGrp="1" noChangeArrowheads="1"/>
          </p:cNvSpPr>
          <p:nvPr>
            <p:ph type="title"/>
          </p:nvPr>
        </p:nvSpPr>
        <p:spPr/>
        <p:txBody>
          <a:bodyPr/>
          <a:lstStyle/>
          <a:p>
            <a:r>
              <a:rPr lang="en-US" dirty="0"/>
              <a:t>Chapter 2: Application layer</a:t>
            </a:r>
            <a:endParaRPr lang="en-US" dirty="0"/>
          </a:p>
        </p:txBody>
      </p:sp>
      <p:sp>
        <p:nvSpPr>
          <p:cNvPr id="34821" name="Rectangle 3"/>
          <p:cNvSpPr>
            <a:spLocks noGrp="1" noChangeArrowheads="1"/>
          </p:cNvSpPr>
          <p:nvPr>
            <p:ph type="body" sz="half" idx="1"/>
          </p:nvPr>
        </p:nvSpPr>
        <p:spPr/>
        <p:txBody>
          <a:bodyPr/>
          <a:lstStyle/>
          <a:p>
            <a:r>
              <a:rPr lang="en-US" sz="2400"/>
              <a:t>2.1 Principles of network applications</a:t>
            </a:r>
            <a:endParaRPr lang="en-US" sz="2400"/>
          </a:p>
          <a:p>
            <a:r>
              <a:rPr lang="en-US" sz="2400"/>
              <a:t>2.2 Web and HTTP</a:t>
            </a:r>
            <a:endParaRPr lang="en-US" sz="2400"/>
          </a:p>
          <a:p>
            <a:r>
              <a:rPr lang="en-US" sz="2400"/>
              <a:t>2.3 FTP </a:t>
            </a:r>
            <a:endParaRPr lang="en-US" sz="2400">
              <a:solidFill>
                <a:srgbClr val="FF0000"/>
              </a:solidFill>
            </a:endParaRPr>
          </a:p>
          <a:p>
            <a:r>
              <a:rPr lang="en-US" sz="2400"/>
              <a:t>2.4 Electronic Mail</a:t>
            </a:r>
            <a:endParaRPr lang="en-US" sz="2400"/>
          </a:p>
          <a:p>
            <a:pPr lvl="1"/>
            <a:r>
              <a:rPr lang="en-US" sz="2000"/>
              <a:t>SMTP, POP3, IMAP</a:t>
            </a:r>
            <a:endParaRPr lang="en-US" sz="2000"/>
          </a:p>
          <a:p>
            <a:r>
              <a:rPr lang="en-US" sz="2400"/>
              <a:t>2.5 DNS</a:t>
            </a:r>
            <a:endParaRPr lang="en-US" sz="2400"/>
          </a:p>
          <a:p>
            <a:endParaRPr lang="en-US" sz="2400"/>
          </a:p>
        </p:txBody>
      </p:sp>
      <p:sp>
        <p:nvSpPr>
          <p:cNvPr id="34822" name="Rectangle 4"/>
          <p:cNvSpPr>
            <a:spLocks noGrp="1" noChangeArrowheads="1"/>
          </p:cNvSpPr>
          <p:nvPr>
            <p:ph type="body" sz="half" idx="2"/>
          </p:nvPr>
        </p:nvSpPr>
        <p:spPr>
          <a:xfrm>
            <a:off x="4495800" y="1600200"/>
            <a:ext cx="4054475" cy="4648200"/>
          </a:xfrm>
        </p:spPr>
        <p:txBody>
          <a:bodyPr/>
          <a:lstStyle/>
          <a:p>
            <a:r>
              <a:rPr lang="en-US" sz="2400" dirty="0"/>
              <a:t>2.6 P2P applications</a:t>
            </a:r>
            <a:endParaRPr lang="en-US" sz="2400" dirty="0"/>
          </a:p>
          <a:p>
            <a:r>
              <a:rPr lang="en-US" sz="2400" dirty="0"/>
              <a:t>2.7 Socket programming with UDP</a:t>
            </a:r>
            <a:endParaRPr lang="en-US" sz="2400" dirty="0"/>
          </a:p>
          <a:p>
            <a:r>
              <a:rPr lang="en-US" sz="2400" dirty="0"/>
              <a:t>2.8 Socket programming with TCP</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5843" name="Slide Number Placeholder 6"/>
          <p:cNvSpPr>
            <a:spLocks noGrp="1"/>
          </p:cNvSpPr>
          <p:nvPr>
            <p:ph type="sldNum" sz="quarter" idx="12"/>
          </p:nvPr>
        </p:nvSpPr>
        <p:spPr>
          <a:noFill/>
        </p:spPr>
        <p:txBody>
          <a:bodyPr/>
          <a:lstStyle/>
          <a:p>
            <a:fld id="{96ACC117-40D3-4366-8254-76D5581A6175}" type="slidenum">
              <a:rPr lang="en-US"/>
            </a:fld>
            <a:endParaRPr lang="en-US"/>
          </a:p>
        </p:txBody>
      </p:sp>
      <p:sp>
        <p:nvSpPr>
          <p:cNvPr id="35844" name="Rectangle 2"/>
          <p:cNvSpPr>
            <a:spLocks noGrp="1" noChangeArrowheads="1"/>
          </p:cNvSpPr>
          <p:nvPr>
            <p:ph type="title"/>
          </p:nvPr>
        </p:nvSpPr>
        <p:spPr/>
        <p:txBody>
          <a:bodyPr/>
          <a:lstStyle/>
          <a:p>
            <a:r>
              <a:rPr lang="en-US"/>
              <a:t>Chapter 2: Application Layer</a:t>
            </a:r>
            <a:endParaRPr lang="en-US"/>
          </a:p>
        </p:txBody>
      </p:sp>
      <p:sp>
        <p:nvSpPr>
          <p:cNvPr id="35845" name="Rectangle 3"/>
          <p:cNvSpPr>
            <a:spLocks noGrp="1" noChangeArrowheads="1"/>
          </p:cNvSpPr>
          <p:nvPr>
            <p:ph type="body" sz="half" idx="1"/>
          </p:nvPr>
        </p:nvSpPr>
        <p:spPr>
          <a:xfrm>
            <a:off x="533400" y="1371600"/>
            <a:ext cx="3581400" cy="4648200"/>
          </a:xfrm>
        </p:spPr>
        <p:txBody>
          <a:bodyPr/>
          <a:lstStyle/>
          <a:p>
            <a:pPr>
              <a:buFont typeface="ZapfDingbats" pitchFamily="82" charset="2"/>
              <a:buNone/>
            </a:pPr>
            <a:r>
              <a:rPr lang="en-US" sz="2400" u="sng">
                <a:solidFill>
                  <a:srgbClr val="FF0000"/>
                </a:solidFill>
              </a:rPr>
              <a:t>Our goals:</a:t>
            </a:r>
            <a:r>
              <a:rPr lang="en-US" sz="2400"/>
              <a:t> </a:t>
            </a:r>
            <a:endParaRPr lang="en-US" sz="2400"/>
          </a:p>
          <a:p>
            <a:r>
              <a:rPr lang="en-US" sz="2400"/>
              <a:t>conceptual, implementation aspects of network application protocols</a:t>
            </a:r>
            <a:endParaRPr lang="en-US" sz="2400"/>
          </a:p>
          <a:p>
            <a:pPr lvl="1"/>
            <a:r>
              <a:rPr lang="en-US"/>
              <a:t>transport-layer service models</a:t>
            </a:r>
            <a:endParaRPr lang="en-US"/>
          </a:p>
          <a:p>
            <a:pPr lvl="1"/>
            <a:r>
              <a:rPr lang="en-US"/>
              <a:t>client-server paradigm</a:t>
            </a:r>
            <a:endParaRPr lang="en-US"/>
          </a:p>
          <a:p>
            <a:pPr lvl="1"/>
            <a:r>
              <a:rPr lang="en-US"/>
              <a:t>peer-to-peer paradigm</a:t>
            </a:r>
            <a:endParaRPr lang="en-US" sz="2000"/>
          </a:p>
        </p:txBody>
      </p:sp>
      <p:sp>
        <p:nvSpPr>
          <p:cNvPr id="35846" name="Rectangle 4"/>
          <p:cNvSpPr>
            <a:spLocks noGrp="1" noChangeArrowheads="1"/>
          </p:cNvSpPr>
          <p:nvPr>
            <p:ph type="body" sz="half" idx="2"/>
          </p:nvPr>
        </p:nvSpPr>
        <p:spPr>
          <a:xfrm>
            <a:off x="4419600" y="1441450"/>
            <a:ext cx="3667125" cy="4648200"/>
          </a:xfrm>
        </p:spPr>
        <p:txBody>
          <a:bodyPr/>
          <a:lstStyle/>
          <a:p>
            <a:r>
              <a:rPr lang="en-US" sz="2400"/>
              <a:t>learn about protocols by examining popular application-level protocols</a:t>
            </a:r>
            <a:endParaRPr lang="en-US" sz="2400"/>
          </a:p>
          <a:p>
            <a:pPr lvl="1"/>
            <a:r>
              <a:rPr lang="en-US" sz="2000"/>
              <a:t>HTTP</a:t>
            </a:r>
            <a:endParaRPr lang="en-US" sz="2000"/>
          </a:p>
          <a:p>
            <a:pPr lvl="1"/>
            <a:r>
              <a:rPr lang="en-US" sz="2000"/>
              <a:t>FTP</a:t>
            </a:r>
            <a:endParaRPr lang="en-US" sz="2000"/>
          </a:p>
          <a:p>
            <a:pPr lvl="1"/>
            <a:r>
              <a:rPr lang="en-US" sz="2000"/>
              <a:t>SMTP / POP3 / IMAP</a:t>
            </a:r>
            <a:endParaRPr lang="en-US" sz="2000"/>
          </a:p>
          <a:p>
            <a:pPr lvl="1"/>
            <a:r>
              <a:rPr lang="en-US" sz="2000"/>
              <a:t>DNS</a:t>
            </a:r>
            <a:endParaRPr lang="en-US" sz="2000"/>
          </a:p>
          <a:p>
            <a:r>
              <a:rPr lang="en-US" sz="2400"/>
              <a:t>programming network applications</a:t>
            </a:r>
            <a:endParaRPr lang="en-US" sz="2400"/>
          </a:p>
          <a:p>
            <a:pPr lvl="1"/>
            <a:r>
              <a:rPr lang="en-US"/>
              <a:t>socket API</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6867" name="Slide Number Placeholder 6"/>
          <p:cNvSpPr>
            <a:spLocks noGrp="1"/>
          </p:cNvSpPr>
          <p:nvPr>
            <p:ph type="sldNum" sz="quarter" idx="12"/>
          </p:nvPr>
        </p:nvSpPr>
        <p:spPr>
          <a:noFill/>
        </p:spPr>
        <p:txBody>
          <a:bodyPr/>
          <a:lstStyle/>
          <a:p>
            <a:fld id="{267A8AA0-D156-4E57-A58A-0DE1342E706A}" type="slidenum">
              <a:rPr lang="en-US"/>
            </a:fld>
            <a:endParaRPr lang="en-US"/>
          </a:p>
        </p:txBody>
      </p:sp>
      <p:sp>
        <p:nvSpPr>
          <p:cNvPr id="36868" name="Rectangle 4"/>
          <p:cNvSpPr>
            <a:spLocks noGrp="1" noChangeArrowheads="1"/>
          </p:cNvSpPr>
          <p:nvPr>
            <p:ph type="title"/>
          </p:nvPr>
        </p:nvSpPr>
        <p:spPr/>
        <p:txBody>
          <a:bodyPr/>
          <a:lstStyle/>
          <a:p>
            <a:r>
              <a:rPr lang="en-US" dirty="0"/>
              <a:t>Some network apps</a:t>
            </a:r>
            <a:endParaRPr lang="en-US" dirty="0"/>
          </a:p>
        </p:txBody>
      </p:sp>
      <p:sp>
        <p:nvSpPr>
          <p:cNvPr id="36869" name="Rectangle 5"/>
          <p:cNvSpPr>
            <a:spLocks noGrp="1" noChangeArrowheads="1"/>
          </p:cNvSpPr>
          <p:nvPr>
            <p:ph type="body" sz="half" idx="1"/>
          </p:nvPr>
        </p:nvSpPr>
        <p:spPr/>
        <p:txBody>
          <a:bodyPr/>
          <a:lstStyle/>
          <a:p>
            <a:r>
              <a:rPr lang="en-US" sz="2400" dirty="0"/>
              <a:t>e-mail</a:t>
            </a:r>
            <a:endParaRPr lang="en-US" sz="2400" dirty="0"/>
          </a:p>
          <a:p>
            <a:r>
              <a:rPr lang="en-US" sz="2400" dirty="0"/>
              <a:t>web</a:t>
            </a:r>
            <a:endParaRPr lang="en-US" sz="2400" dirty="0"/>
          </a:p>
          <a:p>
            <a:r>
              <a:rPr lang="en-US" sz="2400" dirty="0"/>
              <a:t>instant messaging</a:t>
            </a:r>
            <a:endParaRPr lang="en-US" sz="2400" dirty="0"/>
          </a:p>
          <a:p>
            <a:r>
              <a:rPr lang="en-US" sz="2400" dirty="0"/>
              <a:t>remote login</a:t>
            </a:r>
            <a:endParaRPr lang="en-US" sz="2400" dirty="0"/>
          </a:p>
          <a:p>
            <a:r>
              <a:rPr lang="en-US" sz="2400" dirty="0"/>
              <a:t>P2P file sharing</a:t>
            </a:r>
            <a:endParaRPr lang="en-US" sz="2400" dirty="0"/>
          </a:p>
          <a:p>
            <a:r>
              <a:rPr lang="en-US" sz="2400" dirty="0"/>
              <a:t>multi-user network games</a:t>
            </a:r>
            <a:endParaRPr lang="en-US" sz="2400" dirty="0"/>
          </a:p>
          <a:p>
            <a:r>
              <a:rPr lang="en-US" sz="2400" dirty="0"/>
              <a:t>streaming stored video clips</a:t>
            </a:r>
            <a:endParaRPr lang="en-US" sz="2400" dirty="0"/>
          </a:p>
          <a:p>
            <a:pPr>
              <a:buFont typeface="ZapfDingbats" pitchFamily="82" charset="2"/>
              <a:buNone/>
            </a:pPr>
            <a:endParaRPr lang="en-US" sz="2400" dirty="0"/>
          </a:p>
          <a:p>
            <a:pPr>
              <a:buFont typeface="ZapfDingbats" pitchFamily="82" charset="2"/>
              <a:buNone/>
            </a:pPr>
            <a:endParaRPr lang="en-US" sz="2400" dirty="0"/>
          </a:p>
        </p:txBody>
      </p:sp>
      <p:sp>
        <p:nvSpPr>
          <p:cNvPr id="36870" name="Rectangle 6"/>
          <p:cNvSpPr>
            <a:spLocks noGrp="1" noChangeArrowheads="1"/>
          </p:cNvSpPr>
          <p:nvPr>
            <p:ph type="body" sz="half" idx="2"/>
          </p:nvPr>
        </p:nvSpPr>
        <p:spPr/>
        <p:txBody>
          <a:bodyPr/>
          <a:lstStyle/>
          <a:p>
            <a:r>
              <a:rPr lang="en-US" sz="2400" dirty="0"/>
              <a:t>social networks</a:t>
            </a:r>
            <a:endParaRPr lang="en-US" sz="2400" dirty="0"/>
          </a:p>
          <a:p>
            <a:r>
              <a:rPr lang="en-US" sz="2400" dirty="0"/>
              <a:t>voice over IP</a:t>
            </a:r>
            <a:endParaRPr lang="en-US" sz="2400" dirty="0"/>
          </a:p>
          <a:p>
            <a:r>
              <a:rPr lang="en-US" sz="2400" dirty="0"/>
              <a:t>real-time video conferencing</a:t>
            </a:r>
            <a:endParaRPr lang="en-US" sz="2400" dirty="0"/>
          </a:p>
          <a:p>
            <a:r>
              <a:rPr lang="en-US" sz="2400" dirty="0"/>
              <a:t>grid computing</a:t>
            </a:r>
            <a:endParaRPr lang="en-US" sz="2400" dirty="0"/>
          </a:p>
          <a:p>
            <a:pPr>
              <a:buNone/>
            </a:pP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40" name="Slide Number Placeholder 6"/>
          <p:cNvSpPr>
            <a:spLocks noGrp="1"/>
          </p:cNvSpPr>
          <p:nvPr>
            <p:ph type="sldNum" sz="quarter" idx="12"/>
          </p:nvPr>
        </p:nvSpPr>
        <p:spPr>
          <a:noFill/>
        </p:spPr>
        <p:txBody>
          <a:bodyPr/>
          <a:lstStyle/>
          <a:p>
            <a:fld id="{5ADE1BF4-38BF-40FB-A345-FA74CB2A5A9E}" type="slidenum">
              <a:rPr lang="en-US"/>
            </a:fld>
            <a:endParaRPr lang="en-US"/>
          </a:p>
        </p:txBody>
      </p:sp>
      <p:sp>
        <p:nvSpPr>
          <p:cNvPr id="1041" name="Freeform 573"/>
          <p:cNvSpPr/>
          <p:nvPr/>
        </p:nvSpPr>
        <p:spPr bwMode="auto">
          <a:xfrm>
            <a:off x="6737350" y="3430588"/>
            <a:ext cx="1314450" cy="674687"/>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w="9525">
            <a:noFill/>
            <a:round/>
          </a:ln>
        </p:spPr>
        <p:txBody>
          <a:bodyPr/>
          <a:lstStyle/>
          <a:p>
            <a:endParaRPr lang="en-US"/>
          </a:p>
        </p:txBody>
      </p:sp>
      <p:sp>
        <p:nvSpPr>
          <p:cNvPr id="1042" name="Freeform 574"/>
          <p:cNvSpPr/>
          <p:nvPr/>
        </p:nvSpPr>
        <p:spPr bwMode="auto">
          <a:xfrm>
            <a:off x="6756400" y="1905000"/>
            <a:ext cx="1730375" cy="1044575"/>
          </a:xfrm>
          <a:custGeom>
            <a:avLst/>
            <a:gdLst>
              <a:gd name="T0" fmla="*/ 424 w 765"/>
              <a:gd name="T1" fmla="*/ 10 h 459"/>
              <a:gd name="T2" fmla="*/ 288 w 765"/>
              <a:gd name="T3" fmla="*/ 70 h 459"/>
              <a:gd name="T4" fmla="*/ 96 w 765"/>
              <a:gd name="T5" fmla="*/ 100 h 459"/>
              <a:gd name="T6" fmla="*/ 14 w 765"/>
              <a:gd name="T7" fmla="*/ 336 h 459"/>
              <a:gd name="T8" fmla="*/ 180 w 765"/>
              <a:gd name="T9" fmla="*/ 444 h 459"/>
              <a:gd name="T10" fmla="*/ 346 w 765"/>
              <a:gd name="T11" fmla="*/ 426 h 459"/>
              <a:gd name="T12" fmla="*/ 584 w 765"/>
              <a:gd name="T13" fmla="*/ 444 h 459"/>
              <a:gd name="T14" fmla="*/ 698 w 765"/>
              <a:gd name="T15" fmla="*/ 434 h 459"/>
              <a:gd name="T16" fmla="*/ 752 w 765"/>
              <a:gd name="T17" fmla="*/ 372 h 459"/>
              <a:gd name="T18" fmla="*/ 750 w 765"/>
              <a:gd name="T19" fmla="*/ 158 h 459"/>
              <a:gd name="T20" fmla="*/ 662 w 765"/>
              <a:gd name="T21" fmla="*/ 34 h 459"/>
              <a:gd name="T22" fmla="*/ 424 w 765"/>
              <a:gd name="T23" fmla="*/ 10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w="9525">
            <a:noFill/>
            <a:round/>
          </a:ln>
        </p:spPr>
        <p:txBody>
          <a:bodyPr/>
          <a:lstStyle/>
          <a:p>
            <a:endParaRPr lang="en-US"/>
          </a:p>
        </p:txBody>
      </p:sp>
      <p:sp>
        <p:nvSpPr>
          <p:cNvPr id="1043" name="Freeform 575"/>
          <p:cNvSpPr/>
          <p:nvPr/>
        </p:nvSpPr>
        <p:spPr bwMode="auto">
          <a:xfrm>
            <a:off x="5016500" y="1612900"/>
            <a:ext cx="1644650" cy="1071563"/>
          </a:xfrm>
          <a:custGeom>
            <a:avLst/>
            <a:gdLst>
              <a:gd name="T0" fmla="*/ 648 w 1036"/>
              <a:gd name="T1" fmla="*/ 11 h 675"/>
              <a:gd name="T2" fmla="*/ 390 w 1036"/>
              <a:gd name="T3" fmla="*/ 53 h 675"/>
              <a:gd name="T4" fmla="*/ 206 w 1036"/>
              <a:gd name="T5" fmla="*/ 129 h 675"/>
              <a:gd name="T6" fmla="*/ 152 w 1036"/>
              <a:gd name="T7" fmla="*/ 229 h 675"/>
              <a:gd name="T8" fmla="*/ 22 w 1036"/>
              <a:gd name="T9" fmla="*/ 297 h 675"/>
              <a:gd name="T10" fmla="*/ 18 w 1036"/>
              <a:gd name="T11" fmla="*/ 459 h 675"/>
              <a:gd name="T12" fmla="*/ 132 w 1036"/>
              <a:gd name="T13" fmla="*/ 489 h 675"/>
              <a:gd name="T14" fmla="*/ 458 w 1036"/>
              <a:gd name="T15" fmla="*/ 489 h 675"/>
              <a:gd name="T16" fmla="*/ 598 w 1036"/>
              <a:gd name="T17" fmla="*/ 555 h 675"/>
              <a:gd name="T18" fmla="*/ 752 w 1036"/>
              <a:gd name="T19" fmla="*/ 657 h 675"/>
              <a:gd name="T20" fmla="*/ 870 w 1036"/>
              <a:gd name="T21" fmla="*/ 661 h 675"/>
              <a:gd name="T22" fmla="*/ 952 w 1036"/>
              <a:gd name="T23" fmla="*/ 603 h 675"/>
              <a:gd name="T24" fmla="*/ 992 w 1036"/>
              <a:gd name="T25" fmla="*/ 445 h 675"/>
              <a:gd name="T26" fmla="*/ 1018 w 1036"/>
              <a:gd name="T27" fmla="*/ 291 h 675"/>
              <a:gd name="T28" fmla="*/ 1022 w 1036"/>
              <a:gd name="T29" fmla="*/ 107 h 675"/>
              <a:gd name="T30" fmla="*/ 934 w 1036"/>
              <a:gd name="T31" fmla="*/ 17 h 675"/>
              <a:gd name="T32" fmla="*/ 776 w 1036"/>
              <a:gd name="T33" fmla="*/ 3 h 675"/>
              <a:gd name="T34" fmla="*/ 64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w="9525">
            <a:noFill/>
            <a:round/>
          </a:ln>
        </p:spPr>
        <p:txBody>
          <a:bodyPr/>
          <a:lstStyle/>
          <a:p>
            <a:endParaRPr lang="en-US"/>
          </a:p>
        </p:txBody>
      </p:sp>
      <p:grpSp>
        <p:nvGrpSpPr>
          <p:cNvPr id="1044" name="Group 576"/>
          <p:cNvGrpSpPr/>
          <p:nvPr/>
        </p:nvGrpSpPr>
        <p:grpSpPr bwMode="auto">
          <a:xfrm>
            <a:off x="5103813" y="2947988"/>
            <a:ext cx="1458912" cy="933450"/>
            <a:chOff x="2889" y="1631"/>
            <a:chExt cx="980" cy="743"/>
          </a:xfrm>
        </p:grpSpPr>
        <p:sp>
          <p:nvSpPr>
            <p:cNvPr id="1397" name="Rectangle 577"/>
            <p:cNvSpPr>
              <a:spLocks noChangeArrowheads="1"/>
            </p:cNvSpPr>
            <p:nvPr/>
          </p:nvSpPr>
          <p:spPr bwMode="auto">
            <a:xfrm>
              <a:off x="3046" y="1841"/>
              <a:ext cx="663" cy="533"/>
            </a:xfrm>
            <a:prstGeom prst="rect">
              <a:avLst/>
            </a:prstGeom>
            <a:solidFill>
              <a:srgbClr val="DDDDDD"/>
            </a:solidFill>
            <a:ln w="9525">
              <a:noFill/>
              <a:miter lim="800000"/>
            </a:ln>
          </p:spPr>
          <p:txBody>
            <a:bodyPr wrap="none" anchor="ctr"/>
            <a:lstStyle/>
            <a:p>
              <a:endParaRPr lang="en-US"/>
            </a:p>
          </p:txBody>
        </p:sp>
        <p:sp>
          <p:nvSpPr>
            <p:cNvPr id="1398" name="AutoShape 578"/>
            <p:cNvSpPr>
              <a:spLocks noChangeArrowheads="1"/>
            </p:cNvSpPr>
            <p:nvPr/>
          </p:nvSpPr>
          <p:spPr bwMode="auto">
            <a:xfrm>
              <a:off x="2889" y="1631"/>
              <a:ext cx="980" cy="253"/>
            </a:xfrm>
            <a:prstGeom prst="triangle">
              <a:avLst>
                <a:gd name="adj" fmla="val 50000"/>
              </a:avLst>
            </a:prstGeom>
            <a:solidFill>
              <a:srgbClr val="DDDDDD"/>
            </a:solidFill>
            <a:ln w="9525">
              <a:noFill/>
              <a:miter lim="800000"/>
            </a:ln>
          </p:spPr>
          <p:txBody>
            <a:bodyPr wrap="none" anchor="ctr"/>
            <a:lstStyle/>
            <a:p>
              <a:pPr algn="ctr">
                <a:spcBef>
                  <a:spcPct val="0"/>
                </a:spcBef>
                <a:buClrTx/>
                <a:buSzTx/>
                <a:buFontTx/>
                <a:buNone/>
              </a:pPr>
              <a:endParaRPr lang="en-US">
                <a:solidFill>
                  <a:srgbClr val="00CCFF"/>
                </a:solidFill>
                <a:latin typeface="Times New Roman" panose="02020603050405020304" pitchFamily="18" charset="0"/>
              </a:endParaRPr>
            </a:p>
          </p:txBody>
        </p:sp>
      </p:grpSp>
      <p:grpSp>
        <p:nvGrpSpPr>
          <p:cNvPr id="1045" name="Group 579"/>
          <p:cNvGrpSpPr/>
          <p:nvPr/>
        </p:nvGrpSpPr>
        <p:grpSpPr bwMode="auto">
          <a:xfrm>
            <a:off x="5805488" y="1804988"/>
            <a:ext cx="336550" cy="531812"/>
            <a:chOff x="3796" y="1043"/>
            <a:chExt cx="865" cy="1237"/>
          </a:xfrm>
        </p:grpSpPr>
        <p:sp>
          <p:nvSpPr>
            <p:cNvPr id="1367" name="Line 580"/>
            <p:cNvSpPr>
              <a:spLocks noChangeShapeType="1"/>
            </p:cNvSpPr>
            <p:nvPr/>
          </p:nvSpPr>
          <p:spPr bwMode="auto">
            <a:xfrm flipH="1">
              <a:off x="3992" y="1481"/>
              <a:ext cx="235" cy="724"/>
            </a:xfrm>
            <a:prstGeom prst="line">
              <a:avLst/>
            </a:prstGeom>
            <a:noFill/>
            <a:ln w="9525">
              <a:solidFill>
                <a:schemeClr val="bg2"/>
              </a:solidFill>
              <a:round/>
            </a:ln>
          </p:spPr>
          <p:txBody>
            <a:bodyPr wrap="none"/>
            <a:lstStyle/>
            <a:p>
              <a:endParaRPr lang="en-US"/>
            </a:p>
          </p:txBody>
        </p:sp>
        <p:sp>
          <p:nvSpPr>
            <p:cNvPr id="1368" name="Line 581"/>
            <p:cNvSpPr>
              <a:spLocks noChangeShapeType="1"/>
            </p:cNvSpPr>
            <p:nvPr/>
          </p:nvSpPr>
          <p:spPr bwMode="auto">
            <a:xfrm>
              <a:off x="4227" y="1481"/>
              <a:ext cx="236" cy="720"/>
            </a:xfrm>
            <a:prstGeom prst="line">
              <a:avLst/>
            </a:prstGeom>
            <a:noFill/>
            <a:ln w="9525">
              <a:solidFill>
                <a:schemeClr val="bg2"/>
              </a:solidFill>
              <a:round/>
            </a:ln>
          </p:spPr>
          <p:txBody>
            <a:bodyPr wrap="none"/>
            <a:lstStyle/>
            <a:p>
              <a:endParaRPr lang="en-US"/>
            </a:p>
          </p:txBody>
        </p:sp>
        <p:sp>
          <p:nvSpPr>
            <p:cNvPr id="1369" name="Line 582"/>
            <p:cNvSpPr>
              <a:spLocks noChangeShapeType="1"/>
            </p:cNvSpPr>
            <p:nvPr/>
          </p:nvSpPr>
          <p:spPr bwMode="auto">
            <a:xfrm>
              <a:off x="3992" y="2201"/>
              <a:ext cx="235" cy="79"/>
            </a:xfrm>
            <a:prstGeom prst="line">
              <a:avLst/>
            </a:prstGeom>
            <a:noFill/>
            <a:ln w="9525">
              <a:solidFill>
                <a:schemeClr val="bg2"/>
              </a:solidFill>
              <a:round/>
            </a:ln>
          </p:spPr>
          <p:txBody>
            <a:bodyPr wrap="none"/>
            <a:lstStyle/>
            <a:p>
              <a:endParaRPr lang="en-US"/>
            </a:p>
          </p:txBody>
        </p:sp>
        <p:sp>
          <p:nvSpPr>
            <p:cNvPr id="1370" name="Line 583"/>
            <p:cNvSpPr>
              <a:spLocks noChangeShapeType="1"/>
            </p:cNvSpPr>
            <p:nvPr/>
          </p:nvSpPr>
          <p:spPr bwMode="auto">
            <a:xfrm flipH="1">
              <a:off x="4227" y="2201"/>
              <a:ext cx="236" cy="79"/>
            </a:xfrm>
            <a:prstGeom prst="line">
              <a:avLst/>
            </a:prstGeom>
            <a:noFill/>
            <a:ln w="9525">
              <a:solidFill>
                <a:schemeClr val="bg2"/>
              </a:solidFill>
              <a:round/>
            </a:ln>
          </p:spPr>
          <p:txBody>
            <a:bodyPr wrap="none"/>
            <a:lstStyle/>
            <a:p>
              <a:endParaRPr lang="en-US"/>
            </a:p>
          </p:txBody>
        </p:sp>
        <p:sp>
          <p:nvSpPr>
            <p:cNvPr id="1371" name="Line 584"/>
            <p:cNvSpPr>
              <a:spLocks noChangeShapeType="1"/>
            </p:cNvSpPr>
            <p:nvPr/>
          </p:nvSpPr>
          <p:spPr bwMode="auto">
            <a:xfrm>
              <a:off x="4227" y="1497"/>
              <a:ext cx="0" cy="783"/>
            </a:xfrm>
            <a:prstGeom prst="line">
              <a:avLst/>
            </a:prstGeom>
            <a:noFill/>
            <a:ln w="9525">
              <a:solidFill>
                <a:schemeClr val="bg2"/>
              </a:solidFill>
              <a:round/>
            </a:ln>
          </p:spPr>
          <p:txBody>
            <a:bodyPr wrap="none"/>
            <a:lstStyle/>
            <a:p>
              <a:endParaRPr lang="en-US"/>
            </a:p>
          </p:txBody>
        </p:sp>
        <p:sp>
          <p:nvSpPr>
            <p:cNvPr id="1372" name="Line 585"/>
            <p:cNvSpPr>
              <a:spLocks noChangeShapeType="1"/>
            </p:cNvSpPr>
            <p:nvPr/>
          </p:nvSpPr>
          <p:spPr bwMode="auto">
            <a:xfrm flipV="1">
              <a:off x="3992" y="2127"/>
              <a:ext cx="235" cy="78"/>
            </a:xfrm>
            <a:prstGeom prst="line">
              <a:avLst/>
            </a:prstGeom>
            <a:noFill/>
            <a:ln w="9525">
              <a:solidFill>
                <a:schemeClr val="bg2"/>
              </a:solidFill>
              <a:round/>
            </a:ln>
          </p:spPr>
          <p:txBody>
            <a:bodyPr wrap="none"/>
            <a:lstStyle/>
            <a:p>
              <a:endParaRPr lang="en-US"/>
            </a:p>
          </p:txBody>
        </p:sp>
        <p:sp>
          <p:nvSpPr>
            <p:cNvPr id="1373" name="Line 586"/>
            <p:cNvSpPr>
              <a:spLocks noChangeShapeType="1"/>
            </p:cNvSpPr>
            <p:nvPr/>
          </p:nvSpPr>
          <p:spPr bwMode="auto">
            <a:xfrm flipH="1" flipV="1">
              <a:off x="4227" y="2127"/>
              <a:ext cx="236" cy="74"/>
            </a:xfrm>
            <a:prstGeom prst="line">
              <a:avLst/>
            </a:prstGeom>
            <a:noFill/>
            <a:ln w="9525">
              <a:solidFill>
                <a:schemeClr val="bg2"/>
              </a:solidFill>
              <a:round/>
            </a:ln>
          </p:spPr>
          <p:txBody>
            <a:bodyPr wrap="none"/>
            <a:lstStyle/>
            <a:p>
              <a:endParaRPr lang="en-US"/>
            </a:p>
          </p:txBody>
        </p:sp>
        <p:sp>
          <p:nvSpPr>
            <p:cNvPr id="1374" name="Line 587"/>
            <p:cNvSpPr>
              <a:spLocks noChangeShapeType="1"/>
            </p:cNvSpPr>
            <p:nvPr/>
          </p:nvSpPr>
          <p:spPr bwMode="auto">
            <a:xfrm>
              <a:off x="4092" y="1890"/>
              <a:ext cx="135" cy="60"/>
            </a:xfrm>
            <a:prstGeom prst="line">
              <a:avLst/>
            </a:prstGeom>
            <a:noFill/>
            <a:ln w="9525">
              <a:solidFill>
                <a:schemeClr val="bg2"/>
              </a:solidFill>
              <a:round/>
            </a:ln>
          </p:spPr>
          <p:txBody>
            <a:bodyPr wrap="none"/>
            <a:lstStyle/>
            <a:p>
              <a:endParaRPr lang="en-US"/>
            </a:p>
          </p:txBody>
        </p:sp>
        <p:sp>
          <p:nvSpPr>
            <p:cNvPr id="1375" name="Line 588"/>
            <p:cNvSpPr>
              <a:spLocks noChangeShapeType="1"/>
            </p:cNvSpPr>
            <p:nvPr/>
          </p:nvSpPr>
          <p:spPr bwMode="auto">
            <a:xfrm flipV="1">
              <a:off x="4227" y="1890"/>
              <a:ext cx="143" cy="60"/>
            </a:xfrm>
            <a:prstGeom prst="line">
              <a:avLst/>
            </a:prstGeom>
            <a:noFill/>
            <a:ln w="9525">
              <a:solidFill>
                <a:schemeClr val="bg2"/>
              </a:solidFill>
              <a:round/>
            </a:ln>
          </p:spPr>
          <p:txBody>
            <a:bodyPr wrap="none"/>
            <a:lstStyle/>
            <a:p>
              <a:endParaRPr lang="en-US"/>
            </a:p>
          </p:txBody>
        </p:sp>
        <p:sp>
          <p:nvSpPr>
            <p:cNvPr id="1376" name="Line 589"/>
            <p:cNvSpPr>
              <a:spLocks noChangeShapeType="1"/>
            </p:cNvSpPr>
            <p:nvPr/>
          </p:nvSpPr>
          <p:spPr bwMode="auto">
            <a:xfrm>
              <a:off x="4047" y="1996"/>
              <a:ext cx="175" cy="81"/>
            </a:xfrm>
            <a:prstGeom prst="line">
              <a:avLst/>
            </a:prstGeom>
            <a:noFill/>
            <a:ln w="9525">
              <a:solidFill>
                <a:schemeClr val="bg2"/>
              </a:solidFill>
              <a:round/>
            </a:ln>
          </p:spPr>
          <p:txBody>
            <a:bodyPr wrap="none"/>
            <a:lstStyle/>
            <a:p>
              <a:endParaRPr lang="en-US"/>
            </a:p>
          </p:txBody>
        </p:sp>
        <p:sp>
          <p:nvSpPr>
            <p:cNvPr id="1377" name="Line 590"/>
            <p:cNvSpPr>
              <a:spLocks noChangeShapeType="1"/>
            </p:cNvSpPr>
            <p:nvPr/>
          </p:nvSpPr>
          <p:spPr bwMode="auto">
            <a:xfrm flipV="1">
              <a:off x="4227" y="2012"/>
              <a:ext cx="176" cy="71"/>
            </a:xfrm>
            <a:prstGeom prst="line">
              <a:avLst/>
            </a:prstGeom>
            <a:noFill/>
            <a:ln w="9525">
              <a:solidFill>
                <a:schemeClr val="bg2"/>
              </a:solidFill>
              <a:round/>
            </a:ln>
          </p:spPr>
          <p:txBody>
            <a:bodyPr wrap="none"/>
            <a:lstStyle/>
            <a:p>
              <a:endParaRPr lang="en-US"/>
            </a:p>
          </p:txBody>
        </p:sp>
        <p:sp>
          <p:nvSpPr>
            <p:cNvPr id="1378" name="Line 591"/>
            <p:cNvSpPr>
              <a:spLocks noChangeShapeType="1"/>
            </p:cNvSpPr>
            <p:nvPr/>
          </p:nvSpPr>
          <p:spPr bwMode="auto">
            <a:xfrm flipV="1">
              <a:off x="4227" y="1782"/>
              <a:ext cx="90" cy="29"/>
            </a:xfrm>
            <a:prstGeom prst="line">
              <a:avLst/>
            </a:prstGeom>
            <a:noFill/>
            <a:ln w="9525">
              <a:solidFill>
                <a:schemeClr val="bg2"/>
              </a:solidFill>
              <a:round/>
            </a:ln>
          </p:spPr>
          <p:txBody>
            <a:bodyPr wrap="none"/>
            <a:lstStyle/>
            <a:p>
              <a:endParaRPr lang="en-US"/>
            </a:p>
          </p:txBody>
        </p:sp>
        <p:sp>
          <p:nvSpPr>
            <p:cNvPr id="1379" name="Line 592"/>
            <p:cNvSpPr>
              <a:spLocks noChangeShapeType="1"/>
            </p:cNvSpPr>
            <p:nvPr/>
          </p:nvSpPr>
          <p:spPr bwMode="auto">
            <a:xfrm flipV="1">
              <a:off x="4227" y="1632"/>
              <a:ext cx="57" cy="22"/>
            </a:xfrm>
            <a:prstGeom prst="line">
              <a:avLst/>
            </a:prstGeom>
            <a:noFill/>
            <a:ln w="9525">
              <a:solidFill>
                <a:schemeClr val="bg2"/>
              </a:solidFill>
              <a:round/>
            </a:ln>
          </p:spPr>
          <p:txBody>
            <a:bodyPr wrap="none"/>
            <a:lstStyle/>
            <a:p>
              <a:endParaRPr lang="en-US"/>
            </a:p>
          </p:txBody>
        </p:sp>
        <p:sp>
          <p:nvSpPr>
            <p:cNvPr id="1380" name="Line 593"/>
            <p:cNvSpPr>
              <a:spLocks noChangeShapeType="1"/>
            </p:cNvSpPr>
            <p:nvPr/>
          </p:nvSpPr>
          <p:spPr bwMode="auto">
            <a:xfrm>
              <a:off x="4126" y="1772"/>
              <a:ext cx="109" cy="39"/>
            </a:xfrm>
            <a:prstGeom prst="line">
              <a:avLst/>
            </a:prstGeom>
            <a:noFill/>
            <a:ln w="9525">
              <a:solidFill>
                <a:schemeClr val="bg2"/>
              </a:solidFill>
              <a:round/>
            </a:ln>
          </p:spPr>
          <p:txBody>
            <a:bodyPr wrap="none"/>
            <a:lstStyle/>
            <a:p>
              <a:endParaRPr lang="en-US"/>
            </a:p>
          </p:txBody>
        </p:sp>
        <p:sp>
          <p:nvSpPr>
            <p:cNvPr id="1381" name="Line 594"/>
            <p:cNvSpPr>
              <a:spLocks noChangeShapeType="1"/>
            </p:cNvSpPr>
            <p:nvPr/>
          </p:nvSpPr>
          <p:spPr bwMode="auto">
            <a:xfrm>
              <a:off x="4175" y="1625"/>
              <a:ext cx="63" cy="39"/>
            </a:xfrm>
            <a:prstGeom prst="line">
              <a:avLst/>
            </a:prstGeom>
            <a:noFill/>
            <a:ln w="9525">
              <a:solidFill>
                <a:schemeClr val="bg2"/>
              </a:solidFill>
              <a:round/>
            </a:ln>
          </p:spPr>
          <p:txBody>
            <a:bodyPr wrap="none"/>
            <a:lstStyle/>
            <a:p>
              <a:endParaRPr lang="en-US"/>
            </a:p>
          </p:txBody>
        </p:sp>
        <p:grpSp>
          <p:nvGrpSpPr>
            <p:cNvPr id="1382" name="Group 595"/>
            <p:cNvGrpSpPr/>
            <p:nvPr/>
          </p:nvGrpSpPr>
          <p:grpSpPr bwMode="auto">
            <a:xfrm>
              <a:off x="4269" y="1415"/>
              <a:ext cx="392" cy="137"/>
              <a:chOff x="4227" y="1360"/>
              <a:chExt cx="863" cy="270"/>
            </a:xfrm>
          </p:grpSpPr>
          <p:sp>
            <p:nvSpPr>
              <p:cNvPr id="1393" name="Line 596"/>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1394" name="Line 597"/>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1395" name="Line 598"/>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1396" name="Line 599"/>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nvGrpSpPr>
            <p:cNvPr id="1383" name="Group 600"/>
            <p:cNvGrpSpPr/>
            <p:nvPr/>
          </p:nvGrpSpPr>
          <p:grpSpPr bwMode="auto">
            <a:xfrm rot="5700496">
              <a:off x="4053" y="1170"/>
              <a:ext cx="392" cy="137"/>
              <a:chOff x="4227" y="1360"/>
              <a:chExt cx="863" cy="270"/>
            </a:xfrm>
          </p:grpSpPr>
          <p:sp>
            <p:nvSpPr>
              <p:cNvPr id="1389" name="Line 601"/>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1390" name="Line 602"/>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1391" name="Line 603"/>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1392" name="Line 604"/>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nvGrpSpPr>
            <p:cNvPr id="1384" name="Group 605"/>
            <p:cNvGrpSpPr/>
            <p:nvPr/>
          </p:nvGrpSpPr>
          <p:grpSpPr bwMode="auto">
            <a:xfrm rot="10800000">
              <a:off x="3796" y="1402"/>
              <a:ext cx="392" cy="137"/>
              <a:chOff x="4227" y="1360"/>
              <a:chExt cx="863" cy="270"/>
            </a:xfrm>
          </p:grpSpPr>
          <p:sp>
            <p:nvSpPr>
              <p:cNvPr id="1385" name="Line 606"/>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1386" name="Line 607"/>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1387" name="Line 608"/>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1388" name="Line 609"/>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sp>
        <p:nvSpPr>
          <p:cNvPr id="1046" name="Oval 610"/>
          <p:cNvSpPr>
            <a:spLocks noChangeArrowheads="1"/>
          </p:cNvSpPr>
          <p:nvPr/>
        </p:nvSpPr>
        <p:spPr bwMode="auto">
          <a:xfrm>
            <a:off x="6862763" y="3625850"/>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047" name="Line 611"/>
          <p:cNvSpPr>
            <a:spLocks noChangeShapeType="1"/>
          </p:cNvSpPr>
          <p:nvPr/>
        </p:nvSpPr>
        <p:spPr bwMode="auto">
          <a:xfrm>
            <a:off x="6862763" y="3617913"/>
            <a:ext cx="0" cy="58737"/>
          </a:xfrm>
          <a:prstGeom prst="line">
            <a:avLst/>
          </a:prstGeom>
          <a:noFill/>
          <a:ln w="12700">
            <a:solidFill>
              <a:schemeClr val="folHlink"/>
            </a:solidFill>
            <a:round/>
          </a:ln>
        </p:spPr>
        <p:txBody>
          <a:bodyPr wrap="none" anchor="ctr"/>
          <a:lstStyle/>
          <a:p>
            <a:endParaRPr lang="en-US"/>
          </a:p>
        </p:txBody>
      </p:sp>
      <p:sp>
        <p:nvSpPr>
          <p:cNvPr id="1048" name="Line 612"/>
          <p:cNvSpPr>
            <a:spLocks noChangeShapeType="1"/>
          </p:cNvSpPr>
          <p:nvPr/>
        </p:nvSpPr>
        <p:spPr bwMode="auto">
          <a:xfrm>
            <a:off x="7221538" y="3617913"/>
            <a:ext cx="0" cy="58737"/>
          </a:xfrm>
          <a:prstGeom prst="line">
            <a:avLst/>
          </a:prstGeom>
          <a:noFill/>
          <a:ln w="12700">
            <a:solidFill>
              <a:schemeClr val="folHlink"/>
            </a:solidFill>
            <a:round/>
          </a:ln>
        </p:spPr>
        <p:txBody>
          <a:bodyPr wrap="none" anchor="ctr"/>
          <a:lstStyle/>
          <a:p>
            <a:endParaRPr lang="en-US"/>
          </a:p>
        </p:txBody>
      </p:sp>
      <p:sp>
        <p:nvSpPr>
          <p:cNvPr id="1049" name="Rectangle 613"/>
          <p:cNvSpPr>
            <a:spLocks noChangeArrowheads="1"/>
          </p:cNvSpPr>
          <p:nvPr/>
        </p:nvSpPr>
        <p:spPr bwMode="auto">
          <a:xfrm>
            <a:off x="6862763" y="3617913"/>
            <a:ext cx="355600" cy="58737"/>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050" name="Oval 614"/>
          <p:cNvSpPr>
            <a:spLocks noChangeArrowheads="1"/>
          </p:cNvSpPr>
          <p:nvPr/>
        </p:nvSpPr>
        <p:spPr bwMode="auto">
          <a:xfrm>
            <a:off x="6859588" y="3549650"/>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051" name="Group 615"/>
          <p:cNvGrpSpPr/>
          <p:nvPr/>
        </p:nvGrpSpPr>
        <p:grpSpPr bwMode="auto">
          <a:xfrm>
            <a:off x="6945313" y="3573463"/>
            <a:ext cx="179387" cy="65087"/>
            <a:chOff x="2848" y="848"/>
            <a:chExt cx="140" cy="98"/>
          </a:xfrm>
        </p:grpSpPr>
        <p:sp>
          <p:nvSpPr>
            <p:cNvPr id="1364" name="Line 61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65" name="Line 61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66" name="Line 61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052" name="Group 619"/>
          <p:cNvGrpSpPr/>
          <p:nvPr/>
        </p:nvGrpSpPr>
        <p:grpSpPr bwMode="auto">
          <a:xfrm flipV="1">
            <a:off x="6945313" y="3573463"/>
            <a:ext cx="179387" cy="65087"/>
            <a:chOff x="2848" y="848"/>
            <a:chExt cx="140" cy="98"/>
          </a:xfrm>
        </p:grpSpPr>
        <p:sp>
          <p:nvSpPr>
            <p:cNvPr id="1361" name="Line 62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62" name="Line 62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63" name="Line 62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053" name="Oval 623"/>
          <p:cNvSpPr>
            <a:spLocks noChangeArrowheads="1"/>
          </p:cNvSpPr>
          <p:nvPr/>
        </p:nvSpPr>
        <p:spPr bwMode="auto">
          <a:xfrm>
            <a:off x="7218363" y="3905250"/>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054" name="Line 624"/>
          <p:cNvSpPr>
            <a:spLocks noChangeShapeType="1"/>
          </p:cNvSpPr>
          <p:nvPr/>
        </p:nvSpPr>
        <p:spPr bwMode="auto">
          <a:xfrm>
            <a:off x="7218363" y="3897313"/>
            <a:ext cx="0" cy="58737"/>
          </a:xfrm>
          <a:prstGeom prst="line">
            <a:avLst/>
          </a:prstGeom>
          <a:noFill/>
          <a:ln w="12700">
            <a:solidFill>
              <a:schemeClr val="folHlink"/>
            </a:solidFill>
            <a:round/>
          </a:ln>
        </p:spPr>
        <p:txBody>
          <a:bodyPr wrap="none" anchor="ctr"/>
          <a:lstStyle/>
          <a:p>
            <a:endParaRPr lang="en-US"/>
          </a:p>
        </p:txBody>
      </p:sp>
      <p:sp>
        <p:nvSpPr>
          <p:cNvPr id="1055" name="Line 625"/>
          <p:cNvSpPr>
            <a:spLocks noChangeShapeType="1"/>
          </p:cNvSpPr>
          <p:nvPr/>
        </p:nvSpPr>
        <p:spPr bwMode="auto">
          <a:xfrm>
            <a:off x="7577138" y="3897313"/>
            <a:ext cx="0" cy="58737"/>
          </a:xfrm>
          <a:prstGeom prst="line">
            <a:avLst/>
          </a:prstGeom>
          <a:noFill/>
          <a:ln w="12700">
            <a:solidFill>
              <a:schemeClr val="folHlink"/>
            </a:solidFill>
            <a:round/>
          </a:ln>
        </p:spPr>
        <p:txBody>
          <a:bodyPr wrap="none" anchor="ctr"/>
          <a:lstStyle/>
          <a:p>
            <a:endParaRPr lang="en-US"/>
          </a:p>
        </p:txBody>
      </p:sp>
      <p:sp>
        <p:nvSpPr>
          <p:cNvPr id="1056" name="Rectangle 626"/>
          <p:cNvSpPr>
            <a:spLocks noChangeArrowheads="1"/>
          </p:cNvSpPr>
          <p:nvPr/>
        </p:nvSpPr>
        <p:spPr bwMode="auto">
          <a:xfrm>
            <a:off x="7218363" y="3897313"/>
            <a:ext cx="355600" cy="58737"/>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057" name="Oval 627"/>
          <p:cNvSpPr>
            <a:spLocks noChangeArrowheads="1"/>
          </p:cNvSpPr>
          <p:nvPr/>
        </p:nvSpPr>
        <p:spPr bwMode="auto">
          <a:xfrm>
            <a:off x="7215188" y="3829050"/>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058" name="Group 628"/>
          <p:cNvGrpSpPr/>
          <p:nvPr/>
        </p:nvGrpSpPr>
        <p:grpSpPr bwMode="auto">
          <a:xfrm>
            <a:off x="7300913" y="3852863"/>
            <a:ext cx="179387" cy="65087"/>
            <a:chOff x="2848" y="848"/>
            <a:chExt cx="140" cy="98"/>
          </a:xfrm>
        </p:grpSpPr>
        <p:sp>
          <p:nvSpPr>
            <p:cNvPr id="1358" name="Line 62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59" name="Line 63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60" name="Line 63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059" name="Group 632"/>
          <p:cNvGrpSpPr/>
          <p:nvPr/>
        </p:nvGrpSpPr>
        <p:grpSpPr bwMode="auto">
          <a:xfrm flipV="1">
            <a:off x="7300913" y="3852863"/>
            <a:ext cx="179387" cy="65087"/>
            <a:chOff x="2848" y="848"/>
            <a:chExt cx="140" cy="98"/>
          </a:xfrm>
        </p:grpSpPr>
        <p:sp>
          <p:nvSpPr>
            <p:cNvPr id="1355" name="Line 63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56" name="Line 63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57" name="Line 63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060" name="Oval 636"/>
          <p:cNvSpPr>
            <a:spLocks noChangeArrowheads="1"/>
          </p:cNvSpPr>
          <p:nvPr/>
        </p:nvSpPr>
        <p:spPr bwMode="auto">
          <a:xfrm>
            <a:off x="7497763" y="3638550"/>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061" name="Line 637"/>
          <p:cNvSpPr>
            <a:spLocks noChangeShapeType="1"/>
          </p:cNvSpPr>
          <p:nvPr/>
        </p:nvSpPr>
        <p:spPr bwMode="auto">
          <a:xfrm>
            <a:off x="7497763" y="3630613"/>
            <a:ext cx="0" cy="58737"/>
          </a:xfrm>
          <a:prstGeom prst="line">
            <a:avLst/>
          </a:prstGeom>
          <a:noFill/>
          <a:ln w="12700">
            <a:solidFill>
              <a:schemeClr val="folHlink"/>
            </a:solidFill>
            <a:round/>
          </a:ln>
        </p:spPr>
        <p:txBody>
          <a:bodyPr wrap="none" anchor="ctr"/>
          <a:lstStyle/>
          <a:p>
            <a:endParaRPr lang="en-US"/>
          </a:p>
        </p:txBody>
      </p:sp>
      <p:sp>
        <p:nvSpPr>
          <p:cNvPr id="1062" name="Line 638"/>
          <p:cNvSpPr>
            <a:spLocks noChangeShapeType="1"/>
          </p:cNvSpPr>
          <p:nvPr/>
        </p:nvSpPr>
        <p:spPr bwMode="auto">
          <a:xfrm>
            <a:off x="7856538" y="3630613"/>
            <a:ext cx="0" cy="58737"/>
          </a:xfrm>
          <a:prstGeom prst="line">
            <a:avLst/>
          </a:prstGeom>
          <a:noFill/>
          <a:ln w="12700">
            <a:solidFill>
              <a:schemeClr val="folHlink"/>
            </a:solidFill>
            <a:round/>
          </a:ln>
        </p:spPr>
        <p:txBody>
          <a:bodyPr wrap="none" anchor="ctr"/>
          <a:lstStyle/>
          <a:p>
            <a:endParaRPr lang="en-US"/>
          </a:p>
        </p:txBody>
      </p:sp>
      <p:sp>
        <p:nvSpPr>
          <p:cNvPr id="1063" name="Rectangle 639"/>
          <p:cNvSpPr>
            <a:spLocks noChangeArrowheads="1"/>
          </p:cNvSpPr>
          <p:nvPr/>
        </p:nvSpPr>
        <p:spPr bwMode="auto">
          <a:xfrm>
            <a:off x="7497763" y="3630613"/>
            <a:ext cx="355600" cy="58737"/>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064" name="Oval 640"/>
          <p:cNvSpPr>
            <a:spLocks noChangeArrowheads="1"/>
          </p:cNvSpPr>
          <p:nvPr/>
        </p:nvSpPr>
        <p:spPr bwMode="auto">
          <a:xfrm>
            <a:off x="7494588" y="3562350"/>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065" name="Group 641"/>
          <p:cNvGrpSpPr/>
          <p:nvPr/>
        </p:nvGrpSpPr>
        <p:grpSpPr bwMode="auto">
          <a:xfrm>
            <a:off x="7580313" y="3586163"/>
            <a:ext cx="179387" cy="65087"/>
            <a:chOff x="2848" y="848"/>
            <a:chExt cx="140" cy="98"/>
          </a:xfrm>
        </p:grpSpPr>
        <p:sp>
          <p:nvSpPr>
            <p:cNvPr id="1352" name="Line 642"/>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53" name="Line 643"/>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54" name="Line 644"/>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066" name="Group 645"/>
          <p:cNvGrpSpPr/>
          <p:nvPr/>
        </p:nvGrpSpPr>
        <p:grpSpPr bwMode="auto">
          <a:xfrm flipV="1">
            <a:off x="7580313" y="3586163"/>
            <a:ext cx="179387" cy="65087"/>
            <a:chOff x="2848" y="848"/>
            <a:chExt cx="140" cy="98"/>
          </a:xfrm>
        </p:grpSpPr>
        <p:sp>
          <p:nvSpPr>
            <p:cNvPr id="1349" name="Line 64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50" name="Line 64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51" name="Line 64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067" name="Oval 649"/>
          <p:cNvSpPr>
            <a:spLocks noChangeArrowheads="1"/>
          </p:cNvSpPr>
          <p:nvPr/>
        </p:nvSpPr>
        <p:spPr bwMode="auto">
          <a:xfrm>
            <a:off x="6962775" y="2476500"/>
            <a:ext cx="347663" cy="88900"/>
          </a:xfrm>
          <a:prstGeom prst="ellipse">
            <a:avLst/>
          </a:prstGeom>
          <a:solidFill>
            <a:srgbClr val="DDDDDD"/>
          </a:solidFill>
          <a:ln w="12700">
            <a:solidFill>
              <a:schemeClr val="folHlink"/>
            </a:solidFill>
            <a:round/>
          </a:ln>
        </p:spPr>
        <p:txBody>
          <a:bodyPr wrap="none" anchor="ctr"/>
          <a:lstStyle/>
          <a:p>
            <a:endParaRPr lang="en-US"/>
          </a:p>
        </p:txBody>
      </p:sp>
      <p:sp>
        <p:nvSpPr>
          <p:cNvPr id="1068" name="Line 650"/>
          <p:cNvSpPr>
            <a:spLocks noChangeShapeType="1"/>
          </p:cNvSpPr>
          <p:nvPr/>
        </p:nvSpPr>
        <p:spPr bwMode="auto">
          <a:xfrm>
            <a:off x="6962775" y="2468563"/>
            <a:ext cx="0" cy="55562"/>
          </a:xfrm>
          <a:prstGeom prst="line">
            <a:avLst/>
          </a:prstGeom>
          <a:noFill/>
          <a:ln w="12700">
            <a:solidFill>
              <a:schemeClr val="folHlink"/>
            </a:solidFill>
            <a:round/>
          </a:ln>
        </p:spPr>
        <p:txBody>
          <a:bodyPr wrap="none" anchor="ctr"/>
          <a:lstStyle/>
          <a:p>
            <a:endParaRPr lang="en-US"/>
          </a:p>
        </p:txBody>
      </p:sp>
      <p:sp>
        <p:nvSpPr>
          <p:cNvPr id="1069" name="Line 651"/>
          <p:cNvSpPr>
            <a:spLocks noChangeShapeType="1"/>
          </p:cNvSpPr>
          <p:nvPr/>
        </p:nvSpPr>
        <p:spPr bwMode="auto">
          <a:xfrm>
            <a:off x="7310438" y="2468563"/>
            <a:ext cx="0" cy="55562"/>
          </a:xfrm>
          <a:prstGeom prst="line">
            <a:avLst/>
          </a:prstGeom>
          <a:noFill/>
          <a:ln w="12700">
            <a:solidFill>
              <a:schemeClr val="folHlink"/>
            </a:solidFill>
            <a:round/>
          </a:ln>
        </p:spPr>
        <p:txBody>
          <a:bodyPr wrap="none" anchor="ctr"/>
          <a:lstStyle/>
          <a:p>
            <a:endParaRPr lang="en-US"/>
          </a:p>
        </p:txBody>
      </p:sp>
      <p:sp>
        <p:nvSpPr>
          <p:cNvPr id="1070" name="Rectangle 652"/>
          <p:cNvSpPr>
            <a:spLocks noChangeArrowheads="1"/>
          </p:cNvSpPr>
          <p:nvPr/>
        </p:nvSpPr>
        <p:spPr bwMode="auto">
          <a:xfrm>
            <a:off x="6962775" y="2468563"/>
            <a:ext cx="344488"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071" name="Oval 653"/>
          <p:cNvSpPr>
            <a:spLocks noChangeArrowheads="1"/>
          </p:cNvSpPr>
          <p:nvPr/>
        </p:nvSpPr>
        <p:spPr bwMode="auto">
          <a:xfrm>
            <a:off x="6959600" y="2405063"/>
            <a:ext cx="347663" cy="103187"/>
          </a:xfrm>
          <a:prstGeom prst="ellipse">
            <a:avLst/>
          </a:prstGeom>
          <a:solidFill>
            <a:srgbClr val="DDDDDD"/>
          </a:solidFill>
          <a:ln w="12700">
            <a:solidFill>
              <a:schemeClr val="folHlink"/>
            </a:solidFill>
            <a:round/>
          </a:ln>
        </p:spPr>
        <p:txBody>
          <a:bodyPr wrap="none" anchor="ctr"/>
          <a:lstStyle/>
          <a:p>
            <a:endParaRPr lang="en-US"/>
          </a:p>
        </p:txBody>
      </p:sp>
      <p:grpSp>
        <p:nvGrpSpPr>
          <p:cNvPr id="1072" name="Group 654"/>
          <p:cNvGrpSpPr/>
          <p:nvPr/>
        </p:nvGrpSpPr>
        <p:grpSpPr bwMode="auto">
          <a:xfrm>
            <a:off x="7043738" y="2427288"/>
            <a:ext cx="171450" cy="61912"/>
            <a:chOff x="2848" y="848"/>
            <a:chExt cx="140" cy="98"/>
          </a:xfrm>
        </p:grpSpPr>
        <p:sp>
          <p:nvSpPr>
            <p:cNvPr id="1346" name="Line 65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47" name="Line 65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48" name="Line 65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073" name="Group 658"/>
          <p:cNvGrpSpPr/>
          <p:nvPr/>
        </p:nvGrpSpPr>
        <p:grpSpPr bwMode="auto">
          <a:xfrm flipV="1">
            <a:off x="7043738" y="2427288"/>
            <a:ext cx="171450" cy="60325"/>
            <a:chOff x="2848" y="848"/>
            <a:chExt cx="140" cy="98"/>
          </a:xfrm>
        </p:grpSpPr>
        <p:sp>
          <p:nvSpPr>
            <p:cNvPr id="1343" name="Line 65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44" name="Line 66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45" name="Line 66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074" name="Oval 662"/>
          <p:cNvSpPr>
            <a:spLocks noChangeArrowheads="1"/>
          </p:cNvSpPr>
          <p:nvPr/>
        </p:nvSpPr>
        <p:spPr bwMode="auto">
          <a:xfrm>
            <a:off x="6961188" y="2736850"/>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075" name="Line 663"/>
          <p:cNvSpPr>
            <a:spLocks noChangeShapeType="1"/>
          </p:cNvSpPr>
          <p:nvPr/>
        </p:nvSpPr>
        <p:spPr bwMode="auto">
          <a:xfrm>
            <a:off x="6961188" y="2728913"/>
            <a:ext cx="0" cy="58737"/>
          </a:xfrm>
          <a:prstGeom prst="line">
            <a:avLst/>
          </a:prstGeom>
          <a:noFill/>
          <a:ln w="12700">
            <a:solidFill>
              <a:schemeClr val="folHlink"/>
            </a:solidFill>
            <a:round/>
          </a:ln>
        </p:spPr>
        <p:txBody>
          <a:bodyPr wrap="none" anchor="ctr"/>
          <a:lstStyle/>
          <a:p>
            <a:endParaRPr lang="en-US"/>
          </a:p>
        </p:txBody>
      </p:sp>
      <p:sp>
        <p:nvSpPr>
          <p:cNvPr id="1076" name="Line 664"/>
          <p:cNvSpPr>
            <a:spLocks noChangeShapeType="1"/>
          </p:cNvSpPr>
          <p:nvPr/>
        </p:nvSpPr>
        <p:spPr bwMode="auto">
          <a:xfrm>
            <a:off x="7319963" y="2728913"/>
            <a:ext cx="0" cy="58737"/>
          </a:xfrm>
          <a:prstGeom prst="line">
            <a:avLst/>
          </a:prstGeom>
          <a:noFill/>
          <a:ln w="12700">
            <a:solidFill>
              <a:schemeClr val="folHlink"/>
            </a:solidFill>
            <a:round/>
          </a:ln>
        </p:spPr>
        <p:txBody>
          <a:bodyPr wrap="none" anchor="ctr"/>
          <a:lstStyle/>
          <a:p>
            <a:endParaRPr lang="en-US"/>
          </a:p>
        </p:txBody>
      </p:sp>
      <p:sp>
        <p:nvSpPr>
          <p:cNvPr id="1077" name="Rectangle 665"/>
          <p:cNvSpPr>
            <a:spLocks noChangeArrowheads="1"/>
          </p:cNvSpPr>
          <p:nvPr/>
        </p:nvSpPr>
        <p:spPr bwMode="auto">
          <a:xfrm>
            <a:off x="6961188" y="2728913"/>
            <a:ext cx="355600" cy="58737"/>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078" name="Oval 666"/>
          <p:cNvSpPr>
            <a:spLocks noChangeArrowheads="1"/>
          </p:cNvSpPr>
          <p:nvPr/>
        </p:nvSpPr>
        <p:spPr bwMode="auto">
          <a:xfrm>
            <a:off x="6958013" y="2660650"/>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079" name="Group 667"/>
          <p:cNvGrpSpPr/>
          <p:nvPr/>
        </p:nvGrpSpPr>
        <p:grpSpPr bwMode="auto">
          <a:xfrm>
            <a:off x="7043738" y="2684463"/>
            <a:ext cx="179387" cy="65087"/>
            <a:chOff x="2848" y="848"/>
            <a:chExt cx="140" cy="98"/>
          </a:xfrm>
        </p:grpSpPr>
        <p:sp>
          <p:nvSpPr>
            <p:cNvPr id="1340" name="Line 668"/>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41" name="Line 669"/>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42" name="Line 670"/>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080" name="Group 671"/>
          <p:cNvGrpSpPr/>
          <p:nvPr/>
        </p:nvGrpSpPr>
        <p:grpSpPr bwMode="auto">
          <a:xfrm flipV="1">
            <a:off x="7043738" y="2684463"/>
            <a:ext cx="179387" cy="65087"/>
            <a:chOff x="2848" y="848"/>
            <a:chExt cx="140" cy="98"/>
          </a:xfrm>
        </p:grpSpPr>
        <p:sp>
          <p:nvSpPr>
            <p:cNvPr id="1337" name="Line 672"/>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38" name="Line 673"/>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39" name="Line 674"/>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081" name="Oval 675"/>
          <p:cNvSpPr>
            <a:spLocks noChangeArrowheads="1"/>
          </p:cNvSpPr>
          <p:nvPr/>
        </p:nvSpPr>
        <p:spPr bwMode="auto">
          <a:xfrm>
            <a:off x="7437438" y="2378075"/>
            <a:ext cx="330200" cy="85725"/>
          </a:xfrm>
          <a:prstGeom prst="ellipse">
            <a:avLst/>
          </a:prstGeom>
          <a:solidFill>
            <a:srgbClr val="DDDDDD"/>
          </a:solidFill>
          <a:ln w="12700">
            <a:solidFill>
              <a:schemeClr val="folHlink"/>
            </a:solidFill>
            <a:round/>
          </a:ln>
        </p:spPr>
        <p:txBody>
          <a:bodyPr wrap="none" anchor="ctr"/>
          <a:lstStyle/>
          <a:p>
            <a:endParaRPr lang="en-US"/>
          </a:p>
        </p:txBody>
      </p:sp>
      <p:sp>
        <p:nvSpPr>
          <p:cNvPr id="1082" name="Line 676"/>
          <p:cNvSpPr>
            <a:spLocks noChangeShapeType="1"/>
          </p:cNvSpPr>
          <p:nvPr/>
        </p:nvSpPr>
        <p:spPr bwMode="auto">
          <a:xfrm>
            <a:off x="7437438" y="2371725"/>
            <a:ext cx="0" cy="52388"/>
          </a:xfrm>
          <a:prstGeom prst="line">
            <a:avLst/>
          </a:prstGeom>
          <a:noFill/>
          <a:ln w="12700">
            <a:solidFill>
              <a:schemeClr val="folHlink"/>
            </a:solidFill>
            <a:round/>
          </a:ln>
        </p:spPr>
        <p:txBody>
          <a:bodyPr wrap="none" anchor="ctr"/>
          <a:lstStyle/>
          <a:p>
            <a:endParaRPr lang="en-US"/>
          </a:p>
        </p:txBody>
      </p:sp>
      <p:sp>
        <p:nvSpPr>
          <p:cNvPr id="1083" name="Line 677"/>
          <p:cNvSpPr>
            <a:spLocks noChangeShapeType="1"/>
          </p:cNvSpPr>
          <p:nvPr/>
        </p:nvSpPr>
        <p:spPr bwMode="auto">
          <a:xfrm>
            <a:off x="7767638" y="2371725"/>
            <a:ext cx="0" cy="52388"/>
          </a:xfrm>
          <a:prstGeom prst="line">
            <a:avLst/>
          </a:prstGeom>
          <a:noFill/>
          <a:ln w="12700">
            <a:solidFill>
              <a:schemeClr val="folHlink"/>
            </a:solidFill>
            <a:round/>
          </a:ln>
        </p:spPr>
        <p:txBody>
          <a:bodyPr wrap="none" anchor="ctr"/>
          <a:lstStyle/>
          <a:p>
            <a:endParaRPr lang="en-US"/>
          </a:p>
        </p:txBody>
      </p:sp>
      <p:sp>
        <p:nvSpPr>
          <p:cNvPr id="1084" name="Rectangle 678"/>
          <p:cNvSpPr>
            <a:spLocks noChangeArrowheads="1"/>
          </p:cNvSpPr>
          <p:nvPr/>
        </p:nvSpPr>
        <p:spPr bwMode="auto">
          <a:xfrm>
            <a:off x="7437438" y="2371725"/>
            <a:ext cx="327025" cy="5238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solidFill>
                <a:schemeClr val="bg2"/>
              </a:solidFill>
              <a:latin typeface="Times New Roman" panose="02020603050405020304" pitchFamily="18" charset="0"/>
            </a:endParaRPr>
          </a:p>
        </p:txBody>
      </p:sp>
      <p:sp>
        <p:nvSpPr>
          <p:cNvPr id="1085" name="Oval 679"/>
          <p:cNvSpPr>
            <a:spLocks noChangeArrowheads="1"/>
          </p:cNvSpPr>
          <p:nvPr/>
        </p:nvSpPr>
        <p:spPr bwMode="auto">
          <a:xfrm>
            <a:off x="7434263" y="2309813"/>
            <a:ext cx="330200" cy="100012"/>
          </a:xfrm>
          <a:prstGeom prst="ellipse">
            <a:avLst/>
          </a:prstGeom>
          <a:solidFill>
            <a:srgbClr val="DDDDDD"/>
          </a:solidFill>
          <a:ln w="12700">
            <a:solidFill>
              <a:schemeClr val="folHlink"/>
            </a:solidFill>
            <a:round/>
          </a:ln>
        </p:spPr>
        <p:txBody>
          <a:bodyPr wrap="none" anchor="ctr"/>
          <a:lstStyle/>
          <a:p>
            <a:endParaRPr lang="en-US"/>
          </a:p>
        </p:txBody>
      </p:sp>
      <p:grpSp>
        <p:nvGrpSpPr>
          <p:cNvPr id="1086" name="Group 680"/>
          <p:cNvGrpSpPr/>
          <p:nvPr/>
        </p:nvGrpSpPr>
        <p:grpSpPr bwMode="auto">
          <a:xfrm>
            <a:off x="7513638" y="2332038"/>
            <a:ext cx="163512" cy="57150"/>
            <a:chOff x="2848" y="848"/>
            <a:chExt cx="140" cy="98"/>
          </a:xfrm>
        </p:grpSpPr>
        <p:sp>
          <p:nvSpPr>
            <p:cNvPr id="1334" name="Line 681"/>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35" name="Line 682"/>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36" name="Line 683"/>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087" name="Group 684"/>
          <p:cNvGrpSpPr/>
          <p:nvPr/>
        </p:nvGrpSpPr>
        <p:grpSpPr bwMode="auto">
          <a:xfrm flipV="1">
            <a:off x="7513638" y="2330450"/>
            <a:ext cx="163512" cy="58738"/>
            <a:chOff x="2848" y="848"/>
            <a:chExt cx="140" cy="98"/>
          </a:xfrm>
        </p:grpSpPr>
        <p:sp>
          <p:nvSpPr>
            <p:cNvPr id="1331" name="Line 68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32" name="Line 68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33" name="Line 68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088" name="Oval 688"/>
          <p:cNvSpPr>
            <a:spLocks noChangeArrowheads="1"/>
          </p:cNvSpPr>
          <p:nvPr/>
        </p:nvSpPr>
        <p:spPr bwMode="auto">
          <a:xfrm>
            <a:off x="7523163" y="2736850"/>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089" name="Line 689"/>
          <p:cNvSpPr>
            <a:spLocks noChangeShapeType="1"/>
          </p:cNvSpPr>
          <p:nvPr/>
        </p:nvSpPr>
        <p:spPr bwMode="auto">
          <a:xfrm>
            <a:off x="7523163" y="2728913"/>
            <a:ext cx="0" cy="58737"/>
          </a:xfrm>
          <a:prstGeom prst="line">
            <a:avLst/>
          </a:prstGeom>
          <a:noFill/>
          <a:ln w="12700">
            <a:solidFill>
              <a:schemeClr val="folHlink"/>
            </a:solidFill>
            <a:round/>
          </a:ln>
        </p:spPr>
        <p:txBody>
          <a:bodyPr wrap="none" anchor="ctr"/>
          <a:lstStyle/>
          <a:p>
            <a:endParaRPr lang="en-US"/>
          </a:p>
        </p:txBody>
      </p:sp>
      <p:sp>
        <p:nvSpPr>
          <p:cNvPr id="1090" name="Line 690"/>
          <p:cNvSpPr>
            <a:spLocks noChangeShapeType="1"/>
          </p:cNvSpPr>
          <p:nvPr/>
        </p:nvSpPr>
        <p:spPr bwMode="auto">
          <a:xfrm>
            <a:off x="7881938" y="2728913"/>
            <a:ext cx="0" cy="58737"/>
          </a:xfrm>
          <a:prstGeom prst="line">
            <a:avLst/>
          </a:prstGeom>
          <a:noFill/>
          <a:ln w="12700">
            <a:solidFill>
              <a:schemeClr val="folHlink"/>
            </a:solidFill>
            <a:round/>
          </a:ln>
        </p:spPr>
        <p:txBody>
          <a:bodyPr wrap="none" anchor="ctr"/>
          <a:lstStyle/>
          <a:p>
            <a:endParaRPr lang="en-US"/>
          </a:p>
        </p:txBody>
      </p:sp>
      <p:sp>
        <p:nvSpPr>
          <p:cNvPr id="1091" name="Rectangle 691"/>
          <p:cNvSpPr>
            <a:spLocks noChangeArrowheads="1"/>
          </p:cNvSpPr>
          <p:nvPr/>
        </p:nvSpPr>
        <p:spPr bwMode="auto">
          <a:xfrm>
            <a:off x="7523163" y="2728913"/>
            <a:ext cx="355600" cy="58737"/>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092" name="Oval 692"/>
          <p:cNvSpPr>
            <a:spLocks noChangeArrowheads="1"/>
          </p:cNvSpPr>
          <p:nvPr/>
        </p:nvSpPr>
        <p:spPr bwMode="auto">
          <a:xfrm>
            <a:off x="7519988" y="2660650"/>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093" name="Group 693"/>
          <p:cNvGrpSpPr/>
          <p:nvPr/>
        </p:nvGrpSpPr>
        <p:grpSpPr bwMode="auto">
          <a:xfrm>
            <a:off x="7605713" y="2684463"/>
            <a:ext cx="179387" cy="65087"/>
            <a:chOff x="2848" y="848"/>
            <a:chExt cx="140" cy="98"/>
          </a:xfrm>
        </p:grpSpPr>
        <p:sp>
          <p:nvSpPr>
            <p:cNvPr id="1328" name="Line 69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29" name="Line 69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30" name="Line 69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094" name="Group 697"/>
          <p:cNvGrpSpPr/>
          <p:nvPr/>
        </p:nvGrpSpPr>
        <p:grpSpPr bwMode="auto">
          <a:xfrm flipV="1">
            <a:off x="7605713" y="2684463"/>
            <a:ext cx="179387" cy="65087"/>
            <a:chOff x="2848" y="848"/>
            <a:chExt cx="140" cy="98"/>
          </a:xfrm>
        </p:grpSpPr>
        <p:sp>
          <p:nvSpPr>
            <p:cNvPr id="1325" name="Line 698"/>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26" name="Line 699"/>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27" name="Line 700"/>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095" name="Oval 701"/>
          <p:cNvSpPr>
            <a:spLocks noChangeArrowheads="1"/>
          </p:cNvSpPr>
          <p:nvPr/>
        </p:nvSpPr>
        <p:spPr bwMode="auto">
          <a:xfrm>
            <a:off x="6113463" y="2471738"/>
            <a:ext cx="346075" cy="87312"/>
          </a:xfrm>
          <a:prstGeom prst="ellipse">
            <a:avLst/>
          </a:prstGeom>
          <a:solidFill>
            <a:srgbClr val="DDDDDD"/>
          </a:solidFill>
          <a:ln w="12700">
            <a:solidFill>
              <a:schemeClr val="folHlink"/>
            </a:solidFill>
            <a:round/>
          </a:ln>
        </p:spPr>
        <p:txBody>
          <a:bodyPr wrap="none" anchor="ctr"/>
          <a:lstStyle/>
          <a:p>
            <a:endParaRPr lang="en-US"/>
          </a:p>
        </p:txBody>
      </p:sp>
      <p:sp>
        <p:nvSpPr>
          <p:cNvPr id="1096" name="Line 702"/>
          <p:cNvSpPr>
            <a:spLocks noChangeShapeType="1"/>
          </p:cNvSpPr>
          <p:nvPr/>
        </p:nvSpPr>
        <p:spPr bwMode="auto">
          <a:xfrm>
            <a:off x="6113463" y="2463800"/>
            <a:ext cx="0" cy="53975"/>
          </a:xfrm>
          <a:prstGeom prst="line">
            <a:avLst/>
          </a:prstGeom>
          <a:noFill/>
          <a:ln w="12700">
            <a:solidFill>
              <a:schemeClr val="folHlink"/>
            </a:solidFill>
            <a:round/>
          </a:ln>
        </p:spPr>
        <p:txBody>
          <a:bodyPr wrap="none" anchor="ctr"/>
          <a:lstStyle/>
          <a:p>
            <a:endParaRPr lang="en-US"/>
          </a:p>
        </p:txBody>
      </p:sp>
      <p:sp>
        <p:nvSpPr>
          <p:cNvPr id="1097" name="Line 703"/>
          <p:cNvSpPr>
            <a:spLocks noChangeShapeType="1"/>
          </p:cNvSpPr>
          <p:nvPr/>
        </p:nvSpPr>
        <p:spPr bwMode="auto">
          <a:xfrm>
            <a:off x="6459538" y="2463800"/>
            <a:ext cx="0" cy="53975"/>
          </a:xfrm>
          <a:prstGeom prst="line">
            <a:avLst/>
          </a:prstGeom>
          <a:noFill/>
          <a:ln w="12700">
            <a:solidFill>
              <a:schemeClr val="folHlink"/>
            </a:solidFill>
            <a:round/>
          </a:ln>
        </p:spPr>
        <p:txBody>
          <a:bodyPr wrap="none" anchor="ctr"/>
          <a:lstStyle/>
          <a:p>
            <a:endParaRPr lang="en-US"/>
          </a:p>
        </p:txBody>
      </p:sp>
      <p:sp>
        <p:nvSpPr>
          <p:cNvPr id="1098" name="Rectangle 704"/>
          <p:cNvSpPr>
            <a:spLocks noChangeArrowheads="1"/>
          </p:cNvSpPr>
          <p:nvPr/>
        </p:nvSpPr>
        <p:spPr bwMode="auto">
          <a:xfrm>
            <a:off x="6113463" y="2463800"/>
            <a:ext cx="342900"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099" name="Oval 705"/>
          <p:cNvSpPr>
            <a:spLocks noChangeArrowheads="1"/>
          </p:cNvSpPr>
          <p:nvPr/>
        </p:nvSpPr>
        <p:spPr bwMode="auto">
          <a:xfrm>
            <a:off x="6110288" y="2400300"/>
            <a:ext cx="346075" cy="103188"/>
          </a:xfrm>
          <a:prstGeom prst="ellipse">
            <a:avLst/>
          </a:prstGeom>
          <a:solidFill>
            <a:srgbClr val="DDDDDD"/>
          </a:solidFill>
          <a:ln w="12700">
            <a:solidFill>
              <a:schemeClr val="folHlink"/>
            </a:solidFill>
            <a:round/>
          </a:ln>
        </p:spPr>
        <p:txBody>
          <a:bodyPr wrap="none" anchor="ctr"/>
          <a:lstStyle/>
          <a:p>
            <a:endParaRPr lang="en-US"/>
          </a:p>
        </p:txBody>
      </p:sp>
      <p:grpSp>
        <p:nvGrpSpPr>
          <p:cNvPr id="1100" name="Group 706"/>
          <p:cNvGrpSpPr/>
          <p:nvPr/>
        </p:nvGrpSpPr>
        <p:grpSpPr bwMode="auto">
          <a:xfrm>
            <a:off x="6194425" y="2422525"/>
            <a:ext cx="171450" cy="60325"/>
            <a:chOff x="2848" y="848"/>
            <a:chExt cx="140" cy="98"/>
          </a:xfrm>
        </p:grpSpPr>
        <p:sp>
          <p:nvSpPr>
            <p:cNvPr id="1322" name="Line 707"/>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23" name="Line 708"/>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24" name="Line 709"/>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101" name="Group 710"/>
          <p:cNvGrpSpPr/>
          <p:nvPr/>
        </p:nvGrpSpPr>
        <p:grpSpPr bwMode="auto">
          <a:xfrm flipV="1">
            <a:off x="6194425" y="2422525"/>
            <a:ext cx="171450" cy="58738"/>
            <a:chOff x="2848" y="848"/>
            <a:chExt cx="140" cy="98"/>
          </a:xfrm>
        </p:grpSpPr>
        <p:sp>
          <p:nvSpPr>
            <p:cNvPr id="1319" name="Line 711"/>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20" name="Line 712"/>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21" name="Line 713"/>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102" name="Oval 714"/>
          <p:cNvSpPr>
            <a:spLocks noChangeArrowheads="1"/>
          </p:cNvSpPr>
          <p:nvPr/>
        </p:nvSpPr>
        <p:spPr bwMode="auto">
          <a:xfrm>
            <a:off x="5807075" y="3621088"/>
            <a:ext cx="346075" cy="87312"/>
          </a:xfrm>
          <a:prstGeom prst="ellipse">
            <a:avLst/>
          </a:prstGeom>
          <a:solidFill>
            <a:srgbClr val="DDDDDD"/>
          </a:solidFill>
          <a:ln w="12700">
            <a:solidFill>
              <a:schemeClr val="folHlink"/>
            </a:solidFill>
            <a:round/>
          </a:ln>
        </p:spPr>
        <p:txBody>
          <a:bodyPr wrap="none" anchor="ctr"/>
          <a:lstStyle/>
          <a:p>
            <a:endParaRPr lang="en-US"/>
          </a:p>
        </p:txBody>
      </p:sp>
      <p:sp>
        <p:nvSpPr>
          <p:cNvPr id="1103" name="Line 715"/>
          <p:cNvSpPr>
            <a:spLocks noChangeShapeType="1"/>
          </p:cNvSpPr>
          <p:nvPr/>
        </p:nvSpPr>
        <p:spPr bwMode="auto">
          <a:xfrm>
            <a:off x="5807075" y="3613150"/>
            <a:ext cx="0" cy="53975"/>
          </a:xfrm>
          <a:prstGeom prst="line">
            <a:avLst/>
          </a:prstGeom>
          <a:noFill/>
          <a:ln w="12700">
            <a:solidFill>
              <a:schemeClr val="folHlink"/>
            </a:solidFill>
            <a:round/>
          </a:ln>
        </p:spPr>
        <p:txBody>
          <a:bodyPr wrap="none" anchor="ctr"/>
          <a:lstStyle/>
          <a:p>
            <a:endParaRPr lang="en-US"/>
          </a:p>
        </p:txBody>
      </p:sp>
      <p:sp>
        <p:nvSpPr>
          <p:cNvPr id="1104" name="Line 716"/>
          <p:cNvSpPr>
            <a:spLocks noChangeShapeType="1"/>
          </p:cNvSpPr>
          <p:nvPr/>
        </p:nvSpPr>
        <p:spPr bwMode="auto">
          <a:xfrm>
            <a:off x="6153150" y="3613150"/>
            <a:ext cx="0" cy="53975"/>
          </a:xfrm>
          <a:prstGeom prst="line">
            <a:avLst/>
          </a:prstGeom>
          <a:noFill/>
          <a:ln w="12700">
            <a:solidFill>
              <a:schemeClr val="folHlink"/>
            </a:solidFill>
            <a:round/>
          </a:ln>
        </p:spPr>
        <p:txBody>
          <a:bodyPr wrap="none" anchor="ctr"/>
          <a:lstStyle/>
          <a:p>
            <a:endParaRPr lang="en-US"/>
          </a:p>
        </p:txBody>
      </p:sp>
      <p:sp>
        <p:nvSpPr>
          <p:cNvPr id="1105" name="Rectangle 717"/>
          <p:cNvSpPr>
            <a:spLocks noChangeArrowheads="1"/>
          </p:cNvSpPr>
          <p:nvPr/>
        </p:nvSpPr>
        <p:spPr bwMode="auto">
          <a:xfrm>
            <a:off x="5807075" y="3613150"/>
            <a:ext cx="342900"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106" name="Oval 718"/>
          <p:cNvSpPr>
            <a:spLocks noChangeArrowheads="1"/>
          </p:cNvSpPr>
          <p:nvPr/>
        </p:nvSpPr>
        <p:spPr bwMode="auto">
          <a:xfrm>
            <a:off x="5803900" y="3549650"/>
            <a:ext cx="346075" cy="103188"/>
          </a:xfrm>
          <a:prstGeom prst="ellipse">
            <a:avLst/>
          </a:prstGeom>
          <a:solidFill>
            <a:srgbClr val="DDDDDD"/>
          </a:solidFill>
          <a:ln w="12700">
            <a:solidFill>
              <a:schemeClr val="folHlink"/>
            </a:solidFill>
            <a:round/>
          </a:ln>
        </p:spPr>
        <p:txBody>
          <a:bodyPr wrap="none" anchor="ctr"/>
          <a:lstStyle/>
          <a:p>
            <a:endParaRPr lang="en-US"/>
          </a:p>
        </p:txBody>
      </p:sp>
      <p:grpSp>
        <p:nvGrpSpPr>
          <p:cNvPr id="1107" name="Group 719"/>
          <p:cNvGrpSpPr/>
          <p:nvPr/>
        </p:nvGrpSpPr>
        <p:grpSpPr bwMode="auto">
          <a:xfrm>
            <a:off x="5888038" y="3571875"/>
            <a:ext cx="171450" cy="60325"/>
            <a:chOff x="2848" y="848"/>
            <a:chExt cx="140" cy="98"/>
          </a:xfrm>
        </p:grpSpPr>
        <p:sp>
          <p:nvSpPr>
            <p:cNvPr id="1316" name="Line 72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17" name="Line 72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18" name="Line 72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108" name="Group 723"/>
          <p:cNvGrpSpPr/>
          <p:nvPr/>
        </p:nvGrpSpPr>
        <p:grpSpPr bwMode="auto">
          <a:xfrm flipV="1">
            <a:off x="5888038" y="3571875"/>
            <a:ext cx="171450" cy="58738"/>
            <a:chOff x="2848" y="848"/>
            <a:chExt cx="140" cy="98"/>
          </a:xfrm>
        </p:grpSpPr>
        <p:sp>
          <p:nvSpPr>
            <p:cNvPr id="1313" name="Line 72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14" name="Line 72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15" name="Line 72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109" name="Line 727"/>
          <p:cNvSpPr>
            <a:spLocks noChangeShapeType="1"/>
          </p:cNvSpPr>
          <p:nvPr/>
        </p:nvSpPr>
        <p:spPr bwMode="auto">
          <a:xfrm flipV="1">
            <a:off x="7005638" y="3978275"/>
            <a:ext cx="227012" cy="436563"/>
          </a:xfrm>
          <a:prstGeom prst="line">
            <a:avLst/>
          </a:prstGeom>
          <a:noFill/>
          <a:ln w="9525">
            <a:solidFill>
              <a:schemeClr val="bg2"/>
            </a:solidFill>
            <a:round/>
          </a:ln>
        </p:spPr>
        <p:txBody>
          <a:bodyPr/>
          <a:lstStyle/>
          <a:p>
            <a:endParaRPr lang="en-US"/>
          </a:p>
        </p:txBody>
      </p:sp>
      <p:sp>
        <p:nvSpPr>
          <p:cNvPr id="1110" name="Line 728"/>
          <p:cNvSpPr>
            <a:spLocks noChangeShapeType="1"/>
          </p:cNvSpPr>
          <p:nvPr/>
        </p:nvSpPr>
        <p:spPr bwMode="auto">
          <a:xfrm>
            <a:off x="7129463" y="3716338"/>
            <a:ext cx="163512" cy="120650"/>
          </a:xfrm>
          <a:prstGeom prst="line">
            <a:avLst/>
          </a:prstGeom>
          <a:noFill/>
          <a:ln w="9525">
            <a:solidFill>
              <a:schemeClr val="bg2"/>
            </a:solidFill>
            <a:round/>
          </a:ln>
        </p:spPr>
        <p:txBody>
          <a:bodyPr/>
          <a:lstStyle/>
          <a:p>
            <a:endParaRPr lang="en-US"/>
          </a:p>
        </p:txBody>
      </p:sp>
      <p:sp>
        <p:nvSpPr>
          <p:cNvPr id="1111" name="Line 729"/>
          <p:cNvSpPr>
            <a:spLocks noChangeShapeType="1"/>
          </p:cNvSpPr>
          <p:nvPr/>
        </p:nvSpPr>
        <p:spPr bwMode="auto">
          <a:xfrm>
            <a:off x="7226300" y="3636963"/>
            <a:ext cx="279400" cy="0"/>
          </a:xfrm>
          <a:prstGeom prst="line">
            <a:avLst/>
          </a:prstGeom>
          <a:noFill/>
          <a:ln w="9525">
            <a:solidFill>
              <a:schemeClr val="bg2"/>
            </a:solidFill>
            <a:round/>
          </a:ln>
        </p:spPr>
        <p:txBody>
          <a:bodyPr/>
          <a:lstStyle/>
          <a:p>
            <a:endParaRPr lang="en-US"/>
          </a:p>
        </p:txBody>
      </p:sp>
      <p:sp>
        <p:nvSpPr>
          <p:cNvPr id="1112" name="Line 730"/>
          <p:cNvSpPr>
            <a:spLocks noChangeShapeType="1"/>
          </p:cNvSpPr>
          <p:nvPr/>
        </p:nvSpPr>
        <p:spPr bwMode="auto">
          <a:xfrm flipV="1">
            <a:off x="7462838" y="3722688"/>
            <a:ext cx="134937" cy="104775"/>
          </a:xfrm>
          <a:prstGeom prst="line">
            <a:avLst/>
          </a:prstGeom>
          <a:noFill/>
          <a:ln w="9525">
            <a:solidFill>
              <a:schemeClr val="bg2"/>
            </a:solidFill>
            <a:round/>
          </a:ln>
        </p:spPr>
        <p:txBody>
          <a:bodyPr/>
          <a:lstStyle/>
          <a:p>
            <a:endParaRPr lang="en-US"/>
          </a:p>
        </p:txBody>
      </p:sp>
      <p:sp>
        <p:nvSpPr>
          <p:cNvPr id="1113" name="Line 731"/>
          <p:cNvSpPr>
            <a:spLocks noChangeShapeType="1"/>
          </p:cNvSpPr>
          <p:nvPr/>
        </p:nvSpPr>
        <p:spPr bwMode="auto">
          <a:xfrm>
            <a:off x="6161088" y="3643313"/>
            <a:ext cx="679450" cy="0"/>
          </a:xfrm>
          <a:prstGeom prst="line">
            <a:avLst/>
          </a:prstGeom>
          <a:noFill/>
          <a:ln w="9525">
            <a:solidFill>
              <a:schemeClr val="bg2"/>
            </a:solidFill>
            <a:round/>
          </a:ln>
        </p:spPr>
        <p:txBody>
          <a:bodyPr/>
          <a:lstStyle/>
          <a:p>
            <a:endParaRPr lang="en-US"/>
          </a:p>
        </p:txBody>
      </p:sp>
      <p:sp>
        <p:nvSpPr>
          <p:cNvPr id="1114" name="Line 732"/>
          <p:cNvSpPr>
            <a:spLocks noChangeShapeType="1"/>
          </p:cNvSpPr>
          <p:nvPr/>
        </p:nvSpPr>
        <p:spPr bwMode="auto">
          <a:xfrm>
            <a:off x="6456363" y="2490788"/>
            <a:ext cx="509587" cy="3175"/>
          </a:xfrm>
          <a:prstGeom prst="line">
            <a:avLst/>
          </a:prstGeom>
          <a:noFill/>
          <a:ln w="9525">
            <a:solidFill>
              <a:schemeClr val="bg2"/>
            </a:solidFill>
            <a:round/>
          </a:ln>
        </p:spPr>
        <p:txBody>
          <a:bodyPr/>
          <a:lstStyle/>
          <a:p>
            <a:endParaRPr lang="en-US"/>
          </a:p>
        </p:txBody>
      </p:sp>
      <p:sp>
        <p:nvSpPr>
          <p:cNvPr id="1115" name="Line 733"/>
          <p:cNvSpPr>
            <a:spLocks noChangeShapeType="1"/>
          </p:cNvSpPr>
          <p:nvPr/>
        </p:nvSpPr>
        <p:spPr bwMode="auto">
          <a:xfrm>
            <a:off x="6022975" y="2319338"/>
            <a:ext cx="152400" cy="82550"/>
          </a:xfrm>
          <a:prstGeom prst="line">
            <a:avLst/>
          </a:prstGeom>
          <a:noFill/>
          <a:ln w="9525">
            <a:solidFill>
              <a:schemeClr val="bg2"/>
            </a:solidFill>
            <a:round/>
          </a:ln>
        </p:spPr>
        <p:txBody>
          <a:bodyPr/>
          <a:lstStyle/>
          <a:p>
            <a:endParaRPr lang="en-US"/>
          </a:p>
        </p:txBody>
      </p:sp>
      <p:sp>
        <p:nvSpPr>
          <p:cNvPr id="1116" name="Freeform 734"/>
          <p:cNvSpPr/>
          <p:nvPr/>
        </p:nvSpPr>
        <p:spPr bwMode="auto">
          <a:xfrm>
            <a:off x="5343525" y="4325938"/>
            <a:ext cx="2979738" cy="1455737"/>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w="9525">
            <a:noFill/>
            <a:round/>
          </a:ln>
        </p:spPr>
        <p:txBody>
          <a:bodyPr/>
          <a:lstStyle/>
          <a:p>
            <a:endParaRPr lang="en-US"/>
          </a:p>
        </p:txBody>
      </p:sp>
      <p:sp>
        <p:nvSpPr>
          <p:cNvPr id="1117" name="Line 735"/>
          <p:cNvSpPr>
            <a:spLocks noChangeShapeType="1"/>
          </p:cNvSpPr>
          <p:nvPr/>
        </p:nvSpPr>
        <p:spPr bwMode="auto">
          <a:xfrm rot="-5400000">
            <a:off x="7578725" y="5062538"/>
            <a:ext cx="523875" cy="139700"/>
          </a:xfrm>
          <a:prstGeom prst="line">
            <a:avLst/>
          </a:prstGeom>
          <a:noFill/>
          <a:ln w="12700">
            <a:solidFill>
              <a:schemeClr val="bg2"/>
            </a:solidFill>
            <a:round/>
          </a:ln>
        </p:spPr>
        <p:txBody>
          <a:bodyPr wrap="none" anchor="ctr"/>
          <a:lstStyle/>
          <a:p>
            <a:endParaRPr lang="en-US"/>
          </a:p>
        </p:txBody>
      </p:sp>
      <p:sp>
        <p:nvSpPr>
          <p:cNvPr id="1118" name="Line 736"/>
          <p:cNvSpPr>
            <a:spLocks noChangeShapeType="1"/>
          </p:cNvSpPr>
          <p:nvPr/>
        </p:nvSpPr>
        <p:spPr bwMode="auto">
          <a:xfrm rot="5400000" flipV="1">
            <a:off x="7724775" y="5343525"/>
            <a:ext cx="3175" cy="85725"/>
          </a:xfrm>
          <a:prstGeom prst="line">
            <a:avLst/>
          </a:prstGeom>
          <a:noFill/>
          <a:ln w="12700">
            <a:solidFill>
              <a:schemeClr val="bg2"/>
            </a:solidFill>
            <a:round/>
          </a:ln>
        </p:spPr>
        <p:txBody>
          <a:bodyPr wrap="none" anchor="ctr"/>
          <a:lstStyle/>
          <a:p>
            <a:endParaRPr lang="en-US"/>
          </a:p>
        </p:txBody>
      </p:sp>
      <p:sp>
        <p:nvSpPr>
          <p:cNvPr id="1119" name="Line 737"/>
          <p:cNvSpPr>
            <a:spLocks noChangeShapeType="1"/>
          </p:cNvSpPr>
          <p:nvPr/>
        </p:nvSpPr>
        <p:spPr bwMode="auto">
          <a:xfrm rot="-5400000">
            <a:off x="7910513" y="5019675"/>
            <a:ext cx="0" cy="114300"/>
          </a:xfrm>
          <a:prstGeom prst="line">
            <a:avLst/>
          </a:prstGeom>
          <a:noFill/>
          <a:ln w="12700">
            <a:solidFill>
              <a:schemeClr val="bg2"/>
            </a:solidFill>
            <a:round/>
          </a:ln>
        </p:spPr>
        <p:txBody>
          <a:bodyPr wrap="none" anchor="ctr"/>
          <a:lstStyle/>
          <a:p>
            <a:endParaRPr lang="en-US"/>
          </a:p>
        </p:txBody>
      </p:sp>
      <p:grpSp>
        <p:nvGrpSpPr>
          <p:cNvPr id="1120" name="Group 738"/>
          <p:cNvGrpSpPr/>
          <p:nvPr/>
        </p:nvGrpSpPr>
        <p:grpSpPr bwMode="auto">
          <a:xfrm>
            <a:off x="7489825" y="4729163"/>
            <a:ext cx="501650" cy="234950"/>
            <a:chOff x="4701" y="2996"/>
            <a:chExt cx="316" cy="148"/>
          </a:xfrm>
        </p:grpSpPr>
        <p:sp>
          <p:nvSpPr>
            <p:cNvPr id="1300" name="Oval 739"/>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1301" name="Line 740"/>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1302" name="Line 741"/>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1303" name="Rectangle 742"/>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304" name="Oval 743"/>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1305" name="Group 744"/>
            <p:cNvGrpSpPr/>
            <p:nvPr/>
          </p:nvGrpSpPr>
          <p:grpSpPr bwMode="auto">
            <a:xfrm>
              <a:off x="4776" y="3017"/>
              <a:ext cx="156" cy="56"/>
              <a:chOff x="2848" y="848"/>
              <a:chExt cx="140" cy="98"/>
            </a:xfrm>
          </p:grpSpPr>
          <p:sp>
            <p:nvSpPr>
              <p:cNvPr id="1310" name="Line 74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11" name="Line 74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12" name="Line 74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306" name="Group 748"/>
            <p:cNvGrpSpPr/>
            <p:nvPr/>
          </p:nvGrpSpPr>
          <p:grpSpPr bwMode="auto">
            <a:xfrm flipV="1">
              <a:off x="4776" y="3016"/>
              <a:ext cx="156" cy="56"/>
              <a:chOff x="2848" y="848"/>
              <a:chExt cx="140" cy="98"/>
            </a:xfrm>
          </p:grpSpPr>
          <p:sp>
            <p:nvSpPr>
              <p:cNvPr id="1307" name="Line 74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308" name="Line 75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309" name="Line 75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1121" name="Group 752"/>
          <p:cNvGrpSpPr/>
          <p:nvPr/>
        </p:nvGrpSpPr>
        <p:grpSpPr bwMode="auto">
          <a:xfrm>
            <a:off x="6673850" y="4452938"/>
            <a:ext cx="501650" cy="234950"/>
            <a:chOff x="3600" y="219"/>
            <a:chExt cx="360" cy="175"/>
          </a:xfrm>
        </p:grpSpPr>
        <p:sp>
          <p:nvSpPr>
            <p:cNvPr id="1287" name="Oval 753"/>
            <p:cNvSpPr>
              <a:spLocks noChangeArrowheads="1"/>
            </p:cNvSpPr>
            <p:nvPr/>
          </p:nvSpPr>
          <p:spPr bwMode="auto">
            <a:xfrm>
              <a:off x="3603" y="297"/>
              <a:ext cx="357" cy="97"/>
            </a:xfrm>
            <a:prstGeom prst="ellipse">
              <a:avLst/>
            </a:prstGeom>
            <a:solidFill>
              <a:srgbClr val="DDDDDD"/>
            </a:solidFill>
            <a:ln w="12700">
              <a:solidFill>
                <a:schemeClr val="tx1"/>
              </a:solidFill>
              <a:round/>
            </a:ln>
          </p:spPr>
          <p:txBody>
            <a:bodyPr wrap="none" anchor="ctr"/>
            <a:lstStyle/>
            <a:p>
              <a:endParaRPr lang="en-US"/>
            </a:p>
          </p:txBody>
        </p:sp>
        <p:sp>
          <p:nvSpPr>
            <p:cNvPr id="1288" name="Line 754"/>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1289" name="Line 755"/>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1290" name="Rectangle 756"/>
            <p:cNvSpPr>
              <a:spLocks noChangeArrowheads="1"/>
            </p:cNvSpPr>
            <p:nvPr/>
          </p:nvSpPr>
          <p:spPr bwMode="auto">
            <a:xfrm>
              <a:off x="3603" y="289"/>
              <a:ext cx="354" cy="59"/>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291" name="Oval 757"/>
            <p:cNvSpPr>
              <a:spLocks noChangeArrowheads="1"/>
            </p:cNvSpPr>
            <p:nvPr/>
          </p:nvSpPr>
          <p:spPr bwMode="auto">
            <a:xfrm>
              <a:off x="3600" y="219"/>
              <a:ext cx="357" cy="113"/>
            </a:xfrm>
            <a:prstGeom prst="ellipse">
              <a:avLst/>
            </a:prstGeom>
            <a:solidFill>
              <a:srgbClr val="DDDDDD"/>
            </a:solidFill>
            <a:ln w="12700">
              <a:solidFill>
                <a:schemeClr val="tx1"/>
              </a:solidFill>
              <a:round/>
            </a:ln>
          </p:spPr>
          <p:txBody>
            <a:bodyPr wrap="none" anchor="ctr"/>
            <a:lstStyle/>
            <a:p>
              <a:endParaRPr lang="en-US"/>
            </a:p>
          </p:txBody>
        </p:sp>
        <p:grpSp>
          <p:nvGrpSpPr>
            <p:cNvPr id="1292" name="Group 758"/>
            <p:cNvGrpSpPr/>
            <p:nvPr/>
          </p:nvGrpSpPr>
          <p:grpSpPr bwMode="auto">
            <a:xfrm>
              <a:off x="3686" y="244"/>
              <a:ext cx="177" cy="66"/>
              <a:chOff x="2848" y="848"/>
              <a:chExt cx="140" cy="98"/>
            </a:xfrm>
          </p:grpSpPr>
          <p:sp>
            <p:nvSpPr>
              <p:cNvPr id="1297" name="Line 759"/>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298" name="Line 760"/>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299" name="Line 761"/>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1293" name="Group 762"/>
            <p:cNvGrpSpPr/>
            <p:nvPr/>
          </p:nvGrpSpPr>
          <p:grpSpPr bwMode="auto">
            <a:xfrm flipV="1">
              <a:off x="3686" y="243"/>
              <a:ext cx="177" cy="66"/>
              <a:chOff x="2848" y="848"/>
              <a:chExt cx="140" cy="98"/>
            </a:xfrm>
          </p:grpSpPr>
          <p:sp>
            <p:nvSpPr>
              <p:cNvPr id="1294" name="Line 763"/>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295" name="Line 764"/>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296" name="Line 765"/>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grpSp>
        <p:nvGrpSpPr>
          <p:cNvPr id="1122" name="Group 766"/>
          <p:cNvGrpSpPr/>
          <p:nvPr/>
        </p:nvGrpSpPr>
        <p:grpSpPr bwMode="auto">
          <a:xfrm>
            <a:off x="6008688" y="4757738"/>
            <a:ext cx="501650" cy="234950"/>
            <a:chOff x="3600" y="219"/>
            <a:chExt cx="360" cy="175"/>
          </a:xfrm>
        </p:grpSpPr>
        <p:sp>
          <p:nvSpPr>
            <p:cNvPr id="1274" name="Oval 767"/>
            <p:cNvSpPr>
              <a:spLocks noChangeArrowheads="1"/>
            </p:cNvSpPr>
            <p:nvPr/>
          </p:nvSpPr>
          <p:spPr bwMode="auto">
            <a:xfrm>
              <a:off x="3603" y="297"/>
              <a:ext cx="357" cy="97"/>
            </a:xfrm>
            <a:prstGeom prst="ellipse">
              <a:avLst/>
            </a:prstGeom>
            <a:solidFill>
              <a:srgbClr val="DDDDDD"/>
            </a:solidFill>
            <a:ln w="12700">
              <a:solidFill>
                <a:schemeClr val="tx1"/>
              </a:solidFill>
              <a:round/>
            </a:ln>
          </p:spPr>
          <p:txBody>
            <a:bodyPr wrap="none" anchor="ctr"/>
            <a:lstStyle/>
            <a:p>
              <a:endParaRPr lang="en-US"/>
            </a:p>
          </p:txBody>
        </p:sp>
        <p:sp>
          <p:nvSpPr>
            <p:cNvPr id="1275" name="Line 768"/>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1276" name="Line 769"/>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1277" name="Rectangle 770"/>
            <p:cNvSpPr>
              <a:spLocks noChangeArrowheads="1"/>
            </p:cNvSpPr>
            <p:nvPr/>
          </p:nvSpPr>
          <p:spPr bwMode="auto">
            <a:xfrm>
              <a:off x="3603" y="289"/>
              <a:ext cx="354" cy="59"/>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278" name="Oval 771"/>
            <p:cNvSpPr>
              <a:spLocks noChangeArrowheads="1"/>
            </p:cNvSpPr>
            <p:nvPr/>
          </p:nvSpPr>
          <p:spPr bwMode="auto">
            <a:xfrm>
              <a:off x="3600" y="219"/>
              <a:ext cx="357" cy="113"/>
            </a:xfrm>
            <a:prstGeom prst="ellipse">
              <a:avLst/>
            </a:prstGeom>
            <a:solidFill>
              <a:srgbClr val="DDDDDD"/>
            </a:solidFill>
            <a:ln w="12700">
              <a:solidFill>
                <a:schemeClr val="tx1"/>
              </a:solidFill>
              <a:round/>
            </a:ln>
          </p:spPr>
          <p:txBody>
            <a:bodyPr wrap="none" anchor="ctr"/>
            <a:lstStyle/>
            <a:p>
              <a:endParaRPr lang="en-US"/>
            </a:p>
          </p:txBody>
        </p:sp>
        <p:grpSp>
          <p:nvGrpSpPr>
            <p:cNvPr id="1279" name="Group 772"/>
            <p:cNvGrpSpPr/>
            <p:nvPr/>
          </p:nvGrpSpPr>
          <p:grpSpPr bwMode="auto">
            <a:xfrm>
              <a:off x="3686" y="244"/>
              <a:ext cx="177" cy="66"/>
              <a:chOff x="2848" y="848"/>
              <a:chExt cx="140" cy="98"/>
            </a:xfrm>
          </p:grpSpPr>
          <p:sp>
            <p:nvSpPr>
              <p:cNvPr id="1284" name="Line 773"/>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285" name="Line 774"/>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286" name="Line 775"/>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1280" name="Group 776"/>
            <p:cNvGrpSpPr/>
            <p:nvPr/>
          </p:nvGrpSpPr>
          <p:grpSpPr bwMode="auto">
            <a:xfrm flipV="1">
              <a:off x="3686" y="243"/>
              <a:ext cx="177" cy="66"/>
              <a:chOff x="2848" y="848"/>
              <a:chExt cx="140" cy="98"/>
            </a:xfrm>
          </p:grpSpPr>
          <p:sp>
            <p:nvSpPr>
              <p:cNvPr id="1281" name="Line 777"/>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282" name="Line 778"/>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283" name="Line 779"/>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1123" name="Line 780"/>
          <p:cNvSpPr>
            <a:spLocks noChangeShapeType="1"/>
          </p:cNvSpPr>
          <p:nvPr/>
        </p:nvSpPr>
        <p:spPr bwMode="auto">
          <a:xfrm>
            <a:off x="7123113" y="4664075"/>
            <a:ext cx="358775" cy="120650"/>
          </a:xfrm>
          <a:prstGeom prst="line">
            <a:avLst/>
          </a:prstGeom>
          <a:noFill/>
          <a:ln w="9525">
            <a:solidFill>
              <a:schemeClr val="bg2"/>
            </a:solidFill>
            <a:round/>
          </a:ln>
        </p:spPr>
        <p:txBody>
          <a:bodyPr/>
          <a:lstStyle/>
          <a:p>
            <a:endParaRPr lang="en-US"/>
          </a:p>
        </p:txBody>
      </p:sp>
      <p:sp>
        <p:nvSpPr>
          <p:cNvPr id="1124" name="Line 781"/>
          <p:cNvSpPr>
            <a:spLocks noChangeShapeType="1"/>
          </p:cNvSpPr>
          <p:nvPr/>
        </p:nvSpPr>
        <p:spPr bwMode="auto">
          <a:xfrm flipV="1">
            <a:off x="6470650" y="4676775"/>
            <a:ext cx="277813" cy="109538"/>
          </a:xfrm>
          <a:prstGeom prst="line">
            <a:avLst/>
          </a:prstGeom>
          <a:noFill/>
          <a:ln w="9525">
            <a:solidFill>
              <a:schemeClr val="bg2"/>
            </a:solidFill>
            <a:round/>
          </a:ln>
        </p:spPr>
        <p:txBody>
          <a:bodyPr/>
          <a:lstStyle/>
          <a:p>
            <a:endParaRPr lang="en-US"/>
          </a:p>
        </p:txBody>
      </p:sp>
      <p:sp>
        <p:nvSpPr>
          <p:cNvPr id="1125" name="Line 782"/>
          <p:cNvSpPr>
            <a:spLocks noChangeShapeType="1"/>
          </p:cNvSpPr>
          <p:nvPr/>
        </p:nvSpPr>
        <p:spPr bwMode="auto">
          <a:xfrm flipV="1">
            <a:off x="6513513" y="4879975"/>
            <a:ext cx="971550" cy="0"/>
          </a:xfrm>
          <a:prstGeom prst="line">
            <a:avLst/>
          </a:prstGeom>
          <a:noFill/>
          <a:ln w="9525">
            <a:solidFill>
              <a:schemeClr val="bg2"/>
            </a:solidFill>
            <a:round/>
          </a:ln>
        </p:spPr>
        <p:txBody>
          <a:bodyPr/>
          <a:lstStyle/>
          <a:p>
            <a:endParaRPr lang="en-US"/>
          </a:p>
        </p:txBody>
      </p:sp>
      <p:sp>
        <p:nvSpPr>
          <p:cNvPr id="1126" name="Line 783"/>
          <p:cNvSpPr>
            <a:spLocks noChangeShapeType="1"/>
          </p:cNvSpPr>
          <p:nvPr/>
        </p:nvSpPr>
        <p:spPr bwMode="auto">
          <a:xfrm flipH="1">
            <a:off x="5808663" y="4625975"/>
            <a:ext cx="254000" cy="469900"/>
          </a:xfrm>
          <a:prstGeom prst="line">
            <a:avLst/>
          </a:prstGeom>
          <a:noFill/>
          <a:ln w="9525">
            <a:solidFill>
              <a:schemeClr val="bg2"/>
            </a:solidFill>
            <a:round/>
          </a:ln>
        </p:spPr>
        <p:txBody>
          <a:bodyPr/>
          <a:lstStyle/>
          <a:p>
            <a:endParaRPr lang="en-US"/>
          </a:p>
        </p:txBody>
      </p:sp>
      <p:sp>
        <p:nvSpPr>
          <p:cNvPr id="1127" name="Line 784"/>
          <p:cNvSpPr>
            <a:spLocks noChangeShapeType="1"/>
          </p:cNvSpPr>
          <p:nvPr/>
        </p:nvSpPr>
        <p:spPr bwMode="auto">
          <a:xfrm>
            <a:off x="5834063" y="4676775"/>
            <a:ext cx="196850" cy="0"/>
          </a:xfrm>
          <a:prstGeom prst="line">
            <a:avLst/>
          </a:prstGeom>
          <a:noFill/>
          <a:ln w="9525">
            <a:solidFill>
              <a:schemeClr val="bg2"/>
            </a:solidFill>
            <a:round/>
          </a:ln>
        </p:spPr>
        <p:txBody>
          <a:bodyPr/>
          <a:lstStyle/>
          <a:p>
            <a:endParaRPr lang="en-US"/>
          </a:p>
        </p:txBody>
      </p:sp>
      <p:sp>
        <p:nvSpPr>
          <p:cNvPr id="1128" name="Line 785"/>
          <p:cNvSpPr>
            <a:spLocks noChangeShapeType="1"/>
          </p:cNvSpPr>
          <p:nvPr/>
        </p:nvSpPr>
        <p:spPr bwMode="auto">
          <a:xfrm>
            <a:off x="5694363" y="5013325"/>
            <a:ext cx="153987" cy="0"/>
          </a:xfrm>
          <a:prstGeom prst="line">
            <a:avLst/>
          </a:prstGeom>
          <a:noFill/>
          <a:ln w="9525">
            <a:solidFill>
              <a:schemeClr val="bg2"/>
            </a:solidFill>
            <a:round/>
          </a:ln>
        </p:spPr>
        <p:txBody>
          <a:bodyPr/>
          <a:lstStyle/>
          <a:p>
            <a:endParaRPr lang="en-US"/>
          </a:p>
        </p:txBody>
      </p:sp>
      <p:sp>
        <p:nvSpPr>
          <p:cNvPr id="1129" name="Line 786"/>
          <p:cNvSpPr>
            <a:spLocks noChangeShapeType="1"/>
          </p:cNvSpPr>
          <p:nvPr/>
        </p:nvSpPr>
        <p:spPr bwMode="auto">
          <a:xfrm>
            <a:off x="5946775" y="5092700"/>
            <a:ext cx="490538" cy="0"/>
          </a:xfrm>
          <a:prstGeom prst="line">
            <a:avLst/>
          </a:prstGeom>
          <a:noFill/>
          <a:ln w="9525">
            <a:solidFill>
              <a:schemeClr val="bg2"/>
            </a:solidFill>
            <a:round/>
          </a:ln>
        </p:spPr>
        <p:txBody>
          <a:bodyPr/>
          <a:lstStyle/>
          <a:p>
            <a:endParaRPr lang="en-US"/>
          </a:p>
        </p:txBody>
      </p:sp>
      <p:sp>
        <p:nvSpPr>
          <p:cNvPr id="1130" name="Line 787"/>
          <p:cNvSpPr>
            <a:spLocks noChangeShapeType="1"/>
          </p:cNvSpPr>
          <p:nvPr/>
        </p:nvSpPr>
        <p:spPr bwMode="auto">
          <a:xfrm flipH="1">
            <a:off x="6186488" y="5000625"/>
            <a:ext cx="53975" cy="85725"/>
          </a:xfrm>
          <a:prstGeom prst="line">
            <a:avLst/>
          </a:prstGeom>
          <a:noFill/>
          <a:ln w="9525">
            <a:solidFill>
              <a:schemeClr val="bg2"/>
            </a:solidFill>
            <a:round/>
          </a:ln>
        </p:spPr>
        <p:txBody>
          <a:bodyPr/>
          <a:lstStyle/>
          <a:p>
            <a:endParaRPr lang="en-US"/>
          </a:p>
        </p:txBody>
      </p:sp>
      <p:sp>
        <p:nvSpPr>
          <p:cNvPr id="1131" name="Line 788"/>
          <p:cNvSpPr>
            <a:spLocks noChangeShapeType="1"/>
          </p:cNvSpPr>
          <p:nvPr/>
        </p:nvSpPr>
        <p:spPr bwMode="auto">
          <a:xfrm>
            <a:off x="5999163" y="5089525"/>
            <a:ext cx="1587" cy="82550"/>
          </a:xfrm>
          <a:prstGeom prst="line">
            <a:avLst/>
          </a:prstGeom>
          <a:noFill/>
          <a:ln w="9525">
            <a:solidFill>
              <a:schemeClr val="bg2"/>
            </a:solidFill>
            <a:round/>
          </a:ln>
        </p:spPr>
        <p:txBody>
          <a:bodyPr/>
          <a:lstStyle/>
          <a:p>
            <a:endParaRPr lang="en-US"/>
          </a:p>
        </p:txBody>
      </p:sp>
      <p:sp>
        <p:nvSpPr>
          <p:cNvPr id="1132" name="Line 789"/>
          <p:cNvSpPr>
            <a:spLocks noChangeShapeType="1"/>
          </p:cNvSpPr>
          <p:nvPr/>
        </p:nvSpPr>
        <p:spPr bwMode="auto">
          <a:xfrm flipH="1" flipV="1">
            <a:off x="6396038" y="5097463"/>
            <a:ext cx="0" cy="76200"/>
          </a:xfrm>
          <a:prstGeom prst="line">
            <a:avLst/>
          </a:prstGeom>
          <a:noFill/>
          <a:ln w="9525">
            <a:solidFill>
              <a:schemeClr val="bg2"/>
            </a:solidFill>
            <a:round/>
          </a:ln>
        </p:spPr>
        <p:txBody>
          <a:bodyPr/>
          <a:lstStyle/>
          <a:p>
            <a:endParaRPr lang="en-US"/>
          </a:p>
        </p:txBody>
      </p:sp>
      <p:sp>
        <p:nvSpPr>
          <p:cNvPr id="1133" name="Line 790"/>
          <p:cNvSpPr>
            <a:spLocks noChangeShapeType="1"/>
          </p:cNvSpPr>
          <p:nvPr/>
        </p:nvSpPr>
        <p:spPr bwMode="auto">
          <a:xfrm>
            <a:off x="6477000" y="4956175"/>
            <a:ext cx="503238" cy="269875"/>
          </a:xfrm>
          <a:prstGeom prst="line">
            <a:avLst/>
          </a:prstGeom>
          <a:noFill/>
          <a:ln w="9525">
            <a:solidFill>
              <a:schemeClr val="bg2"/>
            </a:solidFill>
            <a:round/>
          </a:ln>
        </p:spPr>
        <p:txBody>
          <a:bodyPr/>
          <a:lstStyle/>
          <a:p>
            <a:endParaRPr lang="en-US"/>
          </a:p>
        </p:txBody>
      </p:sp>
      <p:sp>
        <p:nvSpPr>
          <p:cNvPr id="1134" name="Line 791"/>
          <p:cNvSpPr>
            <a:spLocks noChangeShapeType="1"/>
          </p:cNvSpPr>
          <p:nvPr/>
        </p:nvSpPr>
        <p:spPr bwMode="auto">
          <a:xfrm>
            <a:off x="5926138" y="4891088"/>
            <a:ext cx="80962" cy="0"/>
          </a:xfrm>
          <a:prstGeom prst="line">
            <a:avLst/>
          </a:prstGeom>
          <a:noFill/>
          <a:ln w="9525">
            <a:solidFill>
              <a:schemeClr val="bg2"/>
            </a:solidFill>
            <a:round/>
          </a:ln>
        </p:spPr>
        <p:txBody>
          <a:bodyPr/>
          <a:lstStyle/>
          <a:p>
            <a:endParaRPr lang="en-US"/>
          </a:p>
        </p:txBody>
      </p:sp>
      <p:grpSp>
        <p:nvGrpSpPr>
          <p:cNvPr id="1135" name="Group 792"/>
          <p:cNvGrpSpPr/>
          <p:nvPr/>
        </p:nvGrpSpPr>
        <p:grpSpPr bwMode="auto">
          <a:xfrm>
            <a:off x="5111750" y="1651000"/>
            <a:ext cx="3021013" cy="3981450"/>
            <a:chOff x="-1203" y="1352"/>
            <a:chExt cx="1903" cy="2508"/>
          </a:xfrm>
        </p:grpSpPr>
        <p:grpSp>
          <p:nvGrpSpPr>
            <p:cNvPr id="1247" name="Group 793"/>
            <p:cNvGrpSpPr/>
            <p:nvPr/>
          </p:nvGrpSpPr>
          <p:grpSpPr bwMode="auto">
            <a:xfrm>
              <a:off x="-1203" y="1647"/>
              <a:ext cx="436" cy="114"/>
              <a:chOff x="3072" y="739"/>
              <a:chExt cx="652" cy="146"/>
            </a:xfrm>
          </p:grpSpPr>
          <p:pic>
            <p:nvPicPr>
              <p:cNvPr id="1271" name="Picture 794" descr="lgv_fqmg[1]"/>
              <p:cNvPicPr>
                <a:picLocks noChangeAspect="1" noChangeArrowheads="1"/>
              </p:cNvPicPr>
              <p:nvPr/>
            </p:nvPicPr>
            <p:blipFill>
              <a:blip r:embed="rId1"/>
              <a:srcRect/>
              <a:stretch>
                <a:fillRect/>
              </a:stretch>
            </p:blipFill>
            <p:spPr bwMode="auto">
              <a:xfrm flipH="1">
                <a:off x="3237" y="739"/>
                <a:ext cx="487" cy="146"/>
              </a:xfrm>
              <a:prstGeom prst="rect">
                <a:avLst/>
              </a:prstGeom>
              <a:noFill/>
              <a:ln w="9525">
                <a:noFill/>
                <a:miter lim="800000"/>
                <a:headEnd/>
                <a:tailEnd/>
              </a:ln>
            </p:spPr>
          </p:pic>
          <p:sp>
            <p:nvSpPr>
              <p:cNvPr id="1272" name="Line 795"/>
              <p:cNvSpPr>
                <a:spLocks noChangeShapeType="1"/>
              </p:cNvSpPr>
              <p:nvPr/>
            </p:nvSpPr>
            <p:spPr bwMode="auto">
              <a:xfrm flipH="1">
                <a:off x="3104" y="784"/>
                <a:ext cx="88" cy="0"/>
              </a:xfrm>
              <a:prstGeom prst="line">
                <a:avLst/>
              </a:prstGeom>
              <a:noFill/>
              <a:ln w="9525">
                <a:solidFill>
                  <a:schemeClr val="tx1"/>
                </a:solidFill>
                <a:round/>
              </a:ln>
            </p:spPr>
            <p:txBody>
              <a:bodyPr/>
              <a:lstStyle/>
              <a:p>
                <a:endParaRPr lang="en-US"/>
              </a:p>
            </p:txBody>
          </p:sp>
          <p:sp>
            <p:nvSpPr>
              <p:cNvPr id="1273" name="Line 796"/>
              <p:cNvSpPr>
                <a:spLocks noChangeShapeType="1"/>
              </p:cNvSpPr>
              <p:nvPr/>
            </p:nvSpPr>
            <p:spPr bwMode="auto">
              <a:xfrm flipH="1">
                <a:off x="3072" y="760"/>
                <a:ext cx="144" cy="0"/>
              </a:xfrm>
              <a:prstGeom prst="line">
                <a:avLst/>
              </a:prstGeom>
              <a:noFill/>
              <a:ln w="9525">
                <a:solidFill>
                  <a:schemeClr val="tx1"/>
                </a:solidFill>
                <a:round/>
              </a:ln>
            </p:spPr>
            <p:txBody>
              <a:bodyPr/>
              <a:lstStyle/>
              <a:p>
                <a:endParaRPr lang="en-US"/>
              </a:p>
            </p:txBody>
          </p:sp>
        </p:grpSp>
        <p:pic>
          <p:nvPicPr>
            <p:cNvPr id="1248" name="Picture 797" descr="imgyjavg[1]"/>
            <p:cNvPicPr>
              <a:picLocks noChangeAspect="1" noChangeArrowheads="1"/>
            </p:cNvPicPr>
            <p:nvPr/>
          </p:nvPicPr>
          <p:blipFill>
            <a:blip r:embed="rId2"/>
            <a:srcRect/>
            <a:stretch>
              <a:fillRect/>
            </a:stretch>
          </p:blipFill>
          <p:spPr bwMode="auto">
            <a:xfrm>
              <a:off x="-1027" y="1466"/>
              <a:ext cx="232" cy="168"/>
            </a:xfrm>
            <a:prstGeom prst="rect">
              <a:avLst/>
            </a:prstGeom>
            <a:noFill/>
            <a:ln w="9525">
              <a:noFill/>
              <a:miter lim="800000"/>
              <a:headEnd/>
              <a:tailEnd/>
            </a:ln>
          </p:spPr>
        </p:pic>
        <p:grpSp>
          <p:nvGrpSpPr>
            <p:cNvPr id="1249" name="Group 798"/>
            <p:cNvGrpSpPr/>
            <p:nvPr/>
          </p:nvGrpSpPr>
          <p:grpSpPr bwMode="auto">
            <a:xfrm>
              <a:off x="-546" y="1352"/>
              <a:ext cx="256" cy="269"/>
              <a:chOff x="2870" y="1518"/>
              <a:chExt cx="292" cy="320"/>
            </a:xfrm>
          </p:grpSpPr>
          <p:graphicFrame>
            <p:nvGraphicFramePr>
              <p:cNvPr id="1037" name="Object 79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69" name="Clip" r:id="rId3" imgW="11601450" imgH="11791950" progId="">
                      <p:embed/>
                    </p:oleObj>
                  </mc:Choice>
                  <mc:Fallback>
                    <p:oleObj name="Clip" r:id="rId3" imgW="11601450" imgH="11791950" progId="">
                      <p:embed/>
                      <p:pic>
                        <p:nvPicPr>
                          <p:cNvPr id="0" name="Object 7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8" name="Object 80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70" name="Clip" r:id="rId5" imgW="1268095" imgH="1199515" progId="">
                      <p:embed/>
                    </p:oleObj>
                  </mc:Choice>
                  <mc:Fallback>
                    <p:oleObj name="Clip" r:id="rId5" imgW="1268095" imgH="1199515" progId="">
                      <p:embed/>
                      <p:pic>
                        <p:nvPicPr>
                          <p:cNvPr id="0" name="Object 8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250" name="Group 801"/>
            <p:cNvGrpSpPr/>
            <p:nvPr/>
          </p:nvGrpSpPr>
          <p:grpSpPr bwMode="auto">
            <a:xfrm>
              <a:off x="-1002" y="2262"/>
              <a:ext cx="209" cy="224"/>
              <a:chOff x="2870" y="1518"/>
              <a:chExt cx="292" cy="320"/>
            </a:xfrm>
          </p:grpSpPr>
          <p:graphicFrame>
            <p:nvGraphicFramePr>
              <p:cNvPr id="1035" name="Object 80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71" name="Clip" r:id="rId7" imgW="11601450" imgH="11791950" progId="">
                      <p:embed/>
                    </p:oleObj>
                  </mc:Choice>
                  <mc:Fallback>
                    <p:oleObj name="Clip" r:id="rId7" imgW="11601450" imgH="11791950" progId="">
                      <p:embed/>
                      <p:pic>
                        <p:nvPicPr>
                          <p:cNvPr id="0" name="Object 8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6" name="Object 80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72" name="Clip" r:id="rId8" imgW="1268095" imgH="1199515" progId="">
                      <p:embed/>
                    </p:oleObj>
                  </mc:Choice>
                  <mc:Fallback>
                    <p:oleObj name="Clip" r:id="rId8" imgW="1268095" imgH="1199515" progId="">
                      <p:embed/>
                      <p:pic>
                        <p:nvPicPr>
                          <p:cNvPr id="0" name="Object 80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026" name="Object 804"/>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spid="_x0000_s1173" name="Clip" r:id="rId9" imgW="18192750" imgH="15087600" progId="">
                    <p:embed/>
                  </p:oleObj>
                </mc:Choice>
                <mc:Fallback>
                  <p:oleObj name="Clip" r:id="rId9" imgW="18192750" imgH="15087600" progId="">
                    <p:embed/>
                    <p:pic>
                      <p:nvPicPr>
                        <p:cNvPr id="0" name="Object 80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51" name="Group 805"/>
            <p:cNvGrpSpPr/>
            <p:nvPr/>
          </p:nvGrpSpPr>
          <p:grpSpPr bwMode="auto">
            <a:xfrm>
              <a:off x="310" y="3575"/>
              <a:ext cx="125" cy="230"/>
              <a:chOff x="4180" y="783"/>
              <a:chExt cx="150" cy="307"/>
            </a:xfrm>
          </p:grpSpPr>
          <p:sp>
            <p:nvSpPr>
              <p:cNvPr id="1263" name="AutoShape 80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264" name="Rectangle 80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265" name="Rectangle 80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266" name="AutoShape 80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267" name="Line 81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268" name="Line 81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269" name="Rectangle 81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270" name="Rectangle 81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aphicFrame>
          <p:nvGraphicFramePr>
            <p:cNvPr id="1027" name="Object 814"/>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spid="_x0000_s1174" name="Clip" r:id="rId11" imgW="18192750" imgH="15087600" progId="">
                    <p:embed/>
                  </p:oleObj>
                </mc:Choice>
                <mc:Fallback>
                  <p:oleObj name="Clip" r:id="rId11" imgW="18192750" imgH="15087600" progId="">
                    <p:embed/>
                    <p:pic>
                      <p:nvPicPr>
                        <p:cNvPr id="0" name="Object 8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815"/>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spid="_x0000_s1175" name="Clip" r:id="rId12" imgW="18192750" imgH="15087600" progId="">
                    <p:embed/>
                  </p:oleObj>
                </mc:Choice>
                <mc:Fallback>
                  <p:oleObj name="Clip" r:id="rId12" imgW="18192750" imgH="15087600" progId="">
                    <p:embed/>
                    <p:pic>
                      <p:nvPicPr>
                        <p:cNvPr id="0" name="Object 8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9" name="Object 816"/>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spid="_x0000_s1176" name="Clip" r:id="rId13" imgW="18192750" imgH="15087600" progId="">
                    <p:embed/>
                  </p:oleObj>
                </mc:Choice>
                <mc:Fallback>
                  <p:oleObj name="Clip" r:id="rId13" imgW="18192750" imgH="15087600" progId="">
                    <p:embed/>
                    <p:pic>
                      <p:nvPicPr>
                        <p:cNvPr id="0" name="Object 8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0" name="Object 817"/>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spid="_x0000_s1177" name="Clip" r:id="rId14" imgW="18192750" imgH="15087600" progId="">
                    <p:embed/>
                  </p:oleObj>
                </mc:Choice>
                <mc:Fallback>
                  <p:oleObj name="Clip" r:id="rId14" imgW="18192750" imgH="15087600" progId="">
                    <p:embed/>
                    <p:pic>
                      <p:nvPicPr>
                        <p:cNvPr id="0" name="Object 8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52" name="Group 818"/>
            <p:cNvGrpSpPr/>
            <p:nvPr/>
          </p:nvGrpSpPr>
          <p:grpSpPr bwMode="auto">
            <a:xfrm>
              <a:off x="83" y="3625"/>
              <a:ext cx="172" cy="215"/>
              <a:chOff x="2870" y="1518"/>
              <a:chExt cx="292" cy="320"/>
            </a:xfrm>
          </p:grpSpPr>
          <p:graphicFrame>
            <p:nvGraphicFramePr>
              <p:cNvPr id="1033" name="Object 819"/>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78" name="Clip" r:id="rId15" imgW="11601450" imgH="11791950" progId="">
                      <p:embed/>
                    </p:oleObj>
                  </mc:Choice>
                  <mc:Fallback>
                    <p:oleObj name="Clip" r:id="rId15" imgW="11601450" imgH="11791950" progId="">
                      <p:embed/>
                      <p:pic>
                        <p:nvPicPr>
                          <p:cNvPr id="0" name="Object 8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 name="Object 820"/>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79" name="Clip" r:id="rId16" imgW="1268095" imgH="1199515" progId="">
                      <p:embed/>
                    </p:oleObj>
                  </mc:Choice>
                  <mc:Fallback>
                    <p:oleObj name="Clip" r:id="rId16" imgW="1268095" imgH="1199515" progId="">
                      <p:embed/>
                      <p:pic>
                        <p:nvPicPr>
                          <p:cNvPr id="0" name="Object 8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253" name="Group 821"/>
            <p:cNvGrpSpPr/>
            <p:nvPr/>
          </p:nvGrpSpPr>
          <p:grpSpPr bwMode="auto">
            <a:xfrm>
              <a:off x="-201" y="3657"/>
              <a:ext cx="220" cy="203"/>
              <a:chOff x="2870" y="1518"/>
              <a:chExt cx="292" cy="320"/>
            </a:xfrm>
          </p:grpSpPr>
          <p:graphicFrame>
            <p:nvGraphicFramePr>
              <p:cNvPr id="1031" name="Object 822"/>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80" name="Clip" r:id="rId17" imgW="11601450" imgH="11791950" progId="">
                      <p:embed/>
                    </p:oleObj>
                  </mc:Choice>
                  <mc:Fallback>
                    <p:oleObj name="Clip" r:id="rId17" imgW="11601450" imgH="11791950" progId="">
                      <p:embed/>
                      <p:pic>
                        <p:nvPicPr>
                          <p:cNvPr id="0" name="Object 8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823"/>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81" name="Clip" r:id="rId18" imgW="1268095" imgH="1199515" progId="">
                      <p:embed/>
                    </p:oleObj>
                  </mc:Choice>
                  <mc:Fallback>
                    <p:oleObj name="Clip" r:id="rId18" imgW="1268095" imgH="1199515" progId="">
                      <p:embed/>
                      <p:pic>
                        <p:nvPicPr>
                          <p:cNvPr id="0" name="Object 8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254" name="Group 824"/>
            <p:cNvGrpSpPr/>
            <p:nvPr/>
          </p:nvGrpSpPr>
          <p:grpSpPr bwMode="auto">
            <a:xfrm>
              <a:off x="569" y="3419"/>
              <a:ext cx="131" cy="258"/>
              <a:chOff x="4180" y="783"/>
              <a:chExt cx="150" cy="307"/>
            </a:xfrm>
          </p:grpSpPr>
          <p:sp>
            <p:nvSpPr>
              <p:cNvPr id="1255" name="AutoShape 82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256" name="Rectangle 826"/>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257" name="Rectangle 827"/>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258" name="AutoShape 82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259" name="Line 829"/>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260" name="Line 830"/>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261" name="Rectangle 831"/>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262" name="Rectangle 832"/>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sp>
        <p:nvSpPr>
          <p:cNvPr id="1136" name="Line 833"/>
          <p:cNvSpPr>
            <a:spLocks noChangeShapeType="1"/>
          </p:cNvSpPr>
          <p:nvPr/>
        </p:nvSpPr>
        <p:spPr bwMode="auto">
          <a:xfrm flipH="1">
            <a:off x="6015038" y="3413125"/>
            <a:ext cx="3175" cy="144463"/>
          </a:xfrm>
          <a:prstGeom prst="line">
            <a:avLst/>
          </a:prstGeom>
          <a:noFill/>
          <a:ln w="9525">
            <a:solidFill>
              <a:schemeClr val="bg2"/>
            </a:solidFill>
            <a:round/>
          </a:ln>
        </p:spPr>
        <p:txBody>
          <a:bodyPr/>
          <a:lstStyle/>
          <a:p>
            <a:endParaRPr lang="en-US"/>
          </a:p>
        </p:txBody>
      </p:sp>
      <p:sp>
        <p:nvSpPr>
          <p:cNvPr id="1137" name="Line 834"/>
          <p:cNvSpPr>
            <a:spLocks noChangeShapeType="1"/>
          </p:cNvSpPr>
          <p:nvPr/>
        </p:nvSpPr>
        <p:spPr bwMode="auto">
          <a:xfrm flipV="1">
            <a:off x="7312025" y="2395538"/>
            <a:ext cx="123825" cy="87312"/>
          </a:xfrm>
          <a:prstGeom prst="line">
            <a:avLst/>
          </a:prstGeom>
          <a:noFill/>
          <a:ln w="9525">
            <a:solidFill>
              <a:schemeClr val="bg2"/>
            </a:solidFill>
            <a:round/>
          </a:ln>
        </p:spPr>
        <p:txBody>
          <a:bodyPr/>
          <a:lstStyle/>
          <a:p>
            <a:endParaRPr lang="en-US"/>
          </a:p>
        </p:txBody>
      </p:sp>
      <p:sp>
        <p:nvSpPr>
          <p:cNvPr id="1138" name="Line 835"/>
          <p:cNvSpPr>
            <a:spLocks noChangeShapeType="1"/>
          </p:cNvSpPr>
          <p:nvPr/>
        </p:nvSpPr>
        <p:spPr bwMode="auto">
          <a:xfrm>
            <a:off x="7138988" y="2568575"/>
            <a:ext cx="0" cy="82550"/>
          </a:xfrm>
          <a:prstGeom prst="line">
            <a:avLst/>
          </a:prstGeom>
          <a:noFill/>
          <a:ln w="9525">
            <a:solidFill>
              <a:schemeClr val="bg2"/>
            </a:solidFill>
            <a:round/>
          </a:ln>
        </p:spPr>
        <p:txBody>
          <a:bodyPr/>
          <a:lstStyle/>
          <a:p>
            <a:endParaRPr lang="en-US"/>
          </a:p>
        </p:txBody>
      </p:sp>
      <p:sp>
        <p:nvSpPr>
          <p:cNvPr id="1139" name="Line 836"/>
          <p:cNvSpPr>
            <a:spLocks noChangeShapeType="1"/>
          </p:cNvSpPr>
          <p:nvPr/>
        </p:nvSpPr>
        <p:spPr bwMode="auto">
          <a:xfrm flipV="1">
            <a:off x="7310438" y="2465388"/>
            <a:ext cx="263525" cy="288925"/>
          </a:xfrm>
          <a:prstGeom prst="line">
            <a:avLst/>
          </a:prstGeom>
          <a:noFill/>
          <a:ln w="9525">
            <a:solidFill>
              <a:schemeClr val="bg2"/>
            </a:solidFill>
            <a:round/>
          </a:ln>
        </p:spPr>
        <p:txBody>
          <a:bodyPr/>
          <a:lstStyle/>
          <a:p>
            <a:endParaRPr lang="en-US"/>
          </a:p>
        </p:txBody>
      </p:sp>
      <p:sp>
        <p:nvSpPr>
          <p:cNvPr id="1140" name="Line 837"/>
          <p:cNvSpPr>
            <a:spLocks noChangeShapeType="1"/>
          </p:cNvSpPr>
          <p:nvPr/>
        </p:nvSpPr>
        <p:spPr bwMode="auto">
          <a:xfrm>
            <a:off x="7675563" y="2463800"/>
            <a:ext cx="0" cy="196850"/>
          </a:xfrm>
          <a:prstGeom prst="line">
            <a:avLst/>
          </a:prstGeom>
          <a:noFill/>
          <a:ln w="9525">
            <a:solidFill>
              <a:schemeClr val="bg2"/>
            </a:solidFill>
            <a:round/>
          </a:ln>
        </p:spPr>
        <p:txBody>
          <a:bodyPr/>
          <a:lstStyle/>
          <a:p>
            <a:endParaRPr lang="en-US"/>
          </a:p>
        </p:txBody>
      </p:sp>
      <p:sp>
        <p:nvSpPr>
          <p:cNvPr id="1141" name="Line 838"/>
          <p:cNvSpPr>
            <a:spLocks noChangeShapeType="1"/>
          </p:cNvSpPr>
          <p:nvPr/>
        </p:nvSpPr>
        <p:spPr bwMode="auto">
          <a:xfrm>
            <a:off x="7329488" y="2770188"/>
            <a:ext cx="188912" cy="0"/>
          </a:xfrm>
          <a:prstGeom prst="line">
            <a:avLst/>
          </a:prstGeom>
          <a:noFill/>
          <a:ln w="9525">
            <a:solidFill>
              <a:schemeClr val="bg2"/>
            </a:solidFill>
            <a:round/>
          </a:ln>
        </p:spPr>
        <p:txBody>
          <a:bodyPr/>
          <a:lstStyle/>
          <a:p>
            <a:endParaRPr lang="en-US"/>
          </a:p>
        </p:txBody>
      </p:sp>
      <p:sp>
        <p:nvSpPr>
          <p:cNvPr id="1142" name="Line 839"/>
          <p:cNvSpPr>
            <a:spLocks noChangeShapeType="1"/>
          </p:cNvSpPr>
          <p:nvPr/>
        </p:nvSpPr>
        <p:spPr bwMode="auto">
          <a:xfrm flipV="1">
            <a:off x="5624513" y="3636963"/>
            <a:ext cx="168275" cy="3175"/>
          </a:xfrm>
          <a:prstGeom prst="line">
            <a:avLst/>
          </a:prstGeom>
          <a:noFill/>
          <a:ln w="9525">
            <a:solidFill>
              <a:schemeClr val="bg2"/>
            </a:solidFill>
            <a:round/>
          </a:ln>
        </p:spPr>
        <p:txBody>
          <a:bodyPr/>
          <a:lstStyle/>
          <a:p>
            <a:endParaRPr lang="en-US"/>
          </a:p>
        </p:txBody>
      </p:sp>
      <p:sp>
        <p:nvSpPr>
          <p:cNvPr id="1143" name="Line 840"/>
          <p:cNvSpPr>
            <a:spLocks noChangeShapeType="1"/>
          </p:cNvSpPr>
          <p:nvPr/>
        </p:nvSpPr>
        <p:spPr bwMode="auto">
          <a:xfrm flipV="1">
            <a:off x="7743825" y="2163763"/>
            <a:ext cx="238125" cy="168275"/>
          </a:xfrm>
          <a:prstGeom prst="line">
            <a:avLst/>
          </a:prstGeom>
          <a:noFill/>
          <a:ln w="9525">
            <a:solidFill>
              <a:schemeClr val="bg2"/>
            </a:solidFill>
            <a:round/>
          </a:ln>
        </p:spPr>
        <p:txBody>
          <a:bodyPr/>
          <a:lstStyle/>
          <a:p>
            <a:endParaRPr lang="en-US"/>
          </a:p>
        </p:txBody>
      </p:sp>
      <p:sp>
        <p:nvSpPr>
          <p:cNvPr id="1144" name="Line 841"/>
          <p:cNvSpPr>
            <a:spLocks noChangeShapeType="1"/>
          </p:cNvSpPr>
          <p:nvPr/>
        </p:nvSpPr>
        <p:spPr bwMode="auto">
          <a:xfrm>
            <a:off x="7883525" y="2760663"/>
            <a:ext cx="177800" cy="0"/>
          </a:xfrm>
          <a:prstGeom prst="line">
            <a:avLst/>
          </a:prstGeom>
          <a:noFill/>
          <a:ln w="9525">
            <a:solidFill>
              <a:schemeClr val="bg2"/>
            </a:solidFill>
            <a:round/>
          </a:ln>
        </p:spPr>
        <p:txBody>
          <a:bodyPr/>
          <a:lstStyle/>
          <a:p>
            <a:endParaRPr lang="en-US"/>
          </a:p>
        </p:txBody>
      </p:sp>
      <p:sp>
        <p:nvSpPr>
          <p:cNvPr id="1145" name="Line 842"/>
          <p:cNvSpPr>
            <a:spLocks noChangeShapeType="1"/>
          </p:cNvSpPr>
          <p:nvPr/>
        </p:nvSpPr>
        <p:spPr bwMode="auto">
          <a:xfrm flipH="1">
            <a:off x="7029450" y="2836863"/>
            <a:ext cx="98425" cy="704850"/>
          </a:xfrm>
          <a:prstGeom prst="line">
            <a:avLst/>
          </a:prstGeom>
          <a:noFill/>
          <a:ln w="9525">
            <a:solidFill>
              <a:schemeClr val="bg2"/>
            </a:solidFill>
            <a:round/>
          </a:ln>
        </p:spPr>
        <p:txBody>
          <a:bodyPr/>
          <a:lstStyle/>
          <a:p>
            <a:endParaRPr lang="en-US"/>
          </a:p>
        </p:txBody>
      </p:sp>
      <p:sp>
        <p:nvSpPr>
          <p:cNvPr id="1146" name="Line 843"/>
          <p:cNvSpPr>
            <a:spLocks noChangeShapeType="1"/>
          </p:cNvSpPr>
          <p:nvPr/>
        </p:nvSpPr>
        <p:spPr bwMode="auto">
          <a:xfrm flipH="1">
            <a:off x="7620000" y="2836863"/>
            <a:ext cx="111125" cy="727075"/>
          </a:xfrm>
          <a:prstGeom prst="line">
            <a:avLst/>
          </a:prstGeom>
          <a:noFill/>
          <a:ln w="9525">
            <a:solidFill>
              <a:schemeClr val="bg2"/>
            </a:solidFill>
            <a:round/>
          </a:ln>
        </p:spPr>
        <p:txBody>
          <a:bodyPr/>
          <a:lstStyle/>
          <a:p>
            <a:endParaRPr lang="en-US"/>
          </a:p>
        </p:txBody>
      </p:sp>
      <p:grpSp>
        <p:nvGrpSpPr>
          <p:cNvPr id="1147" name="Group 844"/>
          <p:cNvGrpSpPr/>
          <p:nvPr/>
        </p:nvGrpSpPr>
        <p:grpSpPr bwMode="auto">
          <a:xfrm>
            <a:off x="6672263" y="4454525"/>
            <a:ext cx="501650" cy="234950"/>
            <a:chOff x="4701" y="2996"/>
            <a:chExt cx="316" cy="148"/>
          </a:xfrm>
        </p:grpSpPr>
        <p:sp>
          <p:nvSpPr>
            <p:cNvPr id="1234" name="Oval 845"/>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1235" name="Line 846"/>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1236" name="Line 847"/>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1237" name="Rectangle 848"/>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238" name="Oval 849"/>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1239" name="Group 850"/>
            <p:cNvGrpSpPr/>
            <p:nvPr/>
          </p:nvGrpSpPr>
          <p:grpSpPr bwMode="auto">
            <a:xfrm>
              <a:off x="4776" y="3017"/>
              <a:ext cx="156" cy="56"/>
              <a:chOff x="2848" y="848"/>
              <a:chExt cx="140" cy="98"/>
            </a:xfrm>
          </p:grpSpPr>
          <p:sp>
            <p:nvSpPr>
              <p:cNvPr id="1244" name="Line 851"/>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245" name="Line 852"/>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246" name="Line 853"/>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240" name="Group 854"/>
            <p:cNvGrpSpPr/>
            <p:nvPr/>
          </p:nvGrpSpPr>
          <p:grpSpPr bwMode="auto">
            <a:xfrm flipV="1">
              <a:off x="4776" y="3016"/>
              <a:ext cx="156" cy="56"/>
              <a:chOff x="2848" y="848"/>
              <a:chExt cx="140" cy="98"/>
            </a:xfrm>
          </p:grpSpPr>
          <p:sp>
            <p:nvSpPr>
              <p:cNvPr id="1241" name="Line 85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242" name="Line 85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243" name="Line 85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1148" name="Group 858"/>
          <p:cNvGrpSpPr/>
          <p:nvPr/>
        </p:nvGrpSpPr>
        <p:grpSpPr bwMode="auto">
          <a:xfrm>
            <a:off x="6007100" y="4756150"/>
            <a:ext cx="501650" cy="234950"/>
            <a:chOff x="4701" y="2996"/>
            <a:chExt cx="316" cy="148"/>
          </a:xfrm>
        </p:grpSpPr>
        <p:sp>
          <p:nvSpPr>
            <p:cNvPr id="1221" name="Oval 859"/>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1222" name="Line 860"/>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1223" name="Line 861"/>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1224" name="Rectangle 862"/>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225" name="Oval 863"/>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1226" name="Group 864"/>
            <p:cNvGrpSpPr/>
            <p:nvPr/>
          </p:nvGrpSpPr>
          <p:grpSpPr bwMode="auto">
            <a:xfrm>
              <a:off x="4776" y="3017"/>
              <a:ext cx="156" cy="56"/>
              <a:chOff x="2848" y="848"/>
              <a:chExt cx="140" cy="98"/>
            </a:xfrm>
          </p:grpSpPr>
          <p:sp>
            <p:nvSpPr>
              <p:cNvPr id="1231" name="Line 86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232" name="Line 86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233" name="Line 86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227" name="Group 868"/>
            <p:cNvGrpSpPr/>
            <p:nvPr/>
          </p:nvGrpSpPr>
          <p:grpSpPr bwMode="auto">
            <a:xfrm flipV="1">
              <a:off x="4776" y="3016"/>
              <a:ext cx="156" cy="56"/>
              <a:chOff x="2848" y="848"/>
              <a:chExt cx="140" cy="98"/>
            </a:xfrm>
          </p:grpSpPr>
          <p:sp>
            <p:nvSpPr>
              <p:cNvPr id="1228" name="Line 86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229" name="Line 87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230" name="Line 87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1149" name="Group 872"/>
          <p:cNvGrpSpPr/>
          <p:nvPr/>
        </p:nvGrpSpPr>
        <p:grpSpPr bwMode="auto">
          <a:xfrm>
            <a:off x="6837363" y="4941888"/>
            <a:ext cx="290512" cy="404812"/>
            <a:chOff x="4290" y="3130"/>
            <a:chExt cx="183" cy="255"/>
          </a:xfrm>
        </p:grpSpPr>
        <p:pic>
          <p:nvPicPr>
            <p:cNvPr id="1203" name="Picture 873" descr="31u_bnrz[1]"/>
            <p:cNvPicPr>
              <a:picLocks noChangeAspect="1" noChangeArrowheads="1"/>
            </p:cNvPicPr>
            <p:nvPr/>
          </p:nvPicPr>
          <p:blipFill>
            <a:blip r:embed="rId19"/>
            <a:srcRect/>
            <a:stretch>
              <a:fillRect/>
            </a:stretch>
          </p:blipFill>
          <p:spPr bwMode="auto">
            <a:xfrm>
              <a:off x="4343" y="3211"/>
              <a:ext cx="121" cy="174"/>
            </a:xfrm>
            <a:prstGeom prst="rect">
              <a:avLst/>
            </a:prstGeom>
            <a:solidFill>
              <a:srgbClr val="DDDDDD"/>
            </a:solidFill>
            <a:ln w="9525">
              <a:noFill/>
              <a:miter lim="800000"/>
              <a:headEnd/>
              <a:tailEnd/>
            </a:ln>
          </p:spPr>
        </p:pic>
        <p:sp>
          <p:nvSpPr>
            <p:cNvPr id="1204" name="Freeform 874"/>
            <p:cNvSpPr/>
            <p:nvPr/>
          </p:nvSpPr>
          <p:spPr bwMode="auto">
            <a:xfrm>
              <a:off x="4339" y="3143"/>
              <a:ext cx="33" cy="39"/>
            </a:xfrm>
            <a:custGeom>
              <a:avLst/>
              <a:gdLst>
                <a:gd name="T0" fmla="*/ 70 w 199"/>
                <a:gd name="T1" fmla="*/ 29 h 232"/>
                <a:gd name="T2" fmla="*/ 55 w 199"/>
                <a:gd name="T3" fmla="*/ 39 h 232"/>
                <a:gd name="T4" fmla="*/ 42 w 199"/>
                <a:gd name="T5" fmla="*/ 50 h 232"/>
                <a:gd name="T6" fmla="*/ 30 w 199"/>
                <a:gd name="T7" fmla="*/ 63 h 232"/>
                <a:gd name="T8" fmla="*/ 20 w 199"/>
                <a:gd name="T9" fmla="*/ 77 h 232"/>
                <a:gd name="T10" fmla="*/ 12 w 199"/>
                <a:gd name="T11" fmla="*/ 91 h 232"/>
                <a:gd name="T12" fmla="*/ 6 w 199"/>
                <a:gd name="T13" fmla="*/ 108 h 232"/>
                <a:gd name="T14" fmla="*/ 2 w 199"/>
                <a:gd name="T15" fmla="*/ 125 h 232"/>
                <a:gd name="T16" fmla="*/ 0 w 199"/>
                <a:gd name="T17" fmla="*/ 142 h 232"/>
                <a:gd name="T18" fmla="*/ 2 w 199"/>
                <a:gd name="T19" fmla="*/ 166 h 232"/>
                <a:gd name="T20" fmla="*/ 12 w 199"/>
                <a:gd name="T21" fmla="*/ 186 h 232"/>
                <a:gd name="T22" fmla="*/ 26 w 199"/>
                <a:gd name="T23" fmla="*/ 203 h 232"/>
                <a:gd name="T24" fmla="*/ 45 w 199"/>
                <a:gd name="T25" fmla="*/ 216 h 232"/>
                <a:gd name="T26" fmla="*/ 66 w 199"/>
                <a:gd name="T27" fmla="*/ 226 h 232"/>
                <a:gd name="T28" fmla="*/ 88 w 199"/>
                <a:gd name="T29" fmla="*/ 230 h 232"/>
                <a:gd name="T30" fmla="*/ 111 w 199"/>
                <a:gd name="T31" fmla="*/ 232 h 232"/>
                <a:gd name="T32" fmla="*/ 134 w 199"/>
                <a:gd name="T33" fmla="*/ 228 h 232"/>
                <a:gd name="T34" fmla="*/ 138 w 199"/>
                <a:gd name="T35" fmla="*/ 228 h 232"/>
                <a:gd name="T36" fmla="*/ 143 w 199"/>
                <a:gd name="T37" fmla="*/ 226 h 232"/>
                <a:gd name="T38" fmla="*/ 147 w 199"/>
                <a:gd name="T39" fmla="*/ 222 h 232"/>
                <a:gd name="T40" fmla="*/ 148 w 199"/>
                <a:gd name="T41" fmla="*/ 218 h 232"/>
                <a:gd name="T42" fmla="*/ 145 w 199"/>
                <a:gd name="T43" fmla="*/ 212 h 232"/>
                <a:gd name="T44" fmla="*/ 141 w 199"/>
                <a:gd name="T45" fmla="*/ 207 h 232"/>
                <a:gd name="T46" fmla="*/ 135 w 199"/>
                <a:gd name="T47" fmla="*/ 203 h 232"/>
                <a:gd name="T48" fmla="*/ 129 w 199"/>
                <a:gd name="T49" fmla="*/ 201 h 232"/>
                <a:gd name="T50" fmla="*/ 117 w 199"/>
                <a:gd name="T51" fmla="*/ 197 h 232"/>
                <a:gd name="T52" fmla="*/ 105 w 199"/>
                <a:gd name="T53" fmla="*/ 195 h 232"/>
                <a:gd name="T54" fmla="*/ 94 w 199"/>
                <a:gd name="T55" fmla="*/ 193 h 232"/>
                <a:gd name="T56" fmla="*/ 83 w 199"/>
                <a:gd name="T57" fmla="*/ 190 h 232"/>
                <a:gd name="T58" fmla="*/ 73 w 199"/>
                <a:gd name="T59" fmla="*/ 187 h 232"/>
                <a:gd name="T60" fmla="*/ 62 w 199"/>
                <a:gd name="T61" fmla="*/ 182 h 232"/>
                <a:gd name="T62" fmla="*/ 53 w 199"/>
                <a:gd name="T63" fmla="*/ 176 h 232"/>
                <a:gd name="T64" fmla="*/ 43 w 199"/>
                <a:gd name="T65" fmla="*/ 167 h 232"/>
                <a:gd name="T66" fmla="*/ 40 w 199"/>
                <a:gd name="T67" fmla="*/ 128 h 232"/>
                <a:gd name="T68" fmla="*/ 49 w 199"/>
                <a:gd name="T69" fmla="*/ 96 h 232"/>
                <a:gd name="T70" fmla="*/ 68 w 199"/>
                <a:gd name="T71" fmla="*/ 71 h 232"/>
                <a:gd name="T72" fmla="*/ 94 w 199"/>
                <a:gd name="T73" fmla="*/ 50 h 232"/>
                <a:gd name="T74" fmla="*/ 122 w 199"/>
                <a:gd name="T75" fmla="*/ 34 h 232"/>
                <a:gd name="T76" fmla="*/ 151 w 199"/>
                <a:gd name="T77" fmla="*/ 21 h 232"/>
                <a:gd name="T78" fmla="*/ 178 w 199"/>
                <a:gd name="T79" fmla="*/ 12 h 232"/>
                <a:gd name="T80" fmla="*/ 199 w 199"/>
                <a:gd name="T81" fmla="*/ 4 h 232"/>
                <a:gd name="T82" fmla="*/ 186 w 199"/>
                <a:gd name="T83" fmla="*/ 1 h 232"/>
                <a:gd name="T84" fmla="*/ 172 w 199"/>
                <a:gd name="T85" fmla="*/ 0 h 232"/>
                <a:gd name="T86" fmla="*/ 156 w 199"/>
                <a:gd name="T87" fmla="*/ 2 h 232"/>
                <a:gd name="T88" fmla="*/ 138 w 199"/>
                <a:gd name="T89" fmla="*/ 4 h 232"/>
                <a:gd name="T90" fmla="*/ 121 w 199"/>
                <a:gd name="T91" fmla="*/ 10 h 232"/>
                <a:gd name="T92" fmla="*/ 103 w 199"/>
                <a:gd name="T93" fmla="*/ 16 h 232"/>
                <a:gd name="T94" fmla="*/ 86 w 199"/>
                <a:gd name="T95" fmla="*/ 23 h 232"/>
                <a:gd name="T96" fmla="*/ 70 w 199"/>
                <a:gd name="T97" fmla="*/ 29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ln>
          </p:spPr>
          <p:txBody>
            <a:bodyPr/>
            <a:lstStyle/>
            <a:p>
              <a:endParaRPr lang="en-US"/>
            </a:p>
          </p:txBody>
        </p:sp>
        <p:sp>
          <p:nvSpPr>
            <p:cNvPr id="1205" name="Freeform 875"/>
            <p:cNvSpPr/>
            <p:nvPr/>
          </p:nvSpPr>
          <p:spPr bwMode="auto">
            <a:xfrm>
              <a:off x="4395" y="3142"/>
              <a:ext cx="22" cy="30"/>
            </a:xfrm>
            <a:custGeom>
              <a:avLst/>
              <a:gdLst>
                <a:gd name="T0" fmla="*/ 108 w 128"/>
                <a:gd name="T1" fmla="*/ 59 h 180"/>
                <a:gd name="T2" fmla="*/ 113 w 128"/>
                <a:gd name="T3" fmla="*/ 77 h 180"/>
                <a:gd name="T4" fmla="*/ 111 w 128"/>
                <a:gd name="T5" fmla="*/ 94 h 180"/>
                <a:gd name="T6" fmla="*/ 103 w 128"/>
                <a:gd name="T7" fmla="*/ 108 h 180"/>
                <a:gd name="T8" fmla="*/ 91 w 128"/>
                <a:gd name="T9" fmla="*/ 121 h 180"/>
                <a:gd name="T10" fmla="*/ 77 w 128"/>
                <a:gd name="T11" fmla="*/ 132 h 180"/>
                <a:gd name="T12" fmla="*/ 61 w 128"/>
                <a:gd name="T13" fmla="*/ 144 h 180"/>
                <a:gd name="T14" fmla="*/ 45 w 128"/>
                <a:gd name="T15" fmla="*/ 154 h 180"/>
                <a:gd name="T16" fmla="*/ 30 w 128"/>
                <a:gd name="T17" fmla="*/ 164 h 180"/>
                <a:gd name="T18" fmla="*/ 28 w 128"/>
                <a:gd name="T19" fmla="*/ 168 h 180"/>
                <a:gd name="T20" fmla="*/ 27 w 128"/>
                <a:gd name="T21" fmla="*/ 170 h 180"/>
                <a:gd name="T22" fmla="*/ 27 w 128"/>
                <a:gd name="T23" fmla="*/ 174 h 180"/>
                <a:gd name="T24" fmla="*/ 28 w 128"/>
                <a:gd name="T25" fmla="*/ 177 h 180"/>
                <a:gd name="T26" fmla="*/ 32 w 128"/>
                <a:gd name="T27" fmla="*/ 179 h 180"/>
                <a:gd name="T28" fmla="*/ 35 w 128"/>
                <a:gd name="T29" fmla="*/ 180 h 180"/>
                <a:gd name="T30" fmla="*/ 37 w 128"/>
                <a:gd name="T31" fmla="*/ 180 h 180"/>
                <a:gd name="T32" fmla="*/ 41 w 128"/>
                <a:gd name="T33" fmla="*/ 179 h 180"/>
                <a:gd name="T34" fmla="*/ 60 w 128"/>
                <a:gd name="T35" fmla="*/ 169 h 180"/>
                <a:gd name="T36" fmla="*/ 77 w 128"/>
                <a:gd name="T37" fmla="*/ 158 h 180"/>
                <a:gd name="T38" fmla="*/ 94 w 128"/>
                <a:gd name="T39" fmla="*/ 145 h 180"/>
                <a:gd name="T40" fmla="*/ 109 w 128"/>
                <a:gd name="T41" fmla="*/ 130 h 180"/>
                <a:gd name="T42" fmla="*/ 120 w 128"/>
                <a:gd name="T43" fmla="*/ 114 h 180"/>
                <a:gd name="T44" fmla="*/ 127 w 128"/>
                <a:gd name="T45" fmla="*/ 95 h 180"/>
                <a:gd name="T46" fmla="*/ 128 w 128"/>
                <a:gd name="T47" fmla="*/ 76 h 180"/>
                <a:gd name="T48" fmla="*/ 123 w 128"/>
                <a:gd name="T49" fmla="*/ 55 h 180"/>
                <a:gd name="T50" fmla="*/ 113 w 128"/>
                <a:gd name="T51" fmla="*/ 39 h 180"/>
                <a:gd name="T52" fmla="*/ 97 w 128"/>
                <a:gd name="T53" fmla="*/ 25 h 180"/>
                <a:gd name="T54" fmla="*/ 79 w 128"/>
                <a:gd name="T55" fmla="*/ 15 h 180"/>
                <a:gd name="T56" fmla="*/ 57 w 128"/>
                <a:gd name="T57" fmla="*/ 7 h 180"/>
                <a:gd name="T58" fmla="*/ 36 w 128"/>
                <a:gd name="T59" fmla="*/ 2 h 180"/>
                <a:gd name="T60" fmla="*/ 19 w 128"/>
                <a:gd name="T61" fmla="*/ 0 h 180"/>
                <a:gd name="T62" fmla="*/ 6 w 128"/>
                <a:gd name="T63" fmla="*/ 0 h 180"/>
                <a:gd name="T64" fmla="*/ 0 w 128"/>
                <a:gd name="T65" fmla="*/ 4 h 180"/>
                <a:gd name="T66" fmla="*/ 14 w 128"/>
                <a:gd name="T67" fmla="*/ 9 h 180"/>
                <a:gd name="T68" fmla="*/ 29 w 128"/>
                <a:gd name="T69" fmla="*/ 14 h 180"/>
                <a:gd name="T70" fmla="*/ 46 w 128"/>
                <a:gd name="T71" fmla="*/ 19 h 180"/>
                <a:gd name="T72" fmla="*/ 61 w 128"/>
                <a:gd name="T73" fmla="*/ 23 h 180"/>
                <a:gd name="T74" fmla="*/ 76 w 128"/>
                <a:gd name="T75" fmla="*/ 29 h 180"/>
                <a:gd name="T76" fmla="*/ 89 w 128"/>
                <a:gd name="T77" fmla="*/ 37 h 180"/>
                <a:gd name="T78" fmla="*/ 100 w 128"/>
                <a:gd name="T79" fmla="*/ 46 h 180"/>
                <a:gd name="T80" fmla="*/ 108 w 128"/>
                <a:gd name="T81" fmla="*/ 59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ln>
          </p:spPr>
          <p:txBody>
            <a:bodyPr/>
            <a:lstStyle/>
            <a:p>
              <a:endParaRPr lang="en-US"/>
            </a:p>
          </p:txBody>
        </p:sp>
        <p:sp>
          <p:nvSpPr>
            <p:cNvPr id="1206" name="Freeform 876"/>
            <p:cNvSpPr/>
            <p:nvPr/>
          </p:nvSpPr>
          <p:spPr bwMode="auto">
            <a:xfrm>
              <a:off x="4318" y="3135"/>
              <a:ext cx="54" cy="63"/>
            </a:xfrm>
            <a:custGeom>
              <a:avLst/>
              <a:gdLst>
                <a:gd name="T0" fmla="*/ 100 w 322"/>
                <a:gd name="T1" fmla="*/ 70 h 378"/>
                <a:gd name="T2" fmla="*/ 53 w 322"/>
                <a:gd name="T3" fmla="*/ 115 h 378"/>
                <a:gd name="T4" fmla="*/ 17 w 322"/>
                <a:gd name="T5" fmla="*/ 166 h 378"/>
                <a:gd name="T6" fmla="*/ 0 w 322"/>
                <a:gd name="T7" fmla="*/ 226 h 378"/>
                <a:gd name="T8" fmla="*/ 3 w 322"/>
                <a:gd name="T9" fmla="*/ 266 h 378"/>
                <a:gd name="T10" fmla="*/ 9 w 322"/>
                <a:gd name="T11" fmla="*/ 282 h 378"/>
                <a:gd name="T12" fmla="*/ 19 w 322"/>
                <a:gd name="T13" fmla="*/ 297 h 378"/>
                <a:gd name="T14" fmla="*/ 32 w 322"/>
                <a:gd name="T15" fmla="*/ 310 h 378"/>
                <a:gd name="T16" fmla="*/ 56 w 322"/>
                <a:gd name="T17" fmla="*/ 324 h 378"/>
                <a:gd name="T18" fmla="*/ 86 w 322"/>
                <a:gd name="T19" fmla="*/ 338 h 378"/>
                <a:gd name="T20" fmla="*/ 119 w 322"/>
                <a:gd name="T21" fmla="*/ 350 h 378"/>
                <a:gd name="T22" fmla="*/ 152 w 322"/>
                <a:gd name="T23" fmla="*/ 359 h 378"/>
                <a:gd name="T24" fmla="*/ 186 w 322"/>
                <a:gd name="T25" fmla="*/ 366 h 378"/>
                <a:gd name="T26" fmla="*/ 220 w 322"/>
                <a:gd name="T27" fmla="*/ 371 h 378"/>
                <a:gd name="T28" fmla="*/ 254 w 322"/>
                <a:gd name="T29" fmla="*/ 374 h 378"/>
                <a:gd name="T30" fmla="*/ 289 w 322"/>
                <a:gd name="T31" fmla="*/ 376 h 378"/>
                <a:gd name="T32" fmla="*/ 311 w 322"/>
                <a:gd name="T33" fmla="*/ 378 h 378"/>
                <a:gd name="T34" fmla="*/ 320 w 322"/>
                <a:gd name="T35" fmla="*/ 371 h 378"/>
                <a:gd name="T36" fmla="*/ 322 w 322"/>
                <a:gd name="T37" fmla="*/ 360 h 378"/>
                <a:gd name="T38" fmla="*/ 315 w 322"/>
                <a:gd name="T39" fmla="*/ 352 h 378"/>
                <a:gd name="T40" fmla="*/ 294 w 322"/>
                <a:gd name="T41" fmla="*/ 347 h 378"/>
                <a:gd name="T42" fmla="*/ 263 w 322"/>
                <a:gd name="T43" fmla="*/ 341 h 378"/>
                <a:gd name="T44" fmla="*/ 232 w 322"/>
                <a:gd name="T45" fmla="*/ 336 h 378"/>
                <a:gd name="T46" fmla="*/ 200 w 322"/>
                <a:gd name="T47" fmla="*/ 332 h 378"/>
                <a:gd name="T48" fmla="*/ 170 w 322"/>
                <a:gd name="T49" fmla="*/ 326 h 378"/>
                <a:gd name="T50" fmla="*/ 139 w 322"/>
                <a:gd name="T51" fmla="*/ 318 h 378"/>
                <a:gd name="T52" fmla="*/ 110 w 322"/>
                <a:gd name="T53" fmla="*/ 309 h 378"/>
                <a:gd name="T54" fmla="*/ 80 w 322"/>
                <a:gd name="T55" fmla="*/ 297 h 378"/>
                <a:gd name="T56" fmla="*/ 55 w 322"/>
                <a:gd name="T57" fmla="*/ 281 h 378"/>
                <a:gd name="T58" fmla="*/ 38 w 322"/>
                <a:gd name="T59" fmla="*/ 259 h 378"/>
                <a:gd name="T60" fmla="*/ 34 w 322"/>
                <a:gd name="T61" fmla="*/ 232 h 378"/>
                <a:gd name="T62" fmla="*/ 38 w 322"/>
                <a:gd name="T63" fmla="*/ 200 h 378"/>
                <a:gd name="T64" fmla="*/ 51 w 322"/>
                <a:gd name="T65" fmla="*/ 170 h 378"/>
                <a:gd name="T66" fmla="*/ 71 w 322"/>
                <a:gd name="T67" fmla="*/ 137 h 378"/>
                <a:gd name="T68" fmla="*/ 94 w 322"/>
                <a:gd name="T69" fmla="*/ 110 h 378"/>
                <a:gd name="T70" fmla="*/ 123 w 322"/>
                <a:gd name="T71" fmla="*/ 82 h 378"/>
                <a:gd name="T72" fmla="*/ 153 w 322"/>
                <a:gd name="T73" fmla="*/ 57 h 378"/>
                <a:gd name="T74" fmla="*/ 195 w 322"/>
                <a:gd name="T75" fmla="*/ 38 h 378"/>
                <a:gd name="T76" fmla="*/ 238 w 322"/>
                <a:gd name="T77" fmla="*/ 20 h 378"/>
                <a:gd name="T78" fmla="*/ 264 w 322"/>
                <a:gd name="T79" fmla="*/ 7 h 378"/>
                <a:gd name="T80" fmla="*/ 256 w 322"/>
                <a:gd name="T81" fmla="*/ 0 h 378"/>
                <a:gd name="T82" fmla="*/ 221 w 322"/>
                <a:gd name="T83" fmla="*/ 4 h 378"/>
                <a:gd name="T84" fmla="*/ 180 w 322"/>
                <a:gd name="T85" fmla="*/ 18 h 378"/>
                <a:gd name="T86" fmla="*/ 141 w 322"/>
                <a:gd name="T87" fmla="*/ 38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ln>
          </p:spPr>
          <p:txBody>
            <a:bodyPr/>
            <a:lstStyle/>
            <a:p>
              <a:endParaRPr lang="en-US"/>
            </a:p>
          </p:txBody>
        </p:sp>
        <p:sp>
          <p:nvSpPr>
            <p:cNvPr id="1207" name="Freeform 877"/>
            <p:cNvSpPr/>
            <p:nvPr/>
          </p:nvSpPr>
          <p:spPr bwMode="auto">
            <a:xfrm>
              <a:off x="4394" y="3133"/>
              <a:ext cx="47" cy="42"/>
            </a:xfrm>
            <a:custGeom>
              <a:avLst/>
              <a:gdLst>
                <a:gd name="T0" fmla="*/ 235 w 283"/>
                <a:gd name="T1" fmla="*/ 77 h 252"/>
                <a:gd name="T2" fmla="*/ 248 w 283"/>
                <a:gd name="T3" fmla="*/ 91 h 252"/>
                <a:gd name="T4" fmla="*/ 256 w 283"/>
                <a:gd name="T5" fmla="*/ 107 h 252"/>
                <a:gd name="T6" fmla="*/ 259 w 283"/>
                <a:gd name="T7" fmla="*/ 124 h 252"/>
                <a:gd name="T8" fmla="*/ 259 w 283"/>
                <a:gd name="T9" fmla="*/ 142 h 252"/>
                <a:gd name="T10" fmla="*/ 257 w 283"/>
                <a:gd name="T11" fmla="*/ 157 h 252"/>
                <a:gd name="T12" fmla="*/ 252 w 283"/>
                <a:gd name="T13" fmla="*/ 170 h 252"/>
                <a:gd name="T14" fmla="*/ 244 w 283"/>
                <a:gd name="T15" fmla="*/ 183 h 252"/>
                <a:gd name="T16" fmla="*/ 236 w 283"/>
                <a:gd name="T17" fmla="*/ 193 h 252"/>
                <a:gd name="T18" fmla="*/ 225 w 283"/>
                <a:gd name="T19" fmla="*/ 204 h 252"/>
                <a:gd name="T20" fmla="*/ 215 w 283"/>
                <a:gd name="T21" fmla="*/ 214 h 252"/>
                <a:gd name="T22" fmla="*/ 204 w 283"/>
                <a:gd name="T23" fmla="*/ 224 h 252"/>
                <a:gd name="T24" fmla="*/ 194 w 283"/>
                <a:gd name="T25" fmla="*/ 234 h 252"/>
                <a:gd name="T26" fmla="*/ 191 w 283"/>
                <a:gd name="T27" fmla="*/ 238 h 252"/>
                <a:gd name="T28" fmla="*/ 191 w 283"/>
                <a:gd name="T29" fmla="*/ 241 h 252"/>
                <a:gd name="T30" fmla="*/ 191 w 283"/>
                <a:gd name="T31" fmla="*/ 245 h 252"/>
                <a:gd name="T32" fmla="*/ 194 w 283"/>
                <a:gd name="T33" fmla="*/ 248 h 252"/>
                <a:gd name="T34" fmla="*/ 197 w 283"/>
                <a:gd name="T35" fmla="*/ 250 h 252"/>
                <a:gd name="T36" fmla="*/ 202 w 283"/>
                <a:gd name="T37" fmla="*/ 252 h 252"/>
                <a:gd name="T38" fmla="*/ 205 w 283"/>
                <a:gd name="T39" fmla="*/ 250 h 252"/>
                <a:gd name="T40" fmla="*/ 209 w 283"/>
                <a:gd name="T41" fmla="*/ 248 h 252"/>
                <a:gd name="T42" fmla="*/ 232 w 283"/>
                <a:gd name="T43" fmla="*/ 233 h 252"/>
                <a:gd name="T44" fmla="*/ 252 w 283"/>
                <a:gd name="T45" fmla="*/ 214 h 252"/>
                <a:gd name="T46" fmla="*/ 268 w 283"/>
                <a:gd name="T47" fmla="*/ 192 h 252"/>
                <a:gd name="T48" fmla="*/ 278 w 283"/>
                <a:gd name="T49" fmla="*/ 167 h 252"/>
                <a:gd name="T50" fmla="*/ 283 w 283"/>
                <a:gd name="T51" fmla="*/ 141 h 252"/>
                <a:gd name="T52" fmla="*/ 280 w 283"/>
                <a:gd name="T53" fmla="*/ 115 h 252"/>
                <a:gd name="T54" fmla="*/ 271 w 283"/>
                <a:gd name="T55" fmla="*/ 91 h 252"/>
                <a:gd name="T56" fmla="*/ 252 w 283"/>
                <a:gd name="T57" fmla="*/ 69 h 252"/>
                <a:gd name="T58" fmla="*/ 238 w 283"/>
                <a:gd name="T59" fmla="*/ 57 h 252"/>
                <a:gd name="T60" fmla="*/ 222 w 283"/>
                <a:gd name="T61" fmla="*/ 48 h 252"/>
                <a:gd name="T62" fmla="*/ 204 w 283"/>
                <a:gd name="T63" fmla="*/ 39 h 252"/>
                <a:gd name="T64" fmla="*/ 184 w 283"/>
                <a:gd name="T65" fmla="*/ 31 h 252"/>
                <a:gd name="T66" fmla="*/ 164 w 283"/>
                <a:gd name="T67" fmla="*/ 23 h 252"/>
                <a:gd name="T68" fmla="*/ 144 w 283"/>
                <a:gd name="T69" fmla="*/ 17 h 252"/>
                <a:gd name="T70" fmla="*/ 123 w 283"/>
                <a:gd name="T71" fmla="*/ 13 h 252"/>
                <a:gd name="T72" fmla="*/ 103 w 283"/>
                <a:gd name="T73" fmla="*/ 8 h 252"/>
                <a:gd name="T74" fmla="*/ 83 w 283"/>
                <a:gd name="T75" fmla="*/ 5 h 252"/>
                <a:gd name="T76" fmla="*/ 66 w 283"/>
                <a:gd name="T77" fmla="*/ 2 h 252"/>
                <a:gd name="T78" fmla="*/ 48 w 283"/>
                <a:gd name="T79" fmla="*/ 0 h 252"/>
                <a:gd name="T80" fmla="*/ 34 w 283"/>
                <a:gd name="T81" fmla="*/ 0 h 252"/>
                <a:gd name="T82" fmla="*/ 21 w 283"/>
                <a:gd name="T83" fmla="*/ 0 h 252"/>
                <a:gd name="T84" fmla="*/ 11 w 283"/>
                <a:gd name="T85" fmla="*/ 0 h 252"/>
                <a:gd name="T86" fmla="*/ 4 w 283"/>
                <a:gd name="T87" fmla="*/ 2 h 252"/>
                <a:gd name="T88" fmla="*/ 0 w 283"/>
                <a:gd name="T89" fmla="*/ 5 h 252"/>
                <a:gd name="T90" fmla="*/ 12 w 283"/>
                <a:gd name="T91" fmla="*/ 7 h 252"/>
                <a:gd name="T92" fmla="*/ 24 w 283"/>
                <a:gd name="T93" fmla="*/ 8 h 252"/>
                <a:gd name="T94" fmla="*/ 38 w 283"/>
                <a:gd name="T95" fmla="*/ 10 h 252"/>
                <a:gd name="T96" fmla="*/ 52 w 283"/>
                <a:gd name="T97" fmla="*/ 13 h 252"/>
                <a:gd name="T98" fmla="*/ 66 w 283"/>
                <a:gd name="T99" fmla="*/ 16 h 252"/>
                <a:gd name="T100" fmla="*/ 82 w 283"/>
                <a:gd name="T101" fmla="*/ 18 h 252"/>
                <a:gd name="T102" fmla="*/ 98 w 283"/>
                <a:gd name="T103" fmla="*/ 22 h 252"/>
                <a:gd name="T104" fmla="*/ 114 w 283"/>
                <a:gd name="T105" fmla="*/ 25 h 252"/>
                <a:gd name="T106" fmla="*/ 129 w 283"/>
                <a:gd name="T107" fmla="*/ 30 h 252"/>
                <a:gd name="T108" fmla="*/ 146 w 283"/>
                <a:gd name="T109" fmla="*/ 34 h 252"/>
                <a:gd name="T110" fmla="*/ 162 w 283"/>
                <a:gd name="T111" fmla="*/ 39 h 252"/>
                <a:gd name="T112" fmla="*/ 177 w 283"/>
                <a:gd name="T113" fmla="*/ 45 h 252"/>
                <a:gd name="T114" fmla="*/ 193 w 283"/>
                <a:gd name="T115" fmla="*/ 52 h 252"/>
                <a:gd name="T116" fmla="*/ 208 w 283"/>
                <a:gd name="T117" fmla="*/ 60 h 252"/>
                <a:gd name="T118" fmla="*/ 222 w 283"/>
                <a:gd name="T119" fmla="*/ 68 h 252"/>
                <a:gd name="T120" fmla="*/ 235 w 283"/>
                <a:gd name="T121" fmla="*/ 77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ln>
          </p:spPr>
          <p:txBody>
            <a:bodyPr/>
            <a:lstStyle/>
            <a:p>
              <a:endParaRPr lang="en-US"/>
            </a:p>
          </p:txBody>
        </p:sp>
        <p:sp>
          <p:nvSpPr>
            <p:cNvPr id="1208" name="Freeform 878"/>
            <p:cNvSpPr/>
            <p:nvPr/>
          </p:nvSpPr>
          <p:spPr bwMode="auto">
            <a:xfrm>
              <a:off x="4298" y="3153"/>
              <a:ext cx="19" cy="39"/>
            </a:xfrm>
            <a:custGeom>
              <a:avLst/>
              <a:gdLst>
                <a:gd name="T0" fmla="*/ 0 w 114"/>
                <a:gd name="T1" fmla="*/ 130 h 238"/>
                <a:gd name="T2" fmla="*/ 0 w 114"/>
                <a:gd name="T3" fmla="*/ 149 h 238"/>
                <a:gd name="T4" fmla="*/ 4 w 114"/>
                <a:gd name="T5" fmla="*/ 168 h 238"/>
                <a:gd name="T6" fmla="*/ 12 w 114"/>
                <a:gd name="T7" fmla="*/ 185 h 238"/>
                <a:gd name="T8" fmla="*/ 24 w 114"/>
                <a:gd name="T9" fmla="*/ 200 h 238"/>
                <a:gd name="T10" fmla="*/ 38 w 114"/>
                <a:gd name="T11" fmla="*/ 213 h 238"/>
                <a:gd name="T12" fmla="*/ 55 w 114"/>
                <a:gd name="T13" fmla="*/ 224 h 238"/>
                <a:gd name="T14" fmla="*/ 73 w 114"/>
                <a:gd name="T15" fmla="*/ 232 h 238"/>
                <a:gd name="T16" fmla="*/ 92 w 114"/>
                <a:gd name="T17" fmla="*/ 237 h 238"/>
                <a:gd name="T18" fmla="*/ 98 w 114"/>
                <a:gd name="T19" fmla="*/ 238 h 238"/>
                <a:gd name="T20" fmla="*/ 104 w 114"/>
                <a:gd name="T21" fmla="*/ 235 h 238"/>
                <a:gd name="T22" fmla="*/ 109 w 114"/>
                <a:gd name="T23" fmla="*/ 232 h 238"/>
                <a:gd name="T24" fmla="*/ 111 w 114"/>
                <a:gd name="T25" fmla="*/ 227 h 238"/>
                <a:gd name="T26" fmla="*/ 111 w 114"/>
                <a:gd name="T27" fmla="*/ 222 h 238"/>
                <a:gd name="T28" fmla="*/ 110 w 114"/>
                <a:gd name="T29" fmla="*/ 216 h 238"/>
                <a:gd name="T30" fmla="*/ 106 w 114"/>
                <a:gd name="T31" fmla="*/ 211 h 238"/>
                <a:gd name="T32" fmla="*/ 100 w 114"/>
                <a:gd name="T33" fmla="*/ 209 h 238"/>
                <a:gd name="T34" fmla="*/ 82 w 114"/>
                <a:gd name="T35" fmla="*/ 202 h 238"/>
                <a:gd name="T36" fmla="*/ 64 w 114"/>
                <a:gd name="T37" fmla="*/ 193 h 238"/>
                <a:gd name="T38" fmla="*/ 50 w 114"/>
                <a:gd name="T39" fmla="*/ 180 h 238"/>
                <a:gd name="T40" fmla="*/ 39 w 114"/>
                <a:gd name="T41" fmla="*/ 167 h 238"/>
                <a:gd name="T42" fmla="*/ 32 w 114"/>
                <a:gd name="T43" fmla="*/ 149 h 238"/>
                <a:gd name="T44" fmla="*/ 29 w 114"/>
                <a:gd name="T45" fmla="*/ 131 h 238"/>
                <a:gd name="T46" fmla="*/ 29 w 114"/>
                <a:gd name="T47" fmla="*/ 111 h 238"/>
                <a:gd name="T48" fmla="*/ 35 w 114"/>
                <a:gd name="T49" fmla="*/ 91 h 238"/>
                <a:gd name="T50" fmla="*/ 42 w 114"/>
                <a:gd name="T51" fmla="*/ 76 h 238"/>
                <a:gd name="T52" fmla="*/ 51 w 114"/>
                <a:gd name="T53" fmla="*/ 62 h 238"/>
                <a:gd name="T54" fmla="*/ 62 w 114"/>
                <a:gd name="T55" fmla="*/ 49 h 238"/>
                <a:gd name="T56" fmla="*/ 73 w 114"/>
                <a:gd name="T57" fmla="*/ 38 h 238"/>
                <a:gd name="T58" fmla="*/ 84 w 114"/>
                <a:gd name="T59" fmla="*/ 28 h 238"/>
                <a:gd name="T60" fmla="*/ 96 w 114"/>
                <a:gd name="T61" fmla="*/ 18 h 238"/>
                <a:gd name="T62" fmla="*/ 106 w 114"/>
                <a:gd name="T63" fmla="*/ 9 h 238"/>
                <a:gd name="T64" fmla="*/ 114 w 114"/>
                <a:gd name="T65" fmla="*/ 1 h 238"/>
                <a:gd name="T66" fmla="*/ 106 w 114"/>
                <a:gd name="T67" fmla="*/ 0 h 238"/>
                <a:gd name="T68" fmla="*/ 93 w 114"/>
                <a:gd name="T69" fmla="*/ 6 h 238"/>
                <a:gd name="T70" fmla="*/ 76 w 114"/>
                <a:gd name="T71" fmla="*/ 18 h 238"/>
                <a:gd name="T72" fmla="*/ 56 w 114"/>
                <a:gd name="T73" fmla="*/ 36 h 238"/>
                <a:gd name="T74" fmla="*/ 37 w 114"/>
                <a:gd name="T75" fmla="*/ 57 h 238"/>
                <a:gd name="T76" fmla="*/ 20 w 114"/>
                <a:gd name="T77" fmla="*/ 80 h 238"/>
                <a:gd name="T78" fmla="*/ 7 w 114"/>
                <a:gd name="T79" fmla="*/ 106 h 238"/>
                <a:gd name="T80" fmla="*/ 0 w 114"/>
                <a:gd name="T81" fmla="*/ 13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ln>
          </p:spPr>
          <p:txBody>
            <a:bodyPr/>
            <a:lstStyle/>
            <a:p>
              <a:endParaRPr lang="en-US"/>
            </a:p>
          </p:txBody>
        </p:sp>
        <p:sp>
          <p:nvSpPr>
            <p:cNvPr id="1209" name="Freeform 879"/>
            <p:cNvSpPr/>
            <p:nvPr/>
          </p:nvSpPr>
          <p:spPr bwMode="auto">
            <a:xfrm>
              <a:off x="4432" y="3130"/>
              <a:ext cx="41" cy="52"/>
            </a:xfrm>
            <a:custGeom>
              <a:avLst/>
              <a:gdLst>
                <a:gd name="T0" fmla="*/ 207 w 246"/>
                <a:gd name="T1" fmla="*/ 124 h 310"/>
                <a:gd name="T2" fmla="*/ 219 w 246"/>
                <a:gd name="T3" fmla="*/ 143 h 310"/>
                <a:gd name="T4" fmla="*/ 225 w 246"/>
                <a:gd name="T5" fmla="*/ 164 h 310"/>
                <a:gd name="T6" fmla="*/ 221 w 246"/>
                <a:gd name="T7" fmla="*/ 187 h 310"/>
                <a:gd name="T8" fmla="*/ 208 w 246"/>
                <a:gd name="T9" fmla="*/ 209 h 310"/>
                <a:gd name="T10" fmla="*/ 188 w 246"/>
                <a:gd name="T11" fmla="*/ 228 h 310"/>
                <a:gd name="T12" fmla="*/ 166 w 246"/>
                <a:gd name="T13" fmla="*/ 246 h 310"/>
                <a:gd name="T14" fmla="*/ 143 w 246"/>
                <a:gd name="T15" fmla="*/ 264 h 310"/>
                <a:gd name="T16" fmla="*/ 129 w 246"/>
                <a:gd name="T17" fmla="*/ 278 h 310"/>
                <a:gd name="T18" fmla="*/ 124 w 246"/>
                <a:gd name="T19" fmla="*/ 287 h 310"/>
                <a:gd name="T20" fmla="*/ 120 w 246"/>
                <a:gd name="T21" fmla="*/ 296 h 310"/>
                <a:gd name="T22" fmla="*/ 121 w 246"/>
                <a:gd name="T23" fmla="*/ 305 h 310"/>
                <a:gd name="T24" fmla="*/ 130 w 246"/>
                <a:gd name="T25" fmla="*/ 310 h 310"/>
                <a:gd name="T26" fmla="*/ 139 w 246"/>
                <a:gd name="T27" fmla="*/ 309 h 310"/>
                <a:gd name="T28" fmla="*/ 154 w 246"/>
                <a:gd name="T29" fmla="*/ 293 h 310"/>
                <a:gd name="T30" fmla="*/ 180 w 246"/>
                <a:gd name="T31" fmla="*/ 269 h 310"/>
                <a:gd name="T32" fmla="*/ 207 w 246"/>
                <a:gd name="T33" fmla="*/ 246 h 310"/>
                <a:gd name="T34" fmla="*/ 231 w 246"/>
                <a:gd name="T35" fmla="*/ 219 h 310"/>
                <a:gd name="T36" fmla="*/ 245 w 246"/>
                <a:gd name="T37" fmla="*/ 187 h 310"/>
                <a:gd name="T38" fmla="*/ 242 w 246"/>
                <a:gd name="T39" fmla="*/ 153 h 310"/>
                <a:gd name="T40" fmla="*/ 227 w 246"/>
                <a:gd name="T41" fmla="*/ 120 h 310"/>
                <a:gd name="T42" fmla="*/ 201 w 246"/>
                <a:gd name="T43" fmla="*/ 94 h 310"/>
                <a:gd name="T44" fmla="*/ 177 w 246"/>
                <a:gd name="T45" fmla="*/ 74 h 310"/>
                <a:gd name="T46" fmla="*/ 152 w 246"/>
                <a:gd name="T47" fmla="*/ 60 h 310"/>
                <a:gd name="T48" fmla="*/ 126 w 246"/>
                <a:gd name="T49" fmla="*/ 43 h 310"/>
                <a:gd name="T50" fmla="*/ 98 w 246"/>
                <a:gd name="T51" fmla="*/ 28 h 310"/>
                <a:gd name="T52" fmla="*/ 72 w 246"/>
                <a:gd name="T53" fmla="*/ 16 h 310"/>
                <a:gd name="T54" fmla="*/ 46 w 246"/>
                <a:gd name="T55" fmla="*/ 7 h 310"/>
                <a:gd name="T56" fmla="*/ 24 w 246"/>
                <a:gd name="T57" fmla="*/ 1 h 310"/>
                <a:gd name="T58" fmla="*/ 7 w 246"/>
                <a:gd name="T59" fmla="*/ 1 h 310"/>
                <a:gd name="T60" fmla="*/ 8 w 246"/>
                <a:gd name="T61" fmla="*/ 6 h 310"/>
                <a:gd name="T62" fmla="*/ 28 w 246"/>
                <a:gd name="T63" fmla="*/ 14 h 310"/>
                <a:gd name="T64" fmla="*/ 51 w 246"/>
                <a:gd name="T65" fmla="*/ 24 h 310"/>
                <a:gd name="T66" fmla="*/ 78 w 246"/>
                <a:gd name="T67" fmla="*/ 37 h 310"/>
                <a:gd name="T68" fmla="*/ 106 w 246"/>
                <a:gd name="T69" fmla="*/ 51 h 310"/>
                <a:gd name="T70" fmla="*/ 134 w 246"/>
                <a:gd name="T71" fmla="*/ 69 h 310"/>
                <a:gd name="T72" fmla="*/ 163 w 246"/>
                <a:gd name="T73" fmla="*/ 87 h 310"/>
                <a:gd name="T74" fmla="*/ 187 w 246"/>
                <a:gd name="T75" fmla="*/ 105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ln>
          </p:spPr>
          <p:txBody>
            <a:bodyPr/>
            <a:lstStyle/>
            <a:p>
              <a:endParaRPr lang="en-US"/>
            </a:p>
          </p:txBody>
        </p:sp>
        <p:sp>
          <p:nvSpPr>
            <p:cNvPr id="1210" name="Freeform 880"/>
            <p:cNvSpPr/>
            <p:nvPr/>
          </p:nvSpPr>
          <p:spPr bwMode="auto">
            <a:xfrm>
              <a:off x="4387" y="3191"/>
              <a:ext cx="14" cy="31"/>
            </a:xfrm>
            <a:custGeom>
              <a:avLst/>
              <a:gdLst>
                <a:gd name="T0" fmla="*/ 31 w 83"/>
                <a:gd name="T1" fmla="*/ 14 h 187"/>
                <a:gd name="T2" fmla="*/ 29 w 83"/>
                <a:gd name="T3" fmla="*/ 8 h 187"/>
                <a:gd name="T4" fmla="*/ 25 w 83"/>
                <a:gd name="T5" fmla="*/ 3 h 187"/>
                <a:gd name="T6" fmla="*/ 19 w 83"/>
                <a:gd name="T7" fmla="*/ 1 h 187"/>
                <a:gd name="T8" fmla="*/ 14 w 83"/>
                <a:gd name="T9" fmla="*/ 0 h 187"/>
                <a:gd name="T10" fmla="*/ 8 w 83"/>
                <a:gd name="T11" fmla="*/ 2 h 187"/>
                <a:gd name="T12" fmla="*/ 3 w 83"/>
                <a:gd name="T13" fmla="*/ 5 h 187"/>
                <a:gd name="T14" fmla="*/ 0 w 83"/>
                <a:gd name="T15" fmla="*/ 11 h 187"/>
                <a:gd name="T16" fmla="*/ 0 w 83"/>
                <a:gd name="T17" fmla="*/ 17 h 187"/>
                <a:gd name="T18" fmla="*/ 5 w 83"/>
                <a:gd name="T19" fmla="*/ 42 h 187"/>
                <a:gd name="T20" fmla="*/ 15 w 83"/>
                <a:gd name="T21" fmla="*/ 71 h 187"/>
                <a:gd name="T22" fmla="*/ 27 w 83"/>
                <a:gd name="T23" fmla="*/ 100 h 187"/>
                <a:gd name="T24" fmla="*/ 41 w 83"/>
                <a:gd name="T25" fmla="*/ 127 h 187"/>
                <a:gd name="T26" fmla="*/ 55 w 83"/>
                <a:gd name="T27" fmla="*/ 151 h 187"/>
                <a:gd name="T28" fmla="*/ 68 w 83"/>
                <a:gd name="T29" fmla="*/ 171 h 187"/>
                <a:gd name="T30" fmla="*/ 77 w 83"/>
                <a:gd name="T31" fmla="*/ 184 h 187"/>
                <a:gd name="T32" fmla="*/ 83 w 83"/>
                <a:gd name="T33" fmla="*/ 187 h 187"/>
                <a:gd name="T34" fmla="*/ 80 w 83"/>
                <a:gd name="T35" fmla="*/ 174 h 187"/>
                <a:gd name="T36" fmla="*/ 75 w 83"/>
                <a:gd name="T37" fmla="*/ 158 h 187"/>
                <a:gd name="T38" fmla="*/ 68 w 83"/>
                <a:gd name="T39" fmla="*/ 138 h 187"/>
                <a:gd name="T40" fmla="*/ 59 w 83"/>
                <a:gd name="T41" fmla="*/ 113 h 187"/>
                <a:gd name="T42" fmla="*/ 51 w 83"/>
                <a:gd name="T43" fmla="*/ 88 h 187"/>
                <a:gd name="T44" fmla="*/ 43 w 83"/>
                <a:gd name="T45" fmla="*/ 63 h 187"/>
                <a:gd name="T46" fmla="*/ 36 w 83"/>
                <a:gd name="T47" fmla="*/ 38 h 187"/>
                <a:gd name="T48" fmla="*/ 31 w 83"/>
                <a:gd name="T49" fmla="*/ 14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ln>
          </p:spPr>
          <p:txBody>
            <a:bodyPr/>
            <a:lstStyle/>
            <a:p>
              <a:endParaRPr lang="en-US"/>
            </a:p>
          </p:txBody>
        </p:sp>
        <p:sp>
          <p:nvSpPr>
            <p:cNvPr id="1211" name="Freeform 881"/>
            <p:cNvSpPr/>
            <p:nvPr/>
          </p:nvSpPr>
          <p:spPr bwMode="auto">
            <a:xfrm>
              <a:off x="4381" y="3174"/>
              <a:ext cx="7" cy="16"/>
            </a:xfrm>
            <a:custGeom>
              <a:avLst/>
              <a:gdLst>
                <a:gd name="T0" fmla="*/ 22 w 44"/>
                <a:gd name="T1" fmla="*/ 10 h 94"/>
                <a:gd name="T2" fmla="*/ 21 w 44"/>
                <a:gd name="T3" fmla="*/ 6 h 94"/>
                <a:gd name="T4" fmla="*/ 18 w 44"/>
                <a:gd name="T5" fmla="*/ 2 h 94"/>
                <a:gd name="T6" fmla="*/ 14 w 44"/>
                <a:gd name="T7" fmla="*/ 0 h 94"/>
                <a:gd name="T8" fmla="*/ 10 w 44"/>
                <a:gd name="T9" fmla="*/ 0 h 94"/>
                <a:gd name="T10" fmla="*/ 6 w 44"/>
                <a:gd name="T11" fmla="*/ 1 h 94"/>
                <a:gd name="T12" fmla="*/ 3 w 44"/>
                <a:gd name="T13" fmla="*/ 3 h 94"/>
                <a:gd name="T14" fmla="*/ 0 w 44"/>
                <a:gd name="T15" fmla="*/ 7 h 94"/>
                <a:gd name="T16" fmla="*/ 0 w 44"/>
                <a:gd name="T17" fmla="*/ 11 h 94"/>
                <a:gd name="T18" fmla="*/ 0 w 44"/>
                <a:gd name="T19" fmla="*/ 24 h 94"/>
                <a:gd name="T20" fmla="*/ 4 w 44"/>
                <a:gd name="T21" fmla="*/ 38 h 94"/>
                <a:gd name="T22" fmla="*/ 8 w 44"/>
                <a:gd name="T23" fmla="*/ 52 h 94"/>
                <a:gd name="T24" fmla="*/ 14 w 44"/>
                <a:gd name="T25" fmla="*/ 65 h 94"/>
                <a:gd name="T26" fmla="*/ 21 w 44"/>
                <a:gd name="T27" fmla="*/ 78 h 94"/>
                <a:gd name="T28" fmla="*/ 28 w 44"/>
                <a:gd name="T29" fmla="*/ 87 h 94"/>
                <a:gd name="T30" fmla="*/ 37 w 44"/>
                <a:gd name="T31" fmla="*/ 93 h 94"/>
                <a:gd name="T32" fmla="*/ 42 w 44"/>
                <a:gd name="T33" fmla="*/ 94 h 94"/>
                <a:gd name="T34" fmla="*/ 44 w 44"/>
                <a:gd name="T35" fmla="*/ 76 h 94"/>
                <a:gd name="T36" fmla="*/ 38 w 44"/>
                <a:gd name="T37" fmla="*/ 54 h 94"/>
                <a:gd name="T38" fmla="*/ 31 w 44"/>
                <a:gd name="T39" fmla="*/ 32 h 94"/>
                <a:gd name="T40" fmla="*/ 22 w 44"/>
                <a:gd name="T41" fmla="*/ 1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ln>
          </p:spPr>
          <p:txBody>
            <a:bodyPr/>
            <a:lstStyle/>
            <a:p>
              <a:endParaRPr lang="en-US"/>
            </a:p>
          </p:txBody>
        </p:sp>
        <p:sp>
          <p:nvSpPr>
            <p:cNvPr id="1212" name="Freeform 882"/>
            <p:cNvSpPr/>
            <p:nvPr/>
          </p:nvSpPr>
          <p:spPr bwMode="auto">
            <a:xfrm>
              <a:off x="4375" y="3163"/>
              <a:ext cx="6" cy="9"/>
            </a:xfrm>
            <a:custGeom>
              <a:avLst/>
              <a:gdLst>
                <a:gd name="T0" fmla="*/ 20 w 38"/>
                <a:gd name="T1" fmla="*/ 7 h 54"/>
                <a:gd name="T2" fmla="*/ 20 w 38"/>
                <a:gd name="T3" fmla="*/ 8 h 54"/>
                <a:gd name="T4" fmla="*/ 20 w 38"/>
                <a:gd name="T5" fmla="*/ 8 h 54"/>
                <a:gd name="T6" fmla="*/ 20 w 38"/>
                <a:gd name="T7" fmla="*/ 8 h 54"/>
                <a:gd name="T8" fmla="*/ 20 w 38"/>
                <a:gd name="T9" fmla="*/ 8 h 54"/>
                <a:gd name="T10" fmla="*/ 19 w 38"/>
                <a:gd name="T11" fmla="*/ 4 h 54"/>
                <a:gd name="T12" fmla="*/ 15 w 38"/>
                <a:gd name="T13" fmla="*/ 1 h 54"/>
                <a:gd name="T14" fmla="*/ 12 w 38"/>
                <a:gd name="T15" fmla="*/ 0 h 54"/>
                <a:gd name="T16" fmla="*/ 7 w 38"/>
                <a:gd name="T17" fmla="*/ 0 h 54"/>
                <a:gd name="T18" fmla="*/ 4 w 38"/>
                <a:gd name="T19" fmla="*/ 1 h 54"/>
                <a:gd name="T20" fmla="*/ 1 w 38"/>
                <a:gd name="T21" fmla="*/ 4 h 54"/>
                <a:gd name="T22" fmla="*/ 0 w 38"/>
                <a:gd name="T23" fmla="*/ 8 h 54"/>
                <a:gd name="T24" fmla="*/ 0 w 38"/>
                <a:gd name="T25" fmla="*/ 11 h 54"/>
                <a:gd name="T26" fmla="*/ 1 w 38"/>
                <a:gd name="T27" fmla="*/ 17 h 54"/>
                <a:gd name="T28" fmla="*/ 4 w 38"/>
                <a:gd name="T29" fmla="*/ 24 h 54"/>
                <a:gd name="T30" fmla="*/ 8 w 38"/>
                <a:gd name="T31" fmla="*/ 32 h 54"/>
                <a:gd name="T32" fmla="*/ 14 w 38"/>
                <a:gd name="T33" fmla="*/ 39 h 54"/>
                <a:gd name="T34" fmla="*/ 20 w 38"/>
                <a:gd name="T35" fmla="*/ 46 h 54"/>
                <a:gd name="T36" fmla="*/ 27 w 38"/>
                <a:gd name="T37" fmla="*/ 50 h 54"/>
                <a:gd name="T38" fmla="*/ 33 w 38"/>
                <a:gd name="T39" fmla="*/ 54 h 54"/>
                <a:gd name="T40" fmla="*/ 38 w 38"/>
                <a:gd name="T41" fmla="*/ 54 h 54"/>
                <a:gd name="T42" fmla="*/ 36 w 38"/>
                <a:gd name="T43" fmla="*/ 42 h 54"/>
                <a:gd name="T44" fmla="*/ 32 w 38"/>
                <a:gd name="T45" fmla="*/ 29 h 54"/>
                <a:gd name="T46" fmla="*/ 25 w 38"/>
                <a:gd name="T47" fmla="*/ 16 h 54"/>
                <a:gd name="T48" fmla="*/ 20 w 38"/>
                <a:gd name="T49" fmla="*/ 7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ln>
          </p:spPr>
          <p:txBody>
            <a:bodyPr/>
            <a:lstStyle/>
            <a:p>
              <a:endParaRPr lang="en-US"/>
            </a:p>
          </p:txBody>
        </p:sp>
        <p:sp>
          <p:nvSpPr>
            <p:cNvPr id="1213" name="Freeform 883"/>
            <p:cNvSpPr/>
            <p:nvPr/>
          </p:nvSpPr>
          <p:spPr bwMode="auto">
            <a:xfrm>
              <a:off x="4370" y="3155"/>
              <a:ext cx="8" cy="6"/>
            </a:xfrm>
            <a:custGeom>
              <a:avLst/>
              <a:gdLst>
                <a:gd name="T0" fmla="*/ 41 w 52"/>
                <a:gd name="T1" fmla="*/ 27 h 36"/>
                <a:gd name="T2" fmla="*/ 46 w 52"/>
                <a:gd name="T3" fmla="*/ 24 h 36"/>
                <a:gd name="T4" fmla="*/ 51 w 52"/>
                <a:gd name="T5" fmla="*/ 21 h 36"/>
                <a:gd name="T6" fmla="*/ 52 w 52"/>
                <a:gd name="T7" fmla="*/ 16 h 36"/>
                <a:gd name="T8" fmla="*/ 52 w 52"/>
                <a:gd name="T9" fmla="*/ 12 h 36"/>
                <a:gd name="T10" fmla="*/ 50 w 52"/>
                <a:gd name="T11" fmla="*/ 6 h 36"/>
                <a:gd name="T12" fmla="*/ 46 w 52"/>
                <a:gd name="T13" fmla="*/ 2 h 36"/>
                <a:gd name="T14" fmla="*/ 41 w 52"/>
                <a:gd name="T15" fmla="*/ 0 h 36"/>
                <a:gd name="T16" fmla="*/ 36 w 52"/>
                <a:gd name="T17" fmla="*/ 0 h 36"/>
                <a:gd name="T18" fmla="*/ 33 w 52"/>
                <a:gd name="T19" fmla="*/ 0 h 36"/>
                <a:gd name="T20" fmla="*/ 29 w 52"/>
                <a:gd name="T21" fmla="*/ 1 h 36"/>
                <a:gd name="T22" fmla="*/ 21 w 52"/>
                <a:gd name="T23" fmla="*/ 4 h 36"/>
                <a:gd name="T24" fmla="*/ 13 w 52"/>
                <a:gd name="T25" fmla="*/ 8 h 36"/>
                <a:gd name="T26" fmla="*/ 6 w 52"/>
                <a:gd name="T27" fmla="*/ 15 h 36"/>
                <a:gd name="T28" fmla="*/ 3 w 52"/>
                <a:gd name="T29" fmla="*/ 22 h 36"/>
                <a:gd name="T30" fmla="*/ 0 w 52"/>
                <a:gd name="T31" fmla="*/ 29 h 36"/>
                <a:gd name="T32" fmla="*/ 0 w 52"/>
                <a:gd name="T33" fmla="*/ 31 h 36"/>
                <a:gd name="T34" fmla="*/ 4 w 52"/>
                <a:gd name="T35" fmla="*/ 33 h 36"/>
                <a:gd name="T36" fmla="*/ 9 w 52"/>
                <a:gd name="T37" fmla="*/ 36 h 36"/>
                <a:gd name="T38" fmla="*/ 13 w 52"/>
                <a:gd name="T39" fmla="*/ 36 h 36"/>
                <a:gd name="T40" fmla="*/ 18 w 52"/>
                <a:gd name="T41" fmla="*/ 36 h 36"/>
                <a:gd name="T42" fmla="*/ 24 w 52"/>
                <a:gd name="T43" fmla="*/ 33 h 36"/>
                <a:gd name="T44" fmla="*/ 30 w 52"/>
                <a:gd name="T45" fmla="*/ 32 h 36"/>
                <a:gd name="T46" fmla="*/ 36 w 52"/>
                <a:gd name="T47" fmla="*/ 30 h 36"/>
                <a:gd name="T48" fmla="*/ 41 w 52"/>
                <a:gd name="T49" fmla="*/ 27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ln>
          </p:spPr>
          <p:txBody>
            <a:bodyPr/>
            <a:lstStyle/>
            <a:p>
              <a:endParaRPr lang="en-US"/>
            </a:p>
          </p:txBody>
        </p:sp>
        <p:sp>
          <p:nvSpPr>
            <p:cNvPr id="1214" name="Freeform 884"/>
            <p:cNvSpPr/>
            <p:nvPr/>
          </p:nvSpPr>
          <p:spPr bwMode="auto">
            <a:xfrm>
              <a:off x="4330" y="3145"/>
              <a:ext cx="33" cy="39"/>
            </a:xfrm>
            <a:custGeom>
              <a:avLst/>
              <a:gdLst>
                <a:gd name="T0" fmla="*/ 73 w 198"/>
                <a:gd name="T1" fmla="*/ 36 h 236"/>
                <a:gd name="T2" fmla="*/ 58 w 198"/>
                <a:gd name="T3" fmla="*/ 46 h 236"/>
                <a:gd name="T4" fmla="*/ 46 w 198"/>
                <a:gd name="T5" fmla="*/ 58 h 236"/>
                <a:gd name="T6" fmla="*/ 33 w 198"/>
                <a:gd name="T7" fmla="*/ 72 h 236"/>
                <a:gd name="T8" fmla="*/ 22 w 198"/>
                <a:gd name="T9" fmla="*/ 85 h 236"/>
                <a:gd name="T10" fmla="*/ 14 w 198"/>
                <a:gd name="T11" fmla="*/ 100 h 236"/>
                <a:gd name="T12" fmla="*/ 7 w 198"/>
                <a:gd name="T13" fmla="*/ 115 h 236"/>
                <a:gd name="T14" fmla="*/ 2 w 198"/>
                <a:gd name="T15" fmla="*/ 130 h 236"/>
                <a:gd name="T16" fmla="*/ 0 w 198"/>
                <a:gd name="T17" fmla="*/ 146 h 236"/>
                <a:gd name="T18" fmla="*/ 2 w 198"/>
                <a:gd name="T19" fmla="*/ 170 h 236"/>
                <a:gd name="T20" fmla="*/ 12 w 198"/>
                <a:gd name="T21" fmla="*/ 190 h 236"/>
                <a:gd name="T22" fmla="*/ 26 w 198"/>
                <a:gd name="T23" fmla="*/ 207 h 236"/>
                <a:gd name="T24" fmla="*/ 43 w 198"/>
                <a:gd name="T25" fmla="*/ 220 h 236"/>
                <a:gd name="T26" fmla="*/ 64 w 198"/>
                <a:gd name="T27" fmla="*/ 229 h 236"/>
                <a:gd name="T28" fmla="*/ 88 w 198"/>
                <a:gd name="T29" fmla="*/ 235 h 236"/>
                <a:gd name="T30" fmla="*/ 110 w 198"/>
                <a:gd name="T31" fmla="*/ 236 h 236"/>
                <a:gd name="T32" fmla="*/ 132 w 198"/>
                <a:gd name="T33" fmla="*/ 232 h 236"/>
                <a:gd name="T34" fmla="*/ 137 w 198"/>
                <a:gd name="T35" fmla="*/ 232 h 236"/>
                <a:gd name="T36" fmla="*/ 142 w 198"/>
                <a:gd name="T37" fmla="*/ 230 h 236"/>
                <a:gd name="T38" fmla="*/ 145 w 198"/>
                <a:gd name="T39" fmla="*/ 226 h 236"/>
                <a:gd name="T40" fmla="*/ 146 w 198"/>
                <a:gd name="T41" fmla="*/ 221 h 236"/>
                <a:gd name="T42" fmla="*/ 145 w 198"/>
                <a:gd name="T43" fmla="*/ 219 h 236"/>
                <a:gd name="T44" fmla="*/ 142 w 198"/>
                <a:gd name="T45" fmla="*/ 219 h 236"/>
                <a:gd name="T46" fmla="*/ 137 w 198"/>
                <a:gd name="T47" fmla="*/ 217 h 236"/>
                <a:gd name="T48" fmla="*/ 131 w 198"/>
                <a:gd name="T49" fmla="*/ 217 h 236"/>
                <a:gd name="T50" fmla="*/ 124 w 198"/>
                <a:gd name="T51" fmla="*/ 217 h 236"/>
                <a:gd name="T52" fmla="*/ 118 w 198"/>
                <a:gd name="T53" fmla="*/ 217 h 236"/>
                <a:gd name="T54" fmla="*/ 112 w 198"/>
                <a:gd name="T55" fmla="*/ 217 h 236"/>
                <a:gd name="T56" fmla="*/ 109 w 198"/>
                <a:gd name="T57" fmla="*/ 217 h 236"/>
                <a:gd name="T58" fmla="*/ 97 w 198"/>
                <a:gd name="T59" fmla="*/ 216 h 236"/>
                <a:gd name="T60" fmla="*/ 87 w 198"/>
                <a:gd name="T61" fmla="*/ 215 h 236"/>
                <a:gd name="T62" fmla="*/ 75 w 198"/>
                <a:gd name="T63" fmla="*/ 214 h 236"/>
                <a:gd name="T64" fmla="*/ 63 w 198"/>
                <a:gd name="T65" fmla="*/ 211 h 236"/>
                <a:gd name="T66" fmla="*/ 51 w 198"/>
                <a:gd name="T67" fmla="*/ 207 h 236"/>
                <a:gd name="T68" fmla="*/ 40 w 198"/>
                <a:gd name="T69" fmla="*/ 199 h 236"/>
                <a:gd name="T70" fmla="*/ 29 w 198"/>
                <a:gd name="T71" fmla="*/ 189 h 236"/>
                <a:gd name="T72" fmla="*/ 17 w 198"/>
                <a:gd name="T73" fmla="*/ 174 h 236"/>
                <a:gd name="T74" fmla="*/ 15 w 198"/>
                <a:gd name="T75" fmla="*/ 157 h 236"/>
                <a:gd name="T76" fmla="*/ 16 w 198"/>
                <a:gd name="T77" fmla="*/ 141 h 236"/>
                <a:gd name="T78" fmla="*/ 21 w 198"/>
                <a:gd name="T79" fmla="*/ 124 h 236"/>
                <a:gd name="T80" fmla="*/ 28 w 198"/>
                <a:gd name="T81" fmla="*/ 109 h 236"/>
                <a:gd name="T82" fmla="*/ 39 w 198"/>
                <a:gd name="T83" fmla="*/ 96 h 236"/>
                <a:gd name="T84" fmla="*/ 50 w 198"/>
                <a:gd name="T85" fmla="*/ 82 h 236"/>
                <a:gd name="T86" fmla="*/ 63 w 198"/>
                <a:gd name="T87" fmla="*/ 70 h 236"/>
                <a:gd name="T88" fmla="*/ 78 w 198"/>
                <a:gd name="T89" fmla="*/ 59 h 236"/>
                <a:gd name="T90" fmla="*/ 94 w 198"/>
                <a:gd name="T91" fmla="*/ 49 h 236"/>
                <a:gd name="T92" fmla="*/ 110 w 198"/>
                <a:gd name="T93" fmla="*/ 39 h 236"/>
                <a:gd name="T94" fmla="*/ 126 w 198"/>
                <a:gd name="T95" fmla="*/ 31 h 236"/>
                <a:gd name="T96" fmla="*/ 142 w 198"/>
                <a:gd name="T97" fmla="*/ 24 h 236"/>
                <a:gd name="T98" fmla="*/ 158 w 198"/>
                <a:gd name="T99" fmla="*/ 19 h 236"/>
                <a:gd name="T100" fmla="*/ 172 w 198"/>
                <a:gd name="T101" fmla="*/ 13 h 236"/>
                <a:gd name="T102" fmla="*/ 186 w 198"/>
                <a:gd name="T103" fmla="*/ 10 h 236"/>
                <a:gd name="T104" fmla="*/ 198 w 198"/>
                <a:gd name="T105" fmla="*/ 7 h 236"/>
                <a:gd name="T106" fmla="*/ 190 w 198"/>
                <a:gd name="T107" fmla="*/ 3 h 236"/>
                <a:gd name="T108" fmla="*/ 177 w 198"/>
                <a:gd name="T109" fmla="*/ 0 h 236"/>
                <a:gd name="T110" fmla="*/ 162 w 198"/>
                <a:gd name="T111" fmla="*/ 3 h 236"/>
                <a:gd name="T112" fmla="*/ 144 w 198"/>
                <a:gd name="T113" fmla="*/ 6 h 236"/>
                <a:gd name="T114" fmla="*/ 124 w 198"/>
                <a:gd name="T115" fmla="*/ 12 h 236"/>
                <a:gd name="T116" fmla="*/ 105 w 198"/>
                <a:gd name="T117" fmla="*/ 19 h 236"/>
                <a:gd name="T118" fmla="*/ 88 w 198"/>
                <a:gd name="T119" fmla="*/ 28 h 236"/>
                <a:gd name="T120" fmla="*/ 73 w 198"/>
                <a:gd name="T121" fmla="*/ 3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en-US"/>
            </a:p>
          </p:txBody>
        </p:sp>
        <p:sp>
          <p:nvSpPr>
            <p:cNvPr id="1215" name="Freeform 885"/>
            <p:cNvSpPr/>
            <p:nvPr/>
          </p:nvSpPr>
          <p:spPr bwMode="auto">
            <a:xfrm>
              <a:off x="4386" y="3145"/>
              <a:ext cx="22" cy="30"/>
            </a:xfrm>
            <a:custGeom>
              <a:avLst/>
              <a:gdLst>
                <a:gd name="T0" fmla="*/ 108 w 128"/>
                <a:gd name="T1" fmla="*/ 61 h 183"/>
                <a:gd name="T2" fmla="*/ 111 w 128"/>
                <a:gd name="T3" fmla="*/ 80 h 183"/>
                <a:gd name="T4" fmla="*/ 109 w 128"/>
                <a:gd name="T5" fmla="*/ 97 h 183"/>
                <a:gd name="T6" fmla="*/ 101 w 128"/>
                <a:gd name="T7" fmla="*/ 110 h 183"/>
                <a:gd name="T8" fmla="*/ 89 w 128"/>
                <a:gd name="T9" fmla="*/ 123 h 183"/>
                <a:gd name="T10" fmla="*/ 75 w 128"/>
                <a:gd name="T11" fmla="*/ 134 h 183"/>
                <a:gd name="T12" fmla="*/ 60 w 128"/>
                <a:gd name="T13" fmla="*/ 145 h 183"/>
                <a:gd name="T14" fmla="*/ 43 w 128"/>
                <a:gd name="T15" fmla="*/ 156 h 183"/>
                <a:gd name="T16" fmla="*/ 29 w 128"/>
                <a:gd name="T17" fmla="*/ 167 h 183"/>
                <a:gd name="T18" fmla="*/ 27 w 128"/>
                <a:gd name="T19" fmla="*/ 170 h 183"/>
                <a:gd name="T20" fmla="*/ 26 w 128"/>
                <a:gd name="T21" fmla="*/ 172 h 183"/>
                <a:gd name="T22" fmla="*/ 26 w 128"/>
                <a:gd name="T23" fmla="*/ 176 h 183"/>
                <a:gd name="T24" fmla="*/ 28 w 128"/>
                <a:gd name="T25" fmla="*/ 179 h 183"/>
                <a:gd name="T26" fmla="*/ 30 w 128"/>
                <a:gd name="T27" fmla="*/ 182 h 183"/>
                <a:gd name="T28" fmla="*/ 34 w 128"/>
                <a:gd name="T29" fmla="*/ 183 h 183"/>
                <a:gd name="T30" fmla="*/ 37 w 128"/>
                <a:gd name="T31" fmla="*/ 183 h 183"/>
                <a:gd name="T32" fmla="*/ 41 w 128"/>
                <a:gd name="T33" fmla="*/ 182 h 183"/>
                <a:gd name="T34" fmla="*/ 58 w 128"/>
                <a:gd name="T35" fmla="*/ 171 h 183"/>
                <a:gd name="T36" fmla="*/ 76 w 128"/>
                <a:gd name="T37" fmla="*/ 160 h 183"/>
                <a:gd name="T38" fmla="*/ 92 w 128"/>
                <a:gd name="T39" fmla="*/ 147 h 183"/>
                <a:gd name="T40" fmla="*/ 108 w 128"/>
                <a:gd name="T41" fmla="*/ 132 h 183"/>
                <a:gd name="T42" fmla="*/ 118 w 128"/>
                <a:gd name="T43" fmla="*/ 116 h 183"/>
                <a:gd name="T44" fmla="*/ 125 w 128"/>
                <a:gd name="T45" fmla="*/ 98 h 183"/>
                <a:gd name="T46" fmla="*/ 128 w 128"/>
                <a:gd name="T47" fmla="*/ 78 h 183"/>
                <a:gd name="T48" fmla="*/ 123 w 128"/>
                <a:gd name="T49" fmla="*/ 58 h 183"/>
                <a:gd name="T50" fmla="*/ 112 w 128"/>
                <a:gd name="T51" fmla="*/ 41 h 183"/>
                <a:gd name="T52" fmla="*/ 98 w 128"/>
                <a:gd name="T53" fmla="*/ 28 h 183"/>
                <a:gd name="T54" fmla="*/ 80 w 128"/>
                <a:gd name="T55" fmla="*/ 16 h 183"/>
                <a:gd name="T56" fmla="*/ 61 w 128"/>
                <a:gd name="T57" fmla="*/ 8 h 183"/>
                <a:gd name="T58" fmla="*/ 41 w 128"/>
                <a:gd name="T59" fmla="*/ 2 h 183"/>
                <a:gd name="T60" fmla="*/ 23 w 128"/>
                <a:gd name="T61" fmla="*/ 0 h 183"/>
                <a:gd name="T62" fmla="*/ 9 w 128"/>
                <a:gd name="T63" fmla="*/ 1 h 183"/>
                <a:gd name="T64" fmla="*/ 0 w 128"/>
                <a:gd name="T65" fmla="*/ 6 h 183"/>
                <a:gd name="T66" fmla="*/ 16 w 128"/>
                <a:gd name="T67" fmla="*/ 10 h 183"/>
                <a:gd name="T68" fmla="*/ 33 w 128"/>
                <a:gd name="T69" fmla="*/ 14 h 183"/>
                <a:gd name="T70" fmla="*/ 48 w 128"/>
                <a:gd name="T71" fmla="*/ 17 h 183"/>
                <a:gd name="T72" fmla="*/ 63 w 128"/>
                <a:gd name="T73" fmla="*/ 22 h 183"/>
                <a:gd name="T74" fmla="*/ 77 w 128"/>
                <a:gd name="T75" fmla="*/ 28 h 183"/>
                <a:gd name="T76" fmla="*/ 90 w 128"/>
                <a:gd name="T77" fmla="*/ 36 h 183"/>
                <a:gd name="T78" fmla="*/ 101 w 128"/>
                <a:gd name="T79" fmla="*/ 46 h 183"/>
                <a:gd name="T80" fmla="*/ 108 w 128"/>
                <a:gd name="T81" fmla="*/ 61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en-US"/>
            </a:p>
          </p:txBody>
        </p:sp>
        <p:sp>
          <p:nvSpPr>
            <p:cNvPr id="1216" name="Freeform 886"/>
            <p:cNvSpPr/>
            <p:nvPr/>
          </p:nvSpPr>
          <p:spPr bwMode="auto">
            <a:xfrm>
              <a:off x="4309" y="3138"/>
              <a:ext cx="53" cy="63"/>
            </a:xfrm>
            <a:custGeom>
              <a:avLst/>
              <a:gdLst>
                <a:gd name="T0" fmla="*/ 101 w 323"/>
                <a:gd name="T1" fmla="*/ 70 h 379"/>
                <a:gd name="T2" fmla="*/ 54 w 323"/>
                <a:gd name="T3" fmla="*/ 115 h 379"/>
                <a:gd name="T4" fmla="*/ 18 w 323"/>
                <a:gd name="T5" fmla="*/ 167 h 379"/>
                <a:gd name="T6" fmla="*/ 0 w 323"/>
                <a:gd name="T7" fmla="*/ 227 h 379"/>
                <a:gd name="T8" fmla="*/ 4 w 323"/>
                <a:gd name="T9" fmla="*/ 267 h 379"/>
                <a:gd name="T10" fmla="*/ 11 w 323"/>
                <a:gd name="T11" fmla="*/ 283 h 379"/>
                <a:gd name="T12" fmla="*/ 21 w 323"/>
                <a:gd name="T13" fmla="*/ 298 h 379"/>
                <a:gd name="T14" fmla="*/ 34 w 323"/>
                <a:gd name="T15" fmla="*/ 311 h 379"/>
                <a:gd name="T16" fmla="*/ 57 w 323"/>
                <a:gd name="T17" fmla="*/ 325 h 379"/>
                <a:gd name="T18" fmla="*/ 87 w 323"/>
                <a:gd name="T19" fmla="*/ 340 h 379"/>
                <a:gd name="T20" fmla="*/ 120 w 323"/>
                <a:gd name="T21" fmla="*/ 351 h 379"/>
                <a:gd name="T22" fmla="*/ 153 w 323"/>
                <a:gd name="T23" fmla="*/ 360 h 379"/>
                <a:gd name="T24" fmla="*/ 187 w 323"/>
                <a:gd name="T25" fmla="*/ 367 h 379"/>
                <a:gd name="T26" fmla="*/ 221 w 323"/>
                <a:gd name="T27" fmla="*/ 372 h 379"/>
                <a:gd name="T28" fmla="*/ 256 w 323"/>
                <a:gd name="T29" fmla="*/ 375 h 379"/>
                <a:gd name="T30" fmla="*/ 290 w 323"/>
                <a:gd name="T31" fmla="*/ 378 h 379"/>
                <a:gd name="T32" fmla="*/ 312 w 323"/>
                <a:gd name="T33" fmla="*/ 379 h 379"/>
                <a:gd name="T34" fmla="*/ 320 w 323"/>
                <a:gd name="T35" fmla="*/ 372 h 379"/>
                <a:gd name="T36" fmla="*/ 323 w 323"/>
                <a:gd name="T37" fmla="*/ 360 h 379"/>
                <a:gd name="T38" fmla="*/ 316 w 323"/>
                <a:gd name="T39" fmla="*/ 352 h 379"/>
                <a:gd name="T40" fmla="*/ 295 w 323"/>
                <a:gd name="T41" fmla="*/ 351 h 379"/>
                <a:gd name="T42" fmla="*/ 263 w 323"/>
                <a:gd name="T43" fmla="*/ 350 h 379"/>
                <a:gd name="T44" fmla="*/ 231 w 323"/>
                <a:gd name="T45" fmla="*/ 348 h 379"/>
                <a:gd name="T46" fmla="*/ 200 w 323"/>
                <a:gd name="T47" fmla="*/ 343 h 379"/>
                <a:gd name="T48" fmla="*/ 168 w 323"/>
                <a:gd name="T49" fmla="*/ 337 h 379"/>
                <a:gd name="T50" fmla="*/ 136 w 323"/>
                <a:gd name="T51" fmla="*/ 329 h 379"/>
                <a:gd name="T52" fmla="*/ 106 w 323"/>
                <a:gd name="T53" fmla="*/ 320 h 379"/>
                <a:gd name="T54" fmla="*/ 76 w 323"/>
                <a:gd name="T55" fmla="*/ 306 h 379"/>
                <a:gd name="T56" fmla="*/ 51 w 323"/>
                <a:gd name="T57" fmla="*/ 291 h 379"/>
                <a:gd name="T58" fmla="*/ 35 w 323"/>
                <a:gd name="T59" fmla="*/ 269 h 379"/>
                <a:gd name="T60" fmla="*/ 31 w 323"/>
                <a:gd name="T61" fmla="*/ 239 h 379"/>
                <a:gd name="T62" fmla="*/ 38 w 323"/>
                <a:gd name="T63" fmla="*/ 197 h 379"/>
                <a:gd name="T64" fmla="*/ 51 w 323"/>
                <a:gd name="T65" fmla="*/ 165 h 379"/>
                <a:gd name="T66" fmla="*/ 68 w 323"/>
                <a:gd name="T67" fmla="*/ 136 h 379"/>
                <a:gd name="T68" fmla="*/ 89 w 323"/>
                <a:gd name="T69" fmla="*/ 111 h 379"/>
                <a:gd name="T70" fmla="*/ 114 w 323"/>
                <a:gd name="T71" fmla="*/ 88 h 379"/>
                <a:gd name="T72" fmla="*/ 144 w 323"/>
                <a:gd name="T73" fmla="*/ 64 h 379"/>
                <a:gd name="T74" fmla="*/ 181 w 323"/>
                <a:gd name="T75" fmla="*/ 41 h 379"/>
                <a:gd name="T76" fmla="*/ 219 w 323"/>
                <a:gd name="T77" fmla="*/ 22 h 379"/>
                <a:gd name="T78" fmla="*/ 253 w 323"/>
                <a:gd name="T79" fmla="*/ 7 h 379"/>
                <a:gd name="T80" fmla="*/ 255 w 323"/>
                <a:gd name="T81" fmla="*/ 0 h 379"/>
                <a:gd name="T82" fmla="*/ 221 w 323"/>
                <a:gd name="T83" fmla="*/ 5 h 379"/>
                <a:gd name="T84" fmla="*/ 181 w 323"/>
                <a:gd name="T85" fmla="*/ 19 h 379"/>
                <a:gd name="T86" fmla="*/ 142 w 323"/>
                <a:gd name="T87" fmla="*/ 39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en-US"/>
            </a:p>
          </p:txBody>
        </p:sp>
        <p:sp>
          <p:nvSpPr>
            <p:cNvPr id="1217" name="Freeform 887"/>
            <p:cNvSpPr/>
            <p:nvPr/>
          </p:nvSpPr>
          <p:spPr bwMode="auto">
            <a:xfrm>
              <a:off x="4384" y="3136"/>
              <a:ext cx="47" cy="42"/>
            </a:xfrm>
            <a:custGeom>
              <a:avLst/>
              <a:gdLst>
                <a:gd name="T0" fmla="*/ 235 w 282"/>
                <a:gd name="T1" fmla="*/ 78 h 253"/>
                <a:gd name="T2" fmla="*/ 248 w 282"/>
                <a:gd name="T3" fmla="*/ 92 h 253"/>
                <a:gd name="T4" fmla="*/ 255 w 282"/>
                <a:gd name="T5" fmla="*/ 108 h 253"/>
                <a:gd name="T6" fmla="*/ 259 w 282"/>
                <a:gd name="T7" fmla="*/ 125 h 253"/>
                <a:gd name="T8" fmla="*/ 259 w 282"/>
                <a:gd name="T9" fmla="*/ 144 h 253"/>
                <a:gd name="T10" fmla="*/ 257 w 282"/>
                <a:gd name="T11" fmla="*/ 159 h 253"/>
                <a:gd name="T12" fmla="*/ 252 w 282"/>
                <a:gd name="T13" fmla="*/ 171 h 253"/>
                <a:gd name="T14" fmla="*/ 244 w 282"/>
                <a:gd name="T15" fmla="*/ 184 h 253"/>
                <a:gd name="T16" fmla="*/ 236 w 282"/>
                <a:gd name="T17" fmla="*/ 194 h 253"/>
                <a:gd name="T18" fmla="*/ 225 w 282"/>
                <a:gd name="T19" fmla="*/ 206 h 253"/>
                <a:gd name="T20" fmla="*/ 215 w 282"/>
                <a:gd name="T21" fmla="*/ 215 h 253"/>
                <a:gd name="T22" fmla="*/ 204 w 282"/>
                <a:gd name="T23" fmla="*/ 225 h 253"/>
                <a:gd name="T24" fmla="*/ 194 w 282"/>
                <a:gd name="T25" fmla="*/ 236 h 253"/>
                <a:gd name="T26" fmla="*/ 191 w 282"/>
                <a:gd name="T27" fmla="*/ 239 h 253"/>
                <a:gd name="T28" fmla="*/ 190 w 282"/>
                <a:gd name="T29" fmla="*/ 242 h 253"/>
                <a:gd name="T30" fmla="*/ 191 w 282"/>
                <a:gd name="T31" fmla="*/ 246 h 253"/>
                <a:gd name="T32" fmla="*/ 194 w 282"/>
                <a:gd name="T33" fmla="*/ 249 h 253"/>
                <a:gd name="T34" fmla="*/ 197 w 282"/>
                <a:gd name="T35" fmla="*/ 252 h 253"/>
                <a:gd name="T36" fmla="*/ 201 w 282"/>
                <a:gd name="T37" fmla="*/ 253 h 253"/>
                <a:gd name="T38" fmla="*/ 205 w 282"/>
                <a:gd name="T39" fmla="*/ 252 h 253"/>
                <a:gd name="T40" fmla="*/ 209 w 282"/>
                <a:gd name="T41" fmla="*/ 249 h 253"/>
                <a:gd name="T42" fmla="*/ 232 w 282"/>
                <a:gd name="T43" fmla="*/ 234 h 253"/>
                <a:gd name="T44" fmla="*/ 251 w 282"/>
                <a:gd name="T45" fmla="*/ 215 h 253"/>
                <a:gd name="T46" fmla="*/ 267 w 282"/>
                <a:gd name="T47" fmla="*/ 192 h 253"/>
                <a:gd name="T48" fmla="*/ 278 w 282"/>
                <a:gd name="T49" fmla="*/ 168 h 253"/>
                <a:gd name="T50" fmla="*/ 282 w 282"/>
                <a:gd name="T51" fmla="*/ 141 h 253"/>
                <a:gd name="T52" fmla="*/ 279 w 282"/>
                <a:gd name="T53" fmla="*/ 116 h 253"/>
                <a:gd name="T54" fmla="*/ 270 w 282"/>
                <a:gd name="T55" fmla="*/ 92 h 253"/>
                <a:gd name="T56" fmla="*/ 251 w 282"/>
                <a:gd name="T57" fmla="*/ 70 h 253"/>
                <a:gd name="T58" fmla="*/ 237 w 282"/>
                <a:gd name="T59" fmla="*/ 59 h 253"/>
                <a:gd name="T60" fmla="*/ 221 w 282"/>
                <a:gd name="T61" fmla="*/ 48 h 253"/>
                <a:gd name="T62" fmla="*/ 202 w 282"/>
                <a:gd name="T63" fmla="*/ 39 h 253"/>
                <a:gd name="T64" fmla="*/ 183 w 282"/>
                <a:gd name="T65" fmla="*/ 31 h 253"/>
                <a:gd name="T66" fmla="*/ 163 w 282"/>
                <a:gd name="T67" fmla="*/ 24 h 253"/>
                <a:gd name="T68" fmla="*/ 142 w 282"/>
                <a:gd name="T69" fmla="*/ 18 h 253"/>
                <a:gd name="T70" fmla="*/ 122 w 282"/>
                <a:gd name="T71" fmla="*/ 13 h 253"/>
                <a:gd name="T72" fmla="*/ 101 w 282"/>
                <a:gd name="T73" fmla="*/ 8 h 253"/>
                <a:gd name="T74" fmla="*/ 82 w 282"/>
                <a:gd name="T75" fmla="*/ 5 h 253"/>
                <a:gd name="T76" fmla="*/ 63 w 282"/>
                <a:gd name="T77" fmla="*/ 2 h 253"/>
                <a:gd name="T78" fmla="*/ 47 w 282"/>
                <a:gd name="T79" fmla="*/ 0 h 253"/>
                <a:gd name="T80" fmla="*/ 32 w 282"/>
                <a:gd name="T81" fmla="*/ 0 h 253"/>
                <a:gd name="T82" fmla="*/ 19 w 282"/>
                <a:gd name="T83" fmla="*/ 0 h 253"/>
                <a:gd name="T84" fmla="*/ 10 w 282"/>
                <a:gd name="T85" fmla="*/ 1 h 253"/>
                <a:gd name="T86" fmla="*/ 4 w 282"/>
                <a:gd name="T87" fmla="*/ 4 h 253"/>
                <a:gd name="T88" fmla="*/ 0 w 282"/>
                <a:gd name="T89" fmla="*/ 6 h 253"/>
                <a:gd name="T90" fmla="*/ 12 w 282"/>
                <a:gd name="T91" fmla="*/ 8 h 253"/>
                <a:gd name="T92" fmla="*/ 25 w 282"/>
                <a:gd name="T93" fmla="*/ 9 h 253"/>
                <a:gd name="T94" fmla="*/ 38 w 282"/>
                <a:gd name="T95" fmla="*/ 12 h 253"/>
                <a:gd name="T96" fmla="*/ 52 w 282"/>
                <a:gd name="T97" fmla="*/ 14 h 253"/>
                <a:gd name="T98" fmla="*/ 67 w 282"/>
                <a:gd name="T99" fmla="*/ 16 h 253"/>
                <a:gd name="T100" fmla="*/ 82 w 282"/>
                <a:gd name="T101" fmla="*/ 18 h 253"/>
                <a:gd name="T102" fmla="*/ 97 w 282"/>
                <a:gd name="T103" fmla="*/ 22 h 253"/>
                <a:gd name="T104" fmla="*/ 114 w 282"/>
                <a:gd name="T105" fmla="*/ 25 h 253"/>
                <a:gd name="T106" fmla="*/ 129 w 282"/>
                <a:gd name="T107" fmla="*/ 30 h 253"/>
                <a:gd name="T108" fmla="*/ 146 w 282"/>
                <a:gd name="T109" fmla="*/ 35 h 253"/>
                <a:gd name="T110" fmla="*/ 162 w 282"/>
                <a:gd name="T111" fmla="*/ 40 h 253"/>
                <a:gd name="T112" fmla="*/ 177 w 282"/>
                <a:gd name="T113" fmla="*/ 46 h 253"/>
                <a:gd name="T114" fmla="*/ 192 w 282"/>
                <a:gd name="T115" fmla="*/ 53 h 253"/>
                <a:gd name="T116" fmla="*/ 208 w 282"/>
                <a:gd name="T117" fmla="*/ 60 h 253"/>
                <a:gd name="T118" fmla="*/ 222 w 282"/>
                <a:gd name="T119" fmla="*/ 69 h 253"/>
                <a:gd name="T120" fmla="*/ 235 w 282"/>
                <a:gd name="T121" fmla="*/ 7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en-US"/>
            </a:p>
          </p:txBody>
        </p:sp>
        <p:sp>
          <p:nvSpPr>
            <p:cNvPr id="1218" name="Freeform 888"/>
            <p:cNvSpPr/>
            <p:nvPr/>
          </p:nvSpPr>
          <p:spPr bwMode="auto">
            <a:xfrm>
              <a:off x="4290" y="3159"/>
              <a:ext cx="19" cy="39"/>
            </a:xfrm>
            <a:custGeom>
              <a:avLst/>
              <a:gdLst>
                <a:gd name="T0" fmla="*/ 0 w 115"/>
                <a:gd name="T1" fmla="*/ 128 h 236"/>
                <a:gd name="T2" fmla="*/ 0 w 115"/>
                <a:gd name="T3" fmla="*/ 148 h 236"/>
                <a:gd name="T4" fmla="*/ 5 w 115"/>
                <a:gd name="T5" fmla="*/ 166 h 236"/>
                <a:gd name="T6" fmla="*/ 13 w 115"/>
                <a:gd name="T7" fmla="*/ 184 h 236"/>
                <a:gd name="T8" fmla="*/ 24 w 115"/>
                <a:gd name="T9" fmla="*/ 198 h 236"/>
                <a:gd name="T10" fmla="*/ 39 w 115"/>
                <a:gd name="T11" fmla="*/ 211 h 236"/>
                <a:gd name="T12" fmla="*/ 55 w 115"/>
                <a:gd name="T13" fmla="*/ 223 h 236"/>
                <a:gd name="T14" fmla="*/ 74 w 115"/>
                <a:gd name="T15" fmla="*/ 231 h 236"/>
                <a:gd name="T16" fmla="*/ 92 w 115"/>
                <a:gd name="T17" fmla="*/ 235 h 236"/>
                <a:gd name="T18" fmla="*/ 98 w 115"/>
                <a:gd name="T19" fmla="*/ 236 h 236"/>
                <a:gd name="T20" fmla="*/ 104 w 115"/>
                <a:gd name="T21" fmla="*/ 234 h 236"/>
                <a:gd name="T22" fmla="*/ 109 w 115"/>
                <a:gd name="T23" fmla="*/ 231 h 236"/>
                <a:gd name="T24" fmla="*/ 111 w 115"/>
                <a:gd name="T25" fmla="*/ 226 h 236"/>
                <a:gd name="T26" fmla="*/ 111 w 115"/>
                <a:gd name="T27" fmla="*/ 220 h 236"/>
                <a:gd name="T28" fmla="*/ 110 w 115"/>
                <a:gd name="T29" fmla="*/ 215 h 236"/>
                <a:gd name="T30" fmla="*/ 107 w 115"/>
                <a:gd name="T31" fmla="*/ 210 h 236"/>
                <a:gd name="T32" fmla="*/ 101 w 115"/>
                <a:gd name="T33" fmla="*/ 208 h 236"/>
                <a:gd name="T34" fmla="*/ 82 w 115"/>
                <a:gd name="T35" fmla="*/ 201 h 236"/>
                <a:gd name="T36" fmla="*/ 64 w 115"/>
                <a:gd name="T37" fmla="*/ 192 h 236"/>
                <a:gd name="T38" fmla="*/ 50 w 115"/>
                <a:gd name="T39" fmla="*/ 179 h 236"/>
                <a:gd name="T40" fmla="*/ 40 w 115"/>
                <a:gd name="T41" fmla="*/ 165 h 236"/>
                <a:gd name="T42" fmla="*/ 33 w 115"/>
                <a:gd name="T43" fmla="*/ 148 h 236"/>
                <a:gd name="T44" fmla="*/ 29 w 115"/>
                <a:gd name="T45" fmla="*/ 130 h 236"/>
                <a:gd name="T46" fmla="*/ 29 w 115"/>
                <a:gd name="T47" fmla="*/ 110 h 236"/>
                <a:gd name="T48" fmla="*/ 35 w 115"/>
                <a:gd name="T49" fmla="*/ 89 h 236"/>
                <a:gd name="T50" fmla="*/ 43 w 115"/>
                <a:gd name="T51" fmla="*/ 74 h 236"/>
                <a:gd name="T52" fmla="*/ 56 w 115"/>
                <a:gd name="T53" fmla="*/ 60 h 236"/>
                <a:gd name="T54" fmla="*/ 70 w 115"/>
                <a:gd name="T55" fmla="*/ 46 h 236"/>
                <a:gd name="T56" fmla="*/ 85 w 115"/>
                <a:gd name="T57" fmla="*/ 33 h 236"/>
                <a:gd name="T58" fmla="*/ 98 w 115"/>
                <a:gd name="T59" fmla="*/ 23 h 236"/>
                <a:gd name="T60" fmla="*/ 109 w 115"/>
                <a:gd name="T61" fmla="*/ 12 h 236"/>
                <a:gd name="T62" fmla="*/ 115 w 115"/>
                <a:gd name="T63" fmla="*/ 6 h 236"/>
                <a:gd name="T64" fmla="*/ 115 w 115"/>
                <a:gd name="T65" fmla="*/ 0 h 236"/>
                <a:gd name="T66" fmla="*/ 102 w 115"/>
                <a:gd name="T67" fmla="*/ 4 h 236"/>
                <a:gd name="T68" fmla="*/ 85 w 115"/>
                <a:gd name="T69" fmla="*/ 12 h 236"/>
                <a:gd name="T70" fmla="*/ 68 w 115"/>
                <a:gd name="T71" fmla="*/ 26 h 236"/>
                <a:gd name="T72" fmla="*/ 49 w 115"/>
                <a:gd name="T73" fmla="*/ 42 h 236"/>
                <a:gd name="T74" fmla="*/ 32 w 115"/>
                <a:gd name="T75" fmla="*/ 61 h 236"/>
                <a:gd name="T76" fmla="*/ 17 w 115"/>
                <a:gd name="T77" fmla="*/ 82 h 236"/>
                <a:gd name="T78" fmla="*/ 6 w 115"/>
                <a:gd name="T79" fmla="*/ 105 h 236"/>
                <a:gd name="T80" fmla="*/ 0 w 115"/>
                <a:gd name="T81" fmla="*/ 128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en-US"/>
            </a:p>
          </p:txBody>
        </p:sp>
        <p:sp>
          <p:nvSpPr>
            <p:cNvPr id="1219" name="Freeform 889"/>
            <p:cNvSpPr/>
            <p:nvPr/>
          </p:nvSpPr>
          <p:spPr bwMode="auto">
            <a:xfrm>
              <a:off x="4423" y="3133"/>
              <a:ext cx="41" cy="52"/>
            </a:xfrm>
            <a:custGeom>
              <a:avLst/>
              <a:gdLst>
                <a:gd name="T0" fmla="*/ 208 w 245"/>
                <a:gd name="T1" fmla="*/ 124 h 310"/>
                <a:gd name="T2" fmla="*/ 220 w 245"/>
                <a:gd name="T3" fmla="*/ 144 h 310"/>
                <a:gd name="T4" fmla="*/ 226 w 245"/>
                <a:gd name="T5" fmla="*/ 164 h 310"/>
                <a:gd name="T6" fmla="*/ 222 w 245"/>
                <a:gd name="T7" fmla="*/ 187 h 310"/>
                <a:gd name="T8" fmla="*/ 208 w 245"/>
                <a:gd name="T9" fmla="*/ 209 h 310"/>
                <a:gd name="T10" fmla="*/ 188 w 245"/>
                <a:gd name="T11" fmla="*/ 229 h 310"/>
                <a:gd name="T12" fmla="*/ 166 w 245"/>
                <a:gd name="T13" fmla="*/ 246 h 310"/>
                <a:gd name="T14" fmla="*/ 142 w 245"/>
                <a:gd name="T15" fmla="*/ 264 h 310"/>
                <a:gd name="T16" fmla="*/ 128 w 245"/>
                <a:gd name="T17" fmla="*/ 278 h 310"/>
                <a:gd name="T18" fmla="*/ 124 w 245"/>
                <a:gd name="T19" fmla="*/ 287 h 310"/>
                <a:gd name="T20" fmla="*/ 120 w 245"/>
                <a:gd name="T21" fmla="*/ 296 h 310"/>
                <a:gd name="T22" fmla="*/ 122 w 245"/>
                <a:gd name="T23" fmla="*/ 306 h 310"/>
                <a:gd name="T24" fmla="*/ 131 w 245"/>
                <a:gd name="T25" fmla="*/ 310 h 310"/>
                <a:gd name="T26" fmla="*/ 139 w 245"/>
                <a:gd name="T27" fmla="*/ 309 h 310"/>
                <a:gd name="T28" fmla="*/ 154 w 245"/>
                <a:gd name="T29" fmla="*/ 292 h 310"/>
                <a:gd name="T30" fmla="*/ 180 w 245"/>
                <a:gd name="T31" fmla="*/ 269 h 310"/>
                <a:gd name="T32" fmla="*/ 207 w 245"/>
                <a:gd name="T33" fmla="*/ 246 h 310"/>
                <a:gd name="T34" fmla="*/ 230 w 245"/>
                <a:gd name="T35" fmla="*/ 219 h 310"/>
                <a:gd name="T36" fmla="*/ 244 w 245"/>
                <a:gd name="T37" fmla="*/ 186 h 310"/>
                <a:gd name="T38" fmla="*/ 243 w 245"/>
                <a:gd name="T39" fmla="*/ 152 h 310"/>
                <a:gd name="T40" fmla="*/ 228 w 245"/>
                <a:gd name="T41" fmla="*/ 119 h 310"/>
                <a:gd name="T42" fmla="*/ 203 w 245"/>
                <a:gd name="T43" fmla="*/ 93 h 310"/>
                <a:gd name="T44" fmla="*/ 176 w 245"/>
                <a:gd name="T45" fmla="*/ 76 h 310"/>
                <a:gd name="T46" fmla="*/ 151 w 245"/>
                <a:gd name="T47" fmla="*/ 61 h 310"/>
                <a:gd name="T48" fmla="*/ 122 w 245"/>
                <a:gd name="T49" fmla="*/ 46 h 310"/>
                <a:gd name="T50" fmla="*/ 93 w 245"/>
                <a:gd name="T51" fmla="*/ 31 h 310"/>
                <a:gd name="T52" fmla="*/ 66 w 245"/>
                <a:gd name="T53" fmla="*/ 18 h 310"/>
                <a:gd name="T54" fmla="*/ 40 w 245"/>
                <a:gd name="T55" fmla="*/ 8 h 310"/>
                <a:gd name="T56" fmla="*/ 20 w 245"/>
                <a:gd name="T57" fmla="*/ 1 h 310"/>
                <a:gd name="T58" fmla="*/ 5 w 245"/>
                <a:gd name="T59" fmla="*/ 0 h 310"/>
                <a:gd name="T60" fmla="*/ 11 w 245"/>
                <a:gd name="T61" fmla="*/ 8 h 310"/>
                <a:gd name="T62" fmla="*/ 36 w 245"/>
                <a:gd name="T63" fmla="*/ 20 h 310"/>
                <a:gd name="T64" fmla="*/ 60 w 245"/>
                <a:gd name="T65" fmla="*/ 31 h 310"/>
                <a:gd name="T66" fmla="*/ 86 w 245"/>
                <a:gd name="T67" fmla="*/ 44 h 310"/>
                <a:gd name="T68" fmla="*/ 113 w 245"/>
                <a:gd name="T69" fmla="*/ 57 h 310"/>
                <a:gd name="T70" fmla="*/ 139 w 245"/>
                <a:gd name="T71" fmla="*/ 71 h 310"/>
                <a:gd name="T72" fmla="*/ 165 w 245"/>
                <a:gd name="T73" fmla="*/ 88 h 310"/>
                <a:gd name="T74" fmla="*/ 188 w 245"/>
                <a:gd name="T75" fmla="*/ 106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en-US"/>
            </a:p>
          </p:txBody>
        </p:sp>
        <p:sp>
          <p:nvSpPr>
            <p:cNvPr id="1220" name="Freeform 890"/>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ln>
          </p:spPr>
          <p:txBody>
            <a:bodyPr/>
            <a:lstStyle/>
            <a:p>
              <a:endParaRPr lang="en-US"/>
            </a:p>
          </p:txBody>
        </p:sp>
      </p:grpSp>
      <p:grpSp>
        <p:nvGrpSpPr>
          <p:cNvPr id="1150" name="Group 891"/>
          <p:cNvGrpSpPr/>
          <p:nvPr/>
        </p:nvGrpSpPr>
        <p:grpSpPr bwMode="auto">
          <a:xfrm>
            <a:off x="5394325" y="3403600"/>
            <a:ext cx="290513" cy="404813"/>
            <a:chOff x="4290" y="3130"/>
            <a:chExt cx="183" cy="255"/>
          </a:xfrm>
        </p:grpSpPr>
        <p:pic>
          <p:nvPicPr>
            <p:cNvPr id="1185" name="Picture 892" descr="31u_bnrz[1]"/>
            <p:cNvPicPr>
              <a:picLocks noChangeAspect="1" noChangeArrowheads="1"/>
            </p:cNvPicPr>
            <p:nvPr/>
          </p:nvPicPr>
          <p:blipFill>
            <a:blip r:embed="rId19"/>
            <a:srcRect/>
            <a:stretch>
              <a:fillRect/>
            </a:stretch>
          </p:blipFill>
          <p:spPr bwMode="auto">
            <a:xfrm>
              <a:off x="4343" y="3211"/>
              <a:ext cx="121" cy="174"/>
            </a:xfrm>
            <a:prstGeom prst="rect">
              <a:avLst/>
            </a:prstGeom>
            <a:solidFill>
              <a:srgbClr val="DDDDDD"/>
            </a:solidFill>
            <a:ln w="9525">
              <a:noFill/>
              <a:miter lim="800000"/>
              <a:headEnd/>
              <a:tailEnd/>
            </a:ln>
          </p:spPr>
        </p:pic>
        <p:sp>
          <p:nvSpPr>
            <p:cNvPr id="1186" name="Freeform 893"/>
            <p:cNvSpPr/>
            <p:nvPr/>
          </p:nvSpPr>
          <p:spPr bwMode="auto">
            <a:xfrm>
              <a:off x="4339" y="3143"/>
              <a:ext cx="33" cy="39"/>
            </a:xfrm>
            <a:custGeom>
              <a:avLst/>
              <a:gdLst>
                <a:gd name="T0" fmla="*/ 70 w 199"/>
                <a:gd name="T1" fmla="*/ 29 h 232"/>
                <a:gd name="T2" fmla="*/ 55 w 199"/>
                <a:gd name="T3" fmla="*/ 39 h 232"/>
                <a:gd name="T4" fmla="*/ 42 w 199"/>
                <a:gd name="T5" fmla="*/ 50 h 232"/>
                <a:gd name="T6" fmla="*/ 30 w 199"/>
                <a:gd name="T7" fmla="*/ 63 h 232"/>
                <a:gd name="T8" fmla="*/ 20 w 199"/>
                <a:gd name="T9" fmla="*/ 77 h 232"/>
                <a:gd name="T10" fmla="*/ 12 w 199"/>
                <a:gd name="T11" fmla="*/ 91 h 232"/>
                <a:gd name="T12" fmla="*/ 6 w 199"/>
                <a:gd name="T13" fmla="*/ 108 h 232"/>
                <a:gd name="T14" fmla="*/ 2 w 199"/>
                <a:gd name="T15" fmla="*/ 125 h 232"/>
                <a:gd name="T16" fmla="*/ 0 w 199"/>
                <a:gd name="T17" fmla="*/ 142 h 232"/>
                <a:gd name="T18" fmla="*/ 2 w 199"/>
                <a:gd name="T19" fmla="*/ 166 h 232"/>
                <a:gd name="T20" fmla="*/ 12 w 199"/>
                <a:gd name="T21" fmla="*/ 186 h 232"/>
                <a:gd name="T22" fmla="*/ 26 w 199"/>
                <a:gd name="T23" fmla="*/ 203 h 232"/>
                <a:gd name="T24" fmla="*/ 45 w 199"/>
                <a:gd name="T25" fmla="*/ 216 h 232"/>
                <a:gd name="T26" fmla="*/ 66 w 199"/>
                <a:gd name="T27" fmla="*/ 226 h 232"/>
                <a:gd name="T28" fmla="*/ 88 w 199"/>
                <a:gd name="T29" fmla="*/ 230 h 232"/>
                <a:gd name="T30" fmla="*/ 111 w 199"/>
                <a:gd name="T31" fmla="*/ 232 h 232"/>
                <a:gd name="T32" fmla="*/ 134 w 199"/>
                <a:gd name="T33" fmla="*/ 228 h 232"/>
                <a:gd name="T34" fmla="*/ 138 w 199"/>
                <a:gd name="T35" fmla="*/ 228 h 232"/>
                <a:gd name="T36" fmla="*/ 143 w 199"/>
                <a:gd name="T37" fmla="*/ 226 h 232"/>
                <a:gd name="T38" fmla="*/ 147 w 199"/>
                <a:gd name="T39" fmla="*/ 222 h 232"/>
                <a:gd name="T40" fmla="*/ 148 w 199"/>
                <a:gd name="T41" fmla="*/ 218 h 232"/>
                <a:gd name="T42" fmla="*/ 145 w 199"/>
                <a:gd name="T43" fmla="*/ 212 h 232"/>
                <a:gd name="T44" fmla="*/ 141 w 199"/>
                <a:gd name="T45" fmla="*/ 207 h 232"/>
                <a:gd name="T46" fmla="*/ 135 w 199"/>
                <a:gd name="T47" fmla="*/ 203 h 232"/>
                <a:gd name="T48" fmla="*/ 129 w 199"/>
                <a:gd name="T49" fmla="*/ 201 h 232"/>
                <a:gd name="T50" fmla="*/ 117 w 199"/>
                <a:gd name="T51" fmla="*/ 197 h 232"/>
                <a:gd name="T52" fmla="*/ 105 w 199"/>
                <a:gd name="T53" fmla="*/ 195 h 232"/>
                <a:gd name="T54" fmla="*/ 94 w 199"/>
                <a:gd name="T55" fmla="*/ 193 h 232"/>
                <a:gd name="T56" fmla="*/ 83 w 199"/>
                <a:gd name="T57" fmla="*/ 190 h 232"/>
                <a:gd name="T58" fmla="*/ 73 w 199"/>
                <a:gd name="T59" fmla="*/ 187 h 232"/>
                <a:gd name="T60" fmla="*/ 62 w 199"/>
                <a:gd name="T61" fmla="*/ 182 h 232"/>
                <a:gd name="T62" fmla="*/ 53 w 199"/>
                <a:gd name="T63" fmla="*/ 176 h 232"/>
                <a:gd name="T64" fmla="*/ 43 w 199"/>
                <a:gd name="T65" fmla="*/ 167 h 232"/>
                <a:gd name="T66" fmla="*/ 40 w 199"/>
                <a:gd name="T67" fmla="*/ 128 h 232"/>
                <a:gd name="T68" fmla="*/ 49 w 199"/>
                <a:gd name="T69" fmla="*/ 96 h 232"/>
                <a:gd name="T70" fmla="*/ 68 w 199"/>
                <a:gd name="T71" fmla="*/ 71 h 232"/>
                <a:gd name="T72" fmla="*/ 94 w 199"/>
                <a:gd name="T73" fmla="*/ 50 h 232"/>
                <a:gd name="T74" fmla="*/ 122 w 199"/>
                <a:gd name="T75" fmla="*/ 34 h 232"/>
                <a:gd name="T76" fmla="*/ 151 w 199"/>
                <a:gd name="T77" fmla="*/ 21 h 232"/>
                <a:gd name="T78" fmla="*/ 178 w 199"/>
                <a:gd name="T79" fmla="*/ 12 h 232"/>
                <a:gd name="T80" fmla="*/ 199 w 199"/>
                <a:gd name="T81" fmla="*/ 4 h 232"/>
                <a:gd name="T82" fmla="*/ 186 w 199"/>
                <a:gd name="T83" fmla="*/ 1 h 232"/>
                <a:gd name="T84" fmla="*/ 172 w 199"/>
                <a:gd name="T85" fmla="*/ 0 h 232"/>
                <a:gd name="T86" fmla="*/ 156 w 199"/>
                <a:gd name="T87" fmla="*/ 2 h 232"/>
                <a:gd name="T88" fmla="*/ 138 w 199"/>
                <a:gd name="T89" fmla="*/ 4 h 232"/>
                <a:gd name="T90" fmla="*/ 121 w 199"/>
                <a:gd name="T91" fmla="*/ 10 h 232"/>
                <a:gd name="T92" fmla="*/ 103 w 199"/>
                <a:gd name="T93" fmla="*/ 16 h 232"/>
                <a:gd name="T94" fmla="*/ 86 w 199"/>
                <a:gd name="T95" fmla="*/ 23 h 232"/>
                <a:gd name="T96" fmla="*/ 70 w 199"/>
                <a:gd name="T97" fmla="*/ 29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ln>
          </p:spPr>
          <p:txBody>
            <a:bodyPr/>
            <a:lstStyle/>
            <a:p>
              <a:endParaRPr lang="en-US"/>
            </a:p>
          </p:txBody>
        </p:sp>
        <p:sp>
          <p:nvSpPr>
            <p:cNvPr id="1187" name="Freeform 894"/>
            <p:cNvSpPr/>
            <p:nvPr/>
          </p:nvSpPr>
          <p:spPr bwMode="auto">
            <a:xfrm>
              <a:off x="4395" y="3142"/>
              <a:ext cx="22" cy="30"/>
            </a:xfrm>
            <a:custGeom>
              <a:avLst/>
              <a:gdLst>
                <a:gd name="T0" fmla="*/ 108 w 128"/>
                <a:gd name="T1" fmla="*/ 59 h 180"/>
                <a:gd name="T2" fmla="*/ 113 w 128"/>
                <a:gd name="T3" fmla="*/ 77 h 180"/>
                <a:gd name="T4" fmla="*/ 111 w 128"/>
                <a:gd name="T5" fmla="*/ 94 h 180"/>
                <a:gd name="T6" fmla="*/ 103 w 128"/>
                <a:gd name="T7" fmla="*/ 108 h 180"/>
                <a:gd name="T8" fmla="*/ 91 w 128"/>
                <a:gd name="T9" fmla="*/ 121 h 180"/>
                <a:gd name="T10" fmla="*/ 77 w 128"/>
                <a:gd name="T11" fmla="*/ 132 h 180"/>
                <a:gd name="T12" fmla="*/ 61 w 128"/>
                <a:gd name="T13" fmla="*/ 144 h 180"/>
                <a:gd name="T14" fmla="*/ 45 w 128"/>
                <a:gd name="T15" fmla="*/ 154 h 180"/>
                <a:gd name="T16" fmla="*/ 30 w 128"/>
                <a:gd name="T17" fmla="*/ 164 h 180"/>
                <a:gd name="T18" fmla="*/ 28 w 128"/>
                <a:gd name="T19" fmla="*/ 168 h 180"/>
                <a:gd name="T20" fmla="*/ 27 w 128"/>
                <a:gd name="T21" fmla="*/ 170 h 180"/>
                <a:gd name="T22" fmla="*/ 27 w 128"/>
                <a:gd name="T23" fmla="*/ 174 h 180"/>
                <a:gd name="T24" fmla="*/ 28 w 128"/>
                <a:gd name="T25" fmla="*/ 177 h 180"/>
                <a:gd name="T26" fmla="*/ 32 w 128"/>
                <a:gd name="T27" fmla="*/ 179 h 180"/>
                <a:gd name="T28" fmla="*/ 35 w 128"/>
                <a:gd name="T29" fmla="*/ 180 h 180"/>
                <a:gd name="T30" fmla="*/ 37 w 128"/>
                <a:gd name="T31" fmla="*/ 180 h 180"/>
                <a:gd name="T32" fmla="*/ 41 w 128"/>
                <a:gd name="T33" fmla="*/ 179 h 180"/>
                <a:gd name="T34" fmla="*/ 60 w 128"/>
                <a:gd name="T35" fmla="*/ 169 h 180"/>
                <a:gd name="T36" fmla="*/ 77 w 128"/>
                <a:gd name="T37" fmla="*/ 158 h 180"/>
                <a:gd name="T38" fmla="*/ 94 w 128"/>
                <a:gd name="T39" fmla="*/ 145 h 180"/>
                <a:gd name="T40" fmla="*/ 109 w 128"/>
                <a:gd name="T41" fmla="*/ 130 h 180"/>
                <a:gd name="T42" fmla="*/ 120 w 128"/>
                <a:gd name="T43" fmla="*/ 114 h 180"/>
                <a:gd name="T44" fmla="*/ 127 w 128"/>
                <a:gd name="T45" fmla="*/ 95 h 180"/>
                <a:gd name="T46" fmla="*/ 128 w 128"/>
                <a:gd name="T47" fmla="*/ 76 h 180"/>
                <a:gd name="T48" fmla="*/ 123 w 128"/>
                <a:gd name="T49" fmla="*/ 55 h 180"/>
                <a:gd name="T50" fmla="*/ 113 w 128"/>
                <a:gd name="T51" fmla="*/ 39 h 180"/>
                <a:gd name="T52" fmla="*/ 97 w 128"/>
                <a:gd name="T53" fmla="*/ 25 h 180"/>
                <a:gd name="T54" fmla="*/ 79 w 128"/>
                <a:gd name="T55" fmla="*/ 15 h 180"/>
                <a:gd name="T56" fmla="*/ 57 w 128"/>
                <a:gd name="T57" fmla="*/ 7 h 180"/>
                <a:gd name="T58" fmla="*/ 36 w 128"/>
                <a:gd name="T59" fmla="*/ 2 h 180"/>
                <a:gd name="T60" fmla="*/ 19 w 128"/>
                <a:gd name="T61" fmla="*/ 0 h 180"/>
                <a:gd name="T62" fmla="*/ 6 w 128"/>
                <a:gd name="T63" fmla="*/ 0 h 180"/>
                <a:gd name="T64" fmla="*/ 0 w 128"/>
                <a:gd name="T65" fmla="*/ 4 h 180"/>
                <a:gd name="T66" fmla="*/ 14 w 128"/>
                <a:gd name="T67" fmla="*/ 9 h 180"/>
                <a:gd name="T68" fmla="*/ 29 w 128"/>
                <a:gd name="T69" fmla="*/ 14 h 180"/>
                <a:gd name="T70" fmla="*/ 46 w 128"/>
                <a:gd name="T71" fmla="*/ 19 h 180"/>
                <a:gd name="T72" fmla="*/ 61 w 128"/>
                <a:gd name="T73" fmla="*/ 23 h 180"/>
                <a:gd name="T74" fmla="*/ 76 w 128"/>
                <a:gd name="T75" fmla="*/ 29 h 180"/>
                <a:gd name="T76" fmla="*/ 89 w 128"/>
                <a:gd name="T77" fmla="*/ 37 h 180"/>
                <a:gd name="T78" fmla="*/ 100 w 128"/>
                <a:gd name="T79" fmla="*/ 46 h 180"/>
                <a:gd name="T80" fmla="*/ 108 w 128"/>
                <a:gd name="T81" fmla="*/ 59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ln>
          </p:spPr>
          <p:txBody>
            <a:bodyPr/>
            <a:lstStyle/>
            <a:p>
              <a:endParaRPr lang="en-US"/>
            </a:p>
          </p:txBody>
        </p:sp>
        <p:sp>
          <p:nvSpPr>
            <p:cNvPr id="1188" name="Freeform 895"/>
            <p:cNvSpPr/>
            <p:nvPr/>
          </p:nvSpPr>
          <p:spPr bwMode="auto">
            <a:xfrm>
              <a:off x="4318" y="3135"/>
              <a:ext cx="54" cy="63"/>
            </a:xfrm>
            <a:custGeom>
              <a:avLst/>
              <a:gdLst>
                <a:gd name="T0" fmla="*/ 100 w 322"/>
                <a:gd name="T1" fmla="*/ 70 h 378"/>
                <a:gd name="T2" fmla="*/ 53 w 322"/>
                <a:gd name="T3" fmla="*/ 115 h 378"/>
                <a:gd name="T4" fmla="*/ 17 w 322"/>
                <a:gd name="T5" fmla="*/ 166 h 378"/>
                <a:gd name="T6" fmla="*/ 0 w 322"/>
                <a:gd name="T7" fmla="*/ 226 h 378"/>
                <a:gd name="T8" fmla="*/ 3 w 322"/>
                <a:gd name="T9" fmla="*/ 266 h 378"/>
                <a:gd name="T10" fmla="*/ 9 w 322"/>
                <a:gd name="T11" fmla="*/ 282 h 378"/>
                <a:gd name="T12" fmla="*/ 19 w 322"/>
                <a:gd name="T13" fmla="*/ 297 h 378"/>
                <a:gd name="T14" fmla="*/ 32 w 322"/>
                <a:gd name="T15" fmla="*/ 310 h 378"/>
                <a:gd name="T16" fmla="*/ 56 w 322"/>
                <a:gd name="T17" fmla="*/ 324 h 378"/>
                <a:gd name="T18" fmla="*/ 86 w 322"/>
                <a:gd name="T19" fmla="*/ 338 h 378"/>
                <a:gd name="T20" fmla="*/ 119 w 322"/>
                <a:gd name="T21" fmla="*/ 350 h 378"/>
                <a:gd name="T22" fmla="*/ 152 w 322"/>
                <a:gd name="T23" fmla="*/ 359 h 378"/>
                <a:gd name="T24" fmla="*/ 186 w 322"/>
                <a:gd name="T25" fmla="*/ 366 h 378"/>
                <a:gd name="T26" fmla="*/ 220 w 322"/>
                <a:gd name="T27" fmla="*/ 371 h 378"/>
                <a:gd name="T28" fmla="*/ 254 w 322"/>
                <a:gd name="T29" fmla="*/ 374 h 378"/>
                <a:gd name="T30" fmla="*/ 289 w 322"/>
                <a:gd name="T31" fmla="*/ 376 h 378"/>
                <a:gd name="T32" fmla="*/ 311 w 322"/>
                <a:gd name="T33" fmla="*/ 378 h 378"/>
                <a:gd name="T34" fmla="*/ 320 w 322"/>
                <a:gd name="T35" fmla="*/ 371 h 378"/>
                <a:gd name="T36" fmla="*/ 322 w 322"/>
                <a:gd name="T37" fmla="*/ 360 h 378"/>
                <a:gd name="T38" fmla="*/ 315 w 322"/>
                <a:gd name="T39" fmla="*/ 352 h 378"/>
                <a:gd name="T40" fmla="*/ 294 w 322"/>
                <a:gd name="T41" fmla="*/ 347 h 378"/>
                <a:gd name="T42" fmla="*/ 263 w 322"/>
                <a:gd name="T43" fmla="*/ 341 h 378"/>
                <a:gd name="T44" fmla="*/ 232 w 322"/>
                <a:gd name="T45" fmla="*/ 336 h 378"/>
                <a:gd name="T46" fmla="*/ 200 w 322"/>
                <a:gd name="T47" fmla="*/ 332 h 378"/>
                <a:gd name="T48" fmla="*/ 170 w 322"/>
                <a:gd name="T49" fmla="*/ 326 h 378"/>
                <a:gd name="T50" fmla="*/ 139 w 322"/>
                <a:gd name="T51" fmla="*/ 318 h 378"/>
                <a:gd name="T52" fmla="*/ 110 w 322"/>
                <a:gd name="T53" fmla="*/ 309 h 378"/>
                <a:gd name="T54" fmla="*/ 80 w 322"/>
                <a:gd name="T55" fmla="*/ 297 h 378"/>
                <a:gd name="T56" fmla="*/ 55 w 322"/>
                <a:gd name="T57" fmla="*/ 281 h 378"/>
                <a:gd name="T58" fmla="*/ 38 w 322"/>
                <a:gd name="T59" fmla="*/ 259 h 378"/>
                <a:gd name="T60" fmla="*/ 34 w 322"/>
                <a:gd name="T61" fmla="*/ 232 h 378"/>
                <a:gd name="T62" fmla="*/ 38 w 322"/>
                <a:gd name="T63" fmla="*/ 200 h 378"/>
                <a:gd name="T64" fmla="*/ 51 w 322"/>
                <a:gd name="T65" fmla="*/ 170 h 378"/>
                <a:gd name="T66" fmla="*/ 71 w 322"/>
                <a:gd name="T67" fmla="*/ 137 h 378"/>
                <a:gd name="T68" fmla="*/ 94 w 322"/>
                <a:gd name="T69" fmla="*/ 110 h 378"/>
                <a:gd name="T70" fmla="*/ 123 w 322"/>
                <a:gd name="T71" fmla="*/ 82 h 378"/>
                <a:gd name="T72" fmla="*/ 153 w 322"/>
                <a:gd name="T73" fmla="*/ 57 h 378"/>
                <a:gd name="T74" fmla="*/ 195 w 322"/>
                <a:gd name="T75" fmla="*/ 38 h 378"/>
                <a:gd name="T76" fmla="*/ 238 w 322"/>
                <a:gd name="T77" fmla="*/ 20 h 378"/>
                <a:gd name="T78" fmla="*/ 264 w 322"/>
                <a:gd name="T79" fmla="*/ 7 h 378"/>
                <a:gd name="T80" fmla="*/ 256 w 322"/>
                <a:gd name="T81" fmla="*/ 0 h 378"/>
                <a:gd name="T82" fmla="*/ 221 w 322"/>
                <a:gd name="T83" fmla="*/ 4 h 378"/>
                <a:gd name="T84" fmla="*/ 180 w 322"/>
                <a:gd name="T85" fmla="*/ 18 h 378"/>
                <a:gd name="T86" fmla="*/ 141 w 322"/>
                <a:gd name="T87" fmla="*/ 38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ln>
          </p:spPr>
          <p:txBody>
            <a:bodyPr/>
            <a:lstStyle/>
            <a:p>
              <a:endParaRPr lang="en-US"/>
            </a:p>
          </p:txBody>
        </p:sp>
        <p:sp>
          <p:nvSpPr>
            <p:cNvPr id="1189" name="Freeform 896"/>
            <p:cNvSpPr/>
            <p:nvPr/>
          </p:nvSpPr>
          <p:spPr bwMode="auto">
            <a:xfrm>
              <a:off x="4394" y="3133"/>
              <a:ext cx="47" cy="42"/>
            </a:xfrm>
            <a:custGeom>
              <a:avLst/>
              <a:gdLst>
                <a:gd name="T0" fmla="*/ 235 w 283"/>
                <a:gd name="T1" fmla="*/ 77 h 252"/>
                <a:gd name="T2" fmla="*/ 248 w 283"/>
                <a:gd name="T3" fmla="*/ 91 h 252"/>
                <a:gd name="T4" fmla="*/ 256 w 283"/>
                <a:gd name="T5" fmla="*/ 107 h 252"/>
                <a:gd name="T6" fmla="*/ 259 w 283"/>
                <a:gd name="T7" fmla="*/ 124 h 252"/>
                <a:gd name="T8" fmla="*/ 259 w 283"/>
                <a:gd name="T9" fmla="*/ 142 h 252"/>
                <a:gd name="T10" fmla="*/ 257 w 283"/>
                <a:gd name="T11" fmla="*/ 157 h 252"/>
                <a:gd name="T12" fmla="*/ 252 w 283"/>
                <a:gd name="T13" fmla="*/ 170 h 252"/>
                <a:gd name="T14" fmla="*/ 244 w 283"/>
                <a:gd name="T15" fmla="*/ 183 h 252"/>
                <a:gd name="T16" fmla="*/ 236 w 283"/>
                <a:gd name="T17" fmla="*/ 193 h 252"/>
                <a:gd name="T18" fmla="*/ 225 w 283"/>
                <a:gd name="T19" fmla="*/ 204 h 252"/>
                <a:gd name="T20" fmla="*/ 215 w 283"/>
                <a:gd name="T21" fmla="*/ 214 h 252"/>
                <a:gd name="T22" fmla="*/ 204 w 283"/>
                <a:gd name="T23" fmla="*/ 224 h 252"/>
                <a:gd name="T24" fmla="*/ 194 w 283"/>
                <a:gd name="T25" fmla="*/ 234 h 252"/>
                <a:gd name="T26" fmla="*/ 191 w 283"/>
                <a:gd name="T27" fmla="*/ 238 h 252"/>
                <a:gd name="T28" fmla="*/ 191 w 283"/>
                <a:gd name="T29" fmla="*/ 241 h 252"/>
                <a:gd name="T30" fmla="*/ 191 w 283"/>
                <a:gd name="T31" fmla="*/ 245 h 252"/>
                <a:gd name="T32" fmla="*/ 194 w 283"/>
                <a:gd name="T33" fmla="*/ 248 h 252"/>
                <a:gd name="T34" fmla="*/ 197 w 283"/>
                <a:gd name="T35" fmla="*/ 250 h 252"/>
                <a:gd name="T36" fmla="*/ 202 w 283"/>
                <a:gd name="T37" fmla="*/ 252 h 252"/>
                <a:gd name="T38" fmla="*/ 205 w 283"/>
                <a:gd name="T39" fmla="*/ 250 h 252"/>
                <a:gd name="T40" fmla="*/ 209 w 283"/>
                <a:gd name="T41" fmla="*/ 248 h 252"/>
                <a:gd name="T42" fmla="*/ 232 w 283"/>
                <a:gd name="T43" fmla="*/ 233 h 252"/>
                <a:gd name="T44" fmla="*/ 252 w 283"/>
                <a:gd name="T45" fmla="*/ 214 h 252"/>
                <a:gd name="T46" fmla="*/ 268 w 283"/>
                <a:gd name="T47" fmla="*/ 192 h 252"/>
                <a:gd name="T48" fmla="*/ 278 w 283"/>
                <a:gd name="T49" fmla="*/ 167 h 252"/>
                <a:gd name="T50" fmla="*/ 283 w 283"/>
                <a:gd name="T51" fmla="*/ 141 h 252"/>
                <a:gd name="T52" fmla="*/ 280 w 283"/>
                <a:gd name="T53" fmla="*/ 115 h 252"/>
                <a:gd name="T54" fmla="*/ 271 w 283"/>
                <a:gd name="T55" fmla="*/ 91 h 252"/>
                <a:gd name="T56" fmla="*/ 252 w 283"/>
                <a:gd name="T57" fmla="*/ 69 h 252"/>
                <a:gd name="T58" fmla="*/ 238 w 283"/>
                <a:gd name="T59" fmla="*/ 57 h 252"/>
                <a:gd name="T60" fmla="*/ 222 w 283"/>
                <a:gd name="T61" fmla="*/ 48 h 252"/>
                <a:gd name="T62" fmla="*/ 204 w 283"/>
                <a:gd name="T63" fmla="*/ 39 h 252"/>
                <a:gd name="T64" fmla="*/ 184 w 283"/>
                <a:gd name="T65" fmla="*/ 31 h 252"/>
                <a:gd name="T66" fmla="*/ 164 w 283"/>
                <a:gd name="T67" fmla="*/ 23 h 252"/>
                <a:gd name="T68" fmla="*/ 144 w 283"/>
                <a:gd name="T69" fmla="*/ 17 h 252"/>
                <a:gd name="T70" fmla="*/ 123 w 283"/>
                <a:gd name="T71" fmla="*/ 13 h 252"/>
                <a:gd name="T72" fmla="*/ 103 w 283"/>
                <a:gd name="T73" fmla="*/ 8 h 252"/>
                <a:gd name="T74" fmla="*/ 83 w 283"/>
                <a:gd name="T75" fmla="*/ 5 h 252"/>
                <a:gd name="T76" fmla="*/ 66 w 283"/>
                <a:gd name="T77" fmla="*/ 2 h 252"/>
                <a:gd name="T78" fmla="*/ 48 w 283"/>
                <a:gd name="T79" fmla="*/ 0 h 252"/>
                <a:gd name="T80" fmla="*/ 34 w 283"/>
                <a:gd name="T81" fmla="*/ 0 h 252"/>
                <a:gd name="T82" fmla="*/ 21 w 283"/>
                <a:gd name="T83" fmla="*/ 0 h 252"/>
                <a:gd name="T84" fmla="*/ 11 w 283"/>
                <a:gd name="T85" fmla="*/ 0 h 252"/>
                <a:gd name="T86" fmla="*/ 4 w 283"/>
                <a:gd name="T87" fmla="*/ 2 h 252"/>
                <a:gd name="T88" fmla="*/ 0 w 283"/>
                <a:gd name="T89" fmla="*/ 5 h 252"/>
                <a:gd name="T90" fmla="*/ 12 w 283"/>
                <a:gd name="T91" fmla="*/ 7 h 252"/>
                <a:gd name="T92" fmla="*/ 24 w 283"/>
                <a:gd name="T93" fmla="*/ 8 h 252"/>
                <a:gd name="T94" fmla="*/ 38 w 283"/>
                <a:gd name="T95" fmla="*/ 10 h 252"/>
                <a:gd name="T96" fmla="*/ 52 w 283"/>
                <a:gd name="T97" fmla="*/ 13 h 252"/>
                <a:gd name="T98" fmla="*/ 66 w 283"/>
                <a:gd name="T99" fmla="*/ 16 h 252"/>
                <a:gd name="T100" fmla="*/ 82 w 283"/>
                <a:gd name="T101" fmla="*/ 18 h 252"/>
                <a:gd name="T102" fmla="*/ 98 w 283"/>
                <a:gd name="T103" fmla="*/ 22 h 252"/>
                <a:gd name="T104" fmla="*/ 114 w 283"/>
                <a:gd name="T105" fmla="*/ 25 h 252"/>
                <a:gd name="T106" fmla="*/ 129 w 283"/>
                <a:gd name="T107" fmla="*/ 30 h 252"/>
                <a:gd name="T108" fmla="*/ 146 w 283"/>
                <a:gd name="T109" fmla="*/ 34 h 252"/>
                <a:gd name="T110" fmla="*/ 162 w 283"/>
                <a:gd name="T111" fmla="*/ 39 h 252"/>
                <a:gd name="T112" fmla="*/ 177 w 283"/>
                <a:gd name="T113" fmla="*/ 45 h 252"/>
                <a:gd name="T114" fmla="*/ 193 w 283"/>
                <a:gd name="T115" fmla="*/ 52 h 252"/>
                <a:gd name="T116" fmla="*/ 208 w 283"/>
                <a:gd name="T117" fmla="*/ 60 h 252"/>
                <a:gd name="T118" fmla="*/ 222 w 283"/>
                <a:gd name="T119" fmla="*/ 68 h 252"/>
                <a:gd name="T120" fmla="*/ 235 w 283"/>
                <a:gd name="T121" fmla="*/ 77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ln>
          </p:spPr>
          <p:txBody>
            <a:bodyPr/>
            <a:lstStyle/>
            <a:p>
              <a:endParaRPr lang="en-US"/>
            </a:p>
          </p:txBody>
        </p:sp>
        <p:sp>
          <p:nvSpPr>
            <p:cNvPr id="1190" name="Freeform 897"/>
            <p:cNvSpPr/>
            <p:nvPr/>
          </p:nvSpPr>
          <p:spPr bwMode="auto">
            <a:xfrm>
              <a:off x="4298" y="3153"/>
              <a:ext cx="19" cy="39"/>
            </a:xfrm>
            <a:custGeom>
              <a:avLst/>
              <a:gdLst>
                <a:gd name="T0" fmla="*/ 0 w 114"/>
                <a:gd name="T1" fmla="*/ 130 h 238"/>
                <a:gd name="T2" fmla="*/ 0 w 114"/>
                <a:gd name="T3" fmla="*/ 149 h 238"/>
                <a:gd name="T4" fmla="*/ 4 w 114"/>
                <a:gd name="T5" fmla="*/ 168 h 238"/>
                <a:gd name="T6" fmla="*/ 12 w 114"/>
                <a:gd name="T7" fmla="*/ 185 h 238"/>
                <a:gd name="T8" fmla="*/ 24 w 114"/>
                <a:gd name="T9" fmla="*/ 200 h 238"/>
                <a:gd name="T10" fmla="*/ 38 w 114"/>
                <a:gd name="T11" fmla="*/ 213 h 238"/>
                <a:gd name="T12" fmla="*/ 55 w 114"/>
                <a:gd name="T13" fmla="*/ 224 h 238"/>
                <a:gd name="T14" fmla="*/ 73 w 114"/>
                <a:gd name="T15" fmla="*/ 232 h 238"/>
                <a:gd name="T16" fmla="*/ 92 w 114"/>
                <a:gd name="T17" fmla="*/ 237 h 238"/>
                <a:gd name="T18" fmla="*/ 98 w 114"/>
                <a:gd name="T19" fmla="*/ 238 h 238"/>
                <a:gd name="T20" fmla="*/ 104 w 114"/>
                <a:gd name="T21" fmla="*/ 235 h 238"/>
                <a:gd name="T22" fmla="*/ 109 w 114"/>
                <a:gd name="T23" fmla="*/ 232 h 238"/>
                <a:gd name="T24" fmla="*/ 111 w 114"/>
                <a:gd name="T25" fmla="*/ 227 h 238"/>
                <a:gd name="T26" fmla="*/ 111 w 114"/>
                <a:gd name="T27" fmla="*/ 222 h 238"/>
                <a:gd name="T28" fmla="*/ 110 w 114"/>
                <a:gd name="T29" fmla="*/ 216 h 238"/>
                <a:gd name="T30" fmla="*/ 106 w 114"/>
                <a:gd name="T31" fmla="*/ 211 h 238"/>
                <a:gd name="T32" fmla="*/ 100 w 114"/>
                <a:gd name="T33" fmla="*/ 209 h 238"/>
                <a:gd name="T34" fmla="*/ 82 w 114"/>
                <a:gd name="T35" fmla="*/ 202 h 238"/>
                <a:gd name="T36" fmla="*/ 64 w 114"/>
                <a:gd name="T37" fmla="*/ 193 h 238"/>
                <a:gd name="T38" fmla="*/ 50 w 114"/>
                <a:gd name="T39" fmla="*/ 180 h 238"/>
                <a:gd name="T40" fmla="*/ 39 w 114"/>
                <a:gd name="T41" fmla="*/ 167 h 238"/>
                <a:gd name="T42" fmla="*/ 32 w 114"/>
                <a:gd name="T43" fmla="*/ 149 h 238"/>
                <a:gd name="T44" fmla="*/ 29 w 114"/>
                <a:gd name="T45" fmla="*/ 131 h 238"/>
                <a:gd name="T46" fmla="*/ 29 w 114"/>
                <a:gd name="T47" fmla="*/ 111 h 238"/>
                <a:gd name="T48" fmla="*/ 35 w 114"/>
                <a:gd name="T49" fmla="*/ 91 h 238"/>
                <a:gd name="T50" fmla="*/ 42 w 114"/>
                <a:gd name="T51" fmla="*/ 76 h 238"/>
                <a:gd name="T52" fmla="*/ 51 w 114"/>
                <a:gd name="T53" fmla="*/ 62 h 238"/>
                <a:gd name="T54" fmla="*/ 62 w 114"/>
                <a:gd name="T55" fmla="*/ 49 h 238"/>
                <a:gd name="T56" fmla="*/ 73 w 114"/>
                <a:gd name="T57" fmla="*/ 38 h 238"/>
                <a:gd name="T58" fmla="*/ 84 w 114"/>
                <a:gd name="T59" fmla="*/ 28 h 238"/>
                <a:gd name="T60" fmla="*/ 96 w 114"/>
                <a:gd name="T61" fmla="*/ 18 h 238"/>
                <a:gd name="T62" fmla="*/ 106 w 114"/>
                <a:gd name="T63" fmla="*/ 9 h 238"/>
                <a:gd name="T64" fmla="*/ 114 w 114"/>
                <a:gd name="T65" fmla="*/ 1 h 238"/>
                <a:gd name="T66" fmla="*/ 106 w 114"/>
                <a:gd name="T67" fmla="*/ 0 h 238"/>
                <a:gd name="T68" fmla="*/ 93 w 114"/>
                <a:gd name="T69" fmla="*/ 6 h 238"/>
                <a:gd name="T70" fmla="*/ 76 w 114"/>
                <a:gd name="T71" fmla="*/ 18 h 238"/>
                <a:gd name="T72" fmla="*/ 56 w 114"/>
                <a:gd name="T73" fmla="*/ 36 h 238"/>
                <a:gd name="T74" fmla="*/ 37 w 114"/>
                <a:gd name="T75" fmla="*/ 57 h 238"/>
                <a:gd name="T76" fmla="*/ 20 w 114"/>
                <a:gd name="T77" fmla="*/ 80 h 238"/>
                <a:gd name="T78" fmla="*/ 7 w 114"/>
                <a:gd name="T79" fmla="*/ 106 h 238"/>
                <a:gd name="T80" fmla="*/ 0 w 114"/>
                <a:gd name="T81" fmla="*/ 13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ln>
          </p:spPr>
          <p:txBody>
            <a:bodyPr/>
            <a:lstStyle/>
            <a:p>
              <a:endParaRPr lang="en-US"/>
            </a:p>
          </p:txBody>
        </p:sp>
        <p:sp>
          <p:nvSpPr>
            <p:cNvPr id="1191" name="Freeform 898"/>
            <p:cNvSpPr/>
            <p:nvPr/>
          </p:nvSpPr>
          <p:spPr bwMode="auto">
            <a:xfrm>
              <a:off x="4432" y="3130"/>
              <a:ext cx="41" cy="52"/>
            </a:xfrm>
            <a:custGeom>
              <a:avLst/>
              <a:gdLst>
                <a:gd name="T0" fmla="*/ 207 w 246"/>
                <a:gd name="T1" fmla="*/ 124 h 310"/>
                <a:gd name="T2" fmla="*/ 219 w 246"/>
                <a:gd name="T3" fmla="*/ 143 h 310"/>
                <a:gd name="T4" fmla="*/ 225 w 246"/>
                <a:gd name="T5" fmla="*/ 164 h 310"/>
                <a:gd name="T6" fmla="*/ 221 w 246"/>
                <a:gd name="T7" fmla="*/ 187 h 310"/>
                <a:gd name="T8" fmla="*/ 208 w 246"/>
                <a:gd name="T9" fmla="*/ 209 h 310"/>
                <a:gd name="T10" fmla="*/ 188 w 246"/>
                <a:gd name="T11" fmla="*/ 228 h 310"/>
                <a:gd name="T12" fmla="*/ 166 w 246"/>
                <a:gd name="T13" fmla="*/ 246 h 310"/>
                <a:gd name="T14" fmla="*/ 143 w 246"/>
                <a:gd name="T15" fmla="*/ 264 h 310"/>
                <a:gd name="T16" fmla="*/ 129 w 246"/>
                <a:gd name="T17" fmla="*/ 278 h 310"/>
                <a:gd name="T18" fmla="*/ 124 w 246"/>
                <a:gd name="T19" fmla="*/ 287 h 310"/>
                <a:gd name="T20" fmla="*/ 120 w 246"/>
                <a:gd name="T21" fmla="*/ 296 h 310"/>
                <a:gd name="T22" fmla="*/ 121 w 246"/>
                <a:gd name="T23" fmla="*/ 305 h 310"/>
                <a:gd name="T24" fmla="*/ 130 w 246"/>
                <a:gd name="T25" fmla="*/ 310 h 310"/>
                <a:gd name="T26" fmla="*/ 139 w 246"/>
                <a:gd name="T27" fmla="*/ 309 h 310"/>
                <a:gd name="T28" fmla="*/ 154 w 246"/>
                <a:gd name="T29" fmla="*/ 293 h 310"/>
                <a:gd name="T30" fmla="*/ 180 w 246"/>
                <a:gd name="T31" fmla="*/ 269 h 310"/>
                <a:gd name="T32" fmla="*/ 207 w 246"/>
                <a:gd name="T33" fmla="*/ 246 h 310"/>
                <a:gd name="T34" fmla="*/ 231 w 246"/>
                <a:gd name="T35" fmla="*/ 219 h 310"/>
                <a:gd name="T36" fmla="*/ 245 w 246"/>
                <a:gd name="T37" fmla="*/ 187 h 310"/>
                <a:gd name="T38" fmla="*/ 242 w 246"/>
                <a:gd name="T39" fmla="*/ 153 h 310"/>
                <a:gd name="T40" fmla="*/ 227 w 246"/>
                <a:gd name="T41" fmla="*/ 120 h 310"/>
                <a:gd name="T42" fmla="*/ 201 w 246"/>
                <a:gd name="T43" fmla="*/ 94 h 310"/>
                <a:gd name="T44" fmla="*/ 177 w 246"/>
                <a:gd name="T45" fmla="*/ 74 h 310"/>
                <a:gd name="T46" fmla="*/ 152 w 246"/>
                <a:gd name="T47" fmla="*/ 60 h 310"/>
                <a:gd name="T48" fmla="*/ 126 w 246"/>
                <a:gd name="T49" fmla="*/ 43 h 310"/>
                <a:gd name="T50" fmla="*/ 98 w 246"/>
                <a:gd name="T51" fmla="*/ 28 h 310"/>
                <a:gd name="T52" fmla="*/ 72 w 246"/>
                <a:gd name="T53" fmla="*/ 16 h 310"/>
                <a:gd name="T54" fmla="*/ 46 w 246"/>
                <a:gd name="T55" fmla="*/ 7 h 310"/>
                <a:gd name="T56" fmla="*/ 24 w 246"/>
                <a:gd name="T57" fmla="*/ 1 h 310"/>
                <a:gd name="T58" fmla="*/ 7 w 246"/>
                <a:gd name="T59" fmla="*/ 1 h 310"/>
                <a:gd name="T60" fmla="*/ 8 w 246"/>
                <a:gd name="T61" fmla="*/ 6 h 310"/>
                <a:gd name="T62" fmla="*/ 28 w 246"/>
                <a:gd name="T63" fmla="*/ 14 h 310"/>
                <a:gd name="T64" fmla="*/ 51 w 246"/>
                <a:gd name="T65" fmla="*/ 24 h 310"/>
                <a:gd name="T66" fmla="*/ 78 w 246"/>
                <a:gd name="T67" fmla="*/ 37 h 310"/>
                <a:gd name="T68" fmla="*/ 106 w 246"/>
                <a:gd name="T69" fmla="*/ 51 h 310"/>
                <a:gd name="T70" fmla="*/ 134 w 246"/>
                <a:gd name="T71" fmla="*/ 69 h 310"/>
                <a:gd name="T72" fmla="*/ 163 w 246"/>
                <a:gd name="T73" fmla="*/ 87 h 310"/>
                <a:gd name="T74" fmla="*/ 187 w 246"/>
                <a:gd name="T75" fmla="*/ 105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ln>
          </p:spPr>
          <p:txBody>
            <a:bodyPr/>
            <a:lstStyle/>
            <a:p>
              <a:endParaRPr lang="en-US"/>
            </a:p>
          </p:txBody>
        </p:sp>
        <p:sp>
          <p:nvSpPr>
            <p:cNvPr id="1192" name="Freeform 899"/>
            <p:cNvSpPr/>
            <p:nvPr/>
          </p:nvSpPr>
          <p:spPr bwMode="auto">
            <a:xfrm>
              <a:off x="4387" y="3191"/>
              <a:ext cx="14" cy="31"/>
            </a:xfrm>
            <a:custGeom>
              <a:avLst/>
              <a:gdLst>
                <a:gd name="T0" fmla="*/ 31 w 83"/>
                <a:gd name="T1" fmla="*/ 14 h 187"/>
                <a:gd name="T2" fmla="*/ 29 w 83"/>
                <a:gd name="T3" fmla="*/ 8 h 187"/>
                <a:gd name="T4" fmla="*/ 25 w 83"/>
                <a:gd name="T5" fmla="*/ 3 h 187"/>
                <a:gd name="T6" fmla="*/ 19 w 83"/>
                <a:gd name="T7" fmla="*/ 1 h 187"/>
                <a:gd name="T8" fmla="*/ 14 w 83"/>
                <a:gd name="T9" fmla="*/ 0 h 187"/>
                <a:gd name="T10" fmla="*/ 8 w 83"/>
                <a:gd name="T11" fmla="*/ 2 h 187"/>
                <a:gd name="T12" fmla="*/ 3 w 83"/>
                <a:gd name="T13" fmla="*/ 5 h 187"/>
                <a:gd name="T14" fmla="*/ 0 w 83"/>
                <a:gd name="T15" fmla="*/ 11 h 187"/>
                <a:gd name="T16" fmla="*/ 0 w 83"/>
                <a:gd name="T17" fmla="*/ 17 h 187"/>
                <a:gd name="T18" fmla="*/ 5 w 83"/>
                <a:gd name="T19" fmla="*/ 42 h 187"/>
                <a:gd name="T20" fmla="*/ 15 w 83"/>
                <a:gd name="T21" fmla="*/ 71 h 187"/>
                <a:gd name="T22" fmla="*/ 27 w 83"/>
                <a:gd name="T23" fmla="*/ 100 h 187"/>
                <a:gd name="T24" fmla="*/ 41 w 83"/>
                <a:gd name="T25" fmla="*/ 127 h 187"/>
                <a:gd name="T26" fmla="*/ 55 w 83"/>
                <a:gd name="T27" fmla="*/ 151 h 187"/>
                <a:gd name="T28" fmla="*/ 68 w 83"/>
                <a:gd name="T29" fmla="*/ 171 h 187"/>
                <a:gd name="T30" fmla="*/ 77 w 83"/>
                <a:gd name="T31" fmla="*/ 184 h 187"/>
                <a:gd name="T32" fmla="*/ 83 w 83"/>
                <a:gd name="T33" fmla="*/ 187 h 187"/>
                <a:gd name="T34" fmla="*/ 80 w 83"/>
                <a:gd name="T35" fmla="*/ 174 h 187"/>
                <a:gd name="T36" fmla="*/ 75 w 83"/>
                <a:gd name="T37" fmla="*/ 158 h 187"/>
                <a:gd name="T38" fmla="*/ 68 w 83"/>
                <a:gd name="T39" fmla="*/ 138 h 187"/>
                <a:gd name="T40" fmla="*/ 59 w 83"/>
                <a:gd name="T41" fmla="*/ 113 h 187"/>
                <a:gd name="T42" fmla="*/ 51 w 83"/>
                <a:gd name="T43" fmla="*/ 88 h 187"/>
                <a:gd name="T44" fmla="*/ 43 w 83"/>
                <a:gd name="T45" fmla="*/ 63 h 187"/>
                <a:gd name="T46" fmla="*/ 36 w 83"/>
                <a:gd name="T47" fmla="*/ 38 h 187"/>
                <a:gd name="T48" fmla="*/ 31 w 83"/>
                <a:gd name="T49" fmla="*/ 14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ln>
          </p:spPr>
          <p:txBody>
            <a:bodyPr/>
            <a:lstStyle/>
            <a:p>
              <a:endParaRPr lang="en-US"/>
            </a:p>
          </p:txBody>
        </p:sp>
        <p:sp>
          <p:nvSpPr>
            <p:cNvPr id="1193" name="Freeform 900"/>
            <p:cNvSpPr/>
            <p:nvPr/>
          </p:nvSpPr>
          <p:spPr bwMode="auto">
            <a:xfrm>
              <a:off x="4381" y="3174"/>
              <a:ext cx="7" cy="16"/>
            </a:xfrm>
            <a:custGeom>
              <a:avLst/>
              <a:gdLst>
                <a:gd name="T0" fmla="*/ 22 w 44"/>
                <a:gd name="T1" fmla="*/ 10 h 94"/>
                <a:gd name="T2" fmla="*/ 21 w 44"/>
                <a:gd name="T3" fmla="*/ 6 h 94"/>
                <a:gd name="T4" fmla="*/ 18 w 44"/>
                <a:gd name="T5" fmla="*/ 2 h 94"/>
                <a:gd name="T6" fmla="*/ 14 w 44"/>
                <a:gd name="T7" fmla="*/ 0 h 94"/>
                <a:gd name="T8" fmla="*/ 10 w 44"/>
                <a:gd name="T9" fmla="*/ 0 h 94"/>
                <a:gd name="T10" fmla="*/ 6 w 44"/>
                <a:gd name="T11" fmla="*/ 1 h 94"/>
                <a:gd name="T12" fmla="*/ 3 w 44"/>
                <a:gd name="T13" fmla="*/ 3 h 94"/>
                <a:gd name="T14" fmla="*/ 0 w 44"/>
                <a:gd name="T15" fmla="*/ 7 h 94"/>
                <a:gd name="T16" fmla="*/ 0 w 44"/>
                <a:gd name="T17" fmla="*/ 11 h 94"/>
                <a:gd name="T18" fmla="*/ 0 w 44"/>
                <a:gd name="T19" fmla="*/ 24 h 94"/>
                <a:gd name="T20" fmla="*/ 4 w 44"/>
                <a:gd name="T21" fmla="*/ 38 h 94"/>
                <a:gd name="T22" fmla="*/ 8 w 44"/>
                <a:gd name="T23" fmla="*/ 52 h 94"/>
                <a:gd name="T24" fmla="*/ 14 w 44"/>
                <a:gd name="T25" fmla="*/ 65 h 94"/>
                <a:gd name="T26" fmla="*/ 21 w 44"/>
                <a:gd name="T27" fmla="*/ 78 h 94"/>
                <a:gd name="T28" fmla="*/ 28 w 44"/>
                <a:gd name="T29" fmla="*/ 87 h 94"/>
                <a:gd name="T30" fmla="*/ 37 w 44"/>
                <a:gd name="T31" fmla="*/ 93 h 94"/>
                <a:gd name="T32" fmla="*/ 42 w 44"/>
                <a:gd name="T33" fmla="*/ 94 h 94"/>
                <a:gd name="T34" fmla="*/ 44 w 44"/>
                <a:gd name="T35" fmla="*/ 76 h 94"/>
                <a:gd name="T36" fmla="*/ 38 w 44"/>
                <a:gd name="T37" fmla="*/ 54 h 94"/>
                <a:gd name="T38" fmla="*/ 31 w 44"/>
                <a:gd name="T39" fmla="*/ 32 h 94"/>
                <a:gd name="T40" fmla="*/ 22 w 44"/>
                <a:gd name="T41" fmla="*/ 1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ln>
          </p:spPr>
          <p:txBody>
            <a:bodyPr/>
            <a:lstStyle/>
            <a:p>
              <a:endParaRPr lang="en-US"/>
            </a:p>
          </p:txBody>
        </p:sp>
        <p:sp>
          <p:nvSpPr>
            <p:cNvPr id="1194" name="Freeform 901"/>
            <p:cNvSpPr/>
            <p:nvPr/>
          </p:nvSpPr>
          <p:spPr bwMode="auto">
            <a:xfrm>
              <a:off x="4375" y="3163"/>
              <a:ext cx="6" cy="9"/>
            </a:xfrm>
            <a:custGeom>
              <a:avLst/>
              <a:gdLst>
                <a:gd name="T0" fmla="*/ 20 w 38"/>
                <a:gd name="T1" fmla="*/ 7 h 54"/>
                <a:gd name="T2" fmla="*/ 20 w 38"/>
                <a:gd name="T3" fmla="*/ 8 h 54"/>
                <a:gd name="T4" fmla="*/ 20 w 38"/>
                <a:gd name="T5" fmla="*/ 8 h 54"/>
                <a:gd name="T6" fmla="*/ 20 w 38"/>
                <a:gd name="T7" fmla="*/ 8 h 54"/>
                <a:gd name="T8" fmla="*/ 20 w 38"/>
                <a:gd name="T9" fmla="*/ 8 h 54"/>
                <a:gd name="T10" fmla="*/ 19 w 38"/>
                <a:gd name="T11" fmla="*/ 4 h 54"/>
                <a:gd name="T12" fmla="*/ 15 w 38"/>
                <a:gd name="T13" fmla="*/ 1 h 54"/>
                <a:gd name="T14" fmla="*/ 12 w 38"/>
                <a:gd name="T15" fmla="*/ 0 h 54"/>
                <a:gd name="T16" fmla="*/ 7 w 38"/>
                <a:gd name="T17" fmla="*/ 0 h 54"/>
                <a:gd name="T18" fmla="*/ 4 w 38"/>
                <a:gd name="T19" fmla="*/ 1 h 54"/>
                <a:gd name="T20" fmla="*/ 1 w 38"/>
                <a:gd name="T21" fmla="*/ 4 h 54"/>
                <a:gd name="T22" fmla="*/ 0 w 38"/>
                <a:gd name="T23" fmla="*/ 8 h 54"/>
                <a:gd name="T24" fmla="*/ 0 w 38"/>
                <a:gd name="T25" fmla="*/ 11 h 54"/>
                <a:gd name="T26" fmla="*/ 1 w 38"/>
                <a:gd name="T27" fmla="*/ 17 h 54"/>
                <a:gd name="T28" fmla="*/ 4 w 38"/>
                <a:gd name="T29" fmla="*/ 24 h 54"/>
                <a:gd name="T30" fmla="*/ 8 w 38"/>
                <a:gd name="T31" fmla="*/ 32 h 54"/>
                <a:gd name="T32" fmla="*/ 14 w 38"/>
                <a:gd name="T33" fmla="*/ 39 h 54"/>
                <a:gd name="T34" fmla="*/ 20 w 38"/>
                <a:gd name="T35" fmla="*/ 46 h 54"/>
                <a:gd name="T36" fmla="*/ 27 w 38"/>
                <a:gd name="T37" fmla="*/ 50 h 54"/>
                <a:gd name="T38" fmla="*/ 33 w 38"/>
                <a:gd name="T39" fmla="*/ 54 h 54"/>
                <a:gd name="T40" fmla="*/ 38 w 38"/>
                <a:gd name="T41" fmla="*/ 54 h 54"/>
                <a:gd name="T42" fmla="*/ 36 w 38"/>
                <a:gd name="T43" fmla="*/ 42 h 54"/>
                <a:gd name="T44" fmla="*/ 32 w 38"/>
                <a:gd name="T45" fmla="*/ 29 h 54"/>
                <a:gd name="T46" fmla="*/ 25 w 38"/>
                <a:gd name="T47" fmla="*/ 16 h 54"/>
                <a:gd name="T48" fmla="*/ 20 w 38"/>
                <a:gd name="T49" fmla="*/ 7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ln>
          </p:spPr>
          <p:txBody>
            <a:bodyPr/>
            <a:lstStyle/>
            <a:p>
              <a:endParaRPr lang="en-US"/>
            </a:p>
          </p:txBody>
        </p:sp>
        <p:sp>
          <p:nvSpPr>
            <p:cNvPr id="1195" name="Freeform 902"/>
            <p:cNvSpPr/>
            <p:nvPr/>
          </p:nvSpPr>
          <p:spPr bwMode="auto">
            <a:xfrm>
              <a:off x="4370" y="3155"/>
              <a:ext cx="8" cy="6"/>
            </a:xfrm>
            <a:custGeom>
              <a:avLst/>
              <a:gdLst>
                <a:gd name="T0" fmla="*/ 41 w 52"/>
                <a:gd name="T1" fmla="*/ 27 h 36"/>
                <a:gd name="T2" fmla="*/ 46 w 52"/>
                <a:gd name="T3" fmla="*/ 24 h 36"/>
                <a:gd name="T4" fmla="*/ 51 w 52"/>
                <a:gd name="T5" fmla="*/ 21 h 36"/>
                <a:gd name="T6" fmla="*/ 52 w 52"/>
                <a:gd name="T7" fmla="*/ 16 h 36"/>
                <a:gd name="T8" fmla="*/ 52 w 52"/>
                <a:gd name="T9" fmla="*/ 12 h 36"/>
                <a:gd name="T10" fmla="*/ 50 w 52"/>
                <a:gd name="T11" fmla="*/ 6 h 36"/>
                <a:gd name="T12" fmla="*/ 46 w 52"/>
                <a:gd name="T13" fmla="*/ 2 h 36"/>
                <a:gd name="T14" fmla="*/ 41 w 52"/>
                <a:gd name="T15" fmla="*/ 0 h 36"/>
                <a:gd name="T16" fmla="*/ 36 w 52"/>
                <a:gd name="T17" fmla="*/ 0 h 36"/>
                <a:gd name="T18" fmla="*/ 33 w 52"/>
                <a:gd name="T19" fmla="*/ 0 h 36"/>
                <a:gd name="T20" fmla="*/ 29 w 52"/>
                <a:gd name="T21" fmla="*/ 1 h 36"/>
                <a:gd name="T22" fmla="*/ 21 w 52"/>
                <a:gd name="T23" fmla="*/ 4 h 36"/>
                <a:gd name="T24" fmla="*/ 13 w 52"/>
                <a:gd name="T25" fmla="*/ 8 h 36"/>
                <a:gd name="T26" fmla="*/ 6 w 52"/>
                <a:gd name="T27" fmla="*/ 15 h 36"/>
                <a:gd name="T28" fmla="*/ 3 w 52"/>
                <a:gd name="T29" fmla="*/ 22 h 36"/>
                <a:gd name="T30" fmla="*/ 0 w 52"/>
                <a:gd name="T31" fmla="*/ 29 h 36"/>
                <a:gd name="T32" fmla="*/ 0 w 52"/>
                <a:gd name="T33" fmla="*/ 31 h 36"/>
                <a:gd name="T34" fmla="*/ 4 w 52"/>
                <a:gd name="T35" fmla="*/ 33 h 36"/>
                <a:gd name="T36" fmla="*/ 9 w 52"/>
                <a:gd name="T37" fmla="*/ 36 h 36"/>
                <a:gd name="T38" fmla="*/ 13 w 52"/>
                <a:gd name="T39" fmla="*/ 36 h 36"/>
                <a:gd name="T40" fmla="*/ 18 w 52"/>
                <a:gd name="T41" fmla="*/ 36 h 36"/>
                <a:gd name="T42" fmla="*/ 24 w 52"/>
                <a:gd name="T43" fmla="*/ 33 h 36"/>
                <a:gd name="T44" fmla="*/ 30 w 52"/>
                <a:gd name="T45" fmla="*/ 32 h 36"/>
                <a:gd name="T46" fmla="*/ 36 w 52"/>
                <a:gd name="T47" fmla="*/ 30 h 36"/>
                <a:gd name="T48" fmla="*/ 41 w 52"/>
                <a:gd name="T49" fmla="*/ 27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ln>
          </p:spPr>
          <p:txBody>
            <a:bodyPr/>
            <a:lstStyle/>
            <a:p>
              <a:endParaRPr lang="en-US"/>
            </a:p>
          </p:txBody>
        </p:sp>
        <p:sp>
          <p:nvSpPr>
            <p:cNvPr id="1196" name="Freeform 903"/>
            <p:cNvSpPr/>
            <p:nvPr/>
          </p:nvSpPr>
          <p:spPr bwMode="auto">
            <a:xfrm>
              <a:off x="4330" y="3145"/>
              <a:ext cx="33" cy="39"/>
            </a:xfrm>
            <a:custGeom>
              <a:avLst/>
              <a:gdLst>
                <a:gd name="T0" fmla="*/ 73 w 198"/>
                <a:gd name="T1" fmla="*/ 36 h 236"/>
                <a:gd name="T2" fmla="*/ 58 w 198"/>
                <a:gd name="T3" fmla="*/ 46 h 236"/>
                <a:gd name="T4" fmla="*/ 46 w 198"/>
                <a:gd name="T5" fmla="*/ 58 h 236"/>
                <a:gd name="T6" fmla="*/ 33 w 198"/>
                <a:gd name="T7" fmla="*/ 72 h 236"/>
                <a:gd name="T8" fmla="*/ 22 w 198"/>
                <a:gd name="T9" fmla="*/ 85 h 236"/>
                <a:gd name="T10" fmla="*/ 14 w 198"/>
                <a:gd name="T11" fmla="*/ 100 h 236"/>
                <a:gd name="T12" fmla="*/ 7 w 198"/>
                <a:gd name="T13" fmla="*/ 115 h 236"/>
                <a:gd name="T14" fmla="*/ 2 w 198"/>
                <a:gd name="T15" fmla="*/ 130 h 236"/>
                <a:gd name="T16" fmla="*/ 0 w 198"/>
                <a:gd name="T17" fmla="*/ 146 h 236"/>
                <a:gd name="T18" fmla="*/ 2 w 198"/>
                <a:gd name="T19" fmla="*/ 170 h 236"/>
                <a:gd name="T20" fmla="*/ 12 w 198"/>
                <a:gd name="T21" fmla="*/ 190 h 236"/>
                <a:gd name="T22" fmla="*/ 26 w 198"/>
                <a:gd name="T23" fmla="*/ 207 h 236"/>
                <a:gd name="T24" fmla="*/ 43 w 198"/>
                <a:gd name="T25" fmla="*/ 220 h 236"/>
                <a:gd name="T26" fmla="*/ 64 w 198"/>
                <a:gd name="T27" fmla="*/ 229 h 236"/>
                <a:gd name="T28" fmla="*/ 88 w 198"/>
                <a:gd name="T29" fmla="*/ 235 h 236"/>
                <a:gd name="T30" fmla="*/ 110 w 198"/>
                <a:gd name="T31" fmla="*/ 236 h 236"/>
                <a:gd name="T32" fmla="*/ 132 w 198"/>
                <a:gd name="T33" fmla="*/ 232 h 236"/>
                <a:gd name="T34" fmla="*/ 137 w 198"/>
                <a:gd name="T35" fmla="*/ 232 h 236"/>
                <a:gd name="T36" fmla="*/ 142 w 198"/>
                <a:gd name="T37" fmla="*/ 230 h 236"/>
                <a:gd name="T38" fmla="*/ 145 w 198"/>
                <a:gd name="T39" fmla="*/ 226 h 236"/>
                <a:gd name="T40" fmla="*/ 146 w 198"/>
                <a:gd name="T41" fmla="*/ 221 h 236"/>
                <a:gd name="T42" fmla="*/ 145 w 198"/>
                <a:gd name="T43" fmla="*/ 219 h 236"/>
                <a:gd name="T44" fmla="*/ 142 w 198"/>
                <a:gd name="T45" fmla="*/ 219 h 236"/>
                <a:gd name="T46" fmla="*/ 137 w 198"/>
                <a:gd name="T47" fmla="*/ 217 h 236"/>
                <a:gd name="T48" fmla="*/ 131 w 198"/>
                <a:gd name="T49" fmla="*/ 217 h 236"/>
                <a:gd name="T50" fmla="*/ 124 w 198"/>
                <a:gd name="T51" fmla="*/ 217 h 236"/>
                <a:gd name="T52" fmla="*/ 118 w 198"/>
                <a:gd name="T53" fmla="*/ 217 h 236"/>
                <a:gd name="T54" fmla="*/ 112 w 198"/>
                <a:gd name="T55" fmla="*/ 217 h 236"/>
                <a:gd name="T56" fmla="*/ 109 w 198"/>
                <a:gd name="T57" fmla="*/ 217 h 236"/>
                <a:gd name="T58" fmla="*/ 97 w 198"/>
                <a:gd name="T59" fmla="*/ 216 h 236"/>
                <a:gd name="T60" fmla="*/ 87 w 198"/>
                <a:gd name="T61" fmla="*/ 215 h 236"/>
                <a:gd name="T62" fmla="*/ 75 w 198"/>
                <a:gd name="T63" fmla="*/ 214 h 236"/>
                <a:gd name="T64" fmla="*/ 63 w 198"/>
                <a:gd name="T65" fmla="*/ 211 h 236"/>
                <a:gd name="T66" fmla="*/ 51 w 198"/>
                <a:gd name="T67" fmla="*/ 207 h 236"/>
                <a:gd name="T68" fmla="*/ 40 w 198"/>
                <a:gd name="T69" fmla="*/ 199 h 236"/>
                <a:gd name="T70" fmla="*/ 29 w 198"/>
                <a:gd name="T71" fmla="*/ 189 h 236"/>
                <a:gd name="T72" fmla="*/ 17 w 198"/>
                <a:gd name="T73" fmla="*/ 174 h 236"/>
                <a:gd name="T74" fmla="*/ 15 w 198"/>
                <a:gd name="T75" fmla="*/ 157 h 236"/>
                <a:gd name="T76" fmla="*/ 16 w 198"/>
                <a:gd name="T77" fmla="*/ 141 h 236"/>
                <a:gd name="T78" fmla="*/ 21 w 198"/>
                <a:gd name="T79" fmla="*/ 124 h 236"/>
                <a:gd name="T80" fmla="*/ 28 w 198"/>
                <a:gd name="T81" fmla="*/ 109 h 236"/>
                <a:gd name="T82" fmla="*/ 39 w 198"/>
                <a:gd name="T83" fmla="*/ 96 h 236"/>
                <a:gd name="T84" fmla="*/ 50 w 198"/>
                <a:gd name="T85" fmla="*/ 82 h 236"/>
                <a:gd name="T86" fmla="*/ 63 w 198"/>
                <a:gd name="T87" fmla="*/ 70 h 236"/>
                <a:gd name="T88" fmla="*/ 78 w 198"/>
                <a:gd name="T89" fmla="*/ 59 h 236"/>
                <a:gd name="T90" fmla="*/ 94 w 198"/>
                <a:gd name="T91" fmla="*/ 49 h 236"/>
                <a:gd name="T92" fmla="*/ 110 w 198"/>
                <a:gd name="T93" fmla="*/ 39 h 236"/>
                <a:gd name="T94" fmla="*/ 126 w 198"/>
                <a:gd name="T95" fmla="*/ 31 h 236"/>
                <a:gd name="T96" fmla="*/ 142 w 198"/>
                <a:gd name="T97" fmla="*/ 24 h 236"/>
                <a:gd name="T98" fmla="*/ 158 w 198"/>
                <a:gd name="T99" fmla="*/ 19 h 236"/>
                <a:gd name="T100" fmla="*/ 172 w 198"/>
                <a:gd name="T101" fmla="*/ 13 h 236"/>
                <a:gd name="T102" fmla="*/ 186 w 198"/>
                <a:gd name="T103" fmla="*/ 10 h 236"/>
                <a:gd name="T104" fmla="*/ 198 w 198"/>
                <a:gd name="T105" fmla="*/ 7 h 236"/>
                <a:gd name="T106" fmla="*/ 190 w 198"/>
                <a:gd name="T107" fmla="*/ 3 h 236"/>
                <a:gd name="T108" fmla="*/ 177 w 198"/>
                <a:gd name="T109" fmla="*/ 0 h 236"/>
                <a:gd name="T110" fmla="*/ 162 w 198"/>
                <a:gd name="T111" fmla="*/ 3 h 236"/>
                <a:gd name="T112" fmla="*/ 144 w 198"/>
                <a:gd name="T113" fmla="*/ 6 h 236"/>
                <a:gd name="T114" fmla="*/ 124 w 198"/>
                <a:gd name="T115" fmla="*/ 12 h 236"/>
                <a:gd name="T116" fmla="*/ 105 w 198"/>
                <a:gd name="T117" fmla="*/ 19 h 236"/>
                <a:gd name="T118" fmla="*/ 88 w 198"/>
                <a:gd name="T119" fmla="*/ 28 h 236"/>
                <a:gd name="T120" fmla="*/ 73 w 198"/>
                <a:gd name="T121" fmla="*/ 3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en-US"/>
            </a:p>
          </p:txBody>
        </p:sp>
        <p:sp>
          <p:nvSpPr>
            <p:cNvPr id="1197" name="Freeform 904"/>
            <p:cNvSpPr/>
            <p:nvPr/>
          </p:nvSpPr>
          <p:spPr bwMode="auto">
            <a:xfrm>
              <a:off x="4386" y="3145"/>
              <a:ext cx="22" cy="30"/>
            </a:xfrm>
            <a:custGeom>
              <a:avLst/>
              <a:gdLst>
                <a:gd name="T0" fmla="*/ 108 w 128"/>
                <a:gd name="T1" fmla="*/ 61 h 183"/>
                <a:gd name="T2" fmla="*/ 111 w 128"/>
                <a:gd name="T3" fmla="*/ 80 h 183"/>
                <a:gd name="T4" fmla="*/ 109 w 128"/>
                <a:gd name="T5" fmla="*/ 97 h 183"/>
                <a:gd name="T6" fmla="*/ 101 w 128"/>
                <a:gd name="T7" fmla="*/ 110 h 183"/>
                <a:gd name="T8" fmla="*/ 89 w 128"/>
                <a:gd name="T9" fmla="*/ 123 h 183"/>
                <a:gd name="T10" fmla="*/ 75 w 128"/>
                <a:gd name="T11" fmla="*/ 134 h 183"/>
                <a:gd name="T12" fmla="*/ 60 w 128"/>
                <a:gd name="T13" fmla="*/ 145 h 183"/>
                <a:gd name="T14" fmla="*/ 43 w 128"/>
                <a:gd name="T15" fmla="*/ 156 h 183"/>
                <a:gd name="T16" fmla="*/ 29 w 128"/>
                <a:gd name="T17" fmla="*/ 167 h 183"/>
                <a:gd name="T18" fmla="*/ 27 w 128"/>
                <a:gd name="T19" fmla="*/ 170 h 183"/>
                <a:gd name="T20" fmla="*/ 26 w 128"/>
                <a:gd name="T21" fmla="*/ 172 h 183"/>
                <a:gd name="T22" fmla="*/ 26 w 128"/>
                <a:gd name="T23" fmla="*/ 176 h 183"/>
                <a:gd name="T24" fmla="*/ 28 w 128"/>
                <a:gd name="T25" fmla="*/ 179 h 183"/>
                <a:gd name="T26" fmla="*/ 30 w 128"/>
                <a:gd name="T27" fmla="*/ 182 h 183"/>
                <a:gd name="T28" fmla="*/ 34 w 128"/>
                <a:gd name="T29" fmla="*/ 183 h 183"/>
                <a:gd name="T30" fmla="*/ 37 w 128"/>
                <a:gd name="T31" fmla="*/ 183 h 183"/>
                <a:gd name="T32" fmla="*/ 41 w 128"/>
                <a:gd name="T33" fmla="*/ 182 h 183"/>
                <a:gd name="T34" fmla="*/ 58 w 128"/>
                <a:gd name="T35" fmla="*/ 171 h 183"/>
                <a:gd name="T36" fmla="*/ 76 w 128"/>
                <a:gd name="T37" fmla="*/ 160 h 183"/>
                <a:gd name="T38" fmla="*/ 92 w 128"/>
                <a:gd name="T39" fmla="*/ 147 h 183"/>
                <a:gd name="T40" fmla="*/ 108 w 128"/>
                <a:gd name="T41" fmla="*/ 132 h 183"/>
                <a:gd name="T42" fmla="*/ 118 w 128"/>
                <a:gd name="T43" fmla="*/ 116 h 183"/>
                <a:gd name="T44" fmla="*/ 125 w 128"/>
                <a:gd name="T45" fmla="*/ 98 h 183"/>
                <a:gd name="T46" fmla="*/ 128 w 128"/>
                <a:gd name="T47" fmla="*/ 78 h 183"/>
                <a:gd name="T48" fmla="*/ 123 w 128"/>
                <a:gd name="T49" fmla="*/ 58 h 183"/>
                <a:gd name="T50" fmla="*/ 112 w 128"/>
                <a:gd name="T51" fmla="*/ 41 h 183"/>
                <a:gd name="T52" fmla="*/ 98 w 128"/>
                <a:gd name="T53" fmla="*/ 28 h 183"/>
                <a:gd name="T54" fmla="*/ 80 w 128"/>
                <a:gd name="T55" fmla="*/ 16 h 183"/>
                <a:gd name="T56" fmla="*/ 61 w 128"/>
                <a:gd name="T57" fmla="*/ 8 h 183"/>
                <a:gd name="T58" fmla="*/ 41 w 128"/>
                <a:gd name="T59" fmla="*/ 2 h 183"/>
                <a:gd name="T60" fmla="*/ 23 w 128"/>
                <a:gd name="T61" fmla="*/ 0 h 183"/>
                <a:gd name="T62" fmla="*/ 9 w 128"/>
                <a:gd name="T63" fmla="*/ 1 h 183"/>
                <a:gd name="T64" fmla="*/ 0 w 128"/>
                <a:gd name="T65" fmla="*/ 6 h 183"/>
                <a:gd name="T66" fmla="*/ 16 w 128"/>
                <a:gd name="T67" fmla="*/ 10 h 183"/>
                <a:gd name="T68" fmla="*/ 33 w 128"/>
                <a:gd name="T69" fmla="*/ 14 h 183"/>
                <a:gd name="T70" fmla="*/ 48 w 128"/>
                <a:gd name="T71" fmla="*/ 17 h 183"/>
                <a:gd name="T72" fmla="*/ 63 w 128"/>
                <a:gd name="T73" fmla="*/ 22 h 183"/>
                <a:gd name="T74" fmla="*/ 77 w 128"/>
                <a:gd name="T75" fmla="*/ 28 h 183"/>
                <a:gd name="T76" fmla="*/ 90 w 128"/>
                <a:gd name="T77" fmla="*/ 36 h 183"/>
                <a:gd name="T78" fmla="*/ 101 w 128"/>
                <a:gd name="T79" fmla="*/ 46 h 183"/>
                <a:gd name="T80" fmla="*/ 108 w 128"/>
                <a:gd name="T81" fmla="*/ 61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en-US"/>
            </a:p>
          </p:txBody>
        </p:sp>
        <p:sp>
          <p:nvSpPr>
            <p:cNvPr id="1198" name="Freeform 905"/>
            <p:cNvSpPr/>
            <p:nvPr/>
          </p:nvSpPr>
          <p:spPr bwMode="auto">
            <a:xfrm>
              <a:off x="4309" y="3138"/>
              <a:ext cx="53" cy="63"/>
            </a:xfrm>
            <a:custGeom>
              <a:avLst/>
              <a:gdLst>
                <a:gd name="T0" fmla="*/ 101 w 323"/>
                <a:gd name="T1" fmla="*/ 70 h 379"/>
                <a:gd name="T2" fmla="*/ 54 w 323"/>
                <a:gd name="T3" fmla="*/ 115 h 379"/>
                <a:gd name="T4" fmla="*/ 18 w 323"/>
                <a:gd name="T5" fmla="*/ 167 h 379"/>
                <a:gd name="T6" fmla="*/ 0 w 323"/>
                <a:gd name="T7" fmla="*/ 227 h 379"/>
                <a:gd name="T8" fmla="*/ 4 w 323"/>
                <a:gd name="T9" fmla="*/ 267 h 379"/>
                <a:gd name="T10" fmla="*/ 11 w 323"/>
                <a:gd name="T11" fmla="*/ 283 h 379"/>
                <a:gd name="T12" fmla="*/ 21 w 323"/>
                <a:gd name="T13" fmla="*/ 298 h 379"/>
                <a:gd name="T14" fmla="*/ 34 w 323"/>
                <a:gd name="T15" fmla="*/ 311 h 379"/>
                <a:gd name="T16" fmla="*/ 57 w 323"/>
                <a:gd name="T17" fmla="*/ 325 h 379"/>
                <a:gd name="T18" fmla="*/ 87 w 323"/>
                <a:gd name="T19" fmla="*/ 340 h 379"/>
                <a:gd name="T20" fmla="*/ 120 w 323"/>
                <a:gd name="T21" fmla="*/ 351 h 379"/>
                <a:gd name="T22" fmla="*/ 153 w 323"/>
                <a:gd name="T23" fmla="*/ 360 h 379"/>
                <a:gd name="T24" fmla="*/ 187 w 323"/>
                <a:gd name="T25" fmla="*/ 367 h 379"/>
                <a:gd name="T26" fmla="*/ 221 w 323"/>
                <a:gd name="T27" fmla="*/ 372 h 379"/>
                <a:gd name="T28" fmla="*/ 256 w 323"/>
                <a:gd name="T29" fmla="*/ 375 h 379"/>
                <a:gd name="T30" fmla="*/ 290 w 323"/>
                <a:gd name="T31" fmla="*/ 378 h 379"/>
                <a:gd name="T32" fmla="*/ 312 w 323"/>
                <a:gd name="T33" fmla="*/ 379 h 379"/>
                <a:gd name="T34" fmla="*/ 320 w 323"/>
                <a:gd name="T35" fmla="*/ 372 h 379"/>
                <a:gd name="T36" fmla="*/ 323 w 323"/>
                <a:gd name="T37" fmla="*/ 360 h 379"/>
                <a:gd name="T38" fmla="*/ 316 w 323"/>
                <a:gd name="T39" fmla="*/ 352 h 379"/>
                <a:gd name="T40" fmla="*/ 295 w 323"/>
                <a:gd name="T41" fmla="*/ 351 h 379"/>
                <a:gd name="T42" fmla="*/ 263 w 323"/>
                <a:gd name="T43" fmla="*/ 350 h 379"/>
                <a:gd name="T44" fmla="*/ 231 w 323"/>
                <a:gd name="T45" fmla="*/ 348 h 379"/>
                <a:gd name="T46" fmla="*/ 200 w 323"/>
                <a:gd name="T47" fmla="*/ 343 h 379"/>
                <a:gd name="T48" fmla="*/ 168 w 323"/>
                <a:gd name="T49" fmla="*/ 337 h 379"/>
                <a:gd name="T50" fmla="*/ 136 w 323"/>
                <a:gd name="T51" fmla="*/ 329 h 379"/>
                <a:gd name="T52" fmla="*/ 106 w 323"/>
                <a:gd name="T53" fmla="*/ 320 h 379"/>
                <a:gd name="T54" fmla="*/ 76 w 323"/>
                <a:gd name="T55" fmla="*/ 306 h 379"/>
                <a:gd name="T56" fmla="*/ 51 w 323"/>
                <a:gd name="T57" fmla="*/ 291 h 379"/>
                <a:gd name="T58" fmla="*/ 35 w 323"/>
                <a:gd name="T59" fmla="*/ 269 h 379"/>
                <a:gd name="T60" fmla="*/ 31 w 323"/>
                <a:gd name="T61" fmla="*/ 239 h 379"/>
                <a:gd name="T62" fmla="*/ 38 w 323"/>
                <a:gd name="T63" fmla="*/ 197 h 379"/>
                <a:gd name="T64" fmla="*/ 51 w 323"/>
                <a:gd name="T65" fmla="*/ 165 h 379"/>
                <a:gd name="T66" fmla="*/ 68 w 323"/>
                <a:gd name="T67" fmla="*/ 136 h 379"/>
                <a:gd name="T68" fmla="*/ 89 w 323"/>
                <a:gd name="T69" fmla="*/ 111 h 379"/>
                <a:gd name="T70" fmla="*/ 114 w 323"/>
                <a:gd name="T71" fmla="*/ 88 h 379"/>
                <a:gd name="T72" fmla="*/ 144 w 323"/>
                <a:gd name="T73" fmla="*/ 64 h 379"/>
                <a:gd name="T74" fmla="*/ 181 w 323"/>
                <a:gd name="T75" fmla="*/ 41 h 379"/>
                <a:gd name="T76" fmla="*/ 219 w 323"/>
                <a:gd name="T77" fmla="*/ 22 h 379"/>
                <a:gd name="T78" fmla="*/ 253 w 323"/>
                <a:gd name="T79" fmla="*/ 7 h 379"/>
                <a:gd name="T80" fmla="*/ 255 w 323"/>
                <a:gd name="T81" fmla="*/ 0 h 379"/>
                <a:gd name="T82" fmla="*/ 221 w 323"/>
                <a:gd name="T83" fmla="*/ 5 h 379"/>
                <a:gd name="T84" fmla="*/ 181 w 323"/>
                <a:gd name="T85" fmla="*/ 19 h 379"/>
                <a:gd name="T86" fmla="*/ 142 w 323"/>
                <a:gd name="T87" fmla="*/ 39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en-US"/>
            </a:p>
          </p:txBody>
        </p:sp>
        <p:sp>
          <p:nvSpPr>
            <p:cNvPr id="1199" name="Freeform 906"/>
            <p:cNvSpPr/>
            <p:nvPr/>
          </p:nvSpPr>
          <p:spPr bwMode="auto">
            <a:xfrm>
              <a:off x="4384" y="3136"/>
              <a:ext cx="47" cy="42"/>
            </a:xfrm>
            <a:custGeom>
              <a:avLst/>
              <a:gdLst>
                <a:gd name="T0" fmla="*/ 235 w 282"/>
                <a:gd name="T1" fmla="*/ 78 h 253"/>
                <a:gd name="T2" fmla="*/ 248 w 282"/>
                <a:gd name="T3" fmla="*/ 92 h 253"/>
                <a:gd name="T4" fmla="*/ 255 w 282"/>
                <a:gd name="T5" fmla="*/ 108 h 253"/>
                <a:gd name="T6" fmla="*/ 259 w 282"/>
                <a:gd name="T7" fmla="*/ 125 h 253"/>
                <a:gd name="T8" fmla="*/ 259 w 282"/>
                <a:gd name="T9" fmla="*/ 144 h 253"/>
                <a:gd name="T10" fmla="*/ 257 w 282"/>
                <a:gd name="T11" fmla="*/ 159 h 253"/>
                <a:gd name="T12" fmla="*/ 252 w 282"/>
                <a:gd name="T13" fmla="*/ 171 h 253"/>
                <a:gd name="T14" fmla="*/ 244 w 282"/>
                <a:gd name="T15" fmla="*/ 184 h 253"/>
                <a:gd name="T16" fmla="*/ 236 w 282"/>
                <a:gd name="T17" fmla="*/ 194 h 253"/>
                <a:gd name="T18" fmla="*/ 225 w 282"/>
                <a:gd name="T19" fmla="*/ 206 h 253"/>
                <a:gd name="T20" fmla="*/ 215 w 282"/>
                <a:gd name="T21" fmla="*/ 215 h 253"/>
                <a:gd name="T22" fmla="*/ 204 w 282"/>
                <a:gd name="T23" fmla="*/ 225 h 253"/>
                <a:gd name="T24" fmla="*/ 194 w 282"/>
                <a:gd name="T25" fmla="*/ 236 h 253"/>
                <a:gd name="T26" fmla="*/ 191 w 282"/>
                <a:gd name="T27" fmla="*/ 239 h 253"/>
                <a:gd name="T28" fmla="*/ 190 w 282"/>
                <a:gd name="T29" fmla="*/ 242 h 253"/>
                <a:gd name="T30" fmla="*/ 191 w 282"/>
                <a:gd name="T31" fmla="*/ 246 h 253"/>
                <a:gd name="T32" fmla="*/ 194 w 282"/>
                <a:gd name="T33" fmla="*/ 249 h 253"/>
                <a:gd name="T34" fmla="*/ 197 w 282"/>
                <a:gd name="T35" fmla="*/ 252 h 253"/>
                <a:gd name="T36" fmla="*/ 201 w 282"/>
                <a:gd name="T37" fmla="*/ 253 h 253"/>
                <a:gd name="T38" fmla="*/ 205 w 282"/>
                <a:gd name="T39" fmla="*/ 252 h 253"/>
                <a:gd name="T40" fmla="*/ 209 w 282"/>
                <a:gd name="T41" fmla="*/ 249 h 253"/>
                <a:gd name="T42" fmla="*/ 232 w 282"/>
                <a:gd name="T43" fmla="*/ 234 h 253"/>
                <a:gd name="T44" fmla="*/ 251 w 282"/>
                <a:gd name="T45" fmla="*/ 215 h 253"/>
                <a:gd name="T46" fmla="*/ 267 w 282"/>
                <a:gd name="T47" fmla="*/ 192 h 253"/>
                <a:gd name="T48" fmla="*/ 278 w 282"/>
                <a:gd name="T49" fmla="*/ 168 h 253"/>
                <a:gd name="T50" fmla="*/ 282 w 282"/>
                <a:gd name="T51" fmla="*/ 141 h 253"/>
                <a:gd name="T52" fmla="*/ 279 w 282"/>
                <a:gd name="T53" fmla="*/ 116 h 253"/>
                <a:gd name="T54" fmla="*/ 270 w 282"/>
                <a:gd name="T55" fmla="*/ 92 h 253"/>
                <a:gd name="T56" fmla="*/ 251 w 282"/>
                <a:gd name="T57" fmla="*/ 70 h 253"/>
                <a:gd name="T58" fmla="*/ 237 w 282"/>
                <a:gd name="T59" fmla="*/ 59 h 253"/>
                <a:gd name="T60" fmla="*/ 221 w 282"/>
                <a:gd name="T61" fmla="*/ 48 h 253"/>
                <a:gd name="T62" fmla="*/ 202 w 282"/>
                <a:gd name="T63" fmla="*/ 39 h 253"/>
                <a:gd name="T64" fmla="*/ 183 w 282"/>
                <a:gd name="T65" fmla="*/ 31 h 253"/>
                <a:gd name="T66" fmla="*/ 163 w 282"/>
                <a:gd name="T67" fmla="*/ 24 h 253"/>
                <a:gd name="T68" fmla="*/ 142 w 282"/>
                <a:gd name="T69" fmla="*/ 18 h 253"/>
                <a:gd name="T70" fmla="*/ 122 w 282"/>
                <a:gd name="T71" fmla="*/ 13 h 253"/>
                <a:gd name="T72" fmla="*/ 101 w 282"/>
                <a:gd name="T73" fmla="*/ 8 h 253"/>
                <a:gd name="T74" fmla="*/ 82 w 282"/>
                <a:gd name="T75" fmla="*/ 5 h 253"/>
                <a:gd name="T76" fmla="*/ 63 w 282"/>
                <a:gd name="T77" fmla="*/ 2 h 253"/>
                <a:gd name="T78" fmla="*/ 47 w 282"/>
                <a:gd name="T79" fmla="*/ 0 h 253"/>
                <a:gd name="T80" fmla="*/ 32 w 282"/>
                <a:gd name="T81" fmla="*/ 0 h 253"/>
                <a:gd name="T82" fmla="*/ 19 w 282"/>
                <a:gd name="T83" fmla="*/ 0 h 253"/>
                <a:gd name="T84" fmla="*/ 10 w 282"/>
                <a:gd name="T85" fmla="*/ 1 h 253"/>
                <a:gd name="T86" fmla="*/ 4 w 282"/>
                <a:gd name="T87" fmla="*/ 4 h 253"/>
                <a:gd name="T88" fmla="*/ 0 w 282"/>
                <a:gd name="T89" fmla="*/ 6 h 253"/>
                <a:gd name="T90" fmla="*/ 12 w 282"/>
                <a:gd name="T91" fmla="*/ 8 h 253"/>
                <a:gd name="T92" fmla="*/ 25 w 282"/>
                <a:gd name="T93" fmla="*/ 9 h 253"/>
                <a:gd name="T94" fmla="*/ 38 w 282"/>
                <a:gd name="T95" fmla="*/ 12 h 253"/>
                <a:gd name="T96" fmla="*/ 52 w 282"/>
                <a:gd name="T97" fmla="*/ 14 h 253"/>
                <a:gd name="T98" fmla="*/ 67 w 282"/>
                <a:gd name="T99" fmla="*/ 16 h 253"/>
                <a:gd name="T100" fmla="*/ 82 w 282"/>
                <a:gd name="T101" fmla="*/ 18 h 253"/>
                <a:gd name="T102" fmla="*/ 97 w 282"/>
                <a:gd name="T103" fmla="*/ 22 h 253"/>
                <a:gd name="T104" fmla="*/ 114 w 282"/>
                <a:gd name="T105" fmla="*/ 25 h 253"/>
                <a:gd name="T106" fmla="*/ 129 w 282"/>
                <a:gd name="T107" fmla="*/ 30 h 253"/>
                <a:gd name="T108" fmla="*/ 146 w 282"/>
                <a:gd name="T109" fmla="*/ 35 h 253"/>
                <a:gd name="T110" fmla="*/ 162 w 282"/>
                <a:gd name="T111" fmla="*/ 40 h 253"/>
                <a:gd name="T112" fmla="*/ 177 w 282"/>
                <a:gd name="T113" fmla="*/ 46 h 253"/>
                <a:gd name="T114" fmla="*/ 192 w 282"/>
                <a:gd name="T115" fmla="*/ 53 h 253"/>
                <a:gd name="T116" fmla="*/ 208 w 282"/>
                <a:gd name="T117" fmla="*/ 60 h 253"/>
                <a:gd name="T118" fmla="*/ 222 w 282"/>
                <a:gd name="T119" fmla="*/ 69 h 253"/>
                <a:gd name="T120" fmla="*/ 235 w 282"/>
                <a:gd name="T121" fmla="*/ 7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en-US"/>
            </a:p>
          </p:txBody>
        </p:sp>
        <p:sp>
          <p:nvSpPr>
            <p:cNvPr id="1200" name="Freeform 907"/>
            <p:cNvSpPr/>
            <p:nvPr/>
          </p:nvSpPr>
          <p:spPr bwMode="auto">
            <a:xfrm>
              <a:off x="4290" y="3159"/>
              <a:ext cx="19" cy="39"/>
            </a:xfrm>
            <a:custGeom>
              <a:avLst/>
              <a:gdLst>
                <a:gd name="T0" fmla="*/ 0 w 115"/>
                <a:gd name="T1" fmla="*/ 128 h 236"/>
                <a:gd name="T2" fmla="*/ 0 w 115"/>
                <a:gd name="T3" fmla="*/ 148 h 236"/>
                <a:gd name="T4" fmla="*/ 5 w 115"/>
                <a:gd name="T5" fmla="*/ 166 h 236"/>
                <a:gd name="T6" fmla="*/ 13 w 115"/>
                <a:gd name="T7" fmla="*/ 184 h 236"/>
                <a:gd name="T8" fmla="*/ 24 w 115"/>
                <a:gd name="T9" fmla="*/ 198 h 236"/>
                <a:gd name="T10" fmla="*/ 39 w 115"/>
                <a:gd name="T11" fmla="*/ 211 h 236"/>
                <a:gd name="T12" fmla="*/ 55 w 115"/>
                <a:gd name="T13" fmla="*/ 223 h 236"/>
                <a:gd name="T14" fmla="*/ 74 w 115"/>
                <a:gd name="T15" fmla="*/ 231 h 236"/>
                <a:gd name="T16" fmla="*/ 92 w 115"/>
                <a:gd name="T17" fmla="*/ 235 h 236"/>
                <a:gd name="T18" fmla="*/ 98 w 115"/>
                <a:gd name="T19" fmla="*/ 236 h 236"/>
                <a:gd name="T20" fmla="*/ 104 w 115"/>
                <a:gd name="T21" fmla="*/ 234 h 236"/>
                <a:gd name="T22" fmla="*/ 109 w 115"/>
                <a:gd name="T23" fmla="*/ 231 h 236"/>
                <a:gd name="T24" fmla="*/ 111 w 115"/>
                <a:gd name="T25" fmla="*/ 226 h 236"/>
                <a:gd name="T26" fmla="*/ 111 w 115"/>
                <a:gd name="T27" fmla="*/ 220 h 236"/>
                <a:gd name="T28" fmla="*/ 110 w 115"/>
                <a:gd name="T29" fmla="*/ 215 h 236"/>
                <a:gd name="T30" fmla="*/ 107 w 115"/>
                <a:gd name="T31" fmla="*/ 210 h 236"/>
                <a:gd name="T32" fmla="*/ 101 w 115"/>
                <a:gd name="T33" fmla="*/ 208 h 236"/>
                <a:gd name="T34" fmla="*/ 82 w 115"/>
                <a:gd name="T35" fmla="*/ 201 h 236"/>
                <a:gd name="T36" fmla="*/ 64 w 115"/>
                <a:gd name="T37" fmla="*/ 192 h 236"/>
                <a:gd name="T38" fmla="*/ 50 w 115"/>
                <a:gd name="T39" fmla="*/ 179 h 236"/>
                <a:gd name="T40" fmla="*/ 40 w 115"/>
                <a:gd name="T41" fmla="*/ 165 h 236"/>
                <a:gd name="T42" fmla="*/ 33 w 115"/>
                <a:gd name="T43" fmla="*/ 148 h 236"/>
                <a:gd name="T44" fmla="*/ 29 w 115"/>
                <a:gd name="T45" fmla="*/ 130 h 236"/>
                <a:gd name="T46" fmla="*/ 29 w 115"/>
                <a:gd name="T47" fmla="*/ 110 h 236"/>
                <a:gd name="T48" fmla="*/ 35 w 115"/>
                <a:gd name="T49" fmla="*/ 89 h 236"/>
                <a:gd name="T50" fmla="*/ 43 w 115"/>
                <a:gd name="T51" fmla="*/ 74 h 236"/>
                <a:gd name="T52" fmla="*/ 56 w 115"/>
                <a:gd name="T53" fmla="*/ 60 h 236"/>
                <a:gd name="T54" fmla="*/ 70 w 115"/>
                <a:gd name="T55" fmla="*/ 46 h 236"/>
                <a:gd name="T56" fmla="*/ 85 w 115"/>
                <a:gd name="T57" fmla="*/ 33 h 236"/>
                <a:gd name="T58" fmla="*/ 98 w 115"/>
                <a:gd name="T59" fmla="*/ 23 h 236"/>
                <a:gd name="T60" fmla="*/ 109 w 115"/>
                <a:gd name="T61" fmla="*/ 12 h 236"/>
                <a:gd name="T62" fmla="*/ 115 w 115"/>
                <a:gd name="T63" fmla="*/ 6 h 236"/>
                <a:gd name="T64" fmla="*/ 115 w 115"/>
                <a:gd name="T65" fmla="*/ 0 h 236"/>
                <a:gd name="T66" fmla="*/ 102 w 115"/>
                <a:gd name="T67" fmla="*/ 4 h 236"/>
                <a:gd name="T68" fmla="*/ 85 w 115"/>
                <a:gd name="T69" fmla="*/ 12 h 236"/>
                <a:gd name="T70" fmla="*/ 68 w 115"/>
                <a:gd name="T71" fmla="*/ 26 h 236"/>
                <a:gd name="T72" fmla="*/ 49 w 115"/>
                <a:gd name="T73" fmla="*/ 42 h 236"/>
                <a:gd name="T74" fmla="*/ 32 w 115"/>
                <a:gd name="T75" fmla="*/ 61 h 236"/>
                <a:gd name="T76" fmla="*/ 17 w 115"/>
                <a:gd name="T77" fmla="*/ 82 h 236"/>
                <a:gd name="T78" fmla="*/ 6 w 115"/>
                <a:gd name="T79" fmla="*/ 105 h 236"/>
                <a:gd name="T80" fmla="*/ 0 w 115"/>
                <a:gd name="T81" fmla="*/ 128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en-US"/>
            </a:p>
          </p:txBody>
        </p:sp>
        <p:sp>
          <p:nvSpPr>
            <p:cNvPr id="1201" name="Freeform 908"/>
            <p:cNvSpPr/>
            <p:nvPr/>
          </p:nvSpPr>
          <p:spPr bwMode="auto">
            <a:xfrm>
              <a:off x="4423" y="3133"/>
              <a:ext cx="41" cy="52"/>
            </a:xfrm>
            <a:custGeom>
              <a:avLst/>
              <a:gdLst>
                <a:gd name="T0" fmla="*/ 208 w 245"/>
                <a:gd name="T1" fmla="*/ 124 h 310"/>
                <a:gd name="T2" fmla="*/ 220 w 245"/>
                <a:gd name="T3" fmla="*/ 144 h 310"/>
                <a:gd name="T4" fmla="*/ 226 w 245"/>
                <a:gd name="T5" fmla="*/ 164 h 310"/>
                <a:gd name="T6" fmla="*/ 222 w 245"/>
                <a:gd name="T7" fmla="*/ 187 h 310"/>
                <a:gd name="T8" fmla="*/ 208 w 245"/>
                <a:gd name="T9" fmla="*/ 209 h 310"/>
                <a:gd name="T10" fmla="*/ 188 w 245"/>
                <a:gd name="T11" fmla="*/ 229 h 310"/>
                <a:gd name="T12" fmla="*/ 166 w 245"/>
                <a:gd name="T13" fmla="*/ 246 h 310"/>
                <a:gd name="T14" fmla="*/ 142 w 245"/>
                <a:gd name="T15" fmla="*/ 264 h 310"/>
                <a:gd name="T16" fmla="*/ 128 w 245"/>
                <a:gd name="T17" fmla="*/ 278 h 310"/>
                <a:gd name="T18" fmla="*/ 124 w 245"/>
                <a:gd name="T19" fmla="*/ 287 h 310"/>
                <a:gd name="T20" fmla="*/ 120 w 245"/>
                <a:gd name="T21" fmla="*/ 296 h 310"/>
                <a:gd name="T22" fmla="*/ 122 w 245"/>
                <a:gd name="T23" fmla="*/ 306 h 310"/>
                <a:gd name="T24" fmla="*/ 131 w 245"/>
                <a:gd name="T25" fmla="*/ 310 h 310"/>
                <a:gd name="T26" fmla="*/ 139 w 245"/>
                <a:gd name="T27" fmla="*/ 309 h 310"/>
                <a:gd name="T28" fmla="*/ 154 w 245"/>
                <a:gd name="T29" fmla="*/ 292 h 310"/>
                <a:gd name="T30" fmla="*/ 180 w 245"/>
                <a:gd name="T31" fmla="*/ 269 h 310"/>
                <a:gd name="T32" fmla="*/ 207 w 245"/>
                <a:gd name="T33" fmla="*/ 246 h 310"/>
                <a:gd name="T34" fmla="*/ 230 w 245"/>
                <a:gd name="T35" fmla="*/ 219 h 310"/>
                <a:gd name="T36" fmla="*/ 244 w 245"/>
                <a:gd name="T37" fmla="*/ 186 h 310"/>
                <a:gd name="T38" fmla="*/ 243 w 245"/>
                <a:gd name="T39" fmla="*/ 152 h 310"/>
                <a:gd name="T40" fmla="*/ 228 w 245"/>
                <a:gd name="T41" fmla="*/ 119 h 310"/>
                <a:gd name="T42" fmla="*/ 203 w 245"/>
                <a:gd name="T43" fmla="*/ 93 h 310"/>
                <a:gd name="T44" fmla="*/ 176 w 245"/>
                <a:gd name="T45" fmla="*/ 76 h 310"/>
                <a:gd name="T46" fmla="*/ 151 w 245"/>
                <a:gd name="T47" fmla="*/ 61 h 310"/>
                <a:gd name="T48" fmla="*/ 122 w 245"/>
                <a:gd name="T49" fmla="*/ 46 h 310"/>
                <a:gd name="T50" fmla="*/ 93 w 245"/>
                <a:gd name="T51" fmla="*/ 31 h 310"/>
                <a:gd name="T52" fmla="*/ 66 w 245"/>
                <a:gd name="T53" fmla="*/ 18 h 310"/>
                <a:gd name="T54" fmla="*/ 40 w 245"/>
                <a:gd name="T55" fmla="*/ 8 h 310"/>
                <a:gd name="T56" fmla="*/ 20 w 245"/>
                <a:gd name="T57" fmla="*/ 1 h 310"/>
                <a:gd name="T58" fmla="*/ 5 w 245"/>
                <a:gd name="T59" fmla="*/ 0 h 310"/>
                <a:gd name="T60" fmla="*/ 11 w 245"/>
                <a:gd name="T61" fmla="*/ 8 h 310"/>
                <a:gd name="T62" fmla="*/ 36 w 245"/>
                <a:gd name="T63" fmla="*/ 20 h 310"/>
                <a:gd name="T64" fmla="*/ 60 w 245"/>
                <a:gd name="T65" fmla="*/ 31 h 310"/>
                <a:gd name="T66" fmla="*/ 86 w 245"/>
                <a:gd name="T67" fmla="*/ 44 h 310"/>
                <a:gd name="T68" fmla="*/ 113 w 245"/>
                <a:gd name="T69" fmla="*/ 57 h 310"/>
                <a:gd name="T70" fmla="*/ 139 w 245"/>
                <a:gd name="T71" fmla="*/ 71 h 310"/>
                <a:gd name="T72" fmla="*/ 165 w 245"/>
                <a:gd name="T73" fmla="*/ 88 h 310"/>
                <a:gd name="T74" fmla="*/ 188 w 245"/>
                <a:gd name="T75" fmla="*/ 106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en-US"/>
            </a:p>
          </p:txBody>
        </p:sp>
        <p:sp>
          <p:nvSpPr>
            <p:cNvPr id="1202" name="Freeform 909"/>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ln>
          </p:spPr>
          <p:txBody>
            <a:bodyPr/>
            <a:lstStyle/>
            <a:p>
              <a:endParaRPr lang="en-US"/>
            </a:p>
          </p:txBody>
        </p:sp>
      </p:grpSp>
      <p:sp>
        <p:nvSpPr>
          <p:cNvPr id="35727" name="Line 911"/>
          <p:cNvSpPr>
            <a:spLocks noChangeShapeType="1"/>
          </p:cNvSpPr>
          <p:nvPr/>
        </p:nvSpPr>
        <p:spPr bwMode="auto">
          <a:xfrm>
            <a:off x="7491413" y="1111250"/>
            <a:ext cx="893762" cy="3128963"/>
          </a:xfrm>
          <a:prstGeom prst="line">
            <a:avLst/>
          </a:prstGeom>
          <a:noFill/>
          <a:ln w="76200">
            <a:solidFill>
              <a:srgbClr val="FF3300"/>
            </a:solidFill>
            <a:round/>
            <a:headEnd type="triangle" w="med" len="med"/>
            <a:tailEnd type="triangle" w="med" len="med"/>
          </a:ln>
        </p:spPr>
        <p:txBody>
          <a:bodyPr/>
          <a:lstStyle/>
          <a:p>
            <a:endParaRPr lang="en-US"/>
          </a:p>
        </p:txBody>
      </p:sp>
      <p:sp>
        <p:nvSpPr>
          <p:cNvPr id="35729" name="Line 913"/>
          <p:cNvSpPr>
            <a:spLocks noChangeShapeType="1"/>
          </p:cNvSpPr>
          <p:nvPr/>
        </p:nvSpPr>
        <p:spPr bwMode="auto">
          <a:xfrm>
            <a:off x="6938963" y="3786188"/>
            <a:ext cx="958850" cy="508000"/>
          </a:xfrm>
          <a:prstGeom prst="line">
            <a:avLst/>
          </a:prstGeom>
          <a:noFill/>
          <a:ln w="76200">
            <a:solidFill>
              <a:srgbClr val="FF3300"/>
            </a:solidFill>
            <a:round/>
            <a:headEnd type="triangle" w="med" len="med"/>
            <a:tailEnd type="triangle" w="med" len="med"/>
          </a:ln>
        </p:spPr>
        <p:txBody>
          <a:bodyPr/>
          <a:lstStyle/>
          <a:p>
            <a:endParaRPr lang="en-US"/>
          </a:p>
        </p:txBody>
      </p:sp>
      <p:sp>
        <p:nvSpPr>
          <p:cNvPr id="1153" name="Rectangle 2"/>
          <p:cNvSpPr>
            <a:spLocks noGrp="1" noChangeArrowheads="1"/>
          </p:cNvSpPr>
          <p:nvPr>
            <p:ph type="title"/>
          </p:nvPr>
        </p:nvSpPr>
        <p:spPr>
          <a:xfrm>
            <a:off x="304800" y="228600"/>
            <a:ext cx="8382000" cy="1143000"/>
          </a:xfrm>
        </p:spPr>
        <p:txBody>
          <a:bodyPr/>
          <a:lstStyle/>
          <a:p>
            <a:r>
              <a:rPr lang="en-US" sz="3600"/>
              <a:t>Creating a network app</a:t>
            </a:r>
            <a:endParaRPr lang="en-US" sz="3600"/>
          </a:p>
        </p:txBody>
      </p:sp>
      <p:sp>
        <p:nvSpPr>
          <p:cNvPr id="1154" name="Rectangle 3"/>
          <p:cNvSpPr>
            <a:spLocks noGrp="1" noChangeArrowheads="1"/>
          </p:cNvSpPr>
          <p:nvPr>
            <p:ph type="body" sz="half" idx="1"/>
          </p:nvPr>
        </p:nvSpPr>
        <p:spPr>
          <a:xfrm>
            <a:off x="438150" y="1400175"/>
            <a:ext cx="4191000" cy="5114925"/>
          </a:xfrm>
        </p:spPr>
        <p:txBody>
          <a:bodyPr/>
          <a:lstStyle/>
          <a:p>
            <a:pPr>
              <a:buFont typeface="ZapfDingbats" pitchFamily="82" charset="2"/>
              <a:buNone/>
            </a:pPr>
            <a:r>
              <a:rPr lang="en-US" sz="2400">
                <a:solidFill>
                  <a:srgbClr val="FF0000"/>
                </a:solidFill>
              </a:rPr>
              <a:t>write programs that</a:t>
            </a:r>
            <a:endParaRPr lang="en-US" sz="2400">
              <a:solidFill>
                <a:srgbClr val="FF0000"/>
              </a:solidFill>
            </a:endParaRPr>
          </a:p>
          <a:p>
            <a:pPr lvl="1"/>
            <a:r>
              <a:rPr lang="en-US" sz="2000"/>
              <a:t>run on (different) </a:t>
            </a:r>
            <a:r>
              <a:rPr lang="en-US" sz="2000" i="1"/>
              <a:t>end systems</a:t>
            </a:r>
            <a:endParaRPr lang="en-US" sz="2000" i="1"/>
          </a:p>
          <a:p>
            <a:pPr lvl="1"/>
            <a:r>
              <a:rPr lang="en-US" sz="2000"/>
              <a:t>communicate over network</a:t>
            </a:r>
            <a:endParaRPr lang="en-US" sz="2000"/>
          </a:p>
          <a:p>
            <a:pPr lvl="1"/>
            <a:r>
              <a:rPr lang="en-US" sz="2000"/>
              <a:t>e.g., web server software communicates with browser software</a:t>
            </a:r>
            <a:endParaRPr lang="en-US" sz="2000"/>
          </a:p>
          <a:p>
            <a:pPr>
              <a:buFont typeface="ZapfDingbats" pitchFamily="82" charset="2"/>
              <a:buNone/>
            </a:pPr>
            <a:r>
              <a:rPr lang="en-US" sz="2400">
                <a:solidFill>
                  <a:srgbClr val="FF0000"/>
                </a:solidFill>
              </a:rPr>
              <a:t>No need to write software for network-core devices</a:t>
            </a:r>
            <a:endParaRPr lang="en-US" sz="2400">
              <a:solidFill>
                <a:srgbClr val="FF0000"/>
              </a:solidFill>
            </a:endParaRPr>
          </a:p>
          <a:p>
            <a:pPr lvl="1"/>
            <a:r>
              <a:rPr lang="en-US" sz="2000"/>
              <a:t>Network-core devices do not run user applications </a:t>
            </a:r>
            <a:endParaRPr lang="en-US" sz="2000"/>
          </a:p>
          <a:p>
            <a:pPr lvl="1"/>
            <a:r>
              <a:rPr lang="en-US" sz="2000"/>
              <a:t>applications on end systems  allows for rapid app development, propagation</a:t>
            </a:r>
            <a:endParaRPr lang="en-US" sz="2000">
              <a:solidFill>
                <a:srgbClr val="FF0000"/>
              </a:solidFill>
            </a:endParaRPr>
          </a:p>
        </p:txBody>
      </p:sp>
      <p:grpSp>
        <p:nvGrpSpPr>
          <p:cNvPr id="35378" name="Group 918"/>
          <p:cNvGrpSpPr/>
          <p:nvPr/>
        </p:nvGrpSpPr>
        <p:grpSpPr bwMode="auto">
          <a:xfrm>
            <a:off x="6470650" y="822325"/>
            <a:ext cx="1063625" cy="965200"/>
            <a:chOff x="4076" y="518"/>
            <a:chExt cx="670" cy="608"/>
          </a:xfrm>
        </p:grpSpPr>
        <p:grpSp>
          <p:nvGrpSpPr>
            <p:cNvPr id="2" name="Group 226"/>
            <p:cNvGrpSpPr/>
            <p:nvPr/>
          </p:nvGrpSpPr>
          <p:grpSpPr bwMode="auto">
            <a:xfrm>
              <a:off x="4233" y="518"/>
              <a:ext cx="513" cy="541"/>
              <a:chOff x="2938" y="2925"/>
              <a:chExt cx="513" cy="541"/>
            </a:xfrm>
          </p:grpSpPr>
          <p:sp>
            <p:nvSpPr>
              <p:cNvPr id="3" name="Rectangle 227"/>
              <p:cNvSpPr>
                <a:spLocks noChangeArrowheads="1"/>
              </p:cNvSpPr>
              <p:nvPr/>
            </p:nvSpPr>
            <p:spPr bwMode="auto">
              <a:xfrm>
                <a:off x="3000" y="2925"/>
                <a:ext cx="426" cy="489"/>
              </a:xfrm>
              <a:prstGeom prst="rect">
                <a:avLst/>
              </a:prstGeom>
              <a:solidFill>
                <a:schemeClr val="accent2"/>
              </a:solidFill>
              <a:ln w="9525">
                <a:noFill/>
                <a:miter lim="800000"/>
              </a:ln>
            </p:spPr>
            <p:txBody>
              <a:bodyPr wrap="none" anchor="ctr"/>
              <a:lstStyle/>
              <a:p>
                <a:endParaRPr lang="en-US"/>
              </a:p>
            </p:txBody>
          </p:sp>
          <p:sp>
            <p:nvSpPr>
              <p:cNvPr id="4" name="Rectangle 228"/>
              <p:cNvSpPr>
                <a:spLocks noChangeArrowheads="1"/>
              </p:cNvSpPr>
              <p:nvPr/>
            </p:nvSpPr>
            <p:spPr bwMode="auto">
              <a:xfrm>
                <a:off x="2979" y="2940"/>
                <a:ext cx="435" cy="504"/>
              </a:xfrm>
              <a:prstGeom prst="rect">
                <a:avLst/>
              </a:prstGeom>
              <a:solidFill>
                <a:schemeClr val="bg1"/>
              </a:solidFill>
              <a:ln w="12700">
                <a:solidFill>
                  <a:schemeClr val="tx1"/>
                </a:solidFill>
                <a:miter lim="800000"/>
              </a:ln>
            </p:spPr>
            <p:txBody>
              <a:bodyPr wrap="none" anchor="ctr"/>
              <a:lstStyle/>
              <a:p>
                <a:endParaRPr lang="en-US"/>
              </a:p>
            </p:txBody>
          </p:sp>
          <p:sp>
            <p:nvSpPr>
              <p:cNvPr id="5" name="Rectangle 229"/>
              <p:cNvSpPr>
                <a:spLocks noChangeArrowheads="1"/>
              </p:cNvSpPr>
              <p:nvPr/>
            </p:nvSpPr>
            <p:spPr bwMode="auto">
              <a:xfrm>
                <a:off x="2982" y="2943"/>
                <a:ext cx="426" cy="126"/>
              </a:xfrm>
              <a:prstGeom prst="rect">
                <a:avLst/>
              </a:prstGeom>
              <a:solidFill>
                <a:srgbClr val="FF0000"/>
              </a:solidFill>
              <a:ln w="9525">
                <a:noFill/>
                <a:miter lim="800000"/>
              </a:ln>
            </p:spPr>
            <p:txBody>
              <a:bodyPr wrap="none" anchor="ctr"/>
              <a:lstStyle/>
              <a:p>
                <a:endParaRPr lang="en-US"/>
              </a:p>
            </p:txBody>
          </p:sp>
          <p:sp>
            <p:nvSpPr>
              <p:cNvPr id="6" name="Text Box 230"/>
              <p:cNvSpPr txBox="1">
                <a:spLocks noChangeArrowheads="1"/>
              </p:cNvSpPr>
              <p:nvPr/>
            </p:nvSpPr>
            <p:spPr bwMode="auto">
              <a:xfrm>
                <a:off x="2938" y="2928"/>
                <a:ext cx="513" cy="538"/>
              </a:xfrm>
              <a:prstGeom prst="rect">
                <a:avLst/>
              </a:prstGeom>
              <a:noFill/>
              <a:ln w="9525">
                <a:noFill/>
                <a:miter lim="800000"/>
              </a:ln>
            </p:spPr>
            <p:txBody>
              <a:bodyPr>
                <a:spAutoFit/>
              </a:bodyPr>
              <a:lstStyle/>
              <a:p>
                <a:pPr algn="ctr">
                  <a:spcBef>
                    <a:spcPct val="0"/>
                  </a:spcBef>
                  <a:buClrTx/>
                  <a:buSzTx/>
                  <a:buFontTx/>
                  <a:buNone/>
                </a:pPr>
                <a:r>
                  <a:rPr lang="en-US" sz="1000">
                    <a:solidFill>
                      <a:schemeClr val="bg1"/>
                    </a:solidFill>
                  </a:rPr>
                  <a:t>application</a:t>
                </a:r>
                <a:endParaRPr lang="en-US" sz="1000"/>
              </a:p>
              <a:p>
                <a:pPr algn="ctr">
                  <a:spcBef>
                    <a:spcPct val="0"/>
                  </a:spcBef>
                  <a:buClrTx/>
                  <a:buSzTx/>
                  <a:buFontTx/>
                  <a:buNone/>
                </a:pPr>
                <a:r>
                  <a:rPr lang="en-US" sz="1000"/>
                  <a:t>transport</a:t>
                </a:r>
                <a:endParaRPr lang="en-US" sz="1000"/>
              </a:p>
              <a:p>
                <a:pPr algn="ctr">
                  <a:spcBef>
                    <a:spcPct val="0"/>
                  </a:spcBef>
                  <a:buClrTx/>
                  <a:buSzTx/>
                  <a:buFontTx/>
                  <a:buNone/>
                </a:pPr>
                <a:r>
                  <a:rPr lang="en-US" sz="1000"/>
                  <a:t>network</a:t>
                </a:r>
                <a:endParaRPr lang="en-US" sz="1000"/>
              </a:p>
              <a:p>
                <a:pPr algn="ctr">
                  <a:spcBef>
                    <a:spcPct val="0"/>
                  </a:spcBef>
                  <a:buClrTx/>
                  <a:buSzTx/>
                  <a:buFontTx/>
                  <a:buNone/>
                </a:pPr>
                <a:r>
                  <a:rPr lang="en-US" sz="1000"/>
                  <a:t>data link</a:t>
                </a:r>
                <a:endParaRPr lang="en-US" sz="1000"/>
              </a:p>
              <a:p>
                <a:pPr algn="ctr">
                  <a:spcBef>
                    <a:spcPct val="0"/>
                  </a:spcBef>
                  <a:buClrTx/>
                  <a:buSzTx/>
                  <a:buFontTx/>
                  <a:buNone/>
                </a:pPr>
                <a:r>
                  <a:rPr lang="en-US" sz="1000"/>
                  <a:t>physical</a:t>
                </a:r>
                <a:endParaRPr lang="en-US">
                  <a:latin typeface="Times New Roman" panose="02020603050405020304" pitchFamily="18" charset="0"/>
                </a:endParaRPr>
              </a:p>
            </p:txBody>
          </p:sp>
          <p:sp>
            <p:nvSpPr>
              <p:cNvPr id="1182" name="Line 231"/>
              <p:cNvSpPr>
                <a:spLocks noChangeShapeType="1"/>
              </p:cNvSpPr>
              <p:nvPr/>
            </p:nvSpPr>
            <p:spPr bwMode="auto">
              <a:xfrm>
                <a:off x="2979" y="3156"/>
                <a:ext cx="435" cy="3"/>
              </a:xfrm>
              <a:prstGeom prst="line">
                <a:avLst/>
              </a:prstGeom>
              <a:noFill/>
              <a:ln w="12700">
                <a:solidFill>
                  <a:schemeClr val="tx1"/>
                </a:solidFill>
                <a:round/>
              </a:ln>
            </p:spPr>
            <p:txBody>
              <a:bodyPr wrap="none" anchor="ctr"/>
              <a:lstStyle/>
              <a:p>
                <a:endParaRPr lang="en-US"/>
              </a:p>
            </p:txBody>
          </p:sp>
          <p:sp>
            <p:nvSpPr>
              <p:cNvPr id="1183" name="Line 232"/>
              <p:cNvSpPr>
                <a:spLocks noChangeShapeType="1"/>
              </p:cNvSpPr>
              <p:nvPr/>
            </p:nvSpPr>
            <p:spPr bwMode="auto">
              <a:xfrm>
                <a:off x="2985" y="3243"/>
                <a:ext cx="435" cy="3"/>
              </a:xfrm>
              <a:prstGeom prst="line">
                <a:avLst/>
              </a:prstGeom>
              <a:noFill/>
              <a:ln w="12700">
                <a:solidFill>
                  <a:schemeClr val="tx1"/>
                </a:solidFill>
                <a:round/>
              </a:ln>
            </p:spPr>
            <p:txBody>
              <a:bodyPr wrap="none" anchor="ctr"/>
              <a:lstStyle/>
              <a:p>
                <a:endParaRPr lang="en-US"/>
              </a:p>
            </p:txBody>
          </p:sp>
          <p:sp>
            <p:nvSpPr>
              <p:cNvPr id="1184" name="Line 233"/>
              <p:cNvSpPr>
                <a:spLocks noChangeShapeType="1"/>
              </p:cNvSpPr>
              <p:nvPr/>
            </p:nvSpPr>
            <p:spPr bwMode="auto">
              <a:xfrm>
                <a:off x="2985" y="3330"/>
                <a:ext cx="435" cy="3"/>
              </a:xfrm>
              <a:prstGeom prst="line">
                <a:avLst/>
              </a:prstGeom>
              <a:noFill/>
              <a:ln w="12700">
                <a:solidFill>
                  <a:schemeClr val="tx1"/>
                </a:solidFill>
                <a:round/>
              </a:ln>
            </p:spPr>
            <p:txBody>
              <a:bodyPr wrap="none" anchor="ctr"/>
              <a:lstStyle/>
              <a:p>
                <a:endParaRPr lang="en-US"/>
              </a:p>
            </p:txBody>
          </p:sp>
        </p:grpSp>
        <p:sp>
          <p:nvSpPr>
            <p:cNvPr id="7" name="Freeform 917"/>
            <p:cNvSpPr/>
            <p:nvPr/>
          </p:nvSpPr>
          <p:spPr bwMode="auto">
            <a:xfrm>
              <a:off x="4076" y="532"/>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FF0000"/>
                </a:gs>
              </a:gsLst>
              <a:lin ang="0" scaled="1"/>
            </a:gradFill>
            <a:ln w="9525">
              <a:solidFill>
                <a:srgbClr val="FF0000"/>
              </a:solidFill>
              <a:round/>
            </a:ln>
          </p:spPr>
          <p:txBody>
            <a:bodyPr/>
            <a:lstStyle/>
            <a:p>
              <a:endParaRPr lang="en-US"/>
            </a:p>
          </p:txBody>
        </p:sp>
      </p:grpSp>
      <p:grpSp>
        <p:nvGrpSpPr>
          <p:cNvPr id="35380" name="Group 919"/>
          <p:cNvGrpSpPr/>
          <p:nvPr/>
        </p:nvGrpSpPr>
        <p:grpSpPr bwMode="auto">
          <a:xfrm>
            <a:off x="7646988" y="4217988"/>
            <a:ext cx="1063625" cy="965200"/>
            <a:chOff x="4076" y="518"/>
            <a:chExt cx="670" cy="608"/>
          </a:xfrm>
        </p:grpSpPr>
        <p:grpSp>
          <p:nvGrpSpPr>
            <p:cNvPr id="1167" name="Group 920"/>
            <p:cNvGrpSpPr/>
            <p:nvPr/>
          </p:nvGrpSpPr>
          <p:grpSpPr bwMode="auto">
            <a:xfrm>
              <a:off x="4233" y="518"/>
              <a:ext cx="513" cy="541"/>
              <a:chOff x="2938" y="2925"/>
              <a:chExt cx="513" cy="541"/>
            </a:xfrm>
          </p:grpSpPr>
          <p:sp>
            <p:nvSpPr>
              <p:cNvPr id="8" name="Rectangle 921"/>
              <p:cNvSpPr>
                <a:spLocks noChangeArrowheads="1"/>
              </p:cNvSpPr>
              <p:nvPr/>
            </p:nvSpPr>
            <p:spPr bwMode="auto">
              <a:xfrm>
                <a:off x="3000" y="2925"/>
                <a:ext cx="426" cy="489"/>
              </a:xfrm>
              <a:prstGeom prst="rect">
                <a:avLst/>
              </a:prstGeom>
              <a:solidFill>
                <a:schemeClr val="accent2"/>
              </a:solidFill>
              <a:ln w="9525">
                <a:noFill/>
                <a:miter lim="800000"/>
              </a:ln>
            </p:spPr>
            <p:txBody>
              <a:bodyPr wrap="none" anchor="ctr"/>
              <a:lstStyle/>
              <a:p>
                <a:endParaRPr lang="en-US"/>
              </a:p>
            </p:txBody>
          </p:sp>
          <p:sp>
            <p:nvSpPr>
              <p:cNvPr id="9" name="Rectangle 922"/>
              <p:cNvSpPr>
                <a:spLocks noChangeArrowheads="1"/>
              </p:cNvSpPr>
              <p:nvPr/>
            </p:nvSpPr>
            <p:spPr bwMode="auto">
              <a:xfrm>
                <a:off x="2979" y="2940"/>
                <a:ext cx="435" cy="504"/>
              </a:xfrm>
              <a:prstGeom prst="rect">
                <a:avLst/>
              </a:prstGeom>
              <a:solidFill>
                <a:schemeClr val="bg1"/>
              </a:solidFill>
              <a:ln w="12700">
                <a:solidFill>
                  <a:schemeClr val="tx1"/>
                </a:solidFill>
                <a:miter lim="800000"/>
              </a:ln>
            </p:spPr>
            <p:txBody>
              <a:bodyPr wrap="none" anchor="ctr"/>
              <a:lstStyle/>
              <a:p>
                <a:endParaRPr lang="en-US"/>
              </a:p>
            </p:txBody>
          </p:sp>
          <p:sp>
            <p:nvSpPr>
              <p:cNvPr id="10" name="Rectangle 923"/>
              <p:cNvSpPr>
                <a:spLocks noChangeArrowheads="1"/>
              </p:cNvSpPr>
              <p:nvPr/>
            </p:nvSpPr>
            <p:spPr bwMode="auto">
              <a:xfrm>
                <a:off x="2982" y="2943"/>
                <a:ext cx="426" cy="126"/>
              </a:xfrm>
              <a:prstGeom prst="rect">
                <a:avLst/>
              </a:prstGeom>
              <a:solidFill>
                <a:srgbClr val="FF0000"/>
              </a:solidFill>
              <a:ln w="9525">
                <a:noFill/>
                <a:miter lim="800000"/>
              </a:ln>
            </p:spPr>
            <p:txBody>
              <a:bodyPr wrap="none" anchor="ctr"/>
              <a:lstStyle/>
              <a:p>
                <a:endParaRPr lang="en-US"/>
              </a:p>
            </p:txBody>
          </p:sp>
          <p:sp>
            <p:nvSpPr>
              <p:cNvPr id="11" name="Text Box 924"/>
              <p:cNvSpPr txBox="1">
                <a:spLocks noChangeArrowheads="1"/>
              </p:cNvSpPr>
              <p:nvPr/>
            </p:nvSpPr>
            <p:spPr bwMode="auto">
              <a:xfrm>
                <a:off x="2938" y="2928"/>
                <a:ext cx="513" cy="538"/>
              </a:xfrm>
              <a:prstGeom prst="rect">
                <a:avLst/>
              </a:prstGeom>
              <a:noFill/>
              <a:ln w="9525">
                <a:noFill/>
                <a:miter lim="800000"/>
              </a:ln>
            </p:spPr>
            <p:txBody>
              <a:bodyPr>
                <a:spAutoFit/>
              </a:bodyPr>
              <a:lstStyle/>
              <a:p>
                <a:pPr algn="ctr">
                  <a:spcBef>
                    <a:spcPct val="0"/>
                  </a:spcBef>
                  <a:buClrTx/>
                  <a:buSzTx/>
                  <a:buFontTx/>
                  <a:buNone/>
                </a:pPr>
                <a:r>
                  <a:rPr lang="en-US" sz="1000">
                    <a:solidFill>
                      <a:schemeClr val="bg1"/>
                    </a:solidFill>
                  </a:rPr>
                  <a:t>application</a:t>
                </a:r>
                <a:endParaRPr lang="en-US" sz="1000"/>
              </a:p>
              <a:p>
                <a:pPr algn="ctr">
                  <a:spcBef>
                    <a:spcPct val="0"/>
                  </a:spcBef>
                  <a:buClrTx/>
                  <a:buSzTx/>
                  <a:buFontTx/>
                  <a:buNone/>
                </a:pPr>
                <a:r>
                  <a:rPr lang="en-US" sz="1000"/>
                  <a:t>transport</a:t>
                </a:r>
                <a:endParaRPr lang="en-US" sz="1000"/>
              </a:p>
              <a:p>
                <a:pPr algn="ctr">
                  <a:spcBef>
                    <a:spcPct val="0"/>
                  </a:spcBef>
                  <a:buClrTx/>
                  <a:buSzTx/>
                  <a:buFontTx/>
                  <a:buNone/>
                </a:pPr>
                <a:r>
                  <a:rPr lang="en-US" sz="1000"/>
                  <a:t>network</a:t>
                </a:r>
                <a:endParaRPr lang="en-US" sz="1000"/>
              </a:p>
              <a:p>
                <a:pPr algn="ctr">
                  <a:spcBef>
                    <a:spcPct val="0"/>
                  </a:spcBef>
                  <a:buClrTx/>
                  <a:buSzTx/>
                  <a:buFontTx/>
                  <a:buNone/>
                </a:pPr>
                <a:r>
                  <a:rPr lang="en-US" sz="1000"/>
                  <a:t>data link</a:t>
                </a:r>
                <a:endParaRPr lang="en-US" sz="1000"/>
              </a:p>
              <a:p>
                <a:pPr algn="ctr">
                  <a:spcBef>
                    <a:spcPct val="0"/>
                  </a:spcBef>
                  <a:buClrTx/>
                  <a:buSzTx/>
                  <a:buFontTx/>
                  <a:buNone/>
                </a:pPr>
                <a:r>
                  <a:rPr lang="en-US" sz="1000"/>
                  <a:t>physical</a:t>
                </a:r>
                <a:endParaRPr lang="en-US">
                  <a:latin typeface="Times New Roman" panose="02020603050405020304" pitchFamily="18" charset="0"/>
                </a:endParaRPr>
              </a:p>
            </p:txBody>
          </p:sp>
          <p:sp>
            <p:nvSpPr>
              <p:cNvPr id="12" name="Line 925"/>
              <p:cNvSpPr>
                <a:spLocks noChangeShapeType="1"/>
              </p:cNvSpPr>
              <p:nvPr/>
            </p:nvSpPr>
            <p:spPr bwMode="auto">
              <a:xfrm>
                <a:off x="2979" y="3156"/>
                <a:ext cx="435" cy="3"/>
              </a:xfrm>
              <a:prstGeom prst="line">
                <a:avLst/>
              </a:prstGeom>
              <a:noFill/>
              <a:ln w="12700">
                <a:solidFill>
                  <a:schemeClr val="tx1"/>
                </a:solidFill>
                <a:round/>
              </a:ln>
            </p:spPr>
            <p:txBody>
              <a:bodyPr wrap="none" anchor="ctr"/>
              <a:lstStyle/>
              <a:p>
                <a:endParaRPr lang="en-US"/>
              </a:p>
            </p:txBody>
          </p:sp>
          <p:sp>
            <p:nvSpPr>
              <p:cNvPr id="13" name="Line 926"/>
              <p:cNvSpPr>
                <a:spLocks noChangeShapeType="1"/>
              </p:cNvSpPr>
              <p:nvPr/>
            </p:nvSpPr>
            <p:spPr bwMode="auto">
              <a:xfrm>
                <a:off x="2985" y="3243"/>
                <a:ext cx="435" cy="3"/>
              </a:xfrm>
              <a:prstGeom prst="line">
                <a:avLst/>
              </a:prstGeom>
              <a:noFill/>
              <a:ln w="12700">
                <a:solidFill>
                  <a:schemeClr val="tx1"/>
                </a:solidFill>
                <a:round/>
              </a:ln>
            </p:spPr>
            <p:txBody>
              <a:bodyPr wrap="none" anchor="ctr"/>
              <a:lstStyle/>
              <a:p>
                <a:endParaRPr lang="en-US"/>
              </a:p>
            </p:txBody>
          </p:sp>
          <p:sp>
            <p:nvSpPr>
              <p:cNvPr id="14" name="Line 927"/>
              <p:cNvSpPr>
                <a:spLocks noChangeShapeType="1"/>
              </p:cNvSpPr>
              <p:nvPr/>
            </p:nvSpPr>
            <p:spPr bwMode="auto">
              <a:xfrm>
                <a:off x="2985" y="3330"/>
                <a:ext cx="435" cy="3"/>
              </a:xfrm>
              <a:prstGeom prst="line">
                <a:avLst/>
              </a:prstGeom>
              <a:noFill/>
              <a:ln w="12700">
                <a:solidFill>
                  <a:schemeClr val="tx1"/>
                </a:solidFill>
                <a:round/>
              </a:ln>
            </p:spPr>
            <p:txBody>
              <a:bodyPr wrap="none" anchor="ctr"/>
              <a:lstStyle/>
              <a:p>
                <a:endParaRPr lang="en-US"/>
              </a:p>
            </p:txBody>
          </p:sp>
        </p:grpSp>
        <p:sp>
          <p:nvSpPr>
            <p:cNvPr id="1168" name="Freeform 928"/>
            <p:cNvSpPr/>
            <p:nvPr/>
          </p:nvSpPr>
          <p:spPr bwMode="auto">
            <a:xfrm>
              <a:off x="4076" y="532"/>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FF0000"/>
                </a:gs>
              </a:gsLst>
              <a:lin ang="0" scaled="1"/>
            </a:gradFill>
            <a:ln w="9525">
              <a:solidFill>
                <a:srgbClr val="FF0000"/>
              </a:solidFill>
              <a:round/>
            </a:ln>
          </p:spPr>
          <p:txBody>
            <a:bodyPr/>
            <a:lstStyle/>
            <a:p>
              <a:endParaRPr lang="en-US"/>
            </a:p>
          </p:txBody>
        </p:sp>
      </p:grpSp>
      <p:grpSp>
        <p:nvGrpSpPr>
          <p:cNvPr id="35382" name="Group 929"/>
          <p:cNvGrpSpPr/>
          <p:nvPr/>
        </p:nvGrpSpPr>
        <p:grpSpPr bwMode="auto">
          <a:xfrm>
            <a:off x="5900738" y="3678238"/>
            <a:ext cx="1063625" cy="965200"/>
            <a:chOff x="4076" y="518"/>
            <a:chExt cx="670" cy="608"/>
          </a:xfrm>
        </p:grpSpPr>
        <p:grpSp>
          <p:nvGrpSpPr>
            <p:cNvPr id="1158" name="Group 930"/>
            <p:cNvGrpSpPr/>
            <p:nvPr/>
          </p:nvGrpSpPr>
          <p:grpSpPr bwMode="auto">
            <a:xfrm>
              <a:off x="4233" y="518"/>
              <a:ext cx="513" cy="541"/>
              <a:chOff x="2938" y="2925"/>
              <a:chExt cx="513" cy="541"/>
            </a:xfrm>
          </p:grpSpPr>
          <p:sp>
            <p:nvSpPr>
              <p:cNvPr id="1160" name="Rectangle 931"/>
              <p:cNvSpPr>
                <a:spLocks noChangeArrowheads="1"/>
              </p:cNvSpPr>
              <p:nvPr/>
            </p:nvSpPr>
            <p:spPr bwMode="auto">
              <a:xfrm>
                <a:off x="3000" y="2925"/>
                <a:ext cx="426" cy="489"/>
              </a:xfrm>
              <a:prstGeom prst="rect">
                <a:avLst/>
              </a:prstGeom>
              <a:solidFill>
                <a:schemeClr val="accent2"/>
              </a:solidFill>
              <a:ln w="9525">
                <a:noFill/>
                <a:miter lim="800000"/>
              </a:ln>
            </p:spPr>
            <p:txBody>
              <a:bodyPr wrap="none" anchor="ctr"/>
              <a:lstStyle/>
              <a:p>
                <a:endParaRPr lang="en-US"/>
              </a:p>
            </p:txBody>
          </p:sp>
          <p:sp>
            <p:nvSpPr>
              <p:cNvPr id="1161" name="Rectangle 932"/>
              <p:cNvSpPr>
                <a:spLocks noChangeArrowheads="1"/>
              </p:cNvSpPr>
              <p:nvPr/>
            </p:nvSpPr>
            <p:spPr bwMode="auto">
              <a:xfrm>
                <a:off x="2979" y="2940"/>
                <a:ext cx="435" cy="504"/>
              </a:xfrm>
              <a:prstGeom prst="rect">
                <a:avLst/>
              </a:prstGeom>
              <a:solidFill>
                <a:schemeClr val="bg1"/>
              </a:solidFill>
              <a:ln w="12700">
                <a:solidFill>
                  <a:schemeClr val="tx1"/>
                </a:solidFill>
                <a:miter lim="800000"/>
              </a:ln>
            </p:spPr>
            <p:txBody>
              <a:bodyPr wrap="none" anchor="ctr"/>
              <a:lstStyle/>
              <a:p>
                <a:endParaRPr lang="en-US"/>
              </a:p>
            </p:txBody>
          </p:sp>
          <p:sp>
            <p:nvSpPr>
              <p:cNvPr id="1162" name="Rectangle 933"/>
              <p:cNvSpPr>
                <a:spLocks noChangeArrowheads="1"/>
              </p:cNvSpPr>
              <p:nvPr/>
            </p:nvSpPr>
            <p:spPr bwMode="auto">
              <a:xfrm>
                <a:off x="2982" y="2943"/>
                <a:ext cx="426" cy="126"/>
              </a:xfrm>
              <a:prstGeom prst="rect">
                <a:avLst/>
              </a:prstGeom>
              <a:solidFill>
                <a:srgbClr val="FF0000"/>
              </a:solidFill>
              <a:ln w="9525">
                <a:noFill/>
                <a:miter lim="800000"/>
              </a:ln>
            </p:spPr>
            <p:txBody>
              <a:bodyPr wrap="none" anchor="ctr"/>
              <a:lstStyle/>
              <a:p>
                <a:endParaRPr lang="en-US"/>
              </a:p>
            </p:txBody>
          </p:sp>
          <p:sp>
            <p:nvSpPr>
              <p:cNvPr id="1163" name="Text Box 934"/>
              <p:cNvSpPr txBox="1">
                <a:spLocks noChangeArrowheads="1"/>
              </p:cNvSpPr>
              <p:nvPr/>
            </p:nvSpPr>
            <p:spPr bwMode="auto">
              <a:xfrm>
                <a:off x="2938" y="2928"/>
                <a:ext cx="513" cy="538"/>
              </a:xfrm>
              <a:prstGeom prst="rect">
                <a:avLst/>
              </a:prstGeom>
              <a:noFill/>
              <a:ln w="9525">
                <a:noFill/>
                <a:miter lim="800000"/>
              </a:ln>
            </p:spPr>
            <p:txBody>
              <a:bodyPr>
                <a:spAutoFit/>
              </a:bodyPr>
              <a:lstStyle/>
              <a:p>
                <a:pPr algn="ctr">
                  <a:spcBef>
                    <a:spcPct val="0"/>
                  </a:spcBef>
                  <a:buClrTx/>
                  <a:buSzTx/>
                  <a:buFontTx/>
                  <a:buNone/>
                </a:pPr>
                <a:r>
                  <a:rPr lang="en-US" sz="1000">
                    <a:solidFill>
                      <a:schemeClr val="bg1"/>
                    </a:solidFill>
                  </a:rPr>
                  <a:t>application</a:t>
                </a:r>
                <a:endParaRPr lang="en-US" sz="1000"/>
              </a:p>
              <a:p>
                <a:pPr algn="ctr">
                  <a:spcBef>
                    <a:spcPct val="0"/>
                  </a:spcBef>
                  <a:buClrTx/>
                  <a:buSzTx/>
                  <a:buFontTx/>
                  <a:buNone/>
                </a:pPr>
                <a:r>
                  <a:rPr lang="en-US" sz="1000"/>
                  <a:t>transport</a:t>
                </a:r>
                <a:endParaRPr lang="en-US" sz="1000"/>
              </a:p>
              <a:p>
                <a:pPr algn="ctr">
                  <a:spcBef>
                    <a:spcPct val="0"/>
                  </a:spcBef>
                  <a:buClrTx/>
                  <a:buSzTx/>
                  <a:buFontTx/>
                  <a:buNone/>
                </a:pPr>
                <a:r>
                  <a:rPr lang="en-US" sz="1000"/>
                  <a:t>network</a:t>
                </a:r>
                <a:endParaRPr lang="en-US" sz="1000"/>
              </a:p>
              <a:p>
                <a:pPr algn="ctr">
                  <a:spcBef>
                    <a:spcPct val="0"/>
                  </a:spcBef>
                  <a:buClrTx/>
                  <a:buSzTx/>
                  <a:buFontTx/>
                  <a:buNone/>
                </a:pPr>
                <a:r>
                  <a:rPr lang="en-US" sz="1000"/>
                  <a:t>data link</a:t>
                </a:r>
                <a:endParaRPr lang="en-US" sz="1000"/>
              </a:p>
              <a:p>
                <a:pPr algn="ctr">
                  <a:spcBef>
                    <a:spcPct val="0"/>
                  </a:spcBef>
                  <a:buClrTx/>
                  <a:buSzTx/>
                  <a:buFontTx/>
                  <a:buNone/>
                </a:pPr>
                <a:r>
                  <a:rPr lang="en-US" sz="1000"/>
                  <a:t>physical</a:t>
                </a:r>
                <a:endParaRPr lang="en-US">
                  <a:latin typeface="Times New Roman" panose="02020603050405020304" pitchFamily="18" charset="0"/>
                </a:endParaRPr>
              </a:p>
            </p:txBody>
          </p:sp>
          <p:sp>
            <p:nvSpPr>
              <p:cNvPr id="1164" name="Line 935"/>
              <p:cNvSpPr>
                <a:spLocks noChangeShapeType="1"/>
              </p:cNvSpPr>
              <p:nvPr/>
            </p:nvSpPr>
            <p:spPr bwMode="auto">
              <a:xfrm>
                <a:off x="2979" y="3156"/>
                <a:ext cx="435" cy="3"/>
              </a:xfrm>
              <a:prstGeom prst="line">
                <a:avLst/>
              </a:prstGeom>
              <a:noFill/>
              <a:ln w="12700">
                <a:solidFill>
                  <a:schemeClr val="tx1"/>
                </a:solidFill>
                <a:round/>
              </a:ln>
            </p:spPr>
            <p:txBody>
              <a:bodyPr wrap="none" anchor="ctr"/>
              <a:lstStyle/>
              <a:p>
                <a:endParaRPr lang="en-US"/>
              </a:p>
            </p:txBody>
          </p:sp>
          <p:sp>
            <p:nvSpPr>
              <p:cNvPr id="1165" name="Line 936"/>
              <p:cNvSpPr>
                <a:spLocks noChangeShapeType="1"/>
              </p:cNvSpPr>
              <p:nvPr/>
            </p:nvSpPr>
            <p:spPr bwMode="auto">
              <a:xfrm>
                <a:off x="2985" y="3243"/>
                <a:ext cx="435" cy="3"/>
              </a:xfrm>
              <a:prstGeom prst="line">
                <a:avLst/>
              </a:prstGeom>
              <a:noFill/>
              <a:ln w="12700">
                <a:solidFill>
                  <a:schemeClr val="tx1"/>
                </a:solidFill>
                <a:round/>
              </a:ln>
            </p:spPr>
            <p:txBody>
              <a:bodyPr wrap="none" anchor="ctr"/>
              <a:lstStyle/>
              <a:p>
                <a:endParaRPr lang="en-US"/>
              </a:p>
            </p:txBody>
          </p:sp>
          <p:sp>
            <p:nvSpPr>
              <p:cNvPr id="1166" name="Line 937"/>
              <p:cNvSpPr>
                <a:spLocks noChangeShapeType="1"/>
              </p:cNvSpPr>
              <p:nvPr/>
            </p:nvSpPr>
            <p:spPr bwMode="auto">
              <a:xfrm>
                <a:off x="2985" y="3330"/>
                <a:ext cx="435" cy="3"/>
              </a:xfrm>
              <a:prstGeom prst="line">
                <a:avLst/>
              </a:prstGeom>
              <a:noFill/>
              <a:ln w="12700">
                <a:solidFill>
                  <a:schemeClr val="tx1"/>
                </a:solidFill>
                <a:round/>
              </a:ln>
            </p:spPr>
            <p:txBody>
              <a:bodyPr wrap="none" anchor="ctr"/>
              <a:lstStyle/>
              <a:p>
                <a:endParaRPr lang="en-US"/>
              </a:p>
            </p:txBody>
          </p:sp>
        </p:grpSp>
        <p:sp>
          <p:nvSpPr>
            <p:cNvPr id="1159" name="Freeform 938"/>
            <p:cNvSpPr/>
            <p:nvPr/>
          </p:nvSpPr>
          <p:spPr bwMode="auto">
            <a:xfrm>
              <a:off x="4076" y="532"/>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FF0000"/>
                </a:gs>
              </a:gsLst>
              <a:lin ang="0" scaled="1"/>
            </a:gradFill>
            <a:ln w="9525">
              <a:solidFill>
                <a:srgbClr val="FF0000"/>
              </a:solidFill>
              <a:roun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378"/>
                                        </p:tgtEl>
                                        <p:attrNameLst>
                                          <p:attrName>style.visibility</p:attrName>
                                        </p:attrNameLst>
                                      </p:cBhvr>
                                      <p:to>
                                        <p:strVal val="visible"/>
                                      </p:to>
                                    </p:set>
                                    <p:animEffect transition="in" filter="wipe(left)">
                                      <p:cBhvr>
                                        <p:cTn id="7" dur="1000"/>
                                        <p:tgtEl>
                                          <p:spTgt spid="35378"/>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35380"/>
                                        </p:tgtEl>
                                        <p:attrNameLst>
                                          <p:attrName>style.visibility</p:attrName>
                                        </p:attrNameLst>
                                      </p:cBhvr>
                                      <p:to>
                                        <p:strVal val="visible"/>
                                      </p:to>
                                    </p:set>
                                    <p:animEffect transition="in" filter="wipe(left)">
                                      <p:cBhvr>
                                        <p:cTn id="11" dur="1000"/>
                                        <p:tgtEl>
                                          <p:spTgt spid="35380"/>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35382"/>
                                        </p:tgtEl>
                                        <p:attrNameLst>
                                          <p:attrName>style.visibility</p:attrName>
                                        </p:attrNameLst>
                                      </p:cBhvr>
                                      <p:to>
                                        <p:strVal val="visible"/>
                                      </p:to>
                                    </p:set>
                                    <p:animEffect transition="in" filter="wipe(left)">
                                      <p:cBhvr>
                                        <p:cTn id="15" dur="1000"/>
                                        <p:tgtEl>
                                          <p:spTgt spid="3538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5727"/>
                                        </p:tgtEl>
                                        <p:attrNameLst>
                                          <p:attrName>style.visibility</p:attrName>
                                        </p:attrNameLst>
                                      </p:cBhvr>
                                      <p:to>
                                        <p:strVal val="visible"/>
                                      </p:to>
                                    </p:set>
                                    <p:animEffect transition="in" filter="dissolve">
                                      <p:cBhvr>
                                        <p:cTn id="20" dur="500"/>
                                        <p:tgtEl>
                                          <p:spTgt spid="35727"/>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35729"/>
                                        </p:tgtEl>
                                        <p:attrNameLst>
                                          <p:attrName>style.visibility</p:attrName>
                                        </p:attrNameLst>
                                      </p:cBhvr>
                                      <p:to>
                                        <p:strVal val="visible"/>
                                      </p:to>
                                    </p:set>
                                    <p:animEffect transition="in" filter="dissolve">
                                      <p:cBhvr>
                                        <p:cTn id="23" dur="500"/>
                                        <p:tgtEl>
                                          <p:spTgt spid="35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27" grpId="0" animBg="1"/>
      <p:bldP spid="357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4819" name="Slide Number Placeholder 6"/>
          <p:cNvSpPr>
            <a:spLocks noGrp="1"/>
          </p:cNvSpPr>
          <p:nvPr>
            <p:ph type="sldNum" sz="quarter" idx="12"/>
          </p:nvPr>
        </p:nvSpPr>
        <p:spPr>
          <a:noFill/>
        </p:spPr>
        <p:txBody>
          <a:bodyPr/>
          <a:lstStyle/>
          <a:p>
            <a:fld id="{09FB5B14-3207-4596-9B15-A315FEC6D487}" type="slidenum">
              <a:rPr lang="en-US"/>
            </a:fld>
            <a:endParaRPr lang="en-US"/>
          </a:p>
        </p:txBody>
      </p:sp>
      <p:sp>
        <p:nvSpPr>
          <p:cNvPr id="34820" name="Rectangle 2"/>
          <p:cNvSpPr>
            <a:spLocks noGrp="1" noChangeArrowheads="1"/>
          </p:cNvSpPr>
          <p:nvPr>
            <p:ph type="title"/>
          </p:nvPr>
        </p:nvSpPr>
        <p:spPr/>
        <p:txBody>
          <a:bodyPr/>
          <a:lstStyle/>
          <a:p>
            <a:r>
              <a:rPr lang="en-US" dirty="0"/>
              <a:t>Chapter 2: Application layer</a:t>
            </a:r>
            <a:endParaRPr lang="en-US" dirty="0"/>
          </a:p>
        </p:txBody>
      </p:sp>
      <p:sp>
        <p:nvSpPr>
          <p:cNvPr id="34821" name="Rectangle 3"/>
          <p:cNvSpPr>
            <a:spLocks noGrp="1" noChangeArrowheads="1"/>
          </p:cNvSpPr>
          <p:nvPr>
            <p:ph type="body" sz="half" idx="1"/>
          </p:nvPr>
        </p:nvSpPr>
        <p:spPr/>
        <p:txBody>
          <a:bodyPr/>
          <a:lstStyle/>
          <a:p>
            <a:r>
              <a:rPr lang="en-US" sz="2400" dirty="0">
                <a:solidFill>
                  <a:srgbClr val="FF0000"/>
                </a:solidFill>
              </a:rPr>
              <a:t>2.1 Principles of network applications</a:t>
            </a:r>
            <a:endParaRPr lang="en-US" sz="2400" dirty="0">
              <a:solidFill>
                <a:srgbClr val="FF0000"/>
              </a:solidFill>
            </a:endParaRPr>
          </a:p>
          <a:p>
            <a:r>
              <a:rPr lang="en-US" sz="2400" dirty="0"/>
              <a:t>2.2 Web and HTTP</a:t>
            </a:r>
            <a:endParaRPr lang="en-US" sz="2400" dirty="0"/>
          </a:p>
          <a:p>
            <a:r>
              <a:rPr lang="en-US" sz="2400" dirty="0"/>
              <a:t>2.3 FTP </a:t>
            </a:r>
            <a:endParaRPr lang="en-US" sz="2400" dirty="0">
              <a:solidFill>
                <a:srgbClr val="FF0000"/>
              </a:solidFill>
            </a:endParaRPr>
          </a:p>
          <a:p>
            <a:r>
              <a:rPr lang="en-US" sz="2400" dirty="0"/>
              <a:t>2.4 Electronic Mail</a:t>
            </a:r>
            <a:endParaRPr lang="en-US" sz="2400" dirty="0"/>
          </a:p>
          <a:p>
            <a:pPr lvl="1"/>
            <a:r>
              <a:rPr lang="en-US" sz="2000" dirty="0"/>
              <a:t>SMTP, POP3, IMAP</a:t>
            </a:r>
            <a:endParaRPr lang="en-US" sz="2000" dirty="0"/>
          </a:p>
          <a:p>
            <a:r>
              <a:rPr lang="en-US" sz="2400" dirty="0"/>
              <a:t>2.5 DNS</a:t>
            </a:r>
            <a:endParaRPr lang="en-US" sz="2400" dirty="0"/>
          </a:p>
          <a:p>
            <a:endParaRPr lang="en-US" sz="2400" dirty="0"/>
          </a:p>
        </p:txBody>
      </p:sp>
      <p:sp>
        <p:nvSpPr>
          <p:cNvPr id="34822" name="Rectangle 4"/>
          <p:cNvSpPr>
            <a:spLocks noGrp="1" noChangeArrowheads="1"/>
          </p:cNvSpPr>
          <p:nvPr>
            <p:ph type="body" sz="half" idx="2"/>
          </p:nvPr>
        </p:nvSpPr>
        <p:spPr>
          <a:xfrm>
            <a:off x="4495800" y="1600200"/>
            <a:ext cx="4054475" cy="4648200"/>
          </a:xfrm>
        </p:spPr>
        <p:txBody>
          <a:bodyPr/>
          <a:lstStyle/>
          <a:p>
            <a:r>
              <a:rPr lang="en-US" sz="2400" dirty="0"/>
              <a:t>2.6 P2P applications</a:t>
            </a:r>
            <a:endParaRPr lang="en-US" sz="2400" dirty="0"/>
          </a:p>
          <a:p>
            <a:r>
              <a:rPr lang="en-US" sz="2400" dirty="0"/>
              <a:t>2.7 Socket programming with UDP</a:t>
            </a:r>
            <a:endParaRPr lang="en-US" sz="2400" dirty="0"/>
          </a:p>
          <a:p>
            <a:r>
              <a:rPr lang="en-US" sz="2400" dirty="0"/>
              <a:t>2.8 Socket programming with TCP</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8915" name="Slide Number Placeholder 5"/>
          <p:cNvSpPr>
            <a:spLocks noGrp="1"/>
          </p:cNvSpPr>
          <p:nvPr>
            <p:ph type="sldNum" sz="quarter" idx="12"/>
          </p:nvPr>
        </p:nvSpPr>
        <p:spPr>
          <a:noFill/>
        </p:spPr>
        <p:txBody>
          <a:bodyPr/>
          <a:lstStyle/>
          <a:p>
            <a:fld id="{01BC91E9-6BC5-42E3-9320-ECD5167E313F}" type="slidenum">
              <a:rPr lang="en-US"/>
            </a:fld>
            <a:endParaRPr lang="en-US"/>
          </a:p>
        </p:txBody>
      </p:sp>
      <p:sp>
        <p:nvSpPr>
          <p:cNvPr id="38916" name="Rectangle 2"/>
          <p:cNvSpPr>
            <a:spLocks noGrp="1" noChangeArrowheads="1"/>
          </p:cNvSpPr>
          <p:nvPr>
            <p:ph type="title"/>
          </p:nvPr>
        </p:nvSpPr>
        <p:spPr/>
        <p:txBody>
          <a:bodyPr/>
          <a:lstStyle/>
          <a:p>
            <a:r>
              <a:rPr lang="en-US" dirty="0"/>
              <a:t>Application architectures</a:t>
            </a:r>
            <a:r>
              <a:rPr lang="zh-CN" altLang="en-US">
                <a:ea typeface="宋体" panose="02010600030101010101" pitchFamily="2" charset="-122"/>
                <a:sym typeface="+mn-ea"/>
              </a:rPr>
              <a:t>（题）</a:t>
            </a:r>
            <a:endParaRPr lang="en-US" dirty="0"/>
          </a:p>
        </p:txBody>
      </p:sp>
      <p:sp>
        <p:nvSpPr>
          <p:cNvPr id="38917" name="Rectangle 3"/>
          <p:cNvSpPr>
            <a:spLocks noGrp="1" noChangeArrowheads="1"/>
          </p:cNvSpPr>
          <p:nvPr>
            <p:ph type="body" idx="1"/>
          </p:nvPr>
        </p:nvSpPr>
        <p:spPr/>
        <p:txBody>
          <a:bodyPr/>
          <a:lstStyle/>
          <a:p>
            <a:r>
              <a:rPr lang="en-US" dirty="0"/>
              <a:t>Client-server</a:t>
            </a:r>
            <a:endParaRPr lang="en-US" dirty="0"/>
          </a:p>
          <a:p>
            <a:pPr lvl="1"/>
            <a:r>
              <a:rPr lang="en-US" dirty="0">
                <a:solidFill>
                  <a:schemeClr val="accent2"/>
                </a:solidFill>
              </a:rPr>
              <a:t>Including data centers / cloud computing</a:t>
            </a:r>
            <a:endParaRPr lang="en-US" dirty="0">
              <a:solidFill>
                <a:schemeClr val="accent2"/>
              </a:solidFill>
            </a:endParaRPr>
          </a:p>
          <a:p>
            <a:r>
              <a:rPr lang="en-US" dirty="0"/>
              <a:t>Peer-to-peer (P2P)</a:t>
            </a:r>
            <a:endParaRPr lang="en-US" dirty="0"/>
          </a:p>
          <a:p>
            <a:r>
              <a:rPr lang="en-US" dirty="0"/>
              <a:t>Hybrid of client-server and P2P</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3"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064" name="Slide Number Placeholder 6"/>
          <p:cNvSpPr>
            <a:spLocks noGrp="1"/>
          </p:cNvSpPr>
          <p:nvPr>
            <p:ph type="sldNum" sz="quarter" idx="12"/>
          </p:nvPr>
        </p:nvSpPr>
        <p:spPr>
          <a:noFill/>
        </p:spPr>
        <p:txBody>
          <a:bodyPr/>
          <a:lstStyle/>
          <a:p>
            <a:fld id="{A0B370A7-CB61-4404-8BE8-A35B34298E92}" type="slidenum">
              <a:rPr lang="en-US"/>
            </a:fld>
            <a:endParaRPr lang="en-US"/>
          </a:p>
        </p:txBody>
      </p:sp>
      <p:sp>
        <p:nvSpPr>
          <p:cNvPr id="2065" name="Rectangle 4"/>
          <p:cNvSpPr>
            <a:spLocks noGrp="1" noChangeArrowheads="1"/>
          </p:cNvSpPr>
          <p:nvPr>
            <p:ph type="title"/>
          </p:nvPr>
        </p:nvSpPr>
        <p:spPr/>
        <p:txBody>
          <a:bodyPr/>
          <a:lstStyle/>
          <a:p>
            <a:r>
              <a:rPr lang="en-US"/>
              <a:t>Client-server architecture</a:t>
            </a:r>
            <a:endParaRPr lang="en-US"/>
          </a:p>
        </p:txBody>
      </p:sp>
      <p:sp>
        <p:nvSpPr>
          <p:cNvPr id="2066" name="Rectangle 460"/>
          <p:cNvSpPr>
            <a:spLocks noGrp="1" noChangeArrowheads="1"/>
          </p:cNvSpPr>
          <p:nvPr>
            <p:ph type="body" sz="half" idx="2"/>
          </p:nvPr>
        </p:nvSpPr>
        <p:spPr>
          <a:xfrm>
            <a:off x="4664075" y="1416050"/>
            <a:ext cx="4143375" cy="4648200"/>
          </a:xfrm>
        </p:spPr>
        <p:txBody>
          <a:bodyPr/>
          <a:lstStyle/>
          <a:p>
            <a:pPr>
              <a:buFont typeface="ZapfDingbats" pitchFamily="82" charset="2"/>
              <a:buNone/>
            </a:pPr>
            <a:r>
              <a:rPr lang="en-US" sz="2400">
                <a:solidFill>
                  <a:srgbClr val="FF0000"/>
                </a:solidFill>
              </a:rPr>
              <a:t>server:</a:t>
            </a:r>
            <a:r>
              <a:rPr lang="en-US" sz="2400"/>
              <a:t> </a:t>
            </a:r>
            <a:endParaRPr lang="en-US" sz="2400"/>
          </a:p>
          <a:p>
            <a:pPr lvl="1"/>
            <a:r>
              <a:rPr lang="en-US"/>
              <a:t>always-on host</a:t>
            </a:r>
            <a:endParaRPr lang="en-US"/>
          </a:p>
          <a:p>
            <a:pPr lvl="1"/>
            <a:r>
              <a:rPr lang="en-US"/>
              <a:t>permanent IP address</a:t>
            </a:r>
            <a:endParaRPr lang="en-US"/>
          </a:p>
          <a:p>
            <a:pPr lvl="1"/>
            <a:r>
              <a:rPr lang="en-US"/>
              <a:t>server farms for scaling</a:t>
            </a:r>
            <a:endParaRPr lang="en-US"/>
          </a:p>
          <a:p>
            <a:pPr>
              <a:buFont typeface="ZapfDingbats" pitchFamily="82" charset="2"/>
              <a:buNone/>
            </a:pPr>
            <a:r>
              <a:rPr lang="en-US" sz="2400">
                <a:solidFill>
                  <a:srgbClr val="FF0000"/>
                </a:solidFill>
              </a:rPr>
              <a:t>clients:</a:t>
            </a:r>
            <a:endParaRPr lang="en-US" sz="2400">
              <a:solidFill>
                <a:srgbClr val="FF0000"/>
              </a:solidFill>
            </a:endParaRPr>
          </a:p>
          <a:p>
            <a:pPr lvl="1"/>
            <a:r>
              <a:rPr lang="en-US" sz="2000"/>
              <a:t>communicate with server</a:t>
            </a:r>
            <a:endParaRPr lang="en-US" sz="2000"/>
          </a:p>
          <a:p>
            <a:pPr lvl="1"/>
            <a:r>
              <a:rPr lang="en-US" sz="2000"/>
              <a:t>may be intermittently connected</a:t>
            </a:r>
            <a:endParaRPr lang="en-US" sz="2000"/>
          </a:p>
          <a:p>
            <a:pPr lvl="1"/>
            <a:r>
              <a:rPr lang="en-US" sz="2000"/>
              <a:t>may have dynamic IP addresses</a:t>
            </a:r>
            <a:endParaRPr lang="en-US" sz="2000"/>
          </a:p>
          <a:p>
            <a:pPr lvl="1"/>
            <a:r>
              <a:rPr lang="en-US" sz="2000"/>
              <a:t>do not communicate directly with each other</a:t>
            </a:r>
            <a:endParaRPr lang="en-US" sz="2000"/>
          </a:p>
        </p:txBody>
      </p:sp>
      <p:sp>
        <p:nvSpPr>
          <p:cNvPr id="2067" name="Freeform 462"/>
          <p:cNvSpPr/>
          <p:nvPr/>
        </p:nvSpPr>
        <p:spPr bwMode="auto">
          <a:xfrm>
            <a:off x="2771775" y="3540125"/>
            <a:ext cx="1314450" cy="674688"/>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w="9525">
            <a:noFill/>
            <a:round/>
          </a:ln>
        </p:spPr>
        <p:txBody>
          <a:bodyPr/>
          <a:lstStyle/>
          <a:p>
            <a:endParaRPr lang="en-US"/>
          </a:p>
        </p:txBody>
      </p:sp>
      <p:sp>
        <p:nvSpPr>
          <p:cNvPr id="2068" name="Freeform 463"/>
          <p:cNvSpPr/>
          <p:nvPr/>
        </p:nvSpPr>
        <p:spPr bwMode="auto">
          <a:xfrm>
            <a:off x="2790825" y="2014538"/>
            <a:ext cx="1730375" cy="1044575"/>
          </a:xfrm>
          <a:custGeom>
            <a:avLst/>
            <a:gdLst>
              <a:gd name="T0" fmla="*/ 424 w 765"/>
              <a:gd name="T1" fmla="*/ 10 h 459"/>
              <a:gd name="T2" fmla="*/ 288 w 765"/>
              <a:gd name="T3" fmla="*/ 70 h 459"/>
              <a:gd name="T4" fmla="*/ 96 w 765"/>
              <a:gd name="T5" fmla="*/ 100 h 459"/>
              <a:gd name="T6" fmla="*/ 14 w 765"/>
              <a:gd name="T7" fmla="*/ 336 h 459"/>
              <a:gd name="T8" fmla="*/ 180 w 765"/>
              <a:gd name="T9" fmla="*/ 444 h 459"/>
              <a:gd name="T10" fmla="*/ 346 w 765"/>
              <a:gd name="T11" fmla="*/ 426 h 459"/>
              <a:gd name="T12" fmla="*/ 584 w 765"/>
              <a:gd name="T13" fmla="*/ 444 h 459"/>
              <a:gd name="T14" fmla="*/ 698 w 765"/>
              <a:gd name="T15" fmla="*/ 434 h 459"/>
              <a:gd name="T16" fmla="*/ 752 w 765"/>
              <a:gd name="T17" fmla="*/ 372 h 459"/>
              <a:gd name="T18" fmla="*/ 750 w 765"/>
              <a:gd name="T19" fmla="*/ 158 h 459"/>
              <a:gd name="T20" fmla="*/ 662 w 765"/>
              <a:gd name="T21" fmla="*/ 34 h 459"/>
              <a:gd name="T22" fmla="*/ 424 w 765"/>
              <a:gd name="T23" fmla="*/ 10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w="9525">
            <a:noFill/>
            <a:round/>
          </a:ln>
        </p:spPr>
        <p:txBody>
          <a:bodyPr/>
          <a:lstStyle/>
          <a:p>
            <a:endParaRPr lang="en-US"/>
          </a:p>
        </p:txBody>
      </p:sp>
      <p:sp>
        <p:nvSpPr>
          <p:cNvPr id="2069" name="Freeform 464"/>
          <p:cNvSpPr/>
          <p:nvPr/>
        </p:nvSpPr>
        <p:spPr bwMode="auto">
          <a:xfrm>
            <a:off x="1050925" y="1722438"/>
            <a:ext cx="1644650" cy="1071562"/>
          </a:xfrm>
          <a:custGeom>
            <a:avLst/>
            <a:gdLst>
              <a:gd name="T0" fmla="*/ 648 w 1036"/>
              <a:gd name="T1" fmla="*/ 11 h 675"/>
              <a:gd name="T2" fmla="*/ 390 w 1036"/>
              <a:gd name="T3" fmla="*/ 53 h 675"/>
              <a:gd name="T4" fmla="*/ 206 w 1036"/>
              <a:gd name="T5" fmla="*/ 129 h 675"/>
              <a:gd name="T6" fmla="*/ 152 w 1036"/>
              <a:gd name="T7" fmla="*/ 229 h 675"/>
              <a:gd name="T8" fmla="*/ 22 w 1036"/>
              <a:gd name="T9" fmla="*/ 297 h 675"/>
              <a:gd name="T10" fmla="*/ 18 w 1036"/>
              <a:gd name="T11" fmla="*/ 459 h 675"/>
              <a:gd name="T12" fmla="*/ 132 w 1036"/>
              <a:gd name="T13" fmla="*/ 489 h 675"/>
              <a:gd name="T14" fmla="*/ 458 w 1036"/>
              <a:gd name="T15" fmla="*/ 489 h 675"/>
              <a:gd name="T16" fmla="*/ 598 w 1036"/>
              <a:gd name="T17" fmla="*/ 555 h 675"/>
              <a:gd name="T18" fmla="*/ 752 w 1036"/>
              <a:gd name="T19" fmla="*/ 657 h 675"/>
              <a:gd name="T20" fmla="*/ 870 w 1036"/>
              <a:gd name="T21" fmla="*/ 661 h 675"/>
              <a:gd name="T22" fmla="*/ 952 w 1036"/>
              <a:gd name="T23" fmla="*/ 603 h 675"/>
              <a:gd name="T24" fmla="*/ 992 w 1036"/>
              <a:gd name="T25" fmla="*/ 445 h 675"/>
              <a:gd name="T26" fmla="*/ 1018 w 1036"/>
              <a:gd name="T27" fmla="*/ 291 h 675"/>
              <a:gd name="T28" fmla="*/ 1022 w 1036"/>
              <a:gd name="T29" fmla="*/ 107 h 675"/>
              <a:gd name="T30" fmla="*/ 934 w 1036"/>
              <a:gd name="T31" fmla="*/ 17 h 675"/>
              <a:gd name="T32" fmla="*/ 776 w 1036"/>
              <a:gd name="T33" fmla="*/ 3 h 675"/>
              <a:gd name="T34" fmla="*/ 64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w="9525">
            <a:noFill/>
            <a:round/>
          </a:ln>
        </p:spPr>
        <p:txBody>
          <a:bodyPr/>
          <a:lstStyle/>
          <a:p>
            <a:endParaRPr lang="en-US"/>
          </a:p>
        </p:txBody>
      </p:sp>
      <p:grpSp>
        <p:nvGrpSpPr>
          <p:cNvPr id="2070" name="Group 465"/>
          <p:cNvGrpSpPr/>
          <p:nvPr/>
        </p:nvGrpSpPr>
        <p:grpSpPr bwMode="auto">
          <a:xfrm>
            <a:off x="1138238" y="3057525"/>
            <a:ext cx="1458912" cy="933450"/>
            <a:chOff x="2889" y="1631"/>
            <a:chExt cx="980" cy="743"/>
          </a:xfrm>
        </p:grpSpPr>
        <p:sp>
          <p:nvSpPr>
            <p:cNvPr id="2394" name="Rectangle 466"/>
            <p:cNvSpPr>
              <a:spLocks noChangeArrowheads="1"/>
            </p:cNvSpPr>
            <p:nvPr/>
          </p:nvSpPr>
          <p:spPr bwMode="auto">
            <a:xfrm>
              <a:off x="3046" y="1841"/>
              <a:ext cx="663" cy="533"/>
            </a:xfrm>
            <a:prstGeom prst="rect">
              <a:avLst/>
            </a:prstGeom>
            <a:solidFill>
              <a:srgbClr val="DDDDDD"/>
            </a:solidFill>
            <a:ln w="9525">
              <a:noFill/>
              <a:miter lim="800000"/>
            </a:ln>
          </p:spPr>
          <p:txBody>
            <a:bodyPr wrap="none" anchor="ctr"/>
            <a:lstStyle/>
            <a:p>
              <a:endParaRPr lang="en-US"/>
            </a:p>
          </p:txBody>
        </p:sp>
        <p:sp>
          <p:nvSpPr>
            <p:cNvPr id="2395" name="AutoShape 467"/>
            <p:cNvSpPr>
              <a:spLocks noChangeArrowheads="1"/>
            </p:cNvSpPr>
            <p:nvPr/>
          </p:nvSpPr>
          <p:spPr bwMode="auto">
            <a:xfrm>
              <a:off x="2889" y="1631"/>
              <a:ext cx="980" cy="253"/>
            </a:xfrm>
            <a:prstGeom prst="triangle">
              <a:avLst>
                <a:gd name="adj" fmla="val 50000"/>
              </a:avLst>
            </a:prstGeom>
            <a:solidFill>
              <a:srgbClr val="DDDDDD"/>
            </a:solidFill>
            <a:ln w="9525">
              <a:noFill/>
              <a:miter lim="800000"/>
            </a:ln>
          </p:spPr>
          <p:txBody>
            <a:bodyPr wrap="none" anchor="ctr"/>
            <a:lstStyle/>
            <a:p>
              <a:pPr algn="ctr">
                <a:spcBef>
                  <a:spcPct val="0"/>
                </a:spcBef>
                <a:buClrTx/>
                <a:buSzTx/>
                <a:buFontTx/>
                <a:buNone/>
              </a:pPr>
              <a:endParaRPr lang="en-US">
                <a:solidFill>
                  <a:srgbClr val="00CCFF"/>
                </a:solidFill>
                <a:latin typeface="Times New Roman" panose="02020603050405020304" pitchFamily="18" charset="0"/>
              </a:endParaRPr>
            </a:p>
          </p:txBody>
        </p:sp>
      </p:grpSp>
      <p:grpSp>
        <p:nvGrpSpPr>
          <p:cNvPr id="2071" name="Group 468"/>
          <p:cNvGrpSpPr/>
          <p:nvPr/>
        </p:nvGrpSpPr>
        <p:grpSpPr bwMode="auto">
          <a:xfrm>
            <a:off x="1839913" y="1914525"/>
            <a:ext cx="336550" cy="531813"/>
            <a:chOff x="3796" y="1043"/>
            <a:chExt cx="865" cy="1237"/>
          </a:xfrm>
        </p:grpSpPr>
        <p:sp>
          <p:nvSpPr>
            <p:cNvPr id="2364" name="Line 469"/>
            <p:cNvSpPr>
              <a:spLocks noChangeShapeType="1"/>
            </p:cNvSpPr>
            <p:nvPr/>
          </p:nvSpPr>
          <p:spPr bwMode="auto">
            <a:xfrm flipH="1">
              <a:off x="3992" y="1481"/>
              <a:ext cx="235" cy="724"/>
            </a:xfrm>
            <a:prstGeom prst="line">
              <a:avLst/>
            </a:prstGeom>
            <a:noFill/>
            <a:ln w="9525">
              <a:solidFill>
                <a:schemeClr val="bg2"/>
              </a:solidFill>
              <a:round/>
            </a:ln>
          </p:spPr>
          <p:txBody>
            <a:bodyPr wrap="none"/>
            <a:lstStyle/>
            <a:p>
              <a:endParaRPr lang="en-US"/>
            </a:p>
          </p:txBody>
        </p:sp>
        <p:sp>
          <p:nvSpPr>
            <p:cNvPr id="2365" name="Line 470"/>
            <p:cNvSpPr>
              <a:spLocks noChangeShapeType="1"/>
            </p:cNvSpPr>
            <p:nvPr/>
          </p:nvSpPr>
          <p:spPr bwMode="auto">
            <a:xfrm>
              <a:off x="4227" y="1481"/>
              <a:ext cx="236" cy="720"/>
            </a:xfrm>
            <a:prstGeom prst="line">
              <a:avLst/>
            </a:prstGeom>
            <a:noFill/>
            <a:ln w="9525">
              <a:solidFill>
                <a:schemeClr val="bg2"/>
              </a:solidFill>
              <a:round/>
            </a:ln>
          </p:spPr>
          <p:txBody>
            <a:bodyPr wrap="none"/>
            <a:lstStyle/>
            <a:p>
              <a:endParaRPr lang="en-US"/>
            </a:p>
          </p:txBody>
        </p:sp>
        <p:sp>
          <p:nvSpPr>
            <p:cNvPr id="2366" name="Line 471"/>
            <p:cNvSpPr>
              <a:spLocks noChangeShapeType="1"/>
            </p:cNvSpPr>
            <p:nvPr/>
          </p:nvSpPr>
          <p:spPr bwMode="auto">
            <a:xfrm>
              <a:off x="3992" y="2201"/>
              <a:ext cx="235" cy="79"/>
            </a:xfrm>
            <a:prstGeom prst="line">
              <a:avLst/>
            </a:prstGeom>
            <a:noFill/>
            <a:ln w="9525">
              <a:solidFill>
                <a:schemeClr val="bg2"/>
              </a:solidFill>
              <a:round/>
            </a:ln>
          </p:spPr>
          <p:txBody>
            <a:bodyPr wrap="none"/>
            <a:lstStyle/>
            <a:p>
              <a:endParaRPr lang="en-US"/>
            </a:p>
          </p:txBody>
        </p:sp>
        <p:sp>
          <p:nvSpPr>
            <p:cNvPr id="2367" name="Line 472"/>
            <p:cNvSpPr>
              <a:spLocks noChangeShapeType="1"/>
            </p:cNvSpPr>
            <p:nvPr/>
          </p:nvSpPr>
          <p:spPr bwMode="auto">
            <a:xfrm flipH="1">
              <a:off x="4227" y="2201"/>
              <a:ext cx="236" cy="79"/>
            </a:xfrm>
            <a:prstGeom prst="line">
              <a:avLst/>
            </a:prstGeom>
            <a:noFill/>
            <a:ln w="9525">
              <a:solidFill>
                <a:schemeClr val="bg2"/>
              </a:solidFill>
              <a:round/>
            </a:ln>
          </p:spPr>
          <p:txBody>
            <a:bodyPr wrap="none"/>
            <a:lstStyle/>
            <a:p>
              <a:endParaRPr lang="en-US"/>
            </a:p>
          </p:txBody>
        </p:sp>
        <p:sp>
          <p:nvSpPr>
            <p:cNvPr id="2368" name="Line 473"/>
            <p:cNvSpPr>
              <a:spLocks noChangeShapeType="1"/>
            </p:cNvSpPr>
            <p:nvPr/>
          </p:nvSpPr>
          <p:spPr bwMode="auto">
            <a:xfrm>
              <a:off x="4227" y="1497"/>
              <a:ext cx="0" cy="783"/>
            </a:xfrm>
            <a:prstGeom prst="line">
              <a:avLst/>
            </a:prstGeom>
            <a:noFill/>
            <a:ln w="9525">
              <a:solidFill>
                <a:schemeClr val="bg2"/>
              </a:solidFill>
              <a:round/>
            </a:ln>
          </p:spPr>
          <p:txBody>
            <a:bodyPr wrap="none"/>
            <a:lstStyle/>
            <a:p>
              <a:endParaRPr lang="en-US"/>
            </a:p>
          </p:txBody>
        </p:sp>
        <p:sp>
          <p:nvSpPr>
            <p:cNvPr id="2369" name="Line 474"/>
            <p:cNvSpPr>
              <a:spLocks noChangeShapeType="1"/>
            </p:cNvSpPr>
            <p:nvPr/>
          </p:nvSpPr>
          <p:spPr bwMode="auto">
            <a:xfrm flipV="1">
              <a:off x="3992" y="2127"/>
              <a:ext cx="235" cy="78"/>
            </a:xfrm>
            <a:prstGeom prst="line">
              <a:avLst/>
            </a:prstGeom>
            <a:noFill/>
            <a:ln w="9525">
              <a:solidFill>
                <a:schemeClr val="bg2"/>
              </a:solidFill>
              <a:round/>
            </a:ln>
          </p:spPr>
          <p:txBody>
            <a:bodyPr wrap="none"/>
            <a:lstStyle/>
            <a:p>
              <a:endParaRPr lang="en-US"/>
            </a:p>
          </p:txBody>
        </p:sp>
        <p:sp>
          <p:nvSpPr>
            <p:cNvPr id="2370" name="Line 475"/>
            <p:cNvSpPr>
              <a:spLocks noChangeShapeType="1"/>
            </p:cNvSpPr>
            <p:nvPr/>
          </p:nvSpPr>
          <p:spPr bwMode="auto">
            <a:xfrm flipH="1" flipV="1">
              <a:off x="4227" y="2127"/>
              <a:ext cx="236" cy="74"/>
            </a:xfrm>
            <a:prstGeom prst="line">
              <a:avLst/>
            </a:prstGeom>
            <a:noFill/>
            <a:ln w="9525">
              <a:solidFill>
                <a:schemeClr val="bg2"/>
              </a:solidFill>
              <a:round/>
            </a:ln>
          </p:spPr>
          <p:txBody>
            <a:bodyPr wrap="none"/>
            <a:lstStyle/>
            <a:p>
              <a:endParaRPr lang="en-US"/>
            </a:p>
          </p:txBody>
        </p:sp>
        <p:sp>
          <p:nvSpPr>
            <p:cNvPr id="2371" name="Line 476"/>
            <p:cNvSpPr>
              <a:spLocks noChangeShapeType="1"/>
            </p:cNvSpPr>
            <p:nvPr/>
          </p:nvSpPr>
          <p:spPr bwMode="auto">
            <a:xfrm>
              <a:off x="4092" y="1890"/>
              <a:ext cx="135" cy="60"/>
            </a:xfrm>
            <a:prstGeom prst="line">
              <a:avLst/>
            </a:prstGeom>
            <a:noFill/>
            <a:ln w="9525">
              <a:solidFill>
                <a:schemeClr val="bg2"/>
              </a:solidFill>
              <a:round/>
            </a:ln>
          </p:spPr>
          <p:txBody>
            <a:bodyPr wrap="none"/>
            <a:lstStyle/>
            <a:p>
              <a:endParaRPr lang="en-US"/>
            </a:p>
          </p:txBody>
        </p:sp>
        <p:sp>
          <p:nvSpPr>
            <p:cNvPr id="2372" name="Line 477"/>
            <p:cNvSpPr>
              <a:spLocks noChangeShapeType="1"/>
            </p:cNvSpPr>
            <p:nvPr/>
          </p:nvSpPr>
          <p:spPr bwMode="auto">
            <a:xfrm flipV="1">
              <a:off x="4227" y="1890"/>
              <a:ext cx="143" cy="60"/>
            </a:xfrm>
            <a:prstGeom prst="line">
              <a:avLst/>
            </a:prstGeom>
            <a:noFill/>
            <a:ln w="9525">
              <a:solidFill>
                <a:schemeClr val="bg2"/>
              </a:solidFill>
              <a:round/>
            </a:ln>
          </p:spPr>
          <p:txBody>
            <a:bodyPr wrap="none"/>
            <a:lstStyle/>
            <a:p>
              <a:endParaRPr lang="en-US"/>
            </a:p>
          </p:txBody>
        </p:sp>
        <p:sp>
          <p:nvSpPr>
            <p:cNvPr id="2373" name="Line 478"/>
            <p:cNvSpPr>
              <a:spLocks noChangeShapeType="1"/>
            </p:cNvSpPr>
            <p:nvPr/>
          </p:nvSpPr>
          <p:spPr bwMode="auto">
            <a:xfrm>
              <a:off x="4047" y="1996"/>
              <a:ext cx="175" cy="81"/>
            </a:xfrm>
            <a:prstGeom prst="line">
              <a:avLst/>
            </a:prstGeom>
            <a:noFill/>
            <a:ln w="9525">
              <a:solidFill>
                <a:schemeClr val="bg2"/>
              </a:solidFill>
              <a:round/>
            </a:ln>
          </p:spPr>
          <p:txBody>
            <a:bodyPr wrap="none"/>
            <a:lstStyle/>
            <a:p>
              <a:endParaRPr lang="en-US"/>
            </a:p>
          </p:txBody>
        </p:sp>
        <p:sp>
          <p:nvSpPr>
            <p:cNvPr id="2374" name="Line 479"/>
            <p:cNvSpPr>
              <a:spLocks noChangeShapeType="1"/>
            </p:cNvSpPr>
            <p:nvPr/>
          </p:nvSpPr>
          <p:spPr bwMode="auto">
            <a:xfrm flipV="1">
              <a:off x="4227" y="2012"/>
              <a:ext cx="176" cy="71"/>
            </a:xfrm>
            <a:prstGeom prst="line">
              <a:avLst/>
            </a:prstGeom>
            <a:noFill/>
            <a:ln w="9525">
              <a:solidFill>
                <a:schemeClr val="bg2"/>
              </a:solidFill>
              <a:round/>
            </a:ln>
          </p:spPr>
          <p:txBody>
            <a:bodyPr wrap="none"/>
            <a:lstStyle/>
            <a:p>
              <a:endParaRPr lang="en-US"/>
            </a:p>
          </p:txBody>
        </p:sp>
        <p:sp>
          <p:nvSpPr>
            <p:cNvPr id="2375" name="Line 480"/>
            <p:cNvSpPr>
              <a:spLocks noChangeShapeType="1"/>
            </p:cNvSpPr>
            <p:nvPr/>
          </p:nvSpPr>
          <p:spPr bwMode="auto">
            <a:xfrm flipV="1">
              <a:off x="4227" y="1782"/>
              <a:ext cx="90" cy="29"/>
            </a:xfrm>
            <a:prstGeom prst="line">
              <a:avLst/>
            </a:prstGeom>
            <a:noFill/>
            <a:ln w="9525">
              <a:solidFill>
                <a:schemeClr val="bg2"/>
              </a:solidFill>
              <a:round/>
            </a:ln>
          </p:spPr>
          <p:txBody>
            <a:bodyPr wrap="none"/>
            <a:lstStyle/>
            <a:p>
              <a:endParaRPr lang="en-US"/>
            </a:p>
          </p:txBody>
        </p:sp>
        <p:sp>
          <p:nvSpPr>
            <p:cNvPr id="2376" name="Line 481"/>
            <p:cNvSpPr>
              <a:spLocks noChangeShapeType="1"/>
            </p:cNvSpPr>
            <p:nvPr/>
          </p:nvSpPr>
          <p:spPr bwMode="auto">
            <a:xfrm flipV="1">
              <a:off x="4227" y="1632"/>
              <a:ext cx="57" cy="22"/>
            </a:xfrm>
            <a:prstGeom prst="line">
              <a:avLst/>
            </a:prstGeom>
            <a:noFill/>
            <a:ln w="9525">
              <a:solidFill>
                <a:schemeClr val="bg2"/>
              </a:solidFill>
              <a:round/>
            </a:ln>
          </p:spPr>
          <p:txBody>
            <a:bodyPr wrap="none"/>
            <a:lstStyle/>
            <a:p>
              <a:endParaRPr lang="en-US"/>
            </a:p>
          </p:txBody>
        </p:sp>
        <p:sp>
          <p:nvSpPr>
            <p:cNvPr id="2377" name="Line 482"/>
            <p:cNvSpPr>
              <a:spLocks noChangeShapeType="1"/>
            </p:cNvSpPr>
            <p:nvPr/>
          </p:nvSpPr>
          <p:spPr bwMode="auto">
            <a:xfrm>
              <a:off x="4126" y="1772"/>
              <a:ext cx="109" cy="39"/>
            </a:xfrm>
            <a:prstGeom prst="line">
              <a:avLst/>
            </a:prstGeom>
            <a:noFill/>
            <a:ln w="9525">
              <a:solidFill>
                <a:schemeClr val="bg2"/>
              </a:solidFill>
              <a:round/>
            </a:ln>
          </p:spPr>
          <p:txBody>
            <a:bodyPr wrap="none"/>
            <a:lstStyle/>
            <a:p>
              <a:endParaRPr lang="en-US"/>
            </a:p>
          </p:txBody>
        </p:sp>
        <p:sp>
          <p:nvSpPr>
            <p:cNvPr id="2378" name="Line 483"/>
            <p:cNvSpPr>
              <a:spLocks noChangeShapeType="1"/>
            </p:cNvSpPr>
            <p:nvPr/>
          </p:nvSpPr>
          <p:spPr bwMode="auto">
            <a:xfrm>
              <a:off x="4175" y="1625"/>
              <a:ext cx="63" cy="39"/>
            </a:xfrm>
            <a:prstGeom prst="line">
              <a:avLst/>
            </a:prstGeom>
            <a:noFill/>
            <a:ln w="9525">
              <a:solidFill>
                <a:schemeClr val="bg2"/>
              </a:solidFill>
              <a:round/>
            </a:ln>
          </p:spPr>
          <p:txBody>
            <a:bodyPr wrap="none"/>
            <a:lstStyle/>
            <a:p>
              <a:endParaRPr lang="en-US"/>
            </a:p>
          </p:txBody>
        </p:sp>
        <p:grpSp>
          <p:nvGrpSpPr>
            <p:cNvPr id="2379" name="Group 484"/>
            <p:cNvGrpSpPr/>
            <p:nvPr/>
          </p:nvGrpSpPr>
          <p:grpSpPr bwMode="auto">
            <a:xfrm>
              <a:off x="4269" y="1415"/>
              <a:ext cx="392" cy="137"/>
              <a:chOff x="4227" y="1360"/>
              <a:chExt cx="863" cy="270"/>
            </a:xfrm>
          </p:grpSpPr>
          <p:sp>
            <p:nvSpPr>
              <p:cNvPr id="2390" name="Line 485"/>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2391" name="Line 486"/>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2392" name="Line 487"/>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2393" name="Line 488"/>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nvGrpSpPr>
            <p:cNvPr id="2380" name="Group 489"/>
            <p:cNvGrpSpPr/>
            <p:nvPr/>
          </p:nvGrpSpPr>
          <p:grpSpPr bwMode="auto">
            <a:xfrm rot="5700496">
              <a:off x="4053" y="1170"/>
              <a:ext cx="392" cy="137"/>
              <a:chOff x="4227" y="1360"/>
              <a:chExt cx="863" cy="270"/>
            </a:xfrm>
          </p:grpSpPr>
          <p:sp>
            <p:nvSpPr>
              <p:cNvPr id="2386" name="Line 490"/>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2387" name="Line 491"/>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2388" name="Line 492"/>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2389" name="Line 493"/>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nvGrpSpPr>
            <p:cNvPr id="2381" name="Group 494"/>
            <p:cNvGrpSpPr/>
            <p:nvPr/>
          </p:nvGrpSpPr>
          <p:grpSpPr bwMode="auto">
            <a:xfrm rot="10800000">
              <a:off x="3796" y="1402"/>
              <a:ext cx="392" cy="137"/>
              <a:chOff x="4227" y="1360"/>
              <a:chExt cx="863" cy="270"/>
            </a:xfrm>
          </p:grpSpPr>
          <p:sp>
            <p:nvSpPr>
              <p:cNvPr id="2382" name="Line 495"/>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2383" name="Line 496"/>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2384" name="Line 497"/>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2385" name="Line 498"/>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sp>
        <p:nvSpPr>
          <p:cNvPr id="2072" name="Oval 499"/>
          <p:cNvSpPr>
            <a:spLocks noChangeArrowheads="1"/>
          </p:cNvSpPr>
          <p:nvPr/>
        </p:nvSpPr>
        <p:spPr bwMode="auto">
          <a:xfrm>
            <a:off x="2897188" y="373538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2073" name="Line 500"/>
          <p:cNvSpPr>
            <a:spLocks noChangeShapeType="1"/>
          </p:cNvSpPr>
          <p:nvPr/>
        </p:nvSpPr>
        <p:spPr bwMode="auto">
          <a:xfrm>
            <a:off x="2897188" y="3727450"/>
            <a:ext cx="0" cy="58738"/>
          </a:xfrm>
          <a:prstGeom prst="line">
            <a:avLst/>
          </a:prstGeom>
          <a:noFill/>
          <a:ln w="12700">
            <a:solidFill>
              <a:schemeClr val="folHlink"/>
            </a:solidFill>
            <a:round/>
          </a:ln>
        </p:spPr>
        <p:txBody>
          <a:bodyPr wrap="none" anchor="ctr"/>
          <a:lstStyle/>
          <a:p>
            <a:endParaRPr lang="en-US"/>
          </a:p>
        </p:txBody>
      </p:sp>
      <p:sp>
        <p:nvSpPr>
          <p:cNvPr id="2074" name="Line 501"/>
          <p:cNvSpPr>
            <a:spLocks noChangeShapeType="1"/>
          </p:cNvSpPr>
          <p:nvPr/>
        </p:nvSpPr>
        <p:spPr bwMode="auto">
          <a:xfrm>
            <a:off x="3255963" y="3727450"/>
            <a:ext cx="0" cy="58738"/>
          </a:xfrm>
          <a:prstGeom prst="line">
            <a:avLst/>
          </a:prstGeom>
          <a:noFill/>
          <a:ln w="12700">
            <a:solidFill>
              <a:schemeClr val="folHlink"/>
            </a:solidFill>
            <a:round/>
          </a:ln>
        </p:spPr>
        <p:txBody>
          <a:bodyPr wrap="none" anchor="ctr"/>
          <a:lstStyle/>
          <a:p>
            <a:endParaRPr lang="en-US"/>
          </a:p>
        </p:txBody>
      </p:sp>
      <p:sp>
        <p:nvSpPr>
          <p:cNvPr id="2075" name="Rectangle 502"/>
          <p:cNvSpPr>
            <a:spLocks noChangeArrowheads="1"/>
          </p:cNvSpPr>
          <p:nvPr/>
        </p:nvSpPr>
        <p:spPr bwMode="auto">
          <a:xfrm>
            <a:off x="2897188" y="372745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076" name="Oval 503"/>
          <p:cNvSpPr>
            <a:spLocks noChangeArrowheads="1"/>
          </p:cNvSpPr>
          <p:nvPr/>
        </p:nvSpPr>
        <p:spPr bwMode="auto">
          <a:xfrm>
            <a:off x="2894013" y="365918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2077" name="Group 504"/>
          <p:cNvGrpSpPr/>
          <p:nvPr/>
        </p:nvGrpSpPr>
        <p:grpSpPr bwMode="auto">
          <a:xfrm>
            <a:off x="2979738" y="3683000"/>
            <a:ext cx="179387" cy="65088"/>
            <a:chOff x="2848" y="848"/>
            <a:chExt cx="140" cy="98"/>
          </a:xfrm>
        </p:grpSpPr>
        <p:sp>
          <p:nvSpPr>
            <p:cNvPr id="2361" name="Line 50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62" name="Line 50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63" name="Line 50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078" name="Group 508"/>
          <p:cNvGrpSpPr/>
          <p:nvPr/>
        </p:nvGrpSpPr>
        <p:grpSpPr bwMode="auto">
          <a:xfrm flipV="1">
            <a:off x="2979738" y="3683000"/>
            <a:ext cx="179387" cy="65088"/>
            <a:chOff x="2848" y="848"/>
            <a:chExt cx="140" cy="98"/>
          </a:xfrm>
        </p:grpSpPr>
        <p:sp>
          <p:nvSpPr>
            <p:cNvPr id="2358" name="Line 50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59" name="Line 51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60" name="Line 51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2079" name="Oval 512"/>
          <p:cNvSpPr>
            <a:spLocks noChangeArrowheads="1"/>
          </p:cNvSpPr>
          <p:nvPr/>
        </p:nvSpPr>
        <p:spPr bwMode="auto">
          <a:xfrm>
            <a:off x="3252788" y="401478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2080" name="Line 513"/>
          <p:cNvSpPr>
            <a:spLocks noChangeShapeType="1"/>
          </p:cNvSpPr>
          <p:nvPr/>
        </p:nvSpPr>
        <p:spPr bwMode="auto">
          <a:xfrm>
            <a:off x="3252788" y="4006850"/>
            <a:ext cx="0" cy="58738"/>
          </a:xfrm>
          <a:prstGeom prst="line">
            <a:avLst/>
          </a:prstGeom>
          <a:noFill/>
          <a:ln w="12700">
            <a:solidFill>
              <a:schemeClr val="folHlink"/>
            </a:solidFill>
            <a:round/>
          </a:ln>
        </p:spPr>
        <p:txBody>
          <a:bodyPr wrap="none" anchor="ctr"/>
          <a:lstStyle/>
          <a:p>
            <a:endParaRPr lang="en-US"/>
          </a:p>
        </p:txBody>
      </p:sp>
      <p:sp>
        <p:nvSpPr>
          <p:cNvPr id="2081" name="Line 514"/>
          <p:cNvSpPr>
            <a:spLocks noChangeShapeType="1"/>
          </p:cNvSpPr>
          <p:nvPr/>
        </p:nvSpPr>
        <p:spPr bwMode="auto">
          <a:xfrm>
            <a:off x="3611563" y="4006850"/>
            <a:ext cx="0" cy="58738"/>
          </a:xfrm>
          <a:prstGeom prst="line">
            <a:avLst/>
          </a:prstGeom>
          <a:noFill/>
          <a:ln w="12700">
            <a:solidFill>
              <a:schemeClr val="folHlink"/>
            </a:solidFill>
            <a:round/>
          </a:ln>
        </p:spPr>
        <p:txBody>
          <a:bodyPr wrap="none" anchor="ctr"/>
          <a:lstStyle/>
          <a:p>
            <a:endParaRPr lang="en-US"/>
          </a:p>
        </p:txBody>
      </p:sp>
      <p:sp>
        <p:nvSpPr>
          <p:cNvPr id="2082" name="Rectangle 515"/>
          <p:cNvSpPr>
            <a:spLocks noChangeArrowheads="1"/>
          </p:cNvSpPr>
          <p:nvPr/>
        </p:nvSpPr>
        <p:spPr bwMode="auto">
          <a:xfrm>
            <a:off x="3252788" y="400685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083" name="Oval 516"/>
          <p:cNvSpPr>
            <a:spLocks noChangeArrowheads="1"/>
          </p:cNvSpPr>
          <p:nvPr/>
        </p:nvSpPr>
        <p:spPr bwMode="auto">
          <a:xfrm>
            <a:off x="3249613" y="393858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2084" name="Group 517"/>
          <p:cNvGrpSpPr/>
          <p:nvPr/>
        </p:nvGrpSpPr>
        <p:grpSpPr bwMode="auto">
          <a:xfrm>
            <a:off x="3335338" y="3962400"/>
            <a:ext cx="179387" cy="65088"/>
            <a:chOff x="2848" y="848"/>
            <a:chExt cx="140" cy="98"/>
          </a:xfrm>
        </p:grpSpPr>
        <p:sp>
          <p:nvSpPr>
            <p:cNvPr id="2355" name="Line 518"/>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56" name="Line 519"/>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57" name="Line 520"/>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085" name="Group 521"/>
          <p:cNvGrpSpPr/>
          <p:nvPr/>
        </p:nvGrpSpPr>
        <p:grpSpPr bwMode="auto">
          <a:xfrm flipV="1">
            <a:off x="3335338" y="3962400"/>
            <a:ext cx="179387" cy="65088"/>
            <a:chOff x="2848" y="848"/>
            <a:chExt cx="140" cy="98"/>
          </a:xfrm>
        </p:grpSpPr>
        <p:sp>
          <p:nvSpPr>
            <p:cNvPr id="2352" name="Line 522"/>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53" name="Line 523"/>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54" name="Line 524"/>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2086" name="Oval 525"/>
          <p:cNvSpPr>
            <a:spLocks noChangeArrowheads="1"/>
          </p:cNvSpPr>
          <p:nvPr/>
        </p:nvSpPr>
        <p:spPr bwMode="auto">
          <a:xfrm>
            <a:off x="3532188" y="374808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2087" name="Line 526"/>
          <p:cNvSpPr>
            <a:spLocks noChangeShapeType="1"/>
          </p:cNvSpPr>
          <p:nvPr/>
        </p:nvSpPr>
        <p:spPr bwMode="auto">
          <a:xfrm>
            <a:off x="3532188" y="3740150"/>
            <a:ext cx="0" cy="58738"/>
          </a:xfrm>
          <a:prstGeom prst="line">
            <a:avLst/>
          </a:prstGeom>
          <a:noFill/>
          <a:ln w="12700">
            <a:solidFill>
              <a:schemeClr val="folHlink"/>
            </a:solidFill>
            <a:round/>
          </a:ln>
        </p:spPr>
        <p:txBody>
          <a:bodyPr wrap="none" anchor="ctr"/>
          <a:lstStyle/>
          <a:p>
            <a:endParaRPr lang="en-US"/>
          </a:p>
        </p:txBody>
      </p:sp>
      <p:sp>
        <p:nvSpPr>
          <p:cNvPr id="2088" name="Line 527"/>
          <p:cNvSpPr>
            <a:spLocks noChangeShapeType="1"/>
          </p:cNvSpPr>
          <p:nvPr/>
        </p:nvSpPr>
        <p:spPr bwMode="auto">
          <a:xfrm>
            <a:off x="3890963" y="3740150"/>
            <a:ext cx="0" cy="58738"/>
          </a:xfrm>
          <a:prstGeom prst="line">
            <a:avLst/>
          </a:prstGeom>
          <a:noFill/>
          <a:ln w="12700">
            <a:solidFill>
              <a:schemeClr val="folHlink"/>
            </a:solidFill>
            <a:round/>
          </a:ln>
        </p:spPr>
        <p:txBody>
          <a:bodyPr wrap="none" anchor="ctr"/>
          <a:lstStyle/>
          <a:p>
            <a:endParaRPr lang="en-US"/>
          </a:p>
        </p:txBody>
      </p:sp>
      <p:sp>
        <p:nvSpPr>
          <p:cNvPr id="2089" name="Rectangle 528"/>
          <p:cNvSpPr>
            <a:spLocks noChangeArrowheads="1"/>
          </p:cNvSpPr>
          <p:nvPr/>
        </p:nvSpPr>
        <p:spPr bwMode="auto">
          <a:xfrm>
            <a:off x="3532188" y="374015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090" name="Oval 529"/>
          <p:cNvSpPr>
            <a:spLocks noChangeArrowheads="1"/>
          </p:cNvSpPr>
          <p:nvPr/>
        </p:nvSpPr>
        <p:spPr bwMode="auto">
          <a:xfrm>
            <a:off x="3529013" y="367188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2091" name="Group 530"/>
          <p:cNvGrpSpPr/>
          <p:nvPr/>
        </p:nvGrpSpPr>
        <p:grpSpPr bwMode="auto">
          <a:xfrm>
            <a:off x="3614738" y="3695700"/>
            <a:ext cx="179387" cy="65088"/>
            <a:chOff x="2848" y="848"/>
            <a:chExt cx="140" cy="98"/>
          </a:xfrm>
        </p:grpSpPr>
        <p:sp>
          <p:nvSpPr>
            <p:cNvPr id="2349" name="Line 531"/>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50" name="Line 532"/>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51" name="Line 533"/>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092" name="Group 534"/>
          <p:cNvGrpSpPr/>
          <p:nvPr/>
        </p:nvGrpSpPr>
        <p:grpSpPr bwMode="auto">
          <a:xfrm flipV="1">
            <a:off x="3614738" y="3695700"/>
            <a:ext cx="179387" cy="65088"/>
            <a:chOff x="2848" y="848"/>
            <a:chExt cx="140" cy="98"/>
          </a:xfrm>
        </p:grpSpPr>
        <p:sp>
          <p:nvSpPr>
            <p:cNvPr id="2346" name="Line 53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47" name="Line 53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48" name="Line 53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2093" name="Oval 538"/>
          <p:cNvSpPr>
            <a:spLocks noChangeArrowheads="1"/>
          </p:cNvSpPr>
          <p:nvPr/>
        </p:nvSpPr>
        <p:spPr bwMode="auto">
          <a:xfrm>
            <a:off x="2997200" y="2586038"/>
            <a:ext cx="347663" cy="88900"/>
          </a:xfrm>
          <a:prstGeom prst="ellipse">
            <a:avLst/>
          </a:prstGeom>
          <a:solidFill>
            <a:srgbClr val="DDDDDD"/>
          </a:solidFill>
          <a:ln w="12700">
            <a:solidFill>
              <a:schemeClr val="folHlink"/>
            </a:solidFill>
            <a:round/>
          </a:ln>
        </p:spPr>
        <p:txBody>
          <a:bodyPr wrap="none" anchor="ctr"/>
          <a:lstStyle/>
          <a:p>
            <a:endParaRPr lang="en-US"/>
          </a:p>
        </p:txBody>
      </p:sp>
      <p:sp>
        <p:nvSpPr>
          <p:cNvPr id="2094" name="Line 539"/>
          <p:cNvSpPr>
            <a:spLocks noChangeShapeType="1"/>
          </p:cNvSpPr>
          <p:nvPr/>
        </p:nvSpPr>
        <p:spPr bwMode="auto">
          <a:xfrm>
            <a:off x="2997200" y="2578100"/>
            <a:ext cx="0" cy="55563"/>
          </a:xfrm>
          <a:prstGeom prst="line">
            <a:avLst/>
          </a:prstGeom>
          <a:noFill/>
          <a:ln w="12700">
            <a:solidFill>
              <a:schemeClr val="folHlink"/>
            </a:solidFill>
            <a:round/>
          </a:ln>
        </p:spPr>
        <p:txBody>
          <a:bodyPr wrap="none" anchor="ctr"/>
          <a:lstStyle/>
          <a:p>
            <a:endParaRPr lang="en-US"/>
          </a:p>
        </p:txBody>
      </p:sp>
      <p:sp>
        <p:nvSpPr>
          <p:cNvPr id="2095" name="Line 540"/>
          <p:cNvSpPr>
            <a:spLocks noChangeShapeType="1"/>
          </p:cNvSpPr>
          <p:nvPr/>
        </p:nvSpPr>
        <p:spPr bwMode="auto">
          <a:xfrm>
            <a:off x="3344863" y="2578100"/>
            <a:ext cx="0" cy="55563"/>
          </a:xfrm>
          <a:prstGeom prst="line">
            <a:avLst/>
          </a:prstGeom>
          <a:noFill/>
          <a:ln w="12700">
            <a:solidFill>
              <a:schemeClr val="folHlink"/>
            </a:solidFill>
            <a:round/>
          </a:ln>
        </p:spPr>
        <p:txBody>
          <a:bodyPr wrap="none" anchor="ctr"/>
          <a:lstStyle/>
          <a:p>
            <a:endParaRPr lang="en-US"/>
          </a:p>
        </p:txBody>
      </p:sp>
      <p:sp>
        <p:nvSpPr>
          <p:cNvPr id="2096" name="Rectangle 541"/>
          <p:cNvSpPr>
            <a:spLocks noChangeArrowheads="1"/>
          </p:cNvSpPr>
          <p:nvPr/>
        </p:nvSpPr>
        <p:spPr bwMode="auto">
          <a:xfrm>
            <a:off x="2997200" y="2578100"/>
            <a:ext cx="344488"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097" name="Oval 542"/>
          <p:cNvSpPr>
            <a:spLocks noChangeArrowheads="1"/>
          </p:cNvSpPr>
          <p:nvPr/>
        </p:nvSpPr>
        <p:spPr bwMode="auto">
          <a:xfrm>
            <a:off x="2994025" y="2514600"/>
            <a:ext cx="347663" cy="103188"/>
          </a:xfrm>
          <a:prstGeom prst="ellipse">
            <a:avLst/>
          </a:prstGeom>
          <a:solidFill>
            <a:srgbClr val="DDDDDD"/>
          </a:solidFill>
          <a:ln w="12700">
            <a:solidFill>
              <a:schemeClr val="folHlink"/>
            </a:solidFill>
            <a:round/>
          </a:ln>
        </p:spPr>
        <p:txBody>
          <a:bodyPr wrap="none" anchor="ctr"/>
          <a:lstStyle/>
          <a:p>
            <a:endParaRPr lang="en-US"/>
          </a:p>
        </p:txBody>
      </p:sp>
      <p:grpSp>
        <p:nvGrpSpPr>
          <p:cNvPr id="2098" name="Group 543"/>
          <p:cNvGrpSpPr/>
          <p:nvPr/>
        </p:nvGrpSpPr>
        <p:grpSpPr bwMode="auto">
          <a:xfrm>
            <a:off x="3078163" y="2536825"/>
            <a:ext cx="171450" cy="61913"/>
            <a:chOff x="2848" y="848"/>
            <a:chExt cx="140" cy="98"/>
          </a:xfrm>
        </p:grpSpPr>
        <p:sp>
          <p:nvSpPr>
            <p:cNvPr id="2343" name="Line 54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44" name="Line 54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45" name="Line 54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099" name="Group 547"/>
          <p:cNvGrpSpPr/>
          <p:nvPr/>
        </p:nvGrpSpPr>
        <p:grpSpPr bwMode="auto">
          <a:xfrm flipV="1">
            <a:off x="3078163" y="2536825"/>
            <a:ext cx="171450" cy="60325"/>
            <a:chOff x="2848" y="848"/>
            <a:chExt cx="140" cy="98"/>
          </a:xfrm>
        </p:grpSpPr>
        <p:sp>
          <p:nvSpPr>
            <p:cNvPr id="2340" name="Line 548"/>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41" name="Line 549"/>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42" name="Line 550"/>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2100" name="Oval 551"/>
          <p:cNvSpPr>
            <a:spLocks noChangeArrowheads="1"/>
          </p:cNvSpPr>
          <p:nvPr/>
        </p:nvSpPr>
        <p:spPr bwMode="auto">
          <a:xfrm>
            <a:off x="2995613" y="284638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2101" name="Line 552"/>
          <p:cNvSpPr>
            <a:spLocks noChangeShapeType="1"/>
          </p:cNvSpPr>
          <p:nvPr/>
        </p:nvSpPr>
        <p:spPr bwMode="auto">
          <a:xfrm>
            <a:off x="2995613" y="2838450"/>
            <a:ext cx="0" cy="58738"/>
          </a:xfrm>
          <a:prstGeom prst="line">
            <a:avLst/>
          </a:prstGeom>
          <a:noFill/>
          <a:ln w="12700">
            <a:solidFill>
              <a:schemeClr val="folHlink"/>
            </a:solidFill>
            <a:round/>
          </a:ln>
        </p:spPr>
        <p:txBody>
          <a:bodyPr wrap="none" anchor="ctr"/>
          <a:lstStyle/>
          <a:p>
            <a:endParaRPr lang="en-US"/>
          </a:p>
        </p:txBody>
      </p:sp>
      <p:sp>
        <p:nvSpPr>
          <p:cNvPr id="2102" name="Line 553"/>
          <p:cNvSpPr>
            <a:spLocks noChangeShapeType="1"/>
          </p:cNvSpPr>
          <p:nvPr/>
        </p:nvSpPr>
        <p:spPr bwMode="auto">
          <a:xfrm>
            <a:off x="3354388" y="2838450"/>
            <a:ext cx="0" cy="58738"/>
          </a:xfrm>
          <a:prstGeom prst="line">
            <a:avLst/>
          </a:prstGeom>
          <a:noFill/>
          <a:ln w="12700">
            <a:solidFill>
              <a:schemeClr val="folHlink"/>
            </a:solidFill>
            <a:round/>
          </a:ln>
        </p:spPr>
        <p:txBody>
          <a:bodyPr wrap="none" anchor="ctr"/>
          <a:lstStyle/>
          <a:p>
            <a:endParaRPr lang="en-US"/>
          </a:p>
        </p:txBody>
      </p:sp>
      <p:sp>
        <p:nvSpPr>
          <p:cNvPr id="2103" name="Rectangle 554"/>
          <p:cNvSpPr>
            <a:spLocks noChangeArrowheads="1"/>
          </p:cNvSpPr>
          <p:nvPr/>
        </p:nvSpPr>
        <p:spPr bwMode="auto">
          <a:xfrm>
            <a:off x="2995613" y="283845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104" name="Oval 555"/>
          <p:cNvSpPr>
            <a:spLocks noChangeArrowheads="1"/>
          </p:cNvSpPr>
          <p:nvPr/>
        </p:nvSpPr>
        <p:spPr bwMode="auto">
          <a:xfrm>
            <a:off x="2992438" y="277018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2105" name="Group 556"/>
          <p:cNvGrpSpPr/>
          <p:nvPr/>
        </p:nvGrpSpPr>
        <p:grpSpPr bwMode="auto">
          <a:xfrm>
            <a:off x="3078163" y="2794000"/>
            <a:ext cx="179387" cy="65088"/>
            <a:chOff x="2848" y="848"/>
            <a:chExt cx="140" cy="98"/>
          </a:xfrm>
        </p:grpSpPr>
        <p:sp>
          <p:nvSpPr>
            <p:cNvPr id="2337" name="Line 557"/>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38" name="Line 558"/>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39" name="Line 559"/>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106" name="Group 560"/>
          <p:cNvGrpSpPr/>
          <p:nvPr/>
        </p:nvGrpSpPr>
        <p:grpSpPr bwMode="auto">
          <a:xfrm flipV="1">
            <a:off x="3078163" y="2794000"/>
            <a:ext cx="179387" cy="65088"/>
            <a:chOff x="2848" y="848"/>
            <a:chExt cx="140" cy="98"/>
          </a:xfrm>
        </p:grpSpPr>
        <p:sp>
          <p:nvSpPr>
            <p:cNvPr id="2334" name="Line 561"/>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35" name="Line 562"/>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36" name="Line 563"/>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2107" name="Oval 564"/>
          <p:cNvSpPr>
            <a:spLocks noChangeArrowheads="1"/>
          </p:cNvSpPr>
          <p:nvPr/>
        </p:nvSpPr>
        <p:spPr bwMode="auto">
          <a:xfrm>
            <a:off x="3471863" y="2487613"/>
            <a:ext cx="330200" cy="85725"/>
          </a:xfrm>
          <a:prstGeom prst="ellipse">
            <a:avLst/>
          </a:prstGeom>
          <a:solidFill>
            <a:srgbClr val="DDDDDD"/>
          </a:solidFill>
          <a:ln w="12700">
            <a:solidFill>
              <a:schemeClr val="folHlink"/>
            </a:solidFill>
            <a:round/>
          </a:ln>
        </p:spPr>
        <p:txBody>
          <a:bodyPr wrap="none" anchor="ctr"/>
          <a:lstStyle/>
          <a:p>
            <a:endParaRPr lang="en-US"/>
          </a:p>
        </p:txBody>
      </p:sp>
      <p:sp>
        <p:nvSpPr>
          <p:cNvPr id="2108" name="Line 565"/>
          <p:cNvSpPr>
            <a:spLocks noChangeShapeType="1"/>
          </p:cNvSpPr>
          <p:nvPr/>
        </p:nvSpPr>
        <p:spPr bwMode="auto">
          <a:xfrm>
            <a:off x="3471863" y="2481263"/>
            <a:ext cx="0" cy="52387"/>
          </a:xfrm>
          <a:prstGeom prst="line">
            <a:avLst/>
          </a:prstGeom>
          <a:noFill/>
          <a:ln w="12700">
            <a:solidFill>
              <a:schemeClr val="folHlink"/>
            </a:solidFill>
            <a:round/>
          </a:ln>
        </p:spPr>
        <p:txBody>
          <a:bodyPr wrap="none" anchor="ctr"/>
          <a:lstStyle/>
          <a:p>
            <a:endParaRPr lang="en-US"/>
          </a:p>
        </p:txBody>
      </p:sp>
      <p:sp>
        <p:nvSpPr>
          <p:cNvPr id="2109" name="Line 566"/>
          <p:cNvSpPr>
            <a:spLocks noChangeShapeType="1"/>
          </p:cNvSpPr>
          <p:nvPr/>
        </p:nvSpPr>
        <p:spPr bwMode="auto">
          <a:xfrm>
            <a:off x="3802063" y="2481263"/>
            <a:ext cx="0" cy="52387"/>
          </a:xfrm>
          <a:prstGeom prst="line">
            <a:avLst/>
          </a:prstGeom>
          <a:noFill/>
          <a:ln w="12700">
            <a:solidFill>
              <a:schemeClr val="folHlink"/>
            </a:solidFill>
            <a:round/>
          </a:ln>
        </p:spPr>
        <p:txBody>
          <a:bodyPr wrap="none" anchor="ctr"/>
          <a:lstStyle/>
          <a:p>
            <a:endParaRPr lang="en-US"/>
          </a:p>
        </p:txBody>
      </p:sp>
      <p:sp>
        <p:nvSpPr>
          <p:cNvPr id="2110" name="Rectangle 567"/>
          <p:cNvSpPr>
            <a:spLocks noChangeArrowheads="1"/>
          </p:cNvSpPr>
          <p:nvPr/>
        </p:nvSpPr>
        <p:spPr bwMode="auto">
          <a:xfrm>
            <a:off x="3471863" y="2481263"/>
            <a:ext cx="327025" cy="52387"/>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solidFill>
                <a:schemeClr val="bg2"/>
              </a:solidFill>
              <a:latin typeface="Times New Roman" panose="02020603050405020304" pitchFamily="18" charset="0"/>
            </a:endParaRPr>
          </a:p>
        </p:txBody>
      </p:sp>
      <p:sp>
        <p:nvSpPr>
          <p:cNvPr id="2111" name="Oval 568"/>
          <p:cNvSpPr>
            <a:spLocks noChangeArrowheads="1"/>
          </p:cNvSpPr>
          <p:nvPr/>
        </p:nvSpPr>
        <p:spPr bwMode="auto">
          <a:xfrm>
            <a:off x="3468688" y="2419350"/>
            <a:ext cx="330200" cy="100013"/>
          </a:xfrm>
          <a:prstGeom prst="ellipse">
            <a:avLst/>
          </a:prstGeom>
          <a:solidFill>
            <a:srgbClr val="DDDDDD"/>
          </a:solidFill>
          <a:ln w="12700">
            <a:solidFill>
              <a:schemeClr val="folHlink"/>
            </a:solidFill>
            <a:round/>
          </a:ln>
        </p:spPr>
        <p:txBody>
          <a:bodyPr wrap="none" anchor="ctr"/>
          <a:lstStyle/>
          <a:p>
            <a:endParaRPr lang="en-US"/>
          </a:p>
        </p:txBody>
      </p:sp>
      <p:grpSp>
        <p:nvGrpSpPr>
          <p:cNvPr id="2112" name="Group 569"/>
          <p:cNvGrpSpPr/>
          <p:nvPr/>
        </p:nvGrpSpPr>
        <p:grpSpPr bwMode="auto">
          <a:xfrm>
            <a:off x="3548063" y="2441575"/>
            <a:ext cx="163512" cy="57150"/>
            <a:chOff x="2848" y="848"/>
            <a:chExt cx="140" cy="98"/>
          </a:xfrm>
        </p:grpSpPr>
        <p:sp>
          <p:nvSpPr>
            <p:cNvPr id="2331" name="Line 57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32" name="Line 57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33" name="Line 57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113" name="Group 573"/>
          <p:cNvGrpSpPr/>
          <p:nvPr/>
        </p:nvGrpSpPr>
        <p:grpSpPr bwMode="auto">
          <a:xfrm flipV="1">
            <a:off x="3548063" y="2439988"/>
            <a:ext cx="163512" cy="58737"/>
            <a:chOff x="2848" y="848"/>
            <a:chExt cx="140" cy="98"/>
          </a:xfrm>
        </p:grpSpPr>
        <p:sp>
          <p:nvSpPr>
            <p:cNvPr id="2328" name="Line 57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29" name="Line 57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30" name="Line 57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2114" name="Oval 577"/>
          <p:cNvSpPr>
            <a:spLocks noChangeArrowheads="1"/>
          </p:cNvSpPr>
          <p:nvPr/>
        </p:nvSpPr>
        <p:spPr bwMode="auto">
          <a:xfrm>
            <a:off x="3557588" y="284638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2115" name="Line 578"/>
          <p:cNvSpPr>
            <a:spLocks noChangeShapeType="1"/>
          </p:cNvSpPr>
          <p:nvPr/>
        </p:nvSpPr>
        <p:spPr bwMode="auto">
          <a:xfrm>
            <a:off x="3557588" y="2838450"/>
            <a:ext cx="0" cy="58738"/>
          </a:xfrm>
          <a:prstGeom prst="line">
            <a:avLst/>
          </a:prstGeom>
          <a:noFill/>
          <a:ln w="12700">
            <a:solidFill>
              <a:schemeClr val="folHlink"/>
            </a:solidFill>
            <a:round/>
          </a:ln>
        </p:spPr>
        <p:txBody>
          <a:bodyPr wrap="none" anchor="ctr"/>
          <a:lstStyle/>
          <a:p>
            <a:endParaRPr lang="en-US"/>
          </a:p>
        </p:txBody>
      </p:sp>
      <p:sp>
        <p:nvSpPr>
          <p:cNvPr id="2116" name="Line 579"/>
          <p:cNvSpPr>
            <a:spLocks noChangeShapeType="1"/>
          </p:cNvSpPr>
          <p:nvPr/>
        </p:nvSpPr>
        <p:spPr bwMode="auto">
          <a:xfrm>
            <a:off x="3916363" y="2838450"/>
            <a:ext cx="0" cy="58738"/>
          </a:xfrm>
          <a:prstGeom prst="line">
            <a:avLst/>
          </a:prstGeom>
          <a:noFill/>
          <a:ln w="12700">
            <a:solidFill>
              <a:schemeClr val="folHlink"/>
            </a:solidFill>
            <a:round/>
          </a:ln>
        </p:spPr>
        <p:txBody>
          <a:bodyPr wrap="none" anchor="ctr"/>
          <a:lstStyle/>
          <a:p>
            <a:endParaRPr lang="en-US"/>
          </a:p>
        </p:txBody>
      </p:sp>
      <p:sp>
        <p:nvSpPr>
          <p:cNvPr id="2117" name="Rectangle 580"/>
          <p:cNvSpPr>
            <a:spLocks noChangeArrowheads="1"/>
          </p:cNvSpPr>
          <p:nvPr/>
        </p:nvSpPr>
        <p:spPr bwMode="auto">
          <a:xfrm>
            <a:off x="3557588" y="283845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118" name="Oval 581"/>
          <p:cNvSpPr>
            <a:spLocks noChangeArrowheads="1"/>
          </p:cNvSpPr>
          <p:nvPr/>
        </p:nvSpPr>
        <p:spPr bwMode="auto">
          <a:xfrm>
            <a:off x="3554413" y="277018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2119" name="Group 582"/>
          <p:cNvGrpSpPr/>
          <p:nvPr/>
        </p:nvGrpSpPr>
        <p:grpSpPr bwMode="auto">
          <a:xfrm>
            <a:off x="3640138" y="2794000"/>
            <a:ext cx="179387" cy="65088"/>
            <a:chOff x="2848" y="848"/>
            <a:chExt cx="140" cy="98"/>
          </a:xfrm>
        </p:grpSpPr>
        <p:sp>
          <p:nvSpPr>
            <p:cNvPr id="2325" name="Line 58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26" name="Line 58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27" name="Line 58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120" name="Group 586"/>
          <p:cNvGrpSpPr/>
          <p:nvPr/>
        </p:nvGrpSpPr>
        <p:grpSpPr bwMode="auto">
          <a:xfrm flipV="1">
            <a:off x="3640138" y="2794000"/>
            <a:ext cx="179387" cy="65088"/>
            <a:chOff x="2848" y="848"/>
            <a:chExt cx="140" cy="98"/>
          </a:xfrm>
        </p:grpSpPr>
        <p:sp>
          <p:nvSpPr>
            <p:cNvPr id="2322" name="Line 587"/>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23" name="Line 588"/>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24" name="Line 589"/>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2121" name="Oval 590"/>
          <p:cNvSpPr>
            <a:spLocks noChangeArrowheads="1"/>
          </p:cNvSpPr>
          <p:nvPr/>
        </p:nvSpPr>
        <p:spPr bwMode="auto">
          <a:xfrm>
            <a:off x="2147888" y="2581275"/>
            <a:ext cx="346075" cy="87313"/>
          </a:xfrm>
          <a:prstGeom prst="ellipse">
            <a:avLst/>
          </a:prstGeom>
          <a:solidFill>
            <a:srgbClr val="DDDDDD"/>
          </a:solidFill>
          <a:ln w="12700">
            <a:solidFill>
              <a:schemeClr val="folHlink"/>
            </a:solidFill>
            <a:round/>
          </a:ln>
        </p:spPr>
        <p:txBody>
          <a:bodyPr wrap="none" anchor="ctr"/>
          <a:lstStyle/>
          <a:p>
            <a:endParaRPr lang="en-US"/>
          </a:p>
        </p:txBody>
      </p:sp>
      <p:sp>
        <p:nvSpPr>
          <p:cNvPr id="2122" name="Line 591"/>
          <p:cNvSpPr>
            <a:spLocks noChangeShapeType="1"/>
          </p:cNvSpPr>
          <p:nvPr/>
        </p:nvSpPr>
        <p:spPr bwMode="auto">
          <a:xfrm>
            <a:off x="2147888" y="2573338"/>
            <a:ext cx="0" cy="53975"/>
          </a:xfrm>
          <a:prstGeom prst="line">
            <a:avLst/>
          </a:prstGeom>
          <a:noFill/>
          <a:ln w="12700">
            <a:solidFill>
              <a:schemeClr val="folHlink"/>
            </a:solidFill>
            <a:round/>
          </a:ln>
        </p:spPr>
        <p:txBody>
          <a:bodyPr wrap="none" anchor="ctr"/>
          <a:lstStyle/>
          <a:p>
            <a:endParaRPr lang="en-US"/>
          </a:p>
        </p:txBody>
      </p:sp>
      <p:sp>
        <p:nvSpPr>
          <p:cNvPr id="2123" name="Line 592"/>
          <p:cNvSpPr>
            <a:spLocks noChangeShapeType="1"/>
          </p:cNvSpPr>
          <p:nvPr/>
        </p:nvSpPr>
        <p:spPr bwMode="auto">
          <a:xfrm>
            <a:off x="2493963" y="2573338"/>
            <a:ext cx="0" cy="53975"/>
          </a:xfrm>
          <a:prstGeom prst="line">
            <a:avLst/>
          </a:prstGeom>
          <a:noFill/>
          <a:ln w="12700">
            <a:solidFill>
              <a:schemeClr val="folHlink"/>
            </a:solidFill>
            <a:round/>
          </a:ln>
        </p:spPr>
        <p:txBody>
          <a:bodyPr wrap="none" anchor="ctr"/>
          <a:lstStyle/>
          <a:p>
            <a:endParaRPr lang="en-US"/>
          </a:p>
        </p:txBody>
      </p:sp>
      <p:sp>
        <p:nvSpPr>
          <p:cNvPr id="2124" name="Rectangle 593"/>
          <p:cNvSpPr>
            <a:spLocks noChangeArrowheads="1"/>
          </p:cNvSpPr>
          <p:nvPr/>
        </p:nvSpPr>
        <p:spPr bwMode="auto">
          <a:xfrm>
            <a:off x="2147888" y="2573338"/>
            <a:ext cx="342900"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125" name="Oval 594"/>
          <p:cNvSpPr>
            <a:spLocks noChangeArrowheads="1"/>
          </p:cNvSpPr>
          <p:nvPr/>
        </p:nvSpPr>
        <p:spPr bwMode="auto">
          <a:xfrm>
            <a:off x="2144713" y="2509838"/>
            <a:ext cx="346075" cy="103187"/>
          </a:xfrm>
          <a:prstGeom prst="ellipse">
            <a:avLst/>
          </a:prstGeom>
          <a:solidFill>
            <a:srgbClr val="DDDDDD"/>
          </a:solidFill>
          <a:ln w="12700">
            <a:solidFill>
              <a:schemeClr val="folHlink"/>
            </a:solidFill>
            <a:round/>
          </a:ln>
        </p:spPr>
        <p:txBody>
          <a:bodyPr wrap="none" anchor="ctr"/>
          <a:lstStyle/>
          <a:p>
            <a:endParaRPr lang="en-US"/>
          </a:p>
        </p:txBody>
      </p:sp>
      <p:grpSp>
        <p:nvGrpSpPr>
          <p:cNvPr id="2126" name="Group 595"/>
          <p:cNvGrpSpPr/>
          <p:nvPr/>
        </p:nvGrpSpPr>
        <p:grpSpPr bwMode="auto">
          <a:xfrm>
            <a:off x="2228850" y="2532063"/>
            <a:ext cx="171450" cy="60325"/>
            <a:chOff x="2848" y="848"/>
            <a:chExt cx="140" cy="98"/>
          </a:xfrm>
        </p:grpSpPr>
        <p:sp>
          <p:nvSpPr>
            <p:cNvPr id="2319" name="Line 59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20" name="Line 59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21" name="Line 59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127" name="Group 599"/>
          <p:cNvGrpSpPr/>
          <p:nvPr/>
        </p:nvGrpSpPr>
        <p:grpSpPr bwMode="auto">
          <a:xfrm flipV="1">
            <a:off x="2228850" y="2532063"/>
            <a:ext cx="171450" cy="58737"/>
            <a:chOff x="2848" y="848"/>
            <a:chExt cx="140" cy="98"/>
          </a:xfrm>
        </p:grpSpPr>
        <p:sp>
          <p:nvSpPr>
            <p:cNvPr id="2316" name="Line 60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17" name="Line 60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18" name="Line 60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2128" name="Oval 603"/>
          <p:cNvSpPr>
            <a:spLocks noChangeArrowheads="1"/>
          </p:cNvSpPr>
          <p:nvPr/>
        </p:nvSpPr>
        <p:spPr bwMode="auto">
          <a:xfrm>
            <a:off x="1841500" y="3730625"/>
            <a:ext cx="346075" cy="87313"/>
          </a:xfrm>
          <a:prstGeom prst="ellipse">
            <a:avLst/>
          </a:prstGeom>
          <a:solidFill>
            <a:srgbClr val="DDDDDD"/>
          </a:solidFill>
          <a:ln w="12700">
            <a:solidFill>
              <a:schemeClr val="folHlink"/>
            </a:solidFill>
            <a:round/>
          </a:ln>
        </p:spPr>
        <p:txBody>
          <a:bodyPr wrap="none" anchor="ctr"/>
          <a:lstStyle/>
          <a:p>
            <a:endParaRPr lang="en-US"/>
          </a:p>
        </p:txBody>
      </p:sp>
      <p:sp>
        <p:nvSpPr>
          <p:cNvPr id="2129" name="Line 604"/>
          <p:cNvSpPr>
            <a:spLocks noChangeShapeType="1"/>
          </p:cNvSpPr>
          <p:nvPr/>
        </p:nvSpPr>
        <p:spPr bwMode="auto">
          <a:xfrm>
            <a:off x="1841500" y="3722688"/>
            <a:ext cx="0" cy="53975"/>
          </a:xfrm>
          <a:prstGeom prst="line">
            <a:avLst/>
          </a:prstGeom>
          <a:noFill/>
          <a:ln w="12700">
            <a:solidFill>
              <a:schemeClr val="folHlink"/>
            </a:solidFill>
            <a:round/>
          </a:ln>
        </p:spPr>
        <p:txBody>
          <a:bodyPr wrap="none" anchor="ctr"/>
          <a:lstStyle/>
          <a:p>
            <a:endParaRPr lang="en-US"/>
          </a:p>
        </p:txBody>
      </p:sp>
      <p:sp>
        <p:nvSpPr>
          <p:cNvPr id="2130" name="Line 605"/>
          <p:cNvSpPr>
            <a:spLocks noChangeShapeType="1"/>
          </p:cNvSpPr>
          <p:nvPr/>
        </p:nvSpPr>
        <p:spPr bwMode="auto">
          <a:xfrm>
            <a:off x="2187575" y="3722688"/>
            <a:ext cx="0" cy="53975"/>
          </a:xfrm>
          <a:prstGeom prst="line">
            <a:avLst/>
          </a:prstGeom>
          <a:noFill/>
          <a:ln w="12700">
            <a:solidFill>
              <a:schemeClr val="folHlink"/>
            </a:solidFill>
            <a:round/>
          </a:ln>
        </p:spPr>
        <p:txBody>
          <a:bodyPr wrap="none" anchor="ctr"/>
          <a:lstStyle/>
          <a:p>
            <a:endParaRPr lang="en-US"/>
          </a:p>
        </p:txBody>
      </p:sp>
      <p:sp>
        <p:nvSpPr>
          <p:cNvPr id="2131" name="Rectangle 606"/>
          <p:cNvSpPr>
            <a:spLocks noChangeArrowheads="1"/>
          </p:cNvSpPr>
          <p:nvPr/>
        </p:nvSpPr>
        <p:spPr bwMode="auto">
          <a:xfrm>
            <a:off x="1841500" y="3722688"/>
            <a:ext cx="342900"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132" name="Oval 607"/>
          <p:cNvSpPr>
            <a:spLocks noChangeArrowheads="1"/>
          </p:cNvSpPr>
          <p:nvPr/>
        </p:nvSpPr>
        <p:spPr bwMode="auto">
          <a:xfrm>
            <a:off x="1838325" y="3659188"/>
            <a:ext cx="346075" cy="103187"/>
          </a:xfrm>
          <a:prstGeom prst="ellipse">
            <a:avLst/>
          </a:prstGeom>
          <a:solidFill>
            <a:srgbClr val="DDDDDD"/>
          </a:solidFill>
          <a:ln w="12700">
            <a:solidFill>
              <a:schemeClr val="folHlink"/>
            </a:solidFill>
            <a:round/>
          </a:ln>
        </p:spPr>
        <p:txBody>
          <a:bodyPr wrap="none" anchor="ctr"/>
          <a:lstStyle/>
          <a:p>
            <a:endParaRPr lang="en-US"/>
          </a:p>
        </p:txBody>
      </p:sp>
      <p:grpSp>
        <p:nvGrpSpPr>
          <p:cNvPr id="2133" name="Group 608"/>
          <p:cNvGrpSpPr/>
          <p:nvPr/>
        </p:nvGrpSpPr>
        <p:grpSpPr bwMode="auto">
          <a:xfrm>
            <a:off x="1922463" y="3681413"/>
            <a:ext cx="171450" cy="60325"/>
            <a:chOff x="2848" y="848"/>
            <a:chExt cx="140" cy="98"/>
          </a:xfrm>
        </p:grpSpPr>
        <p:sp>
          <p:nvSpPr>
            <p:cNvPr id="2313" name="Line 60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14" name="Line 61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15" name="Line 61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134" name="Group 612"/>
          <p:cNvGrpSpPr/>
          <p:nvPr/>
        </p:nvGrpSpPr>
        <p:grpSpPr bwMode="auto">
          <a:xfrm flipV="1">
            <a:off x="1922463" y="3681413"/>
            <a:ext cx="171450" cy="58737"/>
            <a:chOff x="2848" y="848"/>
            <a:chExt cx="140" cy="98"/>
          </a:xfrm>
        </p:grpSpPr>
        <p:sp>
          <p:nvSpPr>
            <p:cNvPr id="2310" name="Line 61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11" name="Line 61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12" name="Line 61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2135" name="Line 616"/>
          <p:cNvSpPr>
            <a:spLocks noChangeShapeType="1"/>
          </p:cNvSpPr>
          <p:nvPr/>
        </p:nvSpPr>
        <p:spPr bwMode="auto">
          <a:xfrm flipV="1">
            <a:off x="3040063" y="4087813"/>
            <a:ext cx="227012" cy="436562"/>
          </a:xfrm>
          <a:prstGeom prst="line">
            <a:avLst/>
          </a:prstGeom>
          <a:noFill/>
          <a:ln w="9525">
            <a:solidFill>
              <a:schemeClr val="bg2"/>
            </a:solidFill>
            <a:round/>
          </a:ln>
        </p:spPr>
        <p:txBody>
          <a:bodyPr/>
          <a:lstStyle/>
          <a:p>
            <a:endParaRPr lang="en-US"/>
          </a:p>
        </p:txBody>
      </p:sp>
      <p:sp>
        <p:nvSpPr>
          <p:cNvPr id="2136" name="Line 617"/>
          <p:cNvSpPr>
            <a:spLocks noChangeShapeType="1"/>
          </p:cNvSpPr>
          <p:nvPr/>
        </p:nvSpPr>
        <p:spPr bwMode="auto">
          <a:xfrm>
            <a:off x="3163888" y="3825875"/>
            <a:ext cx="163512" cy="120650"/>
          </a:xfrm>
          <a:prstGeom prst="line">
            <a:avLst/>
          </a:prstGeom>
          <a:noFill/>
          <a:ln w="9525">
            <a:solidFill>
              <a:schemeClr val="bg2"/>
            </a:solidFill>
            <a:round/>
          </a:ln>
        </p:spPr>
        <p:txBody>
          <a:bodyPr/>
          <a:lstStyle/>
          <a:p>
            <a:endParaRPr lang="en-US"/>
          </a:p>
        </p:txBody>
      </p:sp>
      <p:sp>
        <p:nvSpPr>
          <p:cNvPr id="2137" name="Line 618"/>
          <p:cNvSpPr>
            <a:spLocks noChangeShapeType="1"/>
          </p:cNvSpPr>
          <p:nvPr/>
        </p:nvSpPr>
        <p:spPr bwMode="auto">
          <a:xfrm>
            <a:off x="3260725" y="3746500"/>
            <a:ext cx="279400" cy="0"/>
          </a:xfrm>
          <a:prstGeom prst="line">
            <a:avLst/>
          </a:prstGeom>
          <a:noFill/>
          <a:ln w="9525">
            <a:solidFill>
              <a:schemeClr val="bg2"/>
            </a:solidFill>
            <a:round/>
          </a:ln>
        </p:spPr>
        <p:txBody>
          <a:bodyPr/>
          <a:lstStyle/>
          <a:p>
            <a:endParaRPr lang="en-US"/>
          </a:p>
        </p:txBody>
      </p:sp>
      <p:sp>
        <p:nvSpPr>
          <p:cNvPr id="2138" name="Line 619"/>
          <p:cNvSpPr>
            <a:spLocks noChangeShapeType="1"/>
          </p:cNvSpPr>
          <p:nvPr/>
        </p:nvSpPr>
        <p:spPr bwMode="auto">
          <a:xfrm flipV="1">
            <a:off x="3497263" y="3832225"/>
            <a:ext cx="134937" cy="104775"/>
          </a:xfrm>
          <a:prstGeom prst="line">
            <a:avLst/>
          </a:prstGeom>
          <a:noFill/>
          <a:ln w="9525">
            <a:solidFill>
              <a:schemeClr val="bg2"/>
            </a:solidFill>
            <a:round/>
          </a:ln>
        </p:spPr>
        <p:txBody>
          <a:bodyPr/>
          <a:lstStyle/>
          <a:p>
            <a:endParaRPr lang="en-US"/>
          </a:p>
        </p:txBody>
      </p:sp>
      <p:sp>
        <p:nvSpPr>
          <p:cNvPr id="2139" name="Line 620"/>
          <p:cNvSpPr>
            <a:spLocks noChangeShapeType="1"/>
          </p:cNvSpPr>
          <p:nvPr/>
        </p:nvSpPr>
        <p:spPr bwMode="auto">
          <a:xfrm>
            <a:off x="2195513" y="3752850"/>
            <a:ext cx="679450" cy="0"/>
          </a:xfrm>
          <a:prstGeom prst="line">
            <a:avLst/>
          </a:prstGeom>
          <a:noFill/>
          <a:ln w="9525">
            <a:solidFill>
              <a:schemeClr val="bg2"/>
            </a:solidFill>
            <a:round/>
          </a:ln>
        </p:spPr>
        <p:txBody>
          <a:bodyPr/>
          <a:lstStyle/>
          <a:p>
            <a:endParaRPr lang="en-US"/>
          </a:p>
        </p:txBody>
      </p:sp>
      <p:sp>
        <p:nvSpPr>
          <p:cNvPr id="2140" name="Line 621"/>
          <p:cNvSpPr>
            <a:spLocks noChangeShapeType="1"/>
          </p:cNvSpPr>
          <p:nvPr/>
        </p:nvSpPr>
        <p:spPr bwMode="auto">
          <a:xfrm>
            <a:off x="2490788" y="2600325"/>
            <a:ext cx="509587" cy="3175"/>
          </a:xfrm>
          <a:prstGeom prst="line">
            <a:avLst/>
          </a:prstGeom>
          <a:noFill/>
          <a:ln w="9525">
            <a:solidFill>
              <a:schemeClr val="bg2"/>
            </a:solidFill>
            <a:round/>
          </a:ln>
        </p:spPr>
        <p:txBody>
          <a:bodyPr/>
          <a:lstStyle/>
          <a:p>
            <a:endParaRPr lang="en-US"/>
          </a:p>
        </p:txBody>
      </p:sp>
      <p:sp>
        <p:nvSpPr>
          <p:cNvPr id="2141" name="Line 622"/>
          <p:cNvSpPr>
            <a:spLocks noChangeShapeType="1"/>
          </p:cNvSpPr>
          <p:nvPr/>
        </p:nvSpPr>
        <p:spPr bwMode="auto">
          <a:xfrm>
            <a:off x="2057400" y="2428875"/>
            <a:ext cx="152400" cy="82550"/>
          </a:xfrm>
          <a:prstGeom prst="line">
            <a:avLst/>
          </a:prstGeom>
          <a:noFill/>
          <a:ln w="9525">
            <a:solidFill>
              <a:schemeClr val="bg2"/>
            </a:solidFill>
            <a:round/>
          </a:ln>
        </p:spPr>
        <p:txBody>
          <a:bodyPr/>
          <a:lstStyle/>
          <a:p>
            <a:endParaRPr lang="en-US"/>
          </a:p>
        </p:txBody>
      </p:sp>
      <p:sp>
        <p:nvSpPr>
          <p:cNvPr id="2142" name="Freeform 623"/>
          <p:cNvSpPr/>
          <p:nvPr/>
        </p:nvSpPr>
        <p:spPr bwMode="auto">
          <a:xfrm>
            <a:off x="1377950" y="4435475"/>
            <a:ext cx="2979738" cy="1455738"/>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w="9525">
            <a:noFill/>
            <a:round/>
          </a:ln>
        </p:spPr>
        <p:txBody>
          <a:bodyPr/>
          <a:lstStyle/>
          <a:p>
            <a:endParaRPr lang="en-US"/>
          </a:p>
        </p:txBody>
      </p:sp>
      <p:sp>
        <p:nvSpPr>
          <p:cNvPr id="2143" name="Line 624"/>
          <p:cNvSpPr>
            <a:spLocks noChangeShapeType="1"/>
          </p:cNvSpPr>
          <p:nvPr/>
        </p:nvSpPr>
        <p:spPr bwMode="auto">
          <a:xfrm rot="-5400000">
            <a:off x="3613150" y="5172076"/>
            <a:ext cx="523875" cy="139700"/>
          </a:xfrm>
          <a:prstGeom prst="line">
            <a:avLst/>
          </a:prstGeom>
          <a:noFill/>
          <a:ln w="12700">
            <a:solidFill>
              <a:schemeClr val="bg2"/>
            </a:solidFill>
            <a:round/>
          </a:ln>
        </p:spPr>
        <p:txBody>
          <a:bodyPr wrap="none" anchor="ctr"/>
          <a:lstStyle/>
          <a:p>
            <a:endParaRPr lang="en-US"/>
          </a:p>
        </p:txBody>
      </p:sp>
      <p:sp>
        <p:nvSpPr>
          <p:cNvPr id="2144" name="Line 625"/>
          <p:cNvSpPr>
            <a:spLocks noChangeShapeType="1"/>
          </p:cNvSpPr>
          <p:nvPr/>
        </p:nvSpPr>
        <p:spPr bwMode="auto">
          <a:xfrm rot="5400000" flipV="1">
            <a:off x="3759200" y="5453063"/>
            <a:ext cx="3175" cy="85725"/>
          </a:xfrm>
          <a:prstGeom prst="line">
            <a:avLst/>
          </a:prstGeom>
          <a:noFill/>
          <a:ln w="12700">
            <a:solidFill>
              <a:schemeClr val="bg2"/>
            </a:solidFill>
            <a:round/>
          </a:ln>
        </p:spPr>
        <p:txBody>
          <a:bodyPr wrap="none" anchor="ctr"/>
          <a:lstStyle/>
          <a:p>
            <a:endParaRPr lang="en-US"/>
          </a:p>
        </p:txBody>
      </p:sp>
      <p:sp>
        <p:nvSpPr>
          <p:cNvPr id="2145" name="Line 626"/>
          <p:cNvSpPr>
            <a:spLocks noChangeShapeType="1"/>
          </p:cNvSpPr>
          <p:nvPr/>
        </p:nvSpPr>
        <p:spPr bwMode="auto">
          <a:xfrm rot="-5400000">
            <a:off x="3944938" y="5129213"/>
            <a:ext cx="0" cy="114300"/>
          </a:xfrm>
          <a:prstGeom prst="line">
            <a:avLst/>
          </a:prstGeom>
          <a:noFill/>
          <a:ln w="12700">
            <a:solidFill>
              <a:schemeClr val="bg2"/>
            </a:solidFill>
            <a:round/>
          </a:ln>
        </p:spPr>
        <p:txBody>
          <a:bodyPr wrap="none" anchor="ctr"/>
          <a:lstStyle/>
          <a:p>
            <a:endParaRPr lang="en-US"/>
          </a:p>
        </p:txBody>
      </p:sp>
      <p:grpSp>
        <p:nvGrpSpPr>
          <p:cNvPr id="2146" name="Group 627"/>
          <p:cNvGrpSpPr/>
          <p:nvPr/>
        </p:nvGrpSpPr>
        <p:grpSpPr bwMode="auto">
          <a:xfrm>
            <a:off x="3524250" y="4838700"/>
            <a:ext cx="501650" cy="234950"/>
            <a:chOff x="4701" y="2996"/>
            <a:chExt cx="316" cy="148"/>
          </a:xfrm>
        </p:grpSpPr>
        <p:sp>
          <p:nvSpPr>
            <p:cNvPr id="2297" name="Oval 628"/>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2298" name="Line 629"/>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2299" name="Line 630"/>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2300" name="Rectangle 631"/>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301" name="Oval 632"/>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2302" name="Group 633"/>
            <p:cNvGrpSpPr/>
            <p:nvPr/>
          </p:nvGrpSpPr>
          <p:grpSpPr bwMode="auto">
            <a:xfrm>
              <a:off x="4776" y="3017"/>
              <a:ext cx="156" cy="56"/>
              <a:chOff x="2848" y="848"/>
              <a:chExt cx="140" cy="98"/>
            </a:xfrm>
          </p:grpSpPr>
          <p:sp>
            <p:nvSpPr>
              <p:cNvPr id="2307" name="Line 63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08" name="Line 63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09" name="Line 63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303" name="Group 637"/>
            <p:cNvGrpSpPr/>
            <p:nvPr/>
          </p:nvGrpSpPr>
          <p:grpSpPr bwMode="auto">
            <a:xfrm flipV="1">
              <a:off x="4776" y="3016"/>
              <a:ext cx="156" cy="56"/>
              <a:chOff x="2848" y="848"/>
              <a:chExt cx="140" cy="98"/>
            </a:xfrm>
          </p:grpSpPr>
          <p:sp>
            <p:nvSpPr>
              <p:cNvPr id="2304" name="Line 638"/>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305" name="Line 639"/>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306" name="Line 640"/>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2147" name="Group 641"/>
          <p:cNvGrpSpPr/>
          <p:nvPr/>
        </p:nvGrpSpPr>
        <p:grpSpPr bwMode="auto">
          <a:xfrm>
            <a:off x="2708275" y="4562475"/>
            <a:ext cx="501650" cy="234950"/>
            <a:chOff x="3600" y="219"/>
            <a:chExt cx="360" cy="175"/>
          </a:xfrm>
        </p:grpSpPr>
        <p:sp>
          <p:nvSpPr>
            <p:cNvPr id="2284" name="Oval 642"/>
            <p:cNvSpPr>
              <a:spLocks noChangeArrowheads="1"/>
            </p:cNvSpPr>
            <p:nvPr/>
          </p:nvSpPr>
          <p:spPr bwMode="auto">
            <a:xfrm>
              <a:off x="3603" y="297"/>
              <a:ext cx="357" cy="97"/>
            </a:xfrm>
            <a:prstGeom prst="ellipse">
              <a:avLst/>
            </a:prstGeom>
            <a:solidFill>
              <a:srgbClr val="DDDDDD"/>
            </a:solidFill>
            <a:ln w="12700">
              <a:solidFill>
                <a:schemeClr val="tx1"/>
              </a:solidFill>
              <a:round/>
            </a:ln>
          </p:spPr>
          <p:txBody>
            <a:bodyPr wrap="none" anchor="ctr"/>
            <a:lstStyle/>
            <a:p>
              <a:endParaRPr lang="en-US"/>
            </a:p>
          </p:txBody>
        </p:sp>
        <p:sp>
          <p:nvSpPr>
            <p:cNvPr id="2285" name="Line 643"/>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2286" name="Line 644"/>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2287" name="Rectangle 645"/>
            <p:cNvSpPr>
              <a:spLocks noChangeArrowheads="1"/>
            </p:cNvSpPr>
            <p:nvPr/>
          </p:nvSpPr>
          <p:spPr bwMode="auto">
            <a:xfrm>
              <a:off x="3603" y="289"/>
              <a:ext cx="354" cy="59"/>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288" name="Oval 646"/>
            <p:cNvSpPr>
              <a:spLocks noChangeArrowheads="1"/>
            </p:cNvSpPr>
            <p:nvPr/>
          </p:nvSpPr>
          <p:spPr bwMode="auto">
            <a:xfrm>
              <a:off x="3600" y="219"/>
              <a:ext cx="357" cy="113"/>
            </a:xfrm>
            <a:prstGeom prst="ellipse">
              <a:avLst/>
            </a:prstGeom>
            <a:solidFill>
              <a:srgbClr val="DDDDDD"/>
            </a:solidFill>
            <a:ln w="12700">
              <a:solidFill>
                <a:schemeClr val="tx1"/>
              </a:solidFill>
              <a:round/>
            </a:ln>
          </p:spPr>
          <p:txBody>
            <a:bodyPr wrap="none" anchor="ctr"/>
            <a:lstStyle/>
            <a:p>
              <a:endParaRPr lang="en-US"/>
            </a:p>
          </p:txBody>
        </p:sp>
        <p:grpSp>
          <p:nvGrpSpPr>
            <p:cNvPr id="2289" name="Group 647"/>
            <p:cNvGrpSpPr/>
            <p:nvPr/>
          </p:nvGrpSpPr>
          <p:grpSpPr bwMode="auto">
            <a:xfrm>
              <a:off x="3686" y="244"/>
              <a:ext cx="177" cy="66"/>
              <a:chOff x="2848" y="848"/>
              <a:chExt cx="140" cy="98"/>
            </a:xfrm>
          </p:grpSpPr>
          <p:sp>
            <p:nvSpPr>
              <p:cNvPr id="2294" name="Line 648"/>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2295" name="Line 649"/>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2296" name="Line 650"/>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2290" name="Group 651"/>
            <p:cNvGrpSpPr/>
            <p:nvPr/>
          </p:nvGrpSpPr>
          <p:grpSpPr bwMode="auto">
            <a:xfrm flipV="1">
              <a:off x="3686" y="243"/>
              <a:ext cx="177" cy="66"/>
              <a:chOff x="2848" y="848"/>
              <a:chExt cx="140" cy="98"/>
            </a:xfrm>
          </p:grpSpPr>
          <p:sp>
            <p:nvSpPr>
              <p:cNvPr id="2291" name="Line 652"/>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2292" name="Line 653"/>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2293" name="Line 654"/>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grpSp>
        <p:nvGrpSpPr>
          <p:cNvPr id="2148" name="Group 655"/>
          <p:cNvGrpSpPr/>
          <p:nvPr/>
        </p:nvGrpSpPr>
        <p:grpSpPr bwMode="auto">
          <a:xfrm>
            <a:off x="2043113" y="4867275"/>
            <a:ext cx="501650" cy="234950"/>
            <a:chOff x="3600" y="219"/>
            <a:chExt cx="360" cy="175"/>
          </a:xfrm>
        </p:grpSpPr>
        <p:sp>
          <p:nvSpPr>
            <p:cNvPr id="2271" name="Oval 656"/>
            <p:cNvSpPr>
              <a:spLocks noChangeArrowheads="1"/>
            </p:cNvSpPr>
            <p:nvPr/>
          </p:nvSpPr>
          <p:spPr bwMode="auto">
            <a:xfrm>
              <a:off x="3603" y="297"/>
              <a:ext cx="357" cy="97"/>
            </a:xfrm>
            <a:prstGeom prst="ellipse">
              <a:avLst/>
            </a:prstGeom>
            <a:solidFill>
              <a:srgbClr val="DDDDDD"/>
            </a:solidFill>
            <a:ln w="12700">
              <a:solidFill>
                <a:schemeClr val="tx1"/>
              </a:solidFill>
              <a:round/>
            </a:ln>
          </p:spPr>
          <p:txBody>
            <a:bodyPr wrap="none" anchor="ctr"/>
            <a:lstStyle/>
            <a:p>
              <a:endParaRPr lang="en-US"/>
            </a:p>
          </p:txBody>
        </p:sp>
        <p:sp>
          <p:nvSpPr>
            <p:cNvPr id="2272" name="Line 657"/>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2273" name="Line 658"/>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2274" name="Rectangle 659"/>
            <p:cNvSpPr>
              <a:spLocks noChangeArrowheads="1"/>
            </p:cNvSpPr>
            <p:nvPr/>
          </p:nvSpPr>
          <p:spPr bwMode="auto">
            <a:xfrm>
              <a:off x="3603" y="289"/>
              <a:ext cx="354" cy="59"/>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275" name="Oval 660"/>
            <p:cNvSpPr>
              <a:spLocks noChangeArrowheads="1"/>
            </p:cNvSpPr>
            <p:nvPr/>
          </p:nvSpPr>
          <p:spPr bwMode="auto">
            <a:xfrm>
              <a:off x="3600" y="219"/>
              <a:ext cx="357" cy="113"/>
            </a:xfrm>
            <a:prstGeom prst="ellipse">
              <a:avLst/>
            </a:prstGeom>
            <a:solidFill>
              <a:srgbClr val="DDDDDD"/>
            </a:solidFill>
            <a:ln w="12700">
              <a:solidFill>
                <a:schemeClr val="tx1"/>
              </a:solidFill>
              <a:round/>
            </a:ln>
          </p:spPr>
          <p:txBody>
            <a:bodyPr wrap="none" anchor="ctr"/>
            <a:lstStyle/>
            <a:p>
              <a:endParaRPr lang="en-US"/>
            </a:p>
          </p:txBody>
        </p:sp>
        <p:grpSp>
          <p:nvGrpSpPr>
            <p:cNvPr id="2276" name="Group 661"/>
            <p:cNvGrpSpPr/>
            <p:nvPr/>
          </p:nvGrpSpPr>
          <p:grpSpPr bwMode="auto">
            <a:xfrm>
              <a:off x="3686" y="244"/>
              <a:ext cx="177" cy="66"/>
              <a:chOff x="2848" y="848"/>
              <a:chExt cx="140" cy="98"/>
            </a:xfrm>
          </p:grpSpPr>
          <p:sp>
            <p:nvSpPr>
              <p:cNvPr id="2281" name="Line 662"/>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2282" name="Line 663"/>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2283" name="Line 664"/>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2277" name="Group 665"/>
            <p:cNvGrpSpPr/>
            <p:nvPr/>
          </p:nvGrpSpPr>
          <p:grpSpPr bwMode="auto">
            <a:xfrm flipV="1">
              <a:off x="3686" y="243"/>
              <a:ext cx="177" cy="66"/>
              <a:chOff x="2848" y="848"/>
              <a:chExt cx="140" cy="98"/>
            </a:xfrm>
          </p:grpSpPr>
          <p:sp>
            <p:nvSpPr>
              <p:cNvPr id="2278" name="Line 666"/>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2279" name="Line 667"/>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2280" name="Line 668"/>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2149" name="Line 669"/>
          <p:cNvSpPr>
            <a:spLocks noChangeShapeType="1"/>
          </p:cNvSpPr>
          <p:nvPr/>
        </p:nvSpPr>
        <p:spPr bwMode="auto">
          <a:xfrm>
            <a:off x="3157538" y="4773613"/>
            <a:ext cx="358775" cy="120650"/>
          </a:xfrm>
          <a:prstGeom prst="line">
            <a:avLst/>
          </a:prstGeom>
          <a:noFill/>
          <a:ln w="9525">
            <a:solidFill>
              <a:schemeClr val="bg2"/>
            </a:solidFill>
            <a:round/>
          </a:ln>
        </p:spPr>
        <p:txBody>
          <a:bodyPr/>
          <a:lstStyle/>
          <a:p>
            <a:endParaRPr lang="en-US"/>
          </a:p>
        </p:txBody>
      </p:sp>
      <p:sp>
        <p:nvSpPr>
          <p:cNvPr id="2150" name="Line 670"/>
          <p:cNvSpPr>
            <a:spLocks noChangeShapeType="1"/>
          </p:cNvSpPr>
          <p:nvPr/>
        </p:nvSpPr>
        <p:spPr bwMode="auto">
          <a:xfrm flipV="1">
            <a:off x="2505075" y="4786313"/>
            <a:ext cx="277813" cy="109537"/>
          </a:xfrm>
          <a:prstGeom prst="line">
            <a:avLst/>
          </a:prstGeom>
          <a:noFill/>
          <a:ln w="9525">
            <a:solidFill>
              <a:schemeClr val="bg2"/>
            </a:solidFill>
            <a:round/>
          </a:ln>
        </p:spPr>
        <p:txBody>
          <a:bodyPr/>
          <a:lstStyle/>
          <a:p>
            <a:endParaRPr lang="en-US"/>
          </a:p>
        </p:txBody>
      </p:sp>
      <p:sp>
        <p:nvSpPr>
          <p:cNvPr id="2151" name="Line 671"/>
          <p:cNvSpPr>
            <a:spLocks noChangeShapeType="1"/>
          </p:cNvSpPr>
          <p:nvPr/>
        </p:nvSpPr>
        <p:spPr bwMode="auto">
          <a:xfrm flipV="1">
            <a:off x="2547938" y="4989513"/>
            <a:ext cx="971550" cy="0"/>
          </a:xfrm>
          <a:prstGeom prst="line">
            <a:avLst/>
          </a:prstGeom>
          <a:noFill/>
          <a:ln w="9525">
            <a:solidFill>
              <a:schemeClr val="bg2"/>
            </a:solidFill>
            <a:round/>
          </a:ln>
        </p:spPr>
        <p:txBody>
          <a:bodyPr/>
          <a:lstStyle/>
          <a:p>
            <a:endParaRPr lang="en-US"/>
          </a:p>
        </p:txBody>
      </p:sp>
      <p:sp>
        <p:nvSpPr>
          <p:cNvPr id="2152" name="Line 672"/>
          <p:cNvSpPr>
            <a:spLocks noChangeShapeType="1"/>
          </p:cNvSpPr>
          <p:nvPr/>
        </p:nvSpPr>
        <p:spPr bwMode="auto">
          <a:xfrm flipH="1">
            <a:off x="1843088" y="4735513"/>
            <a:ext cx="254000" cy="469900"/>
          </a:xfrm>
          <a:prstGeom prst="line">
            <a:avLst/>
          </a:prstGeom>
          <a:noFill/>
          <a:ln w="9525">
            <a:solidFill>
              <a:schemeClr val="bg2"/>
            </a:solidFill>
            <a:round/>
          </a:ln>
        </p:spPr>
        <p:txBody>
          <a:bodyPr/>
          <a:lstStyle/>
          <a:p>
            <a:endParaRPr lang="en-US"/>
          </a:p>
        </p:txBody>
      </p:sp>
      <p:sp>
        <p:nvSpPr>
          <p:cNvPr id="2153" name="Line 673"/>
          <p:cNvSpPr>
            <a:spLocks noChangeShapeType="1"/>
          </p:cNvSpPr>
          <p:nvPr/>
        </p:nvSpPr>
        <p:spPr bwMode="auto">
          <a:xfrm>
            <a:off x="1868488" y="4786313"/>
            <a:ext cx="196850" cy="0"/>
          </a:xfrm>
          <a:prstGeom prst="line">
            <a:avLst/>
          </a:prstGeom>
          <a:noFill/>
          <a:ln w="9525">
            <a:solidFill>
              <a:schemeClr val="bg2"/>
            </a:solidFill>
            <a:round/>
          </a:ln>
        </p:spPr>
        <p:txBody>
          <a:bodyPr/>
          <a:lstStyle/>
          <a:p>
            <a:endParaRPr lang="en-US"/>
          </a:p>
        </p:txBody>
      </p:sp>
      <p:sp>
        <p:nvSpPr>
          <p:cNvPr id="2154" name="Line 674"/>
          <p:cNvSpPr>
            <a:spLocks noChangeShapeType="1"/>
          </p:cNvSpPr>
          <p:nvPr/>
        </p:nvSpPr>
        <p:spPr bwMode="auto">
          <a:xfrm>
            <a:off x="1728788" y="5122863"/>
            <a:ext cx="153987" cy="0"/>
          </a:xfrm>
          <a:prstGeom prst="line">
            <a:avLst/>
          </a:prstGeom>
          <a:noFill/>
          <a:ln w="9525">
            <a:solidFill>
              <a:schemeClr val="bg2"/>
            </a:solidFill>
            <a:round/>
          </a:ln>
        </p:spPr>
        <p:txBody>
          <a:bodyPr/>
          <a:lstStyle/>
          <a:p>
            <a:endParaRPr lang="en-US"/>
          </a:p>
        </p:txBody>
      </p:sp>
      <p:sp>
        <p:nvSpPr>
          <p:cNvPr id="2155" name="Line 675"/>
          <p:cNvSpPr>
            <a:spLocks noChangeShapeType="1"/>
          </p:cNvSpPr>
          <p:nvPr/>
        </p:nvSpPr>
        <p:spPr bwMode="auto">
          <a:xfrm>
            <a:off x="1981200" y="5202238"/>
            <a:ext cx="490538" cy="0"/>
          </a:xfrm>
          <a:prstGeom prst="line">
            <a:avLst/>
          </a:prstGeom>
          <a:noFill/>
          <a:ln w="9525">
            <a:solidFill>
              <a:schemeClr val="bg2"/>
            </a:solidFill>
            <a:round/>
          </a:ln>
        </p:spPr>
        <p:txBody>
          <a:bodyPr/>
          <a:lstStyle/>
          <a:p>
            <a:endParaRPr lang="en-US"/>
          </a:p>
        </p:txBody>
      </p:sp>
      <p:sp>
        <p:nvSpPr>
          <p:cNvPr id="2156" name="Line 676"/>
          <p:cNvSpPr>
            <a:spLocks noChangeShapeType="1"/>
          </p:cNvSpPr>
          <p:nvPr/>
        </p:nvSpPr>
        <p:spPr bwMode="auto">
          <a:xfrm flipH="1">
            <a:off x="2220913" y="5110163"/>
            <a:ext cx="53975" cy="85725"/>
          </a:xfrm>
          <a:prstGeom prst="line">
            <a:avLst/>
          </a:prstGeom>
          <a:noFill/>
          <a:ln w="9525">
            <a:solidFill>
              <a:schemeClr val="bg2"/>
            </a:solidFill>
            <a:round/>
          </a:ln>
        </p:spPr>
        <p:txBody>
          <a:bodyPr/>
          <a:lstStyle/>
          <a:p>
            <a:endParaRPr lang="en-US"/>
          </a:p>
        </p:txBody>
      </p:sp>
      <p:sp>
        <p:nvSpPr>
          <p:cNvPr id="2157" name="Line 677"/>
          <p:cNvSpPr>
            <a:spLocks noChangeShapeType="1"/>
          </p:cNvSpPr>
          <p:nvPr/>
        </p:nvSpPr>
        <p:spPr bwMode="auto">
          <a:xfrm>
            <a:off x="2033588" y="5199063"/>
            <a:ext cx="1587" cy="82550"/>
          </a:xfrm>
          <a:prstGeom prst="line">
            <a:avLst/>
          </a:prstGeom>
          <a:noFill/>
          <a:ln w="9525">
            <a:solidFill>
              <a:schemeClr val="bg2"/>
            </a:solidFill>
            <a:round/>
          </a:ln>
        </p:spPr>
        <p:txBody>
          <a:bodyPr/>
          <a:lstStyle/>
          <a:p>
            <a:endParaRPr lang="en-US"/>
          </a:p>
        </p:txBody>
      </p:sp>
      <p:sp>
        <p:nvSpPr>
          <p:cNvPr id="2158" name="Line 678"/>
          <p:cNvSpPr>
            <a:spLocks noChangeShapeType="1"/>
          </p:cNvSpPr>
          <p:nvPr/>
        </p:nvSpPr>
        <p:spPr bwMode="auto">
          <a:xfrm flipH="1" flipV="1">
            <a:off x="2430463" y="5207000"/>
            <a:ext cx="0" cy="76200"/>
          </a:xfrm>
          <a:prstGeom prst="line">
            <a:avLst/>
          </a:prstGeom>
          <a:noFill/>
          <a:ln w="9525">
            <a:solidFill>
              <a:schemeClr val="bg2"/>
            </a:solidFill>
            <a:round/>
          </a:ln>
        </p:spPr>
        <p:txBody>
          <a:bodyPr/>
          <a:lstStyle/>
          <a:p>
            <a:endParaRPr lang="en-US"/>
          </a:p>
        </p:txBody>
      </p:sp>
      <p:sp>
        <p:nvSpPr>
          <p:cNvPr id="2159" name="Line 679"/>
          <p:cNvSpPr>
            <a:spLocks noChangeShapeType="1"/>
          </p:cNvSpPr>
          <p:nvPr/>
        </p:nvSpPr>
        <p:spPr bwMode="auto">
          <a:xfrm>
            <a:off x="2511425" y="5065713"/>
            <a:ext cx="503238" cy="269875"/>
          </a:xfrm>
          <a:prstGeom prst="line">
            <a:avLst/>
          </a:prstGeom>
          <a:noFill/>
          <a:ln w="9525">
            <a:solidFill>
              <a:schemeClr val="bg2"/>
            </a:solidFill>
            <a:round/>
          </a:ln>
        </p:spPr>
        <p:txBody>
          <a:bodyPr/>
          <a:lstStyle/>
          <a:p>
            <a:endParaRPr lang="en-US"/>
          </a:p>
        </p:txBody>
      </p:sp>
      <p:sp>
        <p:nvSpPr>
          <p:cNvPr id="2160" name="Line 680"/>
          <p:cNvSpPr>
            <a:spLocks noChangeShapeType="1"/>
          </p:cNvSpPr>
          <p:nvPr/>
        </p:nvSpPr>
        <p:spPr bwMode="auto">
          <a:xfrm>
            <a:off x="1960563" y="5000625"/>
            <a:ext cx="80962" cy="0"/>
          </a:xfrm>
          <a:prstGeom prst="line">
            <a:avLst/>
          </a:prstGeom>
          <a:noFill/>
          <a:ln w="9525">
            <a:solidFill>
              <a:schemeClr val="bg2"/>
            </a:solidFill>
            <a:round/>
          </a:ln>
        </p:spPr>
        <p:txBody>
          <a:bodyPr/>
          <a:lstStyle/>
          <a:p>
            <a:endParaRPr lang="en-US"/>
          </a:p>
        </p:txBody>
      </p:sp>
      <p:grpSp>
        <p:nvGrpSpPr>
          <p:cNvPr id="2161" name="Group 681"/>
          <p:cNvGrpSpPr/>
          <p:nvPr/>
        </p:nvGrpSpPr>
        <p:grpSpPr bwMode="auto">
          <a:xfrm>
            <a:off x="1146175" y="1760538"/>
            <a:ext cx="3021013" cy="3981450"/>
            <a:chOff x="-1203" y="1352"/>
            <a:chExt cx="1903" cy="2508"/>
          </a:xfrm>
        </p:grpSpPr>
        <p:grpSp>
          <p:nvGrpSpPr>
            <p:cNvPr id="2244" name="Group 682"/>
            <p:cNvGrpSpPr/>
            <p:nvPr/>
          </p:nvGrpSpPr>
          <p:grpSpPr bwMode="auto">
            <a:xfrm>
              <a:off x="-1203" y="1647"/>
              <a:ext cx="436" cy="114"/>
              <a:chOff x="3072" y="739"/>
              <a:chExt cx="652" cy="146"/>
            </a:xfrm>
          </p:grpSpPr>
          <p:pic>
            <p:nvPicPr>
              <p:cNvPr id="2268" name="Picture 683" descr="lgv_fqmg[1]"/>
              <p:cNvPicPr>
                <a:picLocks noChangeAspect="1" noChangeArrowheads="1"/>
              </p:cNvPicPr>
              <p:nvPr/>
            </p:nvPicPr>
            <p:blipFill>
              <a:blip r:embed="rId1"/>
              <a:srcRect/>
              <a:stretch>
                <a:fillRect/>
              </a:stretch>
            </p:blipFill>
            <p:spPr bwMode="auto">
              <a:xfrm flipH="1">
                <a:off x="3237" y="739"/>
                <a:ext cx="487" cy="146"/>
              </a:xfrm>
              <a:prstGeom prst="rect">
                <a:avLst/>
              </a:prstGeom>
              <a:noFill/>
              <a:ln w="9525">
                <a:noFill/>
                <a:miter lim="800000"/>
                <a:headEnd/>
                <a:tailEnd/>
              </a:ln>
            </p:spPr>
          </p:pic>
          <p:sp>
            <p:nvSpPr>
              <p:cNvPr id="2269" name="Line 684"/>
              <p:cNvSpPr>
                <a:spLocks noChangeShapeType="1"/>
              </p:cNvSpPr>
              <p:nvPr/>
            </p:nvSpPr>
            <p:spPr bwMode="auto">
              <a:xfrm flipH="1">
                <a:off x="3104" y="784"/>
                <a:ext cx="88" cy="0"/>
              </a:xfrm>
              <a:prstGeom prst="line">
                <a:avLst/>
              </a:prstGeom>
              <a:noFill/>
              <a:ln w="9525">
                <a:solidFill>
                  <a:schemeClr val="tx1"/>
                </a:solidFill>
                <a:round/>
              </a:ln>
            </p:spPr>
            <p:txBody>
              <a:bodyPr/>
              <a:lstStyle/>
              <a:p>
                <a:endParaRPr lang="en-US"/>
              </a:p>
            </p:txBody>
          </p:sp>
          <p:sp>
            <p:nvSpPr>
              <p:cNvPr id="2270" name="Line 685"/>
              <p:cNvSpPr>
                <a:spLocks noChangeShapeType="1"/>
              </p:cNvSpPr>
              <p:nvPr/>
            </p:nvSpPr>
            <p:spPr bwMode="auto">
              <a:xfrm flipH="1">
                <a:off x="3072" y="760"/>
                <a:ext cx="144" cy="0"/>
              </a:xfrm>
              <a:prstGeom prst="line">
                <a:avLst/>
              </a:prstGeom>
              <a:noFill/>
              <a:ln w="9525">
                <a:solidFill>
                  <a:schemeClr val="tx1"/>
                </a:solidFill>
                <a:round/>
              </a:ln>
            </p:spPr>
            <p:txBody>
              <a:bodyPr/>
              <a:lstStyle/>
              <a:p>
                <a:endParaRPr lang="en-US"/>
              </a:p>
            </p:txBody>
          </p:sp>
        </p:grpSp>
        <p:pic>
          <p:nvPicPr>
            <p:cNvPr id="2245" name="Picture 686" descr="imgyjavg[1]"/>
            <p:cNvPicPr>
              <a:picLocks noChangeAspect="1" noChangeArrowheads="1"/>
            </p:cNvPicPr>
            <p:nvPr/>
          </p:nvPicPr>
          <p:blipFill>
            <a:blip r:embed="rId2"/>
            <a:srcRect/>
            <a:stretch>
              <a:fillRect/>
            </a:stretch>
          </p:blipFill>
          <p:spPr bwMode="auto">
            <a:xfrm>
              <a:off x="-1027" y="1466"/>
              <a:ext cx="232" cy="168"/>
            </a:xfrm>
            <a:prstGeom prst="rect">
              <a:avLst/>
            </a:prstGeom>
            <a:noFill/>
            <a:ln w="9525">
              <a:noFill/>
              <a:miter lim="800000"/>
              <a:headEnd/>
              <a:tailEnd/>
            </a:ln>
          </p:spPr>
        </p:pic>
        <p:grpSp>
          <p:nvGrpSpPr>
            <p:cNvPr id="2246" name="Group 687"/>
            <p:cNvGrpSpPr/>
            <p:nvPr/>
          </p:nvGrpSpPr>
          <p:grpSpPr bwMode="auto">
            <a:xfrm>
              <a:off x="-546" y="1352"/>
              <a:ext cx="256" cy="269"/>
              <a:chOff x="2870" y="1518"/>
              <a:chExt cx="292" cy="320"/>
            </a:xfrm>
          </p:grpSpPr>
          <p:graphicFrame>
            <p:nvGraphicFramePr>
              <p:cNvPr id="2061" name="Object 68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93" name="Clip" r:id="rId3" imgW="11601450" imgH="11791950" progId="">
                      <p:embed/>
                    </p:oleObj>
                  </mc:Choice>
                  <mc:Fallback>
                    <p:oleObj name="Clip" r:id="rId3" imgW="11601450" imgH="11791950" progId="">
                      <p:embed/>
                      <p:pic>
                        <p:nvPicPr>
                          <p:cNvPr id="0" name="Object 6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62" name="Object 68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94" name="Clip" r:id="rId5" imgW="1268095" imgH="1199515" progId="">
                      <p:embed/>
                    </p:oleObj>
                  </mc:Choice>
                  <mc:Fallback>
                    <p:oleObj name="Clip" r:id="rId5" imgW="1268095" imgH="1199515" progId="">
                      <p:embed/>
                      <p:pic>
                        <p:nvPicPr>
                          <p:cNvPr id="0" name="Object 68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247" name="Group 690"/>
            <p:cNvGrpSpPr/>
            <p:nvPr/>
          </p:nvGrpSpPr>
          <p:grpSpPr bwMode="auto">
            <a:xfrm>
              <a:off x="-1002" y="2262"/>
              <a:ext cx="209" cy="224"/>
              <a:chOff x="2870" y="1518"/>
              <a:chExt cx="292" cy="320"/>
            </a:xfrm>
          </p:grpSpPr>
          <p:graphicFrame>
            <p:nvGraphicFramePr>
              <p:cNvPr id="2059" name="Object 69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95" name="Clip" r:id="rId7" imgW="11601450" imgH="11791950" progId="">
                      <p:embed/>
                    </p:oleObj>
                  </mc:Choice>
                  <mc:Fallback>
                    <p:oleObj name="Clip" r:id="rId7" imgW="11601450" imgH="11791950" progId="">
                      <p:embed/>
                      <p:pic>
                        <p:nvPicPr>
                          <p:cNvPr id="0" name="Object 69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60" name="Object 69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96" name="Clip" r:id="rId8" imgW="1268095" imgH="1199515" progId="">
                      <p:embed/>
                    </p:oleObj>
                  </mc:Choice>
                  <mc:Fallback>
                    <p:oleObj name="Clip" r:id="rId8" imgW="1268095" imgH="1199515" progId="">
                      <p:embed/>
                      <p:pic>
                        <p:nvPicPr>
                          <p:cNvPr id="0" name="Object 69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050" name="Object 693"/>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spid="_x0000_s2197" name="Clip" r:id="rId9" imgW="18192750" imgH="15087600" progId="">
                    <p:embed/>
                  </p:oleObj>
                </mc:Choice>
                <mc:Fallback>
                  <p:oleObj name="Clip" r:id="rId9" imgW="18192750" imgH="15087600" progId="">
                    <p:embed/>
                    <p:pic>
                      <p:nvPicPr>
                        <p:cNvPr id="0" name="Object 69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48" name="Group 694"/>
            <p:cNvGrpSpPr/>
            <p:nvPr/>
          </p:nvGrpSpPr>
          <p:grpSpPr bwMode="auto">
            <a:xfrm>
              <a:off x="310" y="3575"/>
              <a:ext cx="125" cy="230"/>
              <a:chOff x="4180" y="783"/>
              <a:chExt cx="150" cy="307"/>
            </a:xfrm>
          </p:grpSpPr>
          <p:sp>
            <p:nvSpPr>
              <p:cNvPr id="2260" name="AutoShape 69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2261" name="Rectangle 696"/>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2262" name="Rectangle 697"/>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2263" name="AutoShape 69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2264" name="Line 699"/>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2265" name="Line 700"/>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2266" name="Rectangle 701"/>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2267" name="Rectangle 702"/>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aphicFrame>
          <p:nvGraphicFramePr>
            <p:cNvPr id="2051" name="Object 703"/>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spid="_x0000_s2198" name="Clip" r:id="rId11" imgW="18192750" imgH="15087600" progId="">
                    <p:embed/>
                  </p:oleObj>
                </mc:Choice>
                <mc:Fallback>
                  <p:oleObj name="Clip" r:id="rId11" imgW="18192750" imgH="15087600" progId="">
                    <p:embed/>
                    <p:pic>
                      <p:nvPicPr>
                        <p:cNvPr id="0" name="Object 70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704"/>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spid="_x0000_s2199" name="Clip" r:id="rId12" imgW="18192750" imgH="15087600" progId="">
                    <p:embed/>
                  </p:oleObj>
                </mc:Choice>
                <mc:Fallback>
                  <p:oleObj name="Clip" r:id="rId12" imgW="18192750" imgH="15087600" progId="">
                    <p:embed/>
                    <p:pic>
                      <p:nvPicPr>
                        <p:cNvPr id="0" name="Object 70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705"/>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spid="_x0000_s2200" name="Clip" r:id="rId13" imgW="18192750" imgH="15087600" progId="">
                    <p:embed/>
                  </p:oleObj>
                </mc:Choice>
                <mc:Fallback>
                  <p:oleObj name="Clip" r:id="rId13" imgW="18192750" imgH="15087600" progId="">
                    <p:embed/>
                    <p:pic>
                      <p:nvPicPr>
                        <p:cNvPr id="0" name="Object 70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4" name="Object 706"/>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spid="_x0000_s2201" name="Clip" r:id="rId14" imgW="18192750" imgH="15087600" progId="">
                    <p:embed/>
                  </p:oleObj>
                </mc:Choice>
                <mc:Fallback>
                  <p:oleObj name="Clip" r:id="rId14" imgW="18192750" imgH="15087600" progId="">
                    <p:embed/>
                    <p:pic>
                      <p:nvPicPr>
                        <p:cNvPr id="0" name="Object 7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249" name="Group 707"/>
            <p:cNvGrpSpPr/>
            <p:nvPr/>
          </p:nvGrpSpPr>
          <p:grpSpPr bwMode="auto">
            <a:xfrm>
              <a:off x="83" y="3625"/>
              <a:ext cx="172" cy="215"/>
              <a:chOff x="2870" y="1518"/>
              <a:chExt cx="292" cy="320"/>
            </a:xfrm>
          </p:grpSpPr>
          <p:graphicFrame>
            <p:nvGraphicFramePr>
              <p:cNvPr id="2057" name="Object 708"/>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202" name="Clip" r:id="rId15" imgW="11601450" imgH="11791950" progId="">
                      <p:embed/>
                    </p:oleObj>
                  </mc:Choice>
                  <mc:Fallback>
                    <p:oleObj name="Clip" r:id="rId15" imgW="11601450" imgH="11791950" progId="">
                      <p:embed/>
                      <p:pic>
                        <p:nvPicPr>
                          <p:cNvPr id="0" name="Object 7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8" name="Object 709"/>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203" name="Clip" r:id="rId16" imgW="1268095" imgH="1199515" progId="">
                      <p:embed/>
                    </p:oleObj>
                  </mc:Choice>
                  <mc:Fallback>
                    <p:oleObj name="Clip" r:id="rId16" imgW="1268095" imgH="1199515" progId="">
                      <p:embed/>
                      <p:pic>
                        <p:nvPicPr>
                          <p:cNvPr id="0" name="Object 70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250" name="Group 710"/>
            <p:cNvGrpSpPr/>
            <p:nvPr/>
          </p:nvGrpSpPr>
          <p:grpSpPr bwMode="auto">
            <a:xfrm>
              <a:off x="-201" y="3657"/>
              <a:ext cx="220" cy="203"/>
              <a:chOff x="2870" y="1518"/>
              <a:chExt cx="292" cy="320"/>
            </a:xfrm>
          </p:grpSpPr>
          <p:graphicFrame>
            <p:nvGraphicFramePr>
              <p:cNvPr id="2055" name="Object 711"/>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204" name="Clip" r:id="rId17" imgW="11601450" imgH="11791950" progId="">
                      <p:embed/>
                    </p:oleObj>
                  </mc:Choice>
                  <mc:Fallback>
                    <p:oleObj name="Clip" r:id="rId17" imgW="11601450" imgH="11791950" progId="">
                      <p:embed/>
                      <p:pic>
                        <p:nvPicPr>
                          <p:cNvPr id="0" name="Object 7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6" name="Object 712"/>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205" name="Clip" r:id="rId18" imgW="1268095" imgH="1199515" progId="">
                      <p:embed/>
                    </p:oleObj>
                  </mc:Choice>
                  <mc:Fallback>
                    <p:oleObj name="Clip" r:id="rId18" imgW="1268095" imgH="1199515" progId="">
                      <p:embed/>
                      <p:pic>
                        <p:nvPicPr>
                          <p:cNvPr id="0" name="Object 7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251" name="Group 713"/>
            <p:cNvGrpSpPr/>
            <p:nvPr/>
          </p:nvGrpSpPr>
          <p:grpSpPr bwMode="auto">
            <a:xfrm>
              <a:off x="569" y="3419"/>
              <a:ext cx="131" cy="258"/>
              <a:chOff x="4180" y="783"/>
              <a:chExt cx="150" cy="307"/>
            </a:xfrm>
          </p:grpSpPr>
          <p:sp>
            <p:nvSpPr>
              <p:cNvPr id="2252" name="AutoShape 71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2253" name="Rectangle 715"/>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2254" name="Rectangle 716"/>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2255" name="AutoShape 71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2256" name="Line 718"/>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2257" name="Line 719"/>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2258" name="Rectangle 720"/>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2259" name="Rectangle 721"/>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sp>
        <p:nvSpPr>
          <p:cNvPr id="2162" name="Line 722"/>
          <p:cNvSpPr>
            <a:spLocks noChangeShapeType="1"/>
          </p:cNvSpPr>
          <p:nvPr/>
        </p:nvSpPr>
        <p:spPr bwMode="auto">
          <a:xfrm flipH="1">
            <a:off x="2049463" y="3522663"/>
            <a:ext cx="3175" cy="144462"/>
          </a:xfrm>
          <a:prstGeom prst="line">
            <a:avLst/>
          </a:prstGeom>
          <a:noFill/>
          <a:ln w="9525">
            <a:solidFill>
              <a:schemeClr val="bg2"/>
            </a:solidFill>
            <a:round/>
          </a:ln>
        </p:spPr>
        <p:txBody>
          <a:bodyPr/>
          <a:lstStyle/>
          <a:p>
            <a:endParaRPr lang="en-US"/>
          </a:p>
        </p:txBody>
      </p:sp>
      <p:sp>
        <p:nvSpPr>
          <p:cNvPr id="2163" name="Line 723"/>
          <p:cNvSpPr>
            <a:spLocks noChangeShapeType="1"/>
          </p:cNvSpPr>
          <p:nvPr/>
        </p:nvSpPr>
        <p:spPr bwMode="auto">
          <a:xfrm flipV="1">
            <a:off x="3346450" y="2505075"/>
            <a:ext cx="123825" cy="87313"/>
          </a:xfrm>
          <a:prstGeom prst="line">
            <a:avLst/>
          </a:prstGeom>
          <a:noFill/>
          <a:ln w="9525">
            <a:solidFill>
              <a:schemeClr val="bg2"/>
            </a:solidFill>
            <a:round/>
          </a:ln>
        </p:spPr>
        <p:txBody>
          <a:bodyPr/>
          <a:lstStyle/>
          <a:p>
            <a:endParaRPr lang="en-US"/>
          </a:p>
        </p:txBody>
      </p:sp>
      <p:sp>
        <p:nvSpPr>
          <p:cNvPr id="2164" name="Line 724"/>
          <p:cNvSpPr>
            <a:spLocks noChangeShapeType="1"/>
          </p:cNvSpPr>
          <p:nvPr/>
        </p:nvSpPr>
        <p:spPr bwMode="auto">
          <a:xfrm>
            <a:off x="3173413" y="2678113"/>
            <a:ext cx="0" cy="82550"/>
          </a:xfrm>
          <a:prstGeom prst="line">
            <a:avLst/>
          </a:prstGeom>
          <a:noFill/>
          <a:ln w="9525">
            <a:solidFill>
              <a:schemeClr val="bg2"/>
            </a:solidFill>
            <a:round/>
          </a:ln>
        </p:spPr>
        <p:txBody>
          <a:bodyPr/>
          <a:lstStyle/>
          <a:p>
            <a:endParaRPr lang="en-US"/>
          </a:p>
        </p:txBody>
      </p:sp>
      <p:sp>
        <p:nvSpPr>
          <p:cNvPr id="2165" name="Line 725"/>
          <p:cNvSpPr>
            <a:spLocks noChangeShapeType="1"/>
          </p:cNvSpPr>
          <p:nvPr/>
        </p:nvSpPr>
        <p:spPr bwMode="auto">
          <a:xfrm flipV="1">
            <a:off x="3357563" y="2574925"/>
            <a:ext cx="263525" cy="288925"/>
          </a:xfrm>
          <a:prstGeom prst="line">
            <a:avLst/>
          </a:prstGeom>
          <a:noFill/>
          <a:ln w="9525">
            <a:solidFill>
              <a:schemeClr val="bg2"/>
            </a:solidFill>
            <a:round/>
          </a:ln>
        </p:spPr>
        <p:txBody>
          <a:bodyPr/>
          <a:lstStyle/>
          <a:p>
            <a:endParaRPr lang="en-US"/>
          </a:p>
        </p:txBody>
      </p:sp>
      <p:sp>
        <p:nvSpPr>
          <p:cNvPr id="2166" name="Line 726"/>
          <p:cNvSpPr>
            <a:spLocks noChangeShapeType="1"/>
          </p:cNvSpPr>
          <p:nvPr/>
        </p:nvSpPr>
        <p:spPr bwMode="auto">
          <a:xfrm>
            <a:off x="3709988" y="2573338"/>
            <a:ext cx="0" cy="196850"/>
          </a:xfrm>
          <a:prstGeom prst="line">
            <a:avLst/>
          </a:prstGeom>
          <a:noFill/>
          <a:ln w="9525">
            <a:solidFill>
              <a:schemeClr val="bg2"/>
            </a:solidFill>
            <a:round/>
          </a:ln>
        </p:spPr>
        <p:txBody>
          <a:bodyPr/>
          <a:lstStyle/>
          <a:p>
            <a:endParaRPr lang="en-US"/>
          </a:p>
        </p:txBody>
      </p:sp>
      <p:sp>
        <p:nvSpPr>
          <p:cNvPr id="2167" name="Line 727"/>
          <p:cNvSpPr>
            <a:spLocks noChangeShapeType="1"/>
          </p:cNvSpPr>
          <p:nvPr/>
        </p:nvSpPr>
        <p:spPr bwMode="auto">
          <a:xfrm>
            <a:off x="3363913" y="2879725"/>
            <a:ext cx="188912" cy="0"/>
          </a:xfrm>
          <a:prstGeom prst="line">
            <a:avLst/>
          </a:prstGeom>
          <a:noFill/>
          <a:ln w="9525">
            <a:solidFill>
              <a:schemeClr val="bg2"/>
            </a:solidFill>
            <a:round/>
          </a:ln>
        </p:spPr>
        <p:txBody>
          <a:bodyPr/>
          <a:lstStyle/>
          <a:p>
            <a:endParaRPr lang="en-US"/>
          </a:p>
        </p:txBody>
      </p:sp>
      <p:sp>
        <p:nvSpPr>
          <p:cNvPr id="2168" name="Line 728"/>
          <p:cNvSpPr>
            <a:spLocks noChangeShapeType="1"/>
          </p:cNvSpPr>
          <p:nvPr/>
        </p:nvSpPr>
        <p:spPr bwMode="auto">
          <a:xfrm flipV="1">
            <a:off x="1658938" y="3746500"/>
            <a:ext cx="168275" cy="3175"/>
          </a:xfrm>
          <a:prstGeom prst="line">
            <a:avLst/>
          </a:prstGeom>
          <a:noFill/>
          <a:ln w="9525">
            <a:solidFill>
              <a:schemeClr val="bg2"/>
            </a:solidFill>
            <a:round/>
          </a:ln>
        </p:spPr>
        <p:txBody>
          <a:bodyPr/>
          <a:lstStyle/>
          <a:p>
            <a:endParaRPr lang="en-US"/>
          </a:p>
        </p:txBody>
      </p:sp>
      <p:sp>
        <p:nvSpPr>
          <p:cNvPr id="2169" name="Line 729"/>
          <p:cNvSpPr>
            <a:spLocks noChangeShapeType="1"/>
          </p:cNvSpPr>
          <p:nvPr/>
        </p:nvSpPr>
        <p:spPr bwMode="auto">
          <a:xfrm flipV="1">
            <a:off x="3778250" y="2273300"/>
            <a:ext cx="238125" cy="168275"/>
          </a:xfrm>
          <a:prstGeom prst="line">
            <a:avLst/>
          </a:prstGeom>
          <a:noFill/>
          <a:ln w="9525">
            <a:solidFill>
              <a:schemeClr val="bg2"/>
            </a:solidFill>
            <a:round/>
          </a:ln>
        </p:spPr>
        <p:txBody>
          <a:bodyPr/>
          <a:lstStyle/>
          <a:p>
            <a:endParaRPr lang="en-US"/>
          </a:p>
        </p:txBody>
      </p:sp>
      <p:sp>
        <p:nvSpPr>
          <p:cNvPr id="2170" name="Line 730"/>
          <p:cNvSpPr>
            <a:spLocks noChangeShapeType="1"/>
          </p:cNvSpPr>
          <p:nvPr/>
        </p:nvSpPr>
        <p:spPr bwMode="auto">
          <a:xfrm>
            <a:off x="3917950" y="2870200"/>
            <a:ext cx="177800" cy="0"/>
          </a:xfrm>
          <a:prstGeom prst="line">
            <a:avLst/>
          </a:prstGeom>
          <a:noFill/>
          <a:ln w="9525">
            <a:solidFill>
              <a:schemeClr val="bg2"/>
            </a:solidFill>
            <a:round/>
          </a:ln>
        </p:spPr>
        <p:txBody>
          <a:bodyPr/>
          <a:lstStyle/>
          <a:p>
            <a:endParaRPr lang="en-US"/>
          </a:p>
        </p:txBody>
      </p:sp>
      <p:sp>
        <p:nvSpPr>
          <p:cNvPr id="2171" name="Line 731"/>
          <p:cNvSpPr>
            <a:spLocks noChangeShapeType="1"/>
          </p:cNvSpPr>
          <p:nvPr/>
        </p:nvSpPr>
        <p:spPr bwMode="auto">
          <a:xfrm flipH="1">
            <a:off x="3063875" y="2946400"/>
            <a:ext cx="98425" cy="704850"/>
          </a:xfrm>
          <a:prstGeom prst="line">
            <a:avLst/>
          </a:prstGeom>
          <a:noFill/>
          <a:ln w="9525">
            <a:solidFill>
              <a:schemeClr val="bg2"/>
            </a:solidFill>
            <a:round/>
          </a:ln>
        </p:spPr>
        <p:txBody>
          <a:bodyPr/>
          <a:lstStyle/>
          <a:p>
            <a:endParaRPr lang="en-US"/>
          </a:p>
        </p:txBody>
      </p:sp>
      <p:sp>
        <p:nvSpPr>
          <p:cNvPr id="2172" name="Line 732"/>
          <p:cNvSpPr>
            <a:spLocks noChangeShapeType="1"/>
          </p:cNvSpPr>
          <p:nvPr/>
        </p:nvSpPr>
        <p:spPr bwMode="auto">
          <a:xfrm flipH="1">
            <a:off x="3654425" y="2946400"/>
            <a:ext cx="111125" cy="727075"/>
          </a:xfrm>
          <a:prstGeom prst="line">
            <a:avLst/>
          </a:prstGeom>
          <a:noFill/>
          <a:ln w="9525">
            <a:solidFill>
              <a:schemeClr val="bg2"/>
            </a:solidFill>
            <a:round/>
          </a:ln>
        </p:spPr>
        <p:txBody>
          <a:bodyPr/>
          <a:lstStyle/>
          <a:p>
            <a:endParaRPr lang="en-US"/>
          </a:p>
        </p:txBody>
      </p:sp>
      <p:grpSp>
        <p:nvGrpSpPr>
          <p:cNvPr id="2173" name="Group 733"/>
          <p:cNvGrpSpPr/>
          <p:nvPr/>
        </p:nvGrpSpPr>
        <p:grpSpPr bwMode="auto">
          <a:xfrm>
            <a:off x="2706688" y="4564063"/>
            <a:ext cx="501650" cy="234950"/>
            <a:chOff x="4701" y="2996"/>
            <a:chExt cx="316" cy="148"/>
          </a:xfrm>
        </p:grpSpPr>
        <p:sp>
          <p:nvSpPr>
            <p:cNvPr id="2231" name="Oval 734"/>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2232" name="Line 735"/>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2233" name="Line 736"/>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2234" name="Rectangle 737"/>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235" name="Oval 738"/>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2236" name="Group 739"/>
            <p:cNvGrpSpPr/>
            <p:nvPr/>
          </p:nvGrpSpPr>
          <p:grpSpPr bwMode="auto">
            <a:xfrm>
              <a:off x="4776" y="3017"/>
              <a:ext cx="156" cy="56"/>
              <a:chOff x="2848" y="848"/>
              <a:chExt cx="140" cy="98"/>
            </a:xfrm>
          </p:grpSpPr>
          <p:sp>
            <p:nvSpPr>
              <p:cNvPr id="2241" name="Line 74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242" name="Line 74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243" name="Line 74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237" name="Group 743"/>
            <p:cNvGrpSpPr/>
            <p:nvPr/>
          </p:nvGrpSpPr>
          <p:grpSpPr bwMode="auto">
            <a:xfrm flipV="1">
              <a:off x="4776" y="3016"/>
              <a:ext cx="156" cy="56"/>
              <a:chOff x="2848" y="848"/>
              <a:chExt cx="140" cy="98"/>
            </a:xfrm>
          </p:grpSpPr>
          <p:sp>
            <p:nvSpPr>
              <p:cNvPr id="2238" name="Line 74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239" name="Line 74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240" name="Line 74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2174" name="Group 747"/>
          <p:cNvGrpSpPr/>
          <p:nvPr/>
        </p:nvGrpSpPr>
        <p:grpSpPr bwMode="auto">
          <a:xfrm>
            <a:off x="2041525" y="4865688"/>
            <a:ext cx="501650" cy="234950"/>
            <a:chOff x="4701" y="2996"/>
            <a:chExt cx="316" cy="148"/>
          </a:xfrm>
        </p:grpSpPr>
        <p:sp>
          <p:nvSpPr>
            <p:cNvPr id="2218" name="Oval 748"/>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2219" name="Line 749"/>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2220" name="Line 750"/>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2221" name="Rectangle 751"/>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2222" name="Oval 752"/>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2223" name="Group 753"/>
            <p:cNvGrpSpPr/>
            <p:nvPr/>
          </p:nvGrpSpPr>
          <p:grpSpPr bwMode="auto">
            <a:xfrm>
              <a:off x="4776" y="3017"/>
              <a:ext cx="156" cy="56"/>
              <a:chOff x="2848" y="848"/>
              <a:chExt cx="140" cy="98"/>
            </a:xfrm>
          </p:grpSpPr>
          <p:sp>
            <p:nvSpPr>
              <p:cNvPr id="2228" name="Line 75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229" name="Line 75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230" name="Line 75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2224" name="Group 757"/>
            <p:cNvGrpSpPr/>
            <p:nvPr/>
          </p:nvGrpSpPr>
          <p:grpSpPr bwMode="auto">
            <a:xfrm flipV="1">
              <a:off x="4776" y="3016"/>
              <a:ext cx="156" cy="56"/>
              <a:chOff x="2848" y="848"/>
              <a:chExt cx="140" cy="98"/>
            </a:xfrm>
          </p:grpSpPr>
          <p:sp>
            <p:nvSpPr>
              <p:cNvPr id="2225" name="Line 758"/>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2226" name="Line 759"/>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2227" name="Line 760"/>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2175" name="Group 761"/>
          <p:cNvGrpSpPr/>
          <p:nvPr/>
        </p:nvGrpSpPr>
        <p:grpSpPr bwMode="auto">
          <a:xfrm>
            <a:off x="2871788" y="5051425"/>
            <a:ext cx="290512" cy="404813"/>
            <a:chOff x="4290" y="3130"/>
            <a:chExt cx="183" cy="255"/>
          </a:xfrm>
        </p:grpSpPr>
        <p:pic>
          <p:nvPicPr>
            <p:cNvPr id="2" name="Picture 762" descr="31u_bnrz[1]"/>
            <p:cNvPicPr>
              <a:picLocks noChangeAspect="1" noChangeArrowheads="1"/>
            </p:cNvPicPr>
            <p:nvPr/>
          </p:nvPicPr>
          <p:blipFill>
            <a:blip r:embed="rId19"/>
            <a:srcRect/>
            <a:stretch>
              <a:fillRect/>
            </a:stretch>
          </p:blipFill>
          <p:spPr bwMode="auto">
            <a:xfrm>
              <a:off x="4343" y="3211"/>
              <a:ext cx="121" cy="174"/>
            </a:xfrm>
            <a:prstGeom prst="rect">
              <a:avLst/>
            </a:prstGeom>
            <a:solidFill>
              <a:srgbClr val="DDDDDD"/>
            </a:solidFill>
            <a:ln w="9525">
              <a:noFill/>
              <a:miter lim="800000"/>
              <a:headEnd/>
              <a:tailEnd/>
            </a:ln>
          </p:spPr>
        </p:pic>
        <p:sp>
          <p:nvSpPr>
            <p:cNvPr id="3" name="Freeform 763"/>
            <p:cNvSpPr/>
            <p:nvPr/>
          </p:nvSpPr>
          <p:spPr bwMode="auto">
            <a:xfrm>
              <a:off x="4339" y="3143"/>
              <a:ext cx="33" cy="39"/>
            </a:xfrm>
            <a:custGeom>
              <a:avLst/>
              <a:gdLst>
                <a:gd name="T0" fmla="*/ 70 w 199"/>
                <a:gd name="T1" fmla="*/ 29 h 232"/>
                <a:gd name="T2" fmla="*/ 55 w 199"/>
                <a:gd name="T3" fmla="*/ 39 h 232"/>
                <a:gd name="T4" fmla="*/ 42 w 199"/>
                <a:gd name="T5" fmla="*/ 50 h 232"/>
                <a:gd name="T6" fmla="*/ 30 w 199"/>
                <a:gd name="T7" fmla="*/ 63 h 232"/>
                <a:gd name="T8" fmla="*/ 20 w 199"/>
                <a:gd name="T9" fmla="*/ 77 h 232"/>
                <a:gd name="T10" fmla="*/ 12 w 199"/>
                <a:gd name="T11" fmla="*/ 91 h 232"/>
                <a:gd name="T12" fmla="*/ 6 w 199"/>
                <a:gd name="T13" fmla="*/ 108 h 232"/>
                <a:gd name="T14" fmla="*/ 2 w 199"/>
                <a:gd name="T15" fmla="*/ 125 h 232"/>
                <a:gd name="T16" fmla="*/ 0 w 199"/>
                <a:gd name="T17" fmla="*/ 142 h 232"/>
                <a:gd name="T18" fmla="*/ 2 w 199"/>
                <a:gd name="T19" fmla="*/ 166 h 232"/>
                <a:gd name="T20" fmla="*/ 12 w 199"/>
                <a:gd name="T21" fmla="*/ 186 h 232"/>
                <a:gd name="T22" fmla="*/ 26 w 199"/>
                <a:gd name="T23" fmla="*/ 203 h 232"/>
                <a:gd name="T24" fmla="*/ 45 w 199"/>
                <a:gd name="T25" fmla="*/ 216 h 232"/>
                <a:gd name="T26" fmla="*/ 66 w 199"/>
                <a:gd name="T27" fmla="*/ 226 h 232"/>
                <a:gd name="T28" fmla="*/ 88 w 199"/>
                <a:gd name="T29" fmla="*/ 230 h 232"/>
                <a:gd name="T30" fmla="*/ 111 w 199"/>
                <a:gd name="T31" fmla="*/ 232 h 232"/>
                <a:gd name="T32" fmla="*/ 134 w 199"/>
                <a:gd name="T33" fmla="*/ 228 h 232"/>
                <a:gd name="T34" fmla="*/ 138 w 199"/>
                <a:gd name="T35" fmla="*/ 228 h 232"/>
                <a:gd name="T36" fmla="*/ 143 w 199"/>
                <a:gd name="T37" fmla="*/ 226 h 232"/>
                <a:gd name="T38" fmla="*/ 147 w 199"/>
                <a:gd name="T39" fmla="*/ 222 h 232"/>
                <a:gd name="T40" fmla="*/ 148 w 199"/>
                <a:gd name="T41" fmla="*/ 218 h 232"/>
                <a:gd name="T42" fmla="*/ 145 w 199"/>
                <a:gd name="T43" fmla="*/ 212 h 232"/>
                <a:gd name="T44" fmla="*/ 141 w 199"/>
                <a:gd name="T45" fmla="*/ 207 h 232"/>
                <a:gd name="T46" fmla="*/ 135 w 199"/>
                <a:gd name="T47" fmla="*/ 203 h 232"/>
                <a:gd name="T48" fmla="*/ 129 w 199"/>
                <a:gd name="T49" fmla="*/ 201 h 232"/>
                <a:gd name="T50" fmla="*/ 117 w 199"/>
                <a:gd name="T51" fmla="*/ 197 h 232"/>
                <a:gd name="T52" fmla="*/ 105 w 199"/>
                <a:gd name="T53" fmla="*/ 195 h 232"/>
                <a:gd name="T54" fmla="*/ 94 w 199"/>
                <a:gd name="T55" fmla="*/ 193 h 232"/>
                <a:gd name="T56" fmla="*/ 83 w 199"/>
                <a:gd name="T57" fmla="*/ 190 h 232"/>
                <a:gd name="T58" fmla="*/ 73 w 199"/>
                <a:gd name="T59" fmla="*/ 187 h 232"/>
                <a:gd name="T60" fmla="*/ 62 w 199"/>
                <a:gd name="T61" fmla="*/ 182 h 232"/>
                <a:gd name="T62" fmla="*/ 53 w 199"/>
                <a:gd name="T63" fmla="*/ 176 h 232"/>
                <a:gd name="T64" fmla="*/ 43 w 199"/>
                <a:gd name="T65" fmla="*/ 167 h 232"/>
                <a:gd name="T66" fmla="*/ 40 w 199"/>
                <a:gd name="T67" fmla="*/ 128 h 232"/>
                <a:gd name="T68" fmla="*/ 49 w 199"/>
                <a:gd name="T69" fmla="*/ 96 h 232"/>
                <a:gd name="T70" fmla="*/ 68 w 199"/>
                <a:gd name="T71" fmla="*/ 71 h 232"/>
                <a:gd name="T72" fmla="*/ 94 w 199"/>
                <a:gd name="T73" fmla="*/ 50 h 232"/>
                <a:gd name="T74" fmla="*/ 122 w 199"/>
                <a:gd name="T75" fmla="*/ 34 h 232"/>
                <a:gd name="T76" fmla="*/ 151 w 199"/>
                <a:gd name="T77" fmla="*/ 21 h 232"/>
                <a:gd name="T78" fmla="*/ 178 w 199"/>
                <a:gd name="T79" fmla="*/ 12 h 232"/>
                <a:gd name="T80" fmla="*/ 199 w 199"/>
                <a:gd name="T81" fmla="*/ 4 h 232"/>
                <a:gd name="T82" fmla="*/ 186 w 199"/>
                <a:gd name="T83" fmla="*/ 1 h 232"/>
                <a:gd name="T84" fmla="*/ 172 w 199"/>
                <a:gd name="T85" fmla="*/ 0 h 232"/>
                <a:gd name="T86" fmla="*/ 156 w 199"/>
                <a:gd name="T87" fmla="*/ 2 h 232"/>
                <a:gd name="T88" fmla="*/ 138 w 199"/>
                <a:gd name="T89" fmla="*/ 4 h 232"/>
                <a:gd name="T90" fmla="*/ 121 w 199"/>
                <a:gd name="T91" fmla="*/ 10 h 232"/>
                <a:gd name="T92" fmla="*/ 103 w 199"/>
                <a:gd name="T93" fmla="*/ 16 h 232"/>
                <a:gd name="T94" fmla="*/ 86 w 199"/>
                <a:gd name="T95" fmla="*/ 23 h 232"/>
                <a:gd name="T96" fmla="*/ 70 w 199"/>
                <a:gd name="T97" fmla="*/ 29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ln>
          </p:spPr>
          <p:txBody>
            <a:bodyPr/>
            <a:lstStyle/>
            <a:p>
              <a:endParaRPr lang="en-US"/>
            </a:p>
          </p:txBody>
        </p:sp>
        <p:sp>
          <p:nvSpPr>
            <p:cNvPr id="4" name="Freeform 764"/>
            <p:cNvSpPr/>
            <p:nvPr/>
          </p:nvSpPr>
          <p:spPr bwMode="auto">
            <a:xfrm>
              <a:off x="4395" y="3142"/>
              <a:ext cx="22" cy="30"/>
            </a:xfrm>
            <a:custGeom>
              <a:avLst/>
              <a:gdLst>
                <a:gd name="T0" fmla="*/ 108 w 128"/>
                <a:gd name="T1" fmla="*/ 59 h 180"/>
                <a:gd name="T2" fmla="*/ 113 w 128"/>
                <a:gd name="T3" fmla="*/ 77 h 180"/>
                <a:gd name="T4" fmla="*/ 111 w 128"/>
                <a:gd name="T5" fmla="*/ 94 h 180"/>
                <a:gd name="T6" fmla="*/ 103 w 128"/>
                <a:gd name="T7" fmla="*/ 108 h 180"/>
                <a:gd name="T8" fmla="*/ 91 w 128"/>
                <a:gd name="T9" fmla="*/ 121 h 180"/>
                <a:gd name="T10" fmla="*/ 77 w 128"/>
                <a:gd name="T11" fmla="*/ 132 h 180"/>
                <a:gd name="T12" fmla="*/ 61 w 128"/>
                <a:gd name="T13" fmla="*/ 144 h 180"/>
                <a:gd name="T14" fmla="*/ 45 w 128"/>
                <a:gd name="T15" fmla="*/ 154 h 180"/>
                <a:gd name="T16" fmla="*/ 30 w 128"/>
                <a:gd name="T17" fmla="*/ 164 h 180"/>
                <a:gd name="T18" fmla="*/ 28 w 128"/>
                <a:gd name="T19" fmla="*/ 168 h 180"/>
                <a:gd name="T20" fmla="*/ 27 w 128"/>
                <a:gd name="T21" fmla="*/ 170 h 180"/>
                <a:gd name="T22" fmla="*/ 27 w 128"/>
                <a:gd name="T23" fmla="*/ 174 h 180"/>
                <a:gd name="T24" fmla="*/ 28 w 128"/>
                <a:gd name="T25" fmla="*/ 177 h 180"/>
                <a:gd name="T26" fmla="*/ 32 w 128"/>
                <a:gd name="T27" fmla="*/ 179 h 180"/>
                <a:gd name="T28" fmla="*/ 35 w 128"/>
                <a:gd name="T29" fmla="*/ 180 h 180"/>
                <a:gd name="T30" fmla="*/ 37 w 128"/>
                <a:gd name="T31" fmla="*/ 180 h 180"/>
                <a:gd name="T32" fmla="*/ 41 w 128"/>
                <a:gd name="T33" fmla="*/ 179 h 180"/>
                <a:gd name="T34" fmla="*/ 60 w 128"/>
                <a:gd name="T35" fmla="*/ 169 h 180"/>
                <a:gd name="T36" fmla="*/ 77 w 128"/>
                <a:gd name="T37" fmla="*/ 158 h 180"/>
                <a:gd name="T38" fmla="*/ 94 w 128"/>
                <a:gd name="T39" fmla="*/ 145 h 180"/>
                <a:gd name="T40" fmla="*/ 109 w 128"/>
                <a:gd name="T41" fmla="*/ 130 h 180"/>
                <a:gd name="T42" fmla="*/ 120 w 128"/>
                <a:gd name="T43" fmla="*/ 114 h 180"/>
                <a:gd name="T44" fmla="*/ 127 w 128"/>
                <a:gd name="T45" fmla="*/ 95 h 180"/>
                <a:gd name="T46" fmla="*/ 128 w 128"/>
                <a:gd name="T47" fmla="*/ 76 h 180"/>
                <a:gd name="T48" fmla="*/ 123 w 128"/>
                <a:gd name="T49" fmla="*/ 55 h 180"/>
                <a:gd name="T50" fmla="*/ 113 w 128"/>
                <a:gd name="T51" fmla="*/ 39 h 180"/>
                <a:gd name="T52" fmla="*/ 97 w 128"/>
                <a:gd name="T53" fmla="*/ 25 h 180"/>
                <a:gd name="T54" fmla="*/ 79 w 128"/>
                <a:gd name="T55" fmla="*/ 15 h 180"/>
                <a:gd name="T56" fmla="*/ 57 w 128"/>
                <a:gd name="T57" fmla="*/ 7 h 180"/>
                <a:gd name="T58" fmla="*/ 36 w 128"/>
                <a:gd name="T59" fmla="*/ 2 h 180"/>
                <a:gd name="T60" fmla="*/ 19 w 128"/>
                <a:gd name="T61" fmla="*/ 0 h 180"/>
                <a:gd name="T62" fmla="*/ 6 w 128"/>
                <a:gd name="T63" fmla="*/ 0 h 180"/>
                <a:gd name="T64" fmla="*/ 0 w 128"/>
                <a:gd name="T65" fmla="*/ 4 h 180"/>
                <a:gd name="T66" fmla="*/ 14 w 128"/>
                <a:gd name="T67" fmla="*/ 9 h 180"/>
                <a:gd name="T68" fmla="*/ 29 w 128"/>
                <a:gd name="T69" fmla="*/ 14 h 180"/>
                <a:gd name="T70" fmla="*/ 46 w 128"/>
                <a:gd name="T71" fmla="*/ 19 h 180"/>
                <a:gd name="T72" fmla="*/ 61 w 128"/>
                <a:gd name="T73" fmla="*/ 23 h 180"/>
                <a:gd name="T74" fmla="*/ 76 w 128"/>
                <a:gd name="T75" fmla="*/ 29 h 180"/>
                <a:gd name="T76" fmla="*/ 89 w 128"/>
                <a:gd name="T77" fmla="*/ 37 h 180"/>
                <a:gd name="T78" fmla="*/ 100 w 128"/>
                <a:gd name="T79" fmla="*/ 46 h 180"/>
                <a:gd name="T80" fmla="*/ 108 w 128"/>
                <a:gd name="T81" fmla="*/ 59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ln>
          </p:spPr>
          <p:txBody>
            <a:bodyPr/>
            <a:lstStyle/>
            <a:p>
              <a:endParaRPr lang="en-US"/>
            </a:p>
          </p:txBody>
        </p:sp>
        <p:sp>
          <p:nvSpPr>
            <p:cNvPr id="5" name="Freeform 765"/>
            <p:cNvSpPr/>
            <p:nvPr/>
          </p:nvSpPr>
          <p:spPr bwMode="auto">
            <a:xfrm>
              <a:off x="4318" y="3135"/>
              <a:ext cx="54" cy="63"/>
            </a:xfrm>
            <a:custGeom>
              <a:avLst/>
              <a:gdLst>
                <a:gd name="T0" fmla="*/ 100 w 322"/>
                <a:gd name="T1" fmla="*/ 70 h 378"/>
                <a:gd name="T2" fmla="*/ 53 w 322"/>
                <a:gd name="T3" fmla="*/ 115 h 378"/>
                <a:gd name="T4" fmla="*/ 17 w 322"/>
                <a:gd name="T5" fmla="*/ 166 h 378"/>
                <a:gd name="T6" fmla="*/ 0 w 322"/>
                <a:gd name="T7" fmla="*/ 226 h 378"/>
                <a:gd name="T8" fmla="*/ 3 w 322"/>
                <a:gd name="T9" fmla="*/ 266 h 378"/>
                <a:gd name="T10" fmla="*/ 9 w 322"/>
                <a:gd name="T11" fmla="*/ 282 h 378"/>
                <a:gd name="T12" fmla="*/ 19 w 322"/>
                <a:gd name="T13" fmla="*/ 297 h 378"/>
                <a:gd name="T14" fmla="*/ 32 w 322"/>
                <a:gd name="T15" fmla="*/ 310 h 378"/>
                <a:gd name="T16" fmla="*/ 56 w 322"/>
                <a:gd name="T17" fmla="*/ 324 h 378"/>
                <a:gd name="T18" fmla="*/ 86 w 322"/>
                <a:gd name="T19" fmla="*/ 338 h 378"/>
                <a:gd name="T20" fmla="*/ 119 w 322"/>
                <a:gd name="T21" fmla="*/ 350 h 378"/>
                <a:gd name="T22" fmla="*/ 152 w 322"/>
                <a:gd name="T23" fmla="*/ 359 h 378"/>
                <a:gd name="T24" fmla="*/ 186 w 322"/>
                <a:gd name="T25" fmla="*/ 366 h 378"/>
                <a:gd name="T26" fmla="*/ 220 w 322"/>
                <a:gd name="T27" fmla="*/ 371 h 378"/>
                <a:gd name="T28" fmla="*/ 254 w 322"/>
                <a:gd name="T29" fmla="*/ 374 h 378"/>
                <a:gd name="T30" fmla="*/ 289 w 322"/>
                <a:gd name="T31" fmla="*/ 376 h 378"/>
                <a:gd name="T32" fmla="*/ 311 w 322"/>
                <a:gd name="T33" fmla="*/ 378 h 378"/>
                <a:gd name="T34" fmla="*/ 320 w 322"/>
                <a:gd name="T35" fmla="*/ 371 h 378"/>
                <a:gd name="T36" fmla="*/ 322 w 322"/>
                <a:gd name="T37" fmla="*/ 360 h 378"/>
                <a:gd name="T38" fmla="*/ 315 w 322"/>
                <a:gd name="T39" fmla="*/ 352 h 378"/>
                <a:gd name="T40" fmla="*/ 294 w 322"/>
                <a:gd name="T41" fmla="*/ 347 h 378"/>
                <a:gd name="T42" fmla="*/ 263 w 322"/>
                <a:gd name="T43" fmla="*/ 341 h 378"/>
                <a:gd name="T44" fmla="*/ 232 w 322"/>
                <a:gd name="T45" fmla="*/ 336 h 378"/>
                <a:gd name="T46" fmla="*/ 200 w 322"/>
                <a:gd name="T47" fmla="*/ 332 h 378"/>
                <a:gd name="T48" fmla="*/ 170 w 322"/>
                <a:gd name="T49" fmla="*/ 326 h 378"/>
                <a:gd name="T50" fmla="*/ 139 w 322"/>
                <a:gd name="T51" fmla="*/ 318 h 378"/>
                <a:gd name="T52" fmla="*/ 110 w 322"/>
                <a:gd name="T53" fmla="*/ 309 h 378"/>
                <a:gd name="T54" fmla="*/ 80 w 322"/>
                <a:gd name="T55" fmla="*/ 297 h 378"/>
                <a:gd name="T56" fmla="*/ 55 w 322"/>
                <a:gd name="T57" fmla="*/ 281 h 378"/>
                <a:gd name="T58" fmla="*/ 38 w 322"/>
                <a:gd name="T59" fmla="*/ 259 h 378"/>
                <a:gd name="T60" fmla="*/ 34 w 322"/>
                <a:gd name="T61" fmla="*/ 232 h 378"/>
                <a:gd name="T62" fmla="*/ 38 w 322"/>
                <a:gd name="T63" fmla="*/ 200 h 378"/>
                <a:gd name="T64" fmla="*/ 51 w 322"/>
                <a:gd name="T65" fmla="*/ 170 h 378"/>
                <a:gd name="T66" fmla="*/ 71 w 322"/>
                <a:gd name="T67" fmla="*/ 137 h 378"/>
                <a:gd name="T68" fmla="*/ 94 w 322"/>
                <a:gd name="T69" fmla="*/ 110 h 378"/>
                <a:gd name="T70" fmla="*/ 123 w 322"/>
                <a:gd name="T71" fmla="*/ 82 h 378"/>
                <a:gd name="T72" fmla="*/ 153 w 322"/>
                <a:gd name="T73" fmla="*/ 57 h 378"/>
                <a:gd name="T74" fmla="*/ 195 w 322"/>
                <a:gd name="T75" fmla="*/ 38 h 378"/>
                <a:gd name="T76" fmla="*/ 238 w 322"/>
                <a:gd name="T77" fmla="*/ 20 h 378"/>
                <a:gd name="T78" fmla="*/ 264 w 322"/>
                <a:gd name="T79" fmla="*/ 7 h 378"/>
                <a:gd name="T80" fmla="*/ 256 w 322"/>
                <a:gd name="T81" fmla="*/ 0 h 378"/>
                <a:gd name="T82" fmla="*/ 221 w 322"/>
                <a:gd name="T83" fmla="*/ 4 h 378"/>
                <a:gd name="T84" fmla="*/ 180 w 322"/>
                <a:gd name="T85" fmla="*/ 18 h 378"/>
                <a:gd name="T86" fmla="*/ 141 w 322"/>
                <a:gd name="T87" fmla="*/ 38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ln>
          </p:spPr>
          <p:txBody>
            <a:bodyPr/>
            <a:lstStyle/>
            <a:p>
              <a:endParaRPr lang="en-US"/>
            </a:p>
          </p:txBody>
        </p:sp>
        <p:sp>
          <p:nvSpPr>
            <p:cNvPr id="6" name="Freeform 766"/>
            <p:cNvSpPr/>
            <p:nvPr/>
          </p:nvSpPr>
          <p:spPr bwMode="auto">
            <a:xfrm>
              <a:off x="4394" y="3133"/>
              <a:ext cx="47" cy="42"/>
            </a:xfrm>
            <a:custGeom>
              <a:avLst/>
              <a:gdLst>
                <a:gd name="T0" fmla="*/ 235 w 283"/>
                <a:gd name="T1" fmla="*/ 77 h 252"/>
                <a:gd name="T2" fmla="*/ 248 w 283"/>
                <a:gd name="T3" fmla="*/ 91 h 252"/>
                <a:gd name="T4" fmla="*/ 256 w 283"/>
                <a:gd name="T5" fmla="*/ 107 h 252"/>
                <a:gd name="T6" fmla="*/ 259 w 283"/>
                <a:gd name="T7" fmla="*/ 124 h 252"/>
                <a:gd name="T8" fmla="*/ 259 w 283"/>
                <a:gd name="T9" fmla="*/ 142 h 252"/>
                <a:gd name="T10" fmla="*/ 257 w 283"/>
                <a:gd name="T11" fmla="*/ 157 h 252"/>
                <a:gd name="T12" fmla="*/ 252 w 283"/>
                <a:gd name="T13" fmla="*/ 170 h 252"/>
                <a:gd name="T14" fmla="*/ 244 w 283"/>
                <a:gd name="T15" fmla="*/ 183 h 252"/>
                <a:gd name="T16" fmla="*/ 236 w 283"/>
                <a:gd name="T17" fmla="*/ 193 h 252"/>
                <a:gd name="T18" fmla="*/ 225 w 283"/>
                <a:gd name="T19" fmla="*/ 204 h 252"/>
                <a:gd name="T20" fmla="*/ 215 w 283"/>
                <a:gd name="T21" fmla="*/ 214 h 252"/>
                <a:gd name="T22" fmla="*/ 204 w 283"/>
                <a:gd name="T23" fmla="*/ 224 h 252"/>
                <a:gd name="T24" fmla="*/ 194 w 283"/>
                <a:gd name="T25" fmla="*/ 234 h 252"/>
                <a:gd name="T26" fmla="*/ 191 w 283"/>
                <a:gd name="T27" fmla="*/ 238 h 252"/>
                <a:gd name="T28" fmla="*/ 191 w 283"/>
                <a:gd name="T29" fmla="*/ 241 h 252"/>
                <a:gd name="T30" fmla="*/ 191 w 283"/>
                <a:gd name="T31" fmla="*/ 245 h 252"/>
                <a:gd name="T32" fmla="*/ 194 w 283"/>
                <a:gd name="T33" fmla="*/ 248 h 252"/>
                <a:gd name="T34" fmla="*/ 197 w 283"/>
                <a:gd name="T35" fmla="*/ 250 h 252"/>
                <a:gd name="T36" fmla="*/ 202 w 283"/>
                <a:gd name="T37" fmla="*/ 252 h 252"/>
                <a:gd name="T38" fmla="*/ 205 w 283"/>
                <a:gd name="T39" fmla="*/ 250 h 252"/>
                <a:gd name="T40" fmla="*/ 209 w 283"/>
                <a:gd name="T41" fmla="*/ 248 h 252"/>
                <a:gd name="T42" fmla="*/ 232 w 283"/>
                <a:gd name="T43" fmla="*/ 233 h 252"/>
                <a:gd name="T44" fmla="*/ 252 w 283"/>
                <a:gd name="T45" fmla="*/ 214 h 252"/>
                <a:gd name="T46" fmla="*/ 268 w 283"/>
                <a:gd name="T47" fmla="*/ 192 h 252"/>
                <a:gd name="T48" fmla="*/ 278 w 283"/>
                <a:gd name="T49" fmla="*/ 167 h 252"/>
                <a:gd name="T50" fmla="*/ 283 w 283"/>
                <a:gd name="T51" fmla="*/ 141 h 252"/>
                <a:gd name="T52" fmla="*/ 280 w 283"/>
                <a:gd name="T53" fmla="*/ 115 h 252"/>
                <a:gd name="T54" fmla="*/ 271 w 283"/>
                <a:gd name="T55" fmla="*/ 91 h 252"/>
                <a:gd name="T56" fmla="*/ 252 w 283"/>
                <a:gd name="T57" fmla="*/ 69 h 252"/>
                <a:gd name="T58" fmla="*/ 238 w 283"/>
                <a:gd name="T59" fmla="*/ 57 h 252"/>
                <a:gd name="T60" fmla="*/ 222 w 283"/>
                <a:gd name="T61" fmla="*/ 48 h 252"/>
                <a:gd name="T62" fmla="*/ 204 w 283"/>
                <a:gd name="T63" fmla="*/ 39 h 252"/>
                <a:gd name="T64" fmla="*/ 184 w 283"/>
                <a:gd name="T65" fmla="*/ 31 h 252"/>
                <a:gd name="T66" fmla="*/ 164 w 283"/>
                <a:gd name="T67" fmla="*/ 23 h 252"/>
                <a:gd name="T68" fmla="*/ 144 w 283"/>
                <a:gd name="T69" fmla="*/ 17 h 252"/>
                <a:gd name="T70" fmla="*/ 123 w 283"/>
                <a:gd name="T71" fmla="*/ 13 h 252"/>
                <a:gd name="T72" fmla="*/ 103 w 283"/>
                <a:gd name="T73" fmla="*/ 8 h 252"/>
                <a:gd name="T74" fmla="*/ 83 w 283"/>
                <a:gd name="T75" fmla="*/ 5 h 252"/>
                <a:gd name="T76" fmla="*/ 66 w 283"/>
                <a:gd name="T77" fmla="*/ 2 h 252"/>
                <a:gd name="T78" fmla="*/ 48 w 283"/>
                <a:gd name="T79" fmla="*/ 0 h 252"/>
                <a:gd name="T80" fmla="*/ 34 w 283"/>
                <a:gd name="T81" fmla="*/ 0 h 252"/>
                <a:gd name="T82" fmla="*/ 21 w 283"/>
                <a:gd name="T83" fmla="*/ 0 h 252"/>
                <a:gd name="T84" fmla="*/ 11 w 283"/>
                <a:gd name="T85" fmla="*/ 0 h 252"/>
                <a:gd name="T86" fmla="*/ 4 w 283"/>
                <a:gd name="T87" fmla="*/ 2 h 252"/>
                <a:gd name="T88" fmla="*/ 0 w 283"/>
                <a:gd name="T89" fmla="*/ 5 h 252"/>
                <a:gd name="T90" fmla="*/ 12 w 283"/>
                <a:gd name="T91" fmla="*/ 7 h 252"/>
                <a:gd name="T92" fmla="*/ 24 w 283"/>
                <a:gd name="T93" fmla="*/ 8 h 252"/>
                <a:gd name="T94" fmla="*/ 38 w 283"/>
                <a:gd name="T95" fmla="*/ 10 h 252"/>
                <a:gd name="T96" fmla="*/ 52 w 283"/>
                <a:gd name="T97" fmla="*/ 13 h 252"/>
                <a:gd name="T98" fmla="*/ 66 w 283"/>
                <a:gd name="T99" fmla="*/ 16 h 252"/>
                <a:gd name="T100" fmla="*/ 82 w 283"/>
                <a:gd name="T101" fmla="*/ 18 h 252"/>
                <a:gd name="T102" fmla="*/ 98 w 283"/>
                <a:gd name="T103" fmla="*/ 22 h 252"/>
                <a:gd name="T104" fmla="*/ 114 w 283"/>
                <a:gd name="T105" fmla="*/ 25 h 252"/>
                <a:gd name="T106" fmla="*/ 129 w 283"/>
                <a:gd name="T107" fmla="*/ 30 h 252"/>
                <a:gd name="T108" fmla="*/ 146 w 283"/>
                <a:gd name="T109" fmla="*/ 34 h 252"/>
                <a:gd name="T110" fmla="*/ 162 w 283"/>
                <a:gd name="T111" fmla="*/ 39 h 252"/>
                <a:gd name="T112" fmla="*/ 177 w 283"/>
                <a:gd name="T113" fmla="*/ 45 h 252"/>
                <a:gd name="T114" fmla="*/ 193 w 283"/>
                <a:gd name="T115" fmla="*/ 52 h 252"/>
                <a:gd name="T116" fmla="*/ 208 w 283"/>
                <a:gd name="T117" fmla="*/ 60 h 252"/>
                <a:gd name="T118" fmla="*/ 222 w 283"/>
                <a:gd name="T119" fmla="*/ 68 h 252"/>
                <a:gd name="T120" fmla="*/ 235 w 283"/>
                <a:gd name="T121" fmla="*/ 77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ln>
          </p:spPr>
          <p:txBody>
            <a:bodyPr/>
            <a:lstStyle/>
            <a:p>
              <a:endParaRPr lang="en-US"/>
            </a:p>
          </p:txBody>
        </p:sp>
        <p:sp>
          <p:nvSpPr>
            <p:cNvPr id="7" name="Freeform 767"/>
            <p:cNvSpPr/>
            <p:nvPr/>
          </p:nvSpPr>
          <p:spPr bwMode="auto">
            <a:xfrm>
              <a:off x="4298" y="3153"/>
              <a:ext cx="19" cy="39"/>
            </a:xfrm>
            <a:custGeom>
              <a:avLst/>
              <a:gdLst>
                <a:gd name="T0" fmla="*/ 0 w 114"/>
                <a:gd name="T1" fmla="*/ 130 h 238"/>
                <a:gd name="T2" fmla="*/ 0 w 114"/>
                <a:gd name="T3" fmla="*/ 149 h 238"/>
                <a:gd name="T4" fmla="*/ 4 w 114"/>
                <a:gd name="T5" fmla="*/ 168 h 238"/>
                <a:gd name="T6" fmla="*/ 12 w 114"/>
                <a:gd name="T7" fmla="*/ 185 h 238"/>
                <a:gd name="T8" fmla="*/ 24 w 114"/>
                <a:gd name="T9" fmla="*/ 200 h 238"/>
                <a:gd name="T10" fmla="*/ 38 w 114"/>
                <a:gd name="T11" fmla="*/ 213 h 238"/>
                <a:gd name="T12" fmla="*/ 55 w 114"/>
                <a:gd name="T13" fmla="*/ 224 h 238"/>
                <a:gd name="T14" fmla="*/ 73 w 114"/>
                <a:gd name="T15" fmla="*/ 232 h 238"/>
                <a:gd name="T16" fmla="*/ 92 w 114"/>
                <a:gd name="T17" fmla="*/ 237 h 238"/>
                <a:gd name="T18" fmla="*/ 98 w 114"/>
                <a:gd name="T19" fmla="*/ 238 h 238"/>
                <a:gd name="T20" fmla="*/ 104 w 114"/>
                <a:gd name="T21" fmla="*/ 235 h 238"/>
                <a:gd name="T22" fmla="*/ 109 w 114"/>
                <a:gd name="T23" fmla="*/ 232 h 238"/>
                <a:gd name="T24" fmla="*/ 111 w 114"/>
                <a:gd name="T25" fmla="*/ 227 h 238"/>
                <a:gd name="T26" fmla="*/ 111 w 114"/>
                <a:gd name="T27" fmla="*/ 222 h 238"/>
                <a:gd name="T28" fmla="*/ 110 w 114"/>
                <a:gd name="T29" fmla="*/ 216 h 238"/>
                <a:gd name="T30" fmla="*/ 106 w 114"/>
                <a:gd name="T31" fmla="*/ 211 h 238"/>
                <a:gd name="T32" fmla="*/ 100 w 114"/>
                <a:gd name="T33" fmla="*/ 209 h 238"/>
                <a:gd name="T34" fmla="*/ 82 w 114"/>
                <a:gd name="T35" fmla="*/ 202 h 238"/>
                <a:gd name="T36" fmla="*/ 64 w 114"/>
                <a:gd name="T37" fmla="*/ 193 h 238"/>
                <a:gd name="T38" fmla="*/ 50 w 114"/>
                <a:gd name="T39" fmla="*/ 180 h 238"/>
                <a:gd name="T40" fmla="*/ 39 w 114"/>
                <a:gd name="T41" fmla="*/ 167 h 238"/>
                <a:gd name="T42" fmla="*/ 32 w 114"/>
                <a:gd name="T43" fmla="*/ 149 h 238"/>
                <a:gd name="T44" fmla="*/ 29 w 114"/>
                <a:gd name="T45" fmla="*/ 131 h 238"/>
                <a:gd name="T46" fmla="*/ 29 w 114"/>
                <a:gd name="T47" fmla="*/ 111 h 238"/>
                <a:gd name="T48" fmla="*/ 35 w 114"/>
                <a:gd name="T49" fmla="*/ 91 h 238"/>
                <a:gd name="T50" fmla="*/ 42 w 114"/>
                <a:gd name="T51" fmla="*/ 76 h 238"/>
                <a:gd name="T52" fmla="*/ 51 w 114"/>
                <a:gd name="T53" fmla="*/ 62 h 238"/>
                <a:gd name="T54" fmla="*/ 62 w 114"/>
                <a:gd name="T55" fmla="*/ 49 h 238"/>
                <a:gd name="T56" fmla="*/ 73 w 114"/>
                <a:gd name="T57" fmla="*/ 38 h 238"/>
                <a:gd name="T58" fmla="*/ 84 w 114"/>
                <a:gd name="T59" fmla="*/ 28 h 238"/>
                <a:gd name="T60" fmla="*/ 96 w 114"/>
                <a:gd name="T61" fmla="*/ 18 h 238"/>
                <a:gd name="T62" fmla="*/ 106 w 114"/>
                <a:gd name="T63" fmla="*/ 9 h 238"/>
                <a:gd name="T64" fmla="*/ 114 w 114"/>
                <a:gd name="T65" fmla="*/ 1 h 238"/>
                <a:gd name="T66" fmla="*/ 106 w 114"/>
                <a:gd name="T67" fmla="*/ 0 h 238"/>
                <a:gd name="T68" fmla="*/ 93 w 114"/>
                <a:gd name="T69" fmla="*/ 6 h 238"/>
                <a:gd name="T70" fmla="*/ 76 w 114"/>
                <a:gd name="T71" fmla="*/ 18 h 238"/>
                <a:gd name="T72" fmla="*/ 56 w 114"/>
                <a:gd name="T73" fmla="*/ 36 h 238"/>
                <a:gd name="T74" fmla="*/ 37 w 114"/>
                <a:gd name="T75" fmla="*/ 57 h 238"/>
                <a:gd name="T76" fmla="*/ 20 w 114"/>
                <a:gd name="T77" fmla="*/ 80 h 238"/>
                <a:gd name="T78" fmla="*/ 7 w 114"/>
                <a:gd name="T79" fmla="*/ 106 h 238"/>
                <a:gd name="T80" fmla="*/ 0 w 114"/>
                <a:gd name="T81" fmla="*/ 13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ln>
          </p:spPr>
          <p:txBody>
            <a:bodyPr/>
            <a:lstStyle/>
            <a:p>
              <a:endParaRPr lang="en-US"/>
            </a:p>
          </p:txBody>
        </p:sp>
        <p:sp>
          <p:nvSpPr>
            <p:cNvPr id="2206" name="Freeform 768"/>
            <p:cNvSpPr/>
            <p:nvPr/>
          </p:nvSpPr>
          <p:spPr bwMode="auto">
            <a:xfrm>
              <a:off x="4432" y="3130"/>
              <a:ext cx="41" cy="52"/>
            </a:xfrm>
            <a:custGeom>
              <a:avLst/>
              <a:gdLst>
                <a:gd name="T0" fmla="*/ 207 w 246"/>
                <a:gd name="T1" fmla="*/ 124 h 310"/>
                <a:gd name="T2" fmla="*/ 219 w 246"/>
                <a:gd name="T3" fmla="*/ 143 h 310"/>
                <a:gd name="T4" fmla="*/ 225 w 246"/>
                <a:gd name="T5" fmla="*/ 164 h 310"/>
                <a:gd name="T6" fmla="*/ 221 w 246"/>
                <a:gd name="T7" fmla="*/ 187 h 310"/>
                <a:gd name="T8" fmla="*/ 208 w 246"/>
                <a:gd name="T9" fmla="*/ 209 h 310"/>
                <a:gd name="T10" fmla="*/ 188 w 246"/>
                <a:gd name="T11" fmla="*/ 228 h 310"/>
                <a:gd name="T12" fmla="*/ 166 w 246"/>
                <a:gd name="T13" fmla="*/ 246 h 310"/>
                <a:gd name="T14" fmla="*/ 143 w 246"/>
                <a:gd name="T15" fmla="*/ 264 h 310"/>
                <a:gd name="T16" fmla="*/ 129 w 246"/>
                <a:gd name="T17" fmla="*/ 278 h 310"/>
                <a:gd name="T18" fmla="*/ 124 w 246"/>
                <a:gd name="T19" fmla="*/ 287 h 310"/>
                <a:gd name="T20" fmla="*/ 120 w 246"/>
                <a:gd name="T21" fmla="*/ 296 h 310"/>
                <a:gd name="T22" fmla="*/ 121 w 246"/>
                <a:gd name="T23" fmla="*/ 305 h 310"/>
                <a:gd name="T24" fmla="*/ 130 w 246"/>
                <a:gd name="T25" fmla="*/ 310 h 310"/>
                <a:gd name="T26" fmla="*/ 139 w 246"/>
                <a:gd name="T27" fmla="*/ 309 h 310"/>
                <a:gd name="T28" fmla="*/ 154 w 246"/>
                <a:gd name="T29" fmla="*/ 293 h 310"/>
                <a:gd name="T30" fmla="*/ 180 w 246"/>
                <a:gd name="T31" fmla="*/ 269 h 310"/>
                <a:gd name="T32" fmla="*/ 207 w 246"/>
                <a:gd name="T33" fmla="*/ 246 h 310"/>
                <a:gd name="T34" fmla="*/ 231 w 246"/>
                <a:gd name="T35" fmla="*/ 219 h 310"/>
                <a:gd name="T36" fmla="*/ 245 w 246"/>
                <a:gd name="T37" fmla="*/ 187 h 310"/>
                <a:gd name="T38" fmla="*/ 242 w 246"/>
                <a:gd name="T39" fmla="*/ 153 h 310"/>
                <a:gd name="T40" fmla="*/ 227 w 246"/>
                <a:gd name="T41" fmla="*/ 120 h 310"/>
                <a:gd name="T42" fmla="*/ 201 w 246"/>
                <a:gd name="T43" fmla="*/ 94 h 310"/>
                <a:gd name="T44" fmla="*/ 177 w 246"/>
                <a:gd name="T45" fmla="*/ 74 h 310"/>
                <a:gd name="T46" fmla="*/ 152 w 246"/>
                <a:gd name="T47" fmla="*/ 60 h 310"/>
                <a:gd name="T48" fmla="*/ 126 w 246"/>
                <a:gd name="T49" fmla="*/ 43 h 310"/>
                <a:gd name="T50" fmla="*/ 98 w 246"/>
                <a:gd name="T51" fmla="*/ 28 h 310"/>
                <a:gd name="T52" fmla="*/ 72 w 246"/>
                <a:gd name="T53" fmla="*/ 16 h 310"/>
                <a:gd name="T54" fmla="*/ 46 w 246"/>
                <a:gd name="T55" fmla="*/ 7 h 310"/>
                <a:gd name="T56" fmla="*/ 24 w 246"/>
                <a:gd name="T57" fmla="*/ 1 h 310"/>
                <a:gd name="T58" fmla="*/ 7 w 246"/>
                <a:gd name="T59" fmla="*/ 1 h 310"/>
                <a:gd name="T60" fmla="*/ 8 w 246"/>
                <a:gd name="T61" fmla="*/ 6 h 310"/>
                <a:gd name="T62" fmla="*/ 28 w 246"/>
                <a:gd name="T63" fmla="*/ 14 h 310"/>
                <a:gd name="T64" fmla="*/ 51 w 246"/>
                <a:gd name="T65" fmla="*/ 24 h 310"/>
                <a:gd name="T66" fmla="*/ 78 w 246"/>
                <a:gd name="T67" fmla="*/ 37 h 310"/>
                <a:gd name="T68" fmla="*/ 106 w 246"/>
                <a:gd name="T69" fmla="*/ 51 h 310"/>
                <a:gd name="T70" fmla="*/ 134 w 246"/>
                <a:gd name="T71" fmla="*/ 69 h 310"/>
                <a:gd name="T72" fmla="*/ 163 w 246"/>
                <a:gd name="T73" fmla="*/ 87 h 310"/>
                <a:gd name="T74" fmla="*/ 187 w 246"/>
                <a:gd name="T75" fmla="*/ 105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ln>
          </p:spPr>
          <p:txBody>
            <a:bodyPr/>
            <a:lstStyle/>
            <a:p>
              <a:endParaRPr lang="en-US"/>
            </a:p>
          </p:txBody>
        </p:sp>
        <p:sp>
          <p:nvSpPr>
            <p:cNvPr id="2207" name="Freeform 769"/>
            <p:cNvSpPr/>
            <p:nvPr/>
          </p:nvSpPr>
          <p:spPr bwMode="auto">
            <a:xfrm>
              <a:off x="4387" y="3191"/>
              <a:ext cx="14" cy="31"/>
            </a:xfrm>
            <a:custGeom>
              <a:avLst/>
              <a:gdLst>
                <a:gd name="T0" fmla="*/ 31 w 83"/>
                <a:gd name="T1" fmla="*/ 14 h 187"/>
                <a:gd name="T2" fmla="*/ 29 w 83"/>
                <a:gd name="T3" fmla="*/ 8 h 187"/>
                <a:gd name="T4" fmla="*/ 25 w 83"/>
                <a:gd name="T5" fmla="*/ 3 h 187"/>
                <a:gd name="T6" fmla="*/ 19 w 83"/>
                <a:gd name="T7" fmla="*/ 1 h 187"/>
                <a:gd name="T8" fmla="*/ 14 w 83"/>
                <a:gd name="T9" fmla="*/ 0 h 187"/>
                <a:gd name="T10" fmla="*/ 8 w 83"/>
                <a:gd name="T11" fmla="*/ 2 h 187"/>
                <a:gd name="T12" fmla="*/ 3 w 83"/>
                <a:gd name="T13" fmla="*/ 5 h 187"/>
                <a:gd name="T14" fmla="*/ 0 w 83"/>
                <a:gd name="T15" fmla="*/ 11 h 187"/>
                <a:gd name="T16" fmla="*/ 0 w 83"/>
                <a:gd name="T17" fmla="*/ 17 h 187"/>
                <a:gd name="T18" fmla="*/ 5 w 83"/>
                <a:gd name="T19" fmla="*/ 42 h 187"/>
                <a:gd name="T20" fmla="*/ 15 w 83"/>
                <a:gd name="T21" fmla="*/ 71 h 187"/>
                <a:gd name="T22" fmla="*/ 27 w 83"/>
                <a:gd name="T23" fmla="*/ 100 h 187"/>
                <a:gd name="T24" fmla="*/ 41 w 83"/>
                <a:gd name="T25" fmla="*/ 127 h 187"/>
                <a:gd name="T26" fmla="*/ 55 w 83"/>
                <a:gd name="T27" fmla="*/ 151 h 187"/>
                <a:gd name="T28" fmla="*/ 68 w 83"/>
                <a:gd name="T29" fmla="*/ 171 h 187"/>
                <a:gd name="T30" fmla="*/ 77 w 83"/>
                <a:gd name="T31" fmla="*/ 184 h 187"/>
                <a:gd name="T32" fmla="*/ 83 w 83"/>
                <a:gd name="T33" fmla="*/ 187 h 187"/>
                <a:gd name="T34" fmla="*/ 80 w 83"/>
                <a:gd name="T35" fmla="*/ 174 h 187"/>
                <a:gd name="T36" fmla="*/ 75 w 83"/>
                <a:gd name="T37" fmla="*/ 158 h 187"/>
                <a:gd name="T38" fmla="*/ 68 w 83"/>
                <a:gd name="T39" fmla="*/ 138 h 187"/>
                <a:gd name="T40" fmla="*/ 59 w 83"/>
                <a:gd name="T41" fmla="*/ 113 h 187"/>
                <a:gd name="T42" fmla="*/ 51 w 83"/>
                <a:gd name="T43" fmla="*/ 88 h 187"/>
                <a:gd name="T44" fmla="*/ 43 w 83"/>
                <a:gd name="T45" fmla="*/ 63 h 187"/>
                <a:gd name="T46" fmla="*/ 36 w 83"/>
                <a:gd name="T47" fmla="*/ 38 h 187"/>
                <a:gd name="T48" fmla="*/ 31 w 83"/>
                <a:gd name="T49" fmla="*/ 14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ln>
          </p:spPr>
          <p:txBody>
            <a:bodyPr/>
            <a:lstStyle/>
            <a:p>
              <a:endParaRPr lang="en-US"/>
            </a:p>
          </p:txBody>
        </p:sp>
        <p:sp>
          <p:nvSpPr>
            <p:cNvPr id="2208" name="Freeform 770"/>
            <p:cNvSpPr/>
            <p:nvPr/>
          </p:nvSpPr>
          <p:spPr bwMode="auto">
            <a:xfrm>
              <a:off x="4381" y="3174"/>
              <a:ext cx="7" cy="16"/>
            </a:xfrm>
            <a:custGeom>
              <a:avLst/>
              <a:gdLst>
                <a:gd name="T0" fmla="*/ 22 w 44"/>
                <a:gd name="T1" fmla="*/ 10 h 94"/>
                <a:gd name="T2" fmla="*/ 21 w 44"/>
                <a:gd name="T3" fmla="*/ 6 h 94"/>
                <a:gd name="T4" fmla="*/ 18 w 44"/>
                <a:gd name="T5" fmla="*/ 2 h 94"/>
                <a:gd name="T6" fmla="*/ 14 w 44"/>
                <a:gd name="T7" fmla="*/ 0 h 94"/>
                <a:gd name="T8" fmla="*/ 10 w 44"/>
                <a:gd name="T9" fmla="*/ 0 h 94"/>
                <a:gd name="T10" fmla="*/ 6 w 44"/>
                <a:gd name="T11" fmla="*/ 1 h 94"/>
                <a:gd name="T12" fmla="*/ 3 w 44"/>
                <a:gd name="T13" fmla="*/ 3 h 94"/>
                <a:gd name="T14" fmla="*/ 0 w 44"/>
                <a:gd name="T15" fmla="*/ 7 h 94"/>
                <a:gd name="T16" fmla="*/ 0 w 44"/>
                <a:gd name="T17" fmla="*/ 11 h 94"/>
                <a:gd name="T18" fmla="*/ 0 w 44"/>
                <a:gd name="T19" fmla="*/ 24 h 94"/>
                <a:gd name="T20" fmla="*/ 4 w 44"/>
                <a:gd name="T21" fmla="*/ 38 h 94"/>
                <a:gd name="T22" fmla="*/ 8 w 44"/>
                <a:gd name="T23" fmla="*/ 52 h 94"/>
                <a:gd name="T24" fmla="*/ 14 w 44"/>
                <a:gd name="T25" fmla="*/ 65 h 94"/>
                <a:gd name="T26" fmla="*/ 21 w 44"/>
                <a:gd name="T27" fmla="*/ 78 h 94"/>
                <a:gd name="T28" fmla="*/ 28 w 44"/>
                <a:gd name="T29" fmla="*/ 87 h 94"/>
                <a:gd name="T30" fmla="*/ 37 w 44"/>
                <a:gd name="T31" fmla="*/ 93 h 94"/>
                <a:gd name="T32" fmla="*/ 42 w 44"/>
                <a:gd name="T33" fmla="*/ 94 h 94"/>
                <a:gd name="T34" fmla="*/ 44 w 44"/>
                <a:gd name="T35" fmla="*/ 76 h 94"/>
                <a:gd name="T36" fmla="*/ 38 w 44"/>
                <a:gd name="T37" fmla="*/ 54 h 94"/>
                <a:gd name="T38" fmla="*/ 31 w 44"/>
                <a:gd name="T39" fmla="*/ 32 h 94"/>
                <a:gd name="T40" fmla="*/ 22 w 44"/>
                <a:gd name="T41" fmla="*/ 1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ln>
          </p:spPr>
          <p:txBody>
            <a:bodyPr/>
            <a:lstStyle/>
            <a:p>
              <a:endParaRPr lang="en-US"/>
            </a:p>
          </p:txBody>
        </p:sp>
        <p:sp>
          <p:nvSpPr>
            <p:cNvPr id="2209" name="Freeform 771"/>
            <p:cNvSpPr/>
            <p:nvPr/>
          </p:nvSpPr>
          <p:spPr bwMode="auto">
            <a:xfrm>
              <a:off x="4375" y="3163"/>
              <a:ext cx="6" cy="9"/>
            </a:xfrm>
            <a:custGeom>
              <a:avLst/>
              <a:gdLst>
                <a:gd name="T0" fmla="*/ 20 w 38"/>
                <a:gd name="T1" fmla="*/ 7 h 54"/>
                <a:gd name="T2" fmla="*/ 20 w 38"/>
                <a:gd name="T3" fmla="*/ 8 h 54"/>
                <a:gd name="T4" fmla="*/ 20 w 38"/>
                <a:gd name="T5" fmla="*/ 8 h 54"/>
                <a:gd name="T6" fmla="*/ 20 w 38"/>
                <a:gd name="T7" fmla="*/ 8 h 54"/>
                <a:gd name="T8" fmla="*/ 20 w 38"/>
                <a:gd name="T9" fmla="*/ 8 h 54"/>
                <a:gd name="T10" fmla="*/ 19 w 38"/>
                <a:gd name="T11" fmla="*/ 4 h 54"/>
                <a:gd name="T12" fmla="*/ 15 w 38"/>
                <a:gd name="T13" fmla="*/ 1 h 54"/>
                <a:gd name="T14" fmla="*/ 12 w 38"/>
                <a:gd name="T15" fmla="*/ 0 h 54"/>
                <a:gd name="T16" fmla="*/ 7 w 38"/>
                <a:gd name="T17" fmla="*/ 0 h 54"/>
                <a:gd name="T18" fmla="*/ 4 w 38"/>
                <a:gd name="T19" fmla="*/ 1 h 54"/>
                <a:gd name="T20" fmla="*/ 1 w 38"/>
                <a:gd name="T21" fmla="*/ 4 h 54"/>
                <a:gd name="T22" fmla="*/ 0 w 38"/>
                <a:gd name="T23" fmla="*/ 8 h 54"/>
                <a:gd name="T24" fmla="*/ 0 w 38"/>
                <a:gd name="T25" fmla="*/ 11 h 54"/>
                <a:gd name="T26" fmla="*/ 1 w 38"/>
                <a:gd name="T27" fmla="*/ 17 h 54"/>
                <a:gd name="T28" fmla="*/ 4 w 38"/>
                <a:gd name="T29" fmla="*/ 24 h 54"/>
                <a:gd name="T30" fmla="*/ 8 w 38"/>
                <a:gd name="T31" fmla="*/ 32 h 54"/>
                <a:gd name="T32" fmla="*/ 14 w 38"/>
                <a:gd name="T33" fmla="*/ 39 h 54"/>
                <a:gd name="T34" fmla="*/ 20 w 38"/>
                <a:gd name="T35" fmla="*/ 46 h 54"/>
                <a:gd name="T36" fmla="*/ 27 w 38"/>
                <a:gd name="T37" fmla="*/ 50 h 54"/>
                <a:gd name="T38" fmla="*/ 33 w 38"/>
                <a:gd name="T39" fmla="*/ 54 h 54"/>
                <a:gd name="T40" fmla="*/ 38 w 38"/>
                <a:gd name="T41" fmla="*/ 54 h 54"/>
                <a:gd name="T42" fmla="*/ 36 w 38"/>
                <a:gd name="T43" fmla="*/ 42 h 54"/>
                <a:gd name="T44" fmla="*/ 32 w 38"/>
                <a:gd name="T45" fmla="*/ 29 h 54"/>
                <a:gd name="T46" fmla="*/ 25 w 38"/>
                <a:gd name="T47" fmla="*/ 16 h 54"/>
                <a:gd name="T48" fmla="*/ 20 w 38"/>
                <a:gd name="T49" fmla="*/ 7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ln>
          </p:spPr>
          <p:txBody>
            <a:bodyPr/>
            <a:lstStyle/>
            <a:p>
              <a:endParaRPr lang="en-US"/>
            </a:p>
          </p:txBody>
        </p:sp>
        <p:sp>
          <p:nvSpPr>
            <p:cNvPr id="2210" name="Freeform 772"/>
            <p:cNvSpPr/>
            <p:nvPr/>
          </p:nvSpPr>
          <p:spPr bwMode="auto">
            <a:xfrm>
              <a:off x="4370" y="3155"/>
              <a:ext cx="8" cy="6"/>
            </a:xfrm>
            <a:custGeom>
              <a:avLst/>
              <a:gdLst>
                <a:gd name="T0" fmla="*/ 41 w 52"/>
                <a:gd name="T1" fmla="*/ 27 h 36"/>
                <a:gd name="T2" fmla="*/ 46 w 52"/>
                <a:gd name="T3" fmla="*/ 24 h 36"/>
                <a:gd name="T4" fmla="*/ 51 w 52"/>
                <a:gd name="T5" fmla="*/ 21 h 36"/>
                <a:gd name="T6" fmla="*/ 52 w 52"/>
                <a:gd name="T7" fmla="*/ 16 h 36"/>
                <a:gd name="T8" fmla="*/ 52 w 52"/>
                <a:gd name="T9" fmla="*/ 12 h 36"/>
                <a:gd name="T10" fmla="*/ 50 w 52"/>
                <a:gd name="T11" fmla="*/ 6 h 36"/>
                <a:gd name="T12" fmla="*/ 46 w 52"/>
                <a:gd name="T13" fmla="*/ 2 h 36"/>
                <a:gd name="T14" fmla="*/ 41 w 52"/>
                <a:gd name="T15" fmla="*/ 0 h 36"/>
                <a:gd name="T16" fmla="*/ 36 w 52"/>
                <a:gd name="T17" fmla="*/ 0 h 36"/>
                <a:gd name="T18" fmla="*/ 33 w 52"/>
                <a:gd name="T19" fmla="*/ 0 h 36"/>
                <a:gd name="T20" fmla="*/ 29 w 52"/>
                <a:gd name="T21" fmla="*/ 1 h 36"/>
                <a:gd name="T22" fmla="*/ 21 w 52"/>
                <a:gd name="T23" fmla="*/ 4 h 36"/>
                <a:gd name="T24" fmla="*/ 13 w 52"/>
                <a:gd name="T25" fmla="*/ 8 h 36"/>
                <a:gd name="T26" fmla="*/ 6 w 52"/>
                <a:gd name="T27" fmla="*/ 15 h 36"/>
                <a:gd name="T28" fmla="*/ 3 w 52"/>
                <a:gd name="T29" fmla="*/ 22 h 36"/>
                <a:gd name="T30" fmla="*/ 0 w 52"/>
                <a:gd name="T31" fmla="*/ 29 h 36"/>
                <a:gd name="T32" fmla="*/ 0 w 52"/>
                <a:gd name="T33" fmla="*/ 31 h 36"/>
                <a:gd name="T34" fmla="*/ 4 w 52"/>
                <a:gd name="T35" fmla="*/ 33 h 36"/>
                <a:gd name="T36" fmla="*/ 9 w 52"/>
                <a:gd name="T37" fmla="*/ 36 h 36"/>
                <a:gd name="T38" fmla="*/ 13 w 52"/>
                <a:gd name="T39" fmla="*/ 36 h 36"/>
                <a:gd name="T40" fmla="*/ 18 w 52"/>
                <a:gd name="T41" fmla="*/ 36 h 36"/>
                <a:gd name="T42" fmla="*/ 24 w 52"/>
                <a:gd name="T43" fmla="*/ 33 h 36"/>
                <a:gd name="T44" fmla="*/ 30 w 52"/>
                <a:gd name="T45" fmla="*/ 32 h 36"/>
                <a:gd name="T46" fmla="*/ 36 w 52"/>
                <a:gd name="T47" fmla="*/ 30 h 36"/>
                <a:gd name="T48" fmla="*/ 41 w 52"/>
                <a:gd name="T49" fmla="*/ 27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ln>
          </p:spPr>
          <p:txBody>
            <a:bodyPr/>
            <a:lstStyle/>
            <a:p>
              <a:endParaRPr lang="en-US"/>
            </a:p>
          </p:txBody>
        </p:sp>
        <p:sp>
          <p:nvSpPr>
            <p:cNvPr id="2211" name="Freeform 773"/>
            <p:cNvSpPr/>
            <p:nvPr/>
          </p:nvSpPr>
          <p:spPr bwMode="auto">
            <a:xfrm>
              <a:off x="4330" y="3145"/>
              <a:ext cx="33" cy="39"/>
            </a:xfrm>
            <a:custGeom>
              <a:avLst/>
              <a:gdLst>
                <a:gd name="T0" fmla="*/ 73 w 198"/>
                <a:gd name="T1" fmla="*/ 36 h 236"/>
                <a:gd name="T2" fmla="*/ 58 w 198"/>
                <a:gd name="T3" fmla="*/ 46 h 236"/>
                <a:gd name="T4" fmla="*/ 46 w 198"/>
                <a:gd name="T5" fmla="*/ 58 h 236"/>
                <a:gd name="T6" fmla="*/ 33 w 198"/>
                <a:gd name="T7" fmla="*/ 72 h 236"/>
                <a:gd name="T8" fmla="*/ 22 w 198"/>
                <a:gd name="T9" fmla="*/ 85 h 236"/>
                <a:gd name="T10" fmla="*/ 14 w 198"/>
                <a:gd name="T11" fmla="*/ 100 h 236"/>
                <a:gd name="T12" fmla="*/ 7 w 198"/>
                <a:gd name="T13" fmla="*/ 115 h 236"/>
                <a:gd name="T14" fmla="*/ 2 w 198"/>
                <a:gd name="T15" fmla="*/ 130 h 236"/>
                <a:gd name="T16" fmla="*/ 0 w 198"/>
                <a:gd name="T17" fmla="*/ 146 h 236"/>
                <a:gd name="T18" fmla="*/ 2 w 198"/>
                <a:gd name="T19" fmla="*/ 170 h 236"/>
                <a:gd name="T20" fmla="*/ 12 w 198"/>
                <a:gd name="T21" fmla="*/ 190 h 236"/>
                <a:gd name="T22" fmla="*/ 26 w 198"/>
                <a:gd name="T23" fmla="*/ 207 h 236"/>
                <a:gd name="T24" fmla="*/ 43 w 198"/>
                <a:gd name="T25" fmla="*/ 220 h 236"/>
                <a:gd name="T26" fmla="*/ 64 w 198"/>
                <a:gd name="T27" fmla="*/ 229 h 236"/>
                <a:gd name="T28" fmla="*/ 88 w 198"/>
                <a:gd name="T29" fmla="*/ 235 h 236"/>
                <a:gd name="T30" fmla="*/ 110 w 198"/>
                <a:gd name="T31" fmla="*/ 236 h 236"/>
                <a:gd name="T32" fmla="*/ 132 w 198"/>
                <a:gd name="T33" fmla="*/ 232 h 236"/>
                <a:gd name="T34" fmla="*/ 137 w 198"/>
                <a:gd name="T35" fmla="*/ 232 h 236"/>
                <a:gd name="T36" fmla="*/ 142 w 198"/>
                <a:gd name="T37" fmla="*/ 230 h 236"/>
                <a:gd name="T38" fmla="*/ 145 w 198"/>
                <a:gd name="T39" fmla="*/ 226 h 236"/>
                <a:gd name="T40" fmla="*/ 146 w 198"/>
                <a:gd name="T41" fmla="*/ 221 h 236"/>
                <a:gd name="T42" fmla="*/ 145 w 198"/>
                <a:gd name="T43" fmla="*/ 219 h 236"/>
                <a:gd name="T44" fmla="*/ 142 w 198"/>
                <a:gd name="T45" fmla="*/ 219 h 236"/>
                <a:gd name="T46" fmla="*/ 137 w 198"/>
                <a:gd name="T47" fmla="*/ 217 h 236"/>
                <a:gd name="T48" fmla="*/ 131 w 198"/>
                <a:gd name="T49" fmla="*/ 217 h 236"/>
                <a:gd name="T50" fmla="*/ 124 w 198"/>
                <a:gd name="T51" fmla="*/ 217 h 236"/>
                <a:gd name="T52" fmla="*/ 118 w 198"/>
                <a:gd name="T53" fmla="*/ 217 h 236"/>
                <a:gd name="T54" fmla="*/ 112 w 198"/>
                <a:gd name="T55" fmla="*/ 217 h 236"/>
                <a:gd name="T56" fmla="*/ 109 w 198"/>
                <a:gd name="T57" fmla="*/ 217 h 236"/>
                <a:gd name="T58" fmla="*/ 97 w 198"/>
                <a:gd name="T59" fmla="*/ 216 h 236"/>
                <a:gd name="T60" fmla="*/ 87 w 198"/>
                <a:gd name="T61" fmla="*/ 215 h 236"/>
                <a:gd name="T62" fmla="*/ 75 w 198"/>
                <a:gd name="T63" fmla="*/ 214 h 236"/>
                <a:gd name="T64" fmla="*/ 63 w 198"/>
                <a:gd name="T65" fmla="*/ 211 h 236"/>
                <a:gd name="T66" fmla="*/ 51 w 198"/>
                <a:gd name="T67" fmla="*/ 207 h 236"/>
                <a:gd name="T68" fmla="*/ 40 w 198"/>
                <a:gd name="T69" fmla="*/ 199 h 236"/>
                <a:gd name="T70" fmla="*/ 29 w 198"/>
                <a:gd name="T71" fmla="*/ 189 h 236"/>
                <a:gd name="T72" fmla="*/ 17 w 198"/>
                <a:gd name="T73" fmla="*/ 174 h 236"/>
                <a:gd name="T74" fmla="*/ 15 w 198"/>
                <a:gd name="T75" fmla="*/ 157 h 236"/>
                <a:gd name="T76" fmla="*/ 16 w 198"/>
                <a:gd name="T77" fmla="*/ 141 h 236"/>
                <a:gd name="T78" fmla="*/ 21 w 198"/>
                <a:gd name="T79" fmla="*/ 124 h 236"/>
                <a:gd name="T80" fmla="*/ 28 w 198"/>
                <a:gd name="T81" fmla="*/ 109 h 236"/>
                <a:gd name="T82" fmla="*/ 39 w 198"/>
                <a:gd name="T83" fmla="*/ 96 h 236"/>
                <a:gd name="T84" fmla="*/ 50 w 198"/>
                <a:gd name="T85" fmla="*/ 82 h 236"/>
                <a:gd name="T86" fmla="*/ 63 w 198"/>
                <a:gd name="T87" fmla="*/ 70 h 236"/>
                <a:gd name="T88" fmla="*/ 78 w 198"/>
                <a:gd name="T89" fmla="*/ 59 h 236"/>
                <a:gd name="T90" fmla="*/ 94 w 198"/>
                <a:gd name="T91" fmla="*/ 49 h 236"/>
                <a:gd name="T92" fmla="*/ 110 w 198"/>
                <a:gd name="T93" fmla="*/ 39 h 236"/>
                <a:gd name="T94" fmla="*/ 126 w 198"/>
                <a:gd name="T95" fmla="*/ 31 h 236"/>
                <a:gd name="T96" fmla="*/ 142 w 198"/>
                <a:gd name="T97" fmla="*/ 24 h 236"/>
                <a:gd name="T98" fmla="*/ 158 w 198"/>
                <a:gd name="T99" fmla="*/ 19 h 236"/>
                <a:gd name="T100" fmla="*/ 172 w 198"/>
                <a:gd name="T101" fmla="*/ 13 h 236"/>
                <a:gd name="T102" fmla="*/ 186 w 198"/>
                <a:gd name="T103" fmla="*/ 10 h 236"/>
                <a:gd name="T104" fmla="*/ 198 w 198"/>
                <a:gd name="T105" fmla="*/ 7 h 236"/>
                <a:gd name="T106" fmla="*/ 190 w 198"/>
                <a:gd name="T107" fmla="*/ 3 h 236"/>
                <a:gd name="T108" fmla="*/ 177 w 198"/>
                <a:gd name="T109" fmla="*/ 0 h 236"/>
                <a:gd name="T110" fmla="*/ 162 w 198"/>
                <a:gd name="T111" fmla="*/ 3 h 236"/>
                <a:gd name="T112" fmla="*/ 144 w 198"/>
                <a:gd name="T113" fmla="*/ 6 h 236"/>
                <a:gd name="T114" fmla="*/ 124 w 198"/>
                <a:gd name="T115" fmla="*/ 12 h 236"/>
                <a:gd name="T116" fmla="*/ 105 w 198"/>
                <a:gd name="T117" fmla="*/ 19 h 236"/>
                <a:gd name="T118" fmla="*/ 88 w 198"/>
                <a:gd name="T119" fmla="*/ 28 h 236"/>
                <a:gd name="T120" fmla="*/ 73 w 198"/>
                <a:gd name="T121" fmla="*/ 3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en-US"/>
            </a:p>
          </p:txBody>
        </p:sp>
        <p:sp>
          <p:nvSpPr>
            <p:cNvPr id="2212" name="Freeform 774"/>
            <p:cNvSpPr/>
            <p:nvPr/>
          </p:nvSpPr>
          <p:spPr bwMode="auto">
            <a:xfrm>
              <a:off x="4386" y="3145"/>
              <a:ext cx="22" cy="30"/>
            </a:xfrm>
            <a:custGeom>
              <a:avLst/>
              <a:gdLst>
                <a:gd name="T0" fmla="*/ 108 w 128"/>
                <a:gd name="T1" fmla="*/ 61 h 183"/>
                <a:gd name="T2" fmla="*/ 111 w 128"/>
                <a:gd name="T3" fmla="*/ 80 h 183"/>
                <a:gd name="T4" fmla="*/ 109 w 128"/>
                <a:gd name="T5" fmla="*/ 97 h 183"/>
                <a:gd name="T6" fmla="*/ 101 w 128"/>
                <a:gd name="T7" fmla="*/ 110 h 183"/>
                <a:gd name="T8" fmla="*/ 89 w 128"/>
                <a:gd name="T9" fmla="*/ 123 h 183"/>
                <a:gd name="T10" fmla="*/ 75 w 128"/>
                <a:gd name="T11" fmla="*/ 134 h 183"/>
                <a:gd name="T12" fmla="*/ 60 w 128"/>
                <a:gd name="T13" fmla="*/ 145 h 183"/>
                <a:gd name="T14" fmla="*/ 43 w 128"/>
                <a:gd name="T15" fmla="*/ 156 h 183"/>
                <a:gd name="T16" fmla="*/ 29 w 128"/>
                <a:gd name="T17" fmla="*/ 167 h 183"/>
                <a:gd name="T18" fmla="*/ 27 w 128"/>
                <a:gd name="T19" fmla="*/ 170 h 183"/>
                <a:gd name="T20" fmla="*/ 26 w 128"/>
                <a:gd name="T21" fmla="*/ 172 h 183"/>
                <a:gd name="T22" fmla="*/ 26 w 128"/>
                <a:gd name="T23" fmla="*/ 176 h 183"/>
                <a:gd name="T24" fmla="*/ 28 w 128"/>
                <a:gd name="T25" fmla="*/ 179 h 183"/>
                <a:gd name="T26" fmla="*/ 30 w 128"/>
                <a:gd name="T27" fmla="*/ 182 h 183"/>
                <a:gd name="T28" fmla="*/ 34 w 128"/>
                <a:gd name="T29" fmla="*/ 183 h 183"/>
                <a:gd name="T30" fmla="*/ 37 w 128"/>
                <a:gd name="T31" fmla="*/ 183 h 183"/>
                <a:gd name="T32" fmla="*/ 41 w 128"/>
                <a:gd name="T33" fmla="*/ 182 h 183"/>
                <a:gd name="T34" fmla="*/ 58 w 128"/>
                <a:gd name="T35" fmla="*/ 171 h 183"/>
                <a:gd name="T36" fmla="*/ 76 w 128"/>
                <a:gd name="T37" fmla="*/ 160 h 183"/>
                <a:gd name="T38" fmla="*/ 92 w 128"/>
                <a:gd name="T39" fmla="*/ 147 h 183"/>
                <a:gd name="T40" fmla="*/ 108 w 128"/>
                <a:gd name="T41" fmla="*/ 132 h 183"/>
                <a:gd name="T42" fmla="*/ 118 w 128"/>
                <a:gd name="T43" fmla="*/ 116 h 183"/>
                <a:gd name="T44" fmla="*/ 125 w 128"/>
                <a:gd name="T45" fmla="*/ 98 h 183"/>
                <a:gd name="T46" fmla="*/ 128 w 128"/>
                <a:gd name="T47" fmla="*/ 78 h 183"/>
                <a:gd name="T48" fmla="*/ 123 w 128"/>
                <a:gd name="T49" fmla="*/ 58 h 183"/>
                <a:gd name="T50" fmla="*/ 112 w 128"/>
                <a:gd name="T51" fmla="*/ 41 h 183"/>
                <a:gd name="T52" fmla="*/ 98 w 128"/>
                <a:gd name="T53" fmla="*/ 28 h 183"/>
                <a:gd name="T54" fmla="*/ 80 w 128"/>
                <a:gd name="T55" fmla="*/ 16 h 183"/>
                <a:gd name="T56" fmla="*/ 61 w 128"/>
                <a:gd name="T57" fmla="*/ 8 h 183"/>
                <a:gd name="T58" fmla="*/ 41 w 128"/>
                <a:gd name="T59" fmla="*/ 2 h 183"/>
                <a:gd name="T60" fmla="*/ 23 w 128"/>
                <a:gd name="T61" fmla="*/ 0 h 183"/>
                <a:gd name="T62" fmla="*/ 9 w 128"/>
                <a:gd name="T63" fmla="*/ 1 h 183"/>
                <a:gd name="T64" fmla="*/ 0 w 128"/>
                <a:gd name="T65" fmla="*/ 6 h 183"/>
                <a:gd name="T66" fmla="*/ 16 w 128"/>
                <a:gd name="T67" fmla="*/ 10 h 183"/>
                <a:gd name="T68" fmla="*/ 33 w 128"/>
                <a:gd name="T69" fmla="*/ 14 h 183"/>
                <a:gd name="T70" fmla="*/ 48 w 128"/>
                <a:gd name="T71" fmla="*/ 17 h 183"/>
                <a:gd name="T72" fmla="*/ 63 w 128"/>
                <a:gd name="T73" fmla="*/ 22 h 183"/>
                <a:gd name="T74" fmla="*/ 77 w 128"/>
                <a:gd name="T75" fmla="*/ 28 h 183"/>
                <a:gd name="T76" fmla="*/ 90 w 128"/>
                <a:gd name="T77" fmla="*/ 36 h 183"/>
                <a:gd name="T78" fmla="*/ 101 w 128"/>
                <a:gd name="T79" fmla="*/ 46 h 183"/>
                <a:gd name="T80" fmla="*/ 108 w 128"/>
                <a:gd name="T81" fmla="*/ 61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en-US"/>
            </a:p>
          </p:txBody>
        </p:sp>
        <p:sp>
          <p:nvSpPr>
            <p:cNvPr id="2213" name="Freeform 775"/>
            <p:cNvSpPr/>
            <p:nvPr/>
          </p:nvSpPr>
          <p:spPr bwMode="auto">
            <a:xfrm>
              <a:off x="4309" y="3138"/>
              <a:ext cx="53" cy="63"/>
            </a:xfrm>
            <a:custGeom>
              <a:avLst/>
              <a:gdLst>
                <a:gd name="T0" fmla="*/ 101 w 323"/>
                <a:gd name="T1" fmla="*/ 70 h 379"/>
                <a:gd name="T2" fmla="*/ 54 w 323"/>
                <a:gd name="T3" fmla="*/ 115 h 379"/>
                <a:gd name="T4" fmla="*/ 18 w 323"/>
                <a:gd name="T5" fmla="*/ 167 h 379"/>
                <a:gd name="T6" fmla="*/ 0 w 323"/>
                <a:gd name="T7" fmla="*/ 227 h 379"/>
                <a:gd name="T8" fmla="*/ 4 w 323"/>
                <a:gd name="T9" fmla="*/ 267 h 379"/>
                <a:gd name="T10" fmla="*/ 11 w 323"/>
                <a:gd name="T11" fmla="*/ 283 h 379"/>
                <a:gd name="T12" fmla="*/ 21 w 323"/>
                <a:gd name="T13" fmla="*/ 298 h 379"/>
                <a:gd name="T14" fmla="*/ 34 w 323"/>
                <a:gd name="T15" fmla="*/ 311 h 379"/>
                <a:gd name="T16" fmla="*/ 57 w 323"/>
                <a:gd name="T17" fmla="*/ 325 h 379"/>
                <a:gd name="T18" fmla="*/ 87 w 323"/>
                <a:gd name="T19" fmla="*/ 340 h 379"/>
                <a:gd name="T20" fmla="*/ 120 w 323"/>
                <a:gd name="T21" fmla="*/ 351 h 379"/>
                <a:gd name="T22" fmla="*/ 153 w 323"/>
                <a:gd name="T23" fmla="*/ 360 h 379"/>
                <a:gd name="T24" fmla="*/ 187 w 323"/>
                <a:gd name="T25" fmla="*/ 367 h 379"/>
                <a:gd name="T26" fmla="*/ 221 w 323"/>
                <a:gd name="T27" fmla="*/ 372 h 379"/>
                <a:gd name="T28" fmla="*/ 256 w 323"/>
                <a:gd name="T29" fmla="*/ 375 h 379"/>
                <a:gd name="T30" fmla="*/ 290 w 323"/>
                <a:gd name="T31" fmla="*/ 378 h 379"/>
                <a:gd name="T32" fmla="*/ 312 w 323"/>
                <a:gd name="T33" fmla="*/ 379 h 379"/>
                <a:gd name="T34" fmla="*/ 320 w 323"/>
                <a:gd name="T35" fmla="*/ 372 h 379"/>
                <a:gd name="T36" fmla="*/ 323 w 323"/>
                <a:gd name="T37" fmla="*/ 360 h 379"/>
                <a:gd name="T38" fmla="*/ 316 w 323"/>
                <a:gd name="T39" fmla="*/ 352 h 379"/>
                <a:gd name="T40" fmla="*/ 295 w 323"/>
                <a:gd name="T41" fmla="*/ 351 h 379"/>
                <a:gd name="T42" fmla="*/ 263 w 323"/>
                <a:gd name="T43" fmla="*/ 350 h 379"/>
                <a:gd name="T44" fmla="*/ 231 w 323"/>
                <a:gd name="T45" fmla="*/ 348 h 379"/>
                <a:gd name="T46" fmla="*/ 200 w 323"/>
                <a:gd name="T47" fmla="*/ 343 h 379"/>
                <a:gd name="T48" fmla="*/ 168 w 323"/>
                <a:gd name="T49" fmla="*/ 337 h 379"/>
                <a:gd name="T50" fmla="*/ 136 w 323"/>
                <a:gd name="T51" fmla="*/ 329 h 379"/>
                <a:gd name="T52" fmla="*/ 106 w 323"/>
                <a:gd name="T53" fmla="*/ 320 h 379"/>
                <a:gd name="T54" fmla="*/ 76 w 323"/>
                <a:gd name="T55" fmla="*/ 306 h 379"/>
                <a:gd name="T56" fmla="*/ 51 w 323"/>
                <a:gd name="T57" fmla="*/ 291 h 379"/>
                <a:gd name="T58" fmla="*/ 35 w 323"/>
                <a:gd name="T59" fmla="*/ 269 h 379"/>
                <a:gd name="T60" fmla="*/ 31 w 323"/>
                <a:gd name="T61" fmla="*/ 239 h 379"/>
                <a:gd name="T62" fmla="*/ 38 w 323"/>
                <a:gd name="T63" fmla="*/ 197 h 379"/>
                <a:gd name="T64" fmla="*/ 51 w 323"/>
                <a:gd name="T65" fmla="*/ 165 h 379"/>
                <a:gd name="T66" fmla="*/ 68 w 323"/>
                <a:gd name="T67" fmla="*/ 136 h 379"/>
                <a:gd name="T68" fmla="*/ 89 w 323"/>
                <a:gd name="T69" fmla="*/ 111 h 379"/>
                <a:gd name="T70" fmla="*/ 114 w 323"/>
                <a:gd name="T71" fmla="*/ 88 h 379"/>
                <a:gd name="T72" fmla="*/ 144 w 323"/>
                <a:gd name="T73" fmla="*/ 64 h 379"/>
                <a:gd name="T74" fmla="*/ 181 w 323"/>
                <a:gd name="T75" fmla="*/ 41 h 379"/>
                <a:gd name="T76" fmla="*/ 219 w 323"/>
                <a:gd name="T77" fmla="*/ 22 h 379"/>
                <a:gd name="T78" fmla="*/ 253 w 323"/>
                <a:gd name="T79" fmla="*/ 7 h 379"/>
                <a:gd name="T80" fmla="*/ 255 w 323"/>
                <a:gd name="T81" fmla="*/ 0 h 379"/>
                <a:gd name="T82" fmla="*/ 221 w 323"/>
                <a:gd name="T83" fmla="*/ 5 h 379"/>
                <a:gd name="T84" fmla="*/ 181 w 323"/>
                <a:gd name="T85" fmla="*/ 19 h 379"/>
                <a:gd name="T86" fmla="*/ 142 w 323"/>
                <a:gd name="T87" fmla="*/ 39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en-US"/>
            </a:p>
          </p:txBody>
        </p:sp>
        <p:sp>
          <p:nvSpPr>
            <p:cNvPr id="2214" name="Freeform 776"/>
            <p:cNvSpPr/>
            <p:nvPr/>
          </p:nvSpPr>
          <p:spPr bwMode="auto">
            <a:xfrm>
              <a:off x="4384" y="3136"/>
              <a:ext cx="47" cy="42"/>
            </a:xfrm>
            <a:custGeom>
              <a:avLst/>
              <a:gdLst>
                <a:gd name="T0" fmla="*/ 235 w 282"/>
                <a:gd name="T1" fmla="*/ 78 h 253"/>
                <a:gd name="T2" fmla="*/ 248 w 282"/>
                <a:gd name="T3" fmla="*/ 92 h 253"/>
                <a:gd name="T4" fmla="*/ 255 w 282"/>
                <a:gd name="T5" fmla="*/ 108 h 253"/>
                <a:gd name="T6" fmla="*/ 259 w 282"/>
                <a:gd name="T7" fmla="*/ 125 h 253"/>
                <a:gd name="T8" fmla="*/ 259 w 282"/>
                <a:gd name="T9" fmla="*/ 144 h 253"/>
                <a:gd name="T10" fmla="*/ 257 w 282"/>
                <a:gd name="T11" fmla="*/ 159 h 253"/>
                <a:gd name="T12" fmla="*/ 252 w 282"/>
                <a:gd name="T13" fmla="*/ 171 h 253"/>
                <a:gd name="T14" fmla="*/ 244 w 282"/>
                <a:gd name="T15" fmla="*/ 184 h 253"/>
                <a:gd name="T16" fmla="*/ 236 w 282"/>
                <a:gd name="T17" fmla="*/ 194 h 253"/>
                <a:gd name="T18" fmla="*/ 225 w 282"/>
                <a:gd name="T19" fmla="*/ 206 h 253"/>
                <a:gd name="T20" fmla="*/ 215 w 282"/>
                <a:gd name="T21" fmla="*/ 215 h 253"/>
                <a:gd name="T22" fmla="*/ 204 w 282"/>
                <a:gd name="T23" fmla="*/ 225 h 253"/>
                <a:gd name="T24" fmla="*/ 194 w 282"/>
                <a:gd name="T25" fmla="*/ 236 h 253"/>
                <a:gd name="T26" fmla="*/ 191 w 282"/>
                <a:gd name="T27" fmla="*/ 239 h 253"/>
                <a:gd name="T28" fmla="*/ 190 w 282"/>
                <a:gd name="T29" fmla="*/ 242 h 253"/>
                <a:gd name="T30" fmla="*/ 191 w 282"/>
                <a:gd name="T31" fmla="*/ 246 h 253"/>
                <a:gd name="T32" fmla="*/ 194 w 282"/>
                <a:gd name="T33" fmla="*/ 249 h 253"/>
                <a:gd name="T34" fmla="*/ 197 w 282"/>
                <a:gd name="T35" fmla="*/ 252 h 253"/>
                <a:gd name="T36" fmla="*/ 201 w 282"/>
                <a:gd name="T37" fmla="*/ 253 h 253"/>
                <a:gd name="T38" fmla="*/ 205 w 282"/>
                <a:gd name="T39" fmla="*/ 252 h 253"/>
                <a:gd name="T40" fmla="*/ 209 w 282"/>
                <a:gd name="T41" fmla="*/ 249 h 253"/>
                <a:gd name="T42" fmla="*/ 232 w 282"/>
                <a:gd name="T43" fmla="*/ 234 h 253"/>
                <a:gd name="T44" fmla="*/ 251 w 282"/>
                <a:gd name="T45" fmla="*/ 215 h 253"/>
                <a:gd name="T46" fmla="*/ 267 w 282"/>
                <a:gd name="T47" fmla="*/ 192 h 253"/>
                <a:gd name="T48" fmla="*/ 278 w 282"/>
                <a:gd name="T49" fmla="*/ 168 h 253"/>
                <a:gd name="T50" fmla="*/ 282 w 282"/>
                <a:gd name="T51" fmla="*/ 141 h 253"/>
                <a:gd name="T52" fmla="*/ 279 w 282"/>
                <a:gd name="T53" fmla="*/ 116 h 253"/>
                <a:gd name="T54" fmla="*/ 270 w 282"/>
                <a:gd name="T55" fmla="*/ 92 h 253"/>
                <a:gd name="T56" fmla="*/ 251 w 282"/>
                <a:gd name="T57" fmla="*/ 70 h 253"/>
                <a:gd name="T58" fmla="*/ 237 w 282"/>
                <a:gd name="T59" fmla="*/ 59 h 253"/>
                <a:gd name="T60" fmla="*/ 221 w 282"/>
                <a:gd name="T61" fmla="*/ 48 h 253"/>
                <a:gd name="T62" fmla="*/ 202 w 282"/>
                <a:gd name="T63" fmla="*/ 39 h 253"/>
                <a:gd name="T64" fmla="*/ 183 w 282"/>
                <a:gd name="T65" fmla="*/ 31 h 253"/>
                <a:gd name="T66" fmla="*/ 163 w 282"/>
                <a:gd name="T67" fmla="*/ 24 h 253"/>
                <a:gd name="T68" fmla="*/ 142 w 282"/>
                <a:gd name="T69" fmla="*/ 18 h 253"/>
                <a:gd name="T70" fmla="*/ 122 w 282"/>
                <a:gd name="T71" fmla="*/ 13 h 253"/>
                <a:gd name="T72" fmla="*/ 101 w 282"/>
                <a:gd name="T73" fmla="*/ 8 h 253"/>
                <a:gd name="T74" fmla="*/ 82 w 282"/>
                <a:gd name="T75" fmla="*/ 5 h 253"/>
                <a:gd name="T76" fmla="*/ 63 w 282"/>
                <a:gd name="T77" fmla="*/ 2 h 253"/>
                <a:gd name="T78" fmla="*/ 47 w 282"/>
                <a:gd name="T79" fmla="*/ 0 h 253"/>
                <a:gd name="T80" fmla="*/ 32 w 282"/>
                <a:gd name="T81" fmla="*/ 0 h 253"/>
                <a:gd name="T82" fmla="*/ 19 w 282"/>
                <a:gd name="T83" fmla="*/ 0 h 253"/>
                <a:gd name="T84" fmla="*/ 10 w 282"/>
                <a:gd name="T85" fmla="*/ 1 h 253"/>
                <a:gd name="T86" fmla="*/ 4 w 282"/>
                <a:gd name="T87" fmla="*/ 4 h 253"/>
                <a:gd name="T88" fmla="*/ 0 w 282"/>
                <a:gd name="T89" fmla="*/ 6 h 253"/>
                <a:gd name="T90" fmla="*/ 12 w 282"/>
                <a:gd name="T91" fmla="*/ 8 h 253"/>
                <a:gd name="T92" fmla="*/ 25 w 282"/>
                <a:gd name="T93" fmla="*/ 9 h 253"/>
                <a:gd name="T94" fmla="*/ 38 w 282"/>
                <a:gd name="T95" fmla="*/ 12 h 253"/>
                <a:gd name="T96" fmla="*/ 52 w 282"/>
                <a:gd name="T97" fmla="*/ 14 h 253"/>
                <a:gd name="T98" fmla="*/ 67 w 282"/>
                <a:gd name="T99" fmla="*/ 16 h 253"/>
                <a:gd name="T100" fmla="*/ 82 w 282"/>
                <a:gd name="T101" fmla="*/ 18 h 253"/>
                <a:gd name="T102" fmla="*/ 97 w 282"/>
                <a:gd name="T103" fmla="*/ 22 h 253"/>
                <a:gd name="T104" fmla="*/ 114 w 282"/>
                <a:gd name="T105" fmla="*/ 25 h 253"/>
                <a:gd name="T106" fmla="*/ 129 w 282"/>
                <a:gd name="T107" fmla="*/ 30 h 253"/>
                <a:gd name="T108" fmla="*/ 146 w 282"/>
                <a:gd name="T109" fmla="*/ 35 h 253"/>
                <a:gd name="T110" fmla="*/ 162 w 282"/>
                <a:gd name="T111" fmla="*/ 40 h 253"/>
                <a:gd name="T112" fmla="*/ 177 w 282"/>
                <a:gd name="T113" fmla="*/ 46 h 253"/>
                <a:gd name="T114" fmla="*/ 192 w 282"/>
                <a:gd name="T115" fmla="*/ 53 h 253"/>
                <a:gd name="T116" fmla="*/ 208 w 282"/>
                <a:gd name="T117" fmla="*/ 60 h 253"/>
                <a:gd name="T118" fmla="*/ 222 w 282"/>
                <a:gd name="T119" fmla="*/ 69 h 253"/>
                <a:gd name="T120" fmla="*/ 235 w 282"/>
                <a:gd name="T121" fmla="*/ 7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en-US"/>
            </a:p>
          </p:txBody>
        </p:sp>
        <p:sp>
          <p:nvSpPr>
            <p:cNvPr id="2215" name="Freeform 777"/>
            <p:cNvSpPr/>
            <p:nvPr/>
          </p:nvSpPr>
          <p:spPr bwMode="auto">
            <a:xfrm>
              <a:off x="4290" y="3159"/>
              <a:ext cx="19" cy="39"/>
            </a:xfrm>
            <a:custGeom>
              <a:avLst/>
              <a:gdLst>
                <a:gd name="T0" fmla="*/ 0 w 115"/>
                <a:gd name="T1" fmla="*/ 128 h 236"/>
                <a:gd name="T2" fmla="*/ 0 w 115"/>
                <a:gd name="T3" fmla="*/ 148 h 236"/>
                <a:gd name="T4" fmla="*/ 5 w 115"/>
                <a:gd name="T5" fmla="*/ 166 h 236"/>
                <a:gd name="T6" fmla="*/ 13 w 115"/>
                <a:gd name="T7" fmla="*/ 184 h 236"/>
                <a:gd name="T8" fmla="*/ 24 w 115"/>
                <a:gd name="T9" fmla="*/ 198 h 236"/>
                <a:gd name="T10" fmla="*/ 39 w 115"/>
                <a:gd name="T11" fmla="*/ 211 h 236"/>
                <a:gd name="T12" fmla="*/ 55 w 115"/>
                <a:gd name="T13" fmla="*/ 223 h 236"/>
                <a:gd name="T14" fmla="*/ 74 w 115"/>
                <a:gd name="T15" fmla="*/ 231 h 236"/>
                <a:gd name="T16" fmla="*/ 92 w 115"/>
                <a:gd name="T17" fmla="*/ 235 h 236"/>
                <a:gd name="T18" fmla="*/ 98 w 115"/>
                <a:gd name="T19" fmla="*/ 236 h 236"/>
                <a:gd name="T20" fmla="*/ 104 w 115"/>
                <a:gd name="T21" fmla="*/ 234 h 236"/>
                <a:gd name="T22" fmla="*/ 109 w 115"/>
                <a:gd name="T23" fmla="*/ 231 h 236"/>
                <a:gd name="T24" fmla="*/ 111 w 115"/>
                <a:gd name="T25" fmla="*/ 226 h 236"/>
                <a:gd name="T26" fmla="*/ 111 w 115"/>
                <a:gd name="T27" fmla="*/ 220 h 236"/>
                <a:gd name="T28" fmla="*/ 110 w 115"/>
                <a:gd name="T29" fmla="*/ 215 h 236"/>
                <a:gd name="T30" fmla="*/ 107 w 115"/>
                <a:gd name="T31" fmla="*/ 210 h 236"/>
                <a:gd name="T32" fmla="*/ 101 w 115"/>
                <a:gd name="T33" fmla="*/ 208 h 236"/>
                <a:gd name="T34" fmla="*/ 82 w 115"/>
                <a:gd name="T35" fmla="*/ 201 h 236"/>
                <a:gd name="T36" fmla="*/ 64 w 115"/>
                <a:gd name="T37" fmla="*/ 192 h 236"/>
                <a:gd name="T38" fmla="*/ 50 w 115"/>
                <a:gd name="T39" fmla="*/ 179 h 236"/>
                <a:gd name="T40" fmla="*/ 40 w 115"/>
                <a:gd name="T41" fmla="*/ 165 h 236"/>
                <a:gd name="T42" fmla="*/ 33 w 115"/>
                <a:gd name="T43" fmla="*/ 148 h 236"/>
                <a:gd name="T44" fmla="*/ 29 w 115"/>
                <a:gd name="T45" fmla="*/ 130 h 236"/>
                <a:gd name="T46" fmla="*/ 29 w 115"/>
                <a:gd name="T47" fmla="*/ 110 h 236"/>
                <a:gd name="T48" fmla="*/ 35 w 115"/>
                <a:gd name="T49" fmla="*/ 89 h 236"/>
                <a:gd name="T50" fmla="*/ 43 w 115"/>
                <a:gd name="T51" fmla="*/ 74 h 236"/>
                <a:gd name="T52" fmla="*/ 56 w 115"/>
                <a:gd name="T53" fmla="*/ 60 h 236"/>
                <a:gd name="T54" fmla="*/ 70 w 115"/>
                <a:gd name="T55" fmla="*/ 46 h 236"/>
                <a:gd name="T56" fmla="*/ 85 w 115"/>
                <a:gd name="T57" fmla="*/ 33 h 236"/>
                <a:gd name="T58" fmla="*/ 98 w 115"/>
                <a:gd name="T59" fmla="*/ 23 h 236"/>
                <a:gd name="T60" fmla="*/ 109 w 115"/>
                <a:gd name="T61" fmla="*/ 12 h 236"/>
                <a:gd name="T62" fmla="*/ 115 w 115"/>
                <a:gd name="T63" fmla="*/ 6 h 236"/>
                <a:gd name="T64" fmla="*/ 115 w 115"/>
                <a:gd name="T65" fmla="*/ 0 h 236"/>
                <a:gd name="T66" fmla="*/ 102 w 115"/>
                <a:gd name="T67" fmla="*/ 4 h 236"/>
                <a:gd name="T68" fmla="*/ 85 w 115"/>
                <a:gd name="T69" fmla="*/ 12 h 236"/>
                <a:gd name="T70" fmla="*/ 68 w 115"/>
                <a:gd name="T71" fmla="*/ 26 h 236"/>
                <a:gd name="T72" fmla="*/ 49 w 115"/>
                <a:gd name="T73" fmla="*/ 42 h 236"/>
                <a:gd name="T74" fmla="*/ 32 w 115"/>
                <a:gd name="T75" fmla="*/ 61 h 236"/>
                <a:gd name="T76" fmla="*/ 17 w 115"/>
                <a:gd name="T77" fmla="*/ 82 h 236"/>
                <a:gd name="T78" fmla="*/ 6 w 115"/>
                <a:gd name="T79" fmla="*/ 105 h 236"/>
                <a:gd name="T80" fmla="*/ 0 w 115"/>
                <a:gd name="T81" fmla="*/ 128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en-US"/>
            </a:p>
          </p:txBody>
        </p:sp>
        <p:sp>
          <p:nvSpPr>
            <p:cNvPr id="2216" name="Freeform 778"/>
            <p:cNvSpPr/>
            <p:nvPr/>
          </p:nvSpPr>
          <p:spPr bwMode="auto">
            <a:xfrm>
              <a:off x="4423" y="3133"/>
              <a:ext cx="41" cy="52"/>
            </a:xfrm>
            <a:custGeom>
              <a:avLst/>
              <a:gdLst>
                <a:gd name="T0" fmla="*/ 208 w 245"/>
                <a:gd name="T1" fmla="*/ 124 h 310"/>
                <a:gd name="T2" fmla="*/ 220 w 245"/>
                <a:gd name="T3" fmla="*/ 144 h 310"/>
                <a:gd name="T4" fmla="*/ 226 w 245"/>
                <a:gd name="T5" fmla="*/ 164 h 310"/>
                <a:gd name="T6" fmla="*/ 222 w 245"/>
                <a:gd name="T7" fmla="*/ 187 h 310"/>
                <a:gd name="T8" fmla="*/ 208 w 245"/>
                <a:gd name="T9" fmla="*/ 209 h 310"/>
                <a:gd name="T10" fmla="*/ 188 w 245"/>
                <a:gd name="T11" fmla="*/ 229 h 310"/>
                <a:gd name="T12" fmla="*/ 166 w 245"/>
                <a:gd name="T13" fmla="*/ 246 h 310"/>
                <a:gd name="T14" fmla="*/ 142 w 245"/>
                <a:gd name="T15" fmla="*/ 264 h 310"/>
                <a:gd name="T16" fmla="*/ 128 w 245"/>
                <a:gd name="T17" fmla="*/ 278 h 310"/>
                <a:gd name="T18" fmla="*/ 124 w 245"/>
                <a:gd name="T19" fmla="*/ 287 h 310"/>
                <a:gd name="T20" fmla="*/ 120 w 245"/>
                <a:gd name="T21" fmla="*/ 296 h 310"/>
                <a:gd name="T22" fmla="*/ 122 w 245"/>
                <a:gd name="T23" fmla="*/ 306 h 310"/>
                <a:gd name="T24" fmla="*/ 131 w 245"/>
                <a:gd name="T25" fmla="*/ 310 h 310"/>
                <a:gd name="T26" fmla="*/ 139 w 245"/>
                <a:gd name="T27" fmla="*/ 309 h 310"/>
                <a:gd name="T28" fmla="*/ 154 w 245"/>
                <a:gd name="T29" fmla="*/ 292 h 310"/>
                <a:gd name="T30" fmla="*/ 180 w 245"/>
                <a:gd name="T31" fmla="*/ 269 h 310"/>
                <a:gd name="T32" fmla="*/ 207 w 245"/>
                <a:gd name="T33" fmla="*/ 246 h 310"/>
                <a:gd name="T34" fmla="*/ 230 w 245"/>
                <a:gd name="T35" fmla="*/ 219 h 310"/>
                <a:gd name="T36" fmla="*/ 244 w 245"/>
                <a:gd name="T37" fmla="*/ 186 h 310"/>
                <a:gd name="T38" fmla="*/ 243 w 245"/>
                <a:gd name="T39" fmla="*/ 152 h 310"/>
                <a:gd name="T40" fmla="*/ 228 w 245"/>
                <a:gd name="T41" fmla="*/ 119 h 310"/>
                <a:gd name="T42" fmla="*/ 203 w 245"/>
                <a:gd name="T43" fmla="*/ 93 h 310"/>
                <a:gd name="T44" fmla="*/ 176 w 245"/>
                <a:gd name="T45" fmla="*/ 76 h 310"/>
                <a:gd name="T46" fmla="*/ 151 w 245"/>
                <a:gd name="T47" fmla="*/ 61 h 310"/>
                <a:gd name="T48" fmla="*/ 122 w 245"/>
                <a:gd name="T49" fmla="*/ 46 h 310"/>
                <a:gd name="T50" fmla="*/ 93 w 245"/>
                <a:gd name="T51" fmla="*/ 31 h 310"/>
                <a:gd name="T52" fmla="*/ 66 w 245"/>
                <a:gd name="T53" fmla="*/ 18 h 310"/>
                <a:gd name="T54" fmla="*/ 40 w 245"/>
                <a:gd name="T55" fmla="*/ 8 h 310"/>
                <a:gd name="T56" fmla="*/ 20 w 245"/>
                <a:gd name="T57" fmla="*/ 1 h 310"/>
                <a:gd name="T58" fmla="*/ 5 w 245"/>
                <a:gd name="T59" fmla="*/ 0 h 310"/>
                <a:gd name="T60" fmla="*/ 11 w 245"/>
                <a:gd name="T61" fmla="*/ 8 h 310"/>
                <a:gd name="T62" fmla="*/ 36 w 245"/>
                <a:gd name="T63" fmla="*/ 20 h 310"/>
                <a:gd name="T64" fmla="*/ 60 w 245"/>
                <a:gd name="T65" fmla="*/ 31 h 310"/>
                <a:gd name="T66" fmla="*/ 86 w 245"/>
                <a:gd name="T67" fmla="*/ 44 h 310"/>
                <a:gd name="T68" fmla="*/ 113 w 245"/>
                <a:gd name="T69" fmla="*/ 57 h 310"/>
                <a:gd name="T70" fmla="*/ 139 w 245"/>
                <a:gd name="T71" fmla="*/ 71 h 310"/>
                <a:gd name="T72" fmla="*/ 165 w 245"/>
                <a:gd name="T73" fmla="*/ 88 h 310"/>
                <a:gd name="T74" fmla="*/ 188 w 245"/>
                <a:gd name="T75" fmla="*/ 106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en-US"/>
            </a:p>
          </p:txBody>
        </p:sp>
        <p:sp>
          <p:nvSpPr>
            <p:cNvPr id="2217" name="Freeform 779"/>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ln>
          </p:spPr>
          <p:txBody>
            <a:bodyPr/>
            <a:lstStyle/>
            <a:p>
              <a:endParaRPr lang="en-US"/>
            </a:p>
          </p:txBody>
        </p:sp>
      </p:grpSp>
      <p:grpSp>
        <p:nvGrpSpPr>
          <p:cNvPr id="2176" name="Group 780"/>
          <p:cNvGrpSpPr/>
          <p:nvPr/>
        </p:nvGrpSpPr>
        <p:grpSpPr bwMode="auto">
          <a:xfrm>
            <a:off x="1428750" y="3513138"/>
            <a:ext cx="290513" cy="404812"/>
            <a:chOff x="4290" y="3130"/>
            <a:chExt cx="183" cy="255"/>
          </a:xfrm>
        </p:grpSpPr>
        <p:pic>
          <p:nvPicPr>
            <p:cNvPr id="2182" name="Picture 781" descr="31u_bnrz[1]"/>
            <p:cNvPicPr>
              <a:picLocks noChangeAspect="1" noChangeArrowheads="1"/>
            </p:cNvPicPr>
            <p:nvPr/>
          </p:nvPicPr>
          <p:blipFill>
            <a:blip r:embed="rId19"/>
            <a:srcRect/>
            <a:stretch>
              <a:fillRect/>
            </a:stretch>
          </p:blipFill>
          <p:spPr bwMode="auto">
            <a:xfrm>
              <a:off x="4343" y="3211"/>
              <a:ext cx="121" cy="174"/>
            </a:xfrm>
            <a:prstGeom prst="rect">
              <a:avLst/>
            </a:prstGeom>
            <a:solidFill>
              <a:srgbClr val="DDDDDD"/>
            </a:solidFill>
            <a:ln w="9525">
              <a:noFill/>
              <a:miter lim="800000"/>
              <a:headEnd/>
              <a:tailEnd/>
            </a:ln>
          </p:spPr>
        </p:pic>
        <p:sp>
          <p:nvSpPr>
            <p:cNvPr id="2183" name="Freeform 782"/>
            <p:cNvSpPr/>
            <p:nvPr/>
          </p:nvSpPr>
          <p:spPr bwMode="auto">
            <a:xfrm>
              <a:off x="4339" y="3143"/>
              <a:ext cx="33" cy="39"/>
            </a:xfrm>
            <a:custGeom>
              <a:avLst/>
              <a:gdLst>
                <a:gd name="T0" fmla="*/ 70 w 199"/>
                <a:gd name="T1" fmla="*/ 29 h 232"/>
                <a:gd name="T2" fmla="*/ 55 w 199"/>
                <a:gd name="T3" fmla="*/ 39 h 232"/>
                <a:gd name="T4" fmla="*/ 42 w 199"/>
                <a:gd name="T5" fmla="*/ 50 h 232"/>
                <a:gd name="T6" fmla="*/ 30 w 199"/>
                <a:gd name="T7" fmla="*/ 63 h 232"/>
                <a:gd name="T8" fmla="*/ 20 w 199"/>
                <a:gd name="T9" fmla="*/ 77 h 232"/>
                <a:gd name="T10" fmla="*/ 12 w 199"/>
                <a:gd name="T11" fmla="*/ 91 h 232"/>
                <a:gd name="T12" fmla="*/ 6 w 199"/>
                <a:gd name="T13" fmla="*/ 108 h 232"/>
                <a:gd name="T14" fmla="*/ 2 w 199"/>
                <a:gd name="T15" fmla="*/ 125 h 232"/>
                <a:gd name="T16" fmla="*/ 0 w 199"/>
                <a:gd name="T17" fmla="*/ 142 h 232"/>
                <a:gd name="T18" fmla="*/ 2 w 199"/>
                <a:gd name="T19" fmla="*/ 166 h 232"/>
                <a:gd name="T20" fmla="*/ 12 w 199"/>
                <a:gd name="T21" fmla="*/ 186 h 232"/>
                <a:gd name="T22" fmla="*/ 26 w 199"/>
                <a:gd name="T23" fmla="*/ 203 h 232"/>
                <a:gd name="T24" fmla="*/ 45 w 199"/>
                <a:gd name="T25" fmla="*/ 216 h 232"/>
                <a:gd name="T26" fmla="*/ 66 w 199"/>
                <a:gd name="T27" fmla="*/ 226 h 232"/>
                <a:gd name="T28" fmla="*/ 88 w 199"/>
                <a:gd name="T29" fmla="*/ 230 h 232"/>
                <a:gd name="T30" fmla="*/ 111 w 199"/>
                <a:gd name="T31" fmla="*/ 232 h 232"/>
                <a:gd name="T32" fmla="*/ 134 w 199"/>
                <a:gd name="T33" fmla="*/ 228 h 232"/>
                <a:gd name="T34" fmla="*/ 138 w 199"/>
                <a:gd name="T35" fmla="*/ 228 h 232"/>
                <a:gd name="T36" fmla="*/ 143 w 199"/>
                <a:gd name="T37" fmla="*/ 226 h 232"/>
                <a:gd name="T38" fmla="*/ 147 w 199"/>
                <a:gd name="T39" fmla="*/ 222 h 232"/>
                <a:gd name="T40" fmla="*/ 148 w 199"/>
                <a:gd name="T41" fmla="*/ 218 h 232"/>
                <a:gd name="T42" fmla="*/ 145 w 199"/>
                <a:gd name="T43" fmla="*/ 212 h 232"/>
                <a:gd name="T44" fmla="*/ 141 w 199"/>
                <a:gd name="T45" fmla="*/ 207 h 232"/>
                <a:gd name="T46" fmla="*/ 135 w 199"/>
                <a:gd name="T47" fmla="*/ 203 h 232"/>
                <a:gd name="T48" fmla="*/ 129 w 199"/>
                <a:gd name="T49" fmla="*/ 201 h 232"/>
                <a:gd name="T50" fmla="*/ 117 w 199"/>
                <a:gd name="T51" fmla="*/ 197 h 232"/>
                <a:gd name="T52" fmla="*/ 105 w 199"/>
                <a:gd name="T53" fmla="*/ 195 h 232"/>
                <a:gd name="T54" fmla="*/ 94 w 199"/>
                <a:gd name="T55" fmla="*/ 193 h 232"/>
                <a:gd name="T56" fmla="*/ 83 w 199"/>
                <a:gd name="T57" fmla="*/ 190 h 232"/>
                <a:gd name="T58" fmla="*/ 73 w 199"/>
                <a:gd name="T59" fmla="*/ 187 h 232"/>
                <a:gd name="T60" fmla="*/ 62 w 199"/>
                <a:gd name="T61" fmla="*/ 182 h 232"/>
                <a:gd name="T62" fmla="*/ 53 w 199"/>
                <a:gd name="T63" fmla="*/ 176 h 232"/>
                <a:gd name="T64" fmla="*/ 43 w 199"/>
                <a:gd name="T65" fmla="*/ 167 h 232"/>
                <a:gd name="T66" fmla="*/ 40 w 199"/>
                <a:gd name="T67" fmla="*/ 128 h 232"/>
                <a:gd name="T68" fmla="*/ 49 w 199"/>
                <a:gd name="T69" fmla="*/ 96 h 232"/>
                <a:gd name="T70" fmla="*/ 68 w 199"/>
                <a:gd name="T71" fmla="*/ 71 h 232"/>
                <a:gd name="T72" fmla="*/ 94 w 199"/>
                <a:gd name="T73" fmla="*/ 50 h 232"/>
                <a:gd name="T74" fmla="*/ 122 w 199"/>
                <a:gd name="T75" fmla="*/ 34 h 232"/>
                <a:gd name="T76" fmla="*/ 151 w 199"/>
                <a:gd name="T77" fmla="*/ 21 h 232"/>
                <a:gd name="T78" fmla="*/ 178 w 199"/>
                <a:gd name="T79" fmla="*/ 12 h 232"/>
                <a:gd name="T80" fmla="*/ 199 w 199"/>
                <a:gd name="T81" fmla="*/ 4 h 232"/>
                <a:gd name="T82" fmla="*/ 186 w 199"/>
                <a:gd name="T83" fmla="*/ 1 h 232"/>
                <a:gd name="T84" fmla="*/ 172 w 199"/>
                <a:gd name="T85" fmla="*/ 0 h 232"/>
                <a:gd name="T86" fmla="*/ 156 w 199"/>
                <a:gd name="T87" fmla="*/ 2 h 232"/>
                <a:gd name="T88" fmla="*/ 138 w 199"/>
                <a:gd name="T89" fmla="*/ 4 h 232"/>
                <a:gd name="T90" fmla="*/ 121 w 199"/>
                <a:gd name="T91" fmla="*/ 10 h 232"/>
                <a:gd name="T92" fmla="*/ 103 w 199"/>
                <a:gd name="T93" fmla="*/ 16 h 232"/>
                <a:gd name="T94" fmla="*/ 86 w 199"/>
                <a:gd name="T95" fmla="*/ 23 h 232"/>
                <a:gd name="T96" fmla="*/ 70 w 199"/>
                <a:gd name="T97" fmla="*/ 29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ln>
          </p:spPr>
          <p:txBody>
            <a:bodyPr/>
            <a:lstStyle/>
            <a:p>
              <a:endParaRPr lang="en-US"/>
            </a:p>
          </p:txBody>
        </p:sp>
        <p:sp>
          <p:nvSpPr>
            <p:cNvPr id="2184" name="Freeform 783"/>
            <p:cNvSpPr/>
            <p:nvPr/>
          </p:nvSpPr>
          <p:spPr bwMode="auto">
            <a:xfrm>
              <a:off x="4395" y="3142"/>
              <a:ext cx="22" cy="30"/>
            </a:xfrm>
            <a:custGeom>
              <a:avLst/>
              <a:gdLst>
                <a:gd name="T0" fmla="*/ 108 w 128"/>
                <a:gd name="T1" fmla="*/ 59 h 180"/>
                <a:gd name="T2" fmla="*/ 113 w 128"/>
                <a:gd name="T3" fmla="*/ 77 h 180"/>
                <a:gd name="T4" fmla="*/ 111 w 128"/>
                <a:gd name="T5" fmla="*/ 94 h 180"/>
                <a:gd name="T6" fmla="*/ 103 w 128"/>
                <a:gd name="T7" fmla="*/ 108 h 180"/>
                <a:gd name="T8" fmla="*/ 91 w 128"/>
                <a:gd name="T9" fmla="*/ 121 h 180"/>
                <a:gd name="T10" fmla="*/ 77 w 128"/>
                <a:gd name="T11" fmla="*/ 132 h 180"/>
                <a:gd name="T12" fmla="*/ 61 w 128"/>
                <a:gd name="T13" fmla="*/ 144 h 180"/>
                <a:gd name="T14" fmla="*/ 45 w 128"/>
                <a:gd name="T15" fmla="*/ 154 h 180"/>
                <a:gd name="T16" fmla="*/ 30 w 128"/>
                <a:gd name="T17" fmla="*/ 164 h 180"/>
                <a:gd name="T18" fmla="*/ 28 w 128"/>
                <a:gd name="T19" fmla="*/ 168 h 180"/>
                <a:gd name="T20" fmla="*/ 27 w 128"/>
                <a:gd name="T21" fmla="*/ 170 h 180"/>
                <a:gd name="T22" fmla="*/ 27 w 128"/>
                <a:gd name="T23" fmla="*/ 174 h 180"/>
                <a:gd name="T24" fmla="*/ 28 w 128"/>
                <a:gd name="T25" fmla="*/ 177 h 180"/>
                <a:gd name="T26" fmla="*/ 32 w 128"/>
                <a:gd name="T27" fmla="*/ 179 h 180"/>
                <a:gd name="T28" fmla="*/ 35 w 128"/>
                <a:gd name="T29" fmla="*/ 180 h 180"/>
                <a:gd name="T30" fmla="*/ 37 w 128"/>
                <a:gd name="T31" fmla="*/ 180 h 180"/>
                <a:gd name="T32" fmla="*/ 41 w 128"/>
                <a:gd name="T33" fmla="*/ 179 h 180"/>
                <a:gd name="T34" fmla="*/ 60 w 128"/>
                <a:gd name="T35" fmla="*/ 169 h 180"/>
                <a:gd name="T36" fmla="*/ 77 w 128"/>
                <a:gd name="T37" fmla="*/ 158 h 180"/>
                <a:gd name="T38" fmla="*/ 94 w 128"/>
                <a:gd name="T39" fmla="*/ 145 h 180"/>
                <a:gd name="T40" fmla="*/ 109 w 128"/>
                <a:gd name="T41" fmla="*/ 130 h 180"/>
                <a:gd name="T42" fmla="*/ 120 w 128"/>
                <a:gd name="T43" fmla="*/ 114 h 180"/>
                <a:gd name="T44" fmla="*/ 127 w 128"/>
                <a:gd name="T45" fmla="*/ 95 h 180"/>
                <a:gd name="T46" fmla="*/ 128 w 128"/>
                <a:gd name="T47" fmla="*/ 76 h 180"/>
                <a:gd name="T48" fmla="*/ 123 w 128"/>
                <a:gd name="T49" fmla="*/ 55 h 180"/>
                <a:gd name="T50" fmla="*/ 113 w 128"/>
                <a:gd name="T51" fmla="*/ 39 h 180"/>
                <a:gd name="T52" fmla="*/ 97 w 128"/>
                <a:gd name="T53" fmla="*/ 25 h 180"/>
                <a:gd name="T54" fmla="*/ 79 w 128"/>
                <a:gd name="T55" fmla="*/ 15 h 180"/>
                <a:gd name="T56" fmla="*/ 57 w 128"/>
                <a:gd name="T57" fmla="*/ 7 h 180"/>
                <a:gd name="T58" fmla="*/ 36 w 128"/>
                <a:gd name="T59" fmla="*/ 2 h 180"/>
                <a:gd name="T60" fmla="*/ 19 w 128"/>
                <a:gd name="T61" fmla="*/ 0 h 180"/>
                <a:gd name="T62" fmla="*/ 6 w 128"/>
                <a:gd name="T63" fmla="*/ 0 h 180"/>
                <a:gd name="T64" fmla="*/ 0 w 128"/>
                <a:gd name="T65" fmla="*/ 4 h 180"/>
                <a:gd name="T66" fmla="*/ 14 w 128"/>
                <a:gd name="T67" fmla="*/ 9 h 180"/>
                <a:gd name="T68" fmla="*/ 29 w 128"/>
                <a:gd name="T69" fmla="*/ 14 h 180"/>
                <a:gd name="T70" fmla="*/ 46 w 128"/>
                <a:gd name="T71" fmla="*/ 19 h 180"/>
                <a:gd name="T72" fmla="*/ 61 w 128"/>
                <a:gd name="T73" fmla="*/ 23 h 180"/>
                <a:gd name="T74" fmla="*/ 76 w 128"/>
                <a:gd name="T75" fmla="*/ 29 h 180"/>
                <a:gd name="T76" fmla="*/ 89 w 128"/>
                <a:gd name="T77" fmla="*/ 37 h 180"/>
                <a:gd name="T78" fmla="*/ 100 w 128"/>
                <a:gd name="T79" fmla="*/ 46 h 180"/>
                <a:gd name="T80" fmla="*/ 108 w 128"/>
                <a:gd name="T81" fmla="*/ 59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ln>
          </p:spPr>
          <p:txBody>
            <a:bodyPr/>
            <a:lstStyle/>
            <a:p>
              <a:endParaRPr lang="en-US"/>
            </a:p>
          </p:txBody>
        </p:sp>
        <p:sp>
          <p:nvSpPr>
            <p:cNvPr id="2185" name="Freeform 784"/>
            <p:cNvSpPr/>
            <p:nvPr/>
          </p:nvSpPr>
          <p:spPr bwMode="auto">
            <a:xfrm>
              <a:off x="4318" y="3135"/>
              <a:ext cx="54" cy="63"/>
            </a:xfrm>
            <a:custGeom>
              <a:avLst/>
              <a:gdLst>
                <a:gd name="T0" fmla="*/ 100 w 322"/>
                <a:gd name="T1" fmla="*/ 70 h 378"/>
                <a:gd name="T2" fmla="*/ 53 w 322"/>
                <a:gd name="T3" fmla="*/ 115 h 378"/>
                <a:gd name="T4" fmla="*/ 17 w 322"/>
                <a:gd name="T5" fmla="*/ 166 h 378"/>
                <a:gd name="T6" fmla="*/ 0 w 322"/>
                <a:gd name="T7" fmla="*/ 226 h 378"/>
                <a:gd name="T8" fmla="*/ 3 w 322"/>
                <a:gd name="T9" fmla="*/ 266 h 378"/>
                <a:gd name="T10" fmla="*/ 9 w 322"/>
                <a:gd name="T11" fmla="*/ 282 h 378"/>
                <a:gd name="T12" fmla="*/ 19 w 322"/>
                <a:gd name="T13" fmla="*/ 297 h 378"/>
                <a:gd name="T14" fmla="*/ 32 w 322"/>
                <a:gd name="T15" fmla="*/ 310 h 378"/>
                <a:gd name="T16" fmla="*/ 56 w 322"/>
                <a:gd name="T17" fmla="*/ 324 h 378"/>
                <a:gd name="T18" fmla="*/ 86 w 322"/>
                <a:gd name="T19" fmla="*/ 338 h 378"/>
                <a:gd name="T20" fmla="*/ 119 w 322"/>
                <a:gd name="T21" fmla="*/ 350 h 378"/>
                <a:gd name="T22" fmla="*/ 152 w 322"/>
                <a:gd name="T23" fmla="*/ 359 h 378"/>
                <a:gd name="T24" fmla="*/ 186 w 322"/>
                <a:gd name="T25" fmla="*/ 366 h 378"/>
                <a:gd name="T26" fmla="*/ 220 w 322"/>
                <a:gd name="T27" fmla="*/ 371 h 378"/>
                <a:gd name="T28" fmla="*/ 254 w 322"/>
                <a:gd name="T29" fmla="*/ 374 h 378"/>
                <a:gd name="T30" fmla="*/ 289 w 322"/>
                <a:gd name="T31" fmla="*/ 376 h 378"/>
                <a:gd name="T32" fmla="*/ 311 w 322"/>
                <a:gd name="T33" fmla="*/ 378 h 378"/>
                <a:gd name="T34" fmla="*/ 320 w 322"/>
                <a:gd name="T35" fmla="*/ 371 h 378"/>
                <a:gd name="T36" fmla="*/ 322 w 322"/>
                <a:gd name="T37" fmla="*/ 360 h 378"/>
                <a:gd name="T38" fmla="*/ 315 w 322"/>
                <a:gd name="T39" fmla="*/ 352 h 378"/>
                <a:gd name="T40" fmla="*/ 294 w 322"/>
                <a:gd name="T41" fmla="*/ 347 h 378"/>
                <a:gd name="T42" fmla="*/ 263 w 322"/>
                <a:gd name="T43" fmla="*/ 341 h 378"/>
                <a:gd name="T44" fmla="*/ 232 w 322"/>
                <a:gd name="T45" fmla="*/ 336 h 378"/>
                <a:gd name="T46" fmla="*/ 200 w 322"/>
                <a:gd name="T47" fmla="*/ 332 h 378"/>
                <a:gd name="T48" fmla="*/ 170 w 322"/>
                <a:gd name="T49" fmla="*/ 326 h 378"/>
                <a:gd name="T50" fmla="*/ 139 w 322"/>
                <a:gd name="T51" fmla="*/ 318 h 378"/>
                <a:gd name="T52" fmla="*/ 110 w 322"/>
                <a:gd name="T53" fmla="*/ 309 h 378"/>
                <a:gd name="T54" fmla="*/ 80 w 322"/>
                <a:gd name="T55" fmla="*/ 297 h 378"/>
                <a:gd name="T56" fmla="*/ 55 w 322"/>
                <a:gd name="T57" fmla="*/ 281 h 378"/>
                <a:gd name="T58" fmla="*/ 38 w 322"/>
                <a:gd name="T59" fmla="*/ 259 h 378"/>
                <a:gd name="T60" fmla="*/ 34 w 322"/>
                <a:gd name="T61" fmla="*/ 232 h 378"/>
                <a:gd name="T62" fmla="*/ 38 w 322"/>
                <a:gd name="T63" fmla="*/ 200 h 378"/>
                <a:gd name="T64" fmla="*/ 51 w 322"/>
                <a:gd name="T65" fmla="*/ 170 h 378"/>
                <a:gd name="T66" fmla="*/ 71 w 322"/>
                <a:gd name="T67" fmla="*/ 137 h 378"/>
                <a:gd name="T68" fmla="*/ 94 w 322"/>
                <a:gd name="T69" fmla="*/ 110 h 378"/>
                <a:gd name="T70" fmla="*/ 123 w 322"/>
                <a:gd name="T71" fmla="*/ 82 h 378"/>
                <a:gd name="T72" fmla="*/ 153 w 322"/>
                <a:gd name="T73" fmla="*/ 57 h 378"/>
                <a:gd name="T74" fmla="*/ 195 w 322"/>
                <a:gd name="T75" fmla="*/ 38 h 378"/>
                <a:gd name="T76" fmla="*/ 238 w 322"/>
                <a:gd name="T77" fmla="*/ 20 h 378"/>
                <a:gd name="T78" fmla="*/ 264 w 322"/>
                <a:gd name="T79" fmla="*/ 7 h 378"/>
                <a:gd name="T80" fmla="*/ 256 w 322"/>
                <a:gd name="T81" fmla="*/ 0 h 378"/>
                <a:gd name="T82" fmla="*/ 221 w 322"/>
                <a:gd name="T83" fmla="*/ 4 h 378"/>
                <a:gd name="T84" fmla="*/ 180 w 322"/>
                <a:gd name="T85" fmla="*/ 18 h 378"/>
                <a:gd name="T86" fmla="*/ 141 w 322"/>
                <a:gd name="T87" fmla="*/ 38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ln>
          </p:spPr>
          <p:txBody>
            <a:bodyPr/>
            <a:lstStyle/>
            <a:p>
              <a:endParaRPr lang="en-US"/>
            </a:p>
          </p:txBody>
        </p:sp>
        <p:sp>
          <p:nvSpPr>
            <p:cNvPr id="2186" name="Freeform 785"/>
            <p:cNvSpPr/>
            <p:nvPr/>
          </p:nvSpPr>
          <p:spPr bwMode="auto">
            <a:xfrm>
              <a:off x="4394" y="3133"/>
              <a:ext cx="47" cy="42"/>
            </a:xfrm>
            <a:custGeom>
              <a:avLst/>
              <a:gdLst>
                <a:gd name="T0" fmla="*/ 235 w 283"/>
                <a:gd name="T1" fmla="*/ 77 h 252"/>
                <a:gd name="T2" fmla="*/ 248 w 283"/>
                <a:gd name="T3" fmla="*/ 91 h 252"/>
                <a:gd name="T4" fmla="*/ 256 w 283"/>
                <a:gd name="T5" fmla="*/ 107 h 252"/>
                <a:gd name="T6" fmla="*/ 259 w 283"/>
                <a:gd name="T7" fmla="*/ 124 h 252"/>
                <a:gd name="T8" fmla="*/ 259 w 283"/>
                <a:gd name="T9" fmla="*/ 142 h 252"/>
                <a:gd name="T10" fmla="*/ 257 w 283"/>
                <a:gd name="T11" fmla="*/ 157 h 252"/>
                <a:gd name="T12" fmla="*/ 252 w 283"/>
                <a:gd name="T13" fmla="*/ 170 h 252"/>
                <a:gd name="T14" fmla="*/ 244 w 283"/>
                <a:gd name="T15" fmla="*/ 183 h 252"/>
                <a:gd name="T16" fmla="*/ 236 w 283"/>
                <a:gd name="T17" fmla="*/ 193 h 252"/>
                <a:gd name="T18" fmla="*/ 225 w 283"/>
                <a:gd name="T19" fmla="*/ 204 h 252"/>
                <a:gd name="T20" fmla="*/ 215 w 283"/>
                <a:gd name="T21" fmla="*/ 214 h 252"/>
                <a:gd name="T22" fmla="*/ 204 w 283"/>
                <a:gd name="T23" fmla="*/ 224 h 252"/>
                <a:gd name="T24" fmla="*/ 194 w 283"/>
                <a:gd name="T25" fmla="*/ 234 h 252"/>
                <a:gd name="T26" fmla="*/ 191 w 283"/>
                <a:gd name="T27" fmla="*/ 238 h 252"/>
                <a:gd name="T28" fmla="*/ 191 w 283"/>
                <a:gd name="T29" fmla="*/ 241 h 252"/>
                <a:gd name="T30" fmla="*/ 191 w 283"/>
                <a:gd name="T31" fmla="*/ 245 h 252"/>
                <a:gd name="T32" fmla="*/ 194 w 283"/>
                <a:gd name="T33" fmla="*/ 248 h 252"/>
                <a:gd name="T34" fmla="*/ 197 w 283"/>
                <a:gd name="T35" fmla="*/ 250 h 252"/>
                <a:gd name="T36" fmla="*/ 202 w 283"/>
                <a:gd name="T37" fmla="*/ 252 h 252"/>
                <a:gd name="T38" fmla="*/ 205 w 283"/>
                <a:gd name="T39" fmla="*/ 250 h 252"/>
                <a:gd name="T40" fmla="*/ 209 w 283"/>
                <a:gd name="T41" fmla="*/ 248 h 252"/>
                <a:gd name="T42" fmla="*/ 232 w 283"/>
                <a:gd name="T43" fmla="*/ 233 h 252"/>
                <a:gd name="T44" fmla="*/ 252 w 283"/>
                <a:gd name="T45" fmla="*/ 214 h 252"/>
                <a:gd name="T46" fmla="*/ 268 w 283"/>
                <a:gd name="T47" fmla="*/ 192 h 252"/>
                <a:gd name="T48" fmla="*/ 278 w 283"/>
                <a:gd name="T49" fmla="*/ 167 h 252"/>
                <a:gd name="T50" fmla="*/ 283 w 283"/>
                <a:gd name="T51" fmla="*/ 141 h 252"/>
                <a:gd name="T52" fmla="*/ 280 w 283"/>
                <a:gd name="T53" fmla="*/ 115 h 252"/>
                <a:gd name="T54" fmla="*/ 271 w 283"/>
                <a:gd name="T55" fmla="*/ 91 h 252"/>
                <a:gd name="T56" fmla="*/ 252 w 283"/>
                <a:gd name="T57" fmla="*/ 69 h 252"/>
                <a:gd name="T58" fmla="*/ 238 w 283"/>
                <a:gd name="T59" fmla="*/ 57 h 252"/>
                <a:gd name="T60" fmla="*/ 222 w 283"/>
                <a:gd name="T61" fmla="*/ 48 h 252"/>
                <a:gd name="T62" fmla="*/ 204 w 283"/>
                <a:gd name="T63" fmla="*/ 39 h 252"/>
                <a:gd name="T64" fmla="*/ 184 w 283"/>
                <a:gd name="T65" fmla="*/ 31 h 252"/>
                <a:gd name="T66" fmla="*/ 164 w 283"/>
                <a:gd name="T67" fmla="*/ 23 h 252"/>
                <a:gd name="T68" fmla="*/ 144 w 283"/>
                <a:gd name="T69" fmla="*/ 17 h 252"/>
                <a:gd name="T70" fmla="*/ 123 w 283"/>
                <a:gd name="T71" fmla="*/ 13 h 252"/>
                <a:gd name="T72" fmla="*/ 103 w 283"/>
                <a:gd name="T73" fmla="*/ 8 h 252"/>
                <a:gd name="T74" fmla="*/ 83 w 283"/>
                <a:gd name="T75" fmla="*/ 5 h 252"/>
                <a:gd name="T76" fmla="*/ 66 w 283"/>
                <a:gd name="T77" fmla="*/ 2 h 252"/>
                <a:gd name="T78" fmla="*/ 48 w 283"/>
                <a:gd name="T79" fmla="*/ 0 h 252"/>
                <a:gd name="T80" fmla="*/ 34 w 283"/>
                <a:gd name="T81" fmla="*/ 0 h 252"/>
                <a:gd name="T82" fmla="*/ 21 w 283"/>
                <a:gd name="T83" fmla="*/ 0 h 252"/>
                <a:gd name="T84" fmla="*/ 11 w 283"/>
                <a:gd name="T85" fmla="*/ 0 h 252"/>
                <a:gd name="T86" fmla="*/ 4 w 283"/>
                <a:gd name="T87" fmla="*/ 2 h 252"/>
                <a:gd name="T88" fmla="*/ 0 w 283"/>
                <a:gd name="T89" fmla="*/ 5 h 252"/>
                <a:gd name="T90" fmla="*/ 12 w 283"/>
                <a:gd name="T91" fmla="*/ 7 h 252"/>
                <a:gd name="T92" fmla="*/ 24 w 283"/>
                <a:gd name="T93" fmla="*/ 8 h 252"/>
                <a:gd name="T94" fmla="*/ 38 w 283"/>
                <a:gd name="T95" fmla="*/ 10 h 252"/>
                <a:gd name="T96" fmla="*/ 52 w 283"/>
                <a:gd name="T97" fmla="*/ 13 h 252"/>
                <a:gd name="T98" fmla="*/ 66 w 283"/>
                <a:gd name="T99" fmla="*/ 16 h 252"/>
                <a:gd name="T100" fmla="*/ 82 w 283"/>
                <a:gd name="T101" fmla="*/ 18 h 252"/>
                <a:gd name="T102" fmla="*/ 98 w 283"/>
                <a:gd name="T103" fmla="*/ 22 h 252"/>
                <a:gd name="T104" fmla="*/ 114 w 283"/>
                <a:gd name="T105" fmla="*/ 25 h 252"/>
                <a:gd name="T106" fmla="*/ 129 w 283"/>
                <a:gd name="T107" fmla="*/ 30 h 252"/>
                <a:gd name="T108" fmla="*/ 146 w 283"/>
                <a:gd name="T109" fmla="*/ 34 h 252"/>
                <a:gd name="T110" fmla="*/ 162 w 283"/>
                <a:gd name="T111" fmla="*/ 39 h 252"/>
                <a:gd name="T112" fmla="*/ 177 w 283"/>
                <a:gd name="T113" fmla="*/ 45 h 252"/>
                <a:gd name="T114" fmla="*/ 193 w 283"/>
                <a:gd name="T115" fmla="*/ 52 h 252"/>
                <a:gd name="T116" fmla="*/ 208 w 283"/>
                <a:gd name="T117" fmla="*/ 60 h 252"/>
                <a:gd name="T118" fmla="*/ 222 w 283"/>
                <a:gd name="T119" fmla="*/ 68 h 252"/>
                <a:gd name="T120" fmla="*/ 235 w 283"/>
                <a:gd name="T121" fmla="*/ 77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ln>
          </p:spPr>
          <p:txBody>
            <a:bodyPr/>
            <a:lstStyle/>
            <a:p>
              <a:endParaRPr lang="en-US"/>
            </a:p>
          </p:txBody>
        </p:sp>
        <p:sp>
          <p:nvSpPr>
            <p:cNvPr id="2187" name="Freeform 786"/>
            <p:cNvSpPr/>
            <p:nvPr/>
          </p:nvSpPr>
          <p:spPr bwMode="auto">
            <a:xfrm>
              <a:off x="4298" y="3153"/>
              <a:ext cx="19" cy="39"/>
            </a:xfrm>
            <a:custGeom>
              <a:avLst/>
              <a:gdLst>
                <a:gd name="T0" fmla="*/ 0 w 114"/>
                <a:gd name="T1" fmla="*/ 130 h 238"/>
                <a:gd name="T2" fmla="*/ 0 w 114"/>
                <a:gd name="T3" fmla="*/ 149 h 238"/>
                <a:gd name="T4" fmla="*/ 4 w 114"/>
                <a:gd name="T5" fmla="*/ 168 h 238"/>
                <a:gd name="T6" fmla="*/ 12 w 114"/>
                <a:gd name="T7" fmla="*/ 185 h 238"/>
                <a:gd name="T8" fmla="*/ 24 w 114"/>
                <a:gd name="T9" fmla="*/ 200 h 238"/>
                <a:gd name="T10" fmla="*/ 38 w 114"/>
                <a:gd name="T11" fmla="*/ 213 h 238"/>
                <a:gd name="T12" fmla="*/ 55 w 114"/>
                <a:gd name="T13" fmla="*/ 224 h 238"/>
                <a:gd name="T14" fmla="*/ 73 w 114"/>
                <a:gd name="T15" fmla="*/ 232 h 238"/>
                <a:gd name="T16" fmla="*/ 92 w 114"/>
                <a:gd name="T17" fmla="*/ 237 h 238"/>
                <a:gd name="T18" fmla="*/ 98 w 114"/>
                <a:gd name="T19" fmla="*/ 238 h 238"/>
                <a:gd name="T20" fmla="*/ 104 w 114"/>
                <a:gd name="T21" fmla="*/ 235 h 238"/>
                <a:gd name="T22" fmla="*/ 109 w 114"/>
                <a:gd name="T23" fmla="*/ 232 h 238"/>
                <a:gd name="T24" fmla="*/ 111 w 114"/>
                <a:gd name="T25" fmla="*/ 227 h 238"/>
                <a:gd name="T26" fmla="*/ 111 w 114"/>
                <a:gd name="T27" fmla="*/ 222 h 238"/>
                <a:gd name="T28" fmla="*/ 110 w 114"/>
                <a:gd name="T29" fmla="*/ 216 h 238"/>
                <a:gd name="T30" fmla="*/ 106 w 114"/>
                <a:gd name="T31" fmla="*/ 211 h 238"/>
                <a:gd name="T32" fmla="*/ 100 w 114"/>
                <a:gd name="T33" fmla="*/ 209 h 238"/>
                <a:gd name="T34" fmla="*/ 82 w 114"/>
                <a:gd name="T35" fmla="*/ 202 h 238"/>
                <a:gd name="T36" fmla="*/ 64 w 114"/>
                <a:gd name="T37" fmla="*/ 193 h 238"/>
                <a:gd name="T38" fmla="*/ 50 w 114"/>
                <a:gd name="T39" fmla="*/ 180 h 238"/>
                <a:gd name="T40" fmla="*/ 39 w 114"/>
                <a:gd name="T41" fmla="*/ 167 h 238"/>
                <a:gd name="T42" fmla="*/ 32 w 114"/>
                <a:gd name="T43" fmla="*/ 149 h 238"/>
                <a:gd name="T44" fmla="*/ 29 w 114"/>
                <a:gd name="T45" fmla="*/ 131 h 238"/>
                <a:gd name="T46" fmla="*/ 29 w 114"/>
                <a:gd name="T47" fmla="*/ 111 h 238"/>
                <a:gd name="T48" fmla="*/ 35 w 114"/>
                <a:gd name="T49" fmla="*/ 91 h 238"/>
                <a:gd name="T50" fmla="*/ 42 w 114"/>
                <a:gd name="T51" fmla="*/ 76 h 238"/>
                <a:gd name="T52" fmla="*/ 51 w 114"/>
                <a:gd name="T53" fmla="*/ 62 h 238"/>
                <a:gd name="T54" fmla="*/ 62 w 114"/>
                <a:gd name="T55" fmla="*/ 49 h 238"/>
                <a:gd name="T56" fmla="*/ 73 w 114"/>
                <a:gd name="T57" fmla="*/ 38 h 238"/>
                <a:gd name="T58" fmla="*/ 84 w 114"/>
                <a:gd name="T59" fmla="*/ 28 h 238"/>
                <a:gd name="T60" fmla="*/ 96 w 114"/>
                <a:gd name="T61" fmla="*/ 18 h 238"/>
                <a:gd name="T62" fmla="*/ 106 w 114"/>
                <a:gd name="T63" fmla="*/ 9 h 238"/>
                <a:gd name="T64" fmla="*/ 114 w 114"/>
                <a:gd name="T65" fmla="*/ 1 h 238"/>
                <a:gd name="T66" fmla="*/ 106 w 114"/>
                <a:gd name="T67" fmla="*/ 0 h 238"/>
                <a:gd name="T68" fmla="*/ 93 w 114"/>
                <a:gd name="T69" fmla="*/ 6 h 238"/>
                <a:gd name="T70" fmla="*/ 76 w 114"/>
                <a:gd name="T71" fmla="*/ 18 h 238"/>
                <a:gd name="T72" fmla="*/ 56 w 114"/>
                <a:gd name="T73" fmla="*/ 36 h 238"/>
                <a:gd name="T74" fmla="*/ 37 w 114"/>
                <a:gd name="T75" fmla="*/ 57 h 238"/>
                <a:gd name="T76" fmla="*/ 20 w 114"/>
                <a:gd name="T77" fmla="*/ 80 h 238"/>
                <a:gd name="T78" fmla="*/ 7 w 114"/>
                <a:gd name="T79" fmla="*/ 106 h 238"/>
                <a:gd name="T80" fmla="*/ 0 w 114"/>
                <a:gd name="T81" fmla="*/ 13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ln>
          </p:spPr>
          <p:txBody>
            <a:bodyPr/>
            <a:lstStyle/>
            <a:p>
              <a:endParaRPr lang="en-US"/>
            </a:p>
          </p:txBody>
        </p:sp>
        <p:sp>
          <p:nvSpPr>
            <p:cNvPr id="2188" name="Freeform 787"/>
            <p:cNvSpPr/>
            <p:nvPr/>
          </p:nvSpPr>
          <p:spPr bwMode="auto">
            <a:xfrm>
              <a:off x="4432" y="3130"/>
              <a:ext cx="41" cy="52"/>
            </a:xfrm>
            <a:custGeom>
              <a:avLst/>
              <a:gdLst>
                <a:gd name="T0" fmla="*/ 207 w 246"/>
                <a:gd name="T1" fmla="*/ 124 h 310"/>
                <a:gd name="T2" fmla="*/ 219 w 246"/>
                <a:gd name="T3" fmla="*/ 143 h 310"/>
                <a:gd name="T4" fmla="*/ 225 w 246"/>
                <a:gd name="T5" fmla="*/ 164 h 310"/>
                <a:gd name="T6" fmla="*/ 221 w 246"/>
                <a:gd name="T7" fmla="*/ 187 h 310"/>
                <a:gd name="T8" fmla="*/ 208 w 246"/>
                <a:gd name="T9" fmla="*/ 209 h 310"/>
                <a:gd name="T10" fmla="*/ 188 w 246"/>
                <a:gd name="T11" fmla="*/ 228 h 310"/>
                <a:gd name="T12" fmla="*/ 166 w 246"/>
                <a:gd name="T13" fmla="*/ 246 h 310"/>
                <a:gd name="T14" fmla="*/ 143 w 246"/>
                <a:gd name="T15" fmla="*/ 264 h 310"/>
                <a:gd name="T16" fmla="*/ 129 w 246"/>
                <a:gd name="T17" fmla="*/ 278 h 310"/>
                <a:gd name="T18" fmla="*/ 124 w 246"/>
                <a:gd name="T19" fmla="*/ 287 h 310"/>
                <a:gd name="T20" fmla="*/ 120 w 246"/>
                <a:gd name="T21" fmla="*/ 296 h 310"/>
                <a:gd name="T22" fmla="*/ 121 w 246"/>
                <a:gd name="T23" fmla="*/ 305 h 310"/>
                <a:gd name="T24" fmla="*/ 130 w 246"/>
                <a:gd name="T25" fmla="*/ 310 h 310"/>
                <a:gd name="T26" fmla="*/ 139 w 246"/>
                <a:gd name="T27" fmla="*/ 309 h 310"/>
                <a:gd name="T28" fmla="*/ 154 w 246"/>
                <a:gd name="T29" fmla="*/ 293 h 310"/>
                <a:gd name="T30" fmla="*/ 180 w 246"/>
                <a:gd name="T31" fmla="*/ 269 h 310"/>
                <a:gd name="T32" fmla="*/ 207 w 246"/>
                <a:gd name="T33" fmla="*/ 246 h 310"/>
                <a:gd name="T34" fmla="*/ 231 w 246"/>
                <a:gd name="T35" fmla="*/ 219 h 310"/>
                <a:gd name="T36" fmla="*/ 245 w 246"/>
                <a:gd name="T37" fmla="*/ 187 h 310"/>
                <a:gd name="T38" fmla="*/ 242 w 246"/>
                <a:gd name="T39" fmla="*/ 153 h 310"/>
                <a:gd name="T40" fmla="*/ 227 w 246"/>
                <a:gd name="T41" fmla="*/ 120 h 310"/>
                <a:gd name="T42" fmla="*/ 201 w 246"/>
                <a:gd name="T43" fmla="*/ 94 h 310"/>
                <a:gd name="T44" fmla="*/ 177 w 246"/>
                <a:gd name="T45" fmla="*/ 74 h 310"/>
                <a:gd name="T46" fmla="*/ 152 w 246"/>
                <a:gd name="T47" fmla="*/ 60 h 310"/>
                <a:gd name="T48" fmla="*/ 126 w 246"/>
                <a:gd name="T49" fmla="*/ 43 h 310"/>
                <a:gd name="T50" fmla="*/ 98 w 246"/>
                <a:gd name="T51" fmla="*/ 28 h 310"/>
                <a:gd name="T52" fmla="*/ 72 w 246"/>
                <a:gd name="T53" fmla="*/ 16 h 310"/>
                <a:gd name="T54" fmla="*/ 46 w 246"/>
                <a:gd name="T55" fmla="*/ 7 h 310"/>
                <a:gd name="T56" fmla="*/ 24 w 246"/>
                <a:gd name="T57" fmla="*/ 1 h 310"/>
                <a:gd name="T58" fmla="*/ 7 w 246"/>
                <a:gd name="T59" fmla="*/ 1 h 310"/>
                <a:gd name="T60" fmla="*/ 8 w 246"/>
                <a:gd name="T61" fmla="*/ 6 h 310"/>
                <a:gd name="T62" fmla="*/ 28 w 246"/>
                <a:gd name="T63" fmla="*/ 14 h 310"/>
                <a:gd name="T64" fmla="*/ 51 w 246"/>
                <a:gd name="T65" fmla="*/ 24 h 310"/>
                <a:gd name="T66" fmla="*/ 78 w 246"/>
                <a:gd name="T67" fmla="*/ 37 h 310"/>
                <a:gd name="T68" fmla="*/ 106 w 246"/>
                <a:gd name="T69" fmla="*/ 51 h 310"/>
                <a:gd name="T70" fmla="*/ 134 w 246"/>
                <a:gd name="T71" fmla="*/ 69 h 310"/>
                <a:gd name="T72" fmla="*/ 163 w 246"/>
                <a:gd name="T73" fmla="*/ 87 h 310"/>
                <a:gd name="T74" fmla="*/ 187 w 246"/>
                <a:gd name="T75" fmla="*/ 105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ln>
          </p:spPr>
          <p:txBody>
            <a:bodyPr/>
            <a:lstStyle/>
            <a:p>
              <a:endParaRPr lang="en-US"/>
            </a:p>
          </p:txBody>
        </p:sp>
        <p:sp>
          <p:nvSpPr>
            <p:cNvPr id="2189" name="Freeform 788"/>
            <p:cNvSpPr/>
            <p:nvPr/>
          </p:nvSpPr>
          <p:spPr bwMode="auto">
            <a:xfrm>
              <a:off x="4387" y="3191"/>
              <a:ext cx="14" cy="31"/>
            </a:xfrm>
            <a:custGeom>
              <a:avLst/>
              <a:gdLst>
                <a:gd name="T0" fmla="*/ 31 w 83"/>
                <a:gd name="T1" fmla="*/ 14 h 187"/>
                <a:gd name="T2" fmla="*/ 29 w 83"/>
                <a:gd name="T3" fmla="*/ 8 h 187"/>
                <a:gd name="T4" fmla="*/ 25 w 83"/>
                <a:gd name="T5" fmla="*/ 3 h 187"/>
                <a:gd name="T6" fmla="*/ 19 w 83"/>
                <a:gd name="T7" fmla="*/ 1 h 187"/>
                <a:gd name="T8" fmla="*/ 14 w 83"/>
                <a:gd name="T9" fmla="*/ 0 h 187"/>
                <a:gd name="T10" fmla="*/ 8 w 83"/>
                <a:gd name="T11" fmla="*/ 2 h 187"/>
                <a:gd name="T12" fmla="*/ 3 w 83"/>
                <a:gd name="T13" fmla="*/ 5 h 187"/>
                <a:gd name="T14" fmla="*/ 0 w 83"/>
                <a:gd name="T15" fmla="*/ 11 h 187"/>
                <a:gd name="T16" fmla="*/ 0 w 83"/>
                <a:gd name="T17" fmla="*/ 17 h 187"/>
                <a:gd name="T18" fmla="*/ 5 w 83"/>
                <a:gd name="T19" fmla="*/ 42 h 187"/>
                <a:gd name="T20" fmla="*/ 15 w 83"/>
                <a:gd name="T21" fmla="*/ 71 h 187"/>
                <a:gd name="T22" fmla="*/ 27 w 83"/>
                <a:gd name="T23" fmla="*/ 100 h 187"/>
                <a:gd name="T24" fmla="*/ 41 w 83"/>
                <a:gd name="T25" fmla="*/ 127 h 187"/>
                <a:gd name="T26" fmla="*/ 55 w 83"/>
                <a:gd name="T27" fmla="*/ 151 h 187"/>
                <a:gd name="T28" fmla="*/ 68 w 83"/>
                <a:gd name="T29" fmla="*/ 171 h 187"/>
                <a:gd name="T30" fmla="*/ 77 w 83"/>
                <a:gd name="T31" fmla="*/ 184 h 187"/>
                <a:gd name="T32" fmla="*/ 83 w 83"/>
                <a:gd name="T33" fmla="*/ 187 h 187"/>
                <a:gd name="T34" fmla="*/ 80 w 83"/>
                <a:gd name="T35" fmla="*/ 174 h 187"/>
                <a:gd name="T36" fmla="*/ 75 w 83"/>
                <a:gd name="T37" fmla="*/ 158 h 187"/>
                <a:gd name="T38" fmla="*/ 68 w 83"/>
                <a:gd name="T39" fmla="*/ 138 h 187"/>
                <a:gd name="T40" fmla="*/ 59 w 83"/>
                <a:gd name="T41" fmla="*/ 113 h 187"/>
                <a:gd name="T42" fmla="*/ 51 w 83"/>
                <a:gd name="T43" fmla="*/ 88 h 187"/>
                <a:gd name="T44" fmla="*/ 43 w 83"/>
                <a:gd name="T45" fmla="*/ 63 h 187"/>
                <a:gd name="T46" fmla="*/ 36 w 83"/>
                <a:gd name="T47" fmla="*/ 38 h 187"/>
                <a:gd name="T48" fmla="*/ 31 w 83"/>
                <a:gd name="T49" fmla="*/ 14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ln>
          </p:spPr>
          <p:txBody>
            <a:bodyPr/>
            <a:lstStyle/>
            <a:p>
              <a:endParaRPr lang="en-US"/>
            </a:p>
          </p:txBody>
        </p:sp>
        <p:sp>
          <p:nvSpPr>
            <p:cNvPr id="2190" name="Freeform 789"/>
            <p:cNvSpPr/>
            <p:nvPr/>
          </p:nvSpPr>
          <p:spPr bwMode="auto">
            <a:xfrm>
              <a:off x="4381" y="3174"/>
              <a:ext cx="7" cy="16"/>
            </a:xfrm>
            <a:custGeom>
              <a:avLst/>
              <a:gdLst>
                <a:gd name="T0" fmla="*/ 22 w 44"/>
                <a:gd name="T1" fmla="*/ 10 h 94"/>
                <a:gd name="T2" fmla="*/ 21 w 44"/>
                <a:gd name="T3" fmla="*/ 6 h 94"/>
                <a:gd name="T4" fmla="*/ 18 w 44"/>
                <a:gd name="T5" fmla="*/ 2 h 94"/>
                <a:gd name="T6" fmla="*/ 14 w 44"/>
                <a:gd name="T7" fmla="*/ 0 h 94"/>
                <a:gd name="T8" fmla="*/ 10 w 44"/>
                <a:gd name="T9" fmla="*/ 0 h 94"/>
                <a:gd name="T10" fmla="*/ 6 w 44"/>
                <a:gd name="T11" fmla="*/ 1 h 94"/>
                <a:gd name="T12" fmla="*/ 3 w 44"/>
                <a:gd name="T13" fmla="*/ 3 h 94"/>
                <a:gd name="T14" fmla="*/ 0 w 44"/>
                <a:gd name="T15" fmla="*/ 7 h 94"/>
                <a:gd name="T16" fmla="*/ 0 w 44"/>
                <a:gd name="T17" fmla="*/ 11 h 94"/>
                <a:gd name="T18" fmla="*/ 0 w 44"/>
                <a:gd name="T19" fmla="*/ 24 h 94"/>
                <a:gd name="T20" fmla="*/ 4 w 44"/>
                <a:gd name="T21" fmla="*/ 38 h 94"/>
                <a:gd name="T22" fmla="*/ 8 w 44"/>
                <a:gd name="T23" fmla="*/ 52 h 94"/>
                <a:gd name="T24" fmla="*/ 14 w 44"/>
                <a:gd name="T25" fmla="*/ 65 h 94"/>
                <a:gd name="T26" fmla="*/ 21 w 44"/>
                <a:gd name="T27" fmla="*/ 78 h 94"/>
                <a:gd name="T28" fmla="*/ 28 w 44"/>
                <a:gd name="T29" fmla="*/ 87 h 94"/>
                <a:gd name="T30" fmla="*/ 37 w 44"/>
                <a:gd name="T31" fmla="*/ 93 h 94"/>
                <a:gd name="T32" fmla="*/ 42 w 44"/>
                <a:gd name="T33" fmla="*/ 94 h 94"/>
                <a:gd name="T34" fmla="*/ 44 w 44"/>
                <a:gd name="T35" fmla="*/ 76 h 94"/>
                <a:gd name="T36" fmla="*/ 38 w 44"/>
                <a:gd name="T37" fmla="*/ 54 h 94"/>
                <a:gd name="T38" fmla="*/ 31 w 44"/>
                <a:gd name="T39" fmla="*/ 32 h 94"/>
                <a:gd name="T40" fmla="*/ 22 w 44"/>
                <a:gd name="T41" fmla="*/ 1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ln>
          </p:spPr>
          <p:txBody>
            <a:bodyPr/>
            <a:lstStyle/>
            <a:p>
              <a:endParaRPr lang="en-US"/>
            </a:p>
          </p:txBody>
        </p:sp>
        <p:sp>
          <p:nvSpPr>
            <p:cNvPr id="2191" name="Freeform 790"/>
            <p:cNvSpPr/>
            <p:nvPr/>
          </p:nvSpPr>
          <p:spPr bwMode="auto">
            <a:xfrm>
              <a:off x="4375" y="3163"/>
              <a:ext cx="6" cy="9"/>
            </a:xfrm>
            <a:custGeom>
              <a:avLst/>
              <a:gdLst>
                <a:gd name="T0" fmla="*/ 20 w 38"/>
                <a:gd name="T1" fmla="*/ 7 h 54"/>
                <a:gd name="T2" fmla="*/ 20 w 38"/>
                <a:gd name="T3" fmla="*/ 8 h 54"/>
                <a:gd name="T4" fmla="*/ 20 w 38"/>
                <a:gd name="T5" fmla="*/ 8 h 54"/>
                <a:gd name="T6" fmla="*/ 20 w 38"/>
                <a:gd name="T7" fmla="*/ 8 h 54"/>
                <a:gd name="T8" fmla="*/ 20 w 38"/>
                <a:gd name="T9" fmla="*/ 8 h 54"/>
                <a:gd name="T10" fmla="*/ 19 w 38"/>
                <a:gd name="T11" fmla="*/ 4 h 54"/>
                <a:gd name="T12" fmla="*/ 15 w 38"/>
                <a:gd name="T13" fmla="*/ 1 h 54"/>
                <a:gd name="T14" fmla="*/ 12 w 38"/>
                <a:gd name="T15" fmla="*/ 0 h 54"/>
                <a:gd name="T16" fmla="*/ 7 w 38"/>
                <a:gd name="T17" fmla="*/ 0 h 54"/>
                <a:gd name="T18" fmla="*/ 4 w 38"/>
                <a:gd name="T19" fmla="*/ 1 h 54"/>
                <a:gd name="T20" fmla="*/ 1 w 38"/>
                <a:gd name="T21" fmla="*/ 4 h 54"/>
                <a:gd name="T22" fmla="*/ 0 w 38"/>
                <a:gd name="T23" fmla="*/ 8 h 54"/>
                <a:gd name="T24" fmla="*/ 0 w 38"/>
                <a:gd name="T25" fmla="*/ 11 h 54"/>
                <a:gd name="T26" fmla="*/ 1 w 38"/>
                <a:gd name="T27" fmla="*/ 17 h 54"/>
                <a:gd name="T28" fmla="*/ 4 w 38"/>
                <a:gd name="T29" fmla="*/ 24 h 54"/>
                <a:gd name="T30" fmla="*/ 8 w 38"/>
                <a:gd name="T31" fmla="*/ 32 h 54"/>
                <a:gd name="T32" fmla="*/ 14 w 38"/>
                <a:gd name="T33" fmla="*/ 39 h 54"/>
                <a:gd name="T34" fmla="*/ 20 w 38"/>
                <a:gd name="T35" fmla="*/ 46 h 54"/>
                <a:gd name="T36" fmla="*/ 27 w 38"/>
                <a:gd name="T37" fmla="*/ 50 h 54"/>
                <a:gd name="T38" fmla="*/ 33 w 38"/>
                <a:gd name="T39" fmla="*/ 54 h 54"/>
                <a:gd name="T40" fmla="*/ 38 w 38"/>
                <a:gd name="T41" fmla="*/ 54 h 54"/>
                <a:gd name="T42" fmla="*/ 36 w 38"/>
                <a:gd name="T43" fmla="*/ 42 h 54"/>
                <a:gd name="T44" fmla="*/ 32 w 38"/>
                <a:gd name="T45" fmla="*/ 29 h 54"/>
                <a:gd name="T46" fmla="*/ 25 w 38"/>
                <a:gd name="T47" fmla="*/ 16 h 54"/>
                <a:gd name="T48" fmla="*/ 20 w 38"/>
                <a:gd name="T49" fmla="*/ 7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ln>
          </p:spPr>
          <p:txBody>
            <a:bodyPr/>
            <a:lstStyle/>
            <a:p>
              <a:endParaRPr lang="en-US"/>
            </a:p>
          </p:txBody>
        </p:sp>
        <p:sp>
          <p:nvSpPr>
            <p:cNvPr id="2192" name="Freeform 791"/>
            <p:cNvSpPr/>
            <p:nvPr/>
          </p:nvSpPr>
          <p:spPr bwMode="auto">
            <a:xfrm>
              <a:off x="4370" y="3155"/>
              <a:ext cx="8" cy="6"/>
            </a:xfrm>
            <a:custGeom>
              <a:avLst/>
              <a:gdLst>
                <a:gd name="T0" fmla="*/ 41 w 52"/>
                <a:gd name="T1" fmla="*/ 27 h 36"/>
                <a:gd name="T2" fmla="*/ 46 w 52"/>
                <a:gd name="T3" fmla="*/ 24 h 36"/>
                <a:gd name="T4" fmla="*/ 51 w 52"/>
                <a:gd name="T5" fmla="*/ 21 h 36"/>
                <a:gd name="T6" fmla="*/ 52 w 52"/>
                <a:gd name="T7" fmla="*/ 16 h 36"/>
                <a:gd name="T8" fmla="*/ 52 w 52"/>
                <a:gd name="T9" fmla="*/ 12 h 36"/>
                <a:gd name="T10" fmla="*/ 50 w 52"/>
                <a:gd name="T11" fmla="*/ 6 h 36"/>
                <a:gd name="T12" fmla="*/ 46 w 52"/>
                <a:gd name="T13" fmla="*/ 2 h 36"/>
                <a:gd name="T14" fmla="*/ 41 w 52"/>
                <a:gd name="T15" fmla="*/ 0 h 36"/>
                <a:gd name="T16" fmla="*/ 36 w 52"/>
                <a:gd name="T17" fmla="*/ 0 h 36"/>
                <a:gd name="T18" fmla="*/ 33 w 52"/>
                <a:gd name="T19" fmla="*/ 0 h 36"/>
                <a:gd name="T20" fmla="*/ 29 w 52"/>
                <a:gd name="T21" fmla="*/ 1 h 36"/>
                <a:gd name="T22" fmla="*/ 21 w 52"/>
                <a:gd name="T23" fmla="*/ 4 h 36"/>
                <a:gd name="T24" fmla="*/ 13 w 52"/>
                <a:gd name="T25" fmla="*/ 8 h 36"/>
                <a:gd name="T26" fmla="*/ 6 w 52"/>
                <a:gd name="T27" fmla="*/ 15 h 36"/>
                <a:gd name="T28" fmla="*/ 3 w 52"/>
                <a:gd name="T29" fmla="*/ 22 h 36"/>
                <a:gd name="T30" fmla="*/ 0 w 52"/>
                <a:gd name="T31" fmla="*/ 29 h 36"/>
                <a:gd name="T32" fmla="*/ 0 w 52"/>
                <a:gd name="T33" fmla="*/ 31 h 36"/>
                <a:gd name="T34" fmla="*/ 4 w 52"/>
                <a:gd name="T35" fmla="*/ 33 h 36"/>
                <a:gd name="T36" fmla="*/ 9 w 52"/>
                <a:gd name="T37" fmla="*/ 36 h 36"/>
                <a:gd name="T38" fmla="*/ 13 w 52"/>
                <a:gd name="T39" fmla="*/ 36 h 36"/>
                <a:gd name="T40" fmla="*/ 18 w 52"/>
                <a:gd name="T41" fmla="*/ 36 h 36"/>
                <a:gd name="T42" fmla="*/ 24 w 52"/>
                <a:gd name="T43" fmla="*/ 33 h 36"/>
                <a:gd name="T44" fmla="*/ 30 w 52"/>
                <a:gd name="T45" fmla="*/ 32 h 36"/>
                <a:gd name="T46" fmla="*/ 36 w 52"/>
                <a:gd name="T47" fmla="*/ 30 h 36"/>
                <a:gd name="T48" fmla="*/ 41 w 52"/>
                <a:gd name="T49" fmla="*/ 27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ln>
          </p:spPr>
          <p:txBody>
            <a:bodyPr/>
            <a:lstStyle/>
            <a:p>
              <a:endParaRPr lang="en-US"/>
            </a:p>
          </p:txBody>
        </p:sp>
        <p:sp>
          <p:nvSpPr>
            <p:cNvPr id="8" name="Freeform 792"/>
            <p:cNvSpPr/>
            <p:nvPr/>
          </p:nvSpPr>
          <p:spPr bwMode="auto">
            <a:xfrm>
              <a:off x="4330" y="3145"/>
              <a:ext cx="33" cy="39"/>
            </a:xfrm>
            <a:custGeom>
              <a:avLst/>
              <a:gdLst>
                <a:gd name="T0" fmla="*/ 73 w 198"/>
                <a:gd name="T1" fmla="*/ 36 h 236"/>
                <a:gd name="T2" fmla="*/ 58 w 198"/>
                <a:gd name="T3" fmla="*/ 46 h 236"/>
                <a:gd name="T4" fmla="*/ 46 w 198"/>
                <a:gd name="T5" fmla="*/ 58 h 236"/>
                <a:gd name="T6" fmla="*/ 33 w 198"/>
                <a:gd name="T7" fmla="*/ 72 h 236"/>
                <a:gd name="T8" fmla="*/ 22 w 198"/>
                <a:gd name="T9" fmla="*/ 85 h 236"/>
                <a:gd name="T10" fmla="*/ 14 w 198"/>
                <a:gd name="T11" fmla="*/ 100 h 236"/>
                <a:gd name="T12" fmla="*/ 7 w 198"/>
                <a:gd name="T13" fmla="*/ 115 h 236"/>
                <a:gd name="T14" fmla="*/ 2 w 198"/>
                <a:gd name="T15" fmla="*/ 130 h 236"/>
                <a:gd name="T16" fmla="*/ 0 w 198"/>
                <a:gd name="T17" fmla="*/ 146 h 236"/>
                <a:gd name="T18" fmla="*/ 2 w 198"/>
                <a:gd name="T19" fmla="*/ 170 h 236"/>
                <a:gd name="T20" fmla="*/ 12 w 198"/>
                <a:gd name="T21" fmla="*/ 190 h 236"/>
                <a:gd name="T22" fmla="*/ 26 w 198"/>
                <a:gd name="T23" fmla="*/ 207 h 236"/>
                <a:gd name="T24" fmla="*/ 43 w 198"/>
                <a:gd name="T25" fmla="*/ 220 h 236"/>
                <a:gd name="T26" fmla="*/ 64 w 198"/>
                <a:gd name="T27" fmla="*/ 229 h 236"/>
                <a:gd name="T28" fmla="*/ 88 w 198"/>
                <a:gd name="T29" fmla="*/ 235 h 236"/>
                <a:gd name="T30" fmla="*/ 110 w 198"/>
                <a:gd name="T31" fmla="*/ 236 h 236"/>
                <a:gd name="T32" fmla="*/ 132 w 198"/>
                <a:gd name="T33" fmla="*/ 232 h 236"/>
                <a:gd name="T34" fmla="*/ 137 w 198"/>
                <a:gd name="T35" fmla="*/ 232 h 236"/>
                <a:gd name="T36" fmla="*/ 142 w 198"/>
                <a:gd name="T37" fmla="*/ 230 h 236"/>
                <a:gd name="T38" fmla="*/ 145 w 198"/>
                <a:gd name="T39" fmla="*/ 226 h 236"/>
                <a:gd name="T40" fmla="*/ 146 w 198"/>
                <a:gd name="T41" fmla="*/ 221 h 236"/>
                <a:gd name="T42" fmla="*/ 145 w 198"/>
                <a:gd name="T43" fmla="*/ 219 h 236"/>
                <a:gd name="T44" fmla="*/ 142 w 198"/>
                <a:gd name="T45" fmla="*/ 219 h 236"/>
                <a:gd name="T46" fmla="*/ 137 w 198"/>
                <a:gd name="T47" fmla="*/ 217 h 236"/>
                <a:gd name="T48" fmla="*/ 131 w 198"/>
                <a:gd name="T49" fmla="*/ 217 h 236"/>
                <a:gd name="T50" fmla="*/ 124 w 198"/>
                <a:gd name="T51" fmla="*/ 217 h 236"/>
                <a:gd name="T52" fmla="*/ 118 w 198"/>
                <a:gd name="T53" fmla="*/ 217 h 236"/>
                <a:gd name="T54" fmla="*/ 112 w 198"/>
                <a:gd name="T55" fmla="*/ 217 h 236"/>
                <a:gd name="T56" fmla="*/ 109 w 198"/>
                <a:gd name="T57" fmla="*/ 217 h 236"/>
                <a:gd name="T58" fmla="*/ 97 w 198"/>
                <a:gd name="T59" fmla="*/ 216 h 236"/>
                <a:gd name="T60" fmla="*/ 87 w 198"/>
                <a:gd name="T61" fmla="*/ 215 h 236"/>
                <a:gd name="T62" fmla="*/ 75 w 198"/>
                <a:gd name="T63" fmla="*/ 214 h 236"/>
                <a:gd name="T64" fmla="*/ 63 w 198"/>
                <a:gd name="T65" fmla="*/ 211 h 236"/>
                <a:gd name="T66" fmla="*/ 51 w 198"/>
                <a:gd name="T67" fmla="*/ 207 h 236"/>
                <a:gd name="T68" fmla="*/ 40 w 198"/>
                <a:gd name="T69" fmla="*/ 199 h 236"/>
                <a:gd name="T70" fmla="*/ 29 w 198"/>
                <a:gd name="T71" fmla="*/ 189 h 236"/>
                <a:gd name="T72" fmla="*/ 17 w 198"/>
                <a:gd name="T73" fmla="*/ 174 h 236"/>
                <a:gd name="T74" fmla="*/ 15 w 198"/>
                <a:gd name="T75" fmla="*/ 157 h 236"/>
                <a:gd name="T76" fmla="*/ 16 w 198"/>
                <a:gd name="T77" fmla="*/ 141 h 236"/>
                <a:gd name="T78" fmla="*/ 21 w 198"/>
                <a:gd name="T79" fmla="*/ 124 h 236"/>
                <a:gd name="T80" fmla="*/ 28 w 198"/>
                <a:gd name="T81" fmla="*/ 109 h 236"/>
                <a:gd name="T82" fmla="*/ 39 w 198"/>
                <a:gd name="T83" fmla="*/ 96 h 236"/>
                <a:gd name="T84" fmla="*/ 50 w 198"/>
                <a:gd name="T85" fmla="*/ 82 h 236"/>
                <a:gd name="T86" fmla="*/ 63 w 198"/>
                <a:gd name="T87" fmla="*/ 70 h 236"/>
                <a:gd name="T88" fmla="*/ 78 w 198"/>
                <a:gd name="T89" fmla="*/ 59 h 236"/>
                <a:gd name="T90" fmla="*/ 94 w 198"/>
                <a:gd name="T91" fmla="*/ 49 h 236"/>
                <a:gd name="T92" fmla="*/ 110 w 198"/>
                <a:gd name="T93" fmla="*/ 39 h 236"/>
                <a:gd name="T94" fmla="*/ 126 w 198"/>
                <a:gd name="T95" fmla="*/ 31 h 236"/>
                <a:gd name="T96" fmla="*/ 142 w 198"/>
                <a:gd name="T97" fmla="*/ 24 h 236"/>
                <a:gd name="T98" fmla="*/ 158 w 198"/>
                <a:gd name="T99" fmla="*/ 19 h 236"/>
                <a:gd name="T100" fmla="*/ 172 w 198"/>
                <a:gd name="T101" fmla="*/ 13 h 236"/>
                <a:gd name="T102" fmla="*/ 186 w 198"/>
                <a:gd name="T103" fmla="*/ 10 h 236"/>
                <a:gd name="T104" fmla="*/ 198 w 198"/>
                <a:gd name="T105" fmla="*/ 7 h 236"/>
                <a:gd name="T106" fmla="*/ 190 w 198"/>
                <a:gd name="T107" fmla="*/ 3 h 236"/>
                <a:gd name="T108" fmla="*/ 177 w 198"/>
                <a:gd name="T109" fmla="*/ 0 h 236"/>
                <a:gd name="T110" fmla="*/ 162 w 198"/>
                <a:gd name="T111" fmla="*/ 3 h 236"/>
                <a:gd name="T112" fmla="*/ 144 w 198"/>
                <a:gd name="T113" fmla="*/ 6 h 236"/>
                <a:gd name="T114" fmla="*/ 124 w 198"/>
                <a:gd name="T115" fmla="*/ 12 h 236"/>
                <a:gd name="T116" fmla="*/ 105 w 198"/>
                <a:gd name="T117" fmla="*/ 19 h 236"/>
                <a:gd name="T118" fmla="*/ 88 w 198"/>
                <a:gd name="T119" fmla="*/ 28 h 236"/>
                <a:gd name="T120" fmla="*/ 73 w 198"/>
                <a:gd name="T121" fmla="*/ 3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en-US"/>
            </a:p>
          </p:txBody>
        </p:sp>
        <p:sp>
          <p:nvSpPr>
            <p:cNvPr id="9" name="Freeform 793"/>
            <p:cNvSpPr/>
            <p:nvPr/>
          </p:nvSpPr>
          <p:spPr bwMode="auto">
            <a:xfrm>
              <a:off x="4386" y="3145"/>
              <a:ext cx="22" cy="30"/>
            </a:xfrm>
            <a:custGeom>
              <a:avLst/>
              <a:gdLst>
                <a:gd name="T0" fmla="*/ 108 w 128"/>
                <a:gd name="T1" fmla="*/ 61 h 183"/>
                <a:gd name="T2" fmla="*/ 111 w 128"/>
                <a:gd name="T3" fmla="*/ 80 h 183"/>
                <a:gd name="T4" fmla="*/ 109 w 128"/>
                <a:gd name="T5" fmla="*/ 97 h 183"/>
                <a:gd name="T6" fmla="*/ 101 w 128"/>
                <a:gd name="T7" fmla="*/ 110 h 183"/>
                <a:gd name="T8" fmla="*/ 89 w 128"/>
                <a:gd name="T9" fmla="*/ 123 h 183"/>
                <a:gd name="T10" fmla="*/ 75 w 128"/>
                <a:gd name="T11" fmla="*/ 134 h 183"/>
                <a:gd name="T12" fmla="*/ 60 w 128"/>
                <a:gd name="T13" fmla="*/ 145 h 183"/>
                <a:gd name="T14" fmla="*/ 43 w 128"/>
                <a:gd name="T15" fmla="*/ 156 h 183"/>
                <a:gd name="T16" fmla="*/ 29 w 128"/>
                <a:gd name="T17" fmla="*/ 167 h 183"/>
                <a:gd name="T18" fmla="*/ 27 w 128"/>
                <a:gd name="T19" fmla="*/ 170 h 183"/>
                <a:gd name="T20" fmla="*/ 26 w 128"/>
                <a:gd name="T21" fmla="*/ 172 h 183"/>
                <a:gd name="T22" fmla="*/ 26 w 128"/>
                <a:gd name="T23" fmla="*/ 176 h 183"/>
                <a:gd name="T24" fmla="*/ 28 w 128"/>
                <a:gd name="T25" fmla="*/ 179 h 183"/>
                <a:gd name="T26" fmla="*/ 30 w 128"/>
                <a:gd name="T27" fmla="*/ 182 h 183"/>
                <a:gd name="T28" fmla="*/ 34 w 128"/>
                <a:gd name="T29" fmla="*/ 183 h 183"/>
                <a:gd name="T30" fmla="*/ 37 w 128"/>
                <a:gd name="T31" fmla="*/ 183 h 183"/>
                <a:gd name="T32" fmla="*/ 41 w 128"/>
                <a:gd name="T33" fmla="*/ 182 h 183"/>
                <a:gd name="T34" fmla="*/ 58 w 128"/>
                <a:gd name="T35" fmla="*/ 171 h 183"/>
                <a:gd name="T36" fmla="*/ 76 w 128"/>
                <a:gd name="T37" fmla="*/ 160 h 183"/>
                <a:gd name="T38" fmla="*/ 92 w 128"/>
                <a:gd name="T39" fmla="*/ 147 h 183"/>
                <a:gd name="T40" fmla="*/ 108 w 128"/>
                <a:gd name="T41" fmla="*/ 132 h 183"/>
                <a:gd name="T42" fmla="*/ 118 w 128"/>
                <a:gd name="T43" fmla="*/ 116 h 183"/>
                <a:gd name="T44" fmla="*/ 125 w 128"/>
                <a:gd name="T45" fmla="*/ 98 h 183"/>
                <a:gd name="T46" fmla="*/ 128 w 128"/>
                <a:gd name="T47" fmla="*/ 78 h 183"/>
                <a:gd name="T48" fmla="*/ 123 w 128"/>
                <a:gd name="T49" fmla="*/ 58 h 183"/>
                <a:gd name="T50" fmla="*/ 112 w 128"/>
                <a:gd name="T51" fmla="*/ 41 h 183"/>
                <a:gd name="T52" fmla="*/ 98 w 128"/>
                <a:gd name="T53" fmla="*/ 28 h 183"/>
                <a:gd name="T54" fmla="*/ 80 w 128"/>
                <a:gd name="T55" fmla="*/ 16 h 183"/>
                <a:gd name="T56" fmla="*/ 61 w 128"/>
                <a:gd name="T57" fmla="*/ 8 h 183"/>
                <a:gd name="T58" fmla="*/ 41 w 128"/>
                <a:gd name="T59" fmla="*/ 2 h 183"/>
                <a:gd name="T60" fmla="*/ 23 w 128"/>
                <a:gd name="T61" fmla="*/ 0 h 183"/>
                <a:gd name="T62" fmla="*/ 9 w 128"/>
                <a:gd name="T63" fmla="*/ 1 h 183"/>
                <a:gd name="T64" fmla="*/ 0 w 128"/>
                <a:gd name="T65" fmla="*/ 6 h 183"/>
                <a:gd name="T66" fmla="*/ 16 w 128"/>
                <a:gd name="T67" fmla="*/ 10 h 183"/>
                <a:gd name="T68" fmla="*/ 33 w 128"/>
                <a:gd name="T69" fmla="*/ 14 h 183"/>
                <a:gd name="T70" fmla="*/ 48 w 128"/>
                <a:gd name="T71" fmla="*/ 17 h 183"/>
                <a:gd name="T72" fmla="*/ 63 w 128"/>
                <a:gd name="T73" fmla="*/ 22 h 183"/>
                <a:gd name="T74" fmla="*/ 77 w 128"/>
                <a:gd name="T75" fmla="*/ 28 h 183"/>
                <a:gd name="T76" fmla="*/ 90 w 128"/>
                <a:gd name="T77" fmla="*/ 36 h 183"/>
                <a:gd name="T78" fmla="*/ 101 w 128"/>
                <a:gd name="T79" fmla="*/ 46 h 183"/>
                <a:gd name="T80" fmla="*/ 108 w 128"/>
                <a:gd name="T81" fmla="*/ 61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en-US"/>
            </a:p>
          </p:txBody>
        </p:sp>
        <p:sp>
          <p:nvSpPr>
            <p:cNvPr id="10" name="Freeform 794"/>
            <p:cNvSpPr/>
            <p:nvPr/>
          </p:nvSpPr>
          <p:spPr bwMode="auto">
            <a:xfrm>
              <a:off x="4309" y="3138"/>
              <a:ext cx="53" cy="63"/>
            </a:xfrm>
            <a:custGeom>
              <a:avLst/>
              <a:gdLst>
                <a:gd name="T0" fmla="*/ 101 w 323"/>
                <a:gd name="T1" fmla="*/ 70 h 379"/>
                <a:gd name="T2" fmla="*/ 54 w 323"/>
                <a:gd name="T3" fmla="*/ 115 h 379"/>
                <a:gd name="T4" fmla="*/ 18 w 323"/>
                <a:gd name="T5" fmla="*/ 167 h 379"/>
                <a:gd name="T6" fmla="*/ 0 w 323"/>
                <a:gd name="T7" fmla="*/ 227 h 379"/>
                <a:gd name="T8" fmla="*/ 4 w 323"/>
                <a:gd name="T9" fmla="*/ 267 h 379"/>
                <a:gd name="T10" fmla="*/ 11 w 323"/>
                <a:gd name="T11" fmla="*/ 283 h 379"/>
                <a:gd name="T12" fmla="*/ 21 w 323"/>
                <a:gd name="T13" fmla="*/ 298 h 379"/>
                <a:gd name="T14" fmla="*/ 34 w 323"/>
                <a:gd name="T15" fmla="*/ 311 h 379"/>
                <a:gd name="T16" fmla="*/ 57 w 323"/>
                <a:gd name="T17" fmla="*/ 325 h 379"/>
                <a:gd name="T18" fmla="*/ 87 w 323"/>
                <a:gd name="T19" fmla="*/ 340 h 379"/>
                <a:gd name="T20" fmla="*/ 120 w 323"/>
                <a:gd name="T21" fmla="*/ 351 h 379"/>
                <a:gd name="T22" fmla="*/ 153 w 323"/>
                <a:gd name="T23" fmla="*/ 360 h 379"/>
                <a:gd name="T24" fmla="*/ 187 w 323"/>
                <a:gd name="T25" fmla="*/ 367 h 379"/>
                <a:gd name="T26" fmla="*/ 221 w 323"/>
                <a:gd name="T27" fmla="*/ 372 h 379"/>
                <a:gd name="T28" fmla="*/ 256 w 323"/>
                <a:gd name="T29" fmla="*/ 375 h 379"/>
                <a:gd name="T30" fmla="*/ 290 w 323"/>
                <a:gd name="T31" fmla="*/ 378 h 379"/>
                <a:gd name="T32" fmla="*/ 312 w 323"/>
                <a:gd name="T33" fmla="*/ 379 h 379"/>
                <a:gd name="T34" fmla="*/ 320 w 323"/>
                <a:gd name="T35" fmla="*/ 372 h 379"/>
                <a:gd name="T36" fmla="*/ 323 w 323"/>
                <a:gd name="T37" fmla="*/ 360 h 379"/>
                <a:gd name="T38" fmla="*/ 316 w 323"/>
                <a:gd name="T39" fmla="*/ 352 h 379"/>
                <a:gd name="T40" fmla="*/ 295 w 323"/>
                <a:gd name="T41" fmla="*/ 351 h 379"/>
                <a:gd name="T42" fmla="*/ 263 w 323"/>
                <a:gd name="T43" fmla="*/ 350 h 379"/>
                <a:gd name="T44" fmla="*/ 231 w 323"/>
                <a:gd name="T45" fmla="*/ 348 h 379"/>
                <a:gd name="T46" fmla="*/ 200 w 323"/>
                <a:gd name="T47" fmla="*/ 343 h 379"/>
                <a:gd name="T48" fmla="*/ 168 w 323"/>
                <a:gd name="T49" fmla="*/ 337 h 379"/>
                <a:gd name="T50" fmla="*/ 136 w 323"/>
                <a:gd name="T51" fmla="*/ 329 h 379"/>
                <a:gd name="T52" fmla="*/ 106 w 323"/>
                <a:gd name="T53" fmla="*/ 320 h 379"/>
                <a:gd name="T54" fmla="*/ 76 w 323"/>
                <a:gd name="T55" fmla="*/ 306 h 379"/>
                <a:gd name="T56" fmla="*/ 51 w 323"/>
                <a:gd name="T57" fmla="*/ 291 h 379"/>
                <a:gd name="T58" fmla="*/ 35 w 323"/>
                <a:gd name="T59" fmla="*/ 269 h 379"/>
                <a:gd name="T60" fmla="*/ 31 w 323"/>
                <a:gd name="T61" fmla="*/ 239 h 379"/>
                <a:gd name="T62" fmla="*/ 38 w 323"/>
                <a:gd name="T63" fmla="*/ 197 h 379"/>
                <a:gd name="T64" fmla="*/ 51 w 323"/>
                <a:gd name="T65" fmla="*/ 165 h 379"/>
                <a:gd name="T66" fmla="*/ 68 w 323"/>
                <a:gd name="T67" fmla="*/ 136 h 379"/>
                <a:gd name="T68" fmla="*/ 89 w 323"/>
                <a:gd name="T69" fmla="*/ 111 h 379"/>
                <a:gd name="T70" fmla="*/ 114 w 323"/>
                <a:gd name="T71" fmla="*/ 88 h 379"/>
                <a:gd name="T72" fmla="*/ 144 w 323"/>
                <a:gd name="T73" fmla="*/ 64 h 379"/>
                <a:gd name="T74" fmla="*/ 181 w 323"/>
                <a:gd name="T75" fmla="*/ 41 h 379"/>
                <a:gd name="T76" fmla="*/ 219 w 323"/>
                <a:gd name="T77" fmla="*/ 22 h 379"/>
                <a:gd name="T78" fmla="*/ 253 w 323"/>
                <a:gd name="T79" fmla="*/ 7 h 379"/>
                <a:gd name="T80" fmla="*/ 255 w 323"/>
                <a:gd name="T81" fmla="*/ 0 h 379"/>
                <a:gd name="T82" fmla="*/ 221 w 323"/>
                <a:gd name="T83" fmla="*/ 5 h 379"/>
                <a:gd name="T84" fmla="*/ 181 w 323"/>
                <a:gd name="T85" fmla="*/ 19 h 379"/>
                <a:gd name="T86" fmla="*/ 142 w 323"/>
                <a:gd name="T87" fmla="*/ 39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en-US"/>
            </a:p>
          </p:txBody>
        </p:sp>
        <p:sp>
          <p:nvSpPr>
            <p:cNvPr id="11" name="Freeform 795"/>
            <p:cNvSpPr/>
            <p:nvPr/>
          </p:nvSpPr>
          <p:spPr bwMode="auto">
            <a:xfrm>
              <a:off x="4384" y="3136"/>
              <a:ext cx="47" cy="42"/>
            </a:xfrm>
            <a:custGeom>
              <a:avLst/>
              <a:gdLst>
                <a:gd name="T0" fmla="*/ 235 w 282"/>
                <a:gd name="T1" fmla="*/ 78 h 253"/>
                <a:gd name="T2" fmla="*/ 248 w 282"/>
                <a:gd name="T3" fmla="*/ 92 h 253"/>
                <a:gd name="T4" fmla="*/ 255 w 282"/>
                <a:gd name="T5" fmla="*/ 108 h 253"/>
                <a:gd name="T6" fmla="*/ 259 w 282"/>
                <a:gd name="T7" fmla="*/ 125 h 253"/>
                <a:gd name="T8" fmla="*/ 259 w 282"/>
                <a:gd name="T9" fmla="*/ 144 h 253"/>
                <a:gd name="T10" fmla="*/ 257 w 282"/>
                <a:gd name="T11" fmla="*/ 159 h 253"/>
                <a:gd name="T12" fmla="*/ 252 w 282"/>
                <a:gd name="T13" fmla="*/ 171 h 253"/>
                <a:gd name="T14" fmla="*/ 244 w 282"/>
                <a:gd name="T15" fmla="*/ 184 h 253"/>
                <a:gd name="T16" fmla="*/ 236 w 282"/>
                <a:gd name="T17" fmla="*/ 194 h 253"/>
                <a:gd name="T18" fmla="*/ 225 w 282"/>
                <a:gd name="T19" fmla="*/ 206 h 253"/>
                <a:gd name="T20" fmla="*/ 215 w 282"/>
                <a:gd name="T21" fmla="*/ 215 h 253"/>
                <a:gd name="T22" fmla="*/ 204 w 282"/>
                <a:gd name="T23" fmla="*/ 225 h 253"/>
                <a:gd name="T24" fmla="*/ 194 w 282"/>
                <a:gd name="T25" fmla="*/ 236 h 253"/>
                <a:gd name="T26" fmla="*/ 191 w 282"/>
                <a:gd name="T27" fmla="*/ 239 h 253"/>
                <a:gd name="T28" fmla="*/ 190 w 282"/>
                <a:gd name="T29" fmla="*/ 242 h 253"/>
                <a:gd name="T30" fmla="*/ 191 w 282"/>
                <a:gd name="T31" fmla="*/ 246 h 253"/>
                <a:gd name="T32" fmla="*/ 194 w 282"/>
                <a:gd name="T33" fmla="*/ 249 h 253"/>
                <a:gd name="T34" fmla="*/ 197 w 282"/>
                <a:gd name="T35" fmla="*/ 252 h 253"/>
                <a:gd name="T36" fmla="*/ 201 w 282"/>
                <a:gd name="T37" fmla="*/ 253 h 253"/>
                <a:gd name="T38" fmla="*/ 205 w 282"/>
                <a:gd name="T39" fmla="*/ 252 h 253"/>
                <a:gd name="T40" fmla="*/ 209 w 282"/>
                <a:gd name="T41" fmla="*/ 249 h 253"/>
                <a:gd name="T42" fmla="*/ 232 w 282"/>
                <a:gd name="T43" fmla="*/ 234 h 253"/>
                <a:gd name="T44" fmla="*/ 251 w 282"/>
                <a:gd name="T45" fmla="*/ 215 h 253"/>
                <a:gd name="T46" fmla="*/ 267 w 282"/>
                <a:gd name="T47" fmla="*/ 192 h 253"/>
                <a:gd name="T48" fmla="*/ 278 w 282"/>
                <a:gd name="T49" fmla="*/ 168 h 253"/>
                <a:gd name="T50" fmla="*/ 282 w 282"/>
                <a:gd name="T51" fmla="*/ 141 h 253"/>
                <a:gd name="T52" fmla="*/ 279 w 282"/>
                <a:gd name="T53" fmla="*/ 116 h 253"/>
                <a:gd name="T54" fmla="*/ 270 w 282"/>
                <a:gd name="T55" fmla="*/ 92 h 253"/>
                <a:gd name="T56" fmla="*/ 251 w 282"/>
                <a:gd name="T57" fmla="*/ 70 h 253"/>
                <a:gd name="T58" fmla="*/ 237 w 282"/>
                <a:gd name="T59" fmla="*/ 59 h 253"/>
                <a:gd name="T60" fmla="*/ 221 w 282"/>
                <a:gd name="T61" fmla="*/ 48 h 253"/>
                <a:gd name="T62" fmla="*/ 202 w 282"/>
                <a:gd name="T63" fmla="*/ 39 h 253"/>
                <a:gd name="T64" fmla="*/ 183 w 282"/>
                <a:gd name="T65" fmla="*/ 31 h 253"/>
                <a:gd name="T66" fmla="*/ 163 w 282"/>
                <a:gd name="T67" fmla="*/ 24 h 253"/>
                <a:gd name="T68" fmla="*/ 142 w 282"/>
                <a:gd name="T69" fmla="*/ 18 h 253"/>
                <a:gd name="T70" fmla="*/ 122 w 282"/>
                <a:gd name="T71" fmla="*/ 13 h 253"/>
                <a:gd name="T72" fmla="*/ 101 w 282"/>
                <a:gd name="T73" fmla="*/ 8 h 253"/>
                <a:gd name="T74" fmla="*/ 82 w 282"/>
                <a:gd name="T75" fmla="*/ 5 h 253"/>
                <a:gd name="T76" fmla="*/ 63 w 282"/>
                <a:gd name="T77" fmla="*/ 2 h 253"/>
                <a:gd name="T78" fmla="*/ 47 w 282"/>
                <a:gd name="T79" fmla="*/ 0 h 253"/>
                <a:gd name="T80" fmla="*/ 32 w 282"/>
                <a:gd name="T81" fmla="*/ 0 h 253"/>
                <a:gd name="T82" fmla="*/ 19 w 282"/>
                <a:gd name="T83" fmla="*/ 0 h 253"/>
                <a:gd name="T84" fmla="*/ 10 w 282"/>
                <a:gd name="T85" fmla="*/ 1 h 253"/>
                <a:gd name="T86" fmla="*/ 4 w 282"/>
                <a:gd name="T87" fmla="*/ 4 h 253"/>
                <a:gd name="T88" fmla="*/ 0 w 282"/>
                <a:gd name="T89" fmla="*/ 6 h 253"/>
                <a:gd name="T90" fmla="*/ 12 w 282"/>
                <a:gd name="T91" fmla="*/ 8 h 253"/>
                <a:gd name="T92" fmla="*/ 25 w 282"/>
                <a:gd name="T93" fmla="*/ 9 h 253"/>
                <a:gd name="T94" fmla="*/ 38 w 282"/>
                <a:gd name="T95" fmla="*/ 12 h 253"/>
                <a:gd name="T96" fmla="*/ 52 w 282"/>
                <a:gd name="T97" fmla="*/ 14 h 253"/>
                <a:gd name="T98" fmla="*/ 67 w 282"/>
                <a:gd name="T99" fmla="*/ 16 h 253"/>
                <a:gd name="T100" fmla="*/ 82 w 282"/>
                <a:gd name="T101" fmla="*/ 18 h 253"/>
                <a:gd name="T102" fmla="*/ 97 w 282"/>
                <a:gd name="T103" fmla="*/ 22 h 253"/>
                <a:gd name="T104" fmla="*/ 114 w 282"/>
                <a:gd name="T105" fmla="*/ 25 h 253"/>
                <a:gd name="T106" fmla="*/ 129 w 282"/>
                <a:gd name="T107" fmla="*/ 30 h 253"/>
                <a:gd name="T108" fmla="*/ 146 w 282"/>
                <a:gd name="T109" fmla="*/ 35 h 253"/>
                <a:gd name="T110" fmla="*/ 162 w 282"/>
                <a:gd name="T111" fmla="*/ 40 h 253"/>
                <a:gd name="T112" fmla="*/ 177 w 282"/>
                <a:gd name="T113" fmla="*/ 46 h 253"/>
                <a:gd name="T114" fmla="*/ 192 w 282"/>
                <a:gd name="T115" fmla="*/ 53 h 253"/>
                <a:gd name="T116" fmla="*/ 208 w 282"/>
                <a:gd name="T117" fmla="*/ 60 h 253"/>
                <a:gd name="T118" fmla="*/ 222 w 282"/>
                <a:gd name="T119" fmla="*/ 69 h 253"/>
                <a:gd name="T120" fmla="*/ 235 w 282"/>
                <a:gd name="T121" fmla="*/ 7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en-US"/>
            </a:p>
          </p:txBody>
        </p:sp>
        <p:sp>
          <p:nvSpPr>
            <p:cNvPr id="12" name="Freeform 796"/>
            <p:cNvSpPr/>
            <p:nvPr/>
          </p:nvSpPr>
          <p:spPr bwMode="auto">
            <a:xfrm>
              <a:off x="4290" y="3159"/>
              <a:ext cx="19" cy="39"/>
            </a:xfrm>
            <a:custGeom>
              <a:avLst/>
              <a:gdLst>
                <a:gd name="T0" fmla="*/ 0 w 115"/>
                <a:gd name="T1" fmla="*/ 128 h 236"/>
                <a:gd name="T2" fmla="*/ 0 w 115"/>
                <a:gd name="T3" fmla="*/ 148 h 236"/>
                <a:gd name="T4" fmla="*/ 5 w 115"/>
                <a:gd name="T5" fmla="*/ 166 h 236"/>
                <a:gd name="T6" fmla="*/ 13 w 115"/>
                <a:gd name="T7" fmla="*/ 184 h 236"/>
                <a:gd name="T8" fmla="*/ 24 w 115"/>
                <a:gd name="T9" fmla="*/ 198 h 236"/>
                <a:gd name="T10" fmla="*/ 39 w 115"/>
                <a:gd name="T11" fmla="*/ 211 h 236"/>
                <a:gd name="T12" fmla="*/ 55 w 115"/>
                <a:gd name="T13" fmla="*/ 223 h 236"/>
                <a:gd name="T14" fmla="*/ 74 w 115"/>
                <a:gd name="T15" fmla="*/ 231 h 236"/>
                <a:gd name="T16" fmla="*/ 92 w 115"/>
                <a:gd name="T17" fmla="*/ 235 h 236"/>
                <a:gd name="T18" fmla="*/ 98 w 115"/>
                <a:gd name="T19" fmla="*/ 236 h 236"/>
                <a:gd name="T20" fmla="*/ 104 w 115"/>
                <a:gd name="T21" fmla="*/ 234 h 236"/>
                <a:gd name="T22" fmla="*/ 109 w 115"/>
                <a:gd name="T23" fmla="*/ 231 h 236"/>
                <a:gd name="T24" fmla="*/ 111 w 115"/>
                <a:gd name="T25" fmla="*/ 226 h 236"/>
                <a:gd name="T26" fmla="*/ 111 w 115"/>
                <a:gd name="T27" fmla="*/ 220 h 236"/>
                <a:gd name="T28" fmla="*/ 110 w 115"/>
                <a:gd name="T29" fmla="*/ 215 h 236"/>
                <a:gd name="T30" fmla="*/ 107 w 115"/>
                <a:gd name="T31" fmla="*/ 210 h 236"/>
                <a:gd name="T32" fmla="*/ 101 w 115"/>
                <a:gd name="T33" fmla="*/ 208 h 236"/>
                <a:gd name="T34" fmla="*/ 82 w 115"/>
                <a:gd name="T35" fmla="*/ 201 h 236"/>
                <a:gd name="T36" fmla="*/ 64 w 115"/>
                <a:gd name="T37" fmla="*/ 192 h 236"/>
                <a:gd name="T38" fmla="*/ 50 w 115"/>
                <a:gd name="T39" fmla="*/ 179 h 236"/>
                <a:gd name="T40" fmla="*/ 40 w 115"/>
                <a:gd name="T41" fmla="*/ 165 h 236"/>
                <a:gd name="T42" fmla="*/ 33 w 115"/>
                <a:gd name="T43" fmla="*/ 148 h 236"/>
                <a:gd name="T44" fmla="*/ 29 w 115"/>
                <a:gd name="T45" fmla="*/ 130 h 236"/>
                <a:gd name="T46" fmla="*/ 29 w 115"/>
                <a:gd name="T47" fmla="*/ 110 h 236"/>
                <a:gd name="T48" fmla="*/ 35 w 115"/>
                <a:gd name="T49" fmla="*/ 89 h 236"/>
                <a:gd name="T50" fmla="*/ 43 w 115"/>
                <a:gd name="T51" fmla="*/ 74 h 236"/>
                <a:gd name="T52" fmla="*/ 56 w 115"/>
                <a:gd name="T53" fmla="*/ 60 h 236"/>
                <a:gd name="T54" fmla="*/ 70 w 115"/>
                <a:gd name="T55" fmla="*/ 46 h 236"/>
                <a:gd name="T56" fmla="*/ 85 w 115"/>
                <a:gd name="T57" fmla="*/ 33 h 236"/>
                <a:gd name="T58" fmla="*/ 98 w 115"/>
                <a:gd name="T59" fmla="*/ 23 h 236"/>
                <a:gd name="T60" fmla="*/ 109 w 115"/>
                <a:gd name="T61" fmla="*/ 12 h 236"/>
                <a:gd name="T62" fmla="*/ 115 w 115"/>
                <a:gd name="T63" fmla="*/ 6 h 236"/>
                <a:gd name="T64" fmla="*/ 115 w 115"/>
                <a:gd name="T65" fmla="*/ 0 h 236"/>
                <a:gd name="T66" fmla="*/ 102 w 115"/>
                <a:gd name="T67" fmla="*/ 4 h 236"/>
                <a:gd name="T68" fmla="*/ 85 w 115"/>
                <a:gd name="T69" fmla="*/ 12 h 236"/>
                <a:gd name="T70" fmla="*/ 68 w 115"/>
                <a:gd name="T71" fmla="*/ 26 h 236"/>
                <a:gd name="T72" fmla="*/ 49 w 115"/>
                <a:gd name="T73" fmla="*/ 42 h 236"/>
                <a:gd name="T74" fmla="*/ 32 w 115"/>
                <a:gd name="T75" fmla="*/ 61 h 236"/>
                <a:gd name="T76" fmla="*/ 17 w 115"/>
                <a:gd name="T77" fmla="*/ 82 h 236"/>
                <a:gd name="T78" fmla="*/ 6 w 115"/>
                <a:gd name="T79" fmla="*/ 105 h 236"/>
                <a:gd name="T80" fmla="*/ 0 w 115"/>
                <a:gd name="T81" fmla="*/ 128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en-US"/>
            </a:p>
          </p:txBody>
        </p:sp>
        <p:sp>
          <p:nvSpPr>
            <p:cNvPr id="13" name="Freeform 797"/>
            <p:cNvSpPr/>
            <p:nvPr/>
          </p:nvSpPr>
          <p:spPr bwMode="auto">
            <a:xfrm>
              <a:off x="4423" y="3133"/>
              <a:ext cx="41" cy="52"/>
            </a:xfrm>
            <a:custGeom>
              <a:avLst/>
              <a:gdLst>
                <a:gd name="T0" fmla="*/ 208 w 245"/>
                <a:gd name="T1" fmla="*/ 124 h 310"/>
                <a:gd name="T2" fmla="*/ 220 w 245"/>
                <a:gd name="T3" fmla="*/ 144 h 310"/>
                <a:gd name="T4" fmla="*/ 226 w 245"/>
                <a:gd name="T5" fmla="*/ 164 h 310"/>
                <a:gd name="T6" fmla="*/ 222 w 245"/>
                <a:gd name="T7" fmla="*/ 187 h 310"/>
                <a:gd name="T8" fmla="*/ 208 w 245"/>
                <a:gd name="T9" fmla="*/ 209 h 310"/>
                <a:gd name="T10" fmla="*/ 188 w 245"/>
                <a:gd name="T11" fmla="*/ 229 h 310"/>
                <a:gd name="T12" fmla="*/ 166 w 245"/>
                <a:gd name="T13" fmla="*/ 246 h 310"/>
                <a:gd name="T14" fmla="*/ 142 w 245"/>
                <a:gd name="T15" fmla="*/ 264 h 310"/>
                <a:gd name="T16" fmla="*/ 128 w 245"/>
                <a:gd name="T17" fmla="*/ 278 h 310"/>
                <a:gd name="T18" fmla="*/ 124 w 245"/>
                <a:gd name="T19" fmla="*/ 287 h 310"/>
                <a:gd name="T20" fmla="*/ 120 w 245"/>
                <a:gd name="T21" fmla="*/ 296 h 310"/>
                <a:gd name="T22" fmla="*/ 122 w 245"/>
                <a:gd name="T23" fmla="*/ 306 h 310"/>
                <a:gd name="T24" fmla="*/ 131 w 245"/>
                <a:gd name="T25" fmla="*/ 310 h 310"/>
                <a:gd name="T26" fmla="*/ 139 w 245"/>
                <a:gd name="T27" fmla="*/ 309 h 310"/>
                <a:gd name="T28" fmla="*/ 154 w 245"/>
                <a:gd name="T29" fmla="*/ 292 h 310"/>
                <a:gd name="T30" fmla="*/ 180 w 245"/>
                <a:gd name="T31" fmla="*/ 269 h 310"/>
                <a:gd name="T32" fmla="*/ 207 w 245"/>
                <a:gd name="T33" fmla="*/ 246 h 310"/>
                <a:gd name="T34" fmla="*/ 230 w 245"/>
                <a:gd name="T35" fmla="*/ 219 h 310"/>
                <a:gd name="T36" fmla="*/ 244 w 245"/>
                <a:gd name="T37" fmla="*/ 186 h 310"/>
                <a:gd name="T38" fmla="*/ 243 w 245"/>
                <a:gd name="T39" fmla="*/ 152 h 310"/>
                <a:gd name="T40" fmla="*/ 228 w 245"/>
                <a:gd name="T41" fmla="*/ 119 h 310"/>
                <a:gd name="T42" fmla="*/ 203 w 245"/>
                <a:gd name="T43" fmla="*/ 93 h 310"/>
                <a:gd name="T44" fmla="*/ 176 w 245"/>
                <a:gd name="T45" fmla="*/ 76 h 310"/>
                <a:gd name="T46" fmla="*/ 151 w 245"/>
                <a:gd name="T47" fmla="*/ 61 h 310"/>
                <a:gd name="T48" fmla="*/ 122 w 245"/>
                <a:gd name="T49" fmla="*/ 46 h 310"/>
                <a:gd name="T50" fmla="*/ 93 w 245"/>
                <a:gd name="T51" fmla="*/ 31 h 310"/>
                <a:gd name="T52" fmla="*/ 66 w 245"/>
                <a:gd name="T53" fmla="*/ 18 h 310"/>
                <a:gd name="T54" fmla="*/ 40 w 245"/>
                <a:gd name="T55" fmla="*/ 8 h 310"/>
                <a:gd name="T56" fmla="*/ 20 w 245"/>
                <a:gd name="T57" fmla="*/ 1 h 310"/>
                <a:gd name="T58" fmla="*/ 5 w 245"/>
                <a:gd name="T59" fmla="*/ 0 h 310"/>
                <a:gd name="T60" fmla="*/ 11 w 245"/>
                <a:gd name="T61" fmla="*/ 8 h 310"/>
                <a:gd name="T62" fmla="*/ 36 w 245"/>
                <a:gd name="T63" fmla="*/ 20 h 310"/>
                <a:gd name="T64" fmla="*/ 60 w 245"/>
                <a:gd name="T65" fmla="*/ 31 h 310"/>
                <a:gd name="T66" fmla="*/ 86 w 245"/>
                <a:gd name="T67" fmla="*/ 44 h 310"/>
                <a:gd name="T68" fmla="*/ 113 w 245"/>
                <a:gd name="T69" fmla="*/ 57 h 310"/>
                <a:gd name="T70" fmla="*/ 139 w 245"/>
                <a:gd name="T71" fmla="*/ 71 h 310"/>
                <a:gd name="T72" fmla="*/ 165 w 245"/>
                <a:gd name="T73" fmla="*/ 88 h 310"/>
                <a:gd name="T74" fmla="*/ 188 w 245"/>
                <a:gd name="T75" fmla="*/ 106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en-US"/>
            </a:p>
          </p:txBody>
        </p:sp>
        <p:sp>
          <p:nvSpPr>
            <p:cNvPr id="14" name="Freeform 798"/>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ln>
          </p:spPr>
          <p:txBody>
            <a:bodyPr/>
            <a:lstStyle/>
            <a:p>
              <a:endParaRPr lang="en-US"/>
            </a:p>
          </p:txBody>
        </p:sp>
      </p:grpSp>
      <p:grpSp>
        <p:nvGrpSpPr>
          <p:cNvPr id="181909" name="Group 799"/>
          <p:cNvGrpSpPr/>
          <p:nvPr/>
        </p:nvGrpSpPr>
        <p:grpSpPr bwMode="auto">
          <a:xfrm>
            <a:off x="609600" y="2157413"/>
            <a:ext cx="3340100" cy="3265487"/>
            <a:chOff x="2865" y="1307"/>
            <a:chExt cx="2104" cy="2057"/>
          </a:xfrm>
        </p:grpSpPr>
        <p:sp>
          <p:nvSpPr>
            <p:cNvPr id="2178" name="Line 800"/>
            <p:cNvSpPr>
              <a:spLocks noChangeShapeType="1"/>
            </p:cNvSpPr>
            <p:nvPr/>
          </p:nvSpPr>
          <p:spPr bwMode="auto">
            <a:xfrm>
              <a:off x="4092" y="1307"/>
              <a:ext cx="877" cy="1762"/>
            </a:xfrm>
            <a:prstGeom prst="line">
              <a:avLst/>
            </a:prstGeom>
            <a:noFill/>
            <a:ln w="76200">
              <a:solidFill>
                <a:srgbClr val="FF3300"/>
              </a:solidFill>
              <a:round/>
              <a:headEnd type="triangle" w="med" len="med"/>
              <a:tailEnd type="triangle" w="med" len="med"/>
            </a:ln>
          </p:spPr>
          <p:txBody>
            <a:bodyPr/>
            <a:lstStyle/>
            <a:p>
              <a:endParaRPr lang="en-US"/>
            </a:p>
          </p:txBody>
        </p:sp>
        <p:sp>
          <p:nvSpPr>
            <p:cNvPr id="2179" name="Line 801"/>
            <p:cNvSpPr>
              <a:spLocks noChangeShapeType="1"/>
            </p:cNvSpPr>
            <p:nvPr/>
          </p:nvSpPr>
          <p:spPr bwMode="auto">
            <a:xfrm>
              <a:off x="3466" y="2211"/>
              <a:ext cx="1487" cy="1014"/>
            </a:xfrm>
            <a:prstGeom prst="line">
              <a:avLst/>
            </a:prstGeom>
            <a:noFill/>
            <a:ln w="76200">
              <a:solidFill>
                <a:srgbClr val="FF3300"/>
              </a:solidFill>
              <a:round/>
              <a:headEnd type="triangle" w="med" len="med"/>
              <a:tailEnd type="triangle" w="med" len="med"/>
            </a:ln>
          </p:spPr>
          <p:txBody>
            <a:bodyPr/>
            <a:lstStyle/>
            <a:p>
              <a:endParaRPr lang="en-US"/>
            </a:p>
          </p:txBody>
        </p:sp>
        <p:sp>
          <p:nvSpPr>
            <p:cNvPr id="2180" name="Line 802"/>
            <p:cNvSpPr>
              <a:spLocks noChangeShapeType="1"/>
            </p:cNvSpPr>
            <p:nvPr/>
          </p:nvSpPr>
          <p:spPr bwMode="auto">
            <a:xfrm>
              <a:off x="3657" y="3158"/>
              <a:ext cx="1014" cy="206"/>
            </a:xfrm>
            <a:prstGeom prst="line">
              <a:avLst/>
            </a:prstGeom>
            <a:noFill/>
            <a:ln w="76200">
              <a:solidFill>
                <a:srgbClr val="FF3300"/>
              </a:solidFill>
              <a:round/>
              <a:headEnd type="triangle" w="med" len="med"/>
              <a:tailEnd type="triangle" w="med" len="med"/>
            </a:ln>
          </p:spPr>
          <p:txBody>
            <a:bodyPr/>
            <a:lstStyle/>
            <a:p>
              <a:endParaRPr lang="en-US"/>
            </a:p>
          </p:txBody>
        </p:sp>
        <p:sp>
          <p:nvSpPr>
            <p:cNvPr id="2181" name="Text Box 803"/>
            <p:cNvSpPr txBox="1">
              <a:spLocks noChangeArrowheads="1"/>
            </p:cNvSpPr>
            <p:nvPr/>
          </p:nvSpPr>
          <p:spPr bwMode="auto">
            <a:xfrm>
              <a:off x="2865" y="2510"/>
              <a:ext cx="1102" cy="250"/>
            </a:xfrm>
            <a:prstGeom prst="rect">
              <a:avLst/>
            </a:prstGeom>
            <a:noFill/>
            <a:ln w="9525">
              <a:noFill/>
              <a:miter lim="800000"/>
            </a:ln>
          </p:spPr>
          <p:txBody>
            <a:bodyPr wrap="none">
              <a:spAutoFit/>
            </a:bodyPr>
            <a:lstStyle/>
            <a:p>
              <a:pPr>
                <a:spcBef>
                  <a:spcPct val="0"/>
                </a:spcBef>
                <a:buClrTx/>
                <a:buSzTx/>
                <a:buFontTx/>
                <a:buNone/>
              </a:pPr>
              <a:r>
                <a:rPr lang="en-US" sz="2000">
                  <a:solidFill>
                    <a:srgbClr val="FF3300"/>
                  </a:solidFill>
                </a:rPr>
                <a:t>client/server</a:t>
              </a:r>
              <a:endParaRPr lang="en-US" sz="2000">
                <a:solidFill>
                  <a:srgbClr val="FF33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19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Google Data Centers</a:t>
            </a:r>
            <a:endParaRPr lang="en-US" dirty="0"/>
          </a:p>
        </p:txBody>
      </p:sp>
      <p:sp>
        <p:nvSpPr>
          <p:cNvPr id="3" name="Content Placeholder 2"/>
          <p:cNvSpPr>
            <a:spLocks noGrp="1"/>
          </p:cNvSpPr>
          <p:nvPr>
            <p:ph idx="1"/>
          </p:nvPr>
        </p:nvSpPr>
        <p:spPr/>
        <p:txBody>
          <a:bodyPr/>
          <a:lstStyle/>
          <a:p>
            <a:r>
              <a:rPr lang="en-US" altLang="zh-CN" dirty="0"/>
              <a:t>20 data</a:t>
            </a:r>
            <a:r>
              <a:rPr lang="zh-CN" altLang="en-US" dirty="0"/>
              <a:t> </a:t>
            </a:r>
            <a:r>
              <a:rPr lang="en-US" altLang="zh-CN" dirty="0"/>
              <a:t>centers, two are located in Asia</a:t>
            </a:r>
            <a:endParaRPr lang="en-US" altLang="zh-CN" dirty="0"/>
          </a:p>
          <a:p>
            <a:r>
              <a:rPr lang="en-US" dirty="0"/>
              <a:t>Google spent $</a:t>
            </a:r>
            <a:r>
              <a:rPr lang="en-US" altLang="zh-CN" dirty="0"/>
              <a:t>16</a:t>
            </a:r>
            <a:r>
              <a:rPr lang="en-US" dirty="0"/>
              <a:t>B </a:t>
            </a:r>
            <a:r>
              <a:rPr lang="en-US" altLang="zh-CN" dirty="0"/>
              <a:t>since</a:t>
            </a:r>
            <a:r>
              <a:rPr lang="en-US" dirty="0"/>
              <a:t> 2007 on new data centers</a:t>
            </a:r>
            <a:endParaRPr lang="en-US" dirty="0"/>
          </a:p>
          <a:p>
            <a:r>
              <a:rPr lang="en-US" dirty="0"/>
              <a:t>Each data center uses 50-100 megawatts of power</a:t>
            </a:r>
            <a:endParaRPr lang="en-US" dirty="0"/>
          </a:p>
          <a:p>
            <a:pPr>
              <a:buNone/>
            </a:pPr>
            <a:endParaRPr lang="en-US" dirty="0"/>
          </a:p>
        </p:txBody>
      </p:sp>
      <p:pic>
        <p:nvPicPr>
          <p:cNvPr id="4" name="Picture 2" descr="Google's data center in Oregon"/>
          <p:cNvPicPr>
            <a:picLocks noChangeAspect="1" noChangeArrowheads="1"/>
          </p:cNvPicPr>
          <p:nvPr/>
        </p:nvPicPr>
        <p:blipFill>
          <a:blip r:embed="rId1"/>
          <a:srcRect/>
          <a:stretch>
            <a:fillRect/>
          </a:stretch>
        </p:blipFill>
        <p:spPr bwMode="auto">
          <a:xfrm>
            <a:off x="1140377" y="4043361"/>
            <a:ext cx="6446286" cy="253554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7"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088" name="Slide Number Placeholder 6"/>
          <p:cNvSpPr>
            <a:spLocks noGrp="1"/>
          </p:cNvSpPr>
          <p:nvPr>
            <p:ph type="sldNum" sz="quarter" idx="12"/>
          </p:nvPr>
        </p:nvSpPr>
        <p:spPr>
          <a:noFill/>
        </p:spPr>
        <p:txBody>
          <a:bodyPr/>
          <a:lstStyle/>
          <a:p>
            <a:fld id="{4ADD69CC-B862-41EA-B18E-058BDE7CE016}" type="slidenum">
              <a:rPr lang="en-US"/>
            </a:fld>
            <a:endParaRPr lang="en-US"/>
          </a:p>
        </p:txBody>
      </p:sp>
      <p:sp>
        <p:nvSpPr>
          <p:cNvPr id="3089" name="Rectangle 4"/>
          <p:cNvSpPr>
            <a:spLocks noGrp="1" noChangeArrowheads="1"/>
          </p:cNvSpPr>
          <p:nvPr>
            <p:ph type="title"/>
          </p:nvPr>
        </p:nvSpPr>
        <p:spPr/>
        <p:txBody>
          <a:bodyPr/>
          <a:lstStyle/>
          <a:p>
            <a:r>
              <a:rPr lang="en-US"/>
              <a:t>Pure P2P architecture</a:t>
            </a:r>
            <a:endParaRPr lang="en-US"/>
          </a:p>
        </p:txBody>
      </p:sp>
      <p:sp>
        <p:nvSpPr>
          <p:cNvPr id="3090" name="Rectangle 5"/>
          <p:cNvSpPr>
            <a:spLocks noGrp="1" noChangeArrowheads="1"/>
          </p:cNvSpPr>
          <p:nvPr>
            <p:ph type="body" sz="half" idx="1"/>
          </p:nvPr>
        </p:nvSpPr>
        <p:spPr>
          <a:xfrm>
            <a:off x="533400" y="1600200"/>
            <a:ext cx="4049713" cy="4648200"/>
          </a:xfrm>
        </p:spPr>
        <p:txBody>
          <a:bodyPr/>
          <a:lstStyle/>
          <a:p>
            <a:r>
              <a:rPr lang="en-US" sz="2400" i="1"/>
              <a:t>no</a:t>
            </a:r>
            <a:r>
              <a:rPr lang="en-US" sz="2400"/>
              <a:t> always-on server</a:t>
            </a:r>
            <a:endParaRPr lang="en-US" sz="2400"/>
          </a:p>
          <a:p>
            <a:r>
              <a:rPr lang="en-US" sz="2400"/>
              <a:t>arbitrary end systems directly communicate</a:t>
            </a:r>
            <a:endParaRPr lang="en-US" sz="2400"/>
          </a:p>
          <a:p>
            <a:r>
              <a:rPr lang="en-US" sz="2400"/>
              <a:t>peers are intermittently connected and change IP addresses</a:t>
            </a:r>
            <a:endParaRPr lang="en-US" sz="2400"/>
          </a:p>
          <a:p>
            <a:pPr>
              <a:buFont typeface="ZapfDingbats" pitchFamily="82" charset="2"/>
              <a:buNone/>
            </a:pPr>
            <a:endParaRPr lang="en-US" sz="2400"/>
          </a:p>
          <a:p>
            <a:endParaRPr lang="en-US" sz="2400"/>
          </a:p>
          <a:p>
            <a:pPr>
              <a:buFont typeface="ZapfDingbats" pitchFamily="82" charset="2"/>
              <a:buNone/>
            </a:pPr>
            <a:r>
              <a:rPr lang="en-US" sz="2400">
                <a:solidFill>
                  <a:srgbClr val="FF0000"/>
                </a:solidFill>
              </a:rPr>
              <a:t>Highly scalable but difficult to manage</a:t>
            </a:r>
            <a:endParaRPr lang="en-US" sz="2400">
              <a:solidFill>
                <a:srgbClr val="FF0000"/>
              </a:solidFill>
            </a:endParaRPr>
          </a:p>
          <a:p>
            <a:endParaRPr lang="en-US" sz="2400"/>
          </a:p>
        </p:txBody>
      </p:sp>
      <p:sp>
        <p:nvSpPr>
          <p:cNvPr id="3091" name="Freeform 691"/>
          <p:cNvSpPr/>
          <p:nvPr/>
        </p:nvSpPr>
        <p:spPr bwMode="auto">
          <a:xfrm>
            <a:off x="6710363" y="3457575"/>
            <a:ext cx="1314450" cy="674688"/>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w="9525">
            <a:noFill/>
            <a:round/>
          </a:ln>
        </p:spPr>
        <p:txBody>
          <a:bodyPr/>
          <a:lstStyle/>
          <a:p>
            <a:endParaRPr lang="en-US"/>
          </a:p>
        </p:txBody>
      </p:sp>
      <p:sp>
        <p:nvSpPr>
          <p:cNvPr id="3092" name="Freeform 692"/>
          <p:cNvSpPr/>
          <p:nvPr/>
        </p:nvSpPr>
        <p:spPr bwMode="auto">
          <a:xfrm>
            <a:off x="6729413" y="1931988"/>
            <a:ext cx="1730375" cy="1044575"/>
          </a:xfrm>
          <a:custGeom>
            <a:avLst/>
            <a:gdLst>
              <a:gd name="T0" fmla="*/ 424 w 765"/>
              <a:gd name="T1" fmla="*/ 10 h 459"/>
              <a:gd name="T2" fmla="*/ 288 w 765"/>
              <a:gd name="T3" fmla="*/ 70 h 459"/>
              <a:gd name="T4" fmla="*/ 96 w 765"/>
              <a:gd name="T5" fmla="*/ 100 h 459"/>
              <a:gd name="T6" fmla="*/ 14 w 765"/>
              <a:gd name="T7" fmla="*/ 336 h 459"/>
              <a:gd name="T8" fmla="*/ 180 w 765"/>
              <a:gd name="T9" fmla="*/ 444 h 459"/>
              <a:gd name="T10" fmla="*/ 346 w 765"/>
              <a:gd name="T11" fmla="*/ 426 h 459"/>
              <a:gd name="T12" fmla="*/ 584 w 765"/>
              <a:gd name="T13" fmla="*/ 444 h 459"/>
              <a:gd name="T14" fmla="*/ 698 w 765"/>
              <a:gd name="T15" fmla="*/ 434 h 459"/>
              <a:gd name="T16" fmla="*/ 752 w 765"/>
              <a:gd name="T17" fmla="*/ 372 h 459"/>
              <a:gd name="T18" fmla="*/ 750 w 765"/>
              <a:gd name="T19" fmla="*/ 158 h 459"/>
              <a:gd name="T20" fmla="*/ 662 w 765"/>
              <a:gd name="T21" fmla="*/ 34 h 459"/>
              <a:gd name="T22" fmla="*/ 424 w 765"/>
              <a:gd name="T23" fmla="*/ 10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w="9525">
            <a:noFill/>
            <a:round/>
          </a:ln>
        </p:spPr>
        <p:txBody>
          <a:bodyPr/>
          <a:lstStyle/>
          <a:p>
            <a:endParaRPr lang="en-US"/>
          </a:p>
        </p:txBody>
      </p:sp>
      <p:sp>
        <p:nvSpPr>
          <p:cNvPr id="3093" name="Freeform 693"/>
          <p:cNvSpPr/>
          <p:nvPr/>
        </p:nvSpPr>
        <p:spPr bwMode="auto">
          <a:xfrm>
            <a:off x="4989513" y="1639888"/>
            <a:ext cx="1644650" cy="1071562"/>
          </a:xfrm>
          <a:custGeom>
            <a:avLst/>
            <a:gdLst>
              <a:gd name="T0" fmla="*/ 648 w 1036"/>
              <a:gd name="T1" fmla="*/ 11 h 675"/>
              <a:gd name="T2" fmla="*/ 390 w 1036"/>
              <a:gd name="T3" fmla="*/ 53 h 675"/>
              <a:gd name="T4" fmla="*/ 206 w 1036"/>
              <a:gd name="T5" fmla="*/ 129 h 675"/>
              <a:gd name="T6" fmla="*/ 152 w 1036"/>
              <a:gd name="T7" fmla="*/ 229 h 675"/>
              <a:gd name="T8" fmla="*/ 22 w 1036"/>
              <a:gd name="T9" fmla="*/ 297 h 675"/>
              <a:gd name="T10" fmla="*/ 18 w 1036"/>
              <a:gd name="T11" fmla="*/ 459 h 675"/>
              <a:gd name="T12" fmla="*/ 132 w 1036"/>
              <a:gd name="T13" fmla="*/ 489 h 675"/>
              <a:gd name="T14" fmla="*/ 458 w 1036"/>
              <a:gd name="T15" fmla="*/ 489 h 675"/>
              <a:gd name="T16" fmla="*/ 598 w 1036"/>
              <a:gd name="T17" fmla="*/ 555 h 675"/>
              <a:gd name="T18" fmla="*/ 752 w 1036"/>
              <a:gd name="T19" fmla="*/ 657 h 675"/>
              <a:gd name="T20" fmla="*/ 870 w 1036"/>
              <a:gd name="T21" fmla="*/ 661 h 675"/>
              <a:gd name="T22" fmla="*/ 952 w 1036"/>
              <a:gd name="T23" fmla="*/ 603 h 675"/>
              <a:gd name="T24" fmla="*/ 992 w 1036"/>
              <a:gd name="T25" fmla="*/ 445 h 675"/>
              <a:gd name="T26" fmla="*/ 1018 w 1036"/>
              <a:gd name="T27" fmla="*/ 291 h 675"/>
              <a:gd name="T28" fmla="*/ 1022 w 1036"/>
              <a:gd name="T29" fmla="*/ 107 h 675"/>
              <a:gd name="T30" fmla="*/ 934 w 1036"/>
              <a:gd name="T31" fmla="*/ 17 h 675"/>
              <a:gd name="T32" fmla="*/ 776 w 1036"/>
              <a:gd name="T33" fmla="*/ 3 h 675"/>
              <a:gd name="T34" fmla="*/ 64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w="9525">
            <a:noFill/>
            <a:round/>
          </a:ln>
        </p:spPr>
        <p:txBody>
          <a:bodyPr/>
          <a:lstStyle/>
          <a:p>
            <a:endParaRPr lang="en-US"/>
          </a:p>
        </p:txBody>
      </p:sp>
      <p:grpSp>
        <p:nvGrpSpPr>
          <p:cNvPr id="3094" name="Group 694"/>
          <p:cNvGrpSpPr/>
          <p:nvPr/>
        </p:nvGrpSpPr>
        <p:grpSpPr bwMode="auto">
          <a:xfrm>
            <a:off x="5076825" y="2974975"/>
            <a:ext cx="1458913" cy="933450"/>
            <a:chOff x="2889" y="1631"/>
            <a:chExt cx="980" cy="743"/>
          </a:xfrm>
        </p:grpSpPr>
        <p:sp>
          <p:nvSpPr>
            <p:cNvPr id="3418" name="Rectangle 695"/>
            <p:cNvSpPr>
              <a:spLocks noChangeArrowheads="1"/>
            </p:cNvSpPr>
            <p:nvPr/>
          </p:nvSpPr>
          <p:spPr bwMode="auto">
            <a:xfrm>
              <a:off x="3046" y="1841"/>
              <a:ext cx="663" cy="533"/>
            </a:xfrm>
            <a:prstGeom prst="rect">
              <a:avLst/>
            </a:prstGeom>
            <a:solidFill>
              <a:srgbClr val="DDDDDD"/>
            </a:solidFill>
            <a:ln w="9525">
              <a:noFill/>
              <a:miter lim="800000"/>
            </a:ln>
          </p:spPr>
          <p:txBody>
            <a:bodyPr wrap="none" anchor="ctr"/>
            <a:lstStyle/>
            <a:p>
              <a:endParaRPr lang="en-US"/>
            </a:p>
          </p:txBody>
        </p:sp>
        <p:sp>
          <p:nvSpPr>
            <p:cNvPr id="3419" name="AutoShape 696"/>
            <p:cNvSpPr>
              <a:spLocks noChangeArrowheads="1"/>
            </p:cNvSpPr>
            <p:nvPr/>
          </p:nvSpPr>
          <p:spPr bwMode="auto">
            <a:xfrm>
              <a:off x="2889" y="1631"/>
              <a:ext cx="980" cy="253"/>
            </a:xfrm>
            <a:prstGeom prst="triangle">
              <a:avLst>
                <a:gd name="adj" fmla="val 50000"/>
              </a:avLst>
            </a:prstGeom>
            <a:solidFill>
              <a:srgbClr val="DDDDDD"/>
            </a:solidFill>
            <a:ln w="9525">
              <a:noFill/>
              <a:miter lim="800000"/>
            </a:ln>
          </p:spPr>
          <p:txBody>
            <a:bodyPr wrap="none" anchor="ctr"/>
            <a:lstStyle/>
            <a:p>
              <a:pPr algn="ctr">
                <a:spcBef>
                  <a:spcPct val="0"/>
                </a:spcBef>
                <a:buClrTx/>
                <a:buSzTx/>
                <a:buFontTx/>
                <a:buNone/>
              </a:pPr>
              <a:endParaRPr lang="en-US">
                <a:solidFill>
                  <a:srgbClr val="00CCFF"/>
                </a:solidFill>
                <a:latin typeface="Times New Roman" panose="02020603050405020304" pitchFamily="18" charset="0"/>
              </a:endParaRPr>
            </a:p>
          </p:txBody>
        </p:sp>
      </p:grpSp>
      <p:grpSp>
        <p:nvGrpSpPr>
          <p:cNvPr id="3095" name="Group 697"/>
          <p:cNvGrpSpPr/>
          <p:nvPr/>
        </p:nvGrpSpPr>
        <p:grpSpPr bwMode="auto">
          <a:xfrm>
            <a:off x="5778500" y="1831975"/>
            <a:ext cx="336550" cy="531813"/>
            <a:chOff x="3796" y="1043"/>
            <a:chExt cx="865" cy="1237"/>
          </a:xfrm>
        </p:grpSpPr>
        <p:sp>
          <p:nvSpPr>
            <p:cNvPr id="3388" name="Line 698"/>
            <p:cNvSpPr>
              <a:spLocks noChangeShapeType="1"/>
            </p:cNvSpPr>
            <p:nvPr/>
          </p:nvSpPr>
          <p:spPr bwMode="auto">
            <a:xfrm flipH="1">
              <a:off x="3992" y="1481"/>
              <a:ext cx="235" cy="724"/>
            </a:xfrm>
            <a:prstGeom prst="line">
              <a:avLst/>
            </a:prstGeom>
            <a:noFill/>
            <a:ln w="9525">
              <a:solidFill>
                <a:schemeClr val="bg2"/>
              </a:solidFill>
              <a:round/>
            </a:ln>
          </p:spPr>
          <p:txBody>
            <a:bodyPr wrap="none"/>
            <a:lstStyle/>
            <a:p>
              <a:endParaRPr lang="en-US"/>
            </a:p>
          </p:txBody>
        </p:sp>
        <p:sp>
          <p:nvSpPr>
            <p:cNvPr id="3389" name="Line 699"/>
            <p:cNvSpPr>
              <a:spLocks noChangeShapeType="1"/>
            </p:cNvSpPr>
            <p:nvPr/>
          </p:nvSpPr>
          <p:spPr bwMode="auto">
            <a:xfrm>
              <a:off x="4227" y="1481"/>
              <a:ext cx="236" cy="720"/>
            </a:xfrm>
            <a:prstGeom prst="line">
              <a:avLst/>
            </a:prstGeom>
            <a:noFill/>
            <a:ln w="9525">
              <a:solidFill>
                <a:schemeClr val="bg2"/>
              </a:solidFill>
              <a:round/>
            </a:ln>
          </p:spPr>
          <p:txBody>
            <a:bodyPr wrap="none"/>
            <a:lstStyle/>
            <a:p>
              <a:endParaRPr lang="en-US"/>
            </a:p>
          </p:txBody>
        </p:sp>
        <p:sp>
          <p:nvSpPr>
            <p:cNvPr id="3390" name="Line 700"/>
            <p:cNvSpPr>
              <a:spLocks noChangeShapeType="1"/>
            </p:cNvSpPr>
            <p:nvPr/>
          </p:nvSpPr>
          <p:spPr bwMode="auto">
            <a:xfrm>
              <a:off x="3992" y="2201"/>
              <a:ext cx="235" cy="79"/>
            </a:xfrm>
            <a:prstGeom prst="line">
              <a:avLst/>
            </a:prstGeom>
            <a:noFill/>
            <a:ln w="9525">
              <a:solidFill>
                <a:schemeClr val="bg2"/>
              </a:solidFill>
              <a:round/>
            </a:ln>
          </p:spPr>
          <p:txBody>
            <a:bodyPr wrap="none"/>
            <a:lstStyle/>
            <a:p>
              <a:endParaRPr lang="en-US"/>
            </a:p>
          </p:txBody>
        </p:sp>
        <p:sp>
          <p:nvSpPr>
            <p:cNvPr id="3391" name="Line 701"/>
            <p:cNvSpPr>
              <a:spLocks noChangeShapeType="1"/>
            </p:cNvSpPr>
            <p:nvPr/>
          </p:nvSpPr>
          <p:spPr bwMode="auto">
            <a:xfrm flipH="1">
              <a:off x="4227" y="2201"/>
              <a:ext cx="236" cy="79"/>
            </a:xfrm>
            <a:prstGeom prst="line">
              <a:avLst/>
            </a:prstGeom>
            <a:noFill/>
            <a:ln w="9525">
              <a:solidFill>
                <a:schemeClr val="bg2"/>
              </a:solidFill>
              <a:round/>
            </a:ln>
          </p:spPr>
          <p:txBody>
            <a:bodyPr wrap="none"/>
            <a:lstStyle/>
            <a:p>
              <a:endParaRPr lang="en-US"/>
            </a:p>
          </p:txBody>
        </p:sp>
        <p:sp>
          <p:nvSpPr>
            <p:cNvPr id="3392" name="Line 702"/>
            <p:cNvSpPr>
              <a:spLocks noChangeShapeType="1"/>
            </p:cNvSpPr>
            <p:nvPr/>
          </p:nvSpPr>
          <p:spPr bwMode="auto">
            <a:xfrm>
              <a:off x="4227" y="1497"/>
              <a:ext cx="0" cy="783"/>
            </a:xfrm>
            <a:prstGeom prst="line">
              <a:avLst/>
            </a:prstGeom>
            <a:noFill/>
            <a:ln w="9525">
              <a:solidFill>
                <a:schemeClr val="bg2"/>
              </a:solidFill>
              <a:round/>
            </a:ln>
          </p:spPr>
          <p:txBody>
            <a:bodyPr wrap="none"/>
            <a:lstStyle/>
            <a:p>
              <a:endParaRPr lang="en-US"/>
            </a:p>
          </p:txBody>
        </p:sp>
        <p:sp>
          <p:nvSpPr>
            <p:cNvPr id="3393" name="Line 703"/>
            <p:cNvSpPr>
              <a:spLocks noChangeShapeType="1"/>
            </p:cNvSpPr>
            <p:nvPr/>
          </p:nvSpPr>
          <p:spPr bwMode="auto">
            <a:xfrm flipV="1">
              <a:off x="3992" y="2127"/>
              <a:ext cx="235" cy="78"/>
            </a:xfrm>
            <a:prstGeom prst="line">
              <a:avLst/>
            </a:prstGeom>
            <a:noFill/>
            <a:ln w="9525">
              <a:solidFill>
                <a:schemeClr val="bg2"/>
              </a:solidFill>
              <a:round/>
            </a:ln>
          </p:spPr>
          <p:txBody>
            <a:bodyPr wrap="none"/>
            <a:lstStyle/>
            <a:p>
              <a:endParaRPr lang="en-US"/>
            </a:p>
          </p:txBody>
        </p:sp>
        <p:sp>
          <p:nvSpPr>
            <p:cNvPr id="3394" name="Line 704"/>
            <p:cNvSpPr>
              <a:spLocks noChangeShapeType="1"/>
            </p:cNvSpPr>
            <p:nvPr/>
          </p:nvSpPr>
          <p:spPr bwMode="auto">
            <a:xfrm flipH="1" flipV="1">
              <a:off x="4227" y="2127"/>
              <a:ext cx="236" cy="74"/>
            </a:xfrm>
            <a:prstGeom prst="line">
              <a:avLst/>
            </a:prstGeom>
            <a:noFill/>
            <a:ln w="9525">
              <a:solidFill>
                <a:schemeClr val="bg2"/>
              </a:solidFill>
              <a:round/>
            </a:ln>
          </p:spPr>
          <p:txBody>
            <a:bodyPr wrap="none"/>
            <a:lstStyle/>
            <a:p>
              <a:endParaRPr lang="en-US"/>
            </a:p>
          </p:txBody>
        </p:sp>
        <p:sp>
          <p:nvSpPr>
            <p:cNvPr id="3395" name="Line 705"/>
            <p:cNvSpPr>
              <a:spLocks noChangeShapeType="1"/>
            </p:cNvSpPr>
            <p:nvPr/>
          </p:nvSpPr>
          <p:spPr bwMode="auto">
            <a:xfrm>
              <a:off x="4092" y="1890"/>
              <a:ext cx="135" cy="60"/>
            </a:xfrm>
            <a:prstGeom prst="line">
              <a:avLst/>
            </a:prstGeom>
            <a:noFill/>
            <a:ln w="9525">
              <a:solidFill>
                <a:schemeClr val="bg2"/>
              </a:solidFill>
              <a:round/>
            </a:ln>
          </p:spPr>
          <p:txBody>
            <a:bodyPr wrap="none"/>
            <a:lstStyle/>
            <a:p>
              <a:endParaRPr lang="en-US"/>
            </a:p>
          </p:txBody>
        </p:sp>
        <p:sp>
          <p:nvSpPr>
            <p:cNvPr id="3396" name="Line 706"/>
            <p:cNvSpPr>
              <a:spLocks noChangeShapeType="1"/>
            </p:cNvSpPr>
            <p:nvPr/>
          </p:nvSpPr>
          <p:spPr bwMode="auto">
            <a:xfrm flipV="1">
              <a:off x="4227" y="1890"/>
              <a:ext cx="143" cy="60"/>
            </a:xfrm>
            <a:prstGeom prst="line">
              <a:avLst/>
            </a:prstGeom>
            <a:noFill/>
            <a:ln w="9525">
              <a:solidFill>
                <a:schemeClr val="bg2"/>
              </a:solidFill>
              <a:round/>
            </a:ln>
          </p:spPr>
          <p:txBody>
            <a:bodyPr wrap="none"/>
            <a:lstStyle/>
            <a:p>
              <a:endParaRPr lang="en-US"/>
            </a:p>
          </p:txBody>
        </p:sp>
        <p:sp>
          <p:nvSpPr>
            <p:cNvPr id="3397" name="Line 707"/>
            <p:cNvSpPr>
              <a:spLocks noChangeShapeType="1"/>
            </p:cNvSpPr>
            <p:nvPr/>
          </p:nvSpPr>
          <p:spPr bwMode="auto">
            <a:xfrm>
              <a:off x="4047" y="1996"/>
              <a:ext cx="175" cy="81"/>
            </a:xfrm>
            <a:prstGeom prst="line">
              <a:avLst/>
            </a:prstGeom>
            <a:noFill/>
            <a:ln w="9525">
              <a:solidFill>
                <a:schemeClr val="bg2"/>
              </a:solidFill>
              <a:round/>
            </a:ln>
          </p:spPr>
          <p:txBody>
            <a:bodyPr wrap="none"/>
            <a:lstStyle/>
            <a:p>
              <a:endParaRPr lang="en-US"/>
            </a:p>
          </p:txBody>
        </p:sp>
        <p:sp>
          <p:nvSpPr>
            <p:cNvPr id="3398" name="Line 708"/>
            <p:cNvSpPr>
              <a:spLocks noChangeShapeType="1"/>
            </p:cNvSpPr>
            <p:nvPr/>
          </p:nvSpPr>
          <p:spPr bwMode="auto">
            <a:xfrm flipV="1">
              <a:off x="4227" y="2012"/>
              <a:ext cx="176" cy="71"/>
            </a:xfrm>
            <a:prstGeom prst="line">
              <a:avLst/>
            </a:prstGeom>
            <a:noFill/>
            <a:ln w="9525">
              <a:solidFill>
                <a:schemeClr val="bg2"/>
              </a:solidFill>
              <a:round/>
            </a:ln>
          </p:spPr>
          <p:txBody>
            <a:bodyPr wrap="none"/>
            <a:lstStyle/>
            <a:p>
              <a:endParaRPr lang="en-US"/>
            </a:p>
          </p:txBody>
        </p:sp>
        <p:sp>
          <p:nvSpPr>
            <p:cNvPr id="3399" name="Line 709"/>
            <p:cNvSpPr>
              <a:spLocks noChangeShapeType="1"/>
            </p:cNvSpPr>
            <p:nvPr/>
          </p:nvSpPr>
          <p:spPr bwMode="auto">
            <a:xfrm flipV="1">
              <a:off x="4227" y="1782"/>
              <a:ext cx="90" cy="29"/>
            </a:xfrm>
            <a:prstGeom prst="line">
              <a:avLst/>
            </a:prstGeom>
            <a:noFill/>
            <a:ln w="9525">
              <a:solidFill>
                <a:schemeClr val="bg2"/>
              </a:solidFill>
              <a:round/>
            </a:ln>
          </p:spPr>
          <p:txBody>
            <a:bodyPr wrap="none"/>
            <a:lstStyle/>
            <a:p>
              <a:endParaRPr lang="en-US"/>
            </a:p>
          </p:txBody>
        </p:sp>
        <p:sp>
          <p:nvSpPr>
            <p:cNvPr id="3400" name="Line 710"/>
            <p:cNvSpPr>
              <a:spLocks noChangeShapeType="1"/>
            </p:cNvSpPr>
            <p:nvPr/>
          </p:nvSpPr>
          <p:spPr bwMode="auto">
            <a:xfrm flipV="1">
              <a:off x="4227" y="1632"/>
              <a:ext cx="57" cy="22"/>
            </a:xfrm>
            <a:prstGeom prst="line">
              <a:avLst/>
            </a:prstGeom>
            <a:noFill/>
            <a:ln w="9525">
              <a:solidFill>
                <a:schemeClr val="bg2"/>
              </a:solidFill>
              <a:round/>
            </a:ln>
          </p:spPr>
          <p:txBody>
            <a:bodyPr wrap="none"/>
            <a:lstStyle/>
            <a:p>
              <a:endParaRPr lang="en-US"/>
            </a:p>
          </p:txBody>
        </p:sp>
        <p:sp>
          <p:nvSpPr>
            <p:cNvPr id="3401" name="Line 711"/>
            <p:cNvSpPr>
              <a:spLocks noChangeShapeType="1"/>
            </p:cNvSpPr>
            <p:nvPr/>
          </p:nvSpPr>
          <p:spPr bwMode="auto">
            <a:xfrm>
              <a:off x="4126" y="1772"/>
              <a:ext cx="109" cy="39"/>
            </a:xfrm>
            <a:prstGeom prst="line">
              <a:avLst/>
            </a:prstGeom>
            <a:noFill/>
            <a:ln w="9525">
              <a:solidFill>
                <a:schemeClr val="bg2"/>
              </a:solidFill>
              <a:round/>
            </a:ln>
          </p:spPr>
          <p:txBody>
            <a:bodyPr wrap="none"/>
            <a:lstStyle/>
            <a:p>
              <a:endParaRPr lang="en-US"/>
            </a:p>
          </p:txBody>
        </p:sp>
        <p:sp>
          <p:nvSpPr>
            <p:cNvPr id="3402" name="Line 712"/>
            <p:cNvSpPr>
              <a:spLocks noChangeShapeType="1"/>
            </p:cNvSpPr>
            <p:nvPr/>
          </p:nvSpPr>
          <p:spPr bwMode="auto">
            <a:xfrm>
              <a:off x="4175" y="1625"/>
              <a:ext cx="63" cy="39"/>
            </a:xfrm>
            <a:prstGeom prst="line">
              <a:avLst/>
            </a:prstGeom>
            <a:noFill/>
            <a:ln w="9525">
              <a:solidFill>
                <a:schemeClr val="bg2"/>
              </a:solidFill>
              <a:round/>
            </a:ln>
          </p:spPr>
          <p:txBody>
            <a:bodyPr wrap="none"/>
            <a:lstStyle/>
            <a:p>
              <a:endParaRPr lang="en-US"/>
            </a:p>
          </p:txBody>
        </p:sp>
        <p:grpSp>
          <p:nvGrpSpPr>
            <p:cNvPr id="3403" name="Group 713"/>
            <p:cNvGrpSpPr/>
            <p:nvPr/>
          </p:nvGrpSpPr>
          <p:grpSpPr bwMode="auto">
            <a:xfrm>
              <a:off x="4269" y="1415"/>
              <a:ext cx="392" cy="137"/>
              <a:chOff x="4227" y="1360"/>
              <a:chExt cx="863" cy="270"/>
            </a:xfrm>
          </p:grpSpPr>
          <p:sp>
            <p:nvSpPr>
              <p:cNvPr id="3414" name="Line 714"/>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3415" name="Line 715"/>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3416" name="Line 716"/>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3417" name="Line 717"/>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nvGrpSpPr>
            <p:cNvPr id="3404" name="Group 718"/>
            <p:cNvGrpSpPr/>
            <p:nvPr/>
          </p:nvGrpSpPr>
          <p:grpSpPr bwMode="auto">
            <a:xfrm rot="5700496">
              <a:off x="4053" y="1170"/>
              <a:ext cx="392" cy="137"/>
              <a:chOff x="4227" y="1360"/>
              <a:chExt cx="863" cy="270"/>
            </a:xfrm>
          </p:grpSpPr>
          <p:sp>
            <p:nvSpPr>
              <p:cNvPr id="3410" name="Line 719"/>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3411" name="Line 720"/>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3412" name="Line 721"/>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3413" name="Line 722"/>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nvGrpSpPr>
            <p:cNvPr id="3405" name="Group 723"/>
            <p:cNvGrpSpPr/>
            <p:nvPr/>
          </p:nvGrpSpPr>
          <p:grpSpPr bwMode="auto">
            <a:xfrm rot="10800000">
              <a:off x="3796" y="1402"/>
              <a:ext cx="392" cy="137"/>
              <a:chOff x="4227" y="1360"/>
              <a:chExt cx="863" cy="270"/>
            </a:xfrm>
          </p:grpSpPr>
          <p:sp>
            <p:nvSpPr>
              <p:cNvPr id="3406" name="Line 724"/>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3407" name="Line 725"/>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3408" name="Line 726"/>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3409" name="Line 727"/>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sp>
        <p:nvSpPr>
          <p:cNvPr id="3096" name="Oval 728"/>
          <p:cNvSpPr>
            <a:spLocks noChangeArrowheads="1"/>
          </p:cNvSpPr>
          <p:nvPr/>
        </p:nvSpPr>
        <p:spPr bwMode="auto">
          <a:xfrm>
            <a:off x="6835775" y="36528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3097" name="Line 729"/>
          <p:cNvSpPr>
            <a:spLocks noChangeShapeType="1"/>
          </p:cNvSpPr>
          <p:nvPr/>
        </p:nvSpPr>
        <p:spPr bwMode="auto">
          <a:xfrm>
            <a:off x="6835775" y="3644900"/>
            <a:ext cx="0" cy="58738"/>
          </a:xfrm>
          <a:prstGeom prst="line">
            <a:avLst/>
          </a:prstGeom>
          <a:noFill/>
          <a:ln w="12700">
            <a:solidFill>
              <a:schemeClr val="folHlink"/>
            </a:solidFill>
            <a:round/>
          </a:ln>
        </p:spPr>
        <p:txBody>
          <a:bodyPr wrap="none" anchor="ctr"/>
          <a:lstStyle/>
          <a:p>
            <a:endParaRPr lang="en-US"/>
          </a:p>
        </p:txBody>
      </p:sp>
      <p:sp>
        <p:nvSpPr>
          <p:cNvPr id="3098" name="Line 730"/>
          <p:cNvSpPr>
            <a:spLocks noChangeShapeType="1"/>
          </p:cNvSpPr>
          <p:nvPr/>
        </p:nvSpPr>
        <p:spPr bwMode="auto">
          <a:xfrm>
            <a:off x="7194550" y="3644900"/>
            <a:ext cx="0" cy="58738"/>
          </a:xfrm>
          <a:prstGeom prst="line">
            <a:avLst/>
          </a:prstGeom>
          <a:noFill/>
          <a:ln w="12700">
            <a:solidFill>
              <a:schemeClr val="folHlink"/>
            </a:solidFill>
            <a:round/>
          </a:ln>
        </p:spPr>
        <p:txBody>
          <a:bodyPr wrap="none" anchor="ctr"/>
          <a:lstStyle/>
          <a:p>
            <a:endParaRPr lang="en-US"/>
          </a:p>
        </p:txBody>
      </p:sp>
      <p:sp>
        <p:nvSpPr>
          <p:cNvPr id="3099" name="Rectangle 731"/>
          <p:cNvSpPr>
            <a:spLocks noChangeArrowheads="1"/>
          </p:cNvSpPr>
          <p:nvPr/>
        </p:nvSpPr>
        <p:spPr bwMode="auto">
          <a:xfrm>
            <a:off x="6835775" y="36449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100" name="Oval 732"/>
          <p:cNvSpPr>
            <a:spLocks noChangeArrowheads="1"/>
          </p:cNvSpPr>
          <p:nvPr/>
        </p:nvSpPr>
        <p:spPr bwMode="auto">
          <a:xfrm>
            <a:off x="6832600" y="35766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3101" name="Group 733"/>
          <p:cNvGrpSpPr/>
          <p:nvPr/>
        </p:nvGrpSpPr>
        <p:grpSpPr bwMode="auto">
          <a:xfrm>
            <a:off x="6918325" y="3600450"/>
            <a:ext cx="179388" cy="65088"/>
            <a:chOff x="2848" y="848"/>
            <a:chExt cx="140" cy="98"/>
          </a:xfrm>
        </p:grpSpPr>
        <p:sp>
          <p:nvSpPr>
            <p:cNvPr id="3385" name="Line 73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86" name="Line 73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87" name="Line 73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102" name="Group 737"/>
          <p:cNvGrpSpPr/>
          <p:nvPr/>
        </p:nvGrpSpPr>
        <p:grpSpPr bwMode="auto">
          <a:xfrm flipV="1">
            <a:off x="6918325" y="3600450"/>
            <a:ext cx="179388" cy="65088"/>
            <a:chOff x="2848" y="848"/>
            <a:chExt cx="140" cy="98"/>
          </a:xfrm>
        </p:grpSpPr>
        <p:sp>
          <p:nvSpPr>
            <p:cNvPr id="3382" name="Line 738"/>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83" name="Line 739"/>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84" name="Line 740"/>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3103" name="Oval 741"/>
          <p:cNvSpPr>
            <a:spLocks noChangeArrowheads="1"/>
          </p:cNvSpPr>
          <p:nvPr/>
        </p:nvSpPr>
        <p:spPr bwMode="auto">
          <a:xfrm>
            <a:off x="7191375" y="39322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3104" name="Line 742"/>
          <p:cNvSpPr>
            <a:spLocks noChangeShapeType="1"/>
          </p:cNvSpPr>
          <p:nvPr/>
        </p:nvSpPr>
        <p:spPr bwMode="auto">
          <a:xfrm>
            <a:off x="7191375" y="3924300"/>
            <a:ext cx="0" cy="58738"/>
          </a:xfrm>
          <a:prstGeom prst="line">
            <a:avLst/>
          </a:prstGeom>
          <a:noFill/>
          <a:ln w="12700">
            <a:solidFill>
              <a:schemeClr val="folHlink"/>
            </a:solidFill>
            <a:round/>
          </a:ln>
        </p:spPr>
        <p:txBody>
          <a:bodyPr wrap="none" anchor="ctr"/>
          <a:lstStyle/>
          <a:p>
            <a:endParaRPr lang="en-US"/>
          </a:p>
        </p:txBody>
      </p:sp>
      <p:sp>
        <p:nvSpPr>
          <p:cNvPr id="3105" name="Line 743"/>
          <p:cNvSpPr>
            <a:spLocks noChangeShapeType="1"/>
          </p:cNvSpPr>
          <p:nvPr/>
        </p:nvSpPr>
        <p:spPr bwMode="auto">
          <a:xfrm>
            <a:off x="7550150" y="3924300"/>
            <a:ext cx="0" cy="58738"/>
          </a:xfrm>
          <a:prstGeom prst="line">
            <a:avLst/>
          </a:prstGeom>
          <a:noFill/>
          <a:ln w="12700">
            <a:solidFill>
              <a:schemeClr val="folHlink"/>
            </a:solidFill>
            <a:round/>
          </a:ln>
        </p:spPr>
        <p:txBody>
          <a:bodyPr wrap="none" anchor="ctr"/>
          <a:lstStyle/>
          <a:p>
            <a:endParaRPr lang="en-US"/>
          </a:p>
        </p:txBody>
      </p:sp>
      <p:sp>
        <p:nvSpPr>
          <p:cNvPr id="3106" name="Rectangle 744"/>
          <p:cNvSpPr>
            <a:spLocks noChangeArrowheads="1"/>
          </p:cNvSpPr>
          <p:nvPr/>
        </p:nvSpPr>
        <p:spPr bwMode="auto">
          <a:xfrm>
            <a:off x="7191375" y="39243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107" name="Oval 745"/>
          <p:cNvSpPr>
            <a:spLocks noChangeArrowheads="1"/>
          </p:cNvSpPr>
          <p:nvPr/>
        </p:nvSpPr>
        <p:spPr bwMode="auto">
          <a:xfrm>
            <a:off x="7188200" y="38560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3108" name="Group 746"/>
          <p:cNvGrpSpPr/>
          <p:nvPr/>
        </p:nvGrpSpPr>
        <p:grpSpPr bwMode="auto">
          <a:xfrm>
            <a:off x="7273925" y="3879850"/>
            <a:ext cx="179388" cy="65088"/>
            <a:chOff x="2848" y="848"/>
            <a:chExt cx="140" cy="98"/>
          </a:xfrm>
        </p:grpSpPr>
        <p:sp>
          <p:nvSpPr>
            <p:cNvPr id="3379" name="Line 747"/>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80" name="Line 748"/>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81" name="Line 749"/>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109" name="Group 750"/>
          <p:cNvGrpSpPr/>
          <p:nvPr/>
        </p:nvGrpSpPr>
        <p:grpSpPr bwMode="auto">
          <a:xfrm flipV="1">
            <a:off x="7273925" y="3879850"/>
            <a:ext cx="179388" cy="65088"/>
            <a:chOff x="2848" y="848"/>
            <a:chExt cx="140" cy="98"/>
          </a:xfrm>
        </p:grpSpPr>
        <p:sp>
          <p:nvSpPr>
            <p:cNvPr id="3376" name="Line 751"/>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77" name="Line 752"/>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78" name="Line 753"/>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3110" name="Oval 754"/>
          <p:cNvSpPr>
            <a:spLocks noChangeArrowheads="1"/>
          </p:cNvSpPr>
          <p:nvPr/>
        </p:nvSpPr>
        <p:spPr bwMode="auto">
          <a:xfrm>
            <a:off x="7470775" y="36655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3111" name="Line 755"/>
          <p:cNvSpPr>
            <a:spLocks noChangeShapeType="1"/>
          </p:cNvSpPr>
          <p:nvPr/>
        </p:nvSpPr>
        <p:spPr bwMode="auto">
          <a:xfrm>
            <a:off x="7470775" y="3657600"/>
            <a:ext cx="0" cy="58738"/>
          </a:xfrm>
          <a:prstGeom prst="line">
            <a:avLst/>
          </a:prstGeom>
          <a:noFill/>
          <a:ln w="12700">
            <a:solidFill>
              <a:schemeClr val="folHlink"/>
            </a:solidFill>
            <a:round/>
          </a:ln>
        </p:spPr>
        <p:txBody>
          <a:bodyPr wrap="none" anchor="ctr"/>
          <a:lstStyle/>
          <a:p>
            <a:endParaRPr lang="en-US"/>
          </a:p>
        </p:txBody>
      </p:sp>
      <p:sp>
        <p:nvSpPr>
          <p:cNvPr id="3112" name="Line 756"/>
          <p:cNvSpPr>
            <a:spLocks noChangeShapeType="1"/>
          </p:cNvSpPr>
          <p:nvPr/>
        </p:nvSpPr>
        <p:spPr bwMode="auto">
          <a:xfrm>
            <a:off x="7829550" y="3657600"/>
            <a:ext cx="0" cy="58738"/>
          </a:xfrm>
          <a:prstGeom prst="line">
            <a:avLst/>
          </a:prstGeom>
          <a:noFill/>
          <a:ln w="12700">
            <a:solidFill>
              <a:schemeClr val="folHlink"/>
            </a:solidFill>
            <a:round/>
          </a:ln>
        </p:spPr>
        <p:txBody>
          <a:bodyPr wrap="none" anchor="ctr"/>
          <a:lstStyle/>
          <a:p>
            <a:endParaRPr lang="en-US"/>
          </a:p>
        </p:txBody>
      </p:sp>
      <p:sp>
        <p:nvSpPr>
          <p:cNvPr id="3113" name="Rectangle 757"/>
          <p:cNvSpPr>
            <a:spLocks noChangeArrowheads="1"/>
          </p:cNvSpPr>
          <p:nvPr/>
        </p:nvSpPr>
        <p:spPr bwMode="auto">
          <a:xfrm>
            <a:off x="7470775" y="36576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114" name="Oval 758"/>
          <p:cNvSpPr>
            <a:spLocks noChangeArrowheads="1"/>
          </p:cNvSpPr>
          <p:nvPr/>
        </p:nvSpPr>
        <p:spPr bwMode="auto">
          <a:xfrm>
            <a:off x="7467600" y="35893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3115" name="Group 759"/>
          <p:cNvGrpSpPr/>
          <p:nvPr/>
        </p:nvGrpSpPr>
        <p:grpSpPr bwMode="auto">
          <a:xfrm>
            <a:off x="7553325" y="3613150"/>
            <a:ext cx="179388" cy="65088"/>
            <a:chOff x="2848" y="848"/>
            <a:chExt cx="140" cy="98"/>
          </a:xfrm>
        </p:grpSpPr>
        <p:sp>
          <p:nvSpPr>
            <p:cNvPr id="3373" name="Line 76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74" name="Line 76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75" name="Line 76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116" name="Group 763"/>
          <p:cNvGrpSpPr/>
          <p:nvPr/>
        </p:nvGrpSpPr>
        <p:grpSpPr bwMode="auto">
          <a:xfrm flipV="1">
            <a:off x="7553325" y="3613150"/>
            <a:ext cx="179388" cy="65088"/>
            <a:chOff x="2848" y="848"/>
            <a:chExt cx="140" cy="98"/>
          </a:xfrm>
        </p:grpSpPr>
        <p:sp>
          <p:nvSpPr>
            <p:cNvPr id="3370" name="Line 76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71" name="Line 76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72" name="Line 76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3117" name="Oval 767"/>
          <p:cNvSpPr>
            <a:spLocks noChangeArrowheads="1"/>
          </p:cNvSpPr>
          <p:nvPr/>
        </p:nvSpPr>
        <p:spPr bwMode="auto">
          <a:xfrm>
            <a:off x="6935788" y="2503488"/>
            <a:ext cx="347662" cy="88900"/>
          </a:xfrm>
          <a:prstGeom prst="ellipse">
            <a:avLst/>
          </a:prstGeom>
          <a:solidFill>
            <a:srgbClr val="DDDDDD"/>
          </a:solidFill>
          <a:ln w="12700">
            <a:solidFill>
              <a:schemeClr val="folHlink"/>
            </a:solidFill>
            <a:round/>
          </a:ln>
        </p:spPr>
        <p:txBody>
          <a:bodyPr wrap="none" anchor="ctr"/>
          <a:lstStyle/>
          <a:p>
            <a:endParaRPr lang="en-US"/>
          </a:p>
        </p:txBody>
      </p:sp>
      <p:sp>
        <p:nvSpPr>
          <p:cNvPr id="3118" name="Line 768"/>
          <p:cNvSpPr>
            <a:spLocks noChangeShapeType="1"/>
          </p:cNvSpPr>
          <p:nvPr/>
        </p:nvSpPr>
        <p:spPr bwMode="auto">
          <a:xfrm>
            <a:off x="6935788" y="2495550"/>
            <a:ext cx="0" cy="55563"/>
          </a:xfrm>
          <a:prstGeom prst="line">
            <a:avLst/>
          </a:prstGeom>
          <a:noFill/>
          <a:ln w="12700">
            <a:solidFill>
              <a:schemeClr val="folHlink"/>
            </a:solidFill>
            <a:round/>
          </a:ln>
        </p:spPr>
        <p:txBody>
          <a:bodyPr wrap="none" anchor="ctr"/>
          <a:lstStyle/>
          <a:p>
            <a:endParaRPr lang="en-US"/>
          </a:p>
        </p:txBody>
      </p:sp>
      <p:sp>
        <p:nvSpPr>
          <p:cNvPr id="3119" name="Line 769"/>
          <p:cNvSpPr>
            <a:spLocks noChangeShapeType="1"/>
          </p:cNvSpPr>
          <p:nvPr/>
        </p:nvSpPr>
        <p:spPr bwMode="auto">
          <a:xfrm>
            <a:off x="7283450" y="2495550"/>
            <a:ext cx="0" cy="55563"/>
          </a:xfrm>
          <a:prstGeom prst="line">
            <a:avLst/>
          </a:prstGeom>
          <a:noFill/>
          <a:ln w="12700">
            <a:solidFill>
              <a:schemeClr val="folHlink"/>
            </a:solidFill>
            <a:round/>
          </a:ln>
        </p:spPr>
        <p:txBody>
          <a:bodyPr wrap="none" anchor="ctr"/>
          <a:lstStyle/>
          <a:p>
            <a:endParaRPr lang="en-US"/>
          </a:p>
        </p:txBody>
      </p:sp>
      <p:sp>
        <p:nvSpPr>
          <p:cNvPr id="3120" name="Rectangle 770"/>
          <p:cNvSpPr>
            <a:spLocks noChangeArrowheads="1"/>
          </p:cNvSpPr>
          <p:nvPr/>
        </p:nvSpPr>
        <p:spPr bwMode="auto">
          <a:xfrm>
            <a:off x="6935788" y="2495550"/>
            <a:ext cx="344487"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121" name="Oval 771"/>
          <p:cNvSpPr>
            <a:spLocks noChangeArrowheads="1"/>
          </p:cNvSpPr>
          <p:nvPr/>
        </p:nvSpPr>
        <p:spPr bwMode="auto">
          <a:xfrm>
            <a:off x="6932613" y="2432050"/>
            <a:ext cx="347662" cy="103188"/>
          </a:xfrm>
          <a:prstGeom prst="ellipse">
            <a:avLst/>
          </a:prstGeom>
          <a:solidFill>
            <a:srgbClr val="DDDDDD"/>
          </a:solidFill>
          <a:ln w="12700">
            <a:solidFill>
              <a:schemeClr val="folHlink"/>
            </a:solidFill>
            <a:round/>
          </a:ln>
        </p:spPr>
        <p:txBody>
          <a:bodyPr wrap="none" anchor="ctr"/>
          <a:lstStyle/>
          <a:p>
            <a:endParaRPr lang="en-US"/>
          </a:p>
        </p:txBody>
      </p:sp>
      <p:grpSp>
        <p:nvGrpSpPr>
          <p:cNvPr id="3122" name="Group 772"/>
          <p:cNvGrpSpPr/>
          <p:nvPr/>
        </p:nvGrpSpPr>
        <p:grpSpPr bwMode="auto">
          <a:xfrm>
            <a:off x="7016750" y="2454275"/>
            <a:ext cx="171450" cy="61913"/>
            <a:chOff x="2848" y="848"/>
            <a:chExt cx="140" cy="98"/>
          </a:xfrm>
        </p:grpSpPr>
        <p:sp>
          <p:nvSpPr>
            <p:cNvPr id="3367" name="Line 77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68" name="Line 77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69" name="Line 77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123" name="Group 776"/>
          <p:cNvGrpSpPr/>
          <p:nvPr/>
        </p:nvGrpSpPr>
        <p:grpSpPr bwMode="auto">
          <a:xfrm flipV="1">
            <a:off x="7016750" y="2454275"/>
            <a:ext cx="171450" cy="60325"/>
            <a:chOff x="2848" y="848"/>
            <a:chExt cx="140" cy="98"/>
          </a:xfrm>
        </p:grpSpPr>
        <p:sp>
          <p:nvSpPr>
            <p:cNvPr id="3364" name="Line 777"/>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65" name="Line 778"/>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66" name="Line 779"/>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3124" name="Oval 780"/>
          <p:cNvSpPr>
            <a:spLocks noChangeArrowheads="1"/>
          </p:cNvSpPr>
          <p:nvPr/>
        </p:nvSpPr>
        <p:spPr bwMode="auto">
          <a:xfrm>
            <a:off x="6934200" y="27638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3125" name="Line 781"/>
          <p:cNvSpPr>
            <a:spLocks noChangeShapeType="1"/>
          </p:cNvSpPr>
          <p:nvPr/>
        </p:nvSpPr>
        <p:spPr bwMode="auto">
          <a:xfrm>
            <a:off x="6934200" y="2755900"/>
            <a:ext cx="0" cy="58738"/>
          </a:xfrm>
          <a:prstGeom prst="line">
            <a:avLst/>
          </a:prstGeom>
          <a:noFill/>
          <a:ln w="12700">
            <a:solidFill>
              <a:schemeClr val="folHlink"/>
            </a:solidFill>
            <a:round/>
          </a:ln>
        </p:spPr>
        <p:txBody>
          <a:bodyPr wrap="none" anchor="ctr"/>
          <a:lstStyle/>
          <a:p>
            <a:endParaRPr lang="en-US"/>
          </a:p>
        </p:txBody>
      </p:sp>
      <p:sp>
        <p:nvSpPr>
          <p:cNvPr id="3126" name="Line 782"/>
          <p:cNvSpPr>
            <a:spLocks noChangeShapeType="1"/>
          </p:cNvSpPr>
          <p:nvPr/>
        </p:nvSpPr>
        <p:spPr bwMode="auto">
          <a:xfrm>
            <a:off x="7292975" y="2755900"/>
            <a:ext cx="0" cy="58738"/>
          </a:xfrm>
          <a:prstGeom prst="line">
            <a:avLst/>
          </a:prstGeom>
          <a:noFill/>
          <a:ln w="12700">
            <a:solidFill>
              <a:schemeClr val="folHlink"/>
            </a:solidFill>
            <a:round/>
          </a:ln>
        </p:spPr>
        <p:txBody>
          <a:bodyPr wrap="none" anchor="ctr"/>
          <a:lstStyle/>
          <a:p>
            <a:endParaRPr lang="en-US"/>
          </a:p>
        </p:txBody>
      </p:sp>
      <p:sp>
        <p:nvSpPr>
          <p:cNvPr id="3127" name="Rectangle 783"/>
          <p:cNvSpPr>
            <a:spLocks noChangeArrowheads="1"/>
          </p:cNvSpPr>
          <p:nvPr/>
        </p:nvSpPr>
        <p:spPr bwMode="auto">
          <a:xfrm>
            <a:off x="6934200" y="27559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128" name="Oval 784"/>
          <p:cNvSpPr>
            <a:spLocks noChangeArrowheads="1"/>
          </p:cNvSpPr>
          <p:nvPr/>
        </p:nvSpPr>
        <p:spPr bwMode="auto">
          <a:xfrm>
            <a:off x="6931025" y="26876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3129" name="Group 785"/>
          <p:cNvGrpSpPr/>
          <p:nvPr/>
        </p:nvGrpSpPr>
        <p:grpSpPr bwMode="auto">
          <a:xfrm>
            <a:off x="7016750" y="2711450"/>
            <a:ext cx="179388" cy="65088"/>
            <a:chOff x="2848" y="848"/>
            <a:chExt cx="140" cy="98"/>
          </a:xfrm>
        </p:grpSpPr>
        <p:sp>
          <p:nvSpPr>
            <p:cNvPr id="3361" name="Line 78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62" name="Line 78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63" name="Line 78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130" name="Group 789"/>
          <p:cNvGrpSpPr/>
          <p:nvPr/>
        </p:nvGrpSpPr>
        <p:grpSpPr bwMode="auto">
          <a:xfrm flipV="1">
            <a:off x="7016750" y="2711450"/>
            <a:ext cx="179388" cy="65088"/>
            <a:chOff x="2848" y="848"/>
            <a:chExt cx="140" cy="98"/>
          </a:xfrm>
        </p:grpSpPr>
        <p:sp>
          <p:nvSpPr>
            <p:cNvPr id="3358" name="Line 79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59" name="Line 79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60" name="Line 79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3131" name="Oval 793"/>
          <p:cNvSpPr>
            <a:spLocks noChangeArrowheads="1"/>
          </p:cNvSpPr>
          <p:nvPr/>
        </p:nvSpPr>
        <p:spPr bwMode="auto">
          <a:xfrm>
            <a:off x="7410450" y="2405063"/>
            <a:ext cx="330200" cy="85725"/>
          </a:xfrm>
          <a:prstGeom prst="ellipse">
            <a:avLst/>
          </a:prstGeom>
          <a:solidFill>
            <a:srgbClr val="DDDDDD"/>
          </a:solidFill>
          <a:ln w="12700">
            <a:solidFill>
              <a:schemeClr val="folHlink"/>
            </a:solidFill>
            <a:round/>
          </a:ln>
        </p:spPr>
        <p:txBody>
          <a:bodyPr wrap="none" anchor="ctr"/>
          <a:lstStyle/>
          <a:p>
            <a:endParaRPr lang="en-US"/>
          </a:p>
        </p:txBody>
      </p:sp>
      <p:sp>
        <p:nvSpPr>
          <p:cNvPr id="3132" name="Line 794"/>
          <p:cNvSpPr>
            <a:spLocks noChangeShapeType="1"/>
          </p:cNvSpPr>
          <p:nvPr/>
        </p:nvSpPr>
        <p:spPr bwMode="auto">
          <a:xfrm>
            <a:off x="7410450" y="2398713"/>
            <a:ext cx="0" cy="52387"/>
          </a:xfrm>
          <a:prstGeom prst="line">
            <a:avLst/>
          </a:prstGeom>
          <a:noFill/>
          <a:ln w="12700">
            <a:solidFill>
              <a:schemeClr val="folHlink"/>
            </a:solidFill>
            <a:round/>
          </a:ln>
        </p:spPr>
        <p:txBody>
          <a:bodyPr wrap="none" anchor="ctr"/>
          <a:lstStyle/>
          <a:p>
            <a:endParaRPr lang="en-US"/>
          </a:p>
        </p:txBody>
      </p:sp>
      <p:sp>
        <p:nvSpPr>
          <p:cNvPr id="3133" name="Line 795"/>
          <p:cNvSpPr>
            <a:spLocks noChangeShapeType="1"/>
          </p:cNvSpPr>
          <p:nvPr/>
        </p:nvSpPr>
        <p:spPr bwMode="auto">
          <a:xfrm>
            <a:off x="7740650" y="2398713"/>
            <a:ext cx="0" cy="52387"/>
          </a:xfrm>
          <a:prstGeom prst="line">
            <a:avLst/>
          </a:prstGeom>
          <a:noFill/>
          <a:ln w="12700">
            <a:solidFill>
              <a:schemeClr val="folHlink"/>
            </a:solidFill>
            <a:round/>
          </a:ln>
        </p:spPr>
        <p:txBody>
          <a:bodyPr wrap="none" anchor="ctr"/>
          <a:lstStyle/>
          <a:p>
            <a:endParaRPr lang="en-US"/>
          </a:p>
        </p:txBody>
      </p:sp>
      <p:sp>
        <p:nvSpPr>
          <p:cNvPr id="3134" name="Rectangle 796"/>
          <p:cNvSpPr>
            <a:spLocks noChangeArrowheads="1"/>
          </p:cNvSpPr>
          <p:nvPr/>
        </p:nvSpPr>
        <p:spPr bwMode="auto">
          <a:xfrm>
            <a:off x="7410450" y="2398713"/>
            <a:ext cx="327025" cy="52387"/>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solidFill>
                <a:schemeClr val="bg2"/>
              </a:solidFill>
              <a:latin typeface="Times New Roman" panose="02020603050405020304" pitchFamily="18" charset="0"/>
            </a:endParaRPr>
          </a:p>
        </p:txBody>
      </p:sp>
      <p:sp>
        <p:nvSpPr>
          <p:cNvPr id="3135" name="Oval 797"/>
          <p:cNvSpPr>
            <a:spLocks noChangeArrowheads="1"/>
          </p:cNvSpPr>
          <p:nvPr/>
        </p:nvSpPr>
        <p:spPr bwMode="auto">
          <a:xfrm>
            <a:off x="7407275" y="2336800"/>
            <a:ext cx="330200" cy="100013"/>
          </a:xfrm>
          <a:prstGeom prst="ellipse">
            <a:avLst/>
          </a:prstGeom>
          <a:solidFill>
            <a:srgbClr val="DDDDDD"/>
          </a:solidFill>
          <a:ln w="12700">
            <a:solidFill>
              <a:schemeClr val="folHlink"/>
            </a:solidFill>
            <a:round/>
          </a:ln>
        </p:spPr>
        <p:txBody>
          <a:bodyPr wrap="none" anchor="ctr"/>
          <a:lstStyle/>
          <a:p>
            <a:endParaRPr lang="en-US"/>
          </a:p>
        </p:txBody>
      </p:sp>
      <p:grpSp>
        <p:nvGrpSpPr>
          <p:cNvPr id="3136" name="Group 798"/>
          <p:cNvGrpSpPr/>
          <p:nvPr/>
        </p:nvGrpSpPr>
        <p:grpSpPr bwMode="auto">
          <a:xfrm>
            <a:off x="7486650" y="2359025"/>
            <a:ext cx="163513" cy="57150"/>
            <a:chOff x="2848" y="848"/>
            <a:chExt cx="140" cy="98"/>
          </a:xfrm>
        </p:grpSpPr>
        <p:sp>
          <p:nvSpPr>
            <p:cNvPr id="3355" name="Line 79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56" name="Line 80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57" name="Line 80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137" name="Group 802"/>
          <p:cNvGrpSpPr/>
          <p:nvPr/>
        </p:nvGrpSpPr>
        <p:grpSpPr bwMode="auto">
          <a:xfrm flipV="1">
            <a:off x="7486650" y="2357438"/>
            <a:ext cx="163513" cy="58737"/>
            <a:chOff x="2848" y="848"/>
            <a:chExt cx="140" cy="98"/>
          </a:xfrm>
        </p:grpSpPr>
        <p:sp>
          <p:nvSpPr>
            <p:cNvPr id="3352" name="Line 80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53" name="Line 80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54" name="Line 80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3138" name="Oval 806"/>
          <p:cNvSpPr>
            <a:spLocks noChangeArrowheads="1"/>
          </p:cNvSpPr>
          <p:nvPr/>
        </p:nvSpPr>
        <p:spPr bwMode="auto">
          <a:xfrm>
            <a:off x="7496175" y="27638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3139" name="Line 807"/>
          <p:cNvSpPr>
            <a:spLocks noChangeShapeType="1"/>
          </p:cNvSpPr>
          <p:nvPr/>
        </p:nvSpPr>
        <p:spPr bwMode="auto">
          <a:xfrm>
            <a:off x="7496175" y="2755900"/>
            <a:ext cx="0" cy="58738"/>
          </a:xfrm>
          <a:prstGeom prst="line">
            <a:avLst/>
          </a:prstGeom>
          <a:noFill/>
          <a:ln w="12700">
            <a:solidFill>
              <a:schemeClr val="folHlink"/>
            </a:solidFill>
            <a:round/>
          </a:ln>
        </p:spPr>
        <p:txBody>
          <a:bodyPr wrap="none" anchor="ctr"/>
          <a:lstStyle/>
          <a:p>
            <a:endParaRPr lang="en-US"/>
          </a:p>
        </p:txBody>
      </p:sp>
      <p:sp>
        <p:nvSpPr>
          <p:cNvPr id="3140" name="Line 808"/>
          <p:cNvSpPr>
            <a:spLocks noChangeShapeType="1"/>
          </p:cNvSpPr>
          <p:nvPr/>
        </p:nvSpPr>
        <p:spPr bwMode="auto">
          <a:xfrm>
            <a:off x="7854950" y="2755900"/>
            <a:ext cx="0" cy="58738"/>
          </a:xfrm>
          <a:prstGeom prst="line">
            <a:avLst/>
          </a:prstGeom>
          <a:noFill/>
          <a:ln w="12700">
            <a:solidFill>
              <a:schemeClr val="folHlink"/>
            </a:solidFill>
            <a:round/>
          </a:ln>
        </p:spPr>
        <p:txBody>
          <a:bodyPr wrap="none" anchor="ctr"/>
          <a:lstStyle/>
          <a:p>
            <a:endParaRPr lang="en-US"/>
          </a:p>
        </p:txBody>
      </p:sp>
      <p:sp>
        <p:nvSpPr>
          <p:cNvPr id="3141" name="Rectangle 809"/>
          <p:cNvSpPr>
            <a:spLocks noChangeArrowheads="1"/>
          </p:cNvSpPr>
          <p:nvPr/>
        </p:nvSpPr>
        <p:spPr bwMode="auto">
          <a:xfrm>
            <a:off x="7496175" y="27559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142" name="Oval 810"/>
          <p:cNvSpPr>
            <a:spLocks noChangeArrowheads="1"/>
          </p:cNvSpPr>
          <p:nvPr/>
        </p:nvSpPr>
        <p:spPr bwMode="auto">
          <a:xfrm>
            <a:off x="7493000" y="26876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3143" name="Group 811"/>
          <p:cNvGrpSpPr/>
          <p:nvPr/>
        </p:nvGrpSpPr>
        <p:grpSpPr bwMode="auto">
          <a:xfrm>
            <a:off x="7578725" y="2711450"/>
            <a:ext cx="179388" cy="65088"/>
            <a:chOff x="2848" y="848"/>
            <a:chExt cx="140" cy="98"/>
          </a:xfrm>
        </p:grpSpPr>
        <p:sp>
          <p:nvSpPr>
            <p:cNvPr id="3349" name="Line 812"/>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50" name="Line 813"/>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51" name="Line 814"/>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144" name="Group 815"/>
          <p:cNvGrpSpPr/>
          <p:nvPr/>
        </p:nvGrpSpPr>
        <p:grpSpPr bwMode="auto">
          <a:xfrm flipV="1">
            <a:off x="7578725" y="2711450"/>
            <a:ext cx="179388" cy="65088"/>
            <a:chOff x="2848" y="848"/>
            <a:chExt cx="140" cy="98"/>
          </a:xfrm>
        </p:grpSpPr>
        <p:sp>
          <p:nvSpPr>
            <p:cNvPr id="3346" name="Line 81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47" name="Line 81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48" name="Line 81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3145" name="Oval 819"/>
          <p:cNvSpPr>
            <a:spLocks noChangeArrowheads="1"/>
          </p:cNvSpPr>
          <p:nvPr/>
        </p:nvSpPr>
        <p:spPr bwMode="auto">
          <a:xfrm>
            <a:off x="6086475" y="2498725"/>
            <a:ext cx="346075" cy="87313"/>
          </a:xfrm>
          <a:prstGeom prst="ellipse">
            <a:avLst/>
          </a:prstGeom>
          <a:solidFill>
            <a:srgbClr val="DDDDDD"/>
          </a:solidFill>
          <a:ln w="12700">
            <a:solidFill>
              <a:schemeClr val="folHlink"/>
            </a:solidFill>
            <a:round/>
          </a:ln>
        </p:spPr>
        <p:txBody>
          <a:bodyPr wrap="none" anchor="ctr"/>
          <a:lstStyle/>
          <a:p>
            <a:endParaRPr lang="en-US"/>
          </a:p>
        </p:txBody>
      </p:sp>
      <p:sp>
        <p:nvSpPr>
          <p:cNvPr id="3146" name="Line 820"/>
          <p:cNvSpPr>
            <a:spLocks noChangeShapeType="1"/>
          </p:cNvSpPr>
          <p:nvPr/>
        </p:nvSpPr>
        <p:spPr bwMode="auto">
          <a:xfrm>
            <a:off x="6086475" y="2490788"/>
            <a:ext cx="0" cy="53975"/>
          </a:xfrm>
          <a:prstGeom prst="line">
            <a:avLst/>
          </a:prstGeom>
          <a:noFill/>
          <a:ln w="12700">
            <a:solidFill>
              <a:schemeClr val="folHlink"/>
            </a:solidFill>
            <a:round/>
          </a:ln>
        </p:spPr>
        <p:txBody>
          <a:bodyPr wrap="none" anchor="ctr"/>
          <a:lstStyle/>
          <a:p>
            <a:endParaRPr lang="en-US"/>
          </a:p>
        </p:txBody>
      </p:sp>
      <p:sp>
        <p:nvSpPr>
          <p:cNvPr id="3147" name="Line 821"/>
          <p:cNvSpPr>
            <a:spLocks noChangeShapeType="1"/>
          </p:cNvSpPr>
          <p:nvPr/>
        </p:nvSpPr>
        <p:spPr bwMode="auto">
          <a:xfrm>
            <a:off x="6432550" y="2490788"/>
            <a:ext cx="0" cy="53975"/>
          </a:xfrm>
          <a:prstGeom prst="line">
            <a:avLst/>
          </a:prstGeom>
          <a:noFill/>
          <a:ln w="12700">
            <a:solidFill>
              <a:schemeClr val="folHlink"/>
            </a:solidFill>
            <a:round/>
          </a:ln>
        </p:spPr>
        <p:txBody>
          <a:bodyPr wrap="none" anchor="ctr"/>
          <a:lstStyle/>
          <a:p>
            <a:endParaRPr lang="en-US"/>
          </a:p>
        </p:txBody>
      </p:sp>
      <p:sp>
        <p:nvSpPr>
          <p:cNvPr id="3148" name="Rectangle 822"/>
          <p:cNvSpPr>
            <a:spLocks noChangeArrowheads="1"/>
          </p:cNvSpPr>
          <p:nvPr/>
        </p:nvSpPr>
        <p:spPr bwMode="auto">
          <a:xfrm>
            <a:off x="6086475" y="2490788"/>
            <a:ext cx="342900"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149" name="Oval 823"/>
          <p:cNvSpPr>
            <a:spLocks noChangeArrowheads="1"/>
          </p:cNvSpPr>
          <p:nvPr/>
        </p:nvSpPr>
        <p:spPr bwMode="auto">
          <a:xfrm>
            <a:off x="6083300" y="2427288"/>
            <a:ext cx="346075" cy="103187"/>
          </a:xfrm>
          <a:prstGeom prst="ellipse">
            <a:avLst/>
          </a:prstGeom>
          <a:solidFill>
            <a:srgbClr val="DDDDDD"/>
          </a:solidFill>
          <a:ln w="12700">
            <a:solidFill>
              <a:schemeClr val="folHlink"/>
            </a:solidFill>
            <a:round/>
          </a:ln>
        </p:spPr>
        <p:txBody>
          <a:bodyPr wrap="none" anchor="ctr"/>
          <a:lstStyle/>
          <a:p>
            <a:endParaRPr lang="en-US"/>
          </a:p>
        </p:txBody>
      </p:sp>
      <p:grpSp>
        <p:nvGrpSpPr>
          <p:cNvPr id="3150" name="Group 824"/>
          <p:cNvGrpSpPr/>
          <p:nvPr/>
        </p:nvGrpSpPr>
        <p:grpSpPr bwMode="auto">
          <a:xfrm>
            <a:off x="6167438" y="2449513"/>
            <a:ext cx="171450" cy="60325"/>
            <a:chOff x="2848" y="848"/>
            <a:chExt cx="140" cy="98"/>
          </a:xfrm>
        </p:grpSpPr>
        <p:sp>
          <p:nvSpPr>
            <p:cNvPr id="3343" name="Line 82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44" name="Line 82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45" name="Line 82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151" name="Group 828"/>
          <p:cNvGrpSpPr/>
          <p:nvPr/>
        </p:nvGrpSpPr>
        <p:grpSpPr bwMode="auto">
          <a:xfrm flipV="1">
            <a:off x="6167438" y="2449513"/>
            <a:ext cx="171450" cy="58737"/>
            <a:chOff x="2848" y="848"/>
            <a:chExt cx="140" cy="98"/>
          </a:xfrm>
        </p:grpSpPr>
        <p:sp>
          <p:nvSpPr>
            <p:cNvPr id="3340" name="Line 82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41" name="Line 83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42" name="Line 83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3152" name="Oval 832"/>
          <p:cNvSpPr>
            <a:spLocks noChangeArrowheads="1"/>
          </p:cNvSpPr>
          <p:nvPr/>
        </p:nvSpPr>
        <p:spPr bwMode="auto">
          <a:xfrm>
            <a:off x="5780088" y="3648075"/>
            <a:ext cx="346075" cy="87313"/>
          </a:xfrm>
          <a:prstGeom prst="ellipse">
            <a:avLst/>
          </a:prstGeom>
          <a:solidFill>
            <a:srgbClr val="DDDDDD"/>
          </a:solidFill>
          <a:ln w="12700">
            <a:solidFill>
              <a:schemeClr val="folHlink"/>
            </a:solidFill>
            <a:round/>
          </a:ln>
        </p:spPr>
        <p:txBody>
          <a:bodyPr wrap="none" anchor="ctr"/>
          <a:lstStyle/>
          <a:p>
            <a:endParaRPr lang="en-US"/>
          </a:p>
        </p:txBody>
      </p:sp>
      <p:sp>
        <p:nvSpPr>
          <p:cNvPr id="3153" name="Line 833"/>
          <p:cNvSpPr>
            <a:spLocks noChangeShapeType="1"/>
          </p:cNvSpPr>
          <p:nvPr/>
        </p:nvSpPr>
        <p:spPr bwMode="auto">
          <a:xfrm>
            <a:off x="5780088" y="3640138"/>
            <a:ext cx="0" cy="53975"/>
          </a:xfrm>
          <a:prstGeom prst="line">
            <a:avLst/>
          </a:prstGeom>
          <a:noFill/>
          <a:ln w="12700">
            <a:solidFill>
              <a:schemeClr val="folHlink"/>
            </a:solidFill>
            <a:round/>
          </a:ln>
        </p:spPr>
        <p:txBody>
          <a:bodyPr wrap="none" anchor="ctr"/>
          <a:lstStyle/>
          <a:p>
            <a:endParaRPr lang="en-US"/>
          </a:p>
        </p:txBody>
      </p:sp>
      <p:sp>
        <p:nvSpPr>
          <p:cNvPr id="3154" name="Line 834"/>
          <p:cNvSpPr>
            <a:spLocks noChangeShapeType="1"/>
          </p:cNvSpPr>
          <p:nvPr/>
        </p:nvSpPr>
        <p:spPr bwMode="auto">
          <a:xfrm>
            <a:off x="6126163" y="3640138"/>
            <a:ext cx="0" cy="53975"/>
          </a:xfrm>
          <a:prstGeom prst="line">
            <a:avLst/>
          </a:prstGeom>
          <a:noFill/>
          <a:ln w="12700">
            <a:solidFill>
              <a:schemeClr val="folHlink"/>
            </a:solidFill>
            <a:round/>
          </a:ln>
        </p:spPr>
        <p:txBody>
          <a:bodyPr wrap="none" anchor="ctr"/>
          <a:lstStyle/>
          <a:p>
            <a:endParaRPr lang="en-US"/>
          </a:p>
        </p:txBody>
      </p:sp>
      <p:sp>
        <p:nvSpPr>
          <p:cNvPr id="3155" name="Rectangle 835"/>
          <p:cNvSpPr>
            <a:spLocks noChangeArrowheads="1"/>
          </p:cNvSpPr>
          <p:nvPr/>
        </p:nvSpPr>
        <p:spPr bwMode="auto">
          <a:xfrm>
            <a:off x="5780088" y="3640138"/>
            <a:ext cx="342900"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156" name="Oval 836"/>
          <p:cNvSpPr>
            <a:spLocks noChangeArrowheads="1"/>
          </p:cNvSpPr>
          <p:nvPr/>
        </p:nvSpPr>
        <p:spPr bwMode="auto">
          <a:xfrm>
            <a:off x="5776913" y="3576638"/>
            <a:ext cx="346075" cy="103187"/>
          </a:xfrm>
          <a:prstGeom prst="ellipse">
            <a:avLst/>
          </a:prstGeom>
          <a:solidFill>
            <a:srgbClr val="DDDDDD"/>
          </a:solidFill>
          <a:ln w="12700">
            <a:solidFill>
              <a:schemeClr val="folHlink"/>
            </a:solidFill>
            <a:round/>
          </a:ln>
        </p:spPr>
        <p:txBody>
          <a:bodyPr wrap="none" anchor="ctr"/>
          <a:lstStyle/>
          <a:p>
            <a:endParaRPr lang="en-US"/>
          </a:p>
        </p:txBody>
      </p:sp>
      <p:grpSp>
        <p:nvGrpSpPr>
          <p:cNvPr id="3157" name="Group 837"/>
          <p:cNvGrpSpPr/>
          <p:nvPr/>
        </p:nvGrpSpPr>
        <p:grpSpPr bwMode="auto">
          <a:xfrm>
            <a:off x="5861050" y="3598863"/>
            <a:ext cx="171450" cy="60325"/>
            <a:chOff x="2848" y="848"/>
            <a:chExt cx="140" cy="98"/>
          </a:xfrm>
        </p:grpSpPr>
        <p:sp>
          <p:nvSpPr>
            <p:cNvPr id="3337" name="Line 838"/>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38" name="Line 839"/>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39" name="Line 840"/>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158" name="Group 841"/>
          <p:cNvGrpSpPr/>
          <p:nvPr/>
        </p:nvGrpSpPr>
        <p:grpSpPr bwMode="auto">
          <a:xfrm flipV="1">
            <a:off x="5861050" y="3598863"/>
            <a:ext cx="171450" cy="58737"/>
            <a:chOff x="2848" y="848"/>
            <a:chExt cx="140" cy="98"/>
          </a:xfrm>
        </p:grpSpPr>
        <p:sp>
          <p:nvSpPr>
            <p:cNvPr id="3334" name="Line 842"/>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35" name="Line 843"/>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36" name="Line 844"/>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3159" name="Line 845"/>
          <p:cNvSpPr>
            <a:spLocks noChangeShapeType="1"/>
          </p:cNvSpPr>
          <p:nvPr/>
        </p:nvSpPr>
        <p:spPr bwMode="auto">
          <a:xfrm flipV="1">
            <a:off x="6978650" y="4005263"/>
            <a:ext cx="227013" cy="436562"/>
          </a:xfrm>
          <a:prstGeom prst="line">
            <a:avLst/>
          </a:prstGeom>
          <a:noFill/>
          <a:ln w="9525">
            <a:solidFill>
              <a:schemeClr val="bg2"/>
            </a:solidFill>
            <a:round/>
          </a:ln>
        </p:spPr>
        <p:txBody>
          <a:bodyPr/>
          <a:lstStyle/>
          <a:p>
            <a:endParaRPr lang="en-US"/>
          </a:p>
        </p:txBody>
      </p:sp>
      <p:sp>
        <p:nvSpPr>
          <p:cNvPr id="3160" name="Line 846"/>
          <p:cNvSpPr>
            <a:spLocks noChangeShapeType="1"/>
          </p:cNvSpPr>
          <p:nvPr/>
        </p:nvSpPr>
        <p:spPr bwMode="auto">
          <a:xfrm>
            <a:off x="7102475" y="3743325"/>
            <a:ext cx="163513" cy="120650"/>
          </a:xfrm>
          <a:prstGeom prst="line">
            <a:avLst/>
          </a:prstGeom>
          <a:noFill/>
          <a:ln w="9525">
            <a:solidFill>
              <a:schemeClr val="bg2"/>
            </a:solidFill>
            <a:round/>
          </a:ln>
        </p:spPr>
        <p:txBody>
          <a:bodyPr/>
          <a:lstStyle/>
          <a:p>
            <a:endParaRPr lang="en-US"/>
          </a:p>
        </p:txBody>
      </p:sp>
      <p:sp>
        <p:nvSpPr>
          <p:cNvPr id="3161" name="Line 847"/>
          <p:cNvSpPr>
            <a:spLocks noChangeShapeType="1"/>
          </p:cNvSpPr>
          <p:nvPr/>
        </p:nvSpPr>
        <p:spPr bwMode="auto">
          <a:xfrm>
            <a:off x="7199313" y="3663950"/>
            <a:ext cx="279400" cy="0"/>
          </a:xfrm>
          <a:prstGeom prst="line">
            <a:avLst/>
          </a:prstGeom>
          <a:noFill/>
          <a:ln w="9525">
            <a:solidFill>
              <a:schemeClr val="bg2"/>
            </a:solidFill>
            <a:round/>
          </a:ln>
        </p:spPr>
        <p:txBody>
          <a:bodyPr/>
          <a:lstStyle/>
          <a:p>
            <a:endParaRPr lang="en-US"/>
          </a:p>
        </p:txBody>
      </p:sp>
      <p:sp>
        <p:nvSpPr>
          <p:cNvPr id="3162" name="Line 848"/>
          <p:cNvSpPr>
            <a:spLocks noChangeShapeType="1"/>
          </p:cNvSpPr>
          <p:nvPr/>
        </p:nvSpPr>
        <p:spPr bwMode="auto">
          <a:xfrm flipV="1">
            <a:off x="7435850" y="3749675"/>
            <a:ext cx="134938" cy="104775"/>
          </a:xfrm>
          <a:prstGeom prst="line">
            <a:avLst/>
          </a:prstGeom>
          <a:noFill/>
          <a:ln w="9525">
            <a:solidFill>
              <a:schemeClr val="bg2"/>
            </a:solidFill>
            <a:round/>
          </a:ln>
        </p:spPr>
        <p:txBody>
          <a:bodyPr/>
          <a:lstStyle/>
          <a:p>
            <a:endParaRPr lang="en-US"/>
          </a:p>
        </p:txBody>
      </p:sp>
      <p:sp>
        <p:nvSpPr>
          <p:cNvPr id="3163" name="Line 849"/>
          <p:cNvSpPr>
            <a:spLocks noChangeShapeType="1"/>
          </p:cNvSpPr>
          <p:nvPr/>
        </p:nvSpPr>
        <p:spPr bwMode="auto">
          <a:xfrm>
            <a:off x="6134100" y="3670300"/>
            <a:ext cx="679450" cy="0"/>
          </a:xfrm>
          <a:prstGeom prst="line">
            <a:avLst/>
          </a:prstGeom>
          <a:noFill/>
          <a:ln w="9525">
            <a:solidFill>
              <a:schemeClr val="bg2"/>
            </a:solidFill>
            <a:round/>
          </a:ln>
        </p:spPr>
        <p:txBody>
          <a:bodyPr/>
          <a:lstStyle/>
          <a:p>
            <a:endParaRPr lang="en-US"/>
          </a:p>
        </p:txBody>
      </p:sp>
      <p:sp>
        <p:nvSpPr>
          <p:cNvPr id="3164" name="Line 850"/>
          <p:cNvSpPr>
            <a:spLocks noChangeShapeType="1"/>
          </p:cNvSpPr>
          <p:nvPr/>
        </p:nvSpPr>
        <p:spPr bwMode="auto">
          <a:xfrm>
            <a:off x="6429375" y="2517775"/>
            <a:ext cx="509588" cy="3175"/>
          </a:xfrm>
          <a:prstGeom prst="line">
            <a:avLst/>
          </a:prstGeom>
          <a:noFill/>
          <a:ln w="9525">
            <a:solidFill>
              <a:schemeClr val="bg2"/>
            </a:solidFill>
            <a:round/>
          </a:ln>
        </p:spPr>
        <p:txBody>
          <a:bodyPr/>
          <a:lstStyle/>
          <a:p>
            <a:endParaRPr lang="en-US"/>
          </a:p>
        </p:txBody>
      </p:sp>
      <p:sp>
        <p:nvSpPr>
          <p:cNvPr id="3165" name="Line 851"/>
          <p:cNvSpPr>
            <a:spLocks noChangeShapeType="1"/>
          </p:cNvSpPr>
          <p:nvPr/>
        </p:nvSpPr>
        <p:spPr bwMode="auto">
          <a:xfrm>
            <a:off x="5995988" y="2346325"/>
            <a:ext cx="152400" cy="82550"/>
          </a:xfrm>
          <a:prstGeom prst="line">
            <a:avLst/>
          </a:prstGeom>
          <a:noFill/>
          <a:ln w="9525">
            <a:solidFill>
              <a:schemeClr val="bg2"/>
            </a:solidFill>
            <a:round/>
          </a:ln>
        </p:spPr>
        <p:txBody>
          <a:bodyPr/>
          <a:lstStyle/>
          <a:p>
            <a:endParaRPr lang="en-US"/>
          </a:p>
        </p:txBody>
      </p:sp>
      <p:sp>
        <p:nvSpPr>
          <p:cNvPr id="3166" name="Freeform 852"/>
          <p:cNvSpPr/>
          <p:nvPr/>
        </p:nvSpPr>
        <p:spPr bwMode="auto">
          <a:xfrm>
            <a:off x="5316538" y="4352925"/>
            <a:ext cx="2979737" cy="1455738"/>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w="9525">
            <a:noFill/>
            <a:round/>
          </a:ln>
        </p:spPr>
        <p:txBody>
          <a:bodyPr/>
          <a:lstStyle/>
          <a:p>
            <a:endParaRPr lang="en-US"/>
          </a:p>
        </p:txBody>
      </p:sp>
      <p:sp>
        <p:nvSpPr>
          <p:cNvPr id="3167" name="Line 853"/>
          <p:cNvSpPr>
            <a:spLocks noChangeShapeType="1"/>
          </p:cNvSpPr>
          <p:nvPr/>
        </p:nvSpPr>
        <p:spPr bwMode="auto">
          <a:xfrm rot="-5400000">
            <a:off x="7551737" y="5089526"/>
            <a:ext cx="523875" cy="139700"/>
          </a:xfrm>
          <a:prstGeom prst="line">
            <a:avLst/>
          </a:prstGeom>
          <a:noFill/>
          <a:ln w="12700">
            <a:solidFill>
              <a:schemeClr val="bg2"/>
            </a:solidFill>
            <a:round/>
          </a:ln>
        </p:spPr>
        <p:txBody>
          <a:bodyPr wrap="none" anchor="ctr"/>
          <a:lstStyle/>
          <a:p>
            <a:endParaRPr lang="en-US"/>
          </a:p>
        </p:txBody>
      </p:sp>
      <p:sp>
        <p:nvSpPr>
          <p:cNvPr id="3168" name="Line 854"/>
          <p:cNvSpPr>
            <a:spLocks noChangeShapeType="1"/>
          </p:cNvSpPr>
          <p:nvPr/>
        </p:nvSpPr>
        <p:spPr bwMode="auto">
          <a:xfrm rot="5400000" flipV="1">
            <a:off x="7697788" y="5370513"/>
            <a:ext cx="3175" cy="85725"/>
          </a:xfrm>
          <a:prstGeom prst="line">
            <a:avLst/>
          </a:prstGeom>
          <a:noFill/>
          <a:ln w="12700">
            <a:solidFill>
              <a:schemeClr val="bg2"/>
            </a:solidFill>
            <a:round/>
          </a:ln>
        </p:spPr>
        <p:txBody>
          <a:bodyPr wrap="none" anchor="ctr"/>
          <a:lstStyle/>
          <a:p>
            <a:endParaRPr lang="en-US"/>
          </a:p>
        </p:txBody>
      </p:sp>
      <p:sp>
        <p:nvSpPr>
          <p:cNvPr id="3169" name="Line 855"/>
          <p:cNvSpPr>
            <a:spLocks noChangeShapeType="1"/>
          </p:cNvSpPr>
          <p:nvPr/>
        </p:nvSpPr>
        <p:spPr bwMode="auto">
          <a:xfrm rot="-5400000">
            <a:off x="7883525" y="5046663"/>
            <a:ext cx="0" cy="114300"/>
          </a:xfrm>
          <a:prstGeom prst="line">
            <a:avLst/>
          </a:prstGeom>
          <a:noFill/>
          <a:ln w="12700">
            <a:solidFill>
              <a:schemeClr val="bg2"/>
            </a:solidFill>
            <a:round/>
          </a:ln>
        </p:spPr>
        <p:txBody>
          <a:bodyPr wrap="none" anchor="ctr"/>
          <a:lstStyle/>
          <a:p>
            <a:endParaRPr lang="en-US"/>
          </a:p>
        </p:txBody>
      </p:sp>
      <p:grpSp>
        <p:nvGrpSpPr>
          <p:cNvPr id="3170" name="Group 856"/>
          <p:cNvGrpSpPr/>
          <p:nvPr/>
        </p:nvGrpSpPr>
        <p:grpSpPr bwMode="auto">
          <a:xfrm>
            <a:off x="7462838" y="4756150"/>
            <a:ext cx="501650" cy="234950"/>
            <a:chOff x="4701" y="2996"/>
            <a:chExt cx="316" cy="148"/>
          </a:xfrm>
        </p:grpSpPr>
        <p:sp>
          <p:nvSpPr>
            <p:cNvPr id="3321" name="Oval 857"/>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3322" name="Line 858"/>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3323" name="Line 859"/>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3324" name="Rectangle 860"/>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325" name="Oval 861"/>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3326" name="Group 862"/>
            <p:cNvGrpSpPr/>
            <p:nvPr/>
          </p:nvGrpSpPr>
          <p:grpSpPr bwMode="auto">
            <a:xfrm>
              <a:off x="4776" y="3017"/>
              <a:ext cx="156" cy="56"/>
              <a:chOff x="2848" y="848"/>
              <a:chExt cx="140" cy="98"/>
            </a:xfrm>
          </p:grpSpPr>
          <p:sp>
            <p:nvSpPr>
              <p:cNvPr id="3331" name="Line 86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32" name="Line 86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33" name="Line 86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327" name="Group 866"/>
            <p:cNvGrpSpPr/>
            <p:nvPr/>
          </p:nvGrpSpPr>
          <p:grpSpPr bwMode="auto">
            <a:xfrm flipV="1">
              <a:off x="4776" y="3016"/>
              <a:ext cx="156" cy="56"/>
              <a:chOff x="2848" y="848"/>
              <a:chExt cx="140" cy="98"/>
            </a:xfrm>
          </p:grpSpPr>
          <p:sp>
            <p:nvSpPr>
              <p:cNvPr id="3328" name="Line 867"/>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329" name="Line 868"/>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330" name="Line 869"/>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3171" name="Group 870"/>
          <p:cNvGrpSpPr/>
          <p:nvPr/>
        </p:nvGrpSpPr>
        <p:grpSpPr bwMode="auto">
          <a:xfrm>
            <a:off x="6646863" y="4479925"/>
            <a:ext cx="501650" cy="234950"/>
            <a:chOff x="3600" y="219"/>
            <a:chExt cx="360" cy="175"/>
          </a:xfrm>
        </p:grpSpPr>
        <p:sp>
          <p:nvSpPr>
            <p:cNvPr id="3308" name="Oval 871"/>
            <p:cNvSpPr>
              <a:spLocks noChangeArrowheads="1"/>
            </p:cNvSpPr>
            <p:nvPr/>
          </p:nvSpPr>
          <p:spPr bwMode="auto">
            <a:xfrm>
              <a:off x="3603" y="297"/>
              <a:ext cx="357" cy="97"/>
            </a:xfrm>
            <a:prstGeom prst="ellipse">
              <a:avLst/>
            </a:prstGeom>
            <a:solidFill>
              <a:srgbClr val="DDDDDD"/>
            </a:solidFill>
            <a:ln w="12700">
              <a:solidFill>
                <a:schemeClr val="tx1"/>
              </a:solidFill>
              <a:round/>
            </a:ln>
          </p:spPr>
          <p:txBody>
            <a:bodyPr wrap="none" anchor="ctr"/>
            <a:lstStyle/>
            <a:p>
              <a:endParaRPr lang="en-US"/>
            </a:p>
          </p:txBody>
        </p:sp>
        <p:sp>
          <p:nvSpPr>
            <p:cNvPr id="3309" name="Line 872"/>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3310" name="Line 873"/>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3311" name="Rectangle 874"/>
            <p:cNvSpPr>
              <a:spLocks noChangeArrowheads="1"/>
            </p:cNvSpPr>
            <p:nvPr/>
          </p:nvSpPr>
          <p:spPr bwMode="auto">
            <a:xfrm>
              <a:off x="3603" y="289"/>
              <a:ext cx="354" cy="59"/>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312" name="Oval 875"/>
            <p:cNvSpPr>
              <a:spLocks noChangeArrowheads="1"/>
            </p:cNvSpPr>
            <p:nvPr/>
          </p:nvSpPr>
          <p:spPr bwMode="auto">
            <a:xfrm>
              <a:off x="3600" y="219"/>
              <a:ext cx="357" cy="113"/>
            </a:xfrm>
            <a:prstGeom prst="ellipse">
              <a:avLst/>
            </a:prstGeom>
            <a:solidFill>
              <a:srgbClr val="DDDDDD"/>
            </a:solidFill>
            <a:ln w="12700">
              <a:solidFill>
                <a:schemeClr val="tx1"/>
              </a:solidFill>
              <a:round/>
            </a:ln>
          </p:spPr>
          <p:txBody>
            <a:bodyPr wrap="none" anchor="ctr"/>
            <a:lstStyle/>
            <a:p>
              <a:endParaRPr lang="en-US"/>
            </a:p>
          </p:txBody>
        </p:sp>
        <p:grpSp>
          <p:nvGrpSpPr>
            <p:cNvPr id="3313" name="Group 876"/>
            <p:cNvGrpSpPr/>
            <p:nvPr/>
          </p:nvGrpSpPr>
          <p:grpSpPr bwMode="auto">
            <a:xfrm>
              <a:off x="3686" y="244"/>
              <a:ext cx="177" cy="66"/>
              <a:chOff x="2848" y="848"/>
              <a:chExt cx="140" cy="98"/>
            </a:xfrm>
          </p:grpSpPr>
          <p:sp>
            <p:nvSpPr>
              <p:cNvPr id="3318" name="Line 877"/>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3319" name="Line 878"/>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3320" name="Line 879"/>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3314" name="Group 880"/>
            <p:cNvGrpSpPr/>
            <p:nvPr/>
          </p:nvGrpSpPr>
          <p:grpSpPr bwMode="auto">
            <a:xfrm flipV="1">
              <a:off x="3686" y="243"/>
              <a:ext cx="177" cy="66"/>
              <a:chOff x="2848" y="848"/>
              <a:chExt cx="140" cy="98"/>
            </a:xfrm>
          </p:grpSpPr>
          <p:sp>
            <p:nvSpPr>
              <p:cNvPr id="3315" name="Line 881"/>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3316" name="Line 882"/>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3317" name="Line 883"/>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grpSp>
        <p:nvGrpSpPr>
          <p:cNvPr id="3172" name="Group 884"/>
          <p:cNvGrpSpPr/>
          <p:nvPr/>
        </p:nvGrpSpPr>
        <p:grpSpPr bwMode="auto">
          <a:xfrm>
            <a:off x="5981700" y="4784725"/>
            <a:ext cx="501650" cy="234950"/>
            <a:chOff x="3600" y="219"/>
            <a:chExt cx="360" cy="175"/>
          </a:xfrm>
        </p:grpSpPr>
        <p:sp>
          <p:nvSpPr>
            <p:cNvPr id="3295" name="Oval 885"/>
            <p:cNvSpPr>
              <a:spLocks noChangeArrowheads="1"/>
            </p:cNvSpPr>
            <p:nvPr/>
          </p:nvSpPr>
          <p:spPr bwMode="auto">
            <a:xfrm>
              <a:off x="3603" y="297"/>
              <a:ext cx="357" cy="97"/>
            </a:xfrm>
            <a:prstGeom prst="ellipse">
              <a:avLst/>
            </a:prstGeom>
            <a:solidFill>
              <a:srgbClr val="DDDDDD"/>
            </a:solidFill>
            <a:ln w="12700">
              <a:solidFill>
                <a:schemeClr val="tx1"/>
              </a:solidFill>
              <a:round/>
            </a:ln>
          </p:spPr>
          <p:txBody>
            <a:bodyPr wrap="none" anchor="ctr"/>
            <a:lstStyle/>
            <a:p>
              <a:endParaRPr lang="en-US"/>
            </a:p>
          </p:txBody>
        </p:sp>
        <p:sp>
          <p:nvSpPr>
            <p:cNvPr id="3296" name="Line 886"/>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3297" name="Line 887"/>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3298" name="Rectangle 888"/>
            <p:cNvSpPr>
              <a:spLocks noChangeArrowheads="1"/>
            </p:cNvSpPr>
            <p:nvPr/>
          </p:nvSpPr>
          <p:spPr bwMode="auto">
            <a:xfrm>
              <a:off x="3603" y="289"/>
              <a:ext cx="354" cy="59"/>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299" name="Oval 889"/>
            <p:cNvSpPr>
              <a:spLocks noChangeArrowheads="1"/>
            </p:cNvSpPr>
            <p:nvPr/>
          </p:nvSpPr>
          <p:spPr bwMode="auto">
            <a:xfrm>
              <a:off x="3600" y="219"/>
              <a:ext cx="357" cy="113"/>
            </a:xfrm>
            <a:prstGeom prst="ellipse">
              <a:avLst/>
            </a:prstGeom>
            <a:solidFill>
              <a:srgbClr val="DDDDDD"/>
            </a:solidFill>
            <a:ln w="12700">
              <a:solidFill>
                <a:schemeClr val="tx1"/>
              </a:solidFill>
              <a:round/>
            </a:ln>
          </p:spPr>
          <p:txBody>
            <a:bodyPr wrap="none" anchor="ctr"/>
            <a:lstStyle/>
            <a:p>
              <a:endParaRPr lang="en-US"/>
            </a:p>
          </p:txBody>
        </p:sp>
        <p:grpSp>
          <p:nvGrpSpPr>
            <p:cNvPr id="3300" name="Group 890"/>
            <p:cNvGrpSpPr/>
            <p:nvPr/>
          </p:nvGrpSpPr>
          <p:grpSpPr bwMode="auto">
            <a:xfrm>
              <a:off x="3686" y="244"/>
              <a:ext cx="177" cy="66"/>
              <a:chOff x="2848" y="848"/>
              <a:chExt cx="140" cy="98"/>
            </a:xfrm>
          </p:grpSpPr>
          <p:sp>
            <p:nvSpPr>
              <p:cNvPr id="3305" name="Line 891"/>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3306" name="Line 892"/>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3307" name="Line 893"/>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3301" name="Group 894"/>
            <p:cNvGrpSpPr/>
            <p:nvPr/>
          </p:nvGrpSpPr>
          <p:grpSpPr bwMode="auto">
            <a:xfrm flipV="1">
              <a:off x="3686" y="243"/>
              <a:ext cx="177" cy="66"/>
              <a:chOff x="2848" y="848"/>
              <a:chExt cx="140" cy="98"/>
            </a:xfrm>
          </p:grpSpPr>
          <p:sp>
            <p:nvSpPr>
              <p:cNvPr id="3302" name="Line 895"/>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3303" name="Line 896"/>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3304" name="Line 897"/>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3173" name="Line 898"/>
          <p:cNvSpPr>
            <a:spLocks noChangeShapeType="1"/>
          </p:cNvSpPr>
          <p:nvPr/>
        </p:nvSpPr>
        <p:spPr bwMode="auto">
          <a:xfrm>
            <a:off x="7096125" y="4691063"/>
            <a:ext cx="358775" cy="120650"/>
          </a:xfrm>
          <a:prstGeom prst="line">
            <a:avLst/>
          </a:prstGeom>
          <a:noFill/>
          <a:ln w="9525">
            <a:solidFill>
              <a:schemeClr val="bg2"/>
            </a:solidFill>
            <a:round/>
          </a:ln>
        </p:spPr>
        <p:txBody>
          <a:bodyPr/>
          <a:lstStyle/>
          <a:p>
            <a:endParaRPr lang="en-US"/>
          </a:p>
        </p:txBody>
      </p:sp>
      <p:sp>
        <p:nvSpPr>
          <p:cNvPr id="3174" name="Line 899"/>
          <p:cNvSpPr>
            <a:spLocks noChangeShapeType="1"/>
          </p:cNvSpPr>
          <p:nvPr/>
        </p:nvSpPr>
        <p:spPr bwMode="auto">
          <a:xfrm flipV="1">
            <a:off x="6443663" y="4703763"/>
            <a:ext cx="277812" cy="109537"/>
          </a:xfrm>
          <a:prstGeom prst="line">
            <a:avLst/>
          </a:prstGeom>
          <a:noFill/>
          <a:ln w="9525">
            <a:solidFill>
              <a:schemeClr val="bg2"/>
            </a:solidFill>
            <a:round/>
          </a:ln>
        </p:spPr>
        <p:txBody>
          <a:bodyPr/>
          <a:lstStyle/>
          <a:p>
            <a:endParaRPr lang="en-US"/>
          </a:p>
        </p:txBody>
      </p:sp>
      <p:sp>
        <p:nvSpPr>
          <p:cNvPr id="3175" name="Line 900"/>
          <p:cNvSpPr>
            <a:spLocks noChangeShapeType="1"/>
          </p:cNvSpPr>
          <p:nvPr/>
        </p:nvSpPr>
        <p:spPr bwMode="auto">
          <a:xfrm flipV="1">
            <a:off x="6486525" y="4906963"/>
            <a:ext cx="971550" cy="0"/>
          </a:xfrm>
          <a:prstGeom prst="line">
            <a:avLst/>
          </a:prstGeom>
          <a:noFill/>
          <a:ln w="9525">
            <a:solidFill>
              <a:schemeClr val="bg2"/>
            </a:solidFill>
            <a:round/>
          </a:ln>
        </p:spPr>
        <p:txBody>
          <a:bodyPr/>
          <a:lstStyle/>
          <a:p>
            <a:endParaRPr lang="en-US"/>
          </a:p>
        </p:txBody>
      </p:sp>
      <p:sp>
        <p:nvSpPr>
          <p:cNvPr id="3176" name="Line 901"/>
          <p:cNvSpPr>
            <a:spLocks noChangeShapeType="1"/>
          </p:cNvSpPr>
          <p:nvPr/>
        </p:nvSpPr>
        <p:spPr bwMode="auto">
          <a:xfrm flipH="1">
            <a:off x="5781675" y="4652963"/>
            <a:ext cx="254000" cy="469900"/>
          </a:xfrm>
          <a:prstGeom prst="line">
            <a:avLst/>
          </a:prstGeom>
          <a:noFill/>
          <a:ln w="9525">
            <a:solidFill>
              <a:schemeClr val="bg2"/>
            </a:solidFill>
            <a:round/>
          </a:ln>
        </p:spPr>
        <p:txBody>
          <a:bodyPr/>
          <a:lstStyle/>
          <a:p>
            <a:endParaRPr lang="en-US"/>
          </a:p>
        </p:txBody>
      </p:sp>
      <p:sp>
        <p:nvSpPr>
          <p:cNvPr id="3177" name="Line 902"/>
          <p:cNvSpPr>
            <a:spLocks noChangeShapeType="1"/>
          </p:cNvSpPr>
          <p:nvPr/>
        </p:nvSpPr>
        <p:spPr bwMode="auto">
          <a:xfrm>
            <a:off x="5807075" y="4703763"/>
            <a:ext cx="196850" cy="0"/>
          </a:xfrm>
          <a:prstGeom prst="line">
            <a:avLst/>
          </a:prstGeom>
          <a:noFill/>
          <a:ln w="9525">
            <a:solidFill>
              <a:schemeClr val="bg2"/>
            </a:solidFill>
            <a:round/>
          </a:ln>
        </p:spPr>
        <p:txBody>
          <a:bodyPr/>
          <a:lstStyle/>
          <a:p>
            <a:endParaRPr lang="en-US"/>
          </a:p>
        </p:txBody>
      </p:sp>
      <p:sp>
        <p:nvSpPr>
          <p:cNvPr id="3178" name="Line 903"/>
          <p:cNvSpPr>
            <a:spLocks noChangeShapeType="1"/>
          </p:cNvSpPr>
          <p:nvPr/>
        </p:nvSpPr>
        <p:spPr bwMode="auto">
          <a:xfrm>
            <a:off x="5667375" y="5040313"/>
            <a:ext cx="153988" cy="0"/>
          </a:xfrm>
          <a:prstGeom prst="line">
            <a:avLst/>
          </a:prstGeom>
          <a:noFill/>
          <a:ln w="9525">
            <a:solidFill>
              <a:schemeClr val="bg2"/>
            </a:solidFill>
            <a:round/>
          </a:ln>
        </p:spPr>
        <p:txBody>
          <a:bodyPr/>
          <a:lstStyle/>
          <a:p>
            <a:endParaRPr lang="en-US"/>
          </a:p>
        </p:txBody>
      </p:sp>
      <p:sp>
        <p:nvSpPr>
          <p:cNvPr id="3179" name="Line 904"/>
          <p:cNvSpPr>
            <a:spLocks noChangeShapeType="1"/>
          </p:cNvSpPr>
          <p:nvPr/>
        </p:nvSpPr>
        <p:spPr bwMode="auto">
          <a:xfrm>
            <a:off x="5919788" y="5119688"/>
            <a:ext cx="490537" cy="0"/>
          </a:xfrm>
          <a:prstGeom prst="line">
            <a:avLst/>
          </a:prstGeom>
          <a:noFill/>
          <a:ln w="9525">
            <a:solidFill>
              <a:schemeClr val="bg2"/>
            </a:solidFill>
            <a:round/>
          </a:ln>
        </p:spPr>
        <p:txBody>
          <a:bodyPr/>
          <a:lstStyle/>
          <a:p>
            <a:endParaRPr lang="en-US"/>
          </a:p>
        </p:txBody>
      </p:sp>
      <p:sp>
        <p:nvSpPr>
          <p:cNvPr id="3180" name="Line 905"/>
          <p:cNvSpPr>
            <a:spLocks noChangeShapeType="1"/>
          </p:cNvSpPr>
          <p:nvPr/>
        </p:nvSpPr>
        <p:spPr bwMode="auto">
          <a:xfrm flipH="1">
            <a:off x="6159500" y="5027613"/>
            <a:ext cx="53975" cy="85725"/>
          </a:xfrm>
          <a:prstGeom prst="line">
            <a:avLst/>
          </a:prstGeom>
          <a:noFill/>
          <a:ln w="9525">
            <a:solidFill>
              <a:schemeClr val="bg2"/>
            </a:solidFill>
            <a:round/>
          </a:ln>
        </p:spPr>
        <p:txBody>
          <a:bodyPr/>
          <a:lstStyle/>
          <a:p>
            <a:endParaRPr lang="en-US"/>
          </a:p>
        </p:txBody>
      </p:sp>
      <p:sp>
        <p:nvSpPr>
          <p:cNvPr id="3181" name="Line 906"/>
          <p:cNvSpPr>
            <a:spLocks noChangeShapeType="1"/>
          </p:cNvSpPr>
          <p:nvPr/>
        </p:nvSpPr>
        <p:spPr bwMode="auto">
          <a:xfrm>
            <a:off x="5972175" y="5116513"/>
            <a:ext cx="1588" cy="82550"/>
          </a:xfrm>
          <a:prstGeom prst="line">
            <a:avLst/>
          </a:prstGeom>
          <a:noFill/>
          <a:ln w="9525">
            <a:solidFill>
              <a:schemeClr val="bg2"/>
            </a:solidFill>
            <a:round/>
          </a:ln>
        </p:spPr>
        <p:txBody>
          <a:bodyPr/>
          <a:lstStyle/>
          <a:p>
            <a:endParaRPr lang="en-US"/>
          </a:p>
        </p:txBody>
      </p:sp>
      <p:sp>
        <p:nvSpPr>
          <p:cNvPr id="3182" name="Line 907"/>
          <p:cNvSpPr>
            <a:spLocks noChangeShapeType="1"/>
          </p:cNvSpPr>
          <p:nvPr/>
        </p:nvSpPr>
        <p:spPr bwMode="auto">
          <a:xfrm flipH="1" flipV="1">
            <a:off x="6369050" y="5124450"/>
            <a:ext cx="0" cy="76200"/>
          </a:xfrm>
          <a:prstGeom prst="line">
            <a:avLst/>
          </a:prstGeom>
          <a:noFill/>
          <a:ln w="9525">
            <a:solidFill>
              <a:schemeClr val="bg2"/>
            </a:solidFill>
            <a:round/>
          </a:ln>
        </p:spPr>
        <p:txBody>
          <a:bodyPr/>
          <a:lstStyle/>
          <a:p>
            <a:endParaRPr lang="en-US"/>
          </a:p>
        </p:txBody>
      </p:sp>
      <p:sp>
        <p:nvSpPr>
          <p:cNvPr id="3183" name="Line 908"/>
          <p:cNvSpPr>
            <a:spLocks noChangeShapeType="1"/>
          </p:cNvSpPr>
          <p:nvPr/>
        </p:nvSpPr>
        <p:spPr bwMode="auto">
          <a:xfrm>
            <a:off x="6450013" y="4983163"/>
            <a:ext cx="503237" cy="269875"/>
          </a:xfrm>
          <a:prstGeom prst="line">
            <a:avLst/>
          </a:prstGeom>
          <a:noFill/>
          <a:ln w="9525">
            <a:solidFill>
              <a:schemeClr val="bg2"/>
            </a:solidFill>
            <a:round/>
          </a:ln>
        </p:spPr>
        <p:txBody>
          <a:bodyPr/>
          <a:lstStyle/>
          <a:p>
            <a:endParaRPr lang="en-US"/>
          </a:p>
        </p:txBody>
      </p:sp>
      <p:sp>
        <p:nvSpPr>
          <p:cNvPr id="3184" name="Line 909"/>
          <p:cNvSpPr>
            <a:spLocks noChangeShapeType="1"/>
          </p:cNvSpPr>
          <p:nvPr/>
        </p:nvSpPr>
        <p:spPr bwMode="auto">
          <a:xfrm>
            <a:off x="5899150" y="4918075"/>
            <a:ext cx="80963" cy="0"/>
          </a:xfrm>
          <a:prstGeom prst="line">
            <a:avLst/>
          </a:prstGeom>
          <a:noFill/>
          <a:ln w="9525">
            <a:solidFill>
              <a:schemeClr val="bg2"/>
            </a:solidFill>
            <a:round/>
          </a:ln>
        </p:spPr>
        <p:txBody>
          <a:bodyPr/>
          <a:lstStyle/>
          <a:p>
            <a:endParaRPr lang="en-US"/>
          </a:p>
        </p:txBody>
      </p:sp>
      <p:grpSp>
        <p:nvGrpSpPr>
          <p:cNvPr id="3185" name="Group 910"/>
          <p:cNvGrpSpPr/>
          <p:nvPr/>
        </p:nvGrpSpPr>
        <p:grpSpPr bwMode="auto">
          <a:xfrm>
            <a:off x="5084763" y="1677988"/>
            <a:ext cx="3021012" cy="3981450"/>
            <a:chOff x="-1203" y="1352"/>
            <a:chExt cx="1903" cy="2508"/>
          </a:xfrm>
        </p:grpSpPr>
        <p:grpSp>
          <p:nvGrpSpPr>
            <p:cNvPr id="3268" name="Group 911"/>
            <p:cNvGrpSpPr/>
            <p:nvPr/>
          </p:nvGrpSpPr>
          <p:grpSpPr bwMode="auto">
            <a:xfrm>
              <a:off x="-1203" y="1647"/>
              <a:ext cx="436" cy="114"/>
              <a:chOff x="3072" y="739"/>
              <a:chExt cx="652" cy="146"/>
            </a:xfrm>
          </p:grpSpPr>
          <p:pic>
            <p:nvPicPr>
              <p:cNvPr id="3292" name="Picture 912" descr="lgv_fqmg[1]"/>
              <p:cNvPicPr>
                <a:picLocks noChangeAspect="1" noChangeArrowheads="1"/>
              </p:cNvPicPr>
              <p:nvPr/>
            </p:nvPicPr>
            <p:blipFill>
              <a:blip r:embed="rId1"/>
              <a:srcRect/>
              <a:stretch>
                <a:fillRect/>
              </a:stretch>
            </p:blipFill>
            <p:spPr bwMode="auto">
              <a:xfrm flipH="1">
                <a:off x="3237" y="739"/>
                <a:ext cx="487" cy="146"/>
              </a:xfrm>
              <a:prstGeom prst="rect">
                <a:avLst/>
              </a:prstGeom>
              <a:noFill/>
              <a:ln w="9525">
                <a:noFill/>
                <a:miter lim="800000"/>
                <a:headEnd/>
                <a:tailEnd/>
              </a:ln>
            </p:spPr>
          </p:pic>
          <p:sp>
            <p:nvSpPr>
              <p:cNvPr id="3293" name="Line 913"/>
              <p:cNvSpPr>
                <a:spLocks noChangeShapeType="1"/>
              </p:cNvSpPr>
              <p:nvPr/>
            </p:nvSpPr>
            <p:spPr bwMode="auto">
              <a:xfrm flipH="1">
                <a:off x="3104" y="784"/>
                <a:ext cx="88" cy="0"/>
              </a:xfrm>
              <a:prstGeom prst="line">
                <a:avLst/>
              </a:prstGeom>
              <a:noFill/>
              <a:ln w="9525">
                <a:solidFill>
                  <a:schemeClr val="tx1"/>
                </a:solidFill>
                <a:round/>
              </a:ln>
            </p:spPr>
            <p:txBody>
              <a:bodyPr/>
              <a:lstStyle/>
              <a:p>
                <a:endParaRPr lang="en-US"/>
              </a:p>
            </p:txBody>
          </p:sp>
          <p:sp>
            <p:nvSpPr>
              <p:cNvPr id="3294" name="Line 914"/>
              <p:cNvSpPr>
                <a:spLocks noChangeShapeType="1"/>
              </p:cNvSpPr>
              <p:nvPr/>
            </p:nvSpPr>
            <p:spPr bwMode="auto">
              <a:xfrm flipH="1">
                <a:off x="3072" y="760"/>
                <a:ext cx="144" cy="0"/>
              </a:xfrm>
              <a:prstGeom prst="line">
                <a:avLst/>
              </a:prstGeom>
              <a:noFill/>
              <a:ln w="9525">
                <a:solidFill>
                  <a:schemeClr val="tx1"/>
                </a:solidFill>
                <a:round/>
              </a:ln>
            </p:spPr>
            <p:txBody>
              <a:bodyPr/>
              <a:lstStyle/>
              <a:p>
                <a:endParaRPr lang="en-US"/>
              </a:p>
            </p:txBody>
          </p:sp>
        </p:grpSp>
        <p:pic>
          <p:nvPicPr>
            <p:cNvPr id="3269" name="Picture 915" descr="imgyjavg[1]"/>
            <p:cNvPicPr>
              <a:picLocks noChangeAspect="1" noChangeArrowheads="1"/>
            </p:cNvPicPr>
            <p:nvPr/>
          </p:nvPicPr>
          <p:blipFill>
            <a:blip r:embed="rId2"/>
            <a:srcRect/>
            <a:stretch>
              <a:fillRect/>
            </a:stretch>
          </p:blipFill>
          <p:spPr bwMode="auto">
            <a:xfrm>
              <a:off x="-1027" y="1466"/>
              <a:ext cx="232" cy="168"/>
            </a:xfrm>
            <a:prstGeom prst="rect">
              <a:avLst/>
            </a:prstGeom>
            <a:noFill/>
            <a:ln w="9525">
              <a:noFill/>
              <a:miter lim="800000"/>
              <a:headEnd/>
              <a:tailEnd/>
            </a:ln>
          </p:spPr>
        </p:pic>
        <p:grpSp>
          <p:nvGrpSpPr>
            <p:cNvPr id="3270" name="Group 916"/>
            <p:cNvGrpSpPr/>
            <p:nvPr/>
          </p:nvGrpSpPr>
          <p:grpSpPr bwMode="auto">
            <a:xfrm>
              <a:off x="-546" y="1352"/>
              <a:ext cx="256" cy="269"/>
              <a:chOff x="2870" y="1518"/>
              <a:chExt cx="292" cy="320"/>
            </a:xfrm>
          </p:grpSpPr>
          <p:graphicFrame>
            <p:nvGraphicFramePr>
              <p:cNvPr id="3085" name="Object 91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217" name="Clip" r:id="rId3" imgW="11601450" imgH="11791950" progId="">
                      <p:embed/>
                    </p:oleObj>
                  </mc:Choice>
                  <mc:Fallback>
                    <p:oleObj name="Clip" r:id="rId3" imgW="11601450" imgH="11791950" progId="">
                      <p:embed/>
                      <p:pic>
                        <p:nvPicPr>
                          <p:cNvPr id="0" name="Object 9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6" name="Object 91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218" name="Clip" r:id="rId5" imgW="1268095" imgH="1199515" progId="">
                      <p:embed/>
                    </p:oleObj>
                  </mc:Choice>
                  <mc:Fallback>
                    <p:oleObj name="Clip" r:id="rId5" imgW="1268095" imgH="1199515" progId="">
                      <p:embed/>
                      <p:pic>
                        <p:nvPicPr>
                          <p:cNvPr id="0" name="Object 9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271" name="Group 919"/>
            <p:cNvGrpSpPr/>
            <p:nvPr/>
          </p:nvGrpSpPr>
          <p:grpSpPr bwMode="auto">
            <a:xfrm>
              <a:off x="-1002" y="2262"/>
              <a:ext cx="209" cy="224"/>
              <a:chOff x="2870" y="1518"/>
              <a:chExt cx="292" cy="320"/>
            </a:xfrm>
          </p:grpSpPr>
          <p:graphicFrame>
            <p:nvGraphicFramePr>
              <p:cNvPr id="3083" name="Object 92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219" name="Clip" r:id="rId7" imgW="11601450" imgH="11791950" progId="">
                      <p:embed/>
                    </p:oleObj>
                  </mc:Choice>
                  <mc:Fallback>
                    <p:oleObj name="Clip" r:id="rId7" imgW="11601450" imgH="11791950" progId="">
                      <p:embed/>
                      <p:pic>
                        <p:nvPicPr>
                          <p:cNvPr id="0" name="Object 9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4" name="Object 92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220" name="Clip" r:id="rId8" imgW="1268095" imgH="1199515" progId="">
                      <p:embed/>
                    </p:oleObj>
                  </mc:Choice>
                  <mc:Fallback>
                    <p:oleObj name="Clip" r:id="rId8" imgW="1268095" imgH="1199515" progId="">
                      <p:embed/>
                      <p:pic>
                        <p:nvPicPr>
                          <p:cNvPr id="0" name="Object 9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074" name="Object 922"/>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spid="_x0000_s3221" name="Clip" r:id="rId9" imgW="18192750" imgH="15087600" progId="">
                    <p:embed/>
                  </p:oleObj>
                </mc:Choice>
                <mc:Fallback>
                  <p:oleObj name="Clip" r:id="rId9" imgW="18192750" imgH="15087600" progId="">
                    <p:embed/>
                    <p:pic>
                      <p:nvPicPr>
                        <p:cNvPr id="0" name="Object 9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272" name="Group 923"/>
            <p:cNvGrpSpPr/>
            <p:nvPr/>
          </p:nvGrpSpPr>
          <p:grpSpPr bwMode="auto">
            <a:xfrm>
              <a:off x="310" y="3575"/>
              <a:ext cx="125" cy="230"/>
              <a:chOff x="4180" y="783"/>
              <a:chExt cx="150" cy="307"/>
            </a:xfrm>
          </p:grpSpPr>
          <p:sp>
            <p:nvSpPr>
              <p:cNvPr id="3284" name="AutoShape 92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3285" name="Rectangle 925"/>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3286" name="Rectangle 926"/>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3287" name="AutoShape 92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3288" name="Line 928"/>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3289" name="Line 929"/>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3290" name="Rectangle 930"/>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3291" name="Rectangle 931"/>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aphicFrame>
          <p:nvGraphicFramePr>
            <p:cNvPr id="3075" name="Object 932"/>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spid="_x0000_s3222" name="Clip" r:id="rId11" imgW="18192750" imgH="15087600" progId="">
                    <p:embed/>
                  </p:oleObj>
                </mc:Choice>
                <mc:Fallback>
                  <p:oleObj name="Clip" r:id="rId11" imgW="18192750" imgH="15087600" progId="">
                    <p:embed/>
                    <p:pic>
                      <p:nvPicPr>
                        <p:cNvPr id="0" name="Object 9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933"/>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spid="_x0000_s3223" name="Clip" r:id="rId12" imgW="18192750" imgH="15087600" progId="">
                    <p:embed/>
                  </p:oleObj>
                </mc:Choice>
                <mc:Fallback>
                  <p:oleObj name="Clip" r:id="rId12" imgW="18192750" imgH="15087600" progId="">
                    <p:embed/>
                    <p:pic>
                      <p:nvPicPr>
                        <p:cNvPr id="0" name="Object 9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934"/>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spid="_x0000_s3224" name="Clip" r:id="rId13" imgW="18192750" imgH="15087600" progId="">
                    <p:embed/>
                  </p:oleObj>
                </mc:Choice>
                <mc:Fallback>
                  <p:oleObj name="Clip" r:id="rId13" imgW="18192750" imgH="15087600" progId="">
                    <p:embed/>
                    <p:pic>
                      <p:nvPicPr>
                        <p:cNvPr id="0" name="Object 9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8" name="Object 935"/>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spid="_x0000_s3225" name="Clip" r:id="rId14" imgW="18192750" imgH="15087600" progId="">
                    <p:embed/>
                  </p:oleObj>
                </mc:Choice>
                <mc:Fallback>
                  <p:oleObj name="Clip" r:id="rId14" imgW="18192750" imgH="15087600" progId="">
                    <p:embed/>
                    <p:pic>
                      <p:nvPicPr>
                        <p:cNvPr id="0" name="Object 9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273" name="Group 936"/>
            <p:cNvGrpSpPr/>
            <p:nvPr/>
          </p:nvGrpSpPr>
          <p:grpSpPr bwMode="auto">
            <a:xfrm>
              <a:off x="83" y="3625"/>
              <a:ext cx="172" cy="215"/>
              <a:chOff x="2870" y="1518"/>
              <a:chExt cx="292" cy="320"/>
            </a:xfrm>
          </p:grpSpPr>
          <p:graphicFrame>
            <p:nvGraphicFramePr>
              <p:cNvPr id="3081" name="Object 937"/>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226" name="Clip" r:id="rId15" imgW="11601450" imgH="11791950" progId="">
                      <p:embed/>
                    </p:oleObj>
                  </mc:Choice>
                  <mc:Fallback>
                    <p:oleObj name="Clip" r:id="rId15" imgW="11601450" imgH="11791950" progId="">
                      <p:embed/>
                      <p:pic>
                        <p:nvPicPr>
                          <p:cNvPr id="0" name="Object 9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2" name="Object 938"/>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227" name="Clip" r:id="rId16" imgW="1268095" imgH="1199515" progId="">
                      <p:embed/>
                    </p:oleObj>
                  </mc:Choice>
                  <mc:Fallback>
                    <p:oleObj name="Clip" r:id="rId16" imgW="1268095" imgH="1199515" progId="">
                      <p:embed/>
                      <p:pic>
                        <p:nvPicPr>
                          <p:cNvPr id="0" name="Object 9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274" name="Group 939"/>
            <p:cNvGrpSpPr/>
            <p:nvPr/>
          </p:nvGrpSpPr>
          <p:grpSpPr bwMode="auto">
            <a:xfrm>
              <a:off x="-201" y="3657"/>
              <a:ext cx="220" cy="203"/>
              <a:chOff x="2870" y="1518"/>
              <a:chExt cx="292" cy="320"/>
            </a:xfrm>
          </p:grpSpPr>
          <p:graphicFrame>
            <p:nvGraphicFramePr>
              <p:cNvPr id="3079" name="Object 94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228" name="Clip" r:id="rId17" imgW="11601450" imgH="11791950" progId="">
                      <p:embed/>
                    </p:oleObj>
                  </mc:Choice>
                  <mc:Fallback>
                    <p:oleObj name="Clip" r:id="rId17" imgW="11601450" imgH="11791950" progId="">
                      <p:embed/>
                      <p:pic>
                        <p:nvPicPr>
                          <p:cNvPr id="0" name="Object 9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0" name="Object 94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229" name="Clip" r:id="rId18" imgW="1268095" imgH="1199515" progId="">
                      <p:embed/>
                    </p:oleObj>
                  </mc:Choice>
                  <mc:Fallback>
                    <p:oleObj name="Clip" r:id="rId18" imgW="1268095" imgH="1199515" progId="">
                      <p:embed/>
                      <p:pic>
                        <p:nvPicPr>
                          <p:cNvPr id="0" name="Object 9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275" name="Group 942"/>
            <p:cNvGrpSpPr/>
            <p:nvPr/>
          </p:nvGrpSpPr>
          <p:grpSpPr bwMode="auto">
            <a:xfrm>
              <a:off x="569" y="3419"/>
              <a:ext cx="131" cy="258"/>
              <a:chOff x="4180" y="783"/>
              <a:chExt cx="150" cy="307"/>
            </a:xfrm>
          </p:grpSpPr>
          <p:sp>
            <p:nvSpPr>
              <p:cNvPr id="3276" name="AutoShape 943"/>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3277" name="Rectangle 944"/>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3278" name="Rectangle 945"/>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3279" name="AutoShape 94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3280" name="Line 947"/>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3281" name="Line 948"/>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3282" name="Rectangle 949"/>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3283" name="Rectangle 950"/>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sp>
        <p:nvSpPr>
          <p:cNvPr id="3186" name="Line 951"/>
          <p:cNvSpPr>
            <a:spLocks noChangeShapeType="1"/>
          </p:cNvSpPr>
          <p:nvPr/>
        </p:nvSpPr>
        <p:spPr bwMode="auto">
          <a:xfrm flipH="1">
            <a:off x="5988050" y="3440113"/>
            <a:ext cx="3175" cy="144462"/>
          </a:xfrm>
          <a:prstGeom prst="line">
            <a:avLst/>
          </a:prstGeom>
          <a:noFill/>
          <a:ln w="9525">
            <a:solidFill>
              <a:schemeClr val="bg2"/>
            </a:solidFill>
            <a:round/>
          </a:ln>
        </p:spPr>
        <p:txBody>
          <a:bodyPr/>
          <a:lstStyle/>
          <a:p>
            <a:endParaRPr lang="en-US"/>
          </a:p>
        </p:txBody>
      </p:sp>
      <p:sp>
        <p:nvSpPr>
          <p:cNvPr id="3187" name="Line 952"/>
          <p:cNvSpPr>
            <a:spLocks noChangeShapeType="1"/>
          </p:cNvSpPr>
          <p:nvPr/>
        </p:nvSpPr>
        <p:spPr bwMode="auto">
          <a:xfrm flipV="1">
            <a:off x="7285038" y="2422525"/>
            <a:ext cx="123825" cy="87313"/>
          </a:xfrm>
          <a:prstGeom prst="line">
            <a:avLst/>
          </a:prstGeom>
          <a:noFill/>
          <a:ln w="9525">
            <a:solidFill>
              <a:schemeClr val="bg2"/>
            </a:solidFill>
            <a:round/>
          </a:ln>
        </p:spPr>
        <p:txBody>
          <a:bodyPr/>
          <a:lstStyle/>
          <a:p>
            <a:endParaRPr lang="en-US"/>
          </a:p>
        </p:txBody>
      </p:sp>
      <p:sp>
        <p:nvSpPr>
          <p:cNvPr id="3188" name="Line 953"/>
          <p:cNvSpPr>
            <a:spLocks noChangeShapeType="1"/>
          </p:cNvSpPr>
          <p:nvPr/>
        </p:nvSpPr>
        <p:spPr bwMode="auto">
          <a:xfrm>
            <a:off x="7112000" y="2595563"/>
            <a:ext cx="0" cy="82550"/>
          </a:xfrm>
          <a:prstGeom prst="line">
            <a:avLst/>
          </a:prstGeom>
          <a:noFill/>
          <a:ln w="9525">
            <a:solidFill>
              <a:schemeClr val="bg2"/>
            </a:solidFill>
            <a:round/>
          </a:ln>
        </p:spPr>
        <p:txBody>
          <a:bodyPr/>
          <a:lstStyle/>
          <a:p>
            <a:endParaRPr lang="en-US"/>
          </a:p>
        </p:txBody>
      </p:sp>
      <p:sp>
        <p:nvSpPr>
          <p:cNvPr id="3189" name="Line 954"/>
          <p:cNvSpPr>
            <a:spLocks noChangeShapeType="1"/>
          </p:cNvSpPr>
          <p:nvPr/>
        </p:nvSpPr>
        <p:spPr bwMode="auto">
          <a:xfrm flipV="1">
            <a:off x="7296150" y="2492375"/>
            <a:ext cx="263525" cy="288925"/>
          </a:xfrm>
          <a:prstGeom prst="line">
            <a:avLst/>
          </a:prstGeom>
          <a:noFill/>
          <a:ln w="9525">
            <a:solidFill>
              <a:schemeClr val="bg2"/>
            </a:solidFill>
            <a:round/>
          </a:ln>
        </p:spPr>
        <p:txBody>
          <a:bodyPr/>
          <a:lstStyle/>
          <a:p>
            <a:endParaRPr lang="en-US"/>
          </a:p>
        </p:txBody>
      </p:sp>
      <p:sp>
        <p:nvSpPr>
          <p:cNvPr id="3190" name="Line 955"/>
          <p:cNvSpPr>
            <a:spLocks noChangeShapeType="1"/>
          </p:cNvSpPr>
          <p:nvPr/>
        </p:nvSpPr>
        <p:spPr bwMode="auto">
          <a:xfrm>
            <a:off x="7648575" y="2490788"/>
            <a:ext cx="0" cy="196850"/>
          </a:xfrm>
          <a:prstGeom prst="line">
            <a:avLst/>
          </a:prstGeom>
          <a:noFill/>
          <a:ln w="9525">
            <a:solidFill>
              <a:schemeClr val="bg2"/>
            </a:solidFill>
            <a:round/>
          </a:ln>
        </p:spPr>
        <p:txBody>
          <a:bodyPr/>
          <a:lstStyle/>
          <a:p>
            <a:endParaRPr lang="en-US"/>
          </a:p>
        </p:txBody>
      </p:sp>
      <p:sp>
        <p:nvSpPr>
          <p:cNvPr id="3191" name="Line 956"/>
          <p:cNvSpPr>
            <a:spLocks noChangeShapeType="1"/>
          </p:cNvSpPr>
          <p:nvPr/>
        </p:nvSpPr>
        <p:spPr bwMode="auto">
          <a:xfrm>
            <a:off x="7302500" y="2797175"/>
            <a:ext cx="188913" cy="0"/>
          </a:xfrm>
          <a:prstGeom prst="line">
            <a:avLst/>
          </a:prstGeom>
          <a:noFill/>
          <a:ln w="9525">
            <a:solidFill>
              <a:schemeClr val="bg2"/>
            </a:solidFill>
            <a:round/>
          </a:ln>
        </p:spPr>
        <p:txBody>
          <a:bodyPr/>
          <a:lstStyle/>
          <a:p>
            <a:endParaRPr lang="en-US"/>
          </a:p>
        </p:txBody>
      </p:sp>
      <p:sp>
        <p:nvSpPr>
          <p:cNvPr id="3192" name="Line 957"/>
          <p:cNvSpPr>
            <a:spLocks noChangeShapeType="1"/>
          </p:cNvSpPr>
          <p:nvPr/>
        </p:nvSpPr>
        <p:spPr bwMode="auto">
          <a:xfrm flipV="1">
            <a:off x="5597525" y="3663950"/>
            <a:ext cx="168275" cy="3175"/>
          </a:xfrm>
          <a:prstGeom prst="line">
            <a:avLst/>
          </a:prstGeom>
          <a:noFill/>
          <a:ln w="9525">
            <a:solidFill>
              <a:schemeClr val="bg2"/>
            </a:solidFill>
            <a:round/>
          </a:ln>
        </p:spPr>
        <p:txBody>
          <a:bodyPr/>
          <a:lstStyle/>
          <a:p>
            <a:endParaRPr lang="en-US"/>
          </a:p>
        </p:txBody>
      </p:sp>
      <p:sp>
        <p:nvSpPr>
          <p:cNvPr id="3193" name="Line 958"/>
          <p:cNvSpPr>
            <a:spLocks noChangeShapeType="1"/>
          </p:cNvSpPr>
          <p:nvPr/>
        </p:nvSpPr>
        <p:spPr bwMode="auto">
          <a:xfrm flipV="1">
            <a:off x="7716838" y="2190750"/>
            <a:ext cx="238125" cy="168275"/>
          </a:xfrm>
          <a:prstGeom prst="line">
            <a:avLst/>
          </a:prstGeom>
          <a:noFill/>
          <a:ln w="9525">
            <a:solidFill>
              <a:schemeClr val="bg2"/>
            </a:solidFill>
            <a:round/>
          </a:ln>
        </p:spPr>
        <p:txBody>
          <a:bodyPr/>
          <a:lstStyle/>
          <a:p>
            <a:endParaRPr lang="en-US"/>
          </a:p>
        </p:txBody>
      </p:sp>
      <p:sp>
        <p:nvSpPr>
          <p:cNvPr id="3194" name="Line 959"/>
          <p:cNvSpPr>
            <a:spLocks noChangeShapeType="1"/>
          </p:cNvSpPr>
          <p:nvPr/>
        </p:nvSpPr>
        <p:spPr bwMode="auto">
          <a:xfrm>
            <a:off x="7856538" y="2787650"/>
            <a:ext cx="177800" cy="0"/>
          </a:xfrm>
          <a:prstGeom prst="line">
            <a:avLst/>
          </a:prstGeom>
          <a:noFill/>
          <a:ln w="9525">
            <a:solidFill>
              <a:schemeClr val="bg2"/>
            </a:solidFill>
            <a:round/>
          </a:ln>
        </p:spPr>
        <p:txBody>
          <a:bodyPr/>
          <a:lstStyle/>
          <a:p>
            <a:endParaRPr lang="en-US"/>
          </a:p>
        </p:txBody>
      </p:sp>
      <p:sp>
        <p:nvSpPr>
          <p:cNvPr id="3195" name="Line 960"/>
          <p:cNvSpPr>
            <a:spLocks noChangeShapeType="1"/>
          </p:cNvSpPr>
          <p:nvPr/>
        </p:nvSpPr>
        <p:spPr bwMode="auto">
          <a:xfrm flipH="1">
            <a:off x="7002463" y="2863850"/>
            <a:ext cx="98425" cy="704850"/>
          </a:xfrm>
          <a:prstGeom prst="line">
            <a:avLst/>
          </a:prstGeom>
          <a:noFill/>
          <a:ln w="9525">
            <a:solidFill>
              <a:schemeClr val="bg2"/>
            </a:solidFill>
            <a:round/>
          </a:ln>
        </p:spPr>
        <p:txBody>
          <a:bodyPr/>
          <a:lstStyle/>
          <a:p>
            <a:endParaRPr lang="en-US"/>
          </a:p>
        </p:txBody>
      </p:sp>
      <p:sp>
        <p:nvSpPr>
          <p:cNvPr id="3196" name="Line 961"/>
          <p:cNvSpPr>
            <a:spLocks noChangeShapeType="1"/>
          </p:cNvSpPr>
          <p:nvPr/>
        </p:nvSpPr>
        <p:spPr bwMode="auto">
          <a:xfrm flipH="1">
            <a:off x="7593013" y="2863850"/>
            <a:ext cx="111125" cy="727075"/>
          </a:xfrm>
          <a:prstGeom prst="line">
            <a:avLst/>
          </a:prstGeom>
          <a:noFill/>
          <a:ln w="9525">
            <a:solidFill>
              <a:schemeClr val="bg2"/>
            </a:solidFill>
            <a:round/>
          </a:ln>
        </p:spPr>
        <p:txBody>
          <a:bodyPr/>
          <a:lstStyle/>
          <a:p>
            <a:endParaRPr lang="en-US"/>
          </a:p>
        </p:txBody>
      </p:sp>
      <p:grpSp>
        <p:nvGrpSpPr>
          <p:cNvPr id="3197" name="Group 962"/>
          <p:cNvGrpSpPr/>
          <p:nvPr/>
        </p:nvGrpSpPr>
        <p:grpSpPr bwMode="auto">
          <a:xfrm>
            <a:off x="6645275" y="4481513"/>
            <a:ext cx="501650" cy="234950"/>
            <a:chOff x="4701" y="2996"/>
            <a:chExt cx="316" cy="148"/>
          </a:xfrm>
        </p:grpSpPr>
        <p:sp>
          <p:nvSpPr>
            <p:cNvPr id="3255" name="Oval 963"/>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3256" name="Line 964"/>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3257" name="Line 965"/>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3258" name="Rectangle 966"/>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259" name="Oval 967"/>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3260" name="Group 968"/>
            <p:cNvGrpSpPr/>
            <p:nvPr/>
          </p:nvGrpSpPr>
          <p:grpSpPr bwMode="auto">
            <a:xfrm>
              <a:off x="4776" y="3017"/>
              <a:ext cx="156" cy="56"/>
              <a:chOff x="2848" y="848"/>
              <a:chExt cx="140" cy="98"/>
            </a:xfrm>
          </p:grpSpPr>
          <p:sp>
            <p:nvSpPr>
              <p:cNvPr id="3265" name="Line 96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266" name="Line 97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267" name="Line 97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261" name="Group 972"/>
            <p:cNvGrpSpPr/>
            <p:nvPr/>
          </p:nvGrpSpPr>
          <p:grpSpPr bwMode="auto">
            <a:xfrm flipV="1">
              <a:off x="4776" y="3016"/>
              <a:ext cx="156" cy="56"/>
              <a:chOff x="2848" y="848"/>
              <a:chExt cx="140" cy="98"/>
            </a:xfrm>
          </p:grpSpPr>
          <p:sp>
            <p:nvSpPr>
              <p:cNvPr id="3262" name="Line 97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263" name="Line 97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264" name="Line 97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3198" name="Group 976"/>
          <p:cNvGrpSpPr/>
          <p:nvPr/>
        </p:nvGrpSpPr>
        <p:grpSpPr bwMode="auto">
          <a:xfrm>
            <a:off x="5980113" y="4783138"/>
            <a:ext cx="501650" cy="234950"/>
            <a:chOff x="4701" y="2996"/>
            <a:chExt cx="316" cy="148"/>
          </a:xfrm>
        </p:grpSpPr>
        <p:sp>
          <p:nvSpPr>
            <p:cNvPr id="3242" name="Oval 977"/>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3243" name="Line 978"/>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3244" name="Line 979"/>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3245" name="Rectangle 980"/>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3246" name="Oval 981"/>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3247" name="Group 982"/>
            <p:cNvGrpSpPr/>
            <p:nvPr/>
          </p:nvGrpSpPr>
          <p:grpSpPr bwMode="auto">
            <a:xfrm>
              <a:off x="4776" y="3017"/>
              <a:ext cx="156" cy="56"/>
              <a:chOff x="2848" y="848"/>
              <a:chExt cx="140" cy="98"/>
            </a:xfrm>
          </p:grpSpPr>
          <p:sp>
            <p:nvSpPr>
              <p:cNvPr id="3252" name="Line 98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253" name="Line 98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254" name="Line 98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3248" name="Group 986"/>
            <p:cNvGrpSpPr/>
            <p:nvPr/>
          </p:nvGrpSpPr>
          <p:grpSpPr bwMode="auto">
            <a:xfrm flipV="1">
              <a:off x="4776" y="3016"/>
              <a:ext cx="156" cy="56"/>
              <a:chOff x="2848" y="848"/>
              <a:chExt cx="140" cy="98"/>
            </a:xfrm>
          </p:grpSpPr>
          <p:sp>
            <p:nvSpPr>
              <p:cNvPr id="3249" name="Line 987"/>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3250" name="Line 988"/>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3251" name="Line 989"/>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3199" name="Group 990"/>
          <p:cNvGrpSpPr/>
          <p:nvPr/>
        </p:nvGrpSpPr>
        <p:grpSpPr bwMode="auto">
          <a:xfrm>
            <a:off x="6810375" y="4968875"/>
            <a:ext cx="290513" cy="404813"/>
            <a:chOff x="4290" y="3130"/>
            <a:chExt cx="183" cy="255"/>
          </a:xfrm>
        </p:grpSpPr>
        <p:pic>
          <p:nvPicPr>
            <p:cNvPr id="2" name="Picture 991" descr="31u_bnrz[1]"/>
            <p:cNvPicPr>
              <a:picLocks noChangeAspect="1" noChangeArrowheads="1"/>
            </p:cNvPicPr>
            <p:nvPr/>
          </p:nvPicPr>
          <p:blipFill>
            <a:blip r:embed="rId19"/>
            <a:srcRect/>
            <a:stretch>
              <a:fillRect/>
            </a:stretch>
          </p:blipFill>
          <p:spPr bwMode="auto">
            <a:xfrm>
              <a:off x="4343" y="3211"/>
              <a:ext cx="121" cy="174"/>
            </a:xfrm>
            <a:prstGeom prst="rect">
              <a:avLst/>
            </a:prstGeom>
            <a:solidFill>
              <a:srgbClr val="DDDDDD"/>
            </a:solidFill>
            <a:ln w="9525">
              <a:noFill/>
              <a:miter lim="800000"/>
              <a:headEnd/>
              <a:tailEnd/>
            </a:ln>
          </p:spPr>
        </p:pic>
        <p:sp>
          <p:nvSpPr>
            <p:cNvPr id="3" name="Freeform 992"/>
            <p:cNvSpPr/>
            <p:nvPr/>
          </p:nvSpPr>
          <p:spPr bwMode="auto">
            <a:xfrm>
              <a:off x="4339" y="3143"/>
              <a:ext cx="33" cy="39"/>
            </a:xfrm>
            <a:custGeom>
              <a:avLst/>
              <a:gdLst>
                <a:gd name="T0" fmla="*/ 70 w 199"/>
                <a:gd name="T1" fmla="*/ 29 h 232"/>
                <a:gd name="T2" fmla="*/ 55 w 199"/>
                <a:gd name="T3" fmla="*/ 39 h 232"/>
                <a:gd name="T4" fmla="*/ 42 w 199"/>
                <a:gd name="T5" fmla="*/ 50 h 232"/>
                <a:gd name="T6" fmla="*/ 30 w 199"/>
                <a:gd name="T7" fmla="*/ 63 h 232"/>
                <a:gd name="T8" fmla="*/ 20 w 199"/>
                <a:gd name="T9" fmla="*/ 77 h 232"/>
                <a:gd name="T10" fmla="*/ 12 w 199"/>
                <a:gd name="T11" fmla="*/ 91 h 232"/>
                <a:gd name="T12" fmla="*/ 6 w 199"/>
                <a:gd name="T13" fmla="*/ 108 h 232"/>
                <a:gd name="T14" fmla="*/ 2 w 199"/>
                <a:gd name="T15" fmla="*/ 125 h 232"/>
                <a:gd name="T16" fmla="*/ 0 w 199"/>
                <a:gd name="T17" fmla="*/ 142 h 232"/>
                <a:gd name="T18" fmla="*/ 2 w 199"/>
                <a:gd name="T19" fmla="*/ 166 h 232"/>
                <a:gd name="T20" fmla="*/ 12 w 199"/>
                <a:gd name="T21" fmla="*/ 186 h 232"/>
                <a:gd name="T22" fmla="*/ 26 w 199"/>
                <a:gd name="T23" fmla="*/ 203 h 232"/>
                <a:gd name="T24" fmla="*/ 45 w 199"/>
                <a:gd name="T25" fmla="*/ 216 h 232"/>
                <a:gd name="T26" fmla="*/ 66 w 199"/>
                <a:gd name="T27" fmla="*/ 226 h 232"/>
                <a:gd name="T28" fmla="*/ 88 w 199"/>
                <a:gd name="T29" fmla="*/ 230 h 232"/>
                <a:gd name="T30" fmla="*/ 111 w 199"/>
                <a:gd name="T31" fmla="*/ 232 h 232"/>
                <a:gd name="T32" fmla="*/ 134 w 199"/>
                <a:gd name="T33" fmla="*/ 228 h 232"/>
                <a:gd name="T34" fmla="*/ 138 w 199"/>
                <a:gd name="T35" fmla="*/ 228 h 232"/>
                <a:gd name="T36" fmla="*/ 143 w 199"/>
                <a:gd name="T37" fmla="*/ 226 h 232"/>
                <a:gd name="T38" fmla="*/ 147 w 199"/>
                <a:gd name="T39" fmla="*/ 222 h 232"/>
                <a:gd name="T40" fmla="*/ 148 w 199"/>
                <a:gd name="T41" fmla="*/ 218 h 232"/>
                <a:gd name="T42" fmla="*/ 145 w 199"/>
                <a:gd name="T43" fmla="*/ 212 h 232"/>
                <a:gd name="T44" fmla="*/ 141 w 199"/>
                <a:gd name="T45" fmla="*/ 207 h 232"/>
                <a:gd name="T46" fmla="*/ 135 w 199"/>
                <a:gd name="T47" fmla="*/ 203 h 232"/>
                <a:gd name="T48" fmla="*/ 129 w 199"/>
                <a:gd name="T49" fmla="*/ 201 h 232"/>
                <a:gd name="T50" fmla="*/ 117 w 199"/>
                <a:gd name="T51" fmla="*/ 197 h 232"/>
                <a:gd name="T52" fmla="*/ 105 w 199"/>
                <a:gd name="T53" fmla="*/ 195 h 232"/>
                <a:gd name="T54" fmla="*/ 94 w 199"/>
                <a:gd name="T55" fmla="*/ 193 h 232"/>
                <a:gd name="T56" fmla="*/ 83 w 199"/>
                <a:gd name="T57" fmla="*/ 190 h 232"/>
                <a:gd name="T58" fmla="*/ 73 w 199"/>
                <a:gd name="T59" fmla="*/ 187 h 232"/>
                <a:gd name="T60" fmla="*/ 62 w 199"/>
                <a:gd name="T61" fmla="*/ 182 h 232"/>
                <a:gd name="T62" fmla="*/ 53 w 199"/>
                <a:gd name="T63" fmla="*/ 176 h 232"/>
                <a:gd name="T64" fmla="*/ 43 w 199"/>
                <a:gd name="T65" fmla="*/ 167 h 232"/>
                <a:gd name="T66" fmla="*/ 40 w 199"/>
                <a:gd name="T67" fmla="*/ 128 h 232"/>
                <a:gd name="T68" fmla="*/ 49 w 199"/>
                <a:gd name="T69" fmla="*/ 96 h 232"/>
                <a:gd name="T70" fmla="*/ 68 w 199"/>
                <a:gd name="T71" fmla="*/ 71 h 232"/>
                <a:gd name="T72" fmla="*/ 94 w 199"/>
                <a:gd name="T73" fmla="*/ 50 h 232"/>
                <a:gd name="T74" fmla="*/ 122 w 199"/>
                <a:gd name="T75" fmla="*/ 34 h 232"/>
                <a:gd name="T76" fmla="*/ 151 w 199"/>
                <a:gd name="T77" fmla="*/ 21 h 232"/>
                <a:gd name="T78" fmla="*/ 178 w 199"/>
                <a:gd name="T79" fmla="*/ 12 h 232"/>
                <a:gd name="T80" fmla="*/ 199 w 199"/>
                <a:gd name="T81" fmla="*/ 4 h 232"/>
                <a:gd name="T82" fmla="*/ 186 w 199"/>
                <a:gd name="T83" fmla="*/ 1 h 232"/>
                <a:gd name="T84" fmla="*/ 172 w 199"/>
                <a:gd name="T85" fmla="*/ 0 h 232"/>
                <a:gd name="T86" fmla="*/ 156 w 199"/>
                <a:gd name="T87" fmla="*/ 2 h 232"/>
                <a:gd name="T88" fmla="*/ 138 w 199"/>
                <a:gd name="T89" fmla="*/ 4 h 232"/>
                <a:gd name="T90" fmla="*/ 121 w 199"/>
                <a:gd name="T91" fmla="*/ 10 h 232"/>
                <a:gd name="T92" fmla="*/ 103 w 199"/>
                <a:gd name="T93" fmla="*/ 16 h 232"/>
                <a:gd name="T94" fmla="*/ 86 w 199"/>
                <a:gd name="T95" fmla="*/ 23 h 232"/>
                <a:gd name="T96" fmla="*/ 70 w 199"/>
                <a:gd name="T97" fmla="*/ 29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ln>
          </p:spPr>
          <p:txBody>
            <a:bodyPr/>
            <a:lstStyle/>
            <a:p>
              <a:endParaRPr lang="en-US"/>
            </a:p>
          </p:txBody>
        </p:sp>
        <p:sp>
          <p:nvSpPr>
            <p:cNvPr id="4" name="Freeform 993"/>
            <p:cNvSpPr/>
            <p:nvPr/>
          </p:nvSpPr>
          <p:spPr bwMode="auto">
            <a:xfrm>
              <a:off x="4395" y="3142"/>
              <a:ext cx="22" cy="30"/>
            </a:xfrm>
            <a:custGeom>
              <a:avLst/>
              <a:gdLst>
                <a:gd name="T0" fmla="*/ 108 w 128"/>
                <a:gd name="T1" fmla="*/ 59 h 180"/>
                <a:gd name="T2" fmla="*/ 113 w 128"/>
                <a:gd name="T3" fmla="*/ 77 h 180"/>
                <a:gd name="T4" fmla="*/ 111 w 128"/>
                <a:gd name="T5" fmla="*/ 94 h 180"/>
                <a:gd name="T6" fmla="*/ 103 w 128"/>
                <a:gd name="T7" fmla="*/ 108 h 180"/>
                <a:gd name="T8" fmla="*/ 91 w 128"/>
                <a:gd name="T9" fmla="*/ 121 h 180"/>
                <a:gd name="T10" fmla="*/ 77 w 128"/>
                <a:gd name="T11" fmla="*/ 132 h 180"/>
                <a:gd name="T12" fmla="*/ 61 w 128"/>
                <a:gd name="T13" fmla="*/ 144 h 180"/>
                <a:gd name="T14" fmla="*/ 45 w 128"/>
                <a:gd name="T15" fmla="*/ 154 h 180"/>
                <a:gd name="T16" fmla="*/ 30 w 128"/>
                <a:gd name="T17" fmla="*/ 164 h 180"/>
                <a:gd name="T18" fmla="*/ 28 w 128"/>
                <a:gd name="T19" fmla="*/ 168 h 180"/>
                <a:gd name="T20" fmla="*/ 27 w 128"/>
                <a:gd name="T21" fmla="*/ 170 h 180"/>
                <a:gd name="T22" fmla="*/ 27 w 128"/>
                <a:gd name="T23" fmla="*/ 174 h 180"/>
                <a:gd name="T24" fmla="*/ 28 w 128"/>
                <a:gd name="T25" fmla="*/ 177 h 180"/>
                <a:gd name="T26" fmla="*/ 32 w 128"/>
                <a:gd name="T27" fmla="*/ 179 h 180"/>
                <a:gd name="T28" fmla="*/ 35 w 128"/>
                <a:gd name="T29" fmla="*/ 180 h 180"/>
                <a:gd name="T30" fmla="*/ 37 w 128"/>
                <a:gd name="T31" fmla="*/ 180 h 180"/>
                <a:gd name="T32" fmla="*/ 41 w 128"/>
                <a:gd name="T33" fmla="*/ 179 h 180"/>
                <a:gd name="T34" fmla="*/ 60 w 128"/>
                <a:gd name="T35" fmla="*/ 169 h 180"/>
                <a:gd name="T36" fmla="*/ 77 w 128"/>
                <a:gd name="T37" fmla="*/ 158 h 180"/>
                <a:gd name="T38" fmla="*/ 94 w 128"/>
                <a:gd name="T39" fmla="*/ 145 h 180"/>
                <a:gd name="T40" fmla="*/ 109 w 128"/>
                <a:gd name="T41" fmla="*/ 130 h 180"/>
                <a:gd name="T42" fmla="*/ 120 w 128"/>
                <a:gd name="T43" fmla="*/ 114 h 180"/>
                <a:gd name="T44" fmla="*/ 127 w 128"/>
                <a:gd name="T45" fmla="*/ 95 h 180"/>
                <a:gd name="T46" fmla="*/ 128 w 128"/>
                <a:gd name="T47" fmla="*/ 76 h 180"/>
                <a:gd name="T48" fmla="*/ 123 w 128"/>
                <a:gd name="T49" fmla="*/ 55 h 180"/>
                <a:gd name="T50" fmla="*/ 113 w 128"/>
                <a:gd name="T51" fmla="*/ 39 h 180"/>
                <a:gd name="T52" fmla="*/ 97 w 128"/>
                <a:gd name="T53" fmla="*/ 25 h 180"/>
                <a:gd name="T54" fmla="*/ 79 w 128"/>
                <a:gd name="T55" fmla="*/ 15 h 180"/>
                <a:gd name="T56" fmla="*/ 57 w 128"/>
                <a:gd name="T57" fmla="*/ 7 h 180"/>
                <a:gd name="T58" fmla="*/ 36 w 128"/>
                <a:gd name="T59" fmla="*/ 2 h 180"/>
                <a:gd name="T60" fmla="*/ 19 w 128"/>
                <a:gd name="T61" fmla="*/ 0 h 180"/>
                <a:gd name="T62" fmla="*/ 6 w 128"/>
                <a:gd name="T63" fmla="*/ 0 h 180"/>
                <a:gd name="T64" fmla="*/ 0 w 128"/>
                <a:gd name="T65" fmla="*/ 4 h 180"/>
                <a:gd name="T66" fmla="*/ 14 w 128"/>
                <a:gd name="T67" fmla="*/ 9 h 180"/>
                <a:gd name="T68" fmla="*/ 29 w 128"/>
                <a:gd name="T69" fmla="*/ 14 h 180"/>
                <a:gd name="T70" fmla="*/ 46 w 128"/>
                <a:gd name="T71" fmla="*/ 19 h 180"/>
                <a:gd name="T72" fmla="*/ 61 w 128"/>
                <a:gd name="T73" fmla="*/ 23 h 180"/>
                <a:gd name="T74" fmla="*/ 76 w 128"/>
                <a:gd name="T75" fmla="*/ 29 h 180"/>
                <a:gd name="T76" fmla="*/ 89 w 128"/>
                <a:gd name="T77" fmla="*/ 37 h 180"/>
                <a:gd name="T78" fmla="*/ 100 w 128"/>
                <a:gd name="T79" fmla="*/ 46 h 180"/>
                <a:gd name="T80" fmla="*/ 108 w 128"/>
                <a:gd name="T81" fmla="*/ 59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ln>
          </p:spPr>
          <p:txBody>
            <a:bodyPr/>
            <a:lstStyle/>
            <a:p>
              <a:endParaRPr lang="en-US"/>
            </a:p>
          </p:txBody>
        </p:sp>
        <p:sp>
          <p:nvSpPr>
            <p:cNvPr id="5" name="Freeform 994"/>
            <p:cNvSpPr/>
            <p:nvPr/>
          </p:nvSpPr>
          <p:spPr bwMode="auto">
            <a:xfrm>
              <a:off x="4318" y="3135"/>
              <a:ext cx="54" cy="63"/>
            </a:xfrm>
            <a:custGeom>
              <a:avLst/>
              <a:gdLst>
                <a:gd name="T0" fmla="*/ 100 w 322"/>
                <a:gd name="T1" fmla="*/ 70 h 378"/>
                <a:gd name="T2" fmla="*/ 53 w 322"/>
                <a:gd name="T3" fmla="*/ 115 h 378"/>
                <a:gd name="T4" fmla="*/ 17 w 322"/>
                <a:gd name="T5" fmla="*/ 166 h 378"/>
                <a:gd name="T6" fmla="*/ 0 w 322"/>
                <a:gd name="T7" fmla="*/ 226 h 378"/>
                <a:gd name="T8" fmla="*/ 3 w 322"/>
                <a:gd name="T9" fmla="*/ 266 h 378"/>
                <a:gd name="T10" fmla="*/ 9 w 322"/>
                <a:gd name="T11" fmla="*/ 282 h 378"/>
                <a:gd name="T12" fmla="*/ 19 w 322"/>
                <a:gd name="T13" fmla="*/ 297 h 378"/>
                <a:gd name="T14" fmla="*/ 32 w 322"/>
                <a:gd name="T15" fmla="*/ 310 h 378"/>
                <a:gd name="T16" fmla="*/ 56 w 322"/>
                <a:gd name="T17" fmla="*/ 324 h 378"/>
                <a:gd name="T18" fmla="*/ 86 w 322"/>
                <a:gd name="T19" fmla="*/ 338 h 378"/>
                <a:gd name="T20" fmla="*/ 119 w 322"/>
                <a:gd name="T21" fmla="*/ 350 h 378"/>
                <a:gd name="T22" fmla="*/ 152 w 322"/>
                <a:gd name="T23" fmla="*/ 359 h 378"/>
                <a:gd name="T24" fmla="*/ 186 w 322"/>
                <a:gd name="T25" fmla="*/ 366 h 378"/>
                <a:gd name="T26" fmla="*/ 220 w 322"/>
                <a:gd name="T27" fmla="*/ 371 h 378"/>
                <a:gd name="T28" fmla="*/ 254 w 322"/>
                <a:gd name="T29" fmla="*/ 374 h 378"/>
                <a:gd name="T30" fmla="*/ 289 w 322"/>
                <a:gd name="T31" fmla="*/ 376 h 378"/>
                <a:gd name="T32" fmla="*/ 311 w 322"/>
                <a:gd name="T33" fmla="*/ 378 h 378"/>
                <a:gd name="T34" fmla="*/ 320 w 322"/>
                <a:gd name="T35" fmla="*/ 371 h 378"/>
                <a:gd name="T36" fmla="*/ 322 w 322"/>
                <a:gd name="T37" fmla="*/ 360 h 378"/>
                <a:gd name="T38" fmla="*/ 315 w 322"/>
                <a:gd name="T39" fmla="*/ 352 h 378"/>
                <a:gd name="T40" fmla="*/ 294 w 322"/>
                <a:gd name="T41" fmla="*/ 347 h 378"/>
                <a:gd name="T42" fmla="*/ 263 w 322"/>
                <a:gd name="T43" fmla="*/ 341 h 378"/>
                <a:gd name="T44" fmla="*/ 232 w 322"/>
                <a:gd name="T45" fmla="*/ 336 h 378"/>
                <a:gd name="T46" fmla="*/ 200 w 322"/>
                <a:gd name="T47" fmla="*/ 332 h 378"/>
                <a:gd name="T48" fmla="*/ 170 w 322"/>
                <a:gd name="T49" fmla="*/ 326 h 378"/>
                <a:gd name="T50" fmla="*/ 139 w 322"/>
                <a:gd name="T51" fmla="*/ 318 h 378"/>
                <a:gd name="T52" fmla="*/ 110 w 322"/>
                <a:gd name="T53" fmla="*/ 309 h 378"/>
                <a:gd name="T54" fmla="*/ 80 w 322"/>
                <a:gd name="T55" fmla="*/ 297 h 378"/>
                <a:gd name="T56" fmla="*/ 55 w 322"/>
                <a:gd name="T57" fmla="*/ 281 h 378"/>
                <a:gd name="T58" fmla="*/ 38 w 322"/>
                <a:gd name="T59" fmla="*/ 259 h 378"/>
                <a:gd name="T60" fmla="*/ 34 w 322"/>
                <a:gd name="T61" fmla="*/ 232 h 378"/>
                <a:gd name="T62" fmla="*/ 38 w 322"/>
                <a:gd name="T63" fmla="*/ 200 h 378"/>
                <a:gd name="T64" fmla="*/ 51 w 322"/>
                <a:gd name="T65" fmla="*/ 170 h 378"/>
                <a:gd name="T66" fmla="*/ 71 w 322"/>
                <a:gd name="T67" fmla="*/ 137 h 378"/>
                <a:gd name="T68" fmla="*/ 94 w 322"/>
                <a:gd name="T69" fmla="*/ 110 h 378"/>
                <a:gd name="T70" fmla="*/ 123 w 322"/>
                <a:gd name="T71" fmla="*/ 82 h 378"/>
                <a:gd name="T72" fmla="*/ 153 w 322"/>
                <a:gd name="T73" fmla="*/ 57 h 378"/>
                <a:gd name="T74" fmla="*/ 195 w 322"/>
                <a:gd name="T75" fmla="*/ 38 h 378"/>
                <a:gd name="T76" fmla="*/ 238 w 322"/>
                <a:gd name="T77" fmla="*/ 20 h 378"/>
                <a:gd name="T78" fmla="*/ 264 w 322"/>
                <a:gd name="T79" fmla="*/ 7 h 378"/>
                <a:gd name="T80" fmla="*/ 256 w 322"/>
                <a:gd name="T81" fmla="*/ 0 h 378"/>
                <a:gd name="T82" fmla="*/ 221 w 322"/>
                <a:gd name="T83" fmla="*/ 4 h 378"/>
                <a:gd name="T84" fmla="*/ 180 w 322"/>
                <a:gd name="T85" fmla="*/ 18 h 378"/>
                <a:gd name="T86" fmla="*/ 141 w 322"/>
                <a:gd name="T87" fmla="*/ 38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ln>
          </p:spPr>
          <p:txBody>
            <a:bodyPr/>
            <a:lstStyle/>
            <a:p>
              <a:endParaRPr lang="en-US"/>
            </a:p>
          </p:txBody>
        </p:sp>
        <p:sp>
          <p:nvSpPr>
            <p:cNvPr id="6" name="Freeform 995"/>
            <p:cNvSpPr/>
            <p:nvPr/>
          </p:nvSpPr>
          <p:spPr bwMode="auto">
            <a:xfrm>
              <a:off x="4394" y="3133"/>
              <a:ext cx="47" cy="42"/>
            </a:xfrm>
            <a:custGeom>
              <a:avLst/>
              <a:gdLst>
                <a:gd name="T0" fmla="*/ 235 w 283"/>
                <a:gd name="T1" fmla="*/ 77 h 252"/>
                <a:gd name="T2" fmla="*/ 248 w 283"/>
                <a:gd name="T3" fmla="*/ 91 h 252"/>
                <a:gd name="T4" fmla="*/ 256 w 283"/>
                <a:gd name="T5" fmla="*/ 107 h 252"/>
                <a:gd name="T6" fmla="*/ 259 w 283"/>
                <a:gd name="T7" fmla="*/ 124 h 252"/>
                <a:gd name="T8" fmla="*/ 259 w 283"/>
                <a:gd name="T9" fmla="*/ 142 h 252"/>
                <a:gd name="T10" fmla="*/ 257 w 283"/>
                <a:gd name="T11" fmla="*/ 157 h 252"/>
                <a:gd name="T12" fmla="*/ 252 w 283"/>
                <a:gd name="T13" fmla="*/ 170 h 252"/>
                <a:gd name="T14" fmla="*/ 244 w 283"/>
                <a:gd name="T15" fmla="*/ 183 h 252"/>
                <a:gd name="T16" fmla="*/ 236 w 283"/>
                <a:gd name="T17" fmla="*/ 193 h 252"/>
                <a:gd name="T18" fmla="*/ 225 w 283"/>
                <a:gd name="T19" fmla="*/ 204 h 252"/>
                <a:gd name="T20" fmla="*/ 215 w 283"/>
                <a:gd name="T21" fmla="*/ 214 h 252"/>
                <a:gd name="T22" fmla="*/ 204 w 283"/>
                <a:gd name="T23" fmla="*/ 224 h 252"/>
                <a:gd name="T24" fmla="*/ 194 w 283"/>
                <a:gd name="T25" fmla="*/ 234 h 252"/>
                <a:gd name="T26" fmla="*/ 191 w 283"/>
                <a:gd name="T27" fmla="*/ 238 h 252"/>
                <a:gd name="T28" fmla="*/ 191 w 283"/>
                <a:gd name="T29" fmla="*/ 241 h 252"/>
                <a:gd name="T30" fmla="*/ 191 w 283"/>
                <a:gd name="T31" fmla="*/ 245 h 252"/>
                <a:gd name="T32" fmla="*/ 194 w 283"/>
                <a:gd name="T33" fmla="*/ 248 h 252"/>
                <a:gd name="T34" fmla="*/ 197 w 283"/>
                <a:gd name="T35" fmla="*/ 250 h 252"/>
                <a:gd name="T36" fmla="*/ 202 w 283"/>
                <a:gd name="T37" fmla="*/ 252 h 252"/>
                <a:gd name="T38" fmla="*/ 205 w 283"/>
                <a:gd name="T39" fmla="*/ 250 h 252"/>
                <a:gd name="T40" fmla="*/ 209 w 283"/>
                <a:gd name="T41" fmla="*/ 248 h 252"/>
                <a:gd name="T42" fmla="*/ 232 w 283"/>
                <a:gd name="T43" fmla="*/ 233 h 252"/>
                <a:gd name="T44" fmla="*/ 252 w 283"/>
                <a:gd name="T45" fmla="*/ 214 h 252"/>
                <a:gd name="T46" fmla="*/ 268 w 283"/>
                <a:gd name="T47" fmla="*/ 192 h 252"/>
                <a:gd name="T48" fmla="*/ 278 w 283"/>
                <a:gd name="T49" fmla="*/ 167 h 252"/>
                <a:gd name="T50" fmla="*/ 283 w 283"/>
                <a:gd name="T51" fmla="*/ 141 h 252"/>
                <a:gd name="T52" fmla="*/ 280 w 283"/>
                <a:gd name="T53" fmla="*/ 115 h 252"/>
                <a:gd name="T54" fmla="*/ 271 w 283"/>
                <a:gd name="T55" fmla="*/ 91 h 252"/>
                <a:gd name="T56" fmla="*/ 252 w 283"/>
                <a:gd name="T57" fmla="*/ 69 h 252"/>
                <a:gd name="T58" fmla="*/ 238 w 283"/>
                <a:gd name="T59" fmla="*/ 57 h 252"/>
                <a:gd name="T60" fmla="*/ 222 w 283"/>
                <a:gd name="T61" fmla="*/ 48 h 252"/>
                <a:gd name="T62" fmla="*/ 204 w 283"/>
                <a:gd name="T63" fmla="*/ 39 h 252"/>
                <a:gd name="T64" fmla="*/ 184 w 283"/>
                <a:gd name="T65" fmla="*/ 31 h 252"/>
                <a:gd name="T66" fmla="*/ 164 w 283"/>
                <a:gd name="T67" fmla="*/ 23 h 252"/>
                <a:gd name="T68" fmla="*/ 144 w 283"/>
                <a:gd name="T69" fmla="*/ 17 h 252"/>
                <a:gd name="T70" fmla="*/ 123 w 283"/>
                <a:gd name="T71" fmla="*/ 13 h 252"/>
                <a:gd name="T72" fmla="*/ 103 w 283"/>
                <a:gd name="T73" fmla="*/ 8 h 252"/>
                <a:gd name="T74" fmla="*/ 83 w 283"/>
                <a:gd name="T75" fmla="*/ 5 h 252"/>
                <a:gd name="T76" fmla="*/ 66 w 283"/>
                <a:gd name="T77" fmla="*/ 2 h 252"/>
                <a:gd name="T78" fmla="*/ 48 w 283"/>
                <a:gd name="T79" fmla="*/ 0 h 252"/>
                <a:gd name="T80" fmla="*/ 34 w 283"/>
                <a:gd name="T81" fmla="*/ 0 h 252"/>
                <a:gd name="T82" fmla="*/ 21 w 283"/>
                <a:gd name="T83" fmla="*/ 0 h 252"/>
                <a:gd name="T84" fmla="*/ 11 w 283"/>
                <a:gd name="T85" fmla="*/ 0 h 252"/>
                <a:gd name="T86" fmla="*/ 4 w 283"/>
                <a:gd name="T87" fmla="*/ 2 h 252"/>
                <a:gd name="T88" fmla="*/ 0 w 283"/>
                <a:gd name="T89" fmla="*/ 5 h 252"/>
                <a:gd name="T90" fmla="*/ 12 w 283"/>
                <a:gd name="T91" fmla="*/ 7 h 252"/>
                <a:gd name="T92" fmla="*/ 24 w 283"/>
                <a:gd name="T93" fmla="*/ 8 h 252"/>
                <a:gd name="T94" fmla="*/ 38 w 283"/>
                <a:gd name="T95" fmla="*/ 10 h 252"/>
                <a:gd name="T96" fmla="*/ 52 w 283"/>
                <a:gd name="T97" fmla="*/ 13 h 252"/>
                <a:gd name="T98" fmla="*/ 66 w 283"/>
                <a:gd name="T99" fmla="*/ 16 h 252"/>
                <a:gd name="T100" fmla="*/ 82 w 283"/>
                <a:gd name="T101" fmla="*/ 18 h 252"/>
                <a:gd name="T102" fmla="*/ 98 w 283"/>
                <a:gd name="T103" fmla="*/ 22 h 252"/>
                <a:gd name="T104" fmla="*/ 114 w 283"/>
                <a:gd name="T105" fmla="*/ 25 h 252"/>
                <a:gd name="T106" fmla="*/ 129 w 283"/>
                <a:gd name="T107" fmla="*/ 30 h 252"/>
                <a:gd name="T108" fmla="*/ 146 w 283"/>
                <a:gd name="T109" fmla="*/ 34 h 252"/>
                <a:gd name="T110" fmla="*/ 162 w 283"/>
                <a:gd name="T111" fmla="*/ 39 h 252"/>
                <a:gd name="T112" fmla="*/ 177 w 283"/>
                <a:gd name="T113" fmla="*/ 45 h 252"/>
                <a:gd name="T114" fmla="*/ 193 w 283"/>
                <a:gd name="T115" fmla="*/ 52 h 252"/>
                <a:gd name="T116" fmla="*/ 208 w 283"/>
                <a:gd name="T117" fmla="*/ 60 h 252"/>
                <a:gd name="T118" fmla="*/ 222 w 283"/>
                <a:gd name="T119" fmla="*/ 68 h 252"/>
                <a:gd name="T120" fmla="*/ 235 w 283"/>
                <a:gd name="T121" fmla="*/ 77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ln>
          </p:spPr>
          <p:txBody>
            <a:bodyPr/>
            <a:lstStyle/>
            <a:p>
              <a:endParaRPr lang="en-US"/>
            </a:p>
          </p:txBody>
        </p:sp>
        <p:sp>
          <p:nvSpPr>
            <p:cNvPr id="7" name="Freeform 996"/>
            <p:cNvSpPr/>
            <p:nvPr/>
          </p:nvSpPr>
          <p:spPr bwMode="auto">
            <a:xfrm>
              <a:off x="4298" y="3153"/>
              <a:ext cx="19" cy="39"/>
            </a:xfrm>
            <a:custGeom>
              <a:avLst/>
              <a:gdLst>
                <a:gd name="T0" fmla="*/ 0 w 114"/>
                <a:gd name="T1" fmla="*/ 130 h 238"/>
                <a:gd name="T2" fmla="*/ 0 w 114"/>
                <a:gd name="T3" fmla="*/ 149 h 238"/>
                <a:gd name="T4" fmla="*/ 4 w 114"/>
                <a:gd name="T5" fmla="*/ 168 h 238"/>
                <a:gd name="T6" fmla="*/ 12 w 114"/>
                <a:gd name="T7" fmla="*/ 185 h 238"/>
                <a:gd name="T8" fmla="*/ 24 w 114"/>
                <a:gd name="T9" fmla="*/ 200 h 238"/>
                <a:gd name="T10" fmla="*/ 38 w 114"/>
                <a:gd name="T11" fmla="*/ 213 h 238"/>
                <a:gd name="T12" fmla="*/ 55 w 114"/>
                <a:gd name="T13" fmla="*/ 224 h 238"/>
                <a:gd name="T14" fmla="*/ 73 w 114"/>
                <a:gd name="T15" fmla="*/ 232 h 238"/>
                <a:gd name="T16" fmla="*/ 92 w 114"/>
                <a:gd name="T17" fmla="*/ 237 h 238"/>
                <a:gd name="T18" fmla="*/ 98 w 114"/>
                <a:gd name="T19" fmla="*/ 238 h 238"/>
                <a:gd name="T20" fmla="*/ 104 w 114"/>
                <a:gd name="T21" fmla="*/ 235 h 238"/>
                <a:gd name="T22" fmla="*/ 109 w 114"/>
                <a:gd name="T23" fmla="*/ 232 h 238"/>
                <a:gd name="T24" fmla="*/ 111 w 114"/>
                <a:gd name="T25" fmla="*/ 227 h 238"/>
                <a:gd name="T26" fmla="*/ 111 w 114"/>
                <a:gd name="T27" fmla="*/ 222 h 238"/>
                <a:gd name="T28" fmla="*/ 110 w 114"/>
                <a:gd name="T29" fmla="*/ 216 h 238"/>
                <a:gd name="T30" fmla="*/ 106 w 114"/>
                <a:gd name="T31" fmla="*/ 211 h 238"/>
                <a:gd name="T32" fmla="*/ 100 w 114"/>
                <a:gd name="T33" fmla="*/ 209 h 238"/>
                <a:gd name="T34" fmla="*/ 82 w 114"/>
                <a:gd name="T35" fmla="*/ 202 h 238"/>
                <a:gd name="T36" fmla="*/ 64 w 114"/>
                <a:gd name="T37" fmla="*/ 193 h 238"/>
                <a:gd name="T38" fmla="*/ 50 w 114"/>
                <a:gd name="T39" fmla="*/ 180 h 238"/>
                <a:gd name="T40" fmla="*/ 39 w 114"/>
                <a:gd name="T41" fmla="*/ 167 h 238"/>
                <a:gd name="T42" fmla="*/ 32 w 114"/>
                <a:gd name="T43" fmla="*/ 149 h 238"/>
                <a:gd name="T44" fmla="*/ 29 w 114"/>
                <a:gd name="T45" fmla="*/ 131 h 238"/>
                <a:gd name="T46" fmla="*/ 29 w 114"/>
                <a:gd name="T47" fmla="*/ 111 h 238"/>
                <a:gd name="T48" fmla="*/ 35 w 114"/>
                <a:gd name="T49" fmla="*/ 91 h 238"/>
                <a:gd name="T50" fmla="*/ 42 w 114"/>
                <a:gd name="T51" fmla="*/ 76 h 238"/>
                <a:gd name="T52" fmla="*/ 51 w 114"/>
                <a:gd name="T53" fmla="*/ 62 h 238"/>
                <a:gd name="T54" fmla="*/ 62 w 114"/>
                <a:gd name="T55" fmla="*/ 49 h 238"/>
                <a:gd name="T56" fmla="*/ 73 w 114"/>
                <a:gd name="T57" fmla="*/ 38 h 238"/>
                <a:gd name="T58" fmla="*/ 84 w 114"/>
                <a:gd name="T59" fmla="*/ 28 h 238"/>
                <a:gd name="T60" fmla="*/ 96 w 114"/>
                <a:gd name="T61" fmla="*/ 18 h 238"/>
                <a:gd name="T62" fmla="*/ 106 w 114"/>
                <a:gd name="T63" fmla="*/ 9 h 238"/>
                <a:gd name="T64" fmla="*/ 114 w 114"/>
                <a:gd name="T65" fmla="*/ 1 h 238"/>
                <a:gd name="T66" fmla="*/ 106 w 114"/>
                <a:gd name="T67" fmla="*/ 0 h 238"/>
                <a:gd name="T68" fmla="*/ 93 w 114"/>
                <a:gd name="T69" fmla="*/ 6 h 238"/>
                <a:gd name="T70" fmla="*/ 76 w 114"/>
                <a:gd name="T71" fmla="*/ 18 h 238"/>
                <a:gd name="T72" fmla="*/ 56 w 114"/>
                <a:gd name="T73" fmla="*/ 36 h 238"/>
                <a:gd name="T74" fmla="*/ 37 w 114"/>
                <a:gd name="T75" fmla="*/ 57 h 238"/>
                <a:gd name="T76" fmla="*/ 20 w 114"/>
                <a:gd name="T77" fmla="*/ 80 h 238"/>
                <a:gd name="T78" fmla="*/ 7 w 114"/>
                <a:gd name="T79" fmla="*/ 106 h 238"/>
                <a:gd name="T80" fmla="*/ 0 w 114"/>
                <a:gd name="T81" fmla="*/ 13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ln>
          </p:spPr>
          <p:txBody>
            <a:bodyPr/>
            <a:lstStyle/>
            <a:p>
              <a:endParaRPr lang="en-US"/>
            </a:p>
          </p:txBody>
        </p:sp>
        <p:sp>
          <p:nvSpPr>
            <p:cNvPr id="3230" name="Freeform 997"/>
            <p:cNvSpPr/>
            <p:nvPr/>
          </p:nvSpPr>
          <p:spPr bwMode="auto">
            <a:xfrm>
              <a:off x="4432" y="3130"/>
              <a:ext cx="41" cy="52"/>
            </a:xfrm>
            <a:custGeom>
              <a:avLst/>
              <a:gdLst>
                <a:gd name="T0" fmla="*/ 207 w 246"/>
                <a:gd name="T1" fmla="*/ 124 h 310"/>
                <a:gd name="T2" fmla="*/ 219 w 246"/>
                <a:gd name="T3" fmla="*/ 143 h 310"/>
                <a:gd name="T4" fmla="*/ 225 w 246"/>
                <a:gd name="T5" fmla="*/ 164 h 310"/>
                <a:gd name="T6" fmla="*/ 221 w 246"/>
                <a:gd name="T7" fmla="*/ 187 h 310"/>
                <a:gd name="T8" fmla="*/ 208 w 246"/>
                <a:gd name="T9" fmla="*/ 209 h 310"/>
                <a:gd name="T10" fmla="*/ 188 w 246"/>
                <a:gd name="T11" fmla="*/ 228 h 310"/>
                <a:gd name="T12" fmla="*/ 166 w 246"/>
                <a:gd name="T13" fmla="*/ 246 h 310"/>
                <a:gd name="T14" fmla="*/ 143 w 246"/>
                <a:gd name="T15" fmla="*/ 264 h 310"/>
                <a:gd name="T16" fmla="*/ 129 w 246"/>
                <a:gd name="T17" fmla="*/ 278 h 310"/>
                <a:gd name="T18" fmla="*/ 124 w 246"/>
                <a:gd name="T19" fmla="*/ 287 h 310"/>
                <a:gd name="T20" fmla="*/ 120 w 246"/>
                <a:gd name="T21" fmla="*/ 296 h 310"/>
                <a:gd name="T22" fmla="*/ 121 w 246"/>
                <a:gd name="T23" fmla="*/ 305 h 310"/>
                <a:gd name="T24" fmla="*/ 130 w 246"/>
                <a:gd name="T25" fmla="*/ 310 h 310"/>
                <a:gd name="T26" fmla="*/ 139 w 246"/>
                <a:gd name="T27" fmla="*/ 309 h 310"/>
                <a:gd name="T28" fmla="*/ 154 w 246"/>
                <a:gd name="T29" fmla="*/ 293 h 310"/>
                <a:gd name="T30" fmla="*/ 180 w 246"/>
                <a:gd name="T31" fmla="*/ 269 h 310"/>
                <a:gd name="T32" fmla="*/ 207 w 246"/>
                <a:gd name="T33" fmla="*/ 246 h 310"/>
                <a:gd name="T34" fmla="*/ 231 w 246"/>
                <a:gd name="T35" fmla="*/ 219 h 310"/>
                <a:gd name="T36" fmla="*/ 245 w 246"/>
                <a:gd name="T37" fmla="*/ 187 h 310"/>
                <a:gd name="T38" fmla="*/ 242 w 246"/>
                <a:gd name="T39" fmla="*/ 153 h 310"/>
                <a:gd name="T40" fmla="*/ 227 w 246"/>
                <a:gd name="T41" fmla="*/ 120 h 310"/>
                <a:gd name="T42" fmla="*/ 201 w 246"/>
                <a:gd name="T43" fmla="*/ 94 h 310"/>
                <a:gd name="T44" fmla="*/ 177 w 246"/>
                <a:gd name="T45" fmla="*/ 74 h 310"/>
                <a:gd name="T46" fmla="*/ 152 w 246"/>
                <a:gd name="T47" fmla="*/ 60 h 310"/>
                <a:gd name="T48" fmla="*/ 126 w 246"/>
                <a:gd name="T49" fmla="*/ 43 h 310"/>
                <a:gd name="T50" fmla="*/ 98 w 246"/>
                <a:gd name="T51" fmla="*/ 28 h 310"/>
                <a:gd name="T52" fmla="*/ 72 w 246"/>
                <a:gd name="T53" fmla="*/ 16 h 310"/>
                <a:gd name="T54" fmla="*/ 46 w 246"/>
                <a:gd name="T55" fmla="*/ 7 h 310"/>
                <a:gd name="T56" fmla="*/ 24 w 246"/>
                <a:gd name="T57" fmla="*/ 1 h 310"/>
                <a:gd name="T58" fmla="*/ 7 w 246"/>
                <a:gd name="T59" fmla="*/ 1 h 310"/>
                <a:gd name="T60" fmla="*/ 8 w 246"/>
                <a:gd name="T61" fmla="*/ 6 h 310"/>
                <a:gd name="T62" fmla="*/ 28 w 246"/>
                <a:gd name="T63" fmla="*/ 14 h 310"/>
                <a:gd name="T64" fmla="*/ 51 w 246"/>
                <a:gd name="T65" fmla="*/ 24 h 310"/>
                <a:gd name="T66" fmla="*/ 78 w 246"/>
                <a:gd name="T67" fmla="*/ 37 h 310"/>
                <a:gd name="T68" fmla="*/ 106 w 246"/>
                <a:gd name="T69" fmla="*/ 51 h 310"/>
                <a:gd name="T70" fmla="*/ 134 w 246"/>
                <a:gd name="T71" fmla="*/ 69 h 310"/>
                <a:gd name="T72" fmla="*/ 163 w 246"/>
                <a:gd name="T73" fmla="*/ 87 h 310"/>
                <a:gd name="T74" fmla="*/ 187 w 246"/>
                <a:gd name="T75" fmla="*/ 105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ln>
          </p:spPr>
          <p:txBody>
            <a:bodyPr/>
            <a:lstStyle/>
            <a:p>
              <a:endParaRPr lang="en-US"/>
            </a:p>
          </p:txBody>
        </p:sp>
        <p:sp>
          <p:nvSpPr>
            <p:cNvPr id="3231" name="Freeform 998"/>
            <p:cNvSpPr/>
            <p:nvPr/>
          </p:nvSpPr>
          <p:spPr bwMode="auto">
            <a:xfrm>
              <a:off x="4387" y="3191"/>
              <a:ext cx="14" cy="31"/>
            </a:xfrm>
            <a:custGeom>
              <a:avLst/>
              <a:gdLst>
                <a:gd name="T0" fmla="*/ 31 w 83"/>
                <a:gd name="T1" fmla="*/ 14 h 187"/>
                <a:gd name="T2" fmla="*/ 29 w 83"/>
                <a:gd name="T3" fmla="*/ 8 h 187"/>
                <a:gd name="T4" fmla="*/ 25 w 83"/>
                <a:gd name="T5" fmla="*/ 3 h 187"/>
                <a:gd name="T6" fmla="*/ 19 w 83"/>
                <a:gd name="T7" fmla="*/ 1 h 187"/>
                <a:gd name="T8" fmla="*/ 14 w 83"/>
                <a:gd name="T9" fmla="*/ 0 h 187"/>
                <a:gd name="T10" fmla="*/ 8 w 83"/>
                <a:gd name="T11" fmla="*/ 2 h 187"/>
                <a:gd name="T12" fmla="*/ 3 w 83"/>
                <a:gd name="T13" fmla="*/ 5 h 187"/>
                <a:gd name="T14" fmla="*/ 0 w 83"/>
                <a:gd name="T15" fmla="*/ 11 h 187"/>
                <a:gd name="T16" fmla="*/ 0 w 83"/>
                <a:gd name="T17" fmla="*/ 17 h 187"/>
                <a:gd name="T18" fmla="*/ 5 w 83"/>
                <a:gd name="T19" fmla="*/ 42 h 187"/>
                <a:gd name="T20" fmla="*/ 15 w 83"/>
                <a:gd name="T21" fmla="*/ 71 h 187"/>
                <a:gd name="T22" fmla="*/ 27 w 83"/>
                <a:gd name="T23" fmla="*/ 100 h 187"/>
                <a:gd name="T24" fmla="*/ 41 w 83"/>
                <a:gd name="T25" fmla="*/ 127 h 187"/>
                <a:gd name="T26" fmla="*/ 55 w 83"/>
                <a:gd name="T27" fmla="*/ 151 h 187"/>
                <a:gd name="T28" fmla="*/ 68 w 83"/>
                <a:gd name="T29" fmla="*/ 171 h 187"/>
                <a:gd name="T30" fmla="*/ 77 w 83"/>
                <a:gd name="T31" fmla="*/ 184 h 187"/>
                <a:gd name="T32" fmla="*/ 83 w 83"/>
                <a:gd name="T33" fmla="*/ 187 h 187"/>
                <a:gd name="T34" fmla="*/ 80 w 83"/>
                <a:gd name="T35" fmla="*/ 174 h 187"/>
                <a:gd name="T36" fmla="*/ 75 w 83"/>
                <a:gd name="T37" fmla="*/ 158 h 187"/>
                <a:gd name="T38" fmla="*/ 68 w 83"/>
                <a:gd name="T39" fmla="*/ 138 h 187"/>
                <a:gd name="T40" fmla="*/ 59 w 83"/>
                <a:gd name="T41" fmla="*/ 113 h 187"/>
                <a:gd name="T42" fmla="*/ 51 w 83"/>
                <a:gd name="T43" fmla="*/ 88 h 187"/>
                <a:gd name="T44" fmla="*/ 43 w 83"/>
                <a:gd name="T45" fmla="*/ 63 h 187"/>
                <a:gd name="T46" fmla="*/ 36 w 83"/>
                <a:gd name="T47" fmla="*/ 38 h 187"/>
                <a:gd name="T48" fmla="*/ 31 w 83"/>
                <a:gd name="T49" fmla="*/ 14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ln>
          </p:spPr>
          <p:txBody>
            <a:bodyPr/>
            <a:lstStyle/>
            <a:p>
              <a:endParaRPr lang="en-US"/>
            </a:p>
          </p:txBody>
        </p:sp>
        <p:sp>
          <p:nvSpPr>
            <p:cNvPr id="3232" name="Freeform 999"/>
            <p:cNvSpPr/>
            <p:nvPr/>
          </p:nvSpPr>
          <p:spPr bwMode="auto">
            <a:xfrm>
              <a:off x="4381" y="3174"/>
              <a:ext cx="7" cy="16"/>
            </a:xfrm>
            <a:custGeom>
              <a:avLst/>
              <a:gdLst>
                <a:gd name="T0" fmla="*/ 22 w 44"/>
                <a:gd name="T1" fmla="*/ 10 h 94"/>
                <a:gd name="T2" fmla="*/ 21 w 44"/>
                <a:gd name="T3" fmla="*/ 6 h 94"/>
                <a:gd name="T4" fmla="*/ 18 w 44"/>
                <a:gd name="T5" fmla="*/ 2 h 94"/>
                <a:gd name="T6" fmla="*/ 14 w 44"/>
                <a:gd name="T7" fmla="*/ 0 h 94"/>
                <a:gd name="T8" fmla="*/ 10 w 44"/>
                <a:gd name="T9" fmla="*/ 0 h 94"/>
                <a:gd name="T10" fmla="*/ 6 w 44"/>
                <a:gd name="T11" fmla="*/ 1 h 94"/>
                <a:gd name="T12" fmla="*/ 3 w 44"/>
                <a:gd name="T13" fmla="*/ 3 h 94"/>
                <a:gd name="T14" fmla="*/ 0 w 44"/>
                <a:gd name="T15" fmla="*/ 7 h 94"/>
                <a:gd name="T16" fmla="*/ 0 w 44"/>
                <a:gd name="T17" fmla="*/ 11 h 94"/>
                <a:gd name="T18" fmla="*/ 0 w 44"/>
                <a:gd name="T19" fmla="*/ 24 h 94"/>
                <a:gd name="T20" fmla="*/ 4 w 44"/>
                <a:gd name="T21" fmla="*/ 38 h 94"/>
                <a:gd name="T22" fmla="*/ 8 w 44"/>
                <a:gd name="T23" fmla="*/ 52 h 94"/>
                <a:gd name="T24" fmla="*/ 14 w 44"/>
                <a:gd name="T25" fmla="*/ 65 h 94"/>
                <a:gd name="T26" fmla="*/ 21 w 44"/>
                <a:gd name="T27" fmla="*/ 78 h 94"/>
                <a:gd name="T28" fmla="*/ 28 w 44"/>
                <a:gd name="T29" fmla="*/ 87 h 94"/>
                <a:gd name="T30" fmla="*/ 37 w 44"/>
                <a:gd name="T31" fmla="*/ 93 h 94"/>
                <a:gd name="T32" fmla="*/ 42 w 44"/>
                <a:gd name="T33" fmla="*/ 94 h 94"/>
                <a:gd name="T34" fmla="*/ 44 w 44"/>
                <a:gd name="T35" fmla="*/ 76 h 94"/>
                <a:gd name="T36" fmla="*/ 38 w 44"/>
                <a:gd name="T37" fmla="*/ 54 h 94"/>
                <a:gd name="T38" fmla="*/ 31 w 44"/>
                <a:gd name="T39" fmla="*/ 32 h 94"/>
                <a:gd name="T40" fmla="*/ 22 w 44"/>
                <a:gd name="T41" fmla="*/ 1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ln>
          </p:spPr>
          <p:txBody>
            <a:bodyPr/>
            <a:lstStyle/>
            <a:p>
              <a:endParaRPr lang="en-US"/>
            </a:p>
          </p:txBody>
        </p:sp>
        <p:sp>
          <p:nvSpPr>
            <p:cNvPr id="3233" name="Freeform 1000"/>
            <p:cNvSpPr/>
            <p:nvPr/>
          </p:nvSpPr>
          <p:spPr bwMode="auto">
            <a:xfrm>
              <a:off x="4375" y="3163"/>
              <a:ext cx="6" cy="9"/>
            </a:xfrm>
            <a:custGeom>
              <a:avLst/>
              <a:gdLst>
                <a:gd name="T0" fmla="*/ 20 w 38"/>
                <a:gd name="T1" fmla="*/ 7 h 54"/>
                <a:gd name="T2" fmla="*/ 20 w 38"/>
                <a:gd name="T3" fmla="*/ 8 h 54"/>
                <a:gd name="T4" fmla="*/ 20 w 38"/>
                <a:gd name="T5" fmla="*/ 8 h 54"/>
                <a:gd name="T6" fmla="*/ 20 w 38"/>
                <a:gd name="T7" fmla="*/ 8 h 54"/>
                <a:gd name="T8" fmla="*/ 20 w 38"/>
                <a:gd name="T9" fmla="*/ 8 h 54"/>
                <a:gd name="T10" fmla="*/ 19 w 38"/>
                <a:gd name="T11" fmla="*/ 4 h 54"/>
                <a:gd name="T12" fmla="*/ 15 w 38"/>
                <a:gd name="T13" fmla="*/ 1 h 54"/>
                <a:gd name="T14" fmla="*/ 12 w 38"/>
                <a:gd name="T15" fmla="*/ 0 h 54"/>
                <a:gd name="T16" fmla="*/ 7 w 38"/>
                <a:gd name="T17" fmla="*/ 0 h 54"/>
                <a:gd name="T18" fmla="*/ 4 w 38"/>
                <a:gd name="T19" fmla="*/ 1 h 54"/>
                <a:gd name="T20" fmla="*/ 1 w 38"/>
                <a:gd name="T21" fmla="*/ 4 h 54"/>
                <a:gd name="T22" fmla="*/ 0 w 38"/>
                <a:gd name="T23" fmla="*/ 8 h 54"/>
                <a:gd name="T24" fmla="*/ 0 w 38"/>
                <a:gd name="T25" fmla="*/ 11 h 54"/>
                <a:gd name="T26" fmla="*/ 1 w 38"/>
                <a:gd name="T27" fmla="*/ 17 h 54"/>
                <a:gd name="T28" fmla="*/ 4 w 38"/>
                <a:gd name="T29" fmla="*/ 24 h 54"/>
                <a:gd name="T30" fmla="*/ 8 w 38"/>
                <a:gd name="T31" fmla="*/ 32 h 54"/>
                <a:gd name="T32" fmla="*/ 14 w 38"/>
                <a:gd name="T33" fmla="*/ 39 h 54"/>
                <a:gd name="T34" fmla="*/ 20 w 38"/>
                <a:gd name="T35" fmla="*/ 46 h 54"/>
                <a:gd name="T36" fmla="*/ 27 w 38"/>
                <a:gd name="T37" fmla="*/ 50 h 54"/>
                <a:gd name="T38" fmla="*/ 33 w 38"/>
                <a:gd name="T39" fmla="*/ 54 h 54"/>
                <a:gd name="T40" fmla="*/ 38 w 38"/>
                <a:gd name="T41" fmla="*/ 54 h 54"/>
                <a:gd name="T42" fmla="*/ 36 w 38"/>
                <a:gd name="T43" fmla="*/ 42 h 54"/>
                <a:gd name="T44" fmla="*/ 32 w 38"/>
                <a:gd name="T45" fmla="*/ 29 h 54"/>
                <a:gd name="T46" fmla="*/ 25 w 38"/>
                <a:gd name="T47" fmla="*/ 16 h 54"/>
                <a:gd name="T48" fmla="*/ 20 w 38"/>
                <a:gd name="T49" fmla="*/ 7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ln>
          </p:spPr>
          <p:txBody>
            <a:bodyPr/>
            <a:lstStyle/>
            <a:p>
              <a:endParaRPr lang="en-US"/>
            </a:p>
          </p:txBody>
        </p:sp>
        <p:sp>
          <p:nvSpPr>
            <p:cNvPr id="3234" name="Freeform 1001"/>
            <p:cNvSpPr/>
            <p:nvPr/>
          </p:nvSpPr>
          <p:spPr bwMode="auto">
            <a:xfrm>
              <a:off x="4370" y="3155"/>
              <a:ext cx="8" cy="6"/>
            </a:xfrm>
            <a:custGeom>
              <a:avLst/>
              <a:gdLst>
                <a:gd name="T0" fmla="*/ 41 w 52"/>
                <a:gd name="T1" fmla="*/ 27 h 36"/>
                <a:gd name="T2" fmla="*/ 46 w 52"/>
                <a:gd name="T3" fmla="*/ 24 h 36"/>
                <a:gd name="T4" fmla="*/ 51 w 52"/>
                <a:gd name="T5" fmla="*/ 21 h 36"/>
                <a:gd name="T6" fmla="*/ 52 w 52"/>
                <a:gd name="T7" fmla="*/ 16 h 36"/>
                <a:gd name="T8" fmla="*/ 52 w 52"/>
                <a:gd name="T9" fmla="*/ 12 h 36"/>
                <a:gd name="T10" fmla="*/ 50 w 52"/>
                <a:gd name="T11" fmla="*/ 6 h 36"/>
                <a:gd name="T12" fmla="*/ 46 w 52"/>
                <a:gd name="T13" fmla="*/ 2 h 36"/>
                <a:gd name="T14" fmla="*/ 41 w 52"/>
                <a:gd name="T15" fmla="*/ 0 h 36"/>
                <a:gd name="T16" fmla="*/ 36 w 52"/>
                <a:gd name="T17" fmla="*/ 0 h 36"/>
                <a:gd name="T18" fmla="*/ 33 w 52"/>
                <a:gd name="T19" fmla="*/ 0 h 36"/>
                <a:gd name="T20" fmla="*/ 29 w 52"/>
                <a:gd name="T21" fmla="*/ 1 h 36"/>
                <a:gd name="T22" fmla="*/ 21 w 52"/>
                <a:gd name="T23" fmla="*/ 4 h 36"/>
                <a:gd name="T24" fmla="*/ 13 w 52"/>
                <a:gd name="T25" fmla="*/ 8 h 36"/>
                <a:gd name="T26" fmla="*/ 6 w 52"/>
                <a:gd name="T27" fmla="*/ 15 h 36"/>
                <a:gd name="T28" fmla="*/ 3 w 52"/>
                <a:gd name="T29" fmla="*/ 22 h 36"/>
                <a:gd name="T30" fmla="*/ 0 w 52"/>
                <a:gd name="T31" fmla="*/ 29 h 36"/>
                <a:gd name="T32" fmla="*/ 0 w 52"/>
                <a:gd name="T33" fmla="*/ 31 h 36"/>
                <a:gd name="T34" fmla="*/ 4 w 52"/>
                <a:gd name="T35" fmla="*/ 33 h 36"/>
                <a:gd name="T36" fmla="*/ 9 w 52"/>
                <a:gd name="T37" fmla="*/ 36 h 36"/>
                <a:gd name="T38" fmla="*/ 13 w 52"/>
                <a:gd name="T39" fmla="*/ 36 h 36"/>
                <a:gd name="T40" fmla="*/ 18 w 52"/>
                <a:gd name="T41" fmla="*/ 36 h 36"/>
                <a:gd name="T42" fmla="*/ 24 w 52"/>
                <a:gd name="T43" fmla="*/ 33 h 36"/>
                <a:gd name="T44" fmla="*/ 30 w 52"/>
                <a:gd name="T45" fmla="*/ 32 h 36"/>
                <a:gd name="T46" fmla="*/ 36 w 52"/>
                <a:gd name="T47" fmla="*/ 30 h 36"/>
                <a:gd name="T48" fmla="*/ 41 w 52"/>
                <a:gd name="T49" fmla="*/ 27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ln>
          </p:spPr>
          <p:txBody>
            <a:bodyPr/>
            <a:lstStyle/>
            <a:p>
              <a:endParaRPr lang="en-US"/>
            </a:p>
          </p:txBody>
        </p:sp>
        <p:sp>
          <p:nvSpPr>
            <p:cNvPr id="3235" name="Freeform 1002"/>
            <p:cNvSpPr/>
            <p:nvPr/>
          </p:nvSpPr>
          <p:spPr bwMode="auto">
            <a:xfrm>
              <a:off x="4330" y="3145"/>
              <a:ext cx="33" cy="39"/>
            </a:xfrm>
            <a:custGeom>
              <a:avLst/>
              <a:gdLst>
                <a:gd name="T0" fmla="*/ 73 w 198"/>
                <a:gd name="T1" fmla="*/ 36 h 236"/>
                <a:gd name="T2" fmla="*/ 58 w 198"/>
                <a:gd name="T3" fmla="*/ 46 h 236"/>
                <a:gd name="T4" fmla="*/ 46 w 198"/>
                <a:gd name="T5" fmla="*/ 58 h 236"/>
                <a:gd name="T6" fmla="*/ 33 w 198"/>
                <a:gd name="T7" fmla="*/ 72 h 236"/>
                <a:gd name="T8" fmla="*/ 22 w 198"/>
                <a:gd name="T9" fmla="*/ 85 h 236"/>
                <a:gd name="T10" fmla="*/ 14 w 198"/>
                <a:gd name="T11" fmla="*/ 100 h 236"/>
                <a:gd name="T12" fmla="*/ 7 w 198"/>
                <a:gd name="T13" fmla="*/ 115 h 236"/>
                <a:gd name="T14" fmla="*/ 2 w 198"/>
                <a:gd name="T15" fmla="*/ 130 h 236"/>
                <a:gd name="T16" fmla="*/ 0 w 198"/>
                <a:gd name="T17" fmla="*/ 146 h 236"/>
                <a:gd name="T18" fmla="*/ 2 w 198"/>
                <a:gd name="T19" fmla="*/ 170 h 236"/>
                <a:gd name="T20" fmla="*/ 12 w 198"/>
                <a:gd name="T21" fmla="*/ 190 h 236"/>
                <a:gd name="T22" fmla="*/ 26 w 198"/>
                <a:gd name="T23" fmla="*/ 207 h 236"/>
                <a:gd name="T24" fmla="*/ 43 w 198"/>
                <a:gd name="T25" fmla="*/ 220 h 236"/>
                <a:gd name="T26" fmla="*/ 64 w 198"/>
                <a:gd name="T27" fmla="*/ 229 h 236"/>
                <a:gd name="T28" fmla="*/ 88 w 198"/>
                <a:gd name="T29" fmla="*/ 235 h 236"/>
                <a:gd name="T30" fmla="*/ 110 w 198"/>
                <a:gd name="T31" fmla="*/ 236 h 236"/>
                <a:gd name="T32" fmla="*/ 132 w 198"/>
                <a:gd name="T33" fmla="*/ 232 h 236"/>
                <a:gd name="T34" fmla="*/ 137 w 198"/>
                <a:gd name="T35" fmla="*/ 232 h 236"/>
                <a:gd name="T36" fmla="*/ 142 w 198"/>
                <a:gd name="T37" fmla="*/ 230 h 236"/>
                <a:gd name="T38" fmla="*/ 145 w 198"/>
                <a:gd name="T39" fmla="*/ 226 h 236"/>
                <a:gd name="T40" fmla="*/ 146 w 198"/>
                <a:gd name="T41" fmla="*/ 221 h 236"/>
                <a:gd name="T42" fmla="*/ 145 w 198"/>
                <a:gd name="T43" fmla="*/ 219 h 236"/>
                <a:gd name="T44" fmla="*/ 142 w 198"/>
                <a:gd name="T45" fmla="*/ 219 h 236"/>
                <a:gd name="T46" fmla="*/ 137 w 198"/>
                <a:gd name="T47" fmla="*/ 217 h 236"/>
                <a:gd name="T48" fmla="*/ 131 w 198"/>
                <a:gd name="T49" fmla="*/ 217 h 236"/>
                <a:gd name="T50" fmla="*/ 124 w 198"/>
                <a:gd name="T51" fmla="*/ 217 h 236"/>
                <a:gd name="T52" fmla="*/ 118 w 198"/>
                <a:gd name="T53" fmla="*/ 217 h 236"/>
                <a:gd name="T54" fmla="*/ 112 w 198"/>
                <a:gd name="T55" fmla="*/ 217 h 236"/>
                <a:gd name="T56" fmla="*/ 109 w 198"/>
                <a:gd name="T57" fmla="*/ 217 h 236"/>
                <a:gd name="T58" fmla="*/ 97 w 198"/>
                <a:gd name="T59" fmla="*/ 216 h 236"/>
                <a:gd name="T60" fmla="*/ 87 w 198"/>
                <a:gd name="T61" fmla="*/ 215 h 236"/>
                <a:gd name="T62" fmla="*/ 75 w 198"/>
                <a:gd name="T63" fmla="*/ 214 h 236"/>
                <a:gd name="T64" fmla="*/ 63 w 198"/>
                <a:gd name="T65" fmla="*/ 211 h 236"/>
                <a:gd name="T66" fmla="*/ 51 w 198"/>
                <a:gd name="T67" fmla="*/ 207 h 236"/>
                <a:gd name="T68" fmla="*/ 40 w 198"/>
                <a:gd name="T69" fmla="*/ 199 h 236"/>
                <a:gd name="T70" fmla="*/ 29 w 198"/>
                <a:gd name="T71" fmla="*/ 189 h 236"/>
                <a:gd name="T72" fmla="*/ 17 w 198"/>
                <a:gd name="T73" fmla="*/ 174 h 236"/>
                <a:gd name="T74" fmla="*/ 15 w 198"/>
                <a:gd name="T75" fmla="*/ 157 h 236"/>
                <a:gd name="T76" fmla="*/ 16 w 198"/>
                <a:gd name="T77" fmla="*/ 141 h 236"/>
                <a:gd name="T78" fmla="*/ 21 w 198"/>
                <a:gd name="T79" fmla="*/ 124 h 236"/>
                <a:gd name="T80" fmla="*/ 28 w 198"/>
                <a:gd name="T81" fmla="*/ 109 h 236"/>
                <a:gd name="T82" fmla="*/ 39 w 198"/>
                <a:gd name="T83" fmla="*/ 96 h 236"/>
                <a:gd name="T84" fmla="*/ 50 w 198"/>
                <a:gd name="T85" fmla="*/ 82 h 236"/>
                <a:gd name="T86" fmla="*/ 63 w 198"/>
                <a:gd name="T87" fmla="*/ 70 h 236"/>
                <a:gd name="T88" fmla="*/ 78 w 198"/>
                <a:gd name="T89" fmla="*/ 59 h 236"/>
                <a:gd name="T90" fmla="*/ 94 w 198"/>
                <a:gd name="T91" fmla="*/ 49 h 236"/>
                <a:gd name="T92" fmla="*/ 110 w 198"/>
                <a:gd name="T93" fmla="*/ 39 h 236"/>
                <a:gd name="T94" fmla="*/ 126 w 198"/>
                <a:gd name="T95" fmla="*/ 31 h 236"/>
                <a:gd name="T96" fmla="*/ 142 w 198"/>
                <a:gd name="T97" fmla="*/ 24 h 236"/>
                <a:gd name="T98" fmla="*/ 158 w 198"/>
                <a:gd name="T99" fmla="*/ 19 h 236"/>
                <a:gd name="T100" fmla="*/ 172 w 198"/>
                <a:gd name="T101" fmla="*/ 13 h 236"/>
                <a:gd name="T102" fmla="*/ 186 w 198"/>
                <a:gd name="T103" fmla="*/ 10 h 236"/>
                <a:gd name="T104" fmla="*/ 198 w 198"/>
                <a:gd name="T105" fmla="*/ 7 h 236"/>
                <a:gd name="T106" fmla="*/ 190 w 198"/>
                <a:gd name="T107" fmla="*/ 3 h 236"/>
                <a:gd name="T108" fmla="*/ 177 w 198"/>
                <a:gd name="T109" fmla="*/ 0 h 236"/>
                <a:gd name="T110" fmla="*/ 162 w 198"/>
                <a:gd name="T111" fmla="*/ 3 h 236"/>
                <a:gd name="T112" fmla="*/ 144 w 198"/>
                <a:gd name="T113" fmla="*/ 6 h 236"/>
                <a:gd name="T114" fmla="*/ 124 w 198"/>
                <a:gd name="T115" fmla="*/ 12 h 236"/>
                <a:gd name="T116" fmla="*/ 105 w 198"/>
                <a:gd name="T117" fmla="*/ 19 h 236"/>
                <a:gd name="T118" fmla="*/ 88 w 198"/>
                <a:gd name="T119" fmla="*/ 28 h 236"/>
                <a:gd name="T120" fmla="*/ 73 w 198"/>
                <a:gd name="T121" fmla="*/ 3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en-US"/>
            </a:p>
          </p:txBody>
        </p:sp>
        <p:sp>
          <p:nvSpPr>
            <p:cNvPr id="3236" name="Freeform 1003"/>
            <p:cNvSpPr/>
            <p:nvPr/>
          </p:nvSpPr>
          <p:spPr bwMode="auto">
            <a:xfrm>
              <a:off x="4386" y="3145"/>
              <a:ext cx="22" cy="30"/>
            </a:xfrm>
            <a:custGeom>
              <a:avLst/>
              <a:gdLst>
                <a:gd name="T0" fmla="*/ 108 w 128"/>
                <a:gd name="T1" fmla="*/ 61 h 183"/>
                <a:gd name="T2" fmla="*/ 111 w 128"/>
                <a:gd name="T3" fmla="*/ 80 h 183"/>
                <a:gd name="T4" fmla="*/ 109 w 128"/>
                <a:gd name="T5" fmla="*/ 97 h 183"/>
                <a:gd name="T6" fmla="*/ 101 w 128"/>
                <a:gd name="T7" fmla="*/ 110 h 183"/>
                <a:gd name="T8" fmla="*/ 89 w 128"/>
                <a:gd name="T9" fmla="*/ 123 h 183"/>
                <a:gd name="T10" fmla="*/ 75 w 128"/>
                <a:gd name="T11" fmla="*/ 134 h 183"/>
                <a:gd name="T12" fmla="*/ 60 w 128"/>
                <a:gd name="T13" fmla="*/ 145 h 183"/>
                <a:gd name="T14" fmla="*/ 43 w 128"/>
                <a:gd name="T15" fmla="*/ 156 h 183"/>
                <a:gd name="T16" fmla="*/ 29 w 128"/>
                <a:gd name="T17" fmla="*/ 167 h 183"/>
                <a:gd name="T18" fmla="*/ 27 w 128"/>
                <a:gd name="T19" fmla="*/ 170 h 183"/>
                <a:gd name="T20" fmla="*/ 26 w 128"/>
                <a:gd name="T21" fmla="*/ 172 h 183"/>
                <a:gd name="T22" fmla="*/ 26 w 128"/>
                <a:gd name="T23" fmla="*/ 176 h 183"/>
                <a:gd name="T24" fmla="*/ 28 w 128"/>
                <a:gd name="T25" fmla="*/ 179 h 183"/>
                <a:gd name="T26" fmla="*/ 30 w 128"/>
                <a:gd name="T27" fmla="*/ 182 h 183"/>
                <a:gd name="T28" fmla="*/ 34 w 128"/>
                <a:gd name="T29" fmla="*/ 183 h 183"/>
                <a:gd name="T30" fmla="*/ 37 w 128"/>
                <a:gd name="T31" fmla="*/ 183 h 183"/>
                <a:gd name="T32" fmla="*/ 41 w 128"/>
                <a:gd name="T33" fmla="*/ 182 h 183"/>
                <a:gd name="T34" fmla="*/ 58 w 128"/>
                <a:gd name="T35" fmla="*/ 171 h 183"/>
                <a:gd name="T36" fmla="*/ 76 w 128"/>
                <a:gd name="T37" fmla="*/ 160 h 183"/>
                <a:gd name="T38" fmla="*/ 92 w 128"/>
                <a:gd name="T39" fmla="*/ 147 h 183"/>
                <a:gd name="T40" fmla="*/ 108 w 128"/>
                <a:gd name="T41" fmla="*/ 132 h 183"/>
                <a:gd name="T42" fmla="*/ 118 w 128"/>
                <a:gd name="T43" fmla="*/ 116 h 183"/>
                <a:gd name="T44" fmla="*/ 125 w 128"/>
                <a:gd name="T45" fmla="*/ 98 h 183"/>
                <a:gd name="T46" fmla="*/ 128 w 128"/>
                <a:gd name="T47" fmla="*/ 78 h 183"/>
                <a:gd name="T48" fmla="*/ 123 w 128"/>
                <a:gd name="T49" fmla="*/ 58 h 183"/>
                <a:gd name="T50" fmla="*/ 112 w 128"/>
                <a:gd name="T51" fmla="*/ 41 h 183"/>
                <a:gd name="T52" fmla="*/ 98 w 128"/>
                <a:gd name="T53" fmla="*/ 28 h 183"/>
                <a:gd name="T54" fmla="*/ 80 w 128"/>
                <a:gd name="T55" fmla="*/ 16 h 183"/>
                <a:gd name="T56" fmla="*/ 61 w 128"/>
                <a:gd name="T57" fmla="*/ 8 h 183"/>
                <a:gd name="T58" fmla="*/ 41 w 128"/>
                <a:gd name="T59" fmla="*/ 2 h 183"/>
                <a:gd name="T60" fmla="*/ 23 w 128"/>
                <a:gd name="T61" fmla="*/ 0 h 183"/>
                <a:gd name="T62" fmla="*/ 9 w 128"/>
                <a:gd name="T63" fmla="*/ 1 h 183"/>
                <a:gd name="T64" fmla="*/ 0 w 128"/>
                <a:gd name="T65" fmla="*/ 6 h 183"/>
                <a:gd name="T66" fmla="*/ 16 w 128"/>
                <a:gd name="T67" fmla="*/ 10 h 183"/>
                <a:gd name="T68" fmla="*/ 33 w 128"/>
                <a:gd name="T69" fmla="*/ 14 h 183"/>
                <a:gd name="T70" fmla="*/ 48 w 128"/>
                <a:gd name="T71" fmla="*/ 17 h 183"/>
                <a:gd name="T72" fmla="*/ 63 w 128"/>
                <a:gd name="T73" fmla="*/ 22 h 183"/>
                <a:gd name="T74" fmla="*/ 77 w 128"/>
                <a:gd name="T75" fmla="*/ 28 h 183"/>
                <a:gd name="T76" fmla="*/ 90 w 128"/>
                <a:gd name="T77" fmla="*/ 36 h 183"/>
                <a:gd name="T78" fmla="*/ 101 w 128"/>
                <a:gd name="T79" fmla="*/ 46 h 183"/>
                <a:gd name="T80" fmla="*/ 108 w 128"/>
                <a:gd name="T81" fmla="*/ 61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en-US"/>
            </a:p>
          </p:txBody>
        </p:sp>
        <p:sp>
          <p:nvSpPr>
            <p:cNvPr id="3237" name="Freeform 1004"/>
            <p:cNvSpPr/>
            <p:nvPr/>
          </p:nvSpPr>
          <p:spPr bwMode="auto">
            <a:xfrm>
              <a:off x="4309" y="3138"/>
              <a:ext cx="53" cy="63"/>
            </a:xfrm>
            <a:custGeom>
              <a:avLst/>
              <a:gdLst>
                <a:gd name="T0" fmla="*/ 101 w 323"/>
                <a:gd name="T1" fmla="*/ 70 h 379"/>
                <a:gd name="T2" fmla="*/ 54 w 323"/>
                <a:gd name="T3" fmla="*/ 115 h 379"/>
                <a:gd name="T4" fmla="*/ 18 w 323"/>
                <a:gd name="T5" fmla="*/ 167 h 379"/>
                <a:gd name="T6" fmla="*/ 0 w 323"/>
                <a:gd name="T7" fmla="*/ 227 h 379"/>
                <a:gd name="T8" fmla="*/ 4 w 323"/>
                <a:gd name="T9" fmla="*/ 267 h 379"/>
                <a:gd name="T10" fmla="*/ 11 w 323"/>
                <a:gd name="T11" fmla="*/ 283 h 379"/>
                <a:gd name="T12" fmla="*/ 21 w 323"/>
                <a:gd name="T13" fmla="*/ 298 h 379"/>
                <a:gd name="T14" fmla="*/ 34 w 323"/>
                <a:gd name="T15" fmla="*/ 311 h 379"/>
                <a:gd name="T16" fmla="*/ 57 w 323"/>
                <a:gd name="T17" fmla="*/ 325 h 379"/>
                <a:gd name="T18" fmla="*/ 87 w 323"/>
                <a:gd name="T19" fmla="*/ 340 h 379"/>
                <a:gd name="T20" fmla="*/ 120 w 323"/>
                <a:gd name="T21" fmla="*/ 351 h 379"/>
                <a:gd name="T22" fmla="*/ 153 w 323"/>
                <a:gd name="T23" fmla="*/ 360 h 379"/>
                <a:gd name="T24" fmla="*/ 187 w 323"/>
                <a:gd name="T25" fmla="*/ 367 h 379"/>
                <a:gd name="T26" fmla="*/ 221 w 323"/>
                <a:gd name="T27" fmla="*/ 372 h 379"/>
                <a:gd name="T28" fmla="*/ 256 w 323"/>
                <a:gd name="T29" fmla="*/ 375 h 379"/>
                <a:gd name="T30" fmla="*/ 290 w 323"/>
                <a:gd name="T31" fmla="*/ 378 h 379"/>
                <a:gd name="T32" fmla="*/ 312 w 323"/>
                <a:gd name="T33" fmla="*/ 379 h 379"/>
                <a:gd name="T34" fmla="*/ 320 w 323"/>
                <a:gd name="T35" fmla="*/ 372 h 379"/>
                <a:gd name="T36" fmla="*/ 323 w 323"/>
                <a:gd name="T37" fmla="*/ 360 h 379"/>
                <a:gd name="T38" fmla="*/ 316 w 323"/>
                <a:gd name="T39" fmla="*/ 352 h 379"/>
                <a:gd name="T40" fmla="*/ 295 w 323"/>
                <a:gd name="T41" fmla="*/ 351 h 379"/>
                <a:gd name="T42" fmla="*/ 263 w 323"/>
                <a:gd name="T43" fmla="*/ 350 h 379"/>
                <a:gd name="T44" fmla="*/ 231 w 323"/>
                <a:gd name="T45" fmla="*/ 348 h 379"/>
                <a:gd name="T46" fmla="*/ 200 w 323"/>
                <a:gd name="T47" fmla="*/ 343 h 379"/>
                <a:gd name="T48" fmla="*/ 168 w 323"/>
                <a:gd name="T49" fmla="*/ 337 h 379"/>
                <a:gd name="T50" fmla="*/ 136 w 323"/>
                <a:gd name="T51" fmla="*/ 329 h 379"/>
                <a:gd name="T52" fmla="*/ 106 w 323"/>
                <a:gd name="T53" fmla="*/ 320 h 379"/>
                <a:gd name="T54" fmla="*/ 76 w 323"/>
                <a:gd name="T55" fmla="*/ 306 h 379"/>
                <a:gd name="T56" fmla="*/ 51 w 323"/>
                <a:gd name="T57" fmla="*/ 291 h 379"/>
                <a:gd name="T58" fmla="*/ 35 w 323"/>
                <a:gd name="T59" fmla="*/ 269 h 379"/>
                <a:gd name="T60" fmla="*/ 31 w 323"/>
                <a:gd name="T61" fmla="*/ 239 h 379"/>
                <a:gd name="T62" fmla="*/ 38 w 323"/>
                <a:gd name="T63" fmla="*/ 197 h 379"/>
                <a:gd name="T64" fmla="*/ 51 w 323"/>
                <a:gd name="T65" fmla="*/ 165 h 379"/>
                <a:gd name="T66" fmla="*/ 68 w 323"/>
                <a:gd name="T67" fmla="*/ 136 h 379"/>
                <a:gd name="T68" fmla="*/ 89 w 323"/>
                <a:gd name="T69" fmla="*/ 111 h 379"/>
                <a:gd name="T70" fmla="*/ 114 w 323"/>
                <a:gd name="T71" fmla="*/ 88 h 379"/>
                <a:gd name="T72" fmla="*/ 144 w 323"/>
                <a:gd name="T73" fmla="*/ 64 h 379"/>
                <a:gd name="T74" fmla="*/ 181 w 323"/>
                <a:gd name="T75" fmla="*/ 41 h 379"/>
                <a:gd name="T76" fmla="*/ 219 w 323"/>
                <a:gd name="T77" fmla="*/ 22 h 379"/>
                <a:gd name="T78" fmla="*/ 253 w 323"/>
                <a:gd name="T79" fmla="*/ 7 h 379"/>
                <a:gd name="T80" fmla="*/ 255 w 323"/>
                <a:gd name="T81" fmla="*/ 0 h 379"/>
                <a:gd name="T82" fmla="*/ 221 w 323"/>
                <a:gd name="T83" fmla="*/ 5 h 379"/>
                <a:gd name="T84" fmla="*/ 181 w 323"/>
                <a:gd name="T85" fmla="*/ 19 h 379"/>
                <a:gd name="T86" fmla="*/ 142 w 323"/>
                <a:gd name="T87" fmla="*/ 39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en-US"/>
            </a:p>
          </p:txBody>
        </p:sp>
        <p:sp>
          <p:nvSpPr>
            <p:cNvPr id="3238" name="Freeform 1005"/>
            <p:cNvSpPr/>
            <p:nvPr/>
          </p:nvSpPr>
          <p:spPr bwMode="auto">
            <a:xfrm>
              <a:off x="4384" y="3136"/>
              <a:ext cx="47" cy="42"/>
            </a:xfrm>
            <a:custGeom>
              <a:avLst/>
              <a:gdLst>
                <a:gd name="T0" fmla="*/ 235 w 282"/>
                <a:gd name="T1" fmla="*/ 78 h 253"/>
                <a:gd name="T2" fmla="*/ 248 w 282"/>
                <a:gd name="T3" fmla="*/ 92 h 253"/>
                <a:gd name="T4" fmla="*/ 255 w 282"/>
                <a:gd name="T5" fmla="*/ 108 h 253"/>
                <a:gd name="T6" fmla="*/ 259 w 282"/>
                <a:gd name="T7" fmla="*/ 125 h 253"/>
                <a:gd name="T8" fmla="*/ 259 w 282"/>
                <a:gd name="T9" fmla="*/ 144 h 253"/>
                <a:gd name="T10" fmla="*/ 257 w 282"/>
                <a:gd name="T11" fmla="*/ 159 h 253"/>
                <a:gd name="T12" fmla="*/ 252 w 282"/>
                <a:gd name="T13" fmla="*/ 171 h 253"/>
                <a:gd name="T14" fmla="*/ 244 w 282"/>
                <a:gd name="T15" fmla="*/ 184 h 253"/>
                <a:gd name="T16" fmla="*/ 236 w 282"/>
                <a:gd name="T17" fmla="*/ 194 h 253"/>
                <a:gd name="T18" fmla="*/ 225 w 282"/>
                <a:gd name="T19" fmla="*/ 206 h 253"/>
                <a:gd name="T20" fmla="*/ 215 w 282"/>
                <a:gd name="T21" fmla="*/ 215 h 253"/>
                <a:gd name="T22" fmla="*/ 204 w 282"/>
                <a:gd name="T23" fmla="*/ 225 h 253"/>
                <a:gd name="T24" fmla="*/ 194 w 282"/>
                <a:gd name="T25" fmla="*/ 236 h 253"/>
                <a:gd name="T26" fmla="*/ 191 w 282"/>
                <a:gd name="T27" fmla="*/ 239 h 253"/>
                <a:gd name="T28" fmla="*/ 190 w 282"/>
                <a:gd name="T29" fmla="*/ 242 h 253"/>
                <a:gd name="T30" fmla="*/ 191 w 282"/>
                <a:gd name="T31" fmla="*/ 246 h 253"/>
                <a:gd name="T32" fmla="*/ 194 w 282"/>
                <a:gd name="T33" fmla="*/ 249 h 253"/>
                <a:gd name="T34" fmla="*/ 197 w 282"/>
                <a:gd name="T35" fmla="*/ 252 h 253"/>
                <a:gd name="T36" fmla="*/ 201 w 282"/>
                <a:gd name="T37" fmla="*/ 253 h 253"/>
                <a:gd name="T38" fmla="*/ 205 w 282"/>
                <a:gd name="T39" fmla="*/ 252 h 253"/>
                <a:gd name="T40" fmla="*/ 209 w 282"/>
                <a:gd name="T41" fmla="*/ 249 h 253"/>
                <a:gd name="T42" fmla="*/ 232 w 282"/>
                <a:gd name="T43" fmla="*/ 234 h 253"/>
                <a:gd name="T44" fmla="*/ 251 w 282"/>
                <a:gd name="T45" fmla="*/ 215 h 253"/>
                <a:gd name="T46" fmla="*/ 267 w 282"/>
                <a:gd name="T47" fmla="*/ 192 h 253"/>
                <a:gd name="T48" fmla="*/ 278 w 282"/>
                <a:gd name="T49" fmla="*/ 168 h 253"/>
                <a:gd name="T50" fmla="*/ 282 w 282"/>
                <a:gd name="T51" fmla="*/ 141 h 253"/>
                <a:gd name="T52" fmla="*/ 279 w 282"/>
                <a:gd name="T53" fmla="*/ 116 h 253"/>
                <a:gd name="T54" fmla="*/ 270 w 282"/>
                <a:gd name="T55" fmla="*/ 92 h 253"/>
                <a:gd name="T56" fmla="*/ 251 w 282"/>
                <a:gd name="T57" fmla="*/ 70 h 253"/>
                <a:gd name="T58" fmla="*/ 237 w 282"/>
                <a:gd name="T59" fmla="*/ 59 h 253"/>
                <a:gd name="T60" fmla="*/ 221 w 282"/>
                <a:gd name="T61" fmla="*/ 48 h 253"/>
                <a:gd name="T62" fmla="*/ 202 w 282"/>
                <a:gd name="T63" fmla="*/ 39 h 253"/>
                <a:gd name="T64" fmla="*/ 183 w 282"/>
                <a:gd name="T65" fmla="*/ 31 h 253"/>
                <a:gd name="T66" fmla="*/ 163 w 282"/>
                <a:gd name="T67" fmla="*/ 24 h 253"/>
                <a:gd name="T68" fmla="*/ 142 w 282"/>
                <a:gd name="T69" fmla="*/ 18 h 253"/>
                <a:gd name="T70" fmla="*/ 122 w 282"/>
                <a:gd name="T71" fmla="*/ 13 h 253"/>
                <a:gd name="T72" fmla="*/ 101 w 282"/>
                <a:gd name="T73" fmla="*/ 8 h 253"/>
                <a:gd name="T74" fmla="*/ 82 w 282"/>
                <a:gd name="T75" fmla="*/ 5 h 253"/>
                <a:gd name="T76" fmla="*/ 63 w 282"/>
                <a:gd name="T77" fmla="*/ 2 h 253"/>
                <a:gd name="T78" fmla="*/ 47 w 282"/>
                <a:gd name="T79" fmla="*/ 0 h 253"/>
                <a:gd name="T80" fmla="*/ 32 w 282"/>
                <a:gd name="T81" fmla="*/ 0 h 253"/>
                <a:gd name="T82" fmla="*/ 19 w 282"/>
                <a:gd name="T83" fmla="*/ 0 h 253"/>
                <a:gd name="T84" fmla="*/ 10 w 282"/>
                <a:gd name="T85" fmla="*/ 1 h 253"/>
                <a:gd name="T86" fmla="*/ 4 w 282"/>
                <a:gd name="T87" fmla="*/ 4 h 253"/>
                <a:gd name="T88" fmla="*/ 0 w 282"/>
                <a:gd name="T89" fmla="*/ 6 h 253"/>
                <a:gd name="T90" fmla="*/ 12 w 282"/>
                <a:gd name="T91" fmla="*/ 8 h 253"/>
                <a:gd name="T92" fmla="*/ 25 w 282"/>
                <a:gd name="T93" fmla="*/ 9 h 253"/>
                <a:gd name="T94" fmla="*/ 38 w 282"/>
                <a:gd name="T95" fmla="*/ 12 h 253"/>
                <a:gd name="T96" fmla="*/ 52 w 282"/>
                <a:gd name="T97" fmla="*/ 14 h 253"/>
                <a:gd name="T98" fmla="*/ 67 w 282"/>
                <a:gd name="T99" fmla="*/ 16 h 253"/>
                <a:gd name="T100" fmla="*/ 82 w 282"/>
                <a:gd name="T101" fmla="*/ 18 h 253"/>
                <a:gd name="T102" fmla="*/ 97 w 282"/>
                <a:gd name="T103" fmla="*/ 22 h 253"/>
                <a:gd name="T104" fmla="*/ 114 w 282"/>
                <a:gd name="T105" fmla="*/ 25 h 253"/>
                <a:gd name="T106" fmla="*/ 129 w 282"/>
                <a:gd name="T107" fmla="*/ 30 h 253"/>
                <a:gd name="T108" fmla="*/ 146 w 282"/>
                <a:gd name="T109" fmla="*/ 35 h 253"/>
                <a:gd name="T110" fmla="*/ 162 w 282"/>
                <a:gd name="T111" fmla="*/ 40 h 253"/>
                <a:gd name="T112" fmla="*/ 177 w 282"/>
                <a:gd name="T113" fmla="*/ 46 h 253"/>
                <a:gd name="T114" fmla="*/ 192 w 282"/>
                <a:gd name="T115" fmla="*/ 53 h 253"/>
                <a:gd name="T116" fmla="*/ 208 w 282"/>
                <a:gd name="T117" fmla="*/ 60 h 253"/>
                <a:gd name="T118" fmla="*/ 222 w 282"/>
                <a:gd name="T119" fmla="*/ 69 h 253"/>
                <a:gd name="T120" fmla="*/ 235 w 282"/>
                <a:gd name="T121" fmla="*/ 7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en-US"/>
            </a:p>
          </p:txBody>
        </p:sp>
        <p:sp>
          <p:nvSpPr>
            <p:cNvPr id="3239" name="Freeform 1006"/>
            <p:cNvSpPr/>
            <p:nvPr/>
          </p:nvSpPr>
          <p:spPr bwMode="auto">
            <a:xfrm>
              <a:off x="4290" y="3159"/>
              <a:ext cx="19" cy="39"/>
            </a:xfrm>
            <a:custGeom>
              <a:avLst/>
              <a:gdLst>
                <a:gd name="T0" fmla="*/ 0 w 115"/>
                <a:gd name="T1" fmla="*/ 128 h 236"/>
                <a:gd name="T2" fmla="*/ 0 w 115"/>
                <a:gd name="T3" fmla="*/ 148 h 236"/>
                <a:gd name="T4" fmla="*/ 5 w 115"/>
                <a:gd name="T5" fmla="*/ 166 h 236"/>
                <a:gd name="T6" fmla="*/ 13 w 115"/>
                <a:gd name="T7" fmla="*/ 184 h 236"/>
                <a:gd name="T8" fmla="*/ 24 w 115"/>
                <a:gd name="T9" fmla="*/ 198 h 236"/>
                <a:gd name="T10" fmla="*/ 39 w 115"/>
                <a:gd name="T11" fmla="*/ 211 h 236"/>
                <a:gd name="T12" fmla="*/ 55 w 115"/>
                <a:gd name="T13" fmla="*/ 223 h 236"/>
                <a:gd name="T14" fmla="*/ 74 w 115"/>
                <a:gd name="T15" fmla="*/ 231 h 236"/>
                <a:gd name="T16" fmla="*/ 92 w 115"/>
                <a:gd name="T17" fmla="*/ 235 h 236"/>
                <a:gd name="T18" fmla="*/ 98 w 115"/>
                <a:gd name="T19" fmla="*/ 236 h 236"/>
                <a:gd name="T20" fmla="*/ 104 w 115"/>
                <a:gd name="T21" fmla="*/ 234 h 236"/>
                <a:gd name="T22" fmla="*/ 109 w 115"/>
                <a:gd name="T23" fmla="*/ 231 h 236"/>
                <a:gd name="T24" fmla="*/ 111 w 115"/>
                <a:gd name="T25" fmla="*/ 226 h 236"/>
                <a:gd name="T26" fmla="*/ 111 w 115"/>
                <a:gd name="T27" fmla="*/ 220 h 236"/>
                <a:gd name="T28" fmla="*/ 110 w 115"/>
                <a:gd name="T29" fmla="*/ 215 h 236"/>
                <a:gd name="T30" fmla="*/ 107 w 115"/>
                <a:gd name="T31" fmla="*/ 210 h 236"/>
                <a:gd name="T32" fmla="*/ 101 w 115"/>
                <a:gd name="T33" fmla="*/ 208 h 236"/>
                <a:gd name="T34" fmla="*/ 82 w 115"/>
                <a:gd name="T35" fmla="*/ 201 h 236"/>
                <a:gd name="T36" fmla="*/ 64 w 115"/>
                <a:gd name="T37" fmla="*/ 192 h 236"/>
                <a:gd name="T38" fmla="*/ 50 w 115"/>
                <a:gd name="T39" fmla="*/ 179 h 236"/>
                <a:gd name="T40" fmla="*/ 40 w 115"/>
                <a:gd name="T41" fmla="*/ 165 h 236"/>
                <a:gd name="T42" fmla="*/ 33 w 115"/>
                <a:gd name="T43" fmla="*/ 148 h 236"/>
                <a:gd name="T44" fmla="*/ 29 w 115"/>
                <a:gd name="T45" fmla="*/ 130 h 236"/>
                <a:gd name="T46" fmla="*/ 29 w 115"/>
                <a:gd name="T47" fmla="*/ 110 h 236"/>
                <a:gd name="T48" fmla="*/ 35 w 115"/>
                <a:gd name="T49" fmla="*/ 89 h 236"/>
                <a:gd name="T50" fmla="*/ 43 w 115"/>
                <a:gd name="T51" fmla="*/ 74 h 236"/>
                <a:gd name="T52" fmla="*/ 56 w 115"/>
                <a:gd name="T53" fmla="*/ 60 h 236"/>
                <a:gd name="T54" fmla="*/ 70 w 115"/>
                <a:gd name="T55" fmla="*/ 46 h 236"/>
                <a:gd name="T56" fmla="*/ 85 w 115"/>
                <a:gd name="T57" fmla="*/ 33 h 236"/>
                <a:gd name="T58" fmla="*/ 98 w 115"/>
                <a:gd name="T59" fmla="*/ 23 h 236"/>
                <a:gd name="T60" fmla="*/ 109 w 115"/>
                <a:gd name="T61" fmla="*/ 12 h 236"/>
                <a:gd name="T62" fmla="*/ 115 w 115"/>
                <a:gd name="T63" fmla="*/ 6 h 236"/>
                <a:gd name="T64" fmla="*/ 115 w 115"/>
                <a:gd name="T65" fmla="*/ 0 h 236"/>
                <a:gd name="T66" fmla="*/ 102 w 115"/>
                <a:gd name="T67" fmla="*/ 4 h 236"/>
                <a:gd name="T68" fmla="*/ 85 w 115"/>
                <a:gd name="T69" fmla="*/ 12 h 236"/>
                <a:gd name="T70" fmla="*/ 68 w 115"/>
                <a:gd name="T71" fmla="*/ 26 h 236"/>
                <a:gd name="T72" fmla="*/ 49 w 115"/>
                <a:gd name="T73" fmla="*/ 42 h 236"/>
                <a:gd name="T74" fmla="*/ 32 w 115"/>
                <a:gd name="T75" fmla="*/ 61 h 236"/>
                <a:gd name="T76" fmla="*/ 17 w 115"/>
                <a:gd name="T77" fmla="*/ 82 h 236"/>
                <a:gd name="T78" fmla="*/ 6 w 115"/>
                <a:gd name="T79" fmla="*/ 105 h 236"/>
                <a:gd name="T80" fmla="*/ 0 w 115"/>
                <a:gd name="T81" fmla="*/ 128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en-US"/>
            </a:p>
          </p:txBody>
        </p:sp>
        <p:sp>
          <p:nvSpPr>
            <p:cNvPr id="3240" name="Freeform 1007"/>
            <p:cNvSpPr/>
            <p:nvPr/>
          </p:nvSpPr>
          <p:spPr bwMode="auto">
            <a:xfrm>
              <a:off x="4423" y="3133"/>
              <a:ext cx="41" cy="52"/>
            </a:xfrm>
            <a:custGeom>
              <a:avLst/>
              <a:gdLst>
                <a:gd name="T0" fmla="*/ 208 w 245"/>
                <a:gd name="T1" fmla="*/ 124 h 310"/>
                <a:gd name="T2" fmla="*/ 220 w 245"/>
                <a:gd name="T3" fmla="*/ 144 h 310"/>
                <a:gd name="T4" fmla="*/ 226 w 245"/>
                <a:gd name="T5" fmla="*/ 164 h 310"/>
                <a:gd name="T6" fmla="*/ 222 w 245"/>
                <a:gd name="T7" fmla="*/ 187 h 310"/>
                <a:gd name="T8" fmla="*/ 208 w 245"/>
                <a:gd name="T9" fmla="*/ 209 h 310"/>
                <a:gd name="T10" fmla="*/ 188 w 245"/>
                <a:gd name="T11" fmla="*/ 229 h 310"/>
                <a:gd name="T12" fmla="*/ 166 w 245"/>
                <a:gd name="T13" fmla="*/ 246 h 310"/>
                <a:gd name="T14" fmla="*/ 142 w 245"/>
                <a:gd name="T15" fmla="*/ 264 h 310"/>
                <a:gd name="T16" fmla="*/ 128 w 245"/>
                <a:gd name="T17" fmla="*/ 278 h 310"/>
                <a:gd name="T18" fmla="*/ 124 w 245"/>
                <a:gd name="T19" fmla="*/ 287 h 310"/>
                <a:gd name="T20" fmla="*/ 120 w 245"/>
                <a:gd name="T21" fmla="*/ 296 h 310"/>
                <a:gd name="T22" fmla="*/ 122 w 245"/>
                <a:gd name="T23" fmla="*/ 306 h 310"/>
                <a:gd name="T24" fmla="*/ 131 w 245"/>
                <a:gd name="T25" fmla="*/ 310 h 310"/>
                <a:gd name="T26" fmla="*/ 139 w 245"/>
                <a:gd name="T27" fmla="*/ 309 h 310"/>
                <a:gd name="T28" fmla="*/ 154 w 245"/>
                <a:gd name="T29" fmla="*/ 292 h 310"/>
                <a:gd name="T30" fmla="*/ 180 w 245"/>
                <a:gd name="T31" fmla="*/ 269 h 310"/>
                <a:gd name="T32" fmla="*/ 207 w 245"/>
                <a:gd name="T33" fmla="*/ 246 h 310"/>
                <a:gd name="T34" fmla="*/ 230 w 245"/>
                <a:gd name="T35" fmla="*/ 219 h 310"/>
                <a:gd name="T36" fmla="*/ 244 w 245"/>
                <a:gd name="T37" fmla="*/ 186 h 310"/>
                <a:gd name="T38" fmla="*/ 243 w 245"/>
                <a:gd name="T39" fmla="*/ 152 h 310"/>
                <a:gd name="T40" fmla="*/ 228 w 245"/>
                <a:gd name="T41" fmla="*/ 119 h 310"/>
                <a:gd name="T42" fmla="*/ 203 w 245"/>
                <a:gd name="T43" fmla="*/ 93 h 310"/>
                <a:gd name="T44" fmla="*/ 176 w 245"/>
                <a:gd name="T45" fmla="*/ 76 h 310"/>
                <a:gd name="T46" fmla="*/ 151 w 245"/>
                <a:gd name="T47" fmla="*/ 61 h 310"/>
                <a:gd name="T48" fmla="*/ 122 w 245"/>
                <a:gd name="T49" fmla="*/ 46 h 310"/>
                <a:gd name="T50" fmla="*/ 93 w 245"/>
                <a:gd name="T51" fmla="*/ 31 h 310"/>
                <a:gd name="T52" fmla="*/ 66 w 245"/>
                <a:gd name="T53" fmla="*/ 18 h 310"/>
                <a:gd name="T54" fmla="*/ 40 w 245"/>
                <a:gd name="T55" fmla="*/ 8 h 310"/>
                <a:gd name="T56" fmla="*/ 20 w 245"/>
                <a:gd name="T57" fmla="*/ 1 h 310"/>
                <a:gd name="T58" fmla="*/ 5 w 245"/>
                <a:gd name="T59" fmla="*/ 0 h 310"/>
                <a:gd name="T60" fmla="*/ 11 w 245"/>
                <a:gd name="T61" fmla="*/ 8 h 310"/>
                <a:gd name="T62" fmla="*/ 36 w 245"/>
                <a:gd name="T63" fmla="*/ 20 h 310"/>
                <a:gd name="T64" fmla="*/ 60 w 245"/>
                <a:gd name="T65" fmla="*/ 31 h 310"/>
                <a:gd name="T66" fmla="*/ 86 w 245"/>
                <a:gd name="T67" fmla="*/ 44 h 310"/>
                <a:gd name="T68" fmla="*/ 113 w 245"/>
                <a:gd name="T69" fmla="*/ 57 h 310"/>
                <a:gd name="T70" fmla="*/ 139 w 245"/>
                <a:gd name="T71" fmla="*/ 71 h 310"/>
                <a:gd name="T72" fmla="*/ 165 w 245"/>
                <a:gd name="T73" fmla="*/ 88 h 310"/>
                <a:gd name="T74" fmla="*/ 188 w 245"/>
                <a:gd name="T75" fmla="*/ 106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en-US"/>
            </a:p>
          </p:txBody>
        </p:sp>
        <p:sp>
          <p:nvSpPr>
            <p:cNvPr id="3241" name="Freeform 1008"/>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ln>
          </p:spPr>
          <p:txBody>
            <a:bodyPr/>
            <a:lstStyle/>
            <a:p>
              <a:endParaRPr lang="en-US"/>
            </a:p>
          </p:txBody>
        </p:sp>
      </p:grpSp>
      <p:grpSp>
        <p:nvGrpSpPr>
          <p:cNvPr id="3200" name="Group 1009"/>
          <p:cNvGrpSpPr/>
          <p:nvPr/>
        </p:nvGrpSpPr>
        <p:grpSpPr bwMode="auto">
          <a:xfrm>
            <a:off x="5367338" y="3430588"/>
            <a:ext cx="290512" cy="404812"/>
            <a:chOff x="4290" y="3130"/>
            <a:chExt cx="183" cy="255"/>
          </a:xfrm>
        </p:grpSpPr>
        <p:pic>
          <p:nvPicPr>
            <p:cNvPr id="3206" name="Picture 1010" descr="31u_bnrz[1]"/>
            <p:cNvPicPr>
              <a:picLocks noChangeAspect="1" noChangeArrowheads="1"/>
            </p:cNvPicPr>
            <p:nvPr/>
          </p:nvPicPr>
          <p:blipFill>
            <a:blip r:embed="rId19"/>
            <a:srcRect/>
            <a:stretch>
              <a:fillRect/>
            </a:stretch>
          </p:blipFill>
          <p:spPr bwMode="auto">
            <a:xfrm>
              <a:off x="4343" y="3211"/>
              <a:ext cx="121" cy="174"/>
            </a:xfrm>
            <a:prstGeom prst="rect">
              <a:avLst/>
            </a:prstGeom>
            <a:solidFill>
              <a:srgbClr val="DDDDDD"/>
            </a:solidFill>
            <a:ln w="9525">
              <a:noFill/>
              <a:miter lim="800000"/>
              <a:headEnd/>
              <a:tailEnd/>
            </a:ln>
          </p:spPr>
        </p:pic>
        <p:sp>
          <p:nvSpPr>
            <p:cNvPr id="3207" name="Freeform 1011"/>
            <p:cNvSpPr/>
            <p:nvPr/>
          </p:nvSpPr>
          <p:spPr bwMode="auto">
            <a:xfrm>
              <a:off x="4339" y="3143"/>
              <a:ext cx="33" cy="39"/>
            </a:xfrm>
            <a:custGeom>
              <a:avLst/>
              <a:gdLst>
                <a:gd name="T0" fmla="*/ 70 w 199"/>
                <a:gd name="T1" fmla="*/ 29 h 232"/>
                <a:gd name="T2" fmla="*/ 55 w 199"/>
                <a:gd name="T3" fmla="*/ 39 h 232"/>
                <a:gd name="T4" fmla="*/ 42 w 199"/>
                <a:gd name="T5" fmla="*/ 50 h 232"/>
                <a:gd name="T6" fmla="*/ 30 w 199"/>
                <a:gd name="T7" fmla="*/ 63 h 232"/>
                <a:gd name="T8" fmla="*/ 20 w 199"/>
                <a:gd name="T9" fmla="*/ 77 h 232"/>
                <a:gd name="T10" fmla="*/ 12 w 199"/>
                <a:gd name="T11" fmla="*/ 91 h 232"/>
                <a:gd name="T12" fmla="*/ 6 w 199"/>
                <a:gd name="T13" fmla="*/ 108 h 232"/>
                <a:gd name="T14" fmla="*/ 2 w 199"/>
                <a:gd name="T15" fmla="*/ 125 h 232"/>
                <a:gd name="T16" fmla="*/ 0 w 199"/>
                <a:gd name="T17" fmla="*/ 142 h 232"/>
                <a:gd name="T18" fmla="*/ 2 w 199"/>
                <a:gd name="T19" fmla="*/ 166 h 232"/>
                <a:gd name="T20" fmla="*/ 12 w 199"/>
                <a:gd name="T21" fmla="*/ 186 h 232"/>
                <a:gd name="T22" fmla="*/ 26 w 199"/>
                <a:gd name="T23" fmla="*/ 203 h 232"/>
                <a:gd name="T24" fmla="*/ 45 w 199"/>
                <a:gd name="T25" fmla="*/ 216 h 232"/>
                <a:gd name="T26" fmla="*/ 66 w 199"/>
                <a:gd name="T27" fmla="*/ 226 h 232"/>
                <a:gd name="T28" fmla="*/ 88 w 199"/>
                <a:gd name="T29" fmla="*/ 230 h 232"/>
                <a:gd name="T30" fmla="*/ 111 w 199"/>
                <a:gd name="T31" fmla="*/ 232 h 232"/>
                <a:gd name="T32" fmla="*/ 134 w 199"/>
                <a:gd name="T33" fmla="*/ 228 h 232"/>
                <a:gd name="T34" fmla="*/ 138 w 199"/>
                <a:gd name="T35" fmla="*/ 228 h 232"/>
                <a:gd name="T36" fmla="*/ 143 w 199"/>
                <a:gd name="T37" fmla="*/ 226 h 232"/>
                <a:gd name="T38" fmla="*/ 147 w 199"/>
                <a:gd name="T39" fmla="*/ 222 h 232"/>
                <a:gd name="T40" fmla="*/ 148 w 199"/>
                <a:gd name="T41" fmla="*/ 218 h 232"/>
                <a:gd name="T42" fmla="*/ 145 w 199"/>
                <a:gd name="T43" fmla="*/ 212 h 232"/>
                <a:gd name="T44" fmla="*/ 141 w 199"/>
                <a:gd name="T45" fmla="*/ 207 h 232"/>
                <a:gd name="T46" fmla="*/ 135 w 199"/>
                <a:gd name="T47" fmla="*/ 203 h 232"/>
                <a:gd name="T48" fmla="*/ 129 w 199"/>
                <a:gd name="T49" fmla="*/ 201 h 232"/>
                <a:gd name="T50" fmla="*/ 117 w 199"/>
                <a:gd name="T51" fmla="*/ 197 h 232"/>
                <a:gd name="T52" fmla="*/ 105 w 199"/>
                <a:gd name="T53" fmla="*/ 195 h 232"/>
                <a:gd name="T54" fmla="*/ 94 w 199"/>
                <a:gd name="T55" fmla="*/ 193 h 232"/>
                <a:gd name="T56" fmla="*/ 83 w 199"/>
                <a:gd name="T57" fmla="*/ 190 h 232"/>
                <a:gd name="T58" fmla="*/ 73 w 199"/>
                <a:gd name="T59" fmla="*/ 187 h 232"/>
                <a:gd name="T60" fmla="*/ 62 w 199"/>
                <a:gd name="T61" fmla="*/ 182 h 232"/>
                <a:gd name="T62" fmla="*/ 53 w 199"/>
                <a:gd name="T63" fmla="*/ 176 h 232"/>
                <a:gd name="T64" fmla="*/ 43 w 199"/>
                <a:gd name="T65" fmla="*/ 167 h 232"/>
                <a:gd name="T66" fmla="*/ 40 w 199"/>
                <a:gd name="T67" fmla="*/ 128 h 232"/>
                <a:gd name="T68" fmla="*/ 49 w 199"/>
                <a:gd name="T69" fmla="*/ 96 h 232"/>
                <a:gd name="T70" fmla="*/ 68 w 199"/>
                <a:gd name="T71" fmla="*/ 71 h 232"/>
                <a:gd name="T72" fmla="*/ 94 w 199"/>
                <a:gd name="T73" fmla="*/ 50 h 232"/>
                <a:gd name="T74" fmla="*/ 122 w 199"/>
                <a:gd name="T75" fmla="*/ 34 h 232"/>
                <a:gd name="T76" fmla="*/ 151 w 199"/>
                <a:gd name="T77" fmla="*/ 21 h 232"/>
                <a:gd name="T78" fmla="*/ 178 w 199"/>
                <a:gd name="T79" fmla="*/ 12 h 232"/>
                <a:gd name="T80" fmla="*/ 199 w 199"/>
                <a:gd name="T81" fmla="*/ 4 h 232"/>
                <a:gd name="T82" fmla="*/ 186 w 199"/>
                <a:gd name="T83" fmla="*/ 1 h 232"/>
                <a:gd name="T84" fmla="*/ 172 w 199"/>
                <a:gd name="T85" fmla="*/ 0 h 232"/>
                <a:gd name="T86" fmla="*/ 156 w 199"/>
                <a:gd name="T87" fmla="*/ 2 h 232"/>
                <a:gd name="T88" fmla="*/ 138 w 199"/>
                <a:gd name="T89" fmla="*/ 4 h 232"/>
                <a:gd name="T90" fmla="*/ 121 w 199"/>
                <a:gd name="T91" fmla="*/ 10 h 232"/>
                <a:gd name="T92" fmla="*/ 103 w 199"/>
                <a:gd name="T93" fmla="*/ 16 h 232"/>
                <a:gd name="T94" fmla="*/ 86 w 199"/>
                <a:gd name="T95" fmla="*/ 23 h 232"/>
                <a:gd name="T96" fmla="*/ 70 w 199"/>
                <a:gd name="T97" fmla="*/ 29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ln>
          </p:spPr>
          <p:txBody>
            <a:bodyPr/>
            <a:lstStyle/>
            <a:p>
              <a:endParaRPr lang="en-US"/>
            </a:p>
          </p:txBody>
        </p:sp>
        <p:sp>
          <p:nvSpPr>
            <p:cNvPr id="3208" name="Freeform 1012"/>
            <p:cNvSpPr/>
            <p:nvPr/>
          </p:nvSpPr>
          <p:spPr bwMode="auto">
            <a:xfrm>
              <a:off x="4395" y="3142"/>
              <a:ext cx="22" cy="30"/>
            </a:xfrm>
            <a:custGeom>
              <a:avLst/>
              <a:gdLst>
                <a:gd name="T0" fmla="*/ 108 w 128"/>
                <a:gd name="T1" fmla="*/ 59 h 180"/>
                <a:gd name="T2" fmla="*/ 113 w 128"/>
                <a:gd name="T3" fmla="*/ 77 h 180"/>
                <a:gd name="T4" fmla="*/ 111 w 128"/>
                <a:gd name="T5" fmla="*/ 94 h 180"/>
                <a:gd name="T6" fmla="*/ 103 w 128"/>
                <a:gd name="T7" fmla="*/ 108 h 180"/>
                <a:gd name="T8" fmla="*/ 91 w 128"/>
                <a:gd name="T9" fmla="*/ 121 h 180"/>
                <a:gd name="T10" fmla="*/ 77 w 128"/>
                <a:gd name="T11" fmla="*/ 132 h 180"/>
                <a:gd name="T12" fmla="*/ 61 w 128"/>
                <a:gd name="T13" fmla="*/ 144 h 180"/>
                <a:gd name="T14" fmla="*/ 45 w 128"/>
                <a:gd name="T15" fmla="*/ 154 h 180"/>
                <a:gd name="T16" fmla="*/ 30 w 128"/>
                <a:gd name="T17" fmla="*/ 164 h 180"/>
                <a:gd name="T18" fmla="*/ 28 w 128"/>
                <a:gd name="T19" fmla="*/ 168 h 180"/>
                <a:gd name="T20" fmla="*/ 27 w 128"/>
                <a:gd name="T21" fmla="*/ 170 h 180"/>
                <a:gd name="T22" fmla="*/ 27 w 128"/>
                <a:gd name="T23" fmla="*/ 174 h 180"/>
                <a:gd name="T24" fmla="*/ 28 w 128"/>
                <a:gd name="T25" fmla="*/ 177 h 180"/>
                <a:gd name="T26" fmla="*/ 32 w 128"/>
                <a:gd name="T27" fmla="*/ 179 h 180"/>
                <a:gd name="T28" fmla="*/ 35 w 128"/>
                <a:gd name="T29" fmla="*/ 180 h 180"/>
                <a:gd name="T30" fmla="*/ 37 w 128"/>
                <a:gd name="T31" fmla="*/ 180 h 180"/>
                <a:gd name="T32" fmla="*/ 41 w 128"/>
                <a:gd name="T33" fmla="*/ 179 h 180"/>
                <a:gd name="T34" fmla="*/ 60 w 128"/>
                <a:gd name="T35" fmla="*/ 169 h 180"/>
                <a:gd name="T36" fmla="*/ 77 w 128"/>
                <a:gd name="T37" fmla="*/ 158 h 180"/>
                <a:gd name="T38" fmla="*/ 94 w 128"/>
                <a:gd name="T39" fmla="*/ 145 h 180"/>
                <a:gd name="T40" fmla="*/ 109 w 128"/>
                <a:gd name="T41" fmla="*/ 130 h 180"/>
                <a:gd name="T42" fmla="*/ 120 w 128"/>
                <a:gd name="T43" fmla="*/ 114 h 180"/>
                <a:gd name="T44" fmla="*/ 127 w 128"/>
                <a:gd name="T45" fmla="*/ 95 h 180"/>
                <a:gd name="T46" fmla="*/ 128 w 128"/>
                <a:gd name="T47" fmla="*/ 76 h 180"/>
                <a:gd name="T48" fmla="*/ 123 w 128"/>
                <a:gd name="T49" fmla="*/ 55 h 180"/>
                <a:gd name="T50" fmla="*/ 113 w 128"/>
                <a:gd name="T51" fmla="*/ 39 h 180"/>
                <a:gd name="T52" fmla="*/ 97 w 128"/>
                <a:gd name="T53" fmla="*/ 25 h 180"/>
                <a:gd name="T54" fmla="*/ 79 w 128"/>
                <a:gd name="T55" fmla="*/ 15 h 180"/>
                <a:gd name="T56" fmla="*/ 57 w 128"/>
                <a:gd name="T57" fmla="*/ 7 h 180"/>
                <a:gd name="T58" fmla="*/ 36 w 128"/>
                <a:gd name="T59" fmla="*/ 2 h 180"/>
                <a:gd name="T60" fmla="*/ 19 w 128"/>
                <a:gd name="T61" fmla="*/ 0 h 180"/>
                <a:gd name="T62" fmla="*/ 6 w 128"/>
                <a:gd name="T63" fmla="*/ 0 h 180"/>
                <a:gd name="T64" fmla="*/ 0 w 128"/>
                <a:gd name="T65" fmla="*/ 4 h 180"/>
                <a:gd name="T66" fmla="*/ 14 w 128"/>
                <a:gd name="T67" fmla="*/ 9 h 180"/>
                <a:gd name="T68" fmla="*/ 29 w 128"/>
                <a:gd name="T69" fmla="*/ 14 h 180"/>
                <a:gd name="T70" fmla="*/ 46 w 128"/>
                <a:gd name="T71" fmla="*/ 19 h 180"/>
                <a:gd name="T72" fmla="*/ 61 w 128"/>
                <a:gd name="T73" fmla="*/ 23 h 180"/>
                <a:gd name="T74" fmla="*/ 76 w 128"/>
                <a:gd name="T75" fmla="*/ 29 h 180"/>
                <a:gd name="T76" fmla="*/ 89 w 128"/>
                <a:gd name="T77" fmla="*/ 37 h 180"/>
                <a:gd name="T78" fmla="*/ 100 w 128"/>
                <a:gd name="T79" fmla="*/ 46 h 180"/>
                <a:gd name="T80" fmla="*/ 108 w 128"/>
                <a:gd name="T81" fmla="*/ 59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ln>
          </p:spPr>
          <p:txBody>
            <a:bodyPr/>
            <a:lstStyle/>
            <a:p>
              <a:endParaRPr lang="en-US"/>
            </a:p>
          </p:txBody>
        </p:sp>
        <p:sp>
          <p:nvSpPr>
            <p:cNvPr id="3209" name="Freeform 1013"/>
            <p:cNvSpPr/>
            <p:nvPr/>
          </p:nvSpPr>
          <p:spPr bwMode="auto">
            <a:xfrm>
              <a:off x="4318" y="3135"/>
              <a:ext cx="54" cy="63"/>
            </a:xfrm>
            <a:custGeom>
              <a:avLst/>
              <a:gdLst>
                <a:gd name="T0" fmla="*/ 100 w 322"/>
                <a:gd name="T1" fmla="*/ 70 h 378"/>
                <a:gd name="T2" fmla="*/ 53 w 322"/>
                <a:gd name="T3" fmla="*/ 115 h 378"/>
                <a:gd name="T4" fmla="*/ 17 w 322"/>
                <a:gd name="T5" fmla="*/ 166 h 378"/>
                <a:gd name="T6" fmla="*/ 0 w 322"/>
                <a:gd name="T7" fmla="*/ 226 h 378"/>
                <a:gd name="T8" fmla="*/ 3 w 322"/>
                <a:gd name="T9" fmla="*/ 266 h 378"/>
                <a:gd name="T10" fmla="*/ 9 w 322"/>
                <a:gd name="T11" fmla="*/ 282 h 378"/>
                <a:gd name="T12" fmla="*/ 19 w 322"/>
                <a:gd name="T13" fmla="*/ 297 h 378"/>
                <a:gd name="T14" fmla="*/ 32 w 322"/>
                <a:gd name="T15" fmla="*/ 310 h 378"/>
                <a:gd name="T16" fmla="*/ 56 w 322"/>
                <a:gd name="T17" fmla="*/ 324 h 378"/>
                <a:gd name="T18" fmla="*/ 86 w 322"/>
                <a:gd name="T19" fmla="*/ 338 h 378"/>
                <a:gd name="T20" fmla="*/ 119 w 322"/>
                <a:gd name="T21" fmla="*/ 350 h 378"/>
                <a:gd name="T22" fmla="*/ 152 w 322"/>
                <a:gd name="T23" fmla="*/ 359 h 378"/>
                <a:gd name="T24" fmla="*/ 186 w 322"/>
                <a:gd name="T25" fmla="*/ 366 h 378"/>
                <a:gd name="T26" fmla="*/ 220 w 322"/>
                <a:gd name="T27" fmla="*/ 371 h 378"/>
                <a:gd name="T28" fmla="*/ 254 w 322"/>
                <a:gd name="T29" fmla="*/ 374 h 378"/>
                <a:gd name="T30" fmla="*/ 289 w 322"/>
                <a:gd name="T31" fmla="*/ 376 h 378"/>
                <a:gd name="T32" fmla="*/ 311 w 322"/>
                <a:gd name="T33" fmla="*/ 378 h 378"/>
                <a:gd name="T34" fmla="*/ 320 w 322"/>
                <a:gd name="T35" fmla="*/ 371 h 378"/>
                <a:gd name="T36" fmla="*/ 322 w 322"/>
                <a:gd name="T37" fmla="*/ 360 h 378"/>
                <a:gd name="T38" fmla="*/ 315 w 322"/>
                <a:gd name="T39" fmla="*/ 352 h 378"/>
                <a:gd name="T40" fmla="*/ 294 w 322"/>
                <a:gd name="T41" fmla="*/ 347 h 378"/>
                <a:gd name="T42" fmla="*/ 263 w 322"/>
                <a:gd name="T43" fmla="*/ 341 h 378"/>
                <a:gd name="T44" fmla="*/ 232 w 322"/>
                <a:gd name="T45" fmla="*/ 336 h 378"/>
                <a:gd name="T46" fmla="*/ 200 w 322"/>
                <a:gd name="T47" fmla="*/ 332 h 378"/>
                <a:gd name="T48" fmla="*/ 170 w 322"/>
                <a:gd name="T49" fmla="*/ 326 h 378"/>
                <a:gd name="T50" fmla="*/ 139 w 322"/>
                <a:gd name="T51" fmla="*/ 318 h 378"/>
                <a:gd name="T52" fmla="*/ 110 w 322"/>
                <a:gd name="T53" fmla="*/ 309 h 378"/>
                <a:gd name="T54" fmla="*/ 80 w 322"/>
                <a:gd name="T55" fmla="*/ 297 h 378"/>
                <a:gd name="T56" fmla="*/ 55 w 322"/>
                <a:gd name="T57" fmla="*/ 281 h 378"/>
                <a:gd name="T58" fmla="*/ 38 w 322"/>
                <a:gd name="T59" fmla="*/ 259 h 378"/>
                <a:gd name="T60" fmla="*/ 34 w 322"/>
                <a:gd name="T61" fmla="*/ 232 h 378"/>
                <a:gd name="T62" fmla="*/ 38 w 322"/>
                <a:gd name="T63" fmla="*/ 200 h 378"/>
                <a:gd name="T64" fmla="*/ 51 w 322"/>
                <a:gd name="T65" fmla="*/ 170 h 378"/>
                <a:gd name="T66" fmla="*/ 71 w 322"/>
                <a:gd name="T67" fmla="*/ 137 h 378"/>
                <a:gd name="T68" fmla="*/ 94 w 322"/>
                <a:gd name="T69" fmla="*/ 110 h 378"/>
                <a:gd name="T70" fmla="*/ 123 w 322"/>
                <a:gd name="T71" fmla="*/ 82 h 378"/>
                <a:gd name="T72" fmla="*/ 153 w 322"/>
                <a:gd name="T73" fmla="*/ 57 h 378"/>
                <a:gd name="T74" fmla="*/ 195 w 322"/>
                <a:gd name="T75" fmla="*/ 38 h 378"/>
                <a:gd name="T76" fmla="*/ 238 w 322"/>
                <a:gd name="T77" fmla="*/ 20 h 378"/>
                <a:gd name="T78" fmla="*/ 264 w 322"/>
                <a:gd name="T79" fmla="*/ 7 h 378"/>
                <a:gd name="T80" fmla="*/ 256 w 322"/>
                <a:gd name="T81" fmla="*/ 0 h 378"/>
                <a:gd name="T82" fmla="*/ 221 w 322"/>
                <a:gd name="T83" fmla="*/ 4 h 378"/>
                <a:gd name="T84" fmla="*/ 180 w 322"/>
                <a:gd name="T85" fmla="*/ 18 h 378"/>
                <a:gd name="T86" fmla="*/ 141 w 322"/>
                <a:gd name="T87" fmla="*/ 38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ln>
          </p:spPr>
          <p:txBody>
            <a:bodyPr/>
            <a:lstStyle/>
            <a:p>
              <a:endParaRPr lang="en-US"/>
            </a:p>
          </p:txBody>
        </p:sp>
        <p:sp>
          <p:nvSpPr>
            <p:cNvPr id="3210" name="Freeform 1014"/>
            <p:cNvSpPr/>
            <p:nvPr/>
          </p:nvSpPr>
          <p:spPr bwMode="auto">
            <a:xfrm>
              <a:off x="4394" y="3133"/>
              <a:ext cx="47" cy="42"/>
            </a:xfrm>
            <a:custGeom>
              <a:avLst/>
              <a:gdLst>
                <a:gd name="T0" fmla="*/ 235 w 283"/>
                <a:gd name="T1" fmla="*/ 77 h 252"/>
                <a:gd name="T2" fmla="*/ 248 w 283"/>
                <a:gd name="T3" fmla="*/ 91 h 252"/>
                <a:gd name="T4" fmla="*/ 256 w 283"/>
                <a:gd name="T5" fmla="*/ 107 h 252"/>
                <a:gd name="T6" fmla="*/ 259 w 283"/>
                <a:gd name="T7" fmla="*/ 124 h 252"/>
                <a:gd name="T8" fmla="*/ 259 w 283"/>
                <a:gd name="T9" fmla="*/ 142 h 252"/>
                <a:gd name="T10" fmla="*/ 257 w 283"/>
                <a:gd name="T11" fmla="*/ 157 h 252"/>
                <a:gd name="T12" fmla="*/ 252 w 283"/>
                <a:gd name="T13" fmla="*/ 170 h 252"/>
                <a:gd name="T14" fmla="*/ 244 w 283"/>
                <a:gd name="T15" fmla="*/ 183 h 252"/>
                <a:gd name="T16" fmla="*/ 236 w 283"/>
                <a:gd name="T17" fmla="*/ 193 h 252"/>
                <a:gd name="T18" fmla="*/ 225 w 283"/>
                <a:gd name="T19" fmla="*/ 204 h 252"/>
                <a:gd name="T20" fmla="*/ 215 w 283"/>
                <a:gd name="T21" fmla="*/ 214 h 252"/>
                <a:gd name="T22" fmla="*/ 204 w 283"/>
                <a:gd name="T23" fmla="*/ 224 h 252"/>
                <a:gd name="T24" fmla="*/ 194 w 283"/>
                <a:gd name="T25" fmla="*/ 234 h 252"/>
                <a:gd name="T26" fmla="*/ 191 w 283"/>
                <a:gd name="T27" fmla="*/ 238 h 252"/>
                <a:gd name="T28" fmla="*/ 191 w 283"/>
                <a:gd name="T29" fmla="*/ 241 h 252"/>
                <a:gd name="T30" fmla="*/ 191 w 283"/>
                <a:gd name="T31" fmla="*/ 245 h 252"/>
                <a:gd name="T32" fmla="*/ 194 w 283"/>
                <a:gd name="T33" fmla="*/ 248 h 252"/>
                <a:gd name="T34" fmla="*/ 197 w 283"/>
                <a:gd name="T35" fmla="*/ 250 h 252"/>
                <a:gd name="T36" fmla="*/ 202 w 283"/>
                <a:gd name="T37" fmla="*/ 252 h 252"/>
                <a:gd name="T38" fmla="*/ 205 w 283"/>
                <a:gd name="T39" fmla="*/ 250 h 252"/>
                <a:gd name="T40" fmla="*/ 209 w 283"/>
                <a:gd name="T41" fmla="*/ 248 h 252"/>
                <a:gd name="T42" fmla="*/ 232 w 283"/>
                <a:gd name="T43" fmla="*/ 233 h 252"/>
                <a:gd name="T44" fmla="*/ 252 w 283"/>
                <a:gd name="T45" fmla="*/ 214 h 252"/>
                <a:gd name="T46" fmla="*/ 268 w 283"/>
                <a:gd name="T47" fmla="*/ 192 h 252"/>
                <a:gd name="T48" fmla="*/ 278 w 283"/>
                <a:gd name="T49" fmla="*/ 167 h 252"/>
                <a:gd name="T50" fmla="*/ 283 w 283"/>
                <a:gd name="T51" fmla="*/ 141 h 252"/>
                <a:gd name="T52" fmla="*/ 280 w 283"/>
                <a:gd name="T53" fmla="*/ 115 h 252"/>
                <a:gd name="T54" fmla="*/ 271 w 283"/>
                <a:gd name="T55" fmla="*/ 91 h 252"/>
                <a:gd name="T56" fmla="*/ 252 w 283"/>
                <a:gd name="T57" fmla="*/ 69 h 252"/>
                <a:gd name="T58" fmla="*/ 238 w 283"/>
                <a:gd name="T59" fmla="*/ 57 h 252"/>
                <a:gd name="T60" fmla="*/ 222 w 283"/>
                <a:gd name="T61" fmla="*/ 48 h 252"/>
                <a:gd name="T62" fmla="*/ 204 w 283"/>
                <a:gd name="T63" fmla="*/ 39 h 252"/>
                <a:gd name="T64" fmla="*/ 184 w 283"/>
                <a:gd name="T65" fmla="*/ 31 h 252"/>
                <a:gd name="T66" fmla="*/ 164 w 283"/>
                <a:gd name="T67" fmla="*/ 23 h 252"/>
                <a:gd name="T68" fmla="*/ 144 w 283"/>
                <a:gd name="T69" fmla="*/ 17 h 252"/>
                <a:gd name="T70" fmla="*/ 123 w 283"/>
                <a:gd name="T71" fmla="*/ 13 h 252"/>
                <a:gd name="T72" fmla="*/ 103 w 283"/>
                <a:gd name="T73" fmla="*/ 8 h 252"/>
                <a:gd name="T74" fmla="*/ 83 w 283"/>
                <a:gd name="T75" fmla="*/ 5 h 252"/>
                <a:gd name="T76" fmla="*/ 66 w 283"/>
                <a:gd name="T77" fmla="*/ 2 h 252"/>
                <a:gd name="T78" fmla="*/ 48 w 283"/>
                <a:gd name="T79" fmla="*/ 0 h 252"/>
                <a:gd name="T80" fmla="*/ 34 w 283"/>
                <a:gd name="T81" fmla="*/ 0 h 252"/>
                <a:gd name="T82" fmla="*/ 21 w 283"/>
                <a:gd name="T83" fmla="*/ 0 h 252"/>
                <a:gd name="T84" fmla="*/ 11 w 283"/>
                <a:gd name="T85" fmla="*/ 0 h 252"/>
                <a:gd name="T86" fmla="*/ 4 w 283"/>
                <a:gd name="T87" fmla="*/ 2 h 252"/>
                <a:gd name="T88" fmla="*/ 0 w 283"/>
                <a:gd name="T89" fmla="*/ 5 h 252"/>
                <a:gd name="T90" fmla="*/ 12 w 283"/>
                <a:gd name="T91" fmla="*/ 7 h 252"/>
                <a:gd name="T92" fmla="*/ 24 w 283"/>
                <a:gd name="T93" fmla="*/ 8 h 252"/>
                <a:gd name="T94" fmla="*/ 38 w 283"/>
                <a:gd name="T95" fmla="*/ 10 h 252"/>
                <a:gd name="T96" fmla="*/ 52 w 283"/>
                <a:gd name="T97" fmla="*/ 13 h 252"/>
                <a:gd name="T98" fmla="*/ 66 w 283"/>
                <a:gd name="T99" fmla="*/ 16 h 252"/>
                <a:gd name="T100" fmla="*/ 82 w 283"/>
                <a:gd name="T101" fmla="*/ 18 h 252"/>
                <a:gd name="T102" fmla="*/ 98 w 283"/>
                <a:gd name="T103" fmla="*/ 22 h 252"/>
                <a:gd name="T104" fmla="*/ 114 w 283"/>
                <a:gd name="T105" fmla="*/ 25 h 252"/>
                <a:gd name="T106" fmla="*/ 129 w 283"/>
                <a:gd name="T107" fmla="*/ 30 h 252"/>
                <a:gd name="T108" fmla="*/ 146 w 283"/>
                <a:gd name="T109" fmla="*/ 34 h 252"/>
                <a:gd name="T110" fmla="*/ 162 w 283"/>
                <a:gd name="T111" fmla="*/ 39 h 252"/>
                <a:gd name="T112" fmla="*/ 177 w 283"/>
                <a:gd name="T113" fmla="*/ 45 h 252"/>
                <a:gd name="T114" fmla="*/ 193 w 283"/>
                <a:gd name="T115" fmla="*/ 52 h 252"/>
                <a:gd name="T116" fmla="*/ 208 w 283"/>
                <a:gd name="T117" fmla="*/ 60 h 252"/>
                <a:gd name="T118" fmla="*/ 222 w 283"/>
                <a:gd name="T119" fmla="*/ 68 h 252"/>
                <a:gd name="T120" fmla="*/ 235 w 283"/>
                <a:gd name="T121" fmla="*/ 77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ln>
          </p:spPr>
          <p:txBody>
            <a:bodyPr/>
            <a:lstStyle/>
            <a:p>
              <a:endParaRPr lang="en-US"/>
            </a:p>
          </p:txBody>
        </p:sp>
        <p:sp>
          <p:nvSpPr>
            <p:cNvPr id="3211" name="Freeform 1015"/>
            <p:cNvSpPr/>
            <p:nvPr/>
          </p:nvSpPr>
          <p:spPr bwMode="auto">
            <a:xfrm>
              <a:off x="4298" y="3153"/>
              <a:ext cx="19" cy="39"/>
            </a:xfrm>
            <a:custGeom>
              <a:avLst/>
              <a:gdLst>
                <a:gd name="T0" fmla="*/ 0 w 114"/>
                <a:gd name="T1" fmla="*/ 130 h 238"/>
                <a:gd name="T2" fmla="*/ 0 w 114"/>
                <a:gd name="T3" fmla="*/ 149 h 238"/>
                <a:gd name="T4" fmla="*/ 4 w 114"/>
                <a:gd name="T5" fmla="*/ 168 h 238"/>
                <a:gd name="T6" fmla="*/ 12 w 114"/>
                <a:gd name="T7" fmla="*/ 185 h 238"/>
                <a:gd name="T8" fmla="*/ 24 w 114"/>
                <a:gd name="T9" fmla="*/ 200 h 238"/>
                <a:gd name="T10" fmla="*/ 38 w 114"/>
                <a:gd name="T11" fmla="*/ 213 h 238"/>
                <a:gd name="T12" fmla="*/ 55 w 114"/>
                <a:gd name="T13" fmla="*/ 224 h 238"/>
                <a:gd name="T14" fmla="*/ 73 w 114"/>
                <a:gd name="T15" fmla="*/ 232 h 238"/>
                <a:gd name="T16" fmla="*/ 92 w 114"/>
                <a:gd name="T17" fmla="*/ 237 h 238"/>
                <a:gd name="T18" fmla="*/ 98 w 114"/>
                <a:gd name="T19" fmla="*/ 238 h 238"/>
                <a:gd name="T20" fmla="*/ 104 w 114"/>
                <a:gd name="T21" fmla="*/ 235 h 238"/>
                <a:gd name="T22" fmla="*/ 109 w 114"/>
                <a:gd name="T23" fmla="*/ 232 h 238"/>
                <a:gd name="T24" fmla="*/ 111 w 114"/>
                <a:gd name="T25" fmla="*/ 227 h 238"/>
                <a:gd name="T26" fmla="*/ 111 w 114"/>
                <a:gd name="T27" fmla="*/ 222 h 238"/>
                <a:gd name="T28" fmla="*/ 110 w 114"/>
                <a:gd name="T29" fmla="*/ 216 h 238"/>
                <a:gd name="T30" fmla="*/ 106 w 114"/>
                <a:gd name="T31" fmla="*/ 211 h 238"/>
                <a:gd name="T32" fmla="*/ 100 w 114"/>
                <a:gd name="T33" fmla="*/ 209 h 238"/>
                <a:gd name="T34" fmla="*/ 82 w 114"/>
                <a:gd name="T35" fmla="*/ 202 h 238"/>
                <a:gd name="T36" fmla="*/ 64 w 114"/>
                <a:gd name="T37" fmla="*/ 193 h 238"/>
                <a:gd name="T38" fmla="*/ 50 w 114"/>
                <a:gd name="T39" fmla="*/ 180 h 238"/>
                <a:gd name="T40" fmla="*/ 39 w 114"/>
                <a:gd name="T41" fmla="*/ 167 h 238"/>
                <a:gd name="T42" fmla="*/ 32 w 114"/>
                <a:gd name="T43" fmla="*/ 149 h 238"/>
                <a:gd name="T44" fmla="*/ 29 w 114"/>
                <a:gd name="T45" fmla="*/ 131 h 238"/>
                <a:gd name="T46" fmla="*/ 29 w 114"/>
                <a:gd name="T47" fmla="*/ 111 h 238"/>
                <a:gd name="T48" fmla="*/ 35 w 114"/>
                <a:gd name="T49" fmla="*/ 91 h 238"/>
                <a:gd name="T50" fmla="*/ 42 w 114"/>
                <a:gd name="T51" fmla="*/ 76 h 238"/>
                <a:gd name="T52" fmla="*/ 51 w 114"/>
                <a:gd name="T53" fmla="*/ 62 h 238"/>
                <a:gd name="T54" fmla="*/ 62 w 114"/>
                <a:gd name="T55" fmla="*/ 49 h 238"/>
                <a:gd name="T56" fmla="*/ 73 w 114"/>
                <a:gd name="T57" fmla="*/ 38 h 238"/>
                <a:gd name="T58" fmla="*/ 84 w 114"/>
                <a:gd name="T59" fmla="*/ 28 h 238"/>
                <a:gd name="T60" fmla="*/ 96 w 114"/>
                <a:gd name="T61" fmla="*/ 18 h 238"/>
                <a:gd name="T62" fmla="*/ 106 w 114"/>
                <a:gd name="T63" fmla="*/ 9 h 238"/>
                <a:gd name="T64" fmla="*/ 114 w 114"/>
                <a:gd name="T65" fmla="*/ 1 h 238"/>
                <a:gd name="T66" fmla="*/ 106 w 114"/>
                <a:gd name="T67" fmla="*/ 0 h 238"/>
                <a:gd name="T68" fmla="*/ 93 w 114"/>
                <a:gd name="T69" fmla="*/ 6 h 238"/>
                <a:gd name="T70" fmla="*/ 76 w 114"/>
                <a:gd name="T71" fmla="*/ 18 h 238"/>
                <a:gd name="T72" fmla="*/ 56 w 114"/>
                <a:gd name="T73" fmla="*/ 36 h 238"/>
                <a:gd name="T74" fmla="*/ 37 w 114"/>
                <a:gd name="T75" fmla="*/ 57 h 238"/>
                <a:gd name="T76" fmla="*/ 20 w 114"/>
                <a:gd name="T77" fmla="*/ 80 h 238"/>
                <a:gd name="T78" fmla="*/ 7 w 114"/>
                <a:gd name="T79" fmla="*/ 106 h 238"/>
                <a:gd name="T80" fmla="*/ 0 w 114"/>
                <a:gd name="T81" fmla="*/ 13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ln>
          </p:spPr>
          <p:txBody>
            <a:bodyPr/>
            <a:lstStyle/>
            <a:p>
              <a:endParaRPr lang="en-US"/>
            </a:p>
          </p:txBody>
        </p:sp>
        <p:sp>
          <p:nvSpPr>
            <p:cNvPr id="3212" name="Freeform 1016"/>
            <p:cNvSpPr/>
            <p:nvPr/>
          </p:nvSpPr>
          <p:spPr bwMode="auto">
            <a:xfrm>
              <a:off x="4432" y="3130"/>
              <a:ext cx="41" cy="52"/>
            </a:xfrm>
            <a:custGeom>
              <a:avLst/>
              <a:gdLst>
                <a:gd name="T0" fmla="*/ 207 w 246"/>
                <a:gd name="T1" fmla="*/ 124 h 310"/>
                <a:gd name="T2" fmla="*/ 219 w 246"/>
                <a:gd name="T3" fmla="*/ 143 h 310"/>
                <a:gd name="T4" fmla="*/ 225 w 246"/>
                <a:gd name="T5" fmla="*/ 164 h 310"/>
                <a:gd name="T6" fmla="*/ 221 w 246"/>
                <a:gd name="T7" fmla="*/ 187 h 310"/>
                <a:gd name="T8" fmla="*/ 208 w 246"/>
                <a:gd name="T9" fmla="*/ 209 h 310"/>
                <a:gd name="T10" fmla="*/ 188 w 246"/>
                <a:gd name="T11" fmla="*/ 228 h 310"/>
                <a:gd name="T12" fmla="*/ 166 w 246"/>
                <a:gd name="T13" fmla="*/ 246 h 310"/>
                <a:gd name="T14" fmla="*/ 143 w 246"/>
                <a:gd name="T15" fmla="*/ 264 h 310"/>
                <a:gd name="T16" fmla="*/ 129 w 246"/>
                <a:gd name="T17" fmla="*/ 278 h 310"/>
                <a:gd name="T18" fmla="*/ 124 w 246"/>
                <a:gd name="T19" fmla="*/ 287 h 310"/>
                <a:gd name="T20" fmla="*/ 120 w 246"/>
                <a:gd name="T21" fmla="*/ 296 h 310"/>
                <a:gd name="T22" fmla="*/ 121 w 246"/>
                <a:gd name="T23" fmla="*/ 305 h 310"/>
                <a:gd name="T24" fmla="*/ 130 w 246"/>
                <a:gd name="T25" fmla="*/ 310 h 310"/>
                <a:gd name="T26" fmla="*/ 139 w 246"/>
                <a:gd name="T27" fmla="*/ 309 h 310"/>
                <a:gd name="T28" fmla="*/ 154 w 246"/>
                <a:gd name="T29" fmla="*/ 293 h 310"/>
                <a:gd name="T30" fmla="*/ 180 w 246"/>
                <a:gd name="T31" fmla="*/ 269 h 310"/>
                <a:gd name="T32" fmla="*/ 207 w 246"/>
                <a:gd name="T33" fmla="*/ 246 h 310"/>
                <a:gd name="T34" fmla="*/ 231 w 246"/>
                <a:gd name="T35" fmla="*/ 219 h 310"/>
                <a:gd name="T36" fmla="*/ 245 w 246"/>
                <a:gd name="T37" fmla="*/ 187 h 310"/>
                <a:gd name="T38" fmla="*/ 242 w 246"/>
                <a:gd name="T39" fmla="*/ 153 h 310"/>
                <a:gd name="T40" fmla="*/ 227 w 246"/>
                <a:gd name="T41" fmla="*/ 120 h 310"/>
                <a:gd name="T42" fmla="*/ 201 w 246"/>
                <a:gd name="T43" fmla="*/ 94 h 310"/>
                <a:gd name="T44" fmla="*/ 177 w 246"/>
                <a:gd name="T45" fmla="*/ 74 h 310"/>
                <a:gd name="T46" fmla="*/ 152 w 246"/>
                <a:gd name="T47" fmla="*/ 60 h 310"/>
                <a:gd name="T48" fmla="*/ 126 w 246"/>
                <a:gd name="T49" fmla="*/ 43 h 310"/>
                <a:gd name="T50" fmla="*/ 98 w 246"/>
                <a:gd name="T51" fmla="*/ 28 h 310"/>
                <a:gd name="T52" fmla="*/ 72 w 246"/>
                <a:gd name="T53" fmla="*/ 16 h 310"/>
                <a:gd name="T54" fmla="*/ 46 w 246"/>
                <a:gd name="T55" fmla="*/ 7 h 310"/>
                <a:gd name="T56" fmla="*/ 24 w 246"/>
                <a:gd name="T57" fmla="*/ 1 h 310"/>
                <a:gd name="T58" fmla="*/ 7 w 246"/>
                <a:gd name="T59" fmla="*/ 1 h 310"/>
                <a:gd name="T60" fmla="*/ 8 w 246"/>
                <a:gd name="T61" fmla="*/ 6 h 310"/>
                <a:gd name="T62" fmla="*/ 28 w 246"/>
                <a:gd name="T63" fmla="*/ 14 h 310"/>
                <a:gd name="T64" fmla="*/ 51 w 246"/>
                <a:gd name="T65" fmla="*/ 24 h 310"/>
                <a:gd name="T66" fmla="*/ 78 w 246"/>
                <a:gd name="T67" fmla="*/ 37 h 310"/>
                <a:gd name="T68" fmla="*/ 106 w 246"/>
                <a:gd name="T69" fmla="*/ 51 h 310"/>
                <a:gd name="T70" fmla="*/ 134 w 246"/>
                <a:gd name="T71" fmla="*/ 69 h 310"/>
                <a:gd name="T72" fmla="*/ 163 w 246"/>
                <a:gd name="T73" fmla="*/ 87 h 310"/>
                <a:gd name="T74" fmla="*/ 187 w 246"/>
                <a:gd name="T75" fmla="*/ 105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ln>
          </p:spPr>
          <p:txBody>
            <a:bodyPr/>
            <a:lstStyle/>
            <a:p>
              <a:endParaRPr lang="en-US"/>
            </a:p>
          </p:txBody>
        </p:sp>
        <p:sp>
          <p:nvSpPr>
            <p:cNvPr id="3213" name="Freeform 1017"/>
            <p:cNvSpPr/>
            <p:nvPr/>
          </p:nvSpPr>
          <p:spPr bwMode="auto">
            <a:xfrm>
              <a:off x="4387" y="3191"/>
              <a:ext cx="14" cy="31"/>
            </a:xfrm>
            <a:custGeom>
              <a:avLst/>
              <a:gdLst>
                <a:gd name="T0" fmla="*/ 31 w 83"/>
                <a:gd name="T1" fmla="*/ 14 h 187"/>
                <a:gd name="T2" fmla="*/ 29 w 83"/>
                <a:gd name="T3" fmla="*/ 8 h 187"/>
                <a:gd name="T4" fmla="*/ 25 w 83"/>
                <a:gd name="T5" fmla="*/ 3 h 187"/>
                <a:gd name="T6" fmla="*/ 19 w 83"/>
                <a:gd name="T7" fmla="*/ 1 h 187"/>
                <a:gd name="T8" fmla="*/ 14 w 83"/>
                <a:gd name="T9" fmla="*/ 0 h 187"/>
                <a:gd name="T10" fmla="*/ 8 w 83"/>
                <a:gd name="T11" fmla="*/ 2 h 187"/>
                <a:gd name="T12" fmla="*/ 3 w 83"/>
                <a:gd name="T13" fmla="*/ 5 h 187"/>
                <a:gd name="T14" fmla="*/ 0 w 83"/>
                <a:gd name="T15" fmla="*/ 11 h 187"/>
                <a:gd name="T16" fmla="*/ 0 w 83"/>
                <a:gd name="T17" fmla="*/ 17 h 187"/>
                <a:gd name="T18" fmla="*/ 5 w 83"/>
                <a:gd name="T19" fmla="*/ 42 h 187"/>
                <a:gd name="T20" fmla="*/ 15 w 83"/>
                <a:gd name="T21" fmla="*/ 71 h 187"/>
                <a:gd name="T22" fmla="*/ 27 w 83"/>
                <a:gd name="T23" fmla="*/ 100 h 187"/>
                <a:gd name="T24" fmla="*/ 41 w 83"/>
                <a:gd name="T25" fmla="*/ 127 h 187"/>
                <a:gd name="T26" fmla="*/ 55 w 83"/>
                <a:gd name="T27" fmla="*/ 151 h 187"/>
                <a:gd name="T28" fmla="*/ 68 w 83"/>
                <a:gd name="T29" fmla="*/ 171 h 187"/>
                <a:gd name="T30" fmla="*/ 77 w 83"/>
                <a:gd name="T31" fmla="*/ 184 h 187"/>
                <a:gd name="T32" fmla="*/ 83 w 83"/>
                <a:gd name="T33" fmla="*/ 187 h 187"/>
                <a:gd name="T34" fmla="*/ 80 w 83"/>
                <a:gd name="T35" fmla="*/ 174 h 187"/>
                <a:gd name="T36" fmla="*/ 75 w 83"/>
                <a:gd name="T37" fmla="*/ 158 h 187"/>
                <a:gd name="T38" fmla="*/ 68 w 83"/>
                <a:gd name="T39" fmla="*/ 138 h 187"/>
                <a:gd name="T40" fmla="*/ 59 w 83"/>
                <a:gd name="T41" fmla="*/ 113 h 187"/>
                <a:gd name="T42" fmla="*/ 51 w 83"/>
                <a:gd name="T43" fmla="*/ 88 h 187"/>
                <a:gd name="T44" fmla="*/ 43 w 83"/>
                <a:gd name="T45" fmla="*/ 63 h 187"/>
                <a:gd name="T46" fmla="*/ 36 w 83"/>
                <a:gd name="T47" fmla="*/ 38 h 187"/>
                <a:gd name="T48" fmla="*/ 31 w 83"/>
                <a:gd name="T49" fmla="*/ 14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ln>
          </p:spPr>
          <p:txBody>
            <a:bodyPr/>
            <a:lstStyle/>
            <a:p>
              <a:endParaRPr lang="en-US"/>
            </a:p>
          </p:txBody>
        </p:sp>
        <p:sp>
          <p:nvSpPr>
            <p:cNvPr id="3214" name="Freeform 1018"/>
            <p:cNvSpPr/>
            <p:nvPr/>
          </p:nvSpPr>
          <p:spPr bwMode="auto">
            <a:xfrm>
              <a:off x="4381" y="3174"/>
              <a:ext cx="7" cy="16"/>
            </a:xfrm>
            <a:custGeom>
              <a:avLst/>
              <a:gdLst>
                <a:gd name="T0" fmla="*/ 22 w 44"/>
                <a:gd name="T1" fmla="*/ 10 h 94"/>
                <a:gd name="T2" fmla="*/ 21 w 44"/>
                <a:gd name="T3" fmla="*/ 6 h 94"/>
                <a:gd name="T4" fmla="*/ 18 w 44"/>
                <a:gd name="T5" fmla="*/ 2 h 94"/>
                <a:gd name="T6" fmla="*/ 14 w 44"/>
                <a:gd name="T7" fmla="*/ 0 h 94"/>
                <a:gd name="T8" fmla="*/ 10 w 44"/>
                <a:gd name="T9" fmla="*/ 0 h 94"/>
                <a:gd name="T10" fmla="*/ 6 w 44"/>
                <a:gd name="T11" fmla="*/ 1 h 94"/>
                <a:gd name="T12" fmla="*/ 3 w 44"/>
                <a:gd name="T13" fmla="*/ 3 h 94"/>
                <a:gd name="T14" fmla="*/ 0 w 44"/>
                <a:gd name="T15" fmla="*/ 7 h 94"/>
                <a:gd name="T16" fmla="*/ 0 w 44"/>
                <a:gd name="T17" fmla="*/ 11 h 94"/>
                <a:gd name="T18" fmla="*/ 0 w 44"/>
                <a:gd name="T19" fmla="*/ 24 h 94"/>
                <a:gd name="T20" fmla="*/ 4 w 44"/>
                <a:gd name="T21" fmla="*/ 38 h 94"/>
                <a:gd name="T22" fmla="*/ 8 w 44"/>
                <a:gd name="T23" fmla="*/ 52 h 94"/>
                <a:gd name="T24" fmla="*/ 14 w 44"/>
                <a:gd name="T25" fmla="*/ 65 h 94"/>
                <a:gd name="T26" fmla="*/ 21 w 44"/>
                <a:gd name="T27" fmla="*/ 78 h 94"/>
                <a:gd name="T28" fmla="*/ 28 w 44"/>
                <a:gd name="T29" fmla="*/ 87 h 94"/>
                <a:gd name="T30" fmla="*/ 37 w 44"/>
                <a:gd name="T31" fmla="*/ 93 h 94"/>
                <a:gd name="T32" fmla="*/ 42 w 44"/>
                <a:gd name="T33" fmla="*/ 94 h 94"/>
                <a:gd name="T34" fmla="*/ 44 w 44"/>
                <a:gd name="T35" fmla="*/ 76 h 94"/>
                <a:gd name="T36" fmla="*/ 38 w 44"/>
                <a:gd name="T37" fmla="*/ 54 h 94"/>
                <a:gd name="T38" fmla="*/ 31 w 44"/>
                <a:gd name="T39" fmla="*/ 32 h 94"/>
                <a:gd name="T40" fmla="*/ 22 w 44"/>
                <a:gd name="T41" fmla="*/ 1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ln>
          </p:spPr>
          <p:txBody>
            <a:bodyPr/>
            <a:lstStyle/>
            <a:p>
              <a:endParaRPr lang="en-US"/>
            </a:p>
          </p:txBody>
        </p:sp>
        <p:sp>
          <p:nvSpPr>
            <p:cNvPr id="3215" name="Freeform 1019"/>
            <p:cNvSpPr/>
            <p:nvPr/>
          </p:nvSpPr>
          <p:spPr bwMode="auto">
            <a:xfrm>
              <a:off x="4375" y="3163"/>
              <a:ext cx="6" cy="9"/>
            </a:xfrm>
            <a:custGeom>
              <a:avLst/>
              <a:gdLst>
                <a:gd name="T0" fmla="*/ 20 w 38"/>
                <a:gd name="T1" fmla="*/ 7 h 54"/>
                <a:gd name="T2" fmla="*/ 20 w 38"/>
                <a:gd name="T3" fmla="*/ 8 h 54"/>
                <a:gd name="T4" fmla="*/ 20 w 38"/>
                <a:gd name="T5" fmla="*/ 8 h 54"/>
                <a:gd name="T6" fmla="*/ 20 w 38"/>
                <a:gd name="T7" fmla="*/ 8 h 54"/>
                <a:gd name="T8" fmla="*/ 20 w 38"/>
                <a:gd name="T9" fmla="*/ 8 h 54"/>
                <a:gd name="T10" fmla="*/ 19 w 38"/>
                <a:gd name="T11" fmla="*/ 4 h 54"/>
                <a:gd name="T12" fmla="*/ 15 w 38"/>
                <a:gd name="T13" fmla="*/ 1 h 54"/>
                <a:gd name="T14" fmla="*/ 12 w 38"/>
                <a:gd name="T15" fmla="*/ 0 h 54"/>
                <a:gd name="T16" fmla="*/ 7 w 38"/>
                <a:gd name="T17" fmla="*/ 0 h 54"/>
                <a:gd name="T18" fmla="*/ 4 w 38"/>
                <a:gd name="T19" fmla="*/ 1 h 54"/>
                <a:gd name="T20" fmla="*/ 1 w 38"/>
                <a:gd name="T21" fmla="*/ 4 h 54"/>
                <a:gd name="T22" fmla="*/ 0 w 38"/>
                <a:gd name="T23" fmla="*/ 8 h 54"/>
                <a:gd name="T24" fmla="*/ 0 w 38"/>
                <a:gd name="T25" fmla="*/ 11 h 54"/>
                <a:gd name="T26" fmla="*/ 1 w 38"/>
                <a:gd name="T27" fmla="*/ 17 h 54"/>
                <a:gd name="T28" fmla="*/ 4 w 38"/>
                <a:gd name="T29" fmla="*/ 24 h 54"/>
                <a:gd name="T30" fmla="*/ 8 w 38"/>
                <a:gd name="T31" fmla="*/ 32 h 54"/>
                <a:gd name="T32" fmla="*/ 14 w 38"/>
                <a:gd name="T33" fmla="*/ 39 h 54"/>
                <a:gd name="T34" fmla="*/ 20 w 38"/>
                <a:gd name="T35" fmla="*/ 46 h 54"/>
                <a:gd name="T36" fmla="*/ 27 w 38"/>
                <a:gd name="T37" fmla="*/ 50 h 54"/>
                <a:gd name="T38" fmla="*/ 33 w 38"/>
                <a:gd name="T39" fmla="*/ 54 h 54"/>
                <a:gd name="T40" fmla="*/ 38 w 38"/>
                <a:gd name="T41" fmla="*/ 54 h 54"/>
                <a:gd name="T42" fmla="*/ 36 w 38"/>
                <a:gd name="T43" fmla="*/ 42 h 54"/>
                <a:gd name="T44" fmla="*/ 32 w 38"/>
                <a:gd name="T45" fmla="*/ 29 h 54"/>
                <a:gd name="T46" fmla="*/ 25 w 38"/>
                <a:gd name="T47" fmla="*/ 16 h 54"/>
                <a:gd name="T48" fmla="*/ 20 w 38"/>
                <a:gd name="T49" fmla="*/ 7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ln>
          </p:spPr>
          <p:txBody>
            <a:bodyPr/>
            <a:lstStyle/>
            <a:p>
              <a:endParaRPr lang="en-US"/>
            </a:p>
          </p:txBody>
        </p:sp>
        <p:sp>
          <p:nvSpPr>
            <p:cNvPr id="3216" name="Freeform 1020"/>
            <p:cNvSpPr/>
            <p:nvPr/>
          </p:nvSpPr>
          <p:spPr bwMode="auto">
            <a:xfrm>
              <a:off x="4370" y="3155"/>
              <a:ext cx="8" cy="6"/>
            </a:xfrm>
            <a:custGeom>
              <a:avLst/>
              <a:gdLst>
                <a:gd name="T0" fmla="*/ 41 w 52"/>
                <a:gd name="T1" fmla="*/ 27 h 36"/>
                <a:gd name="T2" fmla="*/ 46 w 52"/>
                <a:gd name="T3" fmla="*/ 24 h 36"/>
                <a:gd name="T4" fmla="*/ 51 w 52"/>
                <a:gd name="T5" fmla="*/ 21 h 36"/>
                <a:gd name="T6" fmla="*/ 52 w 52"/>
                <a:gd name="T7" fmla="*/ 16 h 36"/>
                <a:gd name="T8" fmla="*/ 52 w 52"/>
                <a:gd name="T9" fmla="*/ 12 h 36"/>
                <a:gd name="T10" fmla="*/ 50 w 52"/>
                <a:gd name="T11" fmla="*/ 6 h 36"/>
                <a:gd name="T12" fmla="*/ 46 w 52"/>
                <a:gd name="T13" fmla="*/ 2 h 36"/>
                <a:gd name="T14" fmla="*/ 41 w 52"/>
                <a:gd name="T15" fmla="*/ 0 h 36"/>
                <a:gd name="T16" fmla="*/ 36 w 52"/>
                <a:gd name="T17" fmla="*/ 0 h 36"/>
                <a:gd name="T18" fmla="*/ 33 w 52"/>
                <a:gd name="T19" fmla="*/ 0 h 36"/>
                <a:gd name="T20" fmla="*/ 29 w 52"/>
                <a:gd name="T21" fmla="*/ 1 h 36"/>
                <a:gd name="T22" fmla="*/ 21 w 52"/>
                <a:gd name="T23" fmla="*/ 4 h 36"/>
                <a:gd name="T24" fmla="*/ 13 w 52"/>
                <a:gd name="T25" fmla="*/ 8 h 36"/>
                <a:gd name="T26" fmla="*/ 6 w 52"/>
                <a:gd name="T27" fmla="*/ 15 h 36"/>
                <a:gd name="T28" fmla="*/ 3 w 52"/>
                <a:gd name="T29" fmla="*/ 22 h 36"/>
                <a:gd name="T30" fmla="*/ 0 w 52"/>
                <a:gd name="T31" fmla="*/ 29 h 36"/>
                <a:gd name="T32" fmla="*/ 0 w 52"/>
                <a:gd name="T33" fmla="*/ 31 h 36"/>
                <a:gd name="T34" fmla="*/ 4 w 52"/>
                <a:gd name="T35" fmla="*/ 33 h 36"/>
                <a:gd name="T36" fmla="*/ 9 w 52"/>
                <a:gd name="T37" fmla="*/ 36 h 36"/>
                <a:gd name="T38" fmla="*/ 13 w 52"/>
                <a:gd name="T39" fmla="*/ 36 h 36"/>
                <a:gd name="T40" fmla="*/ 18 w 52"/>
                <a:gd name="T41" fmla="*/ 36 h 36"/>
                <a:gd name="T42" fmla="*/ 24 w 52"/>
                <a:gd name="T43" fmla="*/ 33 h 36"/>
                <a:gd name="T44" fmla="*/ 30 w 52"/>
                <a:gd name="T45" fmla="*/ 32 h 36"/>
                <a:gd name="T46" fmla="*/ 36 w 52"/>
                <a:gd name="T47" fmla="*/ 30 h 36"/>
                <a:gd name="T48" fmla="*/ 41 w 52"/>
                <a:gd name="T49" fmla="*/ 27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ln>
          </p:spPr>
          <p:txBody>
            <a:bodyPr/>
            <a:lstStyle/>
            <a:p>
              <a:endParaRPr lang="en-US"/>
            </a:p>
          </p:txBody>
        </p:sp>
        <p:sp>
          <p:nvSpPr>
            <p:cNvPr id="8" name="Freeform 1021"/>
            <p:cNvSpPr/>
            <p:nvPr/>
          </p:nvSpPr>
          <p:spPr bwMode="auto">
            <a:xfrm>
              <a:off x="4330" y="3145"/>
              <a:ext cx="33" cy="39"/>
            </a:xfrm>
            <a:custGeom>
              <a:avLst/>
              <a:gdLst>
                <a:gd name="T0" fmla="*/ 73 w 198"/>
                <a:gd name="T1" fmla="*/ 36 h 236"/>
                <a:gd name="T2" fmla="*/ 58 w 198"/>
                <a:gd name="T3" fmla="*/ 46 h 236"/>
                <a:gd name="T4" fmla="*/ 46 w 198"/>
                <a:gd name="T5" fmla="*/ 58 h 236"/>
                <a:gd name="T6" fmla="*/ 33 w 198"/>
                <a:gd name="T7" fmla="*/ 72 h 236"/>
                <a:gd name="T8" fmla="*/ 22 w 198"/>
                <a:gd name="T9" fmla="*/ 85 h 236"/>
                <a:gd name="T10" fmla="*/ 14 w 198"/>
                <a:gd name="T11" fmla="*/ 100 h 236"/>
                <a:gd name="T12" fmla="*/ 7 w 198"/>
                <a:gd name="T13" fmla="*/ 115 h 236"/>
                <a:gd name="T14" fmla="*/ 2 w 198"/>
                <a:gd name="T15" fmla="*/ 130 h 236"/>
                <a:gd name="T16" fmla="*/ 0 w 198"/>
                <a:gd name="T17" fmla="*/ 146 h 236"/>
                <a:gd name="T18" fmla="*/ 2 w 198"/>
                <a:gd name="T19" fmla="*/ 170 h 236"/>
                <a:gd name="T20" fmla="*/ 12 w 198"/>
                <a:gd name="T21" fmla="*/ 190 h 236"/>
                <a:gd name="T22" fmla="*/ 26 w 198"/>
                <a:gd name="T23" fmla="*/ 207 h 236"/>
                <a:gd name="T24" fmla="*/ 43 w 198"/>
                <a:gd name="T25" fmla="*/ 220 h 236"/>
                <a:gd name="T26" fmla="*/ 64 w 198"/>
                <a:gd name="T27" fmla="*/ 229 h 236"/>
                <a:gd name="T28" fmla="*/ 88 w 198"/>
                <a:gd name="T29" fmla="*/ 235 h 236"/>
                <a:gd name="T30" fmla="*/ 110 w 198"/>
                <a:gd name="T31" fmla="*/ 236 h 236"/>
                <a:gd name="T32" fmla="*/ 132 w 198"/>
                <a:gd name="T33" fmla="*/ 232 h 236"/>
                <a:gd name="T34" fmla="*/ 137 w 198"/>
                <a:gd name="T35" fmla="*/ 232 h 236"/>
                <a:gd name="T36" fmla="*/ 142 w 198"/>
                <a:gd name="T37" fmla="*/ 230 h 236"/>
                <a:gd name="T38" fmla="*/ 145 w 198"/>
                <a:gd name="T39" fmla="*/ 226 h 236"/>
                <a:gd name="T40" fmla="*/ 146 w 198"/>
                <a:gd name="T41" fmla="*/ 221 h 236"/>
                <a:gd name="T42" fmla="*/ 145 w 198"/>
                <a:gd name="T43" fmla="*/ 219 h 236"/>
                <a:gd name="T44" fmla="*/ 142 w 198"/>
                <a:gd name="T45" fmla="*/ 219 h 236"/>
                <a:gd name="T46" fmla="*/ 137 w 198"/>
                <a:gd name="T47" fmla="*/ 217 h 236"/>
                <a:gd name="T48" fmla="*/ 131 w 198"/>
                <a:gd name="T49" fmla="*/ 217 h 236"/>
                <a:gd name="T50" fmla="*/ 124 w 198"/>
                <a:gd name="T51" fmla="*/ 217 h 236"/>
                <a:gd name="T52" fmla="*/ 118 w 198"/>
                <a:gd name="T53" fmla="*/ 217 h 236"/>
                <a:gd name="T54" fmla="*/ 112 w 198"/>
                <a:gd name="T55" fmla="*/ 217 h 236"/>
                <a:gd name="T56" fmla="*/ 109 w 198"/>
                <a:gd name="T57" fmla="*/ 217 h 236"/>
                <a:gd name="T58" fmla="*/ 97 w 198"/>
                <a:gd name="T59" fmla="*/ 216 h 236"/>
                <a:gd name="T60" fmla="*/ 87 w 198"/>
                <a:gd name="T61" fmla="*/ 215 h 236"/>
                <a:gd name="T62" fmla="*/ 75 w 198"/>
                <a:gd name="T63" fmla="*/ 214 h 236"/>
                <a:gd name="T64" fmla="*/ 63 w 198"/>
                <a:gd name="T65" fmla="*/ 211 h 236"/>
                <a:gd name="T66" fmla="*/ 51 w 198"/>
                <a:gd name="T67" fmla="*/ 207 h 236"/>
                <a:gd name="T68" fmla="*/ 40 w 198"/>
                <a:gd name="T69" fmla="*/ 199 h 236"/>
                <a:gd name="T70" fmla="*/ 29 w 198"/>
                <a:gd name="T71" fmla="*/ 189 h 236"/>
                <a:gd name="T72" fmla="*/ 17 w 198"/>
                <a:gd name="T73" fmla="*/ 174 h 236"/>
                <a:gd name="T74" fmla="*/ 15 w 198"/>
                <a:gd name="T75" fmla="*/ 157 h 236"/>
                <a:gd name="T76" fmla="*/ 16 w 198"/>
                <a:gd name="T77" fmla="*/ 141 h 236"/>
                <a:gd name="T78" fmla="*/ 21 w 198"/>
                <a:gd name="T79" fmla="*/ 124 h 236"/>
                <a:gd name="T80" fmla="*/ 28 w 198"/>
                <a:gd name="T81" fmla="*/ 109 h 236"/>
                <a:gd name="T82" fmla="*/ 39 w 198"/>
                <a:gd name="T83" fmla="*/ 96 h 236"/>
                <a:gd name="T84" fmla="*/ 50 w 198"/>
                <a:gd name="T85" fmla="*/ 82 h 236"/>
                <a:gd name="T86" fmla="*/ 63 w 198"/>
                <a:gd name="T87" fmla="*/ 70 h 236"/>
                <a:gd name="T88" fmla="*/ 78 w 198"/>
                <a:gd name="T89" fmla="*/ 59 h 236"/>
                <a:gd name="T90" fmla="*/ 94 w 198"/>
                <a:gd name="T91" fmla="*/ 49 h 236"/>
                <a:gd name="T92" fmla="*/ 110 w 198"/>
                <a:gd name="T93" fmla="*/ 39 h 236"/>
                <a:gd name="T94" fmla="*/ 126 w 198"/>
                <a:gd name="T95" fmla="*/ 31 h 236"/>
                <a:gd name="T96" fmla="*/ 142 w 198"/>
                <a:gd name="T97" fmla="*/ 24 h 236"/>
                <a:gd name="T98" fmla="*/ 158 w 198"/>
                <a:gd name="T99" fmla="*/ 19 h 236"/>
                <a:gd name="T100" fmla="*/ 172 w 198"/>
                <a:gd name="T101" fmla="*/ 13 h 236"/>
                <a:gd name="T102" fmla="*/ 186 w 198"/>
                <a:gd name="T103" fmla="*/ 10 h 236"/>
                <a:gd name="T104" fmla="*/ 198 w 198"/>
                <a:gd name="T105" fmla="*/ 7 h 236"/>
                <a:gd name="T106" fmla="*/ 190 w 198"/>
                <a:gd name="T107" fmla="*/ 3 h 236"/>
                <a:gd name="T108" fmla="*/ 177 w 198"/>
                <a:gd name="T109" fmla="*/ 0 h 236"/>
                <a:gd name="T110" fmla="*/ 162 w 198"/>
                <a:gd name="T111" fmla="*/ 3 h 236"/>
                <a:gd name="T112" fmla="*/ 144 w 198"/>
                <a:gd name="T113" fmla="*/ 6 h 236"/>
                <a:gd name="T114" fmla="*/ 124 w 198"/>
                <a:gd name="T115" fmla="*/ 12 h 236"/>
                <a:gd name="T116" fmla="*/ 105 w 198"/>
                <a:gd name="T117" fmla="*/ 19 h 236"/>
                <a:gd name="T118" fmla="*/ 88 w 198"/>
                <a:gd name="T119" fmla="*/ 28 h 236"/>
                <a:gd name="T120" fmla="*/ 73 w 198"/>
                <a:gd name="T121" fmla="*/ 3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en-US"/>
            </a:p>
          </p:txBody>
        </p:sp>
        <p:sp>
          <p:nvSpPr>
            <p:cNvPr id="9" name="Freeform 1022"/>
            <p:cNvSpPr/>
            <p:nvPr/>
          </p:nvSpPr>
          <p:spPr bwMode="auto">
            <a:xfrm>
              <a:off x="4386" y="3145"/>
              <a:ext cx="22" cy="30"/>
            </a:xfrm>
            <a:custGeom>
              <a:avLst/>
              <a:gdLst>
                <a:gd name="T0" fmla="*/ 108 w 128"/>
                <a:gd name="T1" fmla="*/ 61 h 183"/>
                <a:gd name="T2" fmla="*/ 111 w 128"/>
                <a:gd name="T3" fmla="*/ 80 h 183"/>
                <a:gd name="T4" fmla="*/ 109 w 128"/>
                <a:gd name="T5" fmla="*/ 97 h 183"/>
                <a:gd name="T6" fmla="*/ 101 w 128"/>
                <a:gd name="T7" fmla="*/ 110 h 183"/>
                <a:gd name="T8" fmla="*/ 89 w 128"/>
                <a:gd name="T9" fmla="*/ 123 h 183"/>
                <a:gd name="T10" fmla="*/ 75 w 128"/>
                <a:gd name="T11" fmla="*/ 134 h 183"/>
                <a:gd name="T12" fmla="*/ 60 w 128"/>
                <a:gd name="T13" fmla="*/ 145 h 183"/>
                <a:gd name="T14" fmla="*/ 43 w 128"/>
                <a:gd name="T15" fmla="*/ 156 h 183"/>
                <a:gd name="T16" fmla="*/ 29 w 128"/>
                <a:gd name="T17" fmla="*/ 167 h 183"/>
                <a:gd name="T18" fmla="*/ 27 w 128"/>
                <a:gd name="T19" fmla="*/ 170 h 183"/>
                <a:gd name="T20" fmla="*/ 26 w 128"/>
                <a:gd name="T21" fmla="*/ 172 h 183"/>
                <a:gd name="T22" fmla="*/ 26 w 128"/>
                <a:gd name="T23" fmla="*/ 176 h 183"/>
                <a:gd name="T24" fmla="*/ 28 w 128"/>
                <a:gd name="T25" fmla="*/ 179 h 183"/>
                <a:gd name="T26" fmla="*/ 30 w 128"/>
                <a:gd name="T27" fmla="*/ 182 h 183"/>
                <a:gd name="T28" fmla="*/ 34 w 128"/>
                <a:gd name="T29" fmla="*/ 183 h 183"/>
                <a:gd name="T30" fmla="*/ 37 w 128"/>
                <a:gd name="T31" fmla="*/ 183 h 183"/>
                <a:gd name="T32" fmla="*/ 41 w 128"/>
                <a:gd name="T33" fmla="*/ 182 h 183"/>
                <a:gd name="T34" fmla="*/ 58 w 128"/>
                <a:gd name="T35" fmla="*/ 171 h 183"/>
                <a:gd name="T36" fmla="*/ 76 w 128"/>
                <a:gd name="T37" fmla="*/ 160 h 183"/>
                <a:gd name="T38" fmla="*/ 92 w 128"/>
                <a:gd name="T39" fmla="*/ 147 h 183"/>
                <a:gd name="T40" fmla="*/ 108 w 128"/>
                <a:gd name="T41" fmla="*/ 132 h 183"/>
                <a:gd name="T42" fmla="*/ 118 w 128"/>
                <a:gd name="T43" fmla="*/ 116 h 183"/>
                <a:gd name="T44" fmla="*/ 125 w 128"/>
                <a:gd name="T45" fmla="*/ 98 h 183"/>
                <a:gd name="T46" fmla="*/ 128 w 128"/>
                <a:gd name="T47" fmla="*/ 78 h 183"/>
                <a:gd name="T48" fmla="*/ 123 w 128"/>
                <a:gd name="T49" fmla="*/ 58 h 183"/>
                <a:gd name="T50" fmla="*/ 112 w 128"/>
                <a:gd name="T51" fmla="*/ 41 h 183"/>
                <a:gd name="T52" fmla="*/ 98 w 128"/>
                <a:gd name="T53" fmla="*/ 28 h 183"/>
                <a:gd name="T54" fmla="*/ 80 w 128"/>
                <a:gd name="T55" fmla="*/ 16 h 183"/>
                <a:gd name="T56" fmla="*/ 61 w 128"/>
                <a:gd name="T57" fmla="*/ 8 h 183"/>
                <a:gd name="T58" fmla="*/ 41 w 128"/>
                <a:gd name="T59" fmla="*/ 2 h 183"/>
                <a:gd name="T60" fmla="*/ 23 w 128"/>
                <a:gd name="T61" fmla="*/ 0 h 183"/>
                <a:gd name="T62" fmla="*/ 9 w 128"/>
                <a:gd name="T63" fmla="*/ 1 h 183"/>
                <a:gd name="T64" fmla="*/ 0 w 128"/>
                <a:gd name="T65" fmla="*/ 6 h 183"/>
                <a:gd name="T66" fmla="*/ 16 w 128"/>
                <a:gd name="T67" fmla="*/ 10 h 183"/>
                <a:gd name="T68" fmla="*/ 33 w 128"/>
                <a:gd name="T69" fmla="*/ 14 h 183"/>
                <a:gd name="T70" fmla="*/ 48 w 128"/>
                <a:gd name="T71" fmla="*/ 17 h 183"/>
                <a:gd name="T72" fmla="*/ 63 w 128"/>
                <a:gd name="T73" fmla="*/ 22 h 183"/>
                <a:gd name="T74" fmla="*/ 77 w 128"/>
                <a:gd name="T75" fmla="*/ 28 h 183"/>
                <a:gd name="T76" fmla="*/ 90 w 128"/>
                <a:gd name="T77" fmla="*/ 36 h 183"/>
                <a:gd name="T78" fmla="*/ 101 w 128"/>
                <a:gd name="T79" fmla="*/ 46 h 183"/>
                <a:gd name="T80" fmla="*/ 108 w 128"/>
                <a:gd name="T81" fmla="*/ 61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en-US"/>
            </a:p>
          </p:txBody>
        </p:sp>
        <p:sp>
          <p:nvSpPr>
            <p:cNvPr id="10" name="Freeform 1023"/>
            <p:cNvSpPr/>
            <p:nvPr/>
          </p:nvSpPr>
          <p:spPr bwMode="auto">
            <a:xfrm>
              <a:off x="4309" y="3138"/>
              <a:ext cx="53" cy="63"/>
            </a:xfrm>
            <a:custGeom>
              <a:avLst/>
              <a:gdLst>
                <a:gd name="T0" fmla="*/ 101 w 323"/>
                <a:gd name="T1" fmla="*/ 70 h 379"/>
                <a:gd name="T2" fmla="*/ 54 w 323"/>
                <a:gd name="T3" fmla="*/ 115 h 379"/>
                <a:gd name="T4" fmla="*/ 18 w 323"/>
                <a:gd name="T5" fmla="*/ 167 h 379"/>
                <a:gd name="T6" fmla="*/ 0 w 323"/>
                <a:gd name="T7" fmla="*/ 227 h 379"/>
                <a:gd name="T8" fmla="*/ 4 w 323"/>
                <a:gd name="T9" fmla="*/ 267 h 379"/>
                <a:gd name="T10" fmla="*/ 11 w 323"/>
                <a:gd name="T11" fmla="*/ 283 h 379"/>
                <a:gd name="T12" fmla="*/ 21 w 323"/>
                <a:gd name="T13" fmla="*/ 298 h 379"/>
                <a:gd name="T14" fmla="*/ 34 w 323"/>
                <a:gd name="T15" fmla="*/ 311 h 379"/>
                <a:gd name="T16" fmla="*/ 57 w 323"/>
                <a:gd name="T17" fmla="*/ 325 h 379"/>
                <a:gd name="T18" fmla="*/ 87 w 323"/>
                <a:gd name="T19" fmla="*/ 340 h 379"/>
                <a:gd name="T20" fmla="*/ 120 w 323"/>
                <a:gd name="T21" fmla="*/ 351 h 379"/>
                <a:gd name="T22" fmla="*/ 153 w 323"/>
                <a:gd name="T23" fmla="*/ 360 h 379"/>
                <a:gd name="T24" fmla="*/ 187 w 323"/>
                <a:gd name="T25" fmla="*/ 367 h 379"/>
                <a:gd name="T26" fmla="*/ 221 w 323"/>
                <a:gd name="T27" fmla="*/ 372 h 379"/>
                <a:gd name="T28" fmla="*/ 256 w 323"/>
                <a:gd name="T29" fmla="*/ 375 h 379"/>
                <a:gd name="T30" fmla="*/ 290 w 323"/>
                <a:gd name="T31" fmla="*/ 378 h 379"/>
                <a:gd name="T32" fmla="*/ 312 w 323"/>
                <a:gd name="T33" fmla="*/ 379 h 379"/>
                <a:gd name="T34" fmla="*/ 320 w 323"/>
                <a:gd name="T35" fmla="*/ 372 h 379"/>
                <a:gd name="T36" fmla="*/ 323 w 323"/>
                <a:gd name="T37" fmla="*/ 360 h 379"/>
                <a:gd name="T38" fmla="*/ 316 w 323"/>
                <a:gd name="T39" fmla="*/ 352 h 379"/>
                <a:gd name="T40" fmla="*/ 295 w 323"/>
                <a:gd name="T41" fmla="*/ 351 h 379"/>
                <a:gd name="T42" fmla="*/ 263 w 323"/>
                <a:gd name="T43" fmla="*/ 350 h 379"/>
                <a:gd name="T44" fmla="*/ 231 w 323"/>
                <a:gd name="T45" fmla="*/ 348 h 379"/>
                <a:gd name="T46" fmla="*/ 200 w 323"/>
                <a:gd name="T47" fmla="*/ 343 h 379"/>
                <a:gd name="T48" fmla="*/ 168 w 323"/>
                <a:gd name="T49" fmla="*/ 337 h 379"/>
                <a:gd name="T50" fmla="*/ 136 w 323"/>
                <a:gd name="T51" fmla="*/ 329 h 379"/>
                <a:gd name="T52" fmla="*/ 106 w 323"/>
                <a:gd name="T53" fmla="*/ 320 h 379"/>
                <a:gd name="T54" fmla="*/ 76 w 323"/>
                <a:gd name="T55" fmla="*/ 306 h 379"/>
                <a:gd name="T56" fmla="*/ 51 w 323"/>
                <a:gd name="T57" fmla="*/ 291 h 379"/>
                <a:gd name="T58" fmla="*/ 35 w 323"/>
                <a:gd name="T59" fmla="*/ 269 h 379"/>
                <a:gd name="T60" fmla="*/ 31 w 323"/>
                <a:gd name="T61" fmla="*/ 239 h 379"/>
                <a:gd name="T62" fmla="*/ 38 w 323"/>
                <a:gd name="T63" fmla="*/ 197 h 379"/>
                <a:gd name="T64" fmla="*/ 51 w 323"/>
                <a:gd name="T65" fmla="*/ 165 h 379"/>
                <a:gd name="T66" fmla="*/ 68 w 323"/>
                <a:gd name="T67" fmla="*/ 136 h 379"/>
                <a:gd name="T68" fmla="*/ 89 w 323"/>
                <a:gd name="T69" fmla="*/ 111 h 379"/>
                <a:gd name="T70" fmla="*/ 114 w 323"/>
                <a:gd name="T71" fmla="*/ 88 h 379"/>
                <a:gd name="T72" fmla="*/ 144 w 323"/>
                <a:gd name="T73" fmla="*/ 64 h 379"/>
                <a:gd name="T74" fmla="*/ 181 w 323"/>
                <a:gd name="T75" fmla="*/ 41 h 379"/>
                <a:gd name="T76" fmla="*/ 219 w 323"/>
                <a:gd name="T77" fmla="*/ 22 h 379"/>
                <a:gd name="T78" fmla="*/ 253 w 323"/>
                <a:gd name="T79" fmla="*/ 7 h 379"/>
                <a:gd name="T80" fmla="*/ 255 w 323"/>
                <a:gd name="T81" fmla="*/ 0 h 379"/>
                <a:gd name="T82" fmla="*/ 221 w 323"/>
                <a:gd name="T83" fmla="*/ 5 h 379"/>
                <a:gd name="T84" fmla="*/ 181 w 323"/>
                <a:gd name="T85" fmla="*/ 19 h 379"/>
                <a:gd name="T86" fmla="*/ 142 w 323"/>
                <a:gd name="T87" fmla="*/ 39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en-US"/>
            </a:p>
          </p:txBody>
        </p:sp>
        <p:sp>
          <p:nvSpPr>
            <p:cNvPr id="11" name="Freeform 1024"/>
            <p:cNvSpPr/>
            <p:nvPr/>
          </p:nvSpPr>
          <p:spPr bwMode="auto">
            <a:xfrm>
              <a:off x="4384" y="3136"/>
              <a:ext cx="47" cy="42"/>
            </a:xfrm>
            <a:custGeom>
              <a:avLst/>
              <a:gdLst>
                <a:gd name="T0" fmla="*/ 235 w 282"/>
                <a:gd name="T1" fmla="*/ 78 h 253"/>
                <a:gd name="T2" fmla="*/ 248 w 282"/>
                <a:gd name="T3" fmla="*/ 92 h 253"/>
                <a:gd name="T4" fmla="*/ 255 w 282"/>
                <a:gd name="T5" fmla="*/ 108 h 253"/>
                <a:gd name="T6" fmla="*/ 259 w 282"/>
                <a:gd name="T7" fmla="*/ 125 h 253"/>
                <a:gd name="T8" fmla="*/ 259 w 282"/>
                <a:gd name="T9" fmla="*/ 144 h 253"/>
                <a:gd name="T10" fmla="*/ 257 w 282"/>
                <a:gd name="T11" fmla="*/ 159 h 253"/>
                <a:gd name="T12" fmla="*/ 252 w 282"/>
                <a:gd name="T13" fmla="*/ 171 h 253"/>
                <a:gd name="T14" fmla="*/ 244 w 282"/>
                <a:gd name="T15" fmla="*/ 184 h 253"/>
                <a:gd name="T16" fmla="*/ 236 w 282"/>
                <a:gd name="T17" fmla="*/ 194 h 253"/>
                <a:gd name="T18" fmla="*/ 225 w 282"/>
                <a:gd name="T19" fmla="*/ 206 h 253"/>
                <a:gd name="T20" fmla="*/ 215 w 282"/>
                <a:gd name="T21" fmla="*/ 215 h 253"/>
                <a:gd name="T22" fmla="*/ 204 w 282"/>
                <a:gd name="T23" fmla="*/ 225 h 253"/>
                <a:gd name="T24" fmla="*/ 194 w 282"/>
                <a:gd name="T25" fmla="*/ 236 h 253"/>
                <a:gd name="T26" fmla="*/ 191 w 282"/>
                <a:gd name="T27" fmla="*/ 239 h 253"/>
                <a:gd name="T28" fmla="*/ 190 w 282"/>
                <a:gd name="T29" fmla="*/ 242 h 253"/>
                <a:gd name="T30" fmla="*/ 191 w 282"/>
                <a:gd name="T31" fmla="*/ 246 h 253"/>
                <a:gd name="T32" fmla="*/ 194 w 282"/>
                <a:gd name="T33" fmla="*/ 249 h 253"/>
                <a:gd name="T34" fmla="*/ 197 w 282"/>
                <a:gd name="T35" fmla="*/ 252 h 253"/>
                <a:gd name="T36" fmla="*/ 201 w 282"/>
                <a:gd name="T37" fmla="*/ 253 h 253"/>
                <a:gd name="T38" fmla="*/ 205 w 282"/>
                <a:gd name="T39" fmla="*/ 252 h 253"/>
                <a:gd name="T40" fmla="*/ 209 w 282"/>
                <a:gd name="T41" fmla="*/ 249 h 253"/>
                <a:gd name="T42" fmla="*/ 232 w 282"/>
                <a:gd name="T43" fmla="*/ 234 h 253"/>
                <a:gd name="T44" fmla="*/ 251 w 282"/>
                <a:gd name="T45" fmla="*/ 215 h 253"/>
                <a:gd name="T46" fmla="*/ 267 w 282"/>
                <a:gd name="T47" fmla="*/ 192 h 253"/>
                <a:gd name="T48" fmla="*/ 278 w 282"/>
                <a:gd name="T49" fmla="*/ 168 h 253"/>
                <a:gd name="T50" fmla="*/ 282 w 282"/>
                <a:gd name="T51" fmla="*/ 141 h 253"/>
                <a:gd name="T52" fmla="*/ 279 w 282"/>
                <a:gd name="T53" fmla="*/ 116 h 253"/>
                <a:gd name="T54" fmla="*/ 270 w 282"/>
                <a:gd name="T55" fmla="*/ 92 h 253"/>
                <a:gd name="T56" fmla="*/ 251 w 282"/>
                <a:gd name="T57" fmla="*/ 70 h 253"/>
                <a:gd name="T58" fmla="*/ 237 w 282"/>
                <a:gd name="T59" fmla="*/ 59 h 253"/>
                <a:gd name="T60" fmla="*/ 221 w 282"/>
                <a:gd name="T61" fmla="*/ 48 h 253"/>
                <a:gd name="T62" fmla="*/ 202 w 282"/>
                <a:gd name="T63" fmla="*/ 39 h 253"/>
                <a:gd name="T64" fmla="*/ 183 w 282"/>
                <a:gd name="T65" fmla="*/ 31 h 253"/>
                <a:gd name="T66" fmla="*/ 163 w 282"/>
                <a:gd name="T67" fmla="*/ 24 h 253"/>
                <a:gd name="T68" fmla="*/ 142 w 282"/>
                <a:gd name="T69" fmla="*/ 18 h 253"/>
                <a:gd name="T70" fmla="*/ 122 w 282"/>
                <a:gd name="T71" fmla="*/ 13 h 253"/>
                <a:gd name="T72" fmla="*/ 101 w 282"/>
                <a:gd name="T73" fmla="*/ 8 h 253"/>
                <a:gd name="T74" fmla="*/ 82 w 282"/>
                <a:gd name="T75" fmla="*/ 5 h 253"/>
                <a:gd name="T76" fmla="*/ 63 w 282"/>
                <a:gd name="T77" fmla="*/ 2 h 253"/>
                <a:gd name="T78" fmla="*/ 47 w 282"/>
                <a:gd name="T79" fmla="*/ 0 h 253"/>
                <a:gd name="T80" fmla="*/ 32 w 282"/>
                <a:gd name="T81" fmla="*/ 0 h 253"/>
                <a:gd name="T82" fmla="*/ 19 w 282"/>
                <a:gd name="T83" fmla="*/ 0 h 253"/>
                <a:gd name="T84" fmla="*/ 10 w 282"/>
                <a:gd name="T85" fmla="*/ 1 h 253"/>
                <a:gd name="T86" fmla="*/ 4 w 282"/>
                <a:gd name="T87" fmla="*/ 4 h 253"/>
                <a:gd name="T88" fmla="*/ 0 w 282"/>
                <a:gd name="T89" fmla="*/ 6 h 253"/>
                <a:gd name="T90" fmla="*/ 12 w 282"/>
                <a:gd name="T91" fmla="*/ 8 h 253"/>
                <a:gd name="T92" fmla="*/ 25 w 282"/>
                <a:gd name="T93" fmla="*/ 9 h 253"/>
                <a:gd name="T94" fmla="*/ 38 w 282"/>
                <a:gd name="T95" fmla="*/ 12 h 253"/>
                <a:gd name="T96" fmla="*/ 52 w 282"/>
                <a:gd name="T97" fmla="*/ 14 h 253"/>
                <a:gd name="T98" fmla="*/ 67 w 282"/>
                <a:gd name="T99" fmla="*/ 16 h 253"/>
                <a:gd name="T100" fmla="*/ 82 w 282"/>
                <a:gd name="T101" fmla="*/ 18 h 253"/>
                <a:gd name="T102" fmla="*/ 97 w 282"/>
                <a:gd name="T103" fmla="*/ 22 h 253"/>
                <a:gd name="T104" fmla="*/ 114 w 282"/>
                <a:gd name="T105" fmla="*/ 25 h 253"/>
                <a:gd name="T106" fmla="*/ 129 w 282"/>
                <a:gd name="T107" fmla="*/ 30 h 253"/>
                <a:gd name="T108" fmla="*/ 146 w 282"/>
                <a:gd name="T109" fmla="*/ 35 h 253"/>
                <a:gd name="T110" fmla="*/ 162 w 282"/>
                <a:gd name="T111" fmla="*/ 40 h 253"/>
                <a:gd name="T112" fmla="*/ 177 w 282"/>
                <a:gd name="T113" fmla="*/ 46 h 253"/>
                <a:gd name="T114" fmla="*/ 192 w 282"/>
                <a:gd name="T115" fmla="*/ 53 h 253"/>
                <a:gd name="T116" fmla="*/ 208 w 282"/>
                <a:gd name="T117" fmla="*/ 60 h 253"/>
                <a:gd name="T118" fmla="*/ 222 w 282"/>
                <a:gd name="T119" fmla="*/ 69 h 253"/>
                <a:gd name="T120" fmla="*/ 235 w 282"/>
                <a:gd name="T121" fmla="*/ 7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en-US"/>
            </a:p>
          </p:txBody>
        </p:sp>
        <p:sp>
          <p:nvSpPr>
            <p:cNvPr id="12" name="Freeform 1025"/>
            <p:cNvSpPr/>
            <p:nvPr/>
          </p:nvSpPr>
          <p:spPr bwMode="auto">
            <a:xfrm>
              <a:off x="4290" y="3159"/>
              <a:ext cx="19" cy="39"/>
            </a:xfrm>
            <a:custGeom>
              <a:avLst/>
              <a:gdLst>
                <a:gd name="T0" fmla="*/ 0 w 115"/>
                <a:gd name="T1" fmla="*/ 128 h 236"/>
                <a:gd name="T2" fmla="*/ 0 w 115"/>
                <a:gd name="T3" fmla="*/ 148 h 236"/>
                <a:gd name="T4" fmla="*/ 5 w 115"/>
                <a:gd name="T5" fmla="*/ 166 h 236"/>
                <a:gd name="T6" fmla="*/ 13 w 115"/>
                <a:gd name="T7" fmla="*/ 184 h 236"/>
                <a:gd name="T8" fmla="*/ 24 w 115"/>
                <a:gd name="T9" fmla="*/ 198 h 236"/>
                <a:gd name="T10" fmla="*/ 39 w 115"/>
                <a:gd name="T11" fmla="*/ 211 h 236"/>
                <a:gd name="T12" fmla="*/ 55 w 115"/>
                <a:gd name="T13" fmla="*/ 223 h 236"/>
                <a:gd name="T14" fmla="*/ 74 w 115"/>
                <a:gd name="T15" fmla="*/ 231 h 236"/>
                <a:gd name="T16" fmla="*/ 92 w 115"/>
                <a:gd name="T17" fmla="*/ 235 h 236"/>
                <a:gd name="T18" fmla="*/ 98 w 115"/>
                <a:gd name="T19" fmla="*/ 236 h 236"/>
                <a:gd name="T20" fmla="*/ 104 w 115"/>
                <a:gd name="T21" fmla="*/ 234 h 236"/>
                <a:gd name="T22" fmla="*/ 109 w 115"/>
                <a:gd name="T23" fmla="*/ 231 h 236"/>
                <a:gd name="T24" fmla="*/ 111 w 115"/>
                <a:gd name="T25" fmla="*/ 226 h 236"/>
                <a:gd name="T26" fmla="*/ 111 w 115"/>
                <a:gd name="T27" fmla="*/ 220 h 236"/>
                <a:gd name="T28" fmla="*/ 110 w 115"/>
                <a:gd name="T29" fmla="*/ 215 h 236"/>
                <a:gd name="T30" fmla="*/ 107 w 115"/>
                <a:gd name="T31" fmla="*/ 210 h 236"/>
                <a:gd name="T32" fmla="*/ 101 w 115"/>
                <a:gd name="T33" fmla="*/ 208 h 236"/>
                <a:gd name="T34" fmla="*/ 82 w 115"/>
                <a:gd name="T35" fmla="*/ 201 h 236"/>
                <a:gd name="T36" fmla="*/ 64 w 115"/>
                <a:gd name="T37" fmla="*/ 192 h 236"/>
                <a:gd name="T38" fmla="*/ 50 w 115"/>
                <a:gd name="T39" fmla="*/ 179 h 236"/>
                <a:gd name="T40" fmla="*/ 40 w 115"/>
                <a:gd name="T41" fmla="*/ 165 h 236"/>
                <a:gd name="T42" fmla="*/ 33 w 115"/>
                <a:gd name="T43" fmla="*/ 148 h 236"/>
                <a:gd name="T44" fmla="*/ 29 w 115"/>
                <a:gd name="T45" fmla="*/ 130 h 236"/>
                <a:gd name="T46" fmla="*/ 29 w 115"/>
                <a:gd name="T47" fmla="*/ 110 h 236"/>
                <a:gd name="T48" fmla="*/ 35 w 115"/>
                <a:gd name="T49" fmla="*/ 89 h 236"/>
                <a:gd name="T50" fmla="*/ 43 w 115"/>
                <a:gd name="T51" fmla="*/ 74 h 236"/>
                <a:gd name="T52" fmla="*/ 56 w 115"/>
                <a:gd name="T53" fmla="*/ 60 h 236"/>
                <a:gd name="T54" fmla="*/ 70 w 115"/>
                <a:gd name="T55" fmla="*/ 46 h 236"/>
                <a:gd name="T56" fmla="*/ 85 w 115"/>
                <a:gd name="T57" fmla="*/ 33 h 236"/>
                <a:gd name="T58" fmla="*/ 98 w 115"/>
                <a:gd name="T59" fmla="*/ 23 h 236"/>
                <a:gd name="T60" fmla="*/ 109 w 115"/>
                <a:gd name="T61" fmla="*/ 12 h 236"/>
                <a:gd name="T62" fmla="*/ 115 w 115"/>
                <a:gd name="T63" fmla="*/ 6 h 236"/>
                <a:gd name="T64" fmla="*/ 115 w 115"/>
                <a:gd name="T65" fmla="*/ 0 h 236"/>
                <a:gd name="T66" fmla="*/ 102 w 115"/>
                <a:gd name="T67" fmla="*/ 4 h 236"/>
                <a:gd name="T68" fmla="*/ 85 w 115"/>
                <a:gd name="T69" fmla="*/ 12 h 236"/>
                <a:gd name="T70" fmla="*/ 68 w 115"/>
                <a:gd name="T71" fmla="*/ 26 h 236"/>
                <a:gd name="T72" fmla="*/ 49 w 115"/>
                <a:gd name="T73" fmla="*/ 42 h 236"/>
                <a:gd name="T74" fmla="*/ 32 w 115"/>
                <a:gd name="T75" fmla="*/ 61 h 236"/>
                <a:gd name="T76" fmla="*/ 17 w 115"/>
                <a:gd name="T77" fmla="*/ 82 h 236"/>
                <a:gd name="T78" fmla="*/ 6 w 115"/>
                <a:gd name="T79" fmla="*/ 105 h 236"/>
                <a:gd name="T80" fmla="*/ 0 w 115"/>
                <a:gd name="T81" fmla="*/ 128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en-US"/>
            </a:p>
          </p:txBody>
        </p:sp>
        <p:sp>
          <p:nvSpPr>
            <p:cNvPr id="13" name="Freeform 1026"/>
            <p:cNvSpPr/>
            <p:nvPr/>
          </p:nvSpPr>
          <p:spPr bwMode="auto">
            <a:xfrm>
              <a:off x="4423" y="3133"/>
              <a:ext cx="41" cy="52"/>
            </a:xfrm>
            <a:custGeom>
              <a:avLst/>
              <a:gdLst>
                <a:gd name="T0" fmla="*/ 208 w 245"/>
                <a:gd name="T1" fmla="*/ 124 h 310"/>
                <a:gd name="T2" fmla="*/ 220 w 245"/>
                <a:gd name="T3" fmla="*/ 144 h 310"/>
                <a:gd name="T4" fmla="*/ 226 w 245"/>
                <a:gd name="T5" fmla="*/ 164 h 310"/>
                <a:gd name="T6" fmla="*/ 222 w 245"/>
                <a:gd name="T7" fmla="*/ 187 h 310"/>
                <a:gd name="T8" fmla="*/ 208 w 245"/>
                <a:gd name="T9" fmla="*/ 209 h 310"/>
                <a:gd name="T10" fmla="*/ 188 w 245"/>
                <a:gd name="T11" fmla="*/ 229 h 310"/>
                <a:gd name="T12" fmla="*/ 166 w 245"/>
                <a:gd name="T13" fmla="*/ 246 h 310"/>
                <a:gd name="T14" fmla="*/ 142 w 245"/>
                <a:gd name="T15" fmla="*/ 264 h 310"/>
                <a:gd name="T16" fmla="*/ 128 w 245"/>
                <a:gd name="T17" fmla="*/ 278 h 310"/>
                <a:gd name="T18" fmla="*/ 124 w 245"/>
                <a:gd name="T19" fmla="*/ 287 h 310"/>
                <a:gd name="T20" fmla="*/ 120 w 245"/>
                <a:gd name="T21" fmla="*/ 296 h 310"/>
                <a:gd name="T22" fmla="*/ 122 w 245"/>
                <a:gd name="T23" fmla="*/ 306 h 310"/>
                <a:gd name="T24" fmla="*/ 131 w 245"/>
                <a:gd name="T25" fmla="*/ 310 h 310"/>
                <a:gd name="T26" fmla="*/ 139 w 245"/>
                <a:gd name="T27" fmla="*/ 309 h 310"/>
                <a:gd name="T28" fmla="*/ 154 w 245"/>
                <a:gd name="T29" fmla="*/ 292 h 310"/>
                <a:gd name="T30" fmla="*/ 180 w 245"/>
                <a:gd name="T31" fmla="*/ 269 h 310"/>
                <a:gd name="T32" fmla="*/ 207 w 245"/>
                <a:gd name="T33" fmla="*/ 246 h 310"/>
                <a:gd name="T34" fmla="*/ 230 w 245"/>
                <a:gd name="T35" fmla="*/ 219 h 310"/>
                <a:gd name="T36" fmla="*/ 244 w 245"/>
                <a:gd name="T37" fmla="*/ 186 h 310"/>
                <a:gd name="T38" fmla="*/ 243 w 245"/>
                <a:gd name="T39" fmla="*/ 152 h 310"/>
                <a:gd name="T40" fmla="*/ 228 w 245"/>
                <a:gd name="T41" fmla="*/ 119 h 310"/>
                <a:gd name="T42" fmla="*/ 203 w 245"/>
                <a:gd name="T43" fmla="*/ 93 h 310"/>
                <a:gd name="T44" fmla="*/ 176 w 245"/>
                <a:gd name="T45" fmla="*/ 76 h 310"/>
                <a:gd name="T46" fmla="*/ 151 w 245"/>
                <a:gd name="T47" fmla="*/ 61 h 310"/>
                <a:gd name="T48" fmla="*/ 122 w 245"/>
                <a:gd name="T49" fmla="*/ 46 h 310"/>
                <a:gd name="T50" fmla="*/ 93 w 245"/>
                <a:gd name="T51" fmla="*/ 31 h 310"/>
                <a:gd name="T52" fmla="*/ 66 w 245"/>
                <a:gd name="T53" fmla="*/ 18 h 310"/>
                <a:gd name="T54" fmla="*/ 40 w 245"/>
                <a:gd name="T55" fmla="*/ 8 h 310"/>
                <a:gd name="T56" fmla="*/ 20 w 245"/>
                <a:gd name="T57" fmla="*/ 1 h 310"/>
                <a:gd name="T58" fmla="*/ 5 w 245"/>
                <a:gd name="T59" fmla="*/ 0 h 310"/>
                <a:gd name="T60" fmla="*/ 11 w 245"/>
                <a:gd name="T61" fmla="*/ 8 h 310"/>
                <a:gd name="T62" fmla="*/ 36 w 245"/>
                <a:gd name="T63" fmla="*/ 20 h 310"/>
                <a:gd name="T64" fmla="*/ 60 w 245"/>
                <a:gd name="T65" fmla="*/ 31 h 310"/>
                <a:gd name="T66" fmla="*/ 86 w 245"/>
                <a:gd name="T67" fmla="*/ 44 h 310"/>
                <a:gd name="T68" fmla="*/ 113 w 245"/>
                <a:gd name="T69" fmla="*/ 57 h 310"/>
                <a:gd name="T70" fmla="*/ 139 w 245"/>
                <a:gd name="T71" fmla="*/ 71 h 310"/>
                <a:gd name="T72" fmla="*/ 165 w 245"/>
                <a:gd name="T73" fmla="*/ 88 h 310"/>
                <a:gd name="T74" fmla="*/ 188 w 245"/>
                <a:gd name="T75" fmla="*/ 106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en-US"/>
            </a:p>
          </p:txBody>
        </p:sp>
        <p:sp>
          <p:nvSpPr>
            <p:cNvPr id="14" name="Freeform 1027"/>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ln>
          </p:spPr>
          <p:txBody>
            <a:bodyPr/>
            <a:lstStyle/>
            <a:p>
              <a:endParaRPr lang="en-US"/>
            </a:p>
          </p:txBody>
        </p:sp>
      </p:grpSp>
      <p:grpSp>
        <p:nvGrpSpPr>
          <p:cNvPr id="186320" name="Group 1033"/>
          <p:cNvGrpSpPr/>
          <p:nvPr/>
        </p:nvGrpSpPr>
        <p:grpSpPr bwMode="auto">
          <a:xfrm>
            <a:off x="4206875" y="2076450"/>
            <a:ext cx="3013075" cy="3355975"/>
            <a:chOff x="2650" y="1308"/>
            <a:chExt cx="1898" cy="2114"/>
          </a:xfrm>
        </p:grpSpPr>
        <p:sp>
          <p:nvSpPr>
            <p:cNvPr id="3202" name="Line 1034"/>
            <p:cNvSpPr>
              <a:spLocks noChangeShapeType="1"/>
            </p:cNvSpPr>
            <p:nvPr/>
          </p:nvSpPr>
          <p:spPr bwMode="auto">
            <a:xfrm flipH="1">
              <a:off x="3800" y="1315"/>
              <a:ext cx="188" cy="671"/>
            </a:xfrm>
            <a:prstGeom prst="line">
              <a:avLst/>
            </a:prstGeom>
            <a:noFill/>
            <a:ln w="76200">
              <a:solidFill>
                <a:srgbClr val="FF3300"/>
              </a:solidFill>
              <a:round/>
              <a:headEnd type="triangle" w="med" len="med"/>
              <a:tailEnd type="triangle" w="med" len="med"/>
            </a:ln>
          </p:spPr>
          <p:txBody>
            <a:bodyPr/>
            <a:lstStyle/>
            <a:p>
              <a:endParaRPr lang="en-US"/>
            </a:p>
          </p:txBody>
        </p:sp>
        <p:sp>
          <p:nvSpPr>
            <p:cNvPr id="3203" name="Line 1035"/>
            <p:cNvSpPr>
              <a:spLocks noChangeShapeType="1"/>
            </p:cNvSpPr>
            <p:nvPr/>
          </p:nvSpPr>
          <p:spPr bwMode="auto">
            <a:xfrm flipH="1">
              <a:off x="3501" y="1308"/>
              <a:ext cx="15" cy="1831"/>
            </a:xfrm>
            <a:prstGeom prst="line">
              <a:avLst/>
            </a:prstGeom>
            <a:noFill/>
            <a:ln w="76200">
              <a:solidFill>
                <a:srgbClr val="FF3300"/>
              </a:solidFill>
              <a:round/>
              <a:headEnd type="triangle" w="med" len="med"/>
              <a:tailEnd type="triangle" w="med" len="med"/>
            </a:ln>
          </p:spPr>
          <p:txBody>
            <a:bodyPr/>
            <a:lstStyle/>
            <a:p>
              <a:endParaRPr lang="en-US"/>
            </a:p>
          </p:txBody>
        </p:sp>
        <p:sp>
          <p:nvSpPr>
            <p:cNvPr id="3204" name="Line 1036"/>
            <p:cNvSpPr>
              <a:spLocks noChangeShapeType="1"/>
            </p:cNvSpPr>
            <p:nvPr/>
          </p:nvSpPr>
          <p:spPr bwMode="auto">
            <a:xfrm>
              <a:off x="3740" y="2940"/>
              <a:ext cx="808" cy="482"/>
            </a:xfrm>
            <a:prstGeom prst="line">
              <a:avLst/>
            </a:prstGeom>
            <a:noFill/>
            <a:ln w="76200">
              <a:solidFill>
                <a:srgbClr val="FF3300"/>
              </a:solidFill>
              <a:round/>
              <a:headEnd type="triangle" w="med" len="med"/>
              <a:tailEnd type="triangle" w="med" len="med"/>
            </a:ln>
          </p:spPr>
          <p:txBody>
            <a:bodyPr/>
            <a:lstStyle/>
            <a:p>
              <a:endParaRPr lang="en-US"/>
            </a:p>
          </p:txBody>
        </p:sp>
        <p:sp>
          <p:nvSpPr>
            <p:cNvPr id="3205" name="Text Box 1037"/>
            <p:cNvSpPr txBox="1">
              <a:spLocks noChangeArrowheads="1"/>
            </p:cNvSpPr>
            <p:nvPr/>
          </p:nvSpPr>
          <p:spPr bwMode="auto">
            <a:xfrm>
              <a:off x="2650" y="1581"/>
              <a:ext cx="861" cy="250"/>
            </a:xfrm>
            <a:prstGeom prst="rect">
              <a:avLst/>
            </a:prstGeom>
            <a:noFill/>
            <a:ln w="9525">
              <a:noFill/>
              <a:miter lim="800000"/>
            </a:ln>
          </p:spPr>
          <p:txBody>
            <a:bodyPr wrap="none">
              <a:spAutoFit/>
            </a:bodyPr>
            <a:lstStyle/>
            <a:p>
              <a:pPr>
                <a:spcBef>
                  <a:spcPct val="0"/>
                </a:spcBef>
                <a:buClrTx/>
                <a:buSzTx/>
                <a:buFontTx/>
                <a:buNone/>
              </a:pPr>
              <a:r>
                <a:rPr lang="en-US" sz="2000">
                  <a:solidFill>
                    <a:srgbClr val="FF3300"/>
                  </a:solidFill>
                </a:rPr>
                <a:t>peer-peer</a:t>
              </a:r>
              <a:endParaRPr lang="en-US" sz="2000">
                <a:solidFill>
                  <a:srgbClr val="FF33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6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9939" name="Slide Number Placeholder 5"/>
          <p:cNvSpPr>
            <a:spLocks noGrp="1"/>
          </p:cNvSpPr>
          <p:nvPr>
            <p:ph type="sldNum" sz="quarter" idx="12"/>
          </p:nvPr>
        </p:nvSpPr>
        <p:spPr>
          <a:noFill/>
        </p:spPr>
        <p:txBody>
          <a:bodyPr/>
          <a:lstStyle/>
          <a:p>
            <a:fld id="{9618F1AE-B740-43ED-9EF8-A654ECC7781F}" type="slidenum">
              <a:rPr lang="en-US"/>
            </a:fld>
            <a:endParaRPr lang="en-US"/>
          </a:p>
        </p:txBody>
      </p:sp>
      <p:sp>
        <p:nvSpPr>
          <p:cNvPr id="39940" name="Rectangle 2"/>
          <p:cNvSpPr>
            <a:spLocks noGrp="1" noChangeArrowheads="1"/>
          </p:cNvSpPr>
          <p:nvPr>
            <p:ph type="title"/>
          </p:nvPr>
        </p:nvSpPr>
        <p:spPr/>
        <p:txBody>
          <a:bodyPr/>
          <a:lstStyle/>
          <a:p>
            <a:r>
              <a:rPr lang="en-US"/>
              <a:t>Hybrid of client-server and P2P</a:t>
            </a:r>
            <a:endParaRPr lang="en-US"/>
          </a:p>
        </p:txBody>
      </p:sp>
      <p:sp>
        <p:nvSpPr>
          <p:cNvPr id="39941" name="Rectangle 3"/>
          <p:cNvSpPr>
            <a:spLocks noGrp="1" noChangeArrowheads="1"/>
          </p:cNvSpPr>
          <p:nvPr>
            <p:ph type="body" idx="1"/>
          </p:nvPr>
        </p:nvSpPr>
        <p:spPr>
          <a:xfrm>
            <a:off x="477838" y="1377950"/>
            <a:ext cx="7772400" cy="5008563"/>
          </a:xfrm>
        </p:spPr>
        <p:txBody>
          <a:bodyPr/>
          <a:lstStyle/>
          <a:p>
            <a:pPr>
              <a:lnSpc>
                <a:spcPct val="80000"/>
              </a:lnSpc>
              <a:buFont typeface="ZapfDingbats" pitchFamily="82" charset="2"/>
              <a:buNone/>
            </a:pPr>
            <a:r>
              <a:rPr lang="en-US" sz="2400">
                <a:solidFill>
                  <a:srgbClr val="FF0000"/>
                </a:solidFill>
              </a:rPr>
              <a:t>Skype</a:t>
            </a:r>
            <a:endParaRPr lang="en-US" sz="2400">
              <a:solidFill>
                <a:srgbClr val="FF0000"/>
              </a:solidFill>
            </a:endParaRPr>
          </a:p>
          <a:p>
            <a:pPr lvl="1">
              <a:lnSpc>
                <a:spcPct val="80000"/>
              </a:lnSpc>
            </a:pPr>
            <a:r>
              <a:rPr lang="en-US"/>
              <a:t>voice-over-IP P2P application</a:t>
            </a:r>
            <a:endParaRPr lang="en-US"/>
          </a:p>
          <a:p>
            <a:pPr lvl="1">
              <a:lnSpc>
                <a:spcPct val="80000"/>
              </a:lnSpc>
            </a:pPr>
            <a:r>
              <a:rPr lang="en-US"/>
              <a:t>centralized server: finding address of remote party: </a:t>
            </a:r>
            <a:endParaRPr lang="en-US"/>
          </a:p>
          <a:p>
            <a:pPr lvl="1">
              <a:lnSpc>
                <a:spcPct val="80000"/>
              </a:lnSpc>
            </a:pPr>
            <a:r>
              <a:rPr lang="en-US"/>
              <a:t>client-client connection: direct (not through server) </a:t>
            </a:r>
            <a:endParaRPr lang="en-US"/>
          </a:p>
          <a:p>
            <a:pPr>
              <a:lnSpc>
                <a:spcPct val="80000"/>
              </a:lnSpc>
              <a:buFont typeface="ZapfDingbats" pitchFamily="82" charset="2"/>
              <a:buNone/>
            </a:pPr>
            <a:r>
              <a:rPr lang="en-US" sz="2400">
                <a:solidFill>
                  <a:srgbClr val="FF0000"/>
                </a:solidFill>
              </a:rPr>
              <a:t>Instant messaging (QQ)</a:t>
            </a:r>
            <a:endParaRPr lang="en-US" sz="2400">
              <a:solidFill>
                <a:srgbClr val="FF0000"/>
              </a:solidFill>
            </a:endParaRPr>
          </a:p>
          <a:p>
            <a:pPr lvl="1">
              <a:lnSpc>
                <a:spcPct val="80000"/>
              </a:lnSpc>
            </a:pPr>
            <a:r>
              <a:rPr lang="en-US"/>
              <a:t>chatting between two users is P2P</a:t>
            </a:r>
            <a:endParaRPr lang="en-US"/>
          </a:p>
          <a:p>
            <a:pPr lvl="1">
              <a:lnSpc>
                <a:spcPct val="80000"/>
              </a:lnSpc>
            </a:pPr>
            <a:r>
              <a:rPr lang="en-US"/>
              <a:t>centralized service: client presence detection/location</a:t>
            </a:r>
            <a:endParaRPr lang="en-US"/>
          </a:p>
          <a:p>
            <a:pPr lvl="2">
              <a:lnSpc>
                <a:spcPct val="80000"/>
              </a:lnSpc>
            </a:pPr>
            <a:r>
              <a:rPr lang="en-US" sz="2400"/>
              <a:t>user registers its IP address with central server when it comes online</a:t>
            </a:r>
            <a:endParaRPr lang="en-US" sz="2400"/>
          </a:p>
          <a:p>
            <a:pPr lvl="2">
              <a:lnSpc>
                <a:spcPct val="80000"/>
              </a:lnSpc>
            </a:pPr>
            <a:r>
              <a:rPr lang="en-US" sz="2400"/>
              <a:t>user contacts central server to find IP addresses of buddies</a:t>
            </a:r>
            <a:endParaRPr lang="en-US" sz="2400"/>
          </a:p>
          <a:p>
            <a:pPr lvl="1">
              <a:lnSpc>
                <a:spcPct val="80000"/>
              </a:lnSpc>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40963" name="Slide Number Placeholder 6"/>
          <p:cNvSpPr>
            <a:spLocks noGrp="1"/>
          </p:cNvSpPr>
          <p:nvPr>
            <p:ph type="sldNum" sz="quarter" idx="12"/>
          </p:nvPr>
        </p:nvSpPr>
        <p:spPr>
          <a:noFill/>
        </p:spPr>
        <p:txBody>
          <a:bodyPr/>
          <a:lstStyle/>
          <a:p>
            <a:fld id="{57F04035-FBB2-4499-94E6-50590B2CC141}" type="slidenum">
              <a:rPr lang="en-US"/>
            </a:fld>
            <a:endParaRPr lang="en-US"/>
          </a:p>
        </p:txBody>
      </p:sp>
      <p:sp>
        <p:nvSpPr>
          <p:cNvPr id="40964" name="Rectangle 2"/>
          <p:cNvSpPr>
            <a:spLocks noGrp="1" noChangeArrowheads="1"/>
          </p:cNvSpPr>
          <p:nvPr>
            <p:ph type="title"/>
          </p:nvPr>
        </p:nvSpPr>
        <p:spPr/>
        <p:txBody>
          <a:bodyPr/>
          <a:lstStyle/>
          <a:p>
            <a:r>
              <a:rPr lang="en-US"/>
              <a:t>Processes communicating</a:t>
            </a:r>
            <a:endParaRPr lang="en-US"/>
          </a:p>
        </p:txBody>
      </p:sp>
      <p:sp>
        <p:nvSpPr>
          <p:cNvPr id="40965" name="Rectangle 3"/>
          <p:cNvSpPr>
            <a:spLocks noGrp="1" noChangeArrowheads="1"/>
          </p:cNvSpPr>
          <p:nvPr>
            <p:ph type="body" sz="half" idx="1"/>
          </p:nvPr>
        </p:nvSpPr>
        <p:spPr>
          <a:xfrm>
            <a:off x="533400" y="1544638"/>
            <a:ext cx="3989388" cy="4648200"/>
          </a:xfrm>
        </p:spPr>
        <p:txBody>
          <a:bodyPr/>
          <a:lstStyle/>
          <a:p>
            <a:pPr>
              <a:buFont typeface="ZapfDingbats" pitchFamily="82" charset="2"/>
              <a:buNone/>
            </a:pPr>
            <a:r>
              <a:rPr lang="en-US" sz="2400">
                <a:solidFill>
                  <a:srgbClr val="FF0000"/>
                </a:solidFill>
              </a:rPr>
              <a:t>Process:</a:t>
            </a:r>
            <a:r>
              <a:rPr lang="en-US" sz="2400"/>
              <a:t> program running within a host.</a:t>
            </a:r>
            <a:endParaRPr lang="en-US" sz="2000"/>
          </a:p>
          <a:p>
            <a:r>
              <a:rPr lang="en-US" sz="2400"/>
              <a:t>within same host, two processes communicate using  </a:t>
            </a:r>
            <a:r>
              <a:rPr lang="en-US" sz="2400">
                <a:solidFill>
                  <a:srgbClr val="FF0000"/>
                </a:solidFill>
              </a:rPr>
              <a:t>inter-process communication</a:t>
            </a:r>
            <a:r>
              <a:rPr lang="en-US" sz="2400"/>
              <a:t> (defined by OS).</a:t>
            </a:r>
            <a:endParaRPr lang="en-US" sz="2400"/>
          </a:p>
          <a:p>
            <a:r>
              <a:rPr lang="en-US" sz="2400"/>
              <a:t>processes in different hosts communicate by exchanging </a:t>
            </a:r>
            <a:r>
              <a:rPr lang="en-US" sz="2400">
                <a:solidFill>
                  <a:srgbClr val="FF0000"/>
                </a:solidFill>
              </a:rPr>
              <a:t>messages</a:t>
            </a:r>
            <a:endParaRPr lang="en-US" sz="2400">
              <a:solidFill>
                <a:srgbClr val="FF0000"/>
              </a:solidFill>
            </a:endParaRPr>
          </a:p>
        </p:txBody>
      </p:sp>
      <p:sp>
        <p:nvSpPr>
          <p:cNvPr id="40966" name="Rectangle 4"/>
          <p:cNvSpPr>
            <a:spLocks noGrp="1" noChangeArrowheads="1"/>
          </p:cNvSpPr>
          <p:nvPr>
            <p:ph type="body" sz="half" idx="2"/>
          </p:nvPr>
        </p:nvSpPr>
        <p:spPr>
          <a:xfrm>
            <a:off x="4903788" y="1477963"/>
            <a:ext cx="3810000" cy="2535237"/>
          </a:xfrm>
          <a:noFill/>
          <a:ln w="25400">
            <a:solidFill>
              <a:srgbClr val="FF0000"/>
            </a:solidFill>
          </a:ln>
        </p:spPr>
        <p:txBody>
          <a:bodyPr/>
          <a:lstStyle/>
          <a:p>
            <a:pPr>
              <a:buFont typeface="ZapfDingbats" pitchFamily="82" charset="2"/>
              <a:buNone/>
            </a:pPr>
            <a:r>
              <a:rPr lang="en-US" sz="2400">
                <a:solidFill>
                  <a:srgbClr val="FF0000"/>
                </a:solidFill>
              </a:rPr>
              <a:t>Client process:</a:t>
            </a:r>
            <a:r>
              <a:rPr lang="en-US" sz="2400"/>
              <a:t> process that initiates communication</a:t>
            </a:r>
            <a:endParaRPr lang="en-US" sz="2400"/>
          </a:p>
          <a:p>
            <a:pPr>
              <a:buFont typeface="ZapfDingbats" pitchFamily="82" charset="2"/>
              <a:buNone/>
            </a:pPr>
            <a:r>
              <a:rPr lang="en-US" sz="2400">
                <a:solidFill>
                  <a:srgbClr val="FF0000"/>
                </a:solidFill>
              </a:rPr>
              <a:t>Server process:</a:t>
            </a:r>
            <a:r>
              <a:rPr lang="en-US" sz="2400"/>
              <a:t> process that waits to be contacted</a:t>
            </a:r>
            <a:endParaRPr lang="en-US" sz="2400"/>
          </a:p>
          <a:p>
            <a:pPr>
              <a:buFont typeface="ZapfDingbats" pitchFamily="82" charset="2"/>
              <a:buNone/>
            </a:pPr>
            <a:endParaRPr lang="en-US" sz="2400"/>
          </a:p>
          <a:p>
            <a:pPr>
              <a:buFont typeface="ZapfDingbats" pitchFamily="82" charset="2"/>
              <a:buNone/>
            </a:pPr>
            <a:endParaRPr lang="en-US"/>
          </a:p>
          <a:p>
            <a:pPr>
              <a:buFont typeface="ZapfDingbats" pitchFamily="82" charset="2"/>
              <a:buNone/>
            </a:pPr>
            <a:endParaRPr lang="en-US"/>
          </a:p>
        </p:txBody>
      </p:sp>
      <p:sp>
        <p:nvSpPr>
          <p:cNvPr id="40967" name="Rectangle 7"/>
          <p:cNvSpPr>
            <a:spLocks noChangeArrowheads="1"/>
          </p:cNvSpPr>
          <p:nvPr/>
        </p:nvSpPr>
        <p:spPr bwMode="auto">
          <a:xfrm>
            <a:off x="4691063" y="4238625"/>
            <a:ext cx="3989387" cy="1839913"/>
          </a:xfrm>
          <a:prstGeom prst="rect">
            <a:avLst/>
          </a:prstGeom>
          <a:noFill/>
          <a:ln w="9525">
            <a:noFill/>
            <a:miter lim="800000"/>
          </a:ln>
        </p:spPr>
        <p:txBody>
          <a:bodyPr/>
          <a:lstStyle/>
          <a:p>
            <a:pPr marL="342900" indent="-342900">
              <a:buFont typeface="ZapfDingbats" pitchFamily="82" charset="2"/>
              <a:buChar char="r"/>
            </a:pPr>
            <a:r>
              <a:rPr lang="en-US"/>
              <a:t>Note: applications with P2P architectures have client processes &amp; server processes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4101" name="Slide Number Placeholder 6"/>
          <p:cNvSpPr>
            <a:spLocks noGrp="1"/>
          </p:cNvSpPr>
          <p:nvPr>
            <p:ph type="sldNum" sz="quarter" idx="12"/>
          </p:nvPr>
        </p:nvSpPr>
        <p:spPr>
          <a:noFill/>
        </p:spPr>
        <p:txBody>
          <a:bodyPr/>
          <a:lstStyle/>
          <a:p>
            <a:fld id="{C6A08859-FCB8-4920-855B-3F535443436A}" type="slidenum">
              <a:rPr lang="en-US"/>
            </a:fld>
            <a:endParaRPr lang="en-US"/>
          </a:p>
        </p:txBody>
      </p:sp>
      <p:sp>
        <p:nvSpPr>
          <p:cNvPr id="4102" name="Rectangle 2"/>
          <p:cNvSpPr>
            <a:spLocks noGrp="1" noChangeArrowheads="1"/>
          </p:cNvSpPr>
          <p:nvPr>
            <p:ph type="title"/>
          </p:nvPr>
        </p:nvSpPr>
        <p:spPr>
          <a:xfrm>
            <a:off x="533400" y="228600"/>
            <a:ext cx="8077200" cy="1143000"/>
          </a:xfrm>
        </p:spPr>
        <p:txBody>
          <a:bodyPr/>
          <a:lstStyle/>
          <a:p>
            <a:r>
              <a:rPr lang="en-US" sz="3600"/>
              <a:t>Sockets</a:t>
            </a:r>
            <a:endParaRPr lang="en-US" sz="3600"/>
          </a:p>
        </p:txBody>
      </p:sp>
      <p:sp>
        <p:nvSpPr>
          <p:cNvPr id="4103" name="Rectangle 3"/>
          <p:cNvSpPr>
            <a:spLocks noGrp="1" noChangeArrowheads="1"/>
          </p:cNvSpPr>
          <p:nvPr>
            <p:ph type="body" sz="half" idx="1"/>
          </p:nvPr>
        </p:nvSpPr>
        <p:spPr>
          <a:xfrm>
            <a:off x="227013" y="1563688"/>
            <a:ext cx="4202112" cy="3929062"/>
          </a:xfrm>
        </p:spPr>
        <p:txBody>
          <a:bodyPr/>
          <a:lstStyle/>
          <a:p>
            <a:r>
              <a:rPr lang="en-US" sz="2400"/>
              <a:t>process sends/receives messages to/from its </a:t>
            </a:r>
            <a:r>
              <a:rPr lang="en-US" sz="2400">
                <a:solidFill>
                  <a:srgbClr val="FF0000"/>
                </a:solidFill>
              </a:rPr>
              <a:t>socket</a:t>
            </a:r>
            <a:endParaRPr lang="en-US" sz="2400">
              <a:solidFill>
                <a:srgbClr val="FF0000"/>
              </a:solidFill>
            </a:endParaRPr>
          </a:p>
          <a:p>
            <a:r>
              <a:rPr lang="en-US" sz="2400"/>
              <a:t>socket analogous to door</a:t>
            </a:r>
            <a:endParaRPr lang="en-US" sz="2400"/>
          </a:p>
          <a:p>
            <a:pPr lvl="1"/>
            <a:r>
              <a:rPr lang="en-US" sz="2000"/>
              <a:t>sending process shoves message out door</a:t>
            </a:r>
            <a:endParaRPr lang="en-US" sz="2000"/>
          </a:p>
          <a:p>
            <a:pPr lvl="1"/>
            <a:r>
              <a:rPr lang="en-US" sz="2000"/>
              <a:t>sending process relies on transport infrastructure, on other side of door which brings message to socket at receiving process</a:t>
            </a:r>
            <a:endParaRPr lang="en-US" sz="2000"/>
          </a:p>
        </p:txBody>
      </p:sp>
      <p:sp>
        <p:nvSpPr>
          <p:cNvPr id="4104" name="Freeform 7"/>
          <p:cNvSpPr/>
          <p:nvPr/>
        </p:nvSpPr>
        <p:spPr bwMode="auto">
          <a:xfrm>
            <a:off x="5930900" y="3522663"/>
            <a:ext cx="1808163" cy="1031875"/>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w="9525">
            <a:noFill/>
            <a:round/>
          </a:ln>
        </p:spPr>
        <p:txBody>
          <a:bodyPr wrap="none" anchor="ctr"/>
          <a:lstStyle/>
          <a:p>
            <a:endParaRPr lang="en-US"/>
          </a:p>
        </p:txBody>
      </p:sp>
      <p:grpSp>
        <p:nvGrpSpPr>
          <p:cNvPr id="4105" name="Group 37"/>
          <p:cNvGrpSpPr/>
          <p:nvPr/>
        </p:nvGrpSpPr>
        <p:grpSpPr bwMode="auto">
          <a:xfrm>
            <a:off x="4692650" y="1492250"/>
            <a:ext cx="1062038" cy="3606800"/>
            <a:chOff x="2933" y="616"/>
            <a:chExt cx="669" cy="2272"/>
          </a:xfrm>
        </p:grpSpPr>
        <p:sp>
          <p:nvSpPr>
            <p:cNvPr id="4125" name="Text Box 14"/>
            <p:cNvSpPr txBox="1">
              <a:spLocks noChangeArrowheads="1"/>
            </p:cNvSpPr>
            <p:nvPr/>
          </p:nvSpPr>
          <p:spPr bwMode="auto">
            <a:xfrm>
              <a:off x="3361" y="2600"/>
              <a:ext cx="116" cy="288"/>
            </a:xfrm>
            <a:prstGeom prst="rect">
              <a:avLst/>
            </a:prstGeom>
            <a:noFill/>
            <a:ln w="9525">
              <a:noFill/>
              <a:miter lim="800000"/>
            </a:ln>
          </p:spPr>
          <p:txBody>
            <a:bodyPr wrap="none">
              <a:spAutoFit/>
            </a:bodyPr>
            <a:lstStyle/>
            <a:p>
              <a:pPr algn="ctr">
                <a:spcBef>
                  <a:spcPct val="50000"/>
                </a:spcBef>
                <a:buClrTx/>
                <a:buSzTx/>
                <a:buFontTx/>
                <a:buNone/>
              </a:pPr>
              <a:endParaRPr lang="en-US">
                <a:latin typeface="Times New Roman" panose="02020603050405020304" pitchFamily="18" charset="0"/>
              </a:endParaRPr>
            </a:p>
          </p:txBody>
        </p:sp>
        <p:graphicFrame>
          <p:nvGraphicFramePr>
            <p:cNvPr id="4099" name="Object 5"/>
            <p:cNvGraphicFramePr>
              <a:graphicFrameLocks noChangeAspect="1"/>
            </p:cNvGraphicFramePr>
            <p:nvPr/>
          </p:nvGraphicFramePr>
          <p:xfrm>
            <a:off x="3039" y="996"/>
            <a:ext cx="405" cy="321"/>
          </p:xfrm>
          <a:graphic>
            <a:graphicData uri="http://schemas.openxmlformats.org/presentationml/2006/ole">
              <mc:AlternateContent xmlns:mc="http://schemas.openxmlformats.org/markup-compatibility/2006">
                <mc:Choice xmlns:v="urn:schemas-microsoft-com:vml" Requires="v">
                  <p:oleObj spid="_x0000_s4120" name="Clip" r:id="rId1" imgW="18192750" imgH="15087600" progId="">
                    <p:embed/>
                  </p:oleObj>
                </mc:Choice>
                <mc:Fallback>
                  <p:oleObj name="Clip" r:id="rId1" imgW="18192750" imgH="15087600" progId="">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9" y="996"/>
                          <a:ext cx="405" cy="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26" name="Group 10"/>
            <p:cNvGrpSpPr/>
            <p:nvPr/>
          </p:nvGrpSpPr>
          <p:grpSpPr bwMode="auto">
            <a:xfrm>
              <a:off x="2933" y="1323"/>
              <a:ext cx="669" cy="353"/>
              <a:chOff x="3046" y="1508"/>
              <a:chExt cx="669" cy="353"/>
            </a:xfrm>
          </p:grpSpPr>
          <p:sp>
            <p:nvSpPr>
              <p:cNvPr id="4134" name="Oval 8"/>
              <p:cNvSpPr>
                <a:spLocks noChangeArrowheads="1"/>
              </p:cNvSpPr>
              <p:nvPr/>
            </p:nvSpPr>
            <p:spPr bwMode="auto">
              <a:xfrm>
                <a:off x="3046" y="1508"/>
                <a:ext cx="669" cy="353"/>
              </a:xfrm>
              <a:prstGeom prst="ellipse">
                <a:avLst/>
              </a:prstGeom>
              <a:noFill/>
              <a:ln w="9525">
                <a:solidFill>
                  <a:schemeClr val="tx1"/>
                </a:solidFill>
                <a:round/>
              </a:ln>
            </p:spPr>
            <p:txBody>
              <a:bodyPr wrap="none" anchor="ctr"/>
              <a:lstStyle/>
              <a:p>
                <a:endParaRPr lang="en-US"/>
              </a:p>
            </p:txBody>
          </p:sp>
          <p:sp>
            <p:nvSpPr>
              <p:cNvPr id="4135" name="Text Box 9"/>
              <p:cNvSpPr txBox="1">
                <a:spLocks noChangeArrowheads="1"/>
              </p:cNvSpPr>
              <p:nvPr/>
            </p:nvSpPr>
            <p:spPr bwMode="auto">
              <a:xfrm>
                <a:off x="3121" y="1578"/>
                <a:ext cx="501" cy="212"/>
              </a:xfrm>
              <a:prstGeom prst="rect">
                <a:avLst/>
              </a:prstGeom>
              <a:noFill/>
              <a:ln w="9525">
                <a:noFill/>
                <a:miter lim="800000"/>
              </a:ln>
            </p:spPr>
            <p:txBody>
              <a:bodyPr wrap="none">
                <a:spAutoFit/>
              </a:bodyPr>
              <a:lstStyle/>
              <a:p>
                <a:pPr>
                  <a:spcBef>
                    <a:spcPct val="0"/>
                  </a:spcBef>
                  <a:buClrTx/>
                  <a:buSzTx/>
                  <a:buFontTx/>
                  <a:buNone/>
                </a:pPr>
                <a:r>
                  <a:rPr lang="en-US" sz="1600">
                    <a:latin typeface="Times New Roman" panose="02020603050405020304" pitchFamily="18" charset="0"/>
                  </a:rPr>
                  <a:t>process</a:t>
                </a:r>
                <a:endParaRPr lang="en-US" sz="1600">
                  <a:latin typeface="Times New Roman" panose="02020603050405020304" pitchFamily="18" charset="0"/>
                </a:endParaRPr>
              </a:p>
            </p:txBody>
          </p:sp>
        </p:grpSp>
        <p:grpSp>
          <p:nvGrpSpPr>
            <p:cNvPr id="4127" name="Group 17"/>
            <p:cNvGrpSpPr/>
            <p:nvPr/>
          </p:nvGrpSpPr>
          <p:grpSpPr bwMode="auto">
            <a:xfrm>
              <a:off x="2949" y="1845"/>
              <a:ext cx="610" cy="630"/>
              <a:chOff x="3072" y="3300"/>
              <a:chExt cx="610" cy="630"/>
            </a:xfrm>
          </p:grpSpPr>
          <p:sp>
            <p:nvSpPr>
              <p:cNvPr id="4132" name="Rectangle 15"/>
              <p:cNvSpPr>
                <a:spLocks noChangeArrowheads="1"/>
              </p:cNvSpPr>
              <p:nvPr/>
            </p:nvSpPr>
            <p:spPr bwMode="auto">
              <a:xfrm>
                <a:off x="3084" y="3300"/>
                <a:ext cx="593" cy="630"/>
              </a:xfrm>
              <a:prstGeom prst="rect">
                <a:avLst/>
              </a:prstGeom>
              <a:noFill/>
              <a:ln w="9525">
                <a:solidFill>
                  <a:schemeClr val="tx1"/>
                </a:solidFill>
                <a:miter lim="800000"/>
              </a:ln>
            </p:spPr>
            <p:txBody>
              <a:bodyPr wrap="none" anchor="ctr"/>
              <a:lstStyle/>
              <a:p>
                <a:endParaRPr lang="en-US"/>
              </a:p>
            </p:txBody>
          </p:sp>
          <p:sp>
            <p:nvSpPr>
              <p:cNvPr id="4133" name="Text Box 16"/>
              <p:cNvSpPr txBox="1">
                <a:spLocks noChangeArrowheads="1"/>
              </p:cNvSpPr>
              <p:nvPr/>
            </p:nvSpPr>
            <p:spPr bwMode="auto">
              <a:xfrm>
                <a:off x="3072" y="3339"/>
                <a:ext cx="610" cy="520"/>
              </a:xfrm>
              <a:prstGeom prst="rect">
                <a:avLst/>
              </a:prstGeom>
              <a:noFill/>
              <a:ln w="9525">
                <a:noFill/>
                <a:miter lim="800000"/>
              </a:ln>
            </p:spPr>
            <p:txBody>
              <a:bodyPr wrap="none">
                <a:spAutoFit/>
              </a:bodyPr>
              <a:lstStyle/>
              <a:p>
                <a:pPr>
                  <a:spcBef>
                    <a:spcPct val="0"/>
                  </a:spcBef>
                  <a:buClrTx/>
                  <a:buSzTx/>
                  <a:buFontTx/>
                  <a:buNone/>
                </a:pPr>
                <a:r>
                  <a:rPr lang="en-US" sz="1600">
                    <a:latin typeface="Times New Roman" panose="02020603050405020304" pitchFamily="18" charset="0"/>
                  </a:rPr>
                  <a:t>TCP with</a:t>
                </a:r>
                <a:endParaRPr lang="en-US" sz="1600">
                  <a:latin typeface="Times New Roman" panose="02020603050405020304" pitchFamily="18" charset="0"/>
                </a:endParaRPr>
              </a:p>
              <a:p>
                <a:pPr>
                  <a:spcBef>
                    <a:spcPct val="0"/>
                  </a:spcBef>
                  <a:buClrTx/>
                  <a:buSzTx/>
                  <a:buFontTx/>
                  <a:buNone/>
                </a:pPr>
                <a:r>
                  <a:rPr lang="en-US" sz="1600">
                    <a:latin typeface="Times New Roman" panose="02020603050405020304" pitchFamily="18" charset="0"/>
                  </a:rPr>
                  <a:t>buffers,</a:t>
                </a:r>
                <a:endParaRPr lang="en-US" sz="1600">
                  <a:latin typeface="Times New Roman" panose="02020603050405020304" pitchFamily="18" charset="0"/>
                </a:endParaRPr>
              </a:p>
              <a:p>
                <a:pPr>
                  <a:spcBef>
                    <a:spcPct val="0"/>
                  </a:spcBef>
                  <a:buClrTx/>
                  <a:buSzTx/>
                  <a:buFontTx/>
                  <a:buNone/>
                </a:pPr>
                <a:r>
                  <a:rPr lang="en-US" sz="1600">
                    <a:latin typeface="Times New Roman" panose="02020603050405020304" pitchFamily="18" charset="0"/>
                  </a:rPr>
                  <a:t>variables</a:t>
                </a:r>
                <a:endParaRPr lang="en-US" sz="1600">
                  <a:latin typeface="Times New Roman" panose="02020603050405020304" pitchFamily="18" charset="0"/>
                </a:endParaRPr>
              </a:p>
            </p:txBody>
          </p:sp>
        </p:grpSp>
        <p:sp>
          <p:nvSpPr>
            <p:cNvPr id="4128" name="Rectangle 18"/>
            <p:cNvSpPr>
              <a:spLocks noChangeArrowheads="1"/>
            </p:cNvSpPr>
            <p:nvPr/>
          </p:nvSpPr>
          <p:spPr bwMode="auto">
            <a:xfrm>
              <a:off x="3054" y="1654"/>
              <a:ext cx="415" cy="207"/>
            </a:xfrm>
            <a:prstGeom prst="rect">
              <a:avLst/>
            </a:prstGeom>
            <a:solidFill>
              <a:schemeClr val="accent1"/>
            </a:solidFill>
            <a:ln w="9525">
              <a:solidFill>
                <a:schemeClr val="tx1"/>
              </a:solidFill>
              <a:miter lim="800000"/>
            </a:ln>
          </p:spPr>
          <p:txBody>
            <a:bodyPr wrap="none" anchor="ctr"/>
            <a:lstStyle/>
            <a:p>
              <a:pPr algn="ctr">
                <a:spcBef>
                  <a:spcPct val="0"/>
                </a:spcBef>
                <a:buClrTx/>
                <a:buSzTx/>
                <a:buFontTx/>
                <a:buNone/>
              </a:pPr>
              <a:r>
                <a:rPr lang="en-US" sz="1600">
                  <a:latin typeface="Times New Roman" panose="02020603050405020304" pitchFamily="18" charset="0"/>
                </a:rPr>
                <a:t>socket</a:t>
              </a:r>
              <a:endParaRPr lang="en-US" sz="1600">
                <a:latin typeface="Times New Roman" panose="02020603050405020304" pitchFamily="18" charset="0"/>
              </a:endParaRPr>
            </a:p>
          </p:txBody>
        </p:sp>
        <p:sp>
          <p:nvSpPr>
            <p:cNvPr id="4129" name="Line 33"/>
            <p:cNvSpPr>
              <a:spLocks noChangeShapeType="1"/>
            </p:cNvSpPr>
            <p:nvPr/>
          </p:nvSpPr>
          <p:spPr bwMode="auto">
            <a:xfrm flipV="1">
              <a:off x="3261" y="1561"/>
              <a:ext cx="0" cy="131"/>
            </a:xfrm>
            <a:prstGeom prst="line">
              <a:avLst/>
            </a:prstGeom>
            <a:noFill/>
            <a:ln w="9525">
              <a:solidFill>
                <a:schemeClr val="tx1"/>
              </a:solidFill>
              <a:round/>
              <a:tailEnd type="triangle" w="med" len="med"/>
            </a:ln>
          </p:spPr>
          <p:txBody>
            <a:bodyPr wrap="none" anchor="ctr"/>
            <a:lstStyle/>
            <a:p>
              <a:endParaRPr lang="en-US"/>
            </a:p>
          </p:txBody>
        </p:sp>
        <p:sp>
          <p:nvSpPr>
            <p:cNvPr id="4130" name="Line 35"/>
            <p:cNvSpPr>
              <a:spLocks noChangeShapeType="1"/>
            </p:cNvSpPr>
            <p:nvPr/>
          </p:nvSpPr>
          <p:spPr bwMode="auto">
            <a:xfrm>
              <a:off x="3269" y="1823"/>
              <a:ext cx="0" cy="123"/>
            </a:xfrm>
            <a:prstGeom prst="line">
              <a:avLst/>
            </a:prstGeom>
            <a:noFill/>
            <a:ln w="9525">
              <a:solidFill>
                <a:schemeClr val="tx1"/>
              </a:solidFill>
              <a:round/>
              <a:tailEnd type="triangle" w="med" len="med"/>
            </a:ln>
          </p:spPr>
          <p:txBody>
            <a:bodyPr wrap="none" anchor="ctr"/>
            <a:lstStyle/>
            <a:p>
              <a:endParaRPr lang="en-US"/>
            </a:p>
          </p:txBody>
        </p:sp>
        <p:sp>
          <p:nvSpPr>
            <p:cNvPr id="4131" name="Text Box 36"/>
            <p:cNvSpPr txBox="1">
              <a:spLocks noChangeArrowheads="1"/>
            </p:cNvSpPr>
            <p:nvPr/>
          </p:nvSpPr>
          <p:spPr bwMode="auto">
            <a:xfrm>
              <a:off x="3028" y="616"/>
              <a:ext cx="469" cy="366"/>
            </a:xfrm>
            <a:prstGeom prst="rect">
              <a:avLst/>
            </a:prstGeom>
            <a:noFill/>
            <a:ln w="9525">
              <a:noFill/>
              <a:miter lim="800000"/>
            </a:ln>
          </p:spPr>
          <p:txBody>
            <a:bodyPr wrap="none">
              <a:spAutoFit/>
            </a:bodyPr>
            <a:lstStyle/>
            <a:p>
              <a:pPr>
                <a:spcBef>
                  <a:spcPct val="0"/>
                </a:spcBef>
                <a:buClrTx/>
                <a:buSzTx/>
                <a:buFontTx/>
                <a:buNone/>
              </a:pPr>
              <a:r>
                <a:rPr lang="en-US" sz="1600">
                  <a:latin typeface="Times New Roman" panose="02020603050405020304" pitchFamily="18" charset="0"/>
                </a:rPr>
                <a:t>host or</a:t>
              </a:r>
              <a:endParaRPr lang="en-US" sz="1600">
                <a:latin typeface="Times New Roman" panose="02020603050405020304" pitchFamily="18" charset="0"/>
              </a:endParaRPr>
            </a:p>
            <a:p>
              <a:pPr>
                <a:spcBef>
                  <a:spcPct val="0"/>
                </a:spcBef>
                <a:buClrTx/>
                <a:buSzTx/>
                <a:buFontTx/>
                <a:buNone/>
              </a:pPr>
              <a:r>
                <a:rPr lang="en-US" sz="1600">
                  <a:latin typeface="Times New Roman" panose="02020603050405020304" pitchFamily="18" charset="0"/>
                </a:rPr>
                <a:t>server</a:t>
              </a:r>
              <a:endParaRPr lang="en-US" sz="1600">
                <a:latin typeface="Times New Roman" panose="02020603050405020304" pitchFamily="18" charset="0"/>
              </a:endParaRPr>
            </a:p>
          </p:txBody>
        </p:sp>
      </p:grpSp>
      <p:grpSp>
        <p:nvGrpSpPr>
          <p:cNvPr id="4106" name="Group 38"/>
          <p:cNvGrpSpPr/>
          <p:nvPr/>
        </p:nvGrpSpPr>
        <p:grpSpPr bwMode="auto">
          <a:xfrm>
            <a:off x="7850188" y="1471613"/>
            <a:ext cx="1062037" cy="3606800"/>
            <a:chOff x="2933" y="616"/>
            <a:chExt cx="669" cy="2272"/>
          </a:xfrm>
        </p:grpSpPr>
        <p:sp>
          <p:nvSpPr>
            <p:cNvPr id="4114" name="Text Box 39"/>
            <p:cNvSpPr txBox="1">
              <a:spLocks noChangeArrowheads="1"/>
            </p:cNvSpPr>
            <p:nvPr/>
          </p:nvSpPr>
          <p:spPr bwMode="auto">
            <a:xfrm>
              <a:off x="3361" y="2600"/>
              <a:ext cx="116" cy="288"/>
            </a:xfrm>
            <a:prstGeom prst="rect">
              <a:avLst/>
            </a:prstGeom>
            <a:noFill/>
            <a:ln w="9525">
              <a:noFill/>
              <a:miter lim="800000"/>
            </a:ln>
          </p:spPr>
          <p:txBody>
            <a:bodyPr wrap="none">
              <a:spAutoFit/>
            </a:bodyPr>
            <a:lstStyle/>
            <a:p>
              <a:pPr algn="ctr">
                <a:spcBef>
                  <a:spcPct val="50000"/>
                </a:spcBef>
                <a:buClrTx/>
                <a:buSzTx/>
                <a:buFontTx/>
                <a:buNone/>
              </a:pPr>
              <a:endParaRPr lang="en-US">
                <a:latin typeface="Times New Roman" panose="02020603050405020304" pitchFamily="18" charset="0"/>
              </a:endParaRPr>
            </a:p>
          </p:txBody>
        </p:sp>
        <p:graphicFrame>
          <p:nvGraphicFramePr>
            <p:cNvPr id="4098" name="Object 40"/>
            <p:cNvGraphicFramePr>
              <a:graphicFrameLocks noChangeAspect="1"/>
            </p:cNvGraphicFramePr>
            <p:nvPr/>
          </p:nvGraphicFramePr>
          <p:xfrm>
            <a:off x="3039" y="996"/>
            <a:ext cx="405" cy="321"/>
          </p:xfrm>
          <a:graphic>
            <a:graphicData uri="http://schemas.openxmlformats.org/presentationml/2006/ole">
              <mc:AlternateContent xmlns:mc="http://schemas.openxmlformats.org/markup-compatibility/2006">
                <mc:Choice xmlns:v="urn:schemas-microsoft-com:vml" Requires="v">
                  <p:oleObj spid="_x0000_s4121" name="Clip" r:id="rId3" imgW="18192750" imgH="15087600" progId="">
                    <p:embed/>
                  </p:oleObj>
                </mc:Choice>
                <mc:Fallback>
                  <p:oleObj name="Clip" r:id="rId3" imgW="18192750" imgH="15087600" progId="">
                    <p:embed/>
                    <p:pic>
                      <p:nvPicPr>
                        <p:cNvPr id="0" name="Object 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9" y="996"/>
                          <a:ext cx="405" cy="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15" name="Group 41"/>
            <p:cNvGrpSpPr/>
            <p:nvPr/>
          </p:nvGrpSpPr>
          <p:grpSpPr bwMode="auto">
            <a:xfrm>
              <a:off x="2933" y="1323"/>
              <a:ext cx="669" cy="353"/>
              <a:chOff x="3046" y="1508"/>
              <a:chExt cx="669" cy="353"/>
            </a:xfrm>
          </p:grpSpPr>
          <p:sp>
            <p:nvSpPr>
              <p:cNvPr id="4123" name="Oval 42"/>
              <p:cNvSpPr>
                <a:spLocks noChangeArrowheads="1"/>
              </p:cNvSpPr>
              <p:nvPr/>
            </p:nvSpPr>
            <p:spPr bwMode="auto">
              <a:xfrm>
                <a:off x="3046" y="1508"/>
                <a:ext cx="669" cy="353"/>
              </a:xfrm>
              <a:prstGeom prst="ellipse">
                <a:avLst/>
              </a:prstGeom>
              <a:noFill/>
              <a:ln w="9525">
                <a:solidFill>
                  <a:schemeClr val="tx1"/>
                </a:solidFill>
                <a:round/>
              </a:ln>
            </p:spPr>
            <p:txBody>
              <a:bodyPr wrap="none" anchor="ctr"/>
              <a:lstStyle/>
              <a:p>
                <a:endParaRPr lang="en-US"/>
              </a:p>
            </p:txBody>
          </p:sp>
          <p:sp>
            <p:nvSpPr>
              <p:cNvPr id="4124" name="Text Box 43"/>
              <p:cNvSpPr txBox="1">
                <a:spLocks noChangeArrowheads="1"/>
              </p:cNvSpPr>
              <p:nvPr/>
            </p:nvSpPr>
            <p:spPr bwMode="auto">
              <a:xfrm>
                <a:off x="3121" y="1578"/>
                <a:ext cx="501" cy="212"/>
              </a:xfrm>
              <a:prstGeom prst="rect">
                <a:avLst/>
              </a:prstGeom>
              <a:noFill/>
              <a:ln w="9525">
                <a:noFill/>
                <a:miter lim="800000"/>
              </a:ln>
            </p:spPr>
            <p:txBody>
              <a:bodyPr wrap="none">
                <a:spAutoFit/>
              </a:bodyPr>
              <a:lstStyle/>
              <a:p>
                <a:pPr>
                  <a:spcBef>
                    <a:spcPct val="0"/>
                  </a:spcBef>
                  <a:buClrTx/>
                  <a:buSzTx/>
                  <a:buFontTx/>
                  <a:buNone/>
                </a:pPr>
                <a:r>
                  <a:rPr lang="en-US" sz="1600">
                    <a:latin typeface="Times New Roman" panose="02020603050405020304" pitchFamily="18" charset="0"/>
                  </a:rPr>
                  <a:t>process</a:t>
                </a:r>
                <a:endParaRPr lang="en-US" sz="1600">
                  <a:latin typeface="Times New Roman" panose="02020603050405020304" pitchFamily="18" charset="0"/>
                </a:endParaRPr>
              </a:p>
            </p:txBody>
          </p:sp>
        </p:grpSp>
        <p:grpSp>
          <p:nvGrpSpPr>
            <p:cNvPr id="4116" name="Group 44"/>
            <p:cNvGrpSpPr/>
            <p:nvPr/>
          </p:nvGrpSpPr>
          <p:grpSpPr bwMode="auto">
            <a:xfrm>
              <a:off x="2949" y="1845"/>
              <a:ext cx="610" cy="630"/>
              <a:chOff x="3072" y="3300"/>
              <a:chExt cx="610" cy="630"/>
            </a:xfrm>
          </p:grpSpPr>
          <p:sp>
            <p:nvSpPr>
              <p:cNvPr id="2" name="Rectangle 45"/>
              <p:cNvSpPr>
                <a:spLocks noChangeArrowheads="1"/>
              </p:cNvSpPr>
              <p:nvPr/>
            </p:nvSpPr>
            <p:spPr bwMode="auto">
              <a:xfrm>
                <a:off x="3084" y="3300"/>
                <a:ext cx="593" cy="630"/>
              </a:xfrm>
              <a:prstGeom prst="rect">
                <a:avLst/>
              </a:prstGeom>
              <a:noFill/>
              <a:ln w="9525">
                <a:solidFill>
                  <a:schemeClr val="tx1"/>
                </a:solidFill>
                <a:miter lim="800000"/>
              </a:ln>
            </p:spPr>
            <p:txBody>
              <a:bodyPr wrap="none" anchor="ctr"/>
              <a:lstStyle/>
              <a:p>
                <a:endParaRPr lang="en-US"/>
              </a:p>
            </p:txBody>
          </p:sp>
          <p:sp>
            <p:nvSpPr>
              <p:cNvPr id="4122" name="Text Box 46"/>
              <p:cNvSpPr txBox="1">
                <a:spLocks noChangeArrowheads="1"/>
              </p:cNvSpPr>
              <p:nvPr/>
            </p:nvSpPr>
            <p:spPr bwMode="auto">
              <a:xfrm>
                <a:off x="3072" y="3339"/>
                <a:ext cx="610" cy="520"/>
              </a:xfrm>
              <a:prstGeom prst="rect">
                <a:avLst/>
              </a:prstGeom>
              <a:noFill/>
              <a:ln w="9525">
                <a:noFill/>
                <a:miter lim="800000"/>
              </a:ln>
            </p:spPr>
            <p:txBody>
              <a:bodyPr wrap="none">
                <a:spAutoFit/>
              </a:bodyPr>
              <a:lstStyle/>
              <a:p>
                <a:pPr>
                  <a:spcBef>
                    <a:spcPct val="0"/>
                  </a:spcBef>
                  <a:buClrTx/>
                  <a:buSzTx/>
                  <a:buFontTx/>
                  <a:buNone/>
                </a:pPr>
                <a:r>
                  <a:rPr lang="en-US" sz="1600">
                    <a:latin typeface="Times New Roman" panose="02020603050405020304" pitchFamily="18" charset="0"/>
                  </a:rPr>
                  <a:t>TCP with</a:t>
                </a:r>
                <a:endParaRPr lang="en-US" sz="1600">
                  <a:latin typeface="Times New Roman" panose="02020603050405020304" pitchFamily="18" charset="0"/>
                </a:endParaRPr>
              </a:p>
              <a:p>
                <a:pPr>
                  <a:spcBef>
                    <a:spcPct val="0"/>
                  </a:spcBef>
                  <a:buClrTx/>
                  <a:buSzTx/>
                  <a:buFontTx/>
                  <a:buNone/>
                </a:pPr>
                <a:r>
                  <a:rPr lang="en-US" sz="1600">
                    <a:latin typeface="Times New Roman" panose="02020603050405020304" pitchFamily="18" charset="0"/>
                  </a:rPr>
                  <a:t>buffers,</a:t>
                </a:r>
                <a:endParaRPr lang="en-US" sz="1600">
                  <a:latin typeface="Times New Roman" panose="02020603050405020304" pitchFamily="18" charset="0"/>
                </a:endParaRPr>
              </a:p>
              <a:p>
                <a:pPr>
                  <a:spcBef>
                    <a:spcPct val="0"/>
                  </a:spcBef>
                  <a:buClrTx/>
                  <a:buSzTx/>
                  <a:buFontTx/>
                  <a:buNone/>
                </a:pPr>
                <a:r>
                  <a:rPr lang="en-US" sz="1600">
                    <a:latin typeface="Times New Roman" panose="02020603050405020304" pitchFamily="18" charset="0"/>
                  </a:rPr>
                  <a:t>variables</a:t>
                </a:r>
                <a:endParaRPr lang="en-US" sz="1600">
                  <a:latin typeface="Times New Roman" panose="02020603050405020304" pitchFamily="18" charset="0"/>
                </a:endParaRPr>
              </a:p>
            </p:txBody>
          </p:sp>
        </p:grpSp>
        <p:sp>
          <p:nvSpPr>
            <p:cNvPr id="4117" name="Rectangle 47"/>
            <p:cNvSpPr>
              <a:spLocks noChangeArrowheads="1"/>
            </p:cNvSpPr>
            <p:nvPr/>
          </p:nvSpPr>
          <p:spPr bwMode="auto">
            <a:xfrm>
              <a:off x="3054" y="1654"/>
              <a:ext cx="415" cy="207"/>
            </a:xfrm>
            <a:prstGeom prst="rect">
              <a:avLst/>
            </a:prstGeom>
            <a:solidFill>
              <a:schemeClr val="accent1"/>
            </a:solidFill>
            <a:ln w="9525">
              <a:solidFill>
                <a:schemeClr val="tx1"/>
              </a:solidFill>
              <a:miter lim="800000"/>
            </a:ln>
          </p:spPr>
          <p:txBody>
            <a:bodyPr wrap="none" anchor="ctr"/>
            <a:lstStyle/>
            <a:p>
              <a:pPr algn="ctr">
                <a:spcBef>
                  <a:spcPct val="0"/>
                </a:spcBef>
                <a:buClrTx/>
                <a:buSzTx/>
                <a:buFontTx/>
                <a:buNone/>
              </a:pPr>
              <a:r>
                <a:rPr lang="en-US" sz="1600">
                  <a:latin typeface="Times New Roman" panose="02020603050405020304" pitchFamily="18" charset="0"/>
                </a:rPr>
                <a:t>socket</a:t>
              </a:r>
              <a:endParaRPr lang="en-US" sz="1600">
                <a:latin typeface="Times New Roman" panose="02020603050405020304" pitchFamily="18" charset="0"/>
              </a:endParaRPr>
            </a:p>
          </p:txBody>
        </p:sp>
        <p:sp>
          <p:nvSpPr>
            <p:cNvPr id="4118" name="Line 48"/>
            <p:cNvSpPr>
              <a:spLocks noChangeShapeType="1"/>
            </p:cNvSpPr>
            <p:nvPr/>
          </p:nvSpPr>
          <p:spPr bwMode="auto">
            <a:xfrm flipV="1">
              <a:off x="3261" y="1561"/>
              <a:ext cx="0" cy="131"/>
            </a:xfrm>
            <a:prstGeom prst="line">
              <a:avLst/>
            </a:prstGeom>
            <a:noFill/>
            <a:ln w="9525">
              <a:solidFill>
                <a:schemeClr val="tx1"/>
              </a:solidFill>
              <a:round/>
              <a:tailEnd type="triangle" w="med" len="med"/>
            </a:ln>
          </p:spPr>
          <p:txBody>
            <a:bodyPr wrap="none" anchor="ctr"/>
            <a:lstStyle/>
            <a:p>
              <a:endParaRPr lang="en-US"/>
            </a:p>
          </p:txBody>
        </p:sp>
        <p:sp>
          <p:nvSpPr>
            <p:cNvPr id="4119" name="Line 49"/>
            <p:cNvSpPr>
              <a:spLocks noChangeShapeType="1"/>
            </p:cNvSpPr>
            <p:nvPr/>
          </p:nvSpPr>
          <p:spPr bwMode="auto">
            <a:xfrm>
              <a:off x="3269" y="1823"/>
              <a:ext cx="0" cy="123"/>
            </a:xfrm>
            <a:prstGeom prst="line">
              <a:avLst/>
            </a:prstGeom>
            <a:noFill/>
            <a:ln w="9525">
              <a:solidFill>
                <a:schemeClr val="tx1"/>
              </a:solidFill>
              <a:round/>
              <a:tailEnd type="triangle" w="med" len="med"/>
            </a:ln>
          </p:spPr>
          <p:txBody>
            <a:bodyPr wrap="none" anchor="ctr"/>
            <a:lstStyle/>
            <a:p>
              <a:endParaRPr lang="en-US"/>
            </a:p>
          </p:txBody>
        </p:sp>
        <p:sp>
          <p:nvSpPr>
            <p:cNvPr id="3" name="Text Box 50"/>
            <p:cNvSpPr txBox="1">
              <a:spLocks noChangeArrowheads="1"/>
            </p:cNvSpPr>
            <p:nvPr/>
          </p:nvSpPr>
          <p:spPr bwMode="auto">
            <a:xfrm>
              <a:off x="3028" y="616"/>
              <a:ext cx="469" cy="366"/>
            </a:xfrm>
            <a:prstGeom prst="rect">
              <a:avLst/>
            </a:prstGeom>
            <a:noFill/>
            <a:ln w="9525">
              <a:noFill/>
              <a:miter lim="800000"/>
            </a:ln>
          </p:spPr>
          <p:txBody>
            <a:bodyPr wrap="none">
              <a:spAutoFit/>
            </a:bodyPr>
            <a:lstStyle/>
            <a:p>
              <a:pPr>
                <a:spcBef>
                  <a:spcPct val="0"/>
                </a:spcBef>
                <a:buClrTx/>
                <a:buSzTx/>
                <a:buFontTx/>
                <a:buNone/>
              </a:pPr>
              <a:r>
                <a:rPr lang="en-US" sz="1600">
                  <a:latin typeface="Times New Roman" panose="02020603050405020304" pitchFamily="18" charset="0"/>
                </a:rPr>
                <a:t>host or</a:t>
              </a:r>
              <a:endParaRPr lang="en-US" sz="1600">
                <a:latin typeface="Times New Roman" panose="02020603050405020304" pitchFamily="18" charset="0"/>
              </a:endParaRPr>
            </a:p>
            <a:p>
              <a:pPr>
                <a:spcBef>
                  <a:spcPct val="0"/>
                </a:spcBef>
                <a:buClrTx/>
                <a:buSzTx/>
                <a:buFontTx/>
                <a:buNone/>
              </a:pPr>
              <a:r>
                <a:rPr lang="en-US" sz="1600">
                  <a:latin typeface="Times New Roman" panose="02020603050405020304" pitchFamily="18" charset="0"/>
                </a:rPr>
                <a:t>server</a:t>
              </a:r>
              <a:endParaRPr lang="en-US" sz="1600">
                <a:latin typeface="Times New Roman" panose="02020603050405020304" pitchFamily="18" charset="0"/>
              </a:endParaRPr>
            </a:p>
          </p:txBody>
        </p:sp>
      </p:grpSp>
      <p:sp>
        <p:nvSpPr>
          <p:cNvPr id="4107" name="Text Box 51"/>
          <p:cNvSpPr txBox="1">
            <a:spLocks noChangeArrowheads="1"/>
          </p:cNvSpPr>
          <p:nvPr/>
        </p:nvSpPr>
        <p:spPr bwMode="auto">
          <a:xfrm>
            <a:off x="6396038" y="3654425"/>
            <a:ext cx="819150" cy="336550"/>
          </a:xfrm>
          <a:prstGeom prst="rect">
            <a:avLst/>
          </a:prstGeom>
          <a:noFill/>
          <a:ln w="9525">
            <a:noFill/>
            <a:miter lim="800000"/>
          </a:ln>
        </p:spPr>
        <p:txBody>
          <a:bodyPr wrap="none">
            <a:spAutoFit/>
          </a:bodyPr>
          <a:lstStyle/>
          <a:p>
            <a:pPr algn="ctr">
              <a:spcBef>
                <a:spcPct val="0"/>
              </a:spcBef>
              <a:buClrTx/>
              <a:buSzTx/>
              <a:buFontTx/>
              <a:buNone/>
            </a:pPr>
            <a:r>
              <a:rPr lang="en-US" sz="1600">
                <a:latin typeface="Times New Roman" panose="02020603050405020304" pitchFamily="18" charset="0"/>
              </a:rPr>
              <a:t>Internet</a:t>
            </a:r>
            <a:endParaRPr lang="en-US" sz="1600">
              <a:latin typeface="Times New Roman" panose="02020603050405020304" pitchFamily="18" charset="0"/>
            </a:endParaRPr>
          </a:p>
        </p:txBody>
      </p:sp>
      <p:sp>
        <p:nvSpPr>
          <p:cNvPr id="4108" name="Line 52"/>
          <p:cNvSpPr>
            <a:spLocks noChangeShapeType="1"/>
          </p:cNvSpPr>
          <p:nvPr/>
        </p:nvSpPr>
        <p:spPr bwMode="auto">
          <a:xfrm>
            <a:off x="5689600" y="4065588"/>
            <a:ext cx="2211388"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4109" name="Text Box 53"/>
          <p:cNvSpPr txBox="1">
            <a:spLocks noChangeArrowheads="1"/>
          </p:cNvSpPr>
          <p:nvPr/>
        </p:nvSpPr>
        <p:spPr bwMode="auto">
          <a:xfrm>
            <a:off x="5519738" y="4667250"/>
            <a:ext cx="1011237" cy="825500"/>
          </a:xfrm>
          <a:prstGeom prst="rect">
            <a:avLst/>
          </a:prstGeom>
          <a:noFill/>
          <a:ln w="9525">
            <a:noFill/>
            <a:miter lim="800000"/>
          </a:ln>
        </p:spPr>
        <p:txBody>
          <a:bodyPr wrap="none">
            <a:spAutoFit/>
          </a:bodyPr>
          <a:lstStyle/>
          <a:p>
            <a:pPr>
              <a:spcBef>
                <a:spcPct val="0"/>
              </a:spcBef>
              <a:buClrTx/>
              <a:buSzTx/>
              <a:buFontTx/>
              <a:buNone/>
            </a:pPr>
            <a:r>
              <a:rPr lang="en-US" sz="1600">
                <a:solidFill>
                  <a:srgbClr val="FF0000"/>
                </a:solidFill>
                <a:latin typeface="Times New Roman" panose="02020603050405020304" pitchFamily="18" charset="0"/>
              </a:rPr>
              <a:t>controlled</a:t>
            </a:r>
            <a:endParaRPr lang="en-US" sz="1600">
              <a:solidFill>
                <a:srgbClr val="FF0000"/>
              </a:solidFill>
              <a:latin typeface="Times New Roman" panose="02020603050405020304" pitchFamily="18" charset="0"/>
            </a:endParaRPr>
          </a:p>
          <a:p>
            <a:pPr>
              <a:spcBef>
                <a:spcPct val="0"/>
              </a:spcBef>
              <a:buClrTx/>
              <a:buSzTx/>
              <a:buFontTx/>
              <a:buNone/>
            </a:pPr>
            <a:r>
              <a:rPr lang="en-US" sz="1600">
                <a:solidFill>
                  <a:srgbClr val="FF0000"/>
                </a:solidFill>
                <a:latin typeface="Times New Roman" panose="02020603050405020304" pitchFamily="18" charset="0"/>
              </a:rPr>
              <a:t>by OS</a:t>
            </a:r>
            <a:endParaRPr lang="en-US" sz="1600">
              <a:latin typeface="Times New Roman" panose="02020603050405020304" pitchFamily="18" charset="0"/>
            </a:endParaRPr>
          </a:p>
          <a:p>
            <a:pPr>
              <a:spcBef>
                <a:spcPct val="0"/>
              </a:spcBef>
              <a:buClrTx/>
              <a:buSzTx/>
              <a:buFontTx/>
              <a:buNone/>
            </a:pPr>
            <a:endParaRPr lang="en-US" sz="1600">
              <a:latin typeface="Times New Roman" panose="02020603050405020304" pitchFamily="18" charset="0"/>
            </a:endParaRPr>
          </a:p>
        </p:txBody>
      </p:sp>
      <p:sp>
        <p:nvSpPr>
          <p:cNvPr id="4110" name="Line 55"/>
          <p:cNvSpPr>
            <a:spLocks noChangeShapeType="1"/>
          </p:cNvSpPr>
          <p:nvPr/>
        </p:nvSpPr>
        <p:spPr bwMode="auto">
          <a:xfrm flipH="1" flipV="1">
            <a:off x="5470525" y="4445000"/>
            <a:ext cx="244475" cy="317500"/>
          </a:xfrm>
          <a:prstGeom prst="line">
            <a:avLst/>
          </a:prstGeom>
          <a:noFill/>
          <a:ln w="9525">
            <a:solidFill>
              <a:srgbClr val="FF0000"/>
            </a:solidFill>
            <a:round/>
            <a:tailEnd type="triangle" w="med" len="med"/>
          </a:ln>
        </p:spPr>
        <p:txBody>
          <a:bodyPr wrap="none" anchor="ctr"/>
          <a:lstStyle/>
          <a:p>
            <a:endParaRPr lang="en-US"/>
          </a:p>
        </p:txBody>
      </p:sp>
      <p:sp>
        <p:nvSpPr>
          <p:cNvPr id="4111" name="Text Box 56"/>
          <p:cNvSpPr txBox="1">
            <a:spLocks noChangeArrowheads="1"/>
          </p:cNvSpPr>
          <p:nvPr/>
        </p:nvSpPr>
        <p:spPr bwMode="auto">
          <a:xfrm>
            <a:off x="5907088" y="2306638"/>
            <a:ext cx="1331912" cy="581025"/>
          </a:xfrm>
          <a:prstGeom prst="rect">
            <a:avLst/>
          </a:prstGeom>
          <a:noFill/>
          <a:ln w="9525">
            <a:noFill/>
            <a:miter lim="800000"/>
          </a:ln>
        </p:spPr>
        <p:txBody>
          <a:bodyPr wrap="none">
            <a:spAutoFit/>
          </a:bodyPr>
          <a:lstStyle/>
          <a:p>
            <a:pPr>
              <a:spcBef>
                <a:spcPct val="0"/>
              </a:spcBef>
              <a:buClrTx/>
              <a:buSzTx/>
              <a:buFontTx/>
              <a:buNone/>
            </a:pPr>
            <a:r>
              <a:rPr lang="en-US" sz="1600">
                <a:solidFill>
                  <a:srgbClr val="FF0000"/>
                </a:solidFill>
                <a:latin typeface="Times New Roman" panose="02020603050405020304" pitchFamily="18" charset="0"/>
              </a:rPr>
              <a:t>controlled by</a:t>
            </a:r>
            <a:endParaRPr lang="en-US" sz="1600">
              <a:solidFill>
                <a:srgbClr val="FF0000"/>
              </a:solidFill>
              <a:latin typeface="Times New Roman" panose="02020603050405020304" pitchFamily="18" charset="0"/>
            </a:endParaRPr>
          </a:p>
          <a:p>
            <a:pPr>
              <a:spcBef>
                <a:spcPct val="0"/>
              </a:spcBef>
              <a:buClrTx/>
              <a:buSzTx/>
              <a:buFontTx/>
              <a:buNone/>
            </a:pPr>
            <a:r>
              <a:rPr lang="en-US" sz="1600">
                <a:solidFill>
                  <a:srgbClr val="FF0000"/>
                </a:solidFill>
                <a:latin typeface="Times New Roman" panose="02020603050405020304" pitchFamily="18" charset="0"/>
              </a:rPr>
              <a:t>app developer</a:t>
            </a:r>
            <a:endParaRPr lang="en-US" sz="1600">
              <a:latin typeface="Times New Roman" panose="02020603050405020304" pitchFamily="18" charset="0"/>
            </a:endParaRPr>
          </a:p>
        </p:txBody>
      </p:sp>
      <p:sp>
        <p:nvSpPr>
          <p:cNvPr id="4112" name="Line 58"/>
          <p:cNvSpPr>
            <a:spLocks noChangeShapeType="1"/>
          </p:cNvSpPr>
          <p:nvPr/>
        </p:nvSpPr>
        <p:spPr bwMode="auto">
          <a:xfrm flipH="1">
            <a:off x="5678488" y="2589213"/>
            <a:ext cx="219075" cy="133350"/>
          </a:xfrm>
          <a:prstGeom prst="line">
            <a:avLst/>
          </a:prstGeom>
          <a:noFill/>
          <a:ln w="9525">
            <a:solidFill>
              <a:srgbClr val="FF0000"/>
            </a:solidFill>
            <a:round/>
            <a:tailEnd type="triangle" w="med" len="med"/>
          </a:ln>
        </p:spPr>
        <p:txBody>
          <a:bodyPr wrap="none" anchor="ctr"/>
          <a:lstStyle/>
          <a:p>
            <a:endParaRPr lang="en-US"/>
          </a:p>
        </p:txBody>
      </p:sp>
      <p:sp>
        <p:nvSpPr>
          <p:cNvPr id="4113" name="Rectangle 59"/>
          <p:cNvSpPr>
            <a:spLocks noChangeArrowheads="1"/>
          </p:cNvSpPr>
          <p:nvPr/>
        </p:nvSpPr>
        <p:spPr bwMode="auto">
          <a:xfrm>
            <a:off x="320675" y="5554663"/>
            <a:ext cx="8304213" cy="800100"/>
          </a:xfrm>
          <a:prstGeom prst="rect">
            <a:avLst/>
          </a:prstGeom>
          <a:noFill/>
          <a:ln w="9525">
            <a:noFill/>
            <a:miter lim="800000"/>
          </a:ln>
        </p:spPr>
        <p:txBody>
          <a:bodyPr/>
          <a:lstStyle/>
          <a:p>
            <a:pPr marL="342900" indent="-342900">
              <a:buFont typeface="ZapfDingbats" pitchFamily="82" charset="2"/>
              <a:buChar char="r"/>
            </a:pPr>
            <a:r>
              <a:rPr lang="en-US"/>
              <a:t>API: (1) choice of transport protocol; (2) ability to fix a few parameters </a:t>
            </a:r>
            <a:r>
              <a:rPr lang="en-US">
                <a:solidFill>
                  <a:schemeClr val="accent2"/>
                </a:solidFill>
              </a:rPr>
              <a:t>(lots more on  this later)</a:t>
            </a:r>
            <a:endParaRPr lang="en-US"/>
          </a:p>
          <a:p>
            <a:pPr marL="342900" indent="-342900"/>
            <a:r>
              <a:rPr lang="en-US"/>
              <a:t>               </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5"/>
          <p:cNvSpPr>
            <a:spLocks noGrp="1"/>
          </p:cNvSpPr>
          <p:nvPr>
            <p:ph type="ftr" sz="quarter" idx="11"/>
          </p:nvPr>
        </p:nvSpPr>
        <p:spPr>
          <a:noFill/>
        </p:spPr>
        <p:txBody>
          <a:bodyPr/>
          <a:lstStyle/>
          <a:p>
            <a:r>
              <a:rPr lang="en-US" dirty="0"/>
              <a:t>2: Application Layer</a:t>
            </a:r>
            <a:endParaRPr lang="en-US" dirty="0">
              <a:latin typeface="Times New Roman" panose="02020603050405020304" pitchFamily="18" charset="0"/>
            </a:endParaRPr>
          </a:p>
        </p:txBody>
      </p:sp>
      <p:sp>
        <p:nvSpPr>
          <p:cNvPr id="43011" name="Slide Number Placeholder 6"/>
          <p:cNvSpPr>
            <a:spLocks noGrp="1"/>
          </p:cNvSpPr>
          <p:nvPr>
            <p:ph type="sldNum" sz="quarter" idx="12"/>
          </p:nvPr>
        </p:nvSpPr>
        <p:spPr>
          <a:noFill/>
        </p:spPr>
        <p:txBody>
          <a:bodyPr/>
          <a:lstStyle/>
          <a:p>
            <a:fld id="{A7ACB8E5-9008-4675-BF06-7922F7973B6A}" type="slidenum">
              <a:rPr lang="en-US"/>
            </a:fld>
            <a:endParaRPr lang="en-US"/>
          </a:p>
        </p:txBody>
      </p:sp>
      <p:sp>
        <p:nvSpPr>
          <p:cNvPr id="43012" name="Rectangle 2"/>
          <p:cNvSpPr>
            <a:spLocks noGrp="1" noChangeArrowheads="1"/>
          </p:cNvSpPr>
          <p:nvPr>
            <p:ph type="title"/>
          </p:nvPr>
        </p:nvSpPr>
        <p:spPr>
          <a:xfrm>
            <a:off x="378853" y="0"/>
            <a:ext cx="7772400" cy="1143000"/>
          </a:xfrm>
        </p:spPr>
        <p:txBody>
          <a:bodyPr/>
          <a:lstStyle/>
          <a:p>
            <a:r>
              <a:rPr lang="en-US" sz="3200" dirty="0"/>
              <a:t>Addressing processes</a:t>
            </a:r>
            <a:endParaRPr lang="en-US" dirty="0"/>
          </a:p>
        </p:txBody>
      </p:sp>
      <p:sp>
        <p:nvSpPr>
          <p:cNvPr id="43013" name="Rectangle 3"/>
          <p:cNvSpPr>
            <a:spLocks noGrp="1" noChangeArrowheads="1"/>
          </p:cNvSpPr>
          <p:nvPr>
            <p:ph type="body" sz="half" idx="2"/>
          </p:nvPr>
        </p:nvSpPr>
        <p:spPr>
          <a:xfrm>
            <a:off x="610472" y="1207731"/>
            <a:ext cx="4244863" cy="4648200"/>
          </a:xfrm>
        </p:spPr>
        <p:txBody>
          <a:bodyPr/>
          <a:lstStyle/>
          <a:p>
            <a:r>
              <a:rPr lang="en-US" sz="2400" dirty="0"/>
              <a:t>to receive messages, process  must have </a:t>
            </a:r>
            <a:r>
              <a:rPr lang="en-US" sz="2400" i="1" dirty="0">
                <a:solidFill>
                  <a:srgbClr val="FF0000"/>
                </a:solidFill>
              </a:rPr>
              <a:t>identifier</a:t>
            </a:r>
            <a:endParaRPr lang="en-US" sz="2400" i="1" dirty="0">
              <a:solidFill>
                <a:srgbClr val="FF0000"/>
              </a:solidFill>
            </a:endParaRPr>
          </a:p>
          <a:p>
            <a:r>
              <a:rPr lang="en-US" sz="2400" dirty="0"/>
              <a:t>host device has unique 32-bit IP address</a:t>
            </a:r>
            <a:endParaRPr lang="en-US" sz="2400" dirty="0"/>
          </a:p>
          <a:p>
            <a:r>
              <a:rPr lang="en-US" sz="2400" u="sng" dirty="0">
                <a:solidFill>
                  <a:srgbClr val="FF0000"/>
                </a:solidFill>
              </a:rPr>
              <a:t>Exercise:</a:t>
            </a:r>
            <a:r>
              <a:rPr lang="en-US" sz="2400" dirty="0"/>
              <a:t> use </a:t>
            </a:r>
            <a:r>
              <a:rPr lang="en-US" sz="2400" dirty="0">
                <a:latin typeface="Courier New" panose="02070309020205020404" pitchFamily="49" charset="0"/>
                <a:cs typeface="Courier New" panose="02070309020205020404" pitchFamily="49" charset="0"/>
              </a:rPr>
              <a:t>ipconfig</a:t>
            </a:r>
            <a:r>
              <a:rPr lang="en-US" sz="2400" dirty="0"/>
              <a:t> from command prompt to get your IP address (Windows)</a:t>
            </a:r>
            <a:endParaRPr lang="en-US" sz="2400" dirty="0"/>
          </a:p>
          <a:p>
            <a:endParaRPr lang="en-US" sz="2400" dirty="0"/>
          </a:p>
          <a:p>
            <a:endParaRPr lang="en-US" sz="2400" dirty="0"/>
          </a:p>
          <a:p>
            <a:endParaRPr lang="en-US" sz="2400" dirty="0"/>
          </a:p>
          <a:p>
            <a:pPr>
              <a:buNone/>
            </a:pPr>
            <a:endParaRPr lang="en-US" dirty="0"/>
          </a:p>
        </p:txBody>
      </p:sp>
      <p:sp>
        <p:nvSpPr>
          <p:cNvPr id="237572" name="Rectangle 4"/>
          <p:cNvSpPr>
            <a:spLocks noGrp="1" noChangeArrowheads="1"/>
          </p:cNvSpPr>
          <p:nvPr>
            <p:ph type="body" sz="half" idx="1"/>
          </p:nvPr>
        </p:nvSpPr>
        <p:spPr>
          <a:xfrm>
            <a:off x="534910" y="4893469"/>
            <a:ext cx="4125912" cy="1680402"/>
          </a:xfrm>
          <a:noFill/>
        </p:spPr>
        <p:txBody>
          <a:bodyPr/>
          <a:lstStyle/>
          <a:p>
            <a:r>
              <a:rPr lang="en-US" sz="2400" i="1" u="sng" dirty="0">
                <a:solidFill>
                  <a:srgbClr val="FF0000"/>
                </a:solidFill>
              </a:rPr>
              <a:t>Q:</a:t>
            </a:r>
            <a:r>
              <a:rPr lang="en-US" sz="2400" dirty="0"/>
              <a:t> does  IP address of host on which process runs suffice for identifying the process?</a:t>
            </a:r>
            <a:endParaRPr lang="en-US" sz="2400" dirty="0"/>
          </a:p>
          <a:p>
            <a:pPr lvl="1"/>
            <a:endParaRPr lang="en-US" sz="2000" dirty="0"/>
          </a:p>
        </p:txBody>
      </p:sp>
      <p:pic>
        <p:nvPicPr>
          <p:cNvPr id="8" name="图片 7"/>
          <p:cNvPicPr>
            <a:picLocks noChangeAspect="1"/>
          </p:cNvPicPr>
          <p:nvPr/>
        </p:nvPicPr>
        <p:blipFill>
          <a:blip r:embed="rId1"/>
          <a:stretch>
            <a:fillRect/>
          </a:stretch>
        </p:blipFill>
        <p:spPr>
          <a:xfrm>
            <a:off x="4831878" y="1543050"/>
            <a:ext cx="4052244" cy="3771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75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pPr>
              <a:defRPr/>
            </a:pPr>
            <a:r>
              <a:rPr lang="en-US"/>
              <a:t>2: Application Layer</a:t>
            </a:r>
            <a:endParaRPr lang="en-US">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a:defRPr/>
            </a:pPr>
            <a:fld id="{760F9CF3-966A-41EF-A656-E483F0936DE1}" type="slidenum">
              <a:rPr lang="en-US" smtClean="0"/>
            </a:fld>
            <a:endParaRPr lang="en-US"/>
          </a:p>
        </p:txBody>
      </p:sp>
      <p:sp>
        <p:nvSpPr>
          <p:cNvPr id="7" name="Rectangle 2"/>
          <p:cNvSpPr>
            <a:spLocks noGrp="1" noChangeArrowheads="1"/>
          </p:cNvSpPr>
          <p:nvPr>
            <p:ph type="title"/>
          </p:nvPr>
        </p:nvSpPr>
        <p:spPr>
          <a:xfrm>
            <a:off x="378853" y="0"/>
            <a:ext cx="7772400" cy="1143000"/>
          </a:xfrm>
        </p:spPr>
        <p:txBody>
          <a:bodyPr/>
          <a:lstStyle/>
          <a:p>
            <a:r>
              <a:rPr lang="en-US" sz="3200" dirty="0"/>
              <a:t>Addressing processes</a:t>
            </a:r>
            <a:endParaRPr lang="en-US" dirty="0"/>
          </a:p>
        </p:txBody>
      </p:sp>
      <p:pic>
        <p:nvPicPr>
          <p:cNvPr id="8" name="图片 7"/>
          <p:cNvPicPr>
            <a:picLocks noChangeAspect="1"/>
          </p:cNvPicPr>
          <p:nvPr/>
        </p:nvPicPr>
        <p:blipFill>
          <a:blip r:embed="rId1"/>
          <a:stretch>
            <a:fillRect/>
          </a:stretch>
        </p:blipFill>
        <p:spPr>
          <a:xfrm>
            <a:off x="4265053" y="1395625"/>
            <a:ext cx="4808449" cy="2324408"/>
          </a:xfrm>
          <a:prstGeom prst="rect">
            <a:avLst/>
          </a:prstGeom>
        </p:spPr>
      </p:pic>
      <p:sp>
        <p:nvSpPr>
          <p:cNvPr id="10" name="矩形 9"/>
          <p:cNvSpPr/>
          <p:nvPr/>
        </p:nvSpPr>
        <p:spPr>
          <a:xfrm>
            <a:off x="192882" y="993115"/>
            <a:ext cx="4572000" cy="3933384"/>
          </a:xfrm>
          <a:prstGeom prst="rect">
            <a:avLst/>
          </a:prstGeom>
        </p:spPr>
        <p:txBody>
          <a:bodyPr>
            <a:spAutoFit/>
          </a:bodyPr>
          <a:lstStyle/>
          <a:p>
            <a:pPr lvl="1"/>
            <a:r>
              <a:rPr lang="en-US" altLang="zh-CN" i="1" u="sng" dirty="0">
                <a:solidFill>
                  <a:srgbClr val="FF0000"/>
                </a:solidFill>
              </a:rPr>
              <a:t>A:</a:t>
            </a:r>
            <a:r>
              <a:rPr lang="en-US" altLang="zh-CN" dirty="0"/>
              <a:t> No, </a:t>
            </a:r>
            <a:r>
              <a:rPr lang="en-US" altLang="zh-CN" i="1" dirty="0"/>
              <a:t>many</a:t>
            </a:r>
            <a:r>
              <a:rPr lang="en-US" altLang="zh-CN" dirty="0"/>
              <a:t> processes can be running on the same host</a:t>
            </a:r>
            <a:endParaRPr lang="en-US" altLang="zh-CN" i="1" dirty="0">
              <a:solidFill>
                <a:srgbClr val="FF0000"/>
              </a:solidFill>
            </a:endParaRPr>
          </a:p>
          <a:p>
            <a:r>
              <a:rPr lang="en-US" altLang="zh-CN" i="1" dirty="0">
                <a:solidFill>
                  <a:srgbClr val="FF0000"/>
                </a:solidFill>
              </a:rPr>
              <a:t>Identifier</a:t>
            </a:r>
            <a:r>
              <a:rPr lang="en-US" altLang="zh-CN" dirty="0">
                <a:solidFill>
                  <a:srgbClr val="FF0000"/>
                </a:solidFill>
              </a:rPr>
              <a:t> </a:t>
            </a:r>
            <a:r>
              <a:rPr lang="en-US" altLang="zh-CN" dirty="0"/>
              <a:t>includes both </a:t>
            </a:r>
            <a:r>
              <a:rPr lang="en-US" altLang="zh-CN" dirty="0">
                <a:solidFill>
                  <a:srgbClr val="FF0000"/>
                </a:solidFill>
              </a:rPr>
              <a:t>IP address</a:t>
            </a:r>
            <a:r>
              <a:rPr lang="en-US" altLang="zh-CN" dirty="0"/>
              <a:t> and </a:t>
            </a:r>
            <a:r>
              <a:rPr lang="en-US" altLang="zh-CN" dirty="0">
                <a:solidFill>
                  <a:srgbClr val="FF0000"/>
                </a:solidFill>
              </a:rPr>
              <a:t>port numbers</a:t>
            </a:r>
            <a:r>
              <a:rPr lang="en-US" altLang="zh-CN" dirty="0"/>
              <a:t> associated with process on host.</a:t>
            </a:r>
            <a:endParaRPr lang="en-US" altLang="zh-CN" dirty="0"/>
          </a:p>
          <a:p>
            <a:r>
              <a:rPr lang="en-US" altLang="zh-CN" dirty="0"/>
              <a:t>Example port numbers:</a:t>
            </a:r>
            <a:endParaRPr lang="en-US" altLang="zh-CN" dirty="0"/>
          </a:p>
          <a:p>
            <a:pPr lvl="1"/>
            <a:r>
              <a:rPr lang="en-US" altLang="zh-CN" sz="2000" dirty="0"/>
              <a:t>HTTP server: 80</a:t>
            </a:r>
            <a:endParaRPr lang="en-US" altLang="zh-CN" sz="2000" dirty="0"/>
          </a:p>
          <a:p>
            <a:pPr lvl="1"/>
            <a:r>
              <a:rPr lang="en-US" altLang="zh-CN" sz="2000" dirty="0"/>
              <a:t>Mail server: 25</a:t>
            </a:r>
            <a:endParaRPr lang="zh-CN" altLang="en-US" dirty="0"/>
          </a:p>
        </p:txBody>
      </p:sp>
      <p:sp>
        <p:nvSpPr>
          <p:cNvPr id="11" name="矩形 10"/>
          <p:cNvSpPr/>
          <p:nvPr/>
        </p:nvSpPr>
        <p:spPr>
          <a:xfrm>
            <a:off x="4572000" y="3972658"/>
            <a:ext cx="4572000" cy="830997"/>
          </a:xfrm>
          <a:prstGeom prst="rect">
            <a:avLst/>
          </a:prstGeom>
        </p:spPr>
        <p:txBody>
          <a:bodyPr>
            <a:spAutoFit/>
          </a:bodyPr>
          <a:lstStyle/>
          <a:p>
            <a:r>
              <a:rPr lang="en-US" altLang="zh-CN" dirty="0"/>
              <a:t>Use  </a:t>
            </a:r>
            <a:r>
              <a:rPr lang="en-US" altLang="zh-CN" dirty="0">
                <a:latin typeface="Courier New" panose="02070309020205020404" pitchFamily="49" charset="0"/>
                <a:cs typeface="Courier New" panose="02070309020205020404" pitchFamily="49" charset="0"/>
              </a:rPr>
              <a:t>netstat –</a:t>
            </a:r>
            <a:r>
              <a:rPr lang="en-US" altLang="zh-CN" dirty="0" err="1">
                <a:latin typeface="Courier New" panose="02070309020205020404" pitchFamily="49" charset="0"/>
                <a:cs typeface="Courier New" panose="02070309020205020404" pitchFamily="49" charset="0"/>
              </a:rPr>
              <a:t>ano</a:t>
            </a:r>
            <a:r>
              <a:rPr lang="en-US" altLang="zh-CN" dirty="0"/>
              <a:t> to get the port usage.</a:t>
            </a:r>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44035" name="Slide Number Placeholder 6"/>
          <p:cNvSpPr>
            <a:spLocks noGrp="1"/>
          </p:cNvSpPr>
          <p:nvPr>
            <p:ph type="sldNum" sz="quarter" idx="12"/>
          </p:nvPr>
        </p:nvSpPr>
        <p:spPr>
          <a:noFill/>
        </p:spPr>
        <p:txBody>
          <a:bodyPr/>
          <a:lstStyle/>
          <a:p>
            <a:fld id="{0E41EF15-CF31-4494-8D4C-FEBC55E943CE}" type="slidenum">
              <a:rPr lang="en-US"/>
            </a:fld>
            <a:endParaRPr lang="en-US"/>
          </a:p>
        </p:txBody>
      </p:sp>
      <p:sp>
        <p:nvSpPr>
          <p:cNvPr id="44036" name="Rectangle 2"/>
          <p:cNvSpPr>
            <a:spLocks noGrp="1" noChangeArrowheads="1"/>
          </p:cNvSpPr>
          <p:nvPr>
            <p:ph type="title"/>
          </p:nvPr>
        </p:nvSpPr>
        <p:spPr>
          <a:xfrm>
            <a:off x="533400" y="228600"/>
            <a:ext cx="7928610" cy="1143000"/>
          </a:xfrm>
        </p:spPr>
        <p:txBody>
          <a:bodyPr/>
          <a:lstStyle/>
          <a:p>
            <a:r>
              <a:rPr lang="en-US"/>
              <a:t>App-layer protocol defines</a:t>
            </a:r>
            <a:endParaRPr lang="zh-CN" altLang="en-US">
              <a:ea typeface="宋体" panose="02010600030101010101" pitchFamily="2" charset="-122"/>
            </a:endParaRPr>
          </a:p>
        </p:txBody>
      </p:sp>
      <p:sp>
        <p:nvSpPr>
          <p:cNvPr id="44037" name="Rectangle 3"/>
          <p:cNvSpPr>
            <a:spLocks noGrp="1" noChangeArrowheads="1"/>
          </p:cNvSpPr>
          <p:nvPr>
            <p:ph type="body" sz="half" idx="1"/>
          </p:nvPr>
        </p:nvSpPr>
        <p:spPr>
          <a:xfrm>
            <a:off x="533400" y="1600200"/>
            <a:ext cx="3973513" cy="4648200"/>
          </a:xfrm>
        </p:spPr>
        <p:txBody>
          <a:bodyPr/>
          <a:lstStyle/>
          <a:p>
            <a:r>
              <a:rPr lang="en-US" sz="2400"/>
              <a:t>Types of messages exchanged, </a:t>
            </a:r>
            <a:endParaRPr lang="en-US" sz="2400"/>
          </a:p>
          <a:p>
            <a:pPr lvl="1"/>
            <a:r>
              <a:rPr lang="en-US" sz="2000"/>
              <a:t>e.g., request, response </a:t>
            </a:r>
            <a:endParaRPr lang="en-US" sz="2000"/>
          </a:p>
          <a:p>
            <a:r>
              <a:rPr lang="en-US" sz="2400"/>
              <a:t>Message syntax:</a:t>
            </a:r>
            <a:endParaRPr lang="en-US" sz="2400"/>
          </a:p>
          <a:p>
            <a:pPr lvl="1"/>
            <a:r>
              <a:rPr lang="en-US" sz="2000"/>
              <a:t>what fields in messages &amp; how fields are delineated</a:t>
            </a:r>
            <a:endParaRPr lang="en-US" sz="2000"/>
          </a:p>
          <a:p>
            <a:r>
              <a:rPr lang="en-US" sz="2400"/>
              <a:t>Message semantics </a:t>
            </a:r>
            <a:endParaRPr lang="en-US" sz="2400"/>
          </a:p>
          <a:p>
            <a:pPr lvl="1"/>
            <a:r>
              <a:rPr lang="en-US" sz="2000"/>
              <a:t>meaning of information in fields</a:t>
            </a:r>
            <a:endParaRPr lang="en-US" sz="2000"/>
          </a:p>
          <a:p>
            <a:r>
              <a:rPr lang="en-US" sz="2400"/>
              <a:t>Rules for when and how processes send &amp; respond to messages</a:t>
            </a:r>
            <a:endParaRPr lang="en-US" sz="2400"/>
          </a:p>
        </p:txBody>
      </p:sp>
      <p:sp>
        <p:nvSpPr>
          <p:cNvPr id="44038" name="Rectangle 4"/>
          <p:cNvSpPr>
            <a:spLocks noGrp="1" noChangeArrowheads="1"/>
          </p:cNvSpPr>
          <p:nvPr>
            <p:ph type="body" sz="half" idx="2"/>
          </p:nvPr>
        </p:nvSpPr>
        <p:spPr>
          <a:xfrm>
            <a:off x="4770438" y="1371600"/>
            <a:ext cx="3810000" cy="4648200"/>
          </a:xfrm>
        </p:spPr>
        <p:txBody>
          <a:bodyPr/>
          <a:lstStyle/>
          <a:p>
            <a:pPr>
              <a:buFont typeface="ZapfDingbats" pitchFamily="82" charset="2"/>
              <a:buNone/>
            </a:pPr>
            <a:r>
              <a:rPr lang="zh-CN" altLang="en-US" sz="2400">
                <a:solidFill>
                  <a:srgbClr val="FF0000"/>
                </a:solidFill>
                <a:ea typeface="宋体" panose="02010600030101010101" pitchFamily="2" charset="-122"/>
                <a:sym typeface="+mn-ea"/>
              </a:rPr>
              <a:t>（题）</a:t>
            </a:r>
            <a:r>
              <a:rPr lang="en-US" sz="2400" dirty="0">
                <a:solidFill>
                  <a:srgbClr val="FF0000"/>
                </a:solidFill>
              </a:rPr>
              <a:t>Public-domain protocols:</a:t>
            </a:r>
            <a:endParaRPr lang="en-US" sz="2400" dirty="0">
              <a:solidFill>
                <a:srgbClr val="FF0000"/>
              </a:solidFill>
            </a:endParaRPr>
          </a:p>
          <a:p>
            <a:r>
              <a:rPr lang="en-US" sz="2400" dirty="0"/>
              <a:t>defined in RFCs</a:t>
            </a:r>
            <a:endParaRPr lang="en-US" sz="2400" dirty="0"/>
          </a:p>
          <a:p>
            <a:r>
              <a:rPr lang="en-US" sz="2400" dirty="0"/>
              <a:t>allows for interoperability</a:t>
            </a:r>
            <a:endParaRPr lang="en-US" sz="2400" dirty="0"/>
          </a:p>
          <a:p>
            <a:r>
              <a:rPr lang="en-US" sz="2400" dirty="0"/>
              <a:t>e.g., HTTP, SMTP, </a:t>
            </a:r>
            <a:r>
              <a:rPr lang="en-US" sz="2400" dirty="0" err="1"/>
              <a:t>BitTorrent</a:t>
            </a:r>
            <a:endParaRPr lang="en-US" sz="2400" dirty="0"/>
          </a:p>
          <a:p>
            <a:pPr>
              <a:buFont typeface="ZapfDingbats" pitchFamily="82" charset="2"/>
              <a:buNone/>
            </a:pPr>
            <a:r>
              <a:rPr lang="en-US" sz="2400" dirty="0">
                <a:solidFill>
                  <a:srgbClr val="FF0000"/>
                </a:solidFill>
              </a:rPr>
              <a:t>Proprietary protocols:</a:t>
            </a:r>
            <a:endParaRPr lang="en-US" sz="2400" dirty="0"/>
          </a:p>
          <a:p>
            <a:r>
              <a:rPr lang="en-US" sz="2400" dirty="0"/>
              <a:t>e.g., Skype, </a:t>
            </a:r>
            <a:r>
              <a:rPr lang="en-US" sz="2400" dirty="0" err="1"/>
              <a:t>ppstream</a:t>
            </a:r>
            <a:endParaRPr lang="en-US" sz="2400" dirty="0"/>
          </a:p>
        </p:txBody>
      </p:sp>
      <p:sp>
        <p:nvSpPr>
          <p:cNvPr id="7" name="Text Box 4"/>
          <p:cNvSpPr txBox="1">
            <a:spLocks noChangeArrowheads="1"/>
          </p:cNvSpPr>
          <p:nvPr/>
        </p:nvSpPr>
        <p:spPr bwMode="auto">
          <a:xfrm>
            <a:off x="4136230" y="5380672"/>
            <a:ext cx="5007770" cy="1477328"/>
          </a:xfrm>
          <a:prstGeom prst="rect">
            <a:avLst/>
          </a:prstGeom>
          <a:noFill/>
          <a:ln w="25400">
            <a:solidFill>
              <a:schemeClr val="tx1"/>
            </a:solidFill>
            <a:miter lim="800000"/>
          </a:ln>
        </p:spPr>
        <p:txBody>
          <a:bodyPr wrap="square">
            <a:spAutoFit/>
          </a:bodyPr>
          <a:lstStyle/>
          <a:p>
            <a:pPr>
              <a:spcBef>
                <a:spcPct val="0"/>
              </a:spcBef>
              <a:buClrTx/>
              <a:buSzTx/>
              <a:buFontTx/>
              <a:buNone/>
            </a:pPr>
            <a:r>
              <a:rPr lang="en-US" sz="1800" b="1" dirty="0">
                <a:latin typeface="Courier New" panose="02070309020205020404" pitchFamily="49" charset="0"/>
              </a:rPr>
              <a:t>GET /</a:t>
            </a:r>
            <a:r>
              <a:rPr lang="en-US" sz="1800" b="1" dirty="0" err="1">
                <a:latin typeface="Courier New" panose="02070309020205020404" pitchFamily="49" charset="0"/>
              </a:rPr>
              <a:t>somedir</a:t>
            </a:r>
            <a:r>
              <a:rPr lang="en-US" sz="1800" b="1" dirty="0">
                <a:latin typeface="Courier New" panose="02070309020205020404" pitchFamily="49" charset="0"/>
              </a:rPr>
              <a:t>/page.html HTTP/1.1</a:t>
            </a:r>
            <a:endParaRPr lang="en-US" sz="1800" b="1" dirty="0">
              <a:latin typeface="Courier New" panose="02070309020205020404" pitchFamily="49" charset="0"/>
            </a:endParaRPr>
          </a:p>
          <a:p>
            <a:pPr>
              <a:spcBef>
                <a:spcPct val="0"/>
              </a:spcBef>
              <a:buClrTx/>
              <a:buSzTx/>
              <a:buFontTx/>
              <a:buNone/>
            </a:pPr>
            <a:r>
              <a:rPr lang="en-US" sz="1800" b="1" dirty="0">
                <a:latin typeface="Courier New" panose="02070309020205020404" pitchFamily="49" charset="0"/>
              </a:rPr>
              <a:t>Host: www.someschool.edu </a:t>
            </a:r>
            <a:endParaRPr lang="en-US" sz="1800" b="1" dirty="0">
              <a:latin typeface="Courier New" panose="02070309020205020404" pitchFamily="49" charset="0"/>
            </a:endParaRPr>
          </a:p>
          <a:p>
            <a:pPr>
              <a:spcBef>
                <a:spcPct val="0"/>
              </a:spcBef>
              <a:buClrTx/>
              <a:buSzTx/>
              <a:buFontTx/>
              <a:buNone/>
            </a:pPr>
            <a:r>
              <a:rPr lang="en-US" sz="1800" b="1" dirty="0">
                <a:latin typeface="Courier New" panose="02070309020205020404" pitchFamily="49" charset="0"/>
              </a:rPr>
              <a:t>User-agent: Mozilla/4.0</a:t>
            </a:r>
            <a:endParaRPr lang="en-US" sz="1800" b="1" dirty="0">
              <a:latin typeface="Courier New" panose="02070309020205020404" pitchFamily="49" charset="0"/>
            </a:endParaRPr>
          </a:p>
          <a:p>
            <a:pPr>
              <a:spcBef>
                <a:spcPct val="0"/>
              </a:spcBef>
              <a:buClrTx/>
              <a:buSzTx/>
              <a:buFontTx/>
              <a:buNone/>
            </a:pPr>
            <a:r>
              <a:rPr lang="en-US" sz="1800" b="1" dirty="0">
                <a:latin typeface="Courier New" panose="02070309020205020404" pitchFamily="49" charset="0"/>
              </a:rPr>
              <a:t>Connection: close </a:t>
            </a:r>
            <a:endParaRPr lang="en-US" sz="1800" b="1" dirty="0">
              <a:latin typeface="Courier New" panose="02070309020205020404" pitchFamily="49" charset="0"/>
            </a:endParaRPr>
          </a:p>
          <a:p>
            <a:pPr>
              <a:spcBef>
                <a:spcPct val="0"/>
              </a:spcBef>
              <a:buClrTx/>
              <a:buSzTx/>
              <a:buFontTx/>
              <a:buNone/>
            </a:pPr>
            <a:r>
              <a:rPr lang="en-US" sz="1800" b="1" dirty="0" err="1">
                <a:latin typeface="Courier New" panose="02070309020205020404" pitchFamily="49" charset="0"/>
              </a:rPr>
              <a:t>Accept-language:fr</a:t>
            </a:r>
            <a:r>
              <a:rPr lang="en-US" sz="1800" b="1" dirty="0">
                <a:latin typeface="Courier New" panose="02070309020205020404" pitchFamily="49" charset="0"/>
              </a:rPr>
              <a:t> </a:t>
            </a:r>
            <a:endParaRPr lang="en-US" sz="1800" b="1" dirty="0">
              <a:latin typeface="Courier New" panose="020703090202050204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45059" name="Slide Number Placeholder 6"/>
          <p:cNvSpPr>
            <a:spLocks noGrp="1"/>
          </p:cNvSpPr>
          <p:nvPr>
            <p:ph type="sldNum" sz="quarter" idx="12"/>
          </p:nvPr>
        </p:nvSpPr>
        <p:spPr>
          <a:noFill/>
        </p:spPr>
        <p:txBody>
          <a:bodyPr/>
          <a:lstStyle/>
          <a:p>
            <a:fld id="{9C6ACAB4-F9DF-423C-A7C8-D49AD352E41B}" type="slidenum">
              <a:rPr lang="en-US"/>
            </a:fld>
            <a:endParaRPr lang="en-US"/>
          </a:p>
        </p:txBody>
      </p:sp>
      <p:sp>
        <p:nvSpPr>
          <p:cNvPr id="45060" name="Rectangle 2"/>
          <p:cNvSpPr>
            <a:spLocks noGrp="1" noChangeArrowheads="1"/>
          </p:cNvSpPr>
          <p:nvPr>
            <p:ph type="title"/>
          </p:nvPr>
        </p:nvSpPr>
        <p:spPr>
          <a:xfrm>
            <a:off x="533400" y="0"/>
            <a:ext cx="8305800" cy="1143000"/>
          </a:xfrm>
        </p:spPr>
        <p:txBody>
          <a:bodyPr/>
          <a:lstStyle/>
          <a:p>
            <a:r>
              <a:rPr lang="en-US" sz="3200"/>
              <a:t>What transport service does an app need?</a:t>
            </a:r>
            <a:endParaRPr lang="en-US"/>
          </a:p>
        </p:txBody>
      </p:sp>
      <p:sp>
        <p:nvSpPr>
          <p:cNvPr id="45061" name="Rectangle 3"/>
          <p:cNvSpPr>
            <a:spLocks noGrp="1" noChangeArrowheads="1"/>
          </p:cNvSpPr>
          <p:nvPr>
            <p:ph type="body" sz="half" idx="1"/>
          </p:nvPr>
        </p:nvSpPr>
        <p:spPr>
          <a:xfrm>
            <a:off x="379413" y="1141413"/>
            <a:ext cx="4316412" cy="2797175"/>
          </a:xfrm>
        </p:spPr>
        <p:txBody>
          <a:bodyPr/>
          <a:lstStyle/>
          <a:p>
            <a:pPr>
              <a:lnSpc>
                <a:spcPct val="90000"/>
              </a:lnSpc>
              <a:buFont typeface="ZapfDingbats" pitchFamily="82" charset="2"/>
              <a:buNone/>
            </a:pPr>
            <a:r>
              <a:rPr lang="en-US" sz="2400">
                <a:solidFill>
                  <a:srgbClr val="FF0000"/>
                </a:solidFill>
              </a:rPr>
              <a:t>Data loss</a:t>
            </a:r>
            <a:endParaRPr lang="en-US" sz="2400"/>
          </a:p>
          <a:p>
            <a:pPr>
              <a:lnSpc>
                <a:spcPct val="90000"/>
              </a:lnSpc>
            </a:pPr>
            <a:r>
              <a:rPr lang="en-US" sz="2400"/>
              <a:t>some apps (e.g., audio) can tolerate some loss</a:t>
            </a:r>
            <a:endParaRPr lang="en-US" sz="2400"/>
          </a:p>
          <a:p>
            <a:pPr>
              <a:lnSpc>
                <a:spcPct val="90000"/>
              </a:lnSpc>
            </a:pPr>
            <a:r>
              <a:rPr lang="en-US" sz="2400"/>
              <a:t>other apps (e.g., file transfer, telnet) require 100% reliable data transfer</a:t>
            </a:r>
            <a:r>
              <a:rPr lang="en-US"/>
              <a:t> </a:t>
            </a:r>
            <a:endParaRPr lang="en-US"/>
          </a:p>
        </p:txBody>
      </p:sp>
      <p:sp>
        <p:nvSpPr>
          <p:cNvPr id="45062" name="Rectangle 4"/>
          <p:cNvSpPr>
            <a:spLocks noGrp="1" noChangeArrowheads="1"/>
          </p:cNvSpPr>
          <p:nvPr>
            <p:ph type="body" sz="half" idx="2"/>
          </p:nvPr>
        </p:nvSpPr>
        <p:spPr>
          <a:xfrm>
            <a:off x="404813" y="3724275"/>
            <a:ext cx="3810000" cy="2443163"/>
          </a:xfrm>
        </p:spPr>
        <p:txBody>
          <a:bodyPr/>
          <a:lstStyle/>
          <a:p>
            <a:pPr>
              <a:lnSpc>
                <a:spcPct val="90000"/>
              </a:lnSpc>
              <a:buFont typeface="ZapfDingbats" pitchFamily="82" charset="2"/>
              <a:buNone/>
            </a:pPr>
            <a:r>
              <a:rPr lang="en-US" sz="2400">
                <a:solidFill>
                  <a:srgbClr val="FF0000"/>
                </a:solidFill>
              </a:rPr>
              <a:t>Timing</a:t>
            </a:r>
            <a:endParaRPr lang="en-US" sz="2400"/>
          </a:p>
          <a:p>
            <a:pPr>
              <a:lnSpc>
                <a:spcPct val="90000"/>
              </a:lnSpc>
            </a:pPr>
            <a:r>
              <a:rPr lang="en-US" sz="2400"/>
              <a:t>some apps (e.g., Internet telephony, interactive games) require low delay to be “effective”</a:t>
            </a:r>
            <a:endParaRPr lang="en-US" sz="2400"/>
          </a:p>
        </p:txBody>
      </p:sp>
      <p:sp>
        <p:nvSpPr>
          <p:cNvPr id="45063" name="Rectangle 5"/>
          <p:cNvSpPr>
            <a:spLocks noChangeArrowheads="1"/>
          </p:cNvSpPr>
          <p:nvPr/>
        </p:nvSpPr>
        <p:spPr bwMode="auto">
          <a:xfrm>
            <a:off x="4860925" y="1090613"/>
            <a:ext cx="4283075" cy="3656012"/>
          </a:xfrm>
          <a:prstGeom prst="rect">
            <a:avLst/>
          </a:prstGeom>
          <a:noFill/>
          <a:ln w="9525">
            <a:noFill/>
            <a:miter lim="800000"/>
          </a:ln>
        </p:spPr>
        <p:txBody>
          <a:bodyPr/>
          <a:lstStyle/>
          <a:p>
            <a:pPr marL="342900" indent="-342900"/>
            <a:r>
              <a:rPr lang="en-US">
                <a:solidFill>
                  <a:srgbClr val="FF0000"/>
                </a:solidFill>
              </a:rPr>
              <a:t>Throughput</a:t>
            </a:r>
            <a:endParaRPr lang="en-US">
              <a:solidFill>
                <a:srgbClr val="FF0000"/>
              </a:solidFill>
            </a:endParaRPr>
          </a:p>
          <a:p>
            <a:pPr marL="342900" indent="-342900">
              <a:buFont typeface="ZapfDingbats" pitchFamily="82" charset="2"/>
              <a:buChar char="r"/>
            </a:pPr>
            <a:r>
              <a:rPr lang="en-US"/>
              <a:t>some apps (e.g., multimedia) require minimum amount of throughput to be “effective”</a:t>
            </a:r>
            <a:endParaRPr lang="en-US"/>
          </a:p>
          <a:p>
            <a:pPr marL="342900" indent="-342900">
              <a:buFont typeface="ZapfDingbats" pitchFamily="82" charset="2"/>
              <a:buChar char="r"/>
            </a:pPr>
            <a:r>
              <a:rPr lang="en-US"/>
              <a:t>other apps (“elastic apps”) make use of whatever throughput they get </a:t>
            </a:r>
            <a:endParaRPr lang="en-US"/>
          </a:p>
          <a:p>
            <a:pPr marL="342900" indent="-342900"/>
            <a:r>
              <a:rPr lang="en-US">
                <a:solidFill>
                  <a:srgbClr val="FF0000"/>
                </a:solidFill>
              </a:rPr>
              <a:t>Security</a:t>
            </a:r>
            <a:endParaRPr lang="en-US">
              <a:solidFill>
                <a:srgbClr val="FF0000"/>
              </a:solidFill>
            </a:endParaRPr>
          </a:p>
          <a:p>
            <a:pPr marL="342900" indent="-342900">
              <a:buFont typeface="ZapfDingbats" pitchFamily="82" charset="2"/>
              <a:buChar char="r"/>
            </a:pPr>
            <a:r>
              <a:rPr lang="en-US"/>
              <a:t>Encryption, data integrity, …</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46083" name="Slide Number Placeholder 4"/>
          <p:cNvSpPr>
            <a:spLocks noGrp="1"/>
          </p:cNvSpPr>
          <p:nvPr>
            <p:ph type="sldNum" sz="quarter" idx="12"/>
          </p:nvPr>
        </p:nvSpPr>
        <p:spPr>
          <a:noFill/>
        </p:spPr>
        <p:txBody>
          <a:bodyPr/>
          <a:lstStyle/>
          <a:p>
            <a:fld id="{704CA0F4-9435-4074-91C3-AB053E62EBC4}" type="slidenum">
              <a:rPr lang="en-US"/>
            </a:fld>
            <a:endParaRPr lang="en-US"/>
          </a:p>
        </p:txBody>
      </p:sp>
      <p:sp>
        <p:nvSpPr>
          <p:cNvPr id="46084" name="Rectangle 2"/>
          <p:cNvSpPr>
            <a:spLocks noGrp="1" noChangeArrowheads="1"/>
          </p:cNvSpPr>
          <p:nvPr>
            <p:ph type="title"/>
          </p:nvPr>
        </p:nvSpPr>
        <p:spPr>
          <a:xfrm>
            <a:off x="371475" y="303213"/>
            <a:ext cx="8201025" cy="1143000"/>
          </a:xfrm>
        </p:spPr>
        <p:txBody>
          <a:bodyPr/>
          <a:lstStyle/>
          <a:p>
            <a:r>
              <a:rPr lang="en-US" sz="2800"/>
              <a:t>Transport service requirements of common apps</a:t>
            </a:r>
            <a:endParaRPr lang="en-US"/>
          </a:p>
        </p:txBody>
      </p:sp>
      <p:sp>
        <p:nvSpPr>
          <p:cNvPr id="46085" name="Text Box 3"/>
          <p:cNvSpPr txBox="1">
            <a:spLocks noChangeArrowheads="1"/>
          </p:cNvSpPr>
          <p:nvPr/>
        </p:nvSpPr>
        <p:spPr bwMode="auto">
          <a:xfrm>
            <a:off x="182563" y="1727200"/>
            <a:ext cx="2541587" cy="3140075"/>
          </a:xfrm>
          <a:prstGeom prst="rect">
            <a:avLst/>
          </a:prstGeom>
          <a:noFill/>
          <a:ln w="9525">
            <a:noFill/>
            <a:miter lim="800000"/>
          </a:ln>
        </p:spPr>
        <p:txBody>
          <a:bodyPr wrap="none">
            <a:spAutoFit/>
          </a:bodyPr>
          <a:lstStyle/>
          <a:p>
            <a:pPr algn="r">
              <a:spcBef>
                <a:spcPct val="0"/>
              </a:spcBef>
              <a:buClrTx/>
              <a:buSzTx/>
              <a:buFontTx/>
              <a:buNone/>
            </a:pPr>
            <a:r>
              <a:rPr lang="en-US" sz="2000" b="1">
                <a:latin typeface="Arial" panose="020B0604020202020204" pitchFamily="34" charset="0"/>
              </a:rPr>
              <a:t>Application</a:t>
            </a:r>
            <a:endParaRPr lang="en-US" sz="2000">
              <a:latin typeface="Arial" panose="020B0604020202020204" pitchFamily="34" charset="0"/>
            </a:endParaRPr>
          </a:p>
          <a:p>
            <a:pPr algn="r">
              <a:spcBef>
                <a:spcPct val="0"/>
              </a:spcBef>
              <a:buClrTx/>
              <a:buSzTx/>
              <a:buFontTx/>
              <a:buNone/>
            </a:pP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file transfer</a:t>
            </a: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e-mail</a:t>
            </a: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Web documents</a:t>
            </a: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real-time audio/video</a:t>
            </a:r>
            <a:endParaRPr lang="en-US" sz="2000">
              <a:latin typeface="Arial" panose="020B0604020202020204" pitchFamily="34" charset="0"/>
            </a:endParaRPr>
          </a:p>
          <a:p>
            <a:pPr algn="r">
              <a:spcBef>
                <a:spcPct val="0"/>
              </a:spcBef>
              <a:buClrTx/>
              <a:buSzTx/>
              <a:buFontTx/>
              <a:buNone/>
            </a:pP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stored audio/video</a:t>
            </a: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interactive games</a:t>
            </a: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instant messaging</a:t>
            </a:r>
            <a:endParaRPr lang="en-US">
              <a:latin typeface="Times New Roman" panose="02020603050405020304" pitchFamily="18" charset="0"/>
            </a:endParaRPr>
          </a:p>
        </p:txBody>
      </p:sp>
      <p:sp>
        <p:nvSpPr>
          <p:cNvPr id="46086" name="Text Box 4"/>
          <p:cNvSpPr txBox="1">
            <a:spLocks noChangeArrowheads="1"/>
          </p:cNvSpPr>
          <p:nvPr/>
        </p:nvSpPr>
        <p:spPr bwMode="auto">
          <a:xfrm>
            <a:off x="2816225" y="1752600"/>
            <a:ext cx="1566863" cy="3140075"/>
          </a:xfrm>
          <a:prstGeom prst="rect">
            <a:avLst/>
          </a:prstGeom>
          <a:noFill/>
          <a:ln w="9525">
            <a:noFill/>
            <a:miter lim="800000"/>
          </a:ln>
        </p:spPr>
        <p:txBody>
          <a:bodyPr wrap="none">
            <a:spAutoFit/>
          </a:bodyPr>
          <a:lstStyle/>
          <a:p>
            <a:pPr>
              <a:spcBef>
                <a:spcPct val="0"/>
              </a:spcBef>
              <a:buClrTx/>
              <a:buSzTx/>
              <a:buFontTx/>
              <a:buNone/>
            </a:pPr>
            <a:r>
              <a:rPr lang="en-US" sz="2000" b="1">
                <a:latin typeface="Arial" panose="020B0604020202020204" pitchFamily="34" charset="0"/>
              </a:rPr>
              <a:t>Data loss</a:t>
            </a:r>
            <a:endParaRPr lang="en-US" sz="2000">
              <a:latin typeface="Arial" panose="020B0604020202020204" pitchFamily="34" charset="0"/>
            </a:endParaRPr>
          </a:p>
          <a:p>
            <a:pPr>
              <a:spcBef>
                <a:spcPct val="0"/>
              </a:spcBef>
              <a:buClrTx/>
              <a:buSzTx/>
              <a:buFontTx/>
              <a:buNone/>
            </a:pP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no loss</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no loss</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no loss</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loss-tolerant</a:t>
            </a:r>
            <a:endParaRPr lang="en-US" sz="2000">
              <a:latin typeface="Arial" panose="020B0604020202020204" pitchFamily="34" charset="0"/>
            </a:endParaRPr>
          </a:p>
          <a:p>
            <a:pPr>
              <a:spcBef>
                <a:spcPct val="0"/>
              </a:spcBef>
              <a:buClrTx/>
              <a:buSzTx/>
              <a:buFontTx/>
              <a:buNone/>
            </a:pP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loss-tolerant</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loss-tolerant</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no loss</a:t>
            </a:r>
            <a:endParaRPr lang="en-US">
              <a:latin typeface="Times New Roman" panose="02020603050405020304" pitchFamily="18" charset="0"/>
            </a:endParaRPr>
          </a:p>
        </p:txBody>
      </p:sp>
      <p:sp>
        <p:nvSpPr>
          <p:cNvPr id="46087" name="Text Box 5"/>
          <p:cNvSpPr txBox="1">
            <a:spLocks noChangeArrowheads="1"/>
          </p:cNvSpPr>
          <p:nvPr/>
        </p:nvSpPr>
        <p:spPr bwMode="auto">
          <a:xfrm>
            <a:off x="4502150" y="1751013"/>
            <a:ext cx="2574925" cy="3140075"/>
          </a:xfrm>
          <a:prstGeom prst="rect">
            <a:avLst/>
          </a:prstGeom>
          <a:noFill/>
          <a:ln w="9525">
            <a:noFill/>
            <a:miter lim="800000"/>
          </a:ln>
        </p:spPr>
        <p:txBody>
          <a:bodyPr>
            <a:spAutoFit/>
          </a:bodyPr>
          <a:lstStyle/>
          <a:p>
            <a:pPr>
              <a:spcBef>
                <a:spcPct val="0"/>
              </a:spcBef>
              <a:buClrTx/>
              <a:buSzTx/>
              <a:buFontTx/>
              <a:buNone/>
            </a:pPr>
            <a:r>
              <a:rPr lang="en-US" sz="2000" b="1">
                <a:latin typeface="Arial" panose="020B0604020202020204" pitchFamily="34" charset="0"/>
              </a:rPr>
              <a:t>Throughput</a:t>
            </a:r>
            <a:endParaRPr lang="en-US" sz="2000" b="1">
              <a:latin typeface="Arial" panose="020B0604020202020204" pitchFamily="34" charset="0"/>
            </a:endParaRPr>
          </a:p>
          <a:p>
            <a:pPr>
              <a:spcBef>
                <a:spcPct val="0"/>
              </a:spcBef>
              <a:buClrTx/>
              <a:buSzTx/>
              <a:buFontTx/>
              <a:buNone/>
            </a:pP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elastic</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elastic</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elastic</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audio: 5kbps-1Mbps</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video:10kbps-5Mbps</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same as above </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few kbps up</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elastic</a:t>
            </a:r>
            <a:endParaRPr lang="en-US" sz="2000">
              <a:latin typeface="Arial" panose="020B0604020202020204" pitchFamily="34" charset="0"/>
            </a:endParaRPr>
          </a:p>
        </p:txBody>
      </p:sp>
      <p:sp>
        <p:nvSpPr>
          <p:cNvPr id="46088" name="Text Box 6"/>
          <p:cNvSpPr txBox="1">
            <a:spLocks noChangeArrowheads="1"/>
          </p:cNvSpPr>
          <p:nvPr/>
        </p:nvSpPr>
        <p:spPr bwMode="auto">
          <a:xfrm>
            <a:off x="6935788" y="1697038"/>
            <a:ext cx="2062162" cy="3140075"/>
          </a:xfrm>
          <a:prstGeom prst="rect">
            <a:avLst/>
          </a:prstGeom>
          <a:noFill/>
          <a:ln w="9525">
            <a:noFill/>
            <a:miter lim="800000"/>
          </a:ln>
        </p:spPr>
        <p:txBody>
          <a:bodyPr>
            <a:spAutoFit/>
          </a:bodyPr>
          <a:lstStyle/>
          <a:p>
            <a:pPr>
              <a:spcBef>
                <a:spcPct val="0"/>
              </a:spcBef>
              <a:buClrTx/>
              <a:buSzTx/>
              <a:buFontTx/>
              <a:buNone/>
            </a:pPr>
            <a:r>
              <a:rPr lang="en-US" sz="2000" b="1">
                <a:latin typeface="Arial" panose="020B0604020202020204" pitchFamily="34" charset="0"/>
              </a:rPr>
              <a:t>Time Sensitive</a:t>
            </a:r>
            <a:endParaRPr lang="en-US" sz="2000">
              <a:latin typeface="Arial" panose="020B0604020202020204" pitchFamily="34" charset="0"/>
            </a:endParaRPr>
          </a:p>
          <a:p>
            <a:pPr>
              <a:spcBef>
                <a:spcPct val="0"/>
              </a:spcBef>
              <a:buClrTx/>
              <a:buSzTx/>
              <a:buFontTx/>
              <a:buNone/>
            </a:pP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no</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no</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no</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yes, 100’s msec</a:t>
            </a:r>
            <a:endParaRPr lang="en-US" sz="2000">
              <a:latin typeface="Arial" panose="020B0604020202020204" pitchFamily="34" charset="0"/>
            </a:endParaRPr>
          </a:p>
          <a:p>
            <a:pPr>
              <a:spcBef>
                <a:spcPct val="0"/>
              </a:spcBef>
              <a:buClrTx/>
              <a:buSzTx/>
              <a:buFontTx/>
              <a:buNone/>
            </a:pP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yes, few secs</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yes, 100’s msec</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yes and no</a:t>
            </a:r>
            <a:endParaRPr lang="en-US" sz="2000">
              <a:latin typeface="Arial" panose="020B0604020202020204" pitchFamily="34" charset="0"/>
            </a:endParaRPr>
          </a:p>
        </p:txBody>
      </p:sp>
      <p:sp>
        <p:nvSpPr>
          <p:cNvPr id="46089" name="Line 7"/>
          <p:cNvSpPr>
            <a:spLocks noChangeShapeType="1"/>
          </p:cNvSpPr>
          <p:nvPr/>
        </p:nvSpPr>
        <p:spPr bwMode="auto">
          <a:xfrm flipV="1">
            <a:off x="895350" y="2133600"/>
            <a:ext cx="7562850" cy="9525"/>
          </a:xfrm>
          <a:prstGeom prst="line">
            <a:avLst/>
          </a:prstGeom>
          <a:noFill/>
          <a:ln w="28575">
            <a:solidFill>
              <a:schemeClr val="accent2"/>
            </a:solidFill>
            <a:round/>
          </a:ln>
        </p:spPr>
        <p:txBody>
          <a:bodyPr wrap="none" anchor="ctr"/>
          <a:lstStyle/>
          <a:p>
            <a:endParaRPr lang="en-US"/>
          </a:p>
        </p:txBody>
      </p:sp>
      <p:sp>
        <p:nvSpPr>
          <p:cNvPr id="46090" name="Line 8"/>
          <p:cNvSpPr>
            <a:spLocks noChangeShapeType="1"/>
          </p:cNvSpPr>
          <p:nvPr/>
        </p:nvSpPr>
        <p:spPr bwMode="auto">
          <a:xfrm flipV="1">
            <a:off x="847725" y="2733675"/>
            <a:ext cx="7629525" cy="0"/>
          </a:xfrm>
          <a:prstGeom prst="line">
            <a:avLst/>
          </a:prstGeom>
          <a:noFill/>
          <a:ln w="12700">
            <a:solidFill>
              <a:schemeClr val="tx1"/>
            </a:solidFill>
            <a:round/>
          </a:ln>
        </p:spPr>
        <p:txBody>
          <a:bodyPr wrap="none" anchor="ctr"/>
          <a:lstStyle/>
          <a:p>
            <a:endParaRPr lang="en-US"/>
          </a:p>
        </p:txBody>
      </p:sp>
      <p:sp>
        <p:nvSpPr>
          <p:cNvPr id="46091" name="Line 9"/>
          <p:cNvSpPr>
            <a:spLocks noChangeShapeType="1"/>
          </p:cNvSpPr>
          <p:nvPr/>
        </p:nvSpPr>
        <p:spPr bwMode="auto">
          <a:xfrm flipV="1">
            <a:off x="857250" y="3028950"/>
            <a:ext cx="7629525" cy="0"/>
          </a:xfrm>
          <a:prstGeom prst="line">
            <a:avLst/>
          </a:prstGeom>
          <a:noFill/>
          <a:ln w="12700">
            <a:solidFill>
              <a:schemeClr val="tx1"/>
            </a:solidFill>
            <a:round/>
          </a:ln>
        </p:spPr>
        <p:txBody>
          <a:bodyPr wrap="none" anchor="ctr"/>
          <a:lstStyle/>
          <a:p>
            <a:endParaRPr lang="en-US"/>
          </a:p>
        </p:txBody>
      </p:sp>
      <p:sp>
        <p:nvSpPr>
          <p:cNvPr id="46092" name="Line 10"/>
          <p:cNvSpPr>
            <a:spLocks noChangeShapeType="1"/>
          </p:cNvSpPr>
          <p:nvPr/>
        </p:nvSpPr>
        <p:spPr bwMode="auto">
          <a:xfrm flipV="1">
            <a:off x="866775" y="3324225"/>
            <a:ext cx="7629525" cy="0"/>
          </a:xfrm>
          <a:prstGeom prst="line">
            <a:avLst/>
          </a:prstGeom>
          <a:noFill/>
          <a:ln w="12700">
            <a:solidFill>
              <a:schemeClr val="tx1"/>
            </a:solidFill>
            <a:round/>
          </a:ln>
        </p:spPr>
        <p:txBody>
          <a:bodyPr wrap="none" anchor="ctr"/>
          <a:lstStyle/>
          <a:p>
            <a:endParaRPr lang="en-US"/>
          </a:p>
        </p:txBody>
      </p:sp>
      <p:sp>
        <p:nvSpPr>
          <p:cNvPr id="46093" name="Line 11"/>
          <p:cNvSpPr>
            <a:spLocks noChangeShapeType="1"/>
          </p:cNvSpPr>
          <p:nvPr/>
        </p:nvSpPr>
        <p:spPr bwMode="auto">
          <a:xfrm flipV="1">
            <a:off x="885825" y="3933825"/>
            <a:ext cx="7629525" cy="0"/>
          </a:xfrm>
          <a:prstGeom prst="line">
            <a:avLst/>
          </a:prstGeom>
          <a:noFill/>
          <a:ln w="12700">
            <a:solidFill>
              <a:schemeClr val="tx1"/>
            </a:solidFill>
            <a:round/>
          </a:ln>
        </p:spPr>
        <p:txBody>
          <a:bodyPr wrap="none" anchor="ctr"/>
          <a:lstStyle/>
          <a:p>
            <a:endParaRPr lang="en-US"/>
          </a:p>
        </p:txBody>
      </p:sp>
      <p:sp>
        <p:nvSpPr>
          <p:cNvPr id="46094" name="Line 12"/>
          <p:cNvSpPr>
            <a:spLocks noChangeShapeType="1"/>
          </p:cNvSpPr>
          <p:nvPr/>
        </p:nvSpPr>
        <p:spPr bwMode="auto">
          <a:xfrm flipV="1">
            <a:off x="838200" y="4248150"/>
            <a:ext cx="7629525" cy="0"/>
          </a:xfrm>
          <a:prstGeom prst="line">
            <a:avLst/>
          </a:prstGeom>
          <a:noFill/>
          <a:ln w="12700">
            <a:solidFill>
              <a:schemeClr val="tx1"/>
            </a:solidFill>
            <a:round/>
          </a:ln>
        </p:spPr>
        <p:txBody>
          <a:bodyPr wrap="none" anchor="ctr"/>
          <a:lstStyle/>
          <a:p>
            <a:endParaRPr lang="en-US"/>
          </a:p>
        </p:txBody>
      </p:sp>
      <p:sp>
        <p:nvSpPr>
          <p:cNvPr id="46095" name="Line 13"/>
          <p:cNvSpPr>
            <a:spLocks noChangeShapeType="1"/>
          </p:cNvSpPr>
          <p:nvPr/>
        </p:nvSpPr>
        <p:spPr bwMode="auto">
          <a:xfrm flipV="1">
            <a:off x="838200" y="4572000"/>
            <a:ext cx="7629525" cy="0"/>
          </a:xfrm>
          <a:prstGeom prst="line">
            <a:avLst/>
          </a:prstGeom>
          <a:noFill/>
          <a:ln w="12700">
            <a:solidFill>
              <a:schemeClr val="tx1"/>
            </a:solidFill>
            <a:round/>
          </a:ln>
        </p:spPr>
        <p:txBody>
          <a:bodyPr wrap="none" anchor="ctr"/>
          <a:lstStyle/>
          <a:p>
            <a:endParaRPr lang="en-US"/>
          </a:p>
        </p:txBody>
      </p:sp>
      <p:sp>
        <p:nvSpPr>
          <p:cNvPr id="46096" name="Line 14"/>
          <p:cNvSpPr>
            <a:spLocks noChangeShapeType="1"/>
          </p:cNvSpPr>
          <p:nvPr/>
        </p:nvSpPr>
        <p:spPr bwMode="auto">
          <a:xfrm flipV="1">
            <a:off x="800100" y="4905375"/>
            <a:ext cx="7629525" cy="0"/>
          </a:xfrm>
          <a:prstGeom prst="line">
            <a:avLst/>
          </a:prstGeom>
          <a:noFill/>
          <a:ln w="12700">
            <a:solidFill>
              <a:schemeClr val="tx1"/>
            </a:solidFill>
            <a:round/>
          </a:ln>
        </p:spPr>
        <p:txBody>
          <a:bodyPr wrap="none" anchor="ct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47107" name="Slide Number Placeholder 6"/>
          <p:cNvSpPr>
            <a:spLocks noGrp="1"/>
          </p:cNvSpPr>
          <p:nvPr>
            <p:ph type="sldNum" sz="quarter" idx="12"/>
          </p:nvPr>
        </p:nvSpPr>
        <p:spPr>
          <a:noFill/>
        </p:spPr>
        <p:txBody>
          <a:bodyPr/>
          <a:lstStyle/>
          <a:p>
            <a:fld id="{5DF8DD7E-7E56-473E-ADAC-8D69BBCB6413}" type="slidenum">
              <a:rPr lang="en-US"/>
            </a:fld>
            <a:endParaRPr lang="en-US"/>
          </a:p>
        </p:txBody>
      </p:sp>
      <p:sp>
        <p:nvSpPr>
          <p:cNvPr id="47108" name="Rectangle 2"/>
          <p:cNvSpPr>
            <a:spLocks noGrp="1" noChangeArrowheads="1"/>
          </p:cNvSpPr>
          <p:nvPr>
            <p:ph type="title"/>
          </p:nvPr>
        </p:nvSpPr>
        <p:spPr/>
        <p:txBody>
          <a:bodyPr/>
          <a:lstStyle/>
          <a:p>
            <a:r>
              <a:rPr lang="en-US" sz="3200"/>
              <a:t>Internet transport protocols services</a:t>
            </a:r>
            <a:endParaRPr lang="en-US"/>
          </a:p>
        </p:txBody>
      </p:sp>
      <p:sp>
        <p:nvSpPr>
          <p:cNvPr id="47109" name="Rectangle 3"/>
          <p:cNvSpPr>
            <a:spLocks noGrp="1" noChangeArrowheads="1"/>
          </p:cNvSpPr>
          <p:nvPr>
            <p:ph type="body" sz="half" idx="1"/>
          </p:nvPr>
        </p:nvSpPr>
        <p:spPr>
          <a:xfrm>
            <a:off x="533400" y="1600200"/>
            <a:ext cx="4095750" cy="4648200"/>
          </a:xfrm>
        </p:spPr>
        <p:txBody>
          <a:bodyPr/>
          <a:lstStyle/>
          <a:p>
            <a:pPr>
              <a:buFont typeface="ZapfDingbats" pitchFamily="82" charset="2"/>
              <a:buNone/>
            </a:pPr>
            <a:r>
              <a:rPr lang="en-US" sz="2400" u="sng">
                <a:solidFill>
                  <a:srgbClr val="FF0000"/>
                </a:solidFill>
              </a:rPr>
              <a:t>TCP service:</a:t>
            </a:r>
            <a:endParaRPr lang="en-US" sz="2400"/>
          </a:p>
          <a:p>
            <a:r>
              <a:rPr lang="en-US" sz="2000" i="1">
                <a:solidFill>
                  <a:schemeClr val="accent2"/>
                </a:solidFill>
              </a:rPr>
              <a:t>connection-oriented:</a:t>
            </a:r>
            <a:r>
              <a:rPr lang="en-US" sz="2000"/>
              <a:t> setup required between client and server processes</a:t>
            </a:r>
            <a:endParaRPr lang="en-US" sz="2000"/>
          </a:p>
          <a:p>
            <a:r>
              <a:rPr lang="en-US" sz="2000" i="1">
                <a:solidFill>
                  <a:schemeClr val="accent2"/>
                </a:solidFill>
              </a:rPr>
              <a:t>reliable transport </a:t>
            </a:r>
            <a:r>
              <a:rPr lang="en-US" sz="2000"/>
              <a:t>between sending and receiving process</a:t>
            </a:r>
            <a:endParaRPr lang="en-US" sz="2000">
              <a:solidFill>
                <a:schemeClr val="accent2"/>
              </a:solidFill>
            </a:endParaRPr>
          </a:p>
          <a:p>
            <a:r>
              <a:rPr lang="en-US" sz="2000" i="1">
                <a:solidFill>
                  <a:schemeClr val="accent2"/>
                </a:solidFill>
              </a:rPr>
              <a:t>flow control:</a:t>
            </a:r>
            <a:r>
              <a:rPr lang="en-US" sz="2000"/>
              <a:t> sender won’t overwhelm receiver </a:t>
            </a:r>
            <a:endParaRPr lang="en-US" sz="2000"/>
          </a:p>
          <a:p>
            <a:r>
              <a:rPr lang="en-US" sz="2000" i="1">
                <a:solidFill>
                  <a:schemeClr val="accent2"/>
                </a:solidFill>
              </a:rPr>
              <a:t>congestion control:</a:t>
            </a:r>
            <a:r>
              <a:rPr lang="en-US" sz="2000"/>
              <a:t> throttle sender when network overloaded</a:t>
            </a:r>
            <a:endParaRPr lang="en-US" sz="2000"/>
          </a:p>
          <a:p>
            <a:r>
              <a:rPr lang="en-US" sz="2000" i="1">
                <a:solidFill>
                  <a:schemeClr val="accent2"/>
                </a:solidFill>
              </a:rPr>
              <a:t>does not provide:</a:t>
            </a:r>
            <a:r>
              <a:rPr lang="en-US" sz="2000"/>
              <a:t> timing, minimum throughput guarantees, security</a:t>
            </a:r>
            <a:endParaRPr lang="en-US" sz="2400"/>
          </a:p>
        </p:txBody>
      </p:sp>
      <p:sp>
        <p:nvSpPr>
          <p:cNvPr id="47110" name="Rectangle 4"/>
          <p:cNvSpPr>
            <a:spLocks noGrp="1" noChangeArrowheads="1"/>
          </p:cNvSpPr>
          <p:nvPr>
            <p:ph type="body" sz="half" idx="2"/>
          </p:nvPr>
        </p:nvSpPr>
        <p:spPr>
          <a:xfrm>
            <a:off x="4733925" y="1562100"/>
            <a:ext cx="3667125" cy="4648200"/>
          </a:xfrm>
        </p:spPr>
        <p:txBody>
          <a:bodyPr/>
          <a:lstStyle/>
          <a:p>
            <a:pPr>
              <a:buFont typeface="ZapfDingbats" pitchFamily="82" charset="2"/>
              <a:buNone/>
            </a:pPr>
            <a:r>
              <a:rPr lang="en-US" sz="2400" u="sng">
                <a:solidFill>
                  <a:srgbClr val="FF0000"/>
                </a:solidFill>
              </a:rPr>
              <a:t>UDP service:</a:t>
            </a:r>
            <a:endParaRPr lang="en-US" sz="2400"/>
          </a:p>
          <a:p>
            <a:r>
              <a:rPr lang="en-US" sz="2000"/>
              <a:t>unreliable data transfer between sending and receiving process</a:t>
            </a:r>
            <a:endParaRPr lang="en-US" sz="2000"/>
          </a:p>
          <a:p>
            <a:r>
              <a:rPr lang="en-US" sz="2000"/>
              <a:t>does not provide: connection setup, reliability, flow control, congestion control, timing, throughput guarantee, or security </a:t>
            </a:r>
            <a:endParaRPr lang="en-US" sz="2000"/>
          </a:p>
          <a:p>
            <a:endParaRPr lang="en-US" sz="2000"/>
          </a:p>
          <a:p>
            <a:pPr>
              <a:buFont typeface="ZapfDingbats" pitchFamily="82" charset="2"/>
              <a:buNone/>
            </a:pPr>
            <a:r>
              <a:rPr lang="en-US" sz="2000" u="sng">
                <a:solidFill>
                  <a:srgbClr val="FF0000"/>
                </a:solidFill>
              </a:rPr>
              <a:t>Q:</a:t>
            </a:r>
            <a:r>
              <a:rPr lang="en-US" sz="2000"/>
              <a:t> why bother?  Why is there a UDP?</a:t>
            </a:r>
            <a:endParaRPr lang="en-US"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48131" name="Slide Number Placeholder 4"/>
          <p:cNvSpPr>
            <a:spLocks noGrp="1"/>
          </p:cNvSpPr>
          <p:nvPr>
            <p:ph type="sldNum" sz="quarter" idx="12"/>
          </p:nvPr>
        </p:nvSpPr>
        <p:spPr>
          <a:noFill/>
        </p:spPr>
        <p:txBody>
          <a:bodyPr/>
          <a:lstStyle/>
          <a:p>
            <a:fld id="{EF0E6B5D-6747-4DC1-A539-B272629B5572}" type="slidenum">
              <a:rPr lang="en-US"/>
            </a:fld>
            <a:endParaRPr lang="en-US"/>
          </a:p>
        </p:txBody>
      </p:sp>
      <p:sp>
        <p:nvSpPr>
          <p:cNvPr id="48132" name="Rectangle 2"/>
          <p:cNvSpPr>
            <a:spLocks noGrp="1" noChangeArrowheads="1"/>
          </p:cNvSpPr>
          <p:nvPr>
            <p:ph type="title"/>
          </p:nvPr>
        </p:nvSpPr>
        <p:spPr>
          <a:xfrm>
            <a:off x="247650" y="228600"/>
            <a:ext cx="8747125" cy="1143000"/>
          </a:xfrm>
        </p:spPr>
        <p:txBody>
          <a:bodyPr/>
          <a:lstStyle/>
          <a:p>
            <a:r>
              <a:rPr lang="en-US" sz="2800"/>
              <a:t>Internet apps:  application, transport protocols</a:t>
            </a:r>
            <a:endParaRPr lang="en-US"/>
          </a:p>
        </p:txBody>
      </p:sp>
      <p:sp>
        <p:nvSpPr>
          <p:cNvPr id="48133" name="Text Box 3"/>
          <p:cNvSpPr txBox="1">
            <a:spLocks noChangeArrowheads="1"/>
          </p:cNvSpPr>
          <p:nvPr/>
        </p:nvSpPr>
        <p:spPr bwMode="auto">
          <a:xfrm>
            <a:off x="315913" y="1773238"/>
            <a:ext cx="2806700" cy="3200400"/>
          </a:xfrm>
          <a:prstGeom prst="rect">
            <a:avLst/>
          </a:prstGeom>
          <a:noFill/>
          <a:ln w="9525">
            <a:noFill/>
            <a:miter lim="800000"/>
          </a:ln>
        </p:spPr>
        <p:txBody>
          <a:bodyPr wrap="none">
            <a:spAutoFit/>
          </a:bodyPr>
          <a:lstStyle/>
          <a:p>
            <a:pPr algn="r">
              <a:spcBef>
                <a:spcPct val="0"/>
              </a:spcBef>
              <a:buClrTx/>
              <a:buSzTx/>
              <a:buFontTx/>
              <a:buNone/>
            </a:pPr>
            <a:r>
              <a:rPr lang="en-US" sz="2000" b="1">
                <a:latin typeface="Arial" panose="020B0604020202020204" pitchFamily="34" charset="0"/>
              </a:rPr>
              <a:t>Application</a:t>
            </a:r>
            <a:endParaRPr lang="en-US" sz="2000">
              <a:latin typeface="Arial" panose="020B0604020202020204" pitchFamily="34" charset="0"/>
            </a:endParaRPr>
          </a:p>
          <a:p>
            <a:pPr algn="r">
              <a:spcBef>
                <a:spcPct val="0"/>
              </a:spcBef>
              <a:buClrTx/>
              <a:buSzTx/>
              <a:buFontTx/>
              <a:buNone/>
            </a:pP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e-mail</a:t>
            </a: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remote terminal access</a:t>
            </a: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Web </a:t>
            </a: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file transfer</a:t>
            </a: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streaming multimedia</a:t>
            </a:r>
            <a:endParaRPr lang="en-US" sz="2000">
              <a:latin typeface="Arial" panose="020B0604020202020204" pitchFamily="34" charset="0"/>
            </a:endParaRPr>
          </a:p>
          <a:p>
            <a:pPr algn="r">
              <a:spcBef>
                <a:spcPct val="0"/>
              </a:spcBef>
              <a:buClrTx/>
              <a:buSzTx/>
              <a:buFontTx/>
              <a:buNone/>
            </a:pPr>
            <a:endParaRPr lang="en-US" sz="2000">
              <a:latin typeface="Arial" panose="020B0604020202020204" pitchFamily="34" charset="0"/>
            </a:endParaRPr>
          </a:p>
          <a:p>
            <a:pPr algn="r">
              <a:spcBef>
                <a:spcPct val="0"/>
              </a:spcBef>
              <a:buClrTx/>
              <a:buSzTx/>
              <a:buFontTx/>
              <a:buNone/>
            </a:pPr>
            <a:r>
              <a:rPr lang="en-US" sz="2000">
                <a:latin typeface="Arial" panose="020B0604020202020204" pitchFamily="34" charset="0"/>
              </a:rPr>
              <a:t>Internet telephony</a:t>
            </a:r>
            <a:endParaRPr lang="en-US" sz="2000">
              <a:latin typeface="Arial" panose="020B0604020202020204" pitchFamily="34" charset="0"/>
            </a:endParaRPr>
          </a:p>
          <a:p>
            <a:pPr algn="r">
              <a:spcBef>
                <a:spcPct val="0"/>
              </a:spcBef>
              <a:buClrTx/>
              <a:buSzTx/>
              <a:buFontTx/>
              <a:buNone/>
            </a:pPr>
            <a:endParaRPr lang="en-US">
              <a:latin typeface="Times New Roman" panose="02020603050405020304" pitchFamily="18" charset="0"/>
            </a:endParaRPr>
          </a:p>
        </p:txBody>
      </p:sp>
      <p:sp>
        <p:nvSpPr>
          <p:cNvPr id="48134" name="Text Box 4"/>
          <p:cNvSpPr txBox="1">
            <a:spLocks noChangeArrowheads="1"/>
          </p:cNvSpPr>
          <p:nvPr/>
        </p:nvSpPr>
        <p:spPr bwMode="auto">
          <a:xfrm>
            <a:off x="3302000" y="1458913"/>
            <a:ext cx="2595563" cy="3444875"/>
          </a:xfrm>
          <a:prstGeom prst="rect">
            <a:avLst/>
          </a:prstGeom>
          <a:noFill/>
          <a:ln w="9525">
            <a:noFill/>
            <a:miter lim="800000"/>
          </a:ln>
        </p:spPr>
        <p:txBody>
          <a:bodyPr wrap="none">
            <a:spAutoFit/>
          </a:bodyPr>
          <a:lstStyle/>
          <a:p>
            <a:pPr>
              <a:spcBef>
                <a:spcPct val="0"/>
              </a:spcBef>
              <a:buClrTx/>
              <a:buSzTx/>
              <a:buFontTx/>
              <a:buNone/>
            </a:pPr>
            <a:r>
              <a:rPr lang="en-US" sz="2000" b="1">
                <a:latin typeface="Arial" panose="020B0604020202020204" pitchFamily="34" charset="0"/>
              </a:rPr>
              <a:t>Application</a:t>
            </a:r>
            <a:endParaRPr lang="en-US" sz="2000" b="1">
              <a:latin typeface="Arial" panose="020B0604020202020204" pitchFamily="34" charset="0"/>
            </a:endParaRPr>
          </a:p>
          <a:p>
            <a:pPr>
              <a:spcBef>
                <a:spcPct val="0"/>
              </a:spcBef>
              <a:buClrTx/>
              <a:buSzTx/>
              <a:buFontTx/>
              <a:buNone/>
            </a:pPr>
            <a:r>
              <a:rPr lang="en-US" sz="2000" b="1">
                <a:latin typeface="Arial" panose="020B0604020202020204" pitchFamily="34" charset="0"/>
              </a:rPr>
              <a:t>layer protocol</a:t>
            </a:r>
            <a:endParaRPr lang="en-US" sz="2000">
              <a:latin typeface="Arial" panose="020B0604020202020204" pitchFamily="34" charset="0"/>
            </a:endParaRPr>
          </a:p>
          <a:p>
            <a:pPr>
              <a:spcBef>
                <a:spcPct val="0"/>
              </a:spcBef>
              <a:buClrTx/>
              <a:buSzTx/>
              <a:buFontTx/>
              <a:buNone/>
            </a:pP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SMTP [RFC 2821]</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Telnet [RFC 854]</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HTTP [RFC 2616]</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FTP [RFC 959]</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HTTP (eg Youtube), </a:t>
            </a:r>
            <a:br>
              <a:rPr lang="en-US" sz="2000">
                <a:latin typeface="Arial" panose="020B0604020202020204" pitchFamily="34" charset="0"/>
              </a:rPr>
            </a:br>
            <a:r>
              <a:rPr lang="en-US" sz="2000">
                <a:latin typeface="Arial" panose="020B0604020202020204" pitchFamily="34" charset="0"/>
              </a:rPr>
              <a:t>RTP [RFC 1889]</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SIP, RTP, proprietary</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(e.g., Skype)</a:t>
            </a:r>
            <a:endParaRPr lang="en-US">
              <a:latin typeface="Times New Roman" panose="02020603050405020304" pitchFamily="18" charset="0"/>
            </a:endParaRPr>
          </a:p>
        </p:txBody>
      </p:sp>
      <p:sp>
        <p:nvSpPr>
          <p:cNvPr id="48135" name="Text Box 5"/>
          <p:cNvSpPr txBox="1">
            <a:spLocks noChangeArrowheads="1"/>
          </p:cNvSpPr>
          <p:nvPr/>
        </p:nvSpPr>
        <p:spPr bwMode="auto">
          <a:xfrm>
            <a:off x="6130925" y="1477963"/>
            <a:ext cx="2624138" cy="3444875"/>
          </a:xfrm>
          <a:prstGeom prst="rect">
            <a:avLst/>
          </a:prstGeom>
          <a:noFill/>
          <a:ln w="9525">
            <a:noFill/>
            <a:miter lim="800000"/>
          </a:ln>
        </p:spPr>
        <p:txBody>
          <a:bodyPr>
            <a:spAutoFit/>
          </a:bodyPr>
          <a:lstStyle/>
          <a:p>
            <a:pPr>
              <a:spcBef>
                <a:spcPct val="0"/>
              </a:spcBef>
              <a:buClrTx/>
              <a:buSzTx/>
              <a:buFontTx/>
              <a:buNone/>
            </a:pPr>
            <a:r>
              <a:rPr lang="en-US" sz="2000" b="1">
                <a:latin typeface="Arial" panose="020B0604020202020204" pitchFamily="34" charset="0"/>
              </a:rPr>
              <a:t>Underlying</a:t>
            </a:r>
            <a:endParaRPr lang="en-US" sz="2000" b="1">
              <a:latin typeface="Arial" panose="020B0604020202020204" pitchFamily="34" charset="0"/>
            </a:endParaRPr>
          </a:p>
          <a:p>
            <a:pPr>
              <a:spcBef>
                <a:spcPct val="0"/>
              </a:spcBef>
              <a:buClrTx/>
              <a:buSzTx/>
              <a:buFontTx/>
              <a:buNone/>
            </a:pPr>
            <a:r>
              <a:rPr lang="en-US" sz="2000" b="1">
                <a:latin typeface="Arial" panose="020B0604020202020204" pitchFamily="34" charset="0"/>
              </a:rPr>
              <a:t>transport protocol</a:t>
            </a:r>
            <a:endParaRPr lang="en-US" sz="2000">
              <a:latin typeface="Arial" panose="020B0604020202020204" pitchFamily="34" charset="0"/>
            </a:endParaRPr>
          </a:p>
          <a:p>
            <a:pPr>
              <a:spcBef>
                <a:spcPct val="0"/>
              </a:spcBef>
              <a:buClrTx/>
              <a:buSzTx/>
              <a:buFontTx/>
              <a:buNone/>
            </a:pP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TCP</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TCP</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TCP</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TCP</a:t>
            </a: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TCP or UDP</a:t>
            </a:r>
            <a:endParaRPr lang="en-US" sz="2000">
              <a:latin typeface="Arial" panose="020B0604020202020204" pitchFamily="34" charset="0"/>
            </a:endParaRPr>
          </a:p>
          <a:p>
            <a:pPr>
              <a:spcBef>
                <a:spcPct val="0"/>
              </a:spcBef>
              <a:buClrTx/>
              <a:buSzTx/>
              <a:buFontTx/>
              <a:buNone/>
            </a:pPr>
            <a:endParaRPr lang="en-US" sz="2000">
              <a:latin typeface="Arial" panose="020B0604020202020204" pitchFamily="34" charset="0"/>
            </a:endParaRPr>
          </a:p>
          <a:p>
            <a:pPr>
              <a:spcBef>
                <a:spcPct val="0"/>
              </a:spcBef>
              <a:buClrTx/>
              <a:buSzTx/>
              <a:buFontTx/>
              <a:buNone/>
            </a:pPr>
            <a:endParaRPr lang="en-US" sz="2000">
              <a:latin typeface="Arial" panose="020B0604020202020204" pitchFamily="34" charset="0"/>
            </a:endParaRPr>
          </a:p>
          <a:p>
            <a:pPr>
              <a:spcBef>
                <a:spcPct val="0"/>
              </a:spcBef>
              <a:buClrTx/>
              <a:buSzTx/>
              <a:buFontTx/>
              <a:buNone/>
            </a:pPr>
            <a:r>
              <a:rPr lang="en-US" sz="2000">
                <a:latin typeface="Arial" panose="020B0604020202020204" pitchFamily="34" charset="0"/>
              </a:rPr>
              <a:t>typically UDP</a:t>
            </a:r>
            <a:endParaRPr lang="en-US" sz="2000">
              <a:latin typeface="Arial" panose="020B0604020202020204" pitchFamily="34" charset="0"/>
            </a:endParaRPr>
          </a:p>
        </p:txBody>
      </p:sp>
      <p:sp>
        <p:nvSpPr>
          <p:cNvPr id="48136" name="Line 7"/>
          <p:cNvSpPr>
            <a:spLocks noChangeShapeType="1"/>
          </p:cNvSpPr>
          <p:nvPr/>
        </p:nvSpPr>
        <p:spPr bwMode="auto">
          <a:xfrm>
            <a:off x="1171575" y="2152650"/>
            <a:ext cx="7334250" cy="9525"/>
          </a:xfrm>
          <a:prstGeom prst="line">
            <a:avLst/>
          </a:prstGeom>
          <a:noFill/>
          <a:ln w="28575">
            <a:solidFill>
              <a:schemeClr val="accent2"/>
            </a:solidFill>
            <a:round/>
          </a:ln>
        </p:spPr>
        <p:txBody>
          <a:bodyPr wrap="none" anchor="ctr"/>
          <a:lstStyle/>
          <a:p>
            <a:endParaRPr lang="en-US"/>
          </a:p>
        </p:txBody>
      </p:sp>
      <p:sp>
        <p:nvSpPr>
          <p:cNvPr id="48137" name="Line 8"/>
          <p:cNvSpPr>
            <a:spLocks noChangeShapeType="1"/>
          </p:cNvSpPr>
          <p:nvPr/>
        </p:nvSpPr>
        <p:spPr bwMode="auto">
          <a:xfrm flipV="1">
            <a:off x="1123950" y="2743200"/>
            <a:ext cx="7324725" cy="0"/>
          </a:xfrm>
          <a:prstGeom prst="line">
            <a:avLst/>
          </a:prstGeom>
          <a:noFill/>
          <a:ln w="12700">
            <a:solidFill>
              <a:schemeClr val="tx1"/>
            </a:solidFill>
            <a:round/>
          </a:ln>
        </p:spPr>
        <p:txBody>
          <a:bodyPr wrap="none" anchor="ctr"/>
          <a:lstStyle/>
          <a:p>
            <a:endParaRPr lang="en-US"/>
          </a:p>
        </p:txBody>
      </p:sp>
      <p:sp>
        <p:nvSpPr>
          <p:cNvPr id="48138" name="Line 9"/>
          <p:cNvSpPr>
            <a:spLocks noChangeShapeType="1"/>
          </p:cNvSpPr>
          <p:nvPr/>
        </p:nvSpPr>
        <p:spPr bwMode="auto">
          <a:xfrm flipV="1">
            <a:off x="1133475" y="3038475"/>
            <a:ext cx="7296150" cy="0"/>
          </a:xfrm>
          <a:prstGeom prst="line">
            <a:avLst/>
          </a:prstGeom>
          <a:noFill/>
          <a:ln w="12700">
            <a:solidFill>
              <a:schemeClr val="tx1"/>
            </a:solidFill>
            <a:round/>
          </a:ln>
        </p:spPr>
        <p:txBody>
          <a:bodyPr wrap="none" anchor="ctr"/>
          <a:lstStyle/>
          <a:p>
            <a:endParaRPr lang="en-US"/>
          </a:p>
        </p:txBody>
      </p:sp>
      <p:sp>
        <p:nvSpPr>
          <p:cNvPr id="48139" name="Line 10"/>
          <p:cNvSpPr>
            <a:spLocks noChangeShapeType="1"/>
          </p:cNvSpPr>
          <p:nvPr/>
        </p:nvSpPr>
        <p:spPr bwMode="auto">
          <a:xfrm flipV="1">
            <a:off x="1143000" y="3333750"/>
            <a:ext cx="7277100" cy="0"/>
          </a:xfrm>
          <a:prstGeom prst="line">
            <a:avLst/>
          </a:prstGeom>
          <a:noFill/>
          <a:ln w="12700">
            <a:solidFill>
              <a:schemeClr val="tx1"/>
            </a:solidFill>
            <a:round/>
          </a:ln>
        </p:spPr>
        <p:txBody>
          <a:bodyPr wrap="none" anchor="ctr"/>
          <a:lstStyle/>
          <a:p>
            <a:endParaRPr lang="en-US"/>
          </a:p>
        </p:txBody>
      </p:sp>
      <p:sp>
        <p:nvSpPr>
          <p:cNvPr id="48140" name="Line 11"/>
          <p:cNvSpPr>
            <a:spLocks noChangeShapeType="1"/>
          </p:cNvSpPr>
          <p:nvPr/>
        </p:nvSpPr>
        <p:spPr bwMode="auto">
          <a:xfrm flipV="1">
            <a:off x="1162050" y="3657600"/>
            <a:ext cx="7258050" cy="9525"/>
          </a:xfrm>
          <a:prstGeom prst="line">
            <a:avLst/>
          </a:prstGeom>
          <a:noFill/>
          <a:ln w="12700">
            <a:solidFill>
              <a:schemeClr val="tx1"/>
            </a:solidFill>
            <a:round/>
          </a:ln>
        </p:spPr>
        <p:txBody>
          <a:bodyPr wrap="none" anchor="ctr"/>
          <a:lstStyle/>
          <a:p>
            <a:endParaRPr lang="en-US"/>
          </a:p>
        </p:txBody>
      </p:sp>
      <p:sp>
        <p:nvSpPr>
          <p:cNvPr id="48141" name="Line 12"/>
          <p:cNvSpPr>
            <a:spLocks noChangeShapeType="1"/>
          </p:cNvSpPr>
          <p:nvPr/>
        </p:nvSpPr>
        <p:spPr bwMode="auto">
          <a:xfrm flipV="1">
            <a:off x="1114425" y="4257675"/>
            <a:ext cx="7315200" cy="0"/>
          </a:xfrm>
          <a:prstGeom prst="line">
            <a:avLst/>
          </a:prstGeom>
          <a:noFill/>
          <a:ln w="12700">
            <a:solidFill>
              <a:schemeClr val="tx1"/>
            </a:solidFill>
            <a:round/>
          </a:ln>
        </p:spPr>
        <p:txBody>
          <a:bodyPr wrap="none" anchor="ctr"/>
          <a:lstStyle/>
          <a:p>
            <a:endParaRPr lang="en-US"/>
          </a:p>
        </p:txBody>
      </p:sp>
      <p:sp>
        <p:nvSpPr>
          <p:cNvPr id="48142" name="Line 14"/>
          <p:cNvSpPr>
            <a:spLocks noChangeShapeType="1"/>
          </p:cNvSpPr>
          <p:nvPr/>
        </p:nvSpPr>
        <p:spPr bwMode="auto">
          <a:xfrm flipV="1">
            <a:off x="962025" y="5181600"/>
            <a:ext cx="7343775" cy="0"/>
          </a:xfrm>
          <a:prstGeom prst="line">
            <a:avLst/>
          </a:prstGeom>
          <a:noFill/>
          <a:ln w="12700">
            <a:solidFill>
              <a:schemeClr val="tx1"/>
            </a:solidFill>
            <a:round/>
          </a:ln>
        </p:spPr>
        <p:txBody>
          <a:bodyPr wrap="none" anchor="ct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4819" name="Slide Number Placeholder 6"/>
          <p:cNvSpPr>
            <a:spLocks noGrp="1"/>
          </p:cNvSpPr>
          <p:nvPr>
            <p:ph type="sldNum" sz="quarter" idx="12"/>
          </p:nvPr>
        </p:nvSpPr>
        <p:spPr>
          <a:noFill/>
        </p:spPr>
        <p:txBody>
          <a:bodyPr/>
          <a:lstStyle/>
          <a:p>
            <a:fld id="{09FB5B14-3207-4596-9B15-A315FEC6D487}" type="slidenum">
              <a:rPr lang="en-US"/>
            </a:fld>
            <a:endParaRPr lang="en-US"/>
          </a:p>
        </p:txBody>
      </p:sp>
      <p:sp>
        <p:nvSpPr>
          <p:cNvPr id="34820" name="Rectangle 2"/>
          <p:cNvSpPr>
            <a:spLocks noGrp="1" noChangeArrowheads="1"/>
          </p:cNvSpPr>
          <p:nvPr>
            <p:ph type="title"/>
          </p:nvPr>
        </p:nvSpPr>
        <p:spPr/>
        <p:txBody>
          <a:bodyPr/>
          <a:lstStyle/>
          <a:p>
            <a:r>
              <a:rPr lang="en-US" dirty="0"/>
              <a:t>Chapter 2: Application layer</a:t>
            </a:r>
            <a:endParaRPr lang="en-US" dirty="0"/>
          </a:p>
        </p:txBody>
      </p:sp>
      <p:sp>
        <p:nvSpPr>
          <p:cNvPr id="34821" name="Rectangle 3"/>
          <p:cNvSpPr>
            <a:spLocks noGrp="1" noChangeArrowheads="1"/>
          </p:cNvSpPr>
          <p:nvPr>
            <p:ph type="body" sz="half" idx="1"/>
          </p:nvPr>
        </p:nvSpPr>
        <p:spPr/>
        <p:txBody>
          <a:bodyPr/>
          <a:lstStyle/>
          <a:p>
            <a:r>
              <a:rPr lang="en-US" sz="2400" dirty="0"/>
              <a:t>2.1 Principles of network applications</a:t>
            </a:r>
            <a:endParaRPr lang="en-US" sz="2400" dirty="0"/>
          </a:p>
          <a:p>
            <a:r>
              <a:rPr lang="en-US" sz="2400" dirty="0">
                <a:solidFill>
                  <a:srgbClr val="FF0000"/>
                </a:solidFill>
              </a:rPr>
              <a:t>2.2 Web and HTTP</a:t>
            </a:r>
            <a:endParaRPr lang="en-US" sz="2400" dirty="0">
              <a:solidFill>
                <a:srgbClr val="FF0000"/>
              </a:solidFill>
            </a:endParaRPr>
          </a:p>
          <a:p>
            <a:r>
              <a:rPr lang="en-US" sz="2400" dirty="0"/>
              <a:t>2.3 FTP </a:t>
            </a:r>
            <a:endParaRPr lang="en-US" sz="2400" dirty="0">
              <a:solidFill>
                <a:srgbClr val="FF0000"/>
              </a:solidFill>
            </a:endParaRPr>
          </a:p>
          <a:p>
            <a:r>
              <a:rPr lang="en-US" sz="2400" dirty="0"/>
              <a:t>2.4 Electronic Mail</a:t>
            </a:r>
            <a:endParaRPr lang="en-US" sz="2400" dirty="0"/>
          </a:p>
          <a:p>
            <a:pPr lvl="1"/>
            <a:r>
              <a:rPr lang="en-US" sz="2000" dirty="0"/>
              <a:t>SMTP, POP3, IMAP</a:t>
            </a:r>
            <a:endParaRPr lang="en-US" sz="2000" dirty="0"/>
          </a:p>
          <a:p>
            <a:r>
              <a:rPr lang="en-US" sz="2400" dirty="0"/>
              <a:t>2.5 DNS</a:t>
            </a:r>
            <a:endParaRPr lang="en-US" sz="2400" dirty="0"/>
          </a:p>
          <a:p>
            <a:endParaRPr lang="en-US" sz="2400" dirty="0"/>
          </a:p>
        </p:txBody>
      </p:sp>
      <p:sp>
        <p:nvSpPr>
          <p:cNvPr id="34822" name="Rectangle 4"/>
          <p:cNvSpPr>
            <a:spLocks noGrp="1" noChangeArrowheads="1"/>
          </p:cNvSpPr>
          <p:nvPr>
            <p:ph type="body" sz="half" idx="2"/>
          </p:nvPr>
        </p:nvSpPr>
        <p:spPr>
          <a:xfrm>
            <a:off x="4495800" y="1600200"/>
            <a:ext cx="4054475" cy="4648200"/>
          </a:xfrm>
        </p:spPr>
        <p:txBody>
          <a:bodyPr/>
          <a:lstStyle/>
          <a:p>
            <a:r>
              <a:rPr lang="en-US" sz="2400" dirty="0"/>
              <a:t>2.6 P2P applications</a:t>
            </a:r>
            <a:endParaRPr lang="en-US" sz="2400" dirty="0"/>
          </a:p>
          <a:p>
            <a:r>
              <a:rPr lang="en-US" sz="2400" dirty="0"/>
              <a:t>2.7 Socket programming with UDP</a:t>
            </a:r>
            <a:endParaRPr lang="en-US" sz="2400" dirty="0"/>
          </a:p>
          <a:p>
            <a:r>
              <a:rPr lang="en-US" sz="2400" dirty="0"/>
              <a:t>2.8 Socket programming with TCP</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0179" name="Slide Number Placeholder 5"/>
          <p:cNvSpPr>
            <a:spLocks noGrp="1"/>
          </p:cNvSpPr>
          <p:nvPr>
            <p:ph type="sldNum" sz="quarter" idx="12"/>
          </p:nvPr>
        </p:nvSpPr>
        <p:spPr>
          <a:noFill/>
        </p:spPr>
        <p:txBody>
          <a:bodyPr/>
          <a:lstStyle/>
          <a:p>
            <a:fld id="{115E036A-11B9-4E3F-A698-E4F9C32E5493}" type="slidenum">
              <a:rPr lang="en-US"/>
            </a:fld>
            <a:endParaRPr lang="en-US"/>
          </a:p>
        </p:txBody>
      </p:sp>
      <p:sp>
        <p:nvSpPr>
          <p:cNvPr id="50180" name="Rectangle 2"/>
          <p:cNvSpPr>
            <a:spLocks noGrp="1" noChangeArrowheads="1"/>
          </p:cNvSpPr>
          <p:nvPr>
            <p:ph type="title"/>
          </p:nvPr>
        </p:nvSpPr>
        <p:spPr/>
        <p:txBody>
          <a:bodyPr/>
          <a:lstStyle/>
          <a:p>
            <a:r>
              <a:rPr lang="en-US"/>
              <a:t>Web and HTTP</a:t>
            </a:r>
            <a:endParaRPr lang="en-US"/>
          </a:p>
        </p:txBody>
      </p:sp>
      <p:sp>
        <p:nvSpPr>
          <p:cNvPr id="50181" name="Rectangle 3"/>
          <p:cNvSpPr>
            <a:spLocks noGrp="1" noChangeArrowheads="1"/>
          </p:cNvSpPr>
          <p:nvPr>
            <p:ph type="body" idx="1"/>
          </p:nvPr>
        </p:nvSpPr>
        <p:spPr/>
        <p:txBody>
          <a:bodyPr/>
          <a:lstStyle/>
          <a:p>
            <a:pPr>
              <a:buFont typeface="ZapfDingbats" pitchFamily="82" charset="2"/>
              <a:buNone/>
            </a:pPr>
            <a:r>
              <a:rPr lang="en-US" sz="2400" u="sng">
                <a:solidFill>
                  <a:srgbClr val="FF0000"/>
                </a:solidFill>
              </a:rPr>
              <a:t>First some jargon</a:t>
            </a:r>
            <a:endParaRPr lang="en-US" sz="2400">
              <a:solidFill>
                <a:srgbClr val="FF0000"/>
              </a:solidFill>
            </a:endParaRPr>
          </a:p>
          <a:p>
            <a:r>
              <a:rPr lang="en-US" sz="2400">
                <a:solidFill>
                  <a:srgbClr val="FF0000"/>
                </a:solidFill>
              </a:rPr>
              <a:t>Web page</a:t>
            </a:r>
            <a:r>
              <a:rPr lang="en-US" sz="2400"/>
              <a:t> consists of </a:t>
            </a:r>
            <a:r>
              <a:rPr lang="en-US" sz="2400">
                <a:solidFill>
                  <a:srgbClr val="FF0000"/>
                </a:solidFill>
              </a:rPr>
              <a:t>objects</a:t>
            </a:r>
            <a:endParaRPr lang="en-US" sz="2400"/>
          </a:p>
          <a:p>
            <a:r>
              <a:rPr lang="en-US" sz="2400"/>
              <a:t>Object can be HTML file, JPEG image, Java applet, audio file,…</a:t>
            </a:r>
            <a:endParaRPr lang="en-US" sz="2400"/>
          </a:p>
          <a:p>
            <a:r>
              <a:rPr lang="en-US" sz="2400"/>
              <a:t>Web page consists of </a:t>
            </a:r>
            <a:r>
              <a:rPr lang="en-US" sz="2400">
                <a:solidFill>
                  <a:srgbClr val="FF0000"/>
                </a:solidFill>
              </a:rPr>
              <a:t>base HTML-file</a:t>
            </a:r>
            <a:r>
              <a:rPr lang="en-US" sz="2400"/>
              <a:t> which includes several referenced objects</a:t>
            </a:r>
            <a:endParaRPr lang="en-US" sz="2400"/>
          </a:p>
          <a:p>
            <a:r>
              <a:rPr lang="en-US" sz="2400"/>
              <a:t>Each object is addressable by a </a:t>
            </a:r>
            <a:r>
              <a:rPr lang="en-US" sz="2400">
                <a:solidFill>
                  <a:srgbClr val="FF0000"/>
                </a:solidFill>
              </a:rPr>
              <a:t>URL</a:t>
            </a:r>
            <a:endParaRPr lang="en-US" sz="2400">
              <a:solidFill>
                <a:srgbClr val="FF0000"/>
              </a:solidFill>
            </a:endParaRPr>
          </a:p>
          <a:p>
            <a:r>
              <a:rPr lang="en-US" sz="2400">
                <a:solidFill>
                  <a:schemeClr val="tx2"/>
                </a:solidFill>
              </a:rPr>
              <a:t>Example URL:</a:t>
            </a:r>
            <a:endParaRPr lang="en-US" sz="2400">
              <a:solidFill>
                <a:schemeClr val="tx2"/>
              </a:solidFill>
            </a:endParaRPr>
          </a:p>
          <a:p>
            <a:pPr>
              <a:buFont typeface="ZapfDingbats" pitchFamily="82" charset="2"/>
              <a:buNone/>
            </a:pPr>
            <a:endParaRPr lang="en-US"/>
          </a:p>
        </p:txBody>
      </p:sp>
      <p:grpSp>
        <p:nvGrpSpPr>
          <p:cNvPr id="50182" name="Group 10"/>
          <p:cNvGrpSpPr/>
          <p:nvPr/>
        </p:nvGrpSpPr>
        <p:grpSpPr bwMode="auto">
          <a:xfrm>
            <a:off x="1201738" y="5008563"/>
            <a:ext cx="6835775" cy="1144587"/>
            <a:chOff x="788" y="2955"/>
            <a:chExt cx="4306" cy="721"/>
          </a:xfrm>
        </p:grpSpPr>
        <p:sp>
          <p:nvSpPr>
            <p:cNvPr id="50183" name="Text Box 5"/>
            <p:cNvSpPr txBox="1">
              <a:spLocks noChangeArrowheads="1"/>
            </p:cNvSpPr>
            <p:nvPr/>
          </p:nvSpPr>
          <p:spPr bwMode="auto">
            <a:xfrm>
              <a:off x="788" y="2955"/>
              <a:ext cx="4141" cy="288"/>
            </a:xfrm>
            <a:prstGeom prst="rect">
              <a:avLst/>
            </a:prstGeom>
            <a:noFill/>
            <a:ln w="9525">
              <a:noFill/>
              <a:miter lim="800000"/>
            </a:ln>
          </p:spPr>
          <p:txBody>
            <a:bodyPr wrap="none">
              <a:spAutoFit/>
            </a:bodyPr>
            <a:lstStyle/>
            <a:p>
              <a:pPr>
                <a:spcBef>
                  <a:spcPct val="0"/>
                </a:spcBef>
                <a:buClrTx/>
                <a:buSzTx/>
                <a:buFontTx/>
                <a:buNone/>
              </a:pPr>
              <a:r>
                <a:rPr lang="en-US">
                  <a:latin typeface="Courier New" panose="02070309020205020404" pitchFamily="49" charset="0"/>
                </a:rPr>
                <a:t>www.someschool.edu/someDept/pic.gif</a:t>
              </a:r>
              <a:endParaRPr lang="en-US">
                <a:latin typeface="Courier New" panose="02070309020205020404" pitchFamily="49" charset="0"/>
              </a:endParaRPr>
            </a:p>
          </p:txBody>
        </p:sp>
        <p:sp>
          <p:nvSpPr>
            <p:cNvPr id="50184" name="AutoShape 6"/>
            <p:cNvSpPr/>
            <p:nvPr/>
          </p:nvSpPr>
          <p:spPr bwMode="auto">
            <a:xfrm rot="-5400000">
              <a:off x="1821" y="2281"/>
              <a:ext cx="57" cy="2083"/>
            </a:xfrm>
            <a:prstGeom prst="leftBrace">
              <a:avLst>
                <a:gd name="adj1" fmla="val 304532"/>
                <a:gd name="adj2" fmla="val 50000"/>
              </a:avLst>
            </a:prstGeom>
            <a:noFill/>
            <a:ln w="9525">
              <a:solidFill>
                <a:schemeClr val="tx1"/>
              </a:solidFill>
              <a:round/>
            </a:ln>
          </p:spPr>
          <p:txBody>
            <a:bodyPr wrap="none" anchor="ctr"/>
            <a:lstStyle/>
            <a:p>
              <a:endParaRPr lang="en-US"/>
            </a:p>
          </p:txBody>
        </p:sp>
        <p:sp>
          <p:nvSpPr>
            <p:cNvPr id="50185" name="AutoShape 7"/>
            <p:cNvSpPr/>
            <p:nvPr/>
          </p:nvSpPr>
          <p:spPr bwMode="auto">
            <a:xfrm rot="-5400000">
              <a:off x="4024" y="2277"/>
              <a:ext cx="57" cy="2083"/>
            </a:xfrm>
            <a:prstGeom prst="leftBrace">
              <a:avLst>
                <a:gd name="adj1" fmla="val 304532"/>
                <a:gd name="adj2" fmla="val 50000"/>
              </a:avLst>
            </a:prstGeom>
            <a:noFill/>
            <a:ln w="9525">
              <a:solidFill>
                <a:schemeClr val="tx1"/>
              </a:solidFill>
              <a:round/>
            </a:ln>
          </p:spPr>
          <p:txBody>
            <a:bodyPr wrap="none" anchor="ctr"/>
            <a:lstStyle/>
            <a:p>
              <a:endParaRPr lang="en-US"/>
            </a:p>
          </p:txBody>
        </p:sp>
        <p:sp>
          <p:nvSpPr>
            <p:cNvPr id="50186" name="Text Box 8"/>
            <p:cNvSpPr txBox="1">
              <a:spLocks noChangeArrowheads="1"/>
            </p:cNvSpPr>
            <p:nvPr/>
          </p:nvSpPr>
          <p:spPr bwMode="auto">
            <a:xfrm>
              <a:off x="1389" y="3388"/>
              <a:ext cx="1021" cy="288"/>
            </a:xfrm>
            <a:prstGeom prst="rect">
              <a:avLst/>
            </a:prstGeom>
            <a:noFill/>
            <a:ln w="9525">
              <a:noFill/>
              <a:miter lim="800000"/>
            </a:ln>
          </p:spPr>
          <p:txBody>
            <a:bodyPr wrap="none">
              <a:spAutoFit/>
            </a:bodyPr>
            <a:lstStyle/>
            <a:p>
              <a:pPr>
                <a:spcBef>
                  <a:spcPct val="0"/>
                </a:spcBef>
                <a:buClrTx/>
                <a:buSzTx/>
                <a:buFontTx/>
                <a:buNone/>
              </a:pPr>
              <a:r>
                <a:rPr lang="en-US"/>
                <a:t>host name</a:t>
              </a:r>
              <a:endParaRPr lang="en-US">
                <a:latin typeface="Times New Roman" panose="02020603050405020304" pitchFamily="18" charset="0"/>
              </a:endParaRPr>
            </a:p>
          </p:txBody>
        </p:sp>
        <p:sp>
          <p:nvSpPr>
            <p:cNvPr id="50187" name="Text Box 9"/>
            <p:cNvSpPr txBox="1">
              <a:spLocks noChangeArrowheads="1"/>
            </p:cNvSpPr>
            <p:nvPr/>
          </p:nvSpPr>
          <p:spPr bwMode="auto">
            <a:xfrm>
              <a:off x="3485" y="3338"/>
              <a:ext cx="1028" cy="288"/>
            </a:xfrm>
            <a:prstGeom prst="rect">
              <a:avLst/>
            </a:prstGeom>
            <a:noFill/>
            <a:ln w="9525">
              <a:noFill/>
              <a:miter lim="800000"/>
            </a:ln>
          </p:spPr>
          <p:txBody>
            <a:bodyPr wrap="none">
              <a:spAutoFit/>
            </a:bodyPr>
            <a:lstStyle/>
            <a:p>
              <a:pPr>
                <a:spcBef>
                  <a:spcPct val="0"/>
                </a:spcBef>
                <a:buClrTx/>
                <a:buSzTx/>
                <a:buFontTx/>
                <a:buNone/>
              </a:pPr>
              <a:r>
                <a:rPr lang="en-US"/>
                <a:t>path name</a:t>
              </a:r>
              <a:endParaRPr lang="en-US">
                <a:latin typeface="Times New Roman" panose="02020603050405020304" pitchFamily="18"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125" name="Slide Number Placeholder 6"/>
          <p:cNvSpPr>
            <a:spLocks noGrp="1"/>
          </p:cNvSpPr>
          <p:nvPr>
            <p:ph type="sldNum" sz="quarter" idx="12"/>
          </p:nvPr>
        </p:nvSpPr>
        <p:spPr>
          <a:noFill/>
        </p:spPr>
        <p:txBody>
          <a:bodyPr/>
          <a:lstStyle/>
          <a:p>
            <a:fld id="{F0C8D70D-968A-45F7-AD86-D780695EF0B3}" type="slidenum">
              <a:rPr lang="en-US"/>
            </a:fld>
            <a:endParaRPr lang="en-US"/>
          </a:p>
        </p:txBody>
      </p:sp>
      <p:sp>
        <p:nvSpPr>
          <p:cNvPr id="5126" name="Rectangle 2"/>
          <p:cNvSpPr>
            <a:spLocks noGrp="1" noChangeArrowheads="1"/>
          </p:cNvSpPr>
          <p:nvPr>
            <p:ph type="title"/>
          </p:nvPr>
        </p:nvSpPr>
        <p:spPr/>
        <p:txBody>
          <a:bodyPr/>
          <a:lstStyle/>
          <a:p>
            <a:r>
              <a:rPr lang="en-US" sz="3600"/>
              <a:t>HTTP overview</a:t>
            </a:r>
            <a:endParaRPr lang="en-US"/>
          </a:p>
        </p:txBody>
      </p:sp>
      <p:sp>
        <p:nvSpPr>
          <p:cNvPr id="5127" name="Rectangle 3"/>
          <p:cNvSpPr>
            <a:spLocks noGrp="1" noChangeArrowheads="1"/>
          </p:cNvSpPr>
          <p:nvPr>
            <p:ph type="body" sz="half" idx="1"/>
          </p:nvPr>
        </p:nvSpPr>
        <p:spPr/>
        <p:txBody>
          <a:bodyPr/>
          <a:lstStyle/>
          <a:p>
            <a:pPr>
              <a:buFont typeface="ZapfDingbats" pitchFamily="82" charset="2"/>
              <a:buNone/>
            </a:pPr>
            <a:r>
              <a:rPr lang="en-US" sz="2400">
                <a:solidFill>
                  <a:srgbClr val="FF0000"/>
                </a:solidFill>
              </a:rPr>
              <a:t>HTTP: hypertext transfer protocol</a:t>
            </a:r>
            <a:endParaRPr lang="en-US" sz="2400"/>
          </a:p>
          <a:p>
            <a:r>
              <a:rPr lang="en-US" sz="2000"/>
              <a:t>Web’s application layer protocol</a:t>
            </a:r>
            <a:endParaRPr lang="en-US" sz="2000"/>
          </a:p>
          <a:p>
            <a:r>
              <a:rPr lang="en-US" sz="2000"/>
              <a:t>client/server model</a:t>
            </a:r>
            <a:endParaRPr lang="en-US" sz="2000"/>
          </a:p>
          <a:p>
            <a:pPr lvl="1"/>
            <a:r>
              <a:rPr lang="en-US" sz="2000" i="1">
                <a:solidFill>
                  <a:srgbClr val="FF0000"/>
                </a:solidFill>
              </a:rPr>
              <a:t>client:</a:t>
            </a:r>
            <a:r>
              <a:rPr lang="en-US" sz="2000"/>
              <a:t> browser that requests, receives, “displays” Web objects</a:t>
            </a:r>
            <a:endParaRPr lang="en-US" sz="2000"/>
          </a:p>
          <a:p>
            <a:pPr lvl="1"/>
            <a:r>
              <a:rPr lang="en-US" sz="2000" i="1">
                <a:solidFill>
                  <a:srgbClr val="FF0000"/>
                </a:solidFill>
              </a:rPr>
              <a:t>server:</a:t>
            </a:r>
            <a:r>
              <a:rPr lang="en-US" sz="2000"/>
              <a:t> Web server sends objects in response to requests</a:t>
            </a:r>
            <a:endParaRPr lang="en-US" sz="2000"/>
          </a:p>
          <a:p>
            <a:pPr>
              <a:buFont typeface="ZapfDingbats" pitchFamily="82" charset="2"/>
              <a:buNone/>
            </a:pPr>
            <a:endParaRPr lang="en-US" sz="2000"/>
          </a:p>
        </p:txBody>
      </p:sp>
      <p:graphicFrame>
        <p:nvGraphicFramePr>
          <p:cNvPr id="5122" name="Object 6"/>
          <p:cNvGraphicFramePr>
            <a:graphicFrameLocks noChangeAspect="1"/>
          </p:cNvGraphicFramePr>
          <p:nvPr/>
        </p:nvGraphicFramePr>
        <p:xfrm>
          <a:off x="4924425" y="1860550"/>
          <a:ext cx="752475" cy="596900"/>
        </p:xfrm>
        <a:graphic>
          <a:graphicData uri="http://schemas.openxmlformats.org/presentationml/2006/ole">
            <mc:AlternateContent xmlns:mc="http://schemas.openxmlformats.org/markup-compatibility/2006">
              <mc:Choice xmlns:v="urn:schemas-microsoft-com:vml" Requires="v">
                <p:oleObj spid="_x0000_s5144" name="Clip" r:id="rId1" imgW="18192750" imgH="15087600" progId="">
                  <p:embed/>
                </p:oleObj>
              </mc:Choice>
              <mc:Fallback>
                <p:oleObj name="Clip" r:id="rId1" imgW="18192750" imgH="15087600" progId="">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4425" y="1860550"/>
                        <a:ext cx="752475"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8" name="Text Box 7"/>
          <p:cNvSpPr txBox="1">
            <a:spLocks noChangeArrowheads="1"/>
          </p:cNvSpPr>
          <p:nvPr/>
        </p:nvSpPr>
        <p:spPr bwMode="auto">
          <a:xfrm>
            <a:off x="4773613" y="2455863"/>
            <a:ext cx="1162050" cy="581025"/>
          </a:xfrm>
          <a:prstGeom prst="rect">
            <a:avLst/>
          </a:prstGeom>
          <a:noFill/>
          <a:ln w="9525">
            <a:noFill/>
            <a:miter lim="800000"/>
          </a:ln>
        </p:spPr>
        <p:txBody>
          <a:bodyPr wrap="none">
            <a:spAutoFit/>
          </a:bodyPr>
          <a:lstStyle/>
          <a:p>
            <a:pPr algn="ctr">
              <a:spcBef>
                <a:spcPct val="0"/>
              </a:spcBef>
              <a:buClrTx/>
              <a:buSzTx/>
              <a:buFontTx/>
              <a:buNone/>
            </a:pPr>
            <a:r>
              <a:rPr lang="en-US" sz="1600"/>
              <a:t>PC running</a:t>
            </a:r>
            <a:endParaRPr lang="en-US" sz="1600"/>
          </a:p>
          <a:p>
            <a:pPr algn="ctr">
              <a:spcBef>
                <a:spcPct val="0"/>
              </a:spcBef>
              <a:buClrTx/>
              <a:buSzTx/>
              <a:buFontTx/>
              <a:buNone/>
            </a:pPr>
            <a:r>
              <a:rPr lang="en-US" sz="1600"/>
              <a:t>Explorer</a:t>
            </a:r>
            <a:endParaRPr lang="en-US">
              <a:latin typeface="Times New Roman" panose="02020603050405020304" pitchFamily="18" charset="0"/>
            </a:endParaRPr>
          </a:p>
        </p:txBody>
      </p:sp>
      <p:graphicFrame>
        <p:nvGraphicFramePr>
          <p:cNvPr id="5123" name="Object 8"/>
          <p:cNvGraphicFramePr>
            <a:graphicFrameLocks noChangeAspect="1"/>
          </p:cNvGraphicFramePr>
          <p:nvPr/>
        </p:nvGraphicFramePr>
        <p:xfrm>
          <a:off x="5019675" y="4556125"/>
          <a:ext cx="752475" cy="596900"/>
        </p:xfrm>
        <a:graphic>
          <a:graphicData uri="http://schemas.openxmlformats.org/presentationml/2006/ole">
            <mc:AlternateContent xmlns:mc="http://schemas.openxmlformats.org/markup-compatibility/2006">
              <mc:Choice xmlns:v="urn:schemas-microsoft-com:vml" Requires="v">
                <p:oleObj spid="_x0000_s5145" name="Clip" r:id="rId3" imgW="18192750" imgH="15087600" progId="">
                  <p:embed/>
                </p:oleObj>
              </mc:Choice>
              <mc:Fallback>
                <p:oleObj name="Clip" r:id="rId3" imgW="18192750" imgH="15087600" progId="">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9675" y="4556125"/>
                        <a:ext cx="752475"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9" name="Text Box 9"/>
          <p:cNvSpPr txBox="1">
            <a:spLocks noChangeArrowheads="1"/>
          </p:cNvSpPr>
          <p:nvPr/>
        </p:nvSpPr>
        <p:spPr bwMode="auto">
          <a:xfrm>
            <a:off x="7491413" y="3836988"/>
            <a:ext cx="1382712" cy="1069975"/>
          </a:xfrm>
          <a:prstGeom prst="rect">
            <a:avLst/>
          </a:prstGeom>
          <a:noFill/>
          <a:ln w="9525">
            <a:noFill/>
            <a:miter lim="800000"/>
          </a:ln>
        </p:spPr>
        <p:txBody>
          <a:bodyPr wrap="none">
            <a:spAutoFit/>
          </a:bodyPr>
          <a:lstStyle/>
          <a:p>
            <a:pPr algn="ctr">
              <a:spcBef>
                <a:spcPct val="0"/>
              </a:spcBef>
              <a:buClrTx/>
              <a:buSzTx/>
              <a:buFontTx/>
              <a:buNone/>
            </a:pPr>
            <a:r>
              <a:rPr lang="en-US" sz="1600"/>
              <a:t>Server </a:t>
            </a:r>
            <a:endParaRPr lang="en-US" sz="1600"/>
          </a:p>
          <a:p>
            <a:pPr algn="ctr">
              <a:spcBef>
                <a:spcPct val="0"/>
              </a:spcBef>
              <a:buClrTx/>
              <a:buSzTx/>
              <a:buFontTx/>
              <a:buNone/>
            </a:pPr>
            <a:r>
              <a:rPr lang="en-US" sz="1600"/>
              <a:t>running</a:t>
            </a:r>
            <a:endParaRPr lang="en-US" sz="1600"/>
          </a:p>
          <a:p>
            <a:pPr algn="ctr">
              <a:spcBef>
                <a:spcPct val="0"/>
              </a:spcBef>
              <a:buClrTx/>
              <a:buSzTx/>
              <a:buFontTx/>
              <a:buNone/>
            </a:pPr>
            <a:r>
              <a:rPr lang="en-US" sz="1600"/>
              <a:t>Apache Web</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grpSp>
        <p:nvGrpSpPr>
          <p:cNvPr id="5130" name="Group 10"/>
          <p:cNvGrpSpPr/>
          <p:nvPr/>
        </p:nvGrpSpPr>
        <p:grpSpPr bwMode="auto">
          <a:xfrm>
            <a:off x="7910513" y="2725738"/>
            <a:ext cx="504825" cy="1071562"/>
            <a:chOff x="4180" y="783"/>
            <a:chExt cx="150" cy="307"/>
          </a:xfrm>
        </p:grpSpPr>
        <p:sp>
          <p:nvSpPr>
            <p:cNvPr id="5140" name="AutoShape 1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5141" name="Rectangle 12"/>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5142" name="Rectangle 13"/>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5143" name="AutoShape 1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2" name="Line 15"/>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3" name="Line 16"/>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5146" name="Rectangle 17"/>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5147" name="Rectangle 18"/>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5131" name="Line 19"/>
          <p:cNvSpPr>
            <a:spLocks noChangeShapeType="1"/>
          </p:cNvSpPr>
          <p:nvPr/>
        </p:nvSpPr>
        <p:spPr bwMode="auto">
          <a:xfrm>
            <a:off x="5743575" y="2133600"/>
            <a:ext cx="2085975" cy="962025"/>
          </a:xfrm>
          <a:prstGeom prst="line">
            <a:avLst/>
          </a:prstGeom>
          <a:noFill/>
          <a:ln w="28575">
            <a:solidFill>
              <a:srgbClr val="FF0000"/>
            </a:solidFill>
            <a:round/>
            <a:tailEnd type="triangle" w="med" len="med"/>
          </a:ln>
        </p:spPr>
        <p:txBody>
          <a:bodyPr wrap="none" anchor="ctr"/>
          <a:lstStyle/>
          <a:p>
            <a:endParaRPr lang="en-US"/>
          </a:p>
        </p:txBody>
      </p:sp>
      <p:sp>
        <p:nvSpPr>
          <p:cNvPr id="5132" name="Line 20"/>
          <p:cNvSpPr>
            <a:spLocks noChangeShapeType="1"/>
          </p:cNvSpPr>
          <p:nvPr/>
        </p:nvSpPr>
        <p:spPr bwMode="auto">
          <a:xfrm flipH="1" flipV="1">
            <a:off x="5800725" y="2333625"/>
            <a:ext cx="1971675" cy="904875"/>
          </a:xfrm>
          <a:prstGeom prst="line">
            <a:avLst/>
          </a:prstGeom>
          <a:noFill/>
          <a:ln w="28575">
            <a:solidFill>
              <a:srgbClr val="FF0000"/>
            </a:solidFill>
            <a:round/>
            <a:tailEnd type="triangle" w="med" len="med"/>
          </a:ln>
        </p:spPr>
        <p:txBody>
          <a:bodyPr wrap="none" anchor="ctr"/>
          <a:lstStyle/>
          <a:p>
            <a:endParaRPr lang="en-US"/>
          </a:p>
        </p:txBody>
      </p:sp>
      <p:sp>
        <p:nvSpPr>
          <p:cNvPr id="5133" name="Line 21"/>
          <p:cNvSpPr>
            <a:spLocks noChangeShapeType="1"/>
          </p:cNvSpPr>
          <p:nvPr/>
        </p:nvSpPr>
        <p:spPr bwMode="auto">
          <a:xfrm flipV="1">
            <a:off x="5734050" y="3505200"/>
            <a:ext cx="2047875" cy="1095375"/>
          </a:xfrm>
          <a:prstGeom prst="line">
            <a:avLst/>
          </a:prstGeom>
          <a:noFill/>
          <a:ln w="28575">
            <a:solidFill>
              <a:srgbClr val="FF0000"/>
            </a:solidFill>
            <a:round/>
            <a:tailEnd type="triangle" w="med" len="med"/>
          </a:ln>
        </p:spPr>
        <p:txBody>
          <a:bodyPr wrap="none" anchor="ctr"/>
          <a:lstStyle/>
          <a:p>
            <a:endParaRPr lang="en-US"/>
          </a:p>
        </p:txBody>
      </p:sp>
      <p:sp>
        <p:nvSpPr>
          <p:cNvPr id="5134" name="Line 22"/>
          <p:cNvSpPr>
            <a:spLocks noChangeShapeType="1"/>
          </p:cNvSpPr>
          <p:nvPr/>
        </p:nvSpPr>
        <p:spPr bwMode="auto">
          <a:xfrm flipH="1">
            <a:off x="5810250" y="3629025"/>
            <a:ext cx="2047875" cy="1133475"/>
          </a:xfrm>
          <a:prstGeom prst="line">
            <a:avLst/>
          </a:prstGeom>
          <a:noFill/>
          <a:ln w="28575">
            <a:solidFill>
              <a:srgbClr val="FF0000"/>
            </a:solidFill>
            <a:round/>
            <a:tailEnd type="triangle" w="med" len="med"/>
          </a:ln>
        </p:spPr>
        <p:txBody>
          <a:bodyPr wrap="none" anchor="ctr"/>
          <a:lstStyle/>
          <a:p>
            <a:endParaRPr lang="en-US"/>
          </a:p>
        </p:txBody>
      </p:sp>
      <p:sp>
        <p:nvSpPr>
          <p:cNvPr id="5135" name="Text Box 23"/>
          <p:cNvSpPr txBox="1">
            <a:spLocks noChangeArrowheads="1"/>
          </p:cNvSpPr>
          <p:nvPr/>
        </p:nvSpPr>
        <p:spPr bwMode="auto">
          <a:xfrm>
            <a:off x="4921250" y="5218113"/>
            <a:ext cx="1322388" cy="581025"/>
          </a:xfrm>
          <a:prstGeom prst="rect">
            <a:avLst/>
          </a:prstGeom>
          <a:noFill/>
          <a:ln w="9525">
            <a:noFill/>
            <a:miter lim="800000"/>
          </a:ln>
        </p:spPr>
        <p:txBody>
          <a:bodyPr wrap="none">
            <a:spAutoFit/>
          </a:bodyPr>
          <a:lstStyle/>
          <a:p>
            <a:pPr algn="ctr">
              <a:spcBef>
                <a:spcPct val="0"/>
              </a:spcBef>
              <a:buClrTx/>
              <a:buSzTx/>
              <a:buFontTx/>
              <a:buNone/>
            </a:pPr>
            <a:r>
              <a:rPr lang="en-US" sz="1600"/>
              <a:t>Mac running</a:t>
            </a:r>
            <a:endParaRPr lang="en-US" sz="1600"/>
          </a:p>
          <a:p>
            <a:pPr algn="ctr">
              <a:spcBef>
                <a:spcPct val="0"/>
              </a:spcBef>
              <a:buClrTx/>
              <a:buSzTx/>
              <a:buFontTx/>
              <a:buNone/>
            </a:pPr>
            <a:r>
              <a:rPr lang="en-US" sz="1600"/>
              <a:t>Navigator</a:t>
            </a:r>
            <a:endParaRPr lang="en-US">
              <a:latin typeface="Times New Roman" panose="02020603050405020304" pitchFamily="18" charset="0"/>
            </a:endParaRPr>
          </a:p>
        </p:txBody>
      </p:sp>
      <p:sp>
        <p:nvSpPr>
          <p:cNvPr id="5136" name="Text Box 24"/>
          <p:cNvSpPr txBox="1">
            <a:spLocks noChangeArrowheads="1"/>
          </p:cNvSpPr>
          <p:nvPr/>
        </p:nvSpPr>
        <p:spPr bwMode="auto">
          <a:xfrm rot="1422049">
            <a:off x="6097588" y="2293938"/>
            <a:ext cx="1509712" cy="336550"/>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request</a:t>
            </a:r>
            <a:endParaRPr lang="en-US">
              <a:latin typeface="Times New Roman" panose="02020603050405020304" pitchFamily="18" charset="0"/>
            </a:endParaRPr>
          </a:p>
        </p:txBody>
      </p:sp>
      <p:sp>
        <p:nvSpPr>
          <p:cNvPr id="5137" name="Text Box 25"/>
          <p:cNvSpPr txBox="1">
            <a:spLocks noChangeArrowheads="1"/>
          </p:cNvSpPr>
          <p:nvPr/>
        </p:nvSpPr>
        <p:spPr bwMode="auto">
          <a:xfrm rot="-1692639">
            <a:off x="5888038" y="3789363"/>
            <a:ext cx="1509712" cy="336550"/>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request</a:t>
            </a:r>
            <a:endParaRPr lang="en-US">
              <a:latin typeface="Times New Roman" panose="02020603050405020304" pitchFamily="18" charset="0"/>
            </a:endParaRPr>
          </a:p>
        </p:txBody>
      </p:sp>
      <p:sp>
        <p:nvSpPr>
          <p:cNvPr id="5138" name="Text Box 26"/>
          <p:cNvSpPr txBox="1">
            <a:spLocks noChangeArrowheads="1"/>
          </p:cNvSpPr>
          <p:nvPr/>
        </p:nvSpPr>
        <p:spPr bwMode="auto">
          <a:xfrm rot="1411598">
            <a:off x="5910263" y="2741613"/>
            <a:ext cx="1620837" cy="336550"/>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response</a:t>
            </a:r>
            <a:endParaRPr lang="en-US">
              <a:latin typeface="Times New Roman" panose="02020603050405020304" pitchFamily="18" charset="0"/>
            </a:endParaRPr>
          </a:p>
        </p:txBody>
      </p:sp>
      <p:sp>
        <p:nvSpPr>
          <p:cNvPr id="5139" name="Text Box 28"/>
          <p:cNvSpPr txBox="1">
            <a:spLocks noChangeArrowheads="1"/>
          </p:cNvSpPr>
          <p:nvPr/>
        </p:nvSpPr>
        <p:spPr bwMode="auto">
          <a:xfrm rot="-1737783">
            <a:off x="6091238" y="4122738"/>
            <a:ext cx="1620837" cy="336550"/>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response</a:t>
            </a:r>
            <a:endParaRPr lang="en-US">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1203" name="Slide Number Placeholder 6"/>
          <p:cNvSpPr>
            <a:spLocks noGrp="1"/>
          </p:cNvSpPr>
          <p:nvPr>
            <p:ph type="sldNum" sz="quarter" idx="12"/>
          </p:nvPr>
        </p:nvSpPr>
        <p:spPr>
          <a:noFill/>
        </p:spPr>
        <p:txBody>
          <a:bodyPr/>
          <a:lstStyle/>
          <a:p>
            <a:fld id="{3CD7BA97-98B7-4D79-A944-A640DEF5177C}" type="slidenum">
              <a:rPr lang="en-US"/>
            </a:fld>
            <a:endParaRPr lang="en-US"/>
          </a:p>
        </p:txBody>
      </p:sp>
      <p:sp>
        <p:nvSpPr>
          <p:cNvPr id="51204" name="Rectangle 7"/>
          <p:cNvSpPr>
            <a:spLocks noChangeArrowheads="1"/>
          </p:cNvSpPr>
          <p:nvPr/>
        </p:nvSpPr>
        <p:spPr bwMode="auto">
          <a:xfrm>
            <a:off x="4781550" y="3400425"/>
            <a:ext cx="3838575" cy="2724150"/>
          </a:xfrm>
          <a:prstGeom prst="rect">
            <a:avLst/>
          </a:prstGeom>
          <a:solidFill>
            <a:srgbClr val="FFFFFF"/>
          </a:solidFill>
          <a:ln w="19050">
            <a:solidFill>
              <a:schemeClr val="accent2"/>
            </a:solidFill>
            <a:miter lim="800000"/>
          </a:ln>
        </p:spPr>
        <p:txBody>
          <a:bodyPr wrap="none" anchor="ctr"/>
          <a:lstStyle/>
          <a:p>
            <a:endParaRPr lang="en-US"/>
          </a:p>
        </p:txBody>
      </p:sp>
      <p:sp>
        <p:nvSpPr>
          <p:cNvPr id="51205" name="Rectangle 9"/>
          <p:cNvSpPr>
            <a:spLocks noChangeArrowheads="1"/>
          </p:cNvSpPr>
          <p:nvPr/>
        </p:nvSpPr>
        <p:spPr bwMode="auto">
          <a:xfrm>
            <a:off x="7667625" y="3238500"/>
            <a:ext cx="828675" cy="295275"/>
          </a:xfrm>
          <a:prstGeom prst="rect">
            <a:avLst/>
          </a:prstGeom>
          <a:solidFill>
            <a:srgbClr val="FFFFFF"/>
          </a:solidFill>
          <a:ln w="9525">
            <a:noFill/>
            <a:miter lim="800000"/>
          </a:ln>
        </p:spPr>
        <p:txBody>
          <a:bodyPr wrap="none" anchor="ctr"/>
          <a:lstStyle/>
          <a:p>
            <a:endParaRPr lang="en-US"/>
          </a:p>
        </p:txBody>
      </p:sp>
      <p:sp>
        <p:nvSpPr>
          <p:cNvPr id="51206" name="Rectangle 2"/>
          <p:cNvSpPr>
            <a:spLocks noGrp="1" noChangeArrowheads="1"/>
          </p:cNvSpPr>
          <p:nvPr>
            <p:ph type="title"/>
          </p:nvPr>
        </p:nvSpPr>
        <p:spPr/>
        <p:txBody>
          <a:bodyPr/>
          <a:lstStyle/>
          <a:p>
            <a:r>
              <a:rPr lang="en-US"/>
              <a:t>HTTP overview (continued)</a:t>
            </a:r>
            <a:endParaRPr lang="en-US"/>
          </a:p>
        </p:txBody>
      </p:sp>
      <p:sp>
        <p:nvSpPr>
          <p:cNvPr id="51207" name="Rectangle 3"/>
          <p:cNvSpPr>
            <a:spLocks noGrp="1" noChangeArrowheads="1"/>
          </p:cNvSpPr>
          <p:nvPr>
            <p:ph type="body" sz="half" idx="1"/>
          </p:nvPr>
        </p:nvSpPr>
        <p:spPr>
          <a:xfrm>
            <a:off x="533400" y="1600200"/>
            <a:ext cx="3971925" cy="4648200"/>
          </a:xfrm>
        </p:spPr>
        <p:txBody>
          <a:bodyPr/>
          <a:lstStyle/>
          <a:p>
            <a:pPr>
              <a:buFont typeface="ZapfDingbats" pitchFamily="82" charset="2"/>
              <a:buNone/>
            </a:pPr>
            <a:r>
              <a:rPr lang="en-US" sz="2400">
                <a:solidFill>
                  <a:srgbClr val="FF0000"/>
                </a:solidFill>
              </a:rPr>
              <a:t>Uses TCP:</a:t>
            </a:r>
            <a:endParaRPr lang="en-US" sz="2400"/>
          </a:p>
          <a:p>
            <a:r>
              <a:rPr lang="en-US" sz="2000"/>
              <a:t>client initiates TCP connection (creates socket) to server,  port 80</a:t>
            </a:r>
            <a:endParaRPr lang="en-US" sz="2000"/>
          </a:p>
          <a:p>
            <a:r>
              <a:rPr lang="en-US" sz="2000"/>
              <a:t>server accepts TCP connection from client</a:t>
            </a:r>
            <a:endParaRPr lang="en-US" sz="2000"/>
          </a:p>
          <a:p>
            <a:r>
              <a:rPr lang="en-US" sz="2000"/>
              <a:t>HTTP messages (application-layer protocol messages) exchanged between browser (HTTP client) and Web server (HTTP server)</a:t>
            </a:r>
            <a:endParaRPr lang="en-US" sz="2000"/>
          </a:p>
          <a:p>
            <a:r>
              <a:rPr lang="en-US" sz="2000"/>
              <a:t>TCP connection closed</a:t>
            </a:r>
            <a:endParaRPr lang="en-US" sz="2400"/>
          </a:p>
        </p:txBody>
      </p:sp>
      <p:sp>
        <p:nvSpPr>
          <p:cNvPr id="51208" name="Rectangle 4"/>
          <p:cNvSpPr>
            <a:spLocks noGrp="1" noChangeArrowheads="1"/>
          </p:cNvSpPr>
          <p:nvPr>
            <p:ph type="body" sz="half" idx="2"/>
          </p:nvPr>
        </p:nvSpPr>
        <p:spPr>
          <a:xfrm>
            <a:off x="5029200" y="1562100"/>
            <a:ext cx="3171825" cy="1514475"/>
          </a:xfrm>
        </p:spPr>
        <p:txBody>
          <a:bodyPr/>
          <a:lstStyle/>
          <a:p>
            <a:pPr>
              <a:buFont typeface="ZapfDingbats" pitchFamily="82" charset="2"/>
              <a:buNone/>
            </a:pPr>
            <a:r>
              <a:rPr lang="en-US" sz="2400">
                <a:solidFill>
                  <a:srgbClr val="FF0000"/>
                </a:solidFill>
              </a:rPr>
              <a:t>HTTP is “stateless”</a:t>
            </a:r>
            <a:endParaRPr lang="en-US" sz="2400"/>
          </a:p>
          <a:p>
            <a:r>
              <a:rPr lang="en-US" sz="2000"/>
              <a:t>server maintains no information about past client requests</a:t>
            </a:r>
            <a:endParaRPr lang="en-US" sz="2000"/>
          </a:p>
        </p:txBody>
      </p:sp>
      <p:sp>
        <p:nvSpPr>
          <p:cNvPr id="51209" name="Rectangle 6"/>
          <p:cNvSpPr>
            <a:spLocks noChangeArrowheads="1"/>
          </p:cNvSpPr>
          <p:nvPr/>
        </p:nvSpPr>
        <p:spPr bwMode="auto">
          <a:xfrm>
            <a:off x="4810125" y="3419475"/>
            <a:ext cx="3752850" cy="2847975"/>
          </a:xfrm>
          <a:prstGeom prst="rect">
            <a:avLst/>
          </a:prstGeom>
          <a:noFill/>
          <a:ln w="9525">
            <a:noFill/>
            <a:miter lim="800000"/>
          </a:ln>
        </p:spPr>
        <p:txBody>
          <a:bodyPr/>
          <a:lstStyle/>
          <a:p>
            <a:pPr marL="342900" indent="-342900"/>
            <a:r>
              <a:rPr lang="en-US" sz="2000">
                <a:solidFill>
                  <a:srgbClr val="FF0000"/>
                </a:solidFill>
              </a:rPr>
              <a:t>Protocols that maintain “state” are complex!</a:t>
            </a:r>
            <a:endParaRPr lang="en-US" sz="2000"/>
          </a:p>
          <a:p>
            <a:pPr marL="342900" indent="-342900">
              <a:buFont typeface="ZapfDingbats" pitchFamily="82" charset="2"/>
              <a:buChar char="r"/>
            </a:pPr>
            <a:r>
              <a:rPr lang="en-US" sz="2000"/>
              <a:t>past history (state) must be maintained</a:t>
            </a:r>
            <a:endParaRPr lang="en-US" sz="2000"/>
          </a:p>
          <a:p>
            <a:pPr marL="342900" indent="-342900">
              <a:buFont typeface="ZapfDingbats" pitchFamily="82" charset="2"/>
              <a:buChar char="r"/>
            </a:pPr>
            <a:r>
              <a:rPr lang="en-US" sz="2000"/>
              <a:t>if server/client crashes, their views of “state” may be inconsistent, must be reconciled</a:t>
            </a:r>
            <a:endParaRPr lang="en-US" sz="2000"/>
          </a:p>
          <a:p>
            <a:pPr marL="342900" indent="-342900">
              <a:buFont typeface="ZapfDingbats" pitchFamily="82" charset="2"/>
              <a:buChar char="r"/>
            </a:pPr>
            <a:endParaRPr lang="en-US" sz="2000"/>
          </a:p>
        </p:txBody>
      </p:sp>
      <p:sp>
        <p:nvSpPr>
          <p:cNvPr id="51210" name="Text Box 8"/>
          <p:cNvSpPr txBox="1">
            <a:spLocks noChangeArrowheads="1"/>
          </p:cNvSpPr>
          <p:nvPr/>
        </p:nvSpPr>
        <p:spPr bwMode="auto">
          <a:xfrm>
            <a:off x="7602538" y="3160713"/>
            <a:ext cx="919162" cy="457200"/>
          </a:xfrm>
          <a:prstGeom prst="rect">
            <a:avLst/>
          </a:prstGeom>
          <a:noFill/>
          <a:ln w="9525">
            <a:noFill/>
            <a:miter lim="800000"/>
          </a:ln>
        </p:spPr>
        <p:txBody>
          <a:bodyPr wrap="none">
            <a:spAutoFit/>
          </a:bodyPr>
          <a:lstStyle/>
          <a:p>
            <a:pPr algn="ctr">
              <a:spcBef>
                <a:spcPct val="0"/>
              </a:spcBef>
              <a:buClrTx/>
              <a:buSzTx/>
              <a:buFontTx/>
              <a:buNone/>
            </a:pPr>
            <a:r>
              <a:rPr lang="en-US">
                <a:solidFill>
                  <a:schemeClr val="accent2"/>
                </a:solidFill>
              </a:rPr>
              <a:t>aside</a:t>
            </a:r>
            <a:endParaRPr lang="en-US">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2227" name="Slide Number Placeholder 6"/>
          <p:cNvSpPr>
            <a:spLocks noGrp="1"/>
          </p:cNvSpPr>
          <p:nvPr>
            <p:ph type="sldNum" sz="quarter" idx="12"/>
          </p:nvPr>
        </p:nvSpPr>
        <p:spPr>
          <a:noFill/>
        </p:spPr>
        <p:txBody>
          <a:bodyPr/>
          <a:lstStyle/>
          <a:p>
            <a:fld id="{3AAFF367-8332-45C9-A1DC-AA1686563C7F}" type="slidenum">
              <a:rPr lang="en-US"/>
            </a:fld>
            <a:endParaRPr lang="en-US"/>
          </a:p>
        </p:txBody>
      </p:sp>
      <p:sp>
        <p:nvSpPr>
          <p:cNvPr id="52228" name="Rectangle 2"/>
          <p:cNvSpPr>
            <a:spLocks noGrp="1" noChangeArrowheads="1"/>
          </p:cNvSpPr>
          <p:nvPr>
            <p:ph type="title"/>
          </p:nvPr>
        </p:nvSpPr>
        <p:spPr/>
        <p:txBody>
          <a:bodyPr/>
          <a:lstStyle/>
          <a:p>
            <a:r>
              <a:rPr lang="en-US"/>
              <a:t>HTTP connections</a:t>
            </a:r>
            <a:endParaRPr lang="en-US"/>
          </a:p>
        </p:txBody>
      </p:sp>
      <p:sp>
        <p:nvSpPr>
          <p:cNvPr id="52229" name="Rectangle 3"/>
          <p:cNvSpPr>
            <a:spLocks noGrp="1" noChangeArrowheads="1"/>
          </p:cNvSpPr>
          <p:nvPr>
            <p:ph type="body" sz="half" idx="1"/>
          </p:nvPr>
        </p:nvSpPr>
        <p:spPr/>
        <p:txBody>
          <a:bodyPr/>
          <a:lstStyle/>
          <a:p>
            <a:pPr>
              <a:buFont typeface="ZapfDingbats" pitchFamily="82" charset="2"/>
              <a:buNone/>
            </a:pPr>
            <a:r>
              <a:rPr lang="en-US" sz="2400" u="sng">
                <a:solidFill>
                  <a:srgbClr val="FF0000"/>
                </a:solidFill>
              </a:rPr>
              <a:t>Nonpersistent HTTP</a:t>
            </a:r>
            <a:endParaRPr lang="en-US" sz="2400"/>
          </a:p>
          <a:p>
            <a:r>
              <a:rPr lang="en-US" sz="2400"/>
              <a:t>At most one object is sent over a TCP connection.</a:t>
            </a:r>
            <a:endParaRPr lang="en-US" sz="2400"/>
          </a:p>
          <a:p>
            <a:pPr>
              <a:buFont typeface="ZapfDingbats" pitchFamily="82" charset="2"/>
              <a:buNone/>
            </a:pPr>
            <a:endParaRPr lang="en-US" sz="2400"/>
          </a:p>
        </p:txBody>
      </p:sp>
      <p:sp>
        <p:nvSpPr>
          <p:cNvPr id="52230" name="Rectangle 4"/>
          <p:cNvSpPr>
            <a:spLocks noGrp="1" noChangeArrowheads="1"/>
          </p:cNvSpPr>
          <p:nvPr>
            <p:ph type="body" sz="half" idx="2"/>
          </p:nvPr>
        </p:nvSpPr>
        <p:spPr/>
        <p:txBody>
          <a:bodyPr/>
          <a:lstStyle/>
          <a:p>
            <a:pPr>
              <a:buFont typeface="ZapfDingbats" pitchFamily="82" charset="2"/>
              <a:buNone/>
            </a:pPr>
            <a:r>
              <a:rPr lang="en-US" sz="2400" u="sng">
                <a:solidFill>
                  <a:srgbClr val="FF0000"/>
                </a:solidFill>
              </a:rPr>
              <a:t>Persistent HTTP</a:t>
            </a:r>
            <a:endParaRPr lang="en-US" sz="2400">
              <a:solidFill>
                <a:srgbClr val="FF0000"/>
              </a:solidFill>
            </a:endParaRPr>
          </a:p>
          <a:p>
            <a:r>
              <a:rPr lang="en-US" sz="2400"/>
              <a:t>Multiple objects can be sent over single TCP connection between client and server.</a:t>
            </a:r>
            <a:endParaRPr lang="en-US" sz="2400"/>
          </a:p>
          <a:p>
            <a:pPr>
              <a:buFont typeface="ZapfDingbats" pitchFamily="82" charset="2"/>
              <a:buNone/>
            </a:pPr>
            <a:endParaRPr lang="en-US" sz="2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148" name="Slide Number Placeholder 6"/>
          <p:cNvSpPr>
            <a:spLocks noGrp="1"/>
          </p:cNvSpPr>
          <p:nvPr>
            <p:ph type="sldNum" sz="quarter" idx="12"/>
          </p:nvPr>
        </p:nvSpPr>
        <p:spPr>
          <a:noFill/>
        </p:spPr>
        <p:txBody>
          <a:bodyPr/>
          <a:lstStyle/>
          <a:p>
            <a:fld id="{9FCD0F4F-4F68-4747-8D78-0A64197FF934}" type="slidenum">
              <a:rPr lang="en-US"/>
            </a:fld>
            <a:endParaRPr lang="en-US"/>
          </a:p>
        </p:txBody>
      </p:sp>
      <p:sp>
        <p:nvSpPr>
          <p:cNvPr id="6149" name="Rectangle 2"/>
          <p:cNvSpPr>
            <a:spLocks noGrp="1" noChangeArrowheads="1"/>
          </p:cNvSpPr>
          <p:nvPr>
            <p:ph type="title"/>
          </p:nvPr>
        </p:nvSpPr>
        <p:spPr>
          <a:xfrm>
            <a:off x="533400" y="0"/>
            <a:ext cx="8223250" cy="1143000"/>
          </a:xfrm>
        </p:spPr>
        <p:txBody>
          <a:bodyPr/>
          <a:lstStyle/>
          <a:p>
            <a:r>
              <a:rPr lang="en-US" sz="3600"/>
              <a:t>Non-Persistent HTTP: Response time</a:t>
            </a:r>
            <a:endParaRPr lang="en-US" sz="3600"/>
          </a:p>
        </p:txBody>
      </p:sp>
      <p:sp>
        <p:nvSpPr>
          <p:cNvPr id="6150" name="Rectangle 3"/>
          <p:cNvSpPr>
            <a:spLocks noGrp="1" noChangeArrowheads="1"/>
          </p:cNvSpPr>
          <p:nvPr>
            <p:ph type="body" sz="half" idx="1"/>
          </p:nvPr>
        </p:nvSpPr>
        <p:spPr>
          <a:xfrm>
            <a:off x="533400" y="1258888"/>
            <a:ext cx="4090988" cy="4648200"/>
          </a:xfrm>
        </p:spPr>
        <p:txBody>
          <a:bodyPr/>
          <a:lstStyle/>
          <a:p>
            <a:pPr>
              <a:buFont typeface="ZapfDingbats" pitchFamily="82" charset="2"/>
              <a:buNone/>
            </a:pPr>
            <a:r>
              <a:rPr lang="en-US" sz="2400" dirty="0">
                <a:solidFill>
                  <a:srgbClr val="FF0000"/>
                </a:solidFill>
              </a:rPr>
              <a:t>Definition of RTT:</a:t>
            </a:r>
            <a:r>
              <a:rPr lang="en-US" sz="2400" dirty="0"/>
              <a:t> time for a small packet to travel from client to server and back.</a:t>
            </a:r>
            <a:endParaRPr lang="en-US" sz="2400" dirty="0"/>
          </a:p>
          <a:p>
            <a:pPr>
              <a:buFont typeface="ZapfDingbats" pitchFamily="82" charset="2"/>
              <a:buNone/>
            </a:pPr>
            <a:r>
              <a:rPr lang="en-US" sz="2400" u="sng" dirty="0">
                <a:solidFill>
                  <a:srgbClr val="FF0000"/>
                </a:solidFill>
              </a:rPr>
              <a:t>Response time:</a:t>
            </a:r>
            <a:endParaRPr lang="en-US" sz="2400" dirty="0"/>
          </a:p>
          <a:p>
            <a:r>
              <a:rPr lang="en-US" sz="2400" dirty="0"/>
              <a:t>one RTT to initiate TCP connection</a:t>
            </a:r>
            <a:endParaRPr lang="en-US" sz="2400" dirty="0"/>
          </a:p>
          <a:p>
            <a:r>
              <a:rPr lang="en-US" sz="2400" dirty="0"/>
              <a:t>one RTT for HTTP </a:t>
            </a:r>
            <a:r>
              <a:rPr lang="en-US" sz="2400" u="sng" dirty="0"/>
              <a:t>request</a:t>
            </a:r>
            <a:r>
              <a:rPr lang="en-US" sz="2400" dirty="0"/>
              <a:t> and first few bytes of HTTP </a:t>
            </a:r>
            <a:r>
              <a:rPr lang="en-US" sz="2400" u="sng" dirty="0"/>
              <a:t>response</a:t>
            </a:r>
            <a:r>
              <a:rPr lang="en-US" sz="2400" dirty="0"/>
              <a:t> to return</a:t>
            </a:r>
            <a:endParaRPr lang="en-US" sz="2400" dirty="0"/>
          </a:p>
          <a:p>
            <a:r>
              <a:rPr lang="en-US" sz="2400" dirty="0"/>
              <a:t>file transmission time</a:t>
            </a:r>
            <a:endParaRPr lang="en-US" sz="2400" dirty="0"/>
          </a:p>
          <a:p>
            <a:pPr>
              <a:buFont typeface="ZapfDingbats" pitchFamily="82" charset="2"/>
              <a:buNone/>
            </a:pPr>
            <a:r>
              <a:rPr lang="en-US" sz="2400" dirty="0">
                <a:solidFill>
                  <a:srgbClr val="FF0000"/>
                </a:solidFill>
              </a:rPr>
              <a:t>total = 2RTT+transmit time</a:t>
            </a:r>
            <a:endParaRPr lang="en-US" sz="2400" dirty="0"/>
          </a:p>
          <a:p>
            <a:pPr>
              <a:buFont typeface="ZapfDingbats" pitchFamily="82" charset="2"/>
              <a:buNone/>
            </a:pPr>
            <a:endParaRPr lang="en-US" sz="2400" dirty="0"/>
          </a:p>
        </p:txBody>
      </p:sp>
      <p:grpSp>
        <p:nvGrpSpPr>
          <p:cNvPr id="6151" name="Group 40"/>
          <p:cNvGrpSpPr/>
          <p:nvPr/>
        </p:nvGrpSpPr>
        <p:grpSpPr bwMode="auto">
          <a:xfrm>
            <a:off x="4584700" y="1260475"/>
            <a:ext cx="4378325" cy="4413250"/>
            <a:chOff x="2888" y="794"/>
            <a:chExt cx="2758" cy="2780"/>
          </a:xfrm>
        </p:grpSpPr>
        <p:graphicFrame>
          <p:nvGraphicFramePr>
            <p:cNvPr id="6146" name="Object 5"/>
            <p:cNvGraphicFramePr>
              <a:graphicFrameLocks noChangeAspect="1"/>
            </p:cNvGraphicFramePr>
            <p:nvPr/>
          </p:nvGraphicFramePr>
          <p:xfrm>
            <a:off x="3587" y="1049"/>
            <a:ext cx="474" cy="376"/>
          </p:xfrm>
          <a:graphic>
            <a:graphicData uri="http://schemas.openxmlformats.org/presentationml/2006/ole">
              <mc:AlternateContent xmlns:mc="http://schemas.openxmlformats.org/markup-compatibility/2006">
                <mc:Choice xmlns:v="urn:schemas-microsoft-com:vml" Requires="v">
                  <p:oleObj spid="_x0000_s6158" name="Clip" r:id="rId1" imgW="18192750" imgH="15087600" progId="">
                    <p:embed/>
                  </p:oleObj>
                </mc:Choice>
                <mc:Fallback>
                  <p:oleObj name="Clip" r:id="rId1" imgW="18192750" imgH="15087600" progId="">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7" y="1049"/>
                          <a:ext cx="474" cy="3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152" name="Group 6"/>
            <p:cNvGrpSpPr/>
            <p:nvPr/>
          </p:nvGrpSpPr>
          <p:grpSpPr bwMode="auto">
            <a:xfrm>
              <a:off x="4783" y="794"/>
              <a:ext cx="318" cy="675"/>
              <a:chOff x="4180" y="783"/>
              <a:chExt cx="150" cy="307"/>
            </a:xfrm>
          </p:grpSpPr>
          <p:sp>
            <p:nvSpPr>
              <p:cNvPr id="6173" name="AutoShape 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6174" name="Rectangle 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6175"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6176"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6177" name="Line 1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6178" name="Line 1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6179"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6180" name="Rectangle 1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6153" name="Line 15"/>
            <p:cNvSpPr>
              <a:spLocks noChangeShapeType="1"/>
            </p:cNvSpPr>
            <p:nvPr/>
          </p:nvSpPr>
          <p:spPr bwMode="auto">
            <a:xfrm>
              <a:off x="3846" y="1569"/>
              <a:ext cx="0" cy="1784"/>
            </a:xfrm>
            <a:prstGeom prst="line">
              <a:avLst/>
            </a:prstGeom>
            <a:noFill/>
            <a:ln w="9525">
              <a:solidFill>
                <a:srgbClr val="FF0000"/>
              </a:solidFill>
              <a:prstDash val="sysDot"/>
              <a:round/>
              <a:tailEnd type="triangle" w="med" len="med"/>
            </a:ln>
          </p:spPr>
          <p:txBody>
            <a:bodyPr wrap="none" anchor="ctr"/>
            <a:lstStyle/>
            <a:p>
              <a:endParaRPr lang="en-US"/>
            </a:p>
          </p:txBody>
        </p:sp>
        <p:sp>
          <p:nvSpPr>
            <p:cNvPr id="6154" name="Line 16"/>
            <p:cNvSpPr>
              <a:spLocks noChangeShapeType="1"/>
            </p:cNvSpPr>
            <p:nvPr/>
          </p:nvSpPr>
          <p:spPr bwMode="auto">
            <a:xfrm>
              <a:off x="4911" y="1565"/>
              <a:ext cx="0" cy="1815"/>
            </a:xfrm>
            <a:prstGeom prst="line">
              <a:avLst/>
            </a:prstGeom>
            <a:noFill/>
            <a:ln w="9525">
              <a:solidFill>
                <a:srgbClr val="FF0000"/>
              </a:solidFill>
              <a:prstDash val="sysDot"/>
              <a:round/>
              <a:tailEnd type="triangle" w="med" len="med"/>
            </a:ln>
          </p:spPr>
          <p:txBody>
            <a:bodyPr wrap="none" anchor="ctr"/>
            <a:lstStyle/>
            <a:p>
              <a:endParaRPr lang="en-US"/>
            </a:p>
          </p:txBody>
        </p:sp>
        <p:sp>
          <p:nvSpPr>
            <p:cNvPr id="6155" name="Line 17"/>
            <p:cNvSpPr>
              <a:spLocks noChangeShapeType="1"/>
            </p:cNvSpPr>
            <p:nvPr/>
          </p:nvSpPr>
          <p:spPr bwMode="auto">
            <a:xfrm>
              <a:off x="3855" y="1715"/>
              <a:ext cx="1061" cy="246"/>
            </a:xfrm>
            <a:prstGeom prst="line">
              <a:avLst/>
            </a:prstGeom>
            <a:noFill/>
            <a:ln w="9525">
              <a:solidFill>
                <a:schemeClr val="tx1"/>
              </a:solidFill>
              <a:round/>
              <a:tailEnd type="triangle" w="med" len="med"/>
            </a:ln>
          </p:spPr>
          <p:txBody>
            <a:bodyPr wrap="none" anchor="ctr"/>
            <a:lstStyle/>
            <a:p>
              <a:endParaRPr lang="en-US"/>
            </a:p>
          </p:txBody>
        </p:sp>
        <p:sp>
          <p:nvSpPr>
            <p:cNvPr id="6156" name="Line 18"/>
            <p:cNvSpPr>
              <a:spLocks noChangeShapeType="1"/>
            </p:cNvSpPr>
            <p:nvPr/>
          </p:nvSpPr>
          <p:spPr bwMode="auto">
            <a:xfrm flipH="1">
              <a:off x="3846" y="1991"/>
              <a:ext cx="1054" cy="254"/>
            </a:xfrm>
            <a:prstGeom prst="line">
              <a:avLst/>
            </a:prstGeom>
            <a:noFill/>
            <a:ln w="9525">
              <a:solidFill>
                <a:schemeClr val="tx1"/>
              </a:solidFill>
              <a:round/>
              <a:tailEnd type="triangle" w="med" len="med"/>
            </a:ln>
          </p:spPr>
          <p:txBody>
            <a:bodyPr wrap="none" anchor="ctr"/>
            <a:lstStyle/>
            <a:p>
              <a:endParaRPr lang="en-US"/>
            </a:p>
          </p:txBody>
        </p:sp>
        <p:sp>
          <p:nvSpPr>
            <p:cNvPr id="6157" name="Line 19"/>
            <p:cNvSpPr>
              <a:spLocks noChangeShapeType="1"/>
            </p:cNvSpPr>
            <p:nvPr/>
          </p:nvSpPr>
          <p:spPr bwMode="auto">
            <a:xfrm>
              <a:off x="3851" y="2311"/>
              <a:ext cx="1061" cy="246"/>
            </a:xfrm>
            <a:prstGeom prst="line">
              <a:avLst/>
            </a:prstGeom>
            <a:noFill/>
            <a:ln w="9525">
              <a:solidFill>
                <a:schemeClr val="tx1"/>
              </a:solidFill>
              <a:round/>
              <a:tailEnd type="triangle" w="med" len="med"/>
            </a:ln>
          </p:spPr>
          <p:txBody>
            <a:bodyPr wrap="none" anchor="ctr"/>
            <a:lstStyle/>
            <a:p>
              <a:endParaRPr lang="en-US"/>
            </a:p>
          </p:txBody>
        </p:sp>
        <p:sp>
          <p:nvSpPr>
            <p:cNvPr id="2" name="Line 20"/>
            <p:cNvSpPr>
              <a:spLocks noChangeShapeType="1"/>
            </p:cNvSpPr>
            <p:nvPr/>
          </p:nvSpPr>
          <p:spPr bwMode="auto">
            <a:xfrm flipH="1">
              <a:off x="3861" y="2615"/>
              <a:ext cx="1054" cy="239"/>
            </a:xfrm>
            <a:prstGeom prst="line">
              <a:avLst/>
            </a:prstGeom>
            <a:noFill/>
            <a:ln w="127000">
              <a:solidFill>
                <a:schemeClr val="tx1"/>
              </a:solidFill>
              <a:round/>
            </a:ln>
          </p:spPr>
          <p:txBody>
            <a:bodyPr wrap="none" anchor="ctr"/>
            <a:lstStyle/>
            <a:p>
              <a:endParaRPr lang="en-US"/>
            </a:p>
          </p:txBody>
        </p:sp>
        <p:sp>
          <p:nvSpPr>
            <p:cNvPr id="6159" name="AutoShape 21"/>
            <p:cNvSpPr/>
            <p:nvPr/>
          </p:nvSpPr>
          <p:spPr bwMode="auto">
            <a:xfrm>
              <a:off x="4961" y="2562"/>
              <a:ext cx="47" cy="115"/>
            </a:xfrm>
            <a:prstGeom prst="rightBrace">
              <a:avLst>
                <a:gd name="adj1" fmla="val 20390"/>
                <a:gd name="adj2" fmla="val 50000"/>
              </a:avLst>
            </a:prstGeom>
            <a:noFill/>
            <a:ln w="9525">
              <a:solidFill>
                <a:schemeClr val="tx1"/>
              </a:solidFill>
              <a:round/>
            </a:ln>
          </p:spPr>
          <p:txBody>
            <a:bodyPr wrap="none" anchor="ctr"/>
            <a:lstStyle/>
            <a:p>
              <a:endParaRPr lang="en-US"/>
            </a:p>
          </p:txBody>
        </p:sp>
        <p:sp>
          <p:nvSpPr>
            <p:cNvPr id="6160" name="Text Box 22"/>
            <p:cNvSpPr txBox="1">
              <a:spLocks noChangeArrowheads="1"/>
            </p:cNvSpPr>
            <p:nvPr/>
          </p:nvSpPr>
          <p:spPr bwMode="auto">
            <a:xfrm>
              <a:off x="4980" y="2371"/>
              <a:ext cx="666" cy="520"/>
            </a:xfrm>
            <a:prstGeom prst="rect">
              <a:avLst/>
            </a:prstGeom>
            <a:noFill/>
            <a:ln w="9525">
              <a:noFill/>
              <a:miter lim="800000"/>
            </a:ln>
          </p:spPr>
          <p:txBody>
            <a:bodyPr wrap="none">
              <a:spAutoFit/>
            </a:bodyPr>
            <a:lstStyle/>
            <a:p>
              <a:pPr>
                <a:spcBef>
                  <a:spcPct val="0"/>
                </a:spcBef>
                <a:buClrTx/>
                <a:buSzTx/>
                <a:buFontTx/>
                <a:buNone/>
              </a:pPr>
              <a:r>
                <a:rPr lang="en-US" sz="1600">
                  <a:solidFill>
                    <a:srgbClr val="FF0000"/>
                  </a:solidFill>
                </a:rPr>
                <a:t>time to </a:t>
              </a:r>
              <a:endParaRPr lang="en-US" sz="1600">
                <a:solidFill>
                  <a:srgbClr val="FF0000"/>
                </a:solidFill>
              </a:endParaRPr>
            </a:p>
            <a:p>
              <a:pPr>
                <a:spcBef>
                  <a:spcPct val="0"/>
                </a:spcBef>
                <a:buClrTx/>
                <a:buSzTx/>
                <a:buFontTx/>
                <a:buNone/>
              </a:pPr>
              <a:r>
                <a:rPr lang="en-US" sz="1600">
                  <a:solidFill>
                    <a:srgbClr val="FF0000"/>
                  </a:solidFill>
                </a:rPr>
                <a:t>transmit </a:t>
              </a:r>
              <a:endParaRPr lang="en-US" sz="1600">
                <a:solidFill>
                  <a:srgbClr val="FF0000"/>
                </a:solidFill>
              </a:endParaRPr>
            </a:p>
            <a:p>
              <a:pPr>
                <a:spcBef>
                  <a:spcPct val="0"/>
                </a:spcBef>
                <a:buClrTx/>
                <a:buSzTx/>
                <a:buFontTx/>
                <a:buNone/>
              </a:pPr>
              <a:r>
                <a:rPr lang="en-US" sz="1600">
                  <a:solidFill>
                    <a:srgbClr val="FF0000"/>
                  </a:solidFill>
                </a:rPr>
                <a:t>file</a:t>
              </a:r>
              <a:endParaRPr lang="en-US" sz="1600"/>
            </a:p>
          </p:txBody>
        </p:sp>
        <p:sp>
          <p:nvSpPr>
            <p:cNvPr id="6161" name="Line 23"/>
            <p:cNvSpPr>
              <a:spLocks noChangeShapeType="1"/>
            </p:cNvSpPr>
            <p:nvPr/>
          </p:nvSpPr>
          <p:spPr bwMode="auto">
            <a:xfrm>
              <a:off x="3600" y="1699"/>
              <a:ext cx="246" cy="1"/>
            </a:xfrm>
            <a:prstGeom prst="line">
              <a:avLst/>
            </a:prstGeom>
            <a:noFill/>
            <a:ln w="9525">
              <a:solidFill>
                <a:schemeClr val="tx1"/>
              </a:solidFill>
              <a:round/>
            </a:ln>
          </p:spPr>
          <p:txBody>
            <a:bodyPr wrap="none" anchor="ctr"/>
            <a:lstStyle/>
            <a:p>
              <a:endParaRPr lang="en-US"/>
            </a:p>
          </p:txBody>
        </p:sp>
        <p:sp>
          <p:nvSpPr>
            <p:cNvPr id="6162" name="Text Box 24"/>
            <p:cNvSpPr txBox="1">
              <a:spLocks noChangeArrowheads="1"/>
            </p:cNvSpPr>
            <p:nvPr/>
          </p:nvSpPr>
          <p:spPr bwMode="auto">
            <a:xfrm>
              <a:off x="2888" y="1518"/>
              <a:ext cx="816" cy="366"/>
            </a:xfrm>
            <a:prstGeom prst="rect">
              <a:avLst/>
            </a:prstGeom>
            <a:noFill/>
            <a:ln w="9525">
              <a:noFill/>
              <a:miter lim="800000"/>
            </a:ln>
          </p:spPr>
          <p:txBody>
            <a:bodyPr wrap="none">
              <a:spAutoFit/>
            </a:bodyPr>
            <a:lstStyle/>
            <a:p>
              <a:pPr>
                <a:spcBef>
                  <a:spcPct val="0"/>
                </a:spcBef>
                <a:buClrTx/>
                <a:buSzTx/>
                <a:buFontTx/>
                <a:buNone/>
              </a:pPr>
              <a:r>
                <a:rPr lang="en-US" sz="1600">
                  <a:solidFill>
                    <a:srgbClr val="FF0000"/>
                  </a:solidFill>
                </a:rPr>
                <a:t>initiate TCP</a:t>
              </a:r>
              <a:endParaRPr lang="en-US" sz="1600">
                <a:solidFill>
                  <a:srgbClr val="FF0000"/>
                </a:solidFill>
              </a:endParaRPr>
            </a:p>
            <a:p>
              <a:pPr>
                <a:spcBef>
                  <a:spcPct val="0"/>
                </a:spcBef>
                <a:buClrTx/>
                <a:buSzTx/>
                <a:buFontTx/>
                <a:buNone/>
              </a:pPr>
              <a:r>
                <a:rPr lang="en-US" sz="1600">
                  <a:solidFill>
                    <a:srgbClr val="FF0000"/>
                  </a:solidFill>
                </a:rPr>
                <a:t>connection</a:t>
              </a:r>
              <a:endParaRPr lang="en-US" sz="1600"/>
            </a:p>
          </p:txBody>
        </p:sp>
        <p:sp>
          <p:nvSpPr>
            <p:cNvPr id="6163" name="AutoShape 25"/>
            <p:cNvSpPr/>
            <p:nvPr/>
          </p:nvSpPr>
          <p:spPr bwMode="auto">
            <a:xfrm>
              <a:off x="3685" y="1731"/>
              <a:ext cx="81" cy="506"/>
            </a:xfrm>
            <a:prstGeom prst="leftBrace">
              <a:avLst>
                <a:gd name="adj1" fmla="val 52058"/>
                <a:gd name="adj2" fmla="val 50000"/>
              </a:avLst>
            </a:prstGeom>
            <a:noFill/>
            <a:ln w="9525">
              <a:solidFill>
                <a:schemeClr val="tx1"/>
              </a:solidFill>
              <a:round/>
            </a:ln>
          </p:spPr>
          <p:txBody>
            <a:bodyPr wrap="none" anchor="ctr"/>
            <a:lstStyle/>
            <a:p>
              <a:endParaRPr lang="en-US"/>
            </a:p>
          </p:txBody>
        </p:sp>
        <p:sp>
          <p:nvSpPr>
            <p:cNvPr id="6164" name="Text Box 26"/>
            <p:cNvSpPr txBox="1">
              <a:spLocks noChangeArrowheads="1"/>
            </p:cNvSpPr>
            <p:nvPr/>
          </p:nvSpPr>
          <p:spPr bwMode="auto">
            <a:xfrm>
              <a:off x="3381" y="1864"/>
              <a:ext cx="370" cy="212"/>
            </a:xfrm>
            <a:prstGeom prst="rect">
              <a:avLst/>
            </a:prstGeom>
            <a:noFill/>
            <a:ln w="9525">
              <a:noFill/>
              <a:miter lim="800000"/>
            </a:ln>
          </p:spPr>
          <p:txBody>
            <a:bodyPr wrap="none">
              <a:spAutoFit/>
            </a:bodyPr>
            <a:lstStyle/>
            <a:p>
              <a:pPr>
                <a:spcBef>
                  <a:spcPct val="0"/>
                </a:spcBef>
                <a:buClrTx/>
                <a:buSzTx/>
                <a:buFontTx/>
                <a:buNone/>
              </a:pPr>
              <a:r>
                <a:rPr lang="en-US" sz="1600"/>
                <a:t>RTT</a:t>
              </a:r>
              <a:endParaRPr lang="en-US" sz="1600"/>
            </a:p>
          </p:txBody>
        </p:sp>
        <p:sp>
          <p:nvSpPr>
            <p:cNvPr id="6165" name="Line 27"/>
            <p:cNvSpPr>
              <a:spLocks noChangeShapeType="1"/>
            </p:cNvSpPr>
            <p:nvPr/>
          </p:nvSpPr>
          <p:spPr bwMode="auto">
            <a:xfrm>
              <a:off x="3631" y="2269"/>
              <a:ext cx="223" cy="0"/>
            </a:xfrm>
            <a:prstGeom prst="line">
              <a:avLst/>
            </a:prstGeom>
            <a:noFill/>
            <a:ln w="9525">
              <a:solidFill>
                <a:schemeClr val="tx1"/>
              </a:solidFill>
              <a:round/>
            </a:ln>
          </p:spPr>
          <p:txBody>
            <a:bodyPr wrap="none" anchor="ctr"/>
            <a:lstStyle/>
            <a:p>
              <a:endParaRPr lang="en-US"/>
            </a:p>
          </p:txBody>
        </p:sp>
        <p:sp>
          <p:nvSpPr>
            <p:cNvPr id="6166" name="Text Box 28"/>
            <p:cNvSpPr txBox="1">
              <a:spLocks noChangeArrowheads="1"/>
            </p:cNvSpPr>
            <p:nvPr/>
          </p:nvSpPr>
          <p:spPr bwMode="auto">
            <a:xfrm>
              <a:off x="3158" y="2080"/>
              <a:ext cx="574" cy="366"/>
            </a:xfrm>
            <a:prstGeom prst="rect">
              <a:avLst/>
            </a:prstGeom>
            <a:noFill/>
            <a:ln w="9525">
              <a:noFill/>
              <a:miter lim="800000"/>
            </a:ln>
          </p:spPr>
          <p:txBody>
            <a:bodyPr wrap="none">
              <a:spAutoFit/>
            </a:bodyPr>
            <a:lstStyle/>
            <a:p>
              <a:pPr>
                <a:spcBef>
                  <a:spcPct val="0"/>
                </a:spcBef>
                <a:buClrTx/>
                <a:buSzTx/>
                <a:buFontTx/>
                <a:buNone/>
              </a:pPr>
              <a:r>
                <a:rPr lang="en-US" sz="1600">
                  <a:solidFill>
                    <a:srgbClr val="FF0000"/>
                  </a:solidFill>
                </a:rPr>
                <a:t>request</a:t>
              </a:r>
              <a:endParaRPr lang="en-US" sz="1600">
                <a:solidFill>
                  <a:srgbClr val="FF0000"/>
                </a:solidFill>
              </a:endParaRPr>
            </a:p>
            <a:p>
              <a:pPr>
                <a:spcBef>
                  <a:spcPct val="0"/>
                </a:spcBef>
                <a:buClrTx/>
                <a:buSzTx/>
                <a:buFontTx/>
                <a:buNone/>
              </a:pPr>
              <a:r>
                <a:rPr lang="en-US" sz="1600">
                  <a:solidFill>
                    <a:srgbClr val="FF0000"/>
                  </a:solidFill>
                </a:rPr>
                <a:t>file</a:t>
              </a:r>
              <a:endParaRPr lang="en-US" sz="1600"/>
            </a:p>
          </p:txBody>
        </p:sp>
        <p:sp>
          <p:nvSpPr>
            <p:cNvPr id="6167" name="AutoShape 29"/>
            <p:cNvSpPr/>
            <p:nvPr/>
          </p:nvSpPr>
          <p:spPr bwMode="auto">
            <a:xfrm>
              <a:off x="3689" y="2304"/>
              <a:ext cx="81" cy="506"/>
            </a:xfrm>
            <a:prstGeom prst="leftBrace">
              <a:avLst>
                <a:gd name="adj1" fmla="val 52058"/>
                <a:gd name="adj2" fmla="val 50000"/>
              </a:avLst>
            </a:prstGeom>
            <a:noFill/>
            <a:ln w="9525">
              <a:solidFill>
                <a:schemeClr val="tx1"/>
              </a:solidFill>
              <a:round/>
            </a:ln>
          </p:spPr>
          <p:txBody>
            <a:bodyPr wrap="none" anchor="ctr"/>
            <a:lstStyle/>
            <a:p>
              <a:endParaRPr lang="en-US"/>
            </a:p>
          </p:txBody>
        </p:sp>
        <p:sp>
          <p:nvSpPr>
            <p:cNvPr id="6168" name="Text Box 30"/>
            <p:cNvSpPr txBox="1">
              <a:spLocks noChangeArrowheads="1"/>
            </p:cNvSpPr>
            <p:nvPr/>
          </p:nvSpPr>
          <p:spPr bwMode="auto">
            <a:xfrm>
              <a:off x="3393" y="2445"/>
              <a:ext cx="370" cy="212"/>
            </a:xfrm>
            <a:prstGeom prst="rect">
              <a:avLst/>
            </a:prstGeom>
            <a:noFill/>
            <a:ln w="9525">
              <a:noFill/>
              <a:miter lim="800000"/>
            </a:ln>
          </p:spPr>
          <p:txBody>
            <a:bodyPr wrap="none">
              <a:spAutoFit/>
            </a:bodyPr>
            <a:lstStyle/>
            <a:p>
              <a:pPr>
                <a:spcBef>
                  <a:spcPct val="0"/>
                </a:spcBef>
                <a:buClrTx/>
                <a:buSzTx/>
                <a:buFontTx/>
                <a:buNone/>
              </a:pPr>
              <a:r>
                <a:rPr lang="en-US" sz="1600"/>
                <a:t>RTT</a:t>
              </a:r>
              <a:endParaRPr lang="en-US" sz="1600"/>
            </a:p>
          </p:txBody>
        </p:sp>
        <p:sp>
          <p:nvSpPr>
            <p:cNvPr id="6169" name="Line 35"/>
            <p:cNvSpPr>
              <a:spLocks noChangeShapeType="1"/>
            </p:cNvSpPr>
            <p:nvPr/>
          </p:nvSpPr>
          <p:spPr bwMode="auto">
            <a:xfrm flipH="1">
              <a:off x="3638" y="2892"/>
              <a:ext cx="216" cy="1"/>
            </a:xfrm>
            <a:prstGeom prst="line">
              <a:avLst/>
            </a:prstGeom>
            <a:noFill/>
            <a:ln w="9525">
              <a:solidFill>
                <a:schemeClr val="tx1"/>
              </a:solidFill>
              <a:round/>
            </a:ln>
          </p:spPr>
          <p:txBody>
            <a:bodyPr wrap="none" anchor="ctr"/>
            <a:lstStyle/>
            <a:p>
              <a:endParaRPr lang="en-US"/>
            </a:p>
          </p:txBody>
        </p:sp>
        <p:sp>
          <p:nvSpPr>
            <p:cNvPr id="6170" name="Text Box 36"/>
            <p:cNvSpPr txBox="1">
              <a:spLocks noChangeArrowheads="1"/>
            </p:cNvSpPr>
            <p:nvPr/>
          </p:nvSpPr>
          <p:spPr bwMode="auto">
            <a:xfrm>
              <a:off x="3296" y="2796"/>
              <a:ext cx="627" cy="366"/>
            </a:xfrm>
            <a:prstGeom prst="rect">
              <a:avLst/>
            </a:prstGeom>
            <a:noFill/>
            <a:ln w="9525">
              <a:noFill/>
              <a:miter lim="800000"/>
            </a:ln>
          </p:spPr>
          <p:txBody>
            <a:bodyPr wrap="none">
              <a:spAutoFit/>
            </a:bodyPr>
            <a:lstStyle/>
            <a:p>
              <a:pPr>
                <a:spcBef>
                  <a:spcPct val="0"/>
                </a:spcBef>
                <a:buClrTx/>
                <a:buSzTx/>
                <a:buFontTx/>
                <a:buNone/>
              </a:pPr>
              <a:r>
                <a:rPr lang="en-US" sz="1600">
                  <a:solidFill>
                    <a:srgbClr val="FF0000"/>
                  </a:solidFill>
                </a:rPr>
                <a:t>file</a:t>
              </a:r>
              <a:endParaRPr lang="en-US" sz="1600">
                <a:solidFill>
                  <a:srgbClr val="FF0000"/>
                </a:solidFill>
              </a:endParaRPr>
            </a:p>
            <a:p>
              <a:pPr>
                <a:spcBef>
                  <a:spcPct val="0"/>
                </a:spcBef>
                <a:buClrTx/>
                <a:buSzTx/>
                <a:buFontTx/>
                <a:buNone/>
              </a:pPr>
              <a:r>
                <a:rPr lang="en-US" sz="1600">
                  <a:solidFill>
                    <a:srgbClr val="FF0000"/>
                  </a:solidFill>
                </a:rPr>
                <a:t>received</a:t>
              </a:r>
              <a:endParaRPr lang="en-US" sz="1600"/>
            </a:p>
          </p:txBody>
        </p:sp>
        <p:sp>
          <p:nvSpPr>
            <p:cNvPr id="6171" name="Text Box 37"/>
            <p:cNvSpPr txBox="1">
              <a:spLocks noChangeArrowheads="1"/>
            </p:cNvSpPr>
            <p:nvPr/>
          </p:nvSpPr>
          <p:spPr bwMode="auto">
            <a:xfrm>
              <a:off x="3704" y="3362"/>
              <a:ext cx="345" cy="212"/>
            </a:xfrm>
            <a:prstGeom prst="rect">
              <a:avLst/>
            </a:prstGeom>
            <a:noFill/>
            <a:ln w="9525">
              <a:noFill/>
              <a:miter lim="800000"/>
            </a:ln>
          </p:spPr>
          <p:txBody>
            <a:bodyPr wrap="none">
              <a:spAutoFit/>
            </a:bodyPr>
            <a:lstStyle/>
            <a:p>
              <a:pPr>
                <a:spcBef>
                  <a:spcPct val="0"/>
                </a:spcBef>
                <a:buClrTx/>
                <a:buSzTx/>
                <a:buFontTx/>
                <a:buNone/>
              </a:pPr>
              <a:r>
                <a:rPr lang="en-US" sz="1600">
                  <a:latin typeface="Times New Roman" panose="02020603050405020304" pitchFamily="18" charset="0"/>
                </a:rPr>
                <a:t>time</a:t>
              </a:r>
              <a:endParaRPr lang="en-US" sz="1600">
                <a:latin typeface="Times New Roman" panose="02020603050405020304" pitchFamily="18" charset="0"/>
              </a:endParaRPr>
            </a:p>
          </p:txBody>
        </p:sp>
        <p:sp>
          <p:nvSpPr>
            <p:cNvPr id="6172" name="Text Box 38"/>
            <p:cNvSpPr txBox="1">
              <a:spLocks noChangeArrowheads="1"/>
            </p:cNvSpPr>
            <p:nvPr/>
          </p:nvSpPr>
          <p:spPr bwMode="auto">
            <a:xfrm>
              <a:off x="4761" y="3351"/>
              <a:ext cx="345" cy="212"/>
            </a:xfrm>
            <a:prstGeom prst="rect">
              <a:avLst/>
            </a:prstGeom>
            <a:noFill/>
            <a:ln w="9525">
              <a:noFill/>
              <a:miter lim="800000"/>
            </a:ln>
          </p:spPr>
          <p:txBody>
            <a:bodyPr wrap="none">
              <a:spAutoFit/>
            </a:bodyPr>
            <a:lstStyle/>
            <a:p>
              <a:pPr>
                <a:spcBef>
                  <a:spcPct val="0"/>
                </a:spcBef>
                <a:buClrTx/>
                <a:buSzTx/>
                <a:buFontTx/>
                <a:buNone/>
              </a:pPr>
              <a:r>
                <a:rPr lang="en-US" sz="1600">
                  <a:latin typeface="Times New Roman" panose="02020603050405020304" pitchFamily="18" charset="0"/>
                </a:rPr>
                <a:t>time</a:t>
              </a:r>
              <a:endParaRPr lang="en-US" sz="1600">
                <a:latin typeface="Times New Roman" panose="02020603050405020304" pitchFamily="18" charset="0"/>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3251" name="Slide Number Placeholder 6"/>
          <p:cNvSpPr>
            <a:spLocks noGrp="1"/>
          </p:cNvSpPr>
          <p:nvPr>
            <p:ph type="sldNum" sz="quarter" idx="12"/>
          </p:nvPr>
        </p:nvSpPr>
        <p:spPr>
          <a:noFill/>
        </p:spPr>
        <p:txBody>
          <a:bodyPr/>
          <a:lstStyle/>
          <a:p>
            <a:fld id="{AD842763-0AC8-43C5-833D-EB3D01C612E3}" type="slidenum">
              <a:rPr lang="en-US"/>
            </a:fld>
            <a:endParaRPr lang="en-US"/>
          </a:p>
        </p:txBody>
      </p:sp>
      <p:sp>
        <p:nvSpPr>
          <p:cNvPr id="53252" name="Line 11"/>
          <p:cNvSpPr>
            <a:spLocks noChangeShapeType="1"/>
          </p:cNvSpPr>
          <p:nvPr/>
        </p:nvSpPr>
        <p:spPr bwMode="auto">
          <a:xfrm>
            <a:off x="476250" y="2095500"/>
            <a:ext cx="0" cy="4495800"/>
          </a:xfrm>
          <a:prstGeom prst="line">
            <a:avLst/>
          </a:prstGeom>
          <a:noFill/>
          <a:ln w="19050">
            <a:solidFill>
              <a:schemeClr val="accent2"/>
            </a:solidFill>
            <a:round/>
            <a:tailEnd type="triangle" w="med" len="med"/>
          </a:ln>
        </p:spPr>
        <p:txBody>
          <a:bodyPr wrap="none" anchor="ctr"/>
          <a:lstStyle/>
          <a:p>
            <a:endParaRPr lang="en-US"/>
          </a:p>
        </p:txBody>
      </p:sp>
      <p:sp>
        <p:nvSpPr>
          <p:cNvPr id="53253" name="Rectangle 13"/>
          <p:cNvSpPr>
            <a:spLocks noChangeArrowheads="1"/>
          </p:cNvSpPr>
          <p:nvPr/>
        </p:nvSpPr>
        <p:spPr bwMode="auto">
          <a:xfrm>
            <a:off x="238125" y="6019800"/>
            <a:ext cx="657225" cy="295275"/>
          </a:xfrm>
          <a:prstGeom prst="rect">
            <a:avLst/>
          </a:prstGeom>
          <a:solidFill>
            <a:schemeClr val="bg1"/>
          </a:solidFill>
          <a:ln w="9525">
            <a:noFill/>
            <a:miter lim="800000"/>
          </a:ln>
        </p:spPr>
        <p:txBody>
          <a:bodyPr wrap="none" anchor="ctr"/>
          <a:lstStyle/>
          <a:p>
            <a:endParaRPr lang="en-US"/>
          </a:p>
        </p:txBody>
      </p:sp>
      <p:sp>
        <p:nvSpPr>
          <p:cNvPr id="53254" name="Rectangle 2"/>
          <p:cNvSpPr>
            <a:spLocks noGrp="1" noChangeArrowheads="1"/>
          </p:cNvSpPr>
          <p:nvPr>
            <p:ph type="title"/>
          </p:nvPr>
        </p:nvSpPr>
        <p:spPr>
          <a:xfrm>
            <a:off x="542925" y="257175"/>
            <a:ext cx="7772400" cy="866775"/>
          </a:xfrm>
        </p:spPr>
        <p:txBody>
          <a:bodyPr/>
          <a:lstStyle/>
          <a:p>
            <a:r>
              <a:rPr lang="en-US" sz="3600"/>
              <a:t>Nonpersistent HTTP</a:t>
            </a:r>
            <a:endParaRPr lang="en-US"/>
          </a:p>
        </p:txBody>
      </p:sp>
      <p:sp>
        <p:nvSpPr>
          <p:cNvPr id="53255" name="Rectangle 3"/>
          <p:cNvSpPr>
            <a:spLocks noGrp="1" noChangeArrowheads="1"/>
          </p:cNvSpPr>
          <p:nvPr>
            <p:ph type="body" sz="half" idx="1"/>
          </p:nvPr>
        </p:nvSpPr>
        <p:spPr>
          <a:xfrm>
            <a:off x="0" y="1114425"/>
            <a:ext cx="8343900" cy="466725"/>
          </a:xfrm>
        </p:spPr>
        <p:txBody>
          <a:bodyPr/>
          <a:lstStyle/>
          <a:p>
            <a:pPr>
              <a:buFont typeface="ZapfDingbats" pitchFamily="82" charset="2"/>
              <a:buNone/>
            </a:pPr>
            <a:r>
              <a:rPr lang="en-US" sz="2400"/>
              <a:t>Suppose user enters URL </a:t>
            </a:r>
            <a:r>
              <a:rPr lang="en-US" sz="2000">
                <a:latin typeface="Courier New" panose="02070309020205020404" pitchFamily="49" charset="0"/>
              </a:rPr>
              <a:t>www.someSchool.edu/someDepartment/home.index</a:t>
            </a:r>
            <a:endParaRPr lang="en-US" sz="2400"/>
          </a:p>
        </p:txBody>
      </p:sp>
      <p:sp>
        <p:nvSpPr>
          <p:cNvPr id="53256" name="Rectangle 4"/>
          <p:cNvSpPr>
            <a:spLocks noGrp="1" noChangeArrowheads="1"/>
          </p:cNvSpPr>
          <p:nvPr>
            <p:ph type="body" sz="half" idx="2"/>
          </p:nvPr>
        </p:nvSpPr>
        <p:spPr>
          <a:xfrm>
            <a:off x="657225" y="2095500"/>
            <a:ext cx="3943350" cy="1905000"/>
          </a:xfrm>
        </p:spPr>
        <p:txBody>
          <a:bodyPr/>
          <a:lstStyle/>
          <a:p>
            <a:pPr>
              <a:buFont typeface="ZapfDingbats" pitchFamily="82" charset="2"/>
              <a:buNone/>
            </a:pPr>
            <a:r>
              <a:rPr lang="en-US" sz="2000">
                <a:solidFill>
                  <a:srgbClr val="FF0000"/>
                </a:solidFill>
              </a:rPr>
              <a:t>1a</a:t>
            </a:r>
            <a:r>
              <a:rPr lang="en-US" sz="1800">
                <a:solidFill>
                  <a:srgbClr val="FF0000"/>
                </a:solidFill>
              </a:rPr>
              <a:t>.</a:t>
            </a:r>
            <a:r>
              <a:rPr lang="en-US" sz="1800"/>
              <a:t> HTTP client initiates TCP connection to HTTP server (process) at </a:t>
            </a:r>
            <a:r>
              <a:rPr lang="en-US" sz="1800">
                <a:latin typeface="Arial" panose="020B0604020202020204" pitchFamily="34" charset="0"/>
              </a:rPr>
              <a:t>www.someSchool.edu on port </a:t>
            </a:r>
            <a:r>
              <a:rPr lang="en-US" sz="1800"/>
              <a:t>80</a:t>
            </a:r>
            <a:endParaRPr lang="en-US" sz="2000"/>
          </a:p>
        </p:txBody>
      </p:sp>
      <p:sp>
        <p:nvSpPr>
          <p:cNvPr id="53257" name="Rectangle 5"/>
          <p:cNvSpPr>
            <a:spLocks noChangeArrowheads="1"/>
          </p:cNvSpPr>
          <p:nvPr/>
        </p:nvSpPr>
        <p:spPr bwMode="auto">
          <a:xfrm>
            <a:off x="704850" y="3829050"/>
            <a:ext cx="3810000" cy="1076325"/>
          </a:xfrm>
          <a:prstGeom prst="rect">
            <a:avLst/>
          </a:prstGeom>
          <a:noFill/>
          <a:ln w="9525">
            <a:noFill/>
            <a:miter lim="800000"/>
          </a:ln>
        </p:spPr>
        <p:txBody>
          <a:bodyPr/>
          <a:lstStyle/>
          <a:p>
            <a:pPr marL="342900" indent="-342900"/>
            <a:r>
              <a:rPr lang="en-US" sz="2000">
                <a:solidFill>
                  <a:srgbClr val="FF0000"/>
                </a:solidFill>
              </a:rPr>
              <a:t>2.</a:t>
            </a:r>
            <a:r>
              <a:rPr lang="en-US" sz="2000"/>
              <a:t> HTTP</a:t>
            </a:r>
            <a:r>
              <a:rPr lang="en-US" sz="1800"/>
              <a:t> client sends HTTP </a:t>
            </a:r>
            <a:r>
              <a:rPr lang="en-US" sz="1800" i="1">
                <a:solidFill>
                  <a:schemeClr val="accent2"/>
                </a:solidFill>
              </a:rPr>
              <a:t>request message</a:t>
            </a:r>
            <a:r>
              <a:rPr lang="en-US" sz="1800"/>
              <a:t> (containing URL) into TCP connection socket. Message indicates that client wants object </a:t>
            </a:r>
            <a:r>
              <a:rPr lang="en-US" sz="1800">
                <a:latin typeface="Arial" panose="020B0604020202020204" pitchFamily="34" charset="0"/>
              </a:rPr>
              <a:t>someDepartment/home.index</a:t>
            </a:r>
            <a:endParaRPr lang="en-US" sz="1800">
              <a:latin typeface="Arial" panose="020B0604020202020204" pitchFamily="34" charset="0"/>
            </a:endParaRPr>
          </a:p>
        </p:txBody>
      </p:sp>
      <p:sp>
        <p:nvSpPr>
          <p:cNvPr id="53258" name="Rectangle 6"/>
          <p:cNvSpPr>
            <a:spLocks noChangeArrowheads="1"/>
          </p:cNvSpPr>
          <p:nvPr/>
        </p:nvSpPr>
        <p:spPr bwMode="auto">
          <a:xfrm>
            <a:off x="4781550" y="2524125"/>
            <a:ext cx="3810000" cy="1504950"/>
          </a:xfrm>
          <a:prstGeom prst="rect">
            <a:avLst/>
          </a:prstGeom>
          <a:noFill/>
          <a:ln w="9525">
            <a:noFill/>
            <a:miter lim="800000"/>
          </a:ln>
        </p:spPr>
        <p:txBody>
          <a:bodyPr/>
          <a:lstStyle/>
          <a:p>
            <a:pPr marL="342900" indent="-342900"/>
            <a:r>
              <a:rPr lang="en-US" sz="2000">
                <a:solidFill>
                  <a:srgbClr val="FF0000"/>
                </a:solidFill>
              </a:rPr>
              <a:t>1b.</a:t>
            </a:r>
            <a:r>
              <a:rPr lang="en-US" sz="2000"/>
              <a:t> HTTP</a:t>
            </a:r>
            <a:r>
              <a:rPr lang="en-US" sz="1800"/>
              <a:t> server at host </a:t>
            </a:r>
            <a:r>
              <a:rPr lang="en-US" sz="1800">
                <a:latin typeface="Arial" panose="020B0604020202020204" pitchFamily="34" charset="0"/>
              </a:rPr>
              <a:t>www.someSchool.edu </a:t>
            </a:r>
            <a:r>
              <a:rPr lang="en-US" sz="1800"/>
              <a:t>waiting for TCP connection at port 80.  “accepts” connection, notifying client</a:t>
            </a:r>
            <a:endParaRPr lang="en-US" sz="2000"/>
          </a:p>
        </p:txBody>
      </p:sp>
      <p:sp>
        <p:nvSpPr>
          <p:cNvPr id="53259" name="Rectangle 7"/>
          <p:cNvSpPr>
            <a:spLocks noChangeArrowheads="1"/>
          </p:cNvSpPr>
          <p:nvPr/>
        </p:nvSpPr>
        <p:spPr bwMode="auto">
          <a:xfrm>
            <a:off x="4724400" y="4381500"/>
            <a:ext cx="3810000" cy="1800225"/>
          </a:xfrm>
          <a:prstGeom prst="rect">
            <a:avLst/>
          </a:prstGeom>
          <a:noFill/>
          <a:ln w="9525">
            <a:noFill/>
            <a:miter lim="800000"/>
          </a:ln>
        </p:spPr>
        <p:txBody>
          <a:bodyPr/>
          <a:lstStyle/>
          <a:p>
            <a:pPr marL="342900" indent="-342900"/>
            <a:r>
              <a:rPr lang="en-US" sz="2000">
                <a:solidFill>
                  <a:srgbClr val="FF0000"/>
                </a:solidFill>
              </a:rPr>
              <a:t>3.</a:t>
            </a:r>
            <a:r>
              <a:rPr lang="en-US" sz="2000"/>
              <a:t> HTTP</a:t>
            </a:r>
            <a:r>
              <a:rPr lang="en-US" sz="1800"/>
              <a:t> server receives request message, forms </a:t>
            </a:r>
            <a:r>
              <a:rPr lang="en-US" sz="1800" i="1">
                <a:solidFill>
                  <a:schemeClr val="accent2"/>
                </a:solidFill>
              </a:rPr>
              <a:t>response message</a:t>
            </a:r>
            <a:r>
              <a:rPr lang="en-US" sz="1800"/>
              <a:t> containing requested object, and sends message into its socket</a:t>
            </a:r>
            <a:endParaRPr lang="en-US" sz="1800"/>
          </a:p>
        </p:txBody>
      </p:sp>
      <p:sp>
        <p:nvSpPr>
          <p:cNvPr id="53260" name="Line 8"/>
          <p:cNvSpPr>
            <a:spLocks noChangeShapeType="1"/>
          </p:cNvSpPr>
          <p:nvPr/>
        </p:nvSpPr>
        <p:spPr bwMode="auto">
          <a:xfrm>
            <a:off x="4048125" y="2647950"/>
            <a:ext cx="1095375" cy="523875"/>
          </a:xfrm>
          <a:prstGeom prst="line">
            <a:avLst/>
          </a:prstGeom>
          <a:noFill/>
          <a:ln w="38100">
            <a:solidFill>
              <a:srgbClr val="FF0000"/>
            </a:solidFill>
            <a:round/>
            <a:tailEnd type="triangle" w="med" len="med"/>
          </a:ln>
        </p:spPr>
        <p:txBody>
          <a:bodyPr wrap="none" anchor="ctr"/>
          <a:lstStyle/>
          <a:p>
            <a:endParaRPr lang="en-US"/>
          </a:p>
        </p:txBody>
      </p:sp>
      <p:sp>
        <p:nvSpPr>
          <p:cNvPr id="53261" name="Line 9"/>
          <p:cNvSpPr>
            <a:spLocks noChangeShapeType="1"/>
          </p:cNvSpPr>
          <p:nvPr/>
        </p:nvSpPr>
        <p:spPr bwMode="auto">
          <a:xfrm>
            <a:off x="3895725" y="4591050"/>
            <a:ext cx="1095375" cy="523875"/>
          </a:xfrm>
          <a:prstGeom prst="line">
            <a:avLst/>
          </a:prstGeom>
          <a:noFill/>
          <a:ln w="38100">
            <a:solidFill>
              <a:srgbClr val="FF0000"/>
            </a:solidFill>
            <a:round/>
            <a:tailEnd type="triangle" w="med" len="med"/>
          </a:ln>
        </p:spPr>
        <p:txBody>
          <a:bodyPr wrap="none" anchor="ctr"/>
          <a:lstStyle/>
          <a:p>
            <a:endParaRPr lang="en-US"/>
          </a:p>
        </p:txBody>
      </p:sp>
      <p:sp>
        <p:nvSpPr>
          <p:cNvPr id="53262" name="Line 10"/>
          <p:cNvSpPr>
            <a:spLocks noChangeShapeType="1"/>
          </p:cNvSpPr>
          <p:nvPr/>
        </p:nvSpPr>
        <p:spPr bwMode="auto">
          <a:xfrm flipH="1">
            <a:off x="3933825" y="5124450"/>
            <a:ext cx="1095375" cy="523875"/>
          </a:xfrm>
          <a:prstGeom prst="line">
            <a:avLst/>
          </a:prstGeom>
          <a:noFill/>
          <a:ln w="38100">
            <a:solidFill>
              <a:srgbClr val="FF0000"/>
            </a:solidFill>
            <a:round/>
            <a:tailEnd type="triangle" w="med" len="med"/>
          </a:ln>
        </p:spPr>
        <p:txBody>
          <a:bodyPr wrap="none" anchor="ctr"/>
          <a:lstStyle/>
          <a:p>
            <a:endParaRPr lang="en-US"/>
          </a:p>
        </p:txBody>
      </p:sp>
      <p:sp>
        <p:nvSpPr>
          <p:cNvPr id="53263" name="Text Box 12"/>
          <p:cNvSpPr txBox="1">
            <a:spLocks noChangeArrowheads="1"/>
          </p:cNvSpPr>
          <p:nvPr/>
        </p:nvSpPr>
        <p:spPr bwMode="auto">
          <a:xfrm>
            <a:off x="176213" y="5942013"/>
            <a:ext cx="815975" cy="457200"/>
          </a:xfrm>
          <a:prstGeom prst="rect">
            <a:avLst/>
          </a:prstGeom>
          <a:noFill/>
          <a:ln w="9525">
            <a:noFill/>
            <a:miter lim="800000"/>
          </a:ln>
        </p:spPr>
        <p:txBody>
          <a:bodyPr wrap="none">
            <a:spAutoFit/>
          </a:bodyPr>
          <a:lstStyle/>
          <a:p>
            <a:pPr algn="ctr">
              <a:spcBef>
                <a:spcPct val="0"/>
              </a:spcBef>
              <a:buClrTx/>
              <a:buSzTx/>
              <a:buFontTx/>
              <a:buNone/>
            </a:pPr>
            <a:r>
              <a:rPr lang="en-US">
                <a:solidFill>
                  <a:schemeClr val="accent2"/>
                </a:solidFill>
              </a:rPr>
              <a:t>time</a:t>
            </a:r>
            <a:endParaRPr lang="en-US">
              <a:latin typeface="Times New Roman" panose="02020603050405020304" pitchFamily="18" charset="0"/>
            </a:endParaRPr>
          </a:p>
        </p:txBody>
      </p:sp>
      <p:sp>
        <p:nvSpPr>
          <p:cNvPr id="53264" name="Line 14"/>
          <p:cNvSpPr>
            <a:spLocks noChangeShapeType="1"/>
          </p:cNvSpPr>
          <p:nvPr/>
        </p:nvSpPr>
        <p:spPr bwMode="auto">
          <a:xfrm flipH="1">
            <a:off x="4019550" y="3162300"/>
            <a:ext cx="1095375" cy="523875"/>
          </a:xfrm>
          <a:prstGeom prst="line">
            <a:avLst/>
          </a:prstGeom>
          <a:noFill/>
          <a:ln w="38100">
            <a:solidFill>
              <a:srgbClr val="FF0000"/>
            </a:solidFill>
            <a:round/>
            <a:tailEnd type="triangle" w="med" len="med"/>
          </a:ln>
        </p:spPr>
        <p:txBody>
          <a:bodyPr wrap="none" anchor="ctr"/>
          <a:lstStyle/>
          <a:p>
            <a:endParaRPr lang="en-US"/>
          </a:p>
        </p:txBody>
      </p:sp>
      <p:sp>
        <p:nvSpPr>
          <p:cNvPr id="53265" name="Text Box 15"/>
          <p:cNvSpPr txBox="1">
            <a:spLocks noChangeArrowheads="1"/>
          </p:cNvSpPr>
          <p:nvPr/>
        </p:nvSpPr>
        <p:spPr bwMode="auto">
          <a:xfrm>
            <a:off x="7245350" y="968375"/>
            <a:ext cx="1898650" cy="915988"/>
          </a:xfrm>
          <a:prstGeom prst="rect">
            <a:avLst/>
          </a:prstGeom>
          <a:noFill/>
          <a:ln w="9525">
            <a:noFill/>
            <a:miter lim="800000"/>
          </a:ln>
        </p:spPr>
        <p:txBody>
          <a:bodyPr wrap="none">
            <a:spAutoFit/>
          </a:bodyPr>
          <a:lstStyle/>
          <a:p>
            <a:pPr algn="ctr">
              <a:spcBef>
                <a:spcPct val="0"/>
              </a:spcBef>
              <a:buClrTx/>
              <a:buSzTx/>
              <a:buFontTx/>
              <a:buNone/>
            </a:pPr>
            <a:r>
              <a:rPr lang="en-US" sz="1800">
                <a:latin typeface="Arial" panose="020B0604020202020204" pitchFamily="34" charset="0"/>
              </a:rPr>
              <a:t>(contains text, </a:t>
            </a:r>
            <a:endParaRPr lang="en-US" sz="1800">
              <a:latin typeface="Arial" panose="020B0604020202020204" pitchFamily="34" charset="0"/>
            </a:endParaRPr>
          </a:p>
          <a:p>
            <a:pPr algn="ctr">
              <a:spcBef>
                <a:spcPct val="0"/>
              </a:spcBef>
              <a:buClrTx/>
              <a:buSzTx/>
              <a:buFontTx/>
              <a:buNone/>
            </a:pPr>
            <a:r>
              <a:rPr lang="en-US" sz="1800">
                <a:latin typeface="Arial" panose="020B0604020202020204" pitchFamily="34" charset="0"/>
              </a:rPr>
              <a:t>references to 10 </a:t>
            </a:r>
            <a:endParaRPr lang="en-US" sz="1800">
              <a:latin typeface="Arial" panose="020B0604020202020204" pitchFamily="34" charset="0"/>
            </a:endParaRPr>
          </a:p>
          <a:p>
            <a:pPr algn="ctr">
              <a:spcBef>
                <a:spcPct val="0"/>
              </a:spcBef>
              <a:buClrTx/>
              <a:buSzTx/>
              <a:buFontTx/>
              <a:buNone/>
            </a:pPr>
            <a:r>
              <a:rPr lang="en-US" sz="1800">
                <a:latin typeface="Arial" panose="020B0604020202020204" pitchFamily="34" charset="0"/>
              </a:rPr>
              <a:t>jpeg images)</a:t>
            </a:r>
            <a:endParaRPr lang="en-US">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4275" name="Slide Number Placeholder 6"/>
          <p:cNvSpPr>
            <a:spLocks noGrp="1"/>
          </p:cNvSpPr>
          <p:nvPr>
            <p:ph type="sldNum" sz="quarter" idx="12"/>
          </p:nvPr>
        </p:nvSpPr>
        <p:spPr>
          <a:noFill/>
        </p:spPr>
        <p:txBody>
          <a:bodyPr/>
          <a:lstStyle/>
          <a:p>
            <a:fld id="{957A07A4-53D0-404A-B139-EFDE0D5FC5F8}" type="slidenum">
              <a:rPr lang="en-US"/>
            </a:fld>
            <a:endParaRPr lang="en-US"/>
          </a:p>
        </p:txBody>
      </p:sp>
      <p:sp>
        <p:nvSpPr>
          <p:cNvPr id="54276" name="Rectangle 4"/>
          <p:cNvSpPr>
            <a:spLocks noGrp="1" noChangeArrowheads="1"/>
          </p:cNvSpPr>
          <p:nvPr>
            <p:ph type="title"/>
          </p:nvPr>
        </p:nvSpPr>
        <p:spPr>
          <a:xfrm>
            <a:off x="542925" y="257175"/>
            <a:ext cx="7772400" cy="866775"/>
          </a:xfrm>
        </p:spPr>
        <p:txBody>
          <a:bodyPr/>
          <a:lstStyle/>
          <a:p>
            <a:r>
              <a:rPr lang="en-US" sz="3600"/>
              <a:t>Nonpersistent HTTP (cont.)</a:t>
            </a:r>
            <a:endParaRPr lang="en-US"/>
          </a:p>
        </p:txBody>
      </p:sp>
      <p:sp>
        <p:nvSpPr>
          <p:cNvPr id="54277" name="Rectangle 6"/>
          <p:cNvSpPr>
            <a:spLocks noGrp="1" noChangeArrowheads="1"/>
          </p:cNvSpPr>
          <p:nvPr>
            <p:ph type="body" sz="half" idx="2"/>
          </p:nvPr>
        </p:nvSpPr>
        <p:spPr>
          <a:xfrm>
            <a:off x="1095375" y="2047875"/>
            <a:ext cx="3810000" cy="1533525"/>
          </a:xfrm>
        </p:spPr>
        <p:txBody>
          <a:bodyPr/>
          <a:lstStyle/>
          <a:p>
            <a:pPr>
              <a:buFont typeface="ZapfDingbats" pitchFamily="82" charset="2"/>
              <a:buNone/>
            </a:pPr>
            <a:r>
              <a:rPr lang="en-US" sz="2000">
                <a:solidFill>
                  <a:srgbClr val="FF0000"/>
                </a:solidFill>
              </a:rPr>
              <a:t>5</a:t>
            </a:r>
            <a:r>
              <a:rPr lang="en-US" sz="1800">
                <a:solidFill>
                  <a:srgbClr val="FF0000"/>
                </a:solidFill>
              </a:rPr>
              <a:t>.</a:t>
            </a:r>
            <a:r>
              <a:rPr lang="en-US" sz="1800"/>
              <a:t> HTTP client receives response message containing html file, displays html.  Parsing html file, finds 10 referenced jpeg  objects</a:t>
            </a:r>
            <a:endParaRPr lang="en-US" sz="2000"/>
          </a:p>
        </p:txBody>
      </p:sp>
      <p:sp>
        <p:nvSpPr>
          <p:cNvPr id="54278" name="Rectangle 7"/>
          <p:cNvSpPr>
            <a:spLocks noChangeArrowheads="1"/>
          </p:cNvSpPr>
          <p:nvPr/>
        </p:nvSpPr>
        <p:spPr bwMode="auto">
          <a:xfrm>
            <a:off x="1085850" y="3568700"/>
            <a:ext cx="3810000" cy="666750"/>
          </a:xfrm>
          <a:prstGeom prst="rect">
            <a:avLst/>
          </a:prstGeom>
          <a:noFill/>
          <a:ln w="9525">
            <a:noFill/>
            <a:miter lim="800000"/>
          </a:ln>
        </p:spPr>
        <p:txBody>
          <a:bodyPr/>
          <a:lstStyle/>
          <a:p>
            <a:pPr marL="342900" indent="-342900"/>
            <a:r>
              <a:rPr lang="en-US" sz="2000">
                <a:solidFill>
                  <a:srgbClr val="FF0000"/>
                </a:solidFill>
              </a:rPr>
              <a:t>6.</a:t>
            </a:r>
            <a:r>
              <a:rPr lang="en-US" sz="2000"/>
              <a:t> </a:t>
            </a:r>
            <a:r>
              <a:rPr lang="en-US" sz="1800"/>
              <a:t>Steps 1-5 repeated for each of 10 jpeg objects</a:t>
            </a:r>
            <a:endParaRPr lang="en-US" sz="1800"/>
          </a:p>
        </p:txBody>
      </p:sp>
      <p:sp>
        <p:nvSpPr>
          <p:cNvPr id="54279" name="Rectangle 8"/>
          <p:cNvSpPr>
            <a:spLocks noChangeArrowheads="1"/>
          </p:cNvSpPr>
          <p:nvPr/>
        </p:nvSpPr>
        <p:spPr bwMode="auto">
          <a:xfrm>
            <a:off x="5032375" y="1492250"/>
            <a:ext cx="3810000" cy="733425"/>
          </a:xfrm>
          <a:prstGeom prst="rect">
            <a:avLst/>
          </a:prstGeom>
          <a:noFill/>
          <a:ln w="9525">
            <a:noFill/>
            <a:miter lim="800000"/>
          </a:ln>
        </p:spPr>
        <p:txBody>
          <a:bodyPr/>
          <a:lstStyle/>
          <a:p>
            <a:pPr marL="342900" indent="-342900"/>
            <a:r>
              <a:rPr lang="en-US" sz="2000">
                <a:solidFill>
                  <a:srgbClr val="FF0000"/>
                </a:solidFill>
              </a:rPr>
              <a:t>4.</a:t>
            </a:r>
            <a:r>
              <a:rPr lang="en-US" sz="2000"/>
              <a:t> HTTP</a:t>
            </a:r>
            <a:r>
              <a:rPr lang="en-US" sz="1800"/>
              <a:t> server closes TCP connection. </a:t>
            </a:r>
            <a:endParaRPr lang="en-US" sz="2000"/>
          </a:p>
        </p:txBody>
      </p:sp>
      <p:sp>
        <p:nvSpPr>
          <p:cNvPr id="54280" name="Line 2"/>
          <p:cNvSpPr>
            <a:spLocks noChangeShapeType="1"/>
          </p:cNvSpPr>
          <p:nvPr/>
        </p:nvSpPr>
        <p:spPr bwMode="auto">
          <a:xfrm>
            <a:off x="542925" y="1519238"/>
            <a:ext cx="0" cy="2571750"/>
          </a:xfrm>
          <a:prstGeom prst="line">
            <a:avLst/>
          </a:prstGeom>
          <a:noFill/>
          <a:ln w="19050">
            <a:solidFill>
              <a:schemeClr val="accent2"/>
            </a:solidFill>
            <a:round/>
            <a:tailEnd type="triangle" w="med" len="med"/>
          </a:ln>
        </p:spPr>
        <p:txBody>
          <a:bodyPr wrap="none" anchor="ctr"/>
          <a:lstStyle/>
          <a:p>
            <a:endParaRPr lang="en-US"/>
          </a:p>
        </p:txBody>
      </p:sp>
      <p:sp>
        <p:nvSpPr>
          <p:cNvPr id="54281" name="Rectangle 3"/>
          <p:cNvSpPr>
            <a:spLocks noChangeArrowheads="1"/>
          </p:cNvSpPr>
          <p:nvPr/>
        </p:nvSpPr>
        <p:spPr bwMode="auto">
          <a:xfrm>
            <a:off x="304800" y="3519488"/>
            <a:ext cx="342900" cy="295275"/>
          </a:xfrm>
          <a:prstGeom prst="rect">
            <a:avLst/>
          </a:prstGeom>
          <a:solidFill>
            <a:schemeClr val="bg1"/>
          </a:solidFill>
          <a:ln w="9525">
            <a:noFill/>
            <a:miter lim="800000"/>
          </a:ln>
        </p:spPr>
        <p:txBody>
          <a:bodyPr wrap="none" anchor="ctr"/>
          <a:lstStyle/>
          <a:p>
            <a:endParaRPr lang="en-US"/>
          </a:p>
        </p:txBody>
      </p:sp>
      <p:sp>
        <p:nvSpPr>
          <p:cNvPr id="54282" name="Text Box 13"/>
          <p:cNvSpPr txBox="1">
            <a:spLocks noChangeArrowheads="1"/>
          </p:cNvSpPr>
          <p:nvPr/>
        </p:nvSpPr>
        <p:spPr bwMode="auto">
          <a:xfrm>
            <a:off x="149225" y="3382963"/>
            <a:ext cx="815975" cy="457200"/>
          </a:xfrm>
          <a:prstGeom prst="rect">
            <a:avLst/>
          </a:prstGeom>
          <a:noFill/>
          <a:ln w="9525">
            <a:noFill/>
            <a:miter lim="800000"/>
          </a:ln>
        </p:spPr>
        <p:txBody>
          <a:bodyPr wrap="none">
            <a:spAutoFit/>
          </a:bodyPr>
          <a:lstStyle/>
          <a:p>
            <a:pPr algn="ctr">
              <a:spcBef>
                <a:spcPct val="0"/>
              </a:spcBef>
              <a:buClrTx/>
              <a:buSzTx/>
              <a:buFontTx/>
              <a:buNone/>
            </a:pPr>
            <a:r>
              <a:rPr lang="en-US">
                <a:solidFill>
                  <a:schemeClr val="accent2"/>
                </a:solidFill>
              </a:rPr>
              <a:t>time</a:t>
            </a:r>
            <a:endParaRPr lang="en-US">
              <a:latin typeface="Times New Roman" panose="02020603050405020304" pitchFamily="18" charset="0"/>
            </a:endParaRPr>
          </a:p>
        </p:txBody>
      </p:sp>
      <p:sp>
        <p:nvSpPr>
          <p:cNvPr id="54283" name="Line 17"/>
          <p:cNvSpPr>
            <a:spLocks noChangeShapeType="1"/>
          </p:cNvSpPr>
          <p:nvPr/>
        </p:nvSpPr>
        <p:spPr bwMode="auto">
          <a:xfrm flipH="1">
            <a:off x="3762375" y="1449388"/>
            <a:ext cx="1095375" cy="523875"/>
          </a:xfrm>
          <a:prstGeom prst="line">
            <a:avLst/>
          </a:prstGeom>
          <a:noFill/>
          <a:ln w="38100">
            <a:solidFill>
              <a:srgbClr val="FF0000"/>
            </a:solidFill>
            <a:round/>
            <a:tailEnd type="triangle" w="med" len="med"/>
          </a:ln>
        </p:spPr>
        <p:txBody>
          <a:bodyPr wrap="none" anchor="ct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5299" name="Slide Number Placeholder 6"/>
          <p:cNvSpPr>
            <a:spLocks noGrp="1"/>
          </p:cNvSpPr>
          <p:nvPr>
            <p:ph type="sldNum" sz="quarter" idx="12"/>
          </p:nvPr>
        </p:nvSpPr>
        <p:spPr>
          <a:noFill/>
        </p:spPr>
        <p:txBody>
          <a:bodyPr/>
          <a:lstStyle/>
          <a:p>
            <a:fld id="{45A77FAA-0036-47B3-AEE9-D572838F6515}" type="slidenum">
              <a:rPr lang="en-US"/>
            </a:fld>
            <a:endParaRPr lang="en-US"/>
          </a:p>
        </p:txBody>
      </p:sp>
      <p:sp>
        <p:nvSpPr>
          <p:cNvPr id="55300" name="Rectangle 2"/>
          <p:cNvSpPr>
            <a:spLocks noGrp="1" noChangeArrowheads="1"/>
          </p:cNvSpPr>
          <p:nvPr>
            <p:ph type="title"/>
          </p:nvPr>
        </p:nvSpPr>
        <p:spPr>
          <a:xfrm>
            <a:off x="452438" y="173038"/>
            <a:ext cx="7772400" cy="838200"/>
          </a:xfrm>
        </p:spPr>
        <p:txBody>
          <a:bodyPr/>
          <a:lstStyle/>
          <a:p>
            <a:r>
              <a:rPr lang="en-US" sz="3200"/>
              <a:t>Persistent HTTP</a:t>
            </a:r>
            <a:endParaRPr lang="en-US"/>
          </a:p>
        </p:txBody>
      </p:sp>
      <p:sp>
        <p:nvSpPr>
          <p:cNvPr id="55301" name="Rectangle 3"/>
          <p:cNvSpPr>
            <a:spLocks noGrp="1" noChangeArrowheads="1"/>
          </p:cNvSpPr>
          <p:nvPr>
            <p:ph type="body" sz="half" idx="1"/>
          </p:nvPr>
        </p:nvSpPr>
        <p:spPr>
          <a:xfrm>
            <a:off x="434975" y="1414463"/>
            <a:ext cx="3933825" cy="4648200"/>
          </a:xfrm>
        </p:spPr>
        <p:txBody>
          <a:bodyPr/>
          <a:lstStyle/>
          <a:p>
            <a:pPr>
              <a:buFont typeface="ZapfDingbats" pitchFamily="82" charset="2"/>
              <a:buNone/>
            </a:pPr>
            <a:r>
              <a:rPr lang="en-US" sz="2000" u="sng">
                <a:solidFill>
                  <a:srgbClr val="FF0000"/>
                </a:solidFill>
              </a:rPr>
              <a:t>Nonpersistent HTTP issues:</a:t>
            </a:r>
            <a:endParaRPr lang="en-US" sz="2000"/>
          </a:p>
          <a:p>
            <a:r>
              <a:rPr lang="en-US" sz="2000"/>
              <a:t>requires 2 RTTs per object</a:t>
            </a:r>
            <a:endParaRPr lang="en-US" sz="2000"/>
          </a:p>
          <a:p>
            <a:r>
              <a:rPr lang="en-US" sz="2000"/>
              <a:t>OS overhead for </a:t>
            </a:r>
            <a:r>
              <a:rPr lang="en-US" sz="2000" i="1"/>
              <a:t>each</a:t>
            </a:r>
            <a:r>
              <a:rPr lang="en-US" sz="2000"/>
              <a:t> TCP connection</a:t>
            </a:r>
            <a:endParaRPr lang="en-US" sz="2000"/>
          </a:p>
          <a:p>
            <a:r>
              <a:rPr lang="en-US" sz="2000"/>
              <a:t>browsers often open parallel TCP connections to fetch referenced objects</a:t>
            </a:r>
            <a:endParaRPr lang="en-US" sz="2000"/>
          </a:p>
          <a:p>
            <a:pPr>
              <a:buFont typeface="ZapfDingbats" pitchFamily="82" charset="2"/>
              <a:buNone/>
            </a:pPr>
            <a:endParaRPr lang="en-US" sz="2000"/>
          </a:p>
          <a:p>
            <a:endParaRPr lang="en-US" sz="2000"/>
          </a:p>
          <a:p>
            <a:endParaRPr lang="en-US" sz="2000"/>
          </a:p>
        </p:txBody>
      </p:sp>
      <p:sp>
        <p:nvSpPr>
          <p:cNvPr id="55302" name="Rectangle 10"/>
          <p:cNvSpPr>
            <a:spLocks noGrp="1" noChangeArrowheads="1"/>
          </p:cNvSpPr>
          <p:nvPr>
            <p:ph type="body" sz="half" idx="2"/>
          </p:nvPr>
        </p:nvSpPr>
        <p:spPr>
          <a:xfrm>
            <a:off x="4481513" y="1438275"/>
            <a:ext cx="3810000" cy="4648200"/>
          </a:xfrm>
        </p:spPr>
        <p:txBody>
          <a:bodyPr/>
          <a:lstStyle/>
          <a:p>
            <a:pPr>
              <a:buFont typeface="ZapfDingbats" pitchFamily="82" charset="2"/>
              <a:buNone/>
            </a:pPr>
            <a:r>
              <a:rPr lang="en-US" sz="2000" u="sng">
                <a:solidFill>
                  <a:srgbClr val="FF0000"/>
                </a:solidFill>
              </a:rPr>
              <a:t>Persistent  HTTP</a:t>
            </a:r>
            <a:endParaRPr lang="en-US" sz="2000"/>
          </a:p>
          <a:p>
            <a:r>
              <a:rPr lang="en-US" sz="2000"/>
              <a:t>server leaves connection open after sending response</a:t>
            </a:r>
            <a:endParaRPr lang="en-US" sz="2000"/>
          </a:p>
          <a:p>
            <a:r>
              <a:rPr lang="en-US" sz="2000"/>
              <a:t>subsequent HTTP messages  between same client/server sent over open connection</a:t>
            </a:r>
            <a:endParaRPr lang="en-US" sz="2000"/>
          </a:p>
          <a:p>
            <a:r>
              <a:rPr lang="en-US" sz="2000"/>
              <a:t>client sends requests as soon as it encounters a referenced object</a:t>
            </a:r>
            <a:endParaRPr lang="en-US" sz="2000"/>
          </a:p>
          <a:p>
            <a:r>
              <a:rPr lang="en-US" sz="2000"/>
              <a:t>as little as one RTT for all the referenced objects</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6323" name="Slide Number Placeholder 5"/>
          <p:cNvSpPr>
            <a:spLocks noGrp="1"/>
          </p:cNvSpPr>
          <p:nvPr>
            <p:ph type="sldNum" sz="quarter" idx="12"/>
          </p:nvPr>
        </p:nvSpPr>
        <p:spPr>
          <a:noFill/>
        </p:spPr>
        <p:txBody>
          <a:bodyPr/>
          <a:lstStyle/>
          <a:p>
            <a:fld id="{BAFF6FC4-8E70-4E49-AB2B-202F82FF7DFE}" type="slidenum">
              <a:rPr lang="en-US"/>
            </a:fld>
            <a:endParaRPr lang="en-US"/>
          </a:p>
        </p:txBody>
      </p:sp>
      <p:sp>
        <p:nvSpPr>
          <p:cNvPr id="56324" name="Rectangle 2"/>
          <p:cNvSpPr>
            <a:spLocks noGrp="1" noChangeArrowheads="1"/>
          </p:cNvSpPr>
          <p:nvPr>
            <p:ph type="title"/>
          </p:nvPr>
        </p:nvSpPr>
        <p:spPr/>
        <p:txBody>
          <a:bodyPr/>
          <a:lstStyle/>
          <a:p>
            <a:r>
              <a:rPr lang="en-US" sz="3600"/>
              <a:t>HTTP request message</a:t>
            </a:r>
            <a:r>
              <a:rPr lang="zh-CN" altLang="en-US">
                <a:ea typeface="宋体" panose="02010600030101010101" pitchFamily="2" charset="-122"/>
                <a:sym typeface="+mn-ea"/>
              </a:rPr>
              <a:t>（题）</a:t>
            </a:r>
            <a:endParaRPr lang="en-US"/>
          </a:p>
        </p:txBody>
      </p:sp>
      <p:sp>
        <p:nvSpPr>
          <p:cNvPr id="56325" name="Rectangle 3"/>
          <p:cNvSpPr>
            <a:spLocks noGrp="1" noChangeArrowheads="1"/>
          </p:cNvSpPr>
          <p:nvPr>
            <p:ph type="body" idx="1"/>
          </p:nvPr>
        </p:nvSpPr>
        <p:spPr/>
        <p:txBody>
          <a:bodyPr/>
          <a:lstStyle/>
          <a:p>
            <a:r>
              <a:rPr lang="en-US" sz="2400"/>
              <a:t>two types of HTTP messages: </a:t>
            </a:r>
            <a:r>
              <a:rPr lang="en-US" sz="2400" i="1">
                <a:solidFill>
                  <a:srgbClr val="FF0000"/>
                </a:solidFill>
              </a:rPr>
              <a:t>request</a:t>
            </a:r>
            <a:r>
              <a:rPr lang="en-US" sz="2400">
                <a:solidFill>
                  <a:srgbClr val="FF0000"/>
                </a:solidFill>
              </a:rPr>
              <a:t>, </a:t>
            </a:r>
            <a:r>
              <a:rPr lang="en-US" sz="2400" i="1">
                <a:solidFill>
                  <a:srgbClr val="FF0000"/>
                </a:solidFill>
              </a:rPr>
              <a:t>response</a:t>
            </a:r>
            <a:endParaRPr lang="en-US" sz="2400" i="1">
              <a:solidFill>
                <a:schemeClr val="accent2"/>
              </a:solidFill>
            </a:endParaRPr>
          </a:p>
          <a:p>
            <a:r>
              <a:rPr lang="en-US" sz="2400">
                <a:solidFill>
                  <a:srgbClr val="FF0000"/>
                </a:solidFill>
              </a:rPr>
              <a:t>HTTP request message:</a:t>
            </a:r>
            <a:endParaRPr lang="en-US" sz="2400"/>
          </a:p>
          <a:p>
            <a:pPr lvl="1"/>
            <a:r>
              <a:rPr lang="en-US" sz="2000"/>
              <a:t>ASCII (human-readable format)</a:t>
            </a:r>
            <a:endParaRPr lang="en-US">
              <a:solidFill>
                <a:schemeClr val="accent2"/>
              </a:solidFill>
            </a:endParaRPr>
          </a:p>
        </p:txBody>
      </p:sp>
      <p:sp>
        <p:nvSpPr>
          <p:cNvPr id="56326" name="Text Box 4"/>
          <p:cNvSpPr txBox="1">
            <a:spLocks noChangeArrowheads="1"/>
          </p:cNvSpPr>
          <p:nvPr/>
        </p:nvSpPr>
        <p:spPr bwMode="auto">
          <a:xfrm>
            <a:off x="2924175" y="3444875"/>
            <a:ext cx="4908550" cy="2346325"/>
          </a:xfrm>
          <a:prstGeom prst="rect">
            <a:avLst/>
          </a:prstGeom>
          <a:noFill/>
          <a:ln w="9525">
            <a:noFill/>
            <a:miter lim="800000"/>
          </a:ln>
        </p:spPr>
        <p:txBody>
          <a:bodyPr wrap="none">
            <a:spAutoFit/>
          </a:bodyPr>
          <a:lstStyle/>
          <a:p>
            <a:pPr>
              <a:spcBef>
                <a:spcPct val="0"/>
              </a:spcBef>
              <a:buClrTx/>
              <a:buSzTx/>
              <a:buFontTx/>
              <a:buNone/>
            </a:pPr>
            <a:r>
              <a:rPr lang="en-US" sz="2000" b="1" dirty="0">
                <a:latin typeface="Courier New" panose="02070309020205020404" pitchFamily="49" charset="0"/>
              </a:rPr>
              <a:t>GET /</a:t>
            </a:r>
            <a:r>
              <a:rPr lang="en-US" sz="2000" b="1" dirty="0" err="1">
                <a:latin typeface="Courier New" panose="02070309020205020404" pitchFamily="49" charset="0"/>
              </a:rPr>
              <a:t>somedir</a:t>
            </a:r>
            <a:r>
              <a:rPr lang="en-US" sz="2000" b="1" dirty="0">
                <a:latin typeface="Courier New" panose="02070309020205020404" pitchFamily="49" charset="0"/>
              </a:rPr>
              <a:t>/page.html HTTP/1.1</a:t>
            </a:r>
            <a:endParaRPr lang="en-US" sz="2000" b="1" dirty="0">
              <a:latin typeface="Courier New" panose="02070309020205020404" pitchFamily="49" charset="0"/>
            </a:endParaRPr>
          </a:p>
          <a:p>
            <a:pPr>
              <a:spcBef>
                <a:spcPct val="0"/>
              </a:spcBef>
              <a:buClrTx/>
              <a:buSzTx/>
              <a:buFontTx/>
              <a:buNone/>
            </a:pPr>
            <a:r>
              <a:rPr lang="en-US" sz="2000" b="1" dirty="0">
                <a:latin typeface="Courier New" panose="02070309020205020404" pitchFamily="49" charset="0"/>
              </a:rPr>
              <a:t>Host: www.someschool.edu </a:t>
            </a:r>
            <a:endParaRPr lang="en-US" sz="2000" b="1" dirty="0">
              <a:latin typeface="Courier New" panose="02070309020205020404" pitchFamily="49" charset="0"/>
            </a:endParaRPr>
          </a:p>
          <a:p>
            <a:pPr>
              <a:spcBef>
                <a:spcPct val="0"/>
              </a:spcBef>
              <a:buClrTx/>
              <a:buSzTx/>
              <a:buFontTx/>
              <a:buNone/>
            </a:pPr>
            <a:r>
              <a:rPr lang="en-US" sz="2000" b="1" dirty="0">
                <a:latin typeface="Courier New" panose="02070309020205020404" pitchFamily="49" charset="0"/>
              </a:rPr>
              <a:t>User-agent: Mozilla/4.0</a:t>
            </a:r>
            <a:endParaRPr lang="en-US" sz="2000" b="1" dirty="0">
              <a:latin typeface="Courier New" panose="02070309020205020404" pitchFamily="49" charset="0"/>
            </a:endParaRPr>
          </a:p>
          <a:p>
            <a:pPr>
              <a:spcBef>
                <a:spcPct val="0"/>
              </a:spcBef>
              <a:buClrTx/>
              <a:buSzTx/>
              <a:buFontTx/>
              <a:buNone/>
            </a:pPr>
            <a:r>
              <a:rPr lang="en-US" sz="2000" b="1" dirty="0">
                <a:latin typeface="Courier New" panose="02070309020205020404" pitchFamily="49" charset="0"/>
              </a:rPr>
              <a:t>Connection: close </a:t>
            </a:r>
            <a:endParaRPr lang="en-US" sz="2000" b="1" dirty="0">
              <a:latin typeface="Courier New" panose="02070309020205020404" pitchFamily="49" charset="0"/>
            </a:endParaRPr>
          </a:p>
          <a:p>
            <a:pPr>
              <a:spcBef>
                <a:spcPct val="0"/>
              </a:spcBef>
              <a:buClrTx/>
              <a:buSzTx/>
              <a:buFontTx/>
              <a:buNone/>
            </a:pPr>
            <a:r>
              <a:rPr lang="en-US" sz="2000" b="1" dirty="0" err="1">
                <a:latin typeface="Courier New" panose="02070309020205020404" pitchFamily="49" charset="0"/>
              </a:rPr>
              <a:t>Accept-language:fr</a:t>
            </a:r>
            <a:r>
              <a:rPr lang="en-US" sz="2000" b="1" dirty="0">
                <a:latin typeface="Courier New" panose="02070309020205020404" pitchFamily="49" charset="0"/>
              </a:rPr>
              <a:t> </a:t>
            </a:r>
            <a:endParaRPr lang="en-US" sz="2000" b="1" dirty="0">
              <a:latin typeface="Courier New" panose="02070309020205020404" pitchFamily="49" charset="0"/>
            </a:endParaRPr>
          </a:p>
          <a:p>
            <a:pPr>
              <a:spcBef>
                <a:spcPct val="0"/>
              </a:spcBef>
              <a:buClrTx/>
              <a:buSzTx/>
              <a:buFontTx/>
              <a:buNone/>
            </a:pPr>
            <a:endParaRPr lang="en-US" dirty="0">
              <a:latin typeface="Times New Roman" panose="02020603050405020304" pitchFamily="18" charset="0"/>
            </a:endParaRPr>
          </a:p>
          <a:p>
            <a:pPr>
              <a:spcBef>
                <a:spcPct val="0"/>
              </a:spcBef>
              <a:buClrTx/>
              <a:buSzTx/>
              <a:buFontTx/>
              <a:buNone/>
            </a:pPr>
            <a:r>
              <a:rPr lang="en-US" sz="2000" dirty="0">
                <a:latin typeface="Arial" panose="020B0604020202020204" pitchFamily="34" charset="0"/>
              </a:rPr>
              <a:t>(extra carriage return, line feed)</a:t>
            </a:r>
            <a:r>
              <a:rPr lang="en-US" dirty="0">
                <a:latin typeface="Times New Roman" panose="02020603050405020304" pitchFamily="18" charset="0"/>
              </a:rPr>
              <a:t> </a:t>
            </a:r>
            <a:endParaRPr lang="en-US" dirty="0">
              <a:latin typeface="Times New Roman" panose="02020603050405020304" pitchFamily="18" charset="0"/>
            </a:endParaRPr>
          </a:p>
        </p:txBody>
      </p:sp>
      <p:sp>
        <p:nvSpPr>
          <p:cNvPr id="56327" name="Text Box 5"/>
          <p:cNvSpPr txBox="1">
            <a:spLocks noChangeArrowheads="1"/>
          </p:cNvSpPr>
          <p:nvPr/>
        </p:nvSpPr>
        <p:spPr bwMode="auto">
          <a:xfrm>
            <a:off x="198438" y="3103563"/>
            <a:ext cx="2270125" cy="1006475"/>
          </a:xfrm>
          <a:prstGeom prst="rect">
            <a:avLst/>
          </a:prstGeom>
          <a:noFill/>
          <a:ln w="9525">
            <a:noFill/>
            <a:miter lim="800000"/>
          </a:ln>
        </p:spPr>
        <p:txBody>
          <a:bodyPr wrap="none">
            <a:spAutoFit/>
          </a:bodyPr>
          <a:lstStyle/>
          <a:p>
            <a:pPr algn="ctr">
              <a:spcBef>
                <a:spcPct val="0"/>
              </a:spcBef>
              <a:buClrTx/>
              <a:buSzTx/>
              <a:buFontTx/>
              <a:buNone/>
            </a:pPr>
            <a:r>
              <a:rPr lang="en-US" sz="2000">
                <a:solidFill>
                  <a:schemeClr val="accent2"/>
                </a:solidFill>
              </a:rPr>
              <a:t>request line</a:t>
            </a:r>
            <a:endParaRPr lang="en-US" sz="2000">
              <a:solidFill>
                <a:schemeClr val="accent2"/>
              </a:solidFill>
            </a:endParaRPr>
          </a:p>
          <a:p>
            <a:pPr algn="ctr">
              <a:spcBef>
                <a:spcPct val="0"/>
              </a:spcBef>
              <a:buClrTx/>
              <a:buSzTx/>
              <a:buFontTx/>
              <a:buNone/>
            </a:pPr>
            <a:r>
              <a:rPr lang="en-US" sz="2000">
                <a:solidFill>
                  <a:schemeClr val="accent2"/>
                </a:solidFill>
              </a:rPr>
              <a:t>(GET, POST, </a:t>
            </a:r>
            <a:endParaRPr lang="en-US" sz="2000">
              <a:solidFill>
                <a:schemeClr val="accent2"/>
              </a:solidFill>
            </a:endParaRPr>
          </a:p>
          <a:p>
            <a:pPr algn="ctr">
              <a:spcBef>
                <a:spcPct val="0"/>
              </a:spcBef>
              <a:buClrTx/>
              <a:buSzTx/>
              <a:buFontTx/>
              <a:buNone/>
            </a:pPr>
            <a:r>
              <a:rPr lang="en-US" sz="2000">
                <a:solidFill>
                  <a:schemeClr val="accent2"/>
                </a:solidFill>
              </a:rPr>
              <a:t>HEAD commands)</a:t>
            </a:r>
            <a:endParaRPr lang="en-US">
              <a:latin typeface="Times New Roman" panose="02020603050405020304" pitchFamily="18" charset="0"/>
            </a:endParaRPr>
          </a:p>
        </p:txBody>
      </p:sp>
      <p:sp>
        <p:nvSpPr>
          <p:cNvPr id="56328" name="Line 6"/>
          <p:cNvSpPr>
            <a:spLocks noChangeShapeType="1"/>
          </p:cNvSpPr>
          <p:nvPr/>
        </p:nvSpPr>
        <p:spPr bwMode="auto">
          <a:xfrm>
            <a:off x="2038350" y="3314700"/>
            <a:ext cx="923925" cy="257175"/>
          </a:xfrm>
          <a:prstGeom prst="line">
            <a:avLst/>
          </a:prstGeom>
          <a:noFill/>
          <a:ln w="19050">
            <a:solidFill>
              <a:schemeClr val="accent2"/>
            </a:solidFill>
            <a:round/>
            <a:tailEnd type="triangle" w="med" len="med"/>
          </a:ln>
        </p:spPr>
        <p:txBody>
          <a:bodyPr wrap="none" anchor="ctr"/>
          <a:lstStyle/>
          <a:p>
            <a:endParaRPr lang="en-US"/>
          </a:p>
        </p:txBody>
      </p:sp>
      <p:sp>
        <p:nvSpPr>
          <p:cNvPr id="56329" name="Freeform 7"/>
          <p:cNvSpPr/>
          <p:nvPr/>
        </p:nvSpPr>
        <p:spPr bwMode="auto">
          <a:xfrm>
            <a:off x="2943225" y="3752850"/>
            <a:ext cx="227013" cy="1311275"/>
          </a:xfrm>
          <a:custGeom>
            <a:avLst/>
            <a:gdLst>
              <a:gd name="T0" fmla="*/ 122 w 150"/>
              <a:gd name="T1" fmla="*/ 6 h 924"/>
              <a:gd name="T2" fmla="*/ 0 w 150"/>
              <a:gd name="T3" fmla="*/ 0 h 924"/>
              <a:gd name="T4" fmla="*/ 0 w 150"/>
              <a:gd name="T5" fmla="*/ 924 h 924"/>
              <a:gd name="T6" fmla="*/ 150 w 150"/>
              <a:gd name="T7" fmla="*/ 918 h 924"/>
              <a:gd name="T8" fmla="*/ 0 60000 65536"/>
              <a:gd name="T9" fmla="*/ 0 60000 65536"/>
              <a:gd name="T10" fmla="*/ 0 60000 65536"/>
              <a:gd name="T11" fmla="*/ 0 60000 65536"/>
              <a:gd name="T12" fmla="*/ 0 w 150"/>
              <a:gd name="T13" fmla="*/ 0 h 924"/>
              <a:gd name="T14" fmla="*/ 150 w 150"/>
              <a:gd name="T15" fmla="*/ 924 h 924"/>
            </a:gdLst>
            <a:ahLst/>
            <a:cxnLst>
              <a:cxn ang="T8">
                <a:pos x="T0" y="T1"/>
              </a:cxn>
              <a:cxn ang="T9">
                <a:pos x="T2" y="T3"/>
              </a:cxn>
              <a:cxn ang="T10">
                <a:pos x="T4" y="T5"/>
              </a:cxn>
              <a:cxn ang="T11">
                <a:pos x="T6" y="T7"/>
              </a:cxn>
            </a:cxnLst>
            <a:rect l="T12" t="T13" r="T14" b="T15"/>
            <a:pathLst>
              <a:path w="150" h="924">
                <a:moveTo>
                  <a:pt x="122" y="6"/>
                </a:moveTo>
                <a:lnTo>
                  <a:pt x="0" y="0"/>
                </a:lnTo>
                <a:lnTo>
                  <a:pt x="0" y="924"/>
                </a:lnTo>
                <a:lnTo>
                  <a:pt x="150" y="918"/>
                </a:lnTo>
              </a:path>
            </a:pathLst>
          </a:custGeom>
          <a:noFill/>
          <a:ln w="19050">
            <a:solidFill>
              <a:schemeClr val="accent2"/>
            </a:solidFill>
            <a:round/>
          </a:ln>
        </p:spPr>
        <p:txBody>
          <a:bodyPr wrap="none" anchor="ctr"/>
          <a:lstStyle/>
          <a:p>
            <a:endParaRPr lang="en-US"/>
          </a:p>
        </p:txBody>
      </p:sp>
      <p:sp>
        <p:nvSpPr>
          <p:cNvPr id="56330" name="Text Box 8"/>
          <p:cNvSpPr txBox="1">
            <a:spLocks noChangeArrowheads="1"/>
          </p:cNvSpPr>
          <p:nvPr/>
        </p:nvSpPr>
        <p:spPr bwMode="auto">
          <a:xfrm>
            <a:off x="1938338" y="4256088"/>
            <a:ext cx="1011237" cy="701675"/>
          </a:xfrm>
          <a:prstGeom prst="rect">
            <a:avLst/>
          </a:prstGeom>
          <a:noFill/>
          <a:ln w="9525">
            <a:noFill/>
            <a:miter lim="800000"/>
          </a:ln>
        </p:spPr>
        <p:txBody>
          <a:bodyPr wrap="none">
            <a:spAutoFit/>
          </a:bodyPr>
          <a:lstStyle/>
          <a:p>
            <a:pPr algn="r">
              <a:spcBef>
                <a:spcPct val="0"/>
              </a:spcBef>
              <a:buClrTx/>
              <a:buSzTx/>
              <a:buFontTx/>
              <a:buNone/>
            </a:pPr>
            <a:r>
              <a:rPr lang="en-US" sz="2000">
                <a:solidFill>
                  <a:schemeClr val="accent2"/>
                </a:solidFill>
              </a:rPr>
              <a:t>header</a:t>
            </a:r>
            <a:endParaRPr lang="en-US" sz="2000">
              <a:solidFill>
                <a:schemeClr val="accent2"/>
              </a:solidFill>
            </a:endParaRPr>
          </a:p>
          <a:p>
            <a:pPr algn="r">
              <a:spcBef>
                <a:spcPct val="0"/>
              </a:spcBef>
              <a:buClrTx/>
              <a:buSzTx/>
              <a:buFontTx/>
              <a:buNone/>
            </a:pPr>
            <a:r>
              <a:rPr lang="en-US" sz="2000">
                <a:solidFill>
                  <a:schemeClr val="accent2"/>
                </a:solidFill>
              </a:rPr>
              <a:t> lines</a:t>
            </a:r>
            <a:endParaRPr lang="en-US">
              <a:latin typeface="Times New Roman" panose="02020603050405020304" pitchFamily="18" charset="0"/>
            </a:endParaRPr>
          </a:p>
        </p:txBody>
      </p:sp>
      <p:sp>
        <p:nvSpPr>
          <p:cNvPr id="56331" name="Line 10"/>
          <p:cNvSpPr>
            <a:spLocks noChangeShapeType="1"/>
          </p:cNvSpPr>
          <p:nvPr/>
        </p:nvSpPr>
        <p:spPr bwMode="auto">
          <a:xfrm flipV="1">
            <a:off x="2162175" y="5324475"/>
            <a:ext cx="923925" cy="257175"/>
          </a:xfrm>
          <a:prstGeom prst="line">
            <a:avLst/>
          </a:prstGeom>
          <a:noFill/>
          <a:ln w="19050">
            <a:solidFill>
              <a:schemeClr val="accent2"/>
            </a:solidFill>
            <a:round/>
            <a:tailEnd type="triangle" w="med" len="med"/>
          </a:ln>
        </p:spPr>
        <p:txBody>
          <a:bodyPr wrap="none" anchor="ctr"/>
          <a:lstStyle/>
          <a:p>
            <a:endParaRPr lang="en-US"/>
          </a:p>
        </p:txBody>
      </p:sp>
      <p:sp>
        <p:nvSpPr>
          <p:cNvPr id="56332" name="Text Box 11"/>
          <p:cNvSpPr txBox="1">
            <a:spLocks noChangeArrowheads="1"/>
          </p:cNvSpPr>
          <p:nvPr/>
        </p:nvSpPr>
        <p:spPr bwMode="auto">
          <a:xfrm>
            <a:off x="-73689" y="5208588"/>
            <a:ext cx="3223959" cy="1323439"/>
          </a:xfrm>
          <a:prstGeom prst="rect">
            <a:avLst/>
          </a:prstGeom>
          <a:noFill/>
          <a:ln w="9525">
            <a:noFill/>
            <a:miter lim="800000"/>
          </a:ln>
        </p:spPr>
        <p:txBody>
          <a:bodyPr wrap="none">
            <a:spAutoFit/>
          </a:bodyPr>
          <a:lstStyle/>
          <a:p>
            <a:pPr algn="ctr">
              <a:spcBef>
                <a:spcPct val="0"/>
              </a:spcBef>
              <a:buClrTx/>
              <a:buSzTx/>
              <a:buFontTx/>
              <a:buNone/>
            </a:pPr>
            <a:r>
              <a:rPr lang="en-US" sz="2000" dirty="0">
                <a:solidFill>
                  <a:schemeClr val="accent2"/>
                </a:solidFill>
              </a:rPr>
              <a:t>Carriage return</a:t>
            </a:r>
            <a:r>
              <a:rPr lang="zh-CN" altLang="en-US" sz="2000" dirty="0">
                <a:solidFill>
                  <a:schemeClr val="accent2"/>
                </a:solidFill>
              </a:rPr>
              <a:t>（回车）</a:t>
            </a:r>
            <a:r>
              <a:rPr lang="en-US" sz="2000" dirty="0">
                <a:solidFill>
                  <a:schemeClr val="accent2"/>
                </a:solidFill>
              </a:rPr>
              <a:t>, </a:t>
            </a:r>
            <a:endParaRPr lang="en-US" sz="2000" dirty="0">
              <a:solidFill>
                <a:schemeClr val="accent2"/>
              </a:solidFill>
            </a:endParaRPr>
          </a:p>
          <a:p>
            <a:pPr algn="ctr">
              <a:spcBef>
                <a:spcPct val="0"/>
              </a:spcBef>
              <a:buClrTx/>
              <a:buSzTx/>
              <a:buFontTx/>
              <a:buNone/>
            </a:pPr>
            <a:r>
              <a:rPr lang="en-US" sz="2000" dirty="0">
                <a:solidFill>
                  <a:schemeClr val="accent2"/>
                </a:solidFill>
              </a:rPr>
              <a:t>line feed </a:t>
            </a:r>
            <a:r>
              <a:rPr lang="zh-CN" altLang="en-US" sz="2000" dirty="0">
                <a:solidFill>
                  <a:schemeClr val="accent2"/>
                </a:solidFill>
              </a:rPr>
              <a:t>（换行）</a:t>
            </a:r>
            <a:endParaRPr lang="en-US" sz="2000" dirty="0">
              <a:solidFill>
                <a:schemeClr val="accent2"/>
              </a:solidFill>
            </a:endParaRPr>
          </a:p>
          <a:p>
            <a:pPr algn="ctr">
              <a:spcBef>
                <a:spcPct val="0"/>
              </a:spcBef>
              <a:buClrTx/>
              <a:buSzTx/>
              <a:buFontTx/>
              <a:buNone/>
            </a:pPr>
            <a:r>
              <a:rPr lang="en-US" sz="2000" dirty="0">
                <a:solidFill>
                  <a:schemeClr val="accent2"/>
                </a:solidFill>
              </a:rPr>
              <a:t>indicates end </a:t>
            </a:r>
            <a:endParaRPr lang="en-US" sz="2000" dirty="0">
              <a:solidFill>
                <a:schemeClr val="accent2"/>
              </a:solidFill>
            </a:endParaRPr>
          </a:p>
          <a:p>
            <a:pPr algn="ctr">
              <a:spcBef>
                <a:spcPct val="0"/>
              </a:spcBef>
              <a:buClrTx/>
              <a:buSzTx/>
              <a:buFontTx/>
              <a:buNone/>
            </a:pPr>
            <a:r>
              <a:rPr lang="en-US" sz="2000" dirty="0">
                <a:solidFill>
                  <a:schemeClr val="accent2"/>
                </a:solidFill>
              </a:rPr>
              <a:t>of message</a:t>
            </a:r>
            <a:endParaRPr lang="en-US" dirty="0">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7347" name="Slide Number Placeholder 4"/>
          <p:cNvSpPr>
            <a:spLocks noGrp="1"/>
          </p:cNvSpPr>
          <p:nvPr>
            <p:ph type="sldNum" sz="quarter" idx="12"/>
          </p:nvPr>
        </p:nvSpPr>
        <p:spPr>
          <a:noFill/>
        </p:spPr>
        <p:txBody>
          <a:bodyPr/>
          <a:lstStyle/>
          <a:p>
            <a:fld id="{0B4127B2-4F57-431A-B7D6-86A755AF109E}" type="slidenum">
              <a:rPr lang="en-US"/>
            </a:fld>
            <a:endParaRPr lang="en-US"/>
          </a:p>
        </p:txBody>
      </p:sp>
      <p:sp>
        <p:nvSpPr>
          <p:cNvPr id="57348" name="Rectangle 2"/>
          <p:cNvSpPr>
            <a:spLocks noGrp="1" noChangeArrowheads="1"/>
          </p:cNvSpPr>
          <p:nvPr>
            <p:ph type="title"/>
          </p:nvPr>
        </p:nvSpPr>
        <p:spPr/>
        <p:txBody>
          <a:bodyPr/>
          <a:lstStyle/>
          <a:p>
            <a:r>
              <a:rPr lang="en-US" sz="3200"/>
              <a:t>HTTP request message: general format</a:t>
            </a:r>
            <a:endParaRPr lang="en-US"/>
          </a:p>
        </p:txBody>
      </p:sp>
      <p:pic>
        <p:nvPicPr>
          <p:cNvPr id="57349" name="Picture 3" descr="HTTPrequest"/>
          <p:cNvPicPr>
            <a:picLocks noChangeAspect="1" noChangeArrowheads="1"/>
          </p:cNvPicPr>
          <p:nvPr/>
        </p:nvPicPr>
        <p:blipFill>
          <a:blip r:embed="rId1"/>
          <a:srcRect/>
          <a:stretch>
            <a:fillRect/>
          </a:stretch>
        </p:blipFill>
        <p:spPr bwMode="auto">
          <a:xfrm>
            <a:off x="1120775" y="1649413"/>
            <a:ext cx="7512050" cy="377825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8371" name="Slide Number Placeholder 6"/>
          <p:cNvSpPr>
            <a:spLocks noGrp="1"/>
          </p:cNvSpPr>
          <p:nvPr>
            <p:ph type="sldNum" sz="quarter" idx="12"/>
          </p:nvPr>
        </p:nvSpPr>
        <p:spPr>
          <a:noFill/>
        </p:spPr>
        <p:txBody>
          <a:bodyPr/>
          <a:lstStyle/>
          <a:p>
            <a:fld id="{F3987903-89AD-4366-BD3E-86CD74BBC63A}" type="slidenum">
              <a:rPr lang="en-US"/>
            </a:fld>
            <a:endParaRPr lang="en-US"/>
          </a:p>
        </p:txBody>
      </p:sp>
      <p:sp>
        <p:nvSpPr>
          <p:cNvPr id="58372" name="Rectangle 2"/>
          <p:cNvSpPr>
            <a:spLocks noGrp="1" noChangeArrowheads="1"/>
          </p:cNvSpPr>
          <p:nvPr>
            <p:ph type="title"/>
          </p:nvPr>
        </p:nvSpPr>
        <p:spPr/>
        <p:txBody>
          <a:bodyPr/>
          <a:lstStyle/>
          <a:p>
            <a:r>
              <a:rPr lang="en-US"/>
              <a:t>Uploading form input</a:t>
            </a:r>
            <a:endParaRPr lang="en-US"/>
          </a:p>
        </p:txBody>
      </p:sp>
      <p:sp>
        <p:nvSpPr>
          <p:cNvPr id="58373" name="Rectangle 3"/>
          <p:cNvSpPr>
            <a:spLocks noGrp="1" noChangeArrowheads="1"/>
          </p:cNvSpPr>
          <p:nvPr>
            <p:ph type="body" sz="half" idx="1"/>
          </p:nvPr>
        </p:nvSpPr>
        <p:spPr/>
        <p:txBody>
          <a:bodyPr/>
          <a:lstStyle/>
          <a:p>
            <a:pPr>
              <a:buFont typeface="ZapfDingbats" pitchFamily="82" charset="2"/>
              <a:buNone/>
            </a:pPr>
            <a:r>
              <a:rPr lang="en-US" sz="2400" u="sng">
                <a:solidFill>
                  <a:srgbClr val="FF0000"/>
                </a:solidFill>
              </a:rPr>
              <a:t>Post method:</a:t>
            </a:r>
            <a:endParaRPr lang="en-US" sz="2400"/>
          </a:p>
          <a:p>
            <a:r>
              <a:rPr lang="en-US" sz="2400"/>
              <a:t>Web page often includes form input</a:t>
            </a:r>
            <a:endParaRPr lang="en-US" sz="2400"/>
          </a:p>
          <a:p>
            <a:r>
              <a:rPr lang="en-US" sz="2400"/>
              <a:t>Input is uploaded to server in entity body</a:t>
            </a:r>
            <a:endParaRPr lang="en-US" sz="2400"/>
          </a:p>
        </p:txBody>
      </p:sp>
      <p:sp>
        <p:nvSpPr>
          <p:cNvPr id="58374" name="Rectangle 4"/>
          <p:cNvSpPr>
            <a:spLocks noGrp="1" noChangeArrowheads="1"/>
          </p:cNvSpPr>
          <p:nvPr>
            <p:ph type="body" sz="half" idx="2"/>
          </p:nvPr>
        </p:nvSpPr>
        <p:spPr>
          <a:xfrm>
            <a:off x="4495800" y="2393950"/>
            <a:ext cx="3810000" cy="2206625"/>
          </a:xfrm>
        </p:spPr>
        <p:txBody>
          <a:bodyPr/>
          <a:lstStyle/>
          <a:p>
            <a:pPr>
              <a:buFont typeface="ZapfDingbats" pitchFamily="82" charset="2"/>
              <a:buNone/>
            </a:pPr>
            <a:r>
              <a:rPr lang="en-US" sz="2400" u="sng">
                <a:solidFill>
                  <a:srgbClr val="FF0000"/>
                </a:solidFill>
              </a:rPr>
              <a:t>URL method:</a:t>
            </a:r>
            <a:endParaRPr lang="en-US" sz="2400" u="sng">
              <a:solidFill>
                <a:srgbClr val="FF0000"/>
              </a:solidFill>
            </a:endParaRPr>
          </a:p>
          <a:p>
            <a:r>
              <a:rPr lang="en-US" sz="2400"/>
              <a:t>Uses GET method</a:t>
            </a:r>
            <a:endParaRPr lang="en-US" sz="2400"/>
          </a:p>
          <a:p>
            <a:r>
              <a:rPr lang="en-US" sz="2400"/>
              <a:t>Input is uploaded in URL field of request line:</a:t>
            </a:r>
            <a:endParaRPr lang="en-US" sz="2400"/>
          </a:p>
          <a:p>
            <a:pPr>
              <a:buFont typeface="ZapfDingbats" pitchFamily="82" charset="2"/>
              <a:buNone/>
            </a:pPr>
            <a:endParaRPr lang="en-US" sz="2400"/>
          </a:p>
        </p:txBody>
      </p:sp>
      <p:sp>
        <p:nvSpPr>
          <p:cNvPr id="58375" name="Text Box 5"/>
          <p:cNvSpPr txBox="1">
            <a:spLocks noChangeArrowheads="1"/>
          </p:cNvSpPr>
          <p:nvPr/>
        </p:nvSpPr>
        <p:spPr bwMode="auto">
          <a:xfrm>
            <a:off x="2033588" y="4822825"/>
            <a:ext cx="6889750" cy="396875"/>
          </a:xfrm>
          <a:prstGeom prst="rect">
            <a:avLst/>
          </a:prstGeom>
          <a:noFill/>
          <a:ln w="9525">
            <a:noFill/>
            <a:miter lim="800000"/>
          </a:ln>
        </p:spPr>
        <p:txBody>
          <a:bodyPr wrap="none">
            <a:spAutoFit/>
          </a:bodyPr>
          <a:lstStyle/>
          <a:p>
            <a:pPr>
              <a:spcBef>
                <a:spcPct val="0"/>
              </a:spcBef>
              <a:buClrTx/>
              <a:buSzTx/>
              <a:buFontTx/>
              <a:buNone/>
            </a:pPr>
            <a:r>
              <a:rPr lang="en-US" sz="2000">
                <a:latin typeface="Courier New" panose="02070309020205020404" pitchFamily="49" charset="0"/>
              </a:rPr>
              <a:t>www.somesite.com/animalsearch?monkeys&amp;banana</a:t>
            </a:r>
            <a:endParaRPr lang="en-US" sz="1600">
              <a:latin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59395" name="Slide Number Placeholder 6"/>
          <p:cNvSpPr>
            <a:spLocks noGrp="1"/>
          </p:cNvSpPr>
          <p:nvPr>
            <p:ph type="sldNum" sz="quarter" idx="12"/>
          </p:nvPr>
        </p:nvSpPr>
        <p:spPr>
          <a:noFill/>
        </p:spPr>
        <p:txBody>
          <a:bodyPr/>
          <a:lstStyle/>
          <a:p>
            <a:fld id="{BB84381D-E8EF-4C86-9632-437A3249FFAE}" type="slidenum">
              <a:rPr lang="en-US"/>
            </a:fld>
            <a:endParaRPr lang="en-US"/>
          </a:p>
        </p:txBody>
      </p:sp>
      <p:sp>
        <p:nvSpPr>
          <p:cNvPr id="59396" name="Rectangle 2"/>
          <p:cNvSpPr>
            <a:spLocks noGrp="1" noChangeArrowheads="1"/>
          </p:cNvSpPr>
          <p:nvPr>
            <p:ph type="title"/>
          </p:nvPr>
        </p:nvSpPr>
        <p:spPr/>
        <p:txBody>
          <a:bodyPr/>
          <a:lstStyle/>
          <a:p>
            <a:r>
              <a:rPr lang="en-US"/>
              <a:t>Method types</a:t>
            </a:r>
            <a:endParaRPr lang="en-US"/>
          </a:p>
        </p:txBody>
      </p:sp>
      <p:sp>
        <p:nvSpPr>
          <p:cNvPr id="59397" name="Rectangle 3"/>
          <p:cNvSpPr>
            <a:spLocks noGrp="1" noChangeArrowheads="1"/>
          </p:cNvSpPr>
          <p:nvPr>
            <p:ph type="body" sz="half" idx="1"/>
          </p:nvPr>
        </p:nvSpPr>
        <p:spPr/>
        <p:txBody>
          <a:bodyPr/>
          <a:lstStyle/>
          <a:p>
            <a:pPr>
              <a:buFont typeface="ZapfDingbats" pitchFamily="82" charset="2"/>
              <a:buNone/>
            </a:pPr>
            <a:r>
              <a:rPr lang="en-US" sz="2400" u="sng">
                <a:solidFill>
                  <a:srgbClr val="FF0000"/>
                </a:solidFill>
              </a:rPr>
              <a:t>HTTP/1.0</a:t>
            </a:r>
            <a:endParaRPr lang="en-US" sz="2400"/>
          </a:p>
          <a:p>
            <a:r>
              <a:rPr lang="en-US" sz="2400"/>
              <a:t>GET</a:t>
            </a:r>
            <a:endParaRPr lang="en-US" sz="2400"/>
          </a:p>
          <a:p>
            <a:r>
              <a:rPr lang="en-US" sz="2400"/>
              <a:t>POST</a:t>
            </a:r>
            <a:endParaRPr lang="en-US" sz="2400"/>
          </a:p>
          <a:p>
            <a:r>
              <a:rPr lang="en-US" sz="2400"/>
              <a:t>HEAD</a:t>
            </a:r>
            <a:endParaRPr lang="en-US" sz="2400"/>
          </a:p>
          <a:p>
            <a:pPr lvl="1"/>
            <a:r>
              <a:rPr lang="en-US" sz="2000"/>
              <a:t>asks server to leave requested object out of response</a:t>
            </a:r>
            <a:endParaRPr lang="en-US" sz="2000"/>
          </a:p>
        </p:txBody>
      </p:sp>
      <p:sp>
        <p:nvSpPr>
          <p:cNvPr id="59398" name="Rectangle 4"/>
          <p:cNvSpPr>
            <a:spLocks noGrp="1" noChangeArrowheads="1"/>
          </p:cNvSpPr>
          <p:nvPr>
            <p:ph type="body" sz="half" idx="2"/>
          </p:nvPr>
        </p:nvSpPr>
        <p:spPr/>
        <p:txBody>
          <a:bodyPr/>
          <a:lstStyle/>
          <a:p>
            <a:pPr>
              <a:buFont typeface="ZapfDingbats" pitchFamily="82" charset="2"/>
              <a:buNone/>
            </a:pPr>
            <a:r>
              <a:rPr lang="en-US" sz="2400" u="sng">
                <a:solidFill>
                  <a:srgbClr val="FF0000"/>
                </a:solidFill>
              </a:rPr>
              <a:t>HTTP/1.1</a:t>
            </a:r>
            <a:endParaRPr lang="en-US" sz="2400"/>
          </a:p>
          <a:p>
            <a:r>
              <a:rPr lang="en-US" sz="2400"/>
              <a:t>GET, POST, HEAD</a:t>
            </a:r>
            <a:endParaRPr lang="en-US" sz="2400"/>
          </a:p>
          <a:p>
            <a:r>
              <a:rPr lang="en-US" sz="2400"/>
              <a:t>PUT</a:t>
            </a:r>
            <a:endParaRPr lang="en-US" sz="2400"/>
          </a:p>
          <a:p>
            <a:pPr lvl="1"/>
            <a:r>
              <a:rPr lang="en-US" sz="2000"/>
              <a:t>uploads file in entity body to path specified in URL field</a:t>
            </a:r>
            <a:endParaRPr lang="en-US" sz="2000"/>
          </a:p>
          <a:p>
            <a:r>
              <a:rPr lang="en-US" sz="2400"/>
              <a:t>DELETE</a:t>
            </a:r>
            <a:endParaRPr lang="en-US" sz="2400"/>
          </a:p>
          <a:p>
            <a:pPr lvl="1"/>
            <a:r>
              <a:rPr lang="en-US" sz="2000"/>
              <a:t>deletes file specified in the URL field</a:t>
            </a:r>
            <a:endParaRPr lang="en-US" sz="2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0419" name="Slide Number Placeholder 5"/>
          <p:cNvSpPr>
            <a:spLocks noGrp="1"/>
          </p:cNvSpPr>
          <p:nvPr>
            <p:ph type="sldNum" sz="quarter" idx="12"/>
          </p:nvPr>
        </p:nvSpPr>
        <p:spPr>
          <a:noFill/>
        </p:spPr>
        <p:txBody>
          <a:bodyPr/>
          <a:lstStyle/>
          <a:p>
            <a:fld id="{E135CDF8-C7EE-4179-AEDA-35CAB501A228}" type="slidenum">
              <a:rPr lang="en-US"/>
            </a:fld>
            <a:endParaRPr lang="en-US"/>
          </a:p>
        </p:txBody>
      </p:sp>
      <p:sp>
        <p:nvSpPr>
          <p:cNvPr id="60420" name="Rectangle 2"/>
          <p:cNvSpPr>
            <a:spLocks noGrp="1" noChangeArrowheads="1"/>
          </p:cNvSpPr>
          <p:nvPr>
            <p:ph type="title"/>
          </p:nvPr>
        </p:nvSpPr>
        <p:spPr/>
        <p:txBody>
          <a:bodyPr/>
          <a:lstStyle/>
          <a:p>
            <a:r>
              <a:rPr lang="en-US" sz="3600"/>
              <a:t>HTTP response message</a:t>
            </a:r>
            <a:r>
              <a:rPr lang="zh-CN" altLang="en-US" sz="3600">
                <a:ea typeface="宋体" panose="02010600030101010101" pitchFamily="2" charset="-122"/>
              </a:rPr>
              <a:t>（题）</a:t>
            </a:r>
            <a:endParaRPr lang="zh-CN" altLang="en-US" sz="3600">
              <a:ea typeface="宋体" panose="02010600030101010101" pitchFamily="2" charset="-122"/>
            </a:endParaRPr>
          </a:p>
        </p:txBody>
      </p:sp>
      <p:sp>
        <p:nvSpPr>
          <p:cNvPr id="60421" name="Text Box 4"/>
          <p:cNvSpPr txBox="1">
            <a:spLocks noChangeArrowheads="1"/>
          </p:cNvSpPr>
          <p:nvPr/>
        </p:nvSpPr>
        <p:spPr bwMode="auto">
          <a:xfrm>
            <a:off x="3181350" y="1987550"/>
            <a:ext cx="5822950" cy="2835275"/>
          </a:xfrm>
          <a:prstGeom prst="rect">
            <a:avLst/>
          </a:prstGeom>
          <a:noFill/>
          <a:ln w="9525">
            <a:noFill/>
            <a:miter lim="800000"/>
          </a:ln>
        </p:spPr>
        <p:txBody>
          <a:bodyPr wrap="none">
            <a:spAutoFit/>
          </a:bodyPr>
          <a:lstStyle/>
          <a:p>
            <a:pPr>
              <a:spcBef>
                <a:spcPct val="0"/>
              </a:spcBef>
              <a:buClrTx/>
              <a:buSzTx/>
              <a:buFontTx/>
              <a:buNone/>
            </a:pPr>
            <a:r>
              <a:rPr lang="en-US" sz="2000" b="1">
                <a:latin typeface="Courier New" panose="02070309020205020404" pitchFamily="49" charset="0"/>
              </a:rPr>
              <a:t>HTTP/1.1 200 OK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Connection close</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Date: Thu, 06 Aug 1998 12:00:15 GMT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Server: Apache/1.3.0 (Unix)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Last-Modified: Mon, 22 Jun 1998 …...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Content-Length: 6821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Content-Type: text/html</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data data data data data ... </a:t>
            </a:r>
            <a:endParaRPr lang="en-US" sz="2000" b="1">
              <a:latin typeface="Courier New" panose="02070309020205020404" pitchFamily="49" charset="0"/>
            </a:endParaRPr>
          </a:p>
        </p:txBody>
      </p:sp>
      <p:sp>
        <p:nvSpPr>
          <p:cNvPr id="60422" name="Text Box 5"/>
          <p:cNvSpPr txBox="1">
            <a:spLocks noChangeArrowheads="1"/>
          </p:cNvSpPr>
          <p:nvPr/>
        </p:nvSpPr>
        <p:spPr bwMode="auto">
          <a:xfrm>
            <a:off x="754063" y="1408113"/>
            <a:ext cx="1900237" cy="1311275"/>
          </a:xfrm>
          <a:prstGeom prst="rect">
            <a:avLst/>
          </a:prstGeom>
          <a:noFill/>
          <a:ln w="9525">
            <a:noFill/>
            <a:miter lim="800000"/>
          </a:ln>
        </p:spPr>
        <p:txBody>
          <a:bodyPr wrap="none">
            <a:spAutoFit/>
          </a:bodyPr>
          <a:lstStyle/>
          <a:p>
            <a:pPr algn="ctr">
              <a:spcBef>
                <a:spcPct val="0"/>
              </a:spcBef>
              <a:buClrTx/>
              <a:buSzTx/>
              <a:buFontTx/>
              <a:buNone/>
            </a:pPr>
            <a:r>
              <a:rPr lang="en-US" sz="2000">
                <a:solidFill>
                  <a:schemeClr val="accent2"/>
                </a:solidFill>
              </a:rPr>
              <a:t>status line</a:t>
            </a:r>
            <a:endParaRPr lang="en-US" sz="2000">
              <a:solidFill>
                <a:schemeClr val="accent2"/>
              </a:solidFill>
            </a:endParaRPr>
          </a:p>
          <a:p>
            <a:pPr algn="ctr">
              <a:spcBef>
                <a:spcPct val="0"/>
              </a:spcBef>
              <a:buClrTx/>
              <a:buSzTx/>
              <a:buFontTx/>
              <a:buNone/>
            </a:pPr>
            <a:r>
              <a:rPr lang="en-US" sz="2000">
                <a:solidFill>
                  <a:schemeClr val="accent2"/>
                </a:solidFill>
              </a:rPr>
              <a:t>(protocol</a:t>
            </a:r>
            <a:endParaRPr lang="en-US" sz="2000">
              <a:solidFill>
                <a:schemeClr val="accent2"/>
              </a:solidFill>
            </a:endParaRPr>
          </a:p>
          <a:p>
            <a:pPr algn="ctr">
              <a:spcBef>
                <a:spcPct val="0"/>
              </a:spcBef>
              <a:buClrTx/>
              <a:buSzTx/>
              <a:buFontTx/>
              <a:buNone/>
            </a:pPr>
            <a:r>
              <a:rPr lang="en-US" sz="2000">
                <a:solidFill>
                  <a:schemeClr val="accent2"/>
                </a:solidFill>
              </a:rPr>
              <a:t>status code</a:t>
            </a:r>
            <a:endParaRPr lang="en-US" sz="2000">
              <a:solidFill>
                <a:schemeClr val="accent2"/>
              </a:solidFill>
            </a:endParaRPr>
          </a:p>
          <a:p>
            <a:pPr algn="ctr">
              <a:spcBef>
                <a:spcPct val="0"/>
              </a:spcBef>
              <a:buClrTx/>
              <a:buSzTx/>
              <a:buFontTx/>
              <a:buNone/>
            </a:pPr>
            <a:r>
              <a:rPr lang="en-US" sz="2000">
                <a:solidFill>
                  <a:schemeClr val="accent2"/>
                </a:solidFill>
              </a:rPr>
              <a:t>status phrase)</a:t>
            </a:r>
            <a:endParaRPr lang="en-US">
              <a:latin typeface="Times New Roman" panose="02020603050405020304" pitchFamily="18" charset="0"/>
            </a:endParaRPr>
          </a:p>
        </p:txBody>
      </p:sp>
      <p:sp>
        <p:nvSpPr>
          <p:cNvPr id="60423" name="Line 6"/>
          <p:cNvSpPr>
            <a:spLocks noChangeShapeType="1"/>
          </p:cNvSpPr>
          <p:nvPr/>
        </p:nvSpPr>
        <p:spPr bwMode="auto">
          <a:xfrm>
            <a:off x="2295525" y="1914525"/>
            <a:ext cx="923925" cy="257175"/>
          </a:xfrm>
          <a:prstGeom prst="line">
            <a:avLst/>
          </a:prstGeom>
          <a:noFill/>
          <a:ln w="19050">
            <a:solidFill>
              <a:schemeClr val="accent2"/>
            </a:solidFill>
            <a:round/>
            <a:tailEnd type="triangle" w="med" len="med"/>
          </a:ln>
        </p:spPr>
        <p:txBody>
          <a:bodyPr wrap="none" anchor="ctr"/>
          <a:lstStyle/>
          <a:p>
            <a:endParaRPr lang="en-US"/>
          </a:p>
        </p:txBody>
      </p:sp>
      <p:sp>
        <p:nvSpPr>
          <p:cNvPr id="60424" name="Freeform 7"/>
          <p:cNvSpPr/>
          <p:nvPr/>
        </p:nvSpPr>
        <p:spPr bwMode="auto">
          <a:xfrm>
            <a:off x="3095625" y="2349500"/>
            <a:ext cx="257175" cy="1858963"/>
          </a:xfrm>
          <a:custGeom>
            <a:avLst/>
            <a:gdLst>
              <a:gd name="T0" fmla="*/ 132 w 162"/>
              <a:gd name="T1" fmla="*/ 9 h 1428"/>
              <a:gd name="T2" fmla="*/ 0 w 162"/>
              <a:gd name="T3" fmla="*/ 0 h 1428"/>
              <a:gd name="T4" fmla="*/ 0 w 162"/>
              <a:gd name="T5" fmla="*/ 1428 h 1428"/>
              <a:gd name="T6" fmla="*/ 162 w 162"/>
              <a:gd name="T7" fmla="*/ 1425 h 1428"/>
              <a:gd name="T8" fmla="*/ 0 60000 65536"/>
              <a:gd name="T9" fmla="*/ 0 60000 65536"/>
              <a:gd name="T10" fmla="*/ 0 60000 65536"/>
              <a:gd name="T11" fmla="*/ 0 60000 65536"/>
              <a:gd name="T12" fmla="*/ 0 w 162"/>
              <a:gd name="T13" fmla="*/ 0 h 1428"/>
              <a:gd name="T14" fmla="*/ 162 w 162"/>
              <a:gd name="T15" fmla="*/ 1428 h 1428"/>
            </a:gdLst>
            <a:ahLst/>
            <a:cxnLst>
              <a:cxn ang="T8">
                <a:pos x="T0" y="T1"/>
              </a:cxn>
              <a:cxn ang="T9">
                <a:pos x="T2" y="T3"/>
              </a:cxn>
              <a:cxn ang="T10">
                <a:pos x="T4" y="T5"/>
              </a:cxn>
              <a:cxn ang="T11">
                <a:pos x="T6" y="T7"/>
              </a:cxn>
            </a:cxnLst>
            <a:rect l="T12" t="T13" r="T14" b="T15"/>
            <a:pathLst>
              <a:path w="162" h="1428">
                <a:moveTo>
                  <a:pt x="132" y="9"/>
                </a:moveTo>
                <a:lnTo>
                  <a:pt x="0" y="0"/>
                </a:lnTo>
                <a:lnTo>
                  <a:pt x="0" y="1428"/>
                </a:lnTo>
                <a:lnTo>
                  <a:pt x="162" y="1425"/>
                </a:lnTo>
              </a:path>
            </a:pathLst>
          </a:custGeom>
          <a:noFill/>
          <a:ln w="19050">
            <a:solidFill>
              <a:schemeClr val="accent2"/>
            </a:solidFill>
            <a:round/>
          </a:ln>
        </p:spPr>
        <p:txBody>
          <a:bodyPr wrap="none" anchor="ctr"/>
          <a:lstStyle/>
          <a:p>
            <a:endParaRPr lang="en-US"/>
          </a:p>
        </p:txBody>
      </p:sp>
      <p:sp>
        <p:nvSpPr>
          <p:cNvPr id="60425" name="Text Box 8"/>
          <p:cNvSpPr txBox="1">
            <a:spLocks noChangeArrowheads="1"/>
          </p:cNvSpPr>
          <p:nvPr/>
        </p:nvSpPr>
        <p:spPr bwMode="auto">
          <a:xfrm>
            <a:off x="2005013" y="3017838"/>
            <a:ext cx="1011237" cy="701675"/>
          </a:xfrm>
          <a:prstGeom prst="rect">
            <a:avLst/>
          </a:prstGeom>
          <a:noFill/>
          <a:ln w="9525">
            <a:noFill/>
            <a:miter lim="800000"/>
          </a:ln>
        </p:spPr>
        <p:txBody>
          <a:bodyPr wrap="none">
            <a:spAutoFit/>
          </a:bodyPr>
          <a:lstStyle/>
          <a:p>
            <a:pPr algn="r">
              <a:spcBef>
                <a:spcPct val="0"/>
              </a:spcBef>
              <a:buClrTx/>
              <a:buSzTx/>
              <a:buFontTx/>
              <a:buNone/>
            </a:pPr>
            <a:r>
              <a:rPr lang="en-US" sz="2000">
                <a:solidFill>
                  <a:schemeClr val="accent2"/>
                </a:solidFill>
              </a:rPr>
              <a:t>header</a:t>
            </a:r>
            <a:endParaRPr lang="en-US" sz="2000">
              <a:solidFill>
                <a:schemeClr val="accent2"/>
              </a:solidFill>
            </a:endParaRPr>
          </a:p>
          <a:p>
            <a:pPr algn="r">
              <a:spcBef>
                <a:spcPct val="0"/>
              </a:spcBef>
              <a:buClrTx/>
              <a:buSzTx/>
              <a:buFontTx/>
              <a:buNone/>
            </a:pPr>
            <a:r>
              <a:rPr lang="en-US" sz="2000">
                <a:solidFill>
                  <a:schemeClr val="accent2"/>
                </a:solidFill>
              </a:rPr>
              <a:t> lines</a:t>
            </a:r>
            <a:endParaRPr lang="en-US">
              <a:latin typeface="Times New Roman" panose="02020603050405020304" pitchFamily="18" charset="0"/>
            </a:endParaRPr>
          </a:p>
        </p:txBody>
      </p:sp>
      <p:sp>
        <p:nvSpPr>
          <p:cNvPr id="60426" name="Line 9"/>
          <p:cNvSpPr>
            <a:spLocks noChangeShapeType="1"/>
          </p:cNvSpPr>
          <p:nvPr/>
        </p:nvSpPr>
        <p:spPr bwMode="auto">
          <a:xfrm flipV="1">
            <a:off x="2190750" y="4381500"/>
            <a:ext cx="923925" cy="257175"/>
          </a:xfrm>
          <a:prstGeom prst="line">
            <a:avLst/>
          </a:prstGeom>
          <a:noFill/>
          <a:ln w="19050">
            <a:solidFill>
              <a:schemeClr val="accent2"/>
            </a:solidFill>
            <a:round/>
            <a:tailEnd type="triangle" w="med" len="med"/>
          </a:ln>
        </p:spPr>
        <p:txBody>
          <a:bodyPr wrap="none" anchor="ctr"/>
          <a:lstStyle/>
          <a:p>
            <a:endParaRPr lang="en-US"/>
          </a:p>
        </p:txBody>
      </p:sp>
      <p:sp>
        <p:nvSpPr>
          <p:cNvPr id="60427" name="Text Box 10"/>
          <p:cNvSpPr txBox="1">
            <a:spLocks noChangeArrowheads="1"/>
          </p:cNvSpPr>
          <p:nvPr/>
        </p:nvSpPr>
        <p:spPr bwMode="auto">
          <a:xfrm>
            <a:off x="838200" y="4360863"/>
            <a:ext cx="1406525" cy="1006475"/>
          </a:xfrm>
          <a:prstGeom prst="rect">
            <a:avLst/>
          </a:prstGeom>
          <a:noFill/>
          <a:ln w="9525">
            <a:noFill/>
            <a:miter lim="800000"/>
          </a:ln>
        </p:spPr>
        <p:txBody>
          <a:bodyPr wrap="none">
            <a:spAutoFit/>
          </a:bodyPr>
          <a:lstStyle/>
          <a:p>
            <a:pPr algn="ctr">
              <a:spcBef>
                <a:spcPct val="0"/>
              </a:spcBef>
              <a:buClrTx/>
              <a:buSzTx/>
              <a:buFontTx/>
              <a:buNone/>
            </a:pPr>
            <a:r>
              <a:rPr lang="en-US" sz="2000">
                <a:solidFill>
                  <a:schemeClr val="accent2"/>
                </a:solidFill>
              </a:rPr>
              <a:t>data, e.g., </a:t>
            </a:r>
            <a:endParaRPr lang="en-US" sz="2000">
              <a:solidFill>
                <a:schemeClr val="accent2"/>
              </a:solidFill>
            </a:endParaRPr>
          </a:p>
          <a:p>
            <a:pPr algn="ctr">
              <a:spcBef>
                <a:spcPct val="0"/>
              </a:spcBef>
              <a:buClrTx/>
              <a:buSzTx/>
              <a:buFontTx/>
              <a:buNone/>
            </a:pPr>
            <a:r>
              <a:rPr lang="en-US" sz="2000">
                <a:solidFill>
                  <a:schemeClr val="accent2"/>
                </a:solidFill>
              </a:rPr>
              <a:t>requested</a:t>
            </a:r>
            <a:endParaRPr lang="en-US" sz="2000">
              <a:solidFill>
                <a:schemeClr val="accent2"/>
              </a:solidFill>
            </a:endParaRPr>
          </a:p>
          <a:p>
            <a:pPr algn="ctr">
              <a:spcBef>
                <a:spcPct val="0"/>
              </a:spcBef>
              <a:buClrTx/>
              <a:buSzTx/>
              <a:buFontTx/>
              <a:buNone/>
            </a:pPr>
            <a:r>
              <a:rPr lang="en-US" sz="2000">
                <a:solidFill>
                  <a:schemeClr val="accent2"/>
                </a:solidFill>
              </a:rPr>
              <a:t>HTML file</a:t>
            </a:r>
            <a:endParaRPr lang="en-US">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1443" name="Slide Number Placeholder 6"/>
          <p:cNvSpPr>
            <a:spLocks noGrp="1"/>
          </p:cNvSpPr>
          <p:nvPr>
            <p:ph type="sldNum" sz="quarter" idx="12"/>
          </p:nvPr>
        </p:nvSpPr>
        <p:spPr>
          <a:noFill/>
        </p:spPr>
        <p:txBody>
          <a:bodyPr/>
          <a:lstStyle/>
          <a:p>
            <a:fld id="{185E34A4-BEC5-415D-ABA1-9F2B821E3E10}" type="slidenum">
              <a:rPr lang="en-US"/>
            </a:fld>
            <a:endParaRPr lang="en-US"/>
          </a:p>
        </p:txBody>
      </p:sp>
      <p:sp>
        <p:nvSpPr>
          <p:cNvPr id="61444" name="Rectangle 2"/>
          <p:cNvSpPr>
            <a:spLocks noGrp="1" noChangeArrowheads="1"/>
          </p:cNvSpPr>
          <p:nvPr>
            <p:ph type="title"/>
          </p:nvPr>
        </p:nvSpPr>
        <p:spPr/>
        <p:txBody>
          <a:bodyPr/>
          <a:lstStyle/>
          <a:p>
            <a:r>
              <a:rPr lang="en-US" sz="3600"/>
              <a:t>HTTP response status codes</a:t>
            </a:r>
            <a:endParaRPr lang="en-US"/>
          </a:p>
        </p:txBody>
      </p:sp>
      <p:sp>
        <p:nvSpPr>
          <p:cNvPr id="61445" name="Rectangle 3"/>
          <p:cNvSpPr>
            <a:spLocks noGrp="1" noChangeArrowheads="1"/>
          </p:cNvSpPr>
          <p:nvPr>
            <p:ph type="body" sz="half" idx="1"/>
          </p:nvPr>
        </p:nvSpPr>
        <p:spPr>
          <a:xfrm>
            <a:off x="533400" y="2314575"/>
            <a:ext cx="7934325" cy="4648200"/>
          </a:xfrm>
        </p:spPr>
        <p:txBody>
          <a:bodyPr/>
          <a:lstStyle/>
          <a:p>
            <a:pPr>
              <a:buFont typeface="ZapfDingbats" pitchFamily="82" charset="2"/>
              <a:buNone/>
            </a:pPr>
            <a:r>
              <a:rPr lang="en-US" sz="2400" b="1">
                <a:solidFill>
                  <a:srgbClr val="FF0000"/>
                </a:solidFill>
                <a:latin typeface="Courier New" panose="02070309020205020404" pitchFamily="49" charset="0"/>
              </a:rPr>
              <a:t>200 OK</a:t>
            </a:r>
            <a:endParaRPr lang="en-US" sz="2400"/>
          </a:p>
          <a:p>
            <a:pPr lvl="1"/>
            <a:r>
              <a:rPr lang="en-US" sz="2000"/>
              <a:t>request succeeded, requested object later in this message</a:t>
            </a:r>
            <a:endParaRPr lang="en-US" sz="2000"/>
          </a:p>
          <a:p>
            <a:pPr>
              <a:buFont typeface="ZapfDingbats" pitchFamily="82" charset="2"/>
              <a:buNone/>
            </a:pPr>
            <a:r>
              <a:rPr lang="en-US" sz="2400" b="1">
                <a:solidFill>
                  <a:srgbClr val="FF0000"/>
                </a:solidFill>
                <a:latin typeface="Courier New" panose="02070309020205020404" pitchFamily="49" charset="0"/>
              </a:rPr>
              <a:t>301 Moved Permanently</a:t>
            </a:r>
            <a:endParaRPr lang="en-US" sz="2400"/>
          </a:p>
          <a:p>
            <a:pPr lvl="1"/>
            <a:r>
              <a:rPr lang="en-US" sz="2000"/>
              <a:t>requested object moved, new location specified later in this message (Location:)</a:t>
            </a:r>
            <a:endParaRPr lang="en-US" sz="2000"/>
          </a:p>
          <a:p>
            <a:pPr>
              <a:buFont typeface="ZapfDingbats" pitchFamily="82" charset="2"/>
              <a:buNone/>
            </a:pPr>
            <a:r>
              <a:rPr lang="en-US" sz="2400" b="1">
                <a:solidFill>
                  <a:srgbClr val="FF0000"/>
                </a:solidFill>
                <a:latin typeface="Courier New" panose="02070309020205020404" pitchFamily="49" charset="0"/>
              </a:rPr>
              <a:t>400 Bad Request</a:t>
            </a:r>
            <a:endParaRPr lang="en-US" sz="2400"/>
          </a:p>
          <a:p>
            <a:pPr lvl="1"/>
            <a:r>
              <a:rPr lang="en-US" sz="2000"/>
              <a:t>request message not understood by server</a:t>
            </a:r>
            <a:endParaRPr lang="en-US" sz="2000"/>
          </a:p>
          <a:p>
            <a:pPr>
              <a:buFont typeface="ZapfDingbats" pitchFamily="82" charset="2"/>
              <a:buNone/>
            </a:pPr>
            <a:r>
              <a:rPr lang="en-US" sz="2400" b="1">
                <a:solidFill>
                  <a:srgbClr val="FF0000"/>
                </a:solidFill>
                <a:latin typeface="Courier New" panose="02070309020205020404" pitchFamily="49" charset="0"/>
              </a:rPr>
              <a:t>404 Not Found</a:t>
            </a:r>
            <a:endParaRPr lang="en-US" sz="2400"/>
          </a:p>
          <a:p>
            <a:pPr lvl="1"/>
            <a:r>
              <a:rPr lang="en-US" sz="2000"/>
              <a:t>requested document not found on this server</a:t>
            </a:r>
            <a:endParaRPr lang="en-US" sz="2000"/>
          </a:p>
          <a:p>
            <a:pPr>
              <a:buFont typeface="ZapfDingbats" pitchFamily="82" charset="2"/>
              <a:buNone/>
            </a:pPr>
            <a:r>
              <a:rPr lang="en-US" sz="2400" b="1">
                <a:solidFill>
                  <a:srgbClr val="FF0000"/>
                </a:solidFill>
                <a:latin typeface="Courier New" panose="02070309020205020404" pitchFamily="49" charset="0"/>
              </a:rPr>
              <a:t>505 HTTP Version Not Supported</a:t>
            </a:r>
            <a:endParaRPr lang="en-US" sz="2400"/>
          </a:p>
        </p:txBody>
      </p:sp>
      <p:sp>
        <p:nvSpPr>
          <p:cNvPr id="61446" name="Rectangle 5"/>
          <p:cNvSpPr>
            <a:spLocks noChangeArrowheads="1"/>
          </p:cNvSpPr>
          <p:nvPr/>
        </p:nvSpPr>
        <p:spPr bwMode="auto">
          <a:xfrm>
            <a:off x="523875" y="1323975"/>
            <a:ext cx="7686675" cy="514350"/>
          </a:xfrm>
          <a:prstGeom prst="rect">
            <a:avLst/>
          </a:prstGeom>
          <a:noFill/>
          <a:ln w="9525">
            <a:noFill/>
            <a:miter lim="800000"/>
          </a:ln>
        </p:spPr>
        <p:txBody>
          <a:bodyPr/>
          <a:lstStyle/>
          <a:p>
            <a:pPr marL="342900" indent="-342900"/>
            <a:r>
              <a:rPr lang="en-US"/>
              <a:t>In first line in server-&gt;client response message.</a:t>
            </a:r>
            <a:endParaRPr lang="en-US"/>
          </a:p>
          <a:p>
            <a:pPr marL="342900" indent="-342900"/>
            <a:r>
              <a:rPr lang="en-US"/>
              <a:t>A few sample codes:</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2467" name="Slide Number Placeholder 6"/>
          <p:cNvSpPr>
            <a:spLocks noGrp="1"/>
          </p:cNvSpPr>
          <p:nvPr>
            <p:ph type="sldNum" sz="quarter" idx="12"/>
          </p:nvPr>
        </p:nvSpPr>
        <p:spPr>
          <a:noFill/>
        </p:spPr>
        <p:txBody>
          <a:bodyPr/>
          <a:lstStyle/>
          <a:p>
            <a:fld id="{FA0A7B05-5231-4D2C-9DE6-40AF91E947F0}" type="slidenum">
              <a:rPr lang="en-US"/>
            </a:fld>
            <a:endParaRPr lang="en-US"/>
          </a:p>
        </p:txBody>
      </p:sp>
      <p:sp>
        <p:nvSpPr>
          <p:cNvPr id="62468" name="Rectangle 2"/>
          <p:cNvSpPr>
            <a:spLocks noGrp="1" noChangeArrowheads="1"/>
          </p:cNvSpPr>
          <p:nvPr>
            <p:ph type="title"/>
          </p:nvPr>
        </p:nvSpPr>
        <p:spPr>
          <a:xfrm>
            <a:off x="533400" y="228600"/>
            <a:ext cx="8455025" cy="1143000"/>
          </a:xfrm>
        </p:spPr>
        <p:txBody>
          <a:bodyPr/>
          <a:lstStyle/>
          <a:p>
            <a:r>
              <a:rPr lang="en-US" sz="3200"/>
              <a:t>Trying out HTTP (client side) for yourself</a:t>
            </a:r>
            <a:endParaRPr lang="en-US"/>
          </a:p>
        </p:txBody>
      </p:sp>
      <p:sp>
        <p:nvSpPr>
          <p:cNvPr id="62469" name="Rectangle 3"/>
          <p:cNvSpPr>
            <a:spLocks noGrp="1" noChangeArrowheads="1"/>
          </p:cNvSpPr>
          <p:nvPr>
            <p:ph type="body" sz="half" idx="1"/>
          </p:nvPr>
        </p:nvSpPr>
        <p:spPr>
          <a:xfrm>
            <a:off x="390525" y="1590675"/>
            <a:ext cx="8096250" cy="466725"/>
          </a:xfrm>
        </p:spPr>
        <p:txBody>
          <a:bodyPr/>
          <a:lstStyle/>
          <a:p>
            <a:pPr>
              <a:buFont typeface="ZapfDingbats" pitchFamily="82" charset="2"/>
              <a:buNone/>
            </a:pPr>
            <a:r>
              <a:rPr lang="en-US" sz="2400"/>
              <a:t>1. Telnet to your favorite Web server:</a:t>
            </a:r>
            <a:endParaRPr lang="en-US" sz="2400"/>
          </a:p>
          <a:p>
            <a:pPr lvl="2">
              <a:buFontTx/>
              <a:buNone/>
            </a:pPr>
            <a:endParaRPr lang="en-US" sz="1800"/>
          </a:p>
        </p:txBody>
      </p:sp>
      <p:sp>
        <p:nvSpPr>
          <p:cNvPr id="62470" name="Text Box 5"/>
          <p:cNvSpPr txBox="1">
            <a:spLocks noChangeArrowheads="1"/>
          </p:cNvSpPr>
          <p:nvPr/>
        </p:nvSpPr>
        <p:spPr bwMode="auto">
          <a:xfrm>
            <a:off x="3981450" y="2155825"/>
            <a:ext cx="4727575" cy="1190625"/>
          </a:xfrm>
          <a:prstGeom prst="rect">
            <a:avLst/>
          </a:prstGeom>
          <a:noFill/>
          <a:ln w="9525">
            <a:noFill/>
            <a:miter lim="800000"/>
          </a:ln>
        </p:spPr>
        <p:txBody>
          <a:bodyPr wrap="none">
            <a:spAutoFit/>
          </a:bodyPr>
          <a:lstStyle/>
          <a:p>
            <a:pPr>
              <a:spcBef>
                <a:spcPct val="0"/>
              </a:spcBef>
              <a:buClrTx/>
              <a:buSzTx/>
              <a:buFontTx/>
              <a:buNone/>
            </a:pPr>
            <a:r>
              <a:rPr lang="en-US" sz="1800"/>
              <a:t>Opens TCP connection to port 80</a:t>
            </a:r>
            <a:endParaRPr lang="en-US" sz="1800"/>
          </a:p>
          <a:p>
            <a:pPr>
              <a:spcBef>
                <a:spcPct val="0"/>
              </a:spcBef>
              <a:buClrTx/>
              <a:buSzTx/>
              <a:buFontTx/>
              <a:buNone/>
            </a:pPr>
            <a:r>
              <a:rPr lang="en-US" sz="1800"/>
              <a:t>(default HTTP server port) at cis.poly.edu.</a:t>
            </a:r>
            <a:endParaRPr lang="en-US" sz="1800"/>
          </a:p>
          <a:p>
            <a:pPr>
              <a:spcBef>
                <a:spcPct val="0"/>
              </a:spcBef>
              <a:buClrTx/>
              <a:buSzTx/>
              <a:buFontTx/>
              <a:buNone/>
            </a:pPr>
            <a:r>
              <a:rPr lang="en-US" sz="1800"/>
              <a:t>Anything typed in sent </a:t>
            </a:r>
            <a:endParaRPr lang="en-US" sz="1800"/>
          </a:p>
          <a:p>
            <a:pPr>
              <a:spcBef>
                <a:spcPct val="0"/>
              </a:spcBef>
              <a:buClrTx/>
              <a:buSzTx/>
              <a:buFontTx/>
              <a:buNone/>
            </a:pPr>
            <a:r>
              <a:rPr lang="en-US" sz="1800"/>
              <a:t>to port 80 at cis.poly.edu</a:t>
            </a:r>
            <a:endParaRPr lang="en-US">
              <a:latin typeface="Times New Roman" panose="02020603050405020304" pitchFamily="18" charset="0"/>
            </a:endParaRPr>
          </a:p>
        </p:txBody>
      </p:sp>
      <p:sp>
        <p:nvSpPr>
          <p:cNvPr id="62471" name="Text Box 6"/>
          <p:cNvSpPr txBox="1">
            <a:spLocks noChangeArrowheads="1"/>
          </p:cNvSpPr>
          <p:nvPr/>
        </p:nvSpPr>
        <p:spPr bwMode="auto">
          <a:xfrm>
            <a:off x="692150" y="2190750"/>
            <a:ext cx="3187700" cy="366713"/>
          </a:xfrm>
          <a:prstGeom prst="rect">
            <a:avLst/>
          </a:prstGeom>
          <a:noFill/>
          <a:ln w="9525">
            <a:noFill/>
            <a:miter lim="800000"/>
          </a:ln>
        </p:spPr>
        <p:txBody>
          <a:bodyPr wrap="none">
            <a:spAutoFit/>
          </a:bodyPr>
          <a:lstStyle/>
          <a:p>
            <a:pPr algn="ctr">
              <a:spcBef>
                <a:spcPct val="0"/>
              </a:spcBef>
              <a:buClrTx/>
              <a:buSzTx/>
              <a:buFontTx/>
              <a:buNone/>
            </a:pPr>
            <a:r>
              <a:rPr lang="en-US" sz="1800" b="1">
                <a:solidFill>
                  <a:srgbClr val="FF0000"/>
                </a:solidFill>
                <a:latin typeface="Courier New" panose="02070309020205020404" pitchFamily="49" charset="0"/>
              </a:rPr>
              <a:t>telnet cis.poly.edu 80</a:t>
            </a:r>
            <a:endParaRPr lang="en-US" sz="2800">
              <a:latin typeface="Arial" panose="020B0604020202020204" pitchFamily="34" charset="0"/>
            </a:endParaRPr>
          </a:p>
        </p:txBody>
      </p:sp>
      <p:sp>
        <p:nvSpPr>
          <p:cNvPr id="62472" name="Rectangle 7"/>
          <p:cNvSpPr>
            <a:spLocks noChangeArrowheads="1"/>
          </p:cNvSpPr>
          <p:nvPr/>
        </p:nvSpPr>
        <p:spPr bwMode="auto">
          <a:xfrm>
            <a:off x="361950" y="3600450"/>
            <a:ext cx="8096250" cy="466725"/>
          </a:xfrm>
          <a:prstGeom prst="rect">
            <a:avLst/>
          </a:prstGeom>
          <a:noFill/>
          <a:ln w="9525">
            <a:noFill/>
            <a:miter lim="800000"/>
          </a:ln>
        </p:spPr>
        <p:txBody>
          <a:bodyPr/>
          <a:lstStyle/>
          <a:p>
            <a:pPr marL="342900" indent="-342900"/>
            <a:r>
              <a:rPr lang="en-US"/>
              <a:t>2. Type in a GET HTTP request:</a:t>
            </a:r>
            <a:endParaRPr lang="en-US"/>
          </a:p>
          <a:p>
            <a:pPr marL="1143000" lvl="2" indent="-228600">
              <a:buClrTx/>
              <a:buSzTx/>
              <a:buFontTx/>
              <a:buNone/>
            </a:pPr>
            <a:endParaRPr lang="en-US" sz="1800"/>
          </a:p>
        </p:txBody>
      </p:sp>
      <p:sp>
        <p:nvSpPr>
          <p:cNvPr id="62473" name="Text Box 8"/>
          <p:cNvSpPr txBox="1">
            <a:spLocks noChangeArrowheads="1"/>
          </p:cNvSpPr>
          <p:nvPr/>
        </p:nvSpPr>
        <p:spPr bwMode="auto">
          <a:xfrm>
            <a:off x="1382713" y="4184650"/>
            <a:ext cx="2914650" cy="641350"/>
          </a:xfrm>
          <a:prstGeom prst="rect">
            <a:avLst/>
          </a:prstGeom>
          <a:noFill/>
          <a:ln w="9525">
            <a:noFill/>
            <a:miter lim="800000"/>
          </a:ln>
        </p:spPr>
        <p:txBody>
          <a:bodyPr wrap="none">
            <a:spAutoFit/>
          </a:bodyPr>
          <a:lstStyle/>
          <a:p>
            <a:pPr>
              <a:spcBef>
                <a:spcPct val="0"/>
              </a:spcBef>
              <a:buClrTx/>
              <a:buSzTx/>
              <a:buFontTx/>
              <a:buNone/>
            </a:pPr>
            <a:r>
              <a:rPr lang="en-US" sz="1800" b="1">
                <a:solidFill>
                  <a:srgbClr val="FF0000"/>
                </a:solidFill>
                <a:latin typeface="Courier New" panose="02070309020205020404" pitchFamily="49" charset="0"/>
              </a:rPr>
              <a:t>GET /~ross/ HTTP/1.1</a:t>
            </a:r>
            <a:endParaRPr lang="en-US" sz="1800" b="1">
              <a:solidFill>
                <a:srgbClr val="FF0000"/>
              </a:solidFill>
              <a:latin typeface="Courier New" panose="02070309020205020404" pitchFamily="49" charset="0"/>
            </a:endParaRPr>
          </a:p>
          <a:p>
            <a:pPr>
              <a:spcBef>
                <a:spcPct val="0"/>
              </a:spcBef>
              <a:buClrTx/>
              <a:buSzTx/>
              <a:buFontTx/>
              <a:buNone/>
            </a:pPr>
            <a:r>
              <a:rPr lang="en-US" sz="1800" b="1">
                <a:solidFill>
                  <a:srgbClr val="FF0000"/>
                </a:solidFill>
                <a:latin typeface="Courier New" panose="02070309020205020404" pitchFamily="49" charset="0"/>
              </a:rPr>
              <a:t>Host: cis.poly.edu</a:t>
            </a:r>
            <a:endParaRPr lang="en-US" sz="1800">
              <a:latin typeface="Courier New" panose="02070309020205020404" pitchFamily="49" charset="0"/>
            </a:endParaRPr>
          </a:p>
        </p:txBody>
      </p:sp>
      <p:sp>
        <p:nvSpPr>
          <p:cNvPr id="62474" name="Text Box 11"/>
          <p:cNvSpPr txBox="1">
            <a:spLocks noChangeArrowheads="1"/>
          </p:cNvSpPr>
          <p:nvPr/>
        </p:nvSpPr>
        <p:spPr bwMode="auto">
          <a:xfrm>
            <a:off x="4848225" y="4098925"/>
            <a:ext cx="3306763" cy="1190625"/>
          </a:xfrm>
          <a:prstGeom prst="rect">
            <a:avLst/>
          </a:prstGeom>
          <a:noFill/>
          <a:ln w="9525">
            <a:noFill/>
            <a:miter lim="800000"/>
          </a:ln>
        </p:spPr>
        <p:txBody>
          <a:bodyPr wrap="none">
            <a:spAutoFit/>
          </a:bodyPr>
          <a:lstStyle/>
          <a:p>
            <a:pPr>
              <a:spcBef>
                <a:spcPct val="0"/>
              </a:spcBef>
              <a:buClrTx/>
              <a:buSzTx/>
              <a:buFontTx/>
              <a:buNone/>
            </a:pPr>
            <a:r>
              <a:rPr lang="en-US" sz="1800"/>
              <a:t>By typing this in (hit carriage</a:t>
            </a:r>
            <a:endParaRPr lang="en-US" sz="1800"/>
          </a:p>
          <a:p>
            <a:pPr>
              <a:spcBef>
                <a:spcPct val="0"/>
              </a:spcBef>
              <a:buClrTx/>
              <a:buSzTx/>
              <a:buFontTx/>
              <a:buNone/>
            </a:pPr>
            <a:r>
              <a:rPr lang="en-US" sz="1800"/>
              <a:t>return twice), you send</a:t>
            </a:r>
            <a:endParaRPr lang="en-US" sz="1800"/>
          </a:p>
          <a:p>
            <a:pPr>
              <a:spcBef>
                <a:spcPct val="0"/>
              </a:spcBef>
              <a:buClrTx/>
              <a:buSzTx/>
              <a:buFontTx/>
              <a:buNone/>
            </a:pPr>
            <a:r>
              <a:rPr lang="en-US" sz="1800"/>
              <a:t>this minimal (but complete) </a:t>
            </a:r>
            <a:endParaRPr lang="en-US" sz="1800"/>
          </a:p>
          <a:p>
            <a:pPr>
              <a:spcBef>
                <a:spcPct val="0"/>
              </a:spcBef>
              <a:buClrTx/>
              <a:buSzTx/>
              <a:buFontTx/>
              <a:buNone/>
            </a:pPr>
            <a:r>
              <a:rPr lang="en-US" sz="1800"/>
              <a:t>GET request to HTTP server</a:t>
            </a:r>
            <a:endParaRPr lang="en-US">
              <a:latin typeface="Times New Roman" panose="02020603050405020304" pitchFamily="18" charset="0"/>
            </a:endParaRPr>
          </a:p>
        </p:txBody>
      </p:sp>
      <p:sp>
        <p:nvSpPr>
          <p:cNvPr id="62475" name="Freeform 12"/>
          <p:cNvSpPr/>
          <p:nvPr/>
        </p:nvSpPr>
        <p:spPr bwMode="auto">
          <a:xfrm>
            <a:off x="4029075" y="2162175"/>
            <a:ext cx="247650" cy="1181100"/>
          </a:xfrm>
          <a:custGeom>
            <a:avLst/>
            <a:gdLst>
              <a:gd name="T0" fmla="*/ 132 w 162"/>
              <a:gd name="T1" fmla="*/ 9 h 1428"/>
              <a:gd name="T2" fmla="*/ 0 w 162"/>
              <a:gd name="T3" fmla="*/ 0 h 1428"/>
              <a:gd name="T4" fmla="*/ 0 w 162"/>
              <a:gd name="T5" fmla="*/ 1428 h 1428"/>
              <a:gd name="T6" fmla="*/ 162 w 162"/>
              <a:gd name="T7" fmla="*/ 1425 h 1428"/>
              <a:gd name="T8" fmla="*/ 0 60000 65536"/>
              <a:gd name="T9" fmla="*/ 0 60000 65536"/>
              <a:gd name="T10" fmla="*/ 0 60000 65536"/>
              <a:gd name="T11" fmla="*/ 0 60000 65536"/>
              <a:gd name="T12" fmla="*/ 0 w 162"/>
              <a:gd name="T13" fmla="*/ 0 h 1428"/>
              <a:gd name="T14" fmla="*/ 162 w 162"/>
              <a:gd name="T15" fmla="*/ 1428 h 1428"/>
            </a:gdLst>
            <a:ahLst/>
            <a:cxnLst>
              <a:cxn ang="T8">
                <a:pos x="T0" y="T1"/>
              </a:cxn>
              <a:cxn ang="T9">
                <a:pos x="T2" y="T3"/>
              </a:cxn>
              <a:cxn ang="T10">
                <a:pos x="T4" y="T5"/>
              </a:cxn>
              <a:cxn ang="T11">
                <a:pos x="T6" y="T7"/>
              </a:cxn>
            </a:cxnLst>
            <a:rect l="T12" t="T13" r="T14" b="T15"/>
            <a:pathLst>
              <a:path w="162" h="1428">
                <a:moveTo>
                  <a:pt x="132" y="9"/>
                </a:moveTo>
                <a:lnTo>
                  <a:pt x="0" y="0"/>
                </a:lnTo>
                <a:lnTo>
                  <a:pt x="0" y="1428"/>
                </a:lnTo>
                <a:lnTo>
                  <a:pt x="162" y="1425"/>
                </a:lnTo>
              </a:path>
            </a:pathLst>
          </a:custGeom>
          <a:noFill/>
          <a:ln w="19050">
            <a:solidFill>
              <a:schemeClr val="accent2"/>
            </a:solidFill>
            <a:round/>
          </a:ln>
        </p:spPr>
        <p:txBody>
          <a:bodyPr wrap="none" anchor="ctr"/>
          <a:lstStyle/>
          <a:p>
            <a:endParaRPr lang="en-US"/>
          </a:p>
        </p:txBody>
      </p:sp>
      <p:sp>
        <p:nvSpPr>
          <p:cNvPr id="62476" name="Freeform 13"/>
          <p:cNvSpPr/>
          <p:nvPr/>
        </p:nvSpPr>
        <p:spPr bwMode="auto">
          <a:xfrm>
            <a:off x="4829175" y="4067175"/>
            <a:ext cx="257175" cy="1190625"/>
          </a:xfrm>
          <a:custGeom>
            <a:avLst/>
            <a:gdLst>
              <a:gd name="T0" fmla="*/ 132 w 162"/>
              <a:gd name="T1" fmla="*/ 9 h 1428"/>
              <a:gd name="T2" fmla="*/ 0 w 162"/>
              <a:gd name="T3" fmla="*/ 0 h 1428"/>
              <a:gd name="T4" fmla="*/ 0 w 162"/>
              <a:gd name="T5" fmla="*/ 1428 h 1428"/>
              <a:gd name="T6" fmla="*/ 162 w 162"/>
              <a:gd name="T7" fmla="*/ 1425 h 1428"/>
              <a:gd name="T8" fmla="*/ 0 60000 65536"/>
              <a:gd name="T9" fmla="*/ 0 60000 65536"/>
              <a:gd name="T10" fmla="*/ 0 60000 65536"/>
              <a:gd name="T11" fmla="*/ 0 60000 65536"/>
              <a:gd name="T12" fmla="*/ 0 w 162"/>
              <a:gd name="T13" fmla="*/ 0 h 1428"/>
              <a:gd name="T14" fmla="*/ 162 w 162"/>
              <a:gd name="T15" fmla="*/ 1428 h 1428"/>
            </a:gdLst>
            <a:ahLst/>
            <a:cxnLst>
              <a:cxn ang="T8">
                <a:pos x="T0" y="T1"/>
              </a:cxn>
              <a:cxn ang="T9">
                <a:pos x="T2" y="T3"/>
              </a:cxn>
              <a:cxn ang="T10">
                <a:pos x="T4" y="T5"/>
              </a:cxn>
              <a:cxn ang="T11">
                <a:pos x="T6" y="T7"/>
              </a:cxn>
            </a:cxnLst>
            <a:rect l="T12" t="T13" r="T14" b="T15"/>
            <a:pathLst>
              <a:path w="162" h="1428">
                <a:moveTo>
                  <a:pt x="132" y="9"/>
                </a:moveTo>
                <a:lnTo>
                  <a:pt x="0" y="0"/>
                </a:lnTo>
                <a:lnTo>
                  <a:pt x="0" y="1428"/>
                </a:lnTo>
                <a:lnTo>
                  <a:pt x="162" y="1425"/>
                </a:lnTo>
              </a:path>
            </a:pathLst>
          </a:custGeom>
          <a:noFill/>
          <a:ln w="19050">
            <a:solidFill>
              <a:schemeClr val="accent2"/>
            </a:solidFill>
            <a:round/>
          </a:ln>
        </p:spPr>
        <p:txBody>
          <a:bodyPr wrap="none" anchor="ctr"/>
          <a:lstStyle/>
          <a:p>
            <a:endParaRPr lang="en-US"/>
          </a:p>
        </p:txBody>
      </p:sp>
      <p:sp>
        <p:nvSpPr>
          <p:cNvPr id="62477" name="Rectangle 14"/>
          <p:cNvSpPr>
            <a:spLocks noChangeArrowheads="1"/>
          </p:cNvSpPr>
          <p:nvPr/>
        </p:nvSpPr>
        <p:spPr bwMode="auto">
          <a:xfrm>
            <a:off x="361950" y="5429250"/>
            <a:ext cx="8096250" cy="466725"/>
          </a:xfrm>
          <a:prstGeom prst="rect">
            <a:avLst/>
          </a:prstGeom>
          <a:noFill/>
          <a:ln w="9525">
            <a:noFill/>
            <a:miter lim="800000"/>
          </a:ln>
        </p:spPr>
        <p:txBody>
          <a:bodyPr/>
          <a:lstStyle/>
          <a:p>
            <a:pPr marL="342900" indent="-342900"/>
            <a:r>
              <a:rPr lang="en-US"/>
              <a:t>3. Look at response message sent by HTTP server!</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pPr>
              <a:defRPr/>
            </a:pPr>
            <a:r>
              <a:rPr lang="en-US"/>
              <a:t>2: Application Layer</a:t>
            </a:r>
            <a:endParaRPr lang="en-US">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a:defRPr/>
            </a:pPr>
            <a:fld id="{760F9CF3-966A-41EF-A656-E483F0936DE1}" type="slidenum">
              <a:rPr lang="en-US" smtClean="0"/>
            </a:fld>
            <a:endParaRPr lang="en-US"/>
          </a:p>
        </p:txBody>
      </p:sp>
      <p:pic>
        <p:nvPicPr>
          <p:cNvPr id="8" name="图片 7"/>
          <p:cNvPicPr>
            <a:picLocks noChangeAspect="1"/>
          </p:cNvPicPr>
          <p:nvPr/>
        </p:nvPicPr>
        <p:blipFill>
          <a:blip r:embed="rId1"/>
          <a:stretch>
            <a:fillRect/>
          </a:stretch>
        </p:blipFill>
        <p:spPr>
          <a:xfrm>
            <a:off x="984659" y="-450065"/>
            <a:ext cx="7174682" cy="1058306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3491" name="Slide Number Placeholder 6"/>
          <p:cNvSpPr>
            <a:spLocks noGrp="1"/>
          </p:cNvSpPr>
          <p:nvPr>
            <p:ph type="sldNum" sz="quarter" idx="12"/>
          </p:nvPr>
        </p:nvSpPr>
        <p:spPr>
          <a:noFill/>
        </p:spPr>
        <p:txBody>
          <a:bodyPr/>
          <a:lstStyle/>
          <a:p>
            <a:fld id="{9D3D07D4-C864-45D0-8B72-BC7C9F3C87D0}" type="slidenum">
              <a:rPr lang="en-US"/>
            </a:fld>
            <a:endParaRPr lang="en-US"/>
          </a:p>
        </p:txBody>
      </p:sp>
      <p:sp>
        <p:nvSpPr>
          <p:cNvPr id="63492" name="Rectangle 2"/>
          <p:cNvSpPr>
            <a:spLocks noGrp="1" noChangeArrowheads="1"/>
          </p:cNvSpPr>
          <p:nvPr>
            <p:ph type="title"/>
          </p:nvPr>
        </p:nvSpPr>
        <p:spPr/>
        <p:txBody>
          <a:bodyPr/>
          <a:lstStyle/>
          <a:p>
            <a:r>
              <a:rPr lang="en-US"/>
              <a:t>User-server state: cookies</a:t>
            </a:r>
            <a:endParaRPr lang="en-US"/>
          </a:p>
        </p:txBody>
      </p:sp>
      <p:sp>
        <p:nvSpPr>
          <p:cNvPr id="63493" name="Rectangle 3"/>
          <p:cNvSpPr>
            <a:spLocks noGrp="1" noChangeArrowheads="1"/>
          </p:cNvSpPr>
          <p:nvPr>
            <p:ph type="body" sz="half" idx="1"/>
          </p:nvPr>
        </p:nvSpPr>
        <p:spPr/>
        <p:txBody>
          <a:bodyPr/>
          <a:lstStyle/>
          <a:p>
            <a:pPr>
              <a:lnSpc>
                <a:spcPct val="90000"/>
              </a:lnSpc>
              <a:buFont typeface="ZapfDingbats" pitchFamily="82" charset="2"/>
              <a:buNone/>
            </a:pPr>
            <a:r>
              <a:rPr lang="en-US" sz="2400"/>
              <a:t>Many major Web sites use cookies</a:t>
            </a:r>
            <a:endParaRPr lang="en-US" sz="2400"/>
          </a:p>
          <a:p>
            <a:pPr>
              <a:lnSpc>
                <a:spcPct val="90000"/>
              </a:lnSpc>
              <a:buFont typeface="ZapfDingbats" pitchFamily="82" charset="2"/>
              <a:buNone/>
            </a:pPr>
            <a:r>
              <a:rPr lang="en-US" sz="2400" u="sng">
                <a:solidFill>
                  <a:srgbClr val="FF0000"/>
                </a:solidFill>
              </a:rPr>
              <a:t>Four components:</a:t>
            </a:r>
            <a:endParaRPr lang="en-US" sz="2400">
              <a:solidFill>
                <a:srgbClr val="FF0000"/>
              </a:solidFill>
            </a:endParaRPr>
          </a:p>
          <a:p>
            <a:pPr lvl="1">
              <a:lnSpc>
                <a:spcPct val="90000"/>
              </a:lnSpc>
              <a:buFont typeface="Wingdings" panose="05000000000000000000" pitchFamily="2" charset="2"/>
              <a:buNone/>
            </a:pPr>
            <a:r>
              <a:rPr lang="en-US" sz="2000"/>
              <a:t>1) cookie header line of HTTP </a:t>
            </a:r>
            <a:r>
              <a:rPr lang="en-US" sz="2000" i="1"/>
              <a:t>response</a:t>
            </a:r>
            <a:r>
              <a:rPr lang="en-US" sz="2000"/>
              <a:t> message</a:t>
            </a:r>
            <a:endParaRPr lang="en-US" sz="2000"/>
          </a:p>
          <a:p>
            <a:pPr lvl="1">
              <a:lnSpc>
                <a:spcPct val="90000"/>
              </a:lnSpc>
              <a:buFont typeface="Wingdings" panose="05000000000000000000" pitchFamily="2" charset="2"/>
              <a:buNone/>
            </a:pPr>
            <a:r>
              <a:rPr lang="en-US" sz="2000"/>
              <a:t>2) cookie header line in HTTP </a:t>
            </a:r>
            <a:r>
              <a:rPr lang="en-US" sz="2000" i="1"/>
              <a:t>request</a:t>
            </a:r>
            <a:r>
              <a:rPr lang="en-US" sz="2000"/>
              <a:t> message</a:t>
            </a:r>
            <a:endParaRPr lang="en-US" sz="2000"/>
          </a:p>
          <a:p>
            <a:pPr lvl="1">
              <a:lnSpc>
                <a:spcPct val="90000"/>
              </a:lnSpc>
              <a:buFont typeface="Wingdings" panose="05000000000000000000" pitchFamily="2" charset="2"/>
              <a:buNone/>
            </a:pPr>
            <a:r>
              <a:rPr lang="en-US" sz="2000"/>
              <a:t>3) cookie file kept on user’s host, managed by user’s browser</a:t>
            </a:r>
            <a:endParaRPr lang="en-US" sz="2000"/>
          </a:p>
          <a:p>
            <a:pPr lvl="1">
              <a:lnSpc>
                <a:spcPct val="90000"/>
              </a:lnSpc>
              <a:buFont typeface="Wingdings" panose="05000000000000000000" pitchFamily="2" charset="2"/>
              <a:buNone/>
            </a:pPr>
            <a:r>
              <a:rPr lang="en-US" sz="2000"/>
              <a:t>4) back-end database at Web site</a:t>
            </a:r>
            <a:endParaRPr lang="en-US" sz="2000"/>
          </a:p>
        </p:txBody>
      </p:sp>
      <p:sp>
        <p:nvSpPr>
          <p:cNvPr id="63494" name="Rectangle 4"/>
          <p:cNvSpPr>
            <a:spLocks noGrp="1" noChangeArrowheads="1"/>
          </p:cNvSpPr>
          <p:nvPr>
            <p:ph type="body" sz="half" idx="2"/>
          </p:nvPr>
        </p:nvSpPr>
        <p:spPr>
          <a:xfrm>
            <a:off x="4425950" y="1392238"/>
            <a:ext cx="4059238" cy="4648200"/>
          </a:xfrm>
        </p:spPr>
        <p:txBody>
          <a:bodyPr/>
          <a:lstStyle/>
          <a:p>
            <a:pPr>
              <a:buFont typeface="ZapfDingbats" pitchFamily="82" charset="2"/>
              <a:buNone/>
            </a:pPr>
            <a:r>
              <a:rPr lang="en-US" sz="2400" u="sng">
                <a:solidFill>
                  <a:srgbClr val="FF0000"/>
                </a:solidFill>
              </a:rPr>
              <a:t>Example:</a:t>
            </a:r>
            <a:endParaRPr lang="en-US" sz="2400" u="sng">
              <a:solidFill>
                <a:srgbClr val="FF0000"/>
              </a:solidFill>
            </a:endParaRPr>
          </a:p>
          <a:p>
            <a:r>
              <a:rPr lang="en-US" sz="2400"/>
              <a:t>Susan always access Internet always from PC</a:t>
            </a:r>
            <a:endParaRPr lang="en-US" sz="2400"/>
          </a:p>
          <a:p>
            <a:r>
              <a:rPr lang="en-US" sz="2400"/>
              <a:t>visits specific e-commerce site for first time</a:t>
            </a:r>
            <a:endParaRPr lang="en-US" sz="2400"/>
          </a:p>
          <a:p>
            <a:r>
              <a:rPr lang="en-US" sz="2400"/>
              <a:t>when initial HTTP requests arrives at site, site creates: </a:t>
            </a:r>
            <a:endParaRPr lang="en-US" sz="2400"/>
          </a:p>
          <a:p>
            <a:pPr lvl="1"/>
            <a:r>
              <a:rPr lang="en-US"/>
              <a:t>unique ID</a:t>
            </a:r>
            <a:endParaRPr lang="en-US"/>
          </a:p>
          <a:p>
            <a:pPr lvl="1"/>
            <a:r>
              <a:rPr lang="en-US"/>
              <a:t>entry in backend database for ID</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4515" name="Slide Number Placeholder 6"/>
          <p:cNvSpPr>
            <a:spLocks noGrp="1"/>
          </p:cNvSpPr>
          <p:nvPr>
            <p:ph type="sldNum" sz="quarter" idx="12"/>
          </p:nvPr>
        </p:nvSpPr>
        <p:spPr>
          <a:noFill/>
        </p:spPr>
        <p:txBody>
          <a:bodyPr/>
          <a:lstStyle/>
          <a:p>
            <a:fld id="{AF3F08A7-0849-483E-88BE-9B978629557D}" type="slidenum">
              <a:rPr lang="en-US"/>
            </a:fld>
            <a:endParaRPr lang="en-US"/>
          </a:p>
        </p:txBody>
      </p:sp>
      <p:sp>
        <p:nvSpPr>
          <p:cNvPr id="64516" name="Rectangle 2"/>
          <p:cNvSpPr>
            <a:spLocks noGrp="1" noChangeArrowheads="1"/>
          </p:cNvSpPr>
          <p:nvPr>
            <p:ph type="title"/>
          </p:nvPr>
        </p:nvSpPr>
        <p:spPr>
          <a:xfrm>
            <a:off x="520700" y="128588"/>
            <a:ext cx="7772400" cy="1143000"/>
          </a:xfrm>
        </p:spPr>
        <p:txBody>
          <a:bodyPr/>
          <a:lstStyle/>
          <a:p>
            <a:r>
              <a:rPr lang="en-US" sz="3200"/>
              <a:t>Cookies: keeping “state” (cont.)</a:t>
            </a:r>
            <a:endParaRPr lang="en-US"/>
          </a:p>
        </p:txBody>
      </p:sp>
      <p:sp>
        <p:nvSpPr>
          <p:cNvPr id="64517" name="Text Box 5"/>
          <p:cNvSpPr txBox="1">
            <a:spLocks noChangeArrowheads="1"/>
          </p:cNvSpPr>
          <p:nvPr/>
        </p:nvSpPr>
        <p:spPr bwMode="auto">
          <a:xfrm>
            <a:off x="952500" y="1138238"/>
            <a:ext cx="981075" cy="457200"/>
          </a:xfrm>
          <a:prstGeom prst="rect">
            <a:avLst/>
          </a:prstGeom>
          <a:noFill/>
          <a:ln w="9525">
            <a:noFill/>
            <a:miter lim="800000"/>
          </a:ln>
        </p:spPr>
        <p:txBody>
          <a:bodyPr wrap="none">
            <a:spAutoFit/>
          </a:bodyPr>
          <a:lstStyle/>
          <a:p>
            <a:pPr algn="ctr">
              <a:spcBef>
                <a:spcPct val="0"/>
              </a:spcBef>
              <a:buClrTx/>
              <a:buSzTx/>
              <a:buFontTx/>
              <a:buNone/>
            </a:pPr>
            <a:r>
              <a:rPr lang="en-US" u="sng"/>
              <a:t>client</a:t>
            </a:r>
            <a:endParaRPr lang="en-US">
              <a:latin typeface="Times New Roman" panose="02020603050405020304" pitchFamily="18" charset="0"/>
            </a:endParaRPr>
          </a:p>
        </p:txBody>
      </p:sp>
      <p:sp>
        <p:nvSpPr>
          <p:cNvPr id="64518" name="Text Box 6"/>
          <p:cNvSpPr txBox="1">
            <a:spLocks noChangeArrowheads="1"/>
          </p:cNvSpPr>
          <p:nvPr/>
        </p:nvSpPr>
        <p:spPr bwMode="auto">
          <a:xfrm>
            <a:off x="5394325" y="1282700"/>
            <a:ext cx="1104900" cy="457200"/>
          </a:xfrm>
          <a:prstGeom prst="rect">
            <a:avLst/>
          </a:prstGeom>
          <a:noFill/>
          <a:ln w="9525">
            <a:noFill/>
            <a:miter lim="800000"/>
          </a:ln>
        </p:spPr>
        <p:txBody>
          <a:bodyPr wrap="none">
            <a:spAutoFit/>
          </a:bodyPr>
          <a:lstStyle/>
          <a:p>
            <a:pPr algn="ctr">
              <a:spcBef>
                <a:spcPct val="0"/>
              </a:spcBef>
              <a:buClrTx/>
              <a:buSzTx/>
              <a:buFontTx/>
              <a:buNone/>
            </a:pPr>
            <a:r>
              <a:rPr lang="en-US" u="sng"/>
              <a:t>server</a:t>
            </a:r>
            <a:endParaRPr lang="en-US">
              <a:latin typeface="Times New Roman" panose="02020603050405020304" pitchFamily="18" charset="0"/>
            </a:endParaRPr>
          </a:p>
        </p:txBody>
      </p:sp>
      <p:grpSp>
        <p:nvGrpSpPr>
          <p:cNvPr id="2" name="Group 90"/>
          <p:cNvGrpSpPr/>
          <p:nvPr/>
        </p:nvGrpSpPr>
        <p:grpSpPr bwMode="auto">
          <a:xfrm>
            <a:off x="2200275" y="4227513"/>
            <a:ext cx="3305175" cy="425450"/>
            <a:chOff x="1386" y="2663"/>
            <a:chExt cx="2082" cy="268"/>
          </a:xfrm>
        </p:grpSpPr>
        <p:sp>
          <p:nvSpPr>
            <p:cNvPr id="64563" name="Line 16"/>
            <p:cNvSpPr>
              <a:spLocks noChangeShapeType="1"/>
            </p:cNvSpPr>
            <p:nvPr/>
          </p:nvSpPr>
          <p:spPr bwMode="auto">
            <a:xfrm flipH="1">
              <a:off x="1386" y="2663"/>
              <a:ext cx="2082" cy="240"/>
            </a:xfrm>
            <a:prstGeom prst="line">
              <a:avLst/>
            </a:prstGeom>
            <a:noFill/>
            <a:ln w="19050">
              <a:solidFill>
                <a:schemeClr val="tx1"/>
              </a:solidFill>
              <a:round/>
              <a:tailEnd type="triangle" w="med" len="med"/>
            </a:ln>
          </p:spPr>
          <p:txBody>
            <a:bodyPr wrap="none" anchor="ctr"/>
            <a:lstStyle/>
            <a:p>
              <a:endParaRPr lang="en-US"/>
            </a:p>
          </p:txBody>
        </p:sp>
        <p:grpSp>
          <p:nvGrpSpPr>
            <p:cNvPr id="64564" name="Group 17"/>
            <p:cNvGrpSpPr/>
            <p:nvPr/>
          </p:nvGrpSpPr>
          <p:grpSpPr bwMode="auto">
            <a:xfrm>
              <a:off x="1553" y="2694"/>
              <a:ext cx="1743" cy="237"/>
              <a:chOff x="3268" y="2846"/>
              <a:chExt cx="1743" cy="237"/>
            </a:xfrm>
          </p:grpSpPr>
          <p:sp>
            <p:nvSpPr>
              <p:cNvPr id="64565" name="Rectangle 18"/>
              <p:cNvSpPr>
                <a:spLocks noChangeArrowheads="1"/>
              </p:cNvSpPr>
              <p:nvPr/>
            </p:nvSpPr>
            <p:spPr bwMode="auto">
              <a:xfrm>
                <a:off x="3282" y="2856"/>
                <a:ext cx="1692" cy="198"/>
              </a:xfrm>
              <a:prstGeom prst="rect">
                <a:avLst/>
              </a:prstGeom>
              <a:solidFill>
                <a:schemeClr val="bg1"/>
              </a:solidFill>
              <a:ln w="9525">
                <a:solidFill>
                  <a:schemeClr val="tx1"/>
                </a:solidFill>
                <a:miter lim="800000"/>
              </a:ln>
            </p:spPr>
            <p:txBody>
              <a:bodyPr wrap="none" anchor="ctr"/>
              <a:lstStyle/>
              <a:p>
                <a:endParaRPr lang="en-US"/>
              </a:p>
            </p:txBody>
          </p:sp>
          <p:sp>
            <p:nvSpPr>
              <p:cNvPr id="64566" name="Text Box 19"/>
              <p:cNvSpPr txBox="1">
                <a:spLocks noChangeArrowheads="1"/>
              </p:cNvSpPr>
              <p:nvPr/>
            </p:nvSpPr>
            <p:spPr bwMode="auto">
              <a:xfrm>
                <a:off x="3268" y="2846"/>
                <a:ext cx="1743" cy="237"/>
              </a:xfrm>
              <a:prstGeom prst="rect">
                <a:avLst/>
              </a:prstGeom>
              <a:solidFill>
                <a:schemeClr val="bg1"/>
              </a:solidFill>
              <a:ln w="9525">
                <a:solidFill>
                  <a:schemeClr val="tx1"/>
                </a:solidFill>
                <a:miter lim="800000"/>
              </a:ln>
            </p:spPr>
            <p:txBody>
              <a:bodyPr>
                <a:spAutoFit/>
              </a:bodyPr>
              <a:lstStyle/>
              <a:p>
                <a:pPr algn="ctr">
                  <a:spcBef>
                    <a:spcPct val="0"/>
                  </a:spcBef>
                  <a:buClrTx/>
                  <a:buSzTx/>
                  <a:buFontTx/>
                  <a:buNone/>
                </a:pPr>
                <a:r>
                  <a:rPr lang="en-US" sz="1800"/>
                  <a:t>usual http response msg</a:t>
                </a:r>
                <a:endParaRPr lang="en-US">
                  <a:latin typeface="Times New Roman" panose="02020603050405020304" pitchFamily="18" charset="0"/>
                </a:endParaRPr>
              </a:p>
            </p:txBody>
          </p:sp>
        </p:grpSp>
      </p:grpSp>
      <p:grpSp>
        <p:nvGrpSpPr>
          <p:cNvPr id="4" name="Group 94"/>
          <p:cNvGrpSpPr/>
          <p:nvPr/>
        </p:nvGrpSpPr>
        <p:grpSpPr bwMode="auto">
          <a:xfrm>
            <a:off x="2209800" y="5722938"/>
            <a:ext cx="3305175" cy="407987"/>
            <a:chOff x="1392" y="3605"/>
            <a:chExt cx="2082" cy="257"/>
          </a:xfrm>
        </p:grpSpPr>
        <p:sp>
          <p:nvSpPr>
            <p:cNvPr id="64559" name="Line 24"/>
            <p:cNvSpPr>
              <a:spLocks noChangeShapeType="1"/>
            </p:cNvSpPr>
            <p:nvPr/>
          </p:nvSpPr>
          <p:spPr bwMode="auto">
            <a:xfrm flipH="1">
              <a:off x="1392" y="3605"/>
              <a:ext cx="2082" cy="240"/>
            </a:xfrm>
            <a:prstGeom prst="line">
              <a:avLst/>
            </a:prstGeom>
            <a:noFill/>
            <a:ln w="19050">
              <a:solidFill>
                <a:schemeClr val="tx1"/>
              </a:solidFill>
              <a:round/>
              <a:tailEnd type="triangle" w="med" len="med"/>
            </a:ln>
          </p:spPr>
          <p:txBody>
            <a:bodyPr wrap="none" anchor="ctr"/>
            <a:lstStyle/>
            <a:p>
              <a:endParaRPr lang="en-US"/>
            </a:p>
          </p:txBody>
        </p:sp>
        <p:grpSp>
          <p:nvGrpSpPr>
            <p:cNvPr id="64560" name="Group 25"/>
            <p:cNvGrpSpPr/>
            <p:nvPr/>
          </p:nvGrpSpPr>
          <p:grpSpPr bwMode="auto">
            <a:xfrm>
              <a:off x="1552" y="3625"/>
              <a:ext cx="1743" cy="237"/>
              <a:chOff x="3268" y="2846"/>
              <a:chExt cx="1743" cy="237"/>
            </a:xfrm>
          </p:grpSpPr>
          <p:sp>
            <p:nvSpPr>
              <p:cNvPr id="64561" name="Rectangle 26"/>
              <p:cNvSpPr>
                <a:spLocks noChangeArrowheads="1"/>
              </p:cNvSpPr>
              <p:nvPr/>
            </p:nvSpPr>
            <p:spPr bwMode="auto">
              <a:xfrm>
                <a:off x="3282" y="2856"/>
                <a:ext cx="1692" cy="198"/>
              </a:xfrm>
              <a:prstGeom prst="rect">
                <a:avLst/>
              </a:prstGeom>
              <a:solidFill>
                <a:schemeClr val="bg1"/>
              </a:solidFill>
              <a:ln w="9525">
                <a:solidFill>
                  <a:schemeClr val="tx1"/>
                </a:solidFill>
                <a:miter lim="800000"/>
              </a:ln>
            </p:spPr>
            <p:txBody>
              <a:bodyPr wrap="none" anchor="ctr"/>
              <a:lstStyle/>
              <a:p>
                <a:endParaRPr lang="en-US"/>
              </a:p>
            </p:txBody>
          </p:sp>
          <p:sp>
            <p:nvSpPr>
              <p:cNvPr id="64562" name="Text Box 27"/>
              <p:cNvSpPr txBox="1">
                <a:spLocks noChangeArrowheads="1"/>
              </p:cNvSpPr>
              <p:nvPr/>
            </p:nvSpPr>
            <p:spPr bwMode="auto">
              <a:xfrm>
                <a:off x="3268" y="2846"/>
                <a:ext cx="1743" cy="237"/>
              </a:xfrm>
              <a:prstGeom prst="rect">
                <a:avLst/>
              </a:prstGeom>
              <a:solidFill>
                <a:schemeClr val="bg1"/>
              </a:solidFill>
              <a:ln w="9525">
                <a:solidFill>
                  <a:schemeClr val="tx1"/>
                </a:solidFill>
                <a:miter lim="800000"/>
              </a:ln>
            </p:spPr>
            <p:txBody>
              <a:bodyPr>
                <a:spAutoFit/>
              </a:bodyPr>
              <a:lstStyle/>
              <a:p>
                <a:pPr algn="ctr">
                  <a:spcBef>
                    <a:spcPct val="0"/>
                  </a:spcBef>
                  <a:buClrTx/>
                  <a:buSzTx/>
                  <a:buFontTx/>
                  <a:buNone/>
                </a:pPr>
                <a:r>
                  <a:rPr lang="en-US" sz="1800"/>
                  <a:t>usual http response msg</a:t>
                </a:r>
                <a:endParaRPr lang="en-US">
                  <a:latin typeface="Times New Roman" panose="02020603050405020304" pitchFamily="18" charset="0"/>
                </a:endParaRPr>
              </a:p>
            </p:txBody>
          </p:sp>
        </p:grpSp>
      </p:grpSp>
      <p:sp>
        <p:nvSpPr>
          <p:cNvPr id="50235" name="Text Box 59"/>
          <p:cNvSpPr txBox="1">
            <a:spLocks noChangeArrowheads="1"/>
          </p:cNvSpPr>
          <p:nvPr/>
        </p:nvSpPr>
        <p:spPr bwMode="auto">
          <a:xfrm>
            <a:off x="763588" y="2530475"/>
            <a:ext cx="1787525" cy="396875"/>
          </a:xfrm>
          <a:prstGeom prst="rect">
            <a:avLst/>
          </a:prstGeom>
          <a:noFill/>
          <a:ln w="9525">
            <a:noFill/>
            <a:miter lim="800000"/>
          </a:ln>
        </p:spPr>
        <p:txBody>
          <a:bodyPr>
            <a:spAutoFit/>
          </a:bodyPr>
          <a:lstStyle/>
          <a:p>
            <a:pPr>
              <a:spcBef>
                <a:spcPct val="0"/>
              </a:spcBef>
              <a:buClrTx/>
              <a:buSzTx/>
              <a:buFontTx/>
              <a:buNone/>
            </a:pPr>
            <a:r>
              <a:rPr lang="en-US" sz="2000"/>
              <a:t>cookie file</a:t>
            </a:r>
            <a:endParaRPr lang="en-US" sz="2000"/>
          </a:p>
        </p:txBody>
      </p:sp>
      <p:sp>
        <p:nvSpPr>
          <p:cNvPr id="50242" name="Text Box 66"/>
          <p:cNvSpPr txBox="1">
            <a:spLocks noChangeArrowheads="1"/>
          </p:cNvSpPr>
          <p:nvPr/>
        </p:nvSpPr>
        <p:spPr bwMode="auto">
          <a:xfrm>
            <a:off x="58738" y="4303713"/>
            <a:ext cx="1808162" cy="366712"/>
          </a:xfrm>
          <a:prstGeom prst="rect">
            <a:avLst/>
          </a:prstGeom>
          <a:noFill/>
          <a:ln w="9525">
            <a:noFill/>
            <a:miter lim="800000"/>
          </a:ln>
        </p:spPr>
        <p:txBody>
          <a:bodyPr wrap="none">
            <a:spAutoFit/>
          </a:bodyPr>
          <a:lstStyle/>
          <a:p>
            <a:pPr>
              <a:spcBef>
                <a:spcPct val="0"/>
              </a:spcBef>
              <a:buClrTx/>
              <a:buSzTx/>
              <a:buFontTx/>
              <a:buNone/>
            </a:pPr>
            <a:r>
              <a:rPr lang="en-US" sz="1800"/>
              <a:t>one week later:</a:t>
            </a:r>
            <a:endParaRPr lang="en-US" sz="1800"/>
          </a:p>
        </p:txBody>
      </p:sp>
      <p:grpSp>
        <p:nvGrpSpPr>
          <p:cNvPr id="6" name="Group 89"/>
          <p:cNvGrpSpPr/>
          <p:nvPr/>
        </p:nvGrpSpPr>
        <p:grpSpPr bwMode="auto">
          <a:xfrm>
            <a:off x="2209800" y="3589338"/>
            <a:ext cx="5638800" cy="1119187"/>
            <a:chOff x="1392" y="2261"/>
            <a:chExt cx="3552" cy="705"/>
          </a:xfrm>
        </p:grpSpPr>
        <p:sp>
          <p:nvSpPr>
            <p:cNvPr id="64552" name="Line 12"/>
            <p:cNvSpPr>
              <a:spLocks noChangeShapeType="1"/>
            </p:cNvSpPr>
            <p:nvPr/>
          </p:nvSpPr>
          <p:spPr bwMode="auto">
            <a:xfrm>
              <a:off x="1392" y="2357"/>
              <a:ext cx="2082" cy="240"/>
            </a:xfrm>
            <a:prstGeom prst="line">
              <a:avLst/>
            </a:prstGeom>
            <a:noFill/>
            <a:ln w="19050">
              <a:solidFill>
                <a:schemeClr val="tx1"/>
              </a:solidFill>
              <a:round/>
              <a:tailEnd type="triangle" w="med" len="med"/>
            </a:ln>
          </p:spPr>
          <p:txBody>
            <a:bodyPr wrap="none" anchor="ctr"/>
            <a:lstStyle/>
            <a:p>
              <a:endParaRPr lang="en-US"/>
            </a:p>
          </p:txBody>
        </p:sp>
        <p:sp>
          <p:nvSpPr>
            <p:cNvPr id="64553" name="Text Box 15"/>
            <p:cNvSpPr txBox="1">
              <a:spLocks noChangeArrowheads="1"/>
            </p:cNvSpPr>
            <p:nvPr/>
          </p:nvSpPr>
          <p:spPr bwMode="auto">
            <a:xfrm>
              <a:off x="1548" y="2261"/>
              <a:ext cx="1689" cy="356"/>
            </a:xfrm>
            <a:prstGeom prst="rect">
              <a:avLst/>
            </a:prstGeom>
            <a:solidFill>
              <a:schemeClr val="bg1"/>
            </a:solidFill>
            <a:ln w="9525">
              <a:solidFill>
                <a:schemeClr val="tx1"/>
              </a:solidFill>
              <a:miter lim="800000"/>
            </a:ln>
          </p:spPr>
          <p:txBody>
            <a:bodyPr>
              <a:spAutoFit/>
            </a:bodyPr>
            <a:lstStyle/>
            <a:p>
              <a:pPr algn="ctr">
                <a:lnSpc>
                  <a:spcPct val="80000"/>
                </a:lnSpc>
                <a:spcBef>
                  <a:spcPct val="0"/>
                </a:spcBef>
                <a:buClrTx/>
                <a:buSzTx/>
                <a:buFontTx/>
                <a:buNone/>
              </a:pPr>
              <a:r>
                <a:rPr lang="en-US" sz="1800"/>
                <a:t>usual http request msg</a:t>
              </a:r>
              <a:endParaRPr lang="en-US" sz="1800"/>
            </a:p>
            <a:p>
              <a:pPr algn="ctr">
                <a:lnSpc>
                  <a:spcPct val="80000"/>
                </a:lnSpc>
                <a:spcBef>
                  <a:spcPct val="0"/>
                </a:spcBef>
                <a:buClrTx/>
                <a:buSzTx/>
                <a:buFontTx/>
                <a:buNone/>
              </a:pPr>
              <a:r>
                <a:rPr lang="en-US" sz="2000" b="1">
                  <a:latin typeface="Courier New" panose="02070309020205020404" pitchFamily="49" charset="0"/>
                </a:rPr>
                <a:t>cookie: 1678</a:t>
              </a:r>
              <a:endParaRPr lang="en-US" sz="2000" b="1">
                <a:latin typeface="Courier New" panose="02070309020205020404" pitchFamily="49" charset="0"/>
              </a:endParaRPr>
            </a:p>
          </p:txBody>
        </p:sp>
        <p:sp>
          <p:nvSpPr>
            <p:cNvPr id="64554" name="Text Box 28"/>
            <p:cNvSpPr txBox="1">
              <a:spLocks noChangeArrowheads="1"/>
            </p:cNvSpPr>
            <p:nvPr/>
          </p:nvSpPr>
          <p:spPr bwMode="auto">
            <a:xfrm>
              <a:off x="3501" y="2332"/>
              <a:ext cx="703" cy="634"/>
            </a:xfrm>
            <a:prstGeom prst="rect">
              <a:avLst/>
            </a:prstGeom>
            <a:noFill/>
            <a:ln w="9525">
              <a:noFill/>
              <a:miter lim="800000"/>
            </a:ln>
          </p:spPr>
          <p:txBody>
            <a:bodyPr wrap="none">
              <a:spAutoFit/>
            </a:bodyPr>
            <a:lstStyle/>
            <a:p>
              <a:pPr algn="ctr">
                <a:spcBef>
                  <a:spcPct val="0"/>
                </a:spcBef>
                <a:buClrTx/>
                <a:buSzTx/>
                <a:buFontTx/>
                <a:buNone/>
              </a:pPr>
              <a:r>
                <a:rPr lang="en-US" sz="2000">
                  <a:solidFill>
                    <a:schemeClr val="accent2"/>
                  </a:solidFill>
                </a:rPr>
                <a:t>cookie-</a:t>
              </a:r>
              <a:endParaRPr lang="en-US" sz="2000">
                <a:solidFill>
                  <a:schemeClr val="accent2"/>
                </a:solidFill>
              </a:endParaRPr>
            </a:p>
            <a:p>
              <a:pPr algn="ctr">
                <a:spcBef>
                  <a:spcPct val="0"/>
                </a:spcBef>
                <a:buClrTx/>
                <a:buSzTx/>
                <a:buFontTx/>
                <a:buNone/>
              </a:pPr>
              <a:r>
                <a:rPr lang="en-US" sz="2000">
                  <a:solidFill>
                    <a:schemeClr val="accent2"/>
                  </a:solidFill>
                </a:rPr>
                <a:t>specific</a:t>
              </a:r>
              <a:endParaRPr lang="en-US" sz="2000">
                <a:solidFill>
                  <a:schemeClr val="accent2"/>
                </a:solidFill>
              </a:endParaRPr>
            </a:p>
            <a:p>
              <a:pPr algn="ctr">
                <a:spcBef>
                  <a:spcPct val="0"/>
                </a:spcBef>
                <a:buClrTx/>
                <a:buSzTx/>
                <a:buFontTx/>
                <a:buNone/>
              </a:pPr>
              <a:r>
                <a:rPr lang="en-US" sz="2000">
                  <a:solidFill>
                    <a:schemeClr val="accent2"/>
                  </a:solidFill>
                </a:rPr>
                <a:t>action</a:t>
              </a:r>
              <a:endParaRPr lang="en-US">
                <a:latin typeface="Times New Roman" panose="02020603050405020304" pitchFamily="18" charset="0"/>
              </a:endParaRPr>
            </a:p>
          </p:txBody>
        </p:sp>
        <p:sp>
          <p:nvSpPr>
            <p:cNvPr id="64555" name="Line 42"/>
            <p:cNvSpPr>
              <a:spLocks noChangeShapeType="1"/>
            </p:cNvSpPr>
            <p:nvPr/>
          </p:nvSpPr>
          <p:spPr bwMode="auto">
            <a:xfrm flipV="1">
              <a:off x="4252" y="2367"/>
              <a:ext cx="692" cy="269"/>
            </a:xfrm>
            <a:prstGeom prst="line">
              <a:avLst/>
            </a:prstGeom>
            <a:noFill/>
            <a:ln w="9525">
              <a:solidFill>
                <a:schemeClr val="tx1"/>
              </a:solidFill>
              <a:round/>
              <a:headEnd type="triangle" w="med" len="med"/>
              <a:tailEnd type="triangle" w="med" len="med"/>
            </a:ln>
          </p:spPr>
          <p:txBody>
            <a:bodyPr wrap="none" anchor="ctr"/>
            <a:lstStyle/>
            <a:p>
              <a:endParaRPr lang="en-US"/>
            </a:p>
          </p:txBody>
        </p:sp>
        <p:grpSp>
          <p:nvGrpSpPr>
            <p:cNvPr id="64556" name="Group 83"/>
            <p:cNvGrpSpPr/>
            <p:nvPr/>
          </p:nvGrpSpPr>
          <p:grpSpPr bwMode="auto">
            <a:xfrm>
              <a:off x="4306" y="2363"/>
              <a:ext cx="557" cy="231"/>
              <a:chOff x="4306" y="2273"/>
              <a:chExt cx="557" cy="231"/>
            </a:xfrm>
          </p:grpSpPr>
          <p:sp>
            <p:nvSpPr>
              <p:cNvPr id="64557" name="Rectangle 72"/>
              <p:cNvSpPr>
                <a:spLocks noChangeArrowheads="1"/>
              </p:cNvSpPr>
              <p:nvPr/>
            </p:nvSpPr>
            <p:spPr bwMode="auto">
              <a:xfrm>
                <a:off x="4409" y="2365"/>
                <a:ext cx="384" cy="96"/>
              </a:xfrm>
              <a:prstGeom prst="rect">
                <a:avLst/>
              </a:prstGeom>
              <a:solidFill>
                <a:schemeClr val="bg1"/>
              </a:solidFill>
              <a:ln w="9525" algn="ctr">
                <a:noFill/>
                <a:miter lim="800000"/>
              </a:ln>
            </p:spPr>
            <p:txBody>
              <a:bodyPr wrap="none" anchor="ctr"/>
              <a:lstStyle/>
              <a:p>
                <a:endParaRPr lang="en-US"/>
              </a:p>
            </p:txBody>
          </p:sp>
          <p:sp>
            <p:nvSpPr>
              <p:cNvPr id="64558" name="Text Box 43"/>
              <p:cNvSpPr txBox="1">
                <a:spLocks noChangeArrowheads="1"/>
              </p:cNvSpPr>
              <p:nvPr/>
            </p:nvSpPr>
            <p:spPr bwMode="auto">
              <a:xfrm>
                <a:off x="4306" y="2273"/>
                <a:ext cx="557" cy="231"/>
              </a:xfrm>
              <a:prstGeom prst="rect">
                <a:avLst/>
              </a:prstGeom>
              <a:noFill/>
              <a:ln w="9525">
                <a:noFill/>
                <a:miter lim="800000"/>
              </a:ln>
            </p:spPr>
            <p:txBody>
              <a:bodyPr wrap="none">
                <a:spAutoFit/>
              </a:bodyPr>
              <a:lstStyle/>
              <a:p>
                <a:pPr>
                  <a:spcBef>
                    <a:spcPct val="0"/>
                  </a:spcBef>
                  <a:buClrTx/>
                  <a:buSzTx/>
                  <a:buFontTx/>
                  <a:buNone/>
                </a:pPr>
                <a:r>
                  <a:rPr lang="en-US" sz="1800"/>
                  <a:t>access</a:t>
                </a:r>
                <a:endParaRPr lang="en-US" sz="1800"/>
              </a:p>
            </p:txBody>
          </p:sp>
        </p:grpSp>
      </p:grpSp>
      <p:grpSp>
        <p:nvGrpSpPr>
          <p:cNvPr id="64524" name="Group 81"/>
          <p:cNvGrpSpPr/>
          <p:nvPr/>
        </p:nvGrpSpPr>
        <p:grpSpPr bwMode="auto">
          <a:xfrm>
            <a:off x="755650" y="1804988"/>
            <a:ext cx="1438275" cy="771525"/>
            <a:chOff x="476" y="1047"/>
            <a:chExt cx="906" cy="486"/>
          </a:xfrm>
        </p:grpSpPr>
        <p:sp>
          <p:nvSpPr>
            <p:cNvPr id="64550" name="AutoShape 67"/>
            <p:cNvSpPr>
              <a:spLocks noChangeArrowheads="1"/>
            </p:cNvSpPr>
            <p:nvPr/>
          </p:nvSpPr>
          <p:spPr bwMode="auto">
            <a:xfrm>
              <a:off x="527" y="1047"/>
              <a:ext cx="855" cy="486"/>
            </a:xfrm>
            <a:prstGeom prst="can">
              <a:avLst>
                <a:gd name="adj" fmla="val 25000"/>
              </a:avLst>
            </a:prstGeom>
            <a:solidFill>
              <a:schemeClr val="accent2"/>
            </a:solidFill>
            <a:ln w="9525">
              <a:solidFill>
                <a:schemeClr val="tx1"/>
              </a:solidFill>
              <a:round/>
            </a:ln>
          </p:spPr>
          <p:txBody>
            <a:bodyPr wrap="none" anchor="ctr"/>
            <a:lstStyle/>
            <a:p>
              <a:endParaRPr lang="en-US"/>
            </a:p>
          </p:txBody>
        </p:sp>
        <p:sp>
          <p:nvSpPr>
            <p:cNvPr id="64551" name="Text Box 60"/>
            <p:cNvSpPr txBox="1">
              <a:spLocks noChangeArrowheads="1"/>
            </p:cNvSpPr>
            <p:nvPr/>
          </p:nvSpPr>
          <p:spPr bwMode="auto">
            <a:xfrm>
              <a:off x="476" y="1134"/>
              <a:ext cx="727" cy="212"/>
            </a:xfrm>
            <a:prstGeom prst="rect">
              <a:avLst/>
            </a:prstGeom>
            <a:noFill/>
            <a:ln w="9525">
              <a:noFill/>
              <a:miter lim="800000"/>
            </a:ln>
          </p:spPr>
          <p:txBody>
            <a:bodyPr wrap="none">
              <a:spAutoFit/>
            </a:bodyPr>
            <a:lstStyle/>
            <a:p>
              <a:pPr>
                <a:spcBef>
                  <a:spcPct val="0"/>
                </a:spcBef>
                <a:buClrTx/>
                <a:buSzTx/>
                <a:buFontTx/>
                <a:buNone/>
              </a:pPr>
              <a:r>
                <a:rPr lang="en-US" sz="1600" b="1">
                  <a:solidFill>
                    <a:schemeClr val="bg1"/>
                  </a:solidFill>
                  <a:latin typeface="Arial" panose="020B0604020202020204" pitchFamily="34" charset="0"/>
                </a:rPr>
                <a:t>ebay 8734</a:t>
              </a:r>
              <a:endParaRPr lang="en-US" sz="1600" b="1">
                <a:solidFill>
                  <a:schemeClr val="bg1"/>
                </a:solidFill>
                <a:latin typeface="Arial" panose="020B0604020202020204" pitchFamily="34" charset="0"/>
              </a:endParaRPr>
            </a:p>
          </p:txBody>
        </p:sp>
      </p:grpSp>
      <p:sp>
        <p:nvSpPr>
          <p:cNvPr id="64525" name="AutoShape 68"/>
          <p:cNvSpPr>
            <a:spLocks noChangeArrowheads="1"/>
          </p:cNvSpPr>
          <p:nvPr/>
        </p:nvSpPr>
        <p:spPr bwMode="auto">
          <a:xfrm>
            <a:off x="7956550" y="3343275"/>
            <a:ext cx="527050" cy="825500"/>
          </a:xfrm>
          <a:prstGeom prst="can">
            <a:avLst>
              <a:gd name="adj" fmla="val 39157"/>
            </a:avLst>
          </a:prstGeom>
          <a:solidFill>
            <a:srgbClr val="009900"/>
          </a:solidFill>
          <a:ln w="9525">
            <a:solidFill>
              <a:schemeClr val="tx1"/>
            </a:solidFill>
            <a:round/>
          </a:ln>
        </p:spPr>
        <p:txBody>
          <a:bodyPr wrap="none" anchor="ctr"/>
          <a:lstStyle/>
          <a:p>
            <a:endParaRPr lang="en-US"/>
          </a:p>
        </p:txBody>
      </p:sp>
      <p:grpSp>
        <p:nvGrpSpPr>
          <p:cNvPr id="9" name="Group 95"/>
          <p:cNvGrpSpPr/>
          <p:nvPr/>
        </p:nvGrpSpPr>
        <p:grpSpPr bwMode="auto">
          <a:xfrm>
            <a:off x="2200275" y="2106613"/>
            <a:ext cx="5921375" cy="1296987"/>
            <a:chOff x="1386" y="1327"/>
            <a:chExt cx="3730" cy="817"/>
          </a:xfrm>
        </p:grpSpPr>
        <p:sp>
          <p:nvSpPr>
            <p:cNvPr id="64543" name="Line 4"/>
            <p:cNvSpPr>
              <a:spLocks noChangeShapeType="1"/>
            </p:cNvSpPr>
            <p:nvPr/>
          </p:nvSpPr>
          <p:spPr bwMode="auto">
            <a:xfrm>
              <a:off x="1386" y="1355"/>
              <a:ext cx="2082" cy="240"/>
            </a:xfrm>
            <a:prstGeom prst="line">
              <a:avLst/>
            </a:prstGeom>
            <a:noFill/>
            <a:ln w="19050">
              <a:solidFill>
                <a:schemeClr val="tx1"/>
              </a:solidFill>
              <a:round/>
              <a:tailEnd type="triangle" w="med" len="med"/>
            </a:ln>
          </p:spPr>
          <p:txBody>
            <a:bodyPr wrap="none" anchor="ctr"/>
            <a:lstStyle/>
            <a:p>
              <a:endParaRPr lang="en-US"/>
            </a:p>
          </p:txBody>
        </p:sp>
        <p:sp>
          <p:nvSpPr>
            <p:cNvPr id="64544" name="Text Box 8"/>
            <p:cNvSpPr txBox="1">
              <a:spLocks noChangeArrowheads="1"/>
            </p:cNvSpPr>
            <p:nvPr/>
          </p:nvSpPr>
          <p:spPr bwMode="auto">
            <a:xfrm>
              <a:off x="1554" y="1327"/>
              <a:ext cx="1689" cy="237"/>
            </a:xfrm>
            <a:prstGeom prst="rect">
              <a:avLst/>
            </a:prstGeom>
            <a:solidFill>
              <a:schemeClr val="bg1"/>
            </a:solidFill>
            <a:ln w="9525">
              <a:solidFill>
                <a:schemeClr val="tx1"/>
              </a:solidFill>
              <a:miter lim="800000"/>
            </a:ln>
          </p:spPr>
          <p:txBody>
            <a:bodyPr>
              <a:spAutoFit/>
            </a:bodyPr>
            <a:lstStyle/>
            <a:p>
              <a:pPr algn="ctr">
                <a:spcBef>
                  <a:spcPct val="0"/>
                </a:spcBef>
                <a:buClrTx/>
                <a:buSzTx/>
                <a:buFontTx/>
                <a:buNone/>
              </a:pPr>
              <a:r>
                <a:rPr lang="en-US" sz="1800"/>
                <a:t>usual http request msg</a:t>
              </a:r>
              <a:endParaRPr lang="en-US">
                <a:latin typeface="Times New Roman" panose="02020603050405020304" pitchFamily="18" charset="0"/>
              </a:endParaRPr>
            </a:p>
          </p:txBody>
        </p:sp>
        <p:sp>
          <p:nvSpPr>
            <p:cNvPr id="64545" name="Text Box 31"/>
            <p:cNvSpPr txBox="1">
              <a:spLocks noChangeArrowheads="1"/>
            </p:cNvSpPr>
            <p:nvPr/>
          </p:nvSpPr>
          <p:spPr bwMode="auto">
            <a:xfrm>
              <a:off x="3270" y="1390"/>
              <a:ext cx="1227" cy="634"/>
            </a:xfrm>
            <a:prstGeom prst="rect">
              <a:avLst/>
            </a:prstGeom>
            <a:noFill/>
            <a:ln w="9525">
              <a:noFill/>
              <a:miter lim="800000"/>
            </a:ln>
          </p:spPr>
          <p:txBody>
            <a:bodyPr wrap="none">
              <a:spAutoFit/>
            </a:bodyPr>
            <a:lstStyle/>
            <a:p>
              <a:pPr algn="ctr">
                <a:spcBef>
                  <a:spcPct val="0"/>
                </a:spcBef>
                <a:buClrTx/>
                <a:buSzTx/>
                <a:buFontTx/>
                <a:buNone/>
              </a:pPr>
              <a:r>
                <a:rPr lang="en-US" sz="2000">
                  <a:solidFill>
                    <a:schemeClr val="accent2"/>
                  </a:solidFill>
                </a:rPr>
                <a:t>Amazon server</a:t>
              </a:r>
              <a:endParaRPr lang="en-US" sz="2000">
                <a:solidFill>
                  <a:schemeClr val="accent2"/>
                </a:solidFill>
              </a:endParaRPr>
            </a:p>
            <a:p>
              <a:pPr algn="ctr">
                <a:spcBef>
                  <a:spcPct val="0"/>
                </a:spcBef>
                <a:buClrTx/>
                <a:buSzTx/>
                <a:buFontTx/>
                <a:buNone/>
              </a:pPr>
              <a:r>
                <a:rPr lang="en-US" sz="2000">
                  <a:solidFill>
                    <a:schemeClr val="accent2"/>
                  </a:solidFill>
                </a:rPr>
                <a:t>creates ID</a:t>
              </a:r>
              <a:endParaRPr lang="en-US" sz="2000">
                <a:solidFill>
                  <a:schemeClr val="accent2"/>
                </a:solidFill>
              </a:endParaRPr>
            </a:p>
            <a:p>
              <a:pPr algn="ctr">
                <a:spcBef>
                  <a:spcPct val="0"/>
                </a:spcBef>
                <a:buClrTx/>
                <a:buSzTx/>
                <a:buFontTx/>
                <a:buNone/>
              </a:pPr>
              <a:r>
                <a:rPr lang="en-US" sz="2000">
                  <a:solidFill>
                    <a:schemeClr val="accent2"/>
                  </a:solidFill>
                </a:rPr>
                <a:t>1678 for user</a:t>
              </a:r>
              <a:endParaRPr lang="en-US" sz="2000"/>
            </a:p>
          </p:txBody>
        </p:sp>
        <p:grpSp>
          <p:nvGrpSpPr>
            <p:cNvPr id="64546" name="Group 82"/>
            <p:cNvGrpSpPr/>
            <p:nvPr/>
          </p:nvGrpSpPr>
          <p:grpSpPr bwMode="auto">
            <a:xfrm>
              <a:off x="4377" y="1730"/>
              <a:ext cx="739" cy="414"/>
              <a:chOff x="4377" y="1640"/>
              <a:chExt cx="739" cy="414"/>
            </a:xfrm>
          </p:grpSpPr>
          <p:sp>
            <p:nvSpPr>
              <p:cNvPr id="64547" name="Line 40"/>
              <p:cNvSpPr>
                <a:spLocks noChangeShapeType="1"/>
              </p:cNvSpPr>
              <p:nvPr/>
            </p:nvSpPr>
            <p:spPr bwMode="auto">
              <a:xfrm>
                <a:off x="4377" y="1640"/>
                <a:ext cx="659" cy="414"/>
              </a:xfrm>
              <a:prstGeom prst="line">
                <a:avLst/>
              </a:prstGeom>
              <a:noFill/>
              <a:ln w="9525">
                <a:solidFill>
                  <a:schemeClr val="tx1"/>
                </a:solidFill>
                <a:round/>
                <a:tailEnd type="triangle" w="med" len="med"/>
              </a:ln>
            </p:spPr>
            <p:txBody>
              <a:bodyPr wrap="none" anchor="ctr"/>
              <a:lstStyle/>
              <a:p>
                <a:endParaRPr lang="en-US"/>
              </a:p>
            </p:txBody>
          </p:sp>
          <p:sp>
            <p:nvSpPr>
              <p:cNvPr id="64548" name="Rectangle 73"/>
              <p:cNvSpPr>
                <a:spLocks noChangeArrowheads="1"/>
              </p:cNvSpPr>
              <p:nvPr/>
            </p:nvSpPr>
            <p:spPr bwMode="auto">
              <a:xfrm>
                <a:off x="4470" y="1729"/>
                <a:ext cx="602" cy="243"/>
              </a:xfrm>
              <a:prstGeom prst="rect">
                <a:avLst/>
              </a:prstGeom>
              <a:solidFill>
                <a:schemeClr val="bg1"/>
              </a:solidFill>
              <a:ln w="9525" algn="ctr">
                <a:noFill/>
                <a:miter lim="800000"/>
              </a:ln>
            </p:spPr>
            <p:txBody>
              <a:bodyPr wrap="none" anchor="ctr"/>
              <a:lstStyle/>
              <a:p>
                <a:endParaRPr lang="en-US"/>
              </a:p>
            </p:txBody>
          </p:sp>
          <p:sp>
            <p:nvSpPr>
              <p:cNvPr id="64549" name="Text Box 41"/>
              <p:cNvSpPr txBox="1">
                <a:spLocks noChangeArrowheads="1"/>
              </p:cNvSpPr>
              <p:nvPr/>
            </p:nvSpPr>
            <p:spPr bwMode="auto">
              <a:xfrm>
                <a:off x="4381" y="1702"/>
                <a:ext cx="735" cy="318"/>
              </a:xfrm>
              <a:prstGeom prst="rect">
                <a:avLst/>
              </a:prstGeom>
              <a:noFill/>
              <a:ln w="9525">
                <a:noFill/>
                <a:miter lim="800000"/>
              </a:ln>
            </p:spPr>
            <p:txBody>
              <a:bodyPr>
                <a:spAutoFit/>
              </a:bodyPr>
              <a:lstStyle/>
              <a:p>
                <a:pPr>
                  <a:lnSpc>
                    <a:spcPct val="75000"/>
                  </a:lnSpc>
                  <a:spcBef>
                    <a:spcPct val="0"/>
                  </a:spcBef>
                  <a:buClrTx/>
                  <a:buSzTx/>
                  <a:buFontTx/>
                  <a:buNone/>
                </a:pPr>
                <a:r>
                  <a:rPr lang="en-US" sz="1800"/>
                  <a:t>create</a:t>
                </a:r>
                <a:endParaRPr lang="en-US" sz="1800"/>
              </a:p>
              <a:p>
                <a:pPr>
                  <a:lnSpc>
                    <a:spcPct val="75000"/>
                  </a:lnSpc>
                  <a:spcBef>
                    <a:spcPct val="0"/>
                  </a:spcBef>
                  <a:buClrTx/>
                  <a:buSzTx/>
                  <a:buFontTx/>
                  <a:buNone/>
                </a:pPr>
                <a:r>
                  <a:rPr lang="en-US" sz="1800"/>
                  <a:t>    entry</a:t>
                </a:r>
                <a:endParaRPr lang="en-US" sz="1800"/>
              </a:p>
            </p:txBody>
          </p:sp>
        </p:grpSp>
      </p:grpSp>
      <p:grpSp>
        <p:nvGrpSpPr>
          <p:cNvPr id="11" name="Group 88"/>
          <p:cNvGrpSpPr/>
          <p:nvPr/>
        </p:nvGrpSpPr>
        <p:grpSpPr bwMode="auto">
          <a:xfrm>
            <a:off x="728663" y="2598738"/>
            <a:ext cx="4805362" cy="1087437"/>
            <a:chOff x="459" y="1637"/>
            <a:chExt cx="3027" cy="685"/>
          </a:xfrm>
        </p:grpSpPr>
        <p:sp>
          <p:nvSpPr>
            <p:cNvPr id="64538" name="Line 9"/>
            <p:cNvSpPr>
              <a:spLocks noChangeShapeType="1"/>
            </p:cNvSpPr>
            <p:nvPr/>
          </p:nvSpPr>
          <p:spPr bwMode="auto">
            <a:xfrm flipH="1">
              <a:off x="1404" y="1637"/>
              <a:ext cx="2082" cy="240"/>
            </a:xfrm>
            <a:prstGeom prst="line">
              <a:avLst/>
            </a:prstGeom>
            <a:noFill/>
            <a:ln w="19050">
              <a:solidFill>
                <a:schemeClr val="tx1"/>
              </a:solidFill>
              <a:round/>
              <a:tailEnd type="triangle" w="med" len="med"/>
            </a:ln>
          </p:spPr>
          <p:txBody>
            <a:bodyPr wrap="none" anchor="ctr"/>
            <a:lstStyle/>
            <a:p>
              <a:endParaRPr lang="en-US"/>
            </a:p>
          </p:txBody>
        </p:sp>
        <p:sp>
          <p:nvSpPr>
            <p:cNvPr id="64539" name="Text Box 11"/>
            <p:cNvSpPr txBox="1">
              <a:spLocks noChangeArrowheads="1"/>
            </p:cNvSpPr>
            <p:nvPr/>
          </p:nvSpPr>
          <p:spPr bwMode="auto">
            <a:xfrm>
              <a:off x="1552" y="1650"/>
              <a:ext cx="1665" cy="356"/>
            </a:xfrm>
            <a:prstGeom prst="rect">
              <a:avLst/>
            </a:prstGeom>
            <a:solidFill>
              <a:schemeClr val="bg1"/>
            </a:solidFill>
            <a:ln w="9525">
              <a:solidFill>
                <a:schemeClr val="tx1"/>
              </a:solidFill>
              <a:miter lim="800000"/>
            </a:ln>
          </p:spPr>
          <p:txBody>
            <a:bodyPr>
              <a:spAutoFit/>
            </a:bodyPr>
            <a:lstStyle/>
            <a:p>
              <a:pPr algn="ctr">
                <a:lnSpc>
                  <a:spcPct val="80000"/>
                </a:lnSpc>
                <a:spcBef>
                  <a:spcPct val="0"/>
                </a:spcBef>
                <a:buClrTx/>
                <a:buSzTx/>
                <a:buFontTx/>
                <a:buNone/>
              </a:pPr>
              <a:r>
                <a:rPr lang="en-US" sz="1800"/>
                <a:t>usual http response </a:t>
              </a:r>
              <a:endParaRPr lang="en-US" sz="1800"/>
            </a:p>
            <a:p>
              <a:pPr algn="ctr">
                <a:lnSpc>
                  <a:spcPct val="80000"/>
                </a:lnSpc>
                <a:spcBef>
                  <a:spcPct val="0"/>
                </a:spcBef>
                <a:buClrTx/>
                <a:buSzTx/>
                <a:buFontTx/>
                <a:buNone/>
              </a:pPr>
              <a:r>
                <a:rPr lang="en-US" sz="2000" b="1">
                  <a:latin typeface="Courier New" panose="02070309020205020404" pitchFamily="49" charset="0"/>
                </a:rPr>
                <a:t>Set-cookie: 1678 </a:t>
              </a:r>
              <a:endParaRPr lang="en-US" sz="2000" b="1">
                <a:latin typeface="Courier New" panose="02070309020205020404" pitchFamily="49" charset="0"/>
              </a:endParaRPr>
            </a:p>
          </p:txBody>
        </p:sp>
        <p:grpSp>
          <p:nvGrpSpPr>
            <p:cNvPr id="64540" name="Group 76"/>
            <p:cNvGrpSpPr/>
            <p:nvPr/>
          </p:nvGrpSpPr>
          <p:grpSpPr bwMode="auto">
            <a:xfrm>
              <a:off x="459" y="1836"/>
              <a:ext cx="1004" cy="486"/>
              <a:chOff x="684" y="1746"/>
              <a:chExt cx="1004" cy="486"/>
            </a:xfrm>
          </p:grpSpPr>
          <p:sp>
            <p:nvSpPr>
              <p:cNvPr id="64541" name="AutoShape 74"/>
              <p:cNvSpPr>
                <a:spLocks noChangeArrowheads="1"/>
              </p:cNvSpPr>
              <p:nvPr/>
            </p:nvSpPr>
            <p:spPr bwMode="auto">
              <a:xfrm>
                <a:off x="735" y="1746"/>
                <a:ext cx="829" cy="486"/>
              </a:xfrm>
              <a:prstGeom prst="can">
                <a:avLst>
                  <a:gd name="adj" fmla="val 25000"/>
                </a:avLst>
              </a:prstGeom>
              <a:solidFill>
                <a:schemeClr val="accent2"/>
              </a:solidFill>
              <a:ln w="9525">
                <a:solidFill>
                  <a:schemeClr val="tx1"/>
                </a:solidFill>
                <a:round/>
              </a:ln>
            </p:spPr>
            <p:txBody>
              <a:bodyPr wrap="none" anchor="ctr"/>
              <a:lstStyle/>
              <a:p>
                <a:endParaRPr lang="en-US"/>
              </a:p>
            </p:txBody>
          </p:sp>
          <p:sp>
            <p:nvSpPr>
              <p:cNvPr id="64542" name="Text Box 75"/>
              <p:cNvSpPr txBox="1">
                <a:spLocks noChangeArrowheads="1"/>
              </p:cNvSpPr>
              <p:nvPr/>
            </p:nvSpPr>
            <p:spPr bwMode="auto">
              <a:xfrm>
                <a:off x="684" y="1833"/>
                <a:ext cx="1004" cy="366"/>
              </a:xfrm>
              <a:prstGeom prst="rect">
                <a:avLst/>
              </a:prstGeom>
              <a:noFill/>
              <a:ln w="9525">
                <a:noFill/>
                <a:miter lim="800000"/>
              </a:ln>
            </p:spPr>
            <p:txBody>
              <a:bodyPr>
                <a:spAutoFit/>
              </a:bodyPr>
              <a:lstStyle/>
              <a:p>
                <a:pPr>
                  <a:spcBef>
                    <a:spcPct val="0"/>
                  </a:spcBef>
                  <a:buClrTx/>
                  <a:buSzTx/>
                  <a:buFontTx/>
                  <a:buNone/>
                </a:pPr>
                <a:r>
                  <a:rPr lang="en-US" sz="1600" b="1">
                    <a:solidFill>
                      <a:schemeClr val="bg1"/>
                    </a:solidFill>
                    <a:latin typeface="Arial" panose="020B0604020202020204" pitchFamily="34" charset="0"/>
                  </a:rPr>
                  <a:t>ebay 8734</a:t>
                </a:r>
                <a:endParaRPr lang="en-US" sz="1600" b="1">
                  <a:solidFill>
                    <a:schemeClr val="bg1"/>
                  </a:solidFill>
                  <a:latin typeface="Arial" panose="020B0604020202020204" pitchFamily="34" charset="0"/>
                </a:endParaRPr>
              </a:p>
              <a:p>
                <a:pPr>
                  <a:spcBef>
                    <a:spcPct val="0"/>
                  </a:spcBef>
                  <a:buClrTx/>
                  <a:buSzTx/>
                  <a:buFontTx/>
                  <a:buNone/>
                </a:pPr>
                <a:r>
                  <a:rPr lang="en-US" sz="1600" b="1">
                    <a:solidFill>
                      <a:schemeClr val="bg1"/>
                    </a:solidFill>
                    <a:latin typeface="Arial" panose="020B0604020202020204" pitchFamily="34" charset="0"/>
                  </a:rPr>
                  <a:t>amazon 1678</a:t>
                </a:r>
                <a:endParaRPr lang="en-US" sz="1600" b="1">
                  <a:solidFill>
                    <a:schemeClr val="bg1"/>
                  </a:solidFill>
                  <a:latin typeface="Arial" panose="020B0604020202020204" pitchFamily="34" charset="0"/>
                </a:endParaRPr>
              </a:p>
            </p:txBody>
          </p:sp>
        </p:grpSp>
      </p:grpSp>
      <p:grpSp>
        <p:nvGrpSpPr>
          <p:cNvPr id="13" name="Group 93"/>
          <p:cNvGrpSpPr/>
          <p:nvPr/>
        </p:nvGrpSpPr>
        <p:grpSpPr bwMode="auto">
          <a:xfrm>
            <a:off x="2181225" y="4192588"/>
            <a:ext cx="5705475" cy="1992312"/>
            <a:chOff x="1374" y="2641"/>
            <a:chExt cx="3594" cy="1255"/>
          </a:xfrm>
        </p:grpSpPr>
        <p:sp>
          <p:nvSpPr>
            <p:cNvPr id="64533" name="Line 20"/>
            <p:cNvSpPr>
              <a:spLocks noChangeShapeType="1"/>
            </p:cNvSpPr>
            <p:nvPr/>
          </p:nvSpPr>
          <p:spPr bwMode="auto">
            <a:xfrm>
              <a:off x="1374" y="3293"/>
              <a:ext cx="2082" cy="240"/>
            </a:xfrm>
            <a:prstGeom prst="line">
              <a:avLst/>
            </a:prstGeom>
            <a:noFill/>
            <a:ln w="19050">
              <a:solidFill>
                <a:schemeClr val="tx1"/>
              </a:solidFill>
              <a:round/>
              <a:tailEnd type="triangle" w="med" len="med"/>
            </a:ln>
          </p:spPr>
          <p:txBody>
            <a:bodyPr wrap="none" anchor="ctr"/>
            <a:lstStyle/>
            <a:p>
              <a:endParaRPr lang="en-US"/>
            </a:p>
          </p:txBody>
        </p:sp>
        <p:sp>
          <p:nvSpPr>
            <p:cNvPr id="64534" name="Text Box 23"/>
            <p:cNvSpPr txBox="1">
              <a:spLocks noChangeArrowheads="1"/>
            </p:cNvSpPr>
            <p:nvPr/>
          </p:nvSpPr>
          <p:spPr bwMode="auto">
            <a:xfrm>
              <a:off x="1561" y="3171"/>
              <a:ext cx="1689" cy="356"/>
            </a:xfrm>
            <a:prstGeom prst="rect">
              <a:avLst/>
            </a:prstGeom>
            <a:solidFill>
              <a:schemeClr val="bg1"/>
            </a:solidFill>
            <a:ln w="9525">
              <a:solidFill>
                <a:schemeClr val="tx1"/>
              </a:solidFill>
              <a:miter lim="800000"/>
            </a:ln>
          </p:spPr>
          <p:txBody>
            <a:bodyPr>
              <a:spAutoFit/>
            </a:bodyPr>
            <a:lstStyle/>
            <a:p>
              <a:pPr algn="ctr">
                <a:lnSpc>
                  <a:spcPct val="80000"/>
                </a:lnSpc>
                <a:spcBef>
                  <a:spcPct val="0"/>
                </a:spcBef>
                <a:buClrTx/>
                <a:buSzTx/>
                <a:buFontTx/>
                <a:buNone/>
              </a:pPr>
              <a:r>
                <a:rPr lang="en-US" sz="1800"/>
                <a:t>usual http request msg</a:t>
              </a:r>
              <a:endParaRPr lang="en-US" sz="1800"/>
            </a:p>
            <a:p>
              <a:pPr algn="ctr">
                <a:lnSpc>
                  <a:spcPct val="80000"/>
                </a:lnSpc>
                <a:spcBef>
                  <a:spcPct val="0"/>
                </a:spcBef>
                <a:buClrTx/>
                <a:buSzTx/>
                <a:buFontTx/>
                <a:buNone/>
              </a:pPr>
              <a:r>
                <a:rPr lang="en-US" sz="2000" b="1">
                  <a:latin typeface="Courier New" panose="02070309020205020404" pitchFamily="49" charset="0"/>
                </a:rPr>
                <a:t>cookie: 1678</a:t>
              </a:r>
              <a:endParaRPr lang="en-US" sz="2000" b="1">
                <a:latin typeface="Courier New" panose="02070309020205020404" pitchFamily="49" charset="0"/>
              </a:endParaRPr>
            </a:p>
          </p:txBody>
        </p:sp>
        <p:sp>
          <p:nvSpPr>
            <p:cNvPr id="64535" name="Text Box 29"/>
            <p:cNvSpPr txBox="1">
              <a:spLocks noChangeArrowheads="1"/>
            </p:cNvSpPr>
            <p:nvPr/>
          </p:nvSpPr>
          <p:spPr bwMode="auto">
            <a:xfrm>
              <a:off x="3494" y="3262"/>
              <a:ext cx="778" cy="634"/>
            </a:xfrm>
            <a:prstGeom prst="rect">
              <a:avLst/>
            </a:prstGeom>
            <a:noFill/>
            <a:ln w="9525">
              <a:noFill/>
              <a:miter lim="800000"/>
            </a:ln>
          </p:spPr>
          <p:txBody>
            <a:bodyPr wrap="none">
              <a:spAutoFit/>
            </a:bodyPr>
            <a:lstStyle/>
            <a:p>
              <a:pPr algn="ctr">
                <a:spcBef>
                  <a:spcPct val="0"/>
                </a:spcBef>
                <a:buClrTx/>
                <a:buSzTx/>
                <a:buFontTx/>
                <a:buNone/>
              </a:pPr>
              <a:r>
                <a:rPr lang="en-US" sz="2000">
                  <a:solidFill>
                    <a:schemeClr val="accent2"/>
                  </a:solidFill>
                </a:rPr>
                <a:t>cookie-</a:t>
              </a:r>
              <a:endParaRPr lang="en-US" sz="2000">
                <a:solidFill>
                  <a:schemeClr val="accent2"/>
                </a:solidFill>
              </a:endParaRPr>
            </a:p>
            <a:p>
              <a:pPr algn="ctr">
                <a:spcBef>
                  <a:spcPct val="0"/>
                </a:spcBef>
                <a:buClrTx/>
                <a:buSzTx/>
                <a:buFontTx/>
                <a:buNone/>
              </a:pPr>
              <a:r>
                <a:rPr lang="en-US" sz="2000">
                  <a:solidFill>
                    <a:schemeClr val="accent2"/>
                  </a:solidFill>
                </a:rPr>
                <a:t>spectific</a:t>
              </a:r>
              <a:endParaRPr lang="en-US" sz="2000">
                <a:solidFill>
                  <a:schemeClr val="accent2"/>
                </a:solidFill>
              </a:endParaRPr>
            </a:p>
            <a:p>
              <a:pPr algn="ctr">
                <a:spcBef>
                  <a:spcPct val="0"/>
                </a:spcBef>
                <a:buClrTx/>
                <a:buSzTx/>
                <a:buFontTx/>
                <a:buNone/>
              </a:pPr>
              <a:r>
                <a:rPr lang="en-US" sz="2000">
                  <a:solidFill>
                    <a:schemeClr val="accent2"/>
                  </a:solidFill>
                </a:rPr>
                <a:t>action</a:t>
              </a:r>
              <a:endParaRPr lang="en-US">
                <a:latin typeface="Times New Roman" panose="02020603050405020304" pitchFamily="18" charset="0"/>
              </a:endParaRPr>
            </a:p>
          </p:txBody>
        </p:sp>
        <p:sp>
          <p:nvSpPr>
            <p:cNvPr id="64536" name="Line 44"/>
            <p:cNvSpPr>
              <a:spLocks noChangeShapeType="1"/>
            </p:cNvSpPr>
            <p:nvPr/>
          </p:nvSpPr>
          <p:spPr bwMode="auto">
            <a:xfrm flipV="1">
              <a:off x="4181" y="2641"/>
              <a:ext cx="787" cy="861"/>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64537" name="Text Box 71"/>
            <p:cNvSpPr txBox="1">
              <a:spLocks noChangeArrowheads="1"/>
            </p:cNvSpPr>
            <p:nvPr/>
          </p:nvSpPr>
          <p:spPr bwMode="auto">
            <a:xfrm>
              <a:off x="4287" y="2939"/>
              <a:ext cx="557" cy="231"/>
            </a:xfrm>
            <a:prstGeom prst="rect">
              <a:avLst/>
            </a:prstGeom>
            <a:solidFill>
              <a:schemeClr val="bg1"/>
            </a:solidFill>
            <a:ln w="9525">
              <a:noFill/>
              <a:miter lim="800000"/>
            </a:ln>
          </p:spPr>
          <p:txBody>
            <a:bodyPr wrap="none">
              <a:spAutoFit/>
            </a:bodyPr>
            <a:lstStyle/>
            <a:p>
              <a:pPr>
                <a:spcBef>
                  <a:spcPct val="0"/>
                </a:spcBef>
                <a:buClrTx/>
                <a:buSzTx/>
                <a:buFontTx/>
                <a:buNone/>
              </a:pPr>
              <a:r>
                <a:rPr lang="en-US" sz="1800"/>
                <a:t>access</a:t>
              </a:r>
              <a:endParaRPr lang="en-US" sz="1800"/>
            </a:p>
          </p:txBody>
        </p:sp>
      </p:grpSp>
      <p:grpSp>
        <p:nvGrpSpPr>
          <p:cNvPr id="14" name="Group 77"/>
          <p:cNvGrpSpPr/>
          <p:nvPr/>
        </p:nvGrpSpPr>
        <p:grpSpPr bwMode="auto">
          <a:xfrm>
            <a:off x="742950" y="4799013"/>
            <a:ext cx="1593850" cy="771525"/>
            <a:chOff x="684" y="1746"/>
            <a:chExt cx="1004" cy="486"/>
          </a:xfrm>
        </p:grpSpPr>
        <p:sp>
          <p:nvSpPr>
            <p:cNvPr id="64531" name="AutoShape 78"/>
            <p:cNvSpPr>
              <a:spLocks noChangeArrowheads="1"/>
            </p:cNvSpPr>
            <p:nvPr/>
          </p:nvSpPr>
          <p:spPr bwMode="auto">
            <a:xfrm>
              <a:off x="735" y="1746"/>
              <a:ext cx="829" cy="486"/>
            </a:xfrm>
            <a:prstGeom prst="can">
              <a:avLst>
                <a:gd name="adj" fmla="val 25000"/>
              </a:avLst>
            </a:prstGeom>
            <a:solidFill>
              <a:schemeClr val="accent2"/>
            </a:solidFill>
            <a:ln w="9525">
              <a:solidFill>
                <a:schemeClr val="tx1"/>
              </a:solidFill>
              <a:round/>
            </a:ln>
          </p:spPr>
          <p:txBody>
            <a:bodyPr wrap="none" anchor="ctr"/>
            <a:lstStyle/>
            <a:p>
              <a:endParaRPr lang="en-US"/>
            </a:p>
          </p:txBody>
        </p:sp>
        <p:sp>
          <p:nvSpPr>
            <p:cNvPr id="64532" name="Text Box 79"/>
            <p:cNvSpPr txBox="1">
              <a:spLocks noChangeArrowheads="1"/>
            </p:cNvSpPr>
            <p:nvPr/>
          </p:nvSpPr>
          <p:spPr bwMode="auto">
            <a:xfrm>
              <a:off x="684" y="1833"/>
              <a:ext cx="1004" cy="366"/>
            </a:xfrm>
            <a:prstGeom prst="rect">
              <a:avLst/>
            </a:prstGeom>
            <a:noFill/>
            <a:ln w="9525">
              <a:noFill/>
              <a:miter lim="800000"/>
            </a:ln>
          </p:spPr>
          <p:txBody>
            <a:bodyPr>
              <a:spAutoFit/>
            </a:bodyPr>
            <a:lstStyle/>
            <a:p>
              <a:pPr>
                <a:spcBef>
                  <a:spcPct val="0"/>
                </a:spcBef>
                <a:buClrTx/>
                <a:buSzTx/>
                <a:buFontTx/>
                <a:buNone/>
              </a:pPr>
              <a:r>
                <a:rPr lang="en-US" sz="1600" b="1">
                  <a:solidFill>
                    <a:schemeClr val="bg1"/>
                  </a:solidFill>
                  <a:latin typeface="Arial" panose="020B0604020202020204" pitchFamily="34" charset="0"/>
                </a:rPr>
                <a:t>ebay 8734</a:t>
              </a:r>
              <a:endParaRPr lang="en-US" sz="1600" b="1">
                <a:solidFill>
                  <a:schemeClr val="bg1"/>
                </a:solidFill>
                <a:latin typeface="Arial" panose="020B0604020202020204" pitchFamily="34" charset="0"/>
              </a:endParaRPr>
            </a:p>
            <a:p>
              <a:pPr>
                <a:spcBef>
                  <a:spcPct val="0"/>
                </a:spcBef>
                <a:buClrTx/>
                <a:buSzTx/>
                <a:buFontTx/>
                <a:buNone/>
              </a:pPr>
              <a:r>
                <a:rPr lang="en-US" sz="1600" b="1">
                  <a:solidFill>
                    <a:schemeClr val="bg1"/>
                  </a:solidFill>
                  <a:latin typeface="Arial" panose="020B0604020202020204" pitchFamily="34" charset="0"/>
                </a:rPr>
                <a:t>amazon 1678</a:t>
              </a:r>
              <a:endParaRPr lang="en-US" sz="1600" b="1">
                <a:solidFill>
                  <a:schemeClr val="bg1"/>
                </a:solidFill>
                <a:latin typeface="Arial" panose="020B0604020202020204" pitchFamily="34" charset="0"/>
              </a:endParaRPr>
            </a:p>
          </p:txBody>
        </p:sp>
      </p:grpSp>
      <p:sp>
        <p:nvSpPr>
          <p:cNvPr id="64530" name="Text Box 80"/>
          <p:cNvSpPr txBox="1">
            <a:spLocks noChangeArrowheads="1"/>
          </p:cNvSpPr>
          <p:nvPr/>
        </p:nvSpPr>
        <p:spPr bwMode="auto">
          <a:xfrm>
            <a:off x="7831138" y="4248150"/>
            <a:ext cx="1150937" cy="641350"/>
          </a:xfrm>
          <a:prstGeom prst="rect">
            <a:avLst/>
          </a:prstGeom>
          <a:solidFill>
            <a:schemeClr val="bg1"/>
          </a:solidFill>
          <a:ln w="9525">
            <a:noFill/>
            <a:miter lim="800000"/>
          </a:ln>
        </p:spPr>
        <p:txBody>
          <a:bodyPr wrap="none">
            <a:spAutoFit/>
          </a:bodyPr>
          <a:lstStyle/>
          <a:p>
            <a:pPr>
              <a:spcBef>
                <a:spcPct val="0"/>
              </a:spcBef>
              <a:buClrTx/>
              <a:buSzTx/>
              <a:buFontTx/>
              <a:buNone/>
            </a:pPr>
            <a:r>
              <a:rPr lang="en-US" sz="1800"/>
              <a:t>backend</a:t>
            </a:r>
            <a:endParaRPr lang="en-US" sz="1800"/>
          </a:p>
          <a:p>
            <a:pPr>
              <a:spcBef>
                <a:spcPct val="0"/>
              </a:spcBef>
              <a:buClrTx/>
              <a:buSzTx/>
              <a:buFontTx/>
              <a:buNone/>
            </a:pPr>
            <a:r>
              <a:rPr lang="en-US" sz="1800"/>
              <a:t>database</a:t>
            </a:r>
            <a:endParaRPr 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0235"/>
                                        </p:tgtEl>
                                        <p:attrNameLst>
                                          <p:attrName>style.visibility</p:attrName>
                                        </p:attrNameLst>
                                      </p:cBhvr>
                                      <p:to>
                                        <p:strVal val="hidden"/>
                                      </p:to>
                                    </p:set>
                                  </p:childTnLst>
                                </p:cTn>
                              </p:par>
                              <p:par>
                                <p:cTn id="7" presetID="22" presetClass="entr" presetSubtype="8"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wipe(left)">
                                      <p:cBhvr>
                                        <p:cTn id="9" dur="20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right)">
                                      <p:cBhvr>
                                        <p:cTn id="14" dur="30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2000"/>
                                        <p:tgtEl>
                                          <p:spTgt spid="6"/>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right)">
                                      <p:cBhvr>
                                        <p:cTn id="23" dur="10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0242"/>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2000"/>
                                        <p:tgtEl>
                                          <p:spTgt spid="13"/>
                                        </p:tgtEl>
                                      </p:cBhvr>
                                    </p:animEffect>
                                  </p:childTnLst>
                                </p:cTn>
                              </p:par>
                            </p:childTnLst>
                          </p:cTn>
                        </p:par>
                        <p:par>
                          <p:cTn id="35" fill="hold">
                            <p:stCondLst>
                              <p:cond delay="2000"/>
                            </p:stCondLst>
                            <p:childTnLst>
                              <p:par>
                                <p:cTn id="36" presetID="22" presetClass="entr" presetSubtype="2"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right)">
                                      <p:cBhvr>
                                        <p:cTn id="38"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35" grpId="0"/>
      <p:bldP spid="5024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5539" name="Slide Number Placeholder 6"/>
          <p:cNvSpPr>
            <a:spLocks noGrp="1"/>
          </p:cNvSpPr>
          <p:nvPr>
            <p:ph type="sldNum" sz="quarter" idx="12"/>
          </p:nvPr>
        </p:nvSpPr>
        <p:spPr>
          <a:noFill/>
        </p:spPr>
        <p:txBody>
          <a:bodyPr/>
          <a:lstStyle/>
          <a:p>
            <a:fld id="{EA753ACE-695A-41E3-B790-43175C8FD5C6}" type="slidenum">
              <a:rPr lang="en-US"/>
            </a:fld>
            <a:endParaRPr lang="en-US"/>
          </a:p>
        </p:txBody>
      </p:sp>
      <p:sp>
        <p:nvSpPr>
          <p:cNvPr id="65540" name="Rectangle 2"/>
          <p:cNvSpPr>
            <a:spLocks noGrp="1" noChangeArrowheads="1"/>
          </p:cNvSpPr>
          <p:nvPr>
            <p:ph type="title"/>
          </p:nvPr>
        </p:nvSpPr>
        <p:spPr/>
        <p:txBody>
          <a:bodyPr/>
          <a:lstStyle/>
          <a:p>
            <a:r>
              <a:rPr lang="en-US"/>
              <a:t>Cookies (continued)</a:t>
            </a:r>
            <a:endParaRPr lang="en-US"/>
          </a:p>
        </p:txBody>
      </p:sp>
      <p:sp>
        <p:nvSpPr>
          <p:cNvPr id="65541" name="Rectangle 3"/>
          <p:cNvSpPr>
            <a:spLocks noGrp="1" noChangeArrowheads="1"/>
          </p:cNvSpPr>
          <p:nvPr>
            <p:ph type="body" sz="half" idx="1"/>
          </p:nvPr>
        </p:nvSpPr>
        <p:spPr>
          <a:xfrm>
            <a:off x="533400" y="1477963"/>
            <a:ext cx="3810000" cy="2641600"/>
          </a:xfrm>
        </p:spPr>
        <p:txBody>
          <a:bodyPr/>
          <a:lstStyle/>
          <a:p>
            <a:pPr>
              <a:buFont typeface="ZapfDingbats" pitchFamily="82" charset="2"/>
              <a:buNone/>
            </a:pPr>
            <a:r>
              <a:rPr lang="en-US" sz="2400" u="sng">
                <a:solidFill>
                  <a:srgbClr val="FF0000"/>
                </a:solidFill>
              </a:rPr>
              <a:t>What cookies can bring:</a:t>
            </a:r>
            <a:endParaRPr lang="en-US" sz="2400"/>
          </a:p>
          <a:p>
            <a:r>
              <a:rPr lang="en-US" sz="2400"/>
              <a:t>authorization</a:t>
            </a:r>
            <a:endParaRPr lang="en-US" sz="2400"/>
          </a:p>
          <a:p>
            <a:r>
              <a:rPr lang="en-US" sz="2400"/>
              <a:t>shopping carts</a:t>
            </a:r>
            <a:endParaRPr lang="en-US" sz="2400"/>
          </a:p>
          <a:p>
            <a:r>
              <a:rPr lang="en-US" sz="2400"/>
              <a:t>recommendations</a:t>
            </a:r>
            <a:endParaRPr lang="en-US" sz="2400"/>
          </a:p>
          <a:p>
            <a:r>
              <a:rPr lang="en-US" sz="2400"/>
              <a:t>user session state (Web e-mail)</a:t>
            </a:r>
            <a:endParaRPr lang="en-US" sz="2400"/>
          </a:p>
        </p:txBody>
      </p:sp>
      <p:sp>
        <p:nvSpPr>
          <p:cNvPr id="65542" name="Rectangle 13"/>
          <p:cNvSpPr>
            <a:spLocks noChangeArrowheads="1"/>
          </p:cNvSpPr>
          <p:nvPr/>
        </p:nvSpPr>
        <p:spPr bwMode="auto">
          <a:xfrm>
            <a:off x="4911725" y="1411288"/>
            <a:ext cx="3810000" cy="2233612"/>
          </a:xfrm>
          <a:prstGeom prst="rect">
            <a:avLst/>
          </a:prstGeom>
          <a:noFill/>
          <a:ln w="19050">
            <a:solidFill>
              <a:schemeClr val="accent2"/>
            </a:solidFill>
            <a:miter lim="800000"/>
          </a:ln>
        </p:spPr>
        <p:txBody>
          <a:bodyPr/>
          <a:lstStyle/>
          <a:p>
            <a:pPr marL="342900" indent="-342900"/>
            <a:r>
              <a:rPr lang="en-US" u="sng">
                <a:solidFill>
                  <a:srgbClr val="FF0000"/>
                </a:solidFill>
              </a:rPr>
              <a:t>Cookies and privacy:</a:t>
            </a:r>
            <a:endParaRPr lang="en-US"/>
          </a:p>
          <a:p>
            <a:pPr marL="342900" indent="-342900">
              <a:buFont typeface="ZapfDingbats" pitchFamily="82" charset="2"/>
              <a:buChar char="r"/>
            </a:pPr>
            <a:r>
              <a:rPr lang="en-US"/>
              <a:t>cookies permit sites to learn a lot about you</a:t>
            </a:r>
            <a:endParaRPr lang="en-US"/>
          </a:p>
          <a:p>
            <a:pPr marL="342900" indent="-342900">
              <a:buFont typeface="ZapfDingbats" pitchFamily="82" charset="2"/>
              <a:buChar char="r"/>
            </a:pPr>
            <a:r>
              <a:rPr lang="en-US"/>
              <a:t>you may supply name and e-mail to sites</a:t>
            </a:r>
            <a:endParaRPr lang="en-US"/>
          </a:p>
        </p:txBody>
      </p:sp>
      <p:sp>
        <p:nvSpPr>
          <p:cNvPr id="65543" name="Text Box 14"/>
          <p:cNvSpPr txBox="1">
            <a:spLocks noChangeArrowheads="1"/>
          </p:cNvSpPr>
          <p:nvPr/>
        </p:nvSpPr>
        <p:spPr bwMode="auto">
          <a:xfrm>
            <a:off x="7321550" y="1177925"/>
            <a:ext cx="798513" cy="396875"/>
          </a:xfrm>
          <a:prstGeom prst="rect">
            <a:avLst/>
          </a:prstGeom>
          <a:solidFill>
            <a:schemeClr val="bg1"/>
          </a:solidFill>
          <a:ln w="9525">
            <a:noFill/>
            <a:miter lim="800000"/>
          </a:ln>
        </p:spPr>
        <p:txBody>
          <a:bodyPr wrap="none">
            <a:spAutoFit/>
          </a:bodyPr>
          <a:lstStyle/>
          <a:p>
            <a:pPr>
              <a:spcBef>
                <a:spcPct val="0"/>
              </a:spcBef>
              <a:buClrTx/>
              <a:buSzTx/>
              <a:buFontTx/>
              <a:buNone/>
            </a:pPr>
            <a:r>
              <a:rPr lang="en-US" sz="2000">
                <a:solidFill>
                  <a:schemeClr val="accent2"/>
                </a:solidFill>
              </a:rPr>
              <a:t>aside</a:t>
            </a:r>
            <a:endParaRPr lang="en-US" sz="1600">
              <a:latin typeface="Times New Roman" panose="02020603050405020304" pitchFamily="18" charset="0"/>
            </a:endParaRPr>
          </a:p>
        </p:txBody>
      </p:sp>
      <p:sp>
        <p:nvSpPr>
          <p:cNvPr id="65544" name="Rectangle 15"/>
          <p:cNvSpPr>
            <a:spLocks noChangeArrowheads="1"/>
          </p:cNvSpPr>
          <p:nvPr/>
        </p:nvSpPr>
        <p:spPr bwMode="auto">
          <a:xfrm>
            <a:off x="411163" y="4090988"/>
            <a:ext cx="5702300" cy="2641600"/>
          </a:xfrm>
          <a:prstGeom prst="rect">
            <a:avLst/>
          </a:prstGeom>
          <a:noFill/>
          <a:ln w="9525">
            <a:noFill/>
            <a:miter lim="800000"/>
          </a:ln>
        </p:spPr>
        <p:txBody>
          <a:bodyPr/>
          <a:lstStyle/>
          <a:p>
            <a:pPr marL="342900" indent="-342900"/>
            <a:r>
              <a:rPr lang="en-US" u="sng">
                <a:solidFill>
                  <a:srgbClr val="FF0000"/>
                </a:solidFill>
              </a:rPr>
              <a:t>How to keep “state”:</a:t>
            </a:r>
            <a:endParaRPr lang="en-US"/>
          </a:p>
          <a:p>
            <a:pPr marL="342900" indent="-342900">
              <a:buFont typeface="ZapfDingbats" pitchFamily="82" charset="2"/>
              <a:buChar char="r"/>
            </a:pPr>
            <a:r>
              <a:rPr lang="en-US"/>
              <a:t>protocol endpoints: maintain state at sender/receiver over multiple transactions</a:t>
            </a:r>
            <a:endParaRPr lang="en-US"/>
          </a:p>
          <a:p>
            <a:pPr marL="342900" indent="-342900">
              <a:buFont typeface="ZapfDingbats" pitchFamily="82" charset="2"/>
              <a:buChar char="r"/>
            </a:pPr>
            <a:r>
              <a:rPr lang="en-US"/>
              <a:t>cookies: http messages carry state</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173" name="Slide Number Placeholder 6"/>
          <p:cNvSpPr>
            <a:spLocks noGrp="1"/>
          </p:cNvSpPr>
          <p:nvPr>
            <p:ph type="sldNum" sz="quarter" idx="12"/>
          </p:nvPr>
        </p:nvSpPr>
        <p:spPr>
          <a:noFill/>
        </p:spPr>
        <p:txBody>
          <a:bodyPr/>
          <a:lstStyle/>
          <a:p>
            <a:fld id="{115CD28F-BFF9-4EF3-A656-FF1F459DF370}" type="slidenum">
              <a:rPr lang="en-US"/>
            </a:fld>
            <a:endParaRPr lang="en-US"/>
          </a:p>
        </p:txBody>
      </p:sp>
      <p:sp>
        <p:nvSpPr>
          <p:cNvPr id="7174" name="Rectangle 2"/>
          <p:cNvSpPr>
            <a:spLocks noGrp="1" noChangeArrowheads="1"/>
          </p:cNvSpPr>
          <p:nvPr>
            <p:ph type="title"/>
          </p:nvPr>
        </p:nvSpPr>
        <p:spPr/>
        <p:txBody>
          <a:bodyPr/>
          <a:lstStyle/>
          <a:p>
            <a:r>
              <a:rPr lang="en-US" sz="3600"/>
              <a:t>Web caches (proxy server)</a:t>
            </a:r>
            <a:endParaRPr lang="en-US"/>
          </a:p>
        </p:txBody>
      </p:sp>
      <p:sp>
        <p:nvSpPr>
          <p:cNvPr id="7175" name="Rectangle 3"/>
          <p:cNvSpPr>
            <a:spLocks noGrp="1" noChangeArrowheads="1"/>
          </p:cNvSpPr>
          <p:nvPr>
            <p:ph type="body" sz="half" idx="1"/>
          </p:nvPr>
        </p:nvSpPr>
        <p:spPr>
          <a:xfrm>
            <a:off x="279400" y="1957388"/>
            <a:ext cx="3767138" cy="3762375"/>
          </a:xfrm>
        </p:spPr>
        <p:txBody>
          <a:bodyPr/>
          <a:lstStyle/>
          <a:p>
            <a:r>
              <a:rPr lang="en-US" sz="2400"/>
              <a:t>user sets browser: Web accesses via  cache</a:t>
            </a:r>
            <a:endParaRPr lang="en-US" sz="2400"/>
          </a:p>
          <a:p>
            <a:r>
              <a:rPr lang="en-US" sz="2400"/>
              <a:t>browser sends all HTTP requests to cache</a:t>
            </a:r>
            <a:endParaRPr lang="en-US" sz="2400"/>
          </a:p>
          <a:p>
            <a:pPr lvl="1"/>
            <a:r>
              <a:rPr lang="en-US" sz="2000"/>
              <a:t>object in cache: cache returns object </a:t>
            </a:r>
            <a:endParaRPr lang="en-US" sz="2000"/>
          </a:p>
          <a:p>
            <a:pPr lvl="1"/>
            <a:r>
              <a:rPr lang="en-US" sz="2000"/>
              <a:t>else cache requests object from origin server, then returns object to client</a:t>
            </a:r>
            <a:endParaRPr lang="en-US" sz="2000"/>
          </a:p>
        </p:txBody>
      </p:sp>
      <p:sp>
        <p:nvSpPr>
          <p:cNvPr id="7176" name="Rectangle 4"/>
          <p:cNvSpPr>
            <a:spLocks noChangeArrowheads="1"/>
          </p:cNvSpPr>
          <p:nvPr/>
        </p:nvSpPr>
        <p:spPr bwMode="auto">
          <a:xfrm>
            <a:off x="393700" y="1265238"/>
            <a:ext cx="8750300" cy="596900"/>
          </a:xfrm>
          <a:prstGeom prst="rect">
            <a:avLst/>
          </a:prstGeom>
          <a:noFill/>
          <a:ln w="9525">
            <a:noFill/>
            <a:miter lim="800000"/>
          </a:ln>
        </p:spPr>
        <p:txBody>
          <a:bodyPr/>
          <a:lstStyle/>
          <a:p>
            <a:pPr marL="342900" indent="-342900"/>
            <a:r>
              <a:rPr lang="en-US">
                <a:solidFill>
                  <a:srgbClr val="FF0000"/>
                </a:solidFill>
              </a:rPr>
              <a:t>Goal:</a:t>
            </a:r>
            <a:r>
              <a:rPr lang="en-US"/>
              <a:t> satisfy client request without involving origin server</a:t>
            </a:r>
            <a:endParaRPr lang="en-US"/>
          </a:p>
        </p:txBody>
      </p:sp>
      <p:graphicFrame>
        <p:nvGraphicFramePr>
          <p:cNvPr id="7170" name="Object 5"/>
          <p:cNvGraphicFramePr>
            <a:graphicFrameLocks noChangeAspect="1"/>
          </p:cNvGraphicFramePr>
          <p:nvPr/>
        </p:nvGraphicFramePr>
        <p:xfrm>
          <a:off x="4203700" y="2955925"/>
          <a:ext cx="515938" cy="414338"/>
        </p:xfrm>
        <a:graphic>
          <a:graphicData uri="http://schemas.openxmlformats.org/presentationml/2006/ole">
            <mc:AlternateContent xmlns:mc="http://schemas.openxmlformats.org/markup-compatibility/2006">
              <mc:Choice xmlns:v="urn:schemas-microsoft-com:vml" Requires="v">
                <p:oleObj spid="_x0000_s7192" name="Clip" r:id="rId1" imgW="18192750" imgH="15087600" progId="">
                  <p:embed/>
                </p:oleObj>
              </mc:Choice>
              <mc:Fallback>
                <p:oleObj name="Clip" r:id="rId1" imgW="18192750" imgH="15087600" progId="">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3700" y="2955925"/>
                        <a:ext cx="515938"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7" name="Text Box 6"/>
          <p:cNvSpPr txBox="1">
            <a:spLocks noChangeArrowheads="1"/>
          </p:cNvSpPr>
          <p:nvPr/>
        </p:nvSpPr>
        <p:spPr bwMode="auto">
          <a:xfrm>
            <a:off x="4143375" y="3368675"/>
            <a:ext cx="714375" cy="336550"/>
          </a:xfrm>
          <a:prstGeom prst="rect">
            <a:avLst/>
          </a:prstGeom>
          <a:noFill/>
          <a:ln w="9525">
            <a:noFill/>
            <a:miter lim="800000"/>
          </a:ln>
        </p:spPr>
        <p:txBody>
          <a:bodyPr wrap="none">
            <a:spAutoFit/>
          </a:bodyPr>
          <a:lstStyle/>
          <a:p>
            <a:pPr algn="ctr">
              <a:spcBef>
                <a:spcPct val="0"/>
              </a:spcBef>
              <a:buClrTx/>
              <a:buSzTx/>
              <a:buFontTx/>
              <a:buNone/>
            </a:pPr>
            <a:r>
              <a:rPr lang="en-US" sz="1600"/>
              <a:t>client</a:t>
            </a:r>
            <a:endParaRPr lang="en-US">
              <a:latin typeface="Times New Roman" panose="02020603050405020304" pitchFamily="18" charset="0"/>
            </a:endParaRPr>
          </a:p>
        </p:txBody>
      </p:sp>
      <p:graphicFrame>
        <p:nvGraphicFramePr>
          <p:cNvPr id="7171" name="Object 7"/>
          <p:cNvGraphicFramePr>
            <a:graphicFrameLocks noChangeAspect="1"/>
          </p:cNvGraphicFramePr>
          <p:nvPr/>
        </p:nvGraphicFramePr>
        <p:xfrm>
          <a:off x="4268788" y="4826000"/>
          <a:ext cx="515937" cy="412750"/>
        </p:xfrm>
        <a:graphic>
          <a:graphicData uri="http://schemas.openxmlformats.org/presentationml/2006/ole">
            <mc:AlternateContent xmlns:mc="http://schemas.openxmlformats.org/markup-compatibility/2006">
              <mc:Choice xmlns:v="urn:schemas-microsoft-com:vml" Requires="v">
                <p:oleObj spid="_x0000_s7193" name="Clip" r:id="rId3" imgW="18192750" imgH="15087600" progId="">
                  <p:embed/>
                </p:oleObj>
              </mc:Choice>
              <mc:Fallback>
                <p:oleObj name="Clip" r:id="rId3" imgW="18192750" imgH="15087600" progId="">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8788" y="4826000"/>
                        <a:ext cx="515937"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8" name="Text Box 8"/>
          <p:cNvSpPr txBox="1">
            <a:spLocks noChangeArrowheads="1"/>
          </p:cNvSpPr>
          <p:nvPr/>
        </p:nvSpPr>
        <p:spPr bwMode="auto">
          <a:xfrm>
            <a:off x="6024563" y="2774950"/>
            <a:ext cx="955675" cy="701675"/>
          </a:xfrm>
          <a:prstGeom prst="rect">
            <a:avLst/>
          </a:prstGeom>
          <a:noFill/>
          <a:ln w="9525">
            <a:noFill/>
            <a:miter lim="800000"/>
          </a:ln>
        </p:spPr>
        <p:txBody>
          <a:bodyPr wrap="none">
            <a:spAutoFit/>
          </a:bodyPr>
          <a:lstStyle/>
          <a:p>
            <a:pPr algn="ctr">
              <a:spcBef>
                <a:spcPct val="0"/>
              </a:spcBef>
              <a:buClrTx/>
              <a:buSzTx/>
              <a:buFontTx/>
              <a:buNone/>
            </a:pPr>
            <a:r>
              <a:rPr lang="en-US" sz="2000"/>
              <a:t>Proxy</a:t>
            </a:r>
            <a:endParaRPr lang="en-US" sz="2000"/>
          </a:p>
          <a:p>
            <a:pPr algn="ctr">
              <a:spcBef>
                <a:spcPct val="0"/>
              </a:spcBef>
              <a:buClrTx/>
              <a:buSzTx/>
              <a:buFontTx/>
              <a:buNone/>
            </a:pPr>
            <a:r>
              <a:rPr lang="en-US" sz="2000"/>
              <a:t>server</a:t>
            </a:r>
            <a:endParaRPr lang="en-US">
              <a:latin typeface="Times New Roman" panose="02020603050405020304" pitchFamily="18" charset="0"/>
            </a:endParaRPr>
          </a:p>
        </p:txBody>
      </p:sp>
      <p:grpSp>
        <p:nvGrpSpPr>
          <p:cNvPr id="7179" name="Group 9"/>
          <p:cNvGrpSpPr/>
          <p:nvPr/>
        </p:nvGrpSpPr>
        <p:grpSpPr bwMode="auto">
          <a:xfrm>
            <a:off x="6249988" y="3556000"/>
            <a:ext cx="346075" cy="742950"/>
            <a:chOff x="4180" y="783"/>
            <a:chExt cx="150" cy="307"/>
          </a:xfrm>
        </p:grpSpPr>
        <p:sp>
          <p:nvSpPr>
            <p:cNvPr id="7220" name="AutoShape 10"/>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7221" name="Rectangle 11"/>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7222" name="Rectangle 12"/>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7223" name="AutoShape 1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7224" name="Line 14"/>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7225" name="Line 15"/>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7226" name="Rectangle 16"/>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7227" name="Rectangle 17"/>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7180" name="Text Box 21"/>
          <p:cNvSpPr txBox="1">
            <a:spLocks noChangeArrowheads="1"/>
          </p:cNvSpPr>
          <p:nvPr/>
        </p:nvSpPr>
        <p:spPr bwMode="auto">
          <a:xfrm>
            <a:off x="4298950" y="5284788"/>
            <a:ext cx="714375" cy="336550"/>
          </a:xfrm>
          <a:prstGeom prst="rect">
            <a:avLst/>
          </a:prstGeom>
          <a:noFill/>
          <a:ln w="9525">
            <a:noFill/>
            <a:miter lim="800000"/>
          </a:ln>
        </p:spPr>
        <p:txBody>
          <a:bodyPr wrap="none">
            <a:spAutoFit/>
          </a:bodyPr>
          <a:lstStyle/>
          <a:p>
            <a:pPr algn="ctr">
              <a:spcBef>
                <a:spcPct val="0"/>
              </a:spcBef>
              <a:buClrTx/>
              <a:buSzTx/>
              <a:buFontTx/>
              <a:buNone/>
            </a:pPr>
            <a:r>
              <a:rPr lang="en-US" sz="1600"/>
              <a:t>client</a:t>
            </a:r>
            <a:endParaRPr lang="en-US">
              <a:latin typeface="Times New Roman" panose="02020603050405020304" pitchFamily="18" charset="0"/>
            </a:endParaRPr>
          </a:p>
        </p:txBody>
      </p:sp>
      <p:grpSp>
        <p:nvGrpSpPr>
          <p:cNvPr id="3" name="Group 53"/>
          <p:cNvGrpSpPr/>
          <p:nvPr/>
        </p:nvGrpSpPr>
        <p:grpSpPr bwMode="auto">
          <a:xfrm>
            <a:off x="4567238" y="4095750"/>
            <a:ext cx="1593850" cy="760413"/>
            <a:chOff x="2877" y="2580"/>
            <a:chExt cx="1004" cy="479"/>
          </a:xfrm>
        </p:grpSpPr>
        <p:sp>
          <p:nvSpPr>
            <p:cNvPr id="7218" name="Line 19"/>
            <p:cNvSpPr>
              <a:spLocks noChangeShapeType="1"/>
            </p:cNvSpPr>
            <p:nvPr/>
          </p:nvSpPr>
          <p:spPr bwMode="auto">
            <a:xfrm flipV="1">
              <a:off x="2998" y="2580"/>
              <a:ext cx="883" cy="479"/>
            </a:xfrm>
            <a:prstGeom prst="line">
              <a:avLst/>
            </a:prstGeom>
            <a:noFill/>
            <a:ln w="28575">
              <a:solidFill>
                <a:srgbClr val="FF0000"/>
              </a:solidFill>
              <a:round/>
              <a:tailEnd type="triangle" w="med" len="med"/>
            </a:ln>
          </p:spPr>
          <p:txBody>
            <a:bodyPr wrap="none" anchor="ctr"/>
            <a:lstStyle/>
            <a:p>
              <a:endParaRPr lang="en-US"/>
            </a:p>
          </p:txBody>
        </p:sp>
        <p:sp>
          <p:nvSpPr>
            <p:cNvPr id="7219" name="Text Box 23"/>
            <p:cNvSpPr txBox="1">
              <a:spLocks noChangeArrowheads="1"/>
            </p:cNvSpPr>
            <p:nvPr/>
          </p:nvSpPr>
          <p:spPr bwMode="auto">
            <a:xfrm rot="-1692639">
              <a:off x="2877" y="2646"/>
              <a:ext cx="951" cy="212"/>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request</a:t>
              </a:r>
              <a:endParaRPr lang="en-US">
                <a:latin typeface="Times New Roman" panose="02020603050405020304" pitchFamily="18" charset="0"/>
              </a:endParaRPr>
            </a:p>
          </p:txBody>
        </p:sp>
      </p:grpSp>
      <p:grpSp>
        <p:nvGrpSpPr>
          <p:cNvPr id="4" name="Group 54"/>
          <p:cNvGrpSpPr/>
          <p:nvPr/>
        </p:nvGrpSpPr>
        <p:grpSpPr bwMode="auto">
          <a:xfrm>
            <a:off x="4773613" y="4183063"/>
            <a:ext cx="1620837" cy="785812"/>
            <a:chOff x="3007" y="2635"/>
            <a:chExt cx="1021" cy="495"/>
          </a:xfrm>
        </p:grpSpPr>
        <p:sp>
          <p:nvSpPr>
            <p:cNvPr id="7216" name="Line 20"/>
            <p:cNvSpPr>
              <a:spLocks noChangeShapeType="1"/>
            </p:cNvSpPr>
            <p:nvPr/>
          </p:nvSpPr>
          <p:spPr bwMode="auto">
            <a:xfrm flipH="1">
              <a:off x="3030" y="2635"/>
              <a:ext cx="884" cy="495"/>
            </a:xfrm>
            <a:prstGeom prst="line">
              <a:avLst/>
            </a:prstGeom>
            <a:noFill/>
            <a:ln w="28575">
              <a:solidFill>
                <a:srgbClr val="FF0000"/>
              </a:solidFill>
              <a:round/>
              <a:tailEnd type="triangle" w="med" len="med"/>
            </a:ln>
          </p:spPr>
          <p:txBody>
            <a:bodyPr wrap="none" anchor="ctr"/>
            <a:lstStyle/>
            <a:p>
              <a:endParaRPr lang="en-US"/>
            </a:p>
          </p:txBody>
        </p:sp>
        <p:sp>
          <p:nvSpPr>
            <p:cNvPr id="7217" name="Text Box 25"/>
            <p:cNvSpPr txBox="1">
              <a:spLocks noChangeArrowheads="1"/>
            </p:cNvSpPr>
            <p:nvPr/>
          </p:nvSpPr>
          <p:spPr bwMode="auto">
            <a:xfrm rot="-1737783">
              <a:off x="3007" y="2847"/>
              <a:ext cx="1021" cy="212"/>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response</a:t>
              </a:r>
              <a:endParaRPr lang="en-US">
                <a:latin typeface="Times New Roman" panose="02020603050405020304" pitchFamily="18" charset="0"/>
              </a:endParaRPr>
            </a:p>
          </p:txBody>
        </p:sp>
      </p:grpSp>
      <p:grpSp>
        <p:nvGrpSpPr>
          <p:cNvPr id="7183" name="Group 26"/>
          <p:cNvGrpSpPr/>
          <p:nvPr/>
        </p:nvGrpSpPr>
        <p:grpSpPr bwMode="auto">
          <a:xfrm>
            <a:off x="8089900" y="2792413"/>
            <a:ext cx="346075" cy="742950"/>
            <a:chOff x="4180" y="783"/>
            <a:chExt cx="150" cy="307"/>
          </a:xfrm>
        </p:grpSpPr>
        <p:sp>
          <p:nvSpPr>
            <p:cNvPr id="7208" name="AutoShape 2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7209" name="Rectangle 2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7210" name="Rectangle 2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7211" name="AutoShape 3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7212" name="Line 3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7213" name="Line 3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7214" name="Rectangle 3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7215" name="Rectangle 3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7184" name="Group 35"/>
          <p:cNvGrpSpPr/>
          <p:nvPr/>
        </p:nvGrpSpPr>
        <p:grpSpPr bwMode="auto">
          <a:xfrm>
            <a:off x="8174038" y="4670425"/>
            <a:ext cx="346075" cy="742950"/>
            <a:chOff x="4180" y="783"/>
            <a:chExt cx="150" cy="307"/>
          </a:xfrm>
        </p:grpSpPr>
        <p:sp>
          <p:nvSpPr>
            <p:cNvPr id="7200" name="AutoShape 3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7201" name="Rectangle 3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7202" name="Rectangle 3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7203" name="AutoShape 3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7204" name="Line 4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7205" name="Line 4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7206" name="Rectangle 4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7207" name="Rectangle 4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7" name="Group 49"/>
          <p:cNvGrpSpPr/>
          <p:nvPr/>
        </p:nvGrpSpPr>
        <p:grpSpPr bwMode="auto">
          <a:xfrm>
            <a:off x="4765675" y="3141663"/>
            <a:ext cx="3251200" cy="730250"/>
            <a:chOff x="3002" y="1979"/>
            <a:chExt cx="2048" cy="460"/>
          </a:xfrm>
        </p:grpSpPr>
        <p:sp>
          <p:nvSpPr>
            <p:cNvPr id="7197" name="Freeform 18"/>
            <p:cNvSpPr/>
            <p:nvPr/>
          </p:nvSpPr>
          <p:spPr bwMode="auto">
            <a:xfrm>
              <a:off x="3002" y="1979"/>
              <a:ext cx="2048" cy="460"/>
            </a:xfrm>
            <a:custGeom>
              <a:avLst/>
              <a:gdLst>
                <a:gd name="T0" fmla="*/ 0 w 2048"/>
                <a:gd name="T1" fmla="*/ 2 h 460"/>
                <a:gd name="T2" fmla="*/ 1011 w 2048"/>
                <a:gd name="T3" fmla="*/ 460 h 460"/>
                <a:gd name="T4" fmla="*/ 2048 w 2048"/>
                <a:gd name="T5" fmla="*/ 0 h 460"/>
                <a:gd name="T6" fmla="*/ 0 60000 65536"/>
                <a:gd name="T7" fmla="*/ 0 60000 65536"/>
                <a:gd name="T8" fmla="*/ 0 60000 65536"/>
                <a:gd name="T9" fmla="*/ 0 w 2048"/>
                <a:gd name="T10" fmla="*/ 0 h 460"/>
                <a:gd name="T11" fmla="*/ 2048 w 2048"/>
                <a:gd name="T12" fmla="*/ 460 h 460"/>
              </a:gdLst>
              <a:ahLst/>
              <a:cxnLst>
                <a:cxn ang="T6">
                  <a:pos x="T0" y="T1"/>
                </a:cxn>
                <a:cxn ang="T7">
                  <a:pos x="T2" y="T3"/>
                </a:cxn>
                <a:cxn ang="T8">
                  <a:pos x="T4" y="T5"/>
                </a:cxn>
              </a:cxnLst>
              <a:rect l="T9" t="T10" r="T11" b="T12"/>
              <a:pathLst>
                <a:path w="2048" h="460">
                  <a:moveTo>
                    <a:pt x="0" y="2"/>
                  </a:moveTo>
                  <a:lnTo>
                    <a:pt x="1011" y="460"/>
                  </a:lnTo>
                  <a:lnTo>
                    <a:pt x="2048" y="0"/>
                  </a:lnTo>
                </a:path>
              </a:pathLst>
            </a:custGeom>
            <a:noFill/>
            <a:ln w="28575">
              <a:solidFill>
                <a:srgbClr val="FF0000"/>
              </a:solidFill>
              <a:round/>
              <a:tailEnd type="triangle" w="med" len="med"/>
            </a:ln>
          </p:spPr>
          <p:txBody>
            <a:bodyPr wrap="none" anchor="ctr"/>
            <a:lstStyle/>
            <a:p>
              <a:endParaRPr lang="en-US"/>
            </a:p>
          </p:txBody>
        </p:sp>
        <p:sp>
          <p:nvSpPr>
            <p:cNvPr id="7198" name="Text Box 22"/>
            <p:cNvSpPr txBox="1">
              <a:spLocks noChangeArrowheads="1"/>
            </p:cNvSpPr>
            <p:nvPr/>
          </p:nvSpPr>
          <p:spPr bwMode="auto">
            <a:xfrm rot="1422049">
              <a:off x="3064" y="2006"/>
              <a:ext cx="951" cy="212"/>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request</a:t>
              </a:r>
              <a:endParaRPr lang="en-US">
                <a:latin typeface="Times New Roman" panose="02020603050405020304" pitchFamily="18" charset="0"/>
              </a:endParaRPr>
            </a:p>
          </p:txBody>
        </p:sp>
        <p:sp>
          <p:nvSpPr>
            <p:cNvPr id="7199" name="Text Box 45"/>
            <p:cNvSpPr txBox="1">
              <a:spLocks noChangeArrowheads="1"/>
            </p:cNvSpPr>
            <p:nvPr/>
          </p:nvSpPr>
          <p:spPr bwMode="auto">
            <a:xfrm rot="-1419968">
              <a:off x="4095" y="2016"/>
              <a:ext cx="951" cy="212"/>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request</a:t>
              </a:r>
              <a:endParaRPr lang="en-US">
                <a:latin typeface="Times New Roman" panose="02020603050405020304" pitchFamily="18" charset="0"/>
              </a:endParaRPr>
            </a:p>
          </p:txBody>
        </p:sp>
      </p:grpSp>
      <p:sp>
        <p:nvSpPr>
          <p:cNvPr id="7186" name="Text Box 47"/>
          <p:cNvSpPr txBox="1">
            <a:spLocks noChangeArrowheads="1"/>
          </p:cNvSpPr>
          <p:nvPr/>
        </p:nvSpPr>
        <p:spPr bwMode="auto">
          <a:xfrm>
            <a:off x="7885113" y="5465763"/>
            <a:ext cx="800100" cy="581025"/>
          </a:xfrm>
          <a:prstGeom prst="rect">
            <a:avLst/>
          </a:prstGeom>
          <a:noFill/>
          <a:ln w="9525">
            <a:noFill/>
            <a:miter lim="800000"/>
          </a:ln>
        </p:spPr>
        <p:txBody>
          <a:bodyPr wrap="none">
            <a:spAutoFit/>
          </a:bodyPr>
          <a:lstStyle/>
          <a:p>
            <a:pPr algn="ctr">
              <a:spcBef>
                <a:spcPct val="0"/>
              </a:spcBef>
              <a:buClrTx/>
              <a:buSzTx/>
              <a:buFontTx/>
              <a:buNone/>
            </a:pPr>
            <a:r>
              <a:rPr lang="en-US" sz="1600"/>
              <a:t>origin </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7187" name="Text Box 48"/>
          <p:cNvSpPr txBox="1">
            <a:spLocks noChangeArrowheads="1"/>
          </p:cNvSpPr>
          <p:nvPr/>
        </p:nvSpPr>
        <p:spPr bwMode="auto">
          <a:xfrm>
            <a:off x="7816850" y="1993900"/>
            <a:ext cx="800100" cy="581025"/>
          </a:xfrm>
          <a:prstGeom prst="rect">
            <a:avLst/>
          </a:prstGeom>
          <a:noFill/>
          <a:ln w="9525">
            <a:noFill/>
            <a:miter lim="800000"/>
          </a:ln>
        </p:spPr>
        <p:txBody>
          <a:bodyPr wrap="none">
            <a:spAutoFit/>
          </a:bodyPr>
          <a:lstStyle/>
          <a:p>
            <a:pPr algn="ctr">
              <a:spcBef>
                <a:spcPct val="0"/>
              </a:spcBef>
              <a:buClrTx/>
              <a:buSzTx/>
              <a:buFontTx/>
              <a:buNone/>
            </a:pPr>
            <a:r>
              <a:rPr lang="en-US" sz="1600"/>
              <a:t>origin </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7188" name="Rectangle 55"/>
          <p:cNvSpPr>
            <a:spLocks noChangeArrowheads="1"/>
          </p:cNvSpPr>
          <p:nvPr/>
        </p:nvSpPr>
        <p:spPr bwMode="auto">
          <a:xfrm>
            <a:off x="6946900" y="4349750"/>
            <a:ext cx="406400" cy="393700"/>
          </a:xfrm>
          <a:prstGeom prst="rect">
            <a:avLst/>
          </a:prstGeom>
          <a:noFill/>
          <a:ln w="9525" algn="ctr">
            <a:noFill/>
            <a:miter lim="800000"/>
          </a:ln>
        </p:spPr>
        <p:txBody>
          <a:bodyPr wrap="none" anchor="ctr"/>
          <a:lstStyle/>
          <a:p>
            <a:endParaRPr lang="en-US"/>
          </a:p>
        </p:txBody>
      </p:sp>
      <p:pic>
        <p:nvPicPr>
          <p:cNvPr id="7189" name="Picture 56"/>
          <p:cNvPicPr>
            <a:picLocks noChangeAspect="1" noChangeArrowheads="1"/>
          </p:cNvPicPr>
          <p:nvPr/>
        </p:nvPicPr>
        <p:blipFill>
          <a:blip r:embed="rId4"/>
          <a:srcRect/>
          <a:stretch>
            <a:fillRect/>
          </a:stretch>
        </p:blipFill>
        <p:spPr bwMode="auto">
          <a:xfrm>
            <a:off x="8297863" y="2632075"/>
            <a:ext cx="527050" cy="433388"/>
          </a:xfrm>
          <a:prstGeom prst="rect">
            <a:avLst/>
          </a:prstGeom>
          <a:noFill/>
          <a:ln w="9525" algn="ctr">
            <a:noFill/>
            <a:miter lim="800000"/>
            <a:headEnd/>
            <a:tailEnd/>
          </a:ln>
        </p:spPr>
      </p:pic>
      <p:grpSp>
        <p:nvGrpSpPr>
          <p:cNvPr id="8" name="Group 60"/>
          <p:cNvGrpSpPr/>
          <p:nvPr/>
        </p:nvGrpSpPr>
        <p:grpSpPr bwMode="auto">
          <a:xfrm>
            <a:off x="3992563" y="2678113"/>
            <a:ext cx="4186237" cy="1814512"/>
            <a:chOff x="2515" y="1687"/>
            <a:chExt cx="2637" cy="1143"/>
          </a:xfrm>
        </p:grpSpPr>
        <p:sp>
          <p:nvSpPr>
            <p:cNvPr id="2" name="Freeform 44"/>
            <p:cNvSpPr/>
            <p:nvPr/>
          </p:nvSpPr>
          <p:spPr bwMode="auto">
            <a:xfrm>
              <a:off x="2985" y="2026"/>
              <a:ext cx="2119" cy="476"/>
            </a:xfrm>
            <a:custGeom>
              <a:avLst/>
              <a:gdLst>
                <a:gd name="T0" fmla="*/ 2119 w 2119"/>
                <a:gd name="T1" fmla="*/ 0 h 476"/>
                <a:gd name="T2" fmla="*/ 1020 w 2119"/>
                <a:gd name="T3" fmla="*/ 476 h 476"/>
                <a:gd name="T4" fmla="*/ 0 w 2119"/>
                <a:gd name="T5" fmla="*/ 8 h 476"/>
                <a:gd name="T6" fmla="*/ 0 60000 65536"/>
                <a:gd name="T7" fmla="*/ 0 60000 65536"/>
                <a:gd name="T8" fmla="*/ 0 60000 65536"/>
                <a:gd name="T9" fmla="*/ 0 w 2119"/>
                <a:gd name="T10" fmla="*/ 0 h 476"/>
                <a:gd name="T11" fmla="*/ 2119 w 2119"/>
                <a:gd name="T12" fmla="*/ 476 h 476"/>
              </a:gdLst>
              <a:ahLst/>
              <a:cxnLst>
                <a:cxn ang="T6">
                  <a:pos x="T0" y="T1"/>
                </a:cxn>
                <a:cxn ang="T7">
                  <a:pos x="T2" y="T3"/>
                </a:cxn>
                <a:cxn ang="T8">
                  <a:pos x="T4" y="T5"/>
                </a:cxn>
              </a:cxnLst>
              <a:rect l="T9" t="T10" r="T11" b="T12"/>
              <a:pathLst>
                <a:path w="2119" h="476">
                  <a:moveTo>
                    <a:pt x="2119" y="0"/>
                  </a:moveTo>
                  <a:lnTo>
                    <a:pt x="1020" y="476"/>
                  </a:lnTo>
                  <a:lnTo>
                    <a:pt x="0" y="8"/>
                  </a:lnTo>
                </a:path>
              </a:pathLst>
            </a:custGeom>
            <a:noFill/>
            <a:ln w="28575">
              <a:solidFill>
                <a:srgbClr val="FF0000"/>
              </a:solidFill>
              <a:round/>
              <a:tailEnd type="triangle" w="med" len="med"/>
            </a:ln>
          </p:spPr>
          <p:txBody>
            <a:bodyPr wrap="none" anchor="ctr"/>
            <a:lstStyle/>
            <a:p>
              <a:endParaRPr lang="en-US"/>
            </a:p>
          </p:txBody>
        </p:sp>
        <p:sp>
          <p:nvSpPr>
            <p:cNvPr id="5" name="Text Box 24"/>
            <p:cNvSpPr txBox="1">
              <a:spLocks noChangeArrowheads="1"/>
            </p:cNvSpPr>
            <p:nvPr/>
          </p:nvSpPr>
          <p:spPr bwMode="auto">
            <a:xfrm rot="1411598">
              <a:off x="2901" y="2244"/>
              <a:ext cx="1021" cy="212"/>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response</a:t>
              </a:r>
              <a:endParaRPr lang="en-US">
                <a:latin typeface="Times New Roman" panose="02020603050405020304" pitchFamily="18" charset="0"/>
              </a:endParaRPr>
            </a:p>
          </p:txBody>
        </p:sp>
        <p:sp>
          <p:nvSpPr>
            <p:cNvPr id="7194" name="Text Box 46"/>
            <p:cNvSpPr txBox="1">
              <a:spLocks noChangeArrowheads="1"/>
            </p:cNvSpPr>
            <p:nvPr/>
          </p:nvSpPr>
          <p:spPr bwMode="auto">
            <a:xfrm rot="-1415789">
              <a:off x="4131" y="2232"/>
              <a:ext cx="1021" cy="212"/>
            </a:xfrm>
            <a:prstGeom prst="rect">
              <a:avLst/>
            </a:prstGeom>
            <a:noFill/>
            <a:ln w="9525">
              <a:noFill/>
              <a:miter lim="800000"/>
            </a:ln>
          </p:spPr>
          <p:txBody>
            <a:bodyPr wrap="none">
              <a:spAutoFit/>
            </a:bodyPr>
            <a:lstStyle/>
            <a:p>
              <a:pPr algn="ctr">
                <a:spcBef>
                  <a:spcPct val="0"/>
                </a:spcBef>
                <a:buClrTx/>
                <a:buSzTx/>
                <a:buFontTx/>
                <a:buNone/>
              </a:pPr>
              <a:r>
                <a:rPr lang="en-US" sz="1600">
                  <a:solidFill>
                    <a:srgbClr val="FF0000"/>
                  </a:solidFill>
                </a:rPr>
                <a:t>HTTP response</a:t>
              </a:r>
              <a:endParaRPr lang="en-US">
                <a:latin typeface="Times New Roman" panose="02020603050405020304" pitchFamily="18" charset="0"/>
              </a:endParaRPr>
            </a:p>
          </p:txBody>
        </p:sp>
        <p:pic>
          <p:nvPicPr>
            <p:cNvPr id="7195" name="Picture 57"/>
            <p:cNvPicPr>
              <a:picLocks noChangeAspect="1" noChangeArrowheads="1"/>
            </p:cNvPicPr>
            <p:nvPr/>
          </p:nvPicPr>
          <p:blipFill>
            <a:blip r:embed="rId4"/>
            <a:srcRect/>
            <a:stretch>
              <a:fillRect/>
            </a:stretch>
          </p:blipFill>
          <p:spPr bwMode="auto">
            <a:xfrm>
              <a:off x="3979" y="2557"/>
              <a:ext cx="332" cy="273"/>
            </a:xfrm>
            <a:prstGeom prst="rect">
              <a:avLst/>
            </a:prstGeom>
            <a:noFill/>
            <a:ln w="9525" algn="ctr">
              <a:noFill/>
              <a:miter lim="800000"/>
              <a:headEnd/>
              <a:tailEnd/>
            </a:ln>
          </p:spPr>
        </p:pic>
        <p:pic>
          <p:nvPicPr>
            <p:cNvPr id="7196" name="Picture 59"/>
            <p:cNvPicPr>
              <a:picLocks noChangeAspect="1" noChangeArrowheads="1"/>
            </p:cNvPicPr>
            <p:nvPr/>
          </p:nvPicPr>
          <p:blipFill>
            <a:blip r:embed="rId4"/>
            <a:srcRect/>
            <a:stretch>
              <a:fillRect/>
            </a:stretch>
          </p:blipFill>
          <p:spPr bwMode="auto">
            <a:xfrm>
              <a:off x="2515" y="1687"/>
              <a:ext cx="332" cy="273"/>
            </a:xfrm>
            <a:prstGeom prst="rect">
              <a:avLst/>
            </a:prstGeom>
            <a:noFill/>
            <a:ln w="9525" algn="ctr">
              <a:noFill/>
              <a:miter lim="800000"/>
              <a:headEnd/>
              <a:tailEnd/>
            </a:ln>
          </p:spPr>
        </p:pic>
      </p:grpSp>
      <p:pic>
        <p:nvPicPr>
          <p:cNvPr id="171069" name="Picture 61"/>
          <p:cNvPicPr>
            <a:picLocks noChangeAspect="1" noChangeArrowheads="1"/>
          </p:cNvPicPr>
          <p:nvPr/>
        </p:nvPicPr>
        <p:blipFill>
          <a:blip r:embed="rId4"/>
          <a:srcRect/>
          <a:stretch>
            <a:fillRect/>
          </a:stretch>
        </p:blipFill>
        <p:spPr bwMode="auto">
          <a:xfrm>
            <a:off x="4040188" y="4613275"/>
            <a:ext cx="527050" cy="433388"/>
          </a:xfrm>
          <a:prstGeom prst="rect">
            <a:avLst/>
          </a:prstGeom>
          <a:noFill/>
          <a:ln w="9525" algn="ctr">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2000"/>
                                        <p:tgtEl>
                                          <p:spTgt spid="7"/>
                                        </p:tgtEl>
                                      </p:cBhvr>
                                    </p:animEffect>
                                  </p:childTnLst>
                                </p:cTn>
                              </p:par>
                            </p:childTnLst>
                          </p:cTn>
                        </p:par>
                        <p:par>
                          <p:cTn id="8" fill="hold">
                            <p:stCondLst>
                              <p:cond delay="2000"/>
                            </p:stCondLst>
                            <p:childTnLst>
                              <p:par>
                                <p:cTn id="9" presetID="22" presetClass="entr" presetSubtype="2"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2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2000"/>
                                        <p:tgtEl>
                                          <p:spTgt spid="3"/>
                                        </p:tgtEl>
                                      </p:cBhvr>
                                    </p:animEffect>
                                  </p:childTnLst>
                                </p:cTn>
                              </p:par>
                            </p:childTnLst>
                          </p:cTn>
                        </p:par>
                        <p:par>
                          <p:cTn id="17" fill="hold">
                            <p:stCondLst>
                              <p:cond delay="20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2000"/>
                                        <p:tgtEl>
                                          <p:spTgt spid="4"/>
                                        </p:tgtEl>
                                      </p:cBhvr>
                                    </p:animEffect>
                                  </p:childTnLst>
                                </p:cTn>
                              </p:par>
                            </p:childTnLst>
                          </p:cTn>
                        </p:par>
                        <p:par>
                          <p:cTn id="21" fill="hold">
                            <p:stCondLst>
                              <p:cond delay="4000"/>
                            </p:stCondLst>
                            <p:childTnLst>
                              <p:par>
                                <p:cTn id="22" presetID="22" presetClass="entr" presetSubtype="2" fill="hold" nodeType="afterEffect">
                                  <p:stCondLst>
                                    <p:cond delay="0"/>
                                  </p:stCondLst>
                                  <p:childTnLst>
                                    <p:set>
                                      <p:cBhvr>
                                        <p:cTn id="23" dur="1" fill="hold">
                                          <p:stCondLst>
                                            <p:cond delay="0"/>
                                          </p:stCondLst>
                                        </p:cTn>
                                        <p:tgtEl>
                                          <p:spTgt spid="171069"/>
                                        </p:tgtEl>
                                        <p:attrNameLst>
                                          <p:attrName>style.visibility</p:attrName>
                                        </p:attrNameLst>
                                      </p:cBhvr>
                                      <p:to>
                                        <p:strVal val="visible"/>
                                      </p:to>
                                    </p:set>
                                    <p:animEffect transition="in" filter="wipe(right)">
                                      <p:cBhvr>
                                        <p:cTn id="24" dur="500"/>
                                        <p:tgtEl>
                                          <p:spTgt spid="171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6563" name="Slide Number Placeholder 6"/>
          <p:cNvSpPr>
            <a:spLocks noGrp="1"/>
          </p:cNvSpPr>
          <p:nvPr>
            <p:ph type="sldNum" sz="quarter" idx="12"/>
          </p:nvPr>
        </p:nvSpPr>
        <p:spPr>
          <a:noFill/>
        </p:spPr>
        <p:txBody>
          <a:bodyPr/>
          <a:lstStyle/>
          <a:p>
            <a:fld id="{0F73BBF8-DAD1-451E-B40C-8FA604AC744E}" type="slidenum">
              <a:rPr lang="en-US"/>
            </a:fld>
            <a:endParaRPr lang="en-US"/>
          </a:p>
        </p:txBody>
      </p:sp>
      <p:sp>
        <p:nvSpPr>
          <p:cNvPr id="66564" name="Rectangle 2"/>
          <p:cNvSpPr>
            <a:spLocks noGrp="1" noChangeArrowheads="1"/>
          </p:cNvSpPr>
          <p:nvPr>
            <p:ph type="title"/>
          </p:nvPr>
        </p:nvSpPr>
        <p:spPr/>
        <p:txBody>
          <a:bodyPr/>
          <a:lstStyle/>
          <a:p>
            <a:r>
              <a:rPr lang="en-US"/>
              <a:t>More about Web caching</a:t>
            </a:r>
            <a:endParaRPr lang="en-US"/>
          </a:p>
        </p:txBody>
      </p:sp>
      <p:sp>
        <p:nvSpPr>
          <p:cNvPr id="66565" name="Rectangle 3"/>
          <p:cNvSpPr>
            <a:spLocks noGrp="1" noChangeArrowheads="1"/>
          </p:cNvSpPr>
          <p:nvPr>
            <p:ph type="body" sz="half" idx="1"/>
          </p:nvPr>
        </p:nvSpPr>
        <p:spPr/>
        <p:txBody>
          <a:bodyPr/>
          <a:lstStyle/>
          <a:p>
            <a:r>
              <a:rPr lang="en-US" sz="2400"/>
              <a:t>cache acts as both client and server</a:t>
            </a:r>
            <a:endParaRPr lang="en-US" sz="2400"/>
          </a:p>
          <a:p>
            <a:r>
              <a:rPr lang="en-US" sz="2400"/>
              <a:t>typically cache is installed by ISP (university, company, residential ISP)</a:t>
            </a:r>
            <a:endParaRPr lang="en-US" sz="2400"/>
          </a:p>
        </p:txBody>
      </p:sp>
      <p:sp>
        <p:nvSpPr>
          <p:cNvPr id="66566" name="Rectangle 4"/>
          <p:cNvSpPr>
            <a:spLocks noGrp="1" noChangeArrowheads="1"/>
          </p:cNvSpPr>
          <p:nvPr>
            <p:ph type="body" sz="half" idx="2"/>
          </p:nvPr>
        </p:nvSpPr>
        <p:spPr/>
        <p:txBody>
          <a:bodyPr/>
          <a:lstStyle/>
          <a:p>
            <a:pPr>
              <a:buFont typeface="ZapfDingbats" pitchFamily="82" charset="2"/>
              <a:buNone/>
            </a:pPr>
            <a:r>
              <a:rPr lang="en-US" sz="2400" u="sng">
                <a:solidFill>
                  <a:srgbClr val="FF0000"/>
                </a:solidFill>
              </a:rPr>
              <a:t>Why Web caching?</a:t>
            </a:r>
            <a:endParaRPr lang="en-US" sz="2400"/>
          </a:p>
          <a:p>
            <a:r>
              <a:rPr lang="en-US" sz="2400"/>
              <a:t>reduce response time for client request</a:t>
            </a:r>
            <a:endParaRPr lang="en-US" sz="2400"/>
          </a:p>
          <a:p>
            <a:r>
              <a:rPr lang="en-US" sz="2400"/>
              <a:t>reduce traffic on an institution’s access link.</a:t>
            </a:r>
            <a:endParaRPr lang="en-US" sz="2400"/>
          </a:p>
          <a:p>
            <a:r>
              <a:rPr lang="en-US" sz="2400"/>
              <a:t>Internet dense with caches: enables “poor” content providers to effectively deliver content (but so does P2P file sharing)</a:t>
            </a:r>
            <a:endParaRPr lang="en-US" sz="2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199" name="Slide Number Placeholder 6"/>
          <p:cNvSpPr>
            <a:spLocks noGrp="1"/>
          </p:cNvSpPr>
          <p:nvPr>
            <p:ph type="sldNum" sz="quarter" idx="12"/>
          </p:nvPr>
        </p:nvSpPr>
        <p:spPr>
          <a:noFill/>
        </p:spPr>
        <p:txBody>
          <a:bodyPr/>
          <a:lstStyle/>
          <a:p>
            <a:fld id="{71463B5F-CE35-497E-A4C3-C82173B249C2}" type="slidenum">
              <a:rPr lang="en-US"/>
            </a:fld>
            <a:endParaRPr lang="en-US"/>
          </a:p>
        </p:txBody>
      </p:sp>
      <p:sp>
        <p:nvSpPr>
          <p:cNvPr id="8200" name="Line 2"/>
          <p:cNvSpPr>
            <a:spLocks noChangeShapeType="1"/>
          </p:cNvSpPr>
          <p:nvPr/>
        </p:nvSpPr>
        <p:spPr bwMode="auto">
          <a:xfrm>
            <a:off x="5067300" y="2076450"/>
            <a:ext cx="285750" cy="114300"/>
          </a:xfrm>
          <a:prstGeom prst="line">
            <a:avLst/>
          </a:prstGeom>
          <a:noFill/>
          <a:ln w="28575">
            <a:solidFill>
              <a:schemeClr val="accent2"/>
            </a:solidFill>
            <a:round/>
          </a:ln>
        </p:spPr>
        <p:txBody>
          <a:bodyPr wrap="none" anchor="ctr"/>
          <a:lstStyle/>
          <a:p>
            <a:endParaRPr lang="en-US"/>
          </a:p>
        </p:txBody>
      </p:sp>
      <p:sp>
        <p:nvSpPr>
          <p:cNvPr id="8201" name="Rectangle 3"/>
          <p:cNvSpPr>
            <a:spLocks noGrp="1" noChangeArrowheads="1"/>
          </p:cNvSpPr>
          <p:nvPr>
            <p:ph type="title"/>
          </p:nvPr>
        </p:nvSpPr>
        <p:spPr/>
        <p:txBody>
          <a:bodyPr/>
          <a:lstStyle/>
          <a:p>
            <a:r>
              <a:rPr lang="en-US" sz="3600" dirty="0"/>
              <a:t>Caching example</a:t>
            </a:r>
            <a:r>
              <a:rPr lang="zh-CN" altLang="en-US" sz="3600">
                <a:ea typeface="宋体" panose="02010600030101010101" pitchFamily="2" charset="-122"/>
                <a:sym typeface="+mn-ea"/>
              </a:rPr>
              <a:t>（题）</a:t>
            </a:r>
            <a:r>
              <a:rPr lang="en-US" sz="3600" dirty="0"/>
              <a:t> </a:t>
            </a:r>
            <a:endParaRPr lang="en-US" dirty="0"/>
          </a:p>
        </p:txBody>
      </p:sp>
      <p:sp>
        <p:nvSpPr>
          <p:cNvPr id="8202" name="Rectangle 4"/>
          <p:cNvSpPr>
            <a:spLocks noGrp="1" noChangeArrowheads="1"/>
          </p:cNvSpPr>
          <p:nvPr>
            <p:ph type="body" sz="half" idx="1"/>
          </p:nvPr>
        </p:nvSpPr>
        <p:spPr>
          <a:xfrm>
            <a:off x="520700" y="1379538"/>
            <a:ext cx="4164013" cy="4648200"/>
          </a:xfrm>
        </p:spPr>
        <p:txBody>
          <a:bodyPr/>
          <a:lstStyle/>
          <a:p>
            <a:pPr>
              <a:buFont typeface="ZapfDingbats" pitchFamily="82" charset="2"/>
              <a:buNone/>
            </a:pPr>
            <a:r>
              <a:rPr lang="en-US" sz="2400" u="sng" dirty="0">
                <a:solidFill>
                  <a:srgbClr val="FF0000"/>
                </a:solidFill>
              </a:rPr>
              <a:t>Assumptions</a:t>
            </a:r>
            <a:endParaRPr lang="en-US" sz="2400" dirty="0"/>
          </a:p>
          <a:p>
            <a:r>
              <a:rPr lang="en-US" sz="2000" dirty="0"/>
              <a:t>average object size = 1,000,000 bits</a:t>
            </a:r>
            <a:endParaRPr lang="en-US" sz="2000" dirty="0"/>
          </a:p>
          <a:p>
            <a:r>
              <a:rPr lang="en-US" sz="2000" dirty="0"/>
              <a:t>avg. request rate from institution’s browsers to origin servers = 15/sec</a:t>
            </a:r>
            <a:endParaRPr lang="en-US" sz="2000" dirty="0"/>
          </a:p>
          <a:p>
            <a:r>
              <a:rPr lang="en-US" sz="2000" dirty="0"/>
              <a:t>delay from the Internet side router to any origin server and back to router  = 2 sec</a:t>
            </a:r>
            <a:endParaRPr lang="en-US" sz="2000" dirty="0"/>
          </a:p>
          <a:p>
            <a:pPr>
              <a:buFont typeface="ZapfDingbats" pitchFamily="82" charset="2"/>
              <a:buNone/>
            </a:pPr>
            <a:r>
              <a:rPr lang="en-US" sz="2400" u="sng" dirty="0">
                <a:solidFill>
                  <a:srgbClr val="FF0000"/>
                </a:solidFill>
              </a:rPr>
              <a:t>Consequences</a:t>
            </a:r>
            <a:endParaRPr lang="en-US" sz="2400" dirty="0"/>
          </a:p>
          <a:p>
            <a:r>
              <a:rPr lang="en-US" sz="1800" dirty="0"/>
              <a:t>utilization on LAN = 15%</a:t>
            </a:r>
            <a:endParaRPr lang="en-US" sz="1800" dirty="0"/>
          </a:p>
          <a:p>
            <a:r>
              <a:rPr lang="en-US" sz="1800" dirty="0"/>
              <a:t>utilization on access link = 100%</a:t>
            </a:r>
            <a:endParaRPr lang="en-US" sz="1800" dirty="0"/>
          </a:p>
          <a:p>
            <a:r>
              <a:rPr lang="en-US" sz="1800" dirty="0"/>
              <a:t>total delay   = Internet delay + access delay + LAN delay</a:t>
            </a:r>
            <a:endParaRPr lang="en-US" sz="1800" dirty="0"/>
          </a:p>
          <a:p>
            <a:pPr>
              <a:buFont typeface="ZapfDingbats" pitchFamily="82" charset="2"/>
              <a:buNone/>
            </a:pPr>
            <a:r>
              <a:rPr lang="en-US" sz="1800" dirty="0"/>
              <a:t>  =  2 sec + </a:t>
            </a:r>
            <a:r>
              <a:rPr lang="en-US" sz="1800" dirty="0">
                <a:highlight>
                  <a:srgbClr val="FFFF00"/>
                </a:highlight>
              </a:rPr>
              <a:t>minutes</a:t>
            </a:r>
            <a:r>
              <a:rPr lang="en-US" sz="1800" dirty="0"/>
              <a:t> + milliseconds</a:t>
            </a:r>
            <a:endParaRPr lang="en-US" sz="1800" dirty="0"/>
          </a:p>
          <a:p>
            <a:endParaRPr lang="en-US" sz="2000" dirty="0"/>
          </a:p>
          <a:p>
            <a:endParaRPr lang="en-US" sz="2000" dirty="0"/>
          </a:p>
        </p:txBody>
      </p:sp>
      <p:grpSp>
        <p:nvGrpSpPr>
          <p:cNvPr id="8203" name="Group 5"/>
          <p:cNvGrpSpPr/>
          <p:nvPr/>
        </p:nvGrpSpPr>
        <p:grpSpPr bwMode="auto">
          <a:xfrm>
            <a:off x="4878388" y="1698625"/>
            <a:ext cx="184150" cy="542925"/>
            <a:chOff x="4180" y="783"/>
            <a:chExt cx="150" cy="307"/>
          </a:xfrm>
        </p:grpSpPr>
        <p:sp>
          <p:nvSpPr>
            <p:cNvPr id="8287" name="AutoShape 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8288" name="Rectangle 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8289" name="Rectangle 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8290" name="AutoShape 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8291" name="Line 1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8292" name="Line 1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8293" name="Rectangle 1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8294" name="Rectangle 1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8204" name="Group 14"/>
          <p:cNvGrpSpPr/>
          <p:nvPr/>
        </p:nvGrpSpPr>
        <p:grpSpPr bwMode="auto">
          <a:xfrm>
            <a:off x="5802313" y="1155700"/>
            <a:ext cx="184150" cy="542925"/>
            <a:chOff x="4180" y="783"/>
            <a:chExt cx="150" cy="307"/>
          </a:xfrm>
        </p:grpSpPr>
        <p:sp>
          <p:nvSpPr>
            <p:cNvPr id="8279" name="AutoShape 1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8280" name="Rectangle 16"/>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8281" name="Rectangle 17"/>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8282" name="AutoShape 1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8283" name="Line 19"/>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8284" name="Line 20"/>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8285" name="Rectangle 21"/>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8286" name="Rectangle 22"/>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8205" name="Group 23"/>
          <p:cNvGrpSpPr/>
          <p:nvPr/>
        </p:nvGrpSpPr>
        <p:grpSpPr bwMode="auto">
          <a:xfrm>
            <a:off x="6478588" y="1184275"/>
            <a:ext cx="184150" cy="542925"/>
            <a:chOff x="4180" y="783"/>
            <a:chExt cx="150" cy="307"/>
          </a:xfrm>
        </p:grpSpPr>
        <p:sp>
          <p:nvSpPr>
            <p:cNvPr id="8271" name="AutoShape 2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8272" name="Rectangle 25"/>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8273" name="Rectangle 26"/>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8274" name="AutoShape 2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8275" name="Line 28"/>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8276" name="Line 29"/>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8277" name="Rectangle 30"/>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8278" name="Rectangle 31"/>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8206" name="Group 32"/>
          <p:cNvGrpSpPr/>
          <p:nvPr/>
        </p:nvGrpSpPr>
        <p:grpSpPr bwMode="auto">
          <a:xfrm>
            <a:off x="7059613" y="1365250"/>
            <a:ext cx="184150" cy="542925"/>
            <a:chOff x="4180" y="783"/>
            <a:chExt cx="150" cy="307"/>
          </a:xfrm>
        </p:grpSpPr>
        <p:sp>
          <p:nvSpPr>
            <p:cNvPr id="8263" name="AutoShape 33"/>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8264" name="Rectangle 34"/>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8265" name="Rectangle 35"/>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8266" name="AutoShape 3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8267" name="Line 37"/>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8268" name="Line 38"/>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8269" name="Rectangle 39"/>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8270" name="Rectangle 40"/>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8207" name="Group 41"/>
          <p:cNvGrpSpPr/>
          <p:nvPr/>
        </p:nvGrpSpPr>
        <p:grpSpPr bwMode="auto">
          <a:xfrm>
            <a:off x="7373938" y="2155825"/>
            <a:ext cx="184150" cy="542925"/>
            <a:chOff x="4180" y="783"/>
            <a:chExt cx="150" cy="307"/>
          </a:xfrm>
        </p:grpSpPr>
        <p:sp>
          <p:nvSpPr>
            <p:cNvPr id="8255" name="AutoShape 42"/>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8256" name="Rectangle 43"/>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8257" name="Rectangle 44"/>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8258" name="AutoShape 4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8259" name="Line 46"/>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8260" name="Line 47"/>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8261" name="Rectangle 48"/>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8262" name="Rectangle 49"/>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8208" name="Text Box 50"/>
          <p:cNvSpPr txBox="1">
            <a:spLocks noChangeArrowheads="1"/>
          </p:cNvSpPr>
          <p:nvPr/>
        </p:nvSpPr>
        <p:spPr bwMode="auto">
          <a:xfrm>
            <a:off x="7600950" y="1208088"/>
            <a:ext cx="1079500" cy="701675"/>
          </a:xfrm>
          <a:prstGeom prst="rect">
            <a:avLst/>
          </a:prstGeom>
          <a:noFill/>
          <a:ln w="9525">
            <a:noFill/>
            <a:miter lim="800000"/>
          </a:ln>
        </p:spPr>
        <p:txBody>
          <a:bodyPr wrap="none">
            <a:spAutoFit/>
          </a:bodyPr>
          <a:lstStyle/>
          <a:p>
            <a:pPr algn="r">
              <a:spcBef>
                <a:spcPct val="0"/>
              </a:spcBef>
              <a:buClrTx/>
              <a:buSzTx/>
              <a:buFontTx/>
              <a:buNone/>
            </a:pPr>
            <a:r>
              <a:rPr lang="en-US" sz="2000"/>
              <a:t>origin</a:t>
            </a:r>
            <a:endParaRPr lang="en-US" sz="2000"/>
          </a:p>
          <a:p>
            <a:pPr algn="r">
              <a:spcBef>
                <a:spcPct val="0"/>
              </a:spcBef>
              <a:buClrTx/>
              <a:buSzTx/>
              <a:buFontTx/>
              <a:buNone/>
            </a:pPr>
            <a:r>
              <a:rPr lang="en-US" sz="2000"/>
              <a:t>servers</a:t>
            </a:r>
            <a:endParaRPr lang="en-US">
              <a:latin typeface="Times New Roman" panose="02020603050405020304" pitchFamily="18" charset="0"/>
            </a:endParaRPr>
          </a:p>
        </p:txBody>
      </p:sp>
      <p:sp>
        <p:nvSpPr>
          <p:cNvPr id="8209" name="Line 51"/>
          <p:cNvSpPr>
            <a:spLocks noChangeShapeType="1"/>
          </p:cNvSpPr>
          <p:nvPr/>
        </p:nvSpPr>
        <p:spPr bwMode="auto">
          <a:xfrm>
            <a:off x="5876925" y="1695450"/>
            <a:ext cx="66675" cy="276225"/>
          </a:xfrm>
          <a:prstGeom prst="line">
            <a:avLst/>
          </a:prstGeom>
          <a:noFill/>
          <a:ln w="28575">
            <a:solidFill>
              <a:schemeClr val="accent2"/>
            </a:solidFill>
            <a:round/>
          </a:ln>
        </p:spPr>
        <p:txBody>
          <a:bodyPr wrap="none" anchor="ctr"/>
          <a:lstStyle/>
          <a:p>
            <a:endParaRPr lang="en-US"/>
          </a:p>
        </p:txBody>
      </p:sp>
      <p:sp>
        <p:nvSpPr>
          <p:cNvPr id="8210" name="Line 52"/>
          <p:cNvSpPr>
            <a:spLocks noChangeShapeType="1"/>
          </p:cNvSpPr>
          <p:nvPr/>
        </p:nvSpPr>
        <p:spPr bwMode="auto">
          <a:xfrm flipH="1">
            <a:off x="6505575" y="1733550"/>
            <a:ext cx="9525" cy="238125"/>
          </a:xfrm>
          <a:prstGeom prst="line">
            <a:avLst/>
          </a:prstGeom>
          <a:noFill/>
          <a:ln w="28575">
            <a:solidFill>
              <a:schemeClr val="accent2"/>
            </a:solidFill>
            <a:round/>
          </a:ln>
        </p:spPr>
        <p:txBody>
          <a:bodyPr wrap="none" anchor="ctr"/>
          <a:lstStyle/>
          <a:p>
            <a:endParaRPr lang="en-US"/>
          </a:p>
        </p:txBody>
      </p:sp>
      <p:sp>
        <p:nvSpPr>
          <p:cNvPr id="8211" name="Line 53"/>
          <p:cNvSpPr>
            <a:spLocks noChangeShapeType="1"/>
          </p:cNvSpPr>
          <p:nvPr/>
        </p:nvSpPr>
        <p:spPr bwMode="auto">
          <a:xfrm flipH="1">
            <a:off x="6962775" y="1895475"/>
            <a:ext cx="133350" cy="209550"/>
          </a:xfrm>
          <a:prstGeom prst="line">
            <a:avLst/>
          </a:prstGeom>
          <a:noFill/>
          <a:ln w="28575">
            <a:solidFill>
              <a:schemeClr val="accent2"/>
            </a:solidFill>
            <a:round/>
          </a:ln>
        </p:spPr>
        <p:txBody>
          <a:bodyPr wrap="none" anchor="ctr"/>
          <a:lstStyle/>
          <a:p>
            <a:endParaRPr lang="en-US"/>
          </a:p>
        </p:txBody>
      </p:sp>
      <p:sp>
        <p:nvSpPr>
          <p:cNvPr id="8212" name="Line 54"/>
          <p:cNvSpPr>
            <a:spLocks noChangeShapeType="1"/>
          </p:cNvSpPr>
          <p:nvPr/>
        </p:nvSpPr>
        <p:spPr bwMode="auto">
          <a:xfrm flipH="1" flipV="1">
            <a:off x="7124700" y="2657475"/>
            <a:ext cx="247650" cy="0"/>
          </a:xfrm>
          <a:prstGeom prst="line">
            <a:avLst/>
          </a:prstGeom>
          <a:noFill/>
          <a:ln w="28575">
            <a:solidFill>
              <a:schemeClr val="accent2"/>
            </a:solidFill>
            <a:round/>
          </a:ln>
        </p:spPr>
        <p:txBody>
          <a:bodyPr wrap="none" anchor="ctr"/>
          <a:lstStyle/>
          <a:p>
            <a:endParaRPr lang="en-US"/>
          </a:p>
        </p:txBody>
      </p:sp>
      <p:sp>
        <p:nvSpPr>
          <p:cNvPr id="8213" name="Freeform 55"/>
          <p:cNvSpPr/>
          <p:nvPr/>
        </p:nvSpPr>
        <p:spPr bwMode="auto">
          <a:xfrm>
            <a:off x="5162550" y="1689100"/>
            <a:ext cx="2174875" cy="158115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w="9525">
            <a:noFill/>
            <a:round/>
          </a:ln>
        </p:spPr>
        <p:txBody>
          <a:bodyPr wrap="none" anchor="ctr"/>
          <a:lstStyle/>
          <a:p>
            <a:endParaRPr lang="en-US"/>
          </a:p>
        </p:txBody>
      </p:sp>
      <p:grpSp>
        <p:nvGrpSpPr>
          <p:cNvPr id="8214" name="Group 56"/>
          <p:cNvGrpSpPr/>
          <p:nvPr/>
        </p:nvGrpSpPr>
        <p:grpSpPr bwMode="auto">
          <a:xfrm>
            <a:off x="6145213" y="2890838"/>
            <a:ext cx="501650" cy="233362"/>
            <a:chOff x="3600" y="219"/>
            <a:chExt cx="360" cy="175"/>
          </a:xfrm>
        </p:grpSpPr>
        <p:sp>
          <p:nvSpPr>
            <p:cNvPr id="8242" name="Oval 57"/>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p>
              <a:endParaRPr lang="en-US"/>
            </a:p>
          </p:txBody>
        </p:sp>
        <p:sp>
          <p:nvSpPr>
            <p:cNvPr id="8243" name="Line 58"/>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8244" name="Line 59"/>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8245" name="Rectangle 60"/>
            <p:cNvSpPr>
              <a:spLocks noChangeArrowheads="1"/>
            </p:cNvSpPr>
            <p:nvPr/>
          </p:nvSpPr>
          <p:spPr bwMode="auto">
            <a:xfrm>
              <a:off x="3603" y="289"/>
              <a:ext cx="354" cy="59"/>
            </a:xfrm>
            <a:prstGeom prst="rect">
              <a:avLst/>
            </a:prstGeom>
            <a:solidFill>
              <a:schemeClr val="hlink"/>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8246" name="Oval 61"/>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p>
              <a:endParaRPr lang="en-US"/>
            </a:p>
          </p:txBody>
        </p:sp>
        <p:grpSp>
          <p:nvGrpSpPr>
            <p:cNvPr id="8247" name="Group 62"/>
            <p:cNvGrpSpPr/>
            <p:nvPr/>
          </p:nvGrpSpPr>
          <p:grpSpPr bwMode="auto">
            <a:xfrm>
              <a:off x="3686" y="244"/>
              <a:ext cx="177" cy="66"/>
              <a:chOff x="2848" y="848"/>
              <a:chExt cx="140" cy="98"/>
            </a:xfrm>
          </p:grpSpPr>
          <p:sp>
            <p:nvSpPr>
              <p:cNvPr id="8252" name="Line 63"/>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8253" name="Line 64"/>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8254" name="Line 65"/>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8248" name="Group 66"/>
            <p:cNvGrpSpPr/>
            <p:nvPr/>
          </p:nvGrpSpPr>
          <p:grpSpPr bwMode="auto">
            <a:xfrm flipV="1">
              <a:off x="3686" y="243"/>
              <a:ext cx="177" cy="66"/>
              <a:chOff x="2848" y="848"/>
              <a:chExt cx="140" cy="98"/>
            </a:xfrm>
          </p:grpSpPr>
          <p:sp>
            <p:nvSpPr>
              <p:cNvPr id="8249" name="Line 67"/>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8250" name="Line 68"/>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8251" name="Line 69"/>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8215" name="Text Box 70"/>
          <p:cNvSpPr txBox="1">
            <a:spLocks noChangeArrowheads="1"/>
          </p:cNvSpPr>
          <p:nvPr/>
        </p:nvSpPr>
        <p:spPr bwMode="auto">
          <a:xfrm>
            <a:off x="5595938" y="1998663"/>
            <a:ext cx="1079500" cy="581025"/>
          </a:xfrm>
          <a:prstGeom prst="rect">
            <a:avLst/>
          </a:prstGeom>
          <a:noFill/>
          <a:ln w="9525">
            <a:noFill/>
            <a:miter lim="800000"/>
          </a:ln>
        </p:spPr>
        <p:txBody>
          <a:bodyPr wrap="none">
            <a:spAutoFit/>
          </a:bodyPr>
          <a:lstStyle/>
          <a:p>
            <a:pPr algn="ctr">
              <a:spcBef>
                <a:spcPct val="0"/>
              </a:spcBef>
              <a:buClrTx/>
              <a:buSzTx/>
              <a:buFontTx/>
              <a:buNone/>
            </a:pPr>
            <a:r>
              <a:rPr lang="en-US" sz="1600"/>
              <a:t>public</a:t>
            </a:r>
            <a:endParaRPr lang="en-US" sz="1600"/>
          </a:p>
          <a:p>
            <a:pPr algn="ctr">
              <a:spcBef>
                <a:spcPct val="0"/>
              </a:spcBef>
              <a:buClrTx/>
              <a:buSzTx/>
              <a:buFontTx/>
              <a:buNone/>
            </a:pPr>
            <a:r>
              <a:rPr lang="en-US" sz="1600"/>
              <a:t> Internet</a:t>
            </a:r>
            <a:endParaRPr lang="en-US">
              <a:solidFill>
                <a:schemeClr val="accent2"/>
              </a:solidFill>
              <a:latin typeface="Times New Roman" panose="02020603050405020304" pitchFamily="18" charset="0"/>
            </a:endParaRPr>
          </a:p>
        </p:txBody>
      </p:sp>
      <p:sp>
        <p:nvSpPr>
          <p:cNvPr id="8216" name="Freeform 71"/>
          <p:cNvSpPr/>
          <p:nvPr/>
        </p:nvSpPr>
        <p:spPr bwMode="auto">
          <a:xfrm>
            <a:off x="4732338" y="4059238"/>
            <a:ext cx="2965450" cy="1390650"/>
          </a:xfrm>
          <a:custGeom>
            <a:avLst/>
            <a:gdLst>
              <a:gd name="T0" fmla="*/ 31 w 1868"/>
              <a:gd name="T1" fmla="*/ 327 h 876"/>
              <a:gd name="T2" fmla="*/ 103 w 1868"/>
              <a:gd name="T3" fmla="*/ 137 h 876"/>
              <a:gd name="T4" fmla="*/ 649 w 1868"/>
              <a:gd name="T5" fmla="*/ 17 h 876"/>
              <a:gd name="T6" fmla="*/ 1141 w 1868"/>
              <a:gd name="T7" fmla="*/ 35 h 876"/>
              <a:gd name="T8" fmla="*/ 1763 w 1868"/>
              <a:gd name="T9" fmla="*/ 121 h 876"/>
              <a:gd name="T10" fmla="*/ 1774 w 1868"/>
              <a:gd name="T11" fmla="*/ 741 h 876"/>
              <a:gd name="T12" fmla="*/ 1369 w 1868"/>
              <a:gd name="T13" fmla="*/ 845 h 876"/>
              <a:gd name="T14" fmla="*/ 781 w 1868"/>
              <a:gd name="T15" fmla="*/ 851 h 876"/>
              <a:gd name="T16" fmla="*/ 447 w 1868"/>
              <a:gd name="T17" fmla="*/ 847 h 876"/>
              <a:gd name="T18" fmla="*/ 168 w 1868"/>
              <a:gd name="T19" fmla="*/ 676 h 876"/>
              <a:gd name="T20" fmla="*/ 31 w 1868"/>
              <a:gd name="T21" fmla="*/ 327 h 8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68"/>
              <a:gd name="T34" fmla="*/ 0 h 876"/>
              <a:gd name="T35" fmla="*/ 1868 w 1868"/>
              <a:gd name="T36" fmla="*/ 876 h 8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33CCCC"/>
          </a:solidFill>
          <a:ln w="9525">
            <a:noFill/>
            <a:round/>
          </a:ln>
        </p:spPr>
        <p:txBody>
          <a:bodyPr wrap="none" anchor="ctr"/>
          <a:lstStyle/>
          <a:p>
            <a:endParaRPr lang="en-US"/>
          </a:p>
        </p:txBody>
      </p:sp>
      <p:graphicFrame>
        <p:nvGraphicFramePr>
          <p:cNvPr id="8194" name="Object 72"/>
          <p:cNvGraphicFramePr>
            <a:graphicFrameLocks noChangeAspect="1"/>
          </p:cNvGraphicFramePr>
          <p:nvPr/>
        </p:nvGraphicFramePr>
        <p:xfrm>
          <a:off x="4979988" y="4803775"/>
          <a:ext cx="444500" cy="357188"/>
        </p:xfrm>
        <a:graphic>
          <a:graphicData uri="http://schemas.openxmlformats.org/presentationml/2006/ole">
            <mc:AlternateContent xmlns:mc="http://schemas.openxmlformats.org/markup-compatibility/2006">
              <mc:Choice xmlns:v="urn:schemas-microsoft-com:vml" Requires="v">
                <p:oleObj spid="_x0000_s2" name="Clip" r:id="rId1" imgW="18192750" imgH="15087600" progId="">
                  <p:embed/>
                </p:oleObj>
              </mc:Choice>
              <mc:Fallback>
                <p:oleObj name="Clip" r:id="rId1" imgW="18192750" imgH="15087600" progId="">
                  <p:embed/>
                  <p:pic>
                    <p:nvPicPr>
                      <p:cNvPr id="0" name="Object 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9988" y="4803775"/>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73"/>
          <p:cNvGraphicFramePr>
            <a:graphicFrameLocks noChangeAspect="1"/>
          </p:cNvGraphicFramePr>
          <p:nvPr/>
        </p:nvGraphicFramePr>
        <p:xfrm>
          <a:off x="5484813" y="4803775"/>
          <a:ext cx="444500" cy="357188"/>
        </p:xfrm>
        <a:graphic>
          <a:graphicData uri="http://schemas.openxmlformats.org/presentationml/2006/ole">
            <mc:AlternateContent xmlns:mc="http://schemas.openxmlformats.org/markup-compatibility/2006">
              <mc:Choice xmlns:v="urn:schemas-microsoft-com:vml" Requires="v">
                <p:oleObj spid="_x0000_s3" name="Clip" r:id="rId3" imgW="18192750" imgH="15087600" progId="">
                  <p:embed/>
                </p:oleObj>
              </mc:Choice>
              <mc:Fallback>
                <p:oleObj name="Clip" r:id="rId3" imgW="18192750" imgH="15087600" progId="">
                  <p:embed/>
                  <p:pic>
                    <p:nvPicPr>
                      <p:cNvPr id="0" name="Object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4813" y="4803775"/>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6" name="Object 74"/>
          <p:cNvGraphicFramePr>
            <a:graphicFrameLocks noChangeAspect="1"/>
          </p:cNvGraphicFramePr>
          <p:nvPr/>
        </p:nvGraphicFramePr>
        <p:xfrm>
          <a:off x="6018213" y="4794250"/>
          <a:ext cx="444500" cy="357188"/>
        </p:xfrm>
        <a:graphic>
          <a:graphicData uri="http://schemas.openxmlformats.org/presentationml/2006/ole">
            <mc:AlternateContent xmlns:mc="http://schemas.openxmlformats.org/markup-compatibility/2006">
              <mc:Choice xmlns:v="urn:schemas-microsoft-com:vml" Requires="v">
                <p:oleObj spid="_x0000_s4" name="Clip" r:id="rId4" imgW="18192750" imgH="15087600" progId="">
                  <p:embed/>
                </p:oleObj>
              </mc:Choice>
              <mc:Fallback>
                <p:oleObj name="Clip" r:id="rId4" imgW="18192750" imgH="15087600" progId="">
                  <p:embed/>
                  <p:pic>
                    <p:nvPicPr>
                      <p:cNvPr id="0" name="Object 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8213" y="4794250"/>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7" name="Object 75"/>
          <p:cNvGraphicFramePr>
            <a:graphicFrameLocks noChangeAspect="1"/>
          </p:cNvGraphicFramePr>
          <p:nvPr/>
        </p:nvGraphicFramePr>
        <p:xfrm>
          <a:off x="6532563" y="4803775"/>
          <a:ext cx="444500" cy="357188"/>
        </p:xfrm>
        <a:graphic>
          <a:graphicData uri="http://schemas.openxmlformats.org/presentationml/2006/ole">
            <mc:AlternateContent xmlns:mc="http://schemas.openxmlformats.org/markup-compatibility/2006">
              <mc:Choice xmlns:v="urn:schemas-microsoft-com:vml" Requires="v">
                <p:oleObj spid="_x0000_s5" name="Clip" r:id="rId5" imgW="18192750" imgH="15087600" progId="">
                  <p:embed/>
                </p:oleObj>
              </mc:Choice>
              <mc:Fallback>
                <p:oleObj name="Clip" r:id="rId5" imgW="18192750" imgH="15087600" progId="">
                  <p:embed/>
                  <p:pic>
                    <p:nvPicPr>
                      <p:cNvPr id="0" name="Object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2563" y="4803775"/>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17" name="Line 76"/>
          <p:cNvSpPr>
            <a:spLocks noChangeShapeType="1"/>
          </p:cNvSpPr>
          <p:nvPr/>
        </p:nvSpPr>
        <p:spPr bwMode="auto">
          <a:xfrm flipV="1">
            <a:off x="5172075" y="4592638"/>
            <a:ext cx="1557338" cy="12700"/>
          </a:xfrm>
          <a:prstGeom prst="line">
            <a:avLst/>
          </a:prstGeom>
          <a:noFill/>
          <a:ln w="28575">
            <a:solidFill>
              <a:schemeClr val="tx1"/>
            </a:solidFill>
            <a:round/>
          </a:ln>
        </p:spPr>
        <p:txBody>
          <a:bodyPr wrap="none" anchor="ctr"/>
          <a:lstStyle/>
          <a:p>
            <a:endParaRPr lang="en-US"/>
          </a:p>
        </p:txBody>
      </p:sp>
      <p:sp>
        <p:nvSpPr>
          <p:cNvPr id="8218" name="Line 77"/>
          <p:cNvSpPr>
            <a:spLocks noChangeShapeType="1"/>
          </p:cNvSpPr>
          <p:nvPr/>
        </p:nvSpPr>
        <p:spPr bwMode="auto">
          <a:xfrm>
            <a:off x="5181600" y="4605338"/>
            <a:ext cx="0" cy="195262"/>
          </a:xfrm>
          <a:prstGeom prst="line">
            <a:avLst/>
          </a:prstGeom>
          <a:noFill/>
          <a:ln w="28575">
            <a:solidFill>
              <a:schemeClr val="tx1"/>
            </a:solidFill>
            <a:round/>
          </a:ln>
        </p:spPr>
        <p:txBody>
          <a:bodyPr wrap="none" anchor="ctr"/>
          <a:lstStyle/>
          <a:p>
            <a:endParaRPr lang="en-US"/>
          </a:p>
        </p:txBody>
      </p:sp>
      <p:sp>
        <p:nvSpPr>
          <p:cNvPr id="8219" name="Line 78"/>
          <p:cNvSpPr>
            <a:spLocks noChangeShapeType="1"/>
          </p:cNvSpPr>
          <p:nvPr/>
        </p:nvSpPr>
        <p:spPr bwMode="auto">
          <a:xfrm>
            <a:off x="5691188" y="4614863"/>
            <a:ext cx="0" cy="195262"/>
          </a:xfrm>
          <a:prstGeom prst="line">
            <a:avLst/>
          </a:prstGeom>
          <a:noFill/>
          <a:ln w="28575">
            <a:solidFill>
              <a:schemeClr val="tx1"/>
            </a:solidFill>
            <a:round/>
          </a:ln>
        </p:spPr>
        <p:txBody>
          <a:bodyPr wrap="none" anchor="ctr"/>
          <a:lstStyle/>
          <a:p>
            <a:endParaRPr lang="en-US"/>
          </a:p>
        </p:txBody>
      </p:sp>
      <p:sp>
        <p:nvSpPr>
          <p:cNvPr id="8220" name="Line 79"/>
          <p:cNvSpPr>
            <a:spLocks noChangeShapeType="1"/>
          </p:cNvSpPr>
          <p:nvPr/>
        </p:nvSpPr>
        <p:spPr bwMode="auto">
          <a:xfrm>
            <a:off x="6229350" y="4610100"/>
            <a:ext cx="0" cy="195263"/>
          </a:xfrm>
          <a:prstGeom prst="line">
            <a:avLst/>
          </a:prstGeom>
          <a:noFill/>
          <a:ln w="28575">
            <a:solidFill>
              <a:schemeClr val="tx1"/>
            </a:solidFill>
            <a:round/>
          </a:ln>
        </p:spPr>
        <p:txBody>
          <a:bodyPr wrap="none" anchor="ctr"/>
          <a:lstStyle/>
          <a:p>
            <a:endParaRPr lang="en-US"/>
          </a:p>
        </p:txBody>
      </p:sp>
      <p:sp>
        <p:nvSpPr>
          <p:cNvPr id="8221" name="Line 80"/>
          <p:cNvSpPr>
            <a:spLocks noChangeShapeType="1"/>
          </p:cNvSpPr>
          <p:nvPr/>
        </p:nvSpPr>
        <p:spPr bwMode="auto">
          <a:xfrm>
            <a:off x="6729413" y="4610100"/>
            <a:ext cx="0" cy="223838"/>
          </a:xfrm>
          <a:prstGeom prst="line">
            <a:avLst/>
          </a:prstGeom>
          <a:noFill/>
          <a:ln w="28575">
            <a:solidFill>
              <a:schemeClr val="tx1"/>
            </a:solidFill>
            <a:round/>
          </a:ln>
        </p:spPr>
        <p:txBody>
          <a:bodyPr wrap="none" anchor="ctr"/>
          <a:lstStyle/>
          <a:p>
            <a:endParaRPr lang="en-US"/>
          </a:p>
        </p:txBody>
      </p:sp>
      <p:grpSp>
        <p:nvGrpSpPr>
          <p:cNvPr id="8222" name="Group 81"/>
          <p:cNvGrpSpPr/>
          <p:nvPr/>
        </p:nvGrpSpPr>
        <p:grpSpPr bwMode="auto">
          <a:xfrm>
            <a:off x="6145425" y="4191000"/>
            <a:ext cx="501650" cy="233363"/>
            <a:chOff x="3600" y="219"/>
            <a:chExt cx="360" cy="175"/>
          </a:xfrm>
        </p:grpSpPr>
        <p:sp>
          <p:nvSpPr>
            <p:cNvPr id="8229" name="Oval 82"/>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p>
              <a:endParaRPr lang="en-US"/>
            </a:p>
          </p:txBody>
        </p:sp>
        <p:sp>
          <p:nvSpPr>
            <p:cNvPr id="8230" name="Line 83"/>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8231" name="Line 84"/>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8232" name="Rectangle 85"/>
            <p:cNvSpPr>
              <a:spLocks noChangeArrowheads="1"/>
            </p:cNvSpPr>
            <p:nvPr/>
          </p:nvSpPr>
          <p:spPr bwMode="auto">
            <a:xfrm>
              <a:off x="3603" y="289"/>
              <a:ext cx="354" cy="59"/>
            </a:xfrm>
            <a:prstGeom prst="rect">
              <a:avLst/>
            </a:prstGeom>
            <a:solidFill>
              <a:schemeClr val="hlink"/>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8233" name="Oval 86"/>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p>
              <a:endParaRPr lang="en-US"/>
            </a:p>
          </p:txBody>
        </p:sp>
        <p:grpSp>
          <p:nvGrpSpPr>
            <p:cNvPr id="8234" name="Group 87"/>
            <p:cNvGrpSpPr/>
            <p:nvPr/>
          </p:nvGrpSpPr>
          <p:grpSpPr bwMode="auto">
            <a:xfrm>
              <a:off x="3686" y="244"/>
              <a:ext cx="177" cy="66"/>
              <a:chOff x="2848" y="848"/>
              <a:chExt cx="140" cy="98"/>
            </a:xfrm>
          </p:grpSpPr>
          <p:sp>
            <p:nvSpPr>
              <p:cNvPr id="8239" name="Line 88"/>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8240" name="Line 89"/>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8241" name="Line 90"/>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8235" name="Group 91"/>
            <p:cNvGrpSpPr/>
            <p:nvPr/>
          </p:nvGrpSpPr>
          <p:grpSpPr bwMode="auto">
            <a:xfrm flipV="1">
              <a:off x="3686" y="243"/>
              <a:ext cx="177" cy="66"/>
              <a:chOff x="2848" y="848"/>
              <a:chExt cx="140" cy="98"/>
            </a:xfrm>
          </p:grpSpPr>
          <p:sp>
            <p:nvSpPr>
              <p:cNvPr id="8236" name="Line 92"/>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8237" name="Line 93"/>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8238" name="Line 94"/>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8223" name="Line 95"/>
          <p:cNvSpPr>
            <a:spLocks noChangeShapeType="1"/>
          </p:cNvSpPr>
          <p:nvPr/>
        </p:nvSpPr>
        <p:spPr bwMode="auto">
          <a:xfrm>
            <a:off x="6391275" y="3133725"/>
            <a:ext cx="0" cy="1062038"/>
          </a:xfrm>
          <a:prstGeom prst="line">
            <a:avLst/>
          </a:prstGeom>
          <a:noFill/>
          <a:ln w="28575">
            <a:solidFill>
              <a:schemeClr val="tx1"/>
            </a:solidFill>
            <a:round/>
          </a:ln>
        </p:spPr>
        <p:txBody>
          <a:bodyPr wrap="none" anchor="ctr"/>
          <a:lstStyle/>
          <a:p>
            <a:endParaRPr lang="en-US"/>
          </a:p>
        </p:txBody>
      </p:sp>
      <p:sp>
        <p:nvSpPr>
          <p:cNvPr id="8224" name="Line 96"/>
          <p:cNvSpPr>
            <a:spLocks noChangeShapeType="1"/>
          </p:cNvSpPr>
          <p:nvPr/>
        </p:nvSpPr>
        <p:spPr bwMode="auto">
          <a:xfrm>
            <a:off x="6396038" y="4419600"/>
            <a:ext cx="0" cy="166688"/>
          </a:xfrm>
          <a:prstGeom prst="line">
            <a:avLst/>
          </a:prstGeom>
          <a:noFill/>
          <a:ln w="28575">
            <a:solidFill>
              <a:schemeClr val="tx1"/>
            </a:solidFill>
            <a:round/>
          </a:ln>
        </p:spPr>
        <p:txBody>
          <a:bodyPr wrap="none" anchor="ctr"/>
          <a:lstStyle/>
          <a:p>
            <a:endParaRPr lang="en-US"/>
          </a:p>
        </p:txBody>
      </p:sp>
      <p:sp>
        <p:nvSpPr>
          <p:cNvPr id="8225" name="Text Box 97"/>
          <p:cNvSpPr txBox="1">
            <a:spLocks noChangeArrowheads="1"/>
          </p:cNvSpPr>
          <p:nvPr/>
        </p:nvSpPr>
        <p:spPr bwMode="auto">
          <a:xfrm>
            <a:off x="4695825" y="3946525"/>
            <a:ext cx="1325563" cy="581025"/>
          </a:xfrm>
          <a:prstGeom prst="rect">
            <a:avLst/>
          </a:prstGeom>
          <a:noFill/>
          <a:ln w="9525">
            <a:noFill/>
            <a:miter lim="800000"/>
          </a:ln>
        </p:spPr>
        <p:txBody>
          <a:bodyPr wrap="none">
            <a:spAutoFit/>
          </a:bodyPr>
          <a:lstStyle/>
          <a:p>
            <a:pPr algn="ctr">
              <a:spcBef>
                <a:spcPct val="0"/>
              </a:spcBef>
              <a:buClrTx/>
              <a:buSzTx/>
              <a:buFontTx/>
              <a:buNone/>
            </a:pPr>
            <a:r>
              <a:rPr lang="en-US" sz="1600"/>
              <a:t>institutional</a:t>
            </a:r>
            <a:endParaRPr lang="en-US" sz="1600"/>
          </a:p>
          <a:p>
            <a:pPr algn="ctr">
              <a:spcBef>
                <a:spcPct val="0"/>
              </a:spcBef>
              <a:buClrTx/>
              <a:buSzTx/>
              <a:buFontTx/>
              <a:buNone/>
            </a:pPr>
            <a:r>
              <a:rPr lang="en-US" sz="1600"/>
              <a:t>network</a:t>
            </a:r>
            <a:endParaRPr lang="en-US">
              <a:solidFill>
                <a:schemeClr val="accent2"/>
              </a:solidFill>
              <a:latin typeface="Times New Roman" panose="02020603050405020304" pitchFamily="18" charset="0"/>
            </a:endParaRPr>
          </a:p>
        </p:txBody>
      </p:sp>
      <p:sp>
        <p:nvSpPr>
          <p:cNvPr id="8226" name="Text Box 98"/>
          <p:cNvSpPr txBox="1">
            <a:spLocks noChangeArrowheads="1"/>
          </p:cNvSpPr>
          <p:nvPr/>
        </p:nvSpPr>
        <p:spPr bwMode="auto">
          <a:xfrm>
            <a:off x="6630988" y="4294188"/>
            <a:ext cx="1588898" cy="338554"/>
          </a:xfrm>
          <a:prstGeom prst="rect">
            <a:avLst/>
          </a:prstGeom>
          <a:noFill/>
          <a:ln w="9525">
            <a:noFill/>
            <a:miter lim="800000"/>
          </a:ln>
        </p:spPr>
        <p:txBody>
          <a:bodyPr wrap="none">
            <a:spAutoFit/>
          </a:bodyPr>
          <a:lstStyle/>
          <a:p>
            <a:pPr algn="ctr">
              <a:spcBef>
                <a:spcPct val="0"/>
              </a:spcBef>
              <a:buClrTx/>
              <a:buSzTx/>
              <a:buFontTx/>
              <a:buNone/>
            </a:pPr>
            <a:r>
              <a:rPr lang="en-US" sz="1600" dirty="0"/>
              <a:t>100 Mbps LAN</a:t>
            </a:r>
            <a:endParaRPr lang="en-US" dirty="0">
              <a:solidFill>
                <a:schemeClr val="accent2"/>
              </a:solidFill>
              <a:latin typeface="Times New Roman" panose="02020603050405020304" pitchFamily="18" charset="0"/>
            </a:endParaRPr>
          </a:p>
        </p:txBody>
      </p:sp>
      <p:sp>
        <p:nvSpPr>
          <p:cNvPr id="8227" name="Text Box 99"/>
          <p:cNvSpPr txBox="1">
            <a:spLocks noChangeArrowheads="1"/>
          </p:cNvSpPr>
          <p:nvPr/>
        </p:nvSpPr>
        <p:spPr bwMode="auto">
          <a:xfrm>
            <a:off x="6392863" y="3322638"/>
            <a:ext cx="1195387" cy="581025"/>
          </a:xfrm>
          <a:prstGeom prst="rect">
            <a:avLst/>
          </a:prstGeom>
          <a:noFill/>
          <a:ln w="9525">
            <a:noFill/>
            <a:miter lim="800000"/>
          </a:ln>
        </p:spPr>
        <p:txBody>
          <a:bodyPr wrap="none">
            <a:spAutoFit/>
          </a:bodyPr>
          <a:lstStyle/>
          <a:p>
            <a:pPr>
              <a:spcBef>
                <a:spcPct val="0"/>
              </a:spcBef>
              <a:buClrTx/>
              <a:buSzTx/>
              <a:buFontTx/>
              <a:buNone/>
            </a:pPr>
            <a:r>
              <a:rPr lang="en-US" sz="1600" dirty="0"/>
              <a:t>15 Mbps </a:t>
            </a:r>
            <a:endParaRPr lang="en-US" sz="1600" dirty="0"/>
          </a:p>
          <a:p>
            <a:pPr>
              <a:spcBef>
                <a:spcPct val="0"/>
              </a:spcBef>
              <a:buClrTx/>
              <a:buSzTx/>
              <a:buFontTx/>
              <a:buNone/>
            </a:pPr>
            <a:r>
              <a:rPr lang="en-US" sz="1600" dirty="0"/>
              <a:t>access link</a:t>
            </a:r>
            <a:endParaRPr lang="en-US" dirty="0">
              <a:solidFill>
                <a:schemeClr val="accent2"/>
              </a:solidFill>
              <a:latin typeface="Times New Roman" panose="02020603050405020304" pitchFamily="18" charset="0"/>
            </a:endParaRPr>
          </a:p>
        </p:txBody>
      </p:sp>
      <p:sp>
        <p:nvSpPr>
          <p:cNvPr id="8228" name="Text Box 100"/>
          <p:cNvSpPr txBox="1">
            <a:spLocks noChangeArrowheads="1"/>
          </p:cNvSpPr>
          <p:nvPr/>
        </p:nvSpPr>
        <p:spPr bwMode="auto">
          <a:xfrm>
            <a:off x="6877050" y="5370513"/>
            <a:ext cx="1466850" cy="641350"/>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rPr>
              <a:t>institutional</a:t>
            </a:r>
            <a:endParaRPr lang="en-US" sz="1800">
              <a:solidFill>
                <a:srgbClr val="FF0000"/>
              </a:solidFill>
            </a:endParaRPr>
          </a:p>
          <a:p>
            <a:pPr algn="ctr">
              <a:spcBef>
                <a:spcPct val="0"/>
              </a:spcBef>
              <a:buClrTx/>
              <a:buSzTx/>
              <a:buFontTx/>
              <a:buNone/>
            </a:pPr>
            <a:r>
              <a:rPr lang="en-US" sz="1800">
                <a:solidFill>
                  <a:srgbClr val="FF0000"/>
                </a:solidFill>
              </a:rPr>
              <a:t>cache</a:t>
            </a:r>
            <a:endParaRPr lang="en-US">
              <a:solidFill>
                <a:schemeClr val="accent2"/>
              </a:solidFill>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9223" name="Slide Number Placeholder 6"/>
          <p:cNvSpPr>
            <a:spLocks noGrp="1"/>
          </p:cNvSpPr>
          <p:nvPr>
            <p:ph type="sldNum" sz="quarter" idx="12"/>
          </p:nvPr>
        </p:nvSpPr>
        <p:spPr>
          <a:noFill/>
        </p:spPr>
        <p:txBody>
          <a:bodyPr/>
          <a:lstStyle/>
          <a:p>
            <a:fld id="{4A5221B2-EFE4-41D7-B269-2FB45B6245A4}" type="slidenum">
              <a:rPr lang="en-US"/>
            </a:fld>
            <a:endParaRPr lang="en-US"/>
          </a:p>
        </p:txBody>
      </p:sp>
      <p:sp>
        <p:nvSpPr>
          <p:cNvPr id="9224" name="Line 2"/>
          <p:cNvSpPr>
            <a:spLocks noChangeShapeType="1"/>
          </p:cNvSpPr>
          <p:nvPr/>
        </p:nvSpPr>
        <p:spPr bwMode="auto">
          <a:xfrm>
            <a:off x="5067300" y="2076450"/>
            <a:ext cx="285750" cy="114300"/>
          </a:xfrm>
          <a:prstGeom prst="line">
            <a:avLst/>
          </a:prstGeom>
          <a:noFill/>
          <a:ln w="28575">
            <a:solidFill>
              <a:schemeClr val="accent2"/>
            </a:solidFill>
            <a:round/>
          </a:ln>
        </p:spPr>
        <p:txBody>
          <a:bodyPr wrap="none" anchor="ctr"/>
          <a:lstStyle/>
          <a:p>
            <a:endParaRPr lang="en-US"/>
          </a:p>
        </p:txBody>
      </p:sp>
      <p:sp>
        <p:nvSpPr>
          <p:cNvPr id="9225" name="Rectangle 3"/>
          <p:cNvSpPr>
            <a:spLocks noGrp="1" noChangeArrowheads="1"/>
          </p:cNvSpPr>
          <p:nvPr>
            <p:ph type="title"/>
          </p:nvPr>
        </p:nvSpPr>
        <p:spPr>
          <a:xfrm>
            <a:off x="533400" y="228600"/>
            <a:ext cx="5213350" cy="1143000"/>
          </a:xfrm>
        </p:spPr>
        <p:txBody>
          <a:bodyPr/>
          <a:lstStyle/>
          <a:p>
            <a:r>
              <a:rPr lang="en-US" sz="3600"/>
              <a:t>Caching example (cont)</a:t>
            </a:r>
            <a:endParaRPr lang="en-US"/>
          </a:p>
        </p:txBody>
      </p:sp>
      <p:sp>
        <p:nvSpPr>
          <p:cNvPr id="9226" name="Rectangle 4"/>
          <p:cNvSpPr>
            <a:spLocks noGrp="1" noChangeArrowheads="1"/>
          </p:cNvSpPr>
          <p:nvPr>
            <p:ph type="body" sz="half" idx="1"/>
          </p:nvPr>
        </p:nvSpPr>
        <p:spPr>
          <a:xfrm>
            <a:off x="520700" y="1379538"/>
            <a:ext cx="4164013" cy="4648200"/>
          </a:xfrm>
        </p:spPr>
        <p:txBody>
          <a:bodyPr/>
          <a:lstStyle/>
          <a:p>
            <a:pPr>
              <a:buFont typeface="ZapfDingbats" pitchFamily="82" charset="2"/>
              <a:buNone/>
            </a:pPr>
            <a:r>
              <a:rPr lang="en-US" sz="2400" u="sng" dirty="0">
                <a:solidFill>
                  <a:srgbClr val="FF0000"/>
                </a:solidFill>
              </a:rPr>
              <a:t>possible solution</a:t>
            </a:r>
            <a:endParaRPr lang="en-US" sz="2400" dirty="0"/>
          </a:p>
          <a:p>
            <a:r>
              <a:rPr lang="en-US" sz="2000" dirty="0"/>
              <a:t>increase bandwidth of access link to, say, 100 Mbps</a:t>
            </a:r>
            <a:endParaRPr lang="en-US" sz="2000" dirty="0"/>
          </a:p>
          <a:p>
            <a:pPr>
              <a:buFont typeface="ZapfDingbats" pitchFamily="82" charset="2"/>
              <a:buNone/>
            </a:pPr>
            <a:r>
              <a:rPr lang="en-US" sz="2400" u="sng" dirty="0">
                <a:solidFill>
                  <a:srgbClr val="FF0000"/>
                </a:solidFill>
              </a:rPr>
              <a:t>consequence</a:t>
            </a:r>
            <a:endParaRPr lang="en-US" sz="2400" dirty="0"/>
          </a:p>
          <a:p>
            <a:r>
              <a:rPr lang="en-US" sz="1800" dirty="0"/>
              <a:t>utilization on LAN = 15%</a:t>
            </a:r>
            <a:endParaRPr lang="en-US" sz="1800" dirty="0"/>
          </a:p>
          <a:p>
            <a:r>
              <a:rPr lang="en-US" sz="1800" dirty="0"/>
              <a:t>utilization on access link = 15%</a:t>
            </a:r>
            <a:endParaRPr lang="en-US" sz="1800" dirty="0"/>
          </a:p>
          <a:p>
            <a:r>
              <a:rPr lang="en-US" sz="1800" dirty="0"/>
              <a:t>Total delay   = Internet delay + access delay + LAN delay</a:t>
            </a:r>
            <a:endParaRPr lang="en-US" sz="1800" dirty="0"/>
          </a:p>
          <a:p>
            <a:pPr>
              <a:buFont typeface="ZapfDingbats" pitchFamily="82" charset="2"/>
              <a:buNone/>
            </a:pPr>
            <a:r>
              <a:rPr lang="en-US" sz="1800" dirty="0"/>
              <a:t>  =  2 sec + </a:t>
            </a:r>
            <a:r>
              <a:rPr lang="en-US" sz="1800" dirty="0" err="1"/>
              <a:t>msecs</a:t>
            </a:r>
            <a:r>
              <a:rPr lang="en-US" sz="1800" dirty="0"/>
              <a:t> + </a:t>
            </a:r>
            <a:r>
              <a:rPr lang="en-US" sz="1800" dirty="0" err="1"/>
              <a:t>msecs</a:t>
            </a:r>
            <a:endParaRPr lang="en-US" sz="1800" dirty="0"/>
          </a:p>
          <a:p>
            <a:r>
              <a:rPr lang="en-US" sz="1800" dirty="0"/>
              <a:t>often a costly upgrade</a:t>
            </a:r>
            <a:endParaRPr lang="en-US" sz="1800" dirty="0"/>
          </a:p>
          <a:p>
            <a:endParaRPr lang="en-US" sz="2000" dirty="0"/>
          </a:p>
          <a:p>
            <a:endParaRPr lang="en-US" sz="2000" dirty="0"/>
          </a:p>
        </p:txBody>
      </p:sp>
      <p:grpSp>
        <p:nvGrpSpPr>
          <p:cNvPr id="9227" name="Group 5"/>
          <p:cNvGrpSpPr/>
          <p:nvPr/>
        </p:nvGrpSpPr>
        <p:grpSpPr bwMode="auto">
          <a:xfrm>
            <a:off x="4878388" y="1698625"/>
            <a:ext cx="184150" cy="542925"/>
            <a:chOff x="4180" y="783"/>
            <a:chExt cx="150" cy="307"/>
          </a:xfrm>
        </p:grpSpPr>
        <p:sp>
          <p:nvSpPr>
            <p:cNvPr id="9311" name="AutoShape 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9312" name="Rectangle 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9313" name="Rectangle 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9314" name="AutoShape 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9315" name="Line 1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9316" name="Line 1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9317" name="Rectangle 1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9318" name="Rectangle 1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9228" name="Group 14"/>
          <p:cNvGrpSpPr/>
          <p:nvPr/>
        </p:nvGrpSpPr>
        <p:grpSpPr bwMode="auto">
          <a:xfrm>
            <a:off x="5802313" y="1155700"/>
            <a:ext cx="184150" cy="542925"/>
            <a:chOff x="4180" y="783"/>
            <a:chExt cx="150" cy="307"/>
          </a:xfrm>
        </p:grpSpPr>
        <p:sp>
          <p:nvSpPr>
            <p:cNvPr id="9303" name="AutoShape 1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9304" name="Rectangle 16"/>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9305" name="Rectangle 17"/>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9306" name="AutoShape 1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9307" name="Line 19"/>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9308" name="Line 20"/>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9309" name="Rectangle 21"/>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9310" name="Rectangle 22"/>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9229" name="Group 23"/>
          <p:cNvGrpSpPr/>
          <p:nvPr/>
        </p:nvGrpSpPr>
        <p:grpSpPr bwMode="auto">
          <a:xfrm>
            <a:off x="6478588" y="1184275"/>
            <a:ext cx="184150" cy="542925"/>
            <a:chOff x="4180" y="783"/>
            <a:chExt cx="150" cy="307"/>
          </a:xfrm>
        </p:grpSpPr>
        <p:sp>
          <p:nvSpPr>
            <p:cNvPr id="9295" name="AutoShape 2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9296" name="Rectangle 25"/>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9297" name="Rectangle 26"/>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9298" name="AutoShape 2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9299" name="Line 28"/>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9300" name="Line 29"/>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9301" name="Rectangle 30"/>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9302" name="Rectangle 31"/>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9230" name="Group 32"/>
          <p:cNvGrpSpPr/>
          <p:nvPr/>
        </p:nvGrpSpPr>
        <p:grpSpPr bwMode="auto">
          <a:xfrm>
            <a:off x="7059613" y="1365250"/>
            <a:ext cx="184150" cy="542925"/>
            <a:chOff x="4180" y="783"/>
            <a:chExt cx="150" cy="307"/>
          </a:xfrm>
        </p:grpSpPr>
        <p:sp>
          <p:nvSpPr>
            <p:cNvPr id="9287" name="AutoShape 33"/>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9288" name="Rectangle 34"/>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9289" name="Rectangle 35"/>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9290" name="AutoShape 3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9291" name="Line 37"/>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9292" name="Line 38"/>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9293" name="Rectangle 39"/>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9294" name="Rectangle 40"/>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9231" name="Group 41"/>
          <p:cNvGrpSpPr/>
          <p:nvPr/>
        </p:nvGrpSpPr>
        <p:grpSpPr bwMode="auto">
          <a:xfrm>
            <a:off x="7373938" y="2155825"/>
            <a:ext cx="184150" cy="542925"/>
            <a:chOff x="4180" y="783"/>
            <a:chExt cx="150" cy="307"/>
          </a:xfrm>
        </p:grpSpPr>
        <p:sp>
          <p:nvSpPr>
            <p:cNvPr id="9279" name="AutoShape 42"/>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9280" name="Rectangle 43"/>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9281" name="Rectangle 44"/>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9282" name="AutoShape 4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9283" name="Line 46"/>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9284" name="Line 47"/>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9285" name="Rectangle 48"/>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9286" name="Rectangle 49"/>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9232" name="Text Box 50"/>
          <p:cNvSpPr txBox="1">
            <a:spLocks noChangeArrowheads="1"/>
          </p:cNvSpPr>
          <p:nvPr/>
        </p:nvSpPr>
        <p:spPr bwMode="auto">
          <a:xfrm>
            <a:off x="7600950" y="1208088"/>
            <a:ext cx="1079500" cy="701675"/>
          </a:xfrm>
          <a:prstGeom prst="rect">
            <a:avLst/>
          </a:prstGeom>
          <a:noFill/>
          <a:ln w="9525">
            <a:noFill/>
            <a:miter lim="800000"/>
          </a:ln>
        </p:spPr>
        <p:txBody>
          <a:bodyPr wrap="none">
            <a:spAutoFit/>
          </a:bodyPr>
          <a:lstStyle/>
          <a:p>
            <a:pPr algn="r">
              <a:spcBef>
                <a:spcPct val="0"/>
              </a:spcBef>
              <a:buClrTx/>
              <a:buSzTx/>
              <a:buFontTx/>
              <a:buNone/>
            </a:pPr>
            <a:r>
              <a:rPr lang="en-US" sz="2000"/>
              <a:t>origin</a:t>
            </a:r>
            <a:endParaRPr lang="en-US" sz="2000"/>
          </a:p>
          <a:p>
            <a:pPr algn="r">
              <a:spcBef>
                <a:spcPct val="0"/>
              </a:spcBef>
              <a:buClrTx/>
              <a:buSzTx/>
              <a:buFontTx/>
              <a:buNone/>
            </a:pPr>
            <a:r>
              <a:rPr lang="en-US" sz="2000"/>
              <a:t>servers</a:t>
            </a:r>
            <a:endParaRPr lang="en-US">
              <a:latin typeface="Times New Roman" panose="02020603050405020304" pitchFamily="18" charset="0"/>
            </a:endParaRPr>
          </a:p>
        </p:txBody>
      </p:sp>
      <p:sp>
        <p:nvSpPr>
          <p:cNvPr id="9233" name="Line 51"/>
          <p:cNvSpPr>
            <a:spLocks noChangeShapeType="1"/>
          </p:cNvSpPr>
          <p:nvPr/>
        </p:nvSpPr>
        <p:spPr bwMode="auto">
          <a:xfrm>
            <a:off x="5876925" y="1695450"/>
            <a:ext cx="66675" cy="276225"/>
          </a:xfrm>
          <a:prstGeom prst="line">
            <a:avLst/>
          </a:prstGeom>
          <a:noFill/>
          <a:ln w="28575">
            <a:solidFill>
              <a:schemeClr val="accent2"/>
            </a:solidFill>
            <a:round/>
          </a:ln>
        </p:spPr>
        <p:txBody>
          <a:bodyPr wrap="none" anchor="ctr"/>
          <a:lstStyle/>
          <a:p>
            <a:endParaRPr lang="en-US"/>
          </a:p>
        </p:txBody>
      </p:sp>
      <p:sp>
        <p:nvSpPr>
          <p:cNvPr id="9234" name="Line 52"/>
          <p:cNvSpPr>
            <a:spLocks noChangeShapeType="1"/>
          </p:cNvSpPr>
          <p:nvPr/>
        </p:nvSpPr>
        <p:spPr bwMode="auto">
          <a:xfrm flipH="1">
            <a:off x="6505575" y="1733550"/>
            <a:ext cx="9525" cy="238125"/>
          </a:xfrm>
          <a:prstGeom prst="line">
            <a:avLst/>
          </a:prstGeom>
          <a:noFill/>
          <a:ln w="28575">
            <a:solidFill>
              <a:schemeClr val="accent2"/>
            </a:solidFill>
            <a:round/>
          </a:ln>
        </p:spPr>
        <p:txBody>
          <a:bodyPr wrap="none" anchor="ctr"/>
          <a:lstStyle/>
          <a:p>
            <a:endParaRPr lang="en-US"/>
          </a:p>
        </p:txBody>
      </p:sp>
      <p:sp>
        <p:nvSpPr>
          <p:cNvPr id="9235" name="Line 53"/>
          <p:cNvSpPr>
            <a:spLocks noChangeShapeType="1"/>
          </p:cNvSpPr>
          <p:nvPr/>
        </p:nvSpPr>
        <p:spPr bwMode="auto">
          <a:xfrm flipH="1">
            <a:off x="6962775" y="1895475"/>
            <a:ext cx="133350" cy="209550"/>
          </a:xfrm>
          <a:prstGeom prst="line">
            <a:avLst/>
          </a:prstGeom>
          <a:noFill/>
          <a:ln w="28575">
            <a:solidFill>
              <a:schemeClr val="accent2"/>
            </a:solidFill>
            <a:round/>
          </a:ln>
        </p:spPr>
        <p:txBody>
          <a:bodyPr wrap="none" anchor="ctr"/>
          <a:lstStyle/>
          <a:p>
            <a:endParaRPr lang="en-US"/>
          </a:p>
        </p:txBody>
      </p:sp>
      <p:sp>
        <p:nvSpPr>
          <p:cNvPr id="9236" name="Line 54"/>
          <p:cNvSpPr>
            <a:spLocks noChangeShapeType="1"/>
          </p:cNvSpPr>
          <p:nvPr/>
        </p:nvSpPr>
        <p:spPr bwMode="auto">
          <a:xfrm flipH="1" flipV="1">
            <a:off x="7124700" y="2657475"/>
            <a:ext cx="247650" cy="0"/>
          </a:xfrm>
          <a:prstGeom prst="line">
            <a:avLst/>
          </a:prstGeom>
          <a:noFill/>
          <a:ln w="28575">
            <a:solidFill>
              <a:schemeClr val="accent2"/>
            </a:solidFill>
            <a:round/>
          </a:ln>
        </p:spPr>
        <p:txBody>
          <a:bodyPr wrap="none" anchor="ctr"/>
          <a:lstStyle/>
          <a:p>
            <a:endParaRPr lang="en-US"/>
          </a:p>
        </p:txBody>
      </p:sp>
      <p:sp>
        <p:nvSpPr>
          <p:cNvPr id="9237" name="Freeform 55"/>
          <p:cNvSpPr/>
          <p:nvPr/>
        </p:nvSpPr>
        <p:spPr bwMode="auto">
          <a:xfrm>
            <a:off x="5162550" y="1689100"/>
            <a:ext cx="2174875" cy="158115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w="9525">
            <a:noFill/>
            <a:round/>
          </a:ln>
        </p:spPr>
        <p:txBody>
          <a:bodyPr wrap="none" anchor="ctr"/>
          <a:lstStyle/>
          <a:p>
            <a:endParaRPr lang="en-US"/>
          </a:p>
        </p:txBody>
      </p:sp>
      <p:grpSp>
        <p:nvGrpSpPr>
          <p:cNvPr id="9238" name="Group 56"/>
          <p:cNvGrpSpPr/>
          <p:nvPr/>
        </p:nvGrpSpPr>
        <p:grpSpPr bwMode="auto">
          <a:xfrm>
            <a:off x="6145213" y="2890838"/>
            <a:ext cx="501650" cy="233362"/>
            <a:chOff x="3600" y="219"/>
            <a:chExt cx="360" cy="175"/>
          </a:xfrm>
        </p:grpSpPr>
        <p:sp>
          <p:nvSpPr>
            <p:cNvPr id="9266" name="Oval 57"/>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p>
              <a:endParaRPr lang="en-US"/>
            </a:p>
          </p:txBody>
        </p:sp>
        <p:sp>
          <p:nvSpPr>
            <p:cNvPr id="9267" name="Line 58"/>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9268" name="Line 59"/>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9269" name="Rectangle 60"/>
            <p:cNvSpPr>
              <a:spLocks noChangeArrowheads="1"/>
            </p:cNvSpPr>
            <p:nvPr/>
          </p:nvSpPr>
          <p:spPr bwMode="auto">
            <a:xfrm>
              <a:off x="3603" y="289"/>
              <a:ext cx="354" cy="59"/>
            </a:xfrm>
            <a:prstGeom prst="rect">
              <a:avLst/>
            </a:prstGeom>
            <a:solidFill>
              <a:schemeClr val="hlink"/>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9270" name="Oval 61"/>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p>
              <a:endParaRPr lang="en-US"/>
            </a:p>
          </p:txBody>
        </p:sp>
        <p:grpSp>
          <p:nvGrpSpPr>
            <p:cNvPr id="9271" name="Group 62"/>
            <p:cNvGrpSpPr/>
            <p:nvPr/>
          </p:nvGrpSpPr>
          <p:grpSpPr bwMode="auto">
            <a:xfrm>
              <a:off x="3686" y="244"/>
              <a:ext cx="177" cy="66"/>
              <a:chOff x="2848" y="848"/>
              <a:chExt cx="140" cy="98"/>
            </a:xfrm>
          </p:grpSpPr>
          <p:sp>
            <p:nvSpPr>
              <p:cNvPr id="9276" name="Line 63"/>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9277" name="Line 64"/>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9278" name="Line 65"/>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9272" name="Group 66"/>
            <p:cNvGrpSpPr/>
            <p:nvPr/>
          </p:nvGrpSpPr>
          <p:grpSpPr bwMode="auto">
            <a:xfrm flipV="1">
              <a:off x="3686" y="243"/>
              <a:ext cx="177" cy="66"/>
              <a:chOff x="2848" y="848"/>
              <a:chExt cx="140" cy="98"/>
            </a:xfrm>
          </p:grpSpPr>
          <p:sp>
            <p:nvSpPr>
              <p:cNvPr id="9273" name="Line 67"/>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9274" name="Line 68"/>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9275" name="Line 69"/>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9239" name="Text Box 70"/>
          <p:cNvSpPr txBox="1">
            <a:spLocks noChangeArrowheads="1"/>
          </p:cNvSpPr>
          <p:nvPr/>
        </p:nvSpPr>
        <p:spPr bwMode="auto">
          <a:xfrm>
            <a:off x="5595938" y="1998663"/>
            <a:ext cx="1079500" cy="581025"/>
          </a:xfrm>
          <a:prstGeom prst="rect">
            <a:avLst/>
          </a:prstGeom>
          <a:noFill/>
          <a:ln w="9525">
            <a:noFill/>
            <a:miter lim="800000"/>
          </a:ln>
        </p:spPr>
        <p:txBody>
          <a:bodyPr wrap="none">
            <a:spAutoFit/>
          </a:bodyPr>
          <a:lstStyle/>
          <a:p>
            <a:pPr algn="ctr">
              <a:spcBef>
                <a:spcPct val="0"/>
              </a:spcBef>
              <a:buClrTx/>
              <a:buSzTx/>
              <a:buFontTx/>
              <a:buNone/>
            </a:pPr>
            <a:r>
              <a:rPr lang="en-US" sz="1600"/>
              <a:t>public</a:t>
            </a:r>
            <a:endParaRPr lang="en-US" sz="1600"/>
          </a:p>
          <a:p>
            <a:pPr algn="ctr">
              <a:spcBef>
                <a:spcPct val="0"/>
              </a:spcBef>
              <a:buClrTx/>
              <a:buSzTx/>
              <a:buFontTx/>
              <a:buNone/>
            </a:pPr>
            <a:r>
              <a:rPr lang="en-US" sz="1600"/>
              <a:t> Internet</a:t>
            </a:r>
            <a:endParaRPr lang="en-US">
              <a:solidFill>
                <a:schemeClr val="accent2"/>
              </a:solidFill>
              <a:latin typeface="Times New Roman" panose="02020603050405020304" pitchFamily="18" charset="0"/>
            </a:endParaRPr>
          </a:p>
        </p:txBody>
      </p:sp>
      <p:sp>
        <p:nvSpPr>
          <p:cNvPr id="9240" name="Freeform 71"/>
          <p:cNvSpPr/>
          <p:nvPr/>
        </p:nvSpPr>
        <p:spPr bwMode="auto">
          <a:xfrm>
            <a:off x="4732338" y="4059238"/>
            <a:ext cx="2965450" cy="1390650"/>
          </a:xfrm>
          <a:custGeom>
            <a:avLst/>
            <a:gdLst>
              <a:gd name="T0" fmla="*/ 31 w 1868"/>
              <a:gd name="T1" fmla="*/ 327 h 876"/>
              <a:gd name="T2" fmla="*/ 103 w 1868"/>
              <a:gd name="T3" fmla="*/ 137 h 876"/>
              <a:gd name="T4" fmla="*/ 649 w 1868"/>
              <a:gd name="T5" fmla="*/ 17 h 876"/>
              <a:gd name="T6" fmla="*/ 1141 w 1868"/>
              <a:gd name="T7" fmla="*/ 35 h 876"/>
              <a:gd name="T8" fmla="*/ 1763 w 1868"/>
              <a:gd name="T9" fmla="*/ 121 h 876"/>
              <a:gd name="T10" fmla="*/ 1774 w 1868"/>
              <a:gd name="T11" fmla="*/ 741 h 876"/>
              <a:gd name="T12" fmla="*/ 1369 w 1868"/>
              <a:gd name="T13" fmla="*/ 845 h 876"/>
              <a:gd name="T14" fmla="*/ 781 w 1868"/>
              <a:gd name="T15" fmla="*/ 851 h 876"/>
              <a:gd name="T16" fmla="*/ 447 w 1868"/>
              <a:gd name="T17" fmla="*/ 847 h 876"/>
              <a:gd name="T18" fmla="*/ 168 w 1868"/>
              <a:gd name="T19" fmla="*/ 676 h 876"/>
              <a:gd name="T20" fmla="*/ 31 w 1868"/>
              <a:gd name="T21" fmla="*/ 327 h 8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68"/>
              <a:gd name="T34" fmla="*/ 0 h 876"/>
              <a:gd name="T35" fmla="*/ 1868 w 1868"/>
              <a:gd name="T36" fmla="*/ 876 h 8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33CCCC"/>
          </a:solidFill>
          <a:ln w="9525">
            <a:noFill/>
            <a:round/>
          </a:ln>
        </p:spPr>
        <p:txBody>
          <a:bodyPr wrap="none" anchor="ctr"/>
          <a:lstStyle/>
          <a:p>
            <a:endParaRPr lang="en-US"/>
          </a:p>
        </p:txBody>
      </p:sp>
      <p:graphicFrame>
        <p:nvGraphicFramePr>
          <p:cNvPr id="9218" name="Object 72"/>
          <p:cNvGraphicFramePr>
            <a:graphicFrameLocks noChangeAspect="1"/>
          </p:cNvGraphicFramePr>
          <p:nvPr/>
        </p:nvGraphicFramePr>
        <p:xfrm>
          <a:off x="4979988" y="4803775"/>
          <a:ext cx="444500" cy="357188"/>
        </p:xfrm>
        <a:graphic>
          <a:graphicData uri="http://schemas.openxmlformats.org/presentationml/2006/ole">
            <mc:AlternateContent xmlns:mc="http://schemas.openxmlformats.org/markup-compatibility/2006">
              <mc:Choice xmlns:v="urn:schemas-microsoft-com:vml" Requires="v">
                <p:oleObj spid="_x0000_s9262" name="Clip" r:id="rId1" imgW="18192750" imgH="15087600" progId="">
                  <p:embed/>
                </p:oleObj>
              </mc:Choice>
              <mc:Fallback>
                <p:oleObj name="Clip" r:id="rId1" imgW="18192750" imgH="15087600" progId="">
                  <p:embed/>
                  <p:pic>
                    <p:nvPicPr>
                      <p:cNvPr id="0" name="Object 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9988" y="4803775"/>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73"/>
          <p:cNvGraphicFramePr>
            <a:graphicFrameLocks noChangeAspect="1"/>
          </p:cNvGraphicFramePr>
          <p:nvPr/>
        </p:nvGraphicFramePr>
        <p:xfrm>
          <a:off x="5484813" y="4803775"/>
          <a:ext cx="444500" cy="357188"/>
        </p:xfrm>
        <a:graphic>
          <a:graphicData uri="http://schemas.openxmlformats.org/presentationml/2006/ole">
            <mc:AlternateContent xmlns:mc="http://schemas.openxmlformats.org/markup-compatibility/2006">
              <mc:Choice xmlns:v="urn:schemas-microsoft-com:vml" Requires="v">
                <p:oleObj spid="_x0000_s9263" name="Clip" r:id="rId3" imgW="18192750" imgH="15087600" progId="">
                  <p:embed/>
                </p:oleObj>
              </mc:Choice>
              <mc:Fallback>
                <p:oleObj name="Clip" r:id="rId3" imgW="18192750" imgH="15087600" progId="">
                  <p:embed/>
                  <p:pic>
                    <p:nvPicPr>
                      <p:cNvPr id="0" name="Object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4813" y="4803775"/>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74"/>
          <p:cNvGraphicFramePr>
            <a:graphicFrameLocks noChangeAspect="1"/>
          </p:cNvGraphicFramePr>
          <p:nvPr/>
        </p:nvGraphicFramePr>
        <p:xfrm>
          <a:off x="6018213" y="4794250"/>
          <a:ext cx="444500" cy="357188"/>
        </p:xfrm>
        <a:graphic>
          <a:graphicData uri="http://schemas.openxmlformats.org/presentationml/2006/ole">
            <mc:AlternateContent xmlns:mc="http://schemas.openxmlformats.org/markup-compatibility/2006">
              <mc:Choice xmlns:v="urn:schemas-microsoft-com:vml" Requires="v">
                <p:oleObj spid="_x0000_s9264" name="Clip" r:id="rId4" imgW="18192750" imgH="15087600" progId="">
                  <p:embed/>
                </p:oleObj>
              </mc:Choice>
              <mc:Fallback>
                <p:oleObj name="Clip" r:id="rId4" imgW="18192750" imgH="15087600" progId="">
                  <p:embed/>
                  <p:pic>
                    <p:nvPicPr>
                      <p:cNvPr id="0" name="Object 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8213" y="4794250"/>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75"/>
          <p:cNvGraphicFramePr>
            <a:graphicFrameLocks noChangeAspect="1"/>
          </p:cNvGraphicFramePr>
          <p:nvPr/>
        </p:nvGraphicFramePr>
        <p:xfrm>
          <a:off x="6532563" y="4803775"/>
          <a:ext cx="444500" cy="357188"/>
        </p:xfrm>
        <a:graphic>
          <a:graphicData uri="http://schemas.openxmlformats.org/presentationml/2006/ole">
            <mc:AlternateContent xmlns:mc="http://schemas.openxmlformats.org/markup-compatibility/2006">
              <mc:Choice xmlns:v="urn:schemas-microsoft-com:vml" Requires="v">
                <p:oleObj spid="_x0000_s9265" name="Clip" r:id="rId5" imgW="18192750" imgH="15087600" progId="">
                  <p:embed/>
                </p:oleObj>
              </mc:Choice>
              <mc:Fallback>
                <p:oleObj name="Clip" r:id="rId5" imgW="18192750" imgH="15087600" progId="">
                  <p:embed/>
                  <p:pic>
                    <p:nvPicPr>
                      <p:cNvPr id="0" name="Object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2563" y="4803775"/>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1" name="Line 76"/>
          <p:cNvSpPr>
            <a:spLocks noChangeShapeType="1"/>
          </p:cNvSpPr>
          <p:nvPr/>
        </p:nvSpPr>
        <p:spPr bwMode="auto">
          <a:xfrm flipV="1">
            <a:off x="5172075" y="4592638"/>
            <a:ext cx="1557338" cy="12700"/>
          </a:xfrm>
          <a:prstGeom prst="line">
            <a:avLst/>
          </a:prstGeom>
          <a:noFill/>
          <a:ln w="28575">
            <a:solidFill>
              <a:schemeClr val="tx1"/>
            </a:solidFill>
            <a:round/>
          </a:ln>
        </p:spPr>
        <p:txBody>
          <a:bodyPr wrap="none" anchor="ctr"/>
          <a:lstStyle/>
          <a:p>
            <a:endParaRPr lang="en-US"/>
          </a:p>
        </p:txBody>
      </p:sp>
      <p:sp>
        <p:nvSpPr>
          <p:cNvPr id="9242" name="Line 77"/>
          <p:cNvSpPr>
            <a:spLocks noChangeShapeType="1"/>
          </p:cNvSpPr>
          <p:nvPr/>
        </p:nvSpPr>
        <p:spPr bwMode="auto">
          <a:xfrm>
            <a:off x="5181600" y="4605338"/>
            <a:ext cx="0" cy="195262"/>
          </a:xfrm>
          <a:prstGeom prst="line">
            <a:avLst/>
          </a:prstGeom>
          <a:noFill/>
          <a:ln w="28575">
            <a:solidFill>
              <a:schemeClr val="tx1"/>
            </a:solidFill>
            <a:round/>
          </a:ln>
        </p:spPr>
        <p:txBody>
          <a:bodyPr wrap="none" anchor="ctr"/>
          <a:lstStyle/>
          <a:p>
            <a:endParaRPr lang="en-US"/>
          </a:p>
        </p:txBody>
      </p:sp>
      <p:sp>
        <p:nvSpPr>
          <p:cNvPr id="9243" name="Line 78"/>
          <p:cNvSpPr>
            <a:spLocks noChangeShapeType="1"/>
          </p:cNvSpPr>
          <p:nvPr/>
        </p:nvSpPr>
        <p:spPr bwMode="auto">
          <a:xfrm>
            <a:off x="5691188" y="4614863"/>
            <a:ext cx="0" cy="195262"/>
          </a:xfrm>
          <a:prstGeom prst="line">
            <a:avLst/>
          </a:prstGeom>
          <a:noFill/>
          <a:ln w="28575">
            <a:solidFill>
              <a:schemeClr val="tx1"/>
            </a:solidFill>
            <a:round/>
          </a:ln>
        </p:spPr>
        <p:txBody>
          <a:bodyPr wrap="none" anchor="ctr"/>
          <a:lstStyle/>
          <a:p>
            <a:endParaRPr lang="en-US"/>
          </a:p>
        </p:txBody>
      </p:sp>
      <p:sp>
        <p:nvSpPr>
          <p:cNvPr id="9244" name="Line 79"/>
          <p:cNvSpPr>
            <a:spLocks noChangeShapeType="1"/>
          </p:cNvSpPr>
          <p:nvPr/>
        </p:nvSpPr>
        <p:spPr bwMode="auto">
          <a:xfrm>
            <a:off x="6229350" y="4610100"/>
            <a:ext cx="0" cy="195263"/>
          </a:xfrm>
          <a:prstGeom prst="line">
            <a:avLst/>
          </a:prstGeom>
          <a:noFill/>
          <a:ln w="28575">
            <a:solidFill>
              <a:schemeClr val="tx1"/>
            </a:solidFill>
            <a:round/>
          </a:ln>
        </p:spPr>
        <p:txBody>
          <a:bodyPr wrap="none" anchor="ctr"/>
          <a:lstStyle/>
          <a:p>
            <a:endParaRPr lang="en-US"/>
          </a:p>
        </p:txBody>
      </p:sp>
      <p:sp>
        <p:nvSpPr>
          <p:cNvPr id="9245" name="Line 80"/>
          <p:cNvSpPr>
            <a:spLocks noChangeShapeType="1"/>
          </p:cNvSpPr>
          <p:nvPr/>
        </p:nvSpPr>
        <p:spPr bwMode="auto">
          <a:xfrm>
            <a:off x="6729413" y="4610100"/>
            <a:ext cx="0" cy="223838"/>
          </a:xfrm>
          <a:prstGeom prst="line">
            <a:avLst/>
          </a:prstGeom>
          <a:noFill/>
          <a:ln w="28575">
            <a:solidFill>
              <a:schemeClr val="tx1"/>
            </a:solidFill>
            <a:round/>
          </a:ln>
        </p:spPr>
        <p:txBody>
          <a:bodyPr wrap="none" anchor="ctr"/>
          <a:lstStyle/>
          <a:p>
            <a:endParaRPr lang="en-US"/>
          </a:p>
        </p:txBody>
      </p:sp>
      <p:grpSp>
        <p:nvGrpSpPr>
          <p:cNvPr id="9246" name="Group 81"/>
          <p:cNvGrpSpPr/>
          <p:nvPr/>
        </p:nvGrpSpPr>
        <p:grpSpPr bwMode="auto">
          <a:xfrm>
            <a:off x="6145213" y="4181475"/>
            <a:ext cx="501650" cy="233363"/>
            <a:chOff x="3600" y="219"/>
            <a:chExt cx="360" cy="175"/>
          </a:xfrm>
        </p:grpSpPr>
        <p:sp>
          <p:nvSpPr>
            <p:cNvPr id="9253" name="Oval 82"/>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p>
              <a:endParaRPr lang="en-US"/>
            </a:p>
          </p:txBody>
        </p:sp>
        <p:sp>
          <p:nvSpPr>
            <p:cNvPr id="9254" name="Line 83"/>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9255" name="Line 84"/>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9256" name="Rectangle 85"/>
            <p:cNvSpPr>
              <a:spLocks noChangeArrowheads="1"/>
            </p:cNvSpPr>
            <p:nvPr/>
          </p:nvSpPr>
          <p:spPr bwMode="auto">
            <a:xfrm>
              <a:off x="3603" y="289"/>
              <a:ext cx="354" cy="59"/>
            </a:xfrm>
            <a:prstGeom prst="rect">
              <a:avLst/>
            </a:prstGeom>
            <a:solidFill>
              <a:schemeClr val="hlink"/>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9257" name="Oval 86"/>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p>
              <a:endParaRPr lang="en-US"/>
            </a:p>
          </p:txBody>
        </p:sp>
        <p:grpSp>
          <p:nvGrpSpPr>
            <p:cNvPr id="9258" name="Group 87"/>
            <p:cNvGrpSpPr/>
            <p:nvPr/>
          </p:nvGrpSpPr>
          <p:grpSpPr bwMode="auto">
            <a:xfrm>
              <a:off x="3686" y="244"/>
              <a:ext cx="177" cy="66"/>
              <a:chOff x="2848" y="848"/>
              <a:chExt cx="140" cy="98"/>
            </a:xfrm>
          </p:grpSpPr>
          <p:sp>
            <p:nvSpPr>
              <p:cNvPr id="2" name="Line 88"/>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3" name="Line 89"/>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4" name="Line 90"/>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9259" name="Group 91"/>
            <p:cNvGrpSpPr/>
            <p:nvPr/>
          </p:nvGrpSpPr>
          <p:grpSpPr bwMode="auto">
            <a:xfrm flipV="1">
              <a:off x="3686" y="243"/>
              <a:ext cx="177" cy="66"/>
              <a:chOff x="2848" y="848"/>
              <a:chExt cx="140" cy="98"/>
            </a:xfrm>
          </p:grpSpPr>
          <p:sp>
            <p:nvSpPr>
              <p:cNvPr id="9260" name="Line 92"/>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9261" name="Line 93"/>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5" name="Line 94"/>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9247" name="Line 95"/>
          <p:cNvSpPr>
            <a:spLocks noChangeShapeType="1"/>
          </p:cNvSpPr>
          <p:nvPr/>
        </p:nvSpPr>
        <p:spPr bwMode="auto">
          <a:xfrm>
            <a:off x="6391275" y="3133725"/>
            <a:ext cx="0" cy="1062038"/>
          </a:xfrm>
          <a:prstGeom prst="line">
            <a:avLst/>
          </a:prstGeom>
          <a:noFill/>
          <a:ln w="28575">
            <a:solidFill>
              <a:schemeClr val="tx1"/>
            </a:solidFill>
            <a:round/>
          </a:ln>
        </p:spPr>
        <p:txBody>
          <a:bodyPr wrap="none" anchor="ctr"/>
          <a:lstStyle/>
          <a:p>
            <a:endParaRPr lang="en-US"/>
          </a:p>
        </p:txBody>
      </p:sp>
      <p:sp>
        <p:nvSpPr>
          <p:cNvPr id="9248" name="Line 96"/>
          <p:cNvSpPr>
            <a:spLocks noChangeShapeType="1"/>
          </p:cNvSpPr>
          <p:nvPr/>
        </p:nvSpPr>
        <p:spPr bwMode="auto">
          <a:xfrm>
            <a:off x="6396038" y="4419600"/>
            <a:ext cx="0" cy="166688"/>
          </a:xfrm>
          <a:prstGeom prst="line">
            <a:avLst/>
          </a:prstGeom>
          <a:noFill/>
          <a:ln w="28575">
            <a:solidFill>
              <a:schemeClr val="tx1"/>
            </a:solidFill>
            <a:round/>
          </a:ln>
        </p:spPr>
        <p:txBody>
          <a:bodyPr wrap="none" anchor="ctr"/>
          <a:lstStyle/>
          <a:p>
            <a:endParaRPr lang="en-US"/>
          </a:p>
        </p:txBody>
      </p:sp>
      <p:sp>
        <p:nvSpPr>
          <p:cNvPr id="9249" name="Text Box 97"/>
          <p:cNvSpPr txBox="1">
            <a:spLocks noChangeArrowheads="1"/>
          </p:cNvSpPr>
          <p:nvPr/>
        </p:nvSpPr>
        <p:spPr bwMode="auto">
          <a:xfrm>
            <a:off x="4695825" y="3946525"/>
            <a:ext cx="1325563" cy="581025"/>
          </a:xfrm>
          <a:prstGeom prst="rect">
            <a:avLst/>
          </a:prstGeom>
          <a:noFill/>
          <a:ln w="9525">
            <a:noFill/>
            <a:miter lim="800000"/>
          </a:ln>
        </p:spPr>
        <p:txBody>
          <a:bodyPr wrap="none">
            <a:spAutoFit/>
          </a:bodyPr>
          <a:lstStyle/>
          <a:p>
            <a:pPr algn="ctr">
              <a:spcBef>
                <a:spcPct val="0"/>
              </a:spcBef>
              <a:buClrTx/>
              <a:buSzTx/>
              <a:buFontTx/>
              <a:buNone/>
            </a:pPr>
            <a:r>
              <a:rPr lang="en-US" sz="1600"/>
              <a:t>institutional</a:t>
            </a:r>
            <a:endParaRPr lang="en-US" sz="1600"/>
          </a:p>
          <a:p>
            <a:pPr algn="ctr">
              <a:spcBef>
                <a:spcPct val="0"/>
              </a:spcBef>
              <a:buClrTx/>
              <a:buSzTx/>
              <a:buFontTx/>
              <a:buNone/>
            </a:pPr>
            <a:r>
              <a:rPr lang="en-US" sz="1600"/>
              <a:t>network</a:t>
            </a:r>
            <a:endParaRPr lang="en-US">
              <a:solidFill>
                <a:schemeClr val="accent2"/>
              </a:solidFill>
              <a:latin typeface="Times New Roman" panose="02020603050405020304" pitchFamily="18" charset="0"/>
            </a:endParaRPr>
          </a:p>
        </p:txBody>
      </p:sp>
      <p:sp>
        <p:nvSpPr>
          <p:cNvPr id="9250" name="Text Box 98"/>
          <p:cNvSpPr txBox="1">
            <a:spLocks noChangeArrowheads="1"/>
          </p:cNvSpPr>
          <p:nvPr/>
        </p:nvSpPr>
        <p:spPr bwMode="auto">
          <a:xfrm>
            <a:off x="6630988" y="4294188"/>
            <a:ext cx="1588898" cy="338554"/>
          </a:xfrm>
          <a:prstGeom prst="rect">
            <a:avLst/>
          </a:prstGeom>
          <a:noFill/>
          <a:ln w="9525">
            <a:noFill/>
            <a:miter lim="800000"/>
          </a:ln>
        </p:spPr>
        <p:txBody>
          <a:bodyPr wrap="none">
            <a:spAutoFit/>
          </a:bodyPr>
          <a:lstStyle/>
          <a:p>
            <a:pPr algn="ctr">
              <a:spcBef>
                <a:spcPct val="0"/>
              </a:spcBef>
              <a:buClrTx/>
              <a:buSzTx/>
              <a:buFontTx/>
              <a:buNone/>
            </a:pPr>
            <a:r>
              <a:rPr lang="en-US" sz="1600" dirty="0"/>
              <a:t>100 Mbps LAN</a:t>
            </a:r>
            <a:endParaRPr lang="en-US" dirty="0">
              <a:solidFill>
                <a:schemeClr val="accent2"/>
              </a:solidFill>
              <a:latin typeface="Times New Roman" panose="02020603050405020304" pitchFamily="18" charset="0"/>
            </a:endParaRPr>
          </a:p>
        </p:txBody>
      </p:sp>
      <p:sp>
        <p:nvSpPr>
          <p:cNvPr id="9251" name="Text Box 99"/>
          <p:cNvSpPr txBox="1">
            <a:spLocks noChangeArrowheads="1"/>
          </p:cNvSpPr>
          <p:nvPr/>
        </p:nvSpPr>
        <p:spPr bwMode="auto">
          <a:xfrm>
            <a:off x="6392863" y="3322638"/>
            <a:ext cx="1195387" cy="581025"/>
          </a:xfrm>
          <a:prstGeom prst="rect">
            <a:avLst/>
          </a:prstGeom>
          <a:noFill/>
          <a:ln w="9525">
            <a:noFill/>
            <a:miter lim="800000"/>
          </a:ln>
        </p:spPr>
        <p:txBody>
          <a:bodyPr wrap="none">
            <a:spAutoFit/>
          </a:bodyPr>
          <a:lstStyle/>
          <a:p>
            <a:pPr>
              <a:spcBef>
                <a:spcPct val="0"/>
              </a:spcBef>
              <a:buClrTx/>
              <a:buSzTx/>
              <a:buFontTx/>
              <a:buNone/>
            </a:pPr>
            <a:r>
              <a:rPr lang="en-US" sz="1600" dirty="0"/>
              <a:t>100 Mbps </a:t>
            </a:r>
            <a:endParaRPr lang="en-US" sz="1600" dirty="0"/>
          </a:p>
          <a:p>
            <a:pPr>
              <a:spcBef>
                <a:spcPct val="0"/>
              </a:spcBef>
              <a:buClrTx/>
              <a:buSzTx/>
              <a:buFontTx/>
              <a:buNone/>
            </a:pPr>
            <a:r>
              <a:rPr lang="en-US" sz="1600" dirty="0"/>
              <a:t>access link</a:t>
            </a:r>
            <a:endParaRPr lang="en-US" dirty="0">
              <a:solidFill>
                <a:schemeClr val="accent2"/>
              </a:solidFill>
              <a:latin typeface="Times New Roman" panose="02020603050405020304" pitchFamily="18" charset="0"/>
            </a:endParaRPr>
          </a:p>
        </p:txBody>
      </p:sp>
      <p:sp>
        <p:nvSpPr>
          <p:cNvPr id="9252" name="Text Box 100"/>
          <p:cNvSpPr txBox="1">
            <a:spLocks noChangeArrowheads="1"/>
          </p:cNvSpPr>
          <p:nvPr/>
        </p:nvSpPr>
        <p:spPr bwMode="auto">
          <a:xfrm>
            <a:off x="6877050" y="5370513"/>
            <a:ext cx="1466850" cy="641350"/>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rPr>
              <a:t>institutional</a:t>
            </a:r>
            <a:endParaRPr lang="en-US" sz="1800">
              <a:solidFill>
                <a:srgbClr val="FF0000"/>
              </a:solidFill>
            </a:endParaRPr>
          </a:p>
          <a:p>
            <a:pPr algn="ctr">
              <a:spcBef>
                <a:spcPct val="0"/>
              </a:spcBef>
              <a:buClrTx/>
              <a:buSzTx/>
              <a:buFontTx/>
              <a:buNone/>
            </a:pPr>
            <a:r>
              <a:rPr lang="en-US" sz="1800">
                <a:solidFill>
                  <a:srgbClr val="FF0000"/>
                </a:solidFill>
              </a:rPr>
              <a:t>cache</a:t>
            </a:r>
            <a:endParaRPr lang="en-US">
              <a:solidFill>
                <a:schemeClr val="accent2"/>
              </a:solidFill>
              <a:latin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247" name="Slide Number Placeholder 6"/>
          <p:cNvSpPr>
            <a:spLocks noGrp="1"/>
          </p:cNvSpPr>
          <p:nvPr>
            <p:ph type="sldNum" sz="quarter" idx="12"/>
          </p:nvPr>
        </p:nvSpPr>
        <p:spPr>
          <a:noFill/>
        </p:spPr>
        <p:txBody>
          <a:bodyPr/>
          <a:lstStyle/>
          <a:p>
            <a:fld id="{C37C1842-D5B4-41FF-B60E-6FDCEA5A467F}" type="slidenum">
              <a:rPr lang="en-US"/>
            </a:fld>
            <a:endParaRPr lang="en-US"/>
          </a:p>
        </p:txBody>
      </p:sp>
      <p:sp>
        <p:nvSpPr>
          <p:cNvPr id="10248" name="Line 2"/>
          <p:cNvSpPr>
            <a:spLocks noChangeShapeType="1"/>
          </p:cNvSpPr>
          <p:nvPr/>
        </p:nvSpPr>
        <p:spPr bwMode="auto">
          <a:xfrm>
            <a:off x="5067300" y="2076450"/>
            <a:ext cx="285750" cy="114300"/>
          </a:xfrm>
          <a:prstGeom prst="line">
            <a:avLst/>
          </a:prstGeom>
          <a:noFill/>
          <a:ln w="28575">
            <a:solidFill>
              <a:schemeClr val="accent2"/>
            </a:solidFill>
            <a:round/>
          </a:ln>
        </p:spPr>
        <p:txBody>
          <a:bodyPr wrap="none" anchor="ctr"/>
          <a:lstStyle/>
          <a:p>
            <a:endParaRPr lang="en-US"/>
          </a:p>
        </p:txBody>
      </p:sp>
      <p:sp>
        <p:nvSpPr>
          <p:cNvPr id="10249" name="Rectangle 3"/>
          <p:cNvSpPr>
            <a:spLocks noGrp="1" noChangeArrowheads="1"/>
          </p:cNvSpPr>
          <p:nvPr>
            <p:ph type="title"/>
          </p:nvPr>
        </p:nvSpPr>
        <p:spPr/>
        <p:txBody>
          <a:bodyPr/>
          <a:lstStyle/>
          <a:p>
            <a:r>
              <a:rPr lang="en-US" sz="3600"/>
              <a:t>Caching example (cont)</a:t>
            </a:r>
            <a:endParaRPr lang="en-US"/>
          </a:p>
        </p:txBody>
      </p:sp>
      <p:sp>
        <p:nvSpPr>
          <p:cNvPr id="10250" name="Rectangle 4"/>
          <p:cNvSpPr>
            <a:spLocks noGrp="1" noChangeArrowheads="1"/>
          </p:cNvSpPr>
          <p:nvPr>
            <p:ph type="body" sz="half" idx="1"/>
          </p:nvPr>
        </p:nvSpPr>
        <p:spPr>
          <a:xfrm>
            <a:off x="533400" y="1600200"/>
            <a:ext cx="3956050" cy="4648200"/>
          </a:xfrm>
        </p:spPr>
        <p:txBody>
          <a:bodyPr/>
          <a:lstStyle/>
          <a:p>
            <a:pPr>
              <a:lnSpc>
                <a:spcPct val="80000"/>
              </a:lnSpc>
              <a:buFont typeface="ZapfDingbats" pitchFamily="82" charset="2"/>
              <a:buNone/>
            </a:pPr>
            <a:r>
              <a:rPr lang="en-US" sz="2400" u="sng">
                <a:solidFill>
                  <a:srgbClr val="FF0000"/>
                </a:solidFill>
              </a:rPr>
              <a:t>possible solution: install cache</a:t>
            </a:r>
            <a:endParaRPr lang="en-US" sz="2400" u="sng"/>
          </a:p>
          <a:p>
            <a:pPr>
              <a:lnSpc>
                <a:spcPct val="80000"/>
              </a:lnSpc>
            </a:pPr>
            <a:r>
              <a:rPr lang="en-US" sz="2000"/>
              <a:t>suppose hit rate is 0.4</a:t>
            </a:r>
            <a:endParaRPr lang="en-US" sz="2400"/>
          </a:p>
          <a:p>
            <a:pPr>
              <a:lnSpc>
                <a:spcPct val="80000"/>
              </a:lnSpc>
              <a:buFont typeface="ZapfDingbats" pitchFamily="82" charset="2"/>
              <a:buNone/>
            </a:pPr>
            <a:r>
              <a:rPr lang="en-US" sz="2400" u="sng">
                <a:solidFill>
                  <a:srgbClr val="FF0000"/>
                </a:solidFill>
              </a:rPr>
              <a:t>consequence</a:t>
            </a:r>
            <a:endParaRPr lang="en-US" sz="2400" u="sng"/>
          </a:p>
          <a:p>
            <a:pPr>
              <a:lnSpc>
                <a:spcPct val="80000"/>
              </a:lnSpc>
            </a:pPr>
            <a:r>
              <a:rPr lang="en-US" sz="2000"/>
              <a:t>40% requests will be satisfied almost immediately</a:t>
            </a:r>
            <a:endParaRPr lang="en-US" sz="2000"/>
          </a:p>
          <a:p>
            <a:pPr>
              <a:lnSpc>
                <a:spcPct val="80000"/>
              </a:lnSpc>
            </a:pPr>
            <a:r>
              <a:rPr lang="en-US" sz="2000"/>
              <a:t>60% requests satisfied by origin server</a:t>
            </a:r>
            <a:endParaRPr lang="en-US" sz="2000"/>
          </a:p>
          <a:p>
            <a:pPr>
              <a:lnSpc>
                <a:spcPct val="80000"/>
              </a:lnSpc>
            </a:pPr>
            <a:r>
              <a:rPr lang="en-US" sz="2000"/>
              <a:t>utilization of access link reduced to 60%, resulting in negligible  delays (say 10 msec)</a:t>
            </a:r>
            <a:endParaRPr lang="en-US" sz="2000"/>
          </a:p>
          <a:p>
            <a:pPr>
              <a:lnSpc>
                <a:spcPct val="80000"/>
              </a:lnSpc>
            </a:pPr>
            <a:r>
              <a:rPr lang="en-US" sz="2000"/>
              <a:t>total avg delay   = Internet delay + access delay + LAN delay   =  .6*(2.01) secs  + .4*milliseconds &lt; 1.4 secs</a:t>
            </a:r>
            <a:endParaRPr lang="en-US" sz="2000"/>
          </a:p>
          <a:p>
            <a:pPr>
              <a:lnSpc>
                <a:spcPct val="80000"/>
              </a:lnSpc>
            </a:pPr>
            <a:endParaRPr lang="en-US" sz="2400"/>
          </a:p>
        </p:txBody>
      </p:sp>
      <p:grpSp>
        <p:nvGrpSpPr>
          <p:cNvPr id="10251" name="Group 5"/>
          <p:cNvGrpSpPr/>
          <p:nvPr/>
        </p:nvGrpSpPr>
        <p:grpSpPr bwMode="auto">
          <a:xfrm>
            <a:off x="4878388" y="1698625"/>
            <a:ext cx="184150" cy="542925"/>
            <a:chOff x="4180" y="783"/>
            <a:chExt cx="150" cy="307"/>
          </a:xfrm>
        </p:grpSpPr>
        <p:sp>
          <p:nvSpPr>
            <p:cNvPr id="10347" name="AutoShape 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0348" name="Rectangle 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0349" name="Rectangle 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0350" name="AutoShape 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0351" name="Line 1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0352" name="Line 1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0353" name="Rectangle 1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0354" name="Rectangle 1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0252" name="Group 14"/>
          <p:cNvGrpSpPr/>
          <p:nvPr/>
        </p:nvGrpSpPr>
        <p:grpSpPr bwMode="auto">
          <a:xfrm>
            <a:off x="5802313" y="1155700"/>
            <a:ext cx="184150" cy="542925"/>
            <a:chOff x="4180" y="783"/>
            <a:chExt cx="150" cy="307"/>
          </a:xfrm>
        </p:grpSpPr>
        <p:sp>
          <p:nvSpPr>
            <p:cNvPr id="10339" name="AutoShape 1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0340" name="Rectangle 16"/>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0341" name="Rectangle 17"/>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0342" name="AutoShape 1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0343" name="Line 19"/>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0344" name="Line 20"/>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0345" name="Rectangle 21"/>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0346" name="Rectangle 22"/>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0253" name="Group 23"/>
          <p:cNvGrpSpPr/>
          <p:nvPr/>
        </p:nvGrpSpPr>
        <p:grpSpPr bwMode="auto">
          <a:xfrm>
            <a:off x="6478588" y="1184275"/>
            <a:ext cx="184150" cy="542925"/>
            <a:chOff x="4180" y="783"/>
            <a:chExt cx="150" cy="307"/>
          </a:xfrm>
        </p:grpSpPr>
        <p:sp>
          <p:nvSpPr>
            <p:cNvPr id="10331" name="AutoShape 2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0332" name="Rectangle 25"/>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0333" name="Rectangle 26"/>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0334" name="AutoShape 2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0335" name="Line 28"/>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0336" name="Line 29"/>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0337" name="Rectangle 30"/>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0338" name="Rectangle 31"/>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0254" name="Group 32"/>
          <p:cNvGrpSpPr/>
          <p:nvPr/>
        </p:nvGrpSpPr>
        <p:grpSpPr bwMode="auto">
          <a:xfrm>
            <a:off x="7059613" y="1365250"/>
            <a:ext cx="184150" cy="542925"/>
            <a:chOff x="4180" y="783"/>
            <a:chExt cx="150" cy="307"/>
          </a:xfrm>
        </p:grpSpPr>
        <p:sp>
          <p:nvSpPr>
            <p:cNvPr id="10323" name="AutoShape 33"/>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0324" name="Rectangle 34"/>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0325" name="Rectangle 35"/>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0326" name="AutoShape 3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0327" name="Line 37"/>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0328" name="Line 38"/>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0329" name="Rectangle 39"/>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0330" name="Rectangle 40"/>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0255" name="Group 41"/>
          <p:cNvGrpSpPr/>
          <p:nvPr/>
        </p:nvGrpSpPr>
        <p:grpSpPr bwMode="auto">
          <a:xfrm>
            <a:off x="7373938" y="2155825"/>
            <a:ext cx="184150" cy="542925"/>
            <a:chOff x="4180" y="783"/>
            <a:chExt cx="150" cy="307"/>
          </a:xfrm>
        </p:grpSpPr>
        <p:sp>
          <p:nvSpPr>
            <p:cNvPr id="10315" name="AutoShape 42"/>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0316" name="Rectangle 43"/>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0317" name="Rectangle 44"/>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0318" name="AutoShape 4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0319" name="Line 46"/>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0320" name="Line 47"/>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0321" name="Rectangle 48"/>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0322" name="Rectangle 49"/>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10256" name="Text Box 50"/>
          <p:cNvSpPr txBox="1">
            <a:spLocks noChangeArrowheads="1"/>
          </p:cNvSpPr>
          <p:nvPr/>
        </p:nvSpPr>
        <p:spPr bwMode="auto">
          <a:xfrm>
            <a:off x="7600950" y="1208088"/>
            <a:ext cx="1079500" cy="701675"/>
          </a:xfrm>
          <a:prstGeom prst="rect">
            <a:avLst/>
          </a:prstGeom>
          <a:noFill/>
          <a:ln w="9525">
            <a:noFill/>
            <a:miter lim="800000"/>
          </a:ln>
        </p:spPr>
        <p:txBody>
          <a:bodyPr wrap="none">
            <a:spAutoFit/>
          </a:bodyPr>
          <a:lstStyle/>
          <a:p>
            <a:pPr algn="r">
              <a:spcBef>
                <a:spcPct val="0"/>
              </a:spcBef>
              <a:buClrTx/>
              <a:buSzTx/>
              <a:buFontTx/>
              <a:buNone/>
            </a:pPr>
            <a:r>
              <a:rPr lang="en-US" sz="2000"/>
              <a:t>origin</a:t>
            </a:r>
            <a:endParaRPr lang="en-US" sz="2000"/>
          </a:p>
          <a:p>
            <a:pPr algn="r">
              <a:spcBef>
                <a:spcPct val="0"/>
              </a:spcBef>
              <a:buClrTx/>
              <a:buSzTx/>
              <a:buFontTx/>
              <a:buNone/>
            </a:pPr>
            <a:r>
              <a:rPr lang="en-US" sz="2000"/>
              <a:t>servers</a:t>
            </a:r>
            <a:endParaRPr lang="en-US">
              <a:latin typeface="Times New Roman" panose="02020603050405020304" pitchFamily="18" charset="0"/>
            </a:endParaRPr>
          </a:p>
        </p:txBody>
      </p:sp>
      <p:sp>
        <p:nvSpPr>
          <p:cNvPr id="10257" name="Line 51"/>
          <p:cNvSpPr>
            <a:spLocks noChangeShapeType="1"/>
          </p:cNvSpPr>
          <p:nvPr/>
        </p:nvSpPr>
        <p:spPr bwMode="auto">
          <a:xfrm>
            <a:off x="5876925" y="1695450"/>
            <a:ext cx="66675" cy="276225"/>
          </a:xfrm>
          <a:prstGeom prst="line">
            <a:avLst/>
          </a:prstGeom>
          <a:noFill/>
          <a:ln w="28575">
            <a:solidFill>
              <a:schemeClr val="accent2"/>
            </a:solidFill>
            <a:round/>
          </a:ln>
        </p:spPr>
        <p:txBody>
          <a:bodyPr wrap="none" anchor="ctr"/>
          <a:lstStyle/>
          <a:p>
            <a:endParaRPr lang="en-US"/>
          </a:p>
        </p:txBody>
      </p:sp>
      <p:sp>
        <p:nvSpPr>
          <p:cNvPr id="10258" name="Line 52"/>
          <p:cNvSpPr>
            <a:spLocks noChangeShapeType="1"/>
          </p:cNvSpPr>
          <p:nvPr/>
        </p:nvSpPr>
        <p:spPr bwMode="auto">
          <a:xfrm flipH="1">
            <a:off x="6505575" y="1733550"/>
            <a:ext cx="9525" cy="238125"/>
          </a:xfrm>
          <a:prstGeom prst="line">
            <a:avLst/>
          </a:prstGeom>
          <a:noFill/>
          <a:ln w="28575">
            <a:solidFill>
              <a:schemeClr val="accent2"/>
            </a:solidFill>
            <a:round/>
          </a:ln>
        </p:spPr>
        <p:txBody>
          <a:bodyPr wrap="none" anchor="ctr"/>
          <a:lstStyle/>
          <a:p>
            <a:endParaRPr lang="en-US"/>
          </a:p>
        </p:txBody>
      </p:sp>
      <p:sp>
        <p:nvSpPr>
          <p:cNvPr id="10259" name="Line 53"/>
          <p:cNvSpPr>
            <a:spLocks noChangeShapeType="1"/>
          </p:cNvSpPr>
          <p:nvPr/>
        </p:nvSpPr>
        <p:spPr bwMode="auto">
          <a:xfrm flipH="1">
            <a:off x="6962775" y="1895475"/>
            <a:ext cx="133350" cy="209550"/>
          </a:xfrm>
          <a:prstGeom prst="line">
            <a:avLst/>
          </a:prstGeom>
          <a:noFill/>
          <a:ln w="28575">
            <a:solidFill>
              <a:schemeClr val="accent2"/>
            </a:solidFill>
            <a:round/>
          </a:ln>
        </p:spPr>
        <p:txBody>
          <a:bodyPr wrap="none" anchor="ctr"/>
          <a:lstStyle/>
          <a:p>
            <a:endParaRPr lang="en-US"/>
          </a:p>
        </p:txBody>
      </p:sp>
      <p:sp>
        <p:nvSpPr>
          <p:cNvPr id="10260" name="Line 54"/>
          <p:cNvSpPr>
            <a:spLocks noChangeShapeType="1"/>
          </p:cNvSpPr>
          <p:nvPr/>
        </p:nvSpPr>
        <p:spPr bwMode="auto">
          <a:xfrm flipH="1" flipV="1">
            <a:off x="7124700" y="2657475"/>
            <a:ext cx="247650" cy="0"/>
          </a:xfrm>
          <a:prstGeom prst="line">
            <a:avLst/>
          </a:prstGeom>
          <a:noFill/>
          <a:ln w="28575">
            <a:solidFill>
              <a:schemeClr val="accent2"/>
            </a:solidFill>
            <a:round/>
          </a:ln>
        </p:spPr>
        <p:txBody>
          <a:bodyPr wrap="none" anchor="ctr"/>
          <a:lstStyle/>
          <a:p>
            <a:endParaRPr lang="en-US"/>
          </a:p>
        </p:txBody>
      </p:sp>
      <p:sp>
        <p:nvSpPr>
          <p:cNvPr id="10261" name="Freeform 55"/>
          <p:cNvSpPr/>
          <p:nvPr/>
        </p:nvSpPr>
        <p:spPr bwMode="auto">
          <a:xfrm>
            <a:off x="5162550" y="1689100"/>
            <a:ext cx="2174875" cy="158115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w="9525">
            <a:noFill/>
            <a:round/>
          </a:ln>
        </p:spPr>
        <p:txBody>
          <a:bodyPr wrap="none" anchor="ctr"/>
          <a:lstStyle/>
          <a:p>
            <a:endParaRPr lang="en-US"/>
          </a:p>
        </p:txBody>
      </p:sp>
      <p:grpSp>
        <p:nvGrpSpPr>
          <p:cNvPr id="10262" name="Group 56"/>
          <p:cNvGrpSpPr/>
          <p:nvPr/>
        </p:nvGrpSpPr>
        <p:grpSpPr bwMode="auto">
          <a:xfrm>
            <a:off x="6145213" y="2890838"/>
            <a:ext cx="501650" cy="233362"/>
            <a:chOff x="3600" y="219"/>
            <a:chExt cx="360" cy="175"/>
          </a:xfrm>
        </p:grpSpPr>
        <p:sp>
          <p:nvSpPr>
            <p:cNvPr id="10302" name="Oval 57"/>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p>
              <a:endParaRPr lang="en-US"/>
            </a:p>
          </p:txBody>
        </p:sp>
        <p:sp>
          <p:nvSpPr>
            <p:cNvPr id="10303" name="Line 58"/>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10304" name="Line 59"/>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10305" name="Rectangle 60"/>
            <p:cNvSpPr>
              <a:spLocks noChangeArrowheads="1"/>
            </p:cNvSpPr>
            <p:nvPr/>
          </p:nvSpPr>
          <p:spPr bwMode="auto">
            <a:xfrm>
              <a:off x="3603" y="289"/>
              <a:ext cx="354" cy="59"/>
            </a:xfrm>
            <a:prstGeom prst="rect">
              <a:avLst/>
            </a:prstGeom>
            <a:solidFill>
              <a:schemeClr val="hlink"/>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0306" name="Oval 61"/>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p>
              <a:endParaRPr lang="en-US"/>
            </a:p>
          </p:txBody>
        </p:sp>
        <p:grpSp>
          <p:nvGrpSpPr>
            <p:cNvPr id="10307" name="Group 62"/>
            <p:cNvGrpSpPr/>
            <p:nvPr/>
          </p:nvGrpSpPr>
          <p:grpSpPr bwMode="auto">
            <a:xfrm>
              <a:off x="3686" y="244"/>
              <a:ext cx="177" cy="66"/>
              <a:chOff x="2848" y="848"/>
              <a:chExt cx="140" cy="98"/>
            </a:xfrm>
          </p:grpSpPr>
          <p:sp>
            <p:nvSpPr>
              <p:cNvPr id="10312" name="Line 63"/>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0313" name="Line 64"/>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0314" name="Line 65"/>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10308" name="Group 66"/>
            <p:cNvGrpSpPr/>
            <p:nvPr/>
          </p:nvGrpSpPr>
          <p:grpSpPr bwMode="auto">
            <a:xfrm flipV="1">
              <a:off x="3686" y="243"/>
              <a:ext cx="177" cy="66"/>
              <a:chOff x="2848" y="848"/>
              <a:chExt cx="140" cy="98"/>
            </a:xfrm>
          </p:grpSpPr>
          <p:sp>
            <p:nvSpPr>
              <p:cNvPr id="10309" name="Line 67"/>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0310" name="Line 68"/>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0311" name="Line 69"/>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10263" name="Text Box 70"/>
          <p:cNvSpPr txBox="1">
            <a:spLocks noChangeArrowheads="1"/>
          </p:cNvSpPr>
          <p:nvPr/>
        </p:nvSpPr>
        <p:spPr bwMode="auto">
          <a:xfrm>
            <a:off x="5595938" y="1998663"/>
            <a:ext cx="1079500" cy="581025"/>
          </a:xfrm>
          <a:prstGeom prst="rect">
            <a:avLst/>
          </a:prstGeom>
          <a:noFill/>
          <a:ln w="9525">
            <a:noFill/>
            <a:miter lim="800000"/>
          </a:ln>
        </p:spPr>
        <p:txBody>
          <a:bodyPr wrap="none">
            <a:spAutoFit/>
          </a:bodyPr>
          <a:lstStyle/>
          <a:p>
            <a:pPr algn="ctr">
              <a:spcBef>
                <a:spcPct val="0"/>
              </a:spcBef>
              <a:buClrTx/>
              <a:buSzTx/>
              <a:buFontTx/>
              <a:buNone/>
            </a:pPr>
            <a:r>
              <a:rPr lang="en-US" sz="1600"/>
              <a:t>public</a:t>
            </a:r>
            <a:endParaRPr lang="en-US" sz="1600"/>
          </a:p>
          <a:p>
            <a:pPr algn="ctr">
              <a:spcBef>
                <a:spcPct val="0"/>
              </a:spcBef>
              <a:buClrTx/>
              <a:buSzTx/>
              <a:buFontTx/>
              <a:buNone/>
            </a:pPr>
            <a:r>
              <a:rPr lang="en-US" sz="1600"/>
              <a:t> Internet</a:t>
            </a:r>
            <a:endParaRPr lang="en-US">
              <a:solidFill>
                <a:schemeClr val="accent2"/>
              </a:solidFill>
              <a:latin typeface="Times New Roman" panose="02020603050405020304" pitchFamily="18" charset="0"/>
            </a:endParaRPr>
          </a:p>
        </p:txBody>
      </p:sp>
      <p:sp>
        <p:nvSpPr>
          <p:cNvPr id="10264" name="Freeform 71"/>
          <p:cNvSpPr/>
          <p:nvPr/>
        </p:nvSpPr>
        <p:spPr bwMode="auto">
          <a:xfrm>
            <a:off x="4732338" y="4059238"/>
            <a:ext cx="2965450" cy="1390650"/>
          </a:xfrm>
          <a:custGeom>
            <a:avLst/>
            <a:gdLst>
              <a:gd name="T0" fmla="*/ 31 w 1868"/>
              <a:gd name="T1" fmla="*/ 327 h 876"/>
              <a:gd name="T2" fmla="*/ 103 w 1868"/>
              <a:gd name="T3" fmla="*/ 137 h 876"/>
              <a:gd name="T4" fmla="*/ 649 w 1868"/>
              <a:gd name="T5" fmla="*/ 17 h 876"/>
              <a:gd name="T6" fmla="*/ 1141 w 1868"/>
              <a:gd name="T7" fmla="*/ 35 h 876"/>
              <a:gd name="T8" fmla="*/ 1763 w 1868"/>
              <a:gd name="T9" fmla="*/ 121 h 876"/>
              <a:gd name="T10" fmla="*/ 1774 w 1868"/>
              <a:gd name="T11" fmla="*/ 741 h 876"/>
              <a:gd name="T12" fmla="*/ 1369 w 1868"/>
              <a:gd name="T13" fmla="*/ 845 h 876"/>
              <a:gd name="T14" fmla="*/ 781 w 1868"/>
              <a:gd name="T15" fmla="*/ 851 h 876"/>
              <a:gd name="T16" fmla="*/ 447 w 1868"/>
              <a:gd name="T17" fmla="*/ 847 h 876"/>
              <a:gd name="T18" fmla="*/ 168 w 1868"/>
              <a:gd name="T19" fmla="*/ 676 h 876"/>
              <a:gd name="T20" fmla="*/ 31 w 1868"/>
              <a:gd name="T21" fmla="*/ 327 h 8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68"/>
              <a:gd name="T34" fmla="*/ 0 h 876"/>
              <a:gd name="T35" fmla="*/ 1868 w 1868"/>
              <a:gd name="T36" fmla="*/ 876 h 8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33CCCC"/>
          </a:solidFill>
          <a:ln w="9525">
            <a:noFill/>
            <a:round/>
          </a:ln>
        </p:spPr>
        <p:txBody>
          <a:bodyPr wrap="none" anchor="ctr"/>
          <a:lstStyle/>
          <a:p>
            <a:endParaRPr lang="en-US"/>
          </a:p>
        </p:txBody>
      </p:sp>
      <p:graphicFrame>
        <p:nvGraphicFramePr>
          <p:cNvPr id="10242" name="Object 72"/>
          <p:cNvGraphicFramePr>
            <a:graphicFrameLocks noChangeAspect="1"/>
          </p:cNvGraphicFramePr>
          <p:nvPr/>
        </p:nvGraphicFramePr>
        <p:xfrm>
          <a:off x="4979988" y="4803775"/>
          <a:ext cx="444500" cy="357188"/>
        </p:xfrm>
        <a:graphic>
          <a:graphicData uri="http://schemas.openxmlformats.org/presentationml/2006/ole">
            <mc:AlternateContent xmlns:mc="http://schemas.openxmlformats.org/markup-compatibility/2006">
              <mc:Choice xmlns:v="urn:schemas-microsoft-com:vml" Requires="v">
                <p:oleObj spid="_x0000_s10286" name="Clip" r:id="rId1" imgW="18192750" imgH="15087600" progId="">
                  <p:embed/>
                </p:oleObj>
              </mc:Choice>
              <mc:Fallback>
                <p:oleObj name="Clip" r:id="rId1" imgW="18192750" imgH="15087600" progId="">
                  <p:embed/>
                  <p:pic>
                    <p:nvPicPr>
                      <p:cNvPr id="0" name="Object 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9988" y="4803775"/>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3" name="Object 73"/>
          <p:cNvGraphicFramePr>
            <a:graphicFrameLocks noChangeAspect="1"/>
          </p:cNvGraphicFramePr>
          <p:nvPr/>
        </p:nvGraphicFramePr>
        <p:xfrm>
          <a:off x="5484813" y="4803775"/>
          <a:ext cx="444500" cy="357188"/>
        </p:xfrm>
        <a:graphic>
          <a:graphicData uri="http://schemas.openxmlformats.org/presentationml/2006/ole">
            <mc:AlternateContent xmlns:mc="http://schemas.openxmlformats.org/markup-compatibility/2006">
              <mc:Choice xmlns:v="urn:schemas-microsoft-com:vml" Requires="v">
                <p:oleObj spid="_x0000_s10287" name="Clip" r:id="rId3" imgW="18192750" imgH="15087600" progId="">
                  <p:embed/>
                </p:oleObj>
              </mc:Choice>
              <mc:Fallback>
                <p:oleObj name="Clip" r:id="rId3" imgW="18192750" imgH="15087600" progId="">
                  <p:embed/>
                  <p:pic>
                    <p:nvPicPr>
                      <p:cNvPr id="0" name="Object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4813" y="4803775"/>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74"/>
          <p:cNvGraphicFramePr>
            <a:graphicFrameLocks noChangeAspect="1"/>
          </p:cNvGraphicFramePr>
          <p:nvPr/>
        </p:nvGraphicFramePr>
        <p:xfrm>
          <a:off x="6018213" y="4794250"/>
          <a:ext cx="444500" cy="357188"/>
        </p:xfrm>
        <a:graphic>
          <a:graphicData uri="http://schemas.openxmlformats.org/presentationml/2006/ole">
            <mc:AlternateContent xmlns:mc="http://schemas.openxmlformats.org/markup-compatibility/2006">
              <mc:Choice xmlns:v="urn:schemas-microsoft-com:vml" Requires="v">
                <p:oleObj spid="_x0000_s10288" name="Clip" r:id="rId4" imgW="18192750" imgH="15087600" progId="">
                  <p:embed/>
                </p:oleObj>
              </mc:Choice>
              <mc:Fallback>
                <p:oleObj name="Clip" r:id="rId4" imgW="18192750" imgH="15087600" progId="">
                  <p:embed/>
                  <p:pic>
                    <p:nvPicPr>
                      <p:cNvPr id="0" name="Object 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8213" y="4794250"/>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75"/>
          <p:cNvGraphicFramePr>
            <a:graphicFrameLocks noChangeAspect="1"/>
          </p:cNvGraphicFramePr>
          <p:nvPr/>
        </p:nvGraphicFramePr>
        <p:xfrm>
          <a:off x="6532563" y="4803775"/>
          <a:ext cx="444500" cy="357188"/>
        </p:xfrm>
        <a:graphic>
          <a:graphicData uri="http://schemas.openxmlformats.org/presentationml/2006/ole">
            <mc:AlternateContent xmlns:mc="http://schemas.openxmlformats.org/markup-compatibility/2006">
              <mc:Choice xmlns:v="urn:schemas-microsoft-com:vml" Requires="v">
                <p:oleObj spid="_x0000_s10289" name="Clip" r:id="rId5" imgW="18192750" imgH="15087600" progId="">
                  <p:embed/>
                </p:oleObj>
              </mc:Choice>
              <mc:Fallback>
                <p:oleObj name="Clip" r:id="rId5" imgW="18192750" imgH="15087600" progId="">
                  <p:embed/>
                  <p:pic>
                    <p:nvPicPr>
                      <p:cNvPr id="0" name="Object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2563" y="4803775"/>
                        <a:ext cx="444500"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5" name="Line 76"/>
          <p:cNvSpPr>
            <a:spLocks noChangeShapeType="1"/>
          </p:cNvSpPr>
          <p:nvPr/>
        </p:nvSpPr>
        <p:spPr bwMode="auto">
          <a:xfrm>
            <a:off x="5172075" y="4605338"/>
            <a:ext cx="2205038" cy="0"/>
          </a:xfrm>
          <a:prstGeom prst="line">
            <a:avLst/>
          </a:prstGeom>
          <a:noFill/>
          <a:ln w="28575">
            <a:solidFill>
              <a:schemeClr val="tx1"/>
            </a:solidFill>
            <a:round/>
          </a:ln>
        </p:spPr>
        <p:txBody>
          <a:bodyPr wrap="none" anchor="ctr"/>
          <a:lstStyle/>
          <a:p>
            <a:endParaRPr lang="en-US"/>
          </a:p>
        </p:txBody>
      </p:sp>
      <p:sp>
        <p:nvSpPr>
          <p:cNvPr id="10266" name="Line 77"/>
          <p:cNvSpPr>
            <a:spLocks noChangeShapeType="1"/>
          </p:cNvSpPr>
          <p:nvPr/>
        </p:nvSpPr>
        <p:spPr bwMode="auto">
          <a:xfrm>
            <a:off x="5181600" y="4605338"/>
            <a:ext cx="0" cy="195262"/>
          </a:xfrm>
          <a:prstGeom prst="line">
            <a:avLst/>
          </a:prstGeom>
          <a:noFill/>
          <a:ln w="28575">
            <a:solidFill>
              <a:schemeClr val="tx1"/>
            </a:solidFill>
            <a:round/>
          </a:ln>
        </p:spPr>
        <p:txBody>
          <a:bodyPr wrap="none" anchor="ctr"/>
          <a:lstStyle/>
          <a:p>
            <a:endParaRPr lang="en-US"/>
          </a:p>
        </p:txBody>
      </p:sp>
      <p:sp>
        <p:nvSpPr>
          <p:cNvPr id="10267" name="Line 78"/>
          <p:cNvSpPr>
            <a:spLocks noChangeShapeType="1"/>
          </p:cNvSpPr>
          <p:nvPr/>
        </p:nvSpPr>
        <p:spPr bwMode="auto">
          <a:xfrm>
            <a:off x="5691188" y="4614863"/>
            <a:ext cx="0" cy="195262"/>
          </a:xfrm>
          <a:prstGeom prst="line">
            <a:avLst/>
          </a:prstGeom>
          <a:noFill/>
          <a:ln w="28575">
            <a:solidFill>
              <a:schemeClr val="tx1"/>
            </a:solidFill>
            <a:round/>
          </a:ln>
        </p:spPr>
        <p:txBody>
          <a:bodyPr wrap="none" anchor="ctr"/>
          <a:lstStyle/>
          <a:p>
            <a:endParaRPr lang="en-US"/>
          </a:p>
        </p:txBody>
      </p:sp>
      <p:sp>
        <p:nvSpPr>
          <p:cNvPr id="10268" name="Line 79"/>
          <p:cNvSpPr>
            <a:spLocks noChangeShapeType="1"/>
          </p:cNvSpPr>
          <p:nvPr/>
        </p:nvSpPr>
        <p:spPr bwMode="auto">
          <a:xfrm>
            <a:off x="6229350" y="4610100"/>
            <a:ext cx="0" cy="195263"/>
          </a:xfrm>
          <a:prstGeom prst="line">
            <a:avLst/>
          </a:prstGeom>
          <a:noFill/>
          <a:ln w="28575">
            <a:solidFill>
              <a:schemeClr val="tx1"/>
            </a:solidFill>
            <a:round/>
          </a:ln>
        </p:spPr>
        <p:txBody>
          <a:bodyPr wrap="none" anchor="ctr"/>
          <a:lstStyle/>
          <a:p>
            <a:endParaRPr lang="en-US"/>
          </a:p>
        </p:txBody>
      </p:sp>
      <p:sp>
        <p:nvSpPr>
          <p:cNvPr id="10269" name="Line 80"/>
          <p:cNvSpPr>
            <a:spLocks noChangeShapeType="1"/>
          </p:cNvSpPr>
          <p:nvPr/>
        </p:nvSpPr>
        <p:spPr bwMode="auto">
          <a:xfrm>
            <a:off x="6729413" y="4610100"/>
            <a:ext cx="0" cy="223838"/>
          </a:xfrm>
          <a:prstGeom prst="line">
            <a:avLst/>
          </a:prstGeom>
          <a:noFill/>
          <a:ln w="28575">
            <a:solidFill>
              <a:schemeClr val="tx1"/>
            </a:solidFill>
            <a:round/>
          </a:ln>
        </p:spPr>
        <p:txBody>
          <a:bodyPr wrap="none" anchor="ctr"/>
          <a:lstStyle/>
          <a:p>
            <a:endParaRPr lang="en-US"/>
          </a:p>
        </p:txBody>
      </p:sp>
      <p:sp>
        <p:nvSpPr>
          <p:cNvPr id="10270" name="Line 81"/>
          <p:cNvSpPr>
            <a:spLocks noChangeShapeType="1"/>
          </p:cNvSpPr>
          <p:nvPr/>
        </p:nvSpPr>
        <p:spPr bwMode="auto">
          <a:xfrm>
            <a:off x="7367588" y="4605338"/>
            <a:ext cx="0" cy="223837"/>
          </a:xfrm>
          <a:prstGeom prst="line">
            <a:avLst/>
          </a:prstGeom>
          <a:noFill/>
          <a:ln w="28575">
            <a:solidFill>
              <a:schemeClr val="tx1"/>
            </a:solidFill>
            <a:round/>
          </a:ln>
        </p:spPr>
        <p:txBody>
          <a:bodyPr wrap="none" anchor="ctr"/>
          <a:lstStyle/>
          <a:p>
            <a:endParaRPr lang="en-US"/>
          </a:p>
        </p:txBody>
      </p:sp>
      <p:grpSp>
        <p:nvGrpSpPr>
          <p:cNvPr id="10271" name="Group 82"/>
          <p:cNvGrpSpPr/>
          <p:nvPr/>
        </p:nvGrpSpPr>
        <p:grpSpPr bwMode="auto">
          <a:xfrm>
            <a:off x="7142163" y="4689475"/>
            <a:ext cx="347662" cy="695325"/>
            <a:chOff x="4730" y="2897"/>
            <a:chExt cx="219" cy="438"/>
          </a:xfrm>
        </p:grpSpPr>
        <p:sp>
          <p:nvSpPr>
            <p:cNvPr id="10292" name="Freeform 83"/>
            <p:cNvSpPr/>
            <p:nvPr/>
          </p:nvSpPr>
          <p:spPr bwMode="auto">
            <a:xfrm>
              <a:off x="4730" y="2897"/>
              <a:ext cx="219" cy="438"/>
            </a:xfrm>
            <a:custGeom>
              <a:avLst/>
              <a:gdLst>
                <a:gd name="T0" fmla="*/ 16 w 219"/>
                <a:gd name="T1" fmla="*/ 109 h 438"/>
                <a:gd name="T2" fmla="*/ 94 w 219"/>
                <a:gd name="T3" fmla="*/ 7 h 438"/>
                <a:gd name="T4" fmla="*/ 178 w 219"/>
                <a:gd name="T5" fmla="*/ 67 h 438"/>
                <a:gd name="T6" fmla="*/ 196 w 219"/>
                <a:gd name="T7" fmla="*/ 379 h 438"/>
                <a:gd name="T8" fmla="*/ 40 w 219"/>
                <a:gd name="T9" fmla="*/ 421 h 438"/>
                <a:gd name="T10" fmla="*/ 4 w 219"/>
                <a:gd name="T11" fmla="*/ 313 h 438"/>
                <a:gd name="T12" fmla="*/ 16 w 219"/>
                <a:gd name="T13" fmla="*/ 109 h 438"/>
                <a:gd name="T14" fmla="*/ 0 60000 65536"/>
                <a:gd name="T15" fmla="*/ 0 60000 65536"/>
                <a:gd name="T16" fmla="*/ 0 60000 65536"/>
                <a:gd name="T17" fmla="*/ 0 60000 65536"/>
                <a:gd name="T18" fmla="*/ 0 60000 65536"/>
                <a:gd name="T19" fmla="*/ 0 60000 65536"/>
                <a:gd name="T20" fmla="*/ 0 60000 65536"/>
                <a:gd name="T21" fmla="*/ 0 w 219"/>
                <a:gd name="T22" fmla="*/ 0 h 438"/>
                <a:gd name="T23" fmla="*/ 219 w 219"/>
                <a:gd name="T24" fmla="*/ 438 h 4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9" h="438">
                  <a:moveTo>
                    <a:pt x="16" y="109"/>
                  </a:moveTo>
                  <a:cubicBezTo>
                    <a:pt x="31" y="58"/>
                    <a:pt x="67" y="14"/>
                    <a:pt x="94" y="7"/>
                  </a:cubicBezTo>
                  <a:cubicBezTo>
                    <a:pt x="121" y="0"/>
                    <a:pt x="161" y="5"/>
                    <a:pt x="178" y="67"/>
                  </a:cubicBezTo>
                  <a:cubicBezTo>
                    <a:pt x="195" y="129"/>
                    <a:pt x="219" y="320"/>
                    <a:pt x="196" y="379"/>
                  </a:cubicBezTo>
                  <a:cubicBezTo>
                    <a:pt x="173" y="438"/>
                    <a:pt x="72" y="432"/>
                    <a:pt x="40" y="421"/>
                  </a:cubicBezTo>
                  <a:cubicBezTo>
                    <a:pt x="8" y="410"/>
                    <a:pt x="8" y="365"/>
                    <a:pt x="4" y="313"/>
                  </a:cubicBezTo>
                  <a:cubicBezTo>
                    <a:pt x="0" y="261"/>
                    <a:pt x="1" y="160"/>
                    <a:pt x="16" y="109"/>
                  </a:cubicBezTo>
                  <a:close/>
                </a:path>
              </a:pathLst>
            </a:custGeom>
            <a:solidFill>
              <a:srgbClr val="FF0000"/>
            </a:solidFill>
            <a:ln w="9525">
              <a:noFill/>
              <a:round/>
            </a:ln>
          </p:spPr>
          <p:txBody>
            <a:bodyPr wrap="none" anchor="ctr"/>
            <a:lstStyle/>
            <a:p>
              <a:endParaRPr lang="en-US"/>
            </a:p>
          </p:txBody>
        </p:sp>
        <p:grpSp>
          <p:nvGrpSpPr>
            <p:cNvPr id="10293" name="Group 84"/>
            <p:cNvGrpSpPr/>
            <p:nvPr/>
          </p:nvGrpSpPr>
          <p:grpSpPr bwMode="auto">
            <a:xfrm>
              <a:off x="4771" y="2948"/>
              <a:ext cx="116" cy="342"/>
              <a:chOff x="4180" y="783"/>
              <a:chExt cx="150" cy="307"/>
            </a:xfrm>
          </p:grpSpPr>
          <p:sp>
            <p:nvSpPr>
              <p:cNvPr id="10294" name="AutoShape 8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0295" name="Rectangle 86"/>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0296" name="Rectangle 87"/>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0297" name="AutoShape 8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0298" name="Line 89"/>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0299" name="Line 90"/>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0300" name="Rectangle 91"/>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0301" name="Rectangle 92"/>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grpSp>
        <p:nvGrpSpPr>
          <p:cNvPr id="10272" name="Group 93"/>
          <p:cNvGrpSpPr/>
          <p:nvPr/>
        </p:nvGrpSpPr>
        <p:grpSpPr bwMode="auto">
          <a:xfrm>
            <a:off x="6145213" y="4181475"/>
            <a:ext cx="501650" cy="233363"/>
            <a:chOff x="3600" y="219"/>
            <a:chExt cx="360" cy="175"/>
          </a:xfrm>
        </p:grpSpPr>
        <p:sp>
          <p:nvSpPr>
            <p:cNvPr id="10279" name="Oval 94"/>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p>
              <a:endParaRPr lang="en-US"/>
            </a:p>
          </p:txBody>
        </p:sp>
        <p:sp>
          <p:nvSpPr>
            <p:cNvPr id="10280" name="Line 95"/>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10281" name="Line 96"/>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10282" name="Rectangle 97"/>
            <p:cNvSpPr>
              <a:spLocks noChangeArrowheads="1"/>
            </p:cNvSpPr>
            <p:nvPr/>
          </p:nvSpPr>
          <p:spPr bwMode="auto">
            <a:xfrm>
              <a:off x="3603" y="289"/>
              <a:ext cx="354" cy="59"/>
            </a:xfrm>
            <a:prstGeom prst="rect">
              <a:avLst/>
            </a:prstGeom>
            <a:solidFill>
              <a:schemeClr val="hlink"/>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0283" name="Oval 98"/>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p>
              <a:endParaRPr lang="en-US"/>
            </a:p>
          </p:txBody>
        </p:sp>
        <p:grpSp>
          <p:nvGrpSpPr>
            <p:cNvPr id="10284" name="Group 99"/>
            <p:cNvGrpSpPr/>
            <p:nvPr/>
          </p:nvGrpSpPr>
          <p:grpSpPr bwMode="auto">
            <a:xfrm>
              <a:off x="3686" y="244"/>
              <a:ext cx="177" cy="66"/>
              <a:chOff x="2848" y="848"/>
              <a:chExt cx="140" cy="98"/>
            </a:xfrm>
          </p:grpSpPr>
          <p:sp>
            <p:nvSpPr>
              <p:cNvPr id="2" name="Line 100"/>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0290" name="Line 101"/>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0291" name="Line 102"/>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10285" name="Group 103"/>
            <p:cNvGrpSpPr/>
            <p:nvPr/>
          </p:nvGrpSpPr>
          <p:grpSpPr bwMode="auto">
            <a:xfrm flipV="1">
              <a:off x="3686" y="243"/>
              <a:ext cx="177" cy="66"/>
              <a:chOff x="2848" y="848"/>
              <a:chExt cx="140" cy="98"/>
            </a:xfrm>
          </p:grpSpPr>
          <p:sp>
            <p:nvSpPr>
              <p:cNvPr id="3" name="Line 104"/>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4" name="Line 105"/>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5" name="Line 106"/>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10273" name="Line 107"/>
          <p:cNvSpPr>
            <a:spLocks noChangeShapeType="1"/>
          </p:cNvSpPr>
          <p:nvPr/>
        </p:nvSpPr>
        <p:spPr bwMode="auto">
          <a:xfrm>
            <a:off x="6391275" y="3133725"/>
            <a:ext cx="0" cy="1062038"/>
          </a:xfrm>
          <a:prstGeom prst="line">
            <a:avLst/>
          </a:prstGeom>
          <a:noFill/>
          <a:ln w="28575">
            <a:solidFill>
              <a:schemeClr val="tx1"/>
            </a:solidFill>
            <a:round/>
          </a:ln>
        </p:spPr>
        <p:txBody>
          <a:bodyPr wrap="none" anchor="ctr"/>
          <a:lstStyle/>
          <a:p>
            <a:endParaRPr lang="en-US"/>
          </a:p>
        </p:txBody>
      </p:sp>
      <p:sp>
        <p:nvSpPr>
          <p:cNvPr id="10274" name="Line 108"/>
          <p:cNvSpPr>
            <a:spLocks noChangeShapeType="1"/>
          </p:cNvSpPr>
          <p:nvPr/>
        </p:nvSpPr>
        <p:spPr bwMode="auto">
          <a:xfrm>
            <a:off x="6396038" y="4419600"/>
            <a:ext cx="0" cy="166688"/>
          </a:xfrm>
          <a:prstGeom prst="line">
            <a:avLst/>
          </a:prstGeom>
          <a:noFill/>
          <a:ln w="28575">
            <a:solidFill>
              <a:schemeClr val="tx1"/>
            </a:solidFill>
            <a:round/>
          </a:ln>
        </p:spPr>
        <p:txBody>
          <a:bodyPr wrap="none" anchor="ctr"/>
          <a:lstStyle/>
          <a:p>
            <a:endParaRPr lang="en-US"/>
          </a:p>
        </p:txBody>
      </p:sp>
      <p:sp>
        <p:nvSpPr>
          <p:cNvPr id="10275" name="Text Box 109"/>
          <p:cNvSpPr txBox="1">
            <a:spLocks noChangeArrowheads="1"/>
          </p:cNvSpPr>
          <p:nvPr/>
        </p:nvSpPr>
        <p:spPr bwMode="auto">
          <a:xfrm>
            <a:off x="4695825" y="3946525"/>
            <a:ext cx="1325563" cy="581025"/>
          </a:xfrm>
          <a:prstGeom prst="rect">
            <a:avLst/>
          </a:prstGeom>
          <a:noFill/>
          <a:ln w="9525">
            <a:noFill/>
            <a:miter lim="800000"/>
          </a:ln>
        </p:spPr>
        <p:txBody>
          <a:bodyPr wrap="none">
            <a:spAutoFit/>
          </a:bodyPr>
          <a:lstStyle/>
          <a:p>
            <a:pPr algn="ctr">
              <a:spcBef>
                <a:spcPct val="0"/>
              </a:spcBef>
              <a:buClrTx/>
              <a:buSzTx/>
              <a:buFontTx/>
              <a:buNone/>
            </a:pPr>
            <a:r>
              <a:rPr lang="en-US" sz="1600"/>
              <a:t>institutional</a:t>
            </a:r>
            <a:endParaRPr lang="en-US" sz="1600"/>
          </a:p>
          <a:p>
            <a:pPr algn="ctr">
              <a:spcBef>
                <a:spcPct val="0"/>
              </a:spcBef>
              <a:buClrTx/>
              <a:buSzTx/>
              <a:buFontTx/>
              <a:buNone/>
            </a:pPr>
            <a:r>
              <a:rPr lang="en-US" sz="1600"/>
              <a:t>network</a:t>
            </a:r>
            <a:endParaRPr lang="en-US">
              <a:solidFill>
                <a:schemeClr val="accent2"/>
              </a:solidFill>
              <a:latin typeface="Times New Roman" panose="02020603050405020304" pitchFamily="18" charset="0"/>
            </a:endParaRPr>
          </a:p>
        </p:txBody>
      </p:sp>
      <p:sp>
        <p:nvSpPr>
          <p:cNvPr id="10276" name="Text Box 110"/>
          <p:cNvSpPr txBox="1">
            <a:spLocks noChangeArrowheads="1"/>
          </p:cNvSpPr>
          <p:nvPr/>
        </p:nvSpPr>
        <p:spPr bwMode="auto">
          <a:xfrm>
            <a:off x="6667500" y="4294188"/>
            <a:ext cx="1588898" cy="338554"/>
          </a:xfrm>
          <a:prstGeom prst="rect">
            <a:avLst/>
          </a:prstGeom>
          <a:noFill/>
          <a:ln w="9525">
            <a:noFill/>
            <a:miter lim="800000"/>
          </a:ln>
        </p:spPr>
        <p:txBody>
          <a:bodyPr wrap="none">
            <a:spAutoFit/>
          </a:bodyPr>
          <a:lstStyle/>
          <a:p>
            <a:pPr algn="ctr">
              <a:spcBef>
                <a:spcPct val="0"/>
              </a:spcBef>
              <a:buClrTx/>
              <a:buSzTx/>
              <a:buFontTx/>
              <a:buNone/>
            </a:pPr>
            <a:r>
              <a:rPr lang="en-US" sz="1600" dirty="0"/>
              <a:t>100 Mbps LAN</a:t>
            </a:r>
            <a:endParaRPr lang="en-US" dirty="0">
              <a:solidFill>
                <a:schemeClr val="accent2"/>
              </a:solidFill>
              <a:latin typeface="Times New Roman" panose="02020603050405020304" pitchFamily="18" charset="0"/>
            </a:endParaRPr>
          </a:p>
        </p:txBody>
      </p:sp>
      <p:sp>
        <p:nvSpPr>
          <p:cNvPr id="10277" name="Text Box 111"/>
          <p:cNvSpPr txBox="1">
            <a:spLocks noChangeArrowheads="1"/>
          </p:cNvSpPr>
          <p:nvPr/>
        </p:nvSpPr>
        <p:spPr bwMode="auto">
          <a:xfrm>
            <a:off x="6392863" y="3322638"/>
            <a:ext cx="1195387" cy="581025"/>
          </a:xfrm>
          <a:prstGeom prst="rect">
            <a:avLst/>
          </a:prstGeom>
          <a:noFill/>
          <a:ln w="9525">
            <a:noFill/>
            <a:miter lim="800000"/>
          </a:ln>
        </p:spPr>
        <p:txBody>
          <a:bodyPr wrap="none">
            <a:spAutoFit/>
          </a:bodyPr>
          <a:lstStyle/>
          <a:p>
            <a:pPr>
              <a:spcBef>
                <a:spcPct val="0"/>
              </a:spcBef>
              <a:buClrTx/>
              <a:buSzTx/>
              <a:buFontTx/>
              <a:buNone/>
            </a:pPr>
            <a:r>
              <a:rPr lang="en-US" sz="1600" dirty="0"/>
              <a:t>15 Mbps </a:t>
            </a:r>
            <a:endParaRPr lang="en-US" sz="1600" dirty="0"/>
          </a:p>
          <a:p>
            <a:pPr>
              <a:spcBef>
                <a:spcPct val="0"/>
              </a:spcBef>
              <a:buClrTx/>
              <a:buSzTx/>
              <a:buFontTx/>
              <a:buNone/>
            </a:pPr>
            <a:r>
              <a:rPr lang="en-US" sz="1600" dirty="0"/>
              <a:t>access link</a:t>
            </a:r>
            <a:endParaRPr lang="en-US" dirty="0">
              <a:solidFill>
                <a:schemeClr val="accent2"/>
              </a:solidFill>
              <a:latin typeface="Times New Roman" panose="02020603050405020304" pitchFamily="18" charset="0"/>
            </a:endParaRPr>
          </a:p>
        </p:txBody>
      </p:sp>
      <p:sp>
        <p:nvSpPr>
          <p:cNvPr id="10278" name="Text Box 112"/>
          <p:cNvSpPr txBox="1">
            <a:spLocks noChangeArrowheads="1"/>
          </p:cNvSpPr>
          <p:nvPr/>
        </p:nvSpPr>
        <p:spPr bwMode="auto">
          <a:xfrm>
            <a:off x="6877050" y="5370513"/>
            <a:ext cx="1466850" cy="641350"/>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rPr>
              <a:t>institutional</a:t>
            </a:r>
            <a:endParaRPr lang="en-US" sz="1800">
              <a:solidFill>
                <a:srgbClr val="FF0000"/>
              </a:solidFill>
            </a:endParaRPr>
          </a:p>
          <a:p>
            <a:pPr algn="ctr">
              <a:spcBef>
                <a:spcPct val="0"/>
              </a:spcBef>
              <a:buClrTx/>
              <a:buSzTx/>
              <a:buFontTx/>
              <a:buNone/>
            </a:pPr>
            <a:r>
              <a:rPr lang="en-US" sz="1800">
                <a:solidFill>
                  <a:srgbClr val="FF0000"/>
                </a:solidFill>
              </a:rPr>
              <a:t>cache</a:t>
            </a:r>
            <a:endParaRPr lang="en-US">
              <a:solidFill>
                <a:schemeClr val="accent2"/>
              </a:solidFill>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7587" name="Slide Number Placeholder 6"/>
          <p:cNvSpPr>
            <a:spLocks noGrp="1"/>
          </p:cNvSpPr>
          <p:nvPr>
            <p:ph type="sldNum" sz="quarter" idx="12"/>
          </p:nvPr>
        </p:nvSpPr>
        <p:spPr>
          <a:noFill/>
        </p:spPr>
        <p:txBody>
          <a:bodyPr/>
          <a:lstStyle/>
          <a:p>
            <a:fld id="{02AC2C2D-5EFD-4D41-94E0-2833C75CCC70}" type="slidenum">
              <a:rPr lang="en-US"/>
            </a:fld>
            <a:endParaRPr lang="en-US"/>
          </a:p>
        </p:txBody>
      </p:sp>
      <p:sp>
        <p:nvSpPr>
          <p:cNvPr id="67588" name="Rectangle 2"/>
          <p:cNvSpPr>
            <a:spLocks noGrp="1" noChangeArrowheads="1"/>
          </p:cNvSpPr>
          <p:nvPr>
            <p:ph type="title"/>
          </p:nvPr>
        </p:nvSpPr>
        <p:spPr>
          <a:xfrm>
            <a:off x="342900" y="228600"/>
            <a:ext cx="7962900" cy="1143000"/>
          </a:xfrm>
        </p:spPr>
        <p:txBody>
          <a:bodyPr/>
          <a:lstStyle/>
          <a:p>
            <a:r>
              <a:rPr lang="en-US" sz="3200"/>
              <a:t>Conditional GET</a:t>
            </a:r>
            <a:endParaRPr lang="en-US"/>
          </a:p>
        </p:txBody>
      </p:sp>
      <p:sp>
        <p:nvSpPr>
          <p:cNvPr id="67589" name="Rectangle 3"/>
          <p:cNvSpPr>
            <a:spLocks noGrp="1" noChangeArrowheads="1"/>
          </p:cNvSpPr>
          <p:nvPr>
            <p:ph type="body" sz="half" idx="1"/>
          </p:nvPr>
        </p:nvSpPr>
        <p:spPr>
          <a:xfrm>
            <a:off x="0" y="1590675"/>
            <a:ext cx="4044950" cy="4305300"/>
          </a:xfrm>
        </p:spPr>
        <p:txBody>
          <a:bodyPr/>
          <a:lstStyle/>
          <a:p>
            <a:r>
              <a:rPr lang="en-US" sz="2000">
                <a:solidFill>
                  <a:srgbClr val="FF0000"/>
                </a:solidFill>
              </a:rPr>
              <a:t>Goal:</a:t>
            </a:r>
            <a:r>
              <a:rPr lang="en-US" sz="2000"/>
              <a:t> don’t send object if cache has up-to-date cached version</a:t>
            </a:r>
            <a:endParaRPr lang="en-US" sz="2000"/>
          </a:p>
          <a:p>
            <a:r>
              <a:rPr lang="en-US" sz="2000"/>
              <a:t>cache: specify date of cached copy in HTTP request</a:t>
            </a:r>
            <a:endParaRPr lang="en-US" sz="2000"/>
          </a:p>
          <a:p>
            <a:pPr lvl="1">
              <a:buFont typeface="Wingdings" panose="05000000000000000000" pitchFamily="2" charset="2"/>
              <a:buNone/>
            </a:pPr>
            <a:r>
              <a:rPr lang="en-US" sz="1800" b="1">
                <a:latin typeface="Courier New" panose="02070309020205020404" pitchFamily="49" charset="0"/>
              </a:rPr>
              <a:t>If-modified-since: &lt;date&gt;</a:t>
            </a:r>
            <a:endParaRPr lang="en-US" sz="1800" b="1">
              <a:latin typeface="Courier New" panose="02070309020205020404" pitchFamily="49" charset="0"/>
            </a:endParaRPr>
          </a:p>
          <a:p>
            <a:r>
              <a:rPr lang="en-US" sz="2000"/>
              <a:t>server: response contains no object if cached copy is up-to-date: </a:t>
            </a:r>
            <a:endParaRPr lang="en-US" sz="2000"/>
          </a:p>
          <a:p>
            <a:pPr lvl="1">
              <a:buFont typeface="Wingdings" panose="05000000000000000000" pitchFamily="2" charset="2"/>
              <a:buNone/>
            </a:pPr>
            <a:r>
              <a:rPr lang="en-US" sz="1800" b="1">
                <a:latin typeface="Courier New" panose="02070309020205020404" pitchFamily="49" charset="0"/>
              </a:rPr>
              <a:t>HTTP/1.0 304 Not Modified</a:t>
            </a:r>
            <a:endParaRPr lang="en-US" sz="2000"/>
          </a:p>
        </p:txBody>
      </p:sp>
      <p:sp>
        <p:nvSpPr>
          <p:cNvPr id="67590" name="Line 4"/>
          <p:cNvSpPr>
            <a:spLocks noChangeShapeType="1"/>
          </p:cNvSpPr>
          <p:nvPr/>
        </p:nvSpPr>
        <p:spPr bwMode="auto">
          <a:xfrm>
            <a:off x="4276725" y="2114550"/>
            <a:ext cx="3305175" cy="381000"/>
          </a:xfrm>
          <a:prstGeom prst="line">
            <a:avLst/>
          </a:prstGeom>
          <a:noFill/>
          <a:ln w="19050">
            <a:solidFill>
              <a:schemeClr val="tx1"/>
            </a:solidFill>
            <a:round/>
            <a:tailEnd type="triangle" w="med" len="med"/>
          </a:ln>
        </p:spPr>
        <p:txBody>
          <a:bodyPr wrap="none" anchor="ctr"/>
          <a:lstStyle/>
          <a:p>
            <a:endParaRPr lang="en-US"/>
          </a:p>
        </p:txBody>
      </p:sp>
      <p:sp>
        <p:nvSpPr>
          <p:cNvPr id="67591" name="Text Box 5"/>
          <p:cNvSpPr txBox="1">
            <a:spLocks noChangeArrowheads="1"/>
          </p:cNvSpPr>
          <p:nvPr/>
        </p:nvSpPr>
        <p:spPr bwMode="auto">
          <a:xfrm>
            <a:off x="3868738" y="1436688"/>
            <a:ext cx="996950" cy="457200"/>
          </a:xfrm>
          <a:prstGeom prst="rect">
            <a:avLst/>
          </a:prstGeom>
          <a:noFill/>
          <a:ln w="9525">
            <a:noFill/>
            <a:miter lim="800000"/>
          </a:ln>
        </p:spPr>
        <p:txBody>
          <a:bodyPr wrap="none">
            <a:spAutoFit/>
          </a:bodyPr>
          <a:lstStyle/>
          <a:p>
            <a:pPr algn="ctr">
              <a:spcBef>
                <a:spcPct val="0"/>
              </a:spcBef>
              <a:buClrTx/>
              <a:buSzTx/>
              <a:buFontTx/>
              <a:buNone/>
            </a:pPr>
            <a:r>
              <a:rPr lang="en-US" u="sng"/>
              <a:t>cache</a:t>
            </a:r>
            <a:endParaRPr lang="en-US">
              <a:latin typeface="Times New Roman" panose="02020603050405020304" pitchFamily="18" charset="0"/>
            </a:endParaRPr>
          </a:p>
        </p:txBody>
      </p:sp>
      <p:sp>
        <p:nvSpPr>
          <p:cNvPr id="67592" name="Text Box 6"/>
          <p:cNvSpPr txBox="1">
            <a:spLocks noChangeArrowheads="1"/>
          </p:cNvSpPr>
          <p:nvPr/>
        </p:nvSpPr>
        <p:spPr bwMode="auto">
          <a:xfrm>
            <a:off x="7321550" y="1408113"/>
            <a:ext cx="1104900" cy="457200"/>
          </a:xfrm>
          <a:prstGeom prst="rect">
            <a:avLst/>
          </a:prstGeom>
          <a:noFill/>
          <a:ln w="9525">
            <a:noFill/>
            <a:miter lim="800000"/>
          </a:ln>
        </p:spPr>
        <p:txBody>
          <a:bodyPr wrap="none">
            <a:spAutoFit/>
          </a:bodyPr>
          <a:lstStyle/>
          <a:p>
            <a:pPr algn="ctr">
              <a:spcBef>
                <a:spcPct val="0"/>
              </a:spcBef>
              <a:buClrTx/>
              <a:buSzTx/>
              <a:buFontTx/>
              <a:buNone/>
            </a:pPr>
            <a:r>
              <a:rPr lang="en-US" u="sng"/>
              <a:t>server</a:t>
            </a:r>
            <a:endParaRPr lang="en-US">
              <a:latin typeface="Times New Roman" panose="02020603050405020304" pitchFamily="18" charset="0"/>
            </a:endParaRPr>
          </a:p>
        </p:txBody>
      </p:sp>
      <p:sp>
        <p:nvSpPr>
          <p:cNvPr id="67593" name="Text Box 8"/>
          <p:cNvSpPr txBox="1">
            <a:spLocks noChangeArrowheads="1"/>
          </p:cNvSpPr>
          <p:nvPr/>
        </p:nvSpPr>
        <p:spPr bwMode="auto">
          <a:xfrm>
            <a:off x="4583113" y="1998663"/>
            <a:ext cx="2681287" cy="865187"/>
          </a:xfrm>
          <a:prstGeom prst="rect">
            <a:avLst/>
          </a:prstGeom>
          <a:solidFill>
            <a:schemeClr val="bg1"/>
          </a:solidFill>
          <a:ln w="9525">
            <a:solidFill>
              <a:schemeClr val="tx1"/>
            </a:solidFill>
            <a:miter lim="800000"/>
          </a:ln>
        </p:spPr>
        <p:txBody>
          <a:bodyPr>
            <a:spAutoFit/>
          </a:bodyPr>
          <a:lstStyle/>
          <a:p>
            <a:pPr algn="ctr">
              <a:spcBef>
                <a:spcPct val="0"/>
              </a:spcBef>
              <a:buClrTx/>
              <a:buSzTx/>
              <a:buFontTx/>
              <a:buNone/>
            </a:pPr>
            <a:r>
              <a:rPr lang="en-US" sz="1800"/>
              <a:t>HTTP request msg</a:t>
            </a:r>
            <a:endParaRPr lang="en-US" sz="1800"/>
          </a:p>
          <a:p>
            <a:pPr algn="ctr">
              <a:spcBef>
                <a:spcPct val="0"/>
              </a:spcBef>
              <a:buClrTx/>
              <a:buSzTx/>
              <a:buFontTx/>
              <a:buNone/>
            </a:pPr>
            <a:r>
              <a:rPr lang="en-US" sz="1600" b="1">
                <a:latin typeface="Courier New" panose="02070309020205020404" pitchFamily="49" charset="0"/>
              </a:rPr>
              <a:t>If-modified-since: &lt;date&gt;</a:t>
            </a:r>
            <a:endParaRPr lang="en-US" sz="2000" b="1">
              <a:latin typeface="Courier New" panose="02070309020205020404" pitchFamily="49" charset="0"/>
            </a:endParaRPr>
          </a:p>
        </p:txBody>
      </p:sp>
      <p:sp>
        <p:nvSpPr>
          <p:cNvPr id="67594" name="Line 9"/>
          <p:cNvSpPr>
            <a:spLocks noChangeShapeType="1"/>
          </p:cNvSpPr>
          <p:nvPr/>
        </p:nvSpPr>
        <p:spPr bwMode="auto">
          <a:xfrm flipH="1">
            <a:off x="4295775" y="3105150"/>
            <a:ext cx="3305175" cy="381000"/>
          </a:xfrm>
          <a:prstGeom prst="line">
            <a:avLst/>
          </a:prstGeom>
          <a:noFill/>
          <a:ln w="19050">
            <a:solidFill>
              <a:schemeClr val="tx1"/>
            </a:solidFill>
            <a:round/>
            <a:tailEnd type="triangle" w="med" len="med"/>
          </a:ln>
        </p:spPr>
        <p:txBody>
          <a:bodyPr wrap="none" anchor="ctr"/>
          <a:lstStyle/>
          <a:p>
            <a:endParaRPr lang="en-US"/>
          </a:p>
        </p:txBody>
      </p:sp>
      <p:grpSp>
        <p:nvGrpSpPr>
          <p:cNvPr id="67595" name="Group 30"/>
          <p:cNvGrpSpPr/>
          <p:nvPr/>
        </p:nvGrpSpPr>
        <p:grpSpPr bwMode="auto">
          <a:xfrm>
            <a:off x="4564063" y="3098800"/>
            <a:ext cx="2643187" cy="865188"/>
            <a:chOff x="2698" y="2036"/>
            <a:chExt cx="1665" cy="545"/>
          </a:xfrm>
        </p:grpSpPr>
        <p:sp>
          <p:nvSpPr>
            <p:cNvPr id="67603" name="Rectangle 10"/>
            <p:cNvSpPr>
              <a:spLocks noChangeArrowheads="1"/>
            </p:cNvSpPr>
            <p:nvPr/>
          </p:nvSpPr>
          <p:spPr bwMode="auto">
            <a:xfrm>
              <a:off x="2760" y="2071"/>
              <a:ext cx="1578" cy="465"/>
            </a:xfrm>
            <a:prstGeom prst="rect">
              <a:avLst/>
            </a:prstGeom>
            <a:solidFill>
              <a:schemeClr val="bg1"/>
            </a:solidFill>
            <a:ln w="9525">
              <a:solidFill>
                <a:schemeClr val="tx1"/>
              </a:solidFill>
              <a:miter lim="800000"/>
            </a:ln>
          </p:spPr>
          <p:txBody>
            <a:bodyPr wrap="none" anchor="ctr"/>
            <a:lstStyle/>
            <a:p>
              <a:endParaRPr lang="en-US"/>
            </a:p>
          </p:txBody>
        </p:sp>
        <p:sp>
          <p:nvSpPr>
            <p:cNvPr id="67604" name="Text Box 11"/>
            <p:cNvSpPr txBox="1">
              <a:spLocks noChangeArrowheads="1"/>
            </p:cNvSpPr>
            <p:nvPr/>
          </p:nvSpPr>
          <p:spPr bwMode="auto">
            <a:xfrm>
              <a:off x="2698" y="2036"/>
              <a:ext cx="1665" cy="545"/>
            </a:xfrm>
            <a:prstGeom prst="rect">
              <a:avLst/>
            </a:prstGeom>
            <a:solidFill>
              <a:schemeClr val="bg1"/>
            </a:solidFill>
            <a:ln w="9525">
              <a:solidFill>
                <a:schemeClr val="tx1"/>
              </a:solidFill>
              <a:miter lim="800000"/>
            </a:ln>
          </p:spPr>
          <p:txBody>
            <a:bodyPr>
              <a:spAutoFit/>
            </a:bodyPr>
            <a:lstStyle/>
            <a:p>
              <a:pPr algn="ctr">
                <a:spcBef>
                  <a:spcPct val="0"/>
                </a:spcBef>
                <a:buClrTx/>
                <a:buSzTx/>
                <a:buFontTx/>
                <a:buNone/>
              </a:pPr>
              <a:r>
                <a:rPr lang="en-US" sz="1800"/>
                <a:t>HTTP response</a:t>
              </a:r>
              <a:endParaRPr lang="en-US" sz="1800"/>
            </a:p>
            <a:p>
              <a:pPr algn="ctr">
                <a:spcBef>
                  <a:spcPct val="0"/>
                </a:spcBef>
                <a:buClrTx/>
                <a:buSzTx/>
                <a:buFontTx/>
                <a:buNone/>
              </a:pPr>
              <a:r>
                <a:rPr lang="en-US" sz="1600" b="1">
                  <a:latin typeface="Courier New" panose="02070309020205020404" pitchFamily="49" charset="0"/>
                </a:rPr>
                <a:t>HTTP/1.0 </a:t>
              </a:r>
              <a:endParaRPr lang="en-US" sz="1600" b="1">
                <a:latin typeface="Courier New" panose="02070309020205020404" pitchFamily="49" charset="0"/>
              </a:endParaRPr>
            </a:p>
            <a:p>
              <a:pPr algn="ctr">
                <a:spcBef>
                  <a:spcPct val="0"/>
                </a:spcBef>
                <a:buClrTx/>
                <a:buSzTx/>
                <a:buFontTx/>
                <a:buNone/>
              </a:pPr>
              <a:r>
                <a:rPr lang="en-US" sz="1600" b="1">
                  <a:latin typeface="Courier New" panose="02070309020205020404" pitchFamily="49" charset="0"/>
                </a:rPr>
                <a:t>304 Not Modified</a:t>
              </a:r>
              <a:endParaRPr lang="en-US" sz="2000" b="1">
                <a:latin typeface="Courier New" panose="02070309020205020404" pitchFamily="49" charset="0"/>
              </a:endParaRPr>
            </a:p>
          </p:txBody>
        </p:sp>
      </p:grpSp>
      <p:sp>
        <p:nvSpPr>
          <p:cNvPr id="67596" name="Text Box 28"/>
          <p:cNvSpPr txBox="1">
            <a:spLocks noChangeArrowheads="1"/>
          </p:cNvSpPr>
          <p:nvPr/>
        </p:nvSpPr>
        <p:spPr bwMode="auto">
          <a:xfrm>
            <a:off x="7585075" y="2360613"/>
            <a:ext cx="1223963" cy="1006475"/>
          </a:xfrm>
          <a:prstGeom prst="rect">
            <a:avLst/>
          </a:prstGeom>
          <a:noFill/>
          <a:ln w="9525">
            <a:noFill/>
            <a:miter lim="800000"/>
          </a:ln>
        </p:spPr>
        <p:txBody>
          <a:bodyPr wrap="none">
            <a:spAutoFit/>
          </a:bodyPr>
          <a:lstStyle/>
          <a:p>
            <a:pPr algn="ctr">
              <a:spcBef>
                <a:spcPct val="0"/>
              </a:spcBef>
              <a:buClrTx/>
              <a:buSzTx/>
              <a:buFontTx/>
              <a:buNone/>
            </a:pPr>
            <a:r>
              <a:rPr lang="en-US" sz="2000">
                <a:solidFill>
                  <a:schemeClr val="accent2"/>
                </a:solidFill>
              </a:rPr>
              <a:t>object </a:t>
            </a:r>
            <a:endParaRPr lang="en-US" sz="2000">
              <a:solidFill>
                <a:schemeClr val="accent2"/>
              </a:solidFill>
            </a:endParaRPr>
          </a:p>
          <a:p>
            <a:pPr algn="ctr">
              <a:spcBef>
                <a:spcPct val="0"/>
              </a:spcBef>
              <a:buClrTx/>
              <a:buSzTx/>
              <a:buFontTx/>
              <a:buNone/>
            </a:pPr>
            <a:r>
              <a:rPr lang="en-US" sz="2000">
                <a:solidFill>
                  <a:schemeClr val="accent2"/>
                </a:solidFill>
              </a:rPr>
              <a:t>not </a:t>
            </a:r>
            <a:endParaRPr lang="en-US" sz="2000">
              <a:solidFill>
                <a:schemeClr val="accent2"/>
              </a:solidFill>
            </a:endParaRPr>
          </a:p>
          <a:p>
            <a:pPr algn="ctr">
              <a:spcBef>
                <a:spcPct val="0"/>
              </a:spcBef>
              <a:buClrTx/>
              <a:buSzTx/>
              <a:buFontTx/>
              <a:buNone/>
            </a:pPr>
            <a:r>
              <a:rPr lang="en-US" sz="2000">
                <a:solidFill>
                  <a:schemeClr val="accent2"/>
                </a:solidFill>
              </a:rPr>
              <a:t>modified</a:t>
            </a:r>
            <a:endParaRPr lang="en-US">
              <a:latin typeface="Times New Roman" panose="02020603050405020304" pitchFamily="18" charset="0"/>
            </a:endParaRPr>
          </a:p>
        </p:txBody>
      </p:sp>
      <p:sp>
        <p:nvSpPr>
          <p:cNvPr id="67597" name="Line 31"/>
          <p:cNvSpPr>
            <a:spLocks noChangeShapeType="1"/>
          </p:cNvSpPr>
          <p:nvPr/>
        </p:nvSpPr>
        <p:spPr bwMode="auto">
          <a:xfrm>
            <a:off x="4400550" y="4171950"/>
            <a:ext cx="3905250" cy="0"/>
          </a:xfrm>
          <a:prstGeom prst="line">
            <a:avLst/>
          </a:prstGeom>
          <a:noFill/>
          <a:ln w="28575">
            <a:solidFill>
              <a:schemeClr val="accent2"/>
            </a:solidFill>
            <a:prstDash val="dash"/>
            <a:round/>
          </a:ln>
        </p:spPr>
        <p:txBody>
          <a:bodyPr wrap="none" anchor="ctr"/>
          <a:lstStyle/>
          <a:p>
            <a:endParaRPr lang="en-US"/>
          </a:p>
        </p:txBody>
      </p:sp>
      <p:sp>
        <p:nvSpPr>
          <p:cNvPr id="67598" name="Line 32"/>
          <p:cNvSpPr>
            <a:spLocks noChangeShapeType="1"/>
          </p:cNvSpPr>
          <p:nvPr/>
        </p:nvSpPr>
        <p:spPr bwMode="auto">
          <a:xfrm>
            <a:off x="4343400" y="4467225"/>
            <a:ext cx="3305175" cy="381000"/>
          </a:xfrm>
          <a:prstGeom prst="line">
            <a:avLst/>
          </a:prstGeom>
          <a:noFill/>
          <a:ln w="19050">
            <a:solidFill>
              <a:schemeClr val="tx1"/>
            </a:solidFill>
            <a:round/>
            <a:tailEnd type="triangle" w="med" len="med"/>
          </a:ln>
        </p:spPr>
        <p:txBody>
          <a:bodyPr wrap="none" anchor="ctr"/>
          <a:lstStyle/>
          <a:p>
            <a:endParaRPr lang="en-US"/>
          </a:p>
        </p:txBody>
      </p:sp>
      <p:sp>
        <p:nvSpPr>
          <p:cNvPr id="67599" name="Text Box 34"/>
          <p:cNvSpPr txBox="1">
            <a:spLocks noChangeArrowheads="1"/>
          </p:cNvSpPr>
          <p:nvPr/>
        </p:nvSpPr>
        <p:spPr bwMode="auto">
          <a:xfrm>
            <a:off x="4587875" y="4351338"/>
            <a:ext cx="2681288" cy="865187"/>
          </a:xfrm>
          <a:prstGeom prst="rect">
            <a:avLst/>
          </a:prstGeom>
          <a:solidFill>
            <a:schemeClr val="bg1"/>
          </a:solidFill>
          <a:ln w="9525">
            <a:solidFill>
              <a:schemeClr val="tx1"/>
            </a:solidFill>
            <a:miter lim="800000"/>
          </a:ln>
        </p:spPr>
        <p:txBody>
          <a:bodyPr>
            <a:spAutoFit/>
          </a:bodyPr>
          <a:lstStyle/>
          <a:p>
            <a:pPr algn="ctr">
              <a:spcBef>
                <a:spcPct val="0"/>
              </a:spcBef>
              <a:buClrTx/>
              <a:buSzTx/>
              <a:buFontTx/>
              <a:buNone/>
            </a:pPr>
            <a:r>
              <a:rPr lang="en-US" sz="1800"/>
              <a:t>HTTP request msg</a:t>
            </a:r>
            <a:endParaRPr lang="en-US" sz="1800"/>
          </a:p>
          <a:p>
            <a:pPr algn="ctr">
              <a:spcBef>
                <a:spcPct val="0"/>
              </a:spcBef>
              <a:buClrTx/>
              <a:buSzTx/>
              <a:buFontTx/>
              <a:buNone/>
            </a:pPr>
            <a:r>
              <a:rPr lang="en-US" sz="1600" b="1">
                <a:latin typeface="Courier New" panose="02070309020205020404" pitchFamily="49" charset="0"/>
              </a:rPr>
              <a:t>If-modified-since: &lt;date&gt;</a:t>
            </a:r>
            <a:endParaRPr lang="en-US" sz="2000" b="1">
              <a:latin typeface="Courier New" panose="02070309020205020404" pitchFamily="49" charset="0"/>
            </a:endParaRPr>
          </a:p>
        </p:txBody>
      </p:sp>
      <p:sp>
        <p:nvSpPr>
          <p:cNvPr id="67600" name="Line 35"/>
          <p:cNvSpPr>
            <a:spLocks noChangeShapeType="1"/>
          </p:cNvSpPr>
          <p:nvPr/>
        </p:nvSpPr>
        <p:spPr bwMode="auto">
          <a:xfrm flipH="1">
            <a:off x="4362450" y="5457825"/>
            <a:ext cx="3305175" cy="381000"/>
          </a:xfrm>
          <a:prstGeom prst="line">
            <a:avLst/>
          </a:prstGeom>
          <a:noFill/>
          <a:ln w="19050">
            <a:solidFill>
              <a:schemeClr val="tx1"/>
            </a:solidFill>
            <a:round/>
            <a:tailEnd type="triangle" w="med" len="med"/>
          </a:ln>
        </p:spPr>
        <p:txBody>
          <a:bodyPr wrap="none" anchor="ctr"/>
          <a:lstStyle/>
          <a:p>
            <a:endParaRPr lang="en-US"/>
          </a:p>
        </p:txBody>
      </p:sp>
      <p:sp>
        <p:nvSpPr>
          <p:cNvPr id="67601" name="Text Box 38"/>
          <p:cNvSpPr txBox="1">
            <a:spLocks noChangeArrowheads="1"/>
          </p:cNvSpPr>
          <p:nvPr/>
        </p:nvSpPr>
        <p:spPr bwMode="auto">
          <a:xfrm>
            <a:off x="4606925" y="5402263"/>
            <a:ext cx="2643188" cy="925512"/>
          </a:xfrm>
          <a:prstGeom prst="rect">
            <a:avLst/>
          </a:prstGeom>
          <a:solidFill>
            <a:schemeClr val="bg1"/>
          </a:solidFill>
          <a:ln w="9525">
            <a:solidFill>
              <a:schemeClr val="tx1"/>
            </a:solidFill>
            <a:miter lim="800000"/>
          </a:ln>
        </p:spPr>
        <p:txBody>
          <a:bodyPr>
            <a:spAutoFit/>
          </a:bodyPr>
          <a:lstStyle/>
          <a:p>
            <a:pPr algn="ctr">
              <a:spcBef>
                <a:spcPct val="0"/>
              </a:spcBef>
              <a:buClrTx/>
              <a:buSzTx/>
              <a:buFontTx/>
              <a:buNone/>
            </a:pPr>
            <a:r>
              <a:rPr lang="en-US" sz="1800"/>
              <a:t>HTTP response</a:t>
            </a:r>
            <a:endParaRPr lang="en-US" sz="1800"/>
          </a:p>
          <a:p>
            <a:pPr algn="ctr">
              <a:spcBef>
                <a:spcPct val="0"/>
              </a:spcBef>
              <a:buClrTx/>
              <a:buSzTx/>
              <a:buFontTx/>
              <a:buNone/>
            </a:pPr>
            <a:r>
              <a:rPr lang="en-US" sz="1600" b="1">
                <a:latin typeface="Courier New" panose="02070309020205020404" pitchFamily="49" charset="0"/>
              </a:rPr>
              <a:t>HTTP/1.0 200 OK</a:t>
            </a:r>
            <a:endParaRPr lang="en-US" sz="1600" b="1">
              <a:latin typeface="Courier New" panose="02070309020205020404" pitchFamily="49" charset="0"/>
            </a:endParaRPr>
          </a:p>
          <a:p>
            <a:pPr algn="ctr">
              <a:spcBef>
                <a:spcPct val="0"/>
              </a:spcBef>
              <a:buClrTx/>
              <a:buSzTx/>
              <a:buFontTx/>
              <a:buNone/>
            </a:pPr>
            <a:r>
              <a:rPr lang="en-US" sz="2000" b="1">
                <a:latin typeface="Courier New" panose="02070309020205020404" pitchFamily="49" charset="0"/>
              </a:rPr>
              <a:t>&lt;data&gt;</a:t>
            </a:r>
            <a:endParaRPr lang="en-US" sz="2000" b="1">
              <a:latin typeface="Courier New" panose="02070309020205020404" pitchFamily="49" charset="0"/>
            </a:endParaRPr>
          </a:p>
        </p:txBody>
      </p:sp>
      <p:sp>
        <p:nvSpPr>
          <p:cNvPr id="67602" name="Text Box 39"/>
          <p:cNvSpPr txBox="1">
            <a:spLocks noChangeArrowheads="1"/>
          </p:cNvSpPr>
          <p:nvPr/>
        </p:nvSpPr>
        <p:spPr bwMode="auto">
          <a:xfrm>
            <a:off x="7651750" y="4808538"/>
            <a:ext cx="1223963" cy="701675"/>
          </a:xfrm>
          <a:prstGeom prst="rect">
            <a:avLst/>
          </a:prstGeom>
          <a:noFill/>
          <a:ln w="9525">
            <a:noFill/>
            <a:miter lim="800000"/>
          </a:ln>
        </p:spPr>
        <p:txBody>
          <a:bodyPr wrap="none">
            <a:spAutoFit/>
          </a:bodyPr>
          <a:lstStyle/>
          <a:p>
            <a:pPr algn="ctr">
              <a:spcBef>
                <a:spcPct val="0"/>
              </a:spcBef>
              <a:buClrTx/>
              <a:buSzTx/>
              <a:buFontTx/>
              <a:buNone/>
            </a:pPr>
            <a:r>
              <a:rPr lang="en-US" sz="2000">
                <a:solidFill>
                  <a:schemeClr val="accent2"/>
                </a:solidFill>
              </a:rPr>
              <a:t>object </a:t>
            </a:r>
            <a:endParaRPr lang="en-US" sz="2000">
              <a:solidFill>
                <a:schemeClr val="accent2"/>
              </a:solidFill>
            </a:endParaRPr>
          </a:p>
          <a:p>
            <a:pPr algn="ctr">
              <a:spcBef>
                <a:spcPct val="0"/>
              </a:spcBef>
              <a:buClrTx/>
              <a:buSzTx/>
              <a:buFontTx/>
              <a:buNone/>
            </a:pPr>
            <a:r>
              <a:rPr lang="en-US" sz="2000">
                <a:solidFill>
                  <a:schemeClr val="accent2"/>
                </a:solidFill>
              </a:rPr>
              <a:t>modified</a:t>
            </a:r>
            <a:endParaRPr lang="en-US">
              <a:latin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4819" name="Slide Number Placeholder 6"/>
          <p:cNvSpPr>
            <a:spLocks noGrp="1"/>
          </p:cNvSpPr>
          <p:nvPr>
            <p:ph type="sldNum" sz="quarter" idx="12"/>
          </p:nvPr>
        </p:nvSpPr>
        <p:spPr>
          <a:noFill/>
        </p:spPr>
        <p:txBody>
          <a:bodyPr/>
          <a:lstStyle/>
          <a:p>
            <a:fld id="{09FB5B14-3207-4596-9B15-A315FEC6D487}" type="slidenum">
              <a:rPr lang="en-US"/>
            </a:fld>
            <a:endParaRPr lang="en-US"/>
          </a:p>
        </p:txBody>
      </p:sp>
      <p:sp>
        <p:nvSpPr>
          <p:cNvPr id="34820" name="Rectangle 2"/>
          <p:cNvSpPr>
            <a:spLocks noGrp="1" noChangeArrowheads="1"/>
          </p:cNvSpPr>
          <p:nvPr>
            <p:ph type="title"/>
          </p:nvPr>
        </p:nvSpPr>
        <p:spPr/>
        <p:txBody>
          <a:bodyPr/>
          <a:lstStyle/>
          <a:p>
            <a:r>
              <a:rPr lang="en-US" dirty="0"/>
              <a:t>Chapter 2: Application layer</a:t>
            </a:r>
            <a:endParaRPr lang="en-US" dirty="0"/>
          </a:p>
        </p:txBody>
      </p:sp>
      <p:sp>
        <p:nvSpPr>
          <p:cNvPr id="34821" name="Rectangle 3"/>
          <p:cNvSpPr>
            <a:spLocks noGrp="1" noChangeArrowheads="1"/>
          </p:cNvSpPr>
          <p:nvPr>
            <p:ph type="body" sz="half" idx="1"/>
          </p:nvPr>
        </p:nvSpPr>
        <p:spPr/>
        <p:txBody>
          <a:bodyPr/>
          <a:lstStyle/>
          <a:p>
            <a:r>
              <a:rPr lang="en-US" sz="2400" dirty="0"/>
              <a:t>2.1 Principles of network applications</a:t>
            </a:r>
            <a:endParaRPr lang="en-US" sz="2400" dirty="0"/>
          </a:p>
          <a:p>
            <a:r>
              <a:rPr lang="en-US" sz="2400" dirty="0"/>
              <a:t>2.2 Web and HTTP</a:t>
            </a:r>
            <a:endParaRPr lang="en-US" sz="2400" dirty="0"/>
          </a:p>
          <a:p>
            <a:r>
              <a:rPr lang="en-US" sz="2400" dirty="0">
                <a:solidFill>
                  <a:srgbClr val="FF0000"/>
                </a:solidFill>
              </a:rPr>
              <a:t>2.3 FTP </a:t>
            </a:r>
            <a:endParaRPr lang="en-US" sz="2400" dirty="0">
              <a:solidFill>
                <a:srgbClr val="FF0000"/>
              </a:solidFill>
            </a:endParaRPr>
          </a:p>
          <a:p>
            <a:r>
              <a:rPr lang="en-US" sz="2400" dirty="0"/>
              <a:t>2.4 Electronic Mail</a:t>
            </a:r>
            <a:endParaRPr lang="en-US" sz="2400" dirty="0"/>
          </a:p>
          <a:p>
            <a:pPr lvl="1"/>
            <a:r>
              <a:rPr lang="en-US" sz="2000" dirty="0"/>
              <a:t>SMTP, POP3, IMAP</a:t>
            </a:r>
            <a:endParaRPr lang="en-US" sz="2000" dirty="0"/>
          </a:p>
          <a:p>
            <a:r>
              <a:rPr lang="en-US" sz="2400" dirty="0"/>
              <a:t>2.5 DNS</a:t>
            </a:r>
            <a:endParaRPr lang="en-US" sz="2400" dirty="0"/>
          </a:p>
          <a:p>
            <a:endParaRPr lang="en-US" sz="2400" dirty="0"/>
          </a:p>
        </p:txBody>
      </p:sp>
      <p:sp>
        <p:nvSpPr>
          <p:cNvPr id="34822" name="Rectangle 4"/>
          <p:cNvSpPr>
            <a:spLocks noGrp="1" noChangeArrowheads="1"/>
          </p:cNvSpPr>
          <p:nvPr>
            <p:ph type="body" sz="half" idx="2"/>
          </p:nvPr>
        </p:nvSpPr>
        <p:spPr>
          <a:xfrm>
            <a:off x="4495800" y="1600200"/>
            <a:ext cx="4054475" cy="4648200"/>
          </a:xfrm>
        </p:spPr>
        <p:txBody>
          <a:bodyPr/>
          <a:lstStyle/>
          <a:p>
            <a:r>
              <a:rPr lang="en-US" sz="2400" dirty="0"/>
              <a:t>2.6 P2P applications</a:t>
            </a:r>
            <a:endParaRPr lang="en-US" sz="2400" dirty="0"/>
          </a:p>
          <a:p>
            <a:r>
              <a:rPr lang="en-US" sz="2400" dirty="0"/>
              <a:t>2.7 Socket programming with UDP</a:t>
            </a:r>
            <a:endParaRPr lang="en-US" sz="2400" dirty="0"/>
          </a:p>
          <a:p>
            <a:r>
              <a:rPr lang="en-US" sz="2400" dirty="0"/>
              <a:t>2.8 Socket programming with TCP</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1269" name="Slide Number Placeholder 6"/>
          <p:cNvSpPr>
            <a:spLocks noGrp="1"/>
          </p:cNvSpPr>
          <p:nvPr>
            <p:ph type="sldNum" sz="quarter" idx="12"/>
          </p:nvPr>
        </p:nvSpPr>
        <p:spPr>
          <a:noFill/>
        </p:spPr>
        <p:txBody>
          <a:bodyPr/>
          <a:lstStyle/>
          <a:p>
            <a:fld id="{88AC9AC9-0536-40D8-B295-A89F0C63C7A1}" type="slidenum">
              <a:rPr lang="en-US"/>
            </a:fld>
            <a:endParaRPr lang="en-US"/>
          </a:p>
        </p:txBody>
      </p:sp>
      <p:sp>
        <p:nvSpPr>
          <p:cNvPr id="11270" name="AutoShape 47"/>
          <p:cNvSpPr>
            <a:spLocks noChangeArrowheads="1"/>
          </p:cNvSpPr>
          <p:nvPr/>
        </p:nvSpPr>
        <p:spPr bwMode="auto">
          <a:xfrm>
            <a:off x="3424238" y="2982913"/>
            <a:ext cx="465137" cy="536575"/>
          </a:xfrm>
          <a:prstGeom prst="can">
            <a:avLst>
              <a:gd name="adj" fmla="val 28840"/>
            </a:avLst>
          </a:prstGeom>
          <a:solidFill>
            <a:srgbClr val="009900"/>
          </a:solidFill>
          <a:ln w="9525">
            <a:solidFill>
              <a:schemeClr val="tx1"/>
            </a:solidFill>
            <a:round/>
          </a:ln>
        </p:spPr>
        <p:txBody>
          <a:bodyPr wrap="none" anchor="ctr"/>
          <a:lstStyle/>
          <a:p>
            <a:endParaRPr lang="en-US"/>
          </a:p>
        </p:txBody>
      </p:sp>
      <p:sp>
        <p:nvSpPr>
          <p:cNvPr id="11271" name="AutoShape 46"/>
          <p:cNvSpPr>
            <a:spLocks noChangeArrowheads="1"/>
          </p:cNvSpPr>
          <p:nvPr/>
        </p:nvSpPr>
        <p:spPr bwMode="auto">
          <a:xfrm>
            <a:off x="6678613" y="2917825"/>
            <a:ext cx="465137" cy="536575"/>
          </a:xfrm>
          <a:prstGeom prst="can">
            <a:avLst>
              <a:gd name="adj" fmla="val 28840"/>
            </a:avLst>
          </a:prstGeom>
          <a:solidFill>
            <a:srgbClr val="009900"/>
          </a:solidFill>
          <a:ln w="9525">
            <a:solidFill>
              <a:schemeClr val="tx1"/>
            </a:solidFill>
            <a:round/>
          </a:ln>
        </p:spPr>
        <p:txBody>
          <a:bodyPr wrap="none" anchor="ctr"/>
          <a:lstStyle/>
          <a:p>
            <a:endParaRPr lang="en-US"/>
          </a:p>
        </p:txBody>
      </p:sp>
      <p:sp>
        <p:nvSpPr>
          <p:cNvPr id="11272" name="Rectangle 2"/>
          <p:cNvSpPr>
            <a:spLocks noGrp="1" noChangeArrowheads="1"/>
          </p:cNvSpPr>
          <p:nvPr>
            <p:ph type="title"/>
          </p:nvPr>
        </p:nvSpPr>
        <p:spPr/>
        <p:txBody>
          <a:bodyPr/>
          <a:lstStyle/>
          <a:p>
            <a:r>
              <a:rPr lang="en-US" sz="3600"/>
              <a:t>FTP: the file transfer protocol</a:t>
            </a:r>
            <a:endParaRPr lang="en-US"/>
          </a:p>
        </p:txBody>
      </p:sp>
      <p:sp>
        <p:nvSpPr>
          <p:cNvPr id="11273" name="Rectangle 3"/>
          <p:cNvSpPr>
            <a:spLocks noGrp="1" noChangeArrowheads="1"/>
          </p:cNvSpPr>
          <p:nvPr>
            <p:ph type="body" sz="half" idx="1"/>
          </p:nvPr>
        </p:nvSpPr>
        <p:spPr>
          <a:xfrm>
            <a:off x="1028700" y="3705225"/>
            <a:ext cx="7458075" cy="2543175"/>
          </a:xfrm>
        </p:spPr>
        <p:txBody>
          <a:bodyPr/>
          <a:lstStyle/>
          <a:p>
            <a:r>
              <a:rPr lang="en-US" sz="2000"/>
              <a:t>transfer file to/from remote host</a:t>
            </a:r>
            <a:endParaRPr lang="en-US" sz="2000"/>
          </a:p>
          <a:p>
            <a:r>
              <a:rPr lang="en-US" sz="2000"/>
              <a:t>client/server model</a:t>
            </a:r>
            <a:endParaRPr lang="en-US" sz="2000"/>
          </a:p>
          <a:p>
            <a:pPr lvl="1"/>
            <a:r>
              <a:rPr lang="en-US" sz="2000" i="1">
                <a:solidFill>
                  <a:srgbClr val="FF3300"/>
                </a:solidFill>
              </a:rPr>
              <a:t>client:</a:t>
            </a:r>
            <a:r>
              <a:rPr lang="en-US" sz="2000"/>
              <a:t> side that initiates transfer (either to/from remote)</a:t>
            </a:r>
            <a:endParaRPr lang="en-US" sz="2000"/>
          </a:p>
          <a:p>
            <a:pPr lvl="1"/>
            <a:r>
              <a:rPr lang="en-US" sz="2000" i="1">
                <a:solidFill>
                  <a:srgbClr val="FF3300"/>
                </a:solidFill>
              </a:rPr>
              <a:t>server:</a:t>
            </a:r>
            <a:r>
              <a:rPr lang="en-US" sz="2000"/>
              <a:t> remote host</a:t>
            </a:r>
            <a:endParaRPr lang="en-US" sz="2000"/>
          </a:p>
          <a:p>
            <a:r>
              <a:rPr lang="en-US" sz="2000"/>
              <a:t>ftp: RFC 959</a:t>
            </a:r>
            <a:endParaRPr lang="en-US" sz="2000"/>
          </a:p>
          <a:p>
            <a:r>
              <a:rPr lang="en-US" sz="2000"/>
              <a:t>ftp server: port 21</a:t>
            </a:r>
            <a:endParaRPr lang="en-US" sz="2000"/>
          </a:p>
        </p:txBody>
      </p:sp>
      <p:graphicFrame>
        <p:nvGraphicFramePr>
          <p:cNvPr id="11266" name="Rectangle 4"/>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11288" name="Clip" r:id="rId1" imgW="0" imgH="0" progId="">
                  <p:embed/>
                </p:oleObj>
              </mc:Choice>
              <mc:Fallback>
                <p:oleObj name="Clip" r:id="rId1" imgW="0" imgH="0" progId="">
                  <p:embed/>
                  <p:pic>
                    <p:nvPicPr>
                      <p:cNvPr id="0" name="Rectangle 4"/>
                      <p:cNvPicPr preferRelativeResize="0">
                        <a:picLocks noChangeArrowheads="1"/>
                      </p:cNvPicPr>
                      <p:nvPr/>
                    </p:nvPicPr>
                    <p:blipFill>
                      <a:blip/>
                      <a:srcRect/>
                      <a:stretch>
                        <a:fillRect/>
                      </a:stretch>
                    </p:blipFill>
                    <p:spPr bwMode="auto">
                      <a:xfrm>
                        <a:off x="1524000" y="1397000"/>
                        <a:ext cx="60960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7" name="Object 5"/>
          <p:cNvGraphicFramePr>
            <a:graphicFrameLocks noChangeAspect="1"/>
          </p:cNvGraphicFramePr>
          <p:nvPr/>
        </p:nvGraphicFramePr>
        <p:xfrm>
          <a:off x="3313113" y="1574800"/>
          <a:ext cx="776287" cy="623888"/>
        </p:xfrm>
        <a:graphic>
          <a:graphicData uri="http://schemas.openxmlformats.org/presentationml/2006/ole">
            <mc:AlternateContent xmlns:mc="http://schemas.openxmlformats.org/markup-compatibility/2006">
              <mc:Choice xmlns:v="urn:schemas-microsoft-com:vml" Requires="v">
                <p:oleObj spid="_x0000_s11289" name="Clip" r:id="rId2" imgW="18192750" imgH="15087600" progId="">
                  <p:embed/>
                </p:oleObj>
              </mc:Choice>
              <mc:Fallback>
                <p:oleObj name="Clip" r:id="rId2" imgW="18192750" imgH="15087600" progId="">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3113" y="1574800"/>
                        <a:ext cx="776287" cy="62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274" name="Group 6"/>
          <p:cNvGrpSpPr/>
          <p:nvPr/>
        </p:nvGrpSpPr>
        <p:grpSpPr bwMode="auto">
          <a:xfrm>
            <a:off x="6764338" y="1412875"/>
            <a:ext cx="355600" cy="933450"/>
            <a:chOff x="4180" y="783"/>
            <a:chExt cx="150" cy="307"/>
          </a:xfrm>
        </p:grpSpPr>
        <p:sp>
          <p:nvSpPr>
            <p:cNvPr id="11293" name="AutoShape 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1294" name="Rectangle 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1295"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1296"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1297" name="Line 1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1298" name="Line 1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1299"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1300" name="Rectangle 1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11275" name="Line 15"/>
          <p:cNvSpPr>
            <a:spLocks noChangeShapeType="1"/>
          </p:cNvSpPr>
          <p:nvPr/>
        </p:nvSpPr>
        <p:spPr bwMode="auto">
          <a:xfrm>
            <a:off x="4352925" y="2190750"/>
            <a:ext cx="2209800" cy="9525"/>
          </a:xfrm>
          <a:prstGeom prst="line">
            <a:avLst/>
          </a:prstGeom>
          <a:noFill/>
          <a:ln w="28575">
            <a:solidFill>
              <a:srgbClr val="FF0000"/>
            </a:solidFill>
            <a:round/>
            <a:headEnd type="triangle" w="med" len="med"/>
            <a:tailEnd type="triangle" w="med" len="med"/>
          </a:ln>
        </p:spPr>
        <p:txBody>
          <a:bodyPr wrap="none" anchor="ctr"/>
          <a:lstStyle/>
          <a:p>
            <a:endParaRPr lang="en-US"/>
          </a:p>
        </p:txBody>
      </p:sp>
      <p:sp>
        <p:nvSpPr>
          <p:cNvPr id="11276" name="Text Box 16"/>
          <p:cNvSpPr txBox="1">
            <a:spLocks noChangeArrowheads="1"/>
          </p:cNvSpPr>
          <p:nvPr/>
        </p:nvSpPr>
        <p:spPr bwMode="auto">
          <a:xfrm>
            <a:off x="4275138" y="1874838"/>
            <a:ext cx="2409825" cy="336550"/>
          </a:xfrm>
          <a:prstGeom prst="rect">
            <a:avLst/>
          </a:prstGeom>
          <a:noFill/>
          <a:ln w="9525">
            <a:noFill/>
            <a:miter lim="800000"/>
          </a:ln>
        </p:spPr>
        <p:txBody>
          <a:bodyPr>
            <a:spAutoFit/>
          </a:bodyPr>
          <a:lstStyle/>
          <a:p>
            <a:pPr algn="ctr">
              <a:spcBef>
                <a:spcPct val="0"/>
              </a:spcBef>
              <a:buClrTx/>
              <a:buSzTx/>
              <a:buFontTx/>
              <a:buNone/>
            </a:pPr>
            <a:r>
              <a:rPr lang="en-US" sz="1600">
                <a:solidFill>
                  <a:srgbClr val="FF0000"/>
                </a:solidFill>
              </a:rPr>
              <a:t>file transfer</a:t>
            </a:r>
            <a:endParaRPr lang="en-US">
              <a:latin typeface="Times New Roman" panose="02020603050405020304" pitchFamily="18" charset="0"/>
            </a:endParaRPr>
          </a:p>
        </p:txBody>
      </p:sp>
      <p:grpSp>
        <p:nvGrpSpPr>
          <p:cNvPr id="11277" name="Group 17"/>
          <p:cNvGrpSpPr/>
          <p:nvPr/>
        </p:nvGrpSpPr>
        <p:grpSpPr bwMode="auto">
          <a:xfrm>
            <a:off x="6511925" y="1866900"/>
            <a:ext cx="800100" cy="828675"/>
            <a:chOff x="3898" y="1386"/>
            <a:chExt cx="504" cy="522"/>
          </a:xfrm>
        </p:grpSpPr>
        <p:sp>
          <p:nvSpPr>
            <p:cNvPr id="11291" name="Rectangle 18"/>
            <p:cNvSpPr>
              <a:spLocks noChangeArrowheads="1"/>
            </p:cNvSpPr>
            <p:nvPr/>
          </p:nvSpPr>
          <p:spPr bwMode="auto">
            <a:xfrm>
              <a:off x="3930" y="1386"/>
              <a:ext cx="444" cy="522"/>
            </a:xfrm>
            <a:prstGeom prst="rect">
              <a:avLst/>
            </a:prstGeom>
            <a:solidFill>
              <a:schemeClr val="hlink"/>
            </a:solidFill>
            <a:ln w="19050">
              <a:solidFill>
                <a:schemeClr val="tx1"/>
              </a:solidFill>
              <a:miter lim="800000"/>
            </a:ln>
          </p:spPr>
          <p:txBody>
            <a:bodyPr wrap="none" anchor="ctr"/>
            <a:lstStyle/>
            <a:p>
              <a:endParaRPr lang="en-US"/>
            </a:p>
          </p:txBody>
        </p:sp>
        <p:sp>
          <p:nvSpPr>
            <p:cNvPr id="11292" name="Text Box 19"/>
            <p:cNvSpPr txBox="1">
              <a:spLocks noChangeArrowheads="1"/>
            </p:cNvSpPr>
            <p:nvPr/>
          </p:nvSpPr>
          <p:spPr bwMode="auto">
            <a:xfrm>
              <a:off x="3898" y="1463"/>
              <a:ext cx="504" cy="366"/>
            </a:xfrm>
            <a:prstGeom prst="rect">
              <a:avLst/>
            </a:prstGeom>
            <a:noFill/>
            <a:ln w="9525">
              <a:noFill/>
              <a:miter lim="800000"/>
            </a:ln>
          </p:spPr>
          <p:txBody>
            <a:bodyPr wrap="none">
              <a:spAutoFit/>
            </a:bodyPr>
            <a:lstStyle/>
            <a:p>
              <a:pPr algn="ctr">
                <a:spcBef>
                  <a:spcPct val="0"/>
                </a:spcBef>
                <a:buClrTx/>
                <a:buSzTx/>
                <a:buFontTx/>
                <a:buNone/>
              </a:pPr>
              <a:r>
                <a:rPr lang="en-US" sz="1600"/>
                <a:t>FTP</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grpSp>
      <p:grpSp>
        <p:nvGrpSpPr>
          <p:cNvPr id="11278" name="Group 20"/>
          <p:cNvGrpSpPr/>
          <p:nvPr/>
        </p:nvGrpSpPr>
        <p:grpSpPr bwMode="auto">
          <a:xfrm>
            <a:off x="2582863" y="1857375"/>
            <a:ext cx="1790700" cy="852488"/>
            <a:chOff x="1645" y="1326"/>
            <a:chExt cx="1128" cy="537"/>
          </a:xfrm>
        </p:grpSpPr>
        <p:sp>
          <p:nvSpPr>
            <p:cNvPr id="11287" name="Rectangle 21"/>
            <p:cNvSpPr>
              <a:spLocks noChangeArrowheads="1"/>
            </p:cNvSpPr>
            <p:nvPr/>
          </p:nvSpPr>
          <p:spPr bwMode="auto">
            <a:xfrm>
              <a:off x="2328" y="1326"/>
              <a:ext cx="444" cy="522"/>
            </a:xfrm>
            <a:prstGeom prst="rect">
              <a:avLst/>
            </a:prstGeom>
            <a:solidFill>
              <a:schemeClr val="hlink"/>
            </a:solidFill>
            <a:ln w="19050">
              <a:solidFill>
                <a:schemeClr val="tx1"/>
              </a:solidFill>
              <a:miter lim="800000"/>
            </a:ln>
          </p:spPr>
          <p:txBody>
            <a:bodyPr wrap="none" anchor="ctr"/>
            <a:lstStyle/>
            <a:p>
              <a:endParaRPr lang="en-US"/>
            </a:p>
          </p:txBody>
        </p:sp>
        <p:sp>
          <p:nvSpPr>
            <p:cNvPr id="2" name="Rectangle 22"/>
            <p:cNvSpPr>
              <a:spLocks noChangeArrowheads="1"/>
            </p:cNvSpPr>
            <p:nvPr/>
          </p:nvSpPr>
          <p:spPr bwMode="auto">
            <a:xfrm>
              <a:off x="1704" y="1332"/>
              <a:ext cx="606" cy="522"/>
            </a:xfrm>
            <a:prstGeom prst="rect">
              <a:avLst/>
            </a:prstGeom>
            <a:solidFill>
              <a:srgbClr val="33CCCC"/>
            </a:solidFill>
            <a:ln w="19050">
              <a:solidFill>
                <a:schemeClr val="tx1"/>
              </a:solidFill>
              <a:miter lim="800000"/>
            </a:ln>
          </p:spPr>
          <p:txBody>
            <a:bodyPr wrap="none" anchor="ctr"/>
            <a:lstStyle/>
            <a:p>
              <a:endParaRPr lang="en-US"/>
            </a:p>
          </p:txBody>
        </p:sp>
        <p:sp>
          <p:nvSpPr>
            <p:cNvPr id="3" name="Text Box 23"/>
            <p:cNvSpPr txBox="1">
              <a:spLocks noChangeArrowheads="1"/>
            </p:cNvSpPr>
            <p:nvPr/>
          </p:nvSpPr>
          <p:spPr bwMode="auto">
            <a:xfrm>
              <a:off x="1645" y="1343"/>
              <a:ext cx="738" cy="520"/>
            </a:xfrm>
            <a:prstGeom prst="rect">
              <a:avLst/>
            </a:prstGeom>
            <a:noFill/>
            <a:ln w="9525">
              <a:noFill/>
              <a:miter lim="800000"/>
            </a:ln>
          </p:spPr>
          <p:txBody>
            <a:bodyPr>
              <a:spAutoFit/>
            </a:bodyPr>
            <a:lstStyle/>
            <a:p>
              <a:pPr algn="ctr">
                <a:spcBef>
                  <a:spcPct val="0"/>
                </a:spcBef>
                <a:buClrTx/>
                <a:buSzTx/>
                <a:buFontTx/>
                <a:buNone/>
              </a:pPr>
              <a:r>
                <a:rPr lang="en-US" sz="1600"/>
                <a:t>FTP</a:t>
              </a:r>
              <a:endParaRPr lang="en-US" sz="1600"/>
            </a:p>
            <a:p>
              <a:pPr algn="ctr">
                <a:spcBef>
                  <a:spcPct val="0"/>
                </a:spcBef>
                <a:buClrTx/>
                <a:buSzTx/>
                <a:buFontTx/>
                <a:buNone/>
              </a:pPr>
              <a:r>
                <a:rPr lang="en-US" sz="1600"/>
                <a:t>user</a:t>
              </a:r>
              <a:endParaRPr lang="en-US" sz="1600"/>
            </a:p>
            <a:p>
              <a:pPr algn="ctr">
                <a:spcBef>
                  <a:spcPct val="0"/>
                </a:spcBef>
                <a:buClrTx/>
                <a:buSzTx/>
                <a:buFontTx/>
                <a:buNone/>
              </a:pPr>
              <a:r>
                <a:rPr lang="en-US" sz="1600"/>
                <a:t>interface</a:t>
              </a:r>
              <a:endParaRPr lang="en-US">
                <a:latin typeface="Times New Roman" panose="02020603050405020304" pitchFamily="18" charset="0"/>
              </a:endParaRPr>
            </a:p>
          </p:txBody>
        </p:sp>
        <p:sp>
          <p:nvSpPr>
            <p:cNvPr id="11290" name="Text Box 24"/>
            <p:cNvSpPr txBox="1">
              <a:spLocks noChangeArrowheads="1"/>
            </p:cNvSpPr>
            <p:nvPr/>
          </p:nvSpPr>
          <p:spPr bwMode="auto">
            <a:xfrm>
              <a:off x="2323" y="1403"/>
              <a:ext cx="450" cy="366"/>
            </a:xfrm>
            <a:prstGeom prst="rect">
              <a:avLst/>
            </a:prstGeom>
            <a:noFill/>
            <a:ln w="9525">
              <a:noFill/>
              <a:miter lim="800000"/>
            </a:ln>
          </p:spPr>
          <p:txBody>
            <a:bodyPr wrap="none">
              <a:spAutoFit/>
            </a:bodyPr>
            <a:lstStyle/>
            <a:p>
              <a:pPr algn="ctr">
                <a:spcBef>
                  <a:spcPct val="0"/>
                </a:spcBef>
                <a:buClrTx/>
                <a:buSzTx/>
                <a:buFontTx/>
                <a:buNone/>
              </a:pPr>
              <a:r>
                <a:rPr lang="en-US" sz="1600"/>
                <a:t>FTP</a:t>
              </a:r>
              <a:endParaRPr lang="en-US" sz="1600"/>
            </a:p>
            <a:p>
              <a:pPr algn="ctr">
                <a:spcBef>
                  <a:spcPct val="0"/>
                </a:spcBef>
                <a:buClrTx/>
                <a:buSzTx/>
                <a:buFontTx/>
                <a:buNone/>
              </a:pPr>
              <a:r>
                <a:rPr lang="en-US" sz="1600"/>
                <a:t>client</a:t>
              </a:r>
              <a:endParaRPr lang="en-US">
                <a:latin typeface="Times New Roman" panose="02020603050405020304" pitchFamily="18" charset="0"/>
              </a:endParaRPr>
            </a:p>
          </p:txBody>
        </p:sp>
      </p:grpSp>
      <p:sp>
        <p:nvSpPr>
          <p:cNvPr id="11279" name="Text Box 32"/>
          <p:cNvSpPr txBox="1">
            <a:spLocks noChangeArrowheads="1"/>
          </p:cNvSpPr>
          <p:nvPr/>
        </p:nvSpPr>
        <p:spPr bwMode="auto">
          <a:xfrm>
            <a:off x="3881438" y="2978150"/>
            <a:ext cx="1076325" cy="581025"/>
          </a:xfrm>
          <a:prstGeom prst="rect">
            <a:avLst/>
          </a:prstGeom>
          <a:noFill/>
          <a:ln w="9525">
            <a:noFill/>
            <a:miter lim="800000"/>
          </a:ln>
        </p:spPr>
        <p:txBody>
          <a:bodyPr>
            <a:spAutoFit/>
          </a:bodyPr>
          <a:lstStyle/>
          <a:p>
            <a:pPr>
              <a:spcBef>
                <a:spcPct val="0"/>
              </a:spcBef>
              <a:buClrTx/>
              <a:buSzTx/>
              <a:buFontTx/>
              <a:buNone/>
            </a:pPr>
            <a:r>
              <a:rPr lang="en-US" sz="1600"/>
              <a:t>local file</a:t>
            </a:r>
            <a:endParaRPr lang="en-US" sz="1600"/>
          </a:p>
          <a:p>
            <a:pPr>
              <a:spcBef>
                <a:spcPct val="0"/>
              </a:spcBef>
              <a:buClrTx/>
              <a:buSzTx/>
              <a:buFontTx/>
              <a:buNone/>
            </a:pPr>
            <a:r>
              <a:rPr lang="en-US" sz="1600"/>
              <a:t>system</a:t>
            </a:r>
            <a:endParaRPr lang="en-US">
              <a:latin typeface="Times New Roman" panose="02020603050405020304" pitchFamily="18" charset="0"/>
            </a:endParaRPr>
          </a:p>
        </p:txBody>
      </p:sp>
      <p:sp>
        <p:nvSpPr>
          <p:cNvPr id="11280" name="Line 33"/>
          <p:cNvSpPr>
            <a:spLocks noChangeShapeType="1"/>
          </p:cNvSpPr>
          <p:nvPr/>
        </p:nvSpPr>
        <p:spPr bwMode="auto">
          <a:xfrm>
            <a:off x="3219450" y="2695575"/>
            <a:ext cx="323850" cy="43815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11281" name="Line 34"/>
          <p:cNvSpPr>
            <a:spLocks noChangeShapeType="1"/>
          </p:cNvSpPr>
          <p:nvPr/>
        </p:nvSpPr>
        <p:spPr bwMode="auto">
          <a:xfrm flipH="1">
            <a:off x="3714750" y="2686050"/>
            <a:ext cx="333375" cy="43815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11282" name="Text Box 41"/>
          <p:cNvSpPr txBox="1">
            <a:spLocks noChangeArrowheads="1"/>
          </p:cNvSpPr>
          <p:nvPr/>
        </p:nvSpPr>
        <p:spPr bwMode="auto">
          <a:xfrm>
            <a:off x="7161213" y="2789238"/>
            <a:ext cx="1457325" cy="581025"/>
          </a:xfrm>
          <a:prstGeom prst="rect">
            <a:avLst/>
          </a:prstGeom>
          <a:noFill/>
          <a:ln w="9525">
            <a:noFill/>
            <a:miter lim="800000"/>
          </a:ln>
        </p:spPr>
        <p:txBody>
          <a:bodyPr>
            <a:spAutoFit/>
          </a:bodyPr>
          <a:lstStyle/>
          <a:p>
            <a:pPr>
              <a:spcBef>
                <a:spcPct val="0"/>
              </a:spcBef>
              <a:buClrTx/>
              <a:buSzTx/>
              <a:buFontTx/>
              <a:buNone/>
            </a:pPr>
            <a:r>
              <a:rPr lang="en-US" sz="1600"/>
              <a:t>remote file</a:t>
            </a:r>
            <a:endParaRPr lang="en-US" sz="1600"/>
          </a:p>
          <a:p>
            <a:pPr>
              <a:spcBef>
                <a:spcPct val="0"/>
              </a:spcBef>
              <a:buClrTx/>
              <a:buSzTx/>
              <a:buFontTx/>
              <a:buNone/>
            </a:pPr>
            <a:r>
              <a:rPr lang="en-US" sz="1600"/>
              <a:t>system</a:t>
            </a:r>
            <a:endParaRPr lang="en-US">
              <a:latin typeface="Times New Roman" panose="02020603050405020304" pitchFamily="18" charset="0"/>
            </a:endParaRPr>
          </a:p>
        </p:txBody>
      </p:sp>
      <p:sp>
        <p:nvSpPr>
          <p:cNvPr id="11283" name="Line 42"/>
          <p:cNvSpPr>
            <a:spLocks noChangeShapeType="1"/>
          </p:cNvSpPr>
          <p:nvPr/>
        </p:nvSpPr>
        <p:spPr bwMode="auto">
          <a:xfrm>
            <a:off x="6915150" y="2695575"/>
            <a:ext cx="0" cy="428625"/>
          </a:xfrm>
          <a:prstGeom prst="line">
            <a:avLst/>
          </a:prstGeom>
          <a:noFill/>
          <a:ln w="19050">
            <a:solidFill>
              <a:schemeClr val="tx1"/>
            </a:solidFill>
            <a:round/>
            <a:headEnd type="triangle" w="med" len="med"/>
            <a:tailEnd type="triangle" w="med" len="med"/>
          </a:ln>
        </p:spPr>
        <p:txBody>
          <a:bodyPr wrap="none" anchor="ctr"/>
          <a:lstStyle/>
          <a:p>
            <a:endParaRPr lang="en-US"/>
          </a:p>
        </p:txBody>
      </p:sp>
      <p:pic>
        <p:nvPicPr>
          <p:cNvPr id="11284" name="Picture 43" descr="Alice"/>
          <p:cNvPicPr>
            <a:picLocks noChangeAspect="1" noChangeArrowheads="1"/>
          </p:cNvPicPr>
          <p:nvPr/>
        </p:nvPicPr>
        <p:blipFill>
          <a:blip r:embed="rId4"/>
          <a:srcRect/>
          <a:stretch>
            <a:fillRect/>
          </a:stretch>
        </p:blipFill>
        <p:spPr bwMode="auto">
          <a:xfrm>
            <a:off x="1490663" y="1909763"/>
            <a:ext cx="561975" cy="693737"/>
          </a:xfrm>
          <a:prstGeom prst="rect">
            <a:avLst/>
          </a:prstGeom>
          <a:noFill/>
          <a:ln w="9525">
            <a:noFill/>
            <a:miter lim="800000"/>
            <a:headEnd/>
            <a:tailEnd/>
          </a:ln>
        </p:spPr>
      </p:pic>
      <p:sp>
        <p:nvSpPr>
          <p:cNvPr id="11285" name="Text Box 44"/>
          <p:cNvSpPr txBox="1">
            <a:spLocks noChangeArrowheads="1"/>
          </p:cNvSpPr>
          <p:nvPr/>
        </p:nvSpPr>
        <p:spPr bwMode="auto">
          <a:xfrm>
            <a:off x="1379538" y="2617788"/>
            <a:ext cx="971550" cy="581025"/>
          </a:xfrm>
          <a:prstGeom prst="rect">
            <a:avLst/>
          </a:prstGeom>
          <a:noFill/>
          <a:ln w="9525">
            <a:noFill/>
            <a:miter lim="800000"/>
          </a:ln>
        </p:spPr>
        <p:txBody>
          <a:bodyPr>
            <a:spAutoFit/>
          </a:bodyPr>
          <a:lstStyle/>
          <a:p>
            <a:pPr algn="ctr">
              <a:spcBef>
                <a:spcPct val="0"/>
              </a:spcBef>
              <a:buClrTx/>
              <a:buSzTx/>
              <a:buFontTx/>
              <a:buNone/>
            </a:pPr>
            <a:r>
              <a:rPr lang="en-US" sz="1600"/>
              <a:t>user </a:t>
            </a:r>
            <a:endParaRPr lang="en-US" sz="1600"/>
          </a:p>
          <a:p>
            <a:pPr algn="ctr">
              <a:spcBef>
                <a:spcPct val="0"/>
              </a:spcBef>
              <a:buClrTx/>
              <a:buSzTx/>
              <a:buFontTx/>
              <a:buNone/>
            </a:pPr>
            <a:r>
              <a:rPr lang="en-US" sz="1600"/>
              <a:t>at host</a:t>
            </a:r>
            <a:endParaRPr lang="en-US">
              <a:latin typeface="Times New Roman" panose="02020603050405020304" pitchFamily="18" charset="0"/>
            </a:endParaRPr>
          </a:p>
        </p:txBody>
      </p:sp>
      <p:sp>
        <p:nvSpPr>
          <p:cNvPr id="11286" name="Line 45"/>
          <p:cNvSpPr>
            <a:spLocks noChangeShapeType="1"/>
          </p:cNvSpPr>
          <p:nvPr/>
        </p:nvSpPr>
        <p:spPr bwMode="auto">
          <a:xfrm>
            <a:off x="2028825" y="2305050"/>
            <a:ext cx="581025" cy="0"/>
          </a:xfrm>
          <a:prstGeom prst="line">
            <a:avLst/>
          </a:prstGeom>
          <a:noFill/>
          <a:ln w="19050">
            <a:solidFill>
              <a:schemeClr val="tx1"/>
            </a:solidFill>
            <a:round/>
            <a:headEnd type="triangle" w="med" len="med"/>
            <a:tailEnd type="triangle" w="med" len="med"/>
          </a:ln>
        </p:spPr>
        <p:txBody>
          <a:bodyPr wrap="none" anchor="ct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2292" name="Slide Number Placeholder 6"/>
          <p:cNvSpPr>
            <a:spLocks noGrp="1"/>
          </p:cNvSpPr>
          <p:nvPr>
            <p:ph type="sldNum" sz="quarter" idx="12"/>
          </p:nvPr>
        </p:nvSpPr>
        <p:spPr>
          <a:noFill/>
        </p:spPr>
        <p:txBody>
          <a:bodyPr/>
          <a:lstStyle/>
          <a:p>
            <a:fld id="{B8AE597C-2A22-48D2-82D1-3F6484AB6353}" type="slidenum">
              <a:rPr lang="en-US"/>
            </a:fld>
            <a:endParaRPr lang="en-US"/>
          </a:p>
        </p:txBody>
      </p:sp>
      <p:sp>
        <p:nvSpPr>
          <p:cNvPr id="12293" name="Rectangle 2"/>
          <p:cNvSpPr>
            <a:spLocks noGrp="1" noChangeArrowheads="1"/>
          </p:cNvSpPr>
          <p:nvPr>
            <p:ph type="title"/>
          </p:nvPr>
        </p:nvSpPr>
        <p:spPr/>
        <p:txBody>
          <a:bodyPr/>
          <a:lstStyle/>
          <a:p>
            <a:r>
              <a:rPr lang="en-US" sz="3200"/>
              <a:t>FTP: separate control, data connections</a:t>
            </a:r>
            <a:endParaRPr lang="en-US"/>
          </a:p>
        </p:txBody>
      </p:sp>
      <p:sp>
        <p:nvSpPr>
          <p:cNvPr id="12294" name="Rectangle 3"/>
          <p:cNvSpPr>
            <a:spLocks noGrp="1" noChangeArrowheads="1"/>
          </p:cNvSpPr>
          <p:nvPr>
            <p:ph type="body" sz="half" idx="1"/>
          </p:nvPr>
        </p:nvSpPr>
        <p:spPr>
          <a:xfrm>
            <a:off x="433388" y="1638300"/>
            <a:ext cx="4318000" cy="4648200"/>
          </a:xfrm>
        </p:spPr>
        <p:txBody>
          <a:bodyPr/>
          <a:lstStyle/>
          <a:p>
            <a:r>
              <a:rPr lang="en-US" sz="2000"/>
              <a:t>FTP client contacts FTP server at port 21, TCP is transport protocol</a:t>
            </a:r>
            <a:endParaRPr lang="en-US" sz="2000"/>
          </a:p>
          <a:p>
            <a:r>
              <a:rPr lang="en-US" sz="2000"/>
              <a:t>client authorized over control connection</a:t>
            </a:r>
            <a:endParaRPr lang="en-US" sz="2000"/>
          </a:p>
          <a:p>
            <a:r>
              <a:rPr lang="en-US" sz="2000"/>
              <a:t>client browses remote directory by sending commands over control connection.</a:t>
            </a:r>
            <a:endParaRPr lang="en-US" sz="2000"/>
          </a:p>
          <a:p>
            <a:r>
              <a:rPr lang="en-US" sz="2000"/>
              <a:t>when server receives  file transfer command, server opens </a:t>
            </a:r>
            <a:r>
              <a:rPr lang="en-US" sz="2000" i="1"/>
              <a:t>2</a:t>
            </a:r>
            <a:r>
              <a:rPr lang="en-US" sz="2000" i="1" baseline="30000"/>
              <a:t>nd</a:t>
            </a:r>
            <a:r>
              <a:rPr lang="en-US" sz="2000" i="1"/>
              <a:t> </a:t>
            </a:r>
            <a:r>
              <a:rPr lang="en-US" sz="2000"/>
              <a:t>TCP connection (for file) to client</a:t>
            </a:r>
            <a:endParaRPr lang="en-US" sz="2000"/>
          </a:p>
          <a:p>
            <a:r>
              <a:rPr lang="en-US" sz="2000"/>
              <a:t>after transferring one file, server closes data connection.</a:t>
            </a:r>
            <a:endParaRPr lang="en-US" sz="2000"/>
          </a:p>
        </p:txBody>
      </p:sp>
      <p:grpSp>
        <p:nvGrpSpPr>
          <p:cNvPr id="12295" name="Group 4"/>
          <p:cNvGrpSpPr/>
          <p:nvPr/>
        </p:nvGrpSpPr>
        <p:grpSpPr bwMode="auto">
          <a:xfrm>
            <a:off x="4756150" y="1373188"/>
            <a:ext cx="3998913" cy="1882775"/>
            <a:chOff x="3011" y="1511"/>
            <a:chExt cx="2519" cy="1186"/>
          </a:xfrm>
        </p:grpSpPr>
        <p:graphicFrame>
          <p:nvGraphicFramePr>
            <p:cNvPr id="12290" name="Object 5"/>
            <p:cNvGraphicFramePr>
              <a:graphicFrameLocks noChangeAspect="1"/>
            </p:cNvGraphicFramePr>
            <p:nvPr/>
          </p:nvGraphicFramePr>
          <p:xfrm>
            <a:off x="3011" y="1826"/>
            <a:ext cx="489" cy="393"/>
          </p:xfrm>
          <a:graphic>
            <a:graphicData uri="http://schemas.openxmlformats.org/presentationml/2006/ole">
              <mc:AlternateContent xmlns:mc="http://schemas.openxmlformats.org/markup-compatibility/2006">
                <mc:Choice xmlns:v="urn:schemas-microsoft-com:vml" Requires="v">
                  <p:oleObj spid="_x0000_s12301" name="Clip" r:id="rId1" imgW="18192750" imgH="15087600" progId="">
                    <p:embed/>
                  </p:oleObj>
                </mc:Choice>
                <mc:Fallback>
                  <p:oleObj name="Clip" r:id="rId1" imgW="18192750" imgH="15087600" progId="">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1" y="1826"/>
                          <a:ext cx="489" cy="3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297" name="Group 6"/>
            <p:cNvGrpSpPr/>
            <p:nvPr/>
          </p:nvGrpSpPr>
          <p:grpSpPr bwMode="auto">
            <a:xfrm>
              <a:off x="5161" y="1688"/>
              <a:ext cx="224" cy="588"/>
              <a:chOff x="4180" y="783"/>
              <a:chExt cx="150" cy="307"/>
            </a:xfrm>
          </p:grpSpPr>
          <p:sp>
            <p:nvSpPr>
              <p:cNvPr id="12304" name="AutoShape 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2305" name="Rectangle 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2306"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2307"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2308" name="Line 1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2309" name="Line 1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2310"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2311" name="Rectangle 1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12298" name="Text Box 15"/>
            <p:cNvSpPr txBox="1">
              <a:spLocks noChangeArrowheads="1"/>
            </p:cNvSpPr>
            <p:nvPr/>
          </p:nvSpPr>
          <p:spPr bwMode="auto">
            <a:xfrm>
              <a:off x="3029" y="2249"/>
              <a:ext cx="534" cy="442"/>
            </a:xfrm>
            <a:prstGeom prst="rect">
              <a:avLst/>
            </a:prstGeom>
            <a:noFill/>
            <a:ln w="9525">
              <a:noFill/>
              <a:miter lim="800000"/>
            </a:ln>
          </p:spPr>
          <p:txBody>
            <a:bodyPr wrap="none">
              <a:spAutoFit/>
            </a:bodyPr>
            <a:lstStyle/>
            <a:p>
              <a:pPr algn="ctr">
                <a:spcBef>
                  <a:spcPct val="0"/>
                </a:spcBef>
                <a:buClrTx/>
                <a:buSzTx/>
                <a:buFontTx/>
                <a:buNone/>
              </a:pPr>
              <a:r>
                <a:rPr lang="en-US" sz="2000"/>
                <a:t>FTP</a:t>
              </a:r>
              <a:endParaRPr lang="en-US" sz="2000"/>
            </a:p>
            <a:p>
              <a:pPr algn="ctr">
                <a:spcBef>
                  <a:spcPct val="0"/>
                </a:spcBef>
                <a:buClrTx/>
                <a:buSzTx/>
                <a:buFontTx/>
                <a:buNone/>
              </a:pPr>
              <a:r>
                <a:rPr lang="en-US" sz="2000"/>
                <a:t>client</a:t>
              </a:r>
              <a:endParaRPr lang="en-US">
                <a:latin typeface="Times New Roman" panose="02020603050405020304" pitchFamily="18" charset="0"/>
              </a:endParaRPr>
            </a:p>
          </p:txBody>
        </p:sp>
        <p:sp>
          <p:nvSpPr>
            <p:cNvPr id="12299" name="Text Box 16"/>
            <p:cNvSpPr txBox="1">
              <a:spLocks noChangeArrowheads="1"/>
            </p:cNvSpPr>
            <p:nvPr/>
          </p:nvSpPr>
          <p:spPr bwMode="auto">
            <a:xfrm>
              <a:off x="4928" y="2255"/>
              <a:ext cx="602" cy="442"/>
            </a:xfrm>
            <a:prstGeom prst="rect">
              <a:avLst/>
            </a:prstGeom>
            <a:noFill/>
            <a:ln w="9525">
              <a:noFill/>
              <a:miter lim="800000"/>
            </a:ln>
          </p:spPr>
          <p:txBody>
            <a:bodyPr wrap="none">
              <a:spAutoFit/>
            </a:bodyPr>
            <a:lstStyle/>
            <a:p>
              <a:pPr algn="ctr">
                <a:spcBef>
                  <a:spcPct val="0"/>
                </a:spcBef>
                <a:buClrTx/>
                <a:buSzTx/>
                <a:buFontTx/>
                <a:buNone/>
              </a:pPr>
              <a:r>
                <a:rPr lang="en-US" sz="2000"/>
                <a:t>FTP</a:t>
              </a:r>
              <a:endParaRPr lang="en-US" sz="2000"/>
            </a:p>
            <a:p>
              <a:pPr algn="ctr">
                <a:spcBef>
                  <a:spcPct val="0"/>
                </a:spcBef>
                <a:buClrTx/>
                <a:buSzTx/>
                <a:buFontTx/>
                <a:buNone/>
              </a:pPr>
              <a:r>
                <a:rPr lang="en-US" sz="2000"/>
                <a:t>server</a:t>
              </a:r>
              <a:endParaRPr lang="en-US" sz="2000">
                <a:latin typeface="Times New Roman" panose="02020603050405020304" pitchFamily="18" charset="0"/>
              </a:endParaRPr>
            </a:p>
          </p:txBody>
        </p:sp>
        <p:sp>
          <p:nvSpPr>
            <p:cNvPr id="12300" name="Line 17"/>
            <p:cNvSpPr>
              <a:spLocks noChangeShapeType="1"/>
            </p:cNvSpPr>
            <p:nvPr/>
          </p:nvSpPr>
          <p:spPr bwMode="auto">
            <a:xfrm>
              <a:off x="3492" y="1920"/>
              <a:ext cx="1614" cy="0"/>
            </a:xfrm>
            <a:prstGeom prst="line">
              <a:avLst/>
            </a:prstGeom>
            <a:noFill/>
            <a:ln w="28575">
              <a:solidFill>
                <a:srgbClr val="FF0000"/>
              </a:solidFill>
              <a:round/>
              <a:headEnd type="triangle" w="med" len="med"/>
              <a:tailEnd type="triangle" w="med" len="med"/>
            </a:ln>
          </p:spPr>
          <p:txBody>
            <a:bodyPr wrap="none" anchor="ctr"/>
            <a:lstStyle/>
            <a:p>
              <a:endParaRPr lang="en-US"/>
            </a:p>
          </p:txBody>
        </p:sp>
        <p:sp>
          <p:nvSpPr>
            <p:cNvPr id="2" name="Line 18"/>
            <p:cNvSpPr>
              <a:spLocks noChangeShapeType="1"/>
            </p:cNvSpPr>
            <p:nvPr/>
          </p:nvSpPr>
          <p:spPr bwMode="auto">
            <a:xfrm flipV="1">
              <a:off x="3504" y="2118"/>
              <a:ext cx="1614" cy="6"/>
            </a:xfrm>
            <a:prstGeom prst="line">
              <a:avLst/>
            </a:prstGeom>
            <a:noFill/>
            <a:ln w="28575">
              <a:solidFill>
                <a:srgbClr val="FF0000"/>
              </a:solidFill>
              <a:round/>
              <a:headEnd type="triangle" w="med" len="med"/>
              <a:tailEnd type="triangle" w="med" len="med"/>
            </a:ln>
          </p:spPr>
          <p:txBody>
            <a:bodyPr wrap="none" anchor="ctr"/>
            <a:lstStyle/>
            <a:p>
              <a:endParaRPr lang="en-US"/>
            </a:p>
          </p:txBody>
        </p:sp>
        <p:sp>
          <p:nvSpPr>
            <p:cNvPr id="12302" name="Text Box 19"/>
            <p:cNvSpPr txBox="1">
              <a:spLocks noChangeArrowheads="1"/>
            </p:cNvSpPr>
            <p:nvPr/>
          </p:nvSpPr>
          <p:spPr bwMode="auto">
            <a:xfrm>
              <a:off x="3551" y="1511"/>
              <a:ext cx="1518" cy="366"/>
            </a:xfrm>
            <a:prstGeom prst="rect">
              <a:avLst/>
            </a:prstGeom>
            <a:noFill/>
            <a:ln w="9525">
              <a:noFill/>
              <a:miter lim="800000"/>
            </a:ln>
          </p:spPr>
          <p:txBody>
            <a:bodyPr>
              <a:spAutoFit/>
            </a:bodyPr>
            <a:lstStyle/>
            <a:p>
              <a:pPr algn="ctr">
                <a:spcBef>
                  <a:spcPct val="0"/>
                </a:spcBef>
                <a:buClrTx/>
                <a:buSzTx/>
                <a:buFontTx/>
                <a:buNone/>
              </a:pPr>
              <a:r>
                <a:rPr lang="en-US" sz="1600">
                  <a:solidFill>
                    <a:srgbClr val="FF0000"/>
                  </a:solidFill>
                </a:rPr>
                <a:t>TCP control connection</a:t>
              </a:r>
              <a:endParaRPr lang="en-US" sz="1600">
                <a:solidFill>
                  <a:srgbClr val="FF0000"/>
                </a:solidFill>
              </a:endParaRPr>
            </a:p>
            <a:p>
              <a:pPr algn="ctr">
                <a:spcBef>
                  <a:spcPct val="0"/>
                </a:spcBef>
                <a:buClrTx/>
                <a:buSzTx/>
                <a:buFontTx/>
                <a:buNone/>
              </a:pPr>
              <a:r>
                <a:rPr lang="en-US" sz="1600">
                  <a:solidFill>
                    <a:srgbClr val="FF0000"/>
                  </a:solidFill>
                </a:rPr>
                <a:t>port 21</a:t>
              </a:r>
              <a:endParaRPr lang="en-US">
                <a:latin typeface="Times New Roman" panose="02020603050405020304" pitchFamily="18" charset="0"/>
              </a:endParaRPr>
            </a:p>
          </p:txBody>
        </p:sp>
        <p:sp>
          <p:nvSpPr>
            <p:cNvPr id="12303" name="Text Box 20"/>
            <p:cNvSpPr txBox="1">
              <a:spLocks noChangeArrowheads="1"/>
            </p:cNvSpPr>
            <p:nvPr/>
          </p:nvSpPr>
          <p:spPr bwMode="auto">
            <a:xfrm>
              <a:off x="3521" y="2165"/>
              <a:ext cx="1518" cy="366"/>
            </a:xfrm>
            <a:prstGeom prst="rect">
              <a:avLst/>
            </a:prstGeom>
            <a:noFill/>
            <a:ln w="9525">
              <a:noFill/>
              <a:miter lim="800000"/>
            </a:ln>
          </p:spPr>
          <p:txBody>
            <a:bodyPr>
              <a:spAutoFit/>
            </a:bodyPr>
            <a:lstStyle/>
            <a:p>
              <a:pPr algn="ctr">
                <a:spcBef>
                  <a:spcPct val="0"/>
                </a:spcBef>
                <a:buClrTx/>
                <a:buSzTx/>
                <a:buFontTx/>
                <a:buNone/>
              </a:pPr>
              <a:r>
                <a:rPr lang="en-US" sz="1600">
                  <a:solidFill>
                    <a:srgbClr val="FF0000"/>
                  </a:solidFill>
                </a:rPr>
                <a:t>TCP data connection</a:t>
              </a:r>
              <a:endParaRPr lang="en-US" sz="1600">
                <a:solidFill>
                  <a:srgbClr val="FF0000"/>
                </a:solidFill>
              </a:endParaRPr>
            </a:p>
            <a:p>
              <a:pPr algn="ctr">
                <a:spcBef>
                  <a:spcPct val="0"/>
                </a:spcBef>
                <a:buClrTx/>
                <a:buSzTx/>
                <a:buFontTx/>
                <a:buNone/>
              </a:pPr>
              <a:r>
                <a:rPr lang="en-US" sz="1600">
                  <a:solidFill>
                    <a:srgbClr val="FF0000"/>
                  </a:solidFill>
                </a:rPr>
                <a:t>port 20</a:t>
              </a:r>
              <a:endParaRPr lang="en-US">
                <a:latin typeface="Times New Roman" panose="02020603050405020304" pitchFamily="18" charset="0"/>
              </a:endParaRPr>
            </a:p>
          </p:txBody>
        </p:sp>
      </p:grpSp>
      <p:sp>
        <p:nvSpPr>
          <p:cNvPr id="214037" name="Rectangle 21"/>
          <p:cNvSpPr>
            <a:spLocks noChangeArrowheads="1"/>
          </p:cNvSpPr>
          <p:nvPr/>
        </p:nvSpPr>
        <p:spPr bwMode="auto">
          <a:xfrm>
            <a:off x="4703763" y="3436938"/>
            <a:ext cx="4067175" cy="2938462"/>
          </a:xfrm>
          <a:prstGeom prst="rect">
            <a:avLst/>
          </a:prstGeom>
          <a:noFill/>
          <a:ln w="9525">
            <a:noFill/>
            <a:miter lim="800000"/>
          </a:ln>
        </p:spPr>
        <p:txBody>
          <a:bodyPr/>
          <a:lstStyle/>
          <a:p>
            <a:pPr marL="342900" indent="-342900">
              <a:buFont typeface="ZapfDingbats" pitchFamily="82" charset="2"/>
              <a:buChar char="r"/>
            </a:pPr>
            <a:r>
              <a:rPr lang="en-US" sz="2000"/>
              <a:t>server opens another TCP data connection to transfer another file.</a:t>
            </a:r>
            <a:endParaRPr lang="en-US" sz="2000"/>
          </a:p>
          <a:p>
            <a:pPr marL="342900" indent="-342900">
              <a:buFont typeface="ZapfDingbats" pitchFamily="82" charset="2"/>
              <a:buChar char="r"/>
            </a:pPr>
            <a:r>
              <a:rPr lang="en-US" sz="2000"/>
              <a:t>control connection: </a:t>
            </a:r>
            <a:r>
              <a:rPr lang="en-US" sz="2000">
                <a:solidFill>
                  <a:srgbClr val="FF0000"/>
                </a:solidFill>
              </a:rPr>
              <a:t>“out of band”</a:t>
            </a:r>
            <a:endParaRPr lang="en-US" sz="2000">
              <a:solidFill>
                <a:srgbClr val="FF0000"/>
              </a:solidFill>
            </a:endParaRPr>
          </a:p>
          <a:p>
            <a:pPr marL="342900" indent="-342900">
              <a:buFont typeface="ZapfDingbats" pitchFamily="82" charset="2"/>
              <a:buChar char="r"/>
            </a:pPr>
            <a:r>
              <a:rPr lang="en-US" sz="2000"/>
              <a:t>FTP server maintains “state”: current directory, earlier authentication</a:t>
            </a:r>
            <a:endParaRPr lang="en-US" sz="2000">
              <a:solidFill>
                <a:srgbClr val="FF0000"/>
              </a:solidFill>
            </a:endParaRPr>
          </a:p>
          <a:p>
            <a:pPr marL="342900" indent="-342900">
              <a:buFont typeface="ZapfDingbats" pitchFamily="82" charset="2"/>
              <a:buChar char="r"/>
            </a:pPr>
            <a:endParaRPr lang="en-US" sz="20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40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3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69635" name="Slide Number Placeholder 6"/>
          <p:cNvSpPr>
            <a:spLocks noGrp="1"/>
          </p:cNvSpPr>
          <p:nvPr>
            <p:ph type="sldNum" sz="quarter" idx="12"/>
          </p:nvPr>
        </p:nvSpPr>
        <p:spPr>
          <a:noFill/>
        </p:spPr>
        <p:txBody>
          <a:bodyPr/>
          <a:lstStyle/>
          <a:p>
            <a:fld id="{8D40A2E2-2CEE-4C75-BE07-2195E91FD75E}" type="slidenum">
              <a:rPr lang="en-US"/>
            </a:fld>
            <a:endParaRPr lang="en-US"/>
          </a:p>
        </p:txBody>
      </p:sp>
      <p:sp>
        <p:nvSpPr>
          <p:cNvPr id="69636" name="Rectangle 2"/>
          <p:cNvSpPr>
            <a:spLocks noGrp="1" noChangeArrowheads="1"/>
          </p:cNvSpPr>
          <p:nvPr>
            <p:ph type="title"/>
          </p:nvPr>
        </p:nvSpPr>
        <p:spPr/>
        <p:txBody>
          <a:bodyPr/>
          <a:lstStyle/>
          <a:p>
            <a:r>
              <a:rPr lang="en-US" sz="3600"/>
              <a:t>FTP commands, responses</a:t>
            </a:r>
            <a:endParaRPr lang="en-US"/>
          </a:p>
        </p:txBody>
      </p:sp>
      <p:sp>
        <p:nvSpPr>
          <p:cNvPr id="69637" name="Rectangle 3"/>
          <p:cNvSpPr>
            <a:spLocks noGrp="1" noChangeArrowheads="1"/>
          </p:cNvSpPr>
          <p:nvPr>
            <p:ph type="body" sz="half" idx="1"/>
          </p:nvPr>
        </p:nvSpPr>
        <p:spPr/>
        <p:txBody>
          <a:bodyPr/>
          <a:lstStyle/>
          <a:p>
            <a:pPr>
              <a:buFont typeface="ZapfDingbats" pitchFamily="82" charset="2"/>
              <a:buNone/>
            </a:pPr>
            <a:r>
              <a:rPr lang="en-US" sz="2400" u="sng">
                <a:solidFill>
                  <a:srgbClr val="FF0000"/>
                </a:solidFill>
              </a:rPr>
              <a:t>Sample commands:</a:t>
            </a:r>
            <a:endParaRPr lang="en-US" sz="2000"/>
          </a:p>
          <a:p>
            <a:r>
              <a:rPr lang="en-US" sz="2000"/>
              <a:t>sent as ASCII text over control channel</a:t>
            </a:r>
            <a:endParaRPr lang="en-US" sz="2400"/>
          </a:p>
          <a:p>
            <a:r>
              <a:rPr lang="en-US" sz="2000" b="1">
                <a:latin typeface="Courier New" panose="02070309020205020404" pitchFamily="49" charset="0"/>
              </a:rPr>
              <a:t>USER </a:t>
            </a:r>
            <a:r>
              <a:rPr lang="en-US" sz="2000" b="1" i="1">
                <a:latin typeface="Courier New" panose="02070309020205020404" pitchFamily="49" charset="0"/>
              </a:rPr>
              <a:t>username</a:t>
            </a:r>
            <a:endParaRPr lang="en-US" sz="2400" i="1"/>
          </a:p>
          <a:p>
            <a:r>
              <a:rPr lang="en-US" sz="2000" b="1">
                <a:latin typeface="Courier New" panose="02070309020205020404" pitchFamily="49" charset="0"/>
              </a:rPr>
              <a:t>PASS </a:t>
            </a:r>
            <a:r>
              <a:rPr lang="en-US" sz="2000" b="1" i="1">
                <a:latin typeface="Courier New" panose="02070309020205020404" pitchFamily="49" charset="0"/>
              </a:rPr>
              <a:t>password</a:t>
            </a:r>
            <a:endParaRPr lang="en-US" sz="2400" i="1"/>
          </a:p>
          <a:p>
            <a:r>
              <a:rPr lang="en-US" sz="2000" b="1">
                <a:latin typeface="Courier New" panose="02070309020205020404" pitchFamily="49" charset="0"/>
              </a:rPr>
              <a:t>LIST</a:t>
            </a:r>
            <a:r>
              <a:rPr lang="en-US" sz="2400"/>
              <a:t> </a:t>
            </a:r>
            <a:r>
              <a:rPr lang="en-US" sz="2000"/>
              <a:t>return list of file in current directory</a:t>
            </a:r>
            <a:endParaRPr lang="en-US" sz="2400"/>
          </a:p>
          <a:p>
            <a:r>
              <a:rPr lang="en-US" sz="2000" b="1">
                <a:latin typeface="Courier New" panose="02070309020205020404" pitchFamily="49" charset="0"/>
              </a:rPr>
              <a:t>RETR filename</a:t>
            </a:r>
            <a:r>
              <a:rPr lang="en-US" sz="2400"/>
              <a:t> </a:t>
            </a:r>
            <a:r>
              <a:rPr lang="en-US" sz="2000"/>
              <a:t>retrieves (gets) file</a:t>
            </a:r>
            <a:endParaRPr lang="en-US" sz="2400"/>
          </a:p>
          <a:p>
            <a:r>
              <a:rPr lang="en-US" sz="2000" b="1">
                <a:latin typeface="Courier New" panose="02070309020205020404" pitchFamily="49" charset="0"/>
              </a:rPr>
              <a:t>STOR filename</a:t>
            </a:r>
            <a:r>
              <a:rPr lang="en-US" sz="2400"/>
              <a:t> </a:t>
            </a:r>
            <a:r>
              <a:rPr lang="en-US" sz="2000"/>
              <a:t>stores (puts) file onto remote host</a:t>
            </a:r>
            <a:endParaRPr lang="en-US" sz="2000"/>
          </a:p>
        </p:txBody>
      </p:sp>
      <p:sp>
        <p:nvSpPr>
          <p:cNvPr id="69638" name="Rectangle 4"/>
          <p:cNvSpPr>
            <a:spLocks noGrp="1" noChangeArrowheads="1"/>
          </p:cNvSpPr>
          <p:nvPr>
            <p:ph type="body" sz="half" idx="2"/>
          </p:nvPr>
        </p:nvSpPr>
        <p:spPr/>
        <p:txBody>
          <a:bodyPr/>
          <a:lstStyle/>
          <a:p>
            <a:pPr>
              <a:buFont typeface="ZapfDingbats" pitchFamily="82" charset="2"/>
              <a:buNone/>
            </a:pPr>
            <a:r>
              <a:rPr lang="en-US" sz="2400" u="sng">
                <a:solidFill>
                  <a:srgbClr val="FF0000"/>
                </a:solidFill>
              </a:rPr>
              <a:t>Sample return codes</a:t>
            </a:r>
            <a:endParaRPr lang="en-US" sz="2400"/>
          </a:p>
          <a:p>
            <a:r>
              <a:rPr lang="en-US" sz="2000"/>
              <a:t>status code and phrase (as in HTTP)</a:t>
            </a:r>
            <a:endParaRPr lang="en-US" sz="2400"/>
          </a:p>
          <a:p>
            <a:r>
              <a:rPr lang="en-US" sz="2000" b="1">
                <a:latin typeface="Courier New" panose="02070309020205020404" pitchFamily="49" charset="0"/>
              </a:rPr>
              <a:t>331 Username OK, password required</a:t>
            </a:r>
            <a:endParaRPr lang="en-US" sz="2000" b="1">
              <a:latin typeface="Courier New" panose="02070309020205020404" pitchFamily="49" charset="0"/>
            </a:endParaRPr>
          </a:p>
          <a:p>
            <a:r>
              <a:rPr lang="en-US" sz="2000" b="1">
                <a:latin typeface="Courier New" panose="02070309020205020404" pitchFamily="49" charset="0"/>
              </a:rPr>
              <a:t>125 data connection already open; transfer starting</a:t>
            </a:r>
            <a:endParaRPr lang="en-US" sz="2000" b="1">
              <a:latin typeface="Courier New" panose="02070309020205020404" pitchFamily="49" charset="0"/>
            </a:endParaRPr>
          </a:p>
          <a:p>
            <a:r>
              <a:rPr lang="en-US" sz="2000" b="1">
                <a:latin typeface="Courier New" panose="02070309020205020404" pitchFamily="49" charset="0"/>
              </a:rPr>
              <a:t>425 Can’t open data connection</a:t>
            </a:r>
            <a:endParaRPr lang="en-US" sz="2000" b="1">
              <a:latin typeface="Courier New" panose="02070309020205020404" pitchFamily="49" charset="0"/>
            </a:endParaRPr>
          </a:p>
          <a:p>
            <a:r>
              <a:rPr lang="en-US" sz="2000" b="1">
                <a:latin typeface="Courier New" panose="02070309020205020404" pitchFamily="49" charset="0"/>
              </a:rPr>
              <a:t>452 Error writing file</a:t>
            </a:r>
            <a:endParaRPr lang="en-US"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4819" name="Slide Number Placeholder 6"/>
          <p:cNvSpPr>
            <a:spLocks noGrp="1"/>
          </p:cNvSpPr>
          <p:nvPr>
            <p:ph type="sldNum" sz="quarter" idx="12"/>
          </p:nvPr>
        </p:nvSpPr>
        <p:spPr>
          <a:noFill/>
        </p:spPr>
        <p:txBody>
          <a:bodyPr/>
          <a:lstStyle/>
          <a:p>
            <a:fld id="{09FB5B14-3207-4596-9B15-A315FEC6D487}" type="slidenum">
              <a:rPr lang="en-US"/>
            </a:fld>
            <a:endParaRPr lang="en-US"/>
          </a:p>
        </p:txBody>
      </p:sp>
      <p:sp>
        <p:nvSpPr>
          <p:cNvPr id="34820" name="Rectangle 2"/>
          <p:cNvSpPr>
            <a:spLocks noGrp="1" noChangeArrowheads="1"/>
          </p:cNvSpPr>
          <p:nvPr>
            <p:ph type="title"/>
          </p:nvPr>
        </p:nvSpPr>
        <p:spPr/>
        <p:txBody>
          <a:bodyPr/>
          <a:lstStyle/>
          <a:p>
            <a:r>
              <a:rPr lang="en-US" dirty="0"/>
              <a:t>Chapter 2: Application layer</a:t>
            </a:r>
            <a:endParaRPr lang="en-US" dirty="0"/>
          </a:p>
        </p:txBody>
      </p:sp>
      <p:sp>
        <p:nvSpPr>
          <p:cNvPr id="34821" name="Rectangle 3"/>
          <p:cNvSpPr>
            <a:spLocks noGrp="1" noChangeArrowheads="1"/>
          </p:cNvSpPr>
          <p:nvPr>
            <p:ph type="body" sz="half" idx="1"/>
          </p:nvPr>
        </p:nvSpPr>
        <p:spPr/>
        <p:txBody>
          <a:bodyPr/>
          <a:lstStyle/>
          <a:p>
            <a:r>
              <a:rPr lang="en-US" sz="2400" dirty="0"/>
              <a:t>2.1 Principles of network applications</a:t>
            </a:r>
            <a:endParaRPr lang="en-US" sz="2400" dirty="0"/>
          </a:p>
          <a:p>
            <a:r>
              <a:rPr lang="en-US" sz="2400" dirty="0"/>
              <a:t>2.2 Web and HTTP</a:t>
            </a:r>
            <a:endParaRPr lang="en-US" sz="2400" dirty="0"/>
          </a:p>
          <a:p>
            <a:r>
              <a:rPr lang="en-US" sz="2400" dirty="0"/>
              <a:t>2.3 FTP </a:t>
            </a:r>
            <a:endParaRPr lang="en-US" sz="2400" dirty="0">
              <a:solidFill>
                <a:srgbClr val="FF0000"/>
              </a:solidFill>
            </a:endParaRPr>
          </a:p>
          <a:p>
            <a:r>
              <a:rPr lang="en-US" sz="2400" dirty="0">
                <a:solidFill>
                  <a:srgbClr val="FF0000"/>
                </a:solidFill>
              </a:rPr>
              <a:t>2.4 Electronic Mail</a:t>
            </a:r>
            <a:endParaRPr lang="en-US" sz="2400" dirty="0">
              <a:solidFill>
                <a:srgbClr val="FF0000"/>
              </a:solidFill>
            </a:endParaRPr>
          </a:p>
          <a:p>
            <a:pPr lvl="1"/>
            <a:r>
              <a:rPr lang="en-US" sz="2000" dirty="0">
                <a:solidFill>
                  <a:srgbClr val="FF0000"/>
                </a:solidFill>
              </a:rPr>
              <a:t>SMTP, POP3, IMAP</a:t>
            </a:r>
            <a:endParaRPr lang="en-US" sz="2000" dirty="0">
              <a:solidFill>
                <a:srgbClr val="FF0000"/>
              </a:solidFill>
            </a:endParaRPr>
          </a:p>
          <a:p>
            <a:r>
              <a:rPr lang="en-US" sz="2400" dirty="0"/>
              <a:t>2.5 DNS</a:t>
            </a:r>
            <a:endParaRPr lang="en-US" sz="2400" dirty="0"/>
          </a:p>
          <a:p>
            <a:endParaRPr lang="en-US" sz="2400" dirty="0"/>
          </a:p>
        </p:txBody>
      </p:sp>
      <p:sp>
        <p:nvSpPr>
          <p:cNvPr id="34822" name="Rectangle 4"/>
          <p:cNvSpPr>
            <a:spLocks noGrp="1" noChangeArrowheads="1"/>
          </p:cNvSpPr>
          <p:nvPr>
            <p:ph type="body" sz="half" idx="2"/>
          </p:nvPr>
        </p:nvSpPr>
        <p:spPr>
          <a:xfrm>
            <a:off x="4495800" y="1600200"/>
            <a:ext cx="4054475" cy="4648200"/>
          </a:xfrm>
        </p:spPr>
        <p:txBody>
          <a:bodyPr/>
          <a:lstStyle/>
          <a:p>
            <a:r>
              <a:rPr lang="en-US" sz="2400" dirty="0"/>
              <a:t>2.6 P2P applications</a:t>
            </a:r>
            <a:endParaRPr lang="en-US" sz="2400" dirty="0"/>
          </a:p>
          <a:p>
            <a:r>
              <a:rPr lang="en-US" sz="2400" dirty="0"/>
              <a:t>2.7 Socket programming with UDP</a:t>
            </a:r>
            <a:endParaRPr lang="en-US" sz="2400" dirty="0"/>
          </a:p>
          <a:p>
            <a:r>
              <a:rPr lang="en-US" sz="2400" dirty="0"/>
              <a:t>2.8 Socket programming with TCP</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0"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3321" name="Slide Number Placeholder 6"/>
          <p:cNvSpPr>
            <a:spLocks noGrp="1"/>
          </p:cNvSpPr>
          <p:nvPr>
            <p:ph type="sldNum" sz="quarter" idx="12"/>
          </p:nvPr>
        </p:nvSpPr>
        <p:spPr>
          <a:noFill/>
        </p:spPr>
        <p:txBody>
          <a:bodyPr/>
          <a:lstStyle/>
          <a:p>
            <a:fld id="{6A2ECF16-9E31-4CFA-B50B-558BAEEB3497}" type="slidenum">
              <a:rPr lang="en-US"/>
            </a:fld>
            <a:endParaRPr lang="en-US"/>
          </a:p>
        </p:txBody>
      </p:sp>
      <p:sp>
        <p:nvSpPr>
          <p:cNvPr id="13322" name="Rectangle 2"/>
          <p:cNvSpPr>
            <a:spLocks noGrp="1" noChangeArrowheads="1"/>
          </p:cNvSpPr>
          <p:nvPr>
            <p:ph type="title"/>
          </p:nvPr>
        </p:nvSpPr>
        <p:spPr/>
        <p:txBody>
          <a:bodyPr/>
          <a:lstStyle/>
          <a:p>
            <a:r>
              <a:rPr lang="en-US" sz="3600"/>
              <a:t>Electronic Mail</a:t>
            </a:r>
            <a:endParaRPr lang="en-US"/>
          </a:p>
        </p:txBody>
      </p:sp>
      <p:sp>
        <p:nvSpPr>
          <p:cNvPr id="13323" name="Rectangle 3"/>
          <p:cNvSpPr>
            <a:spLocks noGrp="1" noChangeArrowheads="1"/>
          </p:cNvSpPr>
          <p:nvPr>
            <p:ph type="body" sz="half" idx="1"/>
          </p:nvPr>
        </p:nvSpPr>
        <p:spPr>
          <a:xfrm>
            <a:off x="533400" y="1600200"/>
            <a:ext cx="3933825" cy="4648200"/>
          </a:xfrm>
        </p:spPr>
        <p:txBody>
          <a:bodyPr/>
          <a:lstStyle/>
          <a:p>
            <a:pPr>
              <a:buFont typeface="ZapfDingbats" pitchFamily="82" charset="2"/>
              <a:buNone/>
            </a:pPr>
            <a:r>
              <a:rPr lang="en-US" sz="2400">
                <a:solidFill>
                  <a:srgbClr val="FF0000"/>
                </a:solidFill>
              </a:rPr>
              <a:t>Three major components:</a:t>
            </a:r>
            <a:r>
              <a:rPr lang="en-US" sz="2400"/>
              <a:t> </a:t>
            </a:r>
            <a:endParaRPr lang="en-US" sz="2400"/>
          </a:p>
          <a:p>
            <a:r>
              <a:rPr lang="en-US" sz="2000"/>
              <a:t>user agents </a:t>
            </a:r>
            <a:endParaRPr lang="en-US" sz="2000"/>
          </a:p>
          <a:p>
            <a:r>
              <a:rPr lang="en-US" sz="2000"/>
              <a:t>mail servers </a:t>
            </a:r>
            <a:endParaRPr lang="en-US" sz="2000"/>
          </a:p>
          <a:p>
            <a:pPr>
              <a:spcAft>
                <a:spcPct val="75000"/>
              </a:spcAft>
            </a:pPr>
            <a:r>
              <a:rPr lang="en-US" sz="2000"/>
              <a:t>simple mail transfer protocol: SMTP</a:t>
            </a:r>
            <a:endParaRPr lang="en-US" sz="2000"/>
          </a:p>
          <a:p>
            <a:pPr>
              <a:buFont typeface="ZapfDingbats" pitchFamily="82" charset="2"/>
              <a:buNone/>
            </a:pPr>
            <a:r>
              <a:rPr lang="en-US" sz="2000" u="sng">
                <a:solidFill>
                  <a:srgbClr val="FF0000"/>
                </a:solidFill>
              </a:rPr>
              <a:t>User Agent</a:t>
            </a:r>
            <a:endParaRPr lang="en-US" sz="2000" u="sng">
              <a:solidFill>
                <a:srgbClr val="FF0000"/>
              </a:solidFill>
            </a:endParaRPr>
          </a:p>
          <a:p>
            <a:r>
              <a:rPr lang="en-US" sz="2000"/>
              <a:t>a.k.a. “mail reader”</a:t>
            </a:r>
            <a:endParaRPr lang="en-US" sz="2000"/>
          </a:p>
          <a:p>
            <a:r>
              <a:rPr lang="en-US" sz="2000"/>
              <a:t>composing, editing, reading mail messages</a:t>
            </a:r>
            <a:endParaRPr lang="en-US" sz="2000"/>
          </a:p>
          <a:p>
            <a:r>
              <a:rPr lang="en-US" sz="2000"/>
              <a:t>e.g., Eudora, Outlook, elm, Mozilla Thunderbird</a:t>
            </a:r>
            <a:endParaRPr lang="en-US" sz="2000"/>
          </a:p>
          <a:p>
            <a:r>
              <a:rPr lang="en-US" sz="2000"/>
              <a:t>outgoing, incoming messages stored on server</a:t>
            </a:r>
            <a:endParaRPr lang="en-US" sz="2000"/>
          </a:p>
        </p:txBody>
      </p:sp>
      <p:sp>
        <p:nvSpPr>
          <p:cNvPr id="13324" name="Rectangle 280"/>
          <p:cNvSpPr>
            <a:spLocks noChangeArrowheads="1"/>
          </p:cNvSpPr>
          <p:nvPr/>
        </p:nvSpPr>
        <p:spPr bwMode="auto">
          <a:xfrm>
            <a:off x="6877050" y="600075"/>
            <a:ext cx="1828800" cy="981075"/>
          </a:xfrm>
          <a:prstGeom prst="rect">
            <a:avLst/>
          </a:prstGeom>
          <a:noFill/>
          <a:ln w="9525">
            <a:solidFill>
              <a:srgbClr val="000000"/>
            </a:solidFill>
            <a:miter lim="800000"/>
          </a:ln>
        </p:spPr>
        <p:txBody>
          <a:bodyPr wrap="none" anchor="ctr"/>
          <a:lstStyle/>
          <a:p>
            <a:endParaRPr lang="en-US"/>
          </a:p>
        </p:txBody>
      </p:sp>
      <p:grpSp>
        <p:nvGrpSpPr>
          <p:cNvPr id="13325" name="Group 279"/>
          <p:cNvGrpSpPr/>
          <p:nvPr/>
        </p:nvGrpSpPr>
        <p:grpSpPr bwMode="auto">
          <a:xfrm>
            <a:off x="6953250" y="569913"/>
            <a:ext cx="1736725" cy="955675"/>
            <a:chOff x="4458" y="3335"/>
            <a:chExt cx="1094" cy="602"/>
          </a:xfrm>
        </p:grpSpPr>
        <p:sp>
          <p:nvSpPr>
            <p:cNvPr id="13439" name="Text Box 263"/>
            <p:cNvSpPr txBox="1">
              <a:spLocks noChangeArrowheads="1"/>
            </p:cNvSpPr>
            <p:nvPr/>
          </p:nvSpPr>
          <p:spPr bwMode="auto">
            <a:xfrm>
              <a:off x="4666" y="3725"/>
              <a:ext cx="870" cy="212"/>
            </a:xfrm>
            <a:prstGeom prst="rect">
              <a:avLst/>
            </a:prstGeom>
            <a:noFill/>
            <a:ln w="9525">
              <a:noFill/>
              <a:miter lim="800000"/>
            </a:ln>
          </p:spPr>
          <p:txBody>
            <a:bodyPr wrap="none">
              <a:spAutoFit/>
            </a:bodyPr>
            <a:lstStyle/>
            <a:p>
              <a:pPr algn="ctr">
                <a:spcBef>
                  <a:spcPct val="0"/>
                </a:spcBef>
                <a:buClrTx/>
                <a:buSzTx/>
                <a:buFontTx/>
                <a:buNone/>
              </a:pPr>
              <a:r>
                <a:rPr lang="en-US" sz="1600"/>
                <a:t>user mailbox</a:t>
              </a:r>
              <a:endParaRPr lang="en-US">
                <a:latin typeface="Times New Roman" panose="02020603050405020304" pitchFamily="18" charset="0"/>
              </a:endParaRPr>
            </a:p>
          </p:txBody>
        </p:sp>
        <p:grpSp>
          <p:nvGrpSpPr>
            <p:cNvPr id="13440" name="Group 278"/>
            <p:cNvGrpSpPr/>
            <p:nvPr/>
          </p:nvGrpSpPr>
          <p:grpSpPr bwMode="auto">
            <a:xfrm>
              <a:off x="4458" y="3408"/>
              <a:ext cx="450" cy="120"/>
              <a:chOff x="4314" y="3444"/>
              <a:chExt cx="450" cy="120"/>
            </a:xfrm>
          </p:grpSpPr>
          <p:sp>
            <p:nvSpPr>
              <p:cNvPr id="13443" name="Rectangle 264"/>
              <p:cNvSpPr>
                <a:spLocks noChangeArrowheads="1"/>
              </p:cNvSpPr>
              <p:nvPr/>
            </p:nvSpPr>
            <p:spPr bwMode="auto">
              <a:xfrm>
                <a:off x="4314" y="3444"/>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3444" name="Line 265"/>
              <p:cNvSpPr>
                <a:spLocks noChangeShapeType="1"/>
              </p:cNvSpPr>
              <p:nvPr/>
            </p:nvSpPr>
            <p:spPr bwMode="auto">
              <a:xfrm>
                <a:off x="4363" y="3472"/>
                <a:ext cx="0" cy="72"/>
              </a:xfrm>
              <a:prstGeom prst="line">
                <a:avLst/>
              </a:prstGeom>
              <a:noFill/>
              <a:ln w="19050">
                <a:solidFill>
                  <a:schemeClr val="tx1"/>
                </a:solidFill>
                <a:round/>
              </a:ln>
            </p:spPr>
            <p:txBody>
              <a:bodyPr wrap="none" anchor="ctr"/>
              <a:lstStyle/>
              <a:p>
                <a:endParaRPr lang="en-US"/>
              </a:p>
            </p:txBody>
          </p:sp>
          <p:sp>
            <p:nvSpPr>
              <p:cNvPr id="13445" name="Line 266"/>
              <p:cNvSpPr>
                <a:spLocks noChangeShapeType="1"/>
              </p:cNvSpPr>
              <p:nvPr/>
            </p:nvSpPr>
            <p:spPr bwMode="auto">
              <a:xfrm flipH="1">
                <a:off x="4472" y="3471"/>
                <a:ext cx="6" cy="72"/>
              </a:xfrm>
              <a:prstGeom prst="line">
                <a:avLst/>
              </a:prstGeom>
              <a:noFill/>
              <a:ln w="19050">
                <a:solidFill>
                  <a:schemeClr val="tx1"/>
                </a:solidFill>
                <a:round/>
              </a:ln>
            </p:spPr>
            <p:txBody>
              <a:bodyPr wrap="none" anchor="ctr"/>
              <a:lstStyle/>
              <a:p>
                <a:endParaRPr lang="en-US"/>
              </a:p>
            </p:txBody>
          </p:sp>
          <p:sp>
            <p:nvSpPr>
              <p:cNvPr id="13446" name="Line 267"/>
              <p:cNvSpPr>
                <a:spLocks noChangeShapeType="1"/>
              </p:cNvSpPr>
              <p:nvPr/>
            </p:nvSpPr>
            <p:spPr bwMode="auto">
              <a:xfrm>
                <a:off x="4527" y="3473"/>
                <a:ext cx="0" cy="72"/>
              </a:xfrm>
              <a:prstGeom prst="line">
                <a:avLst/>
              </a:prstGeom>
              <a:noFill/>
              <a:ln w="19050">
                <a:solidFill>
                  <a:schemeClr val="tx1"/>
                </a:solidFill>
                <a:round/>
              </a:ln>
            </p:spPr>
            <p:txBody>
              <a:bodyPr wrap="none" anchor="ctr"/>
              <a:lstStyle/>
              <a:p>
                <a:endParaRPr lang="en-US"/>
              </a:p>
            </p:txBody>
          </p:sp>
          <p:sp>
            <p:nvSpPr>
              <p:cNvPr id="13447" name="Line 268"/>
              <p:cNvSpPr>
                <a:spLocks noChangeShapeType="1"/>
              </p:cNvSpPr>
              <p:nvPr/>
            </p:nvSpPr>
            <p:spPr bwMode="auto">
              <a:xfrm>
                <a:off x="4584" y="3471"/>
                <a:ext cx="0" cy="72"/>
              </a:xfrm>
              <a:prstGeom prst="line">
                <a:avLst/>
              </a:prstGeom>
              <a:noFill/>
              <a:ln w="19050">
                <a:solidFill>
                  <a:schemeClr val="tx1"/>
                </a:solidFill>
                <a:round/>
              </a:ln>
            </p:spPr>
            <p:txBody>
              <a:bodyPr wrap="none" anchor="ctr"/>
              <a:lstStyle/>
              <a:p>
                <a:endParaRPr lang="en-US"/>
              </a:p>
            </p:txBody>
          </p:sp>
          <p:sp>
            <p:nvSpPr>
              <p:cNvPr id="13448" name="Line 269"/>
              <p:cNvSpPr>
                <a:spLocks noChangeShapeType="1"/>
              </p:cNvSpPr>
              <p:nvPr/>
            </p:nvSpPr>
            <p:spPr bwMode="auto">
              <a:xfrm>
                <a:off x="4645" y="3471"/>
                <a:ext cx="0" cy="72"/>
              </a:xfrm>
              <a:prstGeom prst="line">
                <a:avLst/>
              </a:prstGeom>
              <a:noFill/>
              <a:ln w="19050">
                <a:solidFill>
                  <a:schemeClr val="tx1"/>
                </a:solidFill>
                <a:round/>
              </a:ln>
            </p:spPr>
            <p:txBody>
              <a:bodyPr wrap="none" anchor="ctr"/>
              <a:lstStyle/>
              <a:p>
                <a:endParaRPr lang="en-US"/>
              </a:p>
            </p:txBody>
          </p:sp>
          <p:sp>
            <p:nvSpPr>
              <p:cNvPr id="13449" name="Line 270"/>
              <p:cNvSpPr>
                <a:spLocks noChangeShapeType="1"/>
              </p:cNvSpPr>
              <p:nvPr/>
            </p:nvSpPr>
            <p:spPr bwMode="auto">
              <a:xfrm>
                <a:off x="4701" y="3471"/>
                <a:ext cx="0" cy="72"/>
              </a:xfrm>
              <a:prstGeom prst="line">
                <a:avLst/>
              </a:prstGeom>
              <a:noFill/>
              <a:ln w="19050">
                <a:solidFill>
                  <a:schemeClr val="tx1"/>
                </a:solidFill>
                <a:round/>
              </a:ln>
            </p:spPr>
            <p:txBody>
              <a:bodyPr wrap="none" anchor="ctr"/>
              <a:lstStyle/>
              <a:p>
                <a:endParaRPr lang="en-US"/>
              </a:p>
            </p:txBody>
          </p:sp>
          <p:sp>
            <p:nvSpPr>
              <p:cNvPr id="13450" name="Line 271"/>
              <p:cNvSpPr>
                <a:spLocks noChangeShapeType="1"/>
              </p:cNvSpPr>
              <p:nvPr/>
            </p:nvSpPr>
            <p:spPr bwMode="auto">
              <a:xfrm>
                <a:off x="4416" y="3472"/>
                <a:ext cx="0" cy="72"/>
              </a:xfrm>
              <a:prstGeom prst="line">
                <a:avLst/>
              </a:prstGeom>
              <a:noFill/>
              <a:ln w="19050">
                <a:solidFill>
                  <a:schemeClr val="tx1"/>
                </a:solidFill>
                <a:round/>
              </a:ln>
            </p:spPr>
            <p:txBody>
              <a:bodyPr wrap="none" anchor="ctr"/>
              <a:lstStyle/>
              <a:p>
                <a:endParaRPr lang="en-US"/>
              </a:p>
            </p:txBody>
          </p:sp>
        </p:grpSp>
        <p:sp>
          <p:nvSpPr>
            <p:cNvPr id="13441" name="Rectangle 272"/>
            <p:cNvSpPr>
              <a:spLocks noChangeArrowheads="1"/>
            </p:cNvSpPr>
            <p:nvPr/>
          </p:nvSpPr>
          <p:spPr bwMode="auto">
            <a:xfrm>
              <a:off x="4472" y="3779"/>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442" name="Text Box 277"/>
            <p:cNvSpPr txBox="1">
              <a:spLocks noChangeArrowheads="1"/>
            </p:cNvSpPr>
            <p:nvPr/>
          </p:nvSpPr>
          <p:spPr bwMode="auto">
            <a:xfrm>
              <a:off x="4560" y="3335"/>
              <a:ext cx="992" cy="366"/>
            </a:xfrm>
            <a:prstGeom prst="rect">
              <a:avLst/>
            </a:prstGeom>
            <a:noFill/>
            <a:ln w="9525">
              <a:noFill/>
              <a:miter lim="800000"/>
            </a:ln>
          </p:spPr>
          <p:txBody>
            <a:bodyPr wrap="none">
              <a:spAutoFit/>
            </a:bodyPr>
            <a:lstStyle/>
            <a:p>
              <a:pPr algn="r">
                <a:spcBef>
                  <a:spcPct val="0"/>
                </a:spcBef>
                <a:buClrTx/>
                <a:buSzTx/>
                <a:buFontTx/>
                <a:buNone/>
              </a:pPr>
              <a:r>
                <a:rPr lang="en-US" sz="1600"/>
                <a:t>outgoing </a:t>
              </a:r>
              <a:endParaRPr lang="en-US" sz="1600"/>
            </a:p>
            <a:p>
              <a:pPr algn="r">
                <a:spcBef>
                  <a:spcPct val="0"/>
                </a:spcBef>
                <a:buClrTx/>
                <a:buSzTx/>
                <a:buFontTx/>
                <a:buNone/>
              </a:pPr>
              <a:r>
                <a:rPr lang="en-US" sz="1600"/>
                <a:t>message queue</a:t>
              </a:r>
              <a:endParaRPr lang="en-US">
                <a:latin typeface="Times New Roman" panose="02020603050405020304" pitchFamily="18" charset="0"/>
              </a:endParaRPr>
            </a:p>
          </p:txBody>
        </p:sp>
      </p:grpSp>
      <p:sp>
        <p:nvSpPr>
          <p:cNvPr id="13326" name="Line 417"/>
          <p:cNvSpPr>
            <a:spLocks noChangeShapeType="1"/>
          </p:cNvSpPr>
          <p:nvPr/>
        </p:nvSpPr>
        <p:spPr bwMode="auto">
          <a:xfrm>
            <a:off x="5724525" y="2552700"/>
            <a:ext cx="1123950" cy="790575"/>
          </a:xfrm>
          <a:prstGeom prst="line">
            <a:avLst/>
          </a:prstGeom>
          <a:noFill/>
          <a:ln w="28575">
            <a:solidFill>
              <a:srgbClr val="FF0000"/>
            </a:solidFill>
            <a:round/>
            <a:headEnd type="triangle" w="med" len="med"/>
            <a:tailEnd type="triangle" w="med" len="med"/>
          </a:ln>
        </p:spPr>
        <p:txBody>
          <a:bodyPr wrap="none" anchor="ctr"/>
          <a:lstStyle/>
          <a:p>
            <a:endParaRPr lang="en-US"/>
          </a:p>
        </p:txBody>
      </p:sp>
      <p:grpSp>
        <p:nvGrpSpPr>
          <p:cNvPr id="13327" name="Group 418"/>
          <p:cNvGrpSpPr/>
          <p:nvPr/>
        </p:nvGrpSpPr>
        <p:grpSpPr bwMode="auto">
          <a:xfrm>
            <a:off x="7116763" y="2479675"/>
            <a:ext cx="355600" cy="933450"/>
            <a:chOff x="4180" y="783"/>
            <a:chExt cx="150" cy="307"/>
          </a:xfrm>
        </p:grpSpPr>
        <p:sp>
          <p:nvSpPr>
            <p:cNvPr id="13431" name="AutoShape 419"/>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3432" name="Rectangle 420"/>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3433" name="Rectangle 421"/>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3434" name="AutoShape 42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3435" name="Line 423"/>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3436" name="Line 424"/>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3437" name="Rectangle 425"/>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3438" name="Rectangle 426"/>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3328" name="Group 427"/>
          <p:cNvGrpSpPr/>
          <p:nvPr/>
        </p:nvGrpSpPr>
        <p:grpSpPr bwMode="auto">
          <a:xfrm>
            <a:off x="6873875" y="2932113"/>
            <a:ext cx="822325" cy="1049337"/>
            <a:chOff x="4288" y="2627"/>
            <a:chExt cx="518" cy="661"/>
          </a:xfrm>
        </p:grpSpPr>
        <p:sp>
          <p:nvSpPr>
            <p:cNvPr id="13416" name="Rectangle 428"/>
            <p:cNvSpPr>
              <a:spLocks noChangeArrowheads="1"/>
            </p:cNvSpPr>
            <p:nvPr/>
          </p:nvSpPr>
          <p:spPr bwMode="auto">
            <a:xfrm>
              <a:off x="4296" y="2652"/>
              <a:ext cx="510" cy="636"/>
            </a:xfrm>
            <a:prstGeom prst="rect">
              <a:avLst/>
            </a:prstGeom>
            <a:solidFill>
              <a:schemeClr val="hlink"/>
            </a:solidFill>
            <a:ln w="19050">
              <a:solidFill>
                <a:schemeClr val="tx1"/>
              </a:solidFill>
              <a:miter lim="800000"/>
            </a:ln>
          </p:spPr>
          <p:txBody>
            <a:bodyPr wrap="none" anchor="ctr"/>
            <a:lstStyle/>
            <a:p>
              <a:endParaRPr lang="en-US"/>
            </a:p>
          </p:txBody>
        </p:sp>
        <p:sp>
          <p:nvSpPr>
            <p:cNvPr id="13417" name="Text Box 429"/>
            <p:cNvSpPr txBox="1">
              <a:spLocks noChangeArrowheads="1"/>
            </p:cNvSpPr>
            <p:nvPr/>
          </p:nvSpPr>
          <p:spPr bwMode="auto">
            <a:xfrm>
              <a:off x="4288" y="2627"/>
              <a:ext cx="504" cy="366"/>
            </a:xfrm>
            <a:prstGeom prst="rect">
              <a:avLst/>
            </a:prstGeom>
            <a:noFill/>
            <a:ln w="9525">
              <a:noFill/>
              <a:miter lim="800000"/>
            </a:ln>
          </p:spPr>
          <p:txBody>
            <a:bodyPr wrap="none">
              <a:spAutoFit/>
            </a:bodyPr>
            <a:lstStyle/>
            <a:p>
              <a:pPr algn="ctr">
                <a:spcBef>
                  <a:spcPct val="0"/>
                </a:spcBef>
                <a:buClrTx/>
                <a:buSzTx/>
                <a:buFontTx/>
                <a:buNone/>
              </a:pPr>
              <a:r>
                <a:rPr lang="en-US" sz="1600"/>
                <a:t>mail</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13418" name="Rectangle 430"/>
            <p:cNvSpPr>
              <a:spLocks noChangeArrowheads="1"/>
            </p:cNvSpPr>
            <p:nvPr/>
          </p:nvSpPr>
          <p:spPr bwMode="auto">
            <a:xfrm>
              <a:off x="4320" y="300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3419" name="Line 431"/>
            <p:cNvSpPr>
              <a:spLocks noChangeShapeType="1"/>
            </p:cNvSpPr>
            <p:nvPr/>
          </p:nvSpPr>
          <p:spPr bwMode="auto">
            <a:xfrm>
              <a:off x="4369" y="3034"/>
              <a:ext cx="0" cy="72"/>
            </a:xfrm>
            <a:prstGeom prst="line">
              <a:avLst/>
            </a:prstGeom>
            <a:noFill/>
            <a:ln w="19050">
              <a:solidFill>
                <a:schemeClr val="tx1"/>
              </a:solidFill>
              <a:round/>
            </a:ln>
          </p:spPr>
          <p:txBody>
            <a:bodyPr wrap="none" anchor="ctr"/>
            <a:lstStyle/>
            <a:p>
              <a:endParaRPr lang="en-US"/>
            </a:p>
          </p:txBody>
        </p:sp>
        <p:sp>
          <p:nvSpPr>
            <p:cNvPr id="13420" name="Line 432"/>
            <p:cNvSpPr>
              <a:spLocks noChangeShapeType="1"/>
            </p:cNvSpPr>
            <p:nvPr/>
          </p:nvSpPr>
          <p:spPr bwMode="auto">
            <a:xfrm>
              <a:off x="4478" y="3033"/>
              <a:ext cx="0" cy="72"/>
            </a:xfrm>
            <a:prstGeom prst="line">
              <a:avLst/>
            </a:prstGeom>
            <a:noFill/>
            <a:ln w="19050">
              <a:solidFill>
                <a:schemeClr val="tx1"/>
              </a:solidFill>
              <a:round/>
            </a:ln>
          </p:spPr>
          <p:txBody>
            <a:bodyPr wrap="none" anchor="ctr"/>
            <a:lstStyle/>
            <a:p>
              <a:endParaRPr lang="en-US"/>
            </a:p>
          </p:txBody>
        </p:sp>
        <p:sp>
          <p:nvSpPr>
            <p:cNvPr id="13421" name="Line 433"/>
            <p:cNvSpPr>
              <a:spLocks noChangeShapeType="1"/>
            </p:cNvSpPr>
            <p:nvPr/>
          </p:nvSpPr>
          <p:spPr bwMode="auto">
            <a:xfrm>
              <a:off x="4533" y="3035"/>
              <a:ext cx="0" cy="72"/>
            </a:xfrm>
            <a:prstGeom prst="line">
              <a:avLst/>
            </a:prstGeom>
            <a:noFill/>
            <a:ln w="19050">
              <a:solidFill>
                <a:schemeClr val="tx1"/>
              </a:solidFill>
              <a:round/>
            </a:ln>
          </p:spPr>
          <p:txBody>
            <a:bodyPr wrap="none" anchor="ctr"/>
            <a:lstStyle/>
            <a:p>
              <a:endParaRPr lang="en-US"/>
            </a:p>
          </p:txBody>
        </p:sp>
        <p:sp>
          <p:nvSpPr>
            <p:cNvPr id="13422" name="Line 434"/>
            <p:cNvSpPr>
              <a:spLocks noChangeShapeType="1"/>
            </p:cNvSpPr>
            <p:nvPr/>
          </p:nvSpPr>
          <p:spPr bwMode="auto">
            <a:xfrm>
              <a:off x="4590" y="3033"/>
              <a:ext cx="0" cy="72"/>
            </a:xfrm>
            <a:prstGeom prst="line">
              <a:avLst/>
            </a:prstGeom>
            <a:noFill/>
            <a:ln w="19050">
              <a:solidFill>
                <a:schemeClr val="tx1"/>
              </a:solidFill>
              <a:round/>
            </a:ln>
          </p:spPr>
          <p:txBody>
            <a:bodyPr wrap="none" anchor="ctr"/>
            <a:lstStyle/>
            <a:p>
              <a:endParaRPr lang="en-US"/>
            </a:p>
          </p:txBody>
        </p:sp>
        <p:sp>
          <p:nvSpPr>
            <p:cNvPr id="13423" name="Line 435"/>
            <p:cNvSpPr>
              <a:spLocks noChangeShapeType="1"/>
            </p:cNvSpPr>
            <p:nvPr/>
          </p:nvSpPr>
          <p:spPr bwMode="auto">
            <a:xfrm>
              <a:off x="4651" y="3033"/>
              <a:ext cx="0" cy="72"/>
            </a:xfrm>
            <a:prstGeom prst="line">
              <a:avLst/>
            </a:prstGeom>
            <a:noFill/>
            <a:ln w="19050">
              <a:solidFill>
                <a:schemeClr val="tx1"/>
              </a:solidFill>
              <a:round/>
            </a:ln>
          </p:spPr>
          <p:txBody>
            <a:bodyPr wrap="none" anchor="ctr"/>
            <a:lstStyle/>
            <a:p>
              <a:endParaRPr lang="en-US"/>
            </a:p>
          </p:txBody>
        </p:sp>
        <p:sp>
          <p:nvSpPr>
            <p:cNvPr id="13424" name="Line 436"/>
            <p:cNvSpPr>
              <a:spLocks noChangeShapeType="1"/>
            </p:cNvSpPr>
            <p:nvPr/>
          </p:nvSpPr>
          <p:spPr bwMode="auto">
            <a:xfrm>
              <a:off x="4707" y="3033"/>
              <a:ext cx="0" cy="72"/>
            </a:xfrm>
            <a:prstGeom prst="line">
              <a:avLst/>
            </a:prstGeom>
            <a:noFill/>
            <a:ln w="19050">
              <a:solidFill>
                <a:schemeClr val="tx1"/>
              </a:solidFill>
              <a:round/>
            </a:ln>
          </p:spPr>
          <p:txBody>
            <a:bodyPr wrap="none" anchor="ctr"/>
            <a:lstStyle/>
            <a:p>
              <a:endParaRPr lang="en-US"/>
            </a:p>
          </p:txBody>
        </p:sp>
        <p:sp>
          <p:nvSpPr>
            <p:cNvPr id="13425" name="Line 437"/>
            <p:cNvSpPr>
              <a:spLocks noChangeShapeType="1"/>
            </p:cNvSpPr>
            <p:nvPr/>
          </p:nvSpPr>
          <p:spPr bwMode="auto">
            <a:xfrm>
              <a:off x="4422" y="3034"/>
              <a:ext cx="0" cy="72"/>
            </a:xfrm>
            <a:prstGeom prst="line">
              <a:avLst/>
            </a:prstGeom>
            <a:noFill/>
            <a:ln w="19050">
              <a:solidFill>
                <a:schemeClr val="tx1"/>
              </a:solidFill>
              <a:round/>
            </a:ln>
          </p:spPr>
          <p:txBody>
            <a:bodyPr wrap="none" anchor="ctr"/>
            <a:lstStyle/>
            <a:p>
              <a:endParaRPr lang="en-US"/>
            </a:p>
          </p:txBody>
        </p:sp>
        <p:sp>
          <p:nvSpPr>
            <p:cNvPr id="13426" name="Rectangle 438"/>
            <p:cNvSpPr>
              <a:spLocks noChangeArrowheads="1"/>
            </p:cNvSpPr>
            <p:nvPr/>
          </p:nvSpPr>
          <p:spPr bwMode="auto">
            <a:xfrm>
              <a:off x="4328"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427" name="Rectangle 439"/>
            <p:cNvSpPr>
              <a:spLocks noChangeArrowheads="1"/>
            </p:cNvSpPr>
            <p:nvPr/>
          </p:nvSpPr>
          <p:spPr bwMode="auto">
            <a:xfrm>
              <a:off x="4414"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428" name="Rectangle 440"/>
            <p:cNvSpPr>
              <a:spLocks noChangeArrowheads="1"/>
            </p:cNvSpPr>
            <p:nvPr/>
          </p:nvSpPr>
          <p:spPr bwMode="auto">
            <a:xfrm>
              <a:off x="4500" y="317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429" name="Rectangle 441"/>
            <p:cNvSpPr>
              <a:spLocks noChangeArrowheads="1"/>
            </p:cNvSpPr>
            <p:nvPr/>
          </p:nvSpPr>
          <p:spPr bwMode="auto">
            <a:xfrm>
              <a:off x="4597" y="317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430" name="Rectangle 442"/>
            <p:cNvSpPr>
              <a:spLocks noChangeArrowheads="1"/>
            </p:cNvSpPr>
            <p:nvPr/>
          </p:nvSpPr>
          <p:spPr bwMode="auto">
            <a:xfrm>
              <a:off x="4693" y="3170"/>
              <a:ext cx="64" cy="93"/>
            </a:xfrm>
            <a:prstGeom prst="rect">
              <a:avLst/>
            </a:prstGeom>
            <a:solidFill>
              <a:srgbClr val="FFFF00"/>
            </a:solidFill>
            <a:ln w="9525">
              <a:solidFill>
                <a:schemeClr val="tx1"/>
              </a:solidFill>
              <a:miter lim="800000"/>
            </a:ln>
          </p:spPr>
          <p:txBody>
            <a:bodyPr wrap="none" anchor="ctr"/>
            <a:lstStyle/>
            <a:p>
              <a:endParaRPr lang="en-US"/>
            </a:p>
          </p:txBody>
        </p:sp>
      </p:grpSp>
      <p:grpSp>
        <p:nvGrpSpPr>
          <p:cNvPr id="13329" name="Group 443"/>
          <p:cNvGrpSpPr/>
          <p:nvPr/>
        </p:nvGrpSpPr>
        <p:grpSpPr bwMode="auto">
          <a:xfrm>
            <a:off x="7599363" y="2070100"/>
            <a:ext cx="709612" cy="703263"/>
            <a:chOff x="4337" y="290"/>
            <a:chExt cx="447" cy="443"/>
          </a:xfrm>
        </p:grpSpPr>
        <p:graphicFrame>
          <p:nvGraphicFramePr>
            <p:cNvPr id="13319" name="Object 444"/>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3380" name="Clip" r:id="rId1" imgW="18192750" imgH="15087600" progId="">
                    <p:embed/>
                  </p:oleObj>
                </mc:Choice>
                <mc:Fallback>
                  <p:oleObj name="Clip" r:id="rId1" imgW="18192750" imgH="15087600" progId="">
                    <p:embed/>
                    <p:pic>
                      <p:nvPicPr>
                        <p:cNvPr id="0" name="Object 4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413" name="Group 445"/>
            <p:cNvGrpSpPr/>
            <p:nvPr/>
          </p:nvGrpSpPr>
          <p:grpSpPr bwMode="auto">
            <a:xfrm>
              <a:off x="4337" y="367"/>
              <a:ext cx="447" cy="366"/>
              <a:chOff x="4189" y="817"/>
              <a:chExt cx="521" cy="366"/>
            </a:xfrm>
          </p:grpSpPr>
          <p:sp>
            <p:nvSpPr>
              <p:cNvPr id="13414" name="Rectangle 446"/>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3415" name="Text Box 447"/>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3330" name="Group 448"/>
          <p:cNvGrpSpPr/>
          <p:nvPr/>
        </p:nvGrpSpPr>
        <p:grpSpPr bwMode="auto">
          <a:xfrm>
            <a:off x="7827963" y="3079750"/>
            <a:ext cx="709612" cy="703263"/>
            <a:chOff x="4337" y="290"/>
            <a:chExt cx="447" cy="443"/>
          </a:xfrm>
        </p:grpSpPr>
        <p:graphicFrame>
          <p:nvGraphicFramePr>
            <p:cNvPr id="13318" name="Object 449"/>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3381" name="Clip" r:id="rId3" imgW="18192750" imgH="15087600" progId="">
                    <p:embed/>
                  </p:oleObj>
                </mc:Choice>
                <mc:Fallback>
                  <p:oleObj name="Clip" r:id="rId3" imgW="18192750" imgH="15087600" progId="">
                    <p:embed/>
                    <p:pic>
                      <p:nvPicPr>
                        <p:cNvPr id="0" name="Object 4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410" name="Group 450"/>
            <p:cNvGrpSpPr/>
            <p:nvPr/>
          </p:nvGrpSpPr>
          <p:grpSpPr bwMode="auto">
            <a:xfrm>
              <a:off x="4337" y="367"/>
              <a:ext cx="447" cy="366"/>
              <a:chOff x="4189" y="817"/>
              <a:chExt cx="521" cy="366"/>
            </a:xfrm>
          </p:grpSpPr>
          <p:sp>
            <p:nvSpPr>
              <p:cNvPr id="13411" name="Rectangle 451"/>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3412" name="Text Box 452"/>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3331" name="Group 453"/>
          <p:cNvGrpSpPr/>
          <p:nvPr/>
        </p:nvGrpSpPr>
        <p:grpSpPr bwMode="auto">
          <a:xfrm>
            <a:off x="7599363" y="4127500"/>
            <a:ext cx="709612" cy="703263"/>
            <a:chOff x="4337" y="290"/>
            <a:chExt cx="447" cy="443"/>
          </a:xfrm>
        </p:grpSpPr>
        <p:graphicFrame>
          <p:nvGraphicFramePr>
            <p:cNvPr id="13317" name="Object 454"/>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3382" name="Clip" r:id="rId4" imgW="18192750" imgH="15087600" progId="">
                    <p:embed/>
                  </p:oleObj>
                </mc:Choice>
                <mc:Fallback>
                  <p:oleObj name="Clip" r:id="rId4" imgW="18192750" imgH="15087600" progId="">
                    <p:embed/>
                    <p:pic>
                      <p:nvPicPr>
                        <p:cNvPr id="0" name="Object 4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407" name="Group 455"/>
            <p:cNvGrpSpPr/>
            <p:nvPr/>
          </p:nvGrpSpPr>
          <p:grpSpPr bwMode="auto">
            <a:xfrm>
              <a:off x="4337" y="367"/>
              <a:ext cx="447" cy="366"/>
              <a:chOff x="4189" y="817"/>
              <a:chExt cx="521" cy="366"/>
            </a:xfrm>
          </p:grpSpPr>
          <p:sp>
            <p:nvSpPr>
              <p:cNvPr id="13408" name="Rectangle 456"/>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3409" name="Text Box 457"/>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3332" name="Group 458"/>
          <p:cNvGrpSpPr/>
          <p:nvPr/>
        </p:nvGrpSpPr>
        <p:grpSpPr bwMode="auto">
          <a:xfrm>
            <a:off x="4873625" y="3889375"/>
            <a:ext cx="822325" cy="1501775"/>
            <a:chOff x="3484" y="2522"/>
            <a:chExt cx="518" cy="946"/>
          </a:xfrm>
        </p:grpSpPr>
        <p:grpSp>
          <p:nvGrpSpPr>
            <p:cNvPr id="2" name="Group 459"/>
            <p:cNvGrpSpPr/>
            <p:nvPr/>
          </p:nvGrpSpPr>
          <p:grpSpPr bwMode="auto">
            <a:xfrm>
              <a:off x="3631" y="2522"/>
              <a:ext cx="224" cy="588"/>
              <a:chOff x="4180" y="783"/>
              <a:chExt cx="150" cy="307"/>
            </a:xfrm>
          </p:grpSpPr>
          <p:sp>
            <p:nvSpPr>
              <p:cNvPr id="13399" name="AutoShape 460"/>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3400" name="Rectangle 461"/>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3401" name="Rectangle 462"/>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3402" name="AutoShape 46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3403" name="Line 464"/>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3404" name="Line 465"/>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3405" name="Rectangle 466"/>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3406" name="Rectangle 467"/>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3383" name="Group 468"/>
            <p:cNvGrpSpPr/>
            <p:nvPr/>
          </p:nvGrpSpPr>
          <p:grpSpPr bwMode="auto">
            <a:xfrm>
              <a:off x="3484" y="2807"/>
              <a:ext cx="518" cy="661"/>
              <a:chOff x="4288" y="2627"/>
              <a:chExt cx="518" cy="661"/>
            </a:xfrm>
          </p:grpSpPr>
          <p:sp>
            <p:nvSpPr>
              <p:cNvPr id="13384" name="Rectangle 469"/>
              <p:cNvSpPr>
                <a:spLocks noChangeArrowheads="1"/>
              </p:cNvSpPr>
              <p:nvPr/>
            </p:nvSpPr>
            <p:spPr bwMode="auto">
              <a:xfrm>
                <a:off x="4296" y="2652"/>
                <a:ext cx="510" cy="636"/>
              </a:xfrm>
              <a:prstGeom prst="rect">
                <a:avLst/>
              </a:prstGeom>
              <a:solidFill>
                <a:schemeClr val="hlink"/>
              </a:solidFill>
              <a:ln w="19050">
                <a:solidFill>
                  <a:schemeClr val="tx1"/>
                </a:solidFill>
                <a:miter lim="800000"/>
              </a:ln>
            </p:spPr>
            <p:txBody>
              <a:bodyPr wrap="none" anchor="ctr"/>
              <a:lstStyle/>
              <a:p>
                <a:endParaRPr lang="en-US"/>
              </a:p>
            </p:txBody>
          </p:sp>
          <p:sp>
            <p:nvSpPr>
              <p:cNvPr id="13385" name="Text Box 470"/>
              <p:cNvSpPr txBox="1">
                <a:spLocks noChangeArrowheads="1"/>
              </p:cNvSpPr>
              <p:nvPr/>
            </p:nvSpPr>
            <p:spPr bwMode="auto">
              <a:xfrm>
                <a:off x="4288" y="2627"/>
                <a:ext cx="504" cy="366"/>
              </a:xfrm>
              <a:prstGeom prst="rect">
                <a:avLst/>
              </a:prstGeom>
              <a:noFill/>
              <a:ln w="9525">
                <a:noFill/>
                <a:miter lim="800000"/>
              </a:ln>
            </p:spPr>
            <p:txBody>
              <a:bodyPr wrap="none">
                <a:spAutoFit/>
              </a:bodyPr>
              <a:lstStyle/>
              <a:p>
                <a:pPr algn="ctr">
                  <a:spcBef>
                    <a:spcPct val="0"/>
                  </a:spcBef>
                  <a:buClrTx/>
                  <a:buSzTx/>
                  <a:buFontTx/>
                  <a:buNone/>
                </a:pPr>
                <a:r>
                  <a:rPr lang="en-US" sz="1600"/>
                  <a:t>mail</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13386" name="Rectangle 471"/>
              <p:cNvSpPr>
                <a:spLocks noChangeArrowheads="1"/>
              </p:cNvSpPr>
              <p:nvPr/>
            </p:nvSpPr>
            <p:spPr bwMode="auto">
              <a:xfrm>
                <a:off x="4320" y="300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3387" name="Line 472"/>
              <p:cNvSpPr>
                <a:spLocks noChangeShapeType="1"/>
              </p:cNvSpPr>
              <p:nvPr/>
            </p:nvSpPr>
            <p:spPr bwMode="auto">
              <a:xfrm>
                <a:off x="4369" y="3034"/>
                <a:ext cx="0" cy="72"/>
              </a:xfrm>
              <a:prstGeom prst="line">
                <a:avLst/>
              </a:prstGeom>
              <a:noFill/>
              <a:ln w="19050">
                <a:solidFill>
                  <a:schemeClr val="tx1"/>
                </a:solidFill>
                <a:round/>
              </a:ln>
            </p:spPr>
            <p:txBody>
              <a:bodyPr wrap="none" anchor="ctr"/>
              <a:lstStyle/>
              <a:p>
                <a:endParaRPr lang="en-US"/>
              </a:p>
            </p:txBody>
          </p:sp>
          <p:sp>
            <p:nvSpPr>
              <p:cNvPr id="13388" name="Line 473"/>
              <p:cNvSpPr>
                <a:spLocks noChangeShapeType="1"/>
              </p:cNvSpPr>
              <p:nvPr/>
            </p:nvSpPr>
            <p:spPr bwMode="auto">
              <a:xfrm>
                <a:off x="4478" y="3033"/>
                <a:ext cx="0" cy="72"/>
              </a:xfrm>
              <a:prstGeom prst="line">
                <a:avLst/>
              </a:prstGeom>
              <a:noFill/>
              <a:ln w="19050">
                <a:solidFill>
                  <a:schemeClr val="tx1"/>
                </a:solidFill>
                <a:round/>
              </a:ln>
            </p:spPr>
            <p:txBody>
              <a:bodyPr wrap="none" anchor="ctr"/>
              <a:lstStyle/>
              <a:p>
                <a:endParaRPr lang="en-US"/>
              </a:p>
            </p:txBody>
          </p:sp>
          <p:sp>
            <p:nvSpPr>
              <p:cNvPr id="13389" name="Line 474"/>
              <p:cNvSpPr>
                <a:spLocks noChangeShapeType="1"/>
              </p:cNvSpPr>
              <p:nvPr/>
            </p:nvSpPr>
            <p:spPr bwMode="auto">
              <a:xfrm>
                <a:off x="4533" y="3035"/>
                <a:ext cx="0" cy="72"/>
              </a:xfrm>
              <a:prstGeom prst="line">
                <a:avLst/>
              </a:prstGeom>
              <a:noFill/>
              <a:ln w="19050">
                <a:solidFill>
                  <a:schemeClr val="tx1"/>
                </a:solidFill>
                <a:round/>
              </a:ln>
            </p:spPr>
            <p:txBody>
              <a:bodyPr wrap="none" anchor="ctr"/>
              <a:lstStyle/>
              <a:p>
                <a:endParaRPr lang="en-US"/>
              </a:p>
            </p:txBody>
          </p:sp>
          <p:sp>
            <p:nvSpPr>
              <p:cNvPr id="13390" name="Line 475"/>
              <p:cNvSpPr>
                <a:spLocks noChangeShapeType="1"/>
              </p:cNvSpPr>
              <p:nvPr/>
            </p:nvSpPr>
            <p:spPr bwMode="auto">
              <a:xfrm>
                <a:off x="4590" y="3033"/>
                <a:ext cx="0" cy="72"/>
              </a:xfrm>
              <a:prstGeom prst="line">
                <a:avLst/>
              </a:prstGeom>
              <a:noFill/>
              <a:ln w="19050">
                <a:solidFill>
                  <a:schemeClr val="tx1"/>
                </a:solidFill>
                <a:round/>
              </a:ln>
            </p:spPr>
            <p:txBody>
              <a:bodyPr wrap="none" anchor="ctr"/>
              <a:lstStyle/>
              <a:p>
                <a:endParaRPr lang="en-US"/>
              </a:p>
            </p:txBody>
          </p:sp>
          <p:sp>
            <p:nvSpPr>
              <p:cNvPr id="13391" name="Line 476"/>
              <p:cNvSpPr>
                <a:spLocks noChangeShapeType="1"/>
              </p:cNvSpPr>
              <p:nvPr/>
            </p:nvSpPr>
            <p:spPr bwMode="auto">
              <a:xfrm>
                <a:off x="4651" y="3033"/>
                <a:ext cx="0" cy="72"/>
              </a:xfrm>
              <a:prstGeom prst="line">
                <a:avLst/>
              </a:prstGeom>
              <a:noFill/>
              <a:ln w="19050">
                <a:solidFill>
                  <a:schemeClr val="tx1"/>
                </a:solidFill>
                <a:round/>
              </a:ln>
            </p:spPr>
            <p:txBody>
              <a:bodyPr wrap="none" anchor="ctr"/>
              <a:lstStyle/>
              <a:p>
                <a:endParaRPr lang="en-US"/>
              </a:p>
            </p:txBody>
          </p:sp>
          <p:sp>
            <p:nvSpPr>
              <p:cNvPr id="13392" name="Line 477"/>
              <p:cNvSpPr>
                <a:spLocks noChangeShapeType="1"/>
              </p:cNvSpPr>
              <p:nvPr/>
            </p:nvSpPr>
            <p:spPr bwMode="auto">
              <a:xfrm>
                <a:off x="4707" y="3033"/>
                <a:ext cx="0" cy="72"/>
              </a:xfrm>
              <a:prstGeom prst="line">
                <a:avLst/>
              </a:prstGeom>
              <a:noFill/>
              <a:ln w="19050">
                <a:solidFill>
                  <a:schemeClr val="tx1"/>
                </a:solidFill>
                <a:round/>
              </a:ln>
            </p:spPr>
            <p:txBody>
              <a:bodyPr wrap="none" anchor="ctr"/>
              <a:lstStyle/>
              <a:p>
                <a:endParaRPr lang="en-US"/>
              </a:p>
            </p:txBody>
          </p:sp>
          <p:sp>
            <p:nvSpPr>
              <p:cNvPr id="13393" name="Line 478"/>
              <p:cNvSpPr>
                <a:spLocks noChangeShapeType="1"/>
              </p:cNvSpPr>
              <p:nvPr/>
            </p:nvSpPr>
            <p:spPr bwMode="auto">
              <a:xfrm>
                <a:off x="4422" y="3034"/>
                <a:ext cx="0" cy="72"/>
              </a:xfrm>
              <a:prstGeom prst="line">
                <a:avLst/>
              </a:prstGeom>
              <a:noFill/>
              <a:ln w="19050">
                <a:solidFill>
                  <a:schemeClr val="tx1"/>
                </a:solidFill>
                <a:round/>
              </a:ln>
            </p:spPr>
            <p:txBody>
              <a:bodyPr wrap="none" anchor="ctr"/>
              <a:lstStyle/>
              <a:p>
                <a:endParaRPr lang="en-US"/>
              </a:p>
            </p:txBody>
          </p:sp>
          <p:sp>
            <p:nvSpPr>
              <p:cNvPr id="13394" name="Rectangle 479"/>
              <p:cNvSpPr>
                <a:spLocks noChangeArrowheads="1"/>
              </p:cNvSpPr>
              <p:nvPr/>
            </p:nvSpPr>
            <p:spPr bwMode="auto">
              <a:xfrm>
                <a:off x="4328"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395" name="Rectangle 480"/>
              <p:cNvSpPr>
                <a:spLocks noChangeArrowheads="1"/>
              </p:cNvSpPr>
              <p:nvPr/>
            </p:nvSpPr>
            <p:spPr bwMode="auto">
              <a:xfrm>
                <a:off x="4414"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396" name="Rectangle 481"/>
              <p:cNvSpPr>
                <a:spLocks noChangeArrowheads="1"/>
              </p:cNvSpPr>
              <p:nvPr/>
            </p:nvSpPr>
            <p:spPr bwMode="auto">
              <a:xfrm>
                <a:off x="4500" y="317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397" name="Rectangle 482"/>
              <p:cNvSpPr>
                <a:spLocks noChangeArrowheads="1"/>
              </p:cNvSpPr>
              <p:nvPr/>
            </p:nvSpPr>
            <p:spPr bwMode="auto">
              <a:xfrm>
                <a:off x="4597" y="317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398" name="Rectangle 483"/>
              <p:cNvSpPr>
                <a:spLocks noChangeArrowheads="1"/>
              </p:cNvSpPr>
              <p:nvPr/>
            </p:nvSpPr>
            <p:spPr bwMode="auto">
              <a:xfrm>
                <a:off x="4693" y="3170"/>
                <a:ext cx="64" cy="93"/>
              </a:xfrm>
              <a:prstGeom prst="rect">
                <a:avLst/>
              </a:prstGeom>
              <a:solidFill>
                <a:srgbClr val="FFFF00"/>
              </a:solidFill>
              <a:ln w="9525">
                <a:solidFill>
                  <a:schemeClr val="tx1"/>
                </a:solidFill>
                <a:miter lim="800000"/>
              </a:ln>
            </p:spPr>
            <p:txBody>
              <a:bodyPr wrap="none" anchor="ctr"/>
              <a:lstStyle/>
              <a:p>
                <a:endParaRPr lang="en-US"/>
              </a:p>
            </p:txBody>
          </p:sp>
        </p:grpSp>
      </p:grpSp>
      <p:grpSp>
        <p:nvGrpSpPr>
          <p:cNvPr id="13333" name="Group 484"/>
          <p:cNvGrpSpPr/>
          <p:nvPr/>
        </p:nvGrpSpPr>
        <p:grpSpPr bwMode="auto">
          <a:xfrm>
            <a:off x="5827713" y="4994275"/>
            <a:ext cx="709612" cy="703263"/>
            <a:chOff x="4337" y="290"/>
            <a:chExt cx="447" cy="443"/>
          </a:xfrm>
        </p:grpSpPr>
        <p:graphicFrame>
          <p:nvGraphicFramePr>
            <p:cNvPr id="13316" name="Object 485"/>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3" name="Clip" r:id="rId5" imgW="18192750" imgH="15087600" progId="">
                    <p:embed/>
                  </p:oleObj>
                </mc:Choice>
                <mc:Fallback>
                  <p:oleObj name="Clip" r:id="rId5" imgW="18192750" imgH="15087600" progId="">
                    <p:embed/>
                    <p:pic>
                      <p:nvPicPr>
                        <p:cNvPr id="0" name="Object 4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379" name="Group 486"/>
            <p:cNvGrpSpPr/>
            <p:nvPr/>
          </p:nvGrpSpPr>
          <p:grpSpPr bwMode="auto">
            <a:xfrm>
              <a:off x="4337" y="367"/>
              <a:ext cx="447" cy="366"/>
              <a:chOff x="4189" y="817"/>
              <a:chExt cx="521" cy="366"/>
            </a:xfrm>
          </p:grpSpPr>
          <p:sp>
            <p:nvSpPr>
              <p:cNvPr id="4" name="Rectangle 487"/>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5" name="Text Box 488"/>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3334" name="Group 489"/>
          <p:cNvGrpSpPr/>
          <p:nvPr/>
        </p:nvGrpSpPr>
        <p:grpSpPr bwMode="auto">
          <a:xfrm>
            <a:off x="4989513" y="5499100"/>
            <a:ext cx="709612" cy="703263"/>
            <a:chOff x="4337" y="290"/>
            <a:chExt cx="447" cy="443"/>
          </a:xfrm>
        </p:grpSpPr>
        <p:graphicFrame>
          <p:nvGraphicFramePr>
            <p:cNvPr id="13315" name="Object 490"/>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6" name="Clip" r:id="rId6" imgW="18192750" imgH="15087600" progId="">
                    <p:embed/>
                  </p:oleObj>
                </mc:Choice>
                <mc:Fallback>
                  <p:oleObj name="Clip" r:id="rId6" imgW="18192750" imgH="15087600" progId="">
                    <p:embed/>
                    <p:pic>
                      <p:nvPicPr>
                        <p:cNvPr id="0" name="Object 49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376" name="Group 491"/>
            <p:cNvGrpSpPr/>
            <p:nvPr/>
          </p:nvGrpSpPr>
          <p:grpSpPr bwMode="auto">
            <a:xfrm>
              <a:off x="4337" y="367"/>
              <a:ext cx="447" cy="366"/>
              <a:chOff x="4189" y="817"/>
              <a:chExt cx="521" cy="366"/>
            </a:xfrm>
          </p:grpSpPr>
          <p:sp>
            <p:nvSpPr>
              <p:cNvPr id="13377" name="Rectangle 492"/>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3378" name="Text Box 493"/>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3335" name="Group 494"/>
          <p:cNvGrpSpPr/>
          <p:nvPr/>
        </p:nvGrpSpPr>
        <p:grpSpPr bwMode="auto">
          <a:xfrm>
            <a:off x="4873625" y="1631950"/>
            <a:ext cx="822325" cy="1501775"/>
            <a:chOff x="3484" y="2522"/>
            <a:chExt cx="518" cy="946"/>
          </a:xfrm>
        </p:grpSpPr>
        <p:grpSp>
          <p:nvGrpSpPr>
            <p:cNvPr id="13351" name="Group 495"/>
            <p:cNvGrpSpPr/>
            <p:nvPr/>
          </p:nvGrpSpPr>
          <p:grpSpPr bwMode="auto">
            <a:xfrm>
              <a:off x="3631" y="2522"/>
              <a:ext cx="224" cy="588"/>
              <a:chOff x="4180" y="783"/>
              <a:chExt cx="150" cy="307"/>
            </a:xfrm>
          </p:grpSpPr>
          <p:sp>
            <p:nvSpPr>
              <p:cNvPr id="13368" name="AutoShape 49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3369" name="Rectangle 49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3370" name="Rectangle 49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3371" name="AutoShape 49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3372" name="Line 50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3373" name="Line 50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3374" name="Rectangle 50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3375" name="Rectangle 50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3352" name="Group 504"/>
            <p:cNvGrpSpPr/>
            <p:nvPr/>
          </p:nvGrpSpPr>
          <p:grpSpPr bwMode="auto">
            <a:xfrm>
              <a:off x="3484" y="2807"/>
              <a:ext cx="518" cy="661"/>
              <a:chOff x="4288" y="2627"/>
              <a:chExt cx="518" cy="661"/>
            </a:xfrm>
          </p:grpSpPr>
          <p:sp>
            <p:nvSpPr>
              <p:cNvPr id="13353" name="Rectangle 505"/>
              <p:cNvSpPr>
                <a:spLocks noChangeArrowheads="1"/>
              </p:cNvSpPr>
              <p:nvPr/>
            </p:nvSpPr>
            <p:spPr bwMode="auto">
              <a:xfrm>
                <a:off x="4296" y="2652"/>
                <a:ext cx="510" cy="636"/>
              </a:xfrm>
              <a:prstGeom prst="rect">
                <a:avLst/>
              </a:prstGeom>
              <a:solidFill>
                <a:schemeClr val="hlink"/>
              </a:solidFill>
              <a:ln w="19050">
                <a:solidFill>
                  <a:schemeClr val="tx1"/>
                </a:solidFill>
                <a:miter lim="800000"/>
              </a:ln>
            </p:spPr>
            <p:txBody>
              <a:bodyPr wrap="none" anchor="ctr"/>
              <a:lstStyle/>
              <a:p>
                <a:endParaRPr lang="en-US"/>
              </a:p>
            </p:txBody>
          </p:sp>
          <p:sp>
            <p:nvSpPr>
              <p:cNvPr id="13354" name="Text Box 506"/>
              <p:cNvSpPr txBox="1">
                <a:spLocks noChangeArrowheads="1"/>
              </p:cNvSpPr>
              <p:nvPr/>
            </p:nvSpPr>
            <p:spPr bwMode="auto">
              <a:xfrm>
                <a:off x="4288" y="2627"/>
                <a:ext cx="504" cy="366"/>
              </a:xfrm>
              <a:prstGeom prst="rect">
                <a:avLst/>
              </a:prstGeom>
              <a:noFill/>
              <a:ln w="9525">
                <a:noFill/>
                <a:miter lim="800000"/>
              </a:ln>
            </p:spPr>
            <p:txBody>
              <a:bodyPr wrap="none">
                <a:spAutoFit/>
              </a:bodyPr>
              <a:lstStyle/>
              <a:p>
                <a:pPr algn="ctr">
                  <a:spcBef>
                    <a:spcPct val="0"/>
                  </a:spcBef>
                  <a:buClrTx/>
                  <a:buSzTx/>
                  <a:buFontTx/>
                  <a:buNone/>
                </a:pPr>
                <a:r>
                  <a:rPr lang="en-US" sz="1600"/>
                  <a:t>mail</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13355" name="Rectangle 507"/>
              <p:cNvSpPr>
                <a:spLocks noChangeArrowheads="1"/>
              </p:cNvSpPr>
              <p:nvPr/>
            </p:nvSpPr>
            <p:spPr bwMode="auto">
              <a:xfrm>
                <a:off x="4320" y="300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3356" name="Line 508"/>
              <p:cNvSpPr>
                <a:spLocks noChangeShapeType="1"/>
              </p:cNvSpPr>
              <p:nvPr/>
            </p:nvSpPr>
            <p:spPr bwMode="auto">
              <a:xfrm>
                <a:off x="4369" y="3034"/>
                <a:ext cx="0" cy="72"/>
              </a:xfrm>
              <a:prstGeom prst="line">
                <a:avLst/>
              </a:prstGeom>
              <a:noFill/>
              <a:ln w="19050">
                <a:solidFill>
                  <a:schemeClr val="tx1"/>
                </a:solidFill>
                <a:round/>
              </a:ln>
            </p:spPr>
            <p:txBody>
              <a:bodyPr wrap="none" anchor="ctr"/>
              <a:lstStyle/>
              <a:p>
                <a:endParaRPr lang="en-US"/>
              </a:p>
            </p:txBody>
          </p:sp>
          <p:sp>
            <p:nvSpPr>
              <p:cNvPr id="13357" name="Line 509"/>
              <p:cNvSpPr>
                <a:spLocks noChangeShapeType="1"/>
              </p:cNvSpPr>
              <p:nvPr/>
            </p:nvSpPr>
            <p:spPr bwMode="auto">
              <a:xfrm>
                <a:off x="4478" y="3033"/>
                <a:ext cx="0" cy="72"/>
              </a:xfrm>
              <a:prstGeom prst="line">
                <a:avLst/>
              </a:prstGeom>
              <a:noFill/>
              <a:ln w="19050">
                <a:solidFill>
                  <a:schemeClr val="tx1"/>
                </a:solidFill>
                <a:round/>
              </a:ln>
            </p:spPr>
            <p:txBody>
              <a:bodyPr wrap="none" anchor="ctr"/>
              <a:lstStyle/>
              <a:p>
                <a:endParaRPr lang="en-US"/>
              </a:p>
            </p:txBody>
          </p:sp>
          <p:sp>
            <p:nvSpPr>
              <p:cNvPr id="13358" name="Line 510"/>
              <p:cNvSpPr>
                <a:spLocks noChangeShapeType="1"/>
              </p:cNvSpPr>
              <p:nvPr/>
            </p:nvSpPr>
            <p:spPr bwMode="auto">
              <a:xfrm>
                <a:off x="4533" y="3035"/>
                <a:ext cx="0" cy="72"/>
              </a:xfrm>
              <a:prstGeom prst="line">
                <a:avLst/>
              </a:prstGeom>
              <a:noFill/>
              <a:ln w="19050">
                <a:solidFill>
                  <a:schemeClr val="tx1"/>
                </a:solidFill>
                <a:round/>
              </a:ln>
            </p:spPr>
            <p:txBody>
              <a:bodyPr wrap="none" anchor="ctr"/>
              <a:lstStyle/>
              <a:p>
                <a:endParaRPr lang="en-US"/>
              </a:p>
            </p:txBody>
          </p:sp>
          <p:sp>
            <p:nvSpPr>
              <p:cNvPr id="13359" name="Line 511"/>
              <p:cNvSpPr>
                <a:spLocks noChangeShapeType="1"/>
              </p:cNvSpPr>
              <p:nvPr/>
            </p:nvSpPr>
            <p:spPr bwMode="auto">
              <a:xfrm>
                <a:off x="4590" y="3033"/>
                <a:ext cx="0" cy="72"/>
              </a:xfrm>
              <a:prstGeom prst="line">
                <a:avLst/>
              </a:prstGeom>
              <a:noFill/>
              <a:ln w="19050">
                <a:solidFill>
                  <a:schemeClr val="tx1"/>
                </a:solidFill>
                <a:round/>
              </a:ln>
            </p:spPr>
            <p:txBody>
              <a:bodyPr wrap="none" anchor="ctr"/>
              <a:lstStyle/>
              <a:p>
                <a:endParaRPr lang="en-US"/>
              </a:p>
            </p:txBody>
          </p:sp>
          <p:sp>
            <p:nvSpPr>
              <p:cNvPr id="13360" name="Line 512"/>
              <p:cNvSpPr>
                <a:spLocks noChangeShapeType="1"/>
              </p:cNvSpPr>
              <p:nvPr/>
            </p:nvSpPr>
            <p:spPr bwMode="auto">
              <a:xfrm>
                <a:off x="4651" y="3033"/>
                <a:ext cx="0" cy="72"/>
              </a:xfrm>
              <a:prstGeom prst="line">
                <a:avLst/>
              </a:prstGeom>
              <a:noFill/>
              <a:ln w="19050">
                <a:solidFill>
                  <a:schemeClr val="tx1"/>
                </a:solidFill>
                <a:round/>
              </a:ln>
            </p:spPr>
            <p:txBody>
              <a:bodyPr wrap="none" anchor="ctr"/>
              <a:lstStyle/>
              <a:p>
                <a:endParaRPr lang="en-US"/>
              </a:p>
            </p:txBody>
          </p:sp>
          <p:sp>
            <p:nvSpPr>
              <p:cNvPr id="13361" name="Line 513"/>
              <p:cNvSpPr>
                <a:spLocks noChangeShapeType="1"/>
              </p:cNvSpPr>
              <p:nvPr/>
            </p:nvSpPr>
            <p:spPr bwMode="auto">
              <a:xfrm>
                <a:off x="4707" y="3033"/>
                <a:ext cx="0" cy="72"/>
              </a:xfrm>
              <a:prstGeom prst="line">
                <a:avLst/>
              </a:prstGeom>
              <a:noFill/>
              <a:ln w="19050">
                <a:solidFill>
                  <a:schemeClr val="tx1"/>
                </a:solidFill>
                <a:round/>
              </a:ln>
            </p:spPr>
            <p:txBody>
              <a:bodyPr wrap="none" anchor="ctr"/>
              <a:lstStyle/>
              <a:p>
                <a:endParaRPr lang="en-US"/>
              </a:p>
            </p:txBody>
          </p:sp>
          <p:sp>
            <p:nvSpPr>
              <p:cNvPr id="13362" name="Line 514"/>
              <p:cNvSpPr>
                <a:spLocks noChangeShapeType="1"/>
              </p:cNvSpPr>
              <p:nvPr/>
            </p:nvSpPr>
            <p:spPr bwMode="auto">
              <a:xfrm>
                <a:off x="4422" y="3034"/>
                <a:ext cx="0" cy="72"/>
              </a:xfrm>
              <a:prstGeom prst="line">
                <a:avLst/>
              </a:prstGeom>
              <a:noFill/>
              <a:ln w="19050">
                <a:solidFill>
                  <a:schemeClr val="tx1"/>
                </a:solidFill>
                <a:round/>
              </a:ln>
            </p:spPr>
            <p:txBody>
              <a:bodyPr wrap="none" anchor="ctr"/>
              <a:lstStyle/>
              <a:p>
                <a:endParaRPr lang="en-US"/>
              </a:p>
            </p:txBody>
          </p:sp>
          <p:sp>
            <p:nvSpPr>
              <p:cNvPr id="13363" name="Rectangle 515"/>
              <p:cNvSpPr>
                <a:spLocks noChangeArrowheads="1"/>
              </p:cNvSpPr>
              <p:nvPr/>
            </p:nvSpPr>
            <p:spPr bwMode="auto">
              <a:xfrm>
                <a:off x="4328"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364" name="Rectangle 516"/>
              <p:cNvSpPr>
                <a:spLocks noChangeArrowheads="1"/>
              </p:cNvSpPr>
              <p:nvPr/>
            </p:nvSpPr>
            <p:spPr bwMode="auto">
              <a:xfrm>
                <a:off x="4414"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365" name="Rectangle 517"/>
              <p:cNvSpPr>
                <a:spLocks noChangeArrowheads="1"/>
              </p:cNvSpPr>
              <p:nvPr/>
            </p:nvSpPr>
            <p:spPr bwMode="auto">
              <a:xfrm>
                <a:off x="4500" y="317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366" name="Rectangle 518"/>
              <p:cNvSpPr>
                <a:spLocks noChangeArrowheads="1"/>
              </p:cNvSpPr>
              <p:nvPr/>
            </p:nvSpPr>
            <p:spPr bwMode="auto">
              <a:xfrm>
                <a:off x="4597" y="317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3367" name="Rectangle 519"/>
              <p:cNvSpPr>
                <a:spLocks noChangeArrowheads="1"/>
              </p:cNvSpPr>
              <p:nvPr/>
            </p:nvSpPr>
            <p:spPr bwMode="auto">
              <a:xfrm>
                <a:off x="4693" y="3170"/>
                <a:ext cx="64" cy="93"/>
              </a:xfrm>
              <a:prstGeom prst="rect">
                <a:avLst/>
              </a:prstGeom>
              <a:solidFill>
                <a:srgbClr val="FFFF00"/>
              </a:solidFill>
              <a:ln w="9525">
                <a:solidFill>
                  <a:schemeClr val="tx1"/>
                </a:solidFill>
                <a:miter lim="800000"/>
              </a:ln>
            </p:spPr>
            <p:txBody>
              <a:bodyPr wrap="none" anchor="ctr"/>
              <a:lstStyle/>
              <a:p>
                <a:endParaRPr lang="en-US"/>
              </a:p>
            </p:txBody>
          </p:sp>
        </p:grpSp>
      </p:grpSp>
      <p:grpSp>
        <p:nvGrpSpPr>
          <p:cNvPr id="13336" name="Group 520"/>
          <p:cNvGrpSpPr/>
          <p:nvPr/>
        </p:nvGrpSpPr>
        <p:grpSpPr bwMode="auto">
          <a:xfrm>
            <a:off x="5618163" y="1374775"/>
            <a:ext cx="709612" cy="703263"/>
            <a:chOff x="4337" y="290"/>
            <a:chExt cx="447" cy="443"/>
          </a:xfrm>
        </p:grpSpPr>
        <p:graphicFrame>
          <p:nvGraphicFramePr>
            <p:cNvPr id="13314" name="Object 521"/>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7" name="Clip" r:id="rId7" imgW="18192750" imgH="15087600" progId="">
                    <p:embed/>
                  </p:oleObj>
                </mc:Choice>
                <mc:Fallback>
                  <p:oleObj name="Clip" r:id="rId7" imgW="18192750" imgH="15087600" progId="">
                    <p:embed/>
                    <p:pic>
                      <p:nvPicPr>
                        <p:cNvPr id="0" name="Object 5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348" name="Group 522"/>
            <p:cNvGrpSpPr/>
            <p:nvPr/>
          </p:nvGrpSpPr>
          <p:grpSpPr bwMode="auto">
            <a:xfrm>
              <a:off x="4337" y="367"/>
              <a:ext cx="447" cy="366"/>
              <a:chOff x="4189" y="817"/>
              <a:chExt cx="521" cy="366"/>
            </a:xfrm>
          </p:grpSpPr>
          <p:sp>
            <p:nvSpPr>
              <p:cNvPr id="13349" name="Rectangle 523"/>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3350" name="Text Box 524"/>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sp>
        <p:nvSpPr>
          <p:cNvPr id="13337" name="Line 525"/>
          <p:cNvSpPr>
            <a:spLocks noChangeShapeType="1"/>
          </p:cNvSpPr>
          <p:nvPr/>
        </p:nvSpPr>
        <p:spPr bwMode="auto">
          <a:xfrm flipV="1">
            <a:off x="5724525" y="3676650"/>
            <a:ext cx="1123950" cy="1085850"/>
          </a:xfrm>
          <a:prstGeom prst="line">
            <a:avLst/>
          </a:prstGeom>
          <a:noFill/>
          <a:ln w="28575">
            <a:solidFill>
              <a:srgbClr val="FF0000"/>
            </a:solidFill>
            <a:round/>
            <a:headEnd type="triangle" w="med" len="med"/>
            <a:tailEnd type="triangle" w="med" len="med"/>
          </a:ln>
        </p:spPr>
        <p:txBody>
          <a:bodyPr wrap="none" anchor="ctr"/>
          <a:lstStyle/>
          <a:p>
            <a:endParaRPr lang="en-US"/>
          </a:p>
        </p:txBody>
      </p:sp>
      <p:sp>
        <p:nvSpPr>
          <p:cNvPr id="13338" name="Line 526"/>
          <p:cNvSpPr>
            <a:spLocks noChangeShapeType="1"/>
          </p:cNvSpPr>
          <p:nvPr/>
        </p:nvSpPr>
        <p:spPr bwMode="auto">
          <a:xfrm flipH="1" flipV="1">
            <a:off x="4981575" y="3152775"/>
            <a:ext cx="0" cy="1247775"/>
          </a:xfrm>
          <a:prstGeom prst="line">
            <a:avLst/>
          </a:prstGeom>
          <a:noFill/>
          <a:ln w="28575">
            <a:solidFill>
              <a:srgbClr val="FF0000"/>
            </a:solidFill>
            <a:round/>
            <a:headEnd type="triangle" w="med" len="med"/>
            <a:tailEnd type="triangle" w="med" len="med"/>
          </a:ln>
        </p:spPr>
        <p:txBody>
          <a:bodyPr wrap="none" anchor="ctr"/>
          <a:lstStyle/>
          <a:p>
            <a:endParaRPr lang="en-US"/>
          </a:p>
        </p:txBody>
      </p:sp>
      <p:grpSp>
        <p:nvGrpSpPr>
          <p:cNvPr id="13339" name="Group 527"/>
          <p:cNvGrpSpPr/>
          <p:nvPr/>
        </p:nvGrpSpPr>
        <p:grpSpPr bwMode="auto">
          <a:xfrm>
            <a:off x="5821363" y="3970338"/>
            <a:ext cx="1031875" cy="457200"/>
            <a:chOff x="3745" y="2537"/>
            <a:chExt cx="650" cy="288"/>
          </a:xfrm>
        </p:grpSpPr>
        <p:sp>
          <p:nvSpPr>
            <p:cNvPr id="13346" name="Rectangle 528"/>
            <p:cNvSpPr>
              <a:spLocks noChangeArrowheads="1"/>
            </p:cNvSpPr>
            <p:nvPr/>
          </p:nvSpPr>
          <p:spPr bwMode="auto">
            <a:xfrm>
              <a:off x="3798" y="2580"/>
              <a:ext cx="540" cy="192"/>
            </a:xfrm>
            <a:prstGeom prst="rect">
              <a:avLst/>
            </a:prstGeom>
            <a:solidFill>
              <a:srgbClr val="FFFFFF"/>
            </a:solidFill>
            <a:ln w="9525">
              <a:noFill/>
              <a:miter lim="800000"/>
            </a:ln>
          </p:spPr>
          <p:txBody>
            <a:bodyPr wrap="none" anchor="ctr"/>
            <a:lstStyle/>
            <a:p>
              <a:endParaRPr lang="en-US"/>
            </a:p>
          </p:txBody>
        </p:sp>
        <p:sp>
          <p:nvSpPr>
            <p:cNvPr id="13347" name="Text Box 529"/>
            <p:cNvSpPr txBox="1">
              <a:spLocks noChangeArrowheads="1"/>
            </p:cNvSpPr>
            <p:nvPr/>
          </p:nvSpPr>
          <p:spPr bwMode="auto">
            <a:xfrm>
              <a:off x="3745" y="2537"/>
              <a:ext cx="650" cy="288"/>
            </a:xfrm>
            <a:prstGeom prst="rect">
              <a:avLst/>
            </a:prstGeom>
            <a:noFill/>
            <a:ln w="9525">
              <a:noFill/>
              <a:miter lim="800000"/>
            </a:ln>
          </p:spPr>
          <p:txBody>
            <a:bodyPr wrap="none">
              <a:spAutoFit/>
            </a:bodyPr>
            <a:lstStyle/>
            <a:p>
              <a:pPr algn="ctr">
                <a:spcBef>
                  <a:spcPct val="0"/>
                </a:spcBef>
                <a:buClrTx/>
                <a:buSzTx/>
                <a:buFontTx/>
                <a:buNone/>
              </a:pPr>
              <a:r>
                <a:rPr lang="en-US">
                  <a:solidFill>
                    <a:srgbClr val="FF0000"/>
                  </a:solidFill>
                </a:rPr>
                <a:t>SMTP</a:t>
              </a:r>
              <a:endParaRPr lang="en-US">
                <a:latin typeface="Times New Roman" panose="02020603050405020304" pitchFamily="18" charset="0"/>
              </a:endParaRPr>
            </a:p>
          </p:txBody>
        </p:sp>
      </p:grpSp>
      <p:grpSp>
        <p:nvGrpSpPr>
          <p:cNvPr id="13340" name="Group 530"/>
          <p:cNvGrpSpPr/>
          <p:nvPr/>
        </p:nvGrpSpPr>
        <p:grpSpPr bwMode="auto">
          <a:xfrm>
            <a:off x="5783263" y="2713038"/>
            <a:ext cx="1031875" cy="457200"/>
            <a:chOff x="3745" y="2537"/>
            <a:chExt cx="650" cy="288"/>
          </a:xfrm>
        </p:grpSpPr>
        <p:sp>
          <p:nvSpPr>
            <p:cNvPr id="13344" name="Rectangle 531"/>
            <p:cNvSpPr>
              <a:spLocks noChangeArrowheads="1"/>
            </p:cNvSpPr>
            <p:nvPr/>
          </p:nvSpPr>
          <p:spPr bwMode="auto">
            <a:xfrm>
              <a:off x="3798" y="2580"/>
              <a:ext cx="540" cy="192"/>
            </a:xfrm>
            <a:prstGeom prst="rect">
              <a:avLst/>
            </a:prstGeom>
            <a:solidFill>
              <a:srgbClr val="FFFFFF"/>
            </a:solidFill>
            <a:ln w="9525">
              <a:noFill/>
              <a:miter lim="800000"/>
            </a:ln>
          </p:spPr>
          <p:txBody>
            <a:bodyPr wrap="none" anchor="ctr"/>
            <a:lstStyle/>
            <a:p>
              <a:endParaRPr lang="en-US"/>
            </a:p>
          </p:txBody>
        </p:sp>
        <p:sp>
          <p:nvSpPr>
            <p:cNvPr id="13345" name="Text Box 532"/>
            <p:cNvSpPr txBox="1">
              <a:spLocks noChangeArrowheads="1"/>
            </p:cNvSpPr>
            <p:nvPr/>
          </p:nvSpPr>
          <p:spPr bwMode="auto">
            <a:xfrm>
              <a:off x="3745" y="2537"/>
              <a:ext cx="650" cy="288"/>
            </a:xfrm>
            <a:prstGeom prst="rect">
              <a:avLst/>
            </a:prstGeom>
            <a:noFill/>
            <a:ln w="9525">
              <a:noFill/>
              <a:miter lim="800000"/>
            </a:ln>
          </p:spPr>
          <p:txBody>
            <a:bodyPr wrap="none">
              <a:spAutoFit/>
            </a:bodyPr>
            <a:lstStyle/>
            <a:p>
              <a:pPr algn="ctr">
                <a:spcBef>
                  <a:spcPct val="0"/>
                </a:spcBef>
                <a:buClrTx/>
                <a:buSzTx/>
                <a:buFontTx/>
                <a:buNone/>
              </a:pPr>
              <a:r>
                <a:rPr lang="en-US">
                  <a:solidFill>
                    <a:srgbClr val="FF0000"/>
                  </a:solidFill>
                </a:rPr>
                <a:t>SMTP</a:t>
              </a:r>
              <a:endParaRPr lang="en-US">
                <a:latin typeface="Times New Roman" panose="02020603050405020304" pitchFamily="18" charset="0"/>
              </a:endParaRPr>
            </a:p>
          </p:txBody>
        </p:sp>
      </p:grpSp>
      <p:grpSp>
        <p:nvGrpSpPr>
          <p:cNvPr id="13341" name="Group 533"/>
          <p:cNvGrpSpPr/>
          <p:nvPr/>
        </p:nvGrpSpPr>
        <p:grpSpPr bwMode="auto">
          <a:xfrm>
            <a:off x="4459288" y="3427413"/>
            <a:ext cx="1031875" cy="457200"/>
            <a:chOff x="3745" y="2537"/>
            <a:chExt cx="650" cy="288"/>
          </a:xfrm>
        </p:grpSpPr>
        <p:sp>
          <p:nvSpPr>
            <p:cNvPr id="13342" name="Rectangle 534"/>
            <p:cNvSpPr>
              <a:spLocks noChangeArrowheads="1"/>
            </p:cNvSpPr>
            <p:nvPr/>
          </p:nvSpPr>
          <p:spPr bwMode="auto">
            <a:xfrm>
              <a:off x="3798" y="2580"/>
              <a:ext cx="540" cy="192"/>
            </a:xfrm>
            <a:prstGeom prst="rect">
              <a:avLst/>
            </a:prstGeom>
            <a:solidFill>
              <a:srgbClr val="FFFFFF"/>
            </a:solidFill>
            <a:ln w="9525">
              <a:noFill/>
              <a:miter lim="800000"/>
            </a:ln>
          </p:spPr>
          <p:txBody>
            <a:bodyPr wrap="none" anchor="ctr"/>
            <a:lstStyle/>
            <a:p>
              <a:endParaRPr lang="en-US"/>
            </a:p>
          </p:txBody>
        </p:sp>
        <p:sp>
          <p:nvSpPr>
            <p:cNvPr id="13343" name="Text Box 535"/>
            <p:cNvSpPr txBox="1">
              <a:spLocks noChangeArrowheads="1"/>
            </p:cNvSpPr>
            <p:nvPr/>
          </p:nvSpPr>
          <p:spPr bwMode="auto">
            <a:xfrm>
              <a:off x="3745" y="2537"/>
              <a:ext cx="650" cy="288"/>
            </a:xfrm>
            <a:prstGeom prst="rect">
              <a:avLst/>
            </a:prstGeom>
            <a:noFill/>
            <a:ln w="9525">
              <a:noFill/>
              <a:miter lim="800000"/>
            </a:ln>
          </p:spPr>
          <p:txBody>
            <a:bodyPr wrap="none">
              <a:spAutoFit/>
            </a:bodyPr>
            <a:lstStyle/>
            <a:p>
              <a:pPr algn="ctr">
                <a:spcBef>
                  <a:spcPct val="0"/>
                </a:spcBef>
                <a:buClrTx/>
                <a:buSzTx/>
                <a:buFontTx/>
                <a:buNone/>
              </a:pPr>
              <a:r>
                <a:rPr lang="en-US">
                  <a:solidFill>
                    <a:srgbClr val="FF0000"/>
                  </a:solidFill>
                </a:rPr>
                <a:t>SMTP</a:t>
              </a:r>
              <a:endParaRPr lang="en-US">
                <a:latin typeface="Times New Roman" panose="02020603050405020304" pitchFamily="18" charset="0"/>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4345" name="Slide Number Placeholder 6"/>
          <p:cNvSpPr>
            <a:spLocks noGrp="1"/>
          </p:cNvSpPr>
          <p:nvPr>
            <p:ph type="sldNum" sz="quarter" idx="12"/>
          </p:nvPr>
        </p:nvSpPr>
        <p:spPr>
          <a:noFill/>
        </p:spPr>
        <p:txBody>
          <a:bodyPr/>
          <a:lstStyle/>
          <a:p>
            <a:fld id="{4691F841-DABD-425A-B05A-12DFB79226DC}" type="slidenum">
              <a:rPr lang="en-US"/>
            </a:fld>
            <a:endParaRPr lang="en-US"/>
          </a:p>
        </p:txBody>
      </p:sp>
      <p:sp>
        <p:nvSpPr>
          <p:cNvPr id="14346" name="Rectangle 2"/>
          <p:cNvSpPr>
            <a:spLocks noGrp="1" noChangeArrowheads="1"/>
          </p:cNvSpPr>
          <p:nvPr>
            <p:ph type="title"/>
          </p:nvPr>
        </p:nvSpPr>
        <p:spPr>
          <a:xfrm>
            <a:off x="409575" y="228600"/>
            <a:ext cx="7772400" cy="1143000"/>
          </a:xfrm>
        </p:spPr>
        <p:txBody>
          <a:bodyPr/>
          <a:lstStyle/>
          <a:p>
            <a:r>
              <a:rPr lang="en-US" sz="3600"/>
              <a:t>Electronic Mail: mail servers</a:t>
            </a:r>
            <a:endParaRPr lang="en-US"/>
          </a:p>
        </p:txBody>
      </p:sp>
      <p:sp>
        <p:nvSpPr>
          <p:cNvPr id="14347" name="Rectangle 3"/>
          <p:cNvSpPr>
            <a:spLocks noGrp="1" noChangeArrowheads="1"/>
          </p:cNvSpPr>
          <p:nvPr>
            <p:ph type="body" sz="half" idx="1"/>
          </p:nvPr>
        </p:nvSpPr>
        <p:spPr>
          <a:xfrm>
            <a:off x="533400" y="1600200"/>
            <a:ext cx="3933825" cy="4648200"/>
          </a:xfrm>
        </p:spPr>
        <p:txBody>
          <a:bodyPr/>
          <a:lstStyle/>
          <a:p>
            <a:pPr>
              <a:buFont typeface="ZapfDingbats" pitchFamily="82" charset="2"/>
              <a:buNone/>
            </a:pPr>
            <a:r>
              <a:rPr lang="en-US" sz="2400">
                <a:solidFill>
                  <a:srgbClr val="FF0000"/>
                </a:solidFill>
              </a:rPr>
              <a:t>Mail Servers</a:t>
            </a:r>
            <a:r>
              <a:rPr lang="en-US" sz="2400"/>
              <a:t> </a:t>
            </a:r>
            <a:endParaRPr lang="en-US" sz="2400"/>
          </a:p>
          <a:p>
            <a:r>
              <a:rPr lang="en-US" sz="2000">
                <a:solidFill>
                  <a:srgbClr val="FF0000"/>
                </a:solidFill>
              </a:rPr>
              <a:t>mailbox</a:t>
            </a:r>
            <a:r>
              <a:rPr lang="en-US" sz="2000"/>
              <a:t> contains incoming messages for user</a:t>
            </a:r>
            <a:endParaRPr lang="en-US" sz="2000"/>
          </a:p>
          <a:p>
            <a:r>
              <a:rPr lang="en-US" sz="2000">
                <a:solidFill>
                  <a:srgbClr val="FF0000"/>
                </a:solidFill>
              </a:rPr>
              <a:t>message</a:t>
            </a:r>
            <a:r>
              <a:rPr lang="en-US" sz="2000"/>
              <a:t> </a:t>
            </a:r>
            <a:r>
              <a:rPr lang="en-US" sz="2000">
                <a:solidFill>
                  <a:srgbClr val="FF0000"/>
                </a:solidFill>
              </a:rPr>
              <a:t>queue</a:t>
            </a:r>
            <a:r>
              <a:rPr lang="en-US" sz="2000"/>
              <a:t> of outgoing (to be sent) mail messages</a:t>
            </a:r>
            <a:endParaRPr lang="en-US" sz="2000"/>
          </a:p>
          <a:p>
            <a:r>
              <a:rPr lang="en-US" sz="2000">
                <a:solidFill>
                  <a:srgbClr val="FF0000"/>
                </a:solidFill>
              </a:rPr>
              <a:t>SMTP protocol</a:t>
            </a:r>
            <a:r>
              <a:rPr lang="en-US" sz="2000"/>
              <a:t> between mail servers to send email messages</a:t>
            </a:r>
            <a:endParaRPr lang="en-US" sz="2000"/>
          </a:p>
          <a:p>
            <a:pPr lvl="1"/>
            <a:r>
              <a:rPr lang="en-US" sz="2000"/>
              <a:t>client: sending mail server</a:t>
            </a:r>
            <a:endParaRPr lang="en-US" sz="2000"/>
          </a:p>
          <a:p>
            <a:pPr lvl="1"/>
            <a:r>
              <a:rPr lang="en-US" sz="2000"/>
              <a:t>“server”: receiving mail server</a:t>
            </a:r>
            <a:endParaRPr lang="en-US" sz="2000"/>
          </a:p>
        </p:txBody>
      </p:sp>
      <p:sp>
        <p:nvSpPr>
          <p:cNvPr id="14348" name="Line 9"/>
          <p:cNvSpPr>
            <a:spLocks noChangeShapeType="1"/>
          </p:cNvSpPr>
          <p:nvPr/>
        </p:nvSpPr>
        <p:spPr bwMode="auto">
          <a:xfrm>
            <a:off x="6038850" y="2628900"/>
            <a:ext cx="1123950" cy="790575"/>
          </a:xfrm>
          <a:prstGeom prst="line">
            <a:avLst/>
          </a:prstGeom>
          <a:noFill/>
          <a:ln w="28575">
            <a:solidFill>
              <a:srgbClr val="FF0000"/>
            </a:solidFill>
            <a:round/>
            <a:headEnd type="triangle" w="med" len="med"/>
            <a:tailEnd type="triangle" w="med" len="med"/>
          </a:ln>
        </p:spPr>
        <p:txBody>
          <a:bodyPr wrap="none" anchor="ctr"/>
          <a:lstStyle/>
          <a:p>
            <a:endParaRPr lang="en-US"/>
          </a:p>
        </p:txBody>
      </p:sp>
      <p:grpSp>
        <p:nvGrpSpPr>
          <p:cNvPr id="14349" name="Group 10"/>
          <p:cNvGrpSpPr/>
          <p:nvPr/>
        </p:nvGrpSpPr>
        <p:grpSpPr bwMode="auto">
          <a:xfrm>
            <a:off x="7431088" y="2555875"/>
            <a:ext cx="355600" cy="933450"/>
            <a:chOff x="4180" y="783"/>
            <a:chExt cx="150" cy="307"/>
          </a:xfrm>
        </p:grpSpPr>
        <p:sp>
          <p:nvSpPr>
            <p:cNvPr id="14453" name="AutoShape 1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4454" name="Rectangle 12"/>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4455" name="Rectangle 13"/>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4456" name="AutoShape 1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4457" name="Line 15"/>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4458" name="Line 16"/>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4459" name="Rectangle 17"/>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4460" name="Rectangle 18"/>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4350" name="Group 19"/>
          <p:cNvGrpSpPr/>
          <p:nvPr/>
        </p:nvGrpSpPr>
        <p:grpSpPr bwMode="auto">
          <a:xfrm>
            <a:off x="7188200" y="3008313"/>
            <a:ext cx="822325" cy="1049337"/>
            <a:chOff x="4288" y="2627"/>
            <a:chExt cx="518" cy="661"/>
          </a:xfrm>
        </p:grpSpPr>
        <p:sp>
          <p:nvSpPr>
            <p:cNvPr id="14438" name="Rectangle 20"/>
            <p:cNvSpPr>
              <a:spLocks noChangeArrowheads="1"/>
            </p:cNvSpPr>
            <p:nvPr/>
          </p:nvSpPr>
          <p:spPr bwMode="auto">
            <a:xfrm>
              <a:off x="4296" y="2652"/>
              <a:ext cx="510" cy="636"/>
            </a:xfrm>
            <a:prstGeom prst="rect">
              <a:avLst/>
            </a:prstGeom>
            <a:solidFill>
              <a:schemeClr val="hlink"/>
            </a:solidFill>
            <a:ln w="19050">
              <a:solidFill>
                <a:schemeClr val="tx1"/>
              </a:solidFill>
              <a:miter lim="800000"/>
            </a:ln>
          </p:spPr>
          <p:txBody>
            <a:bodyPr wrap="none" anchor="ctr"/>
            <a:lstStyle/>
            <a:p>
              <a:endParaRPr lang="en-US"/>
            </a:p>
          </p:txBody>
        </p:sp>
        <p:sp>
          <p:nvSpPr>
            <p:cNvPr id="14439" name="Text Box 21"/>
            <p:cNvSpPr txBox="1">
              <a:spLocks noChangeArrowheads="1"/>
            </p:cNvSpPr>
            <p:nvPr/>
          </p:nvSpPr>
          <p:spPr bwMode="auto">
            <a:xfrm>
              <a:off x="4288" y="2627"/>
              <a:ext cx="504" cy="366"/>
            </a:xfrm>
            <a:prstGeom prst="rect">
              <a:avLst/>
            </a:prstGeom>
            <a:noFill/>
            <a:ln w="9525">
              <a:noFill/>
              <a:miter lim="800000"/>
            </a:ln>
          </p:spPr>
          <p:txBody>
            <a:bodyPr wrap="none">
              <a:spAutoFit/>
            </a:bodyPr>
            <a:lstStyle/>
            <a:p>
              <a:pPr algn="ctr">
                <a:spcBef>
                  <a:spcPct val="0"/>
                </a:spcBef>
                <a:buClrTx/>
                <a:buSzTx/>
                <a:buFontTx/>
                <a:buNone/>
              </a:pPr>
              <a:r>
                <a:rPr lang="en-US" sz="1600"/>
                <a:t>mail</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14440" name="Rectangle 22"/>
            <p:cNvSpPr>
              <a:spLocks noChangeArrowheads="1"/>
            </p:cNvSpPr>
            <p:nvPr/>
          </p:nvSpPr>
          <p:spPr bwMode="auto">
            <a:xfrm>
              <a:off x="4320" y="300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4441" name="Line 23"/>
            <p:cNvSpPr>
              <a:spLocks noChangeShapeType="1"/>
            </p:cNvSpPr>
            <p:nvPr/>
          </p:nvSpPr>
          <p:spPr bwMode="auto">
            <a:xfrm>
              <a:off x="4369" y="3034"/>
              <a:ext cx="0" cy="72"/>
            </a:xfrm>
            <a:prstGeom prst="line">
              <a:avLst/>
            </a:prstGeom>
            <a:noFill/>
            <a:ln w="19050">
              <a:solidFill>
                <a:schemeClr val="tx1"/>
              </a:solidFill>
              <a:round/>
            </a:ln>
          </p:spPr>
          <p:txBody>
            <a:bodyPr wrap="none" anchor="ctr"/>
            <a:lstStyle/>
            <a:p>
              <a:endParaRPr lang="en-US"/>
            </a:p>
          </p:txBody>
        </p:sp>
        <p:sp>
          <p:nvSpPr>
            <p:cNvPr id="14442" name="Line 24"/>
            <p:cNvSpPr>
              <a:spLocks noChangeShapeType="1"/>
            </p:cNvSpPr>
            <p:nvPr/>
          </p:nvSpPr>
          <p:spPr bwMode="auto">
            <a:xfrm>
              <a:off x="4478" y="3033"/>
              <a:ext cx="0" cy="72"/>
            </a:xfrm>
            <a:prstGeom prst="line">
              <a:avLst/>
            </a:prstGeom>
            <a:noFill/>
            <a:ln w="19050">
              <a:solidFill>
                <a:schemeClr val="tx1"/>
              </a:solidFill>
              <a:round/>
            </a:ln>
          </p:spPr>
          <p:txBody>
            <a:bodyPr wrap="none" anchor="ctr"/>
            <a:lstStyle/>
            <a:p>
              <a:endParaRPr lang="en-US"/>
            </a:p>
          </p:txBody>
        </p:sp>
        <p:sp>
          <p:nvSpPr>
            <p:cNvPr id="14443" name="Line 25"/>
            <p:cNvSpPr>
              <a:spLocks noChangeShapeType="1"/>
            </p:cNvSpPr>
            <p:nvPr/>
          </p:nvSpPr>
          <p:spPr bwMode="auto">
            <a:xfrm>
              <a:off x="4533" y="3035"/>
              <a:ext cx="0" cy="72"/>
            </a:xfrm>
            <a:prstGeom prst="line">
              <a:avLst/>
            </a:prstGeom>
            <a:noFill/>
            <a:ln w="19050">
              <a:solidFill>
                <a:schemeClr val="tx1"/>
              </a:solidFill>
              <a:round/>
            </a:ln>
          </p:spPr>
          <p:txBody>
            <a:bodyPr wrap="none" anchor="ctr"/>
            <a:lstStyle/>
            <a:p>
              <a:endParaRPr lang="en-US"/>
            </a:p>
          </p:txBody>
        </p:sp>
        <p:sp>
          <p:nvSpPr>
            <p:cNvPr id="14444" name="Line 26"/>
            <p:cNvSpPr>
              <a:spLocks noChangeShapeType="1"/>
            </p:cNvSpPr>
            <p:nvPr/>
          </p:nvSpPr>
          <p:spPr bwMode="auto">
            <a:xfrm>
              <a:off x="4590" y="3033"/>
              <a:ext cx="0" cy="72"/>
            </a:xfrm>
            <a:prstGeom prst="line">
              <a:avLst/>
            </a:prstGeom>
            <a:noFill/>
            <a:ln w="19050">
              <a:solidFill>
                <a:schemeClr val="tx1"/>
              </a:solidFill>
              <a:round/>
            </a:ln>
          </p:spPr>
          <p:txBody>
            <a:bodyPr wrap="none" anchor="ctr"/>
            <a:lstStyle/>
            <a:p>
              <a:endParaRPr lang="en-US"/>
            </a:p>
          </p:txBody>
        </p:sp>
        <p:sp>
          <p:nvSpPr>
            <p:cNvPr id="14445" name="Line 27"/>
            <p:cNvSpPr>
              <a:spLocks noChangeShapeType="1"/>
            </p:cNvSpPr>
            <p:nvPr/>
          </p:nvSpPr>
          <p:spPr bwMode="auto">
            <a:xfrm>
              <a:off x="4651" y="3033"/>
              <a:ext cx="0" cy="72"/>
            </a:xfrm>
            <a:prstGeom prst="line">
              <a:avLst/>
            </a:prstGeom>
            <a:noFill/>
            <a:ln w="19050">
              <a:solidFill>
                <a:schemeClr val="tx1"/>
              </a:solidFill>
              <a:round/>
            </a:ln>
          </p:spPr>
          <p:txBody>
            <a:bodyPr wrap="none" anchor="ctr"/>
            <a:lstStyle/>
            <a:p>
              <a:endParaRPr lang="en-US"/>
            </a:p>
          </p:txBody>
        </p:sp>
        <p:sp>
          <p:nvSpPr>
            <p:cNvPr id="14446" name="Line 28"/>
            <p:cNvSpPr>
              <a:spLocks noChangeShapeType="1"/>
            </p:cNvSpPr>
            <p:nvPr/>
          </p:nvSpPr>
          <p:spPr bwMode="auto">
            <a:xfrm>
              <a:off x="4707" y="3033"/>
              <a:ext cx="0" cy="72"/>
            </a:xfrm>
            <a:prstGeom prst="line">
              <a:avLst/>
            </a:prstGeom>
            <a:noFill/>
            <a:ln w="19050">
              <a:solidFill>
                <a:schemeClr val="tx1"/>
              </a:solidFill>
              <a:round/>
            </a:ln>
          </p:spPr>
          <p:txBody>
            <a:bodyPr wrap="none" anchor="ctr"/>
            <a:lstStyle/>
            <a:p>
              <a:endParaRPr lang="en-US"/>
            </a:p>
          </p:txBody>
        </p:sp>
        <p:sp>
          <p:nvSpPr>
            <p:cNvPr id="14447" name="Line 29"/>
            <p:cNvSpPr>
              <a:spLocks noChangeShapeType="1"/>
            </p:cNvSpPr>
            <p:nvPr/>
          </p:nvSpPr>
          <p:spPr bwMode="auto">
            <a:xfrm>
              <a:off x="4422" y="3034"/>
              <a:ext cx="0" cy="72"/>
            </a:xfrm>
            <a:prstGeom prst="line">
              <a:avLst/>
            </a:prstGeom>
            <a:noFill/>
            <a:ln w="19050">
              <a:solidFill>
                <a:schemeClr val="tx1"/>
              </a:solidFill>
              <a:round/>
            </a:ln>
          </p:spPr>
          <p:txBody>
            <a:bodyPr wrap="none" anchor="ctr"/>
            <a:lstStyle/>
            <a:p>
              <a:endParaRPr lang="en-US"/>
            </a:p>
          </p:txBody>
        </p:sp>
        <p:sp>
          <p:nvSpPr>
            <p:cNvPr id="14448" name="Rectangle 30"/>
            <p:cNvSpPr>
              <a:spLocks noChangeArrowheads="1"/>
            </p:cNvSpPr>
            <p:nvPr/>
          </p:nvSpPr>
          <p:spPr bwMode="auto">
            <a:xfrm>
              <a:off x="4328"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449" name="Rectangle 31"/>
            <p:cNvSpPr>
              <a:spLocks noChangeArrowheads="1"/>
            </p:cNvSpPr>
            <p:nvPr/>
          </p:nvSpPr>
          <p:spPr bwMode="auto">
            <a:xfrm>
              <a:off x="4414"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450" name="Rectangle 32"/>
            <p:cNvSpPr>
              <a:spLocks noChangeArrowheads="1"/>
            </p:cNvSpPr>
            <p:nvPr/>
          </p:nvSpPr>
          <p:spPr bwMode="auto">
            <a:xfrm>
              <a:off x="4500" y="317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451" name="Rectangle 33"/>
            <p:cNvSpPr>
              <a:spLocks noChangeArrowheads="1"/>
            </p:cNvSpPr>
            <p:nvPr/>
          </p:nvSpPr>
          <p:spPr bwMode="auto">
            <a:xfrm>
              <a:off x="4597" y="317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452" name="Rectangle 34"/>
            <p:cNvSpPr>
              <a:spLocks noChangeArrowheads="1"/>
            </p:cNvSpPr>
            <p:nvPr/>
          </p:nvSpPr>
          <p:spPr bwMode="auto">
            <a:xfrm>
              <a:off x="4693" y="3170"/>
              <a:ext cx="64" cy="93"/>
            </a:xfrm>
            <a:prstGeom prst="rect">
              <a:avLst/>
            </a:prstGeom>
            <a:solidFill>
              <a:srgbClr val="FFFF00"/>
            </a:solidFill>
            <a:ln w="9525">
              <a:solidFill>
                <a:schemeClr val="tx1"/>
              </a:solidFill>
              <a:miter lim="800000"/>
            </a:ln>
          </p:spPr>
          <p:txBody>
            <a:bodyPr wrap="none" anchor="ctr"/>
            <a:lstStyle/>
            <a:p>
              <a:endParaRPr lang="en-US"/>
            </a:p>
          </p:txBody>
        </p:sp>
      </p:grpSp>
      <p:grpSp>
        <p:nvGrpSpPr>
          <p:cNvPr id="14351" name="Group 35"/>
          <p:cNvGrpSpPr/>
          <p:nvPr/>
        </p:nvGrpSpPr>
        <p:grpSpPr bwMode="auto">
          <a:xfrm>
            <a:off x="7913688" y="2146300"/>
            <a:ext cx="709612" cy="703263"/>
            <a:chOff x="4337" y="290"/>
            <a:chExt cx="447" cy="443"/>
          </a:xfrm>
        </p:grpSpPr>
        <p:graphicFrame>
          <p:nvGraphicFramePr>
            <p:cNvPr id="14343" name="Object 36"/>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4404" name="Clip" r:id="rId1" imgW="18192750" imgH="15087600" progId="">
                    <p:embed/>
                  </p:oleObj>
                </mc:Choice>
                <mc:Fallback>
                  <p:oleObj name="Clip" r:id="rId1" imgW="18192750" imgH="15087600" progId="">
                    <p:embed/>
                    <p:pic>
                      <p:nvPicPr>
                        <p:cNvPr id="0" name="Object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435" name="Group 37"/>
            <p:cNvGrpSpPr/>
            <p:nvPr/>
          </p:nvGrpSpPr>
          <p:grpSpPr bwMode="auto">
            <a:xfrm>
              <a:off x="4337" y="367"/>
              <a:ext cx="447" cy="366"/>
              <a:chOff x="4189" y="817"/>
              <a:chExt cx="521" cy="366"/>
            </a:xfrm>
          </p:grpSpPr>
          <p:sp>
            <p:nvSpPr>
              <p:cNvPr id="14436" name="Rectangle 38"/>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4437" name="Text Box 39"/>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4352" name="Group 40"/>
          <p:cNvGrpSpPr/>
          <p:nvPr/>
        </p:nvGrpSpPr>
        <p:grpSpPr bwMode="auto">
          <a:xfrm>
            <a:off x="8142288" y="3155950"/>
            <a:ext cx="709612" cy="703263"/>
            <a:chOff x="4337" y="290"/>
            <a:chExt cx="447" cy="443"/>
          </a:xfrm>
        </p:grpSpPr>
        <p:graphicFrame>
          <p:nvGraphicFramePr>
            <p:cNvPr id="14342" name="Object 41"/>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4405" name="Clip" r:id="rId3" imgW="18192750" imgH="15087600" progId="">
                    <p:embed/>
                  </p:oleObj>
                </mc:Choice>
                <mc:Fallback>
                  <p:oleObj name="Clip" r:id="rId3" imgW="18192750" imgH="15087600" progId="">
                    <p:embed/>
                    <p:pic>
                      <p:nvPicPr>
                        <p:cNvPr id="0" name="Object 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432" name="Group 42"/>
            <p:cNvGrpSpPr/>
            <p:nvPr/>
          </p:nvGrpSpPr>
          <p:grpSpPr bwMode="auto">
            <a:xfrm>
              <a:off x="4337" y="367"/>
              <a:ext cx="447" cy="366"/>
              <a:chOff x="4189" y="817"/>
              <a:chExt cx="521" cy="366"/>
            </a:xfrm>
          </p:grpSpPr>
          <p:sp>
            <p:nvSpPr>
              <p:cNvPr id="14433" name="Rectangle 43"/>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4434" name="Text Box 44"/>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4353" name="Group 45"/>
          <p:cNvGrpSpPr/>
          <p:nvPr/>
        </p:nvGrpSpPr>
        <p:grpSpPr bwMode="auto">
          <a:xfrm>
            <a:off x="7913688" y="4203700"/>
            <a:ext cx="709612" cy="703263"/>
            <a:chOff x="4337" y="290"/>
            <a:chExt cx="447" cy="443"/>
          </a:xfrm>
        </p:grpSpPr>
        <p:graphicFrame>
          <p:nvGraphicFramePr>
            <p:cNvPr id="14341" name="Object 46"/>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4406" name="Clip" r:id="rId4" imgW="18192750" imgH="15087600" progId="">
                    <p:embed/>
                  </p:oleObj>
                </mc:Choice>
                <mc:Fallback>
                  <p:oleObj name="Clip" r:id="rId4" imgW="18192750" imgH="15087600" progId="">
                    <p:embed/>
                    <p:pic>
                      <p:nvPicPr>
                        <p:cNvPr id="0" name="Object 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429" name="Group 47"/>
            <p:cNvGrpSpPr/>
            <p:nvPr/>
          </p:nvGrpSpPr>
          <p:grpSpPr bwMode="auto">
            <a:xfrm>
              <a:off x="4337" y="367"/>
              <a:ext cx="447" cy="366"/>
              <a:chOff x="4189" y="817"/>
              <a:chExt cx="521" cy="366"/>
            </a:xfrm>
          </p:grpSpPr>
          <p:sp>
            <p:nvSpPr>
              <p:cNvPr id="14430" name="Rectangle 48"/>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4431" name="Text Box 49"/>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4354" name="Group 50"/>
          <p:cNvGrpSpPr/>
          <p:nvPr/>
        </p:nvGrpSpPr>
        <p:grpSpPr bwMode="auto">
          <a:xfrm>
            <a:off x="5187950" y="3965575"/>
            <a:ext cx="822325" cy="1501775"/>
            <a:chOff x="3484" y="2522"/>
            <a:chExt cx="518" cy="946"/>
          </a:xfrm>
        </p:grpSpPr>
        <p:grpSp>
          <p:nvGrpSpPr>
            <p:cNvPr id="2" name="Group 51"/>
            <p:cNvGrpSpPr/>
            <p:nvPr/>
          </p:nvGrpSpPr>
          <p:grpSpPr bwMode="auto">
            <a:xfrm>
              <a:off x="3631" y="2522"/>
              <a:ext cx="224" cy="588"/>
              <a:chOff x="4180" y="783"/>
              <a:chExt cx="150" cy="307"/>
            </a:xfrm>
          </p:grpSpPr>
          <p:sp>
            <p:nvSpPr>
              <p:cNvPr id="14421" name="AutoShape 52"/>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4422" name="Rectangle 53"/>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4423" name="Rectangle 54"/>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4424" name="AutoShape 5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4425" name="Line 56"/>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4426" name="Line 57"/>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4427" name="Rectangle 58"/>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4428" name="Rectangle 59"/>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3" name="Group 60"/>
            <p:cNvGrpSpPr/>
            <p:nvPr/>
          </p:nvGrpSpPr>
          <p:grpSpPr bwMode="auto">
            <a:xfrm>
              <a:off x="3484" y="2807"/>
              <a:ext cx="518" cy="661"/>
              <a:chOff x="4288" y="2627"/>
              <a:chExt cx="518" cy="661"/>
            </a:xfrm>
          </p:grpSpPr>
          <p:sp>
            <p:nvSpPr>
              <p:cNvPr id="4" name="Rectangle 61"/>
              <p:cNvSpPr>
                <a:spLocks noChangeArrowheads="1"/>
              </p:cNvSpPr>
              <p:nvPr/>
            </p:nvSpPr>
            <p:spPr bwMode="auto">
              <a:xfrm>
                <a:off x="4296" y="2652"/>
                <a:ext cx="510" cy="636"/>
              </a:xfrm>
              <a:prstGeom prst="rect">
                <a:avLst/>
              </a:prstGeom>
              <a:solidFill>
                <a:schemeClr val="hlink"/>
              </a:solidFill>
              <a:ln w="19050">
                <a:solidFill>
                  <a:schemeClr val="tx1"/>
                </a:solidFill>
                <a:miter lim="800000"/>
              </a:ln>
            </p:spPr>
            <p:txBody>
              <a:bodyPr wrap="none" anchor="ctr"/>
              <a:lstStyle/>
              <a:p>
                <a:endParaRPr lang="en-US"/>
              </a:p>
            </p:txBody>
          </p:sp>
          <p:sp>
            <p:nvSpPr>
              <p:cNvPr id="14407" name="Text Box 62"/>
              <p:cNvSpPr txBox="1">
                <a:spLocks noChangeArrowheads="1"/>
              </p:cNvSpPr>
              <p:nvPr/>
            </p:nvSpPr>
            <p:spPr bwMode="auto">
              <a:xfrm>
                <a:off x="4288" y="2627"/>
                <a:ext cx="504" cy="366"/>
              </a:xfrm>
              <a:prstGeom prst="rect">
                <a:avLst/>
              </a:prstGeom>
              <a:noFill/>
              <a:ln w="9525">
                <a:noFill/>
                <a:miter lim="800000"/>
              </a:ln>
            </p:spPr>
            <p:txBody>
              <a:bodyPr wrap="none">
                <a:spAutoFit/>
              </a:bodyPr>
              <a:lstStyle/>
              <a:p>
                <a:pPr algn="ctr">
                  <a:spcBef>
                    <a:spcPct val="0"/>
                  </a:spcBef>
                  <a:buClrTx/>
                  <a:buSzTx/>
                  <a:buFontTx/>
                  <a:buNone/>
                </a:pPr>
                <a:r>
                  <a:rPr lang="en-US" sz="1600"/>
                  <a:t>mail</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14408" name="Rectangle 63"/>
              <p:cNvSpPr>
                <a:spLocks noChangeArrowheads="1"/>
              </p:cNvSpPr>
              <p:nvPr/>
            </p:nvSpPr>
            <p:spPr bwMode="auto">
              <a:xfrm>
                <a:off x="4320" y="300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4409" name="Line 64"/>
              <p:cNvSpPr>
                <a:spLocks noChangeShapeType="1"/>
              </p:cNvSpPr>
              <p:nvPr/>
            </p:nvSpPr>
            <p:spPr bwMode="auto">
              <a:xfrm>
                <a:off x="4369" y="3034"/>
                <a:ext cx="0" cy="72"/>
              </a:xfrm>
              <a:prstGeom prst="line">
                <a:avLst/>
              </a:prstGeom>
              <a:noFill/>
              <a:ln w="19050">
                <a:solidFill>
                  <a:schemeClr val="tx1"/>
                </a:solidFill>
                <a:round/>
              </a:ln>
            </p:spPr>
            <p:txBody>
              <a:bodyPr wrap="none" anchor="ctr"/>
              <a:lstStyle/>
              <a:p>
                <a:endParaRPr lang="en-US"/>
              </a:p>
            </p:txBody>
          </p:sp>
          <p:sp>
            <p:nvSpPr>
              <p:cNvPr id="14410" name="Line 65"/>
              <p:cNvSpPr>
                <a:spLocks noChangeShapeType="1"/>
              </p:cNvSpPr>
              <p:nvPr/>
            </p:nvSpPr>
            <p:spPr bwMode="auto">
              <a:xfrm>
                <a:off x="4478" y="3033"/>
                <a:ext cx="0" cy="72"/>
              </a:xfrm>
              <a:prstGeom prst="line">
                <a:avLst/>
              </a:prstGeom>
              <a:noFill/>
              <a:ln w="19050">
                <a:solidFill>
                  <a:schemeClr val="tx1"/>
                </a:solidFill>
                <a:round/>
              </a:ln>
            </p:spPr>
            <p:txBody>
              <a:bodyPr wrap="none" anchor="ctr"/>
              <a:lstStyle/>
              <a:p>
                <a:endParaRPr lang="en-US"/>
              </a:p>
            </p:txBody>
          </p:sp>
          <p:sp>
            <p:nvSpPr>
              <p:cNvPr id="14411" name="Line 66"/>
              <p:cNvSpPr>
                <a:spLocks noChangeShapeType="1"/>
              </p:cNvSpPr>
              <p:nvPr/>
            </p:nvSpPr>
            <p:spPr bwMode="auto">
              <a:xfrm>
                <a:off x="4533" y="3035"/>
                <a:ext cx="0" cy="72"/>
              </a:xfrm>
              <a:prstGeom prst="line">
                <a:avLst/>
              </a:prstGeom>
              <a:noFill/>
              <a:ln w="19050">
                <a:solidFill>
                  <a:schemeClr val="tx1"/>
                </a:solidFill>
                <a:round/>
              </a:ln>
            </p:spPr>
            <p:txBody>
              <a:bodyPr wrap="none" anchor="ctr"/>
              <a:lstStyle/>
              <a:p>
                <a:endParaRPr lang="en-US"/>
              </a:p>
            </p:txBody>
          </p:sp>
          <p:sp>
            <p:nvSpPr>
              <p:cNvPr id="14412" name="Line 67"/>
              <p:cNvSpPr>
                <a:spLocks noChangeShapeType="1"/>
              </p:cNvSpPr>
              <p:nvPr/>
            </p:nvSpPr>
            <p:spPr bwMode="auto">
              <a:xfrm>
                <a:off x="4590" y="3033"/>
                <a:ext cx="0" cy="72"/>
              </a:xfrm>
              <a:prstGeom prst="line">
                <a:avLst/>
              </a:prstGeom>
              <a:noFill/>
              <a:ln w="19050">
                <a:solidFill>
                  <a:schemeClr val="tx1"/>
                </a:solidFill>
                <a:round/>
              </a:ln>
            </p:spPr>
            <p:txBody>
              <a:bodyPr wrap="none" anchor="ctr"/>
              <a:lstStyle/>
              <a:p>
                <a:endParaRPr lang="en-US"/>
              </a:p>
            </p:txBody>
          </p:sp>
          <p:sp>
            <p:nvSpPr>
              <p:cNvPr id="14413" name="Line 68"/>
              <p:cNvSpPr>
                <a:spLocks noChangeShapeType="1"/>
              </p:cNvSpPr>
              <p:nvPr/>
            </p:nvSpPr>
            <p:spPr bwMode="auto">
              <a:xfrm>
                <a:off x="4651" y="3033"/>
                <a:ext cx="0" cy="72"/>
              </a:xfrm>
              <a:prstGeom prst="line">
                <a:avLst/>
              </a:prstGeom>
              <a:noFill/>
              <a:ln w="19050">
                <a:solidFill>
                  <a:schemeClr val="tx1"/>
                </a:solidFill>
                <a:round/>
              </a:ln>
            </p:spPr>
            <p:txBody>
              <a:bodyPr wrap="none" anchor="ctr"/>
              <a:lstStyle/>
              <a:p>
                <a:endParaRPr lang="en-US"/>
              </a:p>
            </p:txBody>
          </p:sp>
          <p:sp>
            <p:nvSpPr>
              <p:cNvPr id="14414" name="Line 69"/>
              <p:cNvSpPr>
                <a:spLocks noChangeShapeType="1"/>
              </p:cNvSpPr>
              <p:nvPr/>
            </p:nvSpPr>
            <p:spPr bwMode="auto">
              <a:xfrm>
                <a:off x="4707" y="3033"/>
                <a:ext cx="0" cy="72"/>
              </a:xfrm>
              <a:prstGeom prst="line">
                <a:avLst/>
              </a:prstGeom>
              <a:noFill/>
              <a:ln w="19050">
                <a:solidFill>
                  <a:schemeClr val="tx1"/>
                </a:solidFill>
                <a:round/>
              </a:ln>
            </p:spPr>
            <p:txBody>
              <a:bodyPr wrap="none" anchor="ctr"/>
              <a:lstStyle/>
              <a:p>
                <a:endParaRPr lang="en-US"/>
              </a:p>
            </p:txBody>
          </p:sp>
          <p:sp>
            <p:nvSpPr>
              <p:cNvPr id="14415" name="Line 70"/>
              <p:cNvSpPr>
                <a:spLocks noChangeShapeType="1"/>
              </p:cNvSpPr>
              <p:nvPr/>
            </p:nvSpPr>
            <p:spPr bwMode="auto">
              <a:xfrm>
                <a:off x="4422" y="3034"/>
                <a:ext cx="0" cy="72"/>
              </a:xfrm>
              <a:prstGeom prst="line">
                <a:avLst/>
              </a:prstGeom>
              <a:noFill/>
              <a:ln w="19050">
                <a:solidFill>
                  <a:schemeClr val="tx1"/>
                </a:solidFill>
                <a:round/>
              </a:ln>
            </p:spPr>
            <p:txBody>
              <a:bodyPr wrap="none" anchor="ctr"/>
              <a:lstStyle/>
              <a:p>
                <a:endParaRPr lang="en-US"/>
              </a:p>
            </p:txBody>
          </p:sp>
          <p:sp>
            <p:nvSpPr>
              <p:cNvPr id="14416" name="Rectangle 71"/>
              <p:cNvSpPr>
                <a:spLocks noChangeArrowheads="1"/>
              </p:cNvSpPr>
              <p:nvPr/>
            </p:nvSpPr>
            <p:spPr bwMode="auto">
              <a:xfrm>
                <a:off x="4328"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417" name="Rectangle 72"/>
              <p:cNvSpPr>
                <a:spLocks noChangeArrowheads="1"/>
              </p:cNvSpPr>
              <p:nvPr/>
            </p:nvSpPr>
            <p:spPr bwMode="auto">
              <a:xfrm>
                <a:off x="4414"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418" name="Rectangle 73"/>
              <p:cNvSpPr>
                <a:spLocks noChangeArrowheads="1"/>
              </p:cNvSpPr>
              <p:nvPr/>
            </p:nvSpPr>
            <p:spPr bwMode="auto">
              <a:xfrm>
                <a:off x="4500" y="317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419" name="Rectangle 74"/>
              <p:cNvSpPr>
                <a:spLocks noChangeArrowheads="1"/>
              </p:cNvSpPr>
              <p:nvPr/>
            </p:nvSpPr>
            <p:spPr bwMode="auto">
              <a:xfrm>
                <a:off x="4597" y="317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420" name="Rectangle 75"/>
              <p:cNvSpPr>
                <a:spLocks noChangeArrowheads="1"/>
              </p:cNvSpPr>
              <p:nvPr/>
            </p:nvSpPr>
            <p:spPr bwMode="auto">
              <a:xfrm>
                <a:off x="4693" y="3170"/>
                <a:ext cx="64" cy="93"/>
              </a:xfrm>
              <a:prstGeom prst="rect">
                <a:avLst/>
              </a:prstGeom>
              <a:solidFill>
                <a:srgbClr val="FFFF00"/>
              </a:solidFill>
              <a:ln w="9525">
                <a:solidFill>
                  <a:schemeClr val="tx1"/>
                </a:solidFill>
                <a:miter lim="800000"/>
              </a:ln>
            </p:spPr>
            <p:txBody>
              <a:bodyPr wrap="none" anchor="ctr"/>
              <a:lstStyle/>
              <a:p>
                <a:endParaRPr lang="en-US"/>
              </a:p>
            </p:txBody>
          </p:sp>
        </p:grpSp>
      </p:grpSp>
      <p:grpSp>
        <p:nvGrpSpPr>
          <p:cNvPr id="14355" name="Group 76"/>
          <p:cNvGrpSpPr/>
          <p:nvPr/>
        </p:nvGrpSpPr>
        <p:grpSpPr bwMode="auto">
          <a:xfrm>
            <a:off x="6142038" y="5070475"/>
            <a:ext cx="709612" cy="703263"/>
            <a:chOff x="4337" y="290"/>
            <a:chExt cx="447" cy="443"/>
          </a:xfrm>
        </p:grpSpPr>
        <p:graphicFrame>
          <p:nvGraphicFramePr>
            <p:cNvPr id="14340" name="Object 77"/>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5" name="Clip" r:id="rId5" imgW="18192750" imgH="15087600" progId="">
                    <p:embed/>
                  </p:oleObj>
                </mc:Choice>
                <mc:Fallback>
                  <p:oleObj name="Clip" r:id="rId5" imgW="18192750" imgH="15087600" progId="">
                    <p:embed/>
                    <p:pic>
                      <p:nvPicPr>
                        <p:cNvPr id="0" name="Object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401" name="Group 78"/>
            <p:cNvGrpSpPr/>
            <p:nvPr/>
          </p:nvGrpSpPr>
          <p:grpSpPr bwMode="auto">
            <a:xfrm>
              <a:off x="4337" y="367"/>
              <a:ext cx="447" cy="366"/>
              <a:chOff x="4189" y="817"/>
              <a:chExt cx="521" cy="366"/>
            </a:xfrm>
          </p:grpSpPr>
          <p:sp>
            <p:nvSpPr>
              <p:cNvPr id="14402" name="Rectangle 79"/>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4403" name="Text Box 80"/>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4356" name="Group 81"/>
          <p:cNvGrpSpPr/>
          <p:nvPr/>
        </p:nvGrpSpPr>
        <p:grpSpPr bwMode="auto">
          <a:xfrm>
            <a:off x="5303838" y="5575300"/>
            <a:ext cx="709612" cy="703263"/>
            <a:chOff x="4337" y="290"/>
            <a:chExt cx="447" cy="443"/>
          </a:xfrm>
        </p:grpSpPr>
        <p:graphicFrame>
          <p:nvGraphicFramePr>
            <p:cNvPr id="14339" name="Object 82"/>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6" name="Clip" r:id="rId6" imgW="18192750" imgH="15087600" progId="">
                    <p:embed/>
                  </p:oleObj>
                </mc:Choice>
                <mc:Fallback>
                  <p:oleObj name="Clip" r:id="rId6" imgW="18192750" imgH="15087600" progId="">
                    <p:embed/>
                    <p:pic>
                      <p:nvPicPr>
                        <p:cNvPr id="0" name="Object 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398" name="Group 83"/>
            <p:cNvGrpSpPr/>
            <p:nvPr/>
          </p:nvGrpSpPr>
          <p:grpSpPr bwMode="auto">
            <a:xfrm>
              <a:off x="4337" y="367"/>
              <a:ext cx="447" cy="366"/>
              <a:chOff x="4189" y="817"/>
              <a:chExt cx="521" cy="366"/>
            </a:xfrm>
          </p:grpSpPr>
          <p:sp>
            <p:nvSpPr>
              <p:cNvPr id="14399" name="Rectangle 84"/>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4400" name="Text Box 85"/>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4357" name="Group 86"/>
          <p:cNvGrpSpPr/>
          <p:nvPr/>
        </p:nvGrpSpPr>
        <p:grpSpPr bwMode="auto">
          <a:xfrm>
            <a:off x="5187950" y="1708150"/>
            <a:ext cx="822325" cy="1501775"/>
            <a:chOff x="3484" y="2522"/>
            <a:chExt cx="518" cy="946"/>
          </a:xfrm>
        </p:grpSpPr>
        <p:grpSp>
          <p:nvGrpSpPr>
            <p:cNvPr id="14373" name="Group 87"/>
            <p:cNvGrpSpPr/>
            <p:nvPr/>
          </p:nvGrpSpPr>
          <p:grpSpPr bwMode="auto">
            <a:xfrm>
              <a:off x="3631" y="2522"/>
              <a:ext cx="224" cy="588"/>
              <a:chOff x="4180" y="783"/>
              <a:chExt cx="150" cy="307"/>
            </a:xfrm>
          </p:grpSpPr>
          <p:sp>
            <p:nvSpPr>
              <p:cNvPr id="14390" name="AutoShape 88"/>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4391" name="Rectangle 89"/>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4392" name="Rectangle 90"/>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4393" name="AutoShape 91"/>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4394" name="Line 92"/>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4395" name="Line 93"/>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4396" name="Rectangle 94"/>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4397" name="Rectangle 95"/>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4374" name="Group 96"/>
            <p:cNvGrpSpPr/>
            <p:nvPr/>
          </p:nvGrpSpPr>
          <p:grpSpPr bwMode="auto">
            <a:xfrm>
              <a:off x="3484" y="2807"/>
              <a:ext cx="518" cy="661"/>
              <a:chOff x="4288" y="2627"/>
              <a:chExt cx="518" cy="661"/>
            </a:xfrm>
          </p:grpSpPr>
          <p:sp>
            <p:nvSpPr>
              <p:cNvPr id="14375" name="Rectangle 97"/>
              <p:cNvSpPr>
                <a:spLocks noChangeArrowheads="1"/>
              </p:cNvSpPr>
              <p:nvPr/>
            </p:nvSpPr>
            <p:spPr bwMode="auto">
              <a:xfrm>
                <a:off x="4296" y="2652"/>
                <a:ext cx="510" cy="636"/>
              </a:xfrm>
              <a:prstGeom prst="rect">
                <a:avLst/>
              </a:prstGeom>
              <a:solidFill>
                <a:schemeClr val="hlink"/>
              </a:solidFill>
              <a:ln w="19050">
                <a:solidFill>
                  <a:schemeClr val="tx1"/>
                </a:solidFill>
                <a:miter lim="800000"/>
              </a:ln>
            </p:spPr>
            <p:txBody>
              <a:bodyPr wrap="none" anchor="ctr"/>
              <a:lstStyle/>
              <a:p>
                <a:endParaRPr lang="en-US"/>
              </a:p>
            </p:txBody>
          </p:sp>
          <p:sp>
            <p:nvSpPr>
              <p:cNvPr id="14376" name="Text Box 98"/>
              <p:cNvSpPr txBox="1">
                <a:spLocks noChangeArrowheads="1"/>
              </p:cNvSpPr>
              <p:nvPr/>
            </p:nvSpPr>
            <p:spPr bwMode="auto">
              <a:xfrm>
                <a:off x="4288" y="2627"/>
                <a:ext cx="504" cy="366"/>
              </a:xfrm>
              <a:prstGeom prst="rect">
                <a:avLst/>
              </a:prstGeom>
              <a:noFill/>
              <a:ln w="9525">
                <a:noFill/>
                <a:miter lim="800000"/>
              </a:ln>
            </p:spPr>
            <p:txBody>
              <a:bodyPr wrap="none">
                <a:spAutoFit/>
              </a:bodyPr>
              <a:lstStyle/>
              <a:p>
                <a:pPr algn="ctr">
                  <a:spcBef>
                    <a:spcPct val="0"/>
                  </a:spcBef>
                  <a:buClrTx/>
                  <a:buSzTx/>
                  <a:buFontTx/>
                  <a:buNone/>
                </a:pPr>
                <a:r>
                  <a:rPr lang="en-US" sz="1600"/>
                  <a:t>mail</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14377" name="Rectangle 99"/>
              <p:cNvSpPr>
                <a:spLocks noChangeArrowheads="1"/>
              </p:cNvSpPr>
              <p:nvPr/>
            </p:nvSpPr>
            <p:spPr bwMode="auto">
              <a:xfrm>
                <a:off x="4320" y="300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4378" name="Line 100"/>
              <p:cNvSpPr>
                <a:spLocks noChangeShapeType="1"/>
              </p:cNvSpPr>
              <p:nvPr/>
            </p:nvSpPr>
            <p:spPr bwMode="auto">
              <a:xfrm>
                <a:off x="4369" y="3034"/>
                <a:ext cx="0" cy="72"/>
              </a:xfrm>
              <a:prstGeom prst="line">
                <a:avLst/>
              </a:prstGeom>
              <a:noFill/>
              <a:ln w="19050">
                <a:solidFill>
                  <a:schemeClr val="tx1"/>
                </a:solidFill>
                <a:round/>
              </a:ln>
            </p:spPr>
            <p:txBody>
              <a:bodyPr wrap="none" anchor="ctr"/>
              <a:lstStyle/>
              <a:p>
                <a:endParaRPr lang="en-US"/>
              </a:p>
            </p:txBody>
          </p:sp>
          <p:sp>
            <p:nvSpPr>
              <p:cNvPr id="14379" name="Line 101"/>
              <p:cNvSpPr>
                <a:spLocks noChangeShapeType="1"/>
              </p:cNvSpPr>
              <p:nvPr/>
            </p:nvSpPr>
            <p:spPr bwMode="auto">
              <a:xfrm>
                <a:off x="4478" y="3033"/>
                <a:ext cx="0" cy="72"/>
              </a:xfrm>
              <a:prstGeom prst="line">
                <a:avLst/>
              </a:prstGeom>
              <a:noFill/>
              <a:ln w="19050">
                <a:solidFill>
                  <a:schemeClr val="tx1"/>
                </a:solidFill>
                <a:round/>
              </a:ln>
            </p:spPr>
            <p:txBody>
              <a:bodyPr wrap="none" anchor="ctr"/>
              <a:lstStyle/>
              <a:p>
                <a:endParaRPr lang="en-US"/>
              </a:p>
            </p:txBody>
          </p:sp>
          <p:sp>
            <p:nvSpPr>
              <p:cNvPr id="14380" name="Line 102"/>
              <p:cNvSpPr>
                <a:spLocks noChangeShapeType="1"/>
              </p:cNvSpPr>
              <p:nvPr/>
            </p:nvSpPr>
            <p:spPr bwMode="auto">
              <a:xfrm>
                <a:off x="4533" y="3035"/>
                <a:ext cx="0" cy="72"/>
              </a:xfrm>
              <a:prstGeom prst="line">
                <a:avLst/>
              </a:prstGeom>
              <a:noFill/>
              <a:ln w="19050">
                <a:solidFill>
                  <a:schemeClr val="tx1"/>
                </a:solidFill>
                <a:round/>
              </a:ln>
            </p:spPr>
            <p:txBody>
              <a:bodyPr wrap="none" anchor="ctr"/>
              <a:lstStyle/>
              <a:p>
                <a:endParaRPr lang="en-US"/>
              </a:p>
            </p:txBody>
          </p:sp>
          <p:sp>
            <p:nvSpPr>
              <p:cNvPr id="14381" name="Line 103"/>
              <p:cNvSpPr>
                <a:spLocks noChangeShapeType="1"/>
              </p:cNvSpPr>
              <p:nvPr/>
            </p:nvSpPr>
            <p:spPr bwMode="auto">
              <a:xfrm>
                <a:off x="4590" y="3033"/>
                <a:ext cx="0" cy="72"/>
              </a:xfrm>
              <a:prstGeom prst="line">
                <a:avLst/>
              </a:prstGeom>
              <a:noFill/>
              <a:ln w="19050">
                <a:solidFill>
                  <a:schemeClr val="tx1"/>
                </a:solidFill>
                <a:round/>
              </a:ln>
            </p:spPr>
            <p:txBody>
              <a:bodyPr wrap="none" anchor="ctr"/>
              <a:lstStyle/>
              <a:p>
                <a:endParaRPr lang="en-US"/>
              </a:p>
            </p:txBody>
          </p:sp>
          <p:sp>
            <p:nvSpPr>
              <p:cNvPr id="14382" name="Line 104"/>
              <p:cNvSpPr>
                <a:spLocks noChangeShapeType="1"/>
              </p:cNvSpPr>
              <p:nvPr/>
            </p:nvSpPr>
            <p:spPr bwMode="auto">
              <a:xfrm>
                <a:off x="4651" y="3033"/>
                <a:ext cx="0" cy="72"/>
              </a:xfrm>
              <a:prstGeom prst="line">
                <a:avLst/>
              </a:prstGeom>
              <a:noFill/>
              <a:ln w="19050">
                <a:solidFill>
                  <a:schemeClr val="tx1"/>
                </a:solidFill>
                <a:round/>
              </a:ln>
            </p:spPr>
            <p:txBody>
              <a:bodyPr wrap="none" anchor="ctr"/>
              <a:lstStyle/>
              <a:p>
                <a:endParaRPr lang="en-US"/>
              </a:p>
            </p:txBody>
          </p:sp>
          <p:sp>
            <p:nvSpPr>
              <p:cNvPr id="14383" name="Line 105"/>
              <p:cNvSpPr>
                <a:spLocks noChangeShapeType="1"/>
              </p:cNvSpPr>
              <p:nvPr/>
            </p:nvSpPr>
            <p:spPr bwMode="auto">
              <a:xfrm>
                <a:off x="4707" y="3033"/>
                <a:ext cx="0" cy="72"/>
              </a:xfrm>
              <a:prstGeom prst="line">
                <a:avLst/>
              </a:prstGeom>
              <a:noFill/>
              <a:ln w="19050">
                <a:solidFill>
                  <a:schemeClr val="tx1"/>
                </a:solidFill>
                <a:round/>
              </a:ln>
            </p:spPr>
            <p:txBody>
              <a:bodyPr wrap="none" anchor="ctr"/>
              <a:lstStyle/>
              <a:p>
                <a:endParaRPr lang="en-US"/>
              </a:p>
            </p:txBody>
          </p:sp>
          <p:sp>
            <p:nvSpPr>
              <p:cNvPr id="14384" name="Line 106"/>
              <p:cNvSpPr>
                <a:spLocks noChangeShapeType="1"/>
              </p:cNvSpPr>
              <p:nvPr/>
            </p:nvSpPr>
            <p:spPr bwMode="auto">
              <a:xfrm>
                <a:off x="4422" y="3034"/>
                <a:ext cx="0" cy="72"/>
              </a:xfrm>
              <a:prstGeom prst="line">
                <a:avLst/>
              </a:prstGeom>
              <a:noFill/>
              <a:ln w="19050">
                <a:solidFill>
                  <a:schemeClr val="tx1"/>
                </a:solidFill>
                <a:round/>
              </a:ln>
            </p:spPr>
            <p:txBody>
              <a:bodyPr wrap="none" anchor="ctr"/>
              <a:lstStyle/>
              <a:p>
                <a:endParaRPr lang="en-US"/>
              </a:p>
            </p:txBody>
          </p:sp>
          <p:sp>
            <p:nvSpPr>
              <p:cNvPr id="14385" name="Rectangle 107"/>
              <p:cNvSpPr>
                <a:spLocks noChangeArrowheads="1"/>
              </p:cNvSpPr>
              <p:nvPr/>
            </p:nvSpPr>
            <p:spPr bwMode="auto">
              <a:xfrm>
                <a:off x="4328"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386" name="Rectangle 108"/>
              <p:cNvSpPr>
                <a:spLocks noChangeArrowheads="1"/>
              </p:cNvSpPr>
              <p:nvPr/>
            </p:nvSpPr>
            <p:spPr bwMode="auto">
              <a:xfrm>
                <a:off x="4414"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387" name="Rectangle 109"/>
              <p:cNvSpPr>
                <a:spLocks noChangeArrowheads="1"/>
              </p:cNvSpPr>
              <p:nvPr/>
            </p:nvSpPr>
            <p:spPr bwMode="auto">
              <a:xfrm>
                <a:off x="4500" y="317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388" name="Rectangle 110"/>
              <p:cNvSpPr>
                <a:spLocks noChangeArrowheads="1"/>
              </p:cNvSpPr>
              <p:nvPr/>
            </p:nvSpPr>
            <p:spPr bwMode="auto">
              <a:xfrm>
                <a:off x="4597" y="317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4389" name="Rectangle 111"/>
              <p:cNvSpPr>
                <a:spLocks noChangeArrowheads="1"/>
              </p:cNvSpPr>
              <p:nvPr/>
            </p:nvSpPr>
            <p:spPr bwMode="auto">
              <a:xfrm>
                <a:off x="4693" y="3170"/>
                <a:ext cx="64" cy="93"/>
              </a:xfrm>
              <a:prstGeom prst="rect">
                <a:avLst/>
              </a:prstGeom>
              <a:solidFill>
                <a:srgbClr val="FFFF00"/>
              </a:solidFill>
              <a:ln w="9525">
                <a:solidFill>
                  <a:schemeClr val="tx1"/>
                </a:solidFill>
                <a:miter lim="800000"/>
              </a:ln>
            </p:spPr>
            <p:txBody>
              <a:bodyPr wrap="none" anchor="ctr"/>
              <a:lstStyle/>
              <a:p>
                <a:endParaRPr lang="en-US"/>
              </a:p>
            </p:txBody>
          </p:sp>
        </p:grpSp>
      </p:grpSp>
      <p:grpSp>
        <p:nvGrpSpPr>
          <p:cNvPr id="14358" name="Group 112"/>
          <p:cNvGrpSpPr/>
          <p:nvPr/>
        </p:nvGrpSpPr>
        <p:grpSpPr bwMode="auto">
          <a:xfrm>
            <a:off x="5932488" y="1450975"/>
            <a:ext cx="709612" cy="703263"/>
            <a:chOff x="4337" y="290"/>
            <a:chExt cx="447" cy="443"/>
          </a:xfrm>
        </p:grpSpPr>
        <p:graphicFrame>
          <p:nvGraphicFramePr>
            <p:cNvPr id="14338" name="Object 113"/>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7" name="Clip" r:id="rId7" imgW="18192750" imgH="15087600" progId="">
                    <p:embed/>
                  </p:oleObj>
                </mc:Choice>
                <mc:Fallback>
                  <p:oleObj name="Clip" r:id="rId7" imgW="18192750" imgH="15087600" progId="">
                    <p:embed/>
                    <p:pic>
                      <p:nvPicPr>
                        <p:cNvPr id="0" name="Object 1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370" name="Group 114"/>
            <p:cNvGrpSpPr/>
            <p:nvPr/>
          </p:nvGrpSpPr>
          <p:grpSpPr bwMode="auto">
            <a:xfrm>
              <a:off x="4337" y="367"/>
              <a:ext cx="447" cy="366"/>
              <a:chOff x="4189" y="817"/>
              <a:chExt cx="521" cy="366"/>
            </a:xfrm>
          </p:grpSpPr>
          <p:sp>
            <p:nvSpPr>
              <p:cNvPr id="14371" name="Rectangle 115"/>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4372" name="Text Box 116"/>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sp>
        <p:nvSpPr>
          <p:cNvPr id="14359" name="Line 117"/>
          <p:cNvSpPr>
            <a:spLocks noChangeShapeType="1"/>
          </p:cNvSpPr>
          <p:nvPr/>
        </p:nvSpPr>
        <p:spPr bwMode="auto">
          <a:xfrm flipV="1">
            <a:off x="6038850" y="3752850"/>
            <a:ext cx="1123950" cy="1085850"/>
          </a:xfrm>
          <a:prstGeom prst="line">
            <a:avLst/>
          </a:prstGeom>
          <a:noFill/>
          <a:ln w="28575">
            <a:solidFill>
              <a:srgbClr val="FF0000"/>
            </a:solidFill>
            <a:round/>
            <a:headEnd type="triangle" w="med" len="med"/>
            <a:tailEnd type="triangle" w="med" len="med"/>
          </a:ln>
        </p:spPr>
        <p:txBody>
          <a:bodyPr wrap="none" anchor="ctr"/>
          <a:lstStyle/>
          <a:p>
            <a:endParaRPr lang="en-US"/>
          </a:p>
        </p:txBody>
      </p:sp>
      <p:sp>
        <p:nvSpPr>
          <p:cNvPr id="14360" name="Line 118"/>
          <p:cNvSpPr>
            <a:spLocks noChangeShapeType="1"/>
          </p:cNvSpPr>
          <p:nvPr/>
        </p:nvSpPr>
        <p:spPr bwMode="auto">
          <a:xfrm flipH="1" flipV="1">
            <a:off x="5295900" y="3228975"/>
            <a:ext cx="0" cy="1247775"/>
          </a:xfrm>
          <a:prstGeom prst="line">
            <a:avLst/>
          </a:prstGeom>
          <a:noFill/>
          <a:ln w="28575">
            <a:solidFill>
              <a:srgbClr val="FF0000"/>
            </a:solidFill>
            <a:round/>
            <a:headEnd type="triangle" w="med" len="med"/>
            <a:tailEnd type="triangle" w="med" len="med"/>
          </a:ln>
        </p:spPr>
        <p:txBody>
          <a:bodyPr wrap="none" anchor="ctr"/>
          <a:lstStyle/>
          <a:p>
            <a:endParaRPr lang="en-US"/>
          </a:p>
        </p:txBody>
      </p:sp>
      <p:grpSp>
        <p:nvGrpSpPr>
          <p:cNvPr id="14361" name="Group 119"/>
          <p:cNvGrpSpPr/>
          <p:nvPr/>
        </p:nvGrpSpPr>
        <p:grpSpPr bwMode="auto">
          <a:xfrm>
            <a:off x="6135688" y="4046538"/>
            <a:ext cx="1031875" cy="457200"/>
            <a:chOff x="3745" y="2537"/>
            <a:chExt cx="650" cy="288"/>
          </a:xfrm>
        </p:grpSpPr>
        <p:sp>
          <p:nvSpPr>
            <p:cNvPr id="14368" name="Rectangle 120"/>
            <p:cNvSpPr>
              <a:spLocks noChangeArrowheads="1"/>
            </p:cNvSpPr>
            <p:nvPr/>
          </p:nvSpPr>
          <p:spPr bwMode="auto">
            <a:xfrm>
              <a:off x="3798" y="2580"/>
              <a:ext cx="540" cy="192"/>
            </a:xfrm>
            <a:prstGeom prst="rect">
              <a:avLst/>
            </a:prstGeom>
            <a:solidFill>
              <a:srgbClr val="FFFFFF"/>
            </a:solidFill>
            <a:ln w="9525">
              <a:noFill/>
              <a:miter lim="800000"/>
            </a:ln>
          </p:spPr>
          <p:txBody>
            <a:bodyPr wrap="none" anchor="ctr"/>
            <a:lstStyle/>
            <a:p>
              <a:endParaRPr lang="en-US"/>
            </a:p>
          </p:txBody>
        </p:sp>
        <p:sp>
          <p:nvSpPr>
            <p:cNvPr id="14369" name="Text Box 121"/>
            <p:cNvSpPr txBox="1">
              <a:spLocks noChangeArrowheads="1"/>
            </p:cNvSpPr>
            <p:nvPr/>
          </p:nvSpPr>
          <p:spPr bwMode="auto">
            <a:xfrm>
              <a:off x="3745" y="2537"/>
              <a:ext cx="650" cy="288"/>
            </a:xfrm>
            <a:prstGeom prst="rect">
              <a:avLst/>
            </a:prstGeom>
            <a:noFill/>
            <a:ln w="9525">
              <a:noFill/>
              <a:miter lim="800000"/>
            </a:ln>
          </p:spPr>
          <p:txBody>
            <a:bodyPr wrap="none">
              <a:spAutoFit/>
            </a:bodyPr>
            <a:lstStyle/>
            <a:p>
              <a:pPr algn="ctr">
                <a:spcBef>
                  <a:spcPct val="0"/>
                </a:spcBef>
                <a:buClrTx/>
                <a:buSzTx/>
                <a:buFontTx/>
                <a:buNone/>
              </a:pPr>
              <a:r>
                <a:rPr lang="en-US">
                  <a:solidFill>
                    <a:srgbClr val="FF0000"/>
                  </a:solidFill>
                </a:rPr>
                <a:t>SMTP</a:t>
              </a:r>
              <a:endParaRPr lang="en-US">
                <a:latin typeface="Times New Roman" panose="02020603050405020304" pitchFamily="18" charset="0"/>
              </a:endParaRPr>
            </a:p>
          </p:txBody>
        </p:sp>
      </p:grpSp>
      <p:grpSp>
        <p:nvGrpSpPr>
          <p:cNvPr id="14362" name="Group 122"/>
          <p:cNvGrpSpPr/>
          <p:nvPr/>
        </p:nvGrpSpPr>
        <p:grpSpPr bwMode="auto">
          <a:xfrm>
            <a:off x="6097588" y="2789238"/>
            <a:ext cx="1031875" cy="457200"/>
            <a:chOff x="3745" y="2537"/>
            <a:chExt cx="650" cy="288"/>
          </a:xfrm>
        </p:grpSpPr>
        <p:sp>
          <p:nvSpPr>
            <p:cNvPr id="14366" name="Rectangle 123"/>
            <p:cNvSpPr>
              <a:spLocks noChangeArrowheads="1"/>
            </p:cNvSpPr>
            <p:nvPr/>
          </p:nvSpPr>
          <p:spPr bwMode="auto">
            <a:xfrm>
              <a:off x="3798" y="2580"/>
              <a:ext cx="540" cy="192"/>
            </a:xfrm>
            <a:prstGeom prst="rect">
              <a:avLst/>
            </a:prstGeom>
            <a:solidFill>
              <a:srgbClr val="FFFFFF"/>
            </a:solidFill>
            <a:ln w="9525">
              <a:noFill/>
              <a:miter lim="800000"/>
            </a:ln>
          </p:spPr>
          <p:txBody>
            <a:bodyPr wrap="none" anchor="ctr"/>
            <a:lstStyle/>
            <a:p>
              <a:endParaRPr lang="en-US"/>
            </a:p>
          </p:txBody>
        </p:sp>
        <p:sp>
          <p:nvSpPr>
            <p:cNvPr id="14367" name="Text Box 124"/>
            <p:cNvSpPr txBox="1">
              <a:spLocks noChangeArrowheads="1"/>
            </p:cNvSpPr>
            <p:nvPr/>
          </p:nvSpPr>
          <p:spPr bwMode="auto">
            <a:xfrm>
              <a:off x="3745" y="2537"/>
              <a:ext cx="650" cy="288"/>
            </a:xfrm>
            <a:prstGeom prst="rect">
              <a:avLst/>
            </a:prstGeom>
            <a:noFill/>
            <a:ln w="9525">
              <a:noFill/>
              <a:miter lim="800000"/>
            </a:ln>
          </p:spPr>
          <p:txBody>
            <a:bodyPr wrap="none">
              <a:spAutoFit/>
            </a:bodyPr>
            <a:lstStyle/>
            <a:p>
              <a:pPr algn="ctr">
                <a:spcBef>
                  <a:spcPct val="0"/>
                </a:spcBef>
                <a:buClrTx/>
                <a:buSzTx/>
                <a:buFontTx/>
                <a:buNone/>
              </a:pPr>
              <a:r>
                <a:rPr lang="en-US">
                  <a:solidFill>
                    <a:srgbClr val="FF0000"/>
                  </a:solidFill>
                </a:rPr>
                <a:t>SMTP</a:t>
              </a:r>
              <a:endParaRPr lang="en-US">
                <a:latin typeface="Times New Roman" panose="02020603050405020304" pitchFamily="18" charset="0"/>
              </a:endParaRPr>
            </a:p>
          </p:txBody>
        </p:sp>
      </p:grpSp>
      <p:grpSp>
        <p:nvGrpSpPr>
          <p:cNvPr id="14363" name="Group 125"/>
          <p:cNvGrpSpPr/>
          <p:nvPr/>
        </p:nvGrpSpPr>
        <p:grpSpPr bwMode="auto">
          <a:xfrm>
            <a:off x="4773613" y="3503613"/>
            <a:ext cx="1031875" cy="457200"/>
            <a:chOff x="3745" y="2537"/>
            <a:chExt cx="650" cy="288"/>
          </a:xfrm>
        </p:grpSpPr>
        <p:sp>
          <p:nvSpPr>
            <p:cNvPr id="14364" name="Rectangle 126"/>
            <p:cNvSpPr>
              <a:spLocks noChangeArrowheads="1"/>
            </p:cNvSpPr>
            <p:nvPr/>
          </p:nvSpPr>
          <p:spPr bwMode="auto">
            <a:xfrm>
              <a:off x="3798" y="2580"/>
              <a:ext cx="540" cy="192"/>
            </a:xfrm>
            <a:prstGeom prst="rect">
              <a:avLst/>
            </a:prstGeom>
            <a:solidFill>
              <a:srgbClr val="FFFFFF"/>
            </a:solidFill>
            <a:ln w="9525">
              <a:noFill/>
              <a:miter lim="800000"/>
            </a:ln>
          </p:spPr>
          <p:txBody>
            <a:bodyPr wrap="none" anchor="ctr"/>
            <a:lstStyle/>
            <a:p>
              <a:endParaRPr lang="en-US"/>
            </a:p>
          </p:txBody>
        </p:sp>
        <p:sp>
          <p:nvSpPr>
            <p:cNvPr id="14365" name="Text Box 127"/>
            <p:cNvSpPr txBox="1">
              <a:spLocks noChangeArrowheads="1"/>
            </p:cNvSpPr>
            <p:nvPr/>
          </p:nvSpPr>
          <p:spPr bwMode="auto">
            <a:xfrm>
              <a:off x="3745" y="2537"/>
              <a:ext cx="650" cy="288"/>
            </a:xfrm>
            <a:prstGeom prst="rect">
              <a:avLst/>
            </a:prstGeom>
            <a:noFill/>
            <a:ln w="9525">
              <a:noFill/>
              <a:miter lim="800000"/>
            </a:ln>
          </p:spPr>
          <p:txBody>
            <a:bodyPr wrap="none">
              <a:spAutoFit/>
            </a:bodyPr>
            <a:lstStyle/>
            <a:p>
              <a:pPr algn="ctr">
                <a:spcBef>
                  <a:spcPct val="0"/>
                </a:spcBef>
                <a:buClrTx/>
                <a:buSzTx/>
                <a:buFontTx/>
                <a:buNone/>
              </a:pPr>
              <a:r>
                <a:rPr lang="en-US">
                  <a:solidFill>
                    <a:srgbClr val="FF0000"/>
                  </a:solidFill>
                </a:rPr>
                <a:t>SMTP</a:t>
              </a:r>
              <a:endParaRPr lang="en-US">
                <a:latin typeface="Times New Roman" panose="02020603050405020304" pitchFamily="18" charset="0"/>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1683" name="Slide Number Placeholder 6"/>
          <p:cNvSpPr>
            <a:spLocks noGrp="1"/>
          </p:cNvSpPr>
          <p:nvPr>
            <p:ph type="sldNum" sz="quarter" idx="12"/>
          </p:nvPr>
        </p:nvSpPr>
        <p:spPr>
          <a:noFill/>
        </p:spPr>
        <p:txBody>
          <a:bodyPr/>
          <a:lstStyle/>
          <a:p>
            <a:fld id="{00EB8C5C-2B92-4F34-8665-E25ECB9A8E9B}" type="slidenum">
              <a:rPr lang="en-US"/>
            </a:fld>
            <a:endParaRPr lang="en-US"/>
          </a:p>
        </p:txBody>
      </p:sp>
      <p:sp>
        <p:nvSpPr>
          <p:cNvPr id="71684" name="Rectangle 2"/>
          <p:cNvSpPr>
            <a:spLocks noGrp="1" noChangeArrowheads="1"/>
          </p:cNvSpPr>
          <p:nvPr>
            <p:ph type="title"/>
          </p:nvPr>
        </p:nvSpPr>
        <p:spPr/>
        <p:txBody>
          <a:bodyPr/>
          <a:lstStyle/>
          <a:p>
            <a:r>
              <a:rPr lang="en-US" sz="3600"/>
              <a:t>Electronic Mail: SMTP </a:t>
            </a:r>
            <a:r>
              <a:rPr lang="en-US" sz="3200"/>
              <a:t>[RFC 2821]</a:t>
            </a:r>
            <a:endParaRPr lang="en-US"/>
          </a:p>
        </p:txBody>
      </p:sp>
      <p:sp>
        <p:nvSpPr>
          <p:cNvPr id="71685" name="Rectangle 3"/>
          <p:cNvSpPr>
            <a:spLocks noGrp="1" noChangeArrowheads="1"/>
          </p:cNvSpPr>
          <p:nvPr>
            <p:ph type="body" sz="half" idx="1"/>
          </p:nvPr>
        </p:nvSpPr>
        <p:spPr>
          <a:xfrm>
            <a:off x="533400" y="1600200"/>
            <a:ext cx="7324725" cy="4648200"/>
          </a:xfrm>
        </p:spPr>
        <p:txBody>
          <a:bodyPr/>
          <a:lstStyle/>
          <a:p>
            <a:r>
              <a:rPr lang="en-US" sz="2000"/>
              <a:t>uses TCP to reliably transfer email message from client to server, port 25</a:t>
            </a:r>
            <a:endParaRPr lang="en-US" sz="2000"/>
          </a:p>
          <a:p>
            <a:r>
              <a:rPr lang="en-US" sz="2000"/>
              <a:t>direct transfer: sending server to receiving server</a:t>
            </a:r>
            <a:endParaRPr lang="en-US" sz="2000"/>
          </a:p>
          <a:p>
            <a:r>
              <a:rPr lang="en-US" sz="2000"/>
              <a:t>three phases of transfer</a:t>
            </a:r>
            <a:endParaRPr lang="en-US" sz="2000"/>
          </a:p>
          <a:p>
            <a:pPr lvl="1"/>
            <a:r>
              <a:rPr lang="en-US" sz="2000"/>
              <a:t>handshaking (greeting)</a:t>
            </a:r>
            <a:endParaRPr lang="en-US" sz="2000"/>
          </a:p>
          <a:p>
            <a:pPr lvl="1"/>
            <a:r>
              <a:rPr lang="en-US" sz="2000"/>
              <a:t>transfer of messages</a:t>
            </a:r>
            <a:endParaRPr lang="en-US" sz="2000"/>
          </a:p>
          <a:p>
            <a:pPr lvl="1"/>
            <a:r>
              <a:rPr lang="en-US" sz="2000"/>
              <a:t>closure</a:t>
            </a:r>
            <a:endParaRPr lang="en-US" sz="2000"/>
          </a:p>
          <a:p>
            <a:r>
              <a:rPr lang="en-US" sz="2000"/>
              <a:t>command/response interaction</a:t>
            </a:r>
            <a:endParaRPr lang="en-US" sz="2000">
              <a:solidFill>
                <a:schemeClr val="accent2"/>
              </a:solidFill>
            </a:endParaRPr>
          </a:p>
          <a:p>
            <a:pPr lvl="1"/>
            <a:r>
              <a:rPr lang="en-US" sz="2000">
                <a:solidFill>
                  <a:schemeClr val="accent2"/>
                </a:solidFill>
              </a:rPr>
              <a:t>commands:</a:t>
            </a:r>
            <a:r>
              <a:rPr lang="en-US" sz="2000"/>
              <a:t> ASCII text</a:t>
            </a:r>
            <a:endParaRPr lang="en-US" sz="2000"/>
          </a:p>
          <a:p>
            <a:pPr lvl="1"/>
            <a:r>
              <a:rPr lang="en-US" sz="2000">
                <a:solidFill>
                  <a:schemeClr val="accent2"/>
                </a:solidFill>
              </a:rPr>
              <a:t>response:</a:t>
            </a:r>
            <a:r>
              <a:rPr lang="en-US" sz="2000"/>
              <a:t> status code and phrase</a:t>
            </a:r>
            <a:endParaRPr lang="en-US" sz="2000"/>
          </a:p>
          <a:p>
            <a:r>
              <a:rPr lang="en-US" sz="2400"/>
              <a:t>messages must be in 7-bit ASCII</a:t>
            </a:r>
            <a:endParaRPr lang="en-US" sz="2400"/>
          </a:p>
          <a:p>
            <a:pPr lvl="1"/>
            <a:endParaRPr lang="en-US" sz="2000"/>
          </a:p>
          <a:p>
            <a:pPr lvl="1"/>
            <a:endParaRPr lang="en-US" sz="20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5365" name="Slide Number Placeholder 6"/>
          <p:cNvSpPr>
            <a:spLocks noGrp="1"/>
          </p:cNvSpPr>
          <p:nvPr>
            <p:ph type="sldNum" sz="quarter" idx="12"/>
          </p:nvPr>
        </p:nvSpPr>
        <p:spPr>
          <a:noFill/>
        </p:spPr>
        <p:txBody>
          <a:bodyPr/>
          <a:lstStyle/>
          <a:p>
            <a:fld id="{FA724D6A-8279-45FF-83DA-B697ECE26CC4}" type="slidenum">
              <a:rPr lang="en-US"/>
            </a:fld>
            <a:endParaRPr lang="en-US"/>
          </a:p>
        </p:txBody>
      </p:sp>
      <p:sp>
        <p:nvSpPr>
          <p:cNvPr id="15366" name="Rectangle 2"/>
          <p:cNvSpPr>
            <a:spLocks noGrp="1" noChangeArrowheads="1"/>
          </p:cNvSpPr>
          <p:nvPr>
            <p:ph type="title"/>
          </p:nvPr>
        </p:nvSpPr>
        <p:spPr>
          <a:xfrm>
            <a:off x="522288" y="0"/>
            <a:ext cx="8235950" cy="1143000"/>
          </a:xfrm>
        </p:spPr>
        <p:txBody>
          <a:bodyPr/>
          <a:lstStyle/>
          <a:p>
            <a:r>
              <a:rPr lang="en-US" sz="3600"/>
              <a:t>Scenario: Alice sends message to Bob</a:t>
            </a:r>
            <a:endParaRPr lang="en-US"/>
          </a:p>
        </p:txBody>
      </p:sp>
      <p:sp>
        <p:nvSpPr>
          <p:cNvPr id="15367" name="Rectangle 3"/>
          <p:cNvSpPr>
            <a:spLocks noGrp="1" noChangeArrowheads="1"/>
          </p:cNvSpPr>
          <p:nvPr>
            <p:ph type="body" sz="half" idx="1"/>
          </p:nvPr>
        </p:nvSpPr>
        <p:spPr>
          <a:xfrm>
            <a:off x="533400" y="1160463"/>
            <a:ext cx="3810000" cy="3219450"/>
          </a:xfrm>
        </p:spPr>
        <p:txBody>
          <a:bodyPr/>
          <a:lstStyle/>
          <a:p>
            <a:pPr>
              <a:buFont typeface="ZapfDingbats" pitchFamily="82" charset="2"/>
              <a:buNone/>
            </a:pPr>
            <a:r>
              <a:rPr lang="en-US" sz="2000"/>
              <a:t>1) Alice uses UA to compose message and “to” </a:t>
            </a:r>
            <a:r>
              <a:rPr lang="en-US" sz="2000">
                <a:latin typeface="Courier New" panose="02070309020205020404" pitchFamily="49" charset="0"/>
              </a:rPr>
              <a:t>bob@someschool.edu</a:t>
            </a:r>
            <a:endParaRPr lang="en-US" sz="2000">
              <a:latin typeface="Courier New" panose="02070309020205020404" pitchFamily="49" charset="0"/>
            </a:endParaRPr>
          </a:p>
          <a:p>
            <a:pPr>
              <a:buFont typeface="ZapfDingbats" pitchFamily="82" charset="2"/>
              <a:buNone/>
            </a:pPr>
            <a:r>
              <a:rPr lang="en-US" sz="2000"/>
              <a:t>2) Alice’s UA sends message to her mail server; message placed in message queue</a:t>
            </a:r>
            <a:endParaRPr lang="en-US" sz="2000"/>
          </a:p>
          <a:p>
            <a:pPr>
              <a:buFont typeface="ZapfDingbats" pitchFamily="82" charset="2"/>
              <a:buNone/>
            </a:pPr>
            <a:r>
              <a:rPr lang="en-US" sz="2000"/>
              <a:t>3) Client side of SMTP opens TCP connection with Bob’s mail server</a:t>
            </a:r>
            <a:endParaRPr lang="en-US" sz="2000"/>
          </a:p>
        </p:txBody>
      </p:sp>
      <p:sp>
        <p:nvSpPr>
          <p:cNvPr id="15368" name="Rectangle 4"/>
          <p:cNvSpPr>
            <a:spLocks noGrp="1" noChangeArrowheads="1"/>
          </p:cNvSpPr>
          <p:nvPr>
            <p:ph type="body" sz="half" idx="2"/>
          </p:nvPr>
        </p:nvSpPr>
        <p:spPr>
          <a:xfrm>
            <a:off x="4508500" y="1135063"/>
            <a:ext cx="3810000" cy="3268662"/>
          </a:xfrm>
        </p:spPr>
        <p:txBody>
          <a:bodyPr/>
          <a:lstStyle/>
          <a:p>
            <a:pPr>
              <a:buFont typeface="ZapfDingbats" pitchFamily="82" charset="2"/>
              <a:buNone/>
            </a:pPr>
            <a:r>
              <a:rPr lang="en-US" sz="2000"/>
              <a:t>4) SMTP client sends Alice’s message over the TCP connection</a:t>
            </a:r>
            <a:endParaRPr lang="en-US" sz="2000"/>
          </a:p>
          <a:p>
            <a:pPr>
              <a:buFont typeface="ZapfDingbats" pitchFamily="82" charset="2"/>
              <a:buNone/>
            </a:pPr>
            <a:r>
              <a:rPr lang="en-US" sz="2000"/>
              <a:t>5) Bob’s mail server places the message in Bob’s mailbox</a:t>
            </a:r>
            <a:endParaRPr lang="en-US" sz="2000"/>
          </a:p>
          <a:p>
            <a:pPr>
              <a:buFont typeface="ZapfDingbats" pitchFamily="82" charset="2"/>
              <a:buNone/>
            </a:pPr>
            <a:r>
              <a:rPr lang="en-US" sz="2000"/>
              <a:t>6) Bob invokes his user agent to read message</a:t>
            </a:r>
            <a:endParaRPr lang="en-US" sz="2400"/>
          </a:p>
          <a:p>
            <a:pPr>
              <a:buFont typeface="ZapfDingbats" pitchFamily="82" charset="2"/>
              <a:buNone/>
            </a:pPr>
            <a:endParaRPr lang="en-US" sz="2400"/>
          </a:p>
        </p:txBody>
      </p:sp>
      <p:grpSp>
        <p:nvGrpSpPr>
          <p:cNvPr id="15369" name="Group 5"/>
          <p:cNvGrpSpPr/>
          <p:nvPr/>
        </p:nvGrpSpPr>
        <p:grpSpPr bwMode="auto">
          <a:xfrm>
            <a:off x="1270000" y="5062538"/>
            <a:ext cx="709613" cy="703262"/>
            <a:chOff x="4337" y="290"/>
            <a:chExt cx="447" cy="443"/>
          </a:xfrm>
        </p:grpSpPr>
        <p:graphicFrame>
          <p:nvGraphicFramePr>
            <p:cNvPr id="15363" name="Object 6"/>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5384" name="Clip" r:id="rId1" imgW="18192750" imgH="15087600" progId="">
                    <p:embed/>
                  </p:oleObj>
                </mc:Choice>
                <mc:Fallback>
                  <p:oleObj name="Clip" r:id="rId1" imgW="18192750" imgH="15087600" progId="">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437" name="Group 7"/>
            <p:cNvGrpSpPr/>
            <p:nvPr/>
          </p:nvGrpSpPr>
          <p:grpSpPr bwMode="auto">
            <a:xfrm>
              <a:off x="4337" y="367"/>
              <a:ext cx="447" cy="366"/>
              <a:chOff x="4189" y="817"/>
              <a:chExt cx="521" cy="366"/>
            </a:xfrm>
          </p:grpSpPr>
          <p:sp>
            <p:nvSpPr>
              <p:cNvPr id="15438" name="Rectangle 8"/>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5439" name="Text Box 9"/>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5370" name="Group 10"/>
          <p:cNvGrpSpPr/>
          <p:nvPr/>
        </p:nvGrpSpPr>
        <p:grpSpPr bwMode="auto">
          <a:xfrm>
            <a:off x="2795588" y="4503738"/>
            <a:ext cx="822325" cy="1501775"/>
            <a:chOff x="3484" y="2522"/>
            <a:chExt cx="518" cy="946"/>
          </a:xfrm>
        </p:grpSpPr>
        <p:grpSp>
          <p:nvGrpSpPr>
            <p:cNvPr id="15412" name="Group 11"/>
            <p:cNvGrpSpPr/>
            <p:nvPr/>
          </p:nvGrpSpPr>
          <p:grpSpPr bwMode="auto">
            <a:xfrm>
              <a:off x="3631" y="2522"/>
              <a:ext cx="224" cy="588"/>
              <a:chOff x="4180" y="783"/>
              <a:chExt cx="150" cy="307"/>
            </a:xfrm>
          </p:grpSpPr>
          <p:sp>
            <p:nvSpPr>
              <p:cNvPr id="15429" name="AutoShape 12"/>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5430" name="Rectangle 13"/>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5431" name="Rectangle 14"/>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5432" name="AutoShape 1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5433" name="Line 16"/>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5434" name="Line 17"/>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5435" name="Rectangle 18"/>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5436" name="Rectangle 19"/>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5413" name="Group 20"/>
            <p:cNvGrpSpPr/>
            <p:nvPr/>
          </p:nvGrpSpPr>
          <p:grpSpPr bwMode="auto">
            <a:xfrm>
              <a:off x="3484" y="2807"/>
              <a:ext cx="518" cy="661"/>
              <a:chOff x="4288" y="2627"/>
              <a:chExt cx="518" cy="661"/>
            </a:xfrm>
          </p:grpSpPr>
          <p:sp>
            <p:nvSpPr>
              <p:cNvPr id="15414" name="Rectangle 21"/>
              <p:cNvSpPr>
                <a:spLocks noChangeArrowheads="1"/>
              </p:cNvSpPr>
              <p:nvPr/>
            </p:nvSpPr>
            <p:spPr bwMode="auto">
              <a:xfrm>
                <a:off x="4296" y="2652"/>
                <a:ext cx="510" cy="636"/>
              </a:xfrm>
              <a:prstGeom prst="rect">
                <a:avLst/>
              </a:prstGeom>
              <a:solidFill>
                <a:schemeClr val="hlink"/>
              </a:solidFill>
              <a:ln w="19050">
                <a:solidFill>
                  <a:schemeClr val="tx1"/>
                </a:solidFill>
                <a:miter lim="800000"/>
              </a:ln>
            </p:spPr>
            <p:txBody>
              <a:bodyPr wrap="none" anchor="ctr"/>
              <a:lstStyle/>
              <a:p>
                <a:endParaRPr lang="en-US"/>
              </a:p>
            </p:txBody>
          </p:sp>
          <p:sp>
            <p:nvSpPr>
              <p:cNvPr id="15415" name="Text Box 22"/>
              <p:cNvSpPr txBox="1">
                <a:spLocks noChangeArrowheads="1"/>
              </p:cNvSpPr>
              <p:nvPr/>
            </p:nvSpPr>
            <p:spPr bwMode="auto">
              <a:xfrm>
                <a:off x="4288" y="2627"/>
                <a:ext cx="504" cy="366"/>
              </a:xfrm>
              <a:prstGeom prst="rect">
                <a:avLst/>
              </a:prstGeom>
              <a:noFill/>
              <a:ln w="9525">
                <a:noFill/>
                <a:miter lim="800000"/>
              </a:ln>
            </p:spPr>
            <p:txBody>
              <a:bodyPr wrap="none">
                <a:spAutoFit/>
              </a:bodyPr>
              <a:lstStyle/>
              <a:p>
                <a:pPr algn="ctr">
                  <a:spcBef>
                    <a:spcPct val="0"/>
                  </a:spcBef>
                  <a:buClrTx/>
                  <a:buSzTx/>
                  <a:buFontTx/>
                  <a:buNone/>
                </a:pPr>
                <a:r>
                  <a:rPr lang="en-US" sz="1600"/>
                  <a:t>mail</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15416" name="Rectangle 23"/>
              <p:cNvSpPr>
                <a:spLocks noChangeArrowheads="1"/>
              </p:cNvSpPr>
              <p:nvPr/>
            </p:nvSpPr>
            <p:spPr bwMode="auto">
              <a:xfrm>
                <a:off x="4320" y="300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5417" name="Line 24"/>
              <p:cNvSpPr>
                <a:spLocks noChangeShapeType="1"/>
              </p:cNvSpPr>
              <p:nvPr/>
            </p:nvSpPr>
            <p:spPr bwMode="auto">
              <a:xfrm>
                <a:off x="4369" y="3034"/>
                <a:ext cx="0" cy="72"/>
              </a:xfrm>
              <a:prstGeom prst="line">
                <a:avLst/>
              </a:prstGeom>
              <a:noFill/>
              <a:ln w="19050">
                <a:solidFill>
                  <a:schemeClr val="tx1"/>
                </a:solidFill>
                <a:round/>
              </a:ln>
            </p:spPr>
            <p:txBody>
              <a:bodyPr wrap="none" anchor="ctr"/>
              <a:lstStyle/>
              <a:p>
                <a:endParaRPr lang="en-US"/>
              </a:p>
            </p:txBody>
          </p:sp>
          <p:sp>
            <p:nvSpPr>
              <p:cNvPr id="15418" name="Line 25"/>
              <p:cNvSpPr>
                <a:spLocks noChangeShapeType="1"/>
              </p:cNvSpPr>
              <p:nvPr/>
            </p:nvSpPr>
            <p:spPr bwMode="auto">
              <a:xfrm>
                <a:off x="4478" y="3033"/>
                <a:ext cx="0" cy="72"/>
              </a:xfrm>
              <a:prstGeom prst="line">
                <a:avLst/>
              </a:prstGeom>
              <a:noFill/>
              <a:ln w="19050">
                <a:solidFill>
                  <a:schemeClr val="tx1"/>
                </a:solidFill>
                <a:round/>
              </a:ln>
            </p:spPr>
            <p:txBody>
              <a:bodyPr wrap="none" anchor="ctr"/>
              <a:lstStyle/>
              <a:p>
                <a:endParaRPr lang="en-US"/>
              </a:p>
            </p:txBody>
          </p:sp>
          <p:sp>
            <p:nvSpPr>
              <p:cNvPr id="15419" name="Line 26"/>
              <p:cNvSpPr>
                <a:spLocks noChangeShapeType="1"/>
              </p:cNvSpPr>
              <p:nvPr/>
            </p:nvSpPr>
            <p:spPr bwMode="auto">
              <a:xfrm>
                <a:off x="4533" y="3035"/>
                <a:ext cx="0" cy="72"/>
              </a:xfrm>
              <a:prstGeom prst="line">
                <a:avLst/>
              </a:prstGeom>
              <a:noFill/>
              <a:ln w="19050">
                <a:solidFill>
                  <a:schemeClr val="tx1"/>
                </a:solidFill>
                <a:round/>
              </a:ln>
            </p:spPr>
            <p:txBody>
              <a:bodyPr wrap="none" anchor="ctr"/>
              <a:lstStyle/>
              <a:p>
                <a:endParaRPr lang="en-US"/>
              </a:p>
            </p:txBody>
          </p:sp>
          <p:sp>
            <p:nvSpPr>
              <p:cNvPr id="15420" name="Line 27"/>
              <p:cNvSpPr>
                <a:spLocks noChangeShapeType="1"/>
              </p:cNvSpPr>
              <p:nvPr/>
            </p:nvSpPr>
            <p:spPr bwMode="auto">
              <a:xfrm>
                <a:off x="4590" y="3033"/>
                <a:ext cx="0" cy="72"/>
              </a:xfrm>
              <a:prstGeom prst="line">
                <a:avLst/>
              </a:prstGeom>
              <a:noFill/>
              <a:ln w="19050">
                <a:solidFill>
                  <a:schemeClr val="tx1"/>
                </a:solidFill>
                <a:round/>
              </a:ln>
            </p:spPr>
            <p:txBody>
              <a:bodyPr wrap="none" anchor="ctr"/>
              <a:lstStyle/>
              <a:p>
                <a:endParaRPr lang="en-US"/>
              </a:p>
            </p:txBody>
          </p:sp>
          <p:sp>
            <p:nvSpPr>
              <p:cNvPr id="15421" name="Line 28"/>
              <p:cNvSpPr>
                <a:spLocks noChangeShapeType="1"/>
              </p:cNvSpPr>
              <p:nvPr/>
            </p:nvSpPr>
            <p:spPr bwMode="auto">
              <a:xfrm>
                <a:off x="4651" y="3033"/>
                <a:ext cx="0" cy="72"/>
              </a:xfrm>
              <a:prstGeom prst="line">
                <a:avLst/>
              </a:prstGeom>
              <a:noFill/>
              <a:ln w="19050">
                <a:solidFill>
                  <a:schemeClr val="tx1"/>
                </a:solidFill>
                <a:round/>
              </a:ln>
            </p:spPr>
            <p:txBody>
              <a:bodyPr wrap="none" anchor="ctr"/>
              <a:lstStyle/>
              <a:p>
                <a:endParaRPr lang="en-US"/>
              </a:p>
            </p:txBody>
          </p:sp>
          <p:sp>
            <p:nvSpPr>
              <p:cNvPr id="15422" name="Line 29"/>
              <p:cNvSpPr>
                <a:spLocks noChangeShapeType="1"/>
              </p:cNvSpPr>
              <p:nvPr/>
            </p:nvSpPr>
            <p:spPr bwMode="auto">
              <a:xfrm>
                <a:off x="4707" y="3033"/>
                <a:ext cx="0" cy="72"/>
              </a:xfrm>
              <a:prstGeom prst="line">
                <a:avLst/>
              </a:prstGeom>
              <a:noFill/>
              <a:ln w="19050">
                <a:solidFill>
                  <a:schemeClr val="tx1"/>
                </a:solidFill>
                <a:round/>
              </a:ln>
            </p:spPr>
            <p:txBody>
              <a:bodyPr wrap="none" anchor="ctr"/>
              <a:lstStyle/>
              <a:p>
                <a:endParaRPr lang="en-US"/>
              </a:p>
            </p:txBody>
          </p:sp>
          <p:sp>
            <p:nvSpPr>
              <p:cNvPr id="15423" name="Line 30"/>
              <p:cNvSpPr>
                <a:spLocks noChangeShapeType="1"/>
              </p:cNvSpPr>
              <p:nvPr/>
            </p:nvSpPr>
            <p:spPr bwMode="auto">
              <a:xfrm>
                <a:off x="4422" y="3034"/>
                <a:ext cx="0" cy="72"/>
              </a:xfrm>
              <a:prstGeom prst="line">
                <a:avLst/>
              </a:prstGeom>
              <a:noFill/>
              <a:ln w="19050">
                <a:solidFill>
                  <a:schemeClr val="tx1"/>
                </a:solidFill>
                <a:round/>
              </a:ln>
            </p:spPr>
            <p:txBody>
              <a:bodyPr wrap="none" anchor="ctr"/>
              <a:lstStyle/>
              <a:p>
                <a:endParaRPr lang="en-US"/>
              </a:p>
            </p:txBody>
          </p:sp>
          <p:sp>
            <p:nvSpPr>
              <p:cNvPr id="15424" name="Rectangle 31"/>
              <p:cNvSpPr>
                <a:spLocks noChangeArrowheads="1"/>
              </p:cNvSpPr>
              <p:nvPr/>
            </p:nvSpPr>
            <p:spPr bwMode="auto">
              <a:xfrm>
                <a:off x="4328"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5425" name="Rectangle 32"/>
              <p:cNvSpPr>
                <a:spLocks noChangeArrowheads="1"/>
              </p:cNvSpPr>
              <p:nvPr/>
            </p:nvSpPr>
            <p:spPr bwMode="auto">
              <a:xfrm>
                <a:off x="4414"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5426" name="Rectangle 33"/>
              <p:cNvSpPr>
                <a:spLocks noChangeArrowheads="1"/>
              </p:cNvSpPr>
              <p:nvPr/>
            </p:nvSpPr>
            <p:spPr bwMode="auto">
              <a:xfrm>
                <a:off x="4500" y="317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5427" name="Rectangle 34"/>
              <p:cNvSpPr>
                <a:spLocks noChangeArrowheads="1"/>
              </p:cNvSpPr>
              <p:nvPr/>
            </p:nvSpPr>
            <p:spPr bwMode="auto">
              <a:xfrm>
                <a:off x="4597" y="317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5428" name="Rectangle 35"/>
              <p:cNvSpPr>
                <a:spLocks noChangeArrowheads="1"/>
              </p:cNvSpPr>
              <p:nvPr/>
            </p:nvSpPr>
            <p:spPr bwMode="auto">
              <a:xfrm>
                <a:off x="4693" y="3170"/>
                <a:ext cx="64" cy="93"/>
              </a:xfrm>
              <a:prstGeom prst="rect">
                <a:avLst/>
              </a:prstGeom>
              <a:solidFill>
                <a:srgbClr val="FFFF00"/>
              </a:solidFill>
              <a:ln w="9525">
                <a:solidFill>
                  <a:schemeClr val="tx1"/>
                </a:solidFill>
                <a:miter lim="800000"/>
              </a:ln>
            </p:spPr>
            <p:txBody>
              <a:bodyPr wrap="none" anchor="ctr"/>
              <a:lstStyle/>
              <a:p>
                <a:endParaRPr lang="en-US"/>
              </a:p>
            </p:txBody>
          </p:sp>
        </p:grpSp>
      </p:grpSp>
      <p:pic>
        <p:nvPicPr>
          <p:cNvPr id="15371" name="Picture 36" descr="Alice"/>
          <p:cNvPicPr>
            <a:picLocks noChangeAspect="1" noChangeArrowheads="1"/>
          </p:cNvPicPr>
          <p:nvPr/>
        </p:nvPicPr>
        <p:blipFill>
          <a:blip r:embed="rId3"/>
          <a:srcRect/>
          <a:stretch>
            <a:fillRect/>
          </a:stretch>
        </p:blipFill>
        <p:spPr bwMode="auto">
          <a:xfrm>
            <a:off x="403225" y="5121275"/>
            <a:ext cx="561975" cy="693738"/>
          </a:xfrm>
          <a:prstGeom prst="rect">
            <a:avLst/>
          </a:prstGeom>
          <a:noFill/>
          <a:ln w="9525">
            <a:noFill/>
            <a:miter lim="800000"/>
            <a:headEnd/>
            <a:tailEnd/>
          </a:ln>
        </p:spPr>
      </p:pic>
      <p:pic>
        <p:nvPicPr>
          <p:cNvPr id="15372" name="Picture 37" descr="Bob"/>
          <p:cNvPicPr>
            <a:picLocks noChangeAspect="1" noChangeArrowheads="1"/>
          </p:cNvPicPr>
          <p:nvPr/>
        </p:nvPicPr>
        <p:blipFill>
          <a:blip r:embed="rId4"/>
          <a:srcRect/>
          <a:stretch>
            <a:fillRect/>
          </a:stretch>
        </p:blipFill>
        <p:spPr bwMode="auto">
          <a:xfrm>
            <a:off x="7793038" y="5026025"/>
            <a:ext cx="676275" cy="690563"/>
          </a:xfrm>
          <a:prstGeom prst="rect">
            <a:avLst/>
          </a:prstGeom>
          <a:noFill/>
          <a:ln w="9525">
            <a:noFill/>
            <a:miter lim="800000"/>
            <a:headEnd/>
            <a:tailEnd/>
          </a:ln>
        </p:spPr>
      </p:pic>
      <p:grpSp>
        <p:nvGrpSpPr>
          <p:cNvPr id="15373" name="Group 38"/>
          <p:cNvGrpSpPr/>
          <p:nvPr/>
        </p:nvGrpSpPr>
        <p:grpSpPr bwMode="auto">
          <a:xfrm>
            <a:off x="4986338" y="4449763"/>
            <a:ext cx="822325" cy="1501775"/>
            <a:chOff x="3484" y="2522"/>
            <a:chExt cx="518" cy="946"/>
          </a:xfrm>
        </p:grpSpPr>
        <p:grpSp>
          <p:nvGrpSpPr>
            <p:cNvPr id="15387" name="Group 39"/>
            <p:cNvGrpSpPr/>
            <p:nvPr/>
          </p:nvGrpSpPr>
          <p:grpSpPr bwMode="auto">
            <a:xfrm>
              <a:off x="3631" y="2522"/>
              <a:ext cx="224" cy="588"/>
              <a:chOff x="4180" y="783"/>
              <a:chExt cx="150" cy="307"/>
            </a:xfrm>
          </p:grpSpPr>
          <p:sp>
            <p:nvSpPr>
              <p:cNvPr id="15404" name="AutoShape 40"/>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5405" name="Rectangle 41"/>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5406" name="Rectangle 42"/>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5407" name="AutoShape 4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5408" name="Line 44"/>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5409" name="Line 45"/>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5410" name="Rectangle 46"/>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5411" name="Rectangle 47"/>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5388" name="Group 48"/>
            <p:cNvGrpSpPr/>
            <p:nvPr/>
          </p:nvGrpSpPr>
          <p:grpSpPr bwMode="auto">
            <a:xfrm>
              <a:off x="3484" y="2807"/>
              <a:ext cx="518" cy="661"/>
              <a:chOff x="4288" y="2627"/>
              <a:chExt cx="518" cy="661"/>
            </a:xfrm>
          </p:grpSpPr>
          <p:sp>
            <p:nvSpPr>
              <p:cNvPr id="15389" name="Rectangle 49"/>
              <p:cNvSpPr>
                <a:spLocks noChangeArrowheads="1"/>
              </p:cNvSpPr>
              <p:nvPr/>
            </p:nvSpPr>
            <p:spPr bwMode="auto">
              <a:xfrm>
                <a:off x="4296" y="2652"/>
                <a:ext cx="510" cy="636"/>
              </a:xfrm>
              <a:prstGeom prst="rect">
                <a:avLst/>
              </a:prstGeom>
              <a:solidFill>
                <a:schemeClr val="hlink"/>
              </a:solidFill>
              <a:ln w="19050">
                <a:solidFill>
                  <a:schemeClr val="tx1"/>
                </a:solidFill>
                <a:miter lim="800000"/>
              </a:ln>
            </p:spPr>
            <p:txBody>
              <a:bodyPr wrap="none" anchor="ctr"/>
              <a:lstStyle/>
              <a:p>
                <a:endParaRPr lang="en-US"/>
              </a:p>
            </p:txBody>
          </p:sp>
          <p:sp>
            <p:nvSpPr>
              <p:cNvPr id="15390" name="Text Box 50"/>
              <p:cNvSpPr txBox="1">
                <a:spLocks noChangeArrowheads="1"/>
              </p:cNvSpPr>
              <p:nvPr/>
            </p:nvSpPr>
            <p:spPr bwMode="auto">
              <a:xfrm>
                <a:off x="4288" y="2627"/>
                <a:ext cx="504" cy="366"/>
              </a:xfrm>
              <a:prstGeom prst="rect">
                <a:avLst/>
              </a:prstGeom>
              <a:noFill/>
              <a:ln w="9525">
                <a:noFill/>
                <a:miter lim="800000"/>
              </a:ln>
            </p:spPr>
            <p:txBody>
              <a:bodyPr wrap="none">
                <a:spAutoFit/>
              </a:bodyPr>
              <a:lstStyle/>
              <a:p>
                <a:pPr algn="ctr">
                  <a:spcBef>
                    <a:spcPct val="0"/>
                  </a:spcBef>
                  <a:buClrTx/>
                  <a:buSzTx/>
                  <a:buFontTx/>
                  <a:buNone/>
                </a:pPr>
                <a:r>
                  <a:rPr lang="en-US" sz="1600"/>
                  <a:t>mail</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sp>
            <p:nvSpPr>
              <p:cNvPr id="15391" name="Rectangle 51"/>
              <p:cNvSpPr>
                <a:spLocks noChangeArrowheads="1"/>
              </p:cNvSpPr>
              <p:nvPr/>
            </p:nvSpPr>
            <p:spPr bwMode="auto">
              <a:xfrm>
                <a:off x="4320" y="300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5392" name="Line 52"/>
              <p:cNvSpPr>
                <a:spLocks noChangeShapeType="1"/>
              </p:cNvSpPr>
              <p:nvPr/>
            </p:nvSpPr>
            <p:spPr bwMode="auto">
              <a:xfrm>
                <a:off x="4369" y="3034"/>
                <a:ext cx="0" cy="72"/>
              </a:xfrm>
              <a:prstGeom prst="line">
                <a:avLst/>
              </a:prstGeom>
              <a:noFill/>
              <a:ln w="19050">
                <a:solidFill>
                  <a:schemeClr val="tx1"/>
                </a:solidFill>
                <a:round/>
              </a:ln>
            </p:spPr>
            <p:txBody>
              <a:bodyPr wrap="none" anchor="ctr"/>
              <a:lstStyle/>
              <a:p>
                <a:endParaRPr lang="en-US"/>
              </a:p>
            </p:txBody>
          </p:sp>
          <p:sp>
            <p:nvSpPr>
              <p:cNvPr id="15393" name="Line 53"/>
              <p:cNvSpPr>
                <a:spLocks noChangeShapeType="1"/>
              </p:cNvSpPr>
              <p:nvPr/>
            </p:nvSpPr>
            <p:spPr bwMode="auto">
              <a:xfrm>
                <a:off x="4478" y="3033"/>
                <a:ext cx="0" cy="72"/>
              </a:xfrm>
              <a:prstGeom prst="line">
                <a:avLst/>
              </a:prstGeom>
              <a:noFill/>
              <a:ln w="19050">
                <a:solidFill>
                  <a:schemeClr val="tx1"/>
                </a:solidFill>
                <a:round/>
              </a:ln>
            </p:spPr>
            <p:txBody>
              <a:bodyPr wrap="none" anchor="ctr"/>
              <a:lstStyle/>
              <a:p>
                <a:endParaRPr lang="en-US"/>
              </a:p>
            </p:txBody>
          </p:sp>
          <p:sp>
            <p:nvSpPr>
              <p:cNvPr id="15394" name="Line 54"/>
              <p:cNvSpPr>
                <a:spLocks noChangeShapeType="1"/>
              </p:cNvSpPr>
              <p:nvPr/>
            </p:nvSpPr>
            <p:spPr bwMode="auto">
              <a:xfrm>
                <a:off x="4533" y="3035"/>
                <a:ext cx="0" cy="72"/>
              </a:xfrm>
              <a:prstGeom prst="line">
                <a:avLst/>
              </a:prstGeom>
              <a:noFill/>
              <a:ln w="19050">
                <a:solidFill>
                  <a:schemeClr val="tx1"/>
                </a:solidFill>
                <a:round/>
              </a:ln>
            </p:spPr>
            <p:txBody>
              <a:bodyPr wrap="none" anchor="ctr"/>
              <a:lstStyle/>
              <a:p>
                <a:endParaRPr lang="en-US"/>
              </a:p>
            </p:txBody>
          </p:sp>
          <p:sp>
            <p:nvSpPr>
              <p:cNvPr id="15395" name="Line 55"/>
              <p:cNvSpPr>
                <a:spLocks noChangeShapeType="1"/>
              </p:cNvSpPr>
              <p:nvPr/>
            </p:nvSpPr>
            <p:spPr bwMode="auto">
              <a:xfrm>
                <a:off x="4590" y="3033"/>
                <a:ext cx="0" cy="72"/>
              </a:xfrm>
              <a:prstGeom prst="line">
                <a:avLst/>
              </a:prstGeom>
              <a:noFill/>
              <a:ln w="19050">
                <a:solidFill>
                  <a:schemeClr val="tx1"/>
                </a:solidFill>
                <a:round/>
              </a:ln>
            </p:spPr>
            <p:txBody>
              <a:bodyPr wrap="none" anchor="ctr"/>
              <a:lstStyle/>
              <a:p>
                <a:endParaRPr lang="en-US"/>
              </a:p>
            </p:txBody>
          </p:sp>
          <p:sp>
            <p:nvSpPr>
              <p:cNvPr id="15396" name="Line 56"/>
              <p:cNvSpPr>
                <a:spLocks noChangeShapeType="1"/>
              </p:cNvSpPr>
              <p:nvPr/>
            </p:nvSpPr>
            <p:spPr bwMode="auto">
              <a:xfrm>
                <a:off x="4651" y="3033"/>
                <a:ext cx="0" cy="72"/>
              </a:xfrm>
              <a:prstGeom prst="line">
                <a:avLst/>
              </a:prstGeom>
              <a:noFill/>
              <a:ln w="19050">
                <a:solidFill>
                  <a:schemeClr val="tx1"/>
                </a:solidFill>
                <a:round/>
              </a:ln>
            </p:spPr>
            <p:txBody>
              <a:bodyPr wrap="none" anchor="ctr"/>
              <a:lstStyle/>
              <a:p>
                <a:endParaRPr lang="en-US"/>
              </a:p>
            </p:txBody>
          </p:sp>
          <p:sp>
            <p:nvSpPr>
              <p:cNvPr id="15397" name="Line 57"/>
              <p:cNvSpPr>
                <a:spLocks noChangeShapeType="1"/>
              </p:cNvSpPr>
              <p:nvPr/>
            </p:nvSpPr>
            <p:spPr bwMode="auto">
              <a:xfrm>
                <a:off x="4707" y="3033"/>
                <a:ext cx="0" cy="72"/>
              </a:xfrm>
              <a:prstGeom prst="line">
                <a:avLst/>
              </a:prstGeom>
              <a:noFill/>
              <a:ln w="19050">
                <a:solidFill>
                  <a:schemeClr val="tx1"/>
                </a:solidFill>
                <a:round/>
              </a:ln>
            </p:spPr>
            <p:txBody>
              <a:bodyPr wrap="none" anchor="ctr"/>
              <a:lstStyle/>
              <a:p>
                <a:endParaRPr lang="en-US"/>
              </a:p>
            </p:txBody>
          </p:sp>
          <p:sp>
            <p:nvSpPr>
              <p:cNvPr id="15398" name="Line 58"/>
              <p:cNvSpPr>
                <a:spLocks noChangeShapeType="1"/>
              </p:cNvSpPr>
              <p:nvPr/>
            </p:nvSpPr>
            <p:spPr bwMode="auto">
              <a:xfrm>
                <a:off x="4422" y="3034"/>
                <a:ext cx="0" cy="72"/>
              </a:xfrm>
              <a:prstGeom prst="line">
                <a:avLst/>
              </a:prstGeom>
              <a:noFill/>
              <a:ln w="19050">
                <a:solidFill>
                  <a:schemeClr val="tx1"/>
                </a:solidFill>
                <a:round/>
              </a:ln>
            </p:spPr>
            <p:txBody>
              <a:bodyPr wrap="none" anchor="ctr"/>
              <a:lstStyle/>
              <a:p>
                <a:endParaRPr lang="en-US"/>
              </a:p>
            </p:txBody>
          </p:sp>
          <p:sp>
            <p:nvSpPr>
              <p:cNvPr id="15399" name="Rectangle 59"/>
              <p:cNvSpPr>
                <a:spLocks noChangeArrowheads="1"/>
              </p:cNvSpPr>
              <p:nvPr/>
            </p:nvSpPr>
            <p:spPr bwMode="auto">
              <a:xfrm>
                <a:off x="4328"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5400" name="Rectangle 60"/>
              <p:cNvSpPr>
                <a:spLocks noChangeArrowheads="1"/>
              </p:cNvSpPr>
              <p:nvPr/>
            </p:nvSpPr>
            <p:spPr bwMode="auto">
              <a:xfrm>
                <a:off x="4414" y="317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5401" name="Rectangle 61"/>
              <p:cNvSpPr>
                <a:spLocks noChangeArrowheads="1"/>
              </p:cNvSpPr>
              <p:nvPr/>
            </p:nvSpPr>
            <p:spPr bwMode="auto">
              <a:xfrm>
                <a:off x="4500" y="317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5402" name="Rectangle 62"/>
              <p:cNvSpPr>
                <a:spLocks noChangeArrowheads="1"/>
              </p:cNvSpPr>
              <p:nvPr/>
            </p:nvSpPr>
            <p:spPr bwMode="auto">
              <a:xfrm>
                <a:off x="4597" y="317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5403" name="Rectangle 63"/>
              <p:cNvSpPr>
                <a:spLocks noChangeArrowheads="1"/>
              </p:cNvSpPr>
              <p:nvPr/>
            </p:nvSpPr>
            <p:spPr bwMode="auto">
              <a:xfrm>
                <a:off x="4693" y="3170"/>
                <a:ext cx="64" cy="93"/>
              </a:xfrm>
              <a:prstGeom prst="rect">
                <a:avLst/>
              </a:prstGeom>
              <a:solidFill>
                <a:srgbClr val="FFFF00"/>
              </a:solidFill>
              <a:ln w="9525">
                <a:solidFill>
                  <a:schemeClr val="tx1"/>
                </a:solidFill>
                <a:miter lim="800000"/>
              </a:ln>
            </p:spPr>
            <p:txBody>
              <a:bodyPr wrap="none" anchor="ctr"/>
              <a:lstStyle/>
              <a:p>
                <a:endParaRPr lang="en-US"/>
              </a:p>
            </p:txBody>
          </p:sp>
        </p:grpSp>
      </p:grpSp>
      <p:grpSp>
        <p:nvGrpSpPr>
          <p:cNvPr id="15374" name="Group 64"/>
          <p:cNvGrpSpPr/>
          <p:nvPr/>
        </p:nvGrpSpPr>
        <p:grpSpPr bwMode="auto">
          <a:xfrm>
            <a:off x="6819900" y="4946650"/>
            <a:ext cx="709613" cy="703263"/>
            <a:chOff x="4337" y="290"/>
            <a:chExt cx="447" cy="443"/>
          </a:xfrm>
        </p:grpSpPr>
        <p:graphicFrame>
          <p:nvGraphicFramePr>
            <p:cNvPr id="15362" name="Object 65"/>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5385" name="Clip" r:id="rId5" imgW="18192750" imgH="15087600" progId="">
                    <p:embed/>
                  </p:oleObj>
                </mc:Choice>
                <mc:Fallback>
                  <p:oleObj name="Clip" r:id="rId5" imgW="18192750" imgH="15087600" progId="">
                    <p:embed/>
                    <p:pic>
                      <p:nvPicPr>
                        <p:cNvPr id="0" name="Object 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66"/>
            <p:cNvGrpSpPr/>
            <p:nvPr/>
          </p:nvGrpSpPr>
          <p:grpSpPr bwMode="auto">
            <a:xfrm>
              <a:off x="4337" y="367"/>
              <a:ext cx="447" cy="366"/>
              <a:chOff x="4189" y="817"/>
              <a:chExt cx="521" cy="366"/>
            </a:xfrm>
          </p:grpSpPr>
          <p:sp>
            <p:nvSpPr>
              <p:cNvPr id="3" name="Rectangle 67"/>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5386" name="Text Box 68"/>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sp>
        <p:nvSpPr>
          <p:cNvPr id="15375" name="Line 69"/>
          <p:cNvSpPr>
            <a:spLocks noChangeShapeType="1"/>
          </p:cNvSpPr>
          <p:nvPr/>
        </p:nvSpPr>
        <p:spPr bwMode="auto">
          <a:xfrm>
            <a:off x="1928813" y="5494338"/>
            <a:ext cx="892175" cy="146050"/>
          </a:xfrm>
          <a:prstGeom prst="line">
            <a:avLst/>
          </a:prstGeom>
          <a:noFill/>
          <a:ln w="12700">
            <a:solidFill>
              <a:schemeClr val="accent2"/>
            </a:solidFill>
            <a:round/>
            <a:tailEnd type="triangle" w="med" len="med"/>
          </a:ln>
        </p:spPr>
        <p:txBody>
          <a:bodyPr wrap="none" anchor="ctr"/>
          <a:lstStyle/>
          <a:p>
            <a:endParaRPr lang="en-US"/>
          </a:p>
        </p:txBody>
      </p:sp>
      <p:sp>
        <p:nvSpPr>
          <p:cNvPr id="15376" name="Line 70"/>
          <p:cNvSpPr>
            <a:spLocks noChangeShapeType="1"/>
          </p:cNvSpPr>
          <p:nvPr/>
        </p:nvSpPr>
        <p:spPr bwMode="auto">
          <a:xfrm>
            <a:off x="3614738" y="5629275"/>
            <a:ext cx="1379537" cy="219075"/>
          </a:xfrm>
          <a:prstGeom prst="line">
            <a:avLst/>
          </a:prstGeom>
          <a:noFill/>
          <a:ln w="12700">
            <a:solidFill>
              <a:schemeClr val="accent2"/>
            </a:solidFill>
            <a:round/>
            <a:tailEnd type="triangle" w="med" len="med"/>
          </a:ln>
        </p:spPr>
        <p:txBody>
          <a:bodyPr wrap="none" anchor="ctr"/>
          <a:lstStyle/>
          <a:p>
            <a:endParaRPr lang="en-US"/>
          </a:p>
        </p:txBody>
      </p:sp>
      <p:sp>
        <p:nvSpPr>
          <p:cNvPr id="15377" name="Line 71"/>
          <p:cNvSpPr>
            <a:spLocks noChangeShapeType="1"/>
          </p:cNvSpPr>
          <p:nvPr/>
        </p:nvSpPr>
        <p:spPr bwMode="auto">
          <a:xfrm flipV="1">
            <a:off x="5811838" y="5408613"/>
            <a:ext cx="1027112" cy="427037"/>
          </a:xfrm>
          <a:prstGeom prst="line">
            <a:avLst/>
          </a:prstGeom>
          <a:noFill/>
          <a:ln w="12700">
            <a:solidFill>
              <a:schemeClr val="accent2"/>
            </a:solidFill>
            <a:round/>
            <a:tailEnd type="triangle" w="med" len="med"/>
          </a:ln>
        </p:spPr>
        <p:txBody>
          <a:bodyPr wrap="none" anchor="ctr"/>
          <a:lstStyle/>
          <a:p>
            <a:endParaRPr lang="en-US"/>
          </a:p>
        </p:txBody>
      </p:sp>
      <p:sp>
        <p:nvSpPr>
          <p:cNvPr id="15378" name="Oval 72"/>
          <p:cNvSpPr>
            <a:spLocks noChangeArrowheads="1"/>
          </p:cNvSpPr>
          <p:nvPr/>
        </p:nvSpPr>
        <p:spPr bwMode="auto">
          <a:xfrm>
            <a:off x="1441450" y="4870450"/>
            <a:ext cx="292100" cy="244475"/>
          </a:xfrm>
          <a:prstGeom prst="ellipse">
            <a:avLst/>
          </a:prstGeom>
          <a:solidFill>
            <a:schemeClr val="bg1"/>
          </a:solidFill>
          <a:ln w="12700">
            <a:solidFill>
              <a:schemeClr val="accent2"/>
            </a:solidFill>
            <a:round/>
          </a:ln>
        </p:spPr>
        <p:txBody>
          <a:bodyPr wrap="none" anchor="ctr"/>
          <a:lstStyle/>
          <a:p>
            <a:pPr algn="ctr"/>
            <a:r>
              <a:rPr lang="en-US" sz="1600"/>
              <a:t>1</a:t>
            </a:r>
            <a:endParaRPr lang="en-US"/>
          </a:p>
        </p:txBody>
      </p:sp>
      <p:sp>
        <p:nvSpPr>
          <p:cNvPr id="15379" name="Oval 74"/>
          <p:cNvSpPr>
            <a:spLocks noChangeArrowheads="1"/>
          </p:cNvSpPr>
          <p:nvPr/>
        </p:nvSpPr>
        <p:spPr bwMode="auto">
          <a:xfrm>
            <a:off x="2168525" y="5438775"/>
            <a:ext cx="292100" cy="244475"/>
          </a:xfrm>
          <a:prstGeom prst="ellipse">
            <a:avLst/>
          </a:prstGeom>
          <a:solidFill>
            <a:schemeClr val="bg1"/>
          </a:solidFill>
          <a:ln w="12700">
            <a:solidFill>
              <a:schemeClr val="accent2"/>
            </a:solidFill>
            <a:round/>
          </a:ln>
        </p:spPr>
        <p:txBody>
          <a:bodyPr wrap="none" anchor="ctr"/>
          <a:lstStyle/>
          <a:p>
            <a:pPr algn="ctr"/>
            <a:r>
              <a:rPr lang="en-US" sz="1600"/>
              <a:t>2</a:t>
            </a:r>
            <a:endParaRPr lang="en-US"/>
          </a:p>
        </p:txBody>
      </p:sp>
      <p:sp>
        <p:nvSpPr>
          <p:cNvPr id="15380" name="Oval 75"/>
          <p:cNvSpPr>
            <a:spLocks noChangeArrowheads="1"/>
          </p:cNvSpPr>
          <p:nvPr/>
        </p:nvSpPr>
        <p:spPr bwMode="auto">
          <a:xfrm>
            <a:off x="3040063" y="5518150"/>
            <a:ext cx="292100" cy="244475"/>
          </a:xfrm>
          <a:prstGeom prst="ellipse">
            <a:avLst/>
          </a:prstGeom>
          <a:solidFill>
            <a:schemeClr val="bg1"/>
          </a:solidFill>
          <a:ln w="12700">
            <a:solidFill>
              <a:schemeClr val="accent2"/>
            </a:solidFill>
            <a:round/>
          </a:ln>
        </p:spPr>
        <p:txBody>
          <a:bodyPr wrap="none" anchor="ctr"/>
          <a:lstStyle/>
          <a:p>
            <a:pPr algn="ctr"/>
            <a:r>
              <a:rPr lang="en-US" sz="1600"/>
              <a:t>3</a:t>
            </a:r>
            <a:endParaRPr lang="en-US"/>
          </a:p>
        </p:txBody>
      </p:sp>
      <p:sp>
        <p:nvSpPr>
          <p:cNvPr id="15381" name="Oval 76"/>
          <p:cNvSpPr>
            <a:spLocks noChangeArrowheads="1"/>
          </p:cNvSpPr>
          <p:nvPr/>
        </p:nvSpPr>
        <p:spPr bwMode="auto">
          <a:xfrm>
            <a:off x="4151313" y="5603875"/>
            <a:ext cx="292100" cy="244475"/>
          </a:xfrm>
          <a:prstGeom prst="ellipse">
            <a:avLst/>
          </a:prstGeom>
          <a:solidFill>
            <a:schemeClr val="bg1"/>
          </a:solidFill>
          <a:ln w="12700">
            <a:solidFill>
              <a:schemeClr val="accent2"/>
            </a:solidFill>
            <a:round/>
          </a:ln>
        </p:spPr>
        <p:txBody>
          <a:bodyPr wrap="none" anchor="ctr"/>
          <a:lstStyle/>
          <a:p>
            <a:pPr algn="ctr"/>
            <a:r>
              <a:rPr lang="en-US" sz="1600"/>
              <a:t>4</a:t>
            </a:r>
            <a:endParaRPr lang="en-US"/>
          </a:p>
        </p:txBody>
      </p:sp>
      <p:sp>
        <p:nvSpPr>
          <p:cNvPr id="15382" name="Oval 77"/>
          <p:cNvSpPr>
            <a:spLocks noChangeArrowheads="1"/>
          </p:cNvSpPr>
          <p:nvPr/>
        </p:nvSpPr>
        <p:spPr bwMode="auto">
          <a:xfrm>
            <a:off x="5300663" y="5702300"/>
            <a:ext cx="292100" cy="244475"/>
          </a:xfrm>
          <a:prstGeom prst="ellipse">
            <a:avLst/>
          </a:prstGeom>
          <a:solidFill>
            <a:schemeClr val="bg1"/>
          </a:solidFill>
          <a:ln w="12700">
            <a:solidFill>
              <a:schemeClr val="accent2"/>
            </a:solidFill>
            <a:round/>
          </a:ln>
        </p:spPr>
        <p:txBody>
          <a:bodyPr wrap="none" anchor="ctr"/>
          <a:lstStyle/>
          <a:p>
            <a:pPr algn="ctr"/>
            <a:r>
              <a:rPr lang="en-US" sz="1600"/>
              <a:t>5</a:t>
            </a:r>
            <a:endParaRPr lang="en-US"/>
          </a:p>
        </p:txBody>
      </p:sp>
      <p:sp>
        <p:nvSpPr>
          <p:cNvPr id="15383" name="Oval 78"/>
          <p:cNvSpPr>
            <a:spLocks noChangeArrowheads="1"/>
          </p:cNvSpPr>
          <p:nvPr/>
        </p:nvSpPr>
        <p:spPr bwMode="auto">
          <a:xfrm>
            <a:off x="6178550" y="5505450"/>
            <a:ext cx="292100" cy="244475"/>
          </a:xfrm>
          <a:prstGeom prst="ellipse">
            <a:avLst/>
          </a:prstGeom>
          <a:solidFill>
            <a:schemeClr val="bg1"/>
          </a:solidFill>
          <a:ln w="12700">
            <a:solidFill>
              <a:schemeClr val="accent2"/>
            </a:solidFill>
            <a:round/>
          </a:ln>
        </p:spPr>
        <p:txBody>
          <a:bodyPr wrap="none" anchor="ctr"/>
          <a:lstStyle/>
          <a:p>
            <a:pPr algn="ctr"/>
            <a:r>
              <a:rPr lang="en-US" sz="1600"/>
              <a:t>6</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2707" name="Slide Number Placeholder 4"/>
          <p:cNvSpPr>
            <a:spLocks noGrp="1"/>
          </p:cNvSpPr>
          <p:nvPr>
            <p:ph type="sldNum" sz="quarter" idx="12"/>
          </p:nvPr>
        </p:nvSpPr>
        <p:spPr>
          <a:noFill/>
        </p:spPr>
        <p:txBody>
          <a:bodyPr/>
          <a:lstStyle/>
          <a:p>
            <a:fld id="{D5732A53-CE3C-49A2-B601-BE6548C8E4BE}" type="slidenum">
              <a:rPr lang="en-US"/>
            </a:fld>
            <a:endParaRPr lang="en-US"/>
          </a:p>
        </p:txBody>
      </p:sp>
      <p:sp>
        <p:nvSpPr>
          <p:cNvPr id="72708" name="Rectangle 2"/>
          <p:cNvSpPr>
            <a:spLocks noGrp="1" noChangeArrowheads="1"/>
          </p:cNvSpPr>
          <p:nvPr>
            <p:ph type="title"/>
          </p:nvPr>
        </p:nvSpPr>
        <p:spPr/>
        <p:txBody>
          <a:bodyPr/>
          <a:lstStyle/>
          <a:p>
            <a:r>
              <a:rPr lang="en-US" sz="3600"/>
              <a:t>Sample SMTP interaction</a:t>
            </a:r>
            <a:endParaRPr lang="en-US"/>
          </a:p>
        </p:txBody>
      </p:sp>
      <p:sp>
        <p:nvSpPr>
          <p:cNvPr id="72709" name="Rectangle 3"/>
          <p:cNvSpPr>
            <a:spLocks noChangeArrowheads="1"/>
          </p:cNvSpPr>
          <p:nvPr/>
        </p:nvSpPr>
        <p:spPr bwMode="auto">
          <a:xfrm>
            <a:off x="0" y="1273175"/>
            <a:ext cx="8870950" cy="4664075"/>
          </a:xfrm>
          <a:prstGeom prst="rect">
            <a:avLst/>
          </a:prstGeom>
          <a:noFill/>
          <a:ln w="9525">
            <a:noFill/>
            <a:miter lim="800000"/>
          </a:ln>
        </p:spPr>
        <p:txBody>
          <a:bodyPr wrap="none">
            <a:spAutoFit/>
          </a:bodyPr>
          <a:lstStyle/>
          <a:p>
            <a:pPr>
              <a:spcBef>
                <a:spcPct val="0"/>
              </a:spcBef>
              <a:buClrTx/>
              <a:buSzTx/>
              <a:buFontTx/>
              <a:buNone/>
            </a:pPr>
            <a:r>
              <a:rPr lang="en-US" sz="2000" b="1">
                <a:latin typeface="Courier New" panose="02070309020205020404" pitchFamily="49" charset="0"/>
              </a:rPr>
              <a:t>     S: 220 hamburger.edu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C: HELO crepes.fr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S: 250  Hello crepes.fr, pleased to meet you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C: MAIL FROM: &lt;alice@crepes.fr&gt;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S: 250 alice@crepes.fr... Sender ok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C: RCPT TO: &lt;bob@hamburger.edu&gt;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S: 250 bob@hamburger.edu ... Recipient ok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C: DATA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S: 354 Enter mail, end with "." on a line by itself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C: Do you like ketchup?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C: How about pickles?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C: .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S: 250 Message accepted for delivery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C: QUIT </a:t>
            </a:r>
            <a:endParaRPr lang="en-US" sz="2000" b="1">
              <a:latin typeface="Courier New" panose="02070309020205020404" pitchFamily="49" charset="0"/>
            </a:endParaRPr>
          </a:p>
          <a:p>
            <a:pPr>
              <a:spcBef>
                <a:spcPct val="0"/>
              </a:spcBef>
              <a:buClrTx/>
              <a:buSzTx/>
              <a:buFontTx/>
              <a:buNone/>
            </a:pPr>
            <a:r>
              <a:rPr lang="en-US" sz="2000" b="1">
                <a:latin typeface="Courier New" panose="02070309020205020404" pitchFamily="49" charset="0"/>
              </a:rPr>
              <a:t>     S: 221 hamburger.edu closing connection</a:t>
            </a:r>
            <a:endParaRPr lang="en-US" sz="2000">
              <a:latin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3731" name="Slide Number Placeholder 5"/>
          <p:cNvSpPr>
            <a:spLocks noGrp="1"/>
          </p:cNvSpPr>
          <p:nvPr>
            <p:ph type="sldNum" sz="quarter" idx="12"/>
          </p:nvPr>
        </p:nvSpPr>
        <p:spPr>
          <a:noFill/>
        </p:spPr>
        <p:txBody>
          <a:bodyPr/>
          <a:lstStyle/>
          <a:p>
            <a:fld id="{96B588E7-6AEC-4944-B011-C6099552E824}" type="slidenum">
              <a:rPr lang="en-US"/>
            </a:fld>
            <a:endParaRPr lang="en-US"/>
          </a:p>
        </p:txBody>
      </p:sp>
      <p:sp>
        <p:nvSpPr>
          <p:cNvPr id="73732" name="Rectangle 2"/>
          <p:cNvSpPr>
            <a:spLocks noGrp="1" noChangeArrowheads="1"/>
          </p:cNvSpPr>
          <p:nvPr>
            <p:ph type="title"/>
          </p:nvPr>
        </p:nvSpPr>
        <p:spPr>
          <a:xfrm>
            <a:off x="373063" y="414338"/>
            <a:ext cx="7772400" cy="884237"/>
          </a:xfrm>
        </p:spPr>
        <p:txBody>
          <a:bodyPr/>
          <a:lstStyle/>
          <a:p>
            <a:r>
              <a:rPr lang="en-US" sz="3200">
                <a:solidFill>
                  <a:srgbClr val="FF0000"/>
                </a:solidFill>
              </a:rPr>
              <a:t>Try SMTP interaction for yourself:</a:t>
            </a:r>
            <a:endParaRPr lang="en-US"/>
          </a:p>
        </p:txBody>
      </p:sp>
      <p:sp>
        <p:nvSpPr>
          <p:cNvPr id="73733" name="Rectangle 3"/>
          <p:cNvSpPr>
            <a:spLocks noGrp="1" noChangeArrowheads="1"/>
          </p:cNvSpPr>
          <p:nvPr>
            <p:ph type="body" idx="1"/>
          </p:nvPr>
        </p:nvSpPr>
        <p:spPr/>
        <p:txBody>
          <a:bodyPr/>
          <a:lstStyle/>
          <a:p>
            <a:r>
              <a:rPr lang="en-US" sz="2400" b="1" dirty="0">
                <a:latin typeface="Courier New" panose="02070309020205020404" pitchFamily="49" charset="0"/>
              </a:rPr>
              <a:t>telnet </a:t>
            </a:r>
            <a:r>
              <a:rPr lang="en-US" sz="2400" b="1" dirty="0" err="1">
                <a:latin typeface="Courier New" panose="02070309020205020404" pitchFamily="49" charset="0"/>
              </a:rPr>
              <a:t>servername</a:t>
            </a:r>
            <a:r>
              <a:rPr lang="en-US" sz="2400" b="1" dirty="0">
                <a:latin typeface="Courier New" panose="02070309020205020404" pitchFamily="49" charset="0"/>
              </a:rPr>
              <a:t> 25</a:t>
            </a:r>
            <a:endParaRPr lang="en-US" sz="2400" dirty="0"/>
          </a:p>
          <a:p>
            <a:r>
              <a:rPr lang="en-US" sz="2400" dirty="0"/>
              <a:t>see 220 reply from server</a:t>
            </a:r>
            <a:endParaRPr lang="en-US" sz="2400" dirty="0"/>
          </a:p>
          <a:p>
            <a:r>
              <a:rPr lang="en-US" sz="2400" dirty="0"/>
              <a:t>enter HELO, MAIL FROM, RCPT TO, DATA, QUIT commands</a:t>
            </a:r>
            <a:r>
              <a:rPr lang="en-US" dirty="0"/>
              <a:t> </a:t>
            </a:r>
            <a:endParaRPr lang="en-US" dirty="0"/>
          </a:p>
          <a:p>
            <a:pPr>
              <a:buFont typeface="ZapfDingbats" pitchFamily="82" charset="2"/>
              <a:buNone/>
            </a:pPr>
            <a:r>
              <a:rPr lang="en-US" sz="2400" dirty="0"/>
              <a:t>above lets you send email without using email client (reader)</a:t>
            </a:r>
            <a:endParaRPr lang="en-US" dirty="0"/>
          </a:p>
        </p:txBody>
      </p:sp>
      <p:pic>
        <p:nvPicPr>
          <p:cNvPr id="2" name="图片 1"/>
          <p:cNvPicPr>
            <a:picLocks noChangeAspect="1"/>
          </p:cNvPicPr>
          <p:nvPr/>
        </p:nvPicPr>
        <p:blipFill>
          <a:blip r:embed="rId1"/>
          <a:stretch>
            <a:fillRect/>
          </a:stretch>
        </p:blipFill>
        <p:spPr>
          <a:xfrm>
            <a:off x="2690982" y="4999334"/>
            <a:ext cx="5962650" cy="2867025"/>
          </a:xfrm>
          <a:prstGeom prst="rect">
            <a:avLst/>
          </a:prstGeom>
        </p:spPr>
      </p:pic>
      <p:sp>
        <p:nvSpPr>
          <p:cNvPr id="3" name="矩形 2"/>
          <p:cNvSpPr/>
          <p:nvPr/>
        </p:nvSpPr>
        <p:spPr>
          <a:xfrm>
            <a:off x="2690982" y="4502447"/>
            <a:ext cx="5017124" cy="461665"/>
          </a:xfrm>
          <a:prstGeom prst="rect">
            <a:avLst/>
          </a:prstGeom>
        </p:spPr>
        <p:txBody>
          <a:bodyPr wrap="square">
            <a:spAutoFit/>
          </a:bodyPr>
          <a:lstStyle/>
          <a:p>
            <a:r>
              <a:rPr lang="en-US" altLang="zh-CN" b="1" dirty="0">
                <a:latin typeface="Courier New" panose="02070309020205020404" pitchFamily="49" charset="0"/>
              </a:rPr>
              <a:t>telnet smtp.bupt.edu.cn 25</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题</a:t>
            </a:r>
            <a:endParaRPr lang="zh-CN" altLang="en-US"/>
          </a:p>
        </p:txBody>
      </p:sp>
      <p:sp>
        <p:nvSpPr>
          <p:cNvPr id="3" name="内容占位符 2"/>
          <p:cNvSpPr>
            <a:spLocks noGrp="1"/>
          </p:cNvSpPr>
          <p:nvPr>
            <p:ph idx="1"/>
          </p:nvPr>
        </p:nvSpPr>
        <p:spPr/>
        <p:txBody>
          <a:bodyPr/>
          <a:p>
            <a:endParaRPr lang="zh-CN" altLang="en-US"/>
          </a:p>
        </p:txBody>
      </p:sp>
      <p:sp>
        <p:nvSpPr>
          <p:cNvPr id="4" name="页脚占位符 3"/>
          <p:cNvSpPr>
            <a:spLocks noGrp="1"/>
          </p:cNvSpPr>
          <p:nvPr>
            <p:ph type="ftr" sz="quarter" idx="11"/>
          </p:nvPr>
        </p:nvSpPr>
        <p:spPr/>
        <p:txBody>
          <a:bodyPr/>
          <a:p>
            <a:pPr>
              <a:defRPr/>
            </a:pPr>
            <a:r>
              <a:rPr lang="en-US"/>
              <a:t>2: Application Layer</a:t>
            </a:r>
            <a:endParaRPr lang="en-US">
              <a:latin typeface="Times New Roman" panose="02020603050405020304" pitchFamily="18" charset="0"/>
            </a:endParaRPr>
          </a:p>
        </p:txBody>
      </p:sp>
      <p:sp>
        <p:nvSpPr>
          <p:cNvPr id="5" name="灯片编号占位符 4"/>
          <p:cNvSpPr>
            <a:spLocks noGrp="1"/>
          </p:cNvSpPr>
          <p:nvPr>
            <p:ph type="sldNum" sz="quarter" idx="12"/>
          </p:nvPr>
        </p:nvSpPr>
        <p:spPr/>
        <p:txBody>
          <a:bodyPr/>
          <a:p>
            <a:pPr>
              <a:defRPr/>
            </a:pPr>
            <a:fld id="{F0763449-6262-4D75-9142-AE9983774729}" type="slidenum">
              <a:rPr lang="en-US"/>
            </a:fld>
            <a:endParaRPr lang="en-US"/>
          </a:p>
        </p:txBody>
      </p:sp>
      <p:pic>
        <p:nvPicPr>
          <p:cNvPr id="10" name="图片 10"/>
          <p:cNvPicPr>
            <a:picLocks noChangeAspect="1"/>
          </p:cNvPicPr>
          <p:nvPr>
            <p:custDataLst>
              <p:tags r:id="rId1"/>
            </p:custDataLst>
          </p:nvPr>
        </p:nvPicPr>
        <p:blipFill>
          <a:blip r:embed="rId2"/>
          <a:srcRect t="9185" r="-580"/>
          <a:stretch>
            <a:fillRect/>
          </a:stretch>
        </p:blipFill>
        <p:spPr>
          <a:xfrm>
            <a:off x="0" y="1019175"/>
            <a:ext cx="9145270" cy="58388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4" name="页脚占位符 3"/>
          <p:cNvSpPr>
            <a:spLocks noGrp="1"/>
          </p:cNvSpPr>
          <p:nvPr>
            <p:ph type="ftr" sz="quarter" idx="11"/>
          </p:nvPr>
        </p:nvSpPr>
        <p:spPr/>
        <p:txBody>
          <a:bodyPr/>
          <a:p>
            <a:pPr>
              <a:defRPr/>
            </a:pPr>
            <a:r>
              <a:rPr lang="en-US"/>
              <a:t>2: Application Layer</a:t>
            </a:r>
            <a:endParaRPr lang="en-US">
              <a:latin typeface="Times New Roman" panose="02020603050405020304" pitchFamily="18" charset="0"/>
            </a:endParaRPr>
          </a:p>
        </p:txBody>
      </p:sp>
      <p:sp>
        <p:nvSpPr>
          <p:cNvPr id="5" name="灯片编号占位符 4"/>
          <p:cNvSpPr>
            <a:spLocks noGrp="1"/>
          </p:cNvSpPr>
          <p:nvPr>
            <p:ph type="sldNum" sz="quarter" idx="12"/>
          </p:nvPr>
        </p:nvSpPr>
        <p:spPr/>
        <p:txBody>
          <a:bodyPr/>
          <a:p>
            <a:pPr>
              <a:defRPr/>
            </a:pPr>
            <a:fld id="{F0763449-6262-4D75-9142-AE9983774729}" type="slidenum">
              <a:rPr lang="en-US"/>
            </a:fld>
            <a:endParaRPr lang="en-US"/>
          </a:p>
        </p:txBody>
      </p:sp>
      <p:pic>
        <p:nvPicPr>
          <p:cNvPr id="11" name="图片 11"/>
          <p:cNvPicPr>
            <a:picLocks noChangeAspect="1"/>
          </p:cNvPicPr>
          <p:nvPr>
            <p:custDataLst>
              <p:tags r:id="rId1"/>
            </p:custDataLst>
          </p:nvPr>
        </p:nvPicPr>
        <p:blipFill>
          <a:blip r:embed="rId2"/>
          <a:stretch>
            <a:fillRect/>
          </a:stretch>
        </p:blipFill>
        <p:spPr>
          <a:xfrm>
            <a:off x="0" y="0"/>
            <a:ext cx="8997315" cy="600773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4755" name="Slide Number Placeholder 6"/>
          <p:cNvSpPr>
            <a:spLocks noGrp="1"/>
          </p:cNvSpPr>
          <p:nvPr>
            <p:ph type="sldNum" sz="quarter" idx="12"/>
          </p:nvPr>
        </p:nvSpPr>
        <p:spPr>
          <a:noFill/>
        </p:spPr>
        <p:txBody>
          <a:bodyPr/>
          <a:lstStyle/>
          <a:p>
            <a:fld id="{111C013E-CF05-4E00-B444-D680CB9CA654}" type="slidenum">
              <a:rPr lang="en-US"/>
            </a:fld>
            <a:endParaRPr lang="en-US"/>
          </a:p>
        </p:txBody>
      </p:sp>
      <p:sp>
        <p:nvSpPr>
          <p:cNvPr id="74756" name="Rectangle 2"/>
          <p:cNvSpPr>
            <a:spLocks noGrp="1" noChangeArrowheads="1"/>
          </p:cNvSpPr>
          <p:nvPr>
            <p:ph type="title"/>
          </p:nvPr>
        </p:nvSpPr>
        <p:spPr/>
        <p:txBody>
          <a:bodyPr/>
          <a:lstStyle/>
          <a:p>
            <a:r>
              <a:rPr lang="en-US"/>
              <a:t>SMTP: final words</a:t>
            </a:r>
            <a:endParaRPr lang="en-US"/>
          </a:p>
        </p:txBody>
      </p:sp>
      <p:sp>
        <p:nvSpPr>
          <p:cNvPr id="74757" name="Rectangle 3"/>
          <p:cNvSpPr>
            <a:spLocks noGrp="1" noChangeArrowheads="1"/>
          </p:cNvSpPr>
          <p:nvPr>
            <p:ph type="body" sz="half" idx="1"/>
          </p:nvPr>
        </p:nvSpPr>
        <p:spPr/>
        <p:txBody>
          <a:bodyPr/>
          <a:lstStyle/>
          <a:p>
            <a:r>
              <a:rPr lang="en-US" sz="2000"/>
              <a:t>SMTP uses persistent connections</a:t>
            </a:r>
            <a:endParaRPr lang="en-US" sz="2000"/>
          </a:p>
          <a:p>
            <a:r>
              <a:rPr lang="en-US" sz="2000"/>
              <a:t>SMTP requires message (header &amp; body) to be in 7-bit ASCII</a:t>
            </a:r>
            <a:endParaRPr lang="en-US" sz="2000"/>
          </a:p>
          <a:p>
            <a:r>
              <a:rPr lang="en-US" sz="2000"/>
              <a:t>SMTP server uses </a:t>
            </a:r>
            <a:r>
              <a:rPr lang="en-US" sz="2000">
                <a:latin typeface="Courier New" panose="02070309020205020404" pitchFamily="49" charset="0"/>
              </a:rPr>
              <a:t>CRLF.CRLF</a:t>
            </a:r>
            <a:r>
              <a:rPr lang="en-US" sz="2000"/>
              <a:t> to determine end of message</a:t>
            </a:r>
            <a:endParaRPr lang="en-US" sz="2000"/>
          </a:p>
        </p:txBody>
      </p:sp>
      <p:sp>
        <p:nvSpPr>
          <p:cNvPr id="74758" name="Rectangle 4"/>
          <p:cNvSpPr>
            <a:spLocks noGrp="1" noChangeArrowheads="1"/>
          </p:cNvSpPr>
          <p:nvPr>
            <p:ph type="body" sz="half" idx="2"/>
          </p:nvPr>
        </p:nvSpPr>
        <p:spPr/>
        <p:txBody>
          <a:bodyPr/>
          <a:lstStyle/>
          <a:p>
            <a:pPr>
              <a:buFont typeface="ZapfDingbats" pitchFamily="82" charset="2"/>
              <a:buNone/>
            </a:pPr>
            <a:r>
              <a:rPr lang="en-US" sz="2400">
                <a:solidFill>
                  <a:srgbClr val="FF0000"/>
                </a:solidFill>
              </a:rPr>
              <a:t>Comparison with HTTP:</a:t>
            </a:r>
            <a:endParaRPr lang="en-US" sz="2400">
              <a:solidFill>
                <a:srgbClr val="FF0000"/>
              </a:solidFill>
            </a:endParaRPr>
          </a:p>
          <a:p>
            <a:pPr>
              <a:spcBef>
                <a:spcPct val="50000"/>
              </a:spcBef>
            </a:pPr>
            <a:r>
              <a:rPr lang="en-US" sz="2000"/>
              <a:t>HTTP: pull</a:t>
            </a:r>
            <a:endParaRPr lang="en-US" sz="2000"/>
          </a:p>
          <a:p>
            <a:pPr>
              <a:spcAft>
                <a:spcPct val="50000"/>
              </a:spcAft>
            </a:pPr>
            <a:r>
              <a:rPr lang="en-US" sz="2000"/>
              <a:t>SMTP: push</a:t>
            </a:r>
            <a:endParaRPr lang="en-US" sz="2000"/>
          </a:p>
          <a:p>
            <a:pPr>
              <a:spcAft>
                <a:spcPct val="50000"/>
              </a:spcAft>
            </a:pPr>
            <a:r>
              <a:rPr lang="en-US" sz="2000"/>
              <a:t>both have ASCII command/response interaction, status codes</a:t>
            </a:r>
            <a:endParaRPr lang="en-US" sz="2000"/>
          </a:p>
          <a:p>
            <a:r>
              <a:rPr lang="en-US" sz="2000"/>
              <a:t>HTTP: each object encapsulated in its own response msg</a:t>
            </a:r>
            <a:endParaRPr lang="en-US" sz="2000"/>
          </a:p>
          <a:p>
            <a:r>
              <a:rPr lang="en-US" sz="2000"/>
              <a:t>SMTP: multiple objects sent in multipart msg</a:t>
            </a:r>
            <a:endParaRPr lang="en-US" sz="20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5779" name="Slide Number Placeholder 6"/>
          <p:cNvSpPr>
            <a:spLocks noGrp="1"/>
          </p:cNvSpPr>
          <p:nvPr>
            <p:ph type="sldNum" sz="quarter" idx="12"/>
          </p:nvPr>
        </p:nvSpPr>
        <p:spPr>
          <a:noFill/>
        </p:spPr>
        <p:txBody>
          <a:bodyPr/>
          <a:lstStyle/>
          <a:p>
            <a:fld id="{8E81A4F2-0E3C-479F-8639-7667A1C47CBD}" type="slidenum">
              <a:rPr lang="en-US"/>
            </a:fld>
            <a:endParaRPr lang="en-US"/>
          </a:p>
        </p:txBody>
      </p:sp>
      <p:sp>
        <p:nvSpPr>
          <p:cNvPr id="75780" name="Rectangle 2"/>
          <p:cNvSpPr>
            <a:spLocks noGrp="1" noChangeArrowheads="1"/>
          </p:cNvSpPr>
          <p:nvPr>
            <p:ph type="title"/>
          </p:nvPr>
        </p:nvSpPr>
        <p:spPr/>
        <p:txBody>
          <a:bodyPr/>
          <a:lstStyle/>
          <a:p>
            <a:r>
              <a:rPr lang="en-US" sz="3600"/>
              <a:t>Mail message format</a:t>
            </a:r>
            <a:endParaRPr lang="en-US"/>
          </a:p>
        </p:txBody>
      </p:sp>
      <p:sp>
        <p:nvSpPr>
          <p:cNvPr id="75781" name="Rectangle 3"/>
          <p:cNvSpPr>
            <a:spLocks noGrp="1" noChangeArrowheads="1"/>
          </p:cNvSpPr>
          <p:nvPr>
            <p:ph type="body" sz="half" idx="1"/>
          </p:nvPr>
        </p:nvSpPr>
        <p:spPr/>
        <p:txBody>
          <a:bodyPr/>
          <a:lstStyle/>
          <a:p>
            <a:pPr>
              <a:buFont typeface="ZapfDingbats" pitchFamily="82" charset="2"/>
              <a:buNone/>
            </a:pPr>
            <a:r>
              <a:rPr lang="en-US" sz="2000"/>
              <a:t>SMTP: protocol for exchanging email msgs</a:t>
            </a:r>
            <a:endParaRPr lang="en-US" sz="2000"/>
          </a:p>
          <a:p>
            <a:pPr>
              <a:buFont typeface="ZapfDingbats" pitchFamily="82" charset="2"/>
              <a:buNone/>
            </a:pPr>
            <a:r>
              <a:rPr lang="en-US" sz="2000"/>
              <a:t>RFC 822: standard for text message format:</a:t>
            </a:r>
            <a:endParaRPr lang="en-US" sz="2000"/>
          </a:p>
          <a:p>
            <a:r>
              <a:rPr lang="en-US" sz="2000"/>
              <a:t>header lines, e.g.,</a:t>
            </a:r>
            <a:endParaRPr lang="en-US" sz="2000"/>
          </a:p>
          <a:p>
            <a:pPr lvl="1"/>
            <a:r>
              <a:rPr lang="en-US" sz="1800"/>
              <a:t>To:</a:t>
            </a:r>
            <a:endParaRPr lang="en-US" sz="1800"/>
          </a:p>
          <a:p>
            <a:pPr lvl="1"/>
            <a:r>
              <a:rPr lang="en-US" sz="1800"/>
              <a:t>From:</a:t>
            </a:r>
            <a:endParaRPr lang="en-US" sz="1800"/>
          </a:p>
          <a:p>
            <a:pPr lvl="1"/>
            <a:r>
              <a:rPr lang="en-US" sz="1800"/>
              <a:t>Subject:</a:t>
            </a:r>
            <a:endParaRPr lang="en-US" sz="1800"/>
          </a:p>
          <a:p>
            <a:pPr lvl="1">
              <a:buFont typeface="Wingdings" panose="05000000000000000000" pitchFamily="2" charset="2"/>
              <a:buNone/>
            </a:pPr>
            <a:r>
              <a:rPr lang="en-US" sz="1800" i="1">
                <a:solidFill>
                  <a:srgbClr val="FF0000"/>
                </a:solidFill>
              </a:rPr>
              <a:t>different</a:t>
            </a:r>
            <a:r>
              <a:rPr lang="en-US" sz="1800" i="1">
                <a:solidFill>
                  <a:srgbClr val="66FFCC"/>
                </a:solidFill>
              </a:rPr>
              <a:t> </a:t>
            </a:r>
            <a:r>
              <a:rPr lang="en-US" sz="1800" i="1"/>
              <a:t>from SMTP commands</a:t>
            </a:r>
            <a:r>
              <a:rPr lang="en-US" sz="1800"/>
              <a:t>!</a:t>
            </a:r>
            <a:endParaRPr lang="en-US" sz="1800"/>
          </a:p>
          <a:p>
            <a:r>
              <a:rPr lang="en-US" sz="2000"/>
              <a:t>body</a:t>
            </a:r>
            <a:endParaRPr lang="en-US" sz="2000"/>
          </a:p>
          <a:p>
            <a:pPr lvl="1"/>
            <a:r>
              <a:rPr lang="en-US" sz="1800"/>
              <a:t>the “message”, ASCII characters only</a:t>
            </a:r>
            <a:endParaRPr lang="en-US" sz="1800"/>
          </a:p>
        </p:txBody>
      </p:sp>
      <p:sp>
        <p:nvSpPr>
          <p:cNvPr id="75782" name="Rectangle 5"/>
          <p:cNvSpPr>
            <a:spLocks noChangeArrowheads="1"/>
          </p:cNvSpPr>
          <p:nvPr/>
        </p:nvSpPr>
        <p:spPr bwMode="auto">
          <a:xfrm>
            <a:off x="4978400" y="1892300"/>
            <a:ext cx="2832100" cy="431800"/>
          </a:xfrm>
          <a:prstGeom prst="rect">
            <a:avLst/>
          </a:prstGeom>
          <a:solidFill>
            <a:schemeClr val="accent1"/>
          </a:solidFill>
          <a:ln w="9525">
            <a:solidFill>
              <a:schemeClr val="tx1"/>
            </a:solidFill>
            <a:miter lim="800000"/>
          </a:ln>
        </p:spPr>
        <p:txBody>
          <a:bodyPr wrap="none" anchor="ctr"/>
          <a:lstStyle/>
          <a:p>
            <a:pPr algn="ctr">
              <a:spcBef>
                <a:spcPct val="0"/>
              </a:spcBef>
              <a:buClrTx/>
              <a:buSzTx/>
              <a:buFontTx/>
              <a:buNone/>
            </a:pPr>
            <a:r>
              <a:rPr lang="en-US">
                <a:solidFill>
                  <a:schemeClr val="bg1"/>
                </a:solidFill>
              </a:rPr>
              <a:t>header</a:t>
            </a:r>
            <a:endParaRPr lang="en-US">
              <a:solidFill>
                <a:schemeClr val="bg1"/>
              </a:solidFill>
            </a:endParaRPr>
          </a:p>
        </p:txBody>
      </p:sp>
      <p:sp>
        <p:nvSpPr>
          <p:cNvPr id="75783" name="Rectangle 7"/>
          <p:cNvSpPr>
            <a:spLocks noChangeArrowheads="1"/>
          </p:cNvSpPr>
          <p:nvPr/>
        </p:nvSpPr>
        <p:spPr bwMode="auto">
          <a:xfrm>
            <a:off x="4978400" y="2705100"/>
            <a:ext cx="2832100" cy="1739900"/>
          </a:xfrm>
          <a:prstGeom prst="rect">
            <a:avLst/>
          </a:prstGeom>
          <a:solidFill>
            <a:schemeClr val="accent2"/>
          </a:solidFill>
          <a:ln w="9525">
            <a:solidFill>
              <a:schemeClr val="tx1"/>
            </a:solidFill>
            <a:miter lim="800000"/>
          </a:ln>
        </p:spPr>
        <p:txBody>
          <a:bodyPr wrap="none" anchor="ctr"/>
          <a:lstStyle/>
          <a:p>
            <a:pPr algn="ctr">
              <a:spcBef>
                <a:spcPct val="0"/>
              </a:spcBef>
              <a:buClrTx/>
              <a:buSzTx/>
              <a:buFontTx/>
              <a:buNone/>
            </a:pPr>
            <a:r>
              <a:rPr lang="en-US">
                <a:solidFill>
                  <a:schemeClr val="bg1"/>
                </a:solidFill>
              </a:rPr>
              <a:t>body</a:t>
            </a:r>
            <a:endParaRPr lang="en-US">
              <a:solidFill>
                <a:schemeClr val="bg1"/>
              </a:solidFill>
            </a:endParaRPr>
          </a:p>
        </p:txBody>
      </p:sp>
      <p:sp>
        <p:nvSpPr>
          <p:cNvPr id="75784" name="Rectangle 9"/>
          <p:cNvSpPr>
            <a:spLocks noChangeArrowheads="1"/>
          </p:cNvSpPr>
          <p:nvPr/>
        </p:nvSpPr>
        <p:spPr bwMode="auto">
          <a:xfrm>
            <a:off x="4775200" y="1778000"/>
            <a:ext cx="3238500" cy="3073400"/>
          </a:xfrm>
          <a:prstGeom prst="rect">
            <a:avLst/>
          </a:prstGeom>
          <a:noFill/>
          <a:ln w="12700">
            <a:solidFill>
              <a:schemeClr val="tx1"/>
            </a:solidFill>
            <a:miter lim="800000"/>
          </a:ln>
        </p:spPr>
        <p:txBody>
          <a:bodyPr wrap="none" anchor="ctr"/>
          <a:lstStyle/>
          <a:p>
            <a:endParaRPr lang="en-US"/>
          </a:p>
        </p:txBody>
      </p:sp>
      <p:sp>
        <p:nvSpPr>
          <p:cNvPr id="75785" name="Line 10"/>
          <p:cNvSpPr>
            <a:spLocks noChangeShapeType="1"/>
          </p:cNvSpPr>
          <p:nvPr/>
        </p:nvSpPr>
        <p:spPr bwMode="auto">
          <a:xfrm flipV="1">
            <a:off x="3162300" y="2159000"/>
            <a:ext cx="1765300" cy="1016000"/>
          </a:xfrm>
          <a:prstGeom prst="line">
            <a:avLst/>
          </a:prstGeom>
          <a:noFill/>
          <a:ln w="19050">
            <a:solidFill>
              <a:srgbClr val="FF0000"/>
            </a:solidFill>
            <a:round/>
            <a:tailEnd type="triangle" w="med" len="med"/>
          </a:ln>
        </p:spPr>
        <p:txBody>
          <a:bodyPr wrap="none" anchor="ctr"/>
          <a:lstStyle/>
          <a:p>
            <a:endParaRPr lang="en-US"/>
          </a:p>
        </p:txBody>
      </p:sp>
      <p:sp>
        <p:nvSpPr>
          <p:cNvPr id="75786" name="Line 11"/>
          <p:cNvSpPr>
            <a:spLocks noChangeShapeType="1"/>
          </p:cNvSpPr>
          <p:nvPr/>
        </p:nvSpPr>
        <p:spPr bwMode="auto">
          <a:xfrm flipV="1">
            <a:off x="3009900" y="3327400"/>
            <a:ext cx="1905000" cy="1879600"/>
          </a:xfrm>
          <a:prstGeom prst="line">
            <a:avLst/>
          </a:prstGeom>
          <a:noFill/>
          <a:ln w="19050">
            <a:solidFill>
              <a:srgbClr val="FF0000"/>
            </a:solidFill>
            <a:round/>
            <a:tailEnd type="triangle" w="med" len="med"/>
          </a:ln>
        </p:spPr>
        <p:txBody>
          <a:bodyPr wrap="none" anchor="ctr"/>
          <a:lstStyle/>
          <a:p>
            <a:endParaRPr lang="en-US"/>
          </a:p>
        </p:txBody>
      </p:sp>
      <p:sp>
        <p:nvSpPr>
          <p:cNvPr id="75787" name="Text Box 13"/>
          <p:cNvSpPr txBox="1">
            <a:spLocks noChangeArrowheads="1"/>
          </p:cNvSpPr>
          <p:nvPr/>
        </p:nvSpPr>
        <p:spPr bwMode="auto">
          <a:xfrm>
            <a:off x="8132763" y="2112963"/>
            <a:ext cx="804862" cy="701675"/>
          </a:xfrm>
          <a:prstGeom prst="rect">
            <a:avLst/>
          </a:prstGeom>
          <a:noFill/>
          <a:ln w="9525">
            <a:noFill/>
            <a:miter lim="800000"/>
          </a:ln>
        </p:spPr>
        <p:txBody>
          <a:bodyPr wrap="none">
            <a:spAutoFit/>
          </a:bodyPr>
          <a:lstStyle/>
          <a:p>
            <a:pPr algn="ctr">
              <a:spcBef>
                <a:spcPct val="0"/>
              </a:spcBef>
              <a:buClrTx/>
              <a:buSzTx/>
              <a:buFontTx/>
              <a:buNone/>
            </a:pPr>
            <a:r>
              <a:rPr lang="en-US" sz="2000"/>
              <a:t>blank</a:t>
            </a:r>
            <a:endParaRPr lang="en-US" sz="2000"/>
          </a:p>
          <a:p>
            <a:pPr algn="ctr">
              <a:spcBef>
                <a:spcPct val="0"/>
              </a:spcBef>
              <a:buClrTx/>
              <a:buSzTx/>
              <a:buFontTx/>
              <a:buNone/>
            </a:pPr>
            <a:r>
              <a:rPr lang="en-US" sz="2000"/>
              <a:t>line</a:t>
            </a:r>
            <a:endParaRPr lang="en-US" sz="2000"/>
          </a:p>
        </p:txBody>
      </p:sp>
      <p:sp>
        <p:nvSpPr>
          <p:cNvPr id="75788" name="Line 14"/>
          <p:cNvSpPr>
            <a:spLocks noChangeShapeType="1"/>
          </p:cNvSpPr>
          <p:nvPr/>
        </p:nvSpPr>
        <p:spPr bwMode="auto">
          <a:xfrm flipH="1">
            <a:off x="7251700" y="2552700"/>
            <a:ext cx="965200" cy="0"/>
          </a:xfrm>
          <a:prstGeom prst="line">
            <a:avLst/>
          </a:prstGeom>
          <a:noFill/>
          <a:ln w="19050">
            <a:solidFill>
              <a:srgbClr val="FF0000"/>
            </a:solidFill>
            <a:round/>
            <a:tailEnd type="triangle" w="med" len="med"/>
          </a:ln>
        </p:spPr>
        <p:txBody>
          <a:bodyPr wrap="none" anchor="ctr"/>
          <a:lstStyle/>
          <a:p>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6391" name="Slide Number Placeholder 6"/>
          <p:cNvSpPr>
            <a:spLocks noGrp="1"/>
          </p:cNvSpPr>
          <p:nvPr>
            <p:ph type="sldNum" sz="quarter" idx="12"/>
          </p:nvPr>
        </p:nvSpPr>
        <p:spPr>
          <a:noFill/>
        </p:spPr>
        <p:txBody>
          <a:bodyPr/>
          <a:lstStyle/>
          <a:p>
            <a:fld id="{A6E86998-2DF6-4EC1-BD63-01B0C501F961}" type="slidenum">
              <a:rPr lang="en-US"/>
            </a:fld>
            <a:endParaRPr lang="en-US"/>
          </a:p>
        </p:txBody>
      </p:sp>
      <p:sp>
        <p:nvSpPr>
          <p:cNvPr id="16392" name="Rectangle 2"/>
          <p:cNvSpPr>
            <a:spLocks noGrp="1" noChangeArrowheads="1"/>
          </p:cNvSpPr>
          <p:nvPr>
            <p:ph type="title"/>
          </p:nvPr>
        </p:nvSpPr>
        <p:spPr/>
        <p:txBody>
          <a:bodyPr/>
          <a:lstStyle/>
          <a:p>
            <a:r>
              <a:rPr lang="en-US"/>
              <a:t>Mail access protocols</a:t>
            </a:r>
            <a:endParaRPr lang="en-US"/>
          </a:p>
        </p:txBody>
      </p:sp>
      <p:sp>
        <p:nvSpPr>
          <p:cNvPr id="16393" name="Rectangle 3"/>
          <p:cNvSpPr>
            <a:spLocks noGrp="1" noChangeArrowheads="1"/>
          </p:cNvSpPr>
          <p:nvPr>
            <p:ph type="body" sz="half" idx="1"/>
          </p:nvPr>
        </p:nvSpPr>
        <p:spPr>
          <a:xfrm>
            <a:off x="581025" y="3219450"/>
            <a:ext cx="7381875" cy="2209800"/>
          </a:xfrm>
        </p:spPr>
        <p:txBody>
          <a:bodyPr/>
          <a:lstStyle/>
          <a:p>
            <a:r>
              <a:rPr lang="en-US" sz="2000"/>
              <a:t>SMTP: delivery/storage to receiver’s server</a:t>
            </a:r>
            <a:endParaRPr lang="en-US" sz="2000"/>
          </a:p>
          <a:p>
            <a:r>
              <a:rPr lang="en-US" sz="2000"/>
              <a:t>Mail access protocol: retrieval from server</a:t>
            </a:r>
            <a:endParaRPr lang="en-US" sz="2000"/>
          </a:p>
          <a:p>
            <a:pPr lvl="1"/>
            <a:r>
              <a:rPr lang="en-US" sz="2000"/>
              <a:t>POP: Post Office Protocol [RFC 1939]</a:t>
            </a:r>
            <a:endParaRPr lang="en-US" sz="2000"/>
          </a:p>
          <a:p>
            <a:pPr lvl="2"/>
            <a:r>
              <a:rPr lang="en-US"/>
              <a:t>authorization (agent &lt;--&gt;server) and download </a:t>
            </a:r>
            <a:endParaRPr lang="en-US"/>
          </a:p>
          <a:p>
            <a:pPr lvl="1"/>
            <a:r>
              <a:rPr lang="en-US" sz="2000"/>
              <a:t>IMAP: Internet Mail Access Protocol [RFC 1730]</a:t>
            </a:r>
            <a:endParaRPr lang="en-US" sz="2000"/>
          </a:p>
          <a:p>
            <a:pPr lvl="2"/>
            <a:r>
              <a:rPr lang="en-US"/>
              <a:t>more features (more complex)</a:t>
            </a:r>
            <a:endParaRPr lang="en-US"/>
          </a:p>
          <a:p>
            <a:pPr lvl="2"/>
            <a:r>
              <a:rPr lang="en-US"/>
              <a:t>manipulation of stored msgs on server</a:t>
            </a:r>
            <a:endParaRPr lang="en-US"/>
          </a:p>
          <a:p>
            <a:pPr lvl="1"/>
            <a:r>
              <a:rPr lang="en-US" sz="2000"/>
              <a:t>HTTP: gmail, Hotmail, Yahoo! Mail, etc.</a:t>
            </a:r>
            <a:endParaRPr lang="en-US"/>
          </a:p>
          <a:p>
            <a:pPr lvl="1"/>
            <a:endParaRPr lang="en-US" sz="2000"/>
          </a:p>
        </p:txBody>
      </p:sp>
      <p:sp>
        <p:nvSpPr>
          <p:cNvPr id="16394" name="Line 6"/>
          <p:cNvSpPr>
            <a:spLocks noChangeShapeType="1"/>
          </p:cNvSpPr>
          <p:nvPr/>
        </p:nvSpPr>
        <p:spPr bwMode="auto">
          <a:xfrm>
            <a:off x="2238375" y="1847850"/>
            <a:ext cx="847725" cy="9525"/>
          </a:xfrm>
          <a:prstGeom prst="line">
            <a:avLst/>
          </a:prstGeom>
          <a:noFill/>
          <a:ln w="28575">
            <a:solidFill>
              <a:srgbClr val="FF0000"/>
            </a:solidFill>
            <a:round/>
            <a:tailEnd type="triangle" w="med" len="med"/>
          </a:ln>
        </p:spPr>
        <p:txBody>
          <a:bodyPr wrap="none" anchor="ctr"/>
          <a:lstStyle/>
          <a:p>
            <a:endParaRPr lang="en-US"/>
          </a:p>
        </p:txBody>
      </p:sp>
      <p:grpSp>
        <p:nvGrpSpPr>
          <p:cNvPr id="16395" name="Group 32"/>
          <p:cNvGrpSpPr/>
          <p:nvPr/>
        </p:nvGrpSpPr>
        <p:grpSpPr bwMode="auto">
          <a:xfrm>
            <a:off x="7018338" y="1536700"/>
            <a:ext cx="709612" cy="703263"/>
            <a:chOff x="4337" y="290"/>
            <a:chExt cx="447" cy="443"/>
          </a:xfrm>
        </p:grpSpPr>
        <p:graphicFrame>
          <p:nvGraphicFramePr>
            <p:cNvPr id="16389" name="Object 33"/>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6430" name="Clip" r:id="rId1" imgW="18192750" imgH="15087600" progId="">
                    <p:embed/>
                  </p:oleObj>
                </mc:Choice>
                <mc:Fallback>
                  <p:oleObj name="Clip" r:id="rId1" imgW="18192750" imgH="15087600" progId="">
                    <p:embed/>
                    <p:pic>
                      <p:nvPicPr>
                        <p:cNvPr id="0" name="Object 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6461" name="Group 34"/>
            <p:cNvGrpSpPr/>
            <p:nvPr/>
          </p:nvGrpSpPr>
          <p:grpSpPr bwMode="auto">
            <a:xfrm>
              <a:off x="4337" y="367"/>
              <a:ext cx="447" cy="366"/>
              <a:chOff x="4189" y="817"/>
              <a:chExt cx="521" cy="366"/>
            </a:xfrm>
          </p:grpSpPr>
          <p:sp>
            <p:nvSpPr>
              <p:cNvPr id="16462" name="Rectangle 35"/>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6463" name="Text Box 36"/>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6396" name="Group 84"/>
          <p:cNvGrpSpPr/>
          <p:nvPr/>
        </p:nvGrpSpPr>
        <p:grpSpPr bwMode="auto">
          <a:xfrm>
            <a:off x="3135313" y="1631950"/>
            <a:ext cx="355600" cy="933450"/>
            <a:chOff x="4180" y="783"/>
            <a:chExt cx="150" cy="307"/>
          </a:xfrm>
        </p:grpSpPr>
        <p:sp>
          <p:nvSpPr>
            <p:cNvPr id="16453" name="AutoShape 8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6454" name="Rectangle 86"/>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6455" name="Rectangle 87"/>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6456" name="AutoShape 8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6457" name="Line 89"/>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6458" name="Line 90"/>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6459" name="Rectangle 91"/>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6460" name="Rectangle 92"/>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6397" name="Group 158"/>
          <p:cNvGrpSpPr/>
          <p:nvPr/>
        </p:nvGrpSpPr>
        <p:grpSpPr bwMode="auto">
          <a:xfrm>
            <a:off x="2563813" y="2009775"/>
            <a:ext cx="1458912" cy="1179513"/>
            <a:chOff x="1789" y="1206"/>
            <a:chExt cx="919" cy="743"/>
          </a:xfrm>
        </p:grpSpPr>
        <p:sp>
          <p:nvSpPr>
            <p:cNvPr id="16437" name="Text Box 95"/>
            <p:cNvSpPr txBox="1">
              <a:spLocks noChangeArrowheads="1"/>
            </p:cNvSpPr>
            <p:nvPr/>
          </p:nvSpPr>
          <p:spPr bwMode="auto">
            <a:xfrm>
              <a:off x="1789" y="1583"/>
              <a:ext cx="919" cy="366"/>
            </a:xfrm>
            <a:prstGeom prst="rect">
              <a:avLst/>
            </a:prstGeom>
            <a:noFill/>
            <a:ln w="9525">
              <a:noFill/>
              <a:miter lim="800000"/>
            </a:ln>
          </p:spPr>
          <p:txBody>
            <a:bodyPr wrap="none">
              <a:spAutoFit/>
            </a:bodyPr>
            <a:lstStyle/>
            <a:p>
              <a:pPr algn="ctr">
                <a:spcBef>
                  <a:spcPct val="0"/>
                </a:spcBef>
                <a:buClrTx/>
                <a:buSzTx/>
                <a:buFontTx/>
                <a:buNone/>
              </a:pPr>
              <a:r>
                <a:rPr lang="en-US" sz="1600"/>
                <a:t>sender’s mail </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grpSp>
          <p:nvGrpSpPr>
            <p:cNvPr id="16438" name="Group 157"/>
            <p:cNvGrpSpPr/>
            <p:nvPr/>
          </p:nvGrpSpPr>
          <p:grpSpPr bwMode="auto">
            <a:xfrm>
              <a:off x="1992" y="1206"/>
              <a:ext cx="510" cy="354"/>
              <a:chOff x="2070" y="2004"/>
              <a:chExt cx="510" cy="354"/>
            </a:xfrm>
          </p:grpSpPr>
          <p:sp>
            <p:nvSpPr>
              <p:cNvPr id="16439" name="Rectangle 94"/>
              <p:cNvSpPr>
                <a:spLocks noChangeArrowheads="1"/>
              </p:cNvSpPr>
              <p:nvPr/>
            </p:nvSpPr>
            <p:spPr bwMode="auto">
              <a:xfrm>
                <a:off x="2070" y="2004"/>
                <a:ext cx="510" cy="354"/>
              </a:xfrm>
              <a:prstGeom prst="rect">
                <a:avLst/>
              </a:prstGeom>
              <a:solidFill>
                <a:schemeClr val="hlink"/>
              </a:solidFill>
              <a:ln w="19050">
                <a:solidFill>
                  <a:schemeClr val="tx1"/>
                </a:solidFill>
                <a:miter lim="800000"/>
              </a:ln>
            </p:spPr>
            <p:txBody>
              <a:bodyPr wrap="none" anchor="ctr"/>
              <a:lstStyle/>
              <a:p>
                <a:endParaRPr lang="en-US"/>
              </a:p>
            </p:txBody>
          </p:sp>
          <p:sp>
            <p:nvSpPr>
              <p:cNvPr id="16440" name="Rectangle 96"/>
              <p:cNvSpPr>
                <a:spLocks noChangeArrowheads="1"/>
              </p:cNvSpPr>
              <p:nvPr/>
            </p:nvSpPr>
            <p:spPr bwMode="auto">
              <a:xfrm>
                <a:off x="2094" y="207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6441" name="Line 97"/>
              <p:cNvSpPr>
                <a:spLocks noChangeShapeType="1"/>
              </p:cNvSpPr>
              <p:nvPr/>
            </p:nvSpPr>
            <p:spPr bwMode="auto">
              <a:xfrm>
                <a:off x="2143" y="2104"/>
                <a:ext cx="0" cy="72"/>
              </a:xfrm>
              <a:prstGeom prst="line">
                <a:avLst/>
              </a:prstGeom>
              <a:noFill/>
              <a:ln w="19050">
                <a:solidFill>
                  <a:schemeClr val="tx1"/>
                </a:solidFill>
                <a:round/>
              </a:ln>
            </p:spPr>
            <p:txBody>
              <a:bodyPr wrap="none" anchor="ctr"/>
              <a:lstStyle/>
              <a:p>
                <a:endParaRPr lang="en-US"/>
              </a:p>
            </p:txBody>
          </p:sp>
          <p:sp>
            <p:nvSpPr>
              <p:cNvPr id="16442" name="Line 98"/>
              <p:cNvSpPr>
                <a:spLocks noChangeShapeType="1"/>
              </p:cNvSpPr>
              <p:nvPr/>
            </p:nvSpPr>
            <p:spPr bwMode="auto">
              <a:xfrm>
                <a:off x="2252" y="2103"/>
                <a:ext cx="0" cy="72"/>
              </a:xfrm>
              <a:prstGeom prst="line">
                <a:avLst/>
              </a:prstGeom>
              <a:noFill/>
              <a:ln w="19050">
                <a:solidFill>
                  <a:schemeClr val="tx1"/>
                </a:solidFill>
                <a:round/>
              </a:ln>
            </p:spPr>
            <p:txBody>
              <a:bodyPr wrap="none" anchor="ctr"/>
              <a:lstStyle/>
              <a:p>
                <a:endParaRPr lang="en-US"/>
              </a:p>
            </p:txBody>
          </p:sp>
          <p:sp>
            <p:nvSpPr>
              <p:cNvPr id="16443" name="Line 99"/>
              <p:cNvSpPr>
                <a:spLocks noChangeShapeType="1"/>
              </p:cNvSpPr>
              <p:nvPr/>
            </p:nvSpPr>
            <p:spPr bwMode="auto">
              <a:xfrm>
                <a:off x="2307" y="2105"/>
                <a:ext cx="0" cy="72"/>
              </a:xfrm>
              <a:prstGeom prst="line">
                <a:avLst/>
              </a:prstGeom>
              <a:noFill/>
              <a:ln w="19050">
                <a:solidFill>
                  <a:schemeClr val="tx1"/>
                </a:solidFill>
                <a:round/>
              </a:ln>
            </p:spPr>
            <p:txBody>
              <a:bodyPr wrap="none" anchor="ctr"/>
              <a:lstStyle/>
              <a:p>
                <a:endParaRPr lang="en-US"/>
              </a:p>
            </p:txBody>
          </p:sp>
          <p:sp>
            <p:nvSpPr>
              <p:cNvPr id="16444" name="Line 100"/>
              <p:cNvSpPr>
                <a:spLocks noChangeShapeType="1"/>
              </p:cNvSpPr>
              <p:nvPr/>
            </p:nvSpPr>
            <p:spPr bwMode="auto">
              <a:xfrm>
                <a:off x="2364" y="2103"/>
                <a:ext cx="0" cy="72"/>
              </a:xfrm>
              <a:prstGeom prst="line">
                <a:avLst/>
              </a:prstGeom>
              <a:noFill/>
              <a:ln w="19050">
                <a:solidFill>
                  <a:schemeClr val="tx1"/>
                </a:solidFill>
                <a:round/>
              </a:ln>
            </p:spPr>
            <p:txBody>
              <a:bodyPr wrap="none" anchor="ctr"/>
              <a:lstStyle/>
              <a:p>
                <a:endParaRPr lang="en-US"/>
              </a:p>
            </p:txBody>
          </p:sp>
          <p:sp>
            <p:nvSpPr>
              <p:cNvPr id="16445" name="Line 101"/>
              <p:cNvSpPr>
                <a:spLocks noChangeShapeType="1"/>
              </p:cNvSpPr>
              <p:nvPr/>
            </p:nvSpPr>
            <p:spPr bwMode="auto">
              <a:xfrm>
                <a:off x="2425" y="2103"/>
                <a:ext cx="0" cy="72"/>
              </a:xfrm>
              <a:prstGeom prst="line">
                <a:avLst/>
              </a:prstGeom>
              <a:noFill/>
              <a:ln w="19050">
                <a:solidFill>
                  <a:schemeClr val="tx1"/>
                </a:solidFill>
                <a:round/>
              </a:ln>
            </p:spPr>
            <p:txBody>
              <a:bodyPr wrap="none" anchor="ctr"/>
              <a:lstStyle/>
              <a:p>
                <a:endParaRPr lang="en-US"/>
              </a:p>
            </p:txBody>
          </p:sp>
          <p:sp>
            <p:nvSpPr>
              <p:cNvPr id="16446" name="Line 102"/>
              <p:cNvSpPr>
                <a:spLocks noChangeShapeType="1"/>
              </p:cNvSpPr>
              <p:nvPr/>
            </p:nvSpPr>
            <p:spPr bwMode="auto">
              <a:xfrm>
                <a:off x="2481" y="2103"/>
                <a:ext cx="0" cy="72"/>
              </a:xfrm>
              <a:prstGeom prst="line">
                <a:avLst/>
              </a:prstGeom>
              <a:noFill/>
              <a:ln w="19050">
                <a:solidFill>
                  <a:schemeClr val="tx1"/>
                </a:solidFill>
                <a:round/>
              </a:ln>
            </p:spPr>
            <p:txBody>
              <a:bodyPr wrap="none" anchor="ctr"/>
              <a:lstStyle/>
              <a:p>
                <a:endParaRPr lang="en-US"/>
              </a:p>
            </p:txBody>
          </p:sp>
          <p:sp>
            <p:nvSpPr>
              <p:cNvPr id="16447" name="Line 103"/>
              <p:cNvSpPr>
                <a:spLocks noChangeShapeType="1"/>
              </p:cNvSpPr>
              <p:nvPr/>
            </p:nvSpPr>
            <p:spPr bwMode="auto">
              <a:xfrm>
                <a:off x="2196" y="2104"/>
                <a:ext cx="0" cy="72"/>
              </a:xfrm>
              <a:prstGeom prst="line">
                <a:avLst/>
              </a:prstGeom>
              <a:noFill/>
              <a:ln w="19050">
                <a:solidFill>
                  <a:schemeClr val="tx1"/>
                </a:solidFill>
                <a:round/>
              </a:ln>
            </p:spPr>
            <p:txBody>
              <a:bodyPr wrap="none" anchor="ctr"/>
              <a:lstStyle/>
              <a:p>
                <a:endParaRPr lang="en-US"/>
              </a:p>
            </p:txBody>
          </p:sp>
          <p:sp>
            <p:nvSpPr>
              <p:cNvPr id="16448" name="Rectangle 104"/>
              <p:cNvSpPr>
                <a:spLocks noChangeArrowheads="1"/>
              </p:cNvSpPr>
              <p:nvPr/>
            </p:nvSpPr>
            <p:spPr bwMode="auto">
              <a:xfrm>
                <a:off x="2102" y="224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6449" name="Rectangle 105"/>
              <p:cNvSpPr>
                <a:spLocks noChangeArrowheads="1"/>
              </p:cNvSpPr>
              <p:nvPr/>
            </p:nvSpPr>
            <p:spPr bwMode="auto">
              <a:xfrm>
                <a:off x="2188" y="224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6450" name="Rectangle 106"/>
              <p:cNvSpPr>
                <a:spLocks noChangeArrowheads="1"/>
              </p:cNvSpPr>
              <p:nvPr/>
            </p:nvSpPr>
            <p:spPr bwMode="auto">
              <a:xfrm>
                <a:off x="2274" y="224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6451" name="Rectangle 107"/>
              <p:cNvSpPr>
                <a:spLocks noChangeArrowheads="1"/>
              </p:cNvSpPr>
              <p:nvPr/>
            </p:nvSpPr>
            <p:spPr bwMode="auto">
              <a:xfrm>
                <a:off x="2371" y="224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6452" name="Rectangle 108"/>
              <p:cNvSpPr>
                <a:spLocks noChangeArrowheads="1"/>
              </p:cNvSpPr>
              <p:nvPr/>
            </p:nvSpPr>
            <p:spPr bwMode="auto">
              <a:xfrm>
                <a:off x="2467" y="2240"/>
                <a:ext cx="64" cy="93"/>
              </a:xfrm>
              <a:prstGeom prst="rect">
                <a:avLst/>
              </a:prstGeom>
              <a:solidFill>
                <a:srgbClr val="FFFF00"/>
              </a:solidFill>
              <a:ln w="9525">
                <a:solidFill>
                  <a:schemeClr val="tx1"/>
                </a:solidFill>
                <a:miter lim="800000"/>
              </a:ln>
            </p:spPr>
            <p:txBody>
              <a:bodyPr wrap="none" anchor="ctr"/>
              <a:lstStyle/>
              <a:p>
                <a:endParaRPr lang="en-US"/>
              </a:p>
            </p:txBody>
          </p:sp>
        </p:grpSp>
      </p:grpSp>
      <p:grpSp>
        <p:nvGrpSpPr>
          <p:cNvPr id="16398" name="Group 109"/>
          <p:cNvGrpSpPr/>
          <p:nvPr/>
        </p:nvGrpSpPr>
        <p:grpSpPr bwMode="auto">
          <a:xfrm>
            <a:off x="1570038" y="1641475"/>
            <a:ext cx="709612" cy="703263"/>
            <a:chOff x="4337" y="290"/>
            <a:chExt cx="447" cy="443"/>
          </a:xfrm>
        </p:grpSpPr>
        <p:graphicFrame>
          <p:nvGraphicFramePr>
            <p:cNvPr id="16388" name="Object 110"/>
            <p:cNvGraphicFramePr>
              <a:graphicFrameLocks noChangeAspect="1"/>
            </p:cNvGraphicFramePr>
            <p:nvPr/>
          </p:nvGraphicFramePr>
          <p:xfrm>
            <a:off x="4338" y="290"/>
            <a:ext cx="392" cy="315"/>
          </p:xfrm>
          <a:graphic>
            <a:graphicData uri="http://schemas.openxmlformats.org/presentationml/2006/ole">
              <mc:AlternateContent xmlns:mc="http://schemas.openxmlformats.org/markup-compatibility/2006">
                <mc:Choice xmlns:v="urn:schemas-microsoft-com:vml" Requires="v">
                  <p:oleObj spid="_x0000_s16431" name="Clip" r:id="rId3" imgW="18192750" imgH="15087600" progId="">
                    <p:embed/>
                  </p:oleObj>
                </mc:Choice>
                <mc:Fallback>
                  <p:oleObj name="Clip" r:id="rId3" imgW="18192750" imgH="15087600" progId="">
                    <p:embed/>
                    <p:pic>
                      <p:nvPicPr>
                        <p:cNvPr id="0" name="Object 1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 y="290"/>
                          <a:ext cx="392" cy="3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6434" name="Group 111"/>
            <p:cNvGrpSpPr/>
            <p:nvPr/>
          </p:nvGrpSpPr>
          <p:grpSpPr bwMode="auto">
            <a:xfrm>
              <a:off x="4337" y="367"/>
              <a:ext cx="447" cy="366"/>
              <a:chOff x="4189" y="817"/>
              <a:chExt cx="521" cy="366"/>
            </a:xfrm>
          </p:grpSpPr>
          <p:sp>
            <p:nvSpPr>
              <p:cNvPr id="16435" name="Rectangle 112"/>
              <p:cNvSpPr>
                <a:spLocks noChangeArrowheads="1"/>
              </p:cNvSpPr>
              <p:nvPr/>
            </p:nvSpPr>
            <p:spPr bwMode="auto">
              <a:xfrm>
                <a:off x="4224" y="846"/>
                <a:ext cx="444" cy="330"/>
              </a:xfrm>
              <a:prstGeom prst="rect">
                <a:avLst/>
              </a:prstGeom>
              <a:solidFill>
                <a:schemeClr val="hlink"/>
              </a:solidFill>
              <a:ln w="19050">
                <a:solidFill>
                  <a:schemeClr val="tx1"/>
                </a:solidFill>
                <a:miter lim="800000"/>
              </a:ln>
            </p:spPr>
            <p:txBody>
              <a:bodyPr wrap="none" anchor="ctr"/>
              <a:lstStyle/>
              <a:p>
                <a:endParaRPr lang="en-US"/>
              </a:p>
            </p:txBody>
          </p:sp>
          <p:sp>
            <p:nvSpPr>
              <p:cNvPr id="16436" name="Text Box 113"/>
              <p:cNvSpPr txBox="1">
                <a:spLocks noChangeArrowheads="1"/>
              </p:cNvSpPr>
              <p:nvPr/>
            </p:nvSpPr>
            <p:spPr bwMode="auto">
              <a:xfrm>
                <a:off x="4189" y="817"/>
                <a:ext cx="521" cy="366"/>
              </a:xfrm>
              <a:prstGeom prst="rect">
                <a:avLst/>
              </a:prstGeom>
              <a:noFill/>
              <a:ln w="9525">
                <a:noFill/>
                <a:miter lim="800000"/>
              </a:ln>
            </p:spPr>
            <p:txBody>
              <a:bodyPr wrap="none">
                <a:spAutoFit/>
              </a:bodyPr>
              <a:lstStyle/>
              <a:p>
                <a:pPr algn="ctr">
                  <a:spcBef>
                    <a:spcPct val="0"/>
                  </a:spcBef>
                  <a:buClrTx/>
                  <a:buSzTx/>
                  <a:buFontTx/>
                  <a:buNone/>
                </a:pPr>
                <a:r>
                  <a:rPr lang="en-US" sz="1600"/>
                  <a:t>user</a:t>
                </a:r>
                <a:endParaRPr lang="en-US" sz="1600"/>
              </a:p>
              <a:p>
                <a:pPr algn="ctr">
                  <a:spcBef>
                    <a:spcPct val="0"/>
                  </a:spcBef>
                  <a:buClrTx/>
                  <a:buSzTx/>
                  <a:buFontTx/>
                  <a:buNone/>
                </a:pPr>
                <a:r>
                  <a:rPr lang="en-US" sz="1600"/>
                  <a:t>agent</a:t>
                </a:r>
                <a:endParaRPr lang="en-US">
                  <a:latin typeface="Times New Roman" panose="02020603050405020304" pitchFamily="18" charset="0"/>
                </a:endParaRPr>
              </a:p>
            </p:txBody>
          </p:sp>
        </p:grpSp>
      </p:grpSp>
      <p:grpSp>
        <p:nvGrpSpPr>
          <p:cNvPr id="16399" name="Group 119"/>
          <p:cNvGrpSpPr/>
          <p:nvPr/>
        </p:nvGrpSpPr>
        <p:grpSpPr bwMode="auto">
          <a:xfrm>
            <a:off x="2173288" y="1389063"/>
            <a:ext cx="1031875" cy="457200"/>
            <a:chOff x="3745" y="2537"/>
            <a:chExt cx="650" cy="288"/>
          </a:xfrm>
        </p:grpSpPr>
        <p:sp>
          <p:nvSpPr>
            <p:cNvPr id="16432" name="Rectangle 120"/>
            <p:cNvSpPr>
              <a:spLocks noChangeArrowheads="1"/>
            </p:cNvSpPr>
            <p:nvPr/>
          </p:nvSpPr>
          <p:spPr bwMode="auto">
            <a:xfrm>
              <a:off x="3798" y="2580"/>
              <a:ext cx="540" cy="192"/>
            </a:xfrm>
            <a:prstGeom prst="rect">
              <a:avLst/>
            </a:prstGeom>
            <a:solidFill>
              <a:srgbClr val="FFFFFF"/>
            </a:solidFill>
            <a:ln w="9525">
              <a:noFill/>
              <a:miter lim="800000"/>
            </a:ln>
          </p:spPr>
          <p:txBody>
            <a:bodyPr wrap="none" anchor="ctr"/>
            <a:lstStyle/>
            <a:p>
              <a:endParaRPr lang="en-US"/>
            </a:p>
          </p:txBody>
        </p:sp>
        <p:sp>
          <p:nvSpPr>
            <p:cNvPr id="16433" name="Text Box 121"/>
            <p:cNvSpPr txBox="1">
              <a:spLocks noChangeArrowheads="1"/>
            </p:cNvSpPr>
            <p:nvPr/>
          </p:nvSpPr>
          <p:spPr bwMode="auto">
            <a:xfrm>
              <a:off x="3745" y="2537"/>
              <a:ext cx="650" cy="288"/>
            </a:xfrm>
            <a:prstGeom prst="rect">
              <a:avLst/>
            </a:prstGeom>
            <a:noFill/>
            <a:ln w="9525">
              <a:noFill/>
              <a:miter lim="800000"/>
            </a:ln>
          </p:spPr>
          <p:txBody>
            <a:bodyPr wrap="none">
              <a:spAutoFit/>
            </a:bodyPr>
            <a:lstStyle/>
            <a:p>
              <a:pPr algn="ctr">
                <a:spcBef>
                  <a:spcPct val="0"/>
                </a:spcBef>
                <a:buClrTx/>
                <a:buSzTx/>
                <a:buFontTx/>
                <a:buNone/>
              </a:pPr>
              <a:r>
                <a:rPr lang="en-US">
                  <a:solidFill>
                    <a:srgbClr val="FF0000"/>
                  </a:solidFill>
                </a:rPr>
                <a:t>SMTP</a:t>
              </a:r>
              <a:endParaRPr lang="en-US">
                <a:latin typeface="Times New Roman" panose="02020603050405020304" pitchFamily="18" charset="0"/>
              </a:endParaRPr>
            </a:p>
          </p:txBody>
        </p:sp>
      </p:grpSp>
      <p:grpSp>
        <p:nvGrpSpPr>
          <p:cNvPr id="16400" name="Group 126"/>
          <p:cNvGrpSpPr/>
          <p:nvPr/>
        </p:nvGrpSpPr>
        <p:grpSpPr bwMode="auto">
          <a:xfrm>
            <a:off x="5002213" y="1631950"/>
            <a:ext cx="355600" cy="933450"/>
            <a:chOff x="4180" y="783"/>
            <a:chExt cx="150" cy="307"/>
          </a:xfrm>
        </p:grpSpPr>
        <p:sp>
          <p:nvSpPr>
            <p:cNvPr id="16424" name="AutoShape 12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6425" name="Rectangle 12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6426" name="Rectangle 12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6427" name="AutoShape 13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6428" name="Line 13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6429" name="Line 13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2" name="Rectangle 13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3" name="Rectangle 13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16401" name="Line 151"/>
          <p:cNvSpPr>
            <a:spLocks noChangeShapeType="1"/>
          </p:cNvSpPr>
          <p:nvPr/>
        </p:nvSpPr>
        <p:spPr bwMode="auto">
          <a:xfrm>
            <a:off x="3524250" y="1866900"/>
            <a:ext cx="1390650" cy="9525"/>
          </a:xfrm>
          <a:prstGeom prst="line">
            <a:avLst/>
          </a:prstGeom>
          <a:noFill/>
          <a:ln w="28575">
            <a:solidFill>
              <a:srgbClr val="FF0000"/>
            </a:solidFill>
            <a:round/>
            <a:tailEnd type="triangle" w="med" len="med"/>
          </a:ln>
        </p:spPr>
        <p:txBody>
          <a:bodyPr wrap="none" anchor="ctr"/>
          <a:lstStyle/>
          <a:p>
            <a:endParaRPr lang="en-US"/>
          </a:p>
        </p:txBody>
      </p:sp>
      <p:sp>
        <p:nvSpPr>
          <p:cNvPr id="16402" name="Rectangle 153"/>
          <p:cNvSpPr>
            <a:spLocks noChangeArrowheads="1"/>
          </p:cNvSpPr>
          <p:nvPr/>
        </p:nvSpPr>
        <p:spPr bwMode="auto">
          <a:xfrm>
            <a:off x="3781425" y="1457325"/>
            <a:ext cx="857250" cy="304800"/>
          </a:xfrm>
          <a:prstGeom prst="rect">
            <a:avLst/>
          </a:prstGeom>
          <a:solidFill>
            <a:srgbClr val="FFFFFF"/>
          </a:solidFill>
          <a:ln w="9525">
            <a:noFill/>
            <a:miter lim="800000"/>
          </a:ln>
        </p:spPr>
        <p:txBody>
          <a:bodyPr wrap="none" anchor="ctr"/>
          <a:lstStyle/>
          <a:p>
            <a:endParaRPr lang="en-US"/>
          </a:p>
        </p:txBody>
      </p:sp>
      <p:sp>
        <p:nvSpPr>
          <p:cNvPr id="16403" name="Text Box 154"/>
          <p:cNvSpPr txBox="1">
            <a:spLocks noChangeArrowheads="1"/>
          </p:cNvSpPr>
          <p:nvPr/>
        </p:nvSpPr>
        <p:spPr bwMode="auto">
          <a:xfrm>
            <a:off x="3697288" y="1389063"/>
            <a:ext cx="1031875" cy="457200"/>
          </a:xfrm>
          <a:prstGeom prst="rect">
            <a:avLst/>
          </a:prstGeom>
          <a:noFill/>
          <a:ln w="9525">
            <a:noFill/>
            <a:miter lim="800000"/>
          </a:ln>
        </p:spPr>
        <p:txBody>
          <a:bodyPr wrap="none">
            <a:spAutoFit/>
          </a:bodyPr>
          <a:lstStyle/>
          <a:p>
            <a:pPr algn="ctr">
              <a:spcBef>
                <a:spcPct val="0"/>
              </a:spcBef>
              <a:buClrTx/>
              <a:buSzTx/>
              <a:buFontTx/>
              <a:buNone/>
            </a:pPr>
            <a:r>
              <a:rPr lang="en-US">
                <a:solidFill>
                  <a:srgbClr val="FF0000"/>
                </a:solidFill>
              </a:rPr>
              <a:t>SMTP</a:t>
            </a:r>
            <a:endParaRPr lang="en-US">
              <a:latin typeface="Times New Roman" panose="02020603050405020304" pitchFamily="18" charset="0"/>
            </a:endParaRPr>
          </a:p>
        </p:txBody>
      </p:sp>
      <p:sp>
        <p:nvSpPr>
          <p:cNvPr id="16404" name="Line 155"/>
          <p:cNvSpPr>
            <a:spLocks noChangeShapeType="1"/>
          </p:cNvSpPr>
          <p:nvPr/>
        </p:nvSpPr>
        <p:spPr bwMode="auto">
          <a:xfrm>
            <a:off x="5400675" y="1857375"/>
            <a:ext cx="1647825" cy="0"/>
          </a:xfrm>
          <a:prstGeom prst="line">
            <a:avLst/>
          </a:prstGeom>
          <a:noFill/>
          <a:ln w="28575">
            <a:solidFill>
              <a:srgbClr val="FF0000"/>
            </a:solidFill>
            <a:round/>
            <a:tailEnd type="triangle" w="med" len="med"/>
          </a:ln>
        </p:spPr>
        <p:txBody>
          <a:bodyPr wrap="none" anchor="ctr"/>
          <a:lstStyle/>
          <a:p>
            <a:endParaRPr lang="en-US"/>
          </a:p>
        </p:txBody>
      </p:sp>
      <p:sp>
        <p:nvSpPr>
          <p:cNvPr id="16405" name="Text Box 156"/>
          <p:cNvSpPr txBox="1">
            <a:spLocks noChangeArrowheads="1"/>
          </p:cNvSpPr>
          <p:nvPr/>
        </p:nvSpPr>
        <p:spPr bwMode="auto">
          <a:xfrm>
            <a:off x="5610225" y="1474788"/>
            <a:ext cx="1358900" cy="822325"/>
          </a:xfrm>
          <a:prstGeom prst="rect">
            <a:avLst/>
          </a:prstGeom>
          <a:noFill/>
          <a:ln w="9525">
            <a:noFill/>
            <a:miter lim="800000"/>
          </a:ln>
        </p:spPr>
        <p:txBody>
          <a:bodyPr wrap="none">
            <a:spAutoFit/>
          </a:bodyPr>
          <a:lstStyle/>
          <a:p>
            <a:pPr algn="ctr">
              <a:spcBef>
                <a:spcPct val="0"/>
              </a:spcBef>
              <a:buClrTx/>
              <a:buSzTx/>
              <a:buFontTx/>
              <a:buNone/>
            </a:pPr>
            <a:r>
              <a:rPr lang="en-US">
                <a:solidFill>
                  <a:srgbClr val="FF0000"/>
                </a:solidFill>
              </a:rPr>
              <a:t>access</a:t>
            </a:r>
            <a:endParaRPr lang="en-US">
              <a:solidFill>
                <a:srgbClr val="FF0000"/>
              </a:solidFill>
            </a:endParaRPr>
          </a:p>
          <a:p>
            <a:pPr algn="ctr">
              <a:spcBef>
                <a:spcPct val="0"/>
              </a:spcBef>
              <a:buClrTx/>
              <a:buSzTx/>
              <a:buFontTx/>
              <a:buNone/>
            </a:pPr>
            <a:r>
              <a:rPr lang="en-US">
                <a:solidFill>
                  <a:srgbClr val="FF0000"/>
                </a:solidFill>
              </a:rPr>
              <a:t>protocol</a:t>
            </a:r>
            <a:endParaRPr lang="en-US">
              <a:latin typeface="Times New Roman" panose="02020603050405020304" pitchFamily="18" charset="0"/>
            </a:endParaRPr>
          </a:p>
        </p:txBody>
      </p:sp>
      <p:sp>
        <p:nvSpPr>
          <p:cNvPr id="16406" name="Text Box 160"/>
          <p:cNvSpPr txBox="1">
            <a:spLocks noChangeArrowheads="1"/>
          </p:cNvSpPr>
          <p:nvPr/>
        </p:nvSpPr>
        <p:spPr bwMode="auto">
          <a:xfrm>
            <a:off x="4338638" y="2598738"/>
            <a:ext cx="1604962" cy="581025"/>
          </a:xfrm>
          <a:prstGeom prst="rect">
            <a:avLst/>
          </a:prstGeom>
          <a:noFill/>
          <a:ln w="9525">
            <a:noFill/>
            <a:miter lim="800000"/>
          </a:ln>
        </p:spPr>
        <p:txBody>
          <a:bodyPr wrap="none">
            <a:spAutoFit/>
          </a:bodyPr>
          <a:lstStyle/>
          <a:p>
            <a:pPr algn="ctr">
              <a:spcBef>
                <a:spcPct val="0"/>
              </a:spcBef>
              <a:buClrTx/>
              <a:buSzTx/>
              <a:buFontTx/>
              <a:buNone/>
            </a:pPr>
            <a:r>
              <a:rPr lang="en-US" sz="1600"/>
              <a:t>receiver’s mail </a:t>
            </a:r>
            <a:endParaRPr lang="en-US" sz="1600"/>
          </a:p>
          <a:p>
            <a:pPr algn="ctr">
              <a:spcBef>
                <a:spcPct val="0"/>
              </a:spcBef>
              <a:buClrTx/>
              <a:buSzTx/>
              <a:buFontTx/>
              <a:buNone/>
            </a:pPr>
            <a:r>
              <a:rPr lang="en-US" sz="1600"/>
              <a:t>server</a:t>
            </a:r>
            <a:endParaRPr lang="en-US">
              <a:latin typeface="Times New Roman" panose="02020603050405020304" pitchFamily="18" charset="0"/>
            </a:endParaRPr>
          </a:p>
        </p:txBody>
      </p:sp>
      <p:grpSp>
        <p:nvGrpSpPr>
          <p:cNvPr id="16407" name="Group 161"/>
          <p:cNvGrpSpPr/>
          <p:nvPr/>
        </p:nvGrpSpPr>
        <p:grpSpPr bwMode="auto">
          <a:xfrm>
            <a:off x="4733925" y="2000250"/>
            <a:ext cx="809625" cy="561975"/>
            <a:chOff x="2070" y="2004"/>
            <a:chExt cx="510" cy="354"/>
          </a:xfrm>
        </p:grpSpPr>
        <p:sp>
          <p:nvSpPr>
            <p:cNvPr id="16410" name="Rectangle 162"/>
            <p:cNvSpPr>
              <a:spLocks noChangeArrowheads="1"/>
            </p:cNvSpPr>
            <p:nvPr/>
          </p:nvSpPr>
          <p:spPr bwMode="auto">
            <a:xfrm>
              <a:off x="2070" y="2004"/>
              <a:ext cx="510" cy="354"/>
            </a:xfrm>
            <a:prstGeom prst="rect">
              <a:avLst/>
            </a:prstGeom>
            <a:solidFill>
              <a:schemeClr val="hlink"/>
            </a:solidFill>
            <a:ln w="19050">
              <a:solidFill>
                <a:schemeClr val="tx1"/>
              </a:solidFill>
              <a:miter lim="800000"/>
            </a:ln>
          </p:spPr>
          <p:txBody>
            <a:bodyPr wrap="none" anchor="ctr"/>
            <a:lstStyle/>
            <a:p>
              <a:endParaRPr lang="en-US"/>
            </a:p>
          </p:txBody>
        </p:sp>
        <p:sp>
          <p:nvSpPr>
            <p:cNvPr id="16411" name="Rectangle 163"/>
            <p:cNvSpPr>
              <a:spLocks noChangeArrowheads="1"/>
            </p:cNvSpPr>
            <p:nvPr/>
          </p:nvSpPr>
          <p:spPr bwMode="auto">
            <a:xfrm>
              <a:off x="2094" y="2076"/>
              <a:ext cx="450" cy="120"/>
            </a:xfrm>
            <a:prstGeom prst="rect">
              <a:avLst/>
            </a:prstGeom>
            <a:solidFill>
              <a:srgbClr val="00FF00"/>
            </a:solidFill>
            <a:ln w="19050">
              <a:solidFill>
                <a:schemeClr val="tx1"/>
              </a:solidFill>
              <a:miter lim="800000"/>
            </a:ln>
          </p:spPr>
          <p:txBody>
            <a:bodyPr wrap="none" anchor="ctr"/>
            <a:lstStyle/>
            <a:p>
              <a:endParaRPr lang="en-US"/>
            </a:p>
          </p:txBody>
        </p:sp>
        <p:sp>
          <p:nvSpPr>
            <p:cNvPr id="16412" name="Line 164"/>
            <p:cNvSpPr>
              <a:spLocks noChangeShapeType="1"/>
            </p:cNvSpPr>
            <p:nvPr/>
          </p:nvSpPr>
          <p:spPr bwMode="auto">
            <a:xfrm>
              <a:off x="2143" y="2104"/>
              <a:ext cx="0" cy="72"/>
            </a:xfrm>
            <a:prstGeom prst="line">
              <a:avLst/>
            </a:prstGeom>
            <a:noFill/>
            <a:ln w="19050">
              <a:solidFill>
                <a:schemeClr val="tx1"/>
              </a:solidFill>
              <a:round/>
            </a:ln>
          </p:spPr>
          <p:txBody>
            <a:bodyPr wrap="none" anchor="ctr"/>
            <a:lstStyle/>
            <a:p>
              <a:endParaRPr lang="en-US"/>
            </a:p>
          </p:txBody>
        </p:sp>
        <p:sp>
          <p:nvSpPr>
            <p:cNvPr id="16413" name="Line 165"/>
            <p:cNvSpPr>
              <a:spLocks noChangeShapeType="1"/>
            </p:cNvSpPr>
            <p:nvPr/>
          </p:nvSpPr>
          <p:spPr bwMode="auto">
            <a:xfrm>
              <a:off x="2252" y="2103"/>
              <a:ext cx="0" cy="72"/>
            </a:xfrm>
            <a:prstGeom prst="line">
              <a:avLst/>
            </a:prstGeom>
            <a:noFill/>
            <a:ln w="19050">
              <a:solidFill>
                <a:schemeClr val="tx1"/>
              </a:solidFill>
              <a:round/>
            </a:ln>
          </p:spPr>
          <p:txBody>
            <a:bodyPr wrap="none" anchor="ctr"/>
            <a:lstStyle/>
            <a:p>
              <a:endParaRPr lang="en-US"/>
            </a:p>
          </p:txBody>
        </p:sp>
        <p:sp>
          <p:nvSpPr>
            <p:cNvPr id="16414" name="Line 166"/>
            <p:cNvSpPr>
              <a:spLocks noChangeShapeType="1"/>
            </p:cNvSpPr>
            <p:nvPr/>
          </p:nvSpPr>
          <p:spPr bwMode="auto">
            <a:xfrm>
              <a:off x="2307" y="2105"/>
              <a:ext cx="0" cy="72"/>
            </a:xfrm>
            <a:prstGeom prst="line">
              <a:avLst/>
            </a:prstGeom>
            <a:noFill/>
            <a:ln w="19050">
              <a:solidFill>
                <a:schemeClr val="tx1"/>
              </a:solidFill>
              <a:round/>
            </a:ln>
          </p:spPr>
          <p:txBody>
            <a:bodyPr wrap="none" anchor="ctr"/>
            <a:lstStyle/>
            <a:p>
              <a:endParaRPr lang="en-US"/>
            </a:p>
          </p:txBody>
        </p:sp>
        <p:sp>
          <p:nvSpPr>
            <p:cNvPr id="16415" name="Line 167"/>
            <p:cNvSpPr>
              <a:spLocks noChangeShapeType="1"/>
            </p:cNvSpPr>
            <p:nvPr/>
          </p:nvSpPr>
          <p:spPr bwMode="auto">
            <a:xfrm>
              <a:off x="2364" y="2103"/>
              <a:ext cx="0" cy="72"/>
            </a:xfrm>
            <a:prstGeom prst="line">
              <a:avLst/>
            </a:prstGeom>
            <a:noFill/>
            <a:ln w="19050">
              <a:solidFill>
                <a:schemeClr val="tx1"/>
              </a:solidFill>
              <a:round/>
            </a:ln>
          </p:spPr>
          <p:txBody>
            <a:bodyPr wrap="none" anchor="ctr"/>
            <a:lstStyle/>
            <a:p>
              <a:endParaRPr lang="en-US"/>
            </a:p>
          </p:txBody>
        </p:sp>
        <p:sp>
          <p:nvSpPr>
            <p:cNvPr id="16416" name="Line 168"/>
            <p:cNvSpPr>
              <a:spLocks noChangeShapeType="1"/>
            </p:cNvSpPr>
            <p:nvPr/>
          </p:nvSpPr>
          <p:spPr bwMode="auto">
            <a:xfrm>
              <a:off x="2425" y="2103"/>
              <a:ext cx="0" cy="72"/>
            </a:xfrm>
            <a:prstGeom prst="line">
              <a:avLst/>
            </a:prstGeom>
            <a:noFill/>
            <a:ln w="19050">
              <a:solidFill>
                <a:schemeClr val="tx1"/>
              </a:solidFill>
              <a:round/>
            </a:ln>
          </p:spPr>
          <p:txBody>
            <a:bodyPr wrap="none" anchor="ctr"/>
            <a:lstStyle/>
            <a:p>
              <a:endParaRPr lang="en-US"/>
            </a:p>
          </p:txBody>
        </p:sp>
        <p:sp>
          <p:nvSpPr>
            <p:cNvPr id="16417" name="Line 169"/>
            <p:cNvSpPr>
              <a:spLocks noChangeShapeType="1"/>
            </p:cNvSpPr>
            <p:nvPr/>
          </p:nvSpPr>
          <p:spPr bwMode="auto">
            <a:xfrm>
              <a:off x="2481" y="2103"/>
              <a:ext cx="0" cy="72"/>
            </a:xfrm>
            <a:prstGeom prst="line">
              <a:avLst/>
            </a:prstGeom>
            <a:noFill/>
            <a:ln w="19050">
              <a:solidFill>
                <a:schemeClr val="tx1"/>
              </a:solidFill>
              <a:round/>
            </a:ln>
          </p:spPr>
          <p:txBody>
            <a:bodyPr wrap="none" anchor="ctr"/>
            <a:lstStyle/>
            <a:p>
              <a:endParaRPr lang="en-US"/>
            </a:p>
          </p:txBody>
        </p:sp>
        <p:sp>
          <p:nvSpPr>
            <p:cNvPr id="16418" name="Line 170"/>
            <p:cNvSpPr>
              <a:spLocks noChangeShapeType="1"/>
            </p:cNvSpPr>
            <p:nvPr/>
          </p:nvSpPr>
          <p:spPr bwMode="auto">
            <a:xfrm>
              <a:off x="2196" y="2104"/>
              <a:ext cx="0" cy="72"/>
            </a:xfrm>
            <a:prstGeom prst="line">
              <a:avLst/>
            </a:prstGeom>
            <a:noFill/>
            <a:ln w="19050">
              <a:solidFill>
                <a:schemeClr val="tx1"/>
              </a:solidFill>
              <a:round/>
            </a:ln>
          </p:spPr>
          <p:txBody>
            <a:bodyPr wrap="none" anchor="ctr"/>
            <a:lstStyle/>
            <a:p>
              <a:endParaRPr lang="en-US"/>
            </a:p>
          </p:txBody>
        </p:sp>
        <p:sp>
          <p:nvSpPr>
            <p:cNvPr id="16419" name="Rectangle 171"/>
            <p:cNvSpPr>
              <a:spLocks noChangeArrowheads="1"/>
            </p:cNvSpPr>
            <p:nvPr/>
          </p:nvSpPr>
          <p:spPr bwMode="auto">
            <a:xfrm>
              <a:off x="2102" y="224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6420" name="Rectangle 172"/>
            <p:cNvSpPr>
              <a:spLocks noChangeArrowheads="1"/>
            </p:cNvSpPr>
            <p:nvPr/>
          </p:nvSpPr>
          <p:spPr bwMode="auto">
            <a:xfrm>
              <a:off x="2188" y="2243"/>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6421" name="Rectangle 173"/>
            <p:cNvSpPr>
              <a:spLocks noChangeArrowheads="1"/>
            </p:cNvSpPr>
            <p:nvPr/>
          </p:nvSpPr>
          <p:spPr bwMode="auto">
            <a:xfrm>
              <a:off x="2274" y="2242"/>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6422" name="Rectangle 174"/>
            <p:cNvSpPr>
              <a:spLocks noChangeArrowheads="1"/>
            </p:cNvSpPr>
            <p:nvPr/>
          </p:nvSpPr>
          <p:spPr bwMode="auto">
            <a:xfrm>
              <a:off x="2371" y="2240"/>
              <a:ext cx="64" cy="93"/>
            </a:xfrm>
            <a:prstGeom prst="rect">
              <a:avLst/>
            </a:prstGeom>
            <a:solidFill>
              <a:srgbClr val="FFFF00"/>
            </a:solidFill>
            <a:ln w="9525">
              <a:solidFill>
                <a:schemeClr val="tx1"/>
              </a:solidFill>
              <a:miter lim="800000"/>
            </a:ln>
          </p:spPr>
          <p:txBody>
            <a:bodyPr wrap="none" anchor="ctr"/>
            <a:lstStyle/>
            <a:p>
              <a:endParaRPr lang="en-US"/>
            </a:p>
          </p:txBody>
        </p:sp>
        <p:sp>
          <p:nvSpPr>
            <p:cNvPr id="16423" name="Rectangle 175"/>
            <p:cNvSpPr>
              <a:spLocks noChangeArrowheads="1"/>
            </p:cNvSpPr>
            <p:nvPr/>
          </p:nvSpPr>
          <p:spPr bwMode="auto">
            <a:xfrm>
              <a:off x="2467" y="2240"/>
              <a:ext cx="64" cy="93"/>
            </a:xfrm>
            <a:prstGeom prst="rect">
              <a:avLst/>
            </a:prstGeom>
            <a:solidFill>
              <a:srgbClr val="FFFF00"/>
            </a:solidFill>
            <a:ln w="9525">
              <a:solidFill>
                <a:schemeClr val="tx1"/>
              </a:solidFill>
              <a:miter lim="800000"/>
            </a:ln>
          </p:spPr>
          <p:txBody>
            <a:bodyPr wrap="none" anchor="ctr"/>
            <a:lstStyle/>
            <a:p>
              <a:endParaRPr lang="en-US"/>
            </a:p>
          </p:txBody>
        </p:sp>
      </p:grpSp>
      <p:pic>
        <p:nvPicPr>
          <p:cNvPr id="16408" name="Picture 176" descr="Alice"/>
          <p:cNvPicPr>
            <a:picLocks noChangeAspect="1" noChangeArrowheads="1"/>
          </p:cNvPicPr>
          <p:nvPr/>
        </p:nvPicPr>
        <p:blipFill>
          <a:blip r:embed="rId4"/>
          <a:srcRect/>
          <a:stretch>
            <a:fillRect/>
          </a:stretch>
        </p:blipFill>
        <p:spPr bwMode="auto">
          <a:xfrm>
            <a:off x="776288" y="1633538"/>
            <a:ext cx="561975" cy="693737"/>
          </a:xfrm>
          <a:prstGeom prst="rect">
            <a:avLst/>
          </a:prstGeom>
          <a:noFill/>
          <a:ln w="9525">
            <a:noFill/>
            <a:miter lim="800000"/>
            <a:headEnd/>
            <a:tailEnd/>
          </a:ln>
        </p:spPr>
      </p:pic>
      <p:graphicFrame>
        <p:nvGraphicFramePr>
          <p:cNvPr id="16386" name="Rectangle 177"/>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4" name="Clip" r:id="rId5" imgW="0" imgH="0" progId="">
                  <p:embed/>
                </p:oleObj>
              </mc:Choice>
              <mc:Fallback>
                <p:oleObj name="Clip" r:id="rId5" imgW="0" imgH="0" progId="">
                  <p:embed/>
                  <p:pic>
                    <p:nvPicPr>
                      <p:cNvPr id="0" name="Rectangle 177"/>
                      <p:cNvPicPr preferRelativeResize="0">
                        <a:picLocks noChangeArrowheads="1"/>
                      </p:cNvPicPr>
                      <p:nvPr/>
                    </p:nvPicPr>
                    <p:blipFill>
                      <a:blip/>
                      <a:srcRect/>
                      <a:stretch>
                        <a:fillRect/>
                      </a:stretch>
                    </p:blipFill>
                    <p:spPr bwMode="auto">
                      <a:xfrm>
                        <a:off x="1524000" y="1397000"/>
                        <a:ext cx="60960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7" name="Rectangle 178"/>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5" name="Clip" r:id="rId6" imgW="0" imgH="0" progId="">
                  <p:embed/>
                </p:oleObj>
              </mc:Choice>
              <mc:Fallback>
                <p:oleObj name="Clip" r:id="rId6" imgW="0" imgH="0" progId="">
                  <p:embed/>
                  <p:pic>
                    <p:nvPicPr>
                      <p:cNvPr id="0" name="Rectangle 178"/>
                      <p:cNvPicPr preferRelativeResize="0">
                        <a:picLocks noChangeArrowheads="1"/>
                      </p:cNvPicPr>
                      <p:nvPr/>
                    </p:nvPicPr>
                    <p:blipFill>
                      <a:blip/>
                      <a:srcRect/>
                      <a:stretch>
                        <a:fillRect/>
                      </a:stretch>
                    </p:blipFill>
                    <p:spPr bwMode="auto">
                      <a:xfrm>
                        <a:off x="1524000" y="1397000"/>
                        <a:ext cx="60960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409" name="Picture 179" descr="Bob"/>
          <p:cNvPicPr>
            <a:picLocks noChangeAspect="1" noChangeArrowheads="1"/>
          </p:cNvPicPr>
          <p:nvPr/>
        </p:nvPicPr>
        <p:blipFill>
          <a:blip r:embed="rId7"/>
          <a:srcRect/>
          <a:stretch>
            <a:fillRect/>
          </a:stretch>
        </p:blipFill>
        <p:spPr bwMode="auto">
          <a:xfrm>
            <a:off x="7891463" y="1571625"/>
            <a:ext cx="676275" cy="690563"/>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6803" name="Slide Number Placeholder 6"/>
          <p:cNvSpPr>
            <a:spLocks noGrp="1"/>
          </p:cNvSpPr>
          <p:nvPr>
            <p:ph type="sldNum" sz="quarter" idx="12"/>
          </p:nvPr>
        </p:nvSpPr>
        <p:spPr>
          <a:noFill/>
        </p:spPr>
        <p:txBody>
          <a:bodyPr/>
          <a:lstStyle/>
          <a:p>
            <a:fld id="{C0F65197-45E8-4393-A70D-C039A1A57A7A}" type="slidenum">
              <a:rPr lang="en-US"/>
            </a:fld>
            <a:endParaRPr lang="en-US"/>
          </a:p>
        </p:txBody>
      </p:sp>
      <p:sp>
        <p:nvSpPr>
          <p:cNvPr id="76804" name="Rectangle 2"/>
          <p:cNvSpPr>
            <a:spLocks noGrp="1" noChangeArrowheads="1"/>
          </p:cNvSpPr>
          <p:nvPr>
            <p:ph type="title"/>
          </p:nvPr>
        </p:nvSpPr>
        <p:spPr/>
        <p:txBody>
          <a:bodyPr/>
          <a:lstStyle/>
          <a:p>
            <a:r>
              <a:rPr lang="en-US" sz="3600"/>
              <a:t>POP3 protocol</a:t>
            </a:r>
            <a:endParaRPr lang="en-US"/>
          </a:p>
        </p:txBody>
      </p:sp>
      <p:sp>
        <p:nvSpPr>
          <p:cNvPr id="76805" name="Rectangle 3"/>
          <p:cNvSpPr>
            <a:spLocks noGrp="1" noChangeArrowheads="1"/>
          </p:cNvSpPr>
          <p:nvPr>
            <p:ph type="body" sz="half" idx="1"/>
          </p:nvPr>
        </p:nvSpPr>
        <p:spPr>
          <a:xfrm>
            <a:off x="495300" y="1438275"/>
            <a:ext cx="3971925" cy="4648200"/>
          </a:xfrm>
        </p:spPr>
        <p:txBody>
          <a:bodyPr/>
          <a:lstStyle/>
          <a:p>
            <a:pPr>
              <a:buFont typeface="ZapfDingbats" pitchFamily="82" charset="2"/>
              <a:buNone/>
            </a:pPr>
            <a:r>
              <a:rPr lang="en-US" sz="2400">
                <a:solidFill>
                  <a:srgbClr val="FF0000"/>
                </a:solidFill>
              </a:rPr>
              <a:t>authorization phase</a:t>
            </a:r>
            <a:endParaRPr lang="en-US" sz="2000"/>
          </a:p>
          <a:p>
            <a:r>
              <a:rPr lang="en-US" sz="2000"/>
              <a:t>client commands: </a:t>
            </a:r>
            <a:endParaRPr lang="en-US" sz="2000"/>
          </a:p>
          <a:p>
            <a:pPr lvl="1"/>
            <a:r>
              <a:rPr lang="en-US" sz="2000" b="1">
                <a:latin typeface="Courier New" panose="02070309020205020404" pitchFamily="49" charset="0"/>
              </a:rPr>
              <a:t>user:</a:t>
            </a:r>
            <a:r>
              <a:rPr lang="en-US" sz="2000"/>
              <a:t> declare username</a:t>
            </a:r>
            <a:endParaRPr lang="en-US" sz="2000"/>
          </a:p>
          <a:p>
            <a:pPr lvl="1"/>
            <a:r>
              <a:rPr lang="en-US" sz="2000" b="1">
                <a:latin typeface="Courier New" panose="02070309020205020404" pitchFamily="49" charset="0"/>
              </a:rPr>
              <a:t>pass:</a:t>
            </a:r>
            <a:r>
              <a:rPr lang="en-US" sz="2000"/>
              <a:t> password</a:t>
            </a:r>
            <a:endParaRPr lang="en-US" sz="2000"/>
          </a:p>
          <a:p>
            <a:r>
              <a:rPr lang="en-US" sz="2000"/>
              <a:t>server responses</a:t>
            </a:r>
            <a:endParaRPr lang="en-US" sz="2000"/>
          </a:p>
          <a:p>
            <a:pPr lvl="1"/>
            <a:r>
              <a:rPr lang="en-US" sz="2000" b="1">
                <a:latin typeface="Courier New" panose="02070309020205020404" pitchFamily="49" charset="0"/>
              </a:rPr>
              <a:t>+OK</a:t>
            </a:r>
            <a:endParaRPr lang="en-US" sz="2000" b="1">
              <a:latin typeface="Courier New" panose="02070309020205020404" pitchFamily="49" charset="0"/>
            </a:endParaRPr>
          </a:p>
          <a:p>
            <a:pPr lvl="1"/>
            <a:r>
              <a:rPr lang="en-US" sz="2000" b="1">
                <a:latin typeface="Courier New" panose="02070309020205020404" pitchFamily="49" charset="0"/>
              </a:rPr>
              <a:t>-ERR</a:t>
            </a:r>
            <a:endParaRPr lang="en-US" sz="1800"/>
          </a:p>
          <a:p>
            <a:pPr>
              <a:buFont typeface="ZapfDingbats" pitchFamily="82" charset="2"/>
              <a:buNone/>
            </a:pPr>
            <a:r>
              <a:rPr lang="en-US" sz="2400">
                <a:solidFill>
                  <a:srgbClr val="FF0000"/>
                </a:solidFill>
              </a:rPr>
              <a:t>transaction phase, </a:t>
            </a:r>
            <a:r>
              <a:rPr lang="en-US" sz="2000">
                <a:solidFill>
                  <a:schemeClr val="tx2"/>
                </a:solidFill>
              </a:rPr>
              <a:t>client:</a:t>
            </a:r>
            <a:endParaRPr lang="en-US" sz="2000"/>
          </a:p>
          <a:p>
            <a:r>
              <a:rPr lang="en-US" sz="2000" b="1">
                <a:latin typeface="Courier New" panose="02070309020205020404" pitchFamily="49" charset="0"/>
              </a:rPr>
              <a:t>list:</a:t>
            </a:r>
            <a:r>
              <a:rPr lang="en-US" sz="2000"/>
              <a:t> list message numbers</a:t>
            </a:r>
            <a:endParaRPr lang="en-US" sz="2000"/>
          </a:p>
          <a:p>
            <a:r>
              <a:rPr lang="en-US" sz="2000" b="1">
                <a:latin typeface="Courier New" panose="02070309020205020404" pitchFamily="49" charset="0"/>
              </a:rPr>
              <a:t>retr:</a:t>
            </a:r>
            <a:r>
              <a:rPr lang="en-US" sz="2000"/>
              <a:t> retrieve message by number</a:t>
            </a:r>
            <a:endParaRPr lang="en-US" sz="2000"/>
          </a:p>
          <a:p>
            <a:r>
              <a:rPr lang="en-US" sz="2000" b="1">
                <a:latin typeface="Courier New" panose="02070309020205020404" pitchFamily="49" charset="0"/>
              </a:rPr>
              <a:t>dele:</a:t>
            </a:r>
            <a:r>
              <a:rPr lang="en-US" sz="2000"/>
              <a:t> delete</a:t>
            </a:r>
            <a:endParaRPr lang="en-US" sz="2000"/>
          </a:p>
          <a:p>
            <a:r>
              <a:rPr lang="en-US" sz="2000" b="1">
                <a:latin typeface="Courier New" panose="02070309020205020404" pitchFamily="49" charset="0"/>
              </a:rPr>
              <a:t>quit</a:t>
            </a:r>
            <a:endParaRPr lang="en-US" sz="2000"/>
          </a:p>
        </p:txBody>
      </p:sp>
      <p:sp>
        <p:nvSpPr>
          <p:cNvPr id="76806" name="Text Box 7"/>
          <p:cNvSpPr txBox="1">
            <a:spLocks noChangeArrowheads="1"/>
          </p:cNvSpPr>
          <p:nvPr/>
        </p:nvSpPr>
        <p:spPr bwMode="auto">
          <a:xfrm>
            <a:off x="4340225" y="2309813"/>
            <a:ext cx="4268788" cy="4027487"/>
          </a:xfrm>
          <a:prstGeom prst="rect">
            <a:avLst/>
          </a:prstGeom>
          <a:noFill/>
          <a:ln w="9525">
            <a:noFill/>
            <a:miter lim="800000"/>
          </a:ln>
        </p:spPr>
        <p:txBody>
          <a:bodyPr wrap="none">
            <a:spAutoFit/>
          </a:bodyPr>
          <a:lstStyle/>
          <a:p>
            <a:pPr>
              <a:spcBef>
                <a:spcPct val="0"/>
              </a:spcBef>
              <a:buClrTx/>
              <a:buSzTx/>
              <a:buFontTx/>
              <a:buNone/>
            </a:pPr>
            <a:r>
              <a:rPr lang="en-US">
                <a:latin typeface="Times New Roman" panose="02020603050405020304" pitchFamily="18" charset="0"/>
              </a:rPr>
              <a:t>         </a:t>
            </a:r>
            <a:r>
              <a:rPr lang="en-US" sz="1800" b="1">
                <a:latin typeface="Courier New" panose="02070309020205020404" pitchFamily="49" charset="0"/>
              </a:rPr>
              <a:t>C: list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S: 1 498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S: 2 912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S: .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C: retr 1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S: &lt;message 1 contents&gt;</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S: .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C: dele 1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C: retr 2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S: &lt;message 1 contents&gt;</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S: .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C: dele 2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C: quit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     S: +OK </a:t>
            </a:r>
            <a:r>
              <a:rPr lang="en-US" sz="1400" b="1">
                <a:latin typeface="Courier New" panose="02070309020205020404" pitchFamily="49" charset="0"/>
              </a:rPr>
              <a:t>POP3 server signing off</a:t>
            </a:r>
            <a:endParaRPr lang="en-US" sz="1800" b="1">
              <a:latin typeface="Courier New" panose="02070309020205020404" pitchFamily="49" charset="0"/>
            </a:endParaRPr>
          </a:p>
        </p:txBody>
      </p:sp>
      <p:sp>
        <p:nvSpPr>
          <p:cNvPr id="76807" name="Text Box 10"/>
          <p:cNvSpPr txBox="1">
            <a:spLocks noChangeArrowheads="1"/>
          </p:cNvSpPr>
          <p:nvPr/>
        </p:nvSpPr>
        <p:spPr bwMode="auto">
          <a:xfrm>
            <a:off x="4989513" y="590550"/>
            <a:ext cx="3981450" cy="1739900"/>
          </a:xfrm>
          <a:prstGeom prst="rect">
            <a:avLst/>
          </a:prstGeom>
          <a:noFill/>
          <a:ln w="9525">
            <a:noFill/>
            <a:miter lim="800000"/>
          </a:ln>
        </p:spPr>
        <p:txBody>
          <a:bodyPr wrap="none">
            <a:spAutoFit/>
          </a:bodyPr>
          <a:lstStyle/>
          <a:p>
            <a:pPr>
              <a:spcBef>
                <a:spcPct val="0"/>
              </a:spcBef>
              <a:buClrTx/>
              <a:buSzTx/>
              <a:buFontTx/>
              <a:buNone/>
            </a:pP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S: +OK POP3 server ready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C: user bob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S: +OK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C: pass hungry </a:t>
            </a:r>
            <a:endParaRPr lang="en-US" sz="1800" b="1">
              <a:latin typeface="Courier New" panose="02070309020205020404" pitchFamily="49" charset="0"/>
            </a:endParaRPr>
          </a:p>
          <a:p>
            <a:pPr>
              <a:spcBef>
                <a:spcPct val="0"/>
              </a:spcBef>
              <a:buClrTx/>
              <a:buSzTx/>
              <a:buFontTx/>
              <a:buNone/>
            </a:pPr>
            <a:r>
              <a:rPr lang="en-US" sz="1800" b="1">
                <a:latin typeface="Courier New" panose="02070309020205020404" pitchFamily="49" charset="0"/>
              </a:rPr>
              <a:t>S: +OK</a:t>
            </a:r>
            <a:r>
              <a:rPr lang="en-US" sz="1400" b="1">
                <a:latin typeface="Courier New" panose="02070309020205020404" pitchFamily="49" charset="0"/>
              </a:rPr>
              <a:t> user successfully logged on</a:t>
            </a:r>
            <a:endParaRPr lang="en-US">
              <a:latin typeface="Times New Roman" panose="02020603050405020304" pitchFamily="18" charset="0"/>
            </a:endParaRPr>
          </a:p>
        </p:txBody>
      </p:sp>
      <p:sp>
        <p:nvSpPr>
          <p:cNvPr id="76808" name="Freeform 11"/>
          <p:cNvSpPr/>
          <p:nvPr/>
        </p:nvSpPr>
        <p:spPr bwMode="auto">
          <a:xfrm>
            <a:off x="4972050" y="847725"/>
            <a:ext cx="371475" cy="1457325"/>
          </a:xfrm>
          <a:custGeom>
            <a:avLst/>
            <a:gdLst>
              <a:gd name="T0" fmla="*/ 234 w 234"/>
              <a:gd name="T1" fmla="*/ 0 h 918"/>
              <a:gd name="T2" fmla="*/ 0 w 234"/>
              <a:gd name="T3" fmla="*/ 0 h 918"/>
              <a:gd name="T4" fmla="*/ 0 w 234"/>
              <a:gd name="T5" fmla="*/ 918 h 918"/>
              <a:gd name="T6" fmla="*/ 228 w 234"/>
              <a:gd name="T7" fmla="*/ 918 h 918"/>
              <a:gd name="T8" fmla="*/ 0 60000 65536"/>
              <a:gd name="T9" fmla="*/ 0 60000 65536"/>
              <a:gd name="T10" fmla="*/ 0 60000 65536"/>
              <a:gd name="T11" fmla="*/ 0 60000 65536"/>
              <a:gd name="T12" fmla="*/ 0 w 234"/>
              <a:gd name="T13" fmla="*/ 0 h 918"/>
              <a:gd name="T14" fmla="*/ 234 w 234"/>
              <a:gd name="T15" fmla="*/ 918 h 918"/>
            </a:gdLst>
            <a:ahLst/>
            <a:cxnLst>
              <a:cxn ang="T8">
                <a:pos x="T0" y="T1"/>
              </a:cxn>
              <a:cxn ang="T9">
                <a:pos x="T2" y="T3"/>
              </a:cxn>
              <a:cxn ang="T10">
                <a:pos x="T4" y="T5"/>
              </a:cxn>
              <a:cxn ang="T11">
                <a:pos x="T6" y="T7"/>
              </a:cxn>
            </a:cxnLst>
            <a:rect l="T12" t="T13" r="T14" b="T15"/>
            <a:pathLst>
              <a:path w="234" h="918">
                <a:moveTo>
                  <a:pt x="234" y="0"/>
                </a:moveTo>
                <a:lnTo>
                  <a:pt x="0" y="0"/>
                </a:lnTo>
                <a:lnTo>
                  <a:pt x="0" y="918"/>
                </a:lnTo>
                <a:lnTo>
                  <a:pt x="228" y="918"/>
                </a:lnTo>
              </a:path>
            </a:pathLst>
          </a:custGeom>
          <a:noFill/>
          <a:ln w="19050">
            <a:solidFill>
              <a:srgbClr val="FF0000"/>
            </a:solidFill>
            <a:round/>
          </a:ln>
        </p:spPr>
        <p:txBody>
          <a:bodyPr wrap="none" anchor="ctr"/>
          <a:lstStyle/>
          <a:p>
            <a:endParaRPr lang="en-US"/>
          </a:p>
        </p:txBody>
      </p:sp>
      <p:sp>
        <p:nvSpPr>
          <p:cNvPr id="76809" name="Line 13"/>
          <p:cNvSpPr>
            <a:spLocks noChangeShapeType="1"/>
          </p:cNvSpPr>
          <p:nvPr/>
        </p:nvSpPr>
        <p:spPr bwMode="auto">
          <a:xfrm flipV="1">
            <a:off x="3486150" y="1438275"/>
            <a:ext cx="1400175" cy="238125"/>
          </a:xfrm>
          <a:prstGeom prst="line">
            <a:avLst/>
          </a:prstGeom>
          <a:noFill/>
          <a:ln w="19050">
            <a:solidFill>
              <a:srgbClr val="FF0000"/>
            </a:solidFill>
            <a:round/>
            <a:tailEnd type="triangle" w="med" len="med"/>
          </a:ln>
        </p:spPr>
        <p:txBody>
          <a:bodyPr wrap="none" anchor="ctr"/>
          <a:lstStyle/>
          <a:p>
            <a:endParaRPr lang="en-US"/>
          </a:p>
        </p:txBody>
      </p:sp>
      <p:sp>
        <p:nvSpPr>
          <p:cNvPr id="76810" name="Freeform 14"/>
          <p:cNvSpPr/>
          <p:nvPr/>
        </p:nvSpPr>
        <p:spPr bwMode="auto">
          <a:xfrm>
            <a:off x="4962525" y="2428875"/>
            <a:ext cx="371475" cy="3895725"/>
          </a:xfrm>
          <a:custGeom>
            <a:avLst/>
            <a:gdLst>
              <a:gd name="T0" fmla="*/ 234 w 234"/>
              <a:gd name="T1" fmla="*/ 0 h 918"/>
              <a:gd name="T2" fmla="*/ 0 w 234"/>
              <a:gd name="T3" fmla="*/ 0 h 918"/>
              <a:gd name="T4" fmla="*/ 0 w 234"/>
              <a:gd name="T5" fmla="*/ 918 h 918"/>
              <a:gd name="T6" fmla="*/ 228 w 234"/>
              <a:gd name="T7" fmla="*/ 918 h 918"/>
              <a:gd name="T8" fmla="*/ 0 60000 65536"/>
              <a:gd name="T9" fmla="*/ 0 60000 65536"/>
              <a:gd name="T10" fmla="*/ 0 60000 65536"/>
              <a:gd name="T11" fmla="*/ 0 60000 65536"/>
              <a:gd name="T12" fmla="*/ 0 w 234"/>
              <a:gd name="T13" fmla="*/ 0 h 918"/>
              <a:gd name="T14" fmla="*/ 234 w 234"/>
              <a:gd name="T15" fmla="*/ 918 h 918"/>
            </a:gdLst>
            <a:ahLst/>
            <a:cxnLst>
              <a:cxn ang="T8">
                <a:pos x="T0" y="T1"/>
              </a:cxn>
              <a:cxn ang="T9">
                <a:pos x="T2" y="T3"/>
              </a:cxn>
              <a:cxn ang="T10">
                <a:pos x="T4" y="T5"/>
              </a:cxn>
              <a:cxn ang="T11">
                <a:pos x="T6" y="T7"/>
              </a:cxn>
            </a:cxnLst>
            <a:rect l="T12" t="T13" r="T14" b="T15"/>
            <a:pathLst>
              <a:path w="234" h="918">
                <a:moveTo>
                  <a:pt x="234" y="0"/>
                </a:moveTo>
                <a:lnTo>
                  <a:pt x="0" y="0"/>
                </a:lnTo>
                <a:lnTo>
                  <a:pt x="0" y="918"/>
                </a:lnTo>
                <a:lnTo>
                  <a:pt x="228" y="918"/>
                </a:lnTo>
              </a:path>
            </a:pathLst>
          </a:custGeom>
          <a:noFill/>
          <a:ln w="19050">
            <a:solidFill>
              <a:srgbClr val="FF0000"/>
            </a:solidFill>
            <a:round/>
          </a:ln>
        </p:spPr>
        <p:txBody>
          <a:bodyPr wrap="none" anchor="ctr"/>
          <a:lstStyle/>
          <a:p>
            <a:endParaRPr lang="en-US"/>
          </a:p>
        </p:txBody>
      </p:sp>
      <p:sp>
        <p:nvSpPr>
          <p:cNvPr id="76811" name="Line 15"/>
          <p:cNvSpPr>
            <a:spLocks noChangeShapeType="1"/>
          </p:cNvSpPr>
          <p:nvPr/>
        </p:nvSpPr>
        <p:spPr bwMode="auto">
          <a:xfrm flipV="1">
            <a:off x="3152775" y="3952875"/>
            <a:ext cx="1733550" cy="323850"/>
          </a:xfrm>
          <a:prstGeom prst="line">
            <a:avLst/>
          </a:prstGeom>
          <a:noFill/>
          <a:ln w="19050">
            <a:solidFill>
              <a:srgbClr val="FF0000"/>
            </a:solidFill>
            <a:round/>
            <a:tailEnd type="triangle" w="med" len="med"/>
          </a:ln>
        </p:spPr>
        <p:txBody>
          <a:bodyPr wrap="none" anchor="ctr"/>
          <a:lstStyle/>
          <a:p>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7827" name="Slide Number Placeholder 6"/>
          <p:cNvSpPr>
            <a:spLocks noGrp="1"/>
          </p:cNvSpPr>
          <p:nvPr>
            <p:ph type="sldNum" sz="quarter" idx="12"/>
          </p:nvPr>
        </p:nvSpPr>
        <p:spPr>
          <a:noFill/>
        </p:spPr>
        <p:txBody>
          <a:bodyPr/>
          <a:lstStyle/>
          <a:p>
            <a:fld id="{EFCAEC6B-503A-48AE-9F1B-08AAC0AF0A66}" type="slidenum">
              <a:rPr lang="en-US"/>
            </a:fld>
            <a:endParaRPr lang="en-US"/>
          </a:p>
        </p:txBody>
      </p:sp>
      <p:sp>
        <p:nvSpPr>
          <p:cNvPr id="77828" name="Rectangle 2"/>
          <p:cNvSpPr>
            <a:spLocks noGrp="1" noChangeArrowheads="1"/>
          </p:cNvSpPr>
          <p:nvPr>
            <p:ph type="title"/>
          </p:nvPr>
        </p:nvSpPr>
        <p:spPr/>
        <p:txBody>
          <a:bodyPr/>
          <a:lstStyle/>
          <a:p>
            <a:r>
              <a:rPr lang="en-US"/>
              <a:t>POP3 (more) and IMAP</a:t>
            </a:r>
            <a:endParaRPr lang="en-US"/>
          </a:p>
        </p:txBody>
      </p:sp>
      <p:sp>
        <p:nvSpPr>
          <p:cNvPr id="77829" name="Rectangle 3"/>
          <p:cNvSpPr>
            <a:spLocks noGrp="1" noChangeArrowheads="1"/>
          </p:cNvSpPr>
          <p:nvPr>
            <p:ph type="body" sz="half" idx="1"/>
          </p:nvPr>
        </p:nvSpPr>
        <p:spPr>
          <a:xfrm>
            <a:off x="520700" y="1343025"/>
            <a:ext cx="3810000" cy="4648200"/>
          </a:xfrm>
        </p:spPr>
        <p:txBody>
          <a:bodyPr/>
          <a:lstStyle/>
          <a:p>
            <a:pPr>
              <a:buFont typeface="ZapfDingbats" pitchFamily="82" charset="2"/>
              <a:buNone/>
            </a:pPr>
            <a:r>
              <a:rPr lang="en-US" sz="2400">
                <a:solidFill>
                  <a:srgbClr val="FF0000"/>
                </a:solidFill>
              </a:rPr>
              <a:t>More about POP3</a:t>
            </a:r>
            <a:endParaRPr lang="en-US" sz="2400"/>
          </a:p>
          <a:p>
            <a:r>
              <a:rPr lang="en-US" sz="2400"/>
              <a:t>Previous example uses “download and delete” mode.</a:t>
            </a:r>
            <a:endParaRPr lang="en-US" sz="2400"/>
          </a:p>
          <a:p>
            <a:r>
              <a:rPr lang="en-US" sz="2400"/>
              <a:t>Bob cannot re-read e-mail if he changes client</a:t>
            </a:r>
            <a:endParaRPr lang="en-US" sz="2400"/>
          </a:p>
          <a:p>
            <a:r>
              <a:rPr lang="en-US" sz="2400"/>
              <a:t>“Download-and-keep”: copies of messages on different clients</a:t>
            </a:r>
            <a:endParaRPr lang="en-US" sz="2400"/>
          </a:p>
          <a:p>
            <a:r>
              <a:rPr lang="en-US" sz="2400"/>
              <a:t>POP3 is stateless across sessions</a:t>
            </a:r>
            <a:endParaRPr lang="en-US" sz="2400"/>
          </a:p>
        </p:txBody>
      </p:sp>
      <p:sp>
        <p:nvSpPr>
          <p:cNvPr id="77830" name="Rectangle 4"/>
          <p:cNvSpPr>
            <a:spLocks noGrp="1" noChangeArrowheads="1"/>
          </p:cNvSpPr>
          <p:nvPr>
            <p:ph type="body" sz="half" idx="2"/>
          </p:nvPr>
        </p:nvSpPr>
        <p:spPr>
          <a:xfrm>
            <a:off x="4483100" y="1381125"/>
            <a:ext cx="3810000" cy="4648200"/>
          </a:xfrm>
        </p:spPr>
        <p:txBody>
          <a:bodyPr/>
          <a:lstStyle/>
          <a:p>
            <a:pPr>
              <a:buFont typeface="ZapfDingbats" pitchFamily="82" charset="2"/>
              <a:buNone/>
            </a:pPr>
            <a:r>
              <a:rPr lang="en-US" sz="2400">
                <a:solidFill>
                  <a:srgbClr val="FF0000"/>
                </a:solidFill>
              </a:rPr>
              <a:t>IMAP</a:t>
            </a:r>
            <a:endParaRPr lang="en-US" sz="2400"/>
          </a:p>
          <a:p>
            <a:r>
              <a:rPr lang="en-US" sz="2400"/>
              <a:t>Keep all messages in one place: the server</a:t>
            </a:r>
            <a:endParaRPr lang="en-US" sz="2400"/>
          </a:p>
          <a:p>
            <a:r>
              <a:rPr lang="en-US" sz="2400"/>
              <a:t>Allows user to organize messages in folders</a:t>
            </a:r>
            <a:endParaRPr lang="en-US" sz="2400"/>
          </a:p>
          <a:p>
            <a:r>
              <a:rPr lang="en-US" sz="2400"/>
              <a:t>IMAP keeps user state across sessions:</a:t>
            </a:r>
            <a:endParaRPr lang="en-US" sz="2400"/>
          </a:p>
          <a:p>
            <a:pPr lvl="1"/>
            <a:r>
              <a:rPr lang="en-US" sz="2000"/>
              <a:t>names of folders and mappings between message IDs and folder name</a:t>
            </a:r>
            <a:endParaRPr lang="en-US" sz="20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8851" name="Slide Number Placeholder 6"/>
          <p:cNvSpPr>
            <a:spLocks noGrp="1"/>
          </p:cNvSpPr>
          <p:nvPr>
            <p:ph type="sldNum" sz="quarter" idx="12"/>
          </p:nvPr>
        </p:nvSpPr>
        <p:spPr>
          <a:noFill/>
        </p:spPr>
        <p:txBody>
          <a:bodyPr/>
          <a:lstStyle/>
          <a:p>
            <a:fld id="{12292C25-2BD8-4904-9479-D12D58CE8B7D}" type="slidenum">
              <a:rPr lang="en-US"/>
            </a:fld>
            <a:endParaRPr lang="en-US"/>
          </a:p>
        </p:txBody>
      </p:sp>
      <p:sp>
        <p:nvSpPr>
          <p:cNvPr id="78852" name="Rectangle 2"/>
          <p:cNvSpPr>
            <a:spLocks noGrp="1" noChangeArrowheads="1"/>
          </p:cNvSpPr>
          <p:nvPr>
            <p:ph type="title"/>
          </p:nvPr>
        </p:nvSpPr>
        <p:spPr/>
        <p:txBody>
          <a:bodyPr/>
          <a:lstStyle/>
          <a:p>
            <a:r>
              <a:rPr lang="en-US" dirty="0"/>
              <a:t>Chapter 2: Application layer</a:t>
            </a:r>
            <a:endParaRPr lang="en-US" dirty="0"/>
          </a:p>
        </p:txBody>
      </p:sp>
      <p:sp>
        <p:nvSpPr>
          <p:cNvPr id="78853" name="Rectangle 3"/>
          <p:cNvSpPr>
            <a:spLocks noGrp="1" noChangeArrowheads="1"/>
          </p:cNvSpPr>
          <p:nvPr>
            <p:ph type="body" sz="half" idx="1"/>
          </p:nvPr>
        </p:nvSpPr>
        <p:spPr/>
        <p:txBody>
          <a:bodyPr/>
          <a:lstStyle/>
          <a:p>
            <a:r>
              <a:rPr lang="en-US" sz="2400"/>
              <a:t>2.1 Principles of network applications</a:t>
            </a:r>
            <a:endParaRPr lang="en-US" sz="2400"/>
          </a:p>
          <a:p>
            <a:r>
              <a:rPr lang="en-US" sz="2400"/>
              <a:t>2.2 Web and HTTP</a:t>
            </a:r>
            <a:endParaRPr lang="en-US" sz="2400"/>
          </a:p>
          <a:p>
            <a:r>
              <a:rPr lang="en-US" sz="2400"/>
              <a:t>2.3 FTP </a:t>
            </a:r>
            <a:endParaRPr lang="en-US" sz="2400">
              <a:solidFill>
                <a:srgbClr val="FF0000"/>
              </a:solidFill>
            </a:endParaRPr>
          </a:p>
          <a:p>
            <a:r>
              <a:rPr lang="en-US" sz="2400"/>
              <a:t>2.4 Electronic Mail</a:t>
            </a:r>
            <a:endParaRPr lang="en-US" sz="2400"/>
          </a:p>
          <a:p>
            <a:pPr lvl="1"/>
            <a:r>
              <a:rPr lang="en-US" sz="2000"/>
              <a:t>SMTP, POP3, IMAP</a:t>
            </a:r>
            <a:endParaRPr lang="en-US" sz="2000"/>
          </a:p>
          <a:p>
            <a:r>
              <a:rPr lang="en-US" sz="2400">
                <a:solidFill>
                  <a:srgbClr val="FF0000"/>
                </a:solidFill>
              </a:rPr>
              <a:t>2.5 DNS</a:t>
            </a:r>
            <a:endParaRPr lang="en-US" sz="2400">
              <a:solidFill>
                <a:srgbClr val="FF0000"/>
              </a:solidFill>
            </a:endParaRPr>
          </a:p>
          <a:p>
            <a:endParaRPr lang="en-US" sz="2400"/>
          </a:p>
        </p:txBody>
      </p:sp>
      <p:sp>
        <p:nvSpPr>
          <p:cNvPr id="78854" name="Rectangle 4"/>
          <p:cNvSpPr>
            <a:spLocks noGrp="1" noChangeArrowheads="1"/>
          </p:cNvSpPr>
          <p:nvPr>
            <p:ph type="body" sz="half" idx="2"/>
          </p:nvPr>
        </p:nvSpPr>
        <p:spPr>
          <a:xfrm>
            <a:off x="4495800" y="1600200"/>
            <a:ext cx="4054475" cy="4648200"/>
          </a:xfrm>
        </p:spPr>
        <p:txBody>
          <a:bodyPr/>
          <a:lstStyle/>
          <a:p>
            <a:r>
              <a:rPr lang="en-US" sz="2400" dirty="0"/>
              <a:t>2.6 P2P applications</a:t>
            </a:r>
            <a:endParaRPr lang="en-US" sz="2400" dirty="0"/>
          </a:p>
          <a:p>
            <a:r>
              <a:rPr lang="en-US" sz="2400" dirty="0"/>
              <a:t>2.7 Socket programming with UDP</a:t>
            </a:r>
            <a:endParaRPr lang="en-US" sz="2400" dirty="0"/>
          </a:p>
          <a:p>
            <a:r>
              <a:rPr lang="en-US" sz="2400" dirty="0"/>
              <a:t>2.8 Socket programming with TCP</a:t>
            </a:r>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79875" name="Slide Number Placeholder 6"/>
          <p:cNvSpPr>
            <a:spLocks noGrp="1"/>
          </p:cNvSpPr>
          <p:nvPr>
            <p:ph type="sldNum" sz="quarter" idx="12"/>
          </p:nvPr>
        </p:nvSpPr>
        <p:spPr>
          <a:noFill/>
        </p:spPr>
        <p:txBody>
          <a:bodyPr/>
          <a:lstStyle/>
          <a:p>
            <a:fld id="{A148AF60-A09A-4065-AE69-3103C05B30FF}" type="slidenum">
              <a:rPr lang="en-US"/>
            </a:fld>
            <a:endParaRPr lang="en-US"/>
          </a:p>
        </p:txBody>
      </p:sp>
      <p:sp>
        <p:nvSpPr>
          <p:cNvPr id="79876" name="Rectangle 2"/>
          <p:cNvSpPr>
            <a:spLocks noGrp="1" noChangeArrowheads="1"/>
          </p:cNvSpPr>
          <p:nvPr>
            <p:ph type="title"/>
          </p:nvPr>
        </p:nvSpPr>
        <p:spPr/>
        <p:txBody>
          <a:bodyPr/>
          <a:lstStyle/>
          <a:p>
            <a:r>
              <a:rPr lang="en-US" sz="3600"/>
              <a:t>DNS: Domain Name System</a:t>
            </a:r>
            <a:endParaRPr lang="en-US"/>
          </a:p>
        </p:txBody>
      </p:sp>
      <p:sp>
        <p:nvSpPr>
          <p:cNvPr id="79877" name="Rectangle 3"/>
          <p:cNvSpPr>
            <a:spLocks noGrp="1" noChangeArrowheads="1"/>
          </p:cNvSpPr>
          <p:nvPr>
            <p:ph type="body" sz="half" idx="1"/>
          </p:nvPr>
        </p:nvSpPr>
        <p:spPr/>
        <p:txBody>
          <a:bodyPr/>
          <a:lstStyle/>
          <a:p>
            <a:pPr>
              <a:buFont typeface="ZapfDingbats" pitchFamily="82" charset="2"/>
              <a:buNone/>
            </a:pPr>
            <a:r>
              <a:rPr lang="en-US" sz="2400">
                <a:solidFill>
                  <a:srgbClr val="FF0000"/>
                </a:solidFill>
              </a:rPr>
              <a:t>People:</a:t>
            </a:r>
            <a:r>
              <a:rPr lang="en-US" sz="2400"/>
              <a:t> many identifiers:</a:t>
            </a:r>
            <a:endParaRPr lang="en-US" sz="2400"/>
          </a:p>
          <a:p>
            <a:pPr lvl="1"/>
            <a:r>
              <a:rPr lang="en-US" sz="2000"/>
              <a:t>SSN, name, passport #</a:t>
            </a:r>
            <a:endParaRPr lang="en-US" sz="2000"/>
          </a:p>
          <a:p>
            <a:pPr>
              <a:buFont typeface="ZapfDingbats" pitchFamily="82" charset="2"/>
              <a:buNone/>
            </a:pPr>
            <a:r>
              <a:rPr lang="en-US" sz="2400">
                <a:solidFill>
                  <a:srgbClr val="FF0000"/>
                </a:solidFill>
              </a:rPr>
              <a:t>Internet hosts, routers:</a:t>
            </a:r>
            <a:endParaRPr lang="en-US" sz="2400"/>
          </a:p>
          <a:p>
            <a:pPr lvl="1"/>
            <a:r>
              <a:rPr lang="en-US" sz="2000"/>
              <a:t>IP address (32 bit) - used for addressing datagrams</a:t>
            </a:r>
            <a:endParaRPr lang="en-US" sz="2000"/>
          </a:p>
          <a:p>
            <a:pPr lvl="1"/>
            <a:r>
              <a:rPr lang="en-US" sz="2000"/>
              <a:t>“name”, e.g., ww.yahoo.com - used by humans</a:t>
            </a:r>
            <a:endParaRPr lang="en-US" sz="2000"/>
          </a:p>
          <a:p>
            <a:pPr>
              <a:buFont typeface="ZapfDingbats" pitchFamily="82" charset="2"/>
              <a:buNone/>
            </a:pPr>
            <a:r>
              <a:rPr lang="en-US" sz="2400" u="sng">
                <a:solidFill>
                  <a:srgbClr val="FF0000"/>
                </a:solidFill>
              </a:rPr>
              <a:t>Q:</a:t>
            </a:r>
            <a:r>
              <a:rPr lang="en-US" sz="2400"/>
              <a:t> map between IP addresses and name ?</a:t>
            </a:r>
            <a:endParaRPr lang="en-US" sz="2400"/>
          </a:p>
        </p:txBody>
      </p:sp>
      <p:sp>
        <p:nvSpPr>
          <p:cNvPr id="79878" name="Rectangle 4"/>
          <p:cNvSpPr>
            <a:spLocks noGrp="1" noChangeArrowheads="1"/>
          </p:cNvSpPr>
          <p:nvPr>
            <p:ph type="body" sz="half" idx="2"/>
          </p:nvPr>
        </p:nvSpPr>
        <p:spPr>
          <a:xfrm>
            <a:off x="4495800" y="1600200"/>
            <a:ext cx="4152900" cy="4648200"/>
          </a:xfrm>
        </p:spPr>
        <p:txBody>
          <a:bodyPr/>
          <a:lstStyle/>
          <a:p>
            <a:pPr>
              <a:buFont typeface="ZapfDingbats" pitchFamily="82" charset="2"/>
              <a:buNone/>
            </a:pPr>
            <a:r>
              <a:rPr lang="en-US" sz="2400">
                <a:solidFill>
                  <a:srgbClr val="FF0000"/>
                </a:solidFill>
              </a:rPr>
              <a:t>Domain Name System:</a:t>
            </a:r>
            <a:endParaRPr lang="en-US" sz="2400"/>
          </a:p>
          <a:p>
            <a:r>
              <a:rPr lang="en-US" sz="2000" i="1">
                <a:solidFill>
                  <a:srgbClr val="FF3300"/>
                </a:solidFill>
              </a:rPr>
              <a:t>distributed database</a:t>
            </a:r>
            <a:r>
              <a:rPr lang="en-US" sz="2000"/>
              <a:t> implemented in hierarchy of many </a:t>
            </a:r>
            <a:r>
              <a:rPr lang="en-US" sz="2000" i="1">
                <a:solidFill>
                  <a:srgbClr val="FF3300"/>
                </a:solidFill>
              </a:rPr>
              <a:t>name servers</a:t>
            </a:r>
            <a:endParaRPr lang="en-US" sz="2000">
              <a:solidFill>
                <a:srgbClr val="FF3300"/>
              </a:solidFill>
            </a:endParaRPr>
          </a:p>
          <a:p>
            <a:r>
              <a:rPr lang="en-US" sz="2000" i="1">
                <a:solidFill>
                  <a:srgbClr val="FF3300"/>
                </a:solidFill>
              </a:rPr>
              <a:t>application-layer protocol</a:t>
            </a:r>
            <a:r>
              <a:rPr lang="en-US" sz="2000"/>
              <a:t> host, routers, name servers to communicate to </a:t>
            </a:r>
            <a:r>
              <a:rPr lang="en-US" sz="2000" i="1">
                <a:solidFill>
                  <a:srgbClr val="FF3300"/>
                </a:solidFill>
              </a:rPr>
              <a:t>resolve</a:t>
            </a:r>
            <a:r>
              <a:rPr lang="en-US" sz="2000">
                <a:solidFill>
                  <a:srgbClr val="FF3300"/>
                </a:solidFill>
              </a:rPr>
              <a:t> </a:t>
            </a:r>
            <a:r>
              <a:rPr lang="en-US" sz="2000"/>
              <a:t>names (address/name translation)</a:t>
            </a:r>
            <a:endParaRPr lang="en-US" sz="2000"/>
          </a:p>
          <a:p>
            <a:pPr lvl="1"/>
            <a:r>
              <a:rPr lang="en-US" sz="2000"/>
              <a:t>note: core Internet function, implemented as application-layer protocol</a:t>
            </a:r>
            <a:endParaRPr lang="en-US" sz="2000"/>
          </a:p>
          <a:p>
            <a:pPr lvl="1"/>
            <a:r>
              <a:rPr lang="en-US" sz="2000"/>
              <a:t>complexity at network’s “edge”</a:t>
            </a:r>
            <a:endParaRPr lang="en-US" sz="18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0899" name="Slide Number Placeholder 6"/>
          <p:cNvSpPr>
            <a:spLocks noGrp="1"/>
          </p:cNvSpPr>
          <p:nvPr>
            <p:ph type="sldNum" sz="quarter" idx="12"/>
          </p:nvPr>
        </p:nvSpPr>
        <p:spPr>
          <a:noFill/>
        </p:spPr>
        <p:txBody>
          <a:bodyPr/>
          <a:lstStyle/>
          <a:p>
            <a:fld id="{3B3BD973-7BC1-45AC-9F8A-0DA987946219}" type="slidenum">
              <a:rPr lang="en-US"/>
            </a:fld>
            <a:endParaRPr lang="en-US"/>
          </a:p>
        </p:txBody>
      </p:sp>
      <p:sp>
        <p:nvSpPr>
          <p:cNvPr id="80900" name="Rectangle 2"/>
          <p:cNvSpPr>
            <a:spLocks noGrp="1" noChangeArrowheads="1"/>
          </p:cNvSpPr>
          <p:nvPr>
            <p:ph type="title"/>
          </p:nvPr>
        </p:nvSpPr>
        <p:spPr/>
        <p:txBody>
          <a:bodyPr/>
          <a:lstStyle/>
          <a:p>
            <a:r>
              <a:rPr lang="en-US" sz="3600"/>
              <a:t>DNS </a:t>
            </a:r>
            <a:endParaRPr lang="en-US"/>
          </a:p>
        </p:txBody>
      </p:sp>
      <p:sp>
        <p:nvSpPr>
          <p:cNvPr id="80901" name="Rectangle 4"/>
          <p:cNvSpPr>
            <a:spLocks noGrp="1" noChangeArrowheads="1"/>
          </p:cNvSpPr>
          <p:nvPr>
            <p:ph type="body" sz="half" idx="2"/>
          </p:nvPr>
        </p:nvSpPr>
        <p:spPr>
          <a:xfrm>
            <a:off x="4405313" y="1427163"/>
            <a:ext cx="4191000" cy="4648200"/>
          </a:xfrm>
        </p:spPr>
        <p:txBody>
          <a:bodyPr/>
          <a:lstStyle/>
          <a:p>
            <a:pPr>
              <a:buFont typeface="ZapfDingbats" pitchFamily="82" charset="2"/>
              <a:buNone/>
            </a:pPr>
            <a:r>
              <a:rPr lang="en-US" sz="2400" u="sng">
                <a:solidFill>
                  <a:srgbClr val="FF0000"/>
                </a:solidFill>
              </a:rPr>
              <a:t>Why not centralize DNS?</a:t>
            </a:r>
            <a:endParaRPr lang="en-US" sz="2400" u="sng">
              <a:solidFill>
                <a:srgbClr val="FF0000"/>
              </a:solidFill>
            </a:endParaRPr>
          </a:p>
          <a:p>
            <a:r>
              <a:rPr lang="en-US" sz="2400"/>
              <a:t>single point of failure</a:t>
            </a:r>
            <a:endParaRPr lang="en-US" sz="2400"/>
          </a:p>
          <a:p>
            <a:r>
              <a:rPr lang="en-US" sz="2400"/>
              <a:t>traffic volume</a:t>
            </a:r>
            <a:endParaRPr lang="en-US" sz="2400"/>
          </a:p>
          <a:p>
            <a:r>
              <a:rPr lang="en-US" sz="2400"/>
              <a:t>distant centralized database</a:t>
            </a:r>
            <a:endParaRPr lang="en-US" sz="2400"/>
          </a:p>
          <a:p>
            <a:r>
              <a:rPr lang="en-US" sz="2400"/>
              <a:t>maintenance</a:t>
            </a:r>
            <a:endParaRPr lang="en-US" sz="2400"/>
          </a:p>
          <a:p>
            <a:pPr>
              <a:buFont typeface="ZapfDingbats" pitchFamily="82" charset="2"/>
              <a:buNone/>
            </a:pPr>
            <a:endParaRPr lang="en-US" sz="2400"/>
          </a:p>
          <a:p>
            <a:pPr>
              <a:buFont typeface="ZapfDingbats" pitchFamily="82" charset="2"/>
              <a:buNone/>
            </a:pPr>
            <a:r>
              <a:rPr lang="en-US" sz="2400"/>
              <a:t>doesn’t </a:t>
            </a:r>
            <a:r>
              <a:rPr lang="en-US" sz="2400" i="1"/>
              <a:t>scale!</a:t>
            </a:r>
            <a:endParaRPr lang="en-US" sz="2400"/>
          </a:p>
        </p:txBody>
      </p:sp>
      <p:sp>
        <p:nvSpPr>
          <p:cNvPr id="80902" name="Rectangle 5"/>
          <p:cNvSpPr>
            <a:spLocks noGrp="1" noChangeArrowheads="1"/>
          </p:cNvSpPr>
          <p:nvPr>
            <p:ph type="body" sz="half" idx="1"/>
          </p:nvPr>
        </p:nvSpPr>
        <p:spPr>
          <a:xfrm>
            <a:off x="365125" y="1500188"/>
            <a:ext cx="3810000" cy="4648200"/>
          </a:xfrm>
        </p:spPr>
        <p:txBody>
          <a:bodyPr/>
          <a:lstStyle/>
          <a:p>
            <a:pPr>
              <a:buFont typeface="ZapfDingbats" pitchFamily="82" charset="2"/>
              <a:buNone/>
            </a:pPr>
            <a:r>
              <a:rPr lang="en-US" sz="2400" u="sng" dirty="0">
                <a:solidFill>
                  <a:srgbClr val="FF0000"/>
                </a:solidFill>
              </a:rPr>
              <a:t>DNS services</a:t>
            </a:r>
            <a:endParaRPr lang="en-US" sz="2400" u="sng" dirty="0">
              <a:solidFill>
                <a:srgbClr val="FF0000"/>
              </a:solidFill>
            </a:endParaRPr>
          </a:p>
          <a:p>
            <a:r>
              <a:rPr lang="en-US" sz="2400" dirty="0"/>
              <a:t>hostname to IP address translation</a:t>
            </a:r>
            <a:endParaRPr lang="en-US" sz="2400" dirty="0"/>
          </a:p>
          <a:p>
            <a:r>
              <a:rPr lang="en-US" sz="2400" dirty="0"/>
              <a:t>host aliasing</a:t>
            </a:r>
            <a:endParaRPr lang="en-US" sz="2400" dirty="0"/>
          </a:p>
          <a:p>
            <a:pPr lvl="1"/>
            <a:r>
              <a:rPr lang="en-US" sz="2000" dirty="0"/>
              <a:t>Canonical, alias names</a:t>
            </a:r>
            <a:endParaRPr lang="en-US" sz="2000" dirty="0"/>
          </a:p>
          <a:p>
            <a:r>
              <a:rPr lang="en-US" sz="2400" dirty="0"/>
              <a:t>mail server aliasing</a:t>
            </a:r>
            <a:endParaRPr lang="en-US" sz="2400" dirty="0"/>
          </a:p>
          <a:p>
            <a:r>
              <a:rPr lang="en-US" sz="2400" dirty="0"/>
              <a:t>load distribution</a:t>
            </a:r>
            <a:endParaRPr lang="en-US" sz="2400" dirty="0"/>
          </a:p>
          <a:p>
            <a:pPr lvl="1"/>
            <a:r>
              <a:rPr lang="en-US" sz="2000" dirty="0"/>
              <a:t>replicated Web servers: set of IP addresses for one canonical name</a:t>
            </a:r>
            <a:endParaRPr lang="en-US" sz="2000" dirty="0"/>
          </a:p>
          <a:p>
            <a:endParaRPr 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1923" name="Slide Number Placeholder 6"/>
          <p:cNvSpPr>
            <a:spLocks noGrp="1"/>
          </p:cNvSpPr>
          <p:nvPr>
            <p:ph type="sldNum" sz="quarter" idx="12"/>
          </p:nvPr>
        </p:nvSpPr>
        <p:spPr>
          <a:noFill/>
        </p:spPr>
        <p:txBody>
          <a:bodyPr/>
          <a:lstStyle/>
          <a:p>
            <a:fld id="{6C7724DA-5C69-4F0A-A2A8-20B09622BB8E}" type="slidenum">
              <a:rPr lang="en-US"/>
            </a:fld>
            <a:endParaRPr lang="en-US"/>
          </a:p>
        </p:txBody>
      </p:sp>
      <p:grpSp>
        <p:nvGrpSpPr>
          <p:cNvPr id="81924" name="Group 23"/>
          <p:cNvGrpSpPr/>
          <p:nvPr/>
        </p:nvGrpSpPr>
        <p:grpSpPr bwMode="auto">
          <a:xfrm>
            <a:off x="438150" y="1093788"/>
            <a:ext cx="8205788" cy="2444750"/>
            <a:chOff x="230" y="576"/>
            <a:chExt cx="5504" cy="1757"/>
          </a:xfrm>
        </p:grpSpPr>
        <p:sp>
          <p:nvSpPr>
            <p:cNvPr id="81927" name="Text Box 2"/>
            <p:cNvSpPr txBox="1">
              <a:spLocks noChangeArrowheads="1"/>
            </p:cNvSpPr>
            <p:nvPr/>
          </p:nvSpPr>
          <p:spPr bwMode="auto">
            <a:xfrm>
              <a:off x="2256" y="576"/>
              <a:ext cx="1385" cy="264"/>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Root DNS Servers</a:t>
              </a:r>
              <a:endParaRPr lang="en-US" sz="1800">
                <a:latin typeface="Arial" panose="020B0604020202020204" pitchFamily="34" charset="0"/>
              </a:endParaRPr>
            </a:p>
          </p:txBody>
        </p:sp>
        <p:sp>
          <p:nvSpPr>
            <p:cNvPr id="81928" name="Text Box 4"/>
            <p:cNvSpPr txBox="1">
              <a:spLocks noChangeArrowheads="1"/>
            </p:cNvSpPr>
            <p:nvPr/>
          </p:nvSpPr>
          <p:spPr bwMode="auto">
            <a:xfrm>
              <a:off x="528" y="1344"/>
              <a:ext cx="1325" cy="263"/>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com DNS servers</a:t>
              </a:r>
              <a:endParaRPr lang="en-US" sz="1800">
                <a:latin typeface="Arial" panose="020B0604020202020204" pitchFamily="34" charset="0"/>
              </a:endParaRPr>
            </a:p>
          </p:txBody>
        </p:sp>
        <p:sp>
          <p:nvSpPr>
            <p:cNvPr id="81929" name="Text Box 5"/>
            <p:cNvSpPr txBox="1">
              <a:spLocks noChangeArrowheads="1"/>
            </p:cNvSpPr>
            <p:nvPr/>
          </p:nvSpPr>
          <p:spPr bwMode="auto">
            <a:xfrm>
              <a:off x="2304" y="1296"/>
              <a:ext cx="1257" cy="263"/>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org DNS servers</a:t>
              </a:r>
              <a:endParaRPr lang="en-US" sz="1800">
                <a:latin typeface="Arial" panose="020B0604020202020204" pitchFamily="34" charset="0"/>
              </a:endParaRPr>
            </a:p>
          </p:txBody>
        </p:sp>
        <p:sp>
          <p:nvSpPr>
            <p:cNvPr id="81930" name="Text Box 6"/>
            <p:cNvSpPr txBox="1">
              <a:spLocks noChangeArrowheads="1"/>
            </p:cNvSpPr>
            <p:nvPr/>
          </p:nvSpPr>
          <p:spPr bwMode="auto">
            <a:xfrm>
              <a:off x="4032" y="1296"/>
              <a:ext cx="1291" cy="263"/>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edu DNS servers</a:t>
              </a:r>
              <a:endParaRPr lang="en-US" sz="1800">
                <a:latin typeface="Arial" panose="020B0604020202020204" pitchFamily="34" charset="0"/>
              </a:endParaRPr>
            </a:p>
          </p:txBody>
        </p:sp>
        <p:sp>
          <p:nvSpPr>
            <p:cNvPr id="81931" name="Line 7"/>
            <p:cNvSpPr>
              <a:spLocks noChangeShapeType="1"/>
            </p:cNvSpPr>
            <p:nvPr/>
          </p:nvSpPr>
          <p:spPr bwMode="auto">
            <a:xfrm flipH="1">
              <a:off x="1344" y="864"/>
              <a:ext cx="1392" cy="432"/>
            </a:xfrm>
            <a:prstGeom prst="line">
              <a:avLst/>
            </a:prstGeom>
            <a:noFill/>
            <a:ln w="31750">
              <a:solidFill>
                <a:schemeClr val="tx1"/>
              </a:solidFill>
              <a:round/>
            </a:ln>
          </p:spPr>
          <p:txBody>
            <a:bodyPr/>
            <a:lstStyle/>
            <a:p>
              <a:endParaRPr lang="en-US"/>
            </a:p>
          </p:txBody>
        </p:sp>
        <p:sp>
          <p:nvSpPr>
            <p:cNvPr id="81932" name="Line 8"/>
            <p:cNvSpPr>
              <a:spLocks noChangeShapeType="1"/>
            </p:cNvSpPr>
            <p:nvPr/>
          </p:nvSpPr>
          <p:spPr bwMode="auto">
            <a:xfrm>
              <a:off x="2928" y="816"/>
              <a:ext cx="0" cy="480"/>
            </a:xfrm>
            <a:prstGeom prst="line">
              <a:avLst/>
            </a:prstGeom>
            <a:noFill/>
            <a:ln w="25400">
              <a:solidFill>
                <a:schemeClr val="tx1"/>
              </a:solidFill>
              <a:round/>
            </a:ln>
          </p:spPr>
          <p:txBody>
            <a:bodyPr/>
            <a:lstStyle/>
            <a:p>
              <a:endParaRPr lang="en-US"/>
            </a:p>
          </p:txBody>
        </p:sp>
        <p:sp>
          <p:nvSpPr>
            <p:cNvPr id="81933" name="Line 9"/>
            <p:cNvSpPr>
              <a:spLocks noChangeShapeType="1"/>
            </p:cNvSpPr>
            <p:nvPr/>
          </p:nvSpPr>
          <p:spPr bwMode="auto">
            <a:xfrm>
              <a:off x="3168" y="864"/>
              <a:ext cx="1440" cy="432"/>
            </a:xfrm>
            <a:prstGeom prst="line">
              <a:avLst/>
            </a:prstGeom>
            <a:noFill/>
            <a:ln w="25400">
              <a:solidFill>
                <a:schemeClr val="tx1"/>
              </a:solidFill>
              <a:round/>
            </a:ln>
          </p:spPr>
          <p:txBody>
            <a:bodyPr/>
            <a:lstStyle/>
            <a:p>
              <a:endParaRPr lang="en-US"/>
            </a:p>
          </p:txBody>
        </p:sp>
        <p:sp>
          <p:nvSpPr>
            <p:cNvPr id="81934" name="Text Box 10"/>
            <p:cNvSpPr txBox="1">
              <a:spLocks noChangeArrowheads="1"/>
            </p:cNvSpPr>
            <p:nvPr/>
          </p:nvSpPr>
          <p:spPr bwMode="auto">
            <a:xfrm>
              <a:off x="3878" y="1752"/>
              <a:ext cx="992" cy="461"/>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poly.edu</a:t>
              </a:r>
              <a:endParaRPr lang="en-US" sz="1800">
                <a:latin typeface="Arial" panose="020B0604020202020204" pitchFamily="34" charset="0"/>
              </a:endParaRPr>
            </a:p>
            <a:p>
              <a:pPr eaLnBrk="1" hangingPunct="1">
                <a:spcBef>
                  <a:spcPct val="0"/>
                </a:spcBef>
                <a:buClrTx/>
                <a:buSzTx/>
                <a:buFontTx/>
                <a:buNone/>
              </a:pPr>
              <a:r>
                <a:rPr lang="en-US" sz="1800">
                  <a:latin typeface="Arial" panose="020B0604020202020204" pitchFamily="34" charset="0"/>
                </a:rPr>
                <a:t>DNS servers</a:t>
              </a:r>
              <a:endParaRPr lang="en-US" sz="1800">
                <a:latin typeface="Arial" panose="020B0604020202020204" pitchFamily="34" charset="0"/>
              </a:endParaRPr>
            </a:p>
          </p:txBody>
        </p:sp>
        <p:sp>
          <p:nvSpPr>
            <p:cNvPr id="81935" name="Text Box 11"/>
            <p:cNvSpPr txBox="1">
              <a:spLocks noChangeArrowheads="1"/>
            </p:cNvSpPr>
            <p:nvPr/>
          </p:nvSpPr>
          <p:spPr bwMode="auto">
            <a:xfrm>
              <a:off x="4742" y="1752"/>
              <a:ext cx="992" cy="461"/>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umass.edu</a:t>
              </a:r>
              <a:endParaRPr lang="en-US" sz="1800">
                <a:latin typeface="Arial" panose="020B0604020202020204" pitchFamily="34" charset="0"/>
              </a:endParaRPr>
            </a:p>
            <a:p>
              <a:pPr eaLnBrk="1" hangingPunct="1">
                <a:spcBef>
                  <a:spcPct val="0"/>
                </a:spcBef>
                <a:buClrTx/>
                <a:buSzTx/>
                <a:buFontTx/>
                <a:buNone/>
              </a:pPr>
              <a:r>
                <a:rPr lang="en-US" sz="1800">
                  <a:latin typeface="Arial" panose="020B0604020202020204" pitchFamily="34" charset="0"/>
                </a:rPr>
                <a:t>DNS servers</a:t>
              </a:r>
              <a:endParaRPr lang="en-US" sz="1800">
                <a:latin typeface="Arial" panose="020B0604020202020204" pitchFamily="34" charset="0"/>
              </a:endParaRPr>
            </a:p>
          </p:txBody>
        </p:sp>
        <p:sp>
          <p:nvSpPr>
            <p:cNvPr id="81936" name="Line 12"/>
            <p:cNvSpPr>
              <a:spLocks noChangeShapeType="1"/>
            </p:cNvSpPr>
            <p:nvPr/>
          </p:nvSpPr>
          <p:spPr bwMode="auto">
            <a:xfrm flipH="1">
              <a:off x="4224" y="1536"/>
              <a:ext cx="336" cy="240"/>
            </a:xfrm>
            <a:prstGeom prst="line">
              <a:avLst/>
            </a:prstGeom>
            <a:noFill/>
            <a:ln w="25400">
              <a:solidFill>
                <a:schemeClr val="tx1"/>
              </a:solidFill>
              <a:round/>
            </a:ln>
          </p:spPr>
          <p:txBody>
            <a:bodyPr/>
            <a:lstStyle/>
            <a:p>
              <a:endParaRPr lang="en-US"/>
            </a:p>
          </p:txBody>
        </p:sp>
        <p:sp>
          <p:nvSpPr>
            <p:cNvPr id="81937" name="Line 13"/>
            <p:cNvSpPr>
              <a:spLocks noChangeShapeType="1"/>
            </p:cNvSpPr>
            <p:nvPr/>
          </p:nvSpPr>
          <p:spPr bwMode="auto">
            <a:xfrm>
              <a:off x="4848" y="1536"/>
              <a:ext cx="288" cy="240"/>
            </a:xfrm>
            <a:prstGeom prst="line">
              <a:avLst/>
            </a:prstGeom>
            <a:noFill/>
            <a:ln w="25400">
              <a:solidFill>
                <a:schemeClr val="tx1"/>
              </a:solidFill>
              <a:round/>
            </a:ln>
          </p:spPr>
          <p:txBody>
            <a:bodyPr/>
            <a:lstStyle/>
            <a:p>
              <a:endParaRPr lang="en-US"/>
            </a:p>
          </p:txBody>
        </p:sp>
        <p:sp>
          <p:nvSpPr>
            <p:cNvPr id="81938" name="Text Box 14"/>
            <p:cNvSpPr txBox="1">
              <a:spLocks noChangeArrowheads="1"/>
            </p:cNvSpPr>
            <p:nvPr/>
          </p:nvSpPr>
          <p:spPr bwMode="auto">
            <a:xfrm>
              <a:off x="230" y="1848"/>
              <a:ext cx="992" cy="461"/>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yahoo.com</a:t>
              </a:r>
              <a:endParaRPr lang="en-US" sz="1800">
                <a:latin typeface="Arial" panose="020B0604020202020204" pitchFamily="34" charset="0"/>
              </a:endParaRPr>
            </a:p>
            <a:p>
              <a:pPr eaLnBrk="1" hangingPunct="1">
                <a:spcBef>
                  <a:spcPct val="0"/>
                </a:spcBef>
                <a:buClrTx/>
                <a:buSzTx/>
                <a:buFontTx/>
                <a:buNone/>
              </a:pPr>
              <a:r>
                <a:rPr lang="en-US" sz="1800">
                  <a:latin typeface="Arial" panose="020B0604020202020204" pitchFamily="34" charset="0"/>
                </a:rPr>
                <a:t>DNS servers</a:t>
              </a:r>
              <a:endParaRPr lang="en-US" sz="1800">
                <a:latin typeface="Arial" panose="020B0604020202020204" pitchFamily="34" charset="0"/>
              </a:endParaRPr>
            </a:p>
          </p:txBody>
        </p:sp>
        <p:sp>
          <p:nvSpPr>
            <p:cNvPr id="81939" name="Text Box 15"/>
            <p:cNvSpPr txBox="1">
              <a:spLocks noChangeArrowheads="1"/>
            </p:cNvSpPr>
            <p:nvPr/>
          </p:nvSpPr>
          <p:spPr bwMode="auto">
            <a:xfrm>
              <a:off x="1248" y="1872"/>
              <a:ext cx="1001" cy="461"/>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amazon.com</a:t>
              </a:r>
              <a:endParaRPr lang="en-US" sz="1800">
                <a:latin typeface="Arial" panose="020B0604020202020204" pitchFamily="34" charset="0"/>
              </a:endParaRPr>
            </a:p>
            <a:p>
              <a:pPr eaLnBrk="1" hangingPunct="1">
                <a:spcBef>
                  <a:spcPct val="0"/>
                </a:spcBef>
                <a:buClrTx/>
                <a:buSzTx/>
                <a:buFontTx/>
                <a:buNone/>
              </a:pPr>
              <a:r>
                <a:rPr lang="en-US" sz="1800">
                  <a:latin typeface="Arial" panose="020B0604020202020204" pitchFamily="34" charset="0"/>
                </a:rPr>
                <a:t>DNS servers</a:t>
              </a:r>
              <a:endParaRPr lang="en-US" sz="1800">
                <a:latin typeface="Arial" panose="020B0604020202020204" pitchFamily="34" charset="0"/>
              </a:endParaRPr>
            </a:p>
          </p:txBody>
        </p:sp>
        <p:sp>
          <p:nvSpPr>
            <p:cNvPr id="81940" name="Line 16"/>
            <p:cNvSpPr>
              <a:spLocks noChangeShapeType="1"/>
            </p:cNvSpPr>
            <p:nvPr/>
          </p:nvSpPr>
          <p:spPr bwMode="auto">
            <a:xfrm flipH="1">
              <a:off x="768" y="1584"/>
              <a:ext cx="192" cy="288"/>
            </a:xfrm>
            <a:prstGeom prst="line">
              <a:avLst/>
            </a:prstGeom>
            <a:noFill/>
            <a:ln w="25400">
              <a:solidFill>
                <a:schemeClr val="tx1"/>
              </a:solidFill>
              <a:round/>
            </a:ln>
          </p:spPr>
          <p:txBody>
            <a:bodyPr/>
            <a:lstStyle/>
            <a:p>
              <a:endParaRPr lang="en-US"/>
            </a:p>
          </p:txBody>
        </p:sp>
        <p:sp>
          <p:nvSpPr>
            <p:cNvPr id="81941" name="Line 17"/>
            <p:cNvSpPr>
              <a:spLocks noChangeShapeType="1"/>
            </p:cNvSpPr>
            <p:nvPr/>
          </p:nvSpPr>
          <p:spPr bwMode="auto">
            <a:xfrm>
              <a:off x="1392" y="1584"/>
              <a:ext cx="240" cy="288"/>
            </a:xfrm>
            <a:prstGeom prst="line">
              <a:avLst/>
            </a:prstGeom>
            <a:noFill/>
            <a:ln w="25400">
              <a:solidFill>
                <a:schemeClr val="tx1"/>
              </a:solidFill>
              <a:round/>
            </a:ln>
          </p:spPr>
          <p:txBody>
            <a:bodyPr/>
            <a:lstStyle/>
            <a:p>
              <a:endParaRPr lang="en-US"/>
            </a:p>
          </p:txBody>
        </p:sp>
        <p:sp>
          <p:nvSpPr>
            <p:cNvPr id="81942" name="Text Box 18"/>
            <p:cNvSpPr txBox="1">
              <a:spLocks noChangeArrowheads="1"/>
            </p:cNvSpPr>
            <p:nvPr/>
          </p:nvSpPr>
          <p:spPr bwMode="auto">
            <a:xfrm>
              <a:off x="2534" y="1799"/>
              <a:ext cx="993" cy="461"/>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pbs.org</a:t>
              </a:r>
              <a:endParaRPr lang="en-US" sz="1800">
                <a:latin typeface="Arial" panose="020B0604020202020204" pitchFamily="34" charset="0"/>
              </a:endParaRPr>
            </a:p>
            <a:p>
              <a:pPr eaLnBrk="1" hangingPunct="1">
                <a:spcBef>
                  <a:spcPct val="0"/>
                </a:spcBef>
                <a:buClrTx/>
                <a:buSzTx/>
                <a:buFontTx/>
                <a:buNone/>
              </a:pPr>
              <a:r>
                <a:rPr lang="en-US" sz="1800">
                  <a:latin typeface="Arial" panose="020B0604020202020204" pitchFamily="34" charset="0"/>
                </a:rPr>
                <a:t>DNS servers</a:t>
              </a:r>
              <a:endParaRPr lang="en-US" sz="1800">
                <a:latin typeface="Arial" panose="020B0604020202020204" pitchFamily="34" charset="0"/>
              </a:endParaRPr>
            </a:p>
          </p:txBody>
        </p:sp>
        <p:sp>
          <p:nvSpPr>
            <p:cNvPr id="81943" name="Line 19"/>
            <p:cNvSpPr>
              <a:spLocks noChangeShapeType="1"/>
            </p:cNvSpPr>
            <p:nvPr/>
          </p:nvSpPr>
          <p:spPr bwMode="auto">
            <a:xfrm>
              <a:off x="2928" y="1536"/>
              <a:ext cx="0" cy="288"/>
            </a:xfrm>
            <a:prstGeom prst="line">
              <a:avLst/>
            </a:prstGeom>
            <a:noFill/>
            <a:ln w="25400">
              <a:solidFill>
                <a:schemeClr val="tx1"/>
              </a:solidFill>
              <a:round/>
            </a:ln>
          </p:spPr>
          <p:txBody>
            <a:bodyPr/>
            <a:lstStyle/>
            <a:p>
              <a:endParaRPr lang="en-US"/>
            </a:p>
          </p:txBody>
        </p:sp>
      </p:grpSp>
      <p:sp>
        <p:nvSpPr>
          <p:cNvPr id="81925" name="Rectangle 20"/>
          <p:cNvSpPr>
            <a:spLocks noGrp="1" noChangeArrowheads="1"/>
          </p:cNvSpPr>
          <p:nvPr>
            <p:ph type="title"/>
          </p:nvPr>
        </p:nvSpPr>
        <p:spPr>
          <a:xfrm>
            <a:off x="468313" y="0"/>
            <a:ext cx="7772400" cy="1143000"/>
          </a:xfrm>
        </p:spPr>
        <p:txBody>
          <a:bodyPr/>
          <a:lstStyle/>
          <a:p>
            <a:r>
              <a:rPr lang="en-US" sz="3600"/>
              <a:t>Distributed, Hierarchical Database</a:t>
            </a:r>
            <a:endParaRPr lang="en-US" sz="3600"/>
          </a:p>
        </p:txBody>
      </p:sp>
      <p:sp>
        <p:nvSpPr>
          <p:cNvPr id="81926" name="Rectangle 22"/>
          <p:cNvSpPr>
            <a:spLocks noGrp="1" noChangeArrowheads="1"/>
          </p:cNvSpPr>
          <p:nvPr>
            <p:ph type="body" sz="half" idx="2"/>
          </p:nvPr>
        </p:nvSpPr>
        <p:spPr>
          <a:xfrm>
            <a:off x="520700" y="3705225"/>
            <a:ext cx="8172450" cy="2813050"/>
          </a:xfrm>
        </p:spPr>
        <p:txBody>
          <a:bodyPr/>
          <a:lstStyle/>
          <a:p>
            <a:pPr>
              <a:buFont typeface="ZapfDingbats" pitchFamily="82" charset="2"/>
              <a:buNone/>
            </a:pPr>
            <a:r>
              <a:rPr lang="en-US" sz="2400" u="sng">
                <a:solidFill>
                  <a:srgbClr val="FF0000"/>
                </a:solidFill>
              </a:rPr>
              <a:t>Client wants IP for www.amazon.com; 1</a:t>
            </a:r>
            <a:r>
              <a:rPr lang="en-US" sz="2400" u="sng" baseline="30000">
                <a:solidFill>
                  <a:srgbClr val="FF0000"/>
                </a:solidFill>
              </a:rPr>
              <a:t>st</a:t>
            </a:r>
            <a:r>
              <a:rPr lang="en-US" sz="2400" u="sng">
                <a:solidFill>
                  <a:srgbClr val="FF0000"/>
                </a:solidFill>
              </a:rPr>
              <a:t> approx:</a:t>
            </a:r>
            <a:endParaRPr lang="en-US" sz="2400" u="sng">
              <a:solidFill>
                <a:srgbClr val="FF0000"/>
              </a:solidFill>
            </a:endParaRPr>
          </a:p>
          <a:p>
            <a:r>
              <a:rPr lang="en-US" sz="2400"/>
              <a:t>client queries a root server to find com DNS server</a:t>
            </a:r>
            <a:endParaRPr lang="en-US" sz="2400"/>
          </a:p>
          <a:p>
            <a:r>
              <a:rPr lang="en-US" sz="2400"/>
              <a:t>client queries com DNS server to get amazon.com DNS server</a:t>
            </a:r>
            <a:endParaRPr lang="en-US" sz="2400"/>
          </a:p>
          <a:p>
            <a:r>
              <a:rPr lang="en-US" sz="2400"/>
              <a:t>client queries amazon.com DNS server to get  IP address for www.amazon.com</a:t>
            </a:r>
            <a:endParaRPr lang="en-US" sz="24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2947" name="Slide Number Placeholder 6"/>
          <p:cNvSpPr>
            <a:spLocks noGrp="1"/>
          </p:cNvSpPr>
          <p:nvPr>
            <p:ph type="sldNum" sz="quarter" idx="12"/>
          </p:nvPr>
        </p:nvSpPr>
        <p:spPr>
          <a:noFill/>
        </p:spPr>
        <p:txBody>
          <a:bodyPr/>
          <a:lstStyle/>
          <a:p>
            <a:fld id="{7DEF726D-7211-4C98-9C66-59636389E81A}" type="slidenum">
              <a:rPr lang="en-US"/>
            </a:fld>
            <a:endParaRPr lang="en-US"/>
          </a:p>
        </p:txBody>
      </p:sp>
      <p:sp>
        <p:nvSpPr>
          <p:cNvPr id="82948" name="Rectangle 2"/>
          <p:cNvSpPr>
            <a:spLocks noGrp="1" noChangeArrowheads="1"/>
          </p:cNvSpPr>
          <p:nvPr>
            <p:ph type="title"/>
          </p:nvPr>
        </p:nvSpPr>
        <p:spPr/>
        <p:txBody>
          <a:bodyPr/>
          <a:lstStyle/>
          <a:p>
            <a:r>
              <a:rPr lang="en-US" sz="3600"/>
              <a:t>DNS: Root name servers</a:t>
            </a:r>
            <a:endParaRPr lang="en-US"/>
          </a:p>
        </p:txBody>
      </p:sp>
      <p:sp>
        <p:nvSpPr>
          <p:cNvPr id="82949" name="Rectangle 3"/>
          <p:cNvSpPr>
            <a:spLocks noGrp="1" noChangeArrowheads="1"/>
          </p:cNvSpPr>
          <p:nvPr>
            <p:ph type="body" sz="half" idx="1"/>
          </p:nvPr>
        </p:nvSpPr>
        <p:spPr>
          <a:xfrm>
            <a:off x="484188" y="1362075"/>
            <a:ext cx="8478837" cy="4648200"/>
          </a:xfrm>
        </p:spPr>
        <p:txBody>
          <a:bodyPr/>
          <a:lstStyle/>
          <a:p>
            <a:r>
              <a:rPr lang="en-US" sz="2000"/>
              <a:t>contacted by local name server that can not resolve name</a:t>
            </a:r>
            <a:endParaRPr lang="en-US" sz="2000"/>
          </a:p>
          <a:p>
            <a:r>
              <a:rPr lang="en-US" sz="2000"/>
              <a:t>root name server:</a:t>
            </a:r>
            <a:endParaRPr lang="en-US" sz="2000"/>
          </a:p>
          <a:p>
            <a:pPr lvl="1"/>
            <a:r>
              <a:rPr lang="en-US" sz="2000"/>
              <a:t>contacts authoritative name server if name mapping not known</a:t>
            </a:r>
            <a:endParaRPr lang="en-US" sz="2000"/>
          </a:p>
          <a:p>
            <a:pPr lvl="1"/>
            <a:r>
              <a:rPr lang="en-US" sz="2000"/>
              <a:t>gets mapping</a:t>
            </a:r>
            <a:endParaRPr lang="en-US" sz="2000"/>
          </a:p>
          <a:p>
            <a:pPr lvl="1"/>
            <a:r>
              <a:rPr lang="en-US" sz="2000"/>
              <a:t>returns mapping to local name server</a:t>
            </a:r>
            <a:endParaRPr lang="en-US" sz="2000"/>
          </a:p>
        </p:txBody>
      </p:sp>
      <p:sp>
        <p:nvSpPr>
          <p:cNvPr id="82950" name="Rectangle 20"/>
          <p:cNvSpPr>
            <a:spLocks noChangeArrowheads="1"/>
          </p:cNvSpPr>
          <p:nvPr/>
        </p:nvSpPr>
        <p:spPr bwMode="auto">
          <a:xfrm>
            <a:off x="6186488" y="5022850"/>
            <a:ext cx="2681287" cy="811213"/>
          </a:xfrm>
          <a:prstGeom prst="rect">
            <a:avLst/>
          </a:prstGeom>
          <a:noFill/>
          <a:ln w="9525">
            <a:noFill/>
            <a:miter lim="800000"/>
          </a:ln>
        </p:spPr>
        <p:txBody>
          <a:bodyPr/>
          <a:lstStyle/>
          <a:p>
            <a:pPr marL="342900" indent="-342900"/>
            <a:r>
              <a:rPr lang="en-US" sz="2000"/>
              <a:t>    13 root name servers worldwide</a:t>
            </a:r>
            <a:endParaRPr lang="en-US"/>
          </a:p>
        </p:txBody>
      </p:sp>
      <p:sp>
        <p:nvSpPr>
          <p:cNvPr id="82951" name="AutoShape 22"/>
          <p:cNvSpPr>
            <a:spLocks noChangeAspect="1" noChangeArrowheads="1"/>
          </p:cNvSpPr>
          <p:nvPr/>
        </p:nvSpPr>
        <p:spPr bwMode="auto">
          <a:xfrm>
            <a:off x="481013" y="3581400"/>
            <a:ext cx="5784850" cy="2974975"/>
          </a:xfrm>
          <a:prstGeom prst="rect">
            <a:avLst/>
          </a:prstGeom>
          <a:noFill/>
          <a:ln w="9525">
            <a:noFill/>
            <a:miter lim="800000"/>
          </a:ln>
        </p:spPr>
        <p:txBody>
          <a:bodyPr/>
          <a:lstStyle/>
          <a:p>
            <a:endParaRPr lang="en-US"/>
          </a:p>
        </p:txBody>
      </p:sp>
      <p:pic>
        <p:nvPicPr>
          <p:cNvPr id="82952" name="Picture 23" descr="worldf"/>
          <p:cNvPicPr>
            <a:picLocks noChangeAspect="1" noChangeArrowheads="1"/>
          </p:cNvPicPr>
          <p:nvPr/>
        </p:nvPicPr>
        <p:blipFill>
          <a:blip r:embed="rId1"/>
          <a:srcRect/>
          <a:stretch>
            <a:fillRect/>
          </a:stretch>
        </p:blipFill>
        <p:spPr bwMode="auto">
          <a:xfrm>
            <a:off x="1801813" y="4378325"/>
            <a:ext cx="4319587" cy="2178050"/>
          </a:xfrm>
          <a:prstGeom prst="rect">
            <a:avLst/>
          </a:prstGeom>
          <a:noFill/>
          <a:ln w="9525">
            <a:noFill/>
            <a:miter lim="800000"/>
            <a:headEnd/>
            <a:tailEnd/>
          </a:ln>
        </p:spPr>
      </p:pic>
      <p:sp>
        <p:nvSpPr>
          <p:cNvPr id="82953" name="Freeform 24"/>
          <p:cNvSpPr/>
          <p:nvPr/>
        </p:nvSpPr>
        <p:spPr bwMode="auto">
          <a:xfrm>
            <a:off x="2179638" y="3725863"/>
            <a:ext cx="642937" cy="1235075"/>
          </a:xfrm>
          <a:custGeom>
            <a:avLst/>
            <a:gdLst>
              <a:gd name="T0" fmla="*/ 0 w 963"/>
              <a:gd name="T1" fmla="*/ 0 h 1893"/>
              <a:gd name="T2" fmla="*/ 0 w 963"/>
              <a:gd name="T3" fmla="*/ 930 h 1893"/>
              <a:gd name="T4" fmla="*/ 963 w 963"/>
              <a:gd name="T5" fmla="*/ 1893 h 1893"/>
              <a:gd name="T6" fmla="*/ 0 60000 65536"/>
              <a:gd name="T7" fmla="*/ 0 60000 65536"/>
              <a:gd name="T8" fmla="*/ 0 60000 65536"/>
              <a:gd name="T9" fmla="*/ 0 w 963"/>
              <a:gd name="T10" fmla="*/ 0 h 1893"/>
              <a:gd name="T11" fmla="*/ 963 w 963"/>
              <a:gd name="T12" fmla="*/ 1893 h 1893"/>
            </a:gdLst>
            <a:ahLst/>
            <a:cxnLst>
              <a:cxn ang="T6">
                <a:pos x="T0" y="T1"/>
              </a:cxn>
              <a:cxn ang="T7">
                <a:pos x="T2" y="T3"/>
              </a:cxn>
              <a:cxn ang="T8">
                <a:pos x="T4" y="T5"/>
              </a:cxn>
            </a:cxnLst>
            <a:rect l="T9" t="T10" r="T11" b="T12"/>
            <a:pathLst>
              <a:path w="963" h="1893">
                <a:moveTo>
                  <a:pt x="0" y="0"/>
                </a:moveTo>
                <a:lnTo>
                  <a:pt x="0" y="930"/>
                </a:lnTo>
                <a:lnTo>
                  <a:pt x="963" y="1893"/>
                </a:lnTo>
              </a:path>
            </a:pathLst>
          </a:custGeom>
          <a:noFill/>
          <a:ln w="19050">
            <a:solidFill>
              <a:srgbClr val="000000"/>
            </a:solidFill>
            <a:round/>
            <a:tailEnd type="triangle" w="med" len="med"/>
          </a:ln>
        </p:spPr>
        <p:txBody>
          <a:bodyPr/>
          <a:lstStyle/>
          <a:p>
            <a:endParaRPr lang="en-US"/>
          </a:p>
        </p:txBody>
      </p:sp>
      <p:sp>
        <p:nvSpPr>
          <p:cNvPr id="82954" name="Text Box 25"/>
          <p:cNvSpPr txBox="1">
            <a:spLocks noChangeArrowheads="1"/>
          </p:cNvSpPr>
          <p:nvPr/>
        </p:nvSpPr>
        <p:spPr bwMode="auto">
          <a:xfrm>
            <a:off x="701675" y="5654675"/>
            <a:ext cx="2024063" cy="368300"/>
          </a:xfrm>
          <a:prstGeom prst="rect">
            <a:avLst/>
          </a:prstGeom>
          <a:noFill/>
          <a:ln w="9525">
            <a:noFill/>
            <a:miter lim="800000"/>
          </a:ln>
        </p:spPr>
        <p:txBody>
          <a:bodyPr lIns="71323" tIns="35662" rIns="71323" bIns="35662"/>
          <a:lstStyle/>
          <a:p>
            <a:pPr>
              <a:spcBef>
                <a:spcPct val="0"/>
              </a:spcBef>
              <a:buClrTx/>
              <a:buSzTx/>
              <a:buFontTx/>
              <a:buNone/>
            </a:pPr>
            <a:r>
              <a:rPr lang="en-US" sz="1000">
                <a:solidFill>
                  <a:srgbClr val="000000"/>
                </a:solidFill>
                <a:latin typeface="Arial" panose="020B0604020202020204" pitchFamily="34" charset="0"/>
              </a:rPr>
              <a:t>b USC-ISI Marina del Rey, CA</a:t>
            </a:r>
            <a:endParaRPr lang="en-US" sz="1000">
              <a:solidFill>
                <a:srgbClr val="000000"/>
              </a:solidFill>
              <a:latin typeface="Arial" panose="020B0604020202020204" pitchFamily="34" charset="0"/>
            </a:endParaRPr>
          </a:p>
          <a:p>
            <a:pPr>
              <a:spcBef>
                <a:spcPct val="0"/>
              </a:spcBef>
              <a:buClrTx/>
              <a:buSzTx/>
              <a:buFontTx/>
              <a:buNone/>
            </a:pPr>
            <a:r>
              <a:rPr lang="en-US" sz="1000">
                <a:solidFill>
                  <a:srgbClr val="000000"/>
                </a:solidFill>
                <a:latin typeface="Arial" panose="020B0604020202020204" pitchFamily="34" charset="0"/>
              </a:rPr>
              <a:t>l  ICANN Los Angeles, CA</a:t>
            </a:r>
            <a:endParaRPr lang="en-US" sz="1000">
              <a:solidFill>
                <a:srgbClr val="000000"/>
              </a:solidFill>
              <a:latin typeface="Arial" panose="020B0604020202020204" pitchFamily="34" charset="0"/>
            </a:endParaRPr>
          </a:p>
          <a:p>
            <a:pPr algn="ctr">
              <a:spcBef>
                <a:spcPct val="0"/>
              </a:spcBef>
              <a:buClrTx/>
              <a:buSzTx/>
              <a:buFontTx/>
              <a:buNone/>
            </a:pPr>
            <a:endParaRPr lang="en-US">
              <a:latin typeface="Times New Roman" panose="02020603050405020304" pitchFamily="18" charset="0"/>
            </a:endParaRPr>
          </a:p>
        </p:txBody>
      </p:sp>
      <p:sp>
        <p:nvSpPr>
          <p:cNvPr id="82955" name="Freeform 26"/>
          <p:cNvSpPr/>
          <p:nvPr/>
        </p:nvSpPr>
        <p:spPr bwMode="auto">
          <a:xfrm>
            <a:off x="1527175" y="5113338"/>
            <a:ext cx="762000" cy="546100"/>
          </a:xfrm>
          <a:custGeom>
            <a:avLst/>
            <a:gdLst>
              <a:gd name="T0" fmla="*/ 0 w 582"/>
              <a:gd name="T1" fmla="*/ 426 h 426"/>
              <a:gd name="T2" fmla="*/ 582 w 582"/>
              <a:gd name="T3" fmla="*/ 0 h 426"/>
              <a:gd name="T4" fmla="*/ 0 60000 65536"/>
              <a:gd name="T5" fmla="*/ 0 60000 65536"/>
              <a:gd name="T6" fmla="*/ 0 w 582"/>
              <a:gd name="T7" fmla="*/ 0 h 426"/>
              <a:gd name="T8" fmla="*/ 582 w 582"/>
              <a:gd name="T9" fmla="*/ 426 h 426"/>
            </a:gdLst>
            <a:ahLst/>
            <a:cxnLst>
              <a:cxn ang="T4">
                <a:pos x="T0" y="T1"/>
              </a:cxn>
              <a:cxn ang="T5">
                <a:pos x="T2" y="T3"/>
              </a:cxn>
            </a:cxnLst>
            <a:rect l="T6" t="T7" r="T8" b="T9"/>
            <a:pathLst>
              <a:path w="582" h="426">
                <a:moveTo>
                  <a:pt x="0" y="426"/>
                </a:moveTo>
                <a:lnTo>
                  <a:pt x="582" y="0"/>
                </a:lnTo>
              </a:path>
            </a:pathLst>
          </a:custGeom>
          <a:noFill/>
          <a:ln w="19050">
            <a:solidFill>
              <a:srgbClr val="000000"/>
            </a:solidFill>
            <a:round/>
            <a:tailEnd type="triangle" w="med" len="med"/>
          </a:ln>
        </p:spPr>
        <p:txBody>
          <a:bodyPr/>
          <a:lstStyle/>
          <a:p>
            <a:endParaRPr lang="en-US"/>
          </a:p>
        </p:txBody>
      </p:sp>
      <p:sp>
        <p:nvSpPr>
          <p:cNvPr id="82956" name="Text Box 27"/>
          <p:cNvSpPr txBox="1">
            <a:spLocks noChangeArrowheads="1"/>
          </p:cNvSpPr>
          <p:nvPr/>
        </p:nvSpPr>
        <p:spPr bwMode="auto">
          <a:xfrm>
            <a:off x="204788" y="4333875"/>
            <a:ext cx="1949450" cy="368300"/>
          </a:xfrm>
          <a:prstGeom prst="rect">
            <a:avLst/>
          </a:prstGeom>
          <a:noFill/>
          <a:ln w="9525">
            <a:noFill/>
            <a:miter lim="800000"/>
          </a:ln>
        </p:spPr>
        <p:txBody>
          <a:bodyPr lIns="71323" tIns="35662" rIns="71323" bIns="35662"/>
          <a:lstStyle/>
          <a:p>
            <a:pPr>
              <a:spcBef>
                <a:spcPct val="0"/>
              </a:spcBef>
              <a:buClrTx/>
              <a:buSzTx/>
              <a:buFontTx/>
              <a:buNone/>
            </a:pPr>
            <a:r>
              <a:rPr lang="en-US" sz="1000">
                <a:solidFill>
                  <a:srgbClr val="000000"/>
                </a:solidFill>
                <a:latin typeface="Arial" panose="020B0604020202020204" pitchFamily="34" charset="0"/>
              </a:rPr>
              <a:t>e NASA Mt View, CA</a:t>
            </a:r>
            <a:endParaRPr lang="en-US" sz="1000">
              <a:solidFill>
                <a:srgbClr val="000000"/>
              </a:solidFill>
              <a:latin typeface="Arial" panose="020B0604020202020204" pitchFamily="34" charset="0"/>
            </a:endParaRPr>
          </a:p>
          <a:p>
            <a:pPr>
              <a:spcBef>
                <a:spcPct val="0"/>
              </a:spcBef>
              <a:buClrTx/>
              <a:buSzTx/>
              <a:buFontTx/>
              <a:buNone/>
            </a:pPr>
            <a:r>
              <a:rPr lang="en-US" sz="1000">
                <a:solidFill>
                  <a:srgbClr val="000000"/>
                </a:solidFill>
                <a:latin typeface="Arial" panose="020B0604020202020204" pitchFamily="34" charset="0"/>
              </a:rPr>
              <a:t>f  Internet Software C. Palo</a:t>
            </a:r>
            <a:r>
              <a:rPr lang="en-US" sz="900">
                <a:solidFill>
                  <a:srgbClr val="000000"/>
                </a:solidFill>
                <a:latin typeface="Arial" panose="020B0604020202020204" pitchFamily="34" charset="0"/>
              </a:rPr>
              <a:t> Alto, CA (and 36 other locations)</a:t>
            </a:r>
            <a:endParaRPr lang="en-US" sz="900">
              <a:solidFill>
                <a:srgbClr val="000000"/>
              </a:solidFill>
              <a:latin typeface="Arial" panose="020B0604020202020204" pitchFamily="34" charset="0"/>
            </a:endParaRPr>
          </a:p>
          <a:p>
            <a:pPr algn="ctr">
              <a:spcBef>
                <a:spcPct val="0"/>
              </a:spcBef>
              <a:buClrTx/>
              <a:buSzTx/>
              <a:buFontTx/>
              <a:buNone/>
            </a:pPr>
            <a:endParaRPr lang="en-US">
              <a:latin typeface="Times New Roman" panose="02020603050405020304" pitchFamily="18" charset="0"/>
            </a:endParaRPr>
          </a:p>
        </p:txBody>
      </p:sp>
      <p:sp>
        <p:nvSpPr>
          <p:cNvPr id="82957" name="Freeform 28"/>
          <p:cNvSpPr/>
          <p:nvPr/>
        </p:nvSpPr>
        <p:spPr bwMode="auto">
          <a:xfrm flipV="1">
            <a:off x="1423988" y="4868863"/>
            <a:ext cx="817562" cy="184150"/>
          </a:xfrm>
          <a:custGeom>
            <a:avLst/>
            <a:gdLst>
              <a:gd name="T0" fmla="*/ 0 w 582"/>
              <a:gd name="T1" fmla="*/ 426 h 426"/>
              <a:gd name="T2" fmla="*/ 582 w 582"/>
              <a:gd name="T3" fmla="*/ 0 h 426"/>
              <a:gd name="T4" fmla="*/ 0 60000 65536"/>
              <a:gd name="T5" fmla="*/ 0 60000 65536"/>
              <a:gd name="T6" fmla="*/ 0 w 582"/>
              <a:gd name="T7" fmla="*/ 0 h 426"/>
              <a:gd name="T8" fmla="*/ 582 w 582"/>
              <a:gd name="T9" fmla="*/ 426 h 426"/>
            </a:gdLst>
            <a:ahLst/>
            <a:cxnLst>
              <a:cxn ang="T4">
                <a:pos x="T0" y="T1"/>
              </a:cxn>
              <a:cxn ang="T5">
                <a:pos x="T2" y="T3"/>
              </a:cxn>
            </a:cxnLst>
            <a:rect l="T6" t="T7" r="T8" b="T9"/>
            <a:pathLst>
              <a:path w="582" h="426">
                <a:moveTo>
                  <a:pt x="0" y="426"/>
                </a:moveTo>
                <a:lnTo>
                  <a:pt x="582" y="0"/>
                </a:lnTo>
              </a:path>
            </a:pathLst>
          </a:custGeom>
          <a:noFill/>
          <a:ln w="19050">
            <a:solidFill>
              <a:srgbClr val="000000"/>
            </a:solidFill>
            <a:round/>
            <a:tailEnd type="triangle" w="med" len="med"/>
          </a:ln>
        </p:spPr>
        <p:txBody>
          <a:bodyPr/>
          <a:lstStyle/>
          <a:p>
            <a:endParaRPr lang="en-US"/>
          </a:p>
        </p:txBody>
      </p:sp>
      <p:sp>
        <p:nvSpPr>
          <p:cNvPr id="82958" name="Text Box 29"/>
          <p:cNvSpPr txBox="1">
            <a:spLocks noChangeArrowheads="1"/>
          </p:cNvSpPr>
          <p:nvPr/>
        </p:nvSpPr>
        <p:spPr bwMode="auto">
          <a:xfrm>
            <a:off x="4297363" y="3973513"/>
            <a:ext cx="1997075" cy="223837"/>
          </a:xfrm>
          <a:prstGeom prst="rect">
            <a:avLst/>
          </a:prstGeom>
          <a:noFill/>
          <a:ln w="9525">
            <a:noFill/>
            <a:miter lim="800000"/>
          </a:ln>
        </p:spPr>
        <p:txBody>
          <a:bodyPr lIns="71323" tIns="35662" rIns="71323" bIns="35662"/>
          <a:lstStyle/>
          <a:p>
            <a:pPr algn="r">
              <a:spcBef>
                <a:spcPct val="0"/>
              </a:spcBef>
              <a:buClrTx/>
              <a:buSzTx/>
              <a:buFontTx/>
              <a:buNone/>
            </a:pPr>
            <a:r>
              <a:rPr lang="en-US" sz="1000">
                <a:solidFill>
                  <a:srgbClr val="000000"/>
                </a:solidFill>
                <a:latin typeface="Arial" panose="020B0604020202020204" pitchFamily="34" charset="0"/>
              </a:rPr>
              <a:t>i </a:t>
            </a:r>
            <a:r>
              <a:rPr lang="en-US" sz="1000">
                <a:latin typeface="Arial" panose="020B0604020202020204" pitchFamily="34" charset="0"/>
              </a:rPr>
              <a:t>Autonomica,</a:t>
            </a:r>
            <a:r>
              <a:rPr lang="en-US" sz="1000">
                <a:solidFill>
                  <a:srgbClr val="000000"/>
                </a:solidFill>
                <a:latin typeface="Arial" panose="020B0604020202020204" pitchFamily="34" charset="0"/>
              </a:rPr>
              <a:t> Stockholm (plus     28 other locations)</a:t>
            </a:r>
            <a:endParaRPr lang="en-US" sz="1000">
              <a:solidFill>
                <a:srgbClr val="000000"/>
              </a:solidFill>
              <a:latin typeface="Arial" panose="020B0604020202020204" pitchFamily="34" charset="0"/>
            </a:endParaRPr>
          </a:p>
        </p:txBody>
      </p:sp>
      <p:sp>
        <p:nvSpPr>
          <p:cNvPr id="82959" name="Freeform 30"/>
          <p:cNvSpPr/>
          <p:nvPr/>
        </p:nvSpPr>
        <p:spPr bwMode="auto">
          <a:xfrm>
            <a:off x="3932238" y="4068763"/>
            <a:ext cx="446087" cy="654050"/>
          </a:xfrm>
          <a:custGeom>
            <a:avLst/>
            <a:gdLst>
              <a:gd name="T0" fmla="*/ 666 w 666"/>
              <a:gd name="T1" fmla="*/ 0 h 1005"/>
              <a:gd name="T2" fmla="*/ 0 w 666"/>
              <a:gd name="T3" fmla="*/ 1005 h 1005"/>
              <a:gd name="T4" fmla="*/ 0 60000 65536"/>
              <a:gd name="T5" fmla="*/ 0 60000 65536"/>
              <a:gd name="T6" fmla="*/ 0 w 666"/>
              <a:gd name="T7" fmla="*/ 0 h 1005"/>
              <a:gd name="T8" fmla="*/ 666 w 666"/>
              <a:gd name="T9" fmla="*/ 1005 h 1005"/>
            </a:gdLst>
            <a:ahLst/>
            <a:cxnLst>
              <a:cxn ang="T4">
                <a:pos x="T0" y="T1"/>
              </a:cxn>
              <a:cxn ang="T5">
                <a:pos x="T2" y="T3"/>
              </a:cxn>
            </a:cxnLst>
            <a:rect l="T6" t="T7" r="T8" b="T9"/>
            <a:pathLst>
              <a:path w="666" h="1005">
                <a:moveTo>
                  <a:pt x="666" y="0"/>
                </a:moveTo>
                <a:lnTo>
                  <a:pt x="0" y="1005"/>
                </a:lnTo>
              </a:path>
            </a:pathLst>
          </a:custGeom>
          <a:noFill/>
          <a:ln w="19050">
            <a:solidFill>
              <a:srgbClr val="000000"/>
            </a:solidFill>
            <a:round/>
            <a:tailEnd type="triangle" w="med" len="med"/>
          </a:ln>
        </p:spPr>
        <p:txBody>
          <a:bodyPr/>
          <a:lstStyle/>
          <a:p>
            <a:endParaRPr lang="en-US"/>
          </a:p>
        </p:txBody>
      </p:sp>
      <p:sp>
        <p:nvSpPr>
          <p:cNvPr id="82960" name="Text Box 31"/>
          <p:cNvSpPr txBox="1">
            <a:spLocks noChangeArrowheads="1"/>
          </p:cNvSpPr>
          <p:nvPr/>
        </p:nvSpPr>
        <p:spPr bwMode="auto">
          <a:xfrm>
            <a:off x="4333875" y="3684588"/>
            <a:ext cx="2519363" cy="214312"/>
          </a:xfrm>
          <a:prstGeom prst="rect">
            <a:avLst/>
          </a:prstGeom>
          <a:noFill/>
          <a:ln w="9525">
            <a:noFill/>
            <a:miter lim="800000"/>
          </a:ln>
        </p:spPr>
        <p:txBody>
          <a:bodyPr lIns="71323" tIns="35662" rIns="71323" bIns="35662"/>
          <a:lstStyle/>
          <a:p>
            <a:pPr>
              <a:spcBef>
                <a:spcPct val="0"/>
              </a:spcBef>
              <a:buClrTx/>
              <a:buSzTx/>
              <a:buFontTx/>
              <a:buNone/>
            </a:pPr>
            <a:r>
              <a:rPr lang="en-US" sz="1000">
                <a:solidFill>
                  <a:srgbClr val="000000"/>
                </a:solidFill>
                <a:latin typeface="Arial" panose="020B0604020202020204" pitchFamily="34" charset="0"/>
              </a:rPr>
              <a:t>k RIPE London (also 16 other locations)</a:t>
            </a:r>
            <a:endParaRPr lang="en-US">
              <a:latin typeface="Times New Roman" panose="02020603050405020304" pitchFamily="18" charset="0"/>
            </a:endParaRPr>
          </a:p>
        </p:txBody>
      </p:sp>
      <p:sp>
        <p:nvSpPr>
          <p:cNvPr id="82961" name="Freeform 32"/>
          <p:cNvSpPr/>
          <p:nvPr/>
        </p:nvSpPr>
        <p:spPr bwMode="auto">
          <a:xfrm>
            <a:off x="3751263" y="3862388"/>
            <a:ext cx="615950" cy="946150"/>
          </a:xfrm>
          <a:custGeom>
            <a:avLst/>
            <a:gdLst>
              <a:gd name="T0" fmla="*/ 922 w 922"/>
              <a:gd name="T1" fmla="*/ 0 h 1448"/>
              <a:gd name="T2" fmla="*/ 0 w 922"/>
              <a:gd name="T3" fmla="*/ 1448 h 1448"/>
              <a:gd name="T4" fmla="*/ 0 60000 65536"/>
              <a:gd name="T5" fmla="*/ 0 60000 65536"/>
              <a:gd name="T6" fmla="*/ 0 w 922"/>
              <a:gd name="T7" fmla="*/ 0 h 1448"/>
              <a:gd name="T8" fmla="*/ 922 w 922"/>
              <a:gd name="T9" fmla="*/ 1448 h 1448"/>
            </a:gdLst>
            <a:ahLst/>
            <a:cxnLst>
              <a:cxn ang="T4">
                <a:pos x="T0" y="T1"/>
              </a:cxn>
              <a:cxn ang="T5">
                <a:pos x="T2" y="T3"/>
              </a:cxn>
            </a:cxnLst>
            <a:rect l="T6" t="T7" r="T8" b="T9"/>
            <a:pathLst>
              <a:path w="922" h="1448">
                <a:moveTo>
                  <a:pt x="922" y="0"/>
                </a:moveTo>
                <a:lnTo>
                  <a:pt x="0" y="1448"/>
                </a:lnTo>
              </a:path>
            </a:pathLst>
          </a:custGeom>
          <a:noFill/>
          <a:ln w="19050">
            <a:solidFill>
              <a:srgbClr val="000000"/>
            </a:solidFill>
            <a:round/>
            <a:tailEnd type="triangle" w="med" len="med"/>
          </a:ln>
        </p:spPr>
        <p:txBody>
          <a:bodyPr/>
          <a:lstStyle/>
          <a:p>
            <a:endParaRPr lang="en-US"/>
          </a:p>
        </p:txBody>
      </p:sp>
      <p:sp>
        <p:nvSpPr>
          <p:cNvPr id="82962" name="Text Box 33"/>
          <p:cNvSpPr txBox="1">
            <a:spLocks noChangeArrowheads="1"/>
          </p:cNvSpPr>
          <p:nvPr/>
        </p:nvSpPr>
        <p:spPr bwMode="auto">
          <a:xfrm>
            <a:off x="5737225" y="4279900"/>
            <a:ext cx="1766888" cy="233363"/>
          </a:xfrm>
          <a:prstGeom prst="rect">
            <a:avLst/>
          </a:prstGeom>
          <a:noFill/>
          <a:ln w="9525">
            <a:noFill/>
            <a:miter lim="800000"/>
          </a:ln>
        </p:spPr>
        <p:txBody>
          <a:bodyPr lIns="71323" tIns="35662" rIns="71323" bIns="35662"/>
          <a:lstStyle/>
          <a:p>
            <a:pPr>
              <a:spcBef>
                <a:spcPct val="0"/>
              </a:spcBef>
              <a:buClrTx/>
              <a:buSzTx/>
              <a:buFontTx/>
              <a:buNone/>
            </a:pPr>
            <a:r>
              <a:rPr lang="en-US" sz="1000">
                <a:solidFill>
                  <a:srgbClr val="000000"/>
                </a:solidFill>
                <a:latin typeface="Arial" panose="020B0604020202020204" pitchFamily="34" charset="0"/>
              </a:rPr>
              <a:t>m WIDE Tokyo (also Seoul, Paris, SF)</a:t>
            </a:r>
            <a:endParaRPr lang="en-US">
              <a:latin typeface="Times New Roman" panose="02020603050405020304" pitchFamily="18" charset="0"/>
            </a:endParaRPr>
          </a:p>
        </p:txBody>
      </p:sp>
      <p:sp>
        <p:nvSpPr>
          <p:cNvPr id="82963" name="Freeform 34"/>
          <p:cNvSpPr/>
          <p:nvPr/>
        </p:nvSpPr>
        <p:spPr bwMode="auto">
          <a:xfrm>
            <a:off x="5575300" y="4598988"/>
            <a:ext cx="400050" cy="431800"/>
          </a:xfrm>
          <a:custGeom>
            <a:avLst/>
            <a:gdLst>
              <a:gd name="T0" fmla="*/ 252 w 252"/>
              <a:gd name="T1" fmla="*/ 0 h 462"/>
              <a:gd name="T2" fmla="*/ 0 w 252"/>
              <a:gd name="T3" fmla="*/ 462 h 462"/>
              <a:gd name="T4" fmla="*/ 0 60000 65536"/>
              <a:gd name="T5" fmla="*/ 0 60000 65536"/>
              <a:gd name="T6" fmla="*/ 0 w 252"/>
              <a:gd name="T7" fmla="*/ 0 h 462"/>
              <a:gd name="T8" fmla="*/ 252 w 252"/>
              <a:gd name="T9" fmla="*/ 462 h 462"/>
            </a:gdLst>
            <a:ahLst/>
            <a:cxnLst>
              <a:cxn ang="T4">
                <a:pos x="T0" y="T1"/>
              </a:cxn>
              <a:cxn ang="T5">
                <a:pos x="T2" y="T3"/>
              </a:cxn>
            </a:cxnLst>
            <a:rect l="T6" t="T7" r="T8" b="T9"/>
            <a:pathLst>
              <a:path w="252" h="462">
                <a:moveTo>
                  <a:pt x="252" y="0"/>
                </a:moveTo>
                <a:lnTo>
                  <a:pt x="0" y="462"/>
                </a:lnTo>
              </a:path>
            </a:pathLst>
          </a:custGeom>
          <a:noFill/>
          <a:ln w="19050">
            <a:solidFill>
              <a:srgbClr val="000000"/>
            </a:solidFill>
            <a:round/>
            <a:tailEnd type="triangle" w="med" len="med"/>
          </a:ln>
        </p:spPr>
        <p:txBody>
          <a:bodyPr/>
          <a:lstStyle/>
          <a:p>
            <a:endParaRPr lang="en-US"/>
          </a:p>
        </p:txBody>
      </p:sp>
      <p:sp>
        <p:nvSpPr>
          <p:cNvPr id="82964" name="Text Box 35"/>
          <p:cNvSpPr txBox="1">
            <a:spLocks noChangeArrowheads="1"/>
          </p:cNvSpPr>
          <p:nvPr/>
        </p:nvSpPr>
        <p:spPr bwMode="auto">
          <a:xfrm>
            <a:off x="2162175" y="3367088"/>
            <a:ext cx="2598738" cy="796925"/>
          </a:xfrm>
          <a:prstGeom prst="rect">
            <a:avLst/>
          </a:prstGeom>
          <a:noFill/>
          <a:ln w="9525">
            <a:noFill/>
            <a:miter lim="800000"/>
          </a:ln>
        </p:spPr>
        <p:txBody>
          <a:bodyPr lIns="71323" tIns="35662" rIns="71323" bIns="35662"/>
          <a:lstStyle/>
          <a:p>
            <a:pPr>
              <a:spcBef>
                <a:spcPct val="0"/>
              </a:spcBef>
              <a:buClrTx/>
              <a:buSzTx/>
              <a:buFontTx/>
              <a:buNone/>
            </a:pPr>
            <a:r>
              <a:rPr lang="en-US" sz="1000">
                <a:solidFill>
                  <a:srgbClr val="000000"/>
                </a:solidFill>
                <a:latin typeface="Arial" panose="020B0604020202020204" pitchFamily="34" charset="0"/>
              </a:rPr>
              <a:t>a Verisign, Dulles, VA</a:t>
            </a:r>
            <a:endParaRPr lang="en-US" sz="1000">
              <a:solidFill>
                <a:srgbClr val="000000"/>
              </a:solidFill>
              <a:latin typeface="Arial" panose="020B0604020202020204" pitchFamily="34" charset="0"/>
            </a:endParaRPr>
          </a:p>
          <a:p>
            <a:pPr>
              <a:spcBef>
                <a:spcPct val="0"/>
              </a:spcBef>
              <a:buClrTx/>
              <a:buSzTx/>
              <a:buFontTx/>
              <a:buNone/>
            </a:pPr>
            <a:r>
              <a:rPr lang="en-US" sz="1000">
                <a:solidFill>
                  <a:srgbClr val="000000"/>
                </a:solidFill>
                <a:latin typeface="Arial" panose="020B0604020202020204" pitchFamily="34" charset="0"/>
              </a:rPr>
              <a:t>c Cogent, Herndon, VA (also LA)</a:t>
            </a:r>
            <a:endParaRPr lang="en-US" sz="1000">
              <a:solidFill>
                <a:srgbClr val="000000"/>
              </a:solidFill>
              <a:latin typeface="Arial" panose="020B0604020202020204" pitchFamily="34" charset="0"/>
            </a:endParaRPr>
          </a:p>
          <a:p>
            <a:pPr>
              <a:spcBef>
                <a:spcPct val="0"/>
              </a:spcBef>
              <a:buClrTx/>
              <a:buSzTx/>
              <a:buFontTx/>
              <a:buNone/>
            </a:pPr>
            <a:r>
              <a:rPr lang="en-US" sz="1000">
                <a:solidFill>
                  <a:srgbClr val="000000"/>
                </a:solidFill>
                <a:latin typeface="Arial" panose="020B0604020202020204" pitchFamily="34" charset="0"/>
              </a:rPr>
              <a:t>d U Maryland College Park, MD</a:t>
            </a:r>
            <a:endParaRPr lang="en-US" sz="1000">
              <a:solidFill>
                <a:srgbClr val="000000"/>
              </a:solidFill>
              <a:latin typeface="Arial" panose="020B0604020202020204" pitchFamily="34" charset="0"/>
            </a:endParaRPr>
          </a:p>
          <a:p>
            <a:pPr>
              <a:spcBef>
                <a:spcPct val="0"/>
              </a:spcBef>
              <a:buClrTx/>
              <a:buSzTx/>
              <a:buFontTx/>
              <a:buNone/>
            </a:pPr>
            <a:r>
              <a:rPr lang="en-US" sz="1000">
                <a:solidFill>
                  <a:srgbClr val="000000"/>
                </a:solidFill>
                <a:latin typeface="Arial" panose="020B0604020202020204" pitchFamily="34" charset="0"/>
              </a:rPr>
              <a:t>g US DoD Vienna, VA</a:t>
            </a:r>
            <a:endParaRPr lang="en-US" sz="1000">
              <a:solidFill>
                <a:srgbClr val="000000"/>
              </a:solidFill>
              <a:latin typeface="Arial" panose="020B0604020202020204" pitchFamily="34" charset="0"/>
            </a:endParaRPr>
          </a:p>
          <a:p>
            <a:pPr>
              <a:spcBef>
                <a:spcPct val="0"/>
              </a:spcBef>
              <a:buClrTx/>
              <a:buSzTx/>
              <a:buFontTx/>
              <a:buNone/>
            </a:pPr>
            <a:r>
              <a:rPr lang="en-US" sz="1000">
                <a:solidFill>
                  <a:srgbClr val="000000"/>
                </a:solidFill>
                <a:latin typeface="Arial" panose="020B0604020202020204" pitchFamily="34" charset="0"/>
              </a:rPr>
              <a:t>h ARL Aberdeen, MD</a:t>
            </a:r>
            <a:endParaRPr lang="en-US" sz="1000">
              <a:solidFill>
                <a:srgbClr val="000000"/>
              </a:solidFill>
              <a:latin typeface="Arial" panose="020B0604020202020204" pitchFamily="34" charset="0"/>
            </a:endParaRPr>
          </a:p>
          <a:p>
            <a:pPr>
              <a:spcBef>
                <a:spcPct val="0"/>
              </a:spcBef>
              <a:buClrTx/>
              <a:buSzTx/>
              <a:buFontTx/>
              <a:buNone/>
            </a:pPr>
            <a:r>
              <a:rPr lang="en-US" sz="900">
                <a:solidFill>
                  <a:srgbClr val="000000"/>
                </a:solidFill>
                <a:latin typeface="Arial" panose="020B0604020202020204" pitchFamily="34" charset="0"/>
              </a:rPr>
              <a:t>j  Verisign, ( 21 locations)</a:t>
            </a:r>
            <a:endParaRPr lang="en-US" sz="900">
              <a:solidFill>
                <a:srgbClr val="000000"/>
              </a:solidFill>
              <a:latin typeface="Arial" panose="020B0604020202020204" pitchFamily="34" charset="0"/>
            </a:endParaRPr>
          </a:p>
          <a:p>
            <a:pPr algn="ctr">
              <a:spcBef>
                <a:spcPct val="0"/>
              </a:spcBef>
              <a:buClrTx/>
              <a:buSzTx/>
              <a:buFontTx/>
              <a:buNone/>
            </a:pPr>
            <a:endParaRPr lang="en-US">
              <a:latin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3971" name="Slide Number Placeholder 5"/>
          <p:cNvSpPr>
            <a:spLocks noGrp="1"/>
          </p:cNvSpPr>
          <p:nvPr>
            <p:ph type="sldNum" sz="quarter" idx="12"/>
          </p:nvPr>
        </p:nvSpPr>
        <p:spPr>
          <a:noFill/>
        </p:spPr>
        <p:txBody>
          <a:bodyPr/>
          <a:lstStyle/>
          <a:p>
            <a:fld id="{16B035AE-582B-4D28-84F8-69E5891C7538}" type="slidenum">
              <a:rPr lang="en-US"/>
            </a:fld>
            <a:endParaRPr lang="en-US"/>
          </a:p>
        </p:txBody>
      </p:sp>
      <p:sp>
        <p:nvSpPr>
          <p:cNvPr id="83972" name="Rectangle 2"/>
          <p:cNvSpPr>
            <a:spLocks noGrp="1" noChangeArrowheads="1"/>
          </p:cNvSpPr>
          <p:nvPr>
            <p:ph type="title"/>
          </p:nvPr>
        </p:nvSpPr>
        <p:spPr/>
        <p:txBody>
          <a:bodyPr/>
          <a:lstStyle/>
          <a:p>
            <a:r>
              <a:rPr lang="en-US"/>
              <a:t>TLD and Authoritative Servers</a:t>
            </a:r>
            <a:endParaRPr lang="en-US"/>
          </a:p>
        </p:txBody>
      </p:sp>
      <p:sp>
        <p:nvSpPr>
          <p:cNvPr id="83973" name="Rectangle 3"/>
          <p:cNvSpPr>
            <a:spLocks noGrp="1" noChangeArrowheads="1"/>
          </p:cNvSpPr>
          <p:nvPr>
            <p:ph type="body" idx="1"/>
          </p:nvPr>
        </p:nvSpPr>
        <p:spPr>
          <a:xfrm>
            <a:off x="533400" y="1600200"/>
            <a:ext cx="8159750" cy="4648200"/>
          </a:xfrm>
        </p:spPr>
        <p:txBody>
          <a:bodyPr/>
          <a:lstStyle/>
          <a:p>
            <a:pPr>
              <a:lnSpc>
                <a:spcPct val="90000"/>
              </a:lnSpc>
            </a:pPr>
            <a:r>
              <a:rPr lang="en-US">
                <a:solidFill>
                  <a:srgbClr val="FF0000"/>
                </a:solidFill>
              </a:rPr>
              <a:t>Top-level domain (TLD) servers:</a:t>
            </a:r>
            <a:endParaRPr lang="en-US">
              <a:solidFill>
                <a:srgbClr val="FF0000"/>
              </a:solidFill>
            </a:endParaRPr>
          </a:p>
          <a:p>
            <a:pPr lvl="1">
              <a:lnSpc>
                <a:spcPct val="90000"/>
              </a:lnSpc>
            </a:pPr>
            <a:r>
              <a:rPr lang="en-US"/>
              <a:t> responsible for com, org, net, edu, etc, and all top-level country domains uk, fr, ca, jp.</a:t>
            </a:r>
            <a:endParaRPr lang="en-US"/>
          </a:p>
          <a:p>
            <a:pPr lvl="1">
              <a:lnSpc>
                <a:spcPct val="90000"/>
              </a:lnSpc>
            </a:pPr>
            <a:r>
              <a:rPr lang="en-US"/>
              <a:t>Network Solutions maintains servers for com TLD</a:t>
            </a:r>
            <a:endParaRPr lang="en-US"/>
          </a:p>
          <a:p>
            <a:pPr lvl="1">
              <a:lnSpc>
                <a:spcPct val="90000"/>
              </a:lnSpc>
            </a:pPr>
            <a:r>
              <a:rPr lang="en-US"/>
              <a:t>Educause for edu TLD</a:t>
            </a:r>
            <a:endParaRPr lang="en-US"/>
          </a:p>
          <a:p>
            <a:pPr>
              <a:lnSpc>
                <a:spcPct val="90000"/>
              </a:lnSpc>
            </a:pPr>
            <a:r>
              <a:rPr lang="en-US">
                <a:solidFill>
                  <a:srgbClr val="FF0000"/>
                </a:solidFill>
              </a:rPr>
              <a:t>Authoritative DNS servers:</a:t>
            </a:r>
            <a:r>
              <a:rPr lang="en-US"/>
              <a:t> </a:t>
            </a:r>
            <a:endParaRPr lang="en-US"/>
          </a:p>
          <a:p>
            <a:pPr lvl="1">
              <a:lnSpc>
                <a:spcPct val="90000"/>
              </a:lnSpc>
            </a:pPr>
            <a:r>
              <a:rPr lang="en-US"/>
              <a:t>organization’s DNS servers, providing authoritative hostname to IP mappings for organization’s servers (e.g., Web, mail).</a:t>
            </a:r>
            <a:endParaRPr lang="en-US"/>
          </a:p>
          <a:p>
            <a:pPr lvl="1">
              <a:lnSpc>
                <a:spcPct val="90000"/>
              </a:lnSpc>
            </a:pPr>
            <a:r>
              <a:rPr lang="en-US"/>
              <a:t>can be maintained by organization or service provider</a:t>
            </a:r>
            <a:endParaRPr lang="en-US"/>
          </a:p>
          <a:p>
            <a:pPr lvl="1">
              <a:lnSpc>
                <a:spcPct val="90000"/>
              </a:lnSpc>
            </a:pPr>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4995" name="Slide Number Placeholder 5"/>
          <p:cNvSpPr>
            <a:spLocks noGrp="1"/>
          </p:cNvSpPr>
          <p:nvPr>
            <p:ph type="sldNum" sz="quarter" idx="12"/>
          </p:nvPr>
        </p:nvSpPr>
        <p:spPr>
          <a:noFill/>
        </p:spPr>
        <p:txBody>
          <a:bodyPr/>
          <a:lstStyle/>
          <a:p>
            <a:fld id="{38C65BED-6E70-4F32-ADBF-CA9B8C6E3B4F}" type="slidenum">
              <a:rPr lang="en-US"/>
            </a:fld>
            <a:endParaRPr lang="en-US"/>
          </a:p>
        </p:txBody>
      </p:sp>
      <p:sp>
        <p:nvSpPr>
          <p:cNvPr id="84996" name="Rectangle 2"/>
          <p:cNvSpPr>
            <a:spLocks noGrp="1" noChangeArrowheads="1"/>
          </p:cNvSpPr>
          <p:nvPr>
            <p:ph type="title"/>
          </p:nvPr>
        </p:nvSpPr>
        <p:spPr/>
        <p:txBody>
          <a:bodyPr/>
          <a:lstStyle/>
          <a:p>
            <a:r>
              <a:rPr lang="en-US"/>
              <a:t>Local Name Server</a:t>
            </a:r>
            <a:endParaRPr lang="en-US"/>
          </a:p>
        </p:txBody>
      </p:sp>
      <p:sp>
        <p:nvSpPr>
          <p:cNvPr id="84997" name="Rectangle 3"/>
          <p:cNvSpPr>
            <a:spLocks noGrp="1" noChangeArrowheads="1"/>
          </p:cNvSpPr>
          <p:nvPr>
            <p:ph type="body" idx="1"/>
          </p:nvPr>
        </p:nvSpPr>
        <p:spPr/>
        <p:txBody>
          <a:bodyPr/>
          <a:lstStyle/>
          <a:p>
            <a:r>
              <a:rPr lang="en-US"/>
              <a:t>does not strictly belong to hierarchy</a:t>
            </a:r>
            <a:endParaRPr lang="en-US"/>
          </a:p>
          <a:p>
            <a:r>
              <a:rPr lang="en-US"/>
              <a:t>each ISP (residential ISP, company, university) has one.</a:t>
            </a:r>
            <a:endParaRPr lang="en-US"/>
          </a:p>
          <a:p>
            <a:pPr lvl="1"/>
            <a:r>
              <a:rPr lang="en-US"/>
              <a:t>also called “default name server”</a:t>
            </a:r>
            <a:endParaRPr lang="en-US"/>
          </a:p>
          <a:p>
            <a:r>
              <a:rPr lang="en-US"/>
              <a:t>when host makes DNS query, query is sent to its local DNS server</a:t>
            </a:r>
            <a:endParaRPr lang="en-US"/>
          </a:p>
          <a:p>
            <a:pPr lvl="1"/>
            <a:r>
              <a:rPr lang="en-US"/>
              <a:t>acts as proxy, forwards query into hierarchy</a:t>
            </a:r>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7413" name="Slide Number Placeholder 6"/>
          <p:cNvSpPr>
            <a:spLocks noGrp="1"/>
          </p:cNvSpPr>
          <p:nvPr>
            <p:ph type="sldNum" sz="quarter" idx="12"/>
          </p:nvPr>
        </p:nvSpPr>
        <p:spPr>
          <a:noFill/>
        </p:spPr>
        <p:txBody>
          <a:bodyPr/>
          <a:lstStyle/>
          <a:p>
            <a:fld id="{14B2446C-3C94-472E-A302-A2880BE096D6}" type="slidenum">
              <a:rPr lang="en-US"/>
            </a:fld>
            <a:endParaRPr lang="en-US"/>
          </a:p>
        </p:txBody>
      </p:sp>
      <p:graphicFrame>
        <p:nvGraphicFramePr>
          <p:cNvPr id="17410" name="Object 4"/>
          <p:cNvGraphicFramePr>
            <a:graphicFrameLocks noChangeAspect="1"/>
          </p:cNvGraphicFramePr>
          <p:nvPr/>
        </p:nvGraphicFramePr>
        <p:xfrm>
          <a:off x="4989513" y="4303713"/>
          <a:ext cx="833437" cy="638175"/>
        </p:xfrm>
        <a:graphic>
          <a:graphicData uri="http://schemas.openxmlformats.org/presentationml/2006/ole">
            <mc:AlternateContent xmlns:mc="http://schemas.openxmlformats.org/markup-compatibility/2006">
              <mc:Choice xmlns:v="urn:schemas-microsoft-com:vml" Requires="v">
                <p:oleObj spid="_x0000_s17432" name="Clip" r:id="rId1" imgW="18192750" imgH="15087600" progId="">
                  <p:embed/>
                </p:oleObj>
              </mc:Choice>
              <mc:Fallback>
                <p:oleObj name="Clip" r:id="rId1" imgW="18192750" imgH="15087600" progId="">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9513" y="4303713"/>
                        <a:ext cx="833437"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4" name="Text Box 5"/>
          <p:cNvSpPr txBox="1">
            <a:spLocks noChangeArrowheads="1"/>
          </p:cNvSpPr>
          <p:nvPr/>
        </p:nvSpPr>
        <p:spPr bwMode="auto">
          <a:xfrm>
            <a:off x="4157663" y="4881563"/>
            <a:ext cx="1844675" cy="611187"/>
          </a:xfrm>
          <a:prstGeom prst="rect">
            <a:avLst/>
          </a:prstGeom>
          <a:noFill/>
          <a:ln w="9525">
            <a:noFill/>
            <a:miter lim="800000"/>
          </a:ln>
        </p:spPr>
        <p:txBody>
          <a:bodyPr wrap="none">
            <a:spAutoFit/>
          </a:bodyPr>
          <a:lstStyle/>
          <a:p>
            <a:pPr algn="ctr">
              <a:spcBef>
                <a:spcPct val="0"/>
              </a:spcBef>
              <a:buClrTx/>
              <a:buSzTx/>
              <a:buFontTx/>
              <a:buNone/>
            </a:pPr>
            <a:r>
              <a:rPr lang="en-US" sz="1800"/>
              <a:t>requesting host</a:t>
            </a:r>
            <a:endParaRPr lang="en-US">
              <a:latin typeface="Times New Roman" panose="02020603050405020304" pitchFamily="18" charset="0"/>
            </a:endParaRPr>
          </a:p>
          <a:p>
            <a:pPr algn="ctr">
              <a:spcBef>
                <a:spcPct val="0"/>
              </a:spcBef>
              <a:buClrTx/>
              <a:buSzTx/>
              <a:buFontTx/>
              <a:buNone/>
            </a:pPr>
            <a:r>
              <a:rPr lang="en-US" sz="1600" b="1">
                <a:latin typeface="Arial" panose="020B0604020202020204" pitchFamily="34" charset="0"/>
              </a:rPr>
              <a:t>cis.poly.edu</a:t>
            </a:r>
            <a:endParaRPr lang="en-US" sz="1600">
              <a:latin typeface="Arial" panose="020B0604020202020204" pitchFamily="34" charset="0"/>
            </a:endParaRPr>
          </a:p>
        </p:txBody>
      </p:sp>
      <p:sp>
        <p:nvSpPr>
          <p:cNvPr id="17415" name="Text Box 6"/>
          <p:cNvSpPr txBox="1">
            <a:spLocks noChangeArrowheads="1"/>
          </p:cNvSpPr>
          <p:nvPr/>
        </p:nvSpPr>
        <p:spPr bwMode="auto">
          <a:xfrm>
            <a:off x="6618288" y="5656263"/>
            <a:ext cx="1990725" cy="336550"/>
          </a:xfrm>
          <a:prstGeom prst="rect">
            <a:avLst/>
          </a:prstGeom>
          <a:noFill/>
          <a:ln w="9525">
            <a:noFill/>
            <a:miter lim="800000"/>
          </a:ln>
        </p:spPr>
        <p:txBody>
          <a:bodyPr wrap="none">
            <a:spAutoFit/>
          </a:bodyPr>
          <a:lstStyle/>
          <a:p>
            <a:pPr algn="ctr">
              <a:spcBef>
                <a:spcPct val="0"/>
              </a:spcBef>
              <a:buClrTx/>
              <a:buSzTx/>
              <a:buFontTx/>
              <a:buNone/>
            </a:pPr>
            <a:r>
              <a:rPr lang="en-US" sz="1600" b="1">
                <a:latin typeface="Arial" panose="020B0604020202020204" pitchFamily="34" charset="0"/>
              </a:rPr>
              <a:t>gaia.cs.umass.edu</a:t>
            </a:r>
            <a:endParaRPr lang="en-US" sz="1600">
              <a:latin typeface="Arial" panose="020B0604020202020204" pitchFamily="34" charset="0"/>
            </a:endParaRPr>
          </a:p>
        </p:txBody>
      </p:sp>
      <p:graphicFrame>
        <p:nvGraphicFramePr>
          <p:cNvPr id="17411" name="Object 7"/>
          <p:cNvGraphicFramePr>
            <a:graphicFrameLocks noChangeAspect="1"/>
          </p:cNvGraphicFramePr>
          <p:nvPr/>
        </p:nvGraphicFramePr>
        <p:xfrm>
          <a:off x="7113588" y="5103813"/>
          <a:ext cx="833437" cy="638175"/>
        </p:xfrm>
        <a:graphic>
          <a:graphicData uri="http://schemas.openxmlformats.org/presentationml/2006/ole">
            <mc:AlternateContent xmlns:mc="http://schemas.openxmlformats.org/markup-compatibility/2006">
              <mc:Choice xmlns:v="urn:schemas-microsoft-com:vml" Requires="v">
                <p:oleObj spid="_x0000_s17433" name="Clip" r:id="rId3" imgW="18192750" imgH="15087600" progId="">
                  <p:embed/>
                </p:oleObj>
              </mc:Choice>
              <mc:Fallback>
                <p:oleObj name="Clip" r:id="rId3" imgW="18192750" imgH="15087600" progId="">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3588" y="5103813"/>
                        <a:ext cx="833437"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7416" name="Group 8"/>
          <p:cNvGrpSpPr/>
          <p:nvPr/>
        </p:nvGrpSpPr>
        <p:grpSpPr bwMode="auto">
          <a:xfrm>
            <a:off x="5237163" y="2228850"/>
            <a:ext cx="369887" cy="657225"/>
            <a:chOff x="4180" y="783"/>
            <a:chExt cx="150" cy="307"/>
          </a:xfrm>
        </p:grpSpPr>
        <p:sp>
          <p:nvSpPr>
            <p:cNvPr id="17469" name="AutoShape 9"/>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7470" name="Rectangle 10"/>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7471" name="Rectangle 11"/>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7472" name="AutoShape 1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7473" name="Line 13"/>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7474" name="Line 14"/>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7475" name="Rectangle 15"/>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7476" name="Rectangle 16"/>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17417" name="Text Box 17"/>
          <p:cNvSpPr txBox="1">
            <a:spLocks noChangeArrowheads="1"/>
          </p:cNvSpPr>
          <p:nvPr/>
        </p:nvSpPr>
        <p:spPr bwMode="auto">
          <a:xfrm>
            <a:off x="5791200" y="481013"/>
            <a:ext cx="2011363" cy="366712"/>
          </a:xfrm>
          <a:prstGeom prst="rect">
            <a:avLst/>
          </a:prstGeom>
          <a:noFill/>
          <a:ln w="9525">
            <a:noFill/>
            <a:miter lim="800000"/>
          </a:ln>
        </p:spPr>
        <p:txBody>
          <a:bodyPr>
            <a:spAutoFit/>
          </a:bodyPr>
          <a:lstStyle/>
          <a:p>
            <a:pPr algn="ctr">
              <a:spcBef>
                <a:spcPct val="0"/>
              </a:spcBef>
              <a:buClrTx/>
              <a:buSzTx/>
              <a:buFontTx/>
              <a:buNone/>
            </a:pPr>
            <a:r>
              <a:rPr lang="en-US" sz="1800"/>
              <a:t>root DNS server</a:t>
            </a:r>
            <a:endParaRPr lang="en-US" sz="1600">
              <a:latin typeface="Times New Roman" panose="02020603050405020304" pitchFamily="18" charset="0"/>
            </a:endParaRPr>
          </a:p>
        </p:txBody>
      </p:sp>
      <p:sp>
        <p:nvSpPr>
          <p:cNvPr id="202770" name="Line 18"/>
          <p:cNvSpPr>
            <a:spLocks noChangeShapeType="1"/>
          </p:cNvSpPr>
          <p:nvPr/>
        </p:nvSpPr>
        <p:spPr bwMode="auto">
          <a:xfrm flipH="1" flipV="1">
            <a:off x="5286375" y="2916238"/>
            <a:ext cx="0" cy="1314450"/>
          </a:xfrm>
          <a:prstGeom prst="line">
            <a:avLst/>
          </a:prstGeom>
          <a:noFill/>
          <a:ln w="28575">
            <a:solidFill>
              <a:srgbClr val="FF0000"/>
            </a:solidFill>
            <a:round/>
            <a:tailEnd type="triangle" w="med" len="med"/>
          </a:ln>
        </p:spPr>
        <p:txBody>
          <a:bodyPr wrap="none" anchor="ctr"/>
          <a:lstStyle/>
          <a:p>
            <a:endParaRPr lang="en-US"/>
          </a:p>
        </p:txBody>
      </p:sp>
      <p:sp>
        <p:nvSpPr>
          <p:cNvPr id="202771" name="Line 19"/>
          <p:cNvSpPr>
            <a:spLocks noChangeShapeType="1"/>
          </p:cNvSpPr>
          <p:nvPr/>
        </p:nvSpPr>
        <p:spPr bwMode="auto">
          <a:xfrm flipV="1">
            <a:off x="5400675" y="1220788"/>
            <a:ext cx="914400" cy="971550"/>
          </a:xfrm>
          <a:prstGeom prst="line">
            <a:avLst/>
          </a:prstGeom>
          <a:noFill/>
          <a:ln w="28575">
            <a:solidFill>
              <a:srgbClr val="FF0000"/>
            </a:solidFill>
            <a:round/>
            <a:tailEnd type="triangle" w="med" len="med"/>
          </a:ln>
        </p:spPr>
        <p:txBody>
          <a:bodyPr wrap="none" anchor="ctr"/>
          <a:lstStyle/>
          <a:p>
            <a:endParaRPr lang="en-US"/>
          </a:p>
        </p:txBody>
      </p:sp>
      <p:sp>
        <p:nvSpPr>
          <p:cNvPr id="202772" name="Line 20"/>
          <p:cNvSpPr>
            <a:spLocks noChangeShapeType="1"/>
          </p:cNvSpPr>
          <p:nvPr/>
        </p:nvSpPr>
        <p:spPr bwMode="auto">
          <a:xfrm flipV="1">
            <a:off x="5686425" y="2382838"/>
            <a:ext cx="1485900" cy="9525"/>
          </a:xfrm>
          <a:prstGeom prst="line">
            <a:avLst/>
          </a:prstGeom>
          <a:noFill/>
          <a:ln w="28575">
            <a:solidFill>
              <a:srgbClr val="FF0000"/>
            </a:solidFill>
            <a:round/>
            <a:tailEnd type="triangle" w="med" len="med"/>
          </a:ln>
        </p:spPr>
        <p:txBody>
          <a:bodyPr wrap="none" anchor="ctr"/>
          <a:lstStyle/>
          <a:p>
            <a:endParaRPr lang="en-US"/>
          </a:p>
        </p:txBody>
      </p:sp>
      <p:sp>
        <p:nvSpPr>
          <p:cNvPr id="202773" name="Line 21"/>
          <p:cNvSpPr>
            <a:spLocks noChangeShapeType="1"/>
          </p:cNvSpPr>
          <p:nvPr/>
        </p:nvSpPr>
        <p:spPr bwMode="auto">
          <a:xfrm flipH="1" flipV="1">
            <a:off x="5686425" y="2554288"/>
            <a:ext cx="1419225" cy="0"/>
          </a:xfrm>
          <a:prstGeom prst="line">
            <a:avLst/>
          </a:prstGeom>
          <a:noFill/>
          <a:ln w="28575">
            <a:solidFill>
              <a:srgbClr val="FF0000"/>
            </a:solidFill>
            <a:round/>
            <a:tailEnd type="triangle" w="med" len="med"/>
          </a:ln>
        </p:spPr>
        <p:txBody>
          <a:bodyPr wrap="none" anchor="ctr"/>
          <a:lstStyle/>
          <a:p>
            <a:endParaRPr lang="en-US"/>
          </a:p>
        </p:txBody>
      </p:sp>
      <p:sp>
        <p:nvSpPr>
          <p:cNvPr id="202774" name="Line 22"/>
          <p:cNvSpPr>
            <a:spLocks noChangeShapeType="1"/>
          </p:cNvSpPr>
          <p:nvPr/>
        </p:nvSpPr>
        <p:spPr bwMode="auto">
          <a:xfrm flipH="1">
            <a:off x="5610225" y="1449388"/>
            <a:ext cx="733425" cy="762000"/>
          </a:xfrm>
          <a:prstGeom prst="line">
            <a:avLst/>
          </a:prstGeom>
          <a:noFill/>
          <a:ln w="28575">
            <a:solidFill>
              <a:srgbClr val="FF0000"/>
            </a:solidFill>
            <a:round/>
            <a:tailEnd type="triangle" w="med" len="med"/>
          </a:ln>
        </p:spPr>
        <p:txBody>
          <a:bodyPr wrap="none" anchor="ctr"/>
          <a:lstStyle/>
          <a:p>
            <a:endParaRPr lang="en-US"/>
          </a:p>
        </p:txBody>
      </p:sp>
      <p:sp>
        <p:nvSpPr>
          <p:cNvPr id="202775" name="Line 23"/>
          <p:cNvSpPr>
            <a:spLocks noChangeShapeType="1"/>
          </p:cNvSpPr>
          <p:nvPr/>
        </p:nvSpPr>
        <p:spPr bwMode="auto">
          <a:xfrm>
            <a:off x="5476875" y="2944813"/>
            <a:ext cx="9525" cy="1323975"/>
          </a:xfrm>
          <a:prstGeom prst="line">
            <a:avLst/>
          </a:prstGeom>
          <a:noFill/>
          <a:ln w="28575">
            <a:solidFill>
              <a:srgbClr val="FF0000"/>
            </a:solidFill>
            <a:round/>
            <a:tailEnd type="triangle" w="med" len="med"/>
          </a:ln>
        </p:spPr>
        <p:txBody>
          <a:bodyPr wrap="none" anchor="ctr"/>
          <a:lstStyle/>
          <a:p>
            <a:endParaRPr lang="en-US"/>
          </a:p>
        </p:txBody>
      </p:sp>
      <p:grpSp>
        <p:nvGrpSpPr>
          <p:cNvPr id="17424" name="Group 24"/>
          <p:cNvGrpSpPr/>
          <p:nvPr/>
        </p:nvGrpSpPr>
        <p:grpSpPr bwMode="auto">
          <a:xfrm>
            <a:off x="4130675" y="3062288"/>
            <a:ext cx="1998663" cy="611187"/>
            <a:chOff x="2800" y="2132"/>
            <a:chExt cx="1259" cy="385"/>
          </a:xfrm>
        </p:grpSpPr>
        <p:sp>
          <p:nvSpPr>
            <p:cNvPr id="17467" name="Rectangle 25"/>
            <p:cNvSpPr>
              <a:spLocks noChangeArrowheads="1"/>
            </p:cNvSpPr>
            <p:nvPr/>
          </p:nvSpPr>
          <p:spPr bwMode="auto">
            <a:xfrm>
              <a:off x="2838" y="2178"/>
              <a:ext cx="1182" cy="300"/>
            </a:xfrm>
            <a:prstGeom prst="rect">
              <a:avLst/>
            </a:prstGeom>
            <a:solidFill>
              <a:schemeClr val="bg1"/>
            </a:solidFill>
            <a:ln w="9525">
              <a:noFill/>
              <a:miter lim="800000"/>
            </a:ln>
          </p:spPr>
          <p:txBody>
            <a:bodyPr wrap="none" anchor="ctr"/>
            <a:lstStyle/>
            <a:p>
              <a:endParaRPr lang="en-US"/>
            </a:p>
          </p:txBody>
        </p:sp>
        <p:sp>
          <p:nvSpPr>
            <p:cNvPr id="17468" name="Text Box 26"/>
            <p:cNvSpPr txBox="1">
              <a:spLocks noChangeArrowheads="1"/>
            </p:cNvSpPr>
            <p:nvPr/>
          </p:nvSpPr>
          <p:spPr bwMode="auto">
            <a:xfrm>
              <a:off x="2800" y="2132"/>
              <a:ext cx="1259" cy="385"/>
            </a:xfrm>
            <a:prstGeom prst="rect">
              <a:avLst/>
            </a:prstGeom>
            <a:noFill/>
            <a:ln w="9525">
              <a:noFill/>
              <a:miter lim="800000"/>
            </a:ln>
          </p:spPr>
          <p:txBody>
            <a:bodyPr wrap="none">
              <a:spAutoFit/>
            </a:bodyPr>
            <a:lstStyle/>
            <a:p>
              <a:pPr algn="ctr">
                <a:spcBef>
                  <a:spcPct val="0"/>
                </a:spcBef>
                <a:buClrTx/>
                <a:buSzTx/>
                <a:buFontTx/>
                <a:buNone/>
              </a:pPr>
              <a:r>
                <a:rPr lang="en-US" sz="1800"/>
                <a:t>local DNS server</a:t>
              </a:r>
              <a:endParaRPr lang="en-US">
                <a:latin typeface="Times New Roman" panose="02020603050405020304" pitchFamily="18" charset="0"/>
              </a:endParaRPr>
            </a:p>
            <a:p>
              <a:pPr algn="ctr">
                <a:spcBef>
                  <a:spcPct val="0"/>
                </a:spcBef>
                <a:buClrTx/>
                <a:buSzTx/>
                <a:buFontTx/>
                <a:buNone/>
              </a:pPr>
              <a:r>
                <a:rPr lang="en-US" sz="1600" b="1">
                  <a:latin typeface="Arial" panose="020B0604020202020204" pitchFamily="34" charset="0"/>
                </a:rPr>
                <a:t>dns.poly.edu</a:t>
              </a:r>
              <a:endParaRPr lang="en-US" sz="1600">
                <a:latin typeface="Arial" panose="020B0604020202020204" pitchFamily="34" charset="0"/>
              </a:endParaRPr>
            </a:p>
          </p:txBody>
        </p:sp>
      </p:grpSp>
      <p:sp>
        <p:nvSpPr>
          <p:cNvPr id="202779" name="Text Box 27"/>
          <p:cNvSpPr txBox="1">
            <a:spLocks noChangeArrowheads="1"/>
          </p:cNvSpPr>
          <p:nvPr/>
        </p:nvSpPr>
        <p:spPr bwMode="auto">
          <a:xfrm>
            <a:off x="4997450" y="3771900"/>
            <a:ext cx="311150" cy="366713"/>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1</a:t>
            </a:r>
            <a:endParaRPr lang="en-US">
              <a:latin typeface="Times New Roman" panose="02020603050405020304" pitchFamily="18" charset="0"/>
            </a:endParaRPr>
          </a:p>
        </p:txBody>
      </p:sp>
      <p:sp>
        <p:nvSpPr>
          <p:cNvPr id="202780" name="Text Box 28"/>
          <p:cNvSpPr txBox="1">
            <a:spLocks noChangeArrowheads="1"/>
          </p:cNvSpPr>
          <p:nvPr/>
        </p:nvSpPr>
        <p:spPr bwMode="auto">
          <a:xfrm>
            <a:off x="5540375" y="1438275"/>
            <a:ext cx="311150" cy="366713"/>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2</a:t>
            </a:r>
            <a:endParaRPr lang="en-US">
              <a:latin typeface="Times New Roman" panose="02020603050405020304" pitchFamily="18" charset="0"/>
            </a:endParaRPr>
          </a:p>
        </p:txBody>
      </p:sp>
      <p:sp>
        <p:nvSpPr>
          <p:cNvPr id="202781" name="Text Box 29"/>
          <p:cNvSpPr txBox="1">
            <a:spLocks noChangeArrowheads="1"/>
          </p:cNvSpPr>
          <p:nvPr/>
        </p:nvSpPr>
        <p:spPr bwMode="auto">
          <a:xfrm>
            <a:off x="5978525" y="1676400"/>
            <a:ext cx="311150" cy="366713"/>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3</a:t>
            </a:r>
            <a:endParaRPr lang="en-US">
              <a:latin typeface="Times New Roman" panose="02020603050405020304" pitchFamily="18" charset="0"/>
            </a:endParaRPr>
          </a:p>
        </p:txBody>
      </p:sp>
      <p:sp>
        <p:nvSpPr>
          <p:cNvPr id="202782" name="Text Box 30"/>
          <p:cNvSpPr txBox="1">
            <a:spLocks noChangeArrowheads="1"/>
          </p:cNvSpPr>
          <p:nvPr/>
        </p:nvSpPr>
        <p:spPr bwMode="auto">
          <a:xfrm>
            <a:off x="6292850" y="2085975"/>
            <a:ext cx="311150" cy="366713"/>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4</a:t>
            </a:r>
            <a:endParaRPr lang="en-US">
              <a:latin typeface="Times New Roman" panose="02020603050405020304" pitchFamily="18" charset="0"/>
            </a:endParaRPr>
          </a:p>
        </p:txBody>
      </p:sp>
      <p:sp>
        <p:nvSpPr>
          <p:cNvPr id="202783" name="Text Box 31"/>
          <p:cNvSpPr txBox="1">
            <a:spLocks noChangeArrowheads="1"/>
          </p:cNvSpPr>
          <p:nvPr/>
        </p:nvSpPr>
        <p:spPr bwMode="auto">
          <a:xfrm>
            <a:off x="6323013" y="2573338"/>
            <a:ext cx="311150" cy="366712"/>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5</a:t>
            </a:r>
            <a:endParaRPr lang="en-US">
              <a:latin typeface="Times New Roman" panose="02020603050405020304" pitchFamily="18" charset="0"/>
            </a:endParaRPr>
          </a:p>
        </p:txBody>
      </p:sp>
      <p:sp>
        <p:nvSpPr>
          <p:cNvPr id="202784" name="Text Box 32"/>
          <p:cNvSpPr txBox="1">
            <a:spLocks noChangeArrowheads="1"/>
          </p:cNvSpPr>
          <p:nvPr/>
        </p:nvSpPr>
        <p:spPr bwMode="auto">
          <a:xfrm>
            <a:off x="6919913" y="3613150"/>
            <a:ext cx="311150" cy="366713"/>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6</a:t>
            </a:r>
            <a:endParaRPr lang="en-US">
              <a:latin typeface="Times New Roman" panose="02020603050405020304" pitchFamily="18" charset="0"/>
            </a:endParaRPr>
          </a:p>
        </p:txBody>
      </p:sp>
      <p:grpSp>
        <p:nvGrpSpPr>
          <p:cNvPr id="17431" name="Group 33"/>
          <p:cNvGrpSpPr/>
          <p:nvPr/>
        </p:nvGrpSpPr>
        <p:grpSpPr bwMode="auto">
          <a:xfrm>
            <a:off x="6351588" y="809625"/>
            <a:ext cx="369887" cy="657225"/>
            <a:chOff x="4180" y="783"/>
            <a:chExt cx="150" cy="307"/>
          </a:xfrm>
        </p:grpSpPr>
        <p:sp>
          <p:nvSpPr>
            <p:cNvPr id="17459" name="AutoShape 3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7460" name="Rectangle 35"/>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7461" name="Rectangle 36"/>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7462" name="AutoShape 3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7463" name="Line 38"/>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7464" name="Line 39"/>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7465" name="Rectangle 40"/>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7466" name="Rectangle 41"/>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2" name="Group 42"/>
          <p:cNvGrpSpPr/>
          <p:nvPr/>
        </p:nvGrpSpPr>
        <p:grpSpPr bwMode="auto">
          <a:xfrm>
            <a:off x="7180263" y="2238375"/>
            <a:ext cx="369887" cy="657225"/>
            <a:chOff x="4180" y="783"/>
            <a:chExt cx="150" cy="307"/>
          </a:xfrm>
        </p:grpSpPr>
        <p:sp>
          <p:nvSpPr>
            <p:cNvPr id="17451" name="AutoShape 43"/>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7452" name="Rectangle 44"/>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7453" name="Rectangle 45"/>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7454" name="AutoShape 4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7455" name="Line 47"/>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7456" name="Line 48"/>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7457" name="Rectangle 49"/>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7458" name="Rectangle 50"/>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3" name="Group 51"/>
          <p:cNvGrpSpPr/>
          <p:nvPr/>
        </p:nvGrpSpPr>
        <p:grpSpPr bwMode="auto">
          <a:xfrm>
            <a:off x="7161213" y="3857625"/>
            <a:ext cx="369887" cy="657225"/>
            <a:chOff x="4180" y="783"/>
            <a:chExt cx="150" cy="307"/>
          </a:xfrm>
        </p:grpSpPr>
        <p:sp>
          <p:nvSpPr>
            <p:cNvPr id="17443" name="AutoShape 52"/>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7444" name="Rectangle 53"/>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7445" name="Rectangle 54"/>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7446" name="AutoShape 5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7447" name="Line 56"/>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7448" name="Line 57"/>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7449" name="Rectangle 58"/>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7450" name="Rectangle 59"/>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17434" name="Text Box 60"/>
          <p:cNvSpPr txBox="1">
            <a:spLocks noChangeArrowheads="1"/>
          </p:cNvSpPr>
          <p:nvPr/>
        </p:nvSpPr>
        <p:spPr bwMode="auto">
          <a:xfrm>
            <a:off x="6243638" y="4429125"/>
            <a:ext cx="2617787" cy="581025"/>
          </a:xfrm>
          <a:prstGeom prst="rect">
            <a:avLst/>
          </a:prstGeom>
          <a:noFill/>
          <a:ln w="9525">
            <a:noFill/>
            <a:miter lim="800000"/>
          </a:ln>
        </p:spPr>
        <p:txBody>
          <a:bodyPr wrap="none">
            <a:spAutoFit/>
          </a:bodyPr>
          <a:lstStyle/>
          <a:p>
            <a:pPr algn="ctr">
              <a:spcBef>
                <a:spcPct val="0"/>
              </a:spcBef>
              <a:buClrTx/>
              <a:buSzTx/>
              <a:buFontTx/>
              <a:buNone/>
            </a:pPr>
            <a:r>
              <a:rPr lang="en-US" sz="1600"/>
              <a:t>authoritative DNS server</a:t>
            </a:r>
            <a:endParaRPr lang="en-US">
              <a:latin typeface="Times New Roman" panose="02020603050405020304" pitchFamily="18" charset="0"/>
            </a:endParaRPr>
          </a:p>
          <a:p>
            <a:pPr algn="ctr">
              <a:spcBef>
                <a:spcPct val="0"/>
              </a:spcBef>
              <a:buClrTx/>
              <a:buSzTx/>
              <a:buFontTx/>
              <a:buNone/>
            </a:pPr>
            <a:r>
              <a:rPr lang="en-US" sz="1600" b="1">
                <a:latin typeface="Arial" panose="020B0604020202020204" pitchFamily="34" charset="0"/>
              </a:rPr>
              <a:t>dns.cs.umass.edu</a:t>
            </a:r>
            <a:endParaRPr lang="en-US" sz="1600">
              <a:latin typeface="Arial" panose="020B0604020202020204" pitchFamily="34" charset="0"/>
            </a:endParaRPr>
          </a:p>
        </p:txBody>
      </p:sp>
      <p:sp>
        <p:nvSpPr>
          <p:cNvPr id="202813" name="Text Box 61"/>
          <p:cNvSpPr txBox="1">
            <a:spLocks noChangeArrowheads="1"/>
          </p:cNvSpPr>
          <p:nvPr/>
        </p:nvSpPr>
        <p:spPr bwMode="auto">
          <a:xfrm>
            <a:off x="6292850" y="3643313"/>
            <a:ext cx="311150" cy="366712"/>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7</a:t>
            </a:r>
            <a:endParaRPr lang="en-US">
              <a:latin typeface="Times New Roman" panose="02020603050405020304" pitchFamily="18" charset="0"/>
            </a:endParaRPr>
          </a:p>
        </p:txBody>
      </p:sp>
      <p:sp>
        <p:nvSpPr>
          <p:cNvPr id="202814" name="Text Box 62"/>
          <p:cNvSpPr txBox="1">
            <a:spLocks noChangeArrowheads="1"/>
          </p:cNvSpPr>
          <p:nvPr/>
        </p:nvSpPr>
        <p:spPr bwMode="auto">
          <a:xfrm>
            <a:off x="5549900" y="3790950"/>
            <a:ext cx="311150" cy="366713"/>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8</a:t>
            </a:r>
            <a:endParaRPr lang="en-US">
              <a:latin typeface="Times New Roman" panose="02020603050405020304" pitchFamily="18" charset="0"/>
            </a:endParaRPr>
          </a:p>
        </p:txBody>
      </p:sp>
      <p:sp>
        <p:nvSpPr>
          <p:cNvPr id="202815" name="Line 63"/>
          <p:cNvSpPr>
            <a:spLocks noChangeShapeType="1"/>
          </p:cNvSpPr>
          <p:nvPr/>
        </p:nvSpPr>
        <p:spPr bwMode="auto">
          <a:xfrm>
            <a:off x="5619750" y="2714625"/>
            <a:ext cx="1493838" cy="1314450"/>
          </a:xfrm>
          <a:prstGeom prst="line">
            <a:avLst/>
          </a:prstGeom>
          <a:noFill/>
          <a:ln w="25400">
            <a:solidFill>
              <a:srgbClr val="FF0000"/>
            </a:solidFill>
            <a:round/>
            <a:tailEnd type="triangle" w="med" len="med"/>
          </a:ln>
        </p:spPr>
        <p:txBody>
          <a:bodyPr/>
          <a:lstStyle/>
          <a:p>
            <a:endParaRPr lang="en-US"/>
          </a:p>
        </p:txBody>
      </p:sp>
      <p:sp>
        <p:nvSpPr>
          <p:cNvPr id="202816" name="Line 64"/>
          <p:cNvSpPr>
            <a:spLocks noChangeShapeType="1"/>
          </p:cNvSpPr>
          <p:nvPr/>
        </p:nvSpPr>
        <p:spPr bwMode="auto">
          <a:xfrm flipH="1" flipV="1">
            <a:off x="5580063" y="2830513"/>
            <a:ext cx="1493837" cy="1301750"/>
          </a:xfrm>
          <a:prstGeom prst="line">
            <a:avLst/>
          </a:prstGeom>
          <a:noFill/>
          <a:ln w="25400">
            <a:solidFill>
              <a:srgbClr val="FF0000"/>
            </a:solidFill>
            <a:round/>
            <a:tailEnd type="triangle" w="med" len="med"/>
          </a:ln>
        </p:spPr>
        <p:txBody>
          <a:bodyPr/>
          <a:lstStyle/>
          <a:p>
            <a:endParaRPr lang="en-US"/>
          </a:p>
        </p:txBody>
      </p:sp>
      <p:sp>
        <p:nvSpPr>
          <p:cNvPr id="17439" name="Text Box 65"/>
          <p:cNvSpPr txBox="1">
            <a:spLocks noChangeArrowheads="1"/>
          </p:cNvSpPr>
          <p:nvPr/>
        </p:nvSpPr>
        <p:spPr bwMode="auto">
          <a:xfrm>
            <a:off x="6551613" y="1852613"/>
            <a:ext cx="2011362" cy="366712"/>
          </a:xfrm>
          <a:prstGeom prst="rect">
            <a:avLst/>
          </a:prstGeom>
          <a:noFill/>
          <a:ln w="9525">
            <a:noFill/>
            <a:miter lim="800000"/>
          </a:ln>
        </p:spPr>
        <p:txBody>
          <a:bodyPr>
            <a:spAutoFit/>
          </a:bodyPr>
          <a:lstStyle/>
          <a:p>
            <a:pPr algn="ctr">
              <a:spcBef>
                <a:spcPct val="0"/>
              </a:spcBef>
              <a:buClrTx/>
              <a:buSzTx/>
              <a:buFontTx/>
              <a:buNone/>
            </a:pPr>
            <a:r>
              <a:rPr lang="en-US" sz="1800"/>
              <a:t>TLD DNS server</a:t>
            </a:r>
            <a:endParaRPr lang="en-US" sz="1600">
              <a:latin typeface="Times New Roman" panose="02020603050405020304" pitchFamily="18" charset="0"/>
            </a:endParaRPr>
          </a:p>
        </p:txBody>
      </p:sp>
      <p:sp>
        <p:nvSpPr>
          <p:cNvPr id="17440" name="Rectangle 66"/>
          <p:cNvSpPr>
            <a:spLocks noGrp="1" noChangeArrowheads="1"/>
          </p:cNvSpPr>
          <p:nvPr>
            <p:ph type="title"/>
          </p:nvPr>
        </p:nvSpPr>
        <p:spPr/>
        <p:txBody>
          <a:bodyPr/>
          <a:lstStyle/>
          <a:p>
            <a:r>
              <a:rPr lang="en-US" sz="3600"/>
              <a:t>DNS name </a:t>
            </a:r>
            <a:br>
              <a:rPr lang="en-US" sz="3600"/>
            </a:br>
            <a:r>
              <a:rPr lang="en-US" sz="3600"/>
              <a:t>resolution example</a:t>
            </a:r>
            <a:endParaRPr lang="en-US" sz="3600"/>
          </a:p>
        </p:txBody>
      </p:sp>
      <p:sp>
        <p:nvSpPr>
          <p:cNvPr id="17441" name="Rectangle 67"/>
          <p:cNvSpPr>
            <a:spLocks noGrp="1" noChangeArrowheads="1"/>
          </p:cNvSpPr>
          <p:nvPr>
            <p:ph type="body" sz="half" idx="1"/>
          </p:nvPr>
        </p:nvSpPr>
        <p:spPr>
          <a:xfrm>
            <a:off x="431800" y="1725613"/>
            <a:ext cx="3565525" cy="4648200"/>
          </a:xfrm>
        </p:spPr>
        <p:txBody>
          <a:bodyPr/>
          <a:lstStyle/>
          <a:p>
            <a:r>
              <a:rPr lang="en-US" sz="2400"/>
              <a:t>Host at cis.poly.edu wants IP address for gaia.cs.umass.edu</a:t>
            </a:r>
            <a:endParaRPr lang="en-US" sz="2400"/>
          </a:p>
        </p:txBody>
      </p:sp>
      <p:sp>
        <p:nvSpPr>
          <p:cNvPr id="17442" name="Rectangle 69"/>
          <p:cNvSpPr>
            <a:spLocks noChangeArrowheads="1"/>
          </p:cNvSpPr>
          <p:nvPr/>
        </p:nvSpPr>
        <p:spPr bwMode="auto">
          <a:xfrm>
            <a:off x="582613" y="3094038"/>
            <a:ext cx="3162300" cy="2617787"/>
          </a:xfrm>
          <a:prstGeom prst="rect">
            <a:avLst/>
          </a:prstGeom>
          <a:noFill/>
          <a:ln w="9525">
            <a:noFill/>
            <a:miter lim="800000"/>
          </a:ln>
        </p:spPr>
        <p:txBody>
          <a:bodyPr/>
          <a:lstStyle/>
          <a:p>
            <a:pPr marL="342900" indent="-342900"/>
            <a:r>
              <a:rPr lang="en-US" u="sng">
                <a:solidFill>
                  <a:srgbClr val="FF0000"/>
                </a:solidFill>
              </a:rPr>
              <a:t>iterated query:</a:t>
            </a:r>
            <a:endParaRPr lang="en-US" sz="2000">
              <a:solidFill>
                <a:srgbClr val="FF0000"/>
              </a:solidFill>
            </a:endParaRPr>
          </a:p>
          <a:p>
            <a:pPr marL="342900" indent="-342900">
              <a:buFont typeface="ZapfDingbats" pitchFamily="82" charset="2"/>
              <a:buChar char="r"/>
            </a:pPr>
            <a:r>
              <a:rPr lang="en-US" sz="2000"/>
              <a:t>contacted server replies with name of server to contact</a:t>
            </a:r>
            <a:endParaRPr lang="en-US" sz="2000"/>
          </a:p>
          <a:p>
            <a:pPr marL="342900" indent="-342900">
              <a:buFont typeface="ZapfDingbats" pitchFamily="82" charset="2"/>
              <a:buChar char="r"/>
            </a:pPr>
            <a:r>
              <a:rPr lang="en-US" sz="2000"/>
              <a:t>“I don’t know this name, but ask this server”</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7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277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27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27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277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278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27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27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277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278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28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27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28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28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277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28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0" grpId="0" animBg="1"/>
      <p:bldP spid="202771" grpId="0" animBg="1"/>
      <p:bldP spid="202772" grpId="0" animBg="1"/>
      <p:bldP spid="202773" grpId="0" animBg="1"/>
      <p:bldP spid="202774" grpId="0" animBg="1"/>
      <p:bldP spid="202775" grpId="0" animBg="1"/>
      <p:bldP spid="202779" grpId="0"/>
      <p:bldP spid="202780" grpId="0"/>
      <p:bldP spid="202781" grpId="0"/>
      <p:bldP spid="202782" grpId="0"/>
      <p:bldP spid="202783" grpId="0"/>
      <p:bldP spid="202784" grpId="0"/>
      <p:bldP spid="202813" grpId="0"/>
      <p:bldP spid="202814" grpId="0"/>
      <p:bldP spid="202815" grpId="0" animBg="1"/>
      <p:bldP spid="20281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8437" name="Slide Number Placeholder 4"/>
          <p:cNvSpPr>
            <a:spLocks noGrp="1"/>
          </p:cNvSpPr>
          <p:nvPr>
            <p:ph type="sldNum" sz="quarter" idx="12"/>
          </p:nvPr>
        </p:nvSpPr>
        <p:spPr>
          <a:noFill/>
        </p:spPr>
        <p:txBody>
          <a:bodyPr/>
          <a:lstStyle/>
          <a:p>
            <a:fld id="{4C3B106F-7581-42B7-A00C-CC1B4CDA8248}" type="slidenum">
              <a:rPr lang="en-US"/>
            </a:fld>
            <a:endParaRPr lang="en-US"/>
          </a:p>
        </p:txBody>
      </p:sp>
      <p:grpSp>
        <p:nvGrpSpPr>
          <p:cNvPr id="18438" name="Group 65"/>
          <p:cNvGrpSpPr/>
          <p:nvPr/>
        </p:nvGrpSpPr>
        <p:grpSpPr bwMode="auto">
          <a:xfrm>
            <a:off x="3416300" y="790575"/>
            <a:ext cx="5727700" cy="5511800"/>
            <a:chOff x="1499" y="384"/>
            <a:chExt cx="3608" cy="3472"/>
          </a:xfrm>
        </p:grpSpPr>
        <p:graphicFrame>
          <p:nvGraphicFramePr>
            <p:cNvPr id="18434" name="Object 2"/>
            <p:cNvGraphicFramePr>
              <a:graphicFrameLocks noChangeAspect="1"/>
            </p:cNvGraphicFramePr>
            <p:nvPr/>
          </p:nvGraphicFramePr>
          <p:xfrm>
            <a:off x="2040" y="2792"/>
            <a:ext cx="525" cy="402"/>
          </p:xfrm>
          <a:graphic>
            <a:graphicData uri="http://schemas.openxmlformats.org/presentationml/2006/ole">
              <mc:AlternateContent xmlns:mc="http://schemas.openxmlformats.org/markup-compatibility/2006">
                <mc:Choice xmlns:v="urn:schemas-microsoft-com:vml" Requires="v">
                  <p:oleObj spid="_x0000_s18456" name="Clip" r:id="rId1" imgW="18192750" imgH="15087600" progId="">
                    <p:embed/>
                  </p:oleObj>
                </mc:Choice>
                <mc:Fallback>
                  <p:oleObj name="Clip" r:id="rId1" imgW="18192750" imgH="15087600" progId="">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0" y="2792"/>
                          <a:ext cx="525" cy="4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1" name="Text Box 3"/>
            <p:cNvSpPr txBox="1">
              <a:spLocks noChangeArrowheads="1"/>
            </p:cNvSpPr>
            <p:nvPr/>
          </p:nvSpPr>
          <p:spPr bwMode="auto">
            <a:xfrm>
              <a:off x="1516" y="3156"/>
              <a:ext cx="1162" cy="385"/>
            </a:xfrm>
            <a:prstGeom prst="rect">
              <a:avLst/>
            </a:prstGeom>
            <a:noFill/>
            <a:ln w="9525">
              <a:noFill/>
              <a:miter lim="800000"/>
            </a:ln>
          </p:spPr>
          <p:txBody>
            <a:bodyPr wrap="none">
              <a:spAutoFit/>
            </a:bodyPr>
            <a:lstStyle/>
            <a:p>
              <a:pPr algn="ctr">
                <a:spcBef>
                  <a:spcPct val="0"/>
                </a:spcBef>
                <a:buClrTx/>
                <a:buSzTx/>
                <a:buFontTx/>
                <a:buNone/>
              </a:pPr>
              <a:r>
                <a:rPr lang="en-US" sz="1800"/>
                <a:t>requesting host</a:t>
              </a:r>
              <a:endParaRPr lang="en-US">
                <a:latin typeface="Times New Roman" panose="02020603050405020304" pitchFamily="18" charset="0"/>
              </a:endParaRPr>
            </a:p>
            <a:p>
              <a:pPr algn="ctr">
                <a:spcBef>
                  <a:spcPct val="0"/>
                </a:spcBef>
                <a:buClrTx/>
                <a:buSzTx/>
                <a:buFontTx/>
                <a:buNone/>
              </a:pPr>
              <a:r>
                <a:rPr lang="en-US" sz="1600" b="1">
                  <a:latin typeface="Arial" panose="020B0604020202020204" pitchFamily="34" charset="0"/>
                </a:rPr>
                <a:t>cis.poly.edu</a:t>
              </a:r>
              <a:endParaRPr lang="en-US" sz="1600">
                <a:latin typeface="Arial" panose="020B0604020202020204" pitchFamily="34" charset="0"/>
              </a:endParaRPr>
            </a:p>
          </p:txBody>
        </p:sp>
        <p:sp>
          <p:nvSpPr>
            <p:cNvPr id="18442" name="Text Box 4"/>
            <p:cNvSpPr txBox="1">
              <a:spLocks noChangeArrowheads="1"/>
            </p:cNvSpPr>
            <p:nvPr/>
          </p:nvSpPr>
          <p:spPr bwMode="auto">
            <a:xfrm>
              <a:off x="3066" y="3644"/>
              <a:ext cx="1254" cy="212"/>
            </a:xfrm>
            <a:prstGeom prst="rect">
              <a:avLst/>
            </a:prstGeom>
            <a:noFill/>
            <a:ln w="9525">
              <a:noFill/>
              <a:miter lim="800000"/>
            </a:ln>
          </p:spPr>
          <p:txBody>
            <a:bodyPr wrap="none">
              <a:spAutoFit/>
            </a:bodyPr>
            <a:lstStyle/>
            <a:p>
              <a:pPr algn="ctr">
                <a:spcBef>
                  <a:spcPct val="0"/>
                </a:spcBef>
                <a:buClrTx/>
                <a:buSzTx/>
                <a:buFontTx/>
                <a:buNone/>
              </a:pPr>
              <a:r>
                <a:rPr lang="en-US" sz="1600" b="1">
                  <a:latin typeface="Arial" panose="020B0604020202020204" pitchFamily="34" charset="0"/>
                </a:rPr>
                <a:t>gaia.cs.umass.edu</a:t>
              </a:r>
              <a:endParaRPr lang="en-US" sz="1600">
                <a:latin typeface="Arial" panose="020B0604020202020204" pitchFamily="34" charset="0"/>
              </a:endParaRPr>
            </a:p>
          </p:txBody>
        </p:sp>
        <p:graphicFrame>
          <p:nvGraphicFramePr>
            <p:cNvPr id="18435" name="Object 5"/>
            <p:cNvGraphicFramePr>
              <a:graphicFrameLocks noChangeAspect="1"/>
            </p:cNvGraphicFramePr>
            <p:nvPr/>
          </p:nvGraphicFramePr>
          <p:xfrm>
            <a:off x="3378" y="3296"/>
            <a:ext cx="525" cy="402"/>
          </p:xfrm>
          <a:graphic>
            <a:graphicData uri="http://schemas.openxmlformats.org/presentationml/2006/ole">
              <mc:AlternateContent xmlns:mc="http://schemas.openxmlformats.org/markup-compatibility/2006">
                <mc:Choice xmlns:v="urn:schemas-microsoft-com:vml" Requires="v">
                  <p:oleObj spid="_x0000_s18457" name="Clip" r:id="rId3" imgW="18192750" imgH="15087600" progId="">
                    <p:embed/>
                  </p:oleObj>
                </mc:Choice>
                <mc:Fallback>
                  <p:oleObj name="Clip" r:id="rId3" imgW="18192750" imgH="15087600" progId="">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8" y="3296"/>
                          <a:ext cx="525" cy="4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8443" name="Group 6"/>
            <p:cNvGrpSpPr/>
            <p:nvPr/>
          </p:nvGrpSpPr>
          <p:grpSpPr bwMode="auto">
            <a:xfrm>
              <a:off x="2196" y="1485"/>
              <a:ext cx="233" cy="414"/>
              <a:chOff x="4180" y="783"/>
              <a:chExt cx="150" cy="307"/>
            </a:xfrm>
          </p:grpSpPr>
          <p:sp>
            <p:nvSpPr>
              <p:cNvPr id="18493" name="AutoShape 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8494" name="Rectangle 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8495"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8496"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8497" name="Line 1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8498" name="Line 1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8499"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8500" name="Rectangle 1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18444" name="Text Box 15"/>
            <p:cNvSpPr txBox="1">
              <a:spLocks noChangeArrowheads="1"/>
            </p:cNvSpPr>
            <p:nvPr/>
          </p:nvSpPr>
          <p:spPr bwMode="auto">
            <a:xfrm>
              <a:off x="2545" y="384"/>
              <a:ext cx="1267" cy="231"/>
            </a:xfrm>
            <a:prstGeom prst="rect">
              <a:avLst/>
            </a:prstGeom>
            <a:noFill/>
            <a:ln w="9525">
              <a:noFill/>
              <a:miter lim="800000"/>
            </a:ln>
          </p:spPr>
          <p:txBody>
            <a:bodyPr>
              <a:spAutoFit/>
            </a:bodyPr>
            <a:lstStyle/>
            <a:p>
              <a:pPr algn="ctr">
                <a:spcBef>
                  <a:spcPct val="0"/>
                </a:spcBef>
                <a:buClrTx/>
                <a:buSzTx/>
                <a:buFontTx/>
                <a:buNone/>
              </a:pPr>
              <a:r>
                <a:rPr lang="en-US" sz="1800"/>
                <a:t>root DNS server</a:t>
              </a:r>
              <a:endParaRPr lang="en-US" sz="1600">
                <a:latin typeface="Times New Roman" panose="02020603050405020304" pitchFamily="18" charset="0"/>
              </a:endParaRPr>
            </a:p>
          </p:txBody>
        </p:sp>
        <p:sp>
          <p:nvSpPr>
            <p:cNvPr id="18445" name="Line 16"/>
            <p:cNvSpPr>
              <a:spLocks noChangeShapeType="1"/>
            </p:cNvSpPr>
            <p:nvPr/>
          </p:nvSpPr>
          <p:spPr bwMode="auto">
            <a:xfrm flipH="1" flipV="1">
              <a:off x="2227" y="1918"/>
              <a:ext cx="0" cy="828"/>
            </a:xfrm>
            <a:prstGeom prst="line">
              <a:avLst/>
            </a:prstGeom>
            <a:noFill/>
            <a:ln w="28575">
              <a:solidFill>
                <a:srgbClr val="FF0000"/>
              </a:solidFill>
              <a:round/>
              <a:tailEnd type="triangle" w="med" len="med"/>
            </a:ln>
          </p:spPr>
          <p:txBody>
            <a:bodyPr wrap="none" anchor="ctr"/>
            <a:lstStyle/>
            <a:p>
              <a:endParaRPr lang="en-US"/>
            </a:p>
          </p:txBody>
        </p:sp>
        <p:sp>
          <p:nvSpPr>
            <p:cNvPr id="18446" name="Line 17"/>
            <p:cNvSpPr>
              <a:spLocks noChangeShapeType="1"/>
            </p:cNvSpPr>
            <p:nvPr/>
          </p:nvSpPr>
          <p:spPr bwMode="auto">
            <a:xfrm flipV="1">
              <a:off x="2299" y="850"/>
              <a:ext cx="576" cy="612"/>
            </a:xfrm>
            <a:prstGeom prst="line">
              <a:avLst/>
            </a:prstGeom>
            <a:noFill/>
            <a:ln w="28575">
              <a:solidFill>
                <a:srgbClr val="FF0000"/>
              </a:solidFill>
              <a:round/>
              <a:tailEnd type="triangle" w="med" len="med"/>
            </a:ln>
          </p:spPr>
          <p:txBody>
            <a:bodyPr wrap="none" anchor="ctr"/>
            <a:lstStyle/>
            <a:p>
              <a:endParaRPr lang="en-US"/>
            </a:p>
          </p:txBody>
        </p:sp>
        <p:sp>
          <p:nvSpPr>
            <p:cNvPr id="18447" name="Line 18"/>
            <p:cNvSpPr>
              <a:spLocks noChangeShapeType="1"/>
            </p:cNvSpPr>
            <p:nvPr/>
          </p:nvSpPr>
          <p:spPr bwMode="auto">
            <a:xfrm>
              <a:off x="2347" y="1936"/>
              <a:ext cx="6" cy="834"/>
            </a:xfrm>
            <a:prstGeom prst="line">
              <a:avLst/>
            </a:prstGeom>
            <a:noFill/>
            <a:ln w="28575">
              <a:solidFill>
                <a:srgbClr val="FF0000"/>
              </a:solidFill>
              <a:round/>
              <a:tailEnd type="triangle" w="med" len="med"/>
            </a:ln>
          </p:spPr>
          <p:txBody>
            <a:bodyPr wrap="none" anchor="ctr"/>
            <a:lstStyle/>
            <a:p>
              <a:endParaRPr lang="en-US"/>
            </a:p>
          </p:txBody>
        </p:sp>
        <p:grpSp>
          <p:nvGrpSpPr>
            <p:cNvPr id="18448" name="Group 19"/>
            <p:cNvGrpSpPr/>
            <p:nvPr/>
          </p:nvGrpSpPr>
          <p:grpSpPr bwMode="auto">
            <a:xfrm>
              <a:off x="1499" y="2010"/>
              <a:ext cx="1259" cy="385"/>
              <a:chOff x="2800" y="2132"/>
              <a:chExt cx="1259" cy="385"/>
            </a:xfrm>
          </p:grpSpPr>
          <p:sp>
            <p:nvSpPr>
              <p:cNvPr id="18491" name="Rectangle 20"/>
              <p:cNvSpPr>
                <a:spLocks noChangeArrowheads="1"/>
              </p:cNvSpPr>
              <p:nvPr/>
            </p:nvSpPr>
            <p:spPr bwMode="auto">
              <a:xfrm>
                <a:off x="2838" y="2178"/>
                <a:ext cx="1182" cy="300"/>
              </a:xfrm>
              <a:prstGeom prst="rect">
                <a:avLst/>
              </a:prstGeom>
              <a:solidFill>
                <a:schemeClr val="bg1"/>
              </a:solidFill>
              <a:ln w="9525">
                <a:noFill/>
                <a:miter lim="800000"/>
              </a:ln>
            </p:spPr>
            <p:txBody>
              <a:bodyPr wrap="none" anchor="ctr"/>
              <a:lstStyle/>
              <a:p>
                <a:endParaRPr lang="en-US"/>
              </a:p>
            </p:txBody>
          </p:sp>
          <p:sp>
            <p:nvSpPr>
              <p:cNvPr id="18492" name="Text Box 21"/>
              <p:cNvSpPr txBox="1">
                <a:spLocks noChangeArrowheads="1"/>
              </p:cNvSpPr>
              <p:nvPr/>
            </p:nvSpPr>
            <p:spPr bwMode="auto">
              <a:xfrm>
                <a:off x="2800" y="2132"/>
                <a:ext cx="1259" cy="385"/>
              </a:xfrm>
              <a:prstGeom prst="rect">
                <a:avLst/>
              </a:prstGeom>
              <a:noFill/>
              <a:ln w="9525">
                <a:noFill/>
                <a:miter lim="800000"/>
              </a:ln>
            </p:spPr>
            <p:txBody>
              <a:bodyPr wrap="none">
                <a:spAutoFit/>
              </a:bodyPr>
              <a:lstStyle/>
              <a:p>
                <a:pPr algn="ctr">
                  <a:spcBef>
                    <a:spcPct val="0"/>
                  </a:spcBef>
                  <a:buClrTx/>
                  <a:buSzTx/>
                  <a:buFontTx/>
                  <a:buNone/>
                </a:pPr>
                <a:r>
                  <a:rPr lang="en-US" sz="1800"/>
                  <a:t>local DNS server</a:t>
                </a:r>
                <a:endParaRPr lang="en-US">
                  <a:latin typeface="Times New Roman" panose="02020603050405020304" pitchFamily="18" charset="0"/>
                </a:endParaRPr>
              </a:p>
              <a:p>
                <a:pPr algn="ctr">
                  <a:spcBef>
                    <a:spcPct val="0"/>
                  </a:spcBef>
                  <a:buClrTx/>
                  <a:buSzTx/>
                  <a:buFontTx/>
                  <a:buNone/>
                </a:pPr>
                <a:r>
                  <a:rPr lang="en-US" sz="1600" b="1">
                    <a:latin typeface="Arial" panose="020B0604020202020204" pitchFamily="34" charset="0"/>
                  </a:rPr>
                  <a:t>dns.poly.edu</a:t>
                </a:r>
                <a:endParaRPr lang="en-US" sz="1600">
                  <a:latin typeface="Arial" panose="020B0604020202020204" pitchFamily="34" charset="0"/>
                </a:endParaRPr>
              </a:p>
            </p:txBody>
          </p:sp>
        </p:grpSp>
        <p:sp>
          <p:nvSpPr>
            <p:cNvPr id="18449" name="Text Box 22"/>
            <p:cNvSpPr txBox="1">
              <a:spLocks noChangeArrowheads="1"/>
            </p:cNvSpPr>
            <p:nvPr/>
          </p:nvSpPr>
          <p:spPr bwMode="auto">
            <a:xfrm>
              <a:off x="2045" y="2457"/>
              <a:ext cx="196" cy="231"/>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1</a:t>
              </a:r>
              <a:endParaRPr lang="en-US">
                <a:latin typeface="Times New Roman" panose="02020603050405020304" pitchFamily="18" charset="0"/>
              </a:endParaRPr>
            </a:p>
          </p:txBody>
        </p:sp>
        <p:sp>
          <p:nvSpPr>
            <p:cNvPr id="18450" name="Text Box 23"/>
            <p:cNvSpPr txBox="1">
              <a:spLocks noChangeArrowheads="1"/>
            </p:cNvSpPr>
            <p:nvPr/>
          </p:nvSpPr>
          <p:spPr bwMode="auto">
            <a:xfrm>
              <a:off x="2387" y="987"/>
              <a:ext cx="196" cy="231"/>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2</a:t>
              </a:r>
              <a:endParaRPr lang="en-US">
                <a:latin typeface="Times New Roman" panose="02020603050405020304" pitchFamily="18" charset="0"/>
              </a:endParaRPr>
            </a:p>
          </p:txBody>
        </p:sp>
        <p:sp>
          <p:nvSpPr>
            <p:cNvPr id="18451" name="Text Box 24"/>
            <p:cNvSpPr txBox="1">
              <a:spLocks noChangeArrowheads="1"/>
            </p:cNvSpPr>
            <p:nvPr/>
          </p:nvSpPr>
          <p:spPr bwMode="auto">
            <a:xfrm>
              <a:off x="3600" y="2112"/>
              <a:ext cx="196" cy="231"/>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4</a:t>
              </a:r>
              <a:endParaRPr lang="en-US">
                <a:latin typeface="Times New Roman" panose="02020603050405020304" pitchFamily="18" charset="0"/>
              </a:endParaRPr>
            </a:p>
          </p:txBody>
        </p:sp>
        <p:sp>
          <p:nvSpPr>
            <p:cNvPr id="18452" name="Text Box 25"/>
            <p:cNvSpPr txBox="1">
              <a:spLocks noChangeArrowheads="1"/>
            </p:cNvSpPr>
            <p:nvPr/>
          </p:nvSpPr>
          <p:spPr bwMode="auto">
            <a:xfrm>
              <a:off x="3312" y="2160"/>
              <a:ext cx="196" cy="231"/>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5</a:t>
              </a:r>
              <a:endParaRPr lang="en-US">
                <a:latin typeface="Times New Roman" panose="02020603050405020304" pitchFamily="18" charset="0"/>
              </a:endParaRPr>
            </a:p>
          </p:txBody>
        </p:sp>
        <p:sp>
          <p:nvSpPr>
            <p:cNvPr id="18453" name="Text Box 26"/>
            <p:cNvSpPr txBox="1">
              <a:spLocks noChangeArrowheads="1"/>
            </p:cNvSpPr>
            <p:nvPr/>
          </p:nvSpPr>
          <p:spPr bwMode="auto">
            <a:xfrm>
              <a:off x="3120" y="1296"/>
              <a:ext cx="196" cy="231"/>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6</a:t>
              </a:r>
              <a:endParaRPr lang="en-US">
                <a:latin typeface="Times New Roman" panose="02020603050405020304" pitchFamily="18" charset="0"/>
              </a:endParaRPr>
            </a:p>
          </p:txBody>
        </p:sp>
        <p:grpSp>
          <p:nvGrpSpPr>
            <p:cNvPr id="18454" name="Group 27"/>
            <p:cNvGrpSpPr/>
            <p:nvPr/>
          </p:nvGrpSpPr>
          <p:grpSpPr bwMode="auto">
            <a:xfrm>
              <a:off x="2898" y="591"/>
              <a:ext cx="233" cy="414"/>
              <a:chOff x="4180" y="783"/>
              <a:chExt cx="150" cy="307"/>
            </a:xfrm>
          </p:grpSpPr>
          <p:sp>
            <p:nvSpPr>
              <p:cNvPr id="18483" name="AutoShape 28"/>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8484" name="Rectangle 29"/>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8485" name="Rectangle 30"/>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8486" name="AutoShape 31"/>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8487" name="Line 32"/>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8488" name="Line 33"/>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8489" name="Rectangle 34"/>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8490" name="Rectangle 35"/>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18455" name="Group 36"/>
            <p:cNvGrpSpPr/>
            <p:nvPr/>
          </p:nvGrpSpPr>
          <p:grpSpPr bwMode="auto">
            <a:xfrm>
              <a:off x="3420" y="1491"/>
              <a:ext cx="233" cy="414"/>
              <a:chOff x="4180" y="783"/>
              <a:chExt cx="150" cy="307"/>
            </a:xfrm>
          </p:grpSpPr>
          <p:sp>
            <p:nvSpPr>
              <p:cNvPr id="18475" name="AutoShape 3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8476" name="Rectangle 3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8477" name="Rectangle 3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8478" name="AutoShape 4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8479" name="Line 4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8480" name="Line 4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8481" name="Rectangle 4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8482" name="Rectangle 4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nvGrpSpPr>
            <p:cNvPr id="2" name="Group 45"/>
            <p:cNvGrpSpPr/>
            <p:nvPr/>
          </p:nvGrpSpPr>
          <p:grpSpPr bwMode="auto">
            <a:xfrm>
              <a:off x="3408" y="2511"/>
              <a:ext cx="233" cy="414"/>
              <a:chOff x="4180" y="783"/>
              <a:chExt cx="150" cy="307"/>
            </a:xfrm>
          </p:grpSpPr>
          <p:sp>
            <p:nvSpPr>
              <p:cNvPr id="18467" name="AutoShape 4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8468" name="Rectangle 4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8469" name="Rectangle 4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8470" name="AutoShape 4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8471" name="Line 5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8472" name="Line 5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8473" name="Rectangle 5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8474" name="Rectangle 5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3" name="Text Box 54"/>
            <p:cNvSpPr txBox="1">
              <a:spLocks noChangeArrowheads="1"/>
            </p:cNvSpPr>
            <p:nvPr/>
          </p:nvSpPr>
          <p:spPr bwMode="auto">
            <a:xfrm>
              <a:off x="2830" y="2871"/>
              <a:ext cx="1649" cy="366"/>
            </a:xfrm>
            <a:prstGeom prst="rect">
              <a:avLst/>
            </a:prstGeom>
            <a:noFill/>
            <a:ln w="9525">
              <a:noFill/>
              <a:miter lim="800000"/>
            </a:ln>
          </p:spPr>
          <p:txBody>
            <a:bodyPr wrap="none">
              <a:spAutoFit/>
            </a:bodyPr>
            <a:lstStyle/>
            <a:p>
              <a:pPr algn="ctr">
                <a:spcBef>
                  <a:spcPct val="0"/>
                </a:spcBef>
                <a:buClrTx/>
                <a:buSzTx/>
                <a:buFontTx/>
                <a:buNone/>
              </a:pPr>
              <a:r>
                <a:rPr lang="en-US" sz="1600"/>
                <a:t>authoritative DNS server</a:t>
              </a:r>
              <a:endParaRPr lang="en-US">
                <a:latin typeface="Times New Roman" panose="02020603050405020304" pitchFamily="18" charset="0"/>
              </a:endParaRPr>
            </a:p>
            <a:p>
              <a:pPr algn="ctr">
                <a:spcBef>
                  <a:spcPct val="0"/>
                </a:spcBef>
                <a:buClrTx/>
                <a:buSzTx/>
                <a:buFontTx/>
                <a:buNone/>
              </a:pPr>
              <a:r>
                <a:rPr lang="en-US" sz="1600" b="1">
                  <a:latin typeface="Arial" panose="020B0604020202020204" pitchFamily="34" charset="0"/>
                </a:rPr>
                <a:t>dns.cs.umass.edu</a:t>
              </a:r>
              <a:endParaRPr lang="en-US" sz="1600">
                <a:latin typeface="Arial" panose="020B0604020202020204" pitchFamily="34" charset="0"/>
              </a:endParaRPr>
            </a:p>
          </p:txBody>
        </p:sp>
        <p:sp>
          <p:nvSpPr>
            <p:cNvPr id="18458" name="Text Box 55"/>
            <p:cNvSpPr txBox="1">
              <a:spLocks noChangeArrowheads="1"/>
            </p:cNvSpPr>
            <p:nvPr/>
          </p:nvSpPr>
          <p:spPr bwMode="auto">
            <a:xfrm>
              <a:off x="2592" y="1344"/>
              <a:ext cx="196" cy="231"/>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7</a:t>
              </a:r>
              <a:endParaRPr lang="en-US">
                <a:latin typeface="Times New Roman" panose="02020603050405020304" pitchFamily="18" charset="0"/>
              </a:endParaRPr>
            </a:p>
          </p:txBody>
        </p:sp>
        <p:sp>
          <p:nvSpPr>
            <p:cNvPr id="18459" name="Text Box 56"/>
            <p:cNvSpPr txBox="1">
              <a:spLocks noChangeArrowheads="1"/>
            </p:cNvSpPr>
            <p:nvPr/>
          </p:nvSpPr>
          <p:spPr bwMode="auto">
            <a:xfrm>
              <a:off x="2393" y="2469"/>
              <a:ext cx="196" cy="231"/>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8</a:t>
              </a:r>
              <a:endParaRPr lang="en-US">
                <a:latin typeface="Times New Roman" panose="02020603050405020304" pitchFamily="18" charset="0"/>
              </a:endParaRPr>
            </a:p>
          </p:txBody>
        </p:sp>
        <p:sp>
          <p:nvSpPr>
            <p:cNvPr id="18460" name="Line 57"/>
            <p:cNvSpPr>
              <a:spLocks noChangeShapeType="1"/>
            </p:cNvSpPr>
            <p:nvPr/>
          </p:nvSpPr>
          <p:spPr bwMode="auto">
            <a:xfrm>
              <a:off x="3120" y="768"/>
              <a:ext cx="432" cy="720"/>
            </a:xfrm>
            <a:prstGeom prst="line">
              <a:avLst/>
            </a:prstGeom>
            <a:noFill/>
            <a:ln w="25400">
              <a:solidFill>
                <a:srgbClr val="FF0000"/>
              </a:solidFill>
              <a:round/>
              <a:tailEnd type="triangle" w="med" len="med"/>
            </a:ln>
          </p:spPr>
          <p:txBody>
            <a:bodyPr/>
            <a:lstStyle/>
            <a:p>
              <a:endParaRPr lang="en-US"/>
            </a:p>
          </p:txBody>
        </p:sp>
        <p:sp>
          <p:nvSpPr>
            <p:cNvPr id="18461" name="Text Box 59"/>
            <p:cNvSpPr txBox="1">
              <a:spLocks noChangeArrowheads="1"/>
            </p:cNvSpPr>
            <p:nvPr/>
          </p:nvSpPr>
          <p:spPr bwMode="auto">
            <a:xfrm>
              <a:off x="3840" y="1536"/>
              <a:ext cx="1267" cy="231"/>
            </a:xfrm>
            <a:prstGeom prst="rect">
              <a:avLst/>
            </a:prstGeom>
            <a:noFill/>
            <a:ln w="9525">
              <a:noFill/>
              <a:miter lim="800000"/>
            </a:ln>
          </p:spPr>
          <p:txBody>
            <a:bodyPr>
              <a:spAutoFit/>
            </a:bodyPr>
            <a:lstStyle/>
            <a:p>
              <a:pPr algn="ctr">
                <a:spcBef>
                  <a:spcPct val="0"/>
                </a:spcBef>
                <a:buClrTx/>
                <a:buSzTx/>
                <a:buFontTx/>
                <a:buNone/>
              </a:pPr>
              <a:r>
                <a:rPr lang="en-US" sz="1800"/>
                <a:t>TLD DNS server</a:t>
              </a:r>
              <a:endParaRPr lang="en-US" sz="1600">
                <a:latin typeface="Times New Roman" panose="02020603050405020304" pitchFamily="18" charset="0"/>
              </a:endParaRPr>
            </a:p>
          </p:txBody>
        </p:sp>
        <p:sp>
          <p:nvSpPr>
            <p:cNvPr id="18462" name="Line 60"/>
            <p:cNvSpPr>
              <a:spLocks noChangeShapeType="1"/>
            </p:cNvSpPr>
            <p:nvPr/>
          </p:nvSpPr>
          <p:spPr bwMode="auto">
            <a:xfrm>
              <a:off x="3600" y="1872"/>
              <a:ext cx="0" cy="624"/>
            </a:xfrm>
            <a:prstGeom prst="line">
              <a:avLst/>
            </a:prstGeom>
            <a:noFill/>
            <a:ln w="28575">
              <a:solidFill>
                <a:srgbClr val="FF0000"/>
              </a:solidFill>
              <a:round/>
              <a:tailEnd type="triangle" w="med" len="med"/>
            </a:ln>
          </p:spPr>
          <p:txBody>
            <a:bodyPr wrap="none" anchor="ctr"/>
            <a:lstStyle/>
            <a:p>
              <a:endParaRPr lang="en-US"/>
            </a:p>
          </p:txBody>
        </p:sp>
        <p:sp>
          <p:nvSpPr>
            <p:cNvPr id="18463" name="Line 61"/>
            <p:cNvSpPr>
              <a:spLocks noChangeShapeType="1"/>
            </p:cNvSpPr>
            <p:nvPr/>
          </p:nvSpPr>
          <p:spPr bwMode="auto">
            <a:xfrm flipH="1" flipV="1">
              <a:off x="3504" y="1920"/>
              <a:ext cx="0" cy="576"/>
            </a:xfrm>
            <a:prstGeom prst="line">
              <a:avLst/>
            </a:prstGeom>
            <a:noFill/>
            <a:ln w="28575">
              <a:solidFill>
                <a:srgbClr val="FF0000"/>
              </a:solidFill>
              <a:round/>
              <a:tailEnd type="triangle" w="med" len="med"/>
            </a:ln>
          </p:spPr>
          <p:txBody>
            <a:bodyPr wrap="none" anchor="ctr"/>
            <a:lstStyle/>
            <a:p>
              <a:endParaRPr lang="en-US"/>
            </a:p>
          </p:txBody>
        </p:sp>
        <p:sp>
          <p:nvSpPr>
            <p:cNvPr id="18464" name="Line 62"/>
            <p:cNvSpPr>
              <a:spLocks noChangeShapeType="1"/>
            </p:cNvSpPr>
            <p:nvPr/>
          </p:nvSpPr>
          <p:spPr bwMode="auto">
            <a:xfrm flipH="1" flipV="1">
              <a:off x="3072" y="1008"/>
              <a:ext cx="336" cy="576"/>
            </a:xfrm>
            <a:prstGeom prst="line">
              <a:avLst/>
            </a:prstGeom>
            <a:noFill/>
            <a:ln w="28575">
              <a:solidFill>
                <a:srgbClr val="FF0000"/>
              </a:solidFill>
              <a:round/>
              <a:tailEnd type="triangle" w="med" len="med"/>
            </a:ln>
          </p:spPr>
          <p:txBody>
            <a:bodyPr wrap="none" anchor="ctr"/>
            <a:lstStyle/>
            <a:p>
              <a:endParaRPr lang="en-US"/>
            </a:p>
          </p:txBody>
        </p:sp>
        <p:sp>
          <p:nvSpPr>
            <p:cNvPr id="18465" name="Text Box 63"/>
            <p:cNvSpPr txBox="1">
              <a:spLocks noChangeArrowheads="1"/>
            </p:cNvSpPr>
            <p:nvPr/>
          </p:nvSpPr>
          <p:spPr bwMode="auto">
            <a:xfrm>
              <a:off x="3408" y="1008"/>
              <a:ext cx="196" cy="231"/>
            </a:xfrm>
            <a:prstGeom prst="rect">
              <a:avLst/>
            </a:prstGeom>
            <a:noFill/>
            <a:ln w="9525">
              <a:noFill/>
              <a:miter lim="800000"/>
            </a:ln>
          </p:spPr>
          <p:txBody>
            <a:bodyPr wrap="none">
              <a:spAutoFit/>
            </a:bodyPr>
            <a:lstStyle/>
            <a:p>
              <a:pPr algn="ctr">
                <a:spcBef>
                  <a:spcPct val="0"/>
                </a:spcBef>
                <a:buClrTx/>
                <a:buSzTx/>
                <a:buFontTx/>
                <a:buNone/>
              </a:pPr>
              <a:r>
                <a:rPr lang="en-US" sz="1800">
                  <a:solidFill>
                    <a:srgbClr val="FF0000"/>
                  </a:solidFill>
                  <a:latin typeface="Arial" panose="020B0604020202020204" pitchFamily="34" charset="0"/>
                </a:rPr>
                <a:t>3</a:t>
              </a:r>
              <a:endParaRPr lang="en-US">
                <a:latin typeface="Times New Roman" panose="02020603050405020304" pitchFamily="18" charset="0"/>
              </a:endParaRPr>
            </a:p>
          </p:txBody>
        </p:sp>
        <p:sp>
          <p:nvSpPr>
            <p:cNvPr id="18466" name="Line 64"/>
            <p:cNvSpPr>
              <a:spLocks noChangeShapeType="1"/>
            </p:cNvSpPr>
            <p:nvPr/>
          </p:nvSpPr>
          <p:spPr bwMode="auto">
            <a:xfrm flipH="1">
              <a:off x="2448" y="1008"/>
              <a:ext cx="480" cy="528"/>
            </a:xfrm>
            <a:prstGeom prst="line">
              <a:avLst/>
            </a:prstGeom>
            <a:noFill/>
            <a:ln w="28575">
              <a:solidFill>
                <a:srgbClr val="FF0000"/>
              </a:solidFill>
              <a:round/>
              <a:tailEnd type="triangle" w="med" len="med"/>
            </a:ln>
          </p:spPr>
          <p:txBody>
            <a:bodyPr wrap="none" anchor="ctr"/>
            <a:lstStyle/>
            <a:p>
              <a:endParaRPr lang="en-US"/>
            </a:p>
          </p:txBody>
        </p:sp>
      </p:grpSp>
      <p:sp>
        <p:nvSpPr>
          <p:cNvPr id="18439" name="Rectangle 67"/>
          <p:cNvSpPr>
            <a:spLocks noChangeArrowheads="1"/>
          </p:cNvSpPr>
          <p:nvPr/>
        </p:nvSpPr>
        <p:spPr bwMode="auto">
          <a:xfrm>
            <a:off x="468313" y="1687513"/>
            <a:ext cx="3162300" cy="2316162"/>
          </a:xfrm>
          <a:prstGeom prst="rect">
            <a:avLst/>
          </a:prstGeom>
          <a:noFill/>
          <a:ln w="9525">
            <a:noFill/>
            <a:miter lim="800000"/>
          </a:ln>
        </p:spPr>
        <p:txBody>
          <a:bodyPr/>
          <a:lstStyle/>
          <a:p>
            <a:pPr marL="342900" indent="-342900"/>
            <a:r>
              <a:rPr lang="en-US" u="sng">
                <a:solidFill>
                  <a:srgbClr val="FF0000"/>
                </a:solidFill>
              </a:rPr>
              <a:t>recursive query:</a:t>
            </a:r>
            <a:endParaRPr lang="en-US" sz="2000"/>
          </a:p>
          <a:p>
            <a:pPr marL="342900" indent="-342900">
              <a:buFont typeface="ZapfDingbats" pitchFamily="82" charset="2"/>
              <a:buChar char="r"/>
            </a:pPr>
            <a:r>
              <a:rPr lang="en-US" sz="2000"/>
              <a:t>puts burden of name resolution on contacted name server</a:t>
            </a:r>
            <a:endParaRPr lang="en-US" sz="2000"/>
          </a:p>
          <a:p>
            <a:pPr marL="342900" indent="-342900">
              <a:buFont typeface="ZapfDingbats" pitchFamily="82" charset="2"/>
              <a:buChar char="r"/>
            </a:pPr>
            <a:r>
              <a:rPr lang="en-US" sz="2000"/>
              <a:t>heavy load?</a:t>
            </a:r>
            <a:endParaRPr lang="en-US" sz="2000"/>
          </a:p>
        </p:txBody>
      </p:sp>
      <p:sp>
        <p:nvSpPr>
          <p:cNvPr id="18440" name="Rectangle 70"/>
          <p:cNvSpPr>
            <a:spLocks noGrp="1" noChangeArrowheads="1"/>
          </p:cNvSpPr>
          <p:nvPr>
            <p:ph type="title"/>
          </p:nvPr>
        </p:nvSpPr>
        <p:spPr>
          <a:noFill/>
        </p:spPr>
        <p:txBody>
          <a:bodyPr/>
          <a:lstStyle/>
          <a:p>
            <a:r>
              <a:rPr lang="en-US" sz="3600"/>
              <a:t>DNS name </a:t>
            </a:r>
            <a:br>
              <a:rPr lang="en-US" sz="3600"/>
            </a:br>
            <a:r>
              <a:rPr lang="en-US" sz="3600"/>
              <a:t>resolution example</a:t>
            </a:r>
            <a:endParaRPr lang="en-US" sz="36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6019" name="Slide Number Placeholder 6"/>
          <p:cNvSpPr>
            <a:spLocks noGrp="1"/>
          </p:cNvSpPr>
          <p:nvPr>
            <p:ph type="sldNum" sz="quarter" idx="12"/>
          </p:nvPr>
        </p:nvSpPr>
        <p:spPr>
          <a:noFill/>
        </p:spPr>
        <p:txBody>
          <a:bodyPr/>
          <a:lstStyle/>
          <a:p>
            <a:fld id="{7C16EEFB-2245-4BBA-A850-D6D3A8A24F2B}" type="slidenum">
              <a:rPr lang="en-US"/>
            </a:fld>
            <a:endParaRPr lang="en-US"/>
          </a:p>
        </p:txBody>
      </p:sp>
      <p:sp>
        <p:nvSpPr>
          <p:cNvPr id="86020" name="Rectangle 2"/>
          <p:cNvSpPr>
            <a:spLocks noGrp="1" noChangeArrowheads="1"/>
          </p:cNvSpPr>
          <p:nvPr>
            <p:ph type="title"/>
          </p:nvPr>
        </p:nvSpPr>
        <p:spPr/>
        <p:txBody>
          <a:bodyPr/>
          <a:lstStyle/>
          <a:p>
            <a:r>
              <a:rPr lang="en-US" sz="3600"/>
              <a:t>DNS: caching and updating records</a:t>
            </a:r>
            <a:r>
              <a:rPr lang="zh-CN" altLang="en-US">
                <a:ea typeface="宋体" panose="02010600030101010101" pitchFamily="2" charset="-122"/>
                <a:sym typeface="+mn-ea"/>
              </a:rPr>
              <a:t>（课后题）</a:t>
            </a:r>
            <a:endParaRPr lang="en-US"/>
          </a:p>
        </p:txBody>
      </p:sp>
      <p:sp>
        <p:nvSpPr>
          <p:cNvPr id="86021" name="Rectangle 3"/>
          <p:cNvSpPr>
            <a:spLocks noGrp="1" noChangeArrowheads="1"/>
          </p:cNvSpPr>
          <p:nvPr>
            <p:ph type="body" sz="half" idx="1"/>
          </p:nvPr>
        </p:nvSpPr>
        <p:spPr>
          <a:xfrm>
            <a:off x="619125" y="1438275"/>
            <a:ext cx="7515225" cy="4733925"/>
          </a:xfrm>
        </p:spPr>
        <p:txBody>
          <a:bodyPr/>
          <a:lstStyle/>
          <a:p>
            <a:r>
              <a:rPr lang="en-US" sz="2400"/>
              <a:t>once (any) name server learns mapping, it </a:t>
            </a:r>
            <a:r>
              <a:rPr lang="en-US" sz="2400" i="1">
                <a:solidFill>
                  <a:schemeClr val="accent2"/>
                </a:solidFill>
              </a:rPr>
              <a:t>caches</a:t>
            </a:r>
            <a:r>
              <a:rPr lang="en-US" sz="2400"/>
              <a:t> mapping</a:t>
            </a:r>
            <a:endParaRPr lang="en-US" sz="2400"/>
          </a:p>
          <a:p>
            <a:pPr lvl="1"/>
            <a:r>
              <a:rPr lang="en-US"/>
              <a:t>cache entries timeout (disappear) after some time</a:t>
            </a:r>
            <a:endParaRPr lang="en-US"/>
          </a:p>
          <a:p>
            <a:pPr lvl="1"/>
            <a:r>
              <a:rPr lang="en-US"/>
              <a:t>TLD servers typically cached in local name servers</a:t>
            </a:r>
            <a:endParaRPr lang="en-US"/>
          </a:p>
          <a:p>
            <a:pPr lvl="2"/>
            <a:r>
              <a:rPr lang="en-US"/>
              <a:t>Thus root name servers not often visited</a:t>
            </a:r>
            <a:endParaRPr lang="en-US"/>
          </a:p>
          <a:p>
            <a:r>
              <a:rPr lang="en-US" sz="2400"/>
              <a:t>update/notify mechanisms under design by IETF</a:t>
            </a:r>
            <a:endParaRPr lang="en-US" sz="2400"/>
          </a:p>
          <a:p>
            <a:pPr lvl="1"/>
            <a:r>
              <a:rPr lang="en-US" sz="2000"/>
              <a:t>RFC 2136</a:t>
            </a:r>
            <a:endParaRPr lang="en-US" sz="1800"/>
          </a:p>
          <a:p>
            <a:pPr lvl="1"/>
            <a:r>
              <a:rPr lang="en-US" sz="1800"/>
              <a:t>http://www.ietf.org/html.charters/dnsind-charter.html</a:t>
            </a:r>
            <a:endParaRPr lang="en-US" sz="18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7043" name="Slide Number Placeholder 6"/>
          <p:cNvSpPr>
            <a:spLocks noGrp="1"/>
          </p:cNvSpPr>
          <p:nvPr>
            <p:ph type="sldNum" sz="quarter" idx="12"/>
          </p:nvPr>
        </p:nvSpPr>
        <p:spPr>
          <a:noFill/>
        </p:spPr>
        <p:txBody>
          <a:bodyPr/>
          <a:lstStyle/>
          <a:p>
            <a:fld id="{AAB6CF44-3868-4377-83CC-C084553879ED}" type="slidenum">
              <a:rPr lang="en-US"/>
            </a:fld>
            <a:endParaRPr lang="en-US"/>
          </a:p>
        </p:txBody>
      </p:sp>
      <p:sp>
        <p:nvSpPr>
          <p:cNvPr id="87044" name="Rectangle 2"/>
          <p:cNvSpPr>
            <a:spLocks noGrp="1" noChangeArrowheads="1"/>
          </p:cNvSpPr>
          <p:nvPr>
            <p:ph type="title"/>
          </p:nvPr>
        </p:nvSpPr>
        <p:spPr/>
        <p:txBody>
          <a:bodyPr/>
          <a:lstStyle/>
          <a:p>
            <a:r>
              <a:rPr lang="en-US" sz="3600"/>
              <a:t>DNS records</a:t>
            </a:r>
            <a:endParaRPr lang="en-US"/>
          </a:p>
        </p:txBody>
      </p:sp>
      <p:sp>
        <p:nvSpPr>
          <p:cNvPr id="87045" name="Rectangle 3"/>
          <p:cNvSpPr>
            <a:spLocks noGrp="1" noChangeArrowheads="1"/>
          </p:cNvSpPr>
          <p:nvPr>
            <p:ph type="body" sz="half" idx="1"/>
          </p:nvPr>
        </p:nvSpPr>
        <p:spPr>
          <a:xfrm>
            <a:off x="542925" y="1343025"/>
            <a:ext cx="7820025" cy="514350"/>
          </a:xfrm>
        </p:spPr>
        <p:txBody>
          <a:bodyPr/>
          <a:lstStyle/>
          <a:p>
            <a:pPr>
              <a:buFont typeface="ZapfDingbats" pitchFamily="82" charset="2"/>
              <a:buNone/>
            </a:pPr>
            <a:r>
              <a:rPr lang="en-US" sz="2400" u="sng">
                <a:solidFill>
                  <a:schemeClr val="accent2"/>
                </a:solidFill>
              </a:rPr>
              <a:t>DNS:</a:t>
            </a:r>
            <a:r>
              <a:rPr lang="en-US" sz="2400"/>
              <a:t> distributed db storing resource records </a:t>
            </a:r>
            <a:r>
              <a:rPr lang="en-US" sz="2400">
                <a:solidFill>
                  <a:srgbClr val="FF0000"/>
                </a:solidFill>
              </a:rPr>
              <a:t>(RR)</a:t>
            </a:r>
            <a:endParaRPr lang="en-US" sz="2400"/>
          </a:p>
        </p:txBody>
      </p:sp>
      <p:sp>
        <p:nvSpPr>
          <p:cNvPr id="87046" name="Rectangle 4"/>
          <p:cNvSpPr>
            <a:spLocks noGrp="1" noChangeArrowheads="1"/>
          </p:cNvSpPr>
          <p:nvPr>
            <p:ph type="body" sz="half" idx="2"/>
          </p:nvPr>
        </p:nvSpPr>
        <p:spPr>
          <a:xfrm>
            <a:off x="523875" y="3895725"/>
            <a:ext cx="4000500" cy="1866900"/>
          </a:xfrm>
        </p:spPr>
        <p:txBody>
          <a:bodyPr/>
          <a:lstStyle/>
          <a:p>
            <a:r>
              <a:rPr lang="en-US" sz="2400"/>
              <a:t>Type=NS</a:t>
            </a:r>
            <a:endParaRPr lang="en-US" sz="2400"/>
          </a:p>
          <a:p>
            <a:pPr lvl="1"/>
            <a:r>
              <a:rPr lang="en-US" sz="2000" b="1">
                <a:latin typeface="Courier New" panose="02070309020205020404" pitchFamily="49" charset="0"/>
              </a:rPr>
              <a:t>name</a:t>
            </a:r>
            <a:r>
              <a:rPr lang="en-US" sz="2000"/>
              <a:t> is domain (e.g. foo.com)</a:t>
            </a:r>
            <a:endParaRPr lang="en-US" sz="2000"/>
          </a:p>
          <a:p>
            <a:pPr lvl="1"/>
            <a:r>
              <a:rPr lang="en-US" sz="2000" b="1">
                <a:latin typeface="Courier New" panose="02070309020205020404" pitchFamily="49" charset="0"/>
              </a:rPr>
              <a:t>value</a:t>
            </a:r>
            <a:r>
              <a:rPr lang="en-US" sz="2000"/>
              <a:t> is hostname of authoritative name server for this domain</a:t>
            </a:r>
            <a:endParaRPr lang="en-US" sz="2000"/>
          </a:p>
          <a:p>
            <a:endParaRPr lang="en-US" sz="2400"/>
          </a:p>
        </p:txBody>
      </p:sp>
      <p:grpSp>
        <p:nvGrpSpPr>
          <p:cNvPr id="87047" name="Group 5"/>
          <p:cNvGrpSpPr/>
          <p:nvPr/>
        </p:nvGrpSpPr>
        <p:grpSpPr bwMode="auto">
          <a:xfrm>
            <a:off x="1795463" y="1895475"/>
            <a:ext cx="5364162" cy="571500"/>
            <a:chOff x="1407" y="1206"/>
            <a:chExt cx="3379" cy="360"/>
          </a:xfrm>
        </p:grpSpPr>
        <p:sp>
          <p:nvSpPr>
            <p:cNvPr id="87051" name="Text Box 6"/>
            <p:cNvSpPr txBox="1">
              <a:spLocks noChangeArrowheads="1"/>
            </p:cNvSpPr>
            <p:nvPr/>
          </p:nvSpPr>
          <p:spPr bwMode="auto">
            <a:xfrm>
              <a:off x="1407" y="1214"/>
              <a:ext cx="3379" cy="288"/>
            </a:xfrm>
            <a:prstGeom prst="rect">
              <a:avLst/>
            </a:prstGeom>
            <a:noFill/>
            <a:ln w="9525">
              <a:noFill/>
              <a:miter lim="800000"/>
            </a:ln>
          </p:spPr>
          <p:txBody>
            <a:bodyPr anchor="ctr">
              <a:spAutoFit/>
            </a:bodyPr>
            <a:lstStyle/>
            <a:p>
              <a:pPr algn="ctr">
                <a:spcBef>
                  <a:spcPct val="0"/>
                </a:spcBef>
                <a:buClrTx/>
                <a:buSzTx/>
                <a:buFontTx/>
                <a:buNone/>
              </a:pPr>
              <a:r>
                <a:rPr lang="en-US"/>
                <a:t>RR format: </a:t>
              </a:r>
              <a:r>
                <a:rPr lang="en-US" sz="1800" b="1">
                  <a:latin typeface="Courier New" panose="02070309020205020404" pitchFamily="49" charset="0"/>
                </a:rPr>
                <a:t>(name, value, type, ttl)</a:t>
              </a:r>
              <a:endParaRPr lang="en-US">
                <a:latin typeface="Times New Roman" panose="02020603050405020304" pitchFamily="18" charset="0"/>
              </a:endParaRPr>
            </a:p>
          </p:txBody>
        </p:sp>
        <p:sp>
          <p:nvSpPr>
            <p:cNvPr id="87052" name="Rectangle 7"/>
            <p:cNvSpPr>
              <a:spLocks noChangeArrowheads="1"/>
            </p:cNvSpPr>
            <p:nvPr/>
          </p:nvSpPr>
          <p:spPr bwMode="auto">
            <a:xfrm>
              <a:off x="1458" y="1206"/>
              <a:ext cx="3318" cy="360"/>
            </a:xfrm>
            <a:prstGeom prst="rect">
              <a:avLst/>
            </a:prstGeom>
            <a:noFill/>
            <a:ln w="19050">
              <a:solidFill>
                <a:schemeClr val="accent2"/>
              </a:solidFill>
              <a:miter lim="800000"/>
            </a:ln>
          </p:spPr>
          <p:txBody>
            <a:bodyPr wrap="none" anchor="ctr"/>
            <a:lstStyle/>
            <a:p>
              <a:pPr algn="ctr">
                <a:spcBef>
                  <a:spcPct val="0"/>
                </a:spcBef>
                <a:buClrTx/>
                <a:buSzTx/>
                <a:buFontTx/>
                <a:buNone/>
              </a:pPr>
              <a:endParaRPr lang="en-US">
                <a:solidFill>
                  <a:schemeClr val="accent2"/>
                </a:solidFill>
                <a:latin typeface="Times New Roman" panose="02020603050405020304" pitchFamily="18" charset="0"/>
              </a:endParaRPr>
            </a:p>
          </p:txBody>
        </p:sp>
      </p:grpSp>
      <p:sp>
        <p:nvSpPr>
          <p:cNvPr id="87048" name="Rectangle 8"/>
          <p:cNvSpPr>
            <a:spLocks noChangeArrowheads="1"/>
          </p:cNvSpPr>
          <p:nvPr/>
        </p:nvSpPr>
        <p:spPr bwMode="auto">
          <a:xfrm>
            <a:off x="523875" y="2657475"/>
            <a:ext cx="3810000" cy="1304925"/>
          </a:xfrm>
          <a:prstGeom prst="rect">
            <a:avLst/>
          </a:prstGeom>
          <a:noFill/>
          <a:ln w="9525">
            <a:noFill/>
            <a:miter lim="800000"/>
          </a:ln>
        </p:spPr>
        <p:txBody>
          <a:bodyPr/>
          <a:lstStyle/>
          <a:p>
            <a:pPr marL="342900" indent="-342900">
              <a:buFont typeface="ZapfDingbats" pitchFamily="82" charset="2"/>
              <a:buChar char="r"/>
            </a:pPr>
            <a:r>
              <a:rPr lang="en-US"/>
              <a:t>Type=A</a:t>
            </a:r>
            <a:endParaRPr lang="en-US"/>
          </a:p>
          <a:p>
            <a:pPr marL="742950" lvl="1" indent="-285750">
              <a:buSzPct val="75000"/>
              <a:buFont typeface="Wingdings" panose="05000000000000000000" pitchFamily="2" charset="2"/>
              <a:buChar char="v"/>
            </a:pPr>
            <a:r>
              <a:rPr lang="en-US" sz="2000" b="1">
                <a:latin typeface="Courier New" panose="02070309020205020404" pitchFamily="49" charset="0"/>
              </a:rPr>
              <a:t>name</a:t>
            </a:r>
            <a:r>
              <a:rPr lang="en-US" sz="2000"/>
              <a:t> is hostname</a:t>
            </a:r>
            <a:endParaRPr lang="en-US" sz="2000"/>
          </a:p>
          <a:p>
            <a:pPr marL="742950" lvl="1" indent="-285750">
              <a:buSzPct val="75000"/>
              <a:buFont typeface="Wingdings" panose="05000000000000000000" pitchFamily="2" charset="2"/>
              <a:buChar char="v"/>
            </a:pPr>
            <a:r>
              <a:rPr lang="en-US" sz="2000" b="1">
                <a:latin typeface="Courier New" panose="02070309020205020404" pitchFamily="49" charset="0"/>
              </a:rPr>
              <a:t>value</a:t>
            </a:r>
            <a:r>
              <a:rPr lang="en-US" sz="2000"/>
              <a:t> is IP address</a:t>
            </a:r>
            <a:endParaRPr lang="en-US" sz="2000"/>
          </a:p>
          <a:p>
            <a:pPr marL="342900" indent="-342900">
              <a:buFont typeface="ZapfDingbats" pitchFamily="82" charset="2"/>
              <a:buChar char="r"/>
            </a:pPr>
            <a:endParaRPr lang="en-US"/>
          </a:p>
        </p:txBody>
      </p:sp>
      <p:sp>
        <p:nvSpPr>
          <p:cNvPr id="87049" name="Rectangle 9"/>
          <p:cNvSpPr>
            <a:spLocks noChangeArrowheads="1"/>
          </p:cNvSpPr>
          <p:nvPr/>
        </p:nvSpPr>
        <p:spPr bwMode="auto">
          <a:xfrm>
            <a:off x="4217988" y="2697163"/>
            <a:ext cx="4514850" cy="2171700"/>
          </a:xfrm>
          <a:prstGeom prst="rect">
            <a:avLst/>
          </a:prstGeom>
          <a:noFill/>
          <a:ln w="9525">
            <a:noFill/>
            <a:miter lim="800000"/>
          </a:ln>
        </p:spPr>
        <p:txBody>
          <a:bodyPr/>
          <a:lstStyle/>
          <a:p>
            <a:pPr marL="342900" indent="-342900">
              <a:buFont typeface="ZapfDingbats" pitchFamily="82" charset="2"/>
              <a:buChar char="r"/>
            </a:pPr>
            <a:r>
              <a:rPr lang="en-US"/>
              <a:t>Type=CNAME</a:t>
            </a:r>
            <a:endParaRPr lang="en-US"/>
          </a:p>
          <a:p>
            <a:pPr marL="742950" lvl="1" indent="-285750">
              <a:buSzPct val="75000"/>
              <a:buFont typeface="Wingdings" panose="05000000000000000000" pitchFamily="2" charset="2"/>
              <a:buChar char="v"/>
            </a:pPr>
            <a:r>
              <a:rPr lang="en-US" sz="2000" b="1">
                <a:latin typeface="Courier New" panose="02070309020205020404" pitchFamily="49" charset="0"/>
              </a:rPr>
              <a:t>name</a:t>
            </a:r>
            <a:r>
              <a:rPr lang="en-US" sz="2000"/>
              <a:t> is alias name for some “canonical” (the real) name</a:t>
            </a:r>
            <a:endParaRPr lang="en-US" sz="2000"/>
          </a:p>
          <a:p>
            <a:pPr marL="742950" lvl="1" indent="-285750">
              <a:buSzPct val="75000"/>
              <a:buFont typeface="Wingdings" panose="05000000000000000000" pitchFamily="2" charset="2"/>
              <a:buNone/>
            </a:pPr>
            <a:r>
              <a:rPr lang="en-US" sz="1800">
                <a:latin typeface="Courier New" panose="02070309020205020404" pitchFamily="49" charset="0"/>
              </a:rPr>
              <a:t>  www.ibm.com </a:t>
            </a:r>
            <a:r>
              <a:rPr lang="en-US" sz="2000"/>
              <a:t>is really</a:t>
            </a:r>
            <a:endParaRPr lang="en-US" sz="1800">
              <a:latin typeface="Courier New" panose="02070309020205020404" pitchFamily="49" charset="0"/>
            </a:endParaRPr>
          </a:p>
          <a:p>
            <a:pPr marL="742950" lvl="1" indent="-285750">
              <a:buSzPct val="75000"/>
              <a:buFont typeface="Wingdings" panose="05000000000000000000" pitchFamily="2" charset="2"/>
              <a:buNone/>
            </a:pPr>
            <a:r>
              <a:rPr lang="en-US" sz="1800">
                <a:latin typeface="Courier New" panose="02070309020205020404" pitchFamily="49" charset="0"/>
              </a:rPr>
              <a:t>  servereast.backup2.ibm.com</a:t>
            </a:r>
            <a:endParaRPr lang="en-US" sz="1800">
              <a:latin typeface="Courier New" panose="02070309020205020404" pitchFamily="49" charset="0"/>
            </a:endParaRPr>
          </a:p>
          <a:p>
            <a:pPr marL="742950" lvl="1" indent="-285750">
              <a:buSzPct val="75000"/>
              <a:buFont typeface="Wingdings" panose="05000000000000000000" pitchFamily="2" charset="2"/>
              <a:buChar char="v"/>
            </a:pPr>
            <a:r>
              <a:rPr lang="en-US" sz="2000" b="1">
                <a:latin typeface="Courier New" panose="02070309020205020404" pitchFamily="49" charset="0"/>
              </a:rPr>
              <a:t>value</a:t>
            </a:r>
            <a:r>
              <a:rPr lang="en-US" sz="2000"/>
              <a:t> is canonical name</a:t>
            </a:r>
            <a:endParaRPr lang="en-US" sz="2000"/>
          </a:p>
          <a:p>
            <a:pPr marL="342900" indent="-342900">
              <a:buFont typeface="ZapfDingbats" pitchFamily="82" charset="2"/>
              <a:buChar char="r"/>
            </a:pPr>
            <a:endParaRPr lang="en-US"/>
          </a:p>
        </p:txBody>
      </p:sp>
      <p:sp>
        <p:nvSpPr>
          <p:cNvPr id="87050" name="Rectangle 10"/>
          <p:cNvSpPr>
            <a:spLocks noChangeArrowheads="1"/>
          </p:cNvSpPr>
          <p:nvPr/>
        </p:nvSpPr>
        <p:spPr bwMode="auto">
          <a:xfrm>
            <a:off x="4252913" y="5032375"/>
            <a:ext cx="4408487" cy="1309688"/>
          </a:xfrm>
          <a:prstGeom prst="rect">
            <a:avLst/>
          </a:prstGeom>
          <a:noFill/>
          <a:ln w="9525">
            <a:noFill/>
            <a:miter lim="800000"/>
          </a:ln>
        </p:spPr>
        <p:txBody>
          <a:bodyPr/>
          <a:lstStyle/>
          <a:p>
            <a:pPr marL="342900" indent="-342900">
              <a:buFont typeface="ZapfDingbats" pitchFamily="82" charset="2"/>
              <a:buChar char="r"/>
            </a:pPr>
            <a:r>
              <a:rPr lang="en-US"/>
              <a:t>Type=MX</a:t>
            </a:r>
            <a:endParaRPr lang="en-US"/>
          </a:p>
          <a:p>
            <a:pPr marL="742950" lvl="1" indent="-285750">
              <a:buSzPct val="75000"/>
              <a:buFont typeface="Wingdings" panose="05000000000000000000" pitchFamily="2" charset="2"/>
              <a:buChar char="v"/>
            </a:pPr>
            <a:r>
              <a:rPr lang="en-US" sz="2000" b="1">
                <a:latin typeface="Courier New" panose="02070309020205020404" pitchFamily="49" charset="0"/>
              </a:rPr>
              <a:t>value</a:t>
            </a:r>
            <a:r>
              <a:rPr lang="en-US" sz="2000"/>
              <a:t> is name of mailserver associated with </a:t>
            </a:r>
            <a:r>
              <a:rPr lang="en-US" sz="2000" b="1">
                <a:latin typeface="Courier New" panose="02070309020205020404" pitchFamily="49" charset="0"/>
              </a:rPr>
              <a:t>name</a:t>
            </a:r>
            <a:endParaRPr lang="en-US" sz="2000"/>
          </a:p>
          <a:p>
            <a:pPr marL="342900" indent="-342900">
              <a:buFont typeface="ZapfDingbats" pitchFamily="82" charset="2"/>
              <a:buChar char="r"/>
            </a:pPr>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8067" name="Slide Number Placeholder 6"/>
          <p:cNvSpPr>
            <a:spLocks noGrp="1"/>
          </p:cNvSpPr>
          <p:nvPr>
            <p:ph type="sldNum" sz="quarter" idx="12"/>
          </p:nvPr>
        </p:nvSpPr>
        <p:spPr>
          <a:noFill/>
        </p:spPr>
        <p:txBody>
          <a:bodyPr/>
          <a:lstStyle/>
          <a:p>
            <a:fld id="{916C0146-19B7-4C60-8EBE-ADA680210620}" type="slidenum">
              <a:rPr lang="en-US"/>
            </a:fld>
            <a:endParaRPr lang="en-US"/>
          </a:p>
        </p:txBody>
      </p:sp>
      <p:sp>
        <p:nvSpPr>
          <p:cNvPr id="88068" name="Rectangle 2"/>
          <p:cNvSpPr>
            <a:spLocks noGrp="1" noChangeArrowheads="1"/>
          </p:cNvSpPr>
          <p:nvPr>
            <p:ph type="title"/>
          </p:nvPr>
        </p:nvSpPr>
        <p:spPr/>
        <p:txBody>
          <a:bodyPr/>
          <a:lstStyle/>
          <a:p>
            <a:r>
              <a:rPr lang="en-US" sz="3600"/>
              <a:t>DNS protocol, messages</a:t>
            </a:r>
            <a:endParaRPr lang="en-US"/>
          </a:p>
        </p:txBody>
      </p:sp>
      <p:sp>
        <p:nvSpPr>
          <p:cNvPr id="88069" name="Rectangle 3"/>
          <p:cNvSpPr>
            <a:spLocks noGrp="1" noChangeArrowheads="1"/>
          </p:cNvSpPr>
          <p:nvPr>
            <p:ph type="body" sz="half" idx="1"/>
          </p:nvPr>
        </p:nvSpPr>
        <p:spPr>
          <a:xfrm>
            <a:off x="542925" y="1343025"/>
            <a:ext cx="7820025" cy="514350"/>
          </a:xfrm>
        </p:spPr>
        <p:txBody>
          <a:bodyPr/>
          <a:lstStyle/>
          <a:p>
            <a:pPr>
              <a:buFont typeface="ZapfDingbats" pitchFamily="82" charset="2"/>
              <a:buNone/>
            </a:pPr>
            <a:r>
              <a:rPr lang="en-US" sz="2400" u="sng">
                <a:solidFill>
                  <a:schemeClr val="accent2"/>
                </a:solidFill>
              </a:rPr>
              <a:t>DNS protocol :</a:t>
            </a:r>
            <a:r>
              <a:rPr lang="en-US" sz="2400"/>
              <a:t> </a:t>
            </a:r>
            <a:r>
              <a:rPr lang="en-US" sz="2400" i="1">
                <a:solidFill>
                  <a:srgbClr val="FF0000"/>
                </a:solidFill>
              </a:rPr>
              <a:t>query</a:t>
            </a:r>
            <a:r>
              <a:rPr lang="en-US" sz="2400">
                <a:solidFill>
                  <a:srgbClr val="FF0000"/>
                </a:solidFill>
              </a:rPr>
              <a:t> </a:t>
            </a:r>
            <a:r>
              <a:rPr lang="en-US" sz="2400"/>
              <a:t>and </a:t>
            </a:r>
            <a:r>
              <a:rPr lang="en-US" sz="2400" i="1">
                <a:solidFill>
                  <a:srgbClr val="FF0000"/>
                </a:solidFill>
              </a:rPr>
              <a:t>reply</a:t>
            </a:r>
            <a:r>
              <a:rPr lang="en-US" sz="2400"/>
              <a:t> messages, both with same </a:t>
            </a:r>
            <a:r>
              <a:rPr lang="en-US" sz="2400" i="1">
                <a:solidFill>
                  <a:srgbClr val="FF0000"/>
                </a:solidFill>
              </a:rPr>
              <a:t>message format</a:t>
            </a:r>
            <a:endParaRPr lang="en-US" sz="2400">
              <a:solidFill>
                <a:srgbClr val="FF0000"/>
              </a:solidFill>
            </a:endParaRPr>
          </a:p>
        </p:txBody>
      </p:sp>
      <p:sp>
        <p:nvSpPr>
          <p:cNvPr id="88070" name="Rectangle 4"/>
          <p:cNvSpPr>
            <a:spLocks noChangeArrowheads="1"/>
          </p:cNvSpPr>
          <p:nvPr/>
        </p:nvSpPr>
        <p:spPr bwMode="auto">
          <a:xfrm>
            <a:off x="533400" y="2352675"/>
            <a:ext cx="3575050" cy="3838575"/>
          </a:xfrm>
          <a:prstGeom prst="rect">
            <a:avLst/>
          </a:prstGeom>
          <a:noFill/>
          <a:ln w="9525">
            <a:noFill/>
            <a:miter lim="800000"/>
          </a:ln>
        </p:spPr>
        <p:txBody>
          <a:bodyPr/>
          <a:lstStyle/>
          <a:p>
            <a:pPr marL="342900" indent="-342900"/>
            <a:r>
              <a:rPr lang="en-US"/>
              <a:t>msg header</a:t>
            </a:r>
            <a:endParaRPr lang="en-US"/>
          </a:p>
          <a:p>
            <a:pPr marL="342900" indent="-342900">
              <a:buFont typeface="ZapfDingbats" pitchFamily="82" charset="2"/>
              <a:buChar char="r"/>
            </a:pPr>
            <a:r>
              <a:rPr lang="en-US" sz="2000">
                <a:solidFill>
                  <a:schemeClr val="accent2"/>
                </a:solidFill>
              </a:rPr>
              <a:t>identification:</a:t>
            </a:r>
            <a:r>
              <a:rPr lang="en-US" sz="2000"/>
              <a:t> 16 bit # for query, reply to query uses same #</a:t>
            </a:r>
            <a:endParaRPr lang="en-US" sz="2000"/>
          </a:p>
          <a:p>
            <a:pPr marL="342900" indent="-342900">
              <a:buFont typeface="ZapfDingbats" pitchFamily="82" charset="2"/>
              <a:buChar char="r"/>
            </a:pPr>
            <a:r>
              <a:rPr lang="en-US" sz="2000">
                <a:solidFill>
                  <a:schemeClr val="accent2"/>
                </a:solidFill>
              </a:rPr>
              <a:t>flags:</a:t>
            </a:r>
            <a:endParaRPr lang="en-US" sz="2000"/>
          </a:p>
          <a:p>
            <a:pPr marL="742950" lvl="1" indent="-285750">
              <a:buSzPct val="75000"/>
              <a:buFont typeface="Wingdings" panose="05000000000000000000" pitchFamily="2" charset="2"/>
              <a:buChar char="v"/>
            </a:pPr>
            <a:r>
              <a:rPr lang="en-US" sz="2000"/>
              <a:t>query or reply</a:t>
            </a:r>
            <a:endParaRPr lang="en-US" sz="2000"/>
          </a:p>
          <a:p>
            <a:pPr marL="742950" lvl="1" indent="-285750">
              <a:buSzPct val="75000"/>
              <a:buFont typeface="Wingdings" panose="05000000000000000000" pitchFamily="2" charset="2"/>
              <a:buChar char="v"/>
            </a:pPr>
            <a:r>
              <a:rPr lang="en-US" sz="2000"/>
              <a:t>recursion desired </a:t>
            </a:r>
            <a:endParaRPr lang="en-US" sz="2000"/>
          </a:p>
          <a:p>
            <a:pPr marL="742950" lvl="1" indent="-285750">
              <a:buSzPct val="75000"/>
              <a:buFont typeface="Wingdings" panose="05000000000000000000" pitchFamily="2" charset="2"/>
              <a:buChar char="v"/>
            </a:pPr>
            <a:r>
              <a:rPr lang="en-US" sz="2000"/>
              <a:t>recursion available</a:t>
            </a:r>
            <a:endParaRPr lang="en-US" sz="2000"/>
          </a:p>
          <a:p>
            <a:pPr marL="742950" lvl="1" indent="-285750">
              <a:buSzPct val="75000"/>
              <a:buFont typeface="Wingdings" panose="05000000000000000000" pitchFamily="2" charset="2"/>
              <a:buChar char="v"/>
            </a:pPr>
            <a:r>
              <a:rPr lang="en-US" sz="2000"/>
              <a:t>reply is authoritative</a:t>
            </a:r>
            <a:endParaRPr lang="en-US" sz="2000"/>
          </a:p>
        </p:txBody>
      </p:sp>
      <p:pic>
        <p:nvPicPr>
          <p:cNvPr id="88071" name="Picture 5" descr="DNSmessage"/>
          <p:cNvPicPr>
            <a:picLocks noChangeAspect="1" noChangeArrowheads="1"/>
          </p:cNvPicPr>
          <p:nvPr/>
        </p:nvPicPr>
        <p:blipFill>
          <a:blip r:embed="rId1"/>
          <a:srcRect/>
          <a:stretch>
            <a:fillRect/>
          </a:stretch>
        </p:blipFill>
        <p:spPr bwMode="auto">
          <a:xfrm>
            <a:off x="4181475" y="2090738"/>
            <a:ext cx="5132388" cy="4167187"/>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89091" name="Slide Number Placeholder 6"/>
          <p:cNvSpPr>
            <a:spLocks noGrp="1"/>
          </p:cNvSpPr>
          <p:nvPr>
            <p:ph type="sldNum" sz="quarter" idx="12"/>
          </p:nvPr>
        </p:nvSpPr>
        <p:spPr>
          <a:noFill/>
        </p:spPr>
        <p:txBody>
          <a:bodyPr/>
          <a:lstStyle/>
          <a:p>
            <a:fld id="{ADB74555-2FB8-4123-A33C-8B9972B4B077}" type="slidenum">
              <a:rPr lang="en-US"/>
            </a:fld>
            <a:endParaRPr lang="en-US"/>
          </a:p>
        </p:txBody>
      </p:sp>
      <p:sp>
        <p:nvSpPr>
          <p:cNvPr id="89092" name="Rectangle 2"/>
          <p:cNvSpPr>
            <a:spLocks noGrp="1" noChangeArrowheads="1"/>
          </p:cNvSpPr>
          <p:nvPr>
            <p:ph type="title"/>
          </p:nvPr>
        </p:nvSpPr>
        <p:spPr>
          <a:xfrm>
            <a:off x="533400" y="-335760"/>
            <a:ext cx="7772400" cy="1143000"/>
          </a:xfrm>
        </p:spPr>
        <p:txBody>
          <a:bodyPr/>
          <a:lstStyle/>
          <a:p>
            <a:r>
              <a:rPr lang="en-US" sz="3600" dirty="0"/>
              <a:t>DNS protocol, messages</a:t>
            </a:r>
            <a:endParaRPr lang="en-US" dirty="0"/>
          </a:p>
        </p:txBody>
      </p:sp>
      <p:pic>
        <p:nvPicPr>
          <p:cNvPr id="89093" name="Picture 3" descr="DNSmessage"/>
          <p:cNvPicPr>
            <a:picLocks noChangeAspect="1" noChangeArrowheads="1"/>
          </p:cNvPicPr>
          <p:nvPr/>
        </p:nvPicPr>
        <p:blipFill>
          <a:blip r:embed="rId1"/>
          <a:srcRect/>
          <a:stretch>
            <a:fillRect/>
          </a:stretch>
        </p:blipFill>
        <p:spPr bwMode="auto">
          <a:xfrm>
            <a:off x="3896516" y="552439"/>
            <a:ext cx="4387850" cy="3562350"/>
          </a:xfrm>
          <a:prstGeom prst="rect">
            <a:avLst/>
          </a:prstGeom>
          <a:noFill/>
          <a:ln w="9525">
            <a:noFill/>
            <a:miter lim="800000"/>
            <a:headEnd/>
            <a:tailEnd/>
          </a:ln>
        </p:spPr>
      </p:pic>
      <p:sp>
        <p:nvSpPr>
          <p:cNvPr id="89094" name="Text Box 4"/>
          <p:cNvSpPr txBox="1">
            <a:spLocks noChangeArrowheads="1"/>
          </p:cNvSpPr>
          <p:nvPr/>
        </p:nvSpPr>
        <p:spPr bwMode="auto">
          <a:xfrm>
            <a:off x="435766" y="873114"/>
            <a:ext cx="2286000" cy="701675"/>
          </a:xfrm>
          <a:prstGeom prst="rect">
            <a:avLst/>
          </a:prstGeom>
          <a:noFill/>
          <a:ln w="9525">
            <a:noFill/>
            <a:miter lim="800000"/>
          </a:ln>
        </p:spPr>
        <p:txBody>
          <a:bodyPr wrap="none" anchor="ctr">
            <a:spAutoFit/>
          </a:bodyPr>
          <a:lstStyle/>
          <a:p>
            <a:pPr algn="r">
              <a:spcBef>
                <a:spcPct val="0"/>
              </a:spcBef>
              <a:buClrTx/>
              <a:buSzTx/>
              <a:buFontTx/>
              <a:buNone/>
            </a:pPr>
            <a:r>
              <a:rPr lang="en-US" sz="2000"/>
              <a:t>Name, type fields</a:t>
            </a:r>
            <a:endParaRPr lang="en-US" sz="2000"/>
          </a:p>
          <a:p>
            <a:pPr algn="r">
              <a:spcBef>
                <a:spcPct val="0"/>
              </a:spcBef>
              <a:buClrTx/>
              <a:buSzTx/>
              <a:buFontTx/>
              <a:buNone/>
            </a:pPr>
            <a:r>
              <a:rPr lang="en-US" sz="2000"/>
              <a:t> for a query</a:t>
            </a:r>
            <a:endParaRPr lang="en-US">
              <a:latin typeface="Times New Roman" panose="02020603050405020304" pitchFamily="18" charset="0"/>
            </a:endParaRPr>
          </a:p>
        </p:txBody>
      </p:sp>
      <p:sp>
        <p:nvSpPr>
          <p:cNvPr id="89095" name="Text Box 5"/>
          <p:cNvSpPr txBox="1">
            <a:spLocks noChangeArrowheads="1"/>
          </p:cNvSpPr>
          <p:nvPr/>
        </p:nvSpPr>
        <p:spPr bwMode="auto">
          <a:xfrm>
            <a:off x="556416" y="1873239"/>
            <a:ext cx="2168525" cy="701675"/>
          </a:xfrm>
          <a:prstGeom prst="rect">
            <a:avLst/>
          </a:prstGeom>
          <a:noFill/>
          <a:ln w="9525">
            <a:noFill/>
            <a:miter lim="800000"/>
          </a:ln>
        </p:spPr>
        <p:txBody>
          <a:bodyPr anchor="ctr">
            <a:spAutoFit/>
          </a:bodyPr>
          <a:lstStyle/>
          <a:p>
            <a:pPr algn="r">
              <a:spcBef>
                <a:spcPct val="0"/>
              </a:spcBef>
              <a:buClrTx/>
              <a:buSzTx/>
              <a:buFontTx/>
              <a:buNone/>
            </a:pPr>
            <a:r>
              <a:rPr lang="en-US" sz="2000"/>
              <a:t>RRs in response</a:t>
            </a:r>
            <a:endParaRPr lang="en-US" sz="2000"/>
          </a:p>
          <a:p>
            <a:pPr algn="r">
              <a:spcBef>
                <a:spcPct val="0"/>
              </a:spcBef>
              <a:buClrTx/>
              <a:buSzTx/>
              <a:buFontTx/>
              <a:buNone/>
            </a:pPr>
            <a:r>
              <a:rPr lang="en-US" sz="2000"/>
              <a:t>to query</a:t>
            </a:r>
            <a:endParaRPr lang="en-US">
              <a:latin typeface="Times New Roman" panose="02020603050405020304" pitchFamily="18" charset="0"/>
            </a:endParaRPr>
          </a:p>
        </p:txBody>
      </p:sp>
      <p:sp>
        <p:nvSpPr>
          <p:cNvPr id="89096" name="Text Box 6"/>
          <p:cNvSpPr txBox="1">
            <a:spLocks noChangeArrowheads="1"/>
          </p:cNvSpPr>
          <p:nvPr/>
        </p:nvSpPr>
        <p:spPr bwMode="auto">
          <a:xfrm>
            <a:off x="15079" y="2759064"/>
            <a:ext cx="2713037" cy="701675"/>
          </a:xfrm>
          <a:prstGeom prst="rect">
            <a:avLst/>
          </a:prstGeom>
          <a:noFill/>
          <a:ln w="9525">
            <a:noFill/>
            <a:miter lim="800000"/>
          </a:ln>
        </p:spPr>
        <p:txBody>
          <a:bodyPr wrap="none" anchor="ctr">
            <a:spAutoFit/>
          </a:bodyPr>
          <a:lstStyle/>
          <a:p>
            <a:pPr algn="r">
              <a:spcBef>
                <a:spcPct val="0"/>
              </a:spcBef>
              <a:buClrTx/>
              <a:buSzTx/>
              <a:buFontTx/>
              <a:buNone/>
            </a:pPr>
            <a:r>
              <a:rPr lang="en-US" sz="2000" dirty="0"/>
              <a:t>records for</a:t>
            </a:r>
            <a:endParaRPr lang="en-US" sz="2000" dirty="0"/>
          </a:p>
          <a:p>
            <a:pPr algn="r">
              <a:spcBef>
                <a:spcPct val="0"/>
              </a:spcBef>
              <a:buClrTx/>
              <a:buSzTx/>
              <a:buFontTx/>
              <a:buNone/>
            </a:pPr>
            <a:r>
              <a:rPr lang="en-US" sz="2000" dirty="0"/>
              <a:t>authoritative servers</a:t>
            </a:r>
            <a:endParaRPr lang="en-US" dirty="0">
              <a:latin typeface="Times New Roman" panose="02020603050405020304" pitchFamily="18" charset="0"/>
            </a:endParaRPr>
          </a:p>
        </p:txBody>
      </p:sp>
      <p:sp>
        <p:nvSpPr>
          <p:cNvPr id="89097" name="Text Box 7"/>
          <p:cNvSpPr txBox="1">
            <a:spLocks noChangeArrowheads="1"/>
          </p:cNvSpPr>
          <p:nvPr/>
        </p:nvSpPr>
        <p:spPr bwMode="auto">
          <a:xfrm>
            <a:off x="-48421" y="3711564"/>
            <a:ext cx="2763837" cy="701675"/>
          </a:xfrm>
          <a:prstGeom prst="rect">
            <a:avLst/>
          </a:prstGeom>
          <a:noFill/>
          <a:ln w="9525">
            <a:noFill/>
            <a:miter lim="800000"/>
          </a:ln>
        </p:spPr>
        <p:txBody>
          <a:bodyPr wrap="none" anchor="ctr">
            <a:spAutoFit/>
          </a:bodyPr>
          <a:lstStyle/>
          <a:p>
            <a:pPr algn="r">
              <a:spcBef>
                <a:spcPct val="0"/>
              </a:spcBef>
              <a:buClrTx/>
              <a:buSzTx/>
              <a:buFontTx/>
              <a:buNone/>
            </a:pPr>
            <a:r>
              <a:rPr lang="en-US" sz="2000"/>
              <a:t>additional “helpful”</a:t>
            </a:r>
            <a:endParaRPr lang="en-US" sz="2000"/>
          </a:p>
          <a:p>
            <a:pPr algn="r">
              <a:spcBef>
                <a:spcPct val="0"/>
              </a:spcBef>
              <a:buClrTx/>
              <a:buSzTx/>
              <a:buFontTx/>
              <a:buNone/>
            </a:pPr>
            <a:r>
              <a:rPr lang="en-US" sz="2000"/>
              <a:t>info that may be used</a:t>
            </a:r>
            <a:endParaRPr lang="en-US">
              <a:latin typeface="Times New Roman" panose="02020603050405020304" pitchFamily="18" charset="0"/>
            </a:endParaRPr>
          </a:p>
        </p:txBody>
      </p:sp>
      <p:sp>
        <p:nvSpPr>
          <p:cNvPr id="89098" name="Line 8"/>
          <p:cNvSpPr>
            <a:spLocks noChangeShapeType="1"/>
          </p:cNvSpPr>
          <p:nvPr/>
        </p:nvSpPr>
        <p:spPr bwMode="auto">
          <a:xfrm>
            <a:off x="2645566" y="1214426"/>
            <a:ext cx="1447800" cy="800100"/>
          </a:xfrm>
          <a:prstGeom prst="line">
            <a:avLst/>
          </a:prstGeom>
          <a:noFill/>
          <a:ln w="28575">
            <a:solidFill>
              <a:srgbClr val="FF0000"/>
            </a:solidFill>
            <a:round/>
            <a:tailEnd type="triangle" w="med" len="med"/>
          </a:ln>
        </p:spPr>
        <p:txBody>
          <a:bodyPr wrap="none" anchor="ctr"/>
          <a:lstStyle/>
          <a:p>
            <a:endParaRPr lang="en-US"/>
          </a:p>
        </p:txBody>
      </p:sp>
      <p:sp>
        <p:nvSpPr>
          <p:cNvPr id="89099" name="Line 9"/>
          <p:cNvSpPr>
            <a:spLocks noChangeShapeType="1"/>
          </p:cNvSpPr>
          <p:nvPr/>
        </p:nvSpPr>
        <p:spPr bwMode="auto">
          <a:xfrm>
            <a:off x="2645566" y="2243126"/>
            <a:ext cx="1514475" cy="371475"/>
          </a:xfrm>
          <a:prstGeom prst="line">
            <a:avLst/>
          </a:prstGeom>
          <a:noFill/>
          <a:ln w="28575">
            <a:solidFill>
              <a:srgbClr val="FF0000"/>
            </a:solidFill>
            <a:round/>
            <a:tailEnd type="triangle" w="med" len="med"/>
          </a:ln>
        </p:spPr>
        <p:txBody>
          <a:bodyPr wrap="none" anchor="ctr"/>
          <a:lstStyle/>
          <a:p>
            <a:endParaRPr lang="en-US"/>
          </a:p>
        </p:txBody>
      </p:sp>
      <p:sp>
        <p:nvSpPr>
          <p:cNvPr id="89100" name="Line 10"/>
          <p:cNvSpPr>
            <a:spLocks noChangeShapeType="1"/>
          </p:cNvSpPr>
          <p:nvPr/>
        </p:nvSpPr>
        <p:spPr bwMode="auto">
          <a:xfrm>
            <a:off x="2674141" y="3119426"/>
            <a:ext cx="1447800" cy="133350"/>
          </a:xfrm>
          <a:prstGeom prst="line">
            <a:avLst/>
          </a:prstGeom>
          <a:noFill/>
          <a:ln w="28575">
            <a:solidFill>
              <a:srgbClr val="FF0000"/>
            </a:solidFill>
            <a:round/>
            <a:tailEnd type="triangle" w="med" len="med"/>
          </a:ln>
        </p:spPr>
        <p:txBody>
          <a:bodyPr wrap="none" anchor="ctr"/>
          <a:lstStyle/>
          <a:p>
            <a:endParaRPr lang="en-US"/>
          </a:p>
        </p:txBody>
      </p:sp>
      <p:sp>
        <p:nvSpPr>
          <p:cNvPr id="89101" name="Line 11"/>
          <p:cNvSpPr>
            <a:spLocks noChangeShapeType="1"/>
          </p:cNvSpPr>
          <p:nvPr/>
        </p:nvSpPr>
        <p:spPr bwMode="auto">
          <a:xfrm flipV="1">
            <a:off x="2683666" y="3786176"/>
            <a:ext cx="1438275" cy="276225"/>
          </a:xfrm>
          <a:prstGeom prst="line">
            <a:avLst/>
          </a:prstGeom>
          <a:noFill/>
          <a:ln w="28575">
            <a:solidFill>
              <a:srgbClr val="FF0000"/>
            </a:solidFill>
            <a:round/>
            <a:tailEnd type="triangle" w="med" len="med"/>
          </a:ln>
        </p:spPr>
        <p:txBody>
          <a:bodyPr wrap="none" anchor="ctr"/>
          <a:lstStyle/>
          <a:p>
            <a:endParaRPr lang="en-US"/>
          </a:p>
        </p:txBody>
      </p:sp>
      <p:pic>
        <p:nvPicPr>
          <p:cNvPr id="2" name="图片 1"/>
          <p:cNvPicPr>
            <a:picLocks noChangeAspect="1"/>
          </p:cNvPicPr>
          <p:nvPr/>
        </p:nvPicPr>
        <p:blipFill>
          <a:blip r:embed="rId2"/>
          <a:stretch>
            <a:fillRect/>
          </a:stretch>
        </p:blipFill>
        <p:spPr>
          <a:xfrm>
            <a:off x="1521619" y="4435278"/>
            <a:ext cx="6878640" cy="2416592"/>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90115" name="Slide Number Placeholder 5"/>
          <p:cNvSpPr>
            <a:spLocks noGrp="1"/>
          </p:cNvSpPr>
          <p:nvPr>
            <p:ph type="sldNum" sz="quarter" idx="12"/>
          </p:nvPr>
        </p:nvSpPr>
        <p:spPr>
          <a:noFill/>
        </p:spPr>
        <p:txBody>
          <a:bodyPr/>
          <a:lstStyle/>
          <a:p>
            <a:fld id="{749AE49B-84D2-4AB6-ADB0-02EB47A70BB3}" type="slidenum">
              <a:rPr lang="en-US"/>
            </a:fld>
            <a:endParaRPr lang="en-US"/>
          </a:p>
        </p:txBody>
      </p:sp>
      <p:sp>
        <p:nvSpPr>
          <p:cNvPr id="90116" name="Rectangle 2"/>
          <p:cNvSpPr>
            <a:spLocks noGrp="1" noChangeArrowheads="1"/>
          </p:cNvSpPr>
          <p:nvPr>
            <p:ph type="title"/>
          </p:nvPr>
        </p:nvSpPr>
        <p:spPr/>
        <p:txBody>
          <a:bodyPr/>
          <a:lstStyle/>
          <a:p>
            <a:r>
              <a:rPr lang="en-US"/>
              <a:t>Inserting records into DNS</a:t>
            </a:r>
            <a:endParaRPr lang="en-US"/>
          </a:p>
        </p:txBody>
      </p:sp>
      <p:sp>
        <p:nvSpPr>
          <p:cNvPr id="90117" name="Rectangle 4"/>
          <p:cNvSpPr>
            <a:spLocks noGrp="1" noChangeArrowheads="1"/>
          </p:cNvSpPr>
          <p:nvPr>
            <p:ph type="body" idx="1"/>
          </p:nvPr>
        </p:nvSpPr>
        <p:spPr>
          <a:xfrm>
            <a:off x="533400" y="1600200"/>
            <a:ext cx="8107363" cy="4648200"/>
          </a:xfrm>
        </p:spPr>
        <p:txBody>
          <a:bodyPr/>
          <a:lstStyle/>
          <a:p>
            <a:pPr>
              <a:lnSpc>
                <a:spcPct val="80000"/>
              </a:lnSpc>
            </a:pPr>
            <a:r>
              <a:rPr lang="en-US" sz="2400" dirty="0"/>
              <a:t>example: new startup “Network Utopia”</a:t>
            </a:r>
            <a:endParaRPr lang="en-US" sz="2400" dirty="0"/>
          </a:p>
          <a:p>
            <a:pPr>
              <a:lnSpc>
                <a:spcPct val="80000"/>
              </a:lnSpc>
            </a:pPr>
            <a:r>
              <a:rPr lang="en-US" sz="2400" dirty="0"/>
              <a:t>register name networkutopia.com at </a:t>
            </a:r>
            <a:r>
              <a:rPr lang="en-US" sz="2400" i="1" dirty="0"/>
              <a:t>DNS </a:t>
            </a:r>
            <a:r>
              <a:rPr lang="en-US" sz="2400" i="1" dirty="0">
                <a:solidFill>
                  <a:srgbClr val="FF0000"/>
                </a:solidFill>
              </a:rPr>
              <a:t>registrar</a:t>
            </a:r>
            <a:r>
              <a:rPr lang="en-US" sz="2400" dirty="0"/>
              <a:t> (e.g., Network Solutions)</a:t>
            </a:r>
            <a:endParaRPr lang="en-US" sz="2400" dirty="0"/>
          </a:p>
          <a:p>
            <a:pPr lvl="1">
              <a:lnSpc>
                <a:spcPct val="80000"/>
              </a:lnSpc>
            </a:pPr>
            <a:r>
              <a:rPr lang="en-US" sz="2000" dirty="0"/>
              <a:t>provide names, IP addresses of authoritative name server (primary and secondary)</a:t>
            </a:r>
            <a:endParaRPr lang="en-US" sz="2000" dirty="0"/>
          </a:p>
          <a:p>
            <a:pPr lvl="1">
              <a:lnSpc>
                <a:spcPct val="80000"/>
              </a:lnSpc>
            </a:pPr>
            <a:r>
              <a:rPr lang="en-US" sz="2000" dirty="0"/>
              <a:t>registrar inserts two RRs into com TLD server:</a:t>
            </a:r>
            <a:br>
              <a:rPr lang="en-US" sz="2000" dirty="0"/>
            </a:br>
            <a:endParaRPr lang="en-US" sz="2000" dirty="0"/>
          </a:p>
          <a:p>
            <a:pPr lvl="1">
              <a:lnSpc>
                <a:spcPct val="80000"/>
              </a:lnSpc>
              <a:buFont typeface="Wingdings" panose="05000000000000000000" pitchFamily="2" charset="2"/>
              <a:buNone/>
            </a:pPr>
            <a:r>
              <a:rPr lang="en-US" sz="2000" dirty="0">
                <a:latin typeface="Courier New" panose="02070309020205020404" pitchFamily="49" charset="0"/>
              </a:rPr>
              <a:t>(networkutopia.com, dns1.networkutopia.com, NS)</a:t>
            </a:r>
            <a:endParaRPr lang="en-US" sz="2000" dirty="0">
              <a:latin typeface="Courier New" panose="02070309020205020404" pitchFamily="49" charset="0"/>
            </a:endParaRPr>
          </a:p>
          <a:p>
            <a:pPr lvl="1">
              <a:lnSpc>
                <a:spcPct val="80000"/>
              </a:lnSpc>
              <a:buFont typeface="Wingdings" panose="05000000000000000000" pitchFamily="2" charset="2"/>
              <a:buNone/>
            </a:pPr>
            <a:r>
              <a:rPr lang="en-US" sz="2000" dirty="0">
                <a:latin typeface="Courier New" panose="02070309020205020404" pitchFamily="49" charset="0"/>
              </a:rPr>
              <a:t>(dns1.networkutopia.com, 212.212.212.1, A)</a:t>
            </a:r>
            <a:br>
              <a:rPr lang="en-US" sz="2000" dirty="0">
                <a:solidFill>
                  <a:schemeClr val="accent2"/>
                </a:solidFill>
                <a:latin typeface="Courier New" panose="02070309020205020404" pitchFamily="49" charset="0"/>
              </a:rPr>
            </a:br>
            <a:endParaRPr lang="en-US" sz="2000" dirty="0">
              <a:solidFill>
                <a:schemeClr val="accent2"/>
              </a:solidFill>
              <a:latin typeface="Courier New" panose="02070309020205020404" pitchFamily="49" charset="0"/>
            </a:endParaRPr>
          </a:p>
          <a:p>
            <a:pPr>
              <a:lnSpc>
                <a:spcPct val="80000"/>
              </a:lnSpc>
            </a:pPr>
            <a:r>
              <a:rPr lang="en-US" sz="2400" dirty="0"/>
              <a:t>create authoritative server Type A record for www.networkutopia.com; Type MX record for networkutopia.com</a:t>
            </a:r>
            <a:endParaRPr lang="en-US" sz="2400" dirty="0"/>
          </a:p>
          <a:p>
            <a:pPr>
              <a:lnSpc>
                <a:spcPct val="80000"/>
              </a:lnSpc>
            </a:pPr>
            <a:r>
              <a:rPr lang="en-US" sz="2400" dirty="0">
                <a:solidFill>
                  <a:srgbClr val="FF0000"/>
                </a:solidFill>
              </a:rPr>
              <a:t>How do people get IP address of your Web site?</a:t>
            </a:r>
            <a:endParaRPr lang="en-US" sz="2400" dirty="0">
              <a:solidFill>
                <a:srgbClr val="FF0000"/>
              </a:solidFill>
            </a:endParaRPr>
          </a:p>
          <a:p>
            <a:pPr>
              <a:lnSpc>
                <a:spcPct val="80000"/>
              </a:lnSpc>
            </a:pPr>
            <a:endParaRPr lang="en-US" sz="2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4819" name="Slide Number Placeholder 6"/>
          <p:cNvSpPr>
            <a:spLocks noGrp="1"/>
          </p:cNvSpPr>
          <p:nvPr>
            <p:ph type="sldNum" sz="quarter" idx="12"/>
          </p:nvPr>
        </p:nvSpPr>
        <p:spPr>
          <a:noFill/>
        </p:spPr>
        <p:txBody>
          <a:bodyPr/>
          <a:lstStyle/>
          <a:p>
            <a:fld id="{09FB5B14-3207-4596-9B15-A315FEC6D487}" type="slidenum">
              <a:rPr lang="en-US"/>
            </a:fld>
            <a:endParaRPr lang="en-US"/>
          </a:p>
        </p:txBody>
      </p:sp>
      <p:sp>
        <p:nvSpPr>
          <p:cNvPr id="34820" name="Rectangle 2"/>
          <p:cNvSpPr>
            <a:spLocks noGrp="1" noChangeArrowheads="1"/>
          </p:cNvSpPr>
          <p:nvPr>
            <p:ph type="title"/>
          </p:nvPr>
        </p:nvSpPr>
        <p:spPr/>
        <p:txBody>
          <a:bodyPr/>
          <a:lstStyle/>
          <a:p>
            <a:r>
              <a:rPr lang="en-US" dirty="0"/>
              <a:t>Chapter 2: Application layer</a:t>
            </a:r>
            <a:endParaRPr lang="en-US" dirty="0"/>
          </a:p>
        </p:txBody>
      </p:sp>
      <p:sp>
        <p:nvSpPr>
          <p:cNvPr id="34821" name="Rectangle 3"/>
          <p:cNvSpPr>
            <a:spLocks noGrp="1" noChangeArrowheads="1"/>
          </p:cNvSpPr>
          <p:nvPr>
            <p:ph type="body" sz="half" idx="1"/>
          </p:nvPr>
        </p:nvSpPr>
        <p:spPr/>
        <p:txBody>
          <a:bodyPr/>
          <a:lstStyle/>
          <a:p>
            <a:r>
              <a:rPr lang="en-US" sz="2400"/>
              <a:t>2.1 Principles of network applications</a:t>
            </a:r>
            <a:endParaRPr lang="en-US" sz="2400"/>
          </a:p>
          <a:p>
            <a:r>
              <a:rPr lang="en-US" sz="2400"/>
              <a:t>2.2 Web and HTTP</a:t>
            </a:r>
            <a:endParaRPr lang="en-US" sz="2400"/>
          </a:p>
          <a:p>
            <a:r>
              <a:rPr lang="en-US" sz="2400"/>
              <a:t>2.3 FTP </a:t>
            </a:r>
            <a:endParaRPr lang="en-US" sz="2400">
              <a:solidFill>
                <a:srgbClr val="FF0000"/>
              </a:solidFill>
            </a:endParaRPr>
          </a:p>
          <a:p>
            <a:r>
              <a:rPr lang="en-US" sz="2400"/>
              <a:t>2.4 Electronic Mail</a:t>
            </a:r>
            <a:endParaRPr lang="en-US" sz="2400"/>
          </a:p>
          <a:p>
            <a:pPr lvl="1"/>
            <a:r>
              <a:rPr lang="en-US" sz="2000"/>
              <a:t>SMTP, POP3, IMAP</a:t>
            </a:r>
            <a:endParaRPr lang="en-US" sz="2000"/>
          </a:p>
          <a:p>
            <a:r>
              <a:rPr lang="en-US" sz="2400"/>
              <a:t>2.5 DNS</a:t>
            </a:r>
            <a:endParaRPr lang="en-US" sz="2400"/>
          </a:p>
          <a:p>
            <a:endParaRPr lang="en-US" sz="2400"/>
          </a:p>
        </p:txBody>
      </p:sp>
      <p:sp>
        <p:nvSpPr>
          <p:cNvPr id="34822" name="Rectangle 4"/>
          <p:cNvSpPr>
            <a:spLocks noGrp="1" noChangeArrowheads="1"/>
          </p:cNvSpPr>
          <p:nvPr>
            <p:ph type="body" sz="half" idx="2"/>
          </p:nvPr>
        </p:nvSpPr>
        <p:spPr>
          <a:xfrm>
            <a:off x="4495800" y="1600200"/>
            <a:ext cx="4054475" cy="4648200"/>
          </a:xfrm>
        </p:spPr>
        <p:txBody>
          <a:bodyPr/>
          <a:lstStyle/>
          <a:p>
            <a:r>
              <a:rPr lang="en-US" sz="2400" dirty="0">
                <a:solidFill>
                  <a:srgbClr val="FF0000"/>
                </a:solidFill>
              </a:rPr>
              <a:t>2.6 P2P applications</a:t>
            </a:r>
            <a:endParaRPr lang="en-US" sz="2400" dirty="0">
              <a:solidFill>
                <a:srgbClr val="FF0000"/>
              </a:solidFill>
            </a:endParaRPr>
          </a:p>
          <a:p>
            <a:r>
              <a:rPr lang="en-US" sz="2400" dirty="0"/>
              <a:t>2.7 Socket programming with UDP</a:t>
            </a:r>
            <a:endParaRPr lang="en-US" sz="2400" dirty="0"/>
          </a:p>
          <a:p>
            <a:r>
              <a:rPr lang="en-US" sz="2400" dirty="0"/>
              <a:t>2.8 Socket programming with TCP</a:t>
            </a:r>
            <a:endParaRPr 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1"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9472" name="Slide Number Placeholder 6"/>
          <p:cNvSpPr>
            <a:spLocks noGrp="1"/>
          </p:cNvSpPr>
          <p:nvPr>
            <p:ph type="sldNum" sz="quarter" idx="12"/>
          </p:nvPr>
        </p:nvSpPr>
        <p:spPr>
          <a:noFill/>
        </p:spPr>
        <p:txBody>
          <a:bodyPr/>
          <a:lstStyle/>
          <a:p>
            <a:fld id="{3B31306C-8886-497B-BF7B-F2C61B7624B2}" type="slidenum">
              <a:rPr lang="en-US"/>
            </a:fld>
            <a:endParaRPr lang="en-US"/>
          </a:p>
        </p:txBody>
      </p:sp>
      <p:sp>
        <p:nvSpPr>
          <p:cNvPr id="19473" name="Rectangle 2"/>
          <p:cNvSpPr>
            <a:spLocks noGrp="1" noChangeArrowheads="1"/>
          </p:cNvSpPr>
          <p:nvPr>
            <p:ph type="title"/>
          </p:nvPr>
        </p:nvSpPr>
        <p:spPr/>
        <p:txBody>
          <a:bodyPr/>
          <a:lstStyle/>
          <a:p>
            <a:r>
              <a:rPr lang="en-US"/>
              <a:t>Pure P2P architecture</a:t>
            </a:r>
            <a:endParaRPr lang="en-US"/>
          </a:p>
        </p:txBody>
      </p:sp>
      <p:sp>
        <p:nvSpPr>
          <p:cNvPr id="19474" name="Rectangle 3"/>
          <p:cNvSpPr>
            <a:spLocks noGrp="1" noChangeArrowheads="1"/>
          </p:cNvSpPr>
          <p:nvPr>
            <p:ph type="body" sz="half" idx="1"/>
          </p:nvPr>
        </p:nvSpPr>
        <p:spPr>
          <a:xfrm>
            <a:off x="533400" y="1600200"/>
            <a:ext cx="4049713" cy="4648200"/>
          </a:xfrm>
        </p:spPr>
        <p:txBody>
          <a:bodyPr/>
          <a:lstStyle/>
          <a:p>
            <a:r>
              <a:rPr lang="en-US" sz="2400" i="1"/>
              <a:t>no</a:t>
            </a:r>
            <a:r>
              <a:rPr lang="en-US" sz="2400"/>
              <a:t> always-on server</a:t>
            </a:r>
            <a:endParaRPr lang="en-US" sz="2400"/>
          </a:p>
          <a:p>
            <a:r>
              <a:rPr lang="en-US" sz="2400"/>
              <a:t>arbitrary end systems directly communicate</a:t>
            </a:r>
            <a:endParaRPr lang="en-US" sz="2400"/>
          </a:p>
          <a:p>
            <a:r>
              <a:rPr lang="en-US" sz="2400"/>
              <a:t>peers are intermittently connected and change IP addresses</a:t>
            </a:r>
            <a:endParaRPr lang="en-US" sz="2400"/>
          </a:p>
          <a:p>
            <a:endParaRPr lang="en-US" sz="2400"/>
          </a:p>
          <a:p>
            <a:r>
              <a:rPr lang="en-US" sz="2400" u="sng">
                <a:solidFill>
                  <a:srgbClr val="FF0000"/>
                </a:solidFill>
              </a:rPr>
              <a:t>Three topics:</a:t>
            </a:r>
            <a:endParaRPr lang="en-US" sz="2400" u="sng">
              <a:solidFill>
                <a:srgbClr val="FF0000"/>
              </a:solidFill>
            </a:endParaRPr>
          </a:p>
          <a:p>
            <a:pPr lvl="1"/>
            <a:r>
              <a:rPr lang="en-US" sz="2000"/>
              <a:t>File distribution</a:t>
            </a:r>
            <a:endParaRPr lang="en-US" sz="2000"/>
          </a:p>
          <a:p>
            <a:pPr lvl="1"/>
            <a:r>
              <a:rPr lang="en-US" sz="2000"/>
              <a:t>Searching for information</a:t>
            </a:r>
            <a:endParaRPr lang="en-US" sz="2000"/>
          </a:p>
          <a:p>
            <a:pPr lvl="1"/>
            <a:r>
              <a:rPr lang="en-US" sz="2000"/>
              <a:t>Case Study: Skype</a:t>
            </a:r>
            <a:endParaRPr lang="en-US" sz="2000"/>
          </a:p>
          <a:p>
            <a:pPr>
              <a:buFont typeface="ZapfDingbats" pitchFamily="82" charset="2"/>
              <a:buNone/>
            </a:pPr>
            <a:endParaRPr lang="en-US" sz="2400"/>
          </a:p>
          <a:p>
            <a:endParaRPr lang="en-US" sz="2400"/>
          </a:p>
        </p:txBody>
      </p:sp>
      <p:sp>
        <p:nvSpPr>
          <p:cNvPr id="19475" name="Freeform 4"/>
          <p:cNvSpPr/>
          <p:nvPr/>
        </p:nvSpPr>
        <p:spPr bwMode="auto">
          <a:xfrm>
            <a:off x="6710363" y="3457575"/>
            <a:ext cx="1314450" cy="674688"/>
          </a:xfrm>
          <a:custGeom>
            <a:avLst/>
            <a:gdLst>
              <a:gd name="T0" fmla="*/ 382 w 828"/>
              <a:gd name="T1" fmla="*/ 30 h 425"/>
              <a:gd name="T2" fmla="*/ 370 w 828"/>
              <a:gd name="T3" fmla="*/ 30 h 425"/>
              <a:gd name="T4" fmla="*/ 126 w 828"/>
              <a:gd name="T5" fmla="*/ 32 h 425"/>
              <a:gd name="T6" fmla="*/ 6 w 828"/>
              <a:gd name="T7" fmla="*/ 126 h 425"/>
              <a:gd name="T8" fmla="*/ 92 w 828"/>
              <a:gd name="T9" fmla="*/ 274 h 425"/>
              <a:gd name="T10" fmla="*/ 292 w 828"/>
              <a:gd name="T11" fmla="*/ 384 h 425"/>
              <a:gd name="T12" fmla="*/ 540 w 828"/>
              <a:gd name="T13" fmla="*/ 416 h 425"/>
              <a:gd name="T14" fmla="*/ 698 w 828"/>
              <a:gd name="T15" fmla="*/ 330 h 425"/>
              <a:gd name="T16" fmla="*/ 776 w 828"/>
              <a:gd name="T17" fmla="*/ 170 h 425"/>
              <a:gd name="T18" fmla="*/ 792 w 828"/>
              <a:gd name="T19" fmla="*/ 22 h 425"/>
              <a:gd name="T20" fmla="*/ 560 w 828"/>
              <a:gd name="T21" fmla="*/ 38 h 425"/>
              <a:gd name="T22" fmla="*/ 382 w 828"/>
              <a:gd name="T23" fmla="*/ 30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w="9525">
            <a:noFill/>
            <a:round/>
          </a:ln>
        </p:spPr>
        <p:txBody>
          <a:bodyPr/>
          <a:lstStyle/>
          <a:p>
            <a:endParaRPr lang="en-US"/>
          </a:p>
        </p:txBody>
      </p:sp>
      <p:sp>
        <p:nvSpPr>
          <p:cNvPr id="19476" name="Freeform 5"/>
          <p:cNvSpPr/>
          <p:nvPr/>
        </p:nvSpPr>
        <p:spPr bwMode="auto">
          <a:xfrm>
            <a:off x="6729413" y="1931988"/>
            <a:ext cx="1730375" cy="1044575"/>
          </a:xfrm>
          <a:custGeom>
            <a:avLst/>
            <a:gdLst>
              <a:gd name="T0" fmla="*/ 424 w 765"/>
              <a:gd name="T1" fmla="*/ 10 h 459"/>
              <a:gd name="T2" fmla="*/ 288 w 765"/>
              <a:gd name="T3" fmla="*/ 70 h 459"/>
              <a:gd name="T4" fmla="*/ 96 w 765"/>
              <a:gd name="T5" fmla="*/ 100 h 459"/>
              <a:gd name="T6" fmla="*/ 14 w 765"/>
              <a:gd name="T7" fmla="*/ 336 h 459"/>
              <a:gd name="T8" fmla="*/ 180 w 765"/>
              <a:gd name="T9" fmla="*/ 444 h 459"/>
              <a:gd name="T10" fmla="*/ 346 w 765"/>
              <a:gd name="T11" fmla="*/ 426 h 459"/>
              <a:gd name="T12" fmla="*/ 584 w 765"/>
              <a:gd name="T13" fmla="*/ 444 h 459"/>
              <a:gd name="T14" fmla="*/ 698 w 765"/>
              <a:gd name="T15" fmla="*/ 434 h 459"/>
              <a:gd name="T16" fmla="*/ 752 w 765"/>
              <a:gd name="T17" fmla="*/ 372 h 459"/>
              <a:gd name="T18" fmla="*/ 750 w 765"/>
              <a:gd name="T19" fmla="*/ 158 h 459"/>
              <a:gd name="T20" fmla="*/ 662 w 765"/>
              <a:gd name="T21" fmla="*/ 34 h 459"/>
              <a:gd name="T22" fmla="*/ 424 w 765"/>
              <a:gd name="T23" fmla="*/ 10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w="9525">
            <a:noFill/>
            <a:round/>
          </a:ln>
        </p:spPr>
        <p:txBody>
          <a:bodyPr/>
          <a:lstStyle/>
          <a:p>
            <a:endParaRPr lang="en-US"/>
          </a:p>
        </p:txBody>
      </p:sp>
      <p:sp>
        <p:nvSpPr>
          <p:cNvPr id="19477" name="Freeform 6"/>
          <p:cNvSpPr/>
          <p:nvPr/>
        </p:nvSpPr>
        <p:spPr bwMode="auto">
          <a:xfrm>
            <a:off x="4989513" y="1639888"/>
            <a:ext cx="1644650" cy="1071562"/>
          </a:xfrm>
          <a:custGeom>
            <a:avLst/>
            <a:gdLst>
              <a:gd name="T0" fmla="*/ 648 w 1036"/>
              <a:gd name="T1" fmla="*/ 11 h 675"/>
              <a:gd name="T2" fmla="*/ 390 w 1036"/>
              <a:gd name="T3" fmla="*/ 53 h 675"/>
              <a:gd name="T4" fmla="*/ 206 w 1036"/>
              <a:gd name="T5" fmla="*/ 129 h 675"/>
              <a:gd name="T6" fmla="*/ 152 w 1036"/>
              <a:gd name="T7" fmla="*/ 229 h 675"/>
              <a:gd name="T8" fmla="*/ 22 w 1036"/>
              <a:gd name="T9" fmla="*/ 297 h 675"/>
              <a:gd name="T10" fmla="*/ 18 w 1036"/>
              <a:gd name="T11" fmla="*/ 459 h 675"/>
              <a:gd name="T12" fmla="*/ 132 w 1036"/>
              <a:gd name="T13" fmla="*/ 489 h 675"/>
              <a:gd name="T14" fmla="*/ 458 w 1036"/>
              <a:gd name="T15" fmla="*/ 489 h 675"/>
              <a:gd name="T16" fmla="*/ 598 w 1036"/>
              <a:gd name="T17" fmla="*/ 555 h 675"/>
              <a:gd name="T18" fmla="*/ 752 w 1036"/>
              <a:gd name="T19" fmla="*/ 657 h 675"/>
              <a:gd name="T20" fmla="*/ 870 w 1036"/>
              <a:gd name="T21" fmla="*/ 661 h 675"/>
              <a:gd name="T22" fmla="*/ 952 w 1036"/>
              <a:gd name="T23" fmla="*/ 603 h 675"/>
              <a:gd name="T24" fmla="*/ 992 w 1036"/>
              <a:gd name="T25" fmla="*/ 445 h 675"/>
              <a:gd name="T26" fmla="*/ 1018 w 1036"/>
              <a:gd name="T27" fmla="*/ 291 h 675"/>
              <a:gd name="T28" fmla="*/ 1022 w 1036"/>
              <a:gd name="T29" fmla="*/ 107 h 675"/>
              <a:gd name="T30" fmla="*/ 934 w 1036"/>
              <a:gd name="T31" fmla="*/ 17 h 675"/>
              <a:gd name="T32" fmla="*/ 776 w 1036"/>
              <a:gd name="T33" fmla="*/ 3 h 675"/>
              <a:gd name="T34" fmla="*/ 648 w 1036"/>
              <a:gd name="T35" fmla="*/ 11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w="9525">
            <a:noFill/>
            <a:round/>
          </a:ln>
        </p:spPr>
        <p:txBody>
          <a:bodyPr/>
          <a:lstStyle/>
          <a:p>
            <a:endParaRPr lang="en-US"/>
          </a:p>
        </p:txBody>
      </p:sp>
      <p:grpSp>
        <p:nvGrpSpPr>
          <p:cNvPr id="19478" name="Group 7"/>
          <p:cNvGrpSpPr/>
          <p:nvPr/>
        </p:nvGrpSpPr>
        <p:grpSpPr bwMode="auto">
          <a:xfrm>
            <a:off x="5076825" y="2974975"/>
            <a:ext cx="1458913" cy="933450"/>
            <a:chOff x="2889" y="1631"/>
            <a:chExt cx="980" cy="743"/>
          </a:xfrm>
        </p:grpSpPr>
        <p:sp>
          <p:nvSpPr>
            <p:cNvPr id="19802" name="Rectangle 8"/>
            <p:cNvSpPr>
              <a:spLocks noChangeArrowheads="1"/>
            </p:cNvSpPr>
            <p:nvPr/>
          </p:nvSpPr>
          <p:spPr bwMode="auto">
            <a:xfrm>
              <a:off x="3046" y="1841"/>
              <a:ext cx="663" cy="533"/>
            </a:xfrm>
            <a:prstGeom prst="rect">
              <a:avLst/>
            </a:prstGeom>
            <a:solidFill>
              <a:srgbClr val="DDDDDD"/>
            </a:solidFill>
            <a:ln w="9525">
              <a:noFill/>
              <a:miter lim="800000"/>
            </a:ln>
          </p:spPr>
          <p:txBody>
            <a:bodyPr wrap="none" anchor="ctr"/>
            <a:lstStyle/>
            <a:p>
              <a:endParaRPr lang="en-US"/>
            </a:p>
          </p:txBody>
        </p:sp>
        <p:sp>
          <p:nvSpPr>
            <p:cNvPr id="19803" name="AutoShape 9"/>
            <p:cNvSpPr>
              <a:spLocks noChangeArrowheads="1"/>
            </p:cNvSpPr>
            <p:nvPr/>
          </p:nvSpPr>
          <p:spPr bwMode="auto">
            <a:xfrm>
              <a:off x="2889" y="1631"/>
              <a:ext cx="980" cy="253"/>
            </a:xfrm>
            <a:prstGeom prst="triangle">
              <a:avLst>
                <a:gd name="adj" fmla="val 50000"/>
              </a:avLst>
            </a:prstGeom>
            <a:solidFill>
              <a:srgbClr val="DDDDDD"/>
            </a:solidFill>
            <a:ln w="9525">
              <a:noFill/>
              <a:miter lim="800000"/>
            </a:ln>
          </p:spPr>
          <p:txBody>
            <a:bodyPr wrap="none" anchor="ctr"/>
            <a:lstStyle/>
            <a:p>
              <a:pPr algn="ctr">
                <a:spcBef>
                  <a:spcPct val="0"/>
                </a:spcBef>
                <a:buClrTx/>
                <a:buSzTx/>
                <a:buFontTx/>
                <a:buNone/>
              </a:pPr>
              <a:endParaRPr lang="en-US">
                <a:solidFill>
                  <a:srgbClr val="00CCFF"/>
                </a:solidFill>
                <a:latin typeface="Times New Roman" panose="02020603050405020304" pitchFamily="18" charset="0"/>
              </a:endParaRPr>
            </a:p>
          </p:txBody>
        </p:sp>
      </p:grpSp>
      <p:grpSp>
        <p:nvGrpSpPr>
          <p:cNvPr id="19479" name="Group 10"/>
          <p:cNvGrpSpPr/>
          <p:nvPr/>
        </p:nvGrpSpPr>
        <p:grpSpPr bwMode="auto">
          <a:xfrm>
            <a:off x="5778500" y="1831975"/>
            <a:ext cx="336550" cy="531813"/>
            <a:chOff x="3796" y="1043"/>
            <a:chExt cx="865" cy="1237"/>
          </a:xfrm>
        </p:grpSpPr>
        <p:sp>
          <p:nvSpPr>
            <p:cNvPr id="19772" name="Line 11"/>
            <p:cNvSpPr>
              <a:spLocks noChangeShapeType="1"/>
            </p:cNvSpPr>
            <p:nvPr/>
          </p:nvSpPr>
          <p:spPr bwMode="auto">
            <a:xfrm flipH="1">
              <a:off x="3992" y="1481"/>
              <a:ext cx="235" cy="724"/>
            </a:xfrm>
            <a:prstGeom prst="line">
              <a:avLst/>
            </a:prstGeom>
            <a:noFill/>
            <a:ln w="9525">
              <a:solidFill>
                <a:schemeClr val="bg2"/>
              </a:solidFill>
              <a:round/>
            </a:ln>
          </p:spPr>
          <p:txBody>
            <a:bodyPr wrap="none"/>
            <a:lstStyle/>
            <a:p>
              <a:endParaRPr lang="en-US"/>
            </a:p>
          </p:txBody>
        </p:sp>
        <p:sp>
          <p:nvSpPr>
            <p:cNvPr id="19773" name="Line 12"/>
            <p:cNvSpPr>
              <a:spLocks noChangeShapeType="1"/>
            </p:cNvSpPr>
            <p:nvPr/>
          </p:nvSpPr>
          <p:spPr bwMode="auto">
            <a:xfrm>
              <a:off x="4227" y="1481"/>
              <a:ext cx="236" cy="720"/>
            </a:xfrm>
            <a:prstGeom prst="line">
              <a:avLst/>
            </a:prstGeom>
            <a:noFill/>
            <a:ln w="9525">
              <a:solidFill>
                <a:schemeClr val="bg2"/>
              </a:solidFill>
              <a:round/>
            </a:ln>
          </p:spPr>
          <p:txBody>
            <a:bodyPr wrap="none"/>
            <a:lstStyle/>
            <a:p>
              <a:endParaRPr lang="en-US"/>
            </a:p>
          </p:txBody>
        </p:sp>
        <p:sp>
          <p:nvSpPr>
            <p:cNvPr id="19774" name="Line 13"/>
            <p:cNvSpPr>
              <a:spLocks noChangeShapeType="1"/>
            </p:cNvSpPr>
            <p:nvPr/>
          </p:nvSpPr>
          <p:spPr bwMode="auto">
            <a:xfrm>
              <a:off x="3992" y="2201"/>
              <a:ext cx="235" cy="79"/>
            </a:xfrm>
            <a:prstGeom prst="line">
              <a:avLst/>
            </a:prstGeom>
            <a:noFill/>
            <a:ln w="9525">
              <a:solidFill>
                <a:schemeClr val="bg2"/>
              </a:solidFill>
              <a:round/>
            </a:ln>
          </p:spPr>
          <p:txBody>
            <a:bodyPr wrap="none"/>
            <a:lstStyle/>
            <a:p>
              <a:endParaRPr lang="en-US"/>
            </a:p>
          </p:txBody>
        </p:sp>
        <p:sp>
          <p:nvSpPr>
            <p:cNvPr id="19775" name="Line 14"/>
            <p:cNvSpPr>
              <a:spLocks noChangeShapeType="1"/>
            </p:cNvSpPr>
            <p:nvPr/>
          </p:nvSpPr>
          <p:spPr bwMode="auto">
            <a:xfrm flipH="1">
              <a:off x="4227" y="2201"/>
              <a:ext cx="236" cy="79"/>
            </a:xfrm>
            <a:prstGeom prst="line">
              <a:avLst/>
            </a:prstGeom>
            <a:noFill/>
            <a:ln w="9525">
              <a:solidFill>
                <a:schemeClr val="bg2"/>
              </a:solidFill>
              <a:round/>
            </a:ln>
          </p:spPr>
          <p:txBody>
            <a:bodyPr wrap="none"/>
            <a:lstStyle/>
            <a:p>
              <a:endParaRPr lang="en-US"/>
            </a:p>
          </p:txBody>
        </p:sp>
        <p:sp>
          <p:nvSpPr>
            <p:cNvPr id="19776" name="Line 15"/>
            <p:cNvSpPr>
              <a:spLocks noChangeShapeType="1"/>
            </p:cNvSpPr>
            <p:nvPr/>
          </p:nvSpPr>
          <p:spPr bwMode="auto">
            <a:xfrm>
              <a:off x="4227" y="1497"/>
              <a:ext cx="0" cy="783"/>
            </a:xfrm>
            <a:prstGeom prst="line">
              <a:avLst/>
            </a:prstGeom>
            <a:noFill/>
            <a:ln w="9525">
              <a:solidFill>
                <a:schemeClr val="bg2"/>
              </a:solidFill>
              <a:round/>
            </a:ln>
          </p:spPr>
          <p:txBody>
            <a:bodyPr wrap="none"/>
            <a:lstStyle/>
            <a:p>
              <a:endParaRPr lang="en-US"/>
            </a:p>
          </p:txBody>
        </p:sp>
        <p:sp>
          <p:nvSpPr>
            <p:cNvPr id="19777" name="Line 16"/>
            <p:cNvSpPr>
              <a:spLocks noChangeShapeType="1"/>
            </p:cNvSpPr>
            <p:nvPr/>
          </p:nvSpPr>
          <p:spPr bwMode="auto">
            <a:xfrm flipV="1">
              <a:off x="3992" y="2127"/>
              <a:ext cx="235" cy="78"/>
            </a:xfrm>
            <a:prstGeom prst="line">
              <a:avLst/>
            </a:prstGeom>
            <a:noFill/>
            <a:ln w="9525">
              <a:solidFill>
                <a:schemeClr val="bg2"/>
              </a:solidFill>
              <a:round/>
            </a:ln>
          </p:spPr>
          <p:txBody>
            <a:bodyPr wrap="none"/>
            <a:lstStyle/>
            <a:p>
              <a:endParaRPr lang="en-US"/>
            </a:p>
          </p:txBody>
        </p:sp>
        <p:sp>
          <p:nvSpPr>
            <p:cNvPr id="19778" name="Line 17"/>
            <p:cNvSpPr>
              <a:spLocks noChangeShapeType="1"/>
            </p:cNvSpPr>
            <p:nvPr/>
          </p:nvSpPr>
          <p:spPr bwMode="auto">
            <a:xfrm flipH="1" flipV="1">
              <a:off x="4227" y="2127"/>
              <a:ext cx="236" cy="74"/>
            </a:xfrm>
            <a:prstGeom prst="line">
              <a:avLst/>
            </a:prstGeom>
            <a:noFill/>
            <a:ln w="9525">
              <a:solidFill>
                <a:schemeClr val="bg2"/>
              </a:solidFill>
              <a:round/>
            </a:ln>
          </p:spPr>
          <p:txBody>
            <a:bodyPr wrap="none"/>
            <a:lstStyle/>
            <a:p>
              <a:endParaRPr lang="en-US"/>
            </a:p>
          </p:txBody>
        </p:sp>
        <p:sp>
          <p:nvSpPr>
            <p:cNvPr id="19779" name="Line 18"/>
            <p:cNvSpPr>
              <a:spLocks noChangeShapeType="1"/>
            </p:cNvSpPr>
            <p:nvPr/>
          </p:nvSpPr>
          <p:spPr bwMode="auto">
            <a:xfrm>
              <a:off x="4092" y="1890"/>
              <a:ext cx="135" cy="60"/>
            </a:xfrm>
            <a:prstGeom prst="line">
              <a:avLst/>
            </a:prstGeom>
            <a:noFill/>
            <a:ln w="9525">
              <a:solidFill>
                <a:schemeClr val="bg2"/>
              </a:solidFill>
              <a:round/>
            </a:ln>
          </p:spPr>
          <p:txBody>
            <a:bodyPr wrap="none"/>
            <a:lstStyle/>
            <a:p>
              <a:endParaRPr lang="en-US"/>
            </a:p>
          </p:txBody>
        </p:sp>
        <p:sp>
          <p:nvSpPr>
            <p:cNvPr id="19780" name="Line 19"/>
            <p:cNvSpPr>
              <a:spLocks noChangeShapeType="1"/>
            </p:cNvSpPr>
            <p:nvPr/>
          </p:nvSpPr>
          <p:spPr bwMode="auto">
            <a:xfrm flipV="1">
              <a:off x="4227" y="1890"/>
              <a:ext cx="143" cy="60"/>
            </a:xfrm>
            <a:prstGeom prst="line">
              <a:avLst/>
            </a:prstGeom>
            <a:noFill/>
            <a:ln w="9525">
              <a:solidFill>
                <a:schemeClr val="bg2"/>
              </a:solidFill>
              <a:round/>
            </a:ln>
          </p:spPr>
          <p:txBody>
            <a:bodyPr wrap="none"/>
            <a:lstStyle/>
            <a:p>
              <a:endParaRPr lang="en-US"/>
            </a:p>
          </p:txBody>
        </p:sp>
        <p:sp>
          <p:nvSpPr>
            <p:cNvPr id="19781" name="Line 20"/>
            <p:cNvSpPr>
              <a:spLocks noChangeShapeType="1"/>
            </p:cNvSpPr>
            <p:nvPr/>
          </p:nvSpPr>
          <p:spPr bwMode="auto">
            <a:xfrm>
              <a:off x="4047" y="1996"/>
              <a:ext cx="175" cy="81"/>
            </a:xfrm>
            <a:prstGeom prst="line">
              <a:avLst/>
            </a:prstGeom>
            <a:noFill/>
            <a:ln w="9525">
              <a:solidFill>
                <a:schemeClr val="bg2"/>
              </a:solidFill>
              <a:round/>
            </a:ln>
          </p:spPr>
          <p:txBody>
            <a:bodyPr wrap="none"/>
            <a:lstStyle/>
            <a:p>
              <a:endParaRPr lang="en-US"/>
            </a:p>
          </p:txBody>
        </p:sp>
        <p:sp>
          <p:nvSpPr>
            <p:cNvPr id="19782" name="Line 21"/>
            <p:cNvSpPr>
              <a:spLocks noChangeShapeType="1"/>
            </p:cNvSpPr>
            <p:nvPr/>
          </p:nvSpPr>
          <p:spPr bwMode="auto">
            <a:xfrm flipV="1">
              <a:off x="4227" y="2012"/>
              <a:ext cx="176" cy="71"/>
            </a:xfrm>
            <a:prstGeom prst="line">
              <a:avLst/>
            </a:prstGeom>
            <a:noFill/>
            <a:ln w="9525">
              <a:solidFill>
                <a:schemeClr val="bg2"/>
              </a:solidFill>
              <a:round/>
            </a:ln>
          </p:spPr>
          <p:txBody>
            <a:bodyPr wrap="none"/>
            <a:lstStyle/>
            <a:p>
              <a:endParaRPr lang="en-US"/>
            </a:p>
          </p:txBody>
        </p:sp>
        <p:sp>
          <p:nvSpPr>
            <p:cNvPr id="19783" name="Line 22"/>
            <p:cNvSpPr>
              <a:spLocks noChangeShapeType="1"/>
            </p:cNvSpPr>
            <p:nvPr/>
          </p:nvSpPr>
          <p:spPr bwMode="auto">
            <a:xfrm flipV="1">
              <a:off x="4227" y="1782"/>
              <a:ext cx="90" cy="29"/>
            </a:xfrm>
            <a:prstGeom prst="line">
              <a:avLst/>
            </a:prstGeom>
            <a:noFill/>
            <a:ln w="9525">
              <a:solidFill>
                <a:schemeClr val="bg2"/>
              </a:solidFill>
              <a:round/>
            </a:ln>
          </p:spPr>
          <p:txBody>
            <a:bodyPr wrap="none"/>
            <a:lstStyle/>
            <a:p>
              <a:endParaRPr lang="en-US"/>
            </a:p>
          </p:txBody>
        </p:sp>
        <p:sp>
          <p:nvSpPr>
            <p:cNvPr id="19784" name="Line 23"/>
            <p:cNvSpPr>
              <a:spLocks noChangeShapeType="1"/>
            </p:cNvSpPr>
            <p:nvPr/>
          </p:nvSpPr>
          <p:spPr bwMode="auto">
            <a:xfrm flipV="1">
              <a:off x="4227" y="1632"/>
              <a:ext cx="57" cy="22"/>
            </a:xfrm>
            <a:prstGeom prst="line">
              <a:avLst/>
            </a:prstGeom>
            <a:noFill/>
            <a:ln w="9525">
              <a:solidFill>
                <a:schemeClr val="bg2"/>
              </a:solidFill>
              <a:round/>
            </a:ln>
          </p:spPr>
          <p:txBody>
            <a:bodyPr wrap="none"/>
            <a:lstStyle/>
            <a:p>
              <a:endParaRPr lang="en-US"/>
            </a:p>
          </p:txBody>
        </p:sp>
        <p:sp>
          <p:nvSpPr>
            <p:cNvPr id="19785" name="Line 24"/>
            <p:cNvSpPr>
              <a:spLocks noChangeShapeType="1"/>
            </p:cNvSpPr>
            <p:nvPr/>
          </p:nvSpPr>
          <p:spPr bwMode="auto">
            <a:xfrm>
              <a:off x="4126" y="1772"/>
              <a:ext cx="109" cy="39"/>
            </a:xfrm>
            <a:prstGeom prst="line">
              <a:avLst/>
            </a:prstGeom>
            <a:noFill/>
            <a:ln w="9525">
              <a:solidFill>
                <a:schemeClr val="bg2"/>
              </a:solidFill>
              <a:round/>
            </a:ln>
          </p:spPr>
          <p:txBody>
            <a:bodyPr wrap="none"/>
            <a:lstStyle/>
            <a:p>
              <a:endParaRPr lang="en-US"/>
            </a:p>
          </p:txBody>
        </p:sp>
        <p:sp>
          <p:nvSpPr>
            <p:cNvPr id="19786" name="Line 25"/>
            <p:cNvSpPr>
              <a:spLocks noChangeShapeType="1"/>
            </p:cNvSpPr>
            <p:nvPr/>
          </p:nvSpPr>
          <p:spPr bwMode="auto">
            <a:xfrm>
              <a:off x="4175" y="1625"/>
              <a:ext cx="63" cy="39"/>
            </a:xfrm>
            <a:prstGeom prst="line">
              <a:avLst/>
            </a:prstGeom>
            <a:noFill/>
            <a:ln w="9525">
              <a:solidFill>
                <a:schemeClr val="bg2"/>
              </a:solidFill>
              <a:round/>
            </a:ln>
          </p:spPr>
          <p:txBody>
            <a:bodyPr wrap="none"/>
            <a:lstStyle/>
            <a:p>
              <a:endParaRPr lang="en-US"/>
            </a:p>
          </p:txBody>
        </p:sp>
        <p:grpSp>
          <p:nvGrpSpPr>
            <p:cNvPr id="19787" name="Group 26"/>
            <p:cNvGrpSpPr/>
            <p:nvPr/>
          </p:nvGrpSpPr>
          <p:grpSpPr bwMode="auto">
            <a:xfrm>
              <a:off x="4269" y="1415"/>
              <a:ext cx="392" cy="137"/>
              <a:chOff x="4227" y="1360"/>
              <a:chExt cx="863" cy="270"/>
            </a:xfrm>
          </p:grpSpPr>
          <p:sp>
            <p:nvSpPr>
              <p:cNvPr id="19798" name="Line 27"/>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19799" name="Line 28"/>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19800" name="Line 29"/>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19801" name="Line 30"/>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nvGrpSpPr>
            <p:cNvPr id="19788" name="Group 31"/>
            <p:cNvGrpSpPr/>
            <p:nvPr/>
          </p:nvGrpSpPr>
          <p:grpSpPr bwMode="auto">
            <a:xfrm rot="5700496">
              <a:off x="4053" y="1170"/>
              <a:ext cx="392" cy="137"/>
              <a:chOff x="4227" y="1360"/>
              <a:chExt cx="863" cy="270"/>
            </a:xfrm>
          </p:grpSpPr>
          <p:sp>
            <p:nvSpPr>
              <p:cNvPr id="19794" name="Line 32"/>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19795" name="Line 33"/>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19796" name="Line 34"/>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19797" name="Line 35"/>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nvGrpSpPr>
            <p:cNvPr id="19789" name="Group 36"/>
            <p:cNvGrpSpPr/>
            <p:nvPr/>
          </p:nvGrpSpPr>
          <p:grpSpPr bwMode="auto">
            <a:xfrm rot="10800000">
              <a:off x="3796" y="1402"/>
              <a:ext cx="392" cy="137"/>
              <a:chOff x="4227" y="1360"/>
              <a:chExt cx="863" cy="270"/>
            </a:xfrm>
          </p:grpSpPr>
          <p:sp>
            <p:nvSpPr>
              <p:cNvPr id="19790" name="Line 37"/>
              <p:cNvSpPr>
                <a:spLocks noChangeShapeType="1"/>
              </p:cNvSpPr>
              <p:nvPr/>
            </p:nvSpPr>
            <p:spPr bwMode="auto">
              <a:xfrm>
                <a:off x="4227" y="1604"/>
                <a:ext cx="0" cy="0"/>
              </a:xfrm>
              <a:prstGeom prst="line">
                <a:avLst/>
              </a:prstGeom>
              <a:noFill/>
              <a:ln w="9525">
                <a:solidFill>
                  <a:schemeClr val="bg2"/>
                </a:solidFill>
                <a:round/>
              </a:ln>
            </p:spPr>
            <p:txBody>
              <a:bodyPr wrap="none"/>
              <a:lstStyle/>
              <a:p>
                <a:endParaRPr lang="en-US"/>
              </a:p>
            </p:txBody>
          </p:sp>
          <p:sp>
            <p:nvSpPr>
              <p:cNvPr id="19791" name="Line 38"/>
              <p:cNvSpPr>
                <a:spLocks noChangeShapeType="1"/>
              </p:cNvSpPr>
              <p:nvPr/>
            </p:nvSpPr>
            <p:spPr bwMode="auto">
              <a:xfrm rot="6361956" flipH="1" flipV="1">
                <a:off x="4464" y="1205"/>
                <a:ext cx="189" cy="500"/>
              </a:xfrm>
              <a:prstGeom prst="line">
                <a:avLst/>
              </a:prstGeom>
              <a:noFill/>
              <a:ln w="31750">
                <a:solidFill>
                  <a:schemeClr val="bg2"/>
                </a:solidFill>
                <a:round/>
              </a:ln>
            </p:spPr>
            <p:txBody>
              <a:bodyPr wrap="none"/>
              <a:lstStyle/>
              <a:p>
                <a:endParaRPr lang="en-US"/>
              </a:p>
            </p:txBody>
          </p:sp>
          <p:sp>
            <p:nvSpPr>
              <p:cNvPr id="19792" name="Line 39"/>
              <p:cNvSpPr>
                <a:spLocks noChangeShapeType="1"/>
              </p:cNvSpPr>
              <p:nvPr/>
            </p:nvSpPr>
            <p:spPr bwMode="auto">
              <a:xfrm rot="6361956">
                <a:off x="4602" y="1393"/>
                <a:ext cx="189" cy="203"/>
              </a:xfrm>
              <a:prstGeom prst="line">
                <a:avLst/>
              </a:prstGeom>
              <a:noFill/>
              <a:ln w="31750">
                <a:solidFill>
                  <a:schemeClr val="bg2"/>
                </a:solidFill>
                <a:round/>
              </a:ln>
            </p:spPr>
            <p:txBody>
              <a:bodyPr wrap="none"/>
              <a:lstStyle/>
              <a:p>
                <a:endParaRPr lang="en-US"/>
              </a:p>
            </p:txBody>
          </p:sp>
          <p:sp>
            <p:nvSpPr>
              <p:cNvPr id="19793" name="Line 40"/>
              <p:cNvSpPr>
                <a:spLocks noChangeShapeType="1"/>
              </p:cNvSpPr>
              <p:nvPr/>
            </p:nvSpPr>
            <p:spPr bwMode="auto">
              <a:xfrm rot="6361956" flipH="1" flipV="1">
                <a:off x="4745" y="1286"/>
                <a:ext cx="189" cy="500"/>
              </a:xfrm>
              <a:prstGeom prst="line">
                <a:avLst/>
              </a:prstGeom>
              <a:noFill/>
              <a:ln w="31750">
                <a:solidFill>
                  <a:schemeClr val="bg2"/>
                </a:solidFill>
                <a:round/>
              </a:ln>
            </p:spPr>
            <p:txBody>
              <a:bodyPr wrap="none"/>
              <a:lstStyle/>
              <a:p>
                <a:endParaRPr lang="en-US"/>
              </a:p>
            </p:txBody>
          </p:sp>
        </p:grpSp>
      </p:grpSp>
      <p:sp>
        <p:nvSpPr>
          <p:cNvPr id="19480" name="Oval 41"/>
          <p:cNvSpPr>
            <a:spLocks noChangeArrowheads="1"/>
          </p:cNvSpPr>
          <p:nvPr/>
        </p:nvSpPr>
        <p:spPr bwMode="auto">
          <a:xfrm>
            <a:off x="6835775" y="36528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9481" name="Line 42"/>
          <p:cNvSpPr>
            <a:spLocks noChangeShapeType="1"/>
          </p:cNvSpPr>
          <p:nvPr/>
        </p:nvSpPr>
        <p:spPr bwMode="auto">
          <a:xfrm>
            <a:off x="6835775" y="3644900"/>
            <a:ext cx="0" cy="58738"/>
          </a:xfrm>
          <a:prstGeom prst="line">
            <a:avLst/>
          </a:prstGeom>
          <a:noFill/>
          <a:ln w="12700">
            <a:solidFill>
              <a:schemeClr val="folHlink"/>
            </a:solidFill>
            <a:round/>
          </a:ln>
        </p:spPr>
        <p:txBody>
          <a:bodyPr wrap="none" anchor="ctr"/>
          <a:lstStyle/>
          <a:p>
            <a:endParaRPr lang="en-US"/>
          </a:p>
        </p:txBody>
      </p:sp>
      <p:sp>
        <p:nvSpPr>
          <p:cNvPr id="19482" name="Line 43"/>
          <p:cNvSpPr>
            <a:spLocks noChangeShapeType="1"/>
          </p:cNvSpPr>
          <p:nvPr/>
        </p:nvSpPr>
        <p:spPr bwMode="auto">
          <a:xfrm>
            <a:off x="7194550" y="3644900"/>
            <a:ext cx="0" cy="58738"/>
          </a:xfrm>
          <a:prstGeom prst="line">
            <a:avLst/>
          </a:prstGeom>
          <a:noFill/>
          <a:ln w="12700">
            <a:solidFill>
              <a:schemeClr val="folHlink"/>
            </a:solidFill>
            <a:round/>
          </a:ln>
        </p:spPr>
        <p:txBody>
          <a:bodyPr wrap="none" anchor="ctr"/>
          <a:lstStyle/>
          <a:p>
            <a:endParaRPr lang="en-US"/>
          </a:p>
        </p:txBody>
      </p:sp>
      <p:sp>
        <p:nvSpPr>
          <p:cNvPr id="19483" name="Rectangle 44"/>
          <p:cNvSpPr>
            <a:spLocks noChangeArrowheads="1"/>
          </p:cNvSpPr>
          <p:nvPr/>
        </p:nvSpPr>
        <p:spPr bwMode="auto">
          <a:xfrm>
            <a:off x="6835775" y="36449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484" name="Oval 45"/>
          <p:cNvSpPr>
            <a:spLocks noChangeArrowheads="1"/>
          </p:cNvSpPr>
          <p:nvPr/>
        </p:nvSpPr>
        <p:spPr bwMode="auto">
          <a:xfrm>
            <a:off x="6832600" y="35766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9485" name="Group 46"/>
          <p:cNvGrpSpPr/>
          <p:nvPr/>
        </p:nvGrpSpPr>
        <p:grpSpPr bwMode="auto">
          <a:xfrm>
            <a:off x="6918325" y="3600450"/>
            <a:ext cx="179388" cy="65088"/>
            <a:chOff x="2848" y="848"/>
            <a:chExt cx="140" cy="98"/>
          </a:xfrm>
        </p:grpSpPr>
        <p:sp>
          <p:nvSpPr>
            <p:cNvPr id="19769" name="Line 47"/>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70" name="Line 48"/>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71" name="Line 49"/>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486" name="Group 50"/>
          <p:cNvGrpSpPr/>
          <p:nvPr/>
        </p:nvGrpSpPr>
        <p:grpSpPr bwMode="auto">
          <a:xfrm flipV="1">
            <a:off x="6918325" y="3600450"/>
            <a:ext cx="179388" cy="65088"/>
            <a:chOff x="2848" y="848"/>
            <a:chExt cx="140" cy="98"/>
          </a:xfrm>
        </p:grpSpPr>
        <p:sp>
          <p:nvSpPr>
            <p:cNvPr id="19766" name="Line 51"/>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67" name="Line 52"/>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68" name="Line 53"/>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9487" name="Oval 54"/>
          <p:cNvSpPr>
            <a:spLocks noChangeArrowheads="1"/>
          </p:cNvSpPr>
          <p:nvPr/>
        </p:nvSpPr>
        <p:spPr bwMode="auto">
          <a:xfrm>
            <a:off x="7191375" y="39322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9488" name="Line 55"/>
          <p:cNvSpPr>
            <a:spLocks noChangeShapeType="1"/>
          </p:cNvSpPr>
          <p:nvPr/>
        </p:nvSpPr>
        <p:spPr bwMode="auto">
          <a:xfrm>
            <a:off x="7191375" y="3924300"/>
            <a:ext cx="0" cy="58738"/>
          </a:xfrm>
          <a:prstGeom prst="line">
            <a:avLst/>
          </a:prstGeom>
          <a:noFill/>
          <a:ln w="12700">
            <a:solidFill>
              <a:schemeClr val="folHlink"/>
            </a:solidFill>
            <a:round/>
          </a:ln>
        </p:spPr>
        <p:txBody>
          <a:bodyPr wrap="none" anchor="ctr"/>
          <a:lstStyle/>
          <a:p>
            <a:endParaRPr lang="en-US"/>
          </a:p>
        </p:txBody>
      </p:sp>
      <p:sp>
        <p:nvSpPr>
          <p:cNvPr id="19489" name="Line 56"/>
          <p:cNvSpPr>
            <a:spLocks noChangeShapeType="1"/>
          </p:cNvSpPr>
          <p:nvPr/>
        </p:nvSpPr>
        <p:spPr bwMode="auto">
          <a:xfrm>
            <a:off x="7550150" y="3924300"/>
            <a:ext cx="0" cy="58738"/>
          </a:xfrm>
          <a:prstGeom prst="line">
            <a:avLst/>
          </a:prstGeom>
          <a:noFill/>
          <a:ln w="12700">
            <a:solidFill>
              <a:schemeClr val="folHlink"/>
            </a:solidFill>
            <a:round/>
          </a:ln>
        </p:spPr>
        <p:txBody>
          <a:bodyPr wrap="none" anchor="ctr"/>
          <a:lstStyle/>
          <a:p>
            <a:endParaRPr lang="en-US"/>
          </a:p>
        </p:txBody>
      </p:sp>
      <p:sp>
        <p:nvSpPr>
          <p:cNvPr id="19490" name="Rectangle 57"/>
          <p:cNvSpPr>
            <a:spLocks noChangeArrowheads="1"/>
          </p:cNvSpPr>
          <p:nvPr/>
        </p:nvSpPr>
        <p:spPr bwMode="auto">
          <a:xfrm>
            <a:off x="7191375" y="39243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491" name="Oval 58"/>
          <p:cNvSpPr>
            <a:spLocks noChangeArrowheads="1"/>
          </p:cNvSpPr>
          <p:nvPr/>
        </p:nvSpPr>
        <p:spPr bwMode="auto">
          <a:xfrm>
            <a:off x="7188200" y="38560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9492" name="Group 59"/>
          <p:cNvGrpSpPr/>
          <p:nvPr/>
        </p:nvGrpSpPr>
        <p:grpSpPr bwMode="auto">
          <a:xfrm>
            <a:off x="7273925" y="3879850"/>
            <a:ext cx="179388" cy="65088"/>
            <a:chOff x="2848" y="848"/>
            <a:chExt cx="140" cy="98"/>
          </a:xfrm>
        </p:grpSpPr>
        <p:sp>
          <p:nvSpPr>
            <p:cNvPr id="19763" name="Line 6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64" name="Line 6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65" name="Line 6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493" name="Group 63"/>
          <p:cNvGrpSpPr/>
          <p:nvPr/>
        </p:nvGrpSpPr>
        <p:grpSpPr bwMode="auto">
          <a:xfrm flipV="1">
            <a:off x="7273925" y="3879850"/>
            <a:ext cx="179388" cy="65088"/>
            <a:chOff x="2848" y="848"/>
            <a:chExt cx="140" cy="98"/>
          </a:xfrm>
        </p:grpSpPr>
        <p:sp>
          <p:nvSpPr>
            <p:cNvPr id="19760" name="Line 64"/>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61" name="Line 65"/>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62" name="Line 66"/>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9494" name="Oval 67"/>
          <p:cNvSpPr>
            <a:spLocks noChangeArrowheads="1"/>
          </p:cNvSpPr>
          <p:nvPr/>
        </p:nvSpPr>
        <p:spPr bwMode="auto">
          <a:xfrm>
            <a:off x="7470775" y="36655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9495" name="Line 68"/>
          <p:cNvSpPr>
            <a:spLocks noChangeShapeType="1"/>
          </p:cNvSpPr>
          <p:nvPr/>
        </p:nvSpPr>
        <p:spPr bwMode="auto">
          <a:xfrm>
            <a:off x="7470775" y="3657600"/>
            <a:ext cx="0" cy="58738"/>
          </a:xfrm>
          <a:prstGeom prst="line">
            <a:avLst/>
          </a:prstGeom>
          <a:noFill/>
          <a:ln w="12700">
            <a:solidFill>
              <a:schemeClr val="folHlink"/>
            </a:solidFill>
            <a:round/>
          </a:ln>
        </p:spPr>
        <p:txBody>
          <a:bodyPr wrap="none" anchor="ctr"/>
          <a:lstStyle/>
          <a:p>
            <a:endParaRPr lang="en-US"/>
          </a:p>
        </p:txBody>
      </p:sp>
      <p:sp>
        <p:nvSpPr>
          <p:cNvPr id="19496" name="Line 69"/>
          <p:cNvSpPr>
            <a:spLocks noChangeShapeType="1"/>
          </p:cNvSpPr>
          <p:nvPr/>
        </p:nvSpPr>
        <p:spPr bwMode="auto">
          <a:xfrm>
            <a:off x="7829550" y="3657600"/>
            <a:ext cx="0" cy="58738"/>
          </a:xfrm>
          <a:prstGeom prst="line">
            <a:avLst/>
          </a:prstGeom>
          <a:noFill/>
          <a:ln w="12700">
            <a:solidFill>
              <a:schemeClr val="folHlink"/>
            </a:solidFill>
            <a:round/>
          </a:ln>
        </p:spPr>
        <p:txBody>
          <a:bodyPr wrap="none" anchor="ctr"/>
          <a:lstStyle/>
          <a:p>
            <a:endParaRPr lang="en-US"/>
          </a:p>
        </p:txBody>
      </p:sp>
      <p:sp>
        <p:nvSpPr>
          <p:cNvPr id="19497" name="Rectangle 70"/>
          <p:cNvSpPr>
            <a:spLocks noChangeArrowheads="1"/>
          </p:cNvSpPr>
          <p:nvPr/>
        </p:nvSpPr>
        <p:spPr bwMode="auto">
          <a:xfrm>
            <a:off x="7470775" y="36576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498" name="Oval 71"/>
          <p:cNvSpPr>
            <a:spLocks noChangeArrowheads="1"/>
          </p:cNvSpPr>
          <p:nvPr/>
        </p:nvSpPr>
        <p:spPr bwMode="auto">
          <a:xfrm>
            <a:off x="7467600" y="35893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9499" name="Group 72"/>
          <p:cNvGrpSpPr/>
          <p:nvPr/>
        </p:nvGrpSpPr>
        <p:grpSpPr bwMode="auto">
          <a:xfrm>
            <a:off x="7553325" y="3613150"/>
            <a:ext cx="179388" cy="65088"/>
            <a:chOff x="2848" y="848"/>
            <a:chExt cx="140" cy="98"/>
          </a:xfrm>
        </p:grpSpPr>
        <p:sp>
          <p:nvSpPr>
            <p:cNvPr id="19757" name="Line 7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58" name="Line 7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59" name="Line 7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500" name="Group 76"/>
          <p:cNvGrpSpPr/>
          <p:nvPr/>
        </p:nvGrpSpPr>
        <p:grpSpPr bwMode="auto">
          <a:xfrm flipV="1">
            <a:off x="7553325" y="3613150"/>
            <a:ext cx="179388" cy="65088"/>
            <a:chOff x="2848" y="848"/>
            <a:chExt cx="140" cy="98"/>
          </a:xfrm>
        </p:grpSpPr>
        <p:sp>
          <p:nvSpPr>
            <p:cNvPr id="19754" name="Line 77"/>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55" name="Line 78"/>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56" name="Line 79"/>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9501" name="Oval 80"/>
          <p:cNvSpPr>
            <a:spLocks noChangeArrowheads="1"/>
          </p:cNvSpPr>
          <p:nvPr/>
        </p:nvSpPr>
        <p:spPr bwMode="auto">
          <a:xfrm>
            <a:off x="6935788" y="2503488"/>
            <a:ext cx="347662" cy="88900"/>
          </a:xfrm>
          <a:prstGeom prst="ellipse">
            <a:avLst/>
          </a:prstGeom>
          <a:solidFill>
            <a:srgbClr val="DDDDDD"/>
          </a:solidFill>
          <a:ln w="12700">
            <a:solidFill>
              <a:schemeClr val="folHlink"/>
            </a:solidFill>
            <a:round/>
          </a:ln>
        </p:spPr>
        <p:txBody>
          <a:bodyPr wrap="none" anchor="ctr"/>
          <a:lstStyle/>
          <a:p>
            <a:endParaRPr lang="en-US"/>
          </a:p>
        </p:txBody>
      </p:sp>
      <p:sp>
        <p:nvSpPr>
          <p:cNvPr id="19502" name="Line 81"/>
          <p:cNvSpPr>
            <a:spLocks noChangeShapeType="1"/>
          </p:cNvSpPr>
          <p:nvPr/>
        </p:nvSpPr>
        <p:spPr bwMode="auto">
          <a:xfrm>
            <a:off x="6935788" y="2495550"/>
            <a:ext cx="0" cy="55563"/>
          </a:xfrm>
          <a:prstGeom prst="line">
            <a:avLst/>
          </a:prstGeom>
          <a:noFill/>
          <a:ln w="12700">
            <a:solidFill>
              <a:schemeClr val="folHlink"/>
            </a:solidFill>
            <a:round/>
          </a:ln>
        </p:spPr>
        <p:txBody>
          <a:bodyPr wrap="none" anchor="ctr"/>
          <a:lstStyle/>
          <a:p>
            <a:endParaRPr lang="en-US"/>
          </a:p>
        </p:txBody>
      </p:sp>
      <p:sp>
        <p:nvSpPr>
          <p:cNvPr id="19503" name="Line 82"/>
          <p:cNvSpPr>
            <a:spLocks noChangeShapeType="1"/>
          </p:cNvSpPr>
          <p:nvPr/>
        </p:nvSpPr>
        <p:spPr bwMode="auto">
          <a:xfrm>
            <a:off x="7283450" y="2495550"/>
            <a:ext cx="0" cy="55563"/>
          </a:xfrm>
          <a:prstGeom prst="line">
            <a:avLst/>
          </a:prstGeom>
          <a:noFill/>
          <a:ln w="12700">
            <a:solidFill>
              <a:schemeClr val="folHlink"/>
            </a:solidFill>
            <a:round/>
          </a:ln>
        </p:spPr>
        <p:txBody>
          <a:bodyPr wrap="none" anchor="ctr"/>
          <a:lstStyle/>
          <a:p>
            <a:endParaRPr lang="en-US"/>
          </a:p>
        </p:txBody>
      </p:sp>
      <p:sp>
        <p:nvSpPr>
          <p:cNvPr id="19504" name="Rectangle 83"/>
          <p:cNvSpPr>
            <a:spLocks noChangeArrowheads="1"/>
          </p:cNvSpPr>
          <p:nvPr/>
        </p:nvSpPr>
        <p:spPr bwMode="auto">
          <a:xfrm>
            <a:off x="6935788" y="2495550"/>
            <a:ext cx="344487"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505" name="Oval 84"/>
          <p:cNvSpPr>
            <a:spLocks noChangeArrowheads="1"/>
          </p:cNvSpPr>
          <p:nvPr/>
        </p:nvSpPr>
        <p:spPr bwMode="auto">
          <a:xfrm>
            <a:off x="6932613" y="2432050"/>
            <a:ext cx="347662" cy="103188"/>
          </a:xfrm>
          <a:prstGeom prst="ellipse">
            <a:avLst/>
          </a:prstGeom>
          <a:solidFill>
            <a:srgbClr val="DDDDDD"/>
          </a:solidFill>
          <a:ln w="12700">
            <a:solidFill>
              <a:schemeClr val="folHlink"/>
            </a:solidFill>
            <a:round/>
          </a:ln>
        </p:spPr>
        <p:txBody>
          <a:bodyPr wrap="none" anchor="ctr"/>
          <a:lstStyle/>
          <a:p>
            <a:endParaRPr lang="en-US"/>
          </a:p>
        </p:txBody>
      </p:sp>
      <p:grpSp>
        <p:nvGrpSpPr>
          <p:cNvPr id="19506" name="Group 85"/>
          <p:cNvGrpSpPr/>
          <p:nvPr/>
        </p:nvGrpSpPr>
        <p:grpSpPr bwMode="auto">
          <a:xfrm>
            <a:off x="7016750" y="2454275"/>
            <a:ext cx="171450" cy="61913"/>
            <a:chOff x="2848" y="848"/>
            <a:chExt cx="140" cy="98"/>
          </a:xfrm>
        </p:grpSpPr>
        <p:sp>
          <p:nvSpPr>
            <p:cNvPr id="19751" name="Line 8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52" name="Line 8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53" name="Line 8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507" name="Group 89"/>
          <p:cNvGrpSpPr/>
          <p:nvPr/>
        </p:nvGrpSpPr>
        <p:grpSpPr bwMode="auto">
          <a:xfrm flipV="1">
            <a:off x="7016750" y="2454275"/>
            <a:ext cx="171450" cy="60325"/>
            <a:chOff x="2848" y="848"/>
            <a:chExt cx="140" cy="98"/>
          </a:xfrm>
        </p:grpSpPr>
        <p:sp>
          <p:nvSpPr>
            <p:cNvPr id="19748" name="Line 9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49" name="Line 9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50" name="Line 9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9508" name="Oval 93"/>
          <p:cNvSpPr>
            <a:spLocks noChangeArrowheads="1"/>
          </p:cNvSpPr>
          <p:nvPr/>
        </p:nvSpPr>
        <p:spPr bwMode="auto">
          <a:xfrm>
            <a:off x="6934200" y="27638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9509" name="Line 94"/>
          <p:cNvSpPr>
            <a:spLocks noChangeShapeType="1"/>
          </p:cNvSpPr>
          <p:nvPr/>
        </p:nvSpPr>
        <p:spPr bwMode="auto">
          <a:xfrm>
            <a:off x="6934200" y="2755900"/>
            <a:ext cx="0" cy="58738"/>
          </a:xfrm>
          <a:prstGeom prst="line">
            <a:avLst/>
          </a:prstGeom>
          <a:noFill/>
          <a:ln w="12700">
            <a:solidFill>
              <a:schemeClr val="folHlink"/>
            </a:solidFill>
            <a:round/>
          </a:ln>
        </p:spPr>
        <p:txBody>
          <a:bodyPr wrap="none" anchor="ctr"/>
          <a:lstStyle/>
          <a:p>
            <a:endParaRPr lang="en-US"/>
          </a:p>
        </p:txBody>
      </p:sp>
      <p:sp>
        <p:nvSpPr>
          <p:cNvPr id="19510" name="Line 95"/>
          <p:cNvSpPr>
            <a:spLocks noChangeShapeType="1"/>
          </p:cNvSpPr>
          <p:nvPr/>
        </p:nvSpPr>
        <p:spPr bwMode="auto">
          <a:xfrm>
            <a:off x="7292975" y="2755900"/>
            <a:ext cx="0" cy="58738"/>
          </a:xfrm>
          <a:prstGeom prst="line">
            <a:avLst/>
          </a:prstGeom>
          <a:noFill/>
          <a:ln w="12700">
            <a:solidFill>
              <a:schemeClr val="folHlink"/>
            </a:solidFill>
            <a:round/>
          </a:ln>
        </p:spPr>
        <p:txBody>
          <a:bodyPr wrap="none" anchor="ctr"/>
          <a:lstStyle/>
          <a:p>
            <a:endParaRPr lang="en-US"/>
          </a:p>
        </p:txBody>
      </p:sp>
      <p:sp>
        <p:nvSpPr>
          <p:cNvPr id="19511" name="Rectangle 96"/>
          <p:cNvSpPr>
            <a:spLocks noChangeArrowheads="1"/>
          </p:cNvSpPr>
          <p:nvPr/>
        </p:nvSpPr>
        <p:spPr bwMode="auto">
          <a:xfrm>
            <a:off x="6934200" y="27559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512" name="Oval 97"/>
          <p:cNvSpPr>
            <a:spLocks noChangeArrowheads="1"/>
          </p:cNvSpPr>
          <p:nvPr/>
        </p:nvSpPr>
        <p:spPr bwMode="auto">
          <a:xfrm>
            <a:off x="6931025" y="26876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9513" name="Group 98"/>
          <p:cNvGrpSpPr/>
          <p:nvPr/>
        </p:nvGrpSpPr>
        <p:grpSpPr bwMode="auto">
          <a:xfrm>
            <a:off x="7016750" y="2711450"/>
            <a:ext cx="179388" cy="65088"/>
            <a:chOff x="2848" y="848"/>
            <a:chExt cx="140" cy="98"/>
          </a:xfrm>
        </p:grpSpPr>
        <p:sp>
          <p:nvSpPr>
            <p:cNvPr id="19745" name="Line 9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46" name="Line 10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47" name="Line 10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514" name="Group 102"/>
          <p:cNvGrpSpPr/>
          <p:nvPr/>
        </p:nvGrpSpPr>
        <p:grpSpPr bwMode="auto">
          <a:xfrm flipV="1">
            <a:off x="7016750" y="2711450"/>
            <a:ext cx="179388" cy="65088"/>
            <a:chOff x="2848" y="848"/>
            <a:chExt cx="140" cy="98"/>
          </a:xfrm>
        </p:grpSpPr>
        <p:sp>
          <p:nvSpPr>
            <p:cNvPr id="19742" name="Line 103"/>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43" name="Line 104"/>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44" name="Line 105"/>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9515" name="Oval 106"/>
          <p:cNvSpPr>
            <a:spLocks noChangeArrowheads="1"/>
          </p:cNvSpPr>
          <p:nvPr/>
        </p:nvSpPr>
        <p:spPr bwMode="auto">
          <a:xfrm>
            <a:off x="7410450" y="2405063"/>
            <a:ext cx="330200" cy="85725"/>
          </a:xfrm>
          <a:prstGeom prst="ellipse">
            <a:avLst/>
          </a:prstGeom>
          <a:solidFill>
            <a:srgbClr val="DDDDDD"/>
          </a:solidFill>
          <a:ln w="12700">
            <a:solidFill>
              <a:schemeClr val="folHlink"/>
            </a:solidFill>
            <a:round/>
          </a:ln>
        </p:spPr>
        <p:txBody>
          <a:bodyPr wrap="none" anchor="ctr"/>
          <a:lstStyle/>
          <a:p>
            <a:endParaRPr lang="en-US"/>
          </a:p>
        </p:txBody>
      </p:sp>
      <p:sp>
        <p:nvSpPr>
          <p:cNvPr id="19516" name="Line 107"/>
          <p:cNvSpPr>
            <a:spLocks noChangeShapeType="1"/>
          </p:cNvSpPr>
          <p:nvPr/>
        </p:nvSpPr>
        <p:spPr bwMode="auto">
          <a:xfrm>
            <a:off x="7410450" y="2398713"/>
            <a:ext cx="0" cy="52387"/>
          </a:xfrm>
          <a:prstGeom prst="line">
            <a:avLst/>
          </a:prstGeom>
          <a:noFill/>
          <a:ln w="12700">
            <a:solidFill>
              <a:schemeClr val="folHlink"/>
            </a:solidFill>
            <a:round/>
          </a:ln>
        </p:spPr>
        <p:txBody>
          <a:bodyPr wrap="none" anchor="ctr"/>
          <a:lstStyle/>
          <a:p>
            <a:endParaRPr lang="en-US"/>
          </a:p>
        </p:txBody>
      </p:sp>
      <p:sp>
        <p:nvSpPr>
          <p:cNvPr id="19517" name="Line 108"/>
          <p:cNvSpPr>
            <a:spLocks noChangeShapeType="1"/>
          </p:cNvSpPr>
          <p:nvPr/>
        </p:nvSpPr>
        <p:spPr bwMode="auto">
          <a:xfrm>
            <a:off x="7740650" y="2398713"/>
            <a:ext cx="0" cy="52387"/>
          </a:xfrm>
          <a:prstGeom prst="line">
            <a:avLst/>
          </a:prstGeom>
          <a:noFill/>
          <a:ln w="12700">
            <a:solidFill>
              <a:schemeClr val="folHlink"/>
            </a:solidFill>
            <a:round/>
          </a:ln>
        </p:spPr>
        <p:txBody>
          <a:bodyPr wrap="none" anchor="ctr"/>
          <a:lstStyle/>
          <a:p>
            <a:endParaRPr lang="en-US"/>
          </a:p>
        </p:txBody>
      </p:sp>
      <p:sp>
        <p:nvSpPr>
          <p:cNvPr id="19518" name="Rectangle 109"/>
          <p:cNvSpPr>
            <a:spLocks noChangeArrowheads="1"/>
          </p:cNvSpPr>
          <p:nvPr/>
        </p:nvSpPr>
        <p:spPr bwMode="auto">
          <a:xfrm>
            <a:off x="7410450" y="2398713"/>
            <a:ext cx="327025" cy="52387"/>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solidFill>
                <a:schemeClr val="bg2"/>
              </a:solidFill>
              <a:latin typeface="Times New Roman" panose="02020603050405020304" pitchFamily="18" charset="0"/>
            </a:endParaRPr>
          </a:p>
        </p:txBody>
      </p:sp>
      <p:sp>
        <p:nvSpPr>
          <p:cNvPr id="19519" name="Oval 110"/>
          <p:cNvSpPr>
            <a:spLocks noChangeArrowheads="1"/>
          </p:cNvSpPr>
          <p:nvPr/>
        </p:nvSpPr>
        <p:spPr bwMode="auto">
          <a:xfrm>
            <a:off x="7407275" y="2336800"/>
            <a:ext cx="330200" cy="100013"/>
          </a:xfrm>
          <a:prstGeom prst="ellipse">
            <a:avLst/>
          </a:prstGeom>
          <a:solidFill>
            <a:srgbClr val="DDDDDD"/>
          </a:solidFill>
          <a:ln w="12700">
            <a:solidFill>
              <a:schemeClr val="folHlink"/>
            </a:solidFill>
            <a:round/>
          </a:ln>
        </p:spPr>
        <p:txBody>
          <a:bodyPr wrap="none" anchor="ctr"/>
          <a:lstStyle/>
          <a:p>
            <a:endParaRPr lang="en-US"/>
          </a:p>
        </p:txBody>
      </p:sp>
      <p:grpSp>
        <p:nvGrpSpPr>
          <p:cNvPr id="19520" name="Group 111"/>
          <p:cNvGrpSpPr/>
          <p:nvPr/>
        </p:nvGrpSpPr>
        <p:grpSpPr bwMode="auto">
          <a:xfrm>
            <a:off x="7486650" y="2359025"/>
            <a:ext cx="163513" cy="57150"/>
            <a:chOff x="2848" y="848"/>
            <a:chExt cx="140" cy="98"/>
          </a:xfrm>
        </p:grpSpPr>
        <p:sp>
          <p:nvSpPr>
            <p:cNvPr id="19739" name="Line 112"/>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40" name="Line 113"/>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41" name="Line 114"/>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521" name="Group 115"/>
          <p:cNvGrpSpPr/>
          <p:nvPr/>
        </p:nvGrpSpPr>
        <p:grpSpPr bwMode="auto">
          <a:xfrm flipV="1">
            <a:off x="7486650" y="2357438"/>
            <a:ext cx="163513" cy="58737"/>
            <a:chOff x="2848" y="848"/>
            <a:chExt cx="140" cy="98"/>
          </a:xfrm>
        </p:grpSpPr>
        <p:sp>
          <p:nvSpPr>
            <p:cNvPr id="19736" name="Line 11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37" name="Line 11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38" name="Line 11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9522" name="Oval 119"/>
          <p:cNvSpPr>
            <a:spLocks noChangeArrowheads="1"/>
          </p:cNvSpPr>
          <p:nvPr/>
        </p:nvSpPr>
        <p:spPr bwMode="auto">
          <a:xfrm>
            <a:off x="7496175" y="2763838"/>
            <a:ext cx="358775" cy="95250"/>
          </a:xfrm>
          <a:prstGeom prst="ellipse">
            <a:avLst/>
          </a:prstGeom>
          <a:solidFill>
            <a:srgbClr val="DDDDDD"/>
          </a:solidFill>
          <a:ln w="12700">
            <a:solidFill>
              <a:schemeClr val="folHlink"/>
            </a:solidFill>
            <a:round/>
          </a:ln>
        </p:spPr>
        <p:txBody>
          <a:bodyPr wrap="none" anchor="ctr"/>
          <a:lstStyle/>
          <a:p>
            <a:endParaRPr lang="en-US"/>
          </a:p>
        </p:txBody>
      </p:sp>
      <p:sp>
        <p:nvSpPr>
          <p:cNvPr id="19523" name="Line 120"/>
          <p:cNvSpPr>
            <a:spLocks noChangeShapeType="1"/>
          </p:cNvSpPr>
          <p:nvPr/>
        </p:nvSpPr>
        <p:spPr bwMode="auto">
          <a:xfrm>
            <a:off x="7496175" y="2755900"/>
            <a:ext cx="0" cy="58738"/>
          </a:xfrm>
          <a:prstGeom prst="line">
            <a:avLst/>
          </a:prstGeom>
          <a:noFill/>
          <a:ln w="12700">
            <a:solidFill>
              <a:schemeClr val="folHlink"/>
            </a:solidFill>
            <a:round/>
          </a:ln>
        </p:spPr>
        <p:txBody>
          <a:bodyPr wrap="none" anchor="ctr"/>
          <a:lstStyle/>
          <a:p>
            <a:endParaRPr lang="en-US"/>
          </a:p>
        </p:txBody>
      </p:sp>
      <p:sp>
        <p:nvSpPr>
          <p:cNvPr id="19524" name="Line 121"/>
          <p:cNvSpPr>
            <a:spLocks noChangeShapeType="1"/>
          </p:cNvSpPr>
          <p:nvPr/>
        </p:nvSpPr>
        <p:spPr bwMode="auto">
          <a:xfrm>
            <a:off x="7854950" y="2755900"/>
            <a:ext cx="0" cy="58738"/>
          </a:xfrm>
          <a:prstGeom prst="line">
            <a:avLst/>
          </a:prstGeom>
          <a:noFill/>
          <a:ln w="12700">
            <a:solidFill>
              <a:schemeClr val="folHlink"/>
            </a:solidFill>
            <a:round/>
          </a:ln>
        </p:spPr>
        <p:txBody>
          <a:bodyPr wrap="none" anchor="ctr"/>
          <a:lstStyle/>
          <a:p>
            <a:endParaRPr lang="en-US"/>
          </a:p>
        </p:txBody>
      </p:sp>
      <p:sp>
        <p:nvSpPr>
          <p:cNvPr id="19525" name="Rectangle 122"/>
          <p:cNvSpPr>
            <a:spLocks noChangeArrowheads="1"/>
          </p:cNvSpPr>
          <p:nvPr/>
        </p:nvSpPr>
        <p:spPr bwMode="auto">
          <a:xfrm>
            <a:off x="7496175" y="2755900"/>
            <a:ext cx="355600" cy="58738"/>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526" name="Oval 123"/>
          <p:cNvSpPr>
            <a:spLocks noChangeArrowheads="1"/>
          </p:cNvSpPr>
          <p:nvPr/>
        </p:nvSpPr>
        <p:spPr bwMode="auto">
          <a:xfrm>
            <a:off x="7493000" y="2687638"/>
            <a:ext cx="358775" cy="111125"/>
          </a:xfrm>
          <a:prstGeom prst="ellipse">
            <a:avLst/>
          </a:prstGeom>
          <a:solidFill>
            <a:srgbClr val="DDDDDD"/>
          </a:solidFill>
          <a:ln w="12700">
            <a:solidFill>
              <a:schemeClr val="folHlink"/>
            </a:solidFill>
            <a:round/>
          </a:ln>
        </p:spPr>
        <p:txBody>
          <a:bodyPr wrap="none" anchor="ctr"/>
          <a:lstStyle/>
          <a:p>
            <a:endParaRPr lang="en-US"/>
          </a:p>
        </p:txBody>
      </p:sp>
      <p:grpSp>
        <p:nvGrpSpPr>
          <p:cNvPr id="19527" name="Group 124"/>
          <p:cNvGrpSpPr/>
          <p:nvPr/>
        </p:nvGrpSpPr>
        <p:grpSpPr bwMode="auto">
          <a:xfrm>
            <a:off x="7578725" y="2711450"/>
            <a:ext cx="179388" cy="65088"/>
            <a:chOff x="2848" y="848"/>
            <a:chExt cx="140" cy="98"/>
          </a:xfrm>
        </p:grpSpPr>
        <p:sp>
          <p:nvSpPr>
            <p:cNvPr id="19733" name="Line 12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34" name="Line 12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35" name="Line 12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528" name="Group 128"/>
          <p:cNvGrpSpPr/>
          <p:nvPr/>
        </p:nvGrpSpPr>
        <p:grpSpPr bwMode="auto">
          <a:xfrm flipV="1">
            <a:off x="7578725" y="2711450"/>
            <a:ext cx="179388" cy="65088"/>
            <a:chOff x="2848" y="848"/>
            <a:chExt cx="140" cy="98"/>
          </a:xfrm>
        </p:grpSpPr>
        <p:sp>
          <p:nvSpPr>
            <p:cNvPr id="19730" name="Line 129"/>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31" name="Line 130"/>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32" name="Line 131"/>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9529" name="Oval 132"/>
          <p:cNvSpPr>
            <a:spLocks noChangeArrowheads="1"/>
          </p:cNvSpPr>
          <p:nvPr/>
        </p:nvSpPr>
        <p:spPr bwMode="auto">
          <a:xfrm>
            <a:off x="6086475" y="2498725"/>
            <a:ext cx="346075" cy="87313"/>
          </a:xfrm>
          <a:prstGeom prst="ellipse">
            <a:avLst/>
          </a:prstGeom>
          <a:solidFill>
            <a:srgbClr val="DDDDDD"/>
          </a:solidFill>
          <a:ln w="12700">
            <a:solidFill>
              <a:schemeClr val="folHlink"/>
            </a:solidFill>
            <a:round/>
          </a:ln>
        </p:spPr>
        <p:txBody>
          <a:bodyPr wrap="none" anchor="ctr"/>
          <a:lstStyle/>
          <a:p>
            <a:endParaRPr lang="en-US"/>
          </a:p>
        </p:txBody>
      </p:sp>
      <p:sp>
        <p:nvSpPr>
          <p:cNvPr id="19530" name="Line 133"/>
          <p:cNvSpPr>
            <a:spLocks noChangeShapeType="1"/>
          </p:cNvSpPr>
          <p:nvPr/>
        </p:nvSpPr>
        <p:spPr bwMode="auto">
          <a:xfrm>
            <a:off x="6086475" y="2490788"/>
            <a:ext cx="0" cy="53975"/>
          </a:xfrm>
          <a:prstGeom prst="line">
            <a:avLst/>
          </a:prstGeom>
          <a:noFill/>
          <a:ln w="12700">
            <a:solidFill>
              <a:schemeClr val="folHlink"/>
            </a:solidFill>
            <a:round/>
          </a:ln>
        </p:spPr>
        <p:txBody>
          <a:bodyPr wrap="none" anchor="ctr"/>
          <a:lstStyle/>
          <a:p>
            <a:endParaRPr lang="en-US"/>
          </a:p>
        </p:txBody>
      </p:sp>
      <p:sp>
        <p:nvSpPr>
          <p:cNvPr id="19531" name="Line 134"/>
          <p:cNvSpPr>
            <a:spLocks noChangeShapeType="1"/>
          </p:cNvSpPr>
          <p:nvPr/>
        </p:nvSpPr>
        <p:spPr bwMode="auto">
          <a:xfrm>
            <a:off x="6432550" y="2490788"/>
            <a:ext cx="0" cy="53975"/>
          </a:xfrm>
          <a:prstGeom prst="line">
            <a:avLst/>
          </a:prstGeom>
          <a:noFill/>
          <a:ln w="12700">
            <a:solidFill>
              <a:schemeClr val="folHlink"/>
            </a:solidFill>
            <a:round/>
          </a:ln>
        </p:spPr>
        <p:txBody>
          <a:bodyPr wrap="none" anchor="ctr"/>
          <a:lstStyle/>
          <a:p>
            <a:endParaRPr lang="en-US"/>
          </a:p>
        </p:txBody>
      </p:sp>
      <p:sp>
        <p:nvSpPr>
          <p:cNvPr id="19532" name="Rectangle 135"/>
          <p:cNvSpPr>
            <a:spLocks noChangeArrowheads="1"/>
          </p:cNvSpPr>
          <p:nvPr/>
        </p:nvSpPr>
        <p:spPr bwMode="auto">
          <a:xfrm>
            <a:off x="6086475" y="2490788"/>
            <a:ext cx="342900"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533" name="Oval 136"/>
          <p:cNvSpPr>
            <a:spLocks noChangeArrowheads="1"/>
          </p:cNvSpPr>
          <p:nvPr/>
        </p:nvSpPr>
        <p:spPr bwMode="auto">
          <a:xfrm>
            <a:off x="6083300" y="2427288"/>
            <a:ext cx="346075" cy="103187"/>
          </a:xfrm>
          <a:prstGeom prst="ellipse">
            <a:avLst/>
          </a:prstGeom>
          <a:solidFill>
            <a:srgbClr val="DDDDDD"/>
          </a:solidFill>
          <a:ln w="12700">
            <a:solidFill>
              <a:schemeClr val="folHlink"/>
            </a:solidFill>
            <a:round/>
          </a:ln>
        </p:spPr>
        <p:txBody>
          <a:bodyPr wrap="none" anchor="ctr"/>
          <a:lstStyle/>
          <a:p>
            <a:endParaRPr lang="en-US"/>
          </a:p>
        </p:txBody>
      </p:sp>
      <p:grpSp>
        <p:nvGrpSpPr>
          <p:cNvPr id="19534" name="Group 137"/>
          <p:cNvGrpSpPr/>
          <p:nvPr/>
        </p:nvGrpSpPr>
        <p:grpSpPr bwMode="auto">
          <a:xfrm>
            <a:off x="6167438" y="2449513"/>
            <a:ext cx="171450" cy="60325"/>
            <a:chOff x="2848" y="848"/>
            <a:chExt cx="140" cy="98"/>
          </a:xfrm>
        </p:grpSpPr>
        <p:sp>
          <p:nvSpPr>
            <p:cNvPr id="19727" name="Line 138"/>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28" name="Line 139"/>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29" name="Line 140"/>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535" name="Group 141"/>
          <p:cNvGrpSpPr/>
          <p:nvPr/>
        </p:nvGrpSpPr>
        <p:grpSpPr bwMode="auto">
          <a:xfrm flipV="1">
            <a:off x="6167438" y="2449513"/>
            <a:ext cx="171450" cy="58737"/>
            <a:chOff x="2848" y="848"/>
            <a:chExt cx="140" cy="98"/>
          </a:xfrm>
        </p:grpSpPr>
        <p:sp>
          <p:nvSpPr>
            <p:cNvPr id="19724" name="Line 142"/>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25" name="Line 143"/>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26" name="Line 144"/>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9536" name="Oval 145"/>
          <p:cNvSpPr>
            <a:spLocks noChangeArrowheads="1"/>
          </p:cNvSpPr>
          <p:nvPr/>
        </p:nvSpPr>
        <p:spPr bwMode="auto">
          <a:xfrm>
            <a:off x="5780088" y="3648075"/>
            <a:ext cx="346075" cy="87313"/>
          </a:xfrm>
          <a:prstGeom prst="ellipse">
            <a:avLst/>
          </a:prstGeom>
          <a:solidFill>
            <a:srgbClr val="DDDDDD"/>
          </a:solidFill>
          <a:ln w="12700">
            <a:solidFill>
              <a:schemeClr val="folHlink"/>
            </a:solidFill>
            <a:round/>
          </a:ln>
        </p:spPr>
        <p:txBody>
          <a:bodyPr wrap="none" anchor="ctr"/>
          <a:lstStyle/>
          <a:p>
            <a:endParaRPr lang="en-US"/>
          </a:p>
        </p:txBody>
      </p:sp>
      <p:sp>
        <p:nvSpPr>
          <p:cNvPr id="19537" name="Line 146"/>
          <p:cNvSpPr>
            <a:spLocks noChangeShapeType="1"/>
          </p:cNvSpPr>
          <p:nvPr/>
        </p:nvSpPr>
        <p:spPr bwMode="auto">
          <a:xfrm>
            <a:off x="5780088" y="3640138"/>
            <a:ext cx="0" cy="53975"/>
          </a:xfrm>
          <a:prstGeom prst="line">
            <a:avLst/>
          </a:prstGeom>
          <a:noFill/>
          <a:ln w="12700">
            <a:solidFill>
              <a:schemeClr val="folHlink"/>
            </a:solidFill>
            <a:round/>
          </a:ln>
        </p:spPr>
        <p:txBody>
          <a:bodyPr wrap="none" anchor="ctr"/>
          <a:lstStyle/>
          <a:p>
            <a:endParaRPr lang="en-US"/>
          </a:p>
        </p:txBody>
      </p:sp>
      <p:sp>
        <p:nvSpPr>
          <p:cNvPr id="19538" name="Line 147"/>
          <p:cNvSpPr>
            <a:spLocks noChangeShapeType="1"/>
          </p:cNvSpPr>
          <p:nvPr/>
        </p:nvSpPr>
        <p:spPr bwMode="auto">
          <a:xfrm>
            <a:off x="6126163" y="3640138"/>
            <a:ext cx="0" cy="53975"/>
          </a:xfrm>
          <a:prstGeom prst="line">
            <a:avLst/>
          </a:prstGeom>
          <a:noFill/>
          <a:ln w="12700">
            <a:solidFill>
              <a:schemeClr val="folHlink"/>
            </a:solidFill>
            <a:round/>
          </a:ln>
        </p:spPr>
        <p:txBody>
          <a:bodyPr wrap="none" anchor="ctr"/>
          <a:lstStyle/>
          <a:p>
            <a:endParaRPr lang="en-US"/>
          </a:p>
        </p:txBody>
      </p:sp>
      <p:sp>
        <p:nvSpPr>
          <p:cNvPr id="19539" name="Rectangle 148"/>
          <p:cNvSpPr>
            <a:spLocks noChangeArrowheads="1"/>
          </p:cNvSpPr>
          <p:nvPr/>
        </p:nvSpPr>
        <p:spPr bwMode="auto">
          <a:xfrm>
            <a:off x="5780088" y="3640138"/>
            <a:ext cx="342900" cy="53975"/>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540" name="Oval 149"/>
          <p:cNvSpPr>
            <a:spLocks noChangeArrowheads="1"/>
          </p:cNvSpPr>
          <p:nvPr/>
        </p:nvSpPr>
        <p:spPr bwMode="auto">
          <a:xfrm>
            <a:off x="5776913" y="3576638"/>
            <a:ext cx="346075" cy="103187"/>
          </a:xfrm>
          <a:prstGeom prst="ellipse">
            <a:avLst/>
          </a:prstGeom>
          <a:solidFill>
            <a:srgbClr val="DDDDDD"/>
          </a:solidFill>
          <a:ln w="12700">
            <a:solidFill>
              <a:schemeClr val="folHlink"/>
            </a:solidFill>
            <a:round/>
          </a:ln>
        </p:spPr>
        <p:txBody>
          <a:bodyPr wrap="none" anchor="ctr"/>
          <a:lstStyle/>
          <a:p>
            <a:endParaRPr lang="en-US"/>
          </a:p>
        </p:txBody>
      </p:sp>
      <p:grpSp>
        <p:nvGrpSpPr>
          <p:cNvPr id="19541" name="Group 150"/>
          <p:cNvGrpSpPr/>
          <p:nvPr/>
        </p:nvGrpSpPr>
        <p:grpSpPr bwMode="auto">
          <a:xfrm>
            <a:off x="5861050" y="3598863"/>
            <a:ext cx="171450" cy="60325"/>
            <a:chOff x="2848" y="848"/>
            <a:chExt cx="140" cy="98"/>
          </a:xfrm>
        </p:grpSpPr>
        <p:sp>
          <p:nvSpPr>
            <p:cNvPr id="19721" name="Line 151"/>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22" name="Line 152"/>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23" name="Line 153"/>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542" name="Group 154"/>
          <p:cNvGrpSpPr/>
          <p:nvPr/>
        </p:nvGrpSpPr>
        <p:grpSpPr bwMode="auto">
          <a:xfrm flipV="1">
            <a:off x="5861050" y="3598863"/>
            <a:ext cx="171450" cy="58737"/>
            <a:chOff x="2848" y="848"/>
            <a:chExt cx="140" cy="98"/>
          </a:xfrm>
        </p:grpSpPr>
        <p:sp>
          <p:nvSpPr>
            <p:cNvPr id="19718" name="Line 155"/>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19" name="Line 156"/>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20" name="Line 157"/>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sp>
        <p:nvSpPr>
          <p:cNvPr id="19543" name="Line 158"/>
          <p:cNvSpPr>
            <a:spLocks noChangeShapeType="1"/>
          </p:cNvSpPr>
          <p:nvPr/>
        </p:nvSpPr>
        <p:spPr bwMode="auto">
          <a:xfrm flipV="1">
            <a:off x="6978650" y="4005263"/>
            <a:ext cx="227013" cy="436562"/>
          </a:xfrm>
          <a:prstGeom prst="line">
            <a:avLst/>
          </a:prstGeom>
          <a:noFill/>
          <a:ln w="9525">
            <a:solidFill>
              <a:schemeClr val="bg2"/>
            </a:solidFill>
            <a:round/>
          </a:ln>
        </p:spPr>
        <p:txBody>
          <a:bodyPr/>
          <a:lstStyle/>
          <a:p>
            <a:endParaRPr lang="en-US"/>
          </a:p>
        </p:txBody>
      </p:sp>
      <p:sp>
        <p:nvSpPr>
          <p:cNvPr id="19544" name="Line 159"/>
          <p:cNvSpPr>
            <a:spLocks noChangeShapeType="1"/>
          </p:cNvSpPr>
          <p:nvPr/>
        </p:nvSpPr>
        <p:spPr bwMode="auto">
          <a:xfrm>
            <a:off x="7102475" y="3743325"/>
            <a:ext cx="163513" cy="120650"/>
          </a:xfrm>
          <a:prstGeom prst="line">
            <a:avLst/>
          </a:prstGeom>
          <a:noFill/>
          <a:ln w="9525">
            <a:solidFill>
              <a:schemeClr val="bg2"/>
            </a:solidFill>
            <a:round/>
          </a:ln>
        </p:spPr>
        <p:txBody>
          <a:bodyPr/>
          <a:lstStyle/>
          <a:p>
            <a:endParaRPr lang="en-US"/>
          </a:p>
        </p:txBody>
      </p:sp>
      <p:sp>
        <p:nvSpPr>
          <p:cNvPr id="19545" name="Line 160"/>
          <p:cNvSpPr>
            <a:spLocks noChangeShapeType="1"/>
          </p:cNvSpPr>
          <p:nvPr/>
        </p:nvSpPr>
        <p:spPr bwMode="auto">
          <a:xfrm>
            <a:off x="7199313" y="3663950"/>
            <a:ext cx="279400" cy="0"/>
          </a:xfrm>
          <a:prstGeom prst="line">
            <a:avLst/>
          </a:prstGeom>
          <a:noFill/>
          <a:ln w="9525">
            <a:solidFill>
              <a:schemeClr val="bg2"/>
            </a:solidFill>
            <a:round/>
          </a:ln>
        </p:spPr>
        <p:txBody>
          <a:bodyPr/>
          <a:lstStyle/>
          <a:p>
            <a:endParaRPr lang="en-US"/>
          </a:p>
        </p:txBody>
      </p:sp>
      <p:sp>
        <p:nvSpPr>
          <p:cNvPr id="19546" name="Line 161"/>
          <p:cNvSpPr>
            <a:spLocks noChangeShapeType="1"/>
          </p:cNvSpPr>
          <p:nvPr/>
        </p:nvSpPr>
        <p:spPr bwMode="auto">
          <a:xfrm flipV="1">
            <a:off x="7435850" y="3749675"/>
            <a:ext cx="134938" cy="104775"/>
          </a:xfrm>
          <a:prstGeom prst="line">
            <a:avLst/>
          </a:prstGeom>
          <a:noFill/>
          <a:ln w="9525">
            <a:solidFill>
              <a:schemeClr val="bg2"/>
            </a:solidFill>
            <a:round/>
          </a:ln>
        </p:spPr>
        <p:txBody>
          <a:bodyPr/>
          <a:lstStyle/>
          <a:p>
            <a:endParaRPr lang="en-US"/>
          </a:p>
        </p:txBody>
      </p:sp>
      <p:sp>
        <p:nvSpPr>
          <p:cNvPr id="19547" name="Line 162"/>
          <p:cNvSpPr>
            <a:spLocks noChangeShapeType="1"/>
          </p:cNvSpPr>
          <p:nvPr/>
        </p:nvSpPr>
        <p:spPr bwMode="auto">
          <a:xfrm>
            <a:off x="6134100" y="3670300"/>
            <a:ext cx="679450" cy="0"/>
          </a:xfrm>
          <a:prstGeom prst="line">
            <a:avLst/>
          </a:prstGeom>
          <a:noFill/>
          <a:ln w="9525">
            <a:solidFill>
              <a:schemeClr val="bg2"/>
            </a:solidFill>
            <a:round/>
          </a:ln>
        </p:spPr>
        <p:txBody>
          <a:bodyPr/>
          <a:lstStyle/>
          <a:p>
            <a:endParaRPr lang="en-US"/>
          </a:p>
        </p:txBody>
      </p:sp>
      <p:sp>
        <p:nvSpPr>
          <p:cNvPr id="19548" name="Line 163"/>
          <p:cNvSpPr>
            <a:spLocks noChangeShapeType="1"/>
          </p:cNvSpPr>
          <p:nvPr/>
        </p:nvSpPr>
        <p:spPr bwMode="auto">
          <a:xfrm>
            <a:off x="6429375" y="2517775"/>
            <a:ext cx="509588" cy="3175"/>
          </a:xfrm>
          <a:prstGeom prst="line">
            <a:avLst/>
          </a:prstGeom>
          <a:noFill/>
          <a:ln w="9525">
            <a:solidFill>
              <a:schemeClr val="bg2"/>
            </a:solidFill>
            <a:round/>
          </a:ln>
        </p:spPr>
        <p:txBody>
          <a:bodyPr/>
          <a:lstStyle/>
          <a:p>
            <a:endParaRPr lang="en-US"/>
          </a:p>
        </p:txBody>
      </p:sp>
      <p:sp>
        <p:nvSpPr>
          <p:cNvPr id="19549" name="Line 164"/>
          <p:cNvSpPr>
            <a:spLocks noChangeShapeType="1"/>
          </p:cNvSpPr>
          <p:nvPr/>
        </p:nvSpPr>
        <p:spPr bwMode="auto">
          <a:xfrm>
            <a:off x="5995988" y="2346325"/>
            <a:ext cx="152400" cy="82550"/>
          </a:xfrm>
          <a:prstGeom prst="line">
            <a:avLst/>
          </a:prstGeom>
          <a:noFill/>
          <a:ln w="9525">
            <a:solidFill>
              <a:schemeClr val="bg2"/>
            </a:solidFill>
            <a:round/>
          </a:ln>
        </p:spPr>
        <p:txBody>
          <a:bodyPr/>
          <a:lstStyle/>
          <a:p>
            <a:endParaRPr lang="en-US"/>
          </a:p>
        </p:txBody>
      </p:sp>
      <p:sp>
        <p:nvSpPr>
          <p:cNvPr id="19550" name="Freeform 165"/>
          <p:cNvSpPr/>
          <p:nvPr/>
        </p:nvSpPr>
        <p:spPr bwMode="auto">
          <a:xfrm>
            <a:off x="5316538" y="4352925"/>
            <a:ext cx="2979737" cy="1455738"/>
          </a:xfrm>
          <a:custGeom>
            <a:avLst/>
            <a:gdLst>
              <a:gd name="T0" fmla="*/ 889 w 1877"/>
              <a:gd name="T1" fmla="*/ 23 h 917"/>
              <a:gd name="T2" fmla="*/ 692 w 1877"/>
              <a:gd name="T3" fmla="*/ 109 h 917"/>
              <a:gd name="T4" fmla="*/ 415 w 1877"/>
              <a:gd name="T5" fmla="*/ 91 h 917"/>
              <a:gd name="T6" fmla="*/ 112 w 1877"/>
              <a:gd name="T7" fmla="*/ 170 h 917"/>
              <a:gd name="T8" fmla="*/ 50 w 1877"/>
              <a:gd name="T9" fmla="*/ 353 h 917"/>
              <a:gd name="T10" fmla="*/ 14 w 1877"/>
              <a:gd name="T11" fmla="*/ 528 h 917"/>
              <a:gd name="T12" fmla="*/ 139 w 1877"/>
              <a:gd name="T13" fmla="*/ 650 h 917"/>
              <a:gd name="T14" fmla="*/ 505 w 1877"/>
              <a:gd name="T15" fmla="*/ 781 h 917"/>
              <a:gd name="T16" fmla="*/ 933 w 1877"/>
              <a:gd name="T17" fmla="*/ 886 h 917"/>
              <a:gd name="T18" fmla="*/ 1370 w 1877"/>
              <a:gd name="T19" fmla="*/ 901 h 917"/>
              <a:gd name="T20" fmla="*/ 1676 w 1877"/>
              <a:gd name="T21" fmla="*/ 793 h 917"/>
              <a:gd name="T22" fmla="*/ 1860 w 1877"/>
              <a:gd name="T23" fmla="*/ 624 h 917"/>
              <a:gd name="T24" fmla="*/ 1776 w 1877"/>
              <a:gd name="T25" fmla="*/ 219 h 917"/>
              <a:gd name="T26" fmla="*/ 1503 w 1877"/>
              <a:gd name="T27" fmla="*/ 100 h 917"/>
              <a:gd name="T28" fmla="*/ 1200 w 1877"/>
              <a:gd name="T29" fmla="*/ 13 h 917"/>
              <a:gd name="T30" fmla="*/ 889 w 1877"/>
              <a:gd name="T31" fmla="*/ 23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w="9525">
            <a:noFill/>
            <a:round/>
          </a:ln>
        </p:spPr>
        <p:txBody>
          <a:bodyPr/>
          <a:lstStyle/>
          <a:p>
            <a:endParaRPr lang="en-US"/>
          </a:p>
        </p:txBody>
      </p:sp>
      <p:sp>
        <p:nvSpPr>
          <p:cNvPr id="19551" name="Line 166"/>
          <p:cNvSpPr>
            <a:spLocks noChangeShapeType="1"/>
          </p:cNvSpPr>
          <p:nvPr/>
        </p:nvSpPr>
        <p:spPr bwMode="auto">
          <a:xfrm rot="-5400000">
            <a:off x="7551737" y="5089526"/>
            <a:ext cx="523875" cy="139700"/>
          </a:xfrm>
          <a:prstGeom prst="line">
            <a:avLst/>
          </a:prstGeom>
          <a:noFill/>
          <a:ln w="12700">
            <a:solidFill>
              <a:schemeClr val="bg2"/>
            </a:solidFill>
            <a:round/>
          </a:ln>
        </p:spPr>
        <p:txBody>
          <a:bodyPr wrap="none" anchor="ctr"/>
          <a:lstStyle/>
          <a:p>
            <a:endParaRPr lang="en-US"/>
          </a:p>
        </p:txBody>
      </p:sp>
      <p:sp>
        <p:nvSpPr>
          <p:cNvPr id="19552" name="Line 167"/>
          <p:cNvSpPr>
            <a:spLocks noChangeShapeType="1"/>
          </p:cNvSpPr>
          <p:nvPr/>
        </p:nvSpPr>
        <p:spPr bwMode="auto">
          <a:xfrm rot="5400000" flipV="1">
            <a:off x="7697788" y="5370513"/>
            <a:ext cx="3175" cy="85725"/>
          </a:xfrm>
          <a:prstGeom prst="line">
            <a:avLst/>
          </a:prstGeom>
          <a:noFill/>
          <a:ln w="12700">
            <a:solidFill>
              <a:schemeClr val="bg2"/>
            </a:solidFill>
            <a:round/>
          </a:ln>
        </p:spPr>
        <p:txBody>
          <a:bodyPr wrap="none" anchor="ctr"/>
          <a:lstStyle/>
          <a:p>
            <a:endParaRPr lang="en-US"/>
          </a:p>
        </p:txBody>
      </p:sp>
      <p:sp>
        <p:nvSpPr>
          <p:cNvPr id="19553" name="Line 168"/>
          <p:cNvSpPr>
            <a:spLocks noChangeShapeType="1"/>
          </p:cNvSpPr>
          <p:nvPr/>
        </p:nvSpPr>
        <p:spPr bwMode="auto">
          <a:xfrm rot="-5400000">
            <a:off x="7883525" y="5046663"/>
            <a:ext cx="0" cy="114300"/>
          </a:xfrm>
          <a:prstGeom prst="line">
            <a:avLst/>
          </a:prstGeom>
          <a:noFill/>
          <a:ln w="12700">
            <a:solidFill>
              <a:schemeClr val="bg2"/>
            </a:solidFill>
            <a:round/>
          </a:ln>
        </p:spPr>
        <p:txBody>
          <a:bodyPr wrap="none" anchor="ctr"/>
          <a:lstStyle/>
          <a:p>
            <a:endParaRPr lang="en-US"/>
          </a:p>
        </p:txBody>
      </p:sp>
      <p:grpSp>
        <p:nvGrpSpPr>
          <p:cNvPr id="19554" name="Group 169"/>
          <p:cNvGrpSpPr/>
          <p:nvPr/>
        </p:nvGrpSpPr>
        <p:grpSpPr bwMode="auto">
          <a:xfrm>
            <a:off x="7462838" y="4756150"/>
            <a:ext cx="501650" cy="234950"/>
            <a:chOff x="4701" y="2996"/>
            <a:chExt cx="316" cy="148"/>
          </a:xfrm>
        </p:grpSpPr>
        <p:sp>
          <p:nvSpPr>
            <p:cNvPr id="19705" name="Oval 170"/>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19706" name="Line 171"/>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19707" name="Line 172"/>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19708" name="Rectangle 173"/>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709" name="Oval 174"/>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19710" name="Group 175"/>
            <p:cNvGrpSpPr/>
            <p:nvPr/>
          </p:nvGrpSpPr>
          <p:grpSpPr bwMode="auto">
            <a:xfrm>
              <a:off x="4776" y="3017"/>
              <a:ext cx="156" cy="56"/>
              <a:chOff x="2848" y="848"/>
              <a:chExt cx="140" cy="98"/>
            </a:xfrm>
          </p:grpSpPr>
          <p:sp>
            <p:nvSpPr>
              <p:cNvPr id="19715" name="Line 17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16" name="Line 17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17" name="Line 17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711" name="Group 179"/>
            <p:cNvGrpSpPr/>
            <p:nvPr/>
          </p:nvGrpSpPr>
          <p:grpSpPr bwMode="auto">
            <a:xfrm flipV="1">
              <a:off x="4776" y="3016"/>
              <a:ext cx="156" cy="56"/>
              <a:chOff x="2848" y="848"/>
              <a:chExt cx="140" cy="98"/>
            </a:xfrm>
          </p:grpSpPr>
          <p:sp>
            <p:nvSpPr>
              <p:cNvPr id="19712" name="Line 18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713" name="Line 18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714" name="Line 18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19555" name="Group 183"/>
          <p:cNvGrpSpPr/>
          <p:nvPr/>
        </p:nvGrpSpPr>
        <p:grpSpPr bwMode="auto">
          <a:xfrm>
            <a:off x="6646863" y="4479925"/>
            <a:ext cx="501650" cy="234950"/>
            <a:chOff x="3600" y="219"/>
            <a:chExt cx="360" cy="175"/>
          </a:xfrm>
        </p:grpSpPr>
        <p:sp>
          <p:nvSpPr>
            <p:cNvPr id="19692" name="Oval 184"/>
            <p:cNvSpPr>
              <a:spLocks noChangeArrowheads="1"/>
            </p:cNvSpPr>
            <p:nvPr/>
          </p:nvSpPr>
          <p:spPr bwMode="auto">
            <a:xfrm>
              <a:off x="3603" y="297"/>
              <a:ext cx="357" cy="97"/>
            </a:xfrm>
            <a:prstGeom prst="ellipse">
              <a:avLst/>
            </a:prstGeom>
            <a:solidFill>
              <a:srgbClr val="DDDDDD"/>
            </a:solidFill>
            <a:ln w="12700">
              <a:solidFill>
                <a:schemeClr val="tx1"/>
              </a:solidFill>
              <a:round/>
            </a:ln>
          </p:spPr>
          <p:txBody>
            <a:bodyPr wrap="none" anchor="ctr"/>
            <a:lstStyle/>
            <a:p>
              <a:endParaRPr lang="en-US"/>
            </a:p>
          </p:txBody>
        </p:sp>
        <p:sp>
          <p:nvSpPr>
            <p:cNvPr id="19693" name="Line 185"/>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19694" name="Line 186"/>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19695" name="Rectangle 187"/>
            <p:cNvSpPr>
              <a:spLocks noChangeArrowheads="1"/>
            </p:cNvSpPr>
            <p:nvPr/>
          </p:nvSpPr>
          <p:spPr bwMode="auto">
            <a:xfrm>
              <a:off x="3603" y="289"/>
              <a:ext cx="354" cy="59"/>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696" name="Oval 188"/>
            <p:cNvSpPr>
              <a:spLocks noChangeArrowheads="1"/>
            </p:cNvSpPr>
            <p:nvPr/>
          </p:nvSpPr>
          <p:spPr bwMode="auto">
            <a:xfrm>
              <a:off x="3600" y="219"/>
              <a:ext cx="357" cy="113"/>
            </a:xfrm>
            <a:prstGeom prst="ellipse">
              <a:avLst/>
            </a:prstGeom>
            <a:solidFill>
              <a:srgbClr val="DDDDDD"/>
            </a:solidFill>
            <a:ln w="12700">
              <a:solidFill>
                <a:schemeClr val="tx1"/>
              </a:solidFill>
              <a:round/>
            </a:ln>
          </p:spPr>
          <p:txBody>
            <a:bodyPr wrap="none" anchor="ctr"/>
            <a:lstStyle/>
            <a:p>
              <a:endParaRPr lang="en-US"/>
            </a:p>
          </p:txBody>
        </p:sp>
        <p:grpSp>
          <p:nvGrpSpPr>
            <p:cNvPr id="19697" name="Group 189"/>
            <p:cNvGrpSpPr/>
            <p:nvPr/>
          </p:nvGrpSpPr>
          <p:grpSpPr bwMode="auto">
            <a:xfrm>
              <a:off x="3686" y="244"/>
              <a:ext cx="177" cy="66"/>
              <a:chOff x="2848" y="848"/>
              <a:chExt cx="140" cy="98"/>
            </a:xfrm>
          </p:grpSpPr>
          <p:sp>
            <p:nvSpPr>
              <p:cNvPr id="19702" name="Line 190"/>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9703" name="Line 191"/>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9704" name="Line 192"/>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19698" name="Group 193"/>
            <p:cNvGrpSpPr/>
            <p:nvPr/>
          </p:nvGrpSpPr>
          <p:grpSpPr bwMode="auto">
            <a:xfrm flipV="1">
              <a:off x="3686" y="243"/>
              <a:ext cx="177" cy="66"/>
              <a:chOff x="2848" y="848"/>
              <a:chExt cx="140" cy="98"/>
            </a:xfrm>
          </p:grpSpPr>
          <p:sp>
            <p:nvSpPr>
              <p:cNvPr id="19699" name="Line 194"/>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9700" name="Line 195"/>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9701" name="Line 196"/>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grpSp>
        <p:nvGrpSpPr>
          <p:cNvPr id="19556" name="Group 197"/>
          <p:cNvGrpSpPr/>
          <p:nvPr/>
        </p:nvGrpSpPr>
        <p:grpSpPr bwMode="auto">
          <a:xfrm>
            <a:off x="5981700" y="4784725"/>
            <a:ext cx="501650" cy="234950"/>
            <a:chOff x="3600" y="219"/>
            <a:chExt cx="360" cy="175"/>
          </a:xfrm>
        </p:grpSpPr>
        <p:sp>
          <p:nvSpPr>
            <p:cNvPr id="19679" name="Oval 198"/>
            <p:cNvSpPr>
              <a:spLocks noChangeArrowheads="1"/>
            </p:cNvSpPr>
            <p:nvPr/>
          </p:nvSpPr>
          <p:spPr bwMode="auto">
            <a:xfrm>
              <a:off x="3603" y="297"/>
              <a:ext cx="357" cy="97"/>
            </a:xfrm>
            <a:prstGeom prst="ellipse">
              <a:avLst/>
            </a:prstGeom>
            <a:solidFill>
              <a:srgbClr val="DDDDDD"/>
            </a:solidFill>
            <a:ln w="12700">
              <a:solidFill>
                <a:schemeClr val="tx1"/>
              </a:solidFill>
              <a:round/>
            </a:ln>
          </p:spPr>
          <p:txBody>
            <a:bodyPr wrap="none" anchor="ctr"/>
            <a:lstStyle/>
            <a:p>
              <a:endParaRPr lang="en-US"/>
            </a:p>
          </p:txBody>
        </p:sp>
        <p:sp>
          <p:nvSpPr>
            <p:cNvPr id="19680" name="Line 199"/>
            <p:cNvSpPr>
              <a:spLocks noChangeShapeType="1"/>
            </p:cNvSpPr>
            <p:nvPr/>
          </p:nvSpPr>
          <p:spPr bwMode="auto">
            <a:xfrm>
              <a:off x="3603" y="289"/>
              <a:ext cx="0" cy="60"/>
            </a:xfrm>
            <a:prstGeom prst="line">
              <a:avLst/>
            </a:prstGeom>
            <a:noFill/>
            <a:ln w="12700">
              <a:solidFill>
                <a:schemeClr val="tx1"/>
              </a:solidFill>
              <a:round/>
            </a:ln>
          </p:spPr>
          <p:txBody>
            <a:bodyPr wrap="none" anchor="ctr"/>
            <a:lstStyle/>
            <a:p>
              <a:endParaRPr lang="en-US"/>
            </a:p>
          </p:txBody>
        </p:sp>
        <p:sp>
          <p:nvSpPr>
            <p:cNvPr id="19681" name="Line 200"/>
            <p:cNvSpPr>
              <a:spLocks noChangeShapeType="1"/>
            </p:cNvSpPr>
            <p:nvPr/>
          </p:nvSpPr>
          <p:spPr bwMode="auto">
            <a:xfrm>
              <a:off x="3960" y="289"/>
              <a:ext cx="0" cy="60"/>
            </a:xfrm>
            <a:prstGeom prst="line">
              <a:avLst/>
            </a:prstGeom>
            <a:noFill/>
            <a:ln w="12700">
              <a:solidFill>
                <a:schemeClr val="tx1"/>
              </a:solidFill>
              <a:round/>
            </a:ln>
          </p:spPr>
          <p:txBody>
            <a:bodyPr wrap="none" anchor="ctr"/>
            <a:lstStyle/>
            <a:p>
              <a:endParaRPr lang="en-US"/>
            </a:p>
          </p:txBody>
        </p:sp>
        <p:sp>
          <p:nvSpPr>
            <p:cNvPr id="19682" name="Rectangle 201"/>
            <p:cNvSpPr>
              <a:spLocks noChangeArrowheads="1"/>
            </p:cNvSpPr>
            <p:nvPr/>
          </p:nvSpPr>
          <p:spPr bwMode="auto">
            <a:xfrm>
              <a:off x="3603" y="289"/>
              <a:ext cx="354" cy="59"/>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683" name="Oval 202"/>
            <p:cNvSpPr>
              <a:spLocks noChangeArrowheads="1"/>
            </p:cNvSpPr>
            <p:nvPr/>
          </p:nvSpPr>
          <p:spPr bwMode="auto">
            <a:xfrm>
              <a:off x="3600" y="219"/>
              <a:ext cx="357" cy="113"/>
            </a:xfrm>
            <a:prstGeom prst="ellipse">
              <a:avLst/>
            </a:prstGeom>
            <a:solidFill>
              <a:srgbClr val="DDDDDD"/>
            </a:solidFill>
            <a:ln w="12700">
              <a:solidFill>
                <a:schemeClr val="tx1"/>
              </a:solidFill>
              <a:round/>
            </a:ln>
          </p:spPr>
          <p:txBody>
            <a:bodyPr wrap="none" anchor="ctr"/>
            <a:lstStyle/>
            <a:p>
              <a:endParaRPr lang="en-US"/>
            </a:p>
          </p:txBody>
        </p:sp>
        <p:grpSp>
          <p:nvGrpSpPr>
            <p:cNvPr id="19684" name="Group 203"/>
            <p:cNvGrpSpPr/>
            <p:nvPr/>
          </p:nvGrpSpPr>
          <p:grpSpPr bwMode="auto">
            <a:xfrm>
              <a:off x="3686" y="244"/>
              <a:ext cx="177" cy="66"/>
              <a:chOff x="2848" y="848"/>
              <a:chExt cx="140" cy="98"/>
            </a:xfrm>
          </p:grpSpPr>
          <p:sp>
            <p:nvSpPr>
              <p:cNvPr id="19689" name="Line 204"/>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9690" name="Line 205"/>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9691" name="Line 206"/>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nvGrpSpPr>
            <p:cNvPr id="19685" name="Group 207"/>
            <p:cNvGrpSpPr/>
            <p:nvPr/>
          </p:nvGrpSpPr>
          <p:grpSpPr bwMode="auto">
            <a:xfrm flipV="1">
              <a:off x="3686" y="243"/>
              <a:ext cx="177" cy="66"/>
              <a:chOff x="2848" y="848"/>
              <a:chExt cx="140" cy="98"/>
            </a:xfrm>
          </p:grpSpPr>
          <p:sp>
            <p:nvSpPr>
              <p:cNvPr id="19686" name="Line 208"/>
              <p:cNvSpPr>
                <a:spLocks noChangeShapeType="1"/>
              </p:cNvSpPr>
              <p:nvPr/>
            </p:nvSpPr>
            <p:spPr bwMode="auto">
              <a:xfrm flipV="1">
                <a:off x="2848" y="848"/>
                <a:ext cx="50" cy="2"/>
              </a:xfrm>
              <a:prstGeom prst="line">
                <a:avLst/>
              </a:prstGeom>
              <a:noFill/>
              <a:ln w="28575">
                <a:solidFill>
                  <a:schemeClr val="tx1"/>
                </a:solidFill>
                <a:round/>
              </a:ln>
            </p:spPr>
            <p:txBody>
              <a:bodyPr wrap="none" anchor="ctr"/>
              <a:lstStyle/>
              <a:p>
                <a:endParaRPr lang="en-US"/>
              </a:p>
            </p:txBody>
          </p:sp>
          <p:sp>
            <p:nvSpPr>
              <p:cNvPr id="19687" name="Line 209"/>
              <p:cNvSpPr>
                <a:spLocks noChangeShapeType="1"/>
              </p:cNvSpPr>
              <p:nvPr/>
            </p:nvSpPr>
            <p:spPr bwMode="auto">
              <a:xfrm>
                <a:off x="2944" y="946"/>
                <a:ext cx="44" cy="0"/>
              </a:xfrm>
              <a:prstGeom prst="line">
                <a:avLst/>
              </a:prstGeom>
              <a:noFill/>
              <a:ln w="28575">
                <a:solidFill>
                  <a:schemeClr val="tx1"/>
                </a:solidFill>
                <a:round/>
              </a:ln>
            </p:spPr>
            <p:txBody>
              <a:bodyPr wrap="none" anchor="ctr"/>
              <a:lstStyle/>
              <a:p>
                <a:endParaRPr lang="en-US"/>
              </a:p>
            </p:txBody>
          </p:sp>
          <p:sp>
            <p:nvSpPr>
              <p:cNvPr id="19688" name="Line 210"/>
              <p:cNvSpPr>
                <a:spLocks noChangeShapeType="1"/>
              </p:cNvSpPr>
              <p:nvPr/>
            </p:nvSpPr>
            <p:spPr bwMode="auto">
              <a:xfrm>
                <a:off x="2894" y="850"/>
                <a:ext cx="52" cy="96"/>
              </a:xfrm>
              <a:prstGeom prst="line">
                <a:avLst/>
              </a:prstGeom>
              <a:noFill/>
              <a:ln w="28575">
                <a:solidFill>
                  <a:schemeClr val="tx1"/>
                </a:solidFill>
                <a:round/>
              </a:ln>
            </p:spPr>
            <p:txBody>
              <a:bodyPr wrap="none" anchor="ctr"/>
              <a:lstStyle/>
              <a:p>
                <a:endParaRPr lang="en-US"/>
              </a:p>
            </p:txBody>
          </p:sp>
        </p:grpSp>
      </p:grpSp>
      <p:sp>
        <p:nvSpPr>
          <p:cNvPr id="19557" name="Line 211"/>
          <p:cNvSpPr>
            <a:spLocks noChangeShapeType="1"/>
          </p:cNvSpPr>
          <p:nvPr/>
        </p:nvSpPr>
        <p:spPr bwMode="auto">
          <a:xfrm>
            <a:off x="7096125" y="4691063"/>
            <a:ext cx="358775" cy="120650"/>
          </a:xfrm>
          <a:prstGeom prst="line">
            <a:avLst/>
          </a:prstGeom>
          <a:noFill/>
          <a:ln w="9525">
            <a:solidFill>
              <a:schemeClr val="bg2"/>
            </a:solidFill>
            <a:round/>
          </a:ln>
        </p:spPr>
        <p:txBody>
          <a:bodyPr/>
          <a:lstStyle/>
          <a:p>
            <a:endParaRPr lang="en-US"/>
          </a:p>
        </p:txBody>
      </p:sp>
      <p:sp>
        <p:nvSpPr>
          <p:cNvPr id="19558" name="Line 212"/>
          <p:cNvSpPr>
            <a:spLocks noChangeShapeType="1"/>
          </p:cNvSpPr>
          <p:nvPr/>
        </p:nvSpPr>
        <p:spPr bwMode="auto">
          <a:xfrm flipV="1">
            <a:off x="6443663" y="4703763"/>
            <a:ext cx="277812" cy="109537"/>
          </a:xfrm>
          <a:prstGeom prst="line">
            <a:avLst/>
          </a:prstGeom>
          <a:noFill/>
          <a:ln w="9525">
            <a:solidFill>
              <a:schemeClr val="bg2"/>
            </a:solidFill>
            <a:round/>
          </a:ln>
        </p:spPr>
        <p:txBody>
          <a:bodyPr/>
          <a:lstStyle/>
          <a:p>
            <a:endParaRPr lang="en-US"/>
          </a:p>
        </p:txBody>
      </p:sp>
      <p:sp>
        <p:nvSpPr>
          <p:cNvPr id="19559" name="Line 213"/>
          <p:cNvSpPr>
            <a:spLocks noChangeShapeType="1"/>
          </p:cNvSpPr>
          <p:nvPr/>
        </p:nvSpPr>
        <p:spPr bwMode="auto">
          <a:xfrm flipV="1">
            <a:off x="6486525" y="4906963"/>
            <a:ext cx="971550" cy="0"/>
          </a:xfrm>
          <a:prstGeom prst="line">
            <a:avLst/>
          </a:prstGeom>
          <a:noFill/>
          <a:ln w="9525">
            <a:solidFill>
              <a:schemeClr val="bg2"/>
            </a:solidFill>
            <a:round/>
          </a:ln>
        </p:spPr>
        <p:txBody>
          <a:bodyPr/>
          <a:lstStyle/>
          <a:p>
            <a:endParaRPr lang="en-US"/>
          </a:p>
        </p:txBody>
      </p:sp>
      <p:sp>
        <p:nvSpPr>
          <p:cNvPr id="19560" name="Line 214"/>
          <p:cNvSpPr>
            <a:spLocks noChangeShapeType="1"/>
          </p:cNvSpPr>
          <p:nvPr/>
        </p:nvSpPr>
        <p:spPr bwMode="auto">
          <a:xfrm flipH="1">
            <a:off x="5781675" y="4652963"/>
            <a:ext cx="254000" cy="469900"/>
          </a:xfrm>
          <a:prstGeom prst="line">
            <a:avLst/>
          </a:prstGeom>
          <a:noFill/>
          <a:ln w="9525">
            <a:solidFill>
              <a:schemeClr val="bg2"/>
            </a:solidFill>
            <a:round/>
          </a:ln>
        </p:spPr>
        <p:txBody>
          <a:bodyPr/>
          <a:lstStyle/>
          <a:p>
            <a:endParaRPr lang="en-US"/>
          </a:p>
        </p:txBody>
      </p:sp>
      <p:sp>
        <p:nvSpPr>
          <p:cNvPr id="19561" name="Line 215"/>
          <p:cNvSpPr>
            <a:spLocks noChangeShapeType="1"/>
          </p:cNvSpPr>
          <p:nvPr/>
        </p:nvSpPr>
        <p:spPr bwMode="auto">
          <a:xfrm>
            <a:off x="5807075" y="4703763"/>
            <a:ext cx="196850" cy="0"/>
          </a:xfrm>
          <a:prstGeom prst="line">
            <a:avLst/>
          </a:prstGeom>
          <a:noFill/>
          <a:ln w="9525">
            <a:solidFill>
              <a:schemeClr val="bg2"/>
            </a:solidFill>
            <a:round/>
          </a:ln>
        </p:spPr>
        <p:txBody>
          <a:bodyPr/>
          <a:lstStyle/>
          <a:p>
            <a:endParaRPr lang="en-US"/>
          </a:p>
        </p:txBody>
      </p:sp>
      <p:sp>
        <p:nvSpPr>
          <p:cNvPr id="19562" name="Line 216"/>
          <p:cNvSpPr>
            <a:spLocks noChangeShapeType="1"/>
          </p:cNvSpPr>
          <p:nvPr/>
        </p:nvSpPr>
        <p:spPr bwMode="auto">
          <a:xfrm>
            <a:off x="5667375" y="5040313"/>
            <a:ext cx="153988" cy="0"/>
          </a:xfrm>
          <a:prstGeom prst="line">
            <a:avLst/>
          </a:prstGeom>
          <a:noFill/>
          <a:ln w="9525">
            <a:solidFill>
              <a:schemeClr val="bg2"/>
            </a:solidFill>
            <a:round/>
          </a:ln>
        </p:spPr>
        <p:txBody>
          <a:bodyPr/>
          <a:lstStyle/>
          <a:p>
            <a:endParaRPr lang="en-US"/>
          </a:p>
        </p:txBody>
      </p:sp>
      <p:sp>
        <p:nvSpPr>
          <p:cNvPr id="19563" name="Line 217"/>
          <p:cNvSpPr>
            <a:spLocks noChangeShapeType="1"/>
          </p:cNvSpPr>
          <p:nvPr/>
        </p:nvSpPr>
        <p:spPr bwMode="auto">
          <a:xfrm>
            <a:off x="5919788" y="5119688"/>
            <a:ext cx="490537" cy="0"/>
          </a:xfrm>
          <a:prstGeom prst="line">
            <a:avLst/>
          </a:prstGeom>
          <a:noFill/>
          <a:ln w="9525">
            <a:solidFill>
              <a:schemeClr val="bg2"/>
            </a:solidFill>
            <a:round/>
          </a:ln>
        </p:spPr>
        <p:txBody>
          <a:bodyPr/>
          <a:lstStyle/>
          <a:p>
            <a:endParaRPr lang="en-US"/>
          </a:p>
        </p:txBody>
      </p:sp>
      <p:sp>
        <p:nvSpPr>
          <p:cNvPr id="19564" name="Line 218"/>
          <p:cNvSpPr>
            <a:spLocks noChangeShapeType="1"/>
          </p:cNvSpPr>
          <p:nvPr/>
        </p:nvSpPr>
        <p:spPr bwMode="auto">
          <a:xfrm flipH="1">
            <a:off x="6159500" y="5027613"/>
            <a:ext cx="53975" cy="85725"/>
          </a:xfrm>
          <a:prstGeom prst="line">
            <a:avLst/>
          </a:prstGeom>
          <a:noFill/>
          <a:ln w="9525">
            <a:solidFill>
              <a:schemeClr val="bg2"/>
            </a:solidFill>
            <a:round/>
          </a:ln>
        </p:spPr>
        <p:txBody>
          <a:bodyPr/>
          <a:lstStyle/>
          <a:p>
            <a:endParaRPr lang="en-US"/>
          </a:p>
        </p:txBody>
      </p:sp>
      <p:sp>
        <p:nvSpPr>
          <p:cNvPr id="19565" name="Line 219"/>
          <p:cNvSpPr>
            <a:spLocks noChangeShapeType="1"/>
          </p:cNvSpPr>
          <p:nvPr/>
        </p:nvSpPr>
        <p:spPr bwMode="auto">
          <a:xfrm>
            <a:off x="5972175" y="5116513"/>
            <a:ext cx="1588" cy="82550"/>
          </a:xfrm>
          <a:prstGeom prst="line">
            <a:avLst/>
          </a:prstGeom>
          <a:noFill/>
          <a:ln w="9525">
            <a:solidFill>
              <a:schemeClr val="bg2"/>
            </a:solidFill>
            <a:round/>
          </a:ln>
        </p:spPr>
        <p:txBody>
          <a:bodyPr/>
          <a:lstStyle/>
          <a:p>
            <a:endParaRPr lang="en-US"/>
          </a:p>
        </p:txBody>
      </p:sp>
      <p:sp>
        <p:nvSpPr>
          <p:cNvPr id="19566" name="Line 220"/>
          <p:cNvSpPr>
            <a:spLocks noChangeShapeType="1"/>
          </p:cNvSpPr>
          <p:nvPr/>
        </p:nvSpPr>
        <p:spPr bwMode="auto">
          <a:xfrm flipH="1" flipV="1">
            <a:off x="6369050" y="5124450"/>
            <a:ext cx="0" cy="76200"/>
          </a:xfrm>
          <a:prstGeom prst="line">
            <a:avLst/>
          </a:prstGeom>
          <a:noFill/>
          <a:ln w="9525">
            <a:solidFill>
              <a:schemeClr val="bg2"/>
            </a:solidFill>
            <a:round/>
          </a:ln>
        </p:spPr>
        <p:txBody>
          <a:bodyPr/>
          <a:lstStyle/>
          <a:p>
            <a:endParaRPr lang="en-US"/>
          </a:p>
        </p:txBody>
      </p:sp>
      <p:sp>
        <p:nvSpPr>
          <p:cNvPr id="19567" name="Line 221"/>
          <p:cNvSpPr>
            <a:spLocks noChangeShapeType="1"/>
          </p:cNvSpPr>
          <p:nvPr/>
        </p:nvSpPr>
        <p:spPr bwMode="auto">
          <a:xfrm>
            <a:off x="6450013" y="4983163"/>
            <a:ext cx="503237" cy="269875"/>
          </a:xfrm>
          <a:prstGeom prst="line">
            <a:avLst/>
          </a:prstGeom>
          <a:noFill/>
          <a:ln w="9525">
            <a:solidFill>
              <a:schemeClr val="bg2"/>
            </a:solidFill>
            <a:round/>
          </a:ln>
        </p:spPr>
        <p:txBody>
          <a:bodyPr/>
          <a:lstStyle/>
          <a:p>
            <a:endParaRPr lang="en-US"/>
          </a:p>
        </p:txBody>
      </p:sp>
      <p:sp>
        <p:nvSpPr>
          <p:cNvPr id="19568" name="Line 222"/>
          <p:cNvSpPr>
            <a:spLocks noChangeShapeType="1"/>
          </p:cNvSpPr>
          <p:nvPr/>
        </p:nvSpPr>
        <p:spPr bwMode="auto">
          <a:xfrm>
            <a:off x="5899150" y="4918075"/>
            <a:ext cx="80963" cy="0"/>
          </a:xfrm>
          <a:prstGeom prst="line">
            <a:avLst/>
          </a:prstGeom>
          <a:noFill/>
          <a:ln w="9525">
            <a:solidFill>
              <a:schemeClr val="bg2"/>
            </a:solidFill>
            <a:round/>
          </a:ln>
        </p:spPr>
        <p:txBody>
          <a:bodyPr/>
          <a:lstStyle/>
          <a:p>
            <a:endParaRPr lang="en-US"/>
          </a:p>
        </p:txBody>
      </p:sp>
      <p:grpSp>
        <p:nvGrpSpPr>
          <p:cNvPr id="19569" name="Group 223"/>
          <p:cNvGrpSpPr/>
          <p:nvPr/>
        </p:nvGrpSpPr>
        <p:grpSpPr bwMode="auto">
          <a:xfrm>
            <a:off x="5084763" y="1677988"/>
            <a:ext cx="3021012" cy="3981450"/>
            <a:chOff x="-1203" y="1352"/>
            <a:chExt cx="1903" cy="2508"/>
          </a:xfrm>
        </p:grpSpPr>
        <p:grpSp>
          <p:nvGrpSpPr>
            <p:cNvPr id="19652" name="Group 224"/>
            <p:cNvGrpSpPr/>
            <p:nvPr/>
          </p:nvGrpSpPr>
          <p:grpSpPr bwMode="auto">
            <a:xfrm>
              <a:off x="-1203" y="1647"/>
              <a:ext cx="436" cy="114"/>
              <a:chOff x="3072" y="739"/>
              <a:chExt cx="652" cy="146"/>
            </a:xfrm>
          </p:grpSpPr>
          <p:pic>
            <p:nvPicPr>
              <p:cNvPr id="19676" name="Picture 225" descr="lgv_fqmg[1]"/>
              <p:cNvPicPr>
                <a:picLocks noChangeAspect="1" noChangeArrowheads="1"/>
              </p:cNvPicPr>
              <p:nvPr/>
            </p:nvPicPr>
            <p:blipFill>
              <a:blip r:embed="rId1"/>
              <a:srcRect/>
              <a:stretch>
                <a:fillRect/>
              </a:stretch>
            </p:blipFill>
            <p:spPr bwMode="auto">
              <a:xfrm flipH="1">
                <a:off x="3237" y="739"/>
                <a:ext cx="487" cy="146"/>
              </a:xfrm>
              <a:prstGeom prst="rect">
                <a:avLst/>
              </a:prstGeom>
              <a:noFill/>
              <a:ln w="9525">
                <a:noFill/>
                <a:miter lim="800000"/>
                <a:headEnd/>
                <a:tailEnd/>
              </a:ln>
            </p:spPr>
          </p:pic>
          <p:sp>
            <p:nvSpPr>
              <p:cNvPr id="19677" name="Line 226"/>
              <p:cNvSpPr>
                <a:spLocks noChangeShapeType="1"/>
              </p:cNvSpPr>
              <p:nvPr/>
            </p:nvSpPr>
            <p:spPr bwMode="auto">
              <a:xfrm flipH="1">
                <a:off x="3104" y="784"/>
                <a:ext cx="88" cy="0"/>
              </a:xfrm>
              <a:prstGeom prst="line">
                <a:avLst/>
              </a:prstGeom>
              <a:noFill/>
              <a:ln w="9525">
                <a:solidFill>
                  <a:schemeClr val="tx1"/>
                </a:solidFill>
                <a:round/>
              </a:ln>
            </p:spPr>
            <p:txBody>
              <a:bodyPr/>
              <a:lstStyle/>
              <a:p>
                <a:endParaRPr lang="en-US"/>
              </a:p>
            </p:txBody>
          </p:sp>
          <p:sp>
            <p:nvSpPr>
              <p:cNvPr id="19678" name="Line 227"/>
              <p:cNvSpPr>
                <a:spLocks noChangeShapeType="1"/>
              </p:cNvSpPr>
              <p:nvPr/>
            </p:nvSpPr>
            <p:spPr bwMode="auto">
              <a:xfrm flipH="1">
                <a:off x="3072" y="760"/>
                <a:ext cx="144" cy="0"/>
              </a:xfrm>
              <a:prstGeom prst="line">
                <a:avLst/>
              </a:prstGeom>
              <a:noFill/>
              <a:ln w="9525">
                <a:solidFill>
                  <a:schemeClr val="tx1"/>
                </a:solidFill>
                <a:round/>
              </a:ln>
            </p:spPr>
            <p:txBody>
              <a:bodyPr/>
              <a:lstStyle/>
              <a:p>
                <a:endParaRPr lang="en-US"/>
              </a:p>
            </p:txBody>
          </p:sp>
        </p:grpSp>
        <p:pic>
          <p:nvPicPr>
            <p:cNvPr id="19653" name="Picture 228" descr="imgyjavg[1]"/>
            <p:cNvPicPr>
              <a:picLocks noChangeAspect="1" noChangeArrowheads="1"/>
            </p:cNvPicPr>
            <p:nvPr/>
          </p:nvPicPr>
          <p:blipFill>
            <a:blip r:embed="rId2"/>
            <a:srcRect/>
            <a:stretch>
              <a:fillRect/>
            </a:stretch>
          </p:blipFill>
          <p:spPr bwMode="auto">
            <a:xfrm>
              <a:off x="-1027" y="1466"/>
              <a:ext cx="232" cy="168"/>
            </a:xfrm>
            <a:prstGeom prst="rect">
              <a:avLst/>
            </a:prstGeom>
            <a:noFill/>
            <a:ln w="9525">
              <a:noFill/>
              <a:miter lim="800000"/>
              <a:headEnd/>
              <a:tailEnd/>
            </a:ln>
          </p:spPr>
        </p:pic>
        <p:grpSp>
          <p:nvGrpSpPr>
            <p:cNvPr id="19654" name="Group 229"/>
            <p:cNvGrpSpPr/>
            <p:nvPr/>
          </p:nvGrpSpPr>
          <p:grpSpPr bwMode="auto">
            <a:xfrm>
              <a:off x="-546" y="1352"/>
              <a:ext cx="256" cy="269"/>
              <a:chOff x="2870" y="1518"/>
              <a:chExt cx="292" cy="320"/>
            </a:xfrm>
          </p:grpSpPr>
          <p:graphicFrame>
            <p:nvGraphicFramePr>
              <p:cNvPr id="19469" name="Object 23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9601" name="Clip" r:id="rId3" imgW="11601450" imgH="11791950" progId="">
                      <p:embed/>
                    </p:oleObj>
                  </mc:Choice>
                  <mc:Fallback>
                    <p:oleObj name="Clip" r:id="rId3" imgW="11601450" imgH="11791950" progId="">
                      <p:embed/>
                      <p:pic>
                        <p:nvPicPr>
                          <p:cNvPr id="0" name="Object 2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70" name="Object 23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9602" name="Clip" r:id="rId5" imgW="1268095" imgH="1199515" progId="">
                      <p:embed/>
                    </p:oleObj>
                  </mc:Choice>
                  <mc:Fallback>
                    <p:oleObj name="Clip" r:id="rId5" imgW="1268095" imgH="1199515" progId="">
                      <p:embed/>
                      <p:pic>
                        <p:nvPicPr>
                          <p:cNvPr id="0" name="Object 2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9655" name="Group 232"/>
            <p:cNvGrpSpPr/>
            <p:nvPr/>
          </p:nvGrpSpPr>
          <p:grpSpPr bwMode="auto">
            <a:xfrm>
              <a:off x="-1002" y="2262"/>
              <a:ext cx="209" cy="224"/>
              <a:chOff x="2870" y="1518"/>
              <a:chExt cx="292" cy="320"/>
            </a:xfrm>
          </p:grpSpPr>
          <p:graphicFrame>
            <p:nvGraphicFramePr>
              <p:cNvPr id="19467" name="Object 23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9603" name="Clip" r:id="rId7" imgW="11601450" imgH="11791950" progId="">
                      <p:embed/>
                    </p:oleObj>
                  </mc:Choice>
                  <mc:Fallback>
                    <p:oleObj name="Clip" r:id="rId7" imgW="11601450" imgH="11791950" progId="">
                      <p:embed/>
                      <p:pic>
                        <p:nvPicPr>
                          <p:cNvPr id="0" name="Object 2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8" name="Object 23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9604" name="Clip" r:id="rId8" imgW="1268095" imgH="1199515" progId="">
                      <p:embed/>
                    </p:oleObj>
                  </mc:Choice>
                  <mc:Fallback>
                    <p:oleObj name="Clip" r:id="rId8" imgW="1268095" imgH="1199515" progId="">
                      <p:embed/>
                      <p:pic>
                        <p:nvPicPr>
                          <p:cNvPr id="0" name="Object 2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9458" name="Object 235"/>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spid="_x0000_s19605" name="Clip" r:id="rId9" imgW="18192750" imgH="15087600" progId="">
                    <p:embed/>
                  </p:oleObj>
                </mc:Choice>
                <mc:Fallback>
                  <p:oleObj name="Clip" r:id="rId9" imgW="18192750" imgH="15087600" progId="">
                    <p:embed/>
                    <p:pic>
                      <p:nvPicPr>
                        <p:cNvPr id="0" name="Object 2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656" name="Group 236"/>
            <p:cNvGrpSpPr/>
            <p:nvPr/>
          </p:nvGrpSpPr>
          <p:grpSpPr bwMode="auto">
            <a:xfrm>
              <a:off x="310" y="3575"/>
              <a:ext cx="125" cy="230"/>
              <a:chOff x="4180" y="783"/>
              <a:chExt cx="150" cy="307"/>
            </a:xfrm>
          </p:grpSpPr>
          <p:sp>
            <p:nvSpPr>
              <p:cNvPr id="19668" name="AutoShape 23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9669" name="Rectangle 23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9670" name="Rectangle 23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9671" name="AutoShape 24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9672" name="Line 24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9673" name="Line 24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9674" name="Rectangle 24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9675" name="Rectangle 24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aphicFrame>
          <p:nvGraphicFramePr>
            <p:cNvPr id="19459" name="Object 245"/>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spid="_x0000_s19606" name="Clip" r:id="rId11" imgW="18192750" imgH="15087600" progId="">
                    <p:embed/>
                  </p:oleObj>
                </mc:Choice>
                <mc:Fallback>
                  <p:oleObj name="Clip" r:id="rId11" imgW="18192750" imgH="15087600" progId="">
                    <p:embed/>
                    <p:pic>
                      <p:nvPicPr>
                        <p:cNvPr id="0" name="Object 2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0" name="Object 246"/>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spid="_x0000_s19607" name="Clip" r:id="rId12" imgW="18192750" imgH="15087600" progId="">
                    <p:embed/>
                  </p:oleObj>
                </mc:Choice>
                <mc:Fallback>
                  <p:oleObj name="Clip" r:id="rId12" imgW="18192750" imgH="15087600" progId="">
                    <p:embed/>
                    <p:pic>
                      <p:nvPicPr>
                        <p:cNvPr id="0" name="Object 2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1" name="Object 247"/>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spid="_x0000_s19608" name="Clip" r:id="rId13" imgW="18192750" imgH="15087600" progId="">
                    <p:embed/>
                  </p:oleObj>
                </mc:Choice>
                <mc:Fallback>
                  <p:oleObj name="Clip" r:id="rId13" imgW="18192750" imgH="15087600" progId="">
                    <p:embed/>
                    <p:pic>
                      <p:nvPicPr>
                        <p:cNvPr id="0" name="Object 2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2" name="Object 248"/>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spid="_x0000_s19609" name="Clip" r:id="rId14" imgW="18192750" imgH="15087600" progId="">
                    <p:embed/>
                  </p:oleObj>
                </mc:Choice>
                <mc:Fallback>
                  <p:oleObj name="Clip" r:id="rId14" imgW="18192750" imgH="15087600" progId="">
                    <p:embed/>
                    <p:pic>
                      <p:nvPicPr>
                        <p:cNvPr id="0" name="Object 2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657" name="Group 249"/>
            <p:cNvGrpSpPr/>
            <p:nvPr/>
          </p:nvGrpSpPr>
          <p:grpSpPr bwMode="auto">
            <a:xfrm>
              <a:off x="83" y="3625"/>
              <a:ext cx="172" cy="215"/>
              <a:chOff x="2870" y="1518"/>
              <a:chExt cx="292" cy="320"/>
            </a:xfrm>
          </p:grpSpPr>
          <p:graphicFrame>
            <p:nvGraphicFramePr>
              <p:cNvPr id="19465" name="Object 25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9610" name="Clip" r:id="rId15" imgW="11601450" imgH="11791950" progId="">
                      <p:embed/>
                    </p:oleObj>
                  </mc:Choice>
                  <mc:Fallback>
                    <p:oleObj name="Clip" r:id="rId15" imgW="11601450" imgH="11791950" progId="">
                      <p:embed/>
                      <p:pic>
                        <p:nvPicPr>
                          <p:cNvPr id="0" name="Object 2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6" name="Object 25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9611" name="Clip" r:id="rId16" imgW="1268095" imgH="1199515" progId="">
                      <p:embed/>
                    </p:oleObj>
                  </mc:Choice>
                  <mc:Fallback>
                    <p:oleObj name="Clip" r:id="rId16" imgW="1268095" imgH="1199515" progId="">
                      <p:embed/>
                      <p:pic>
                        <p:nvPicPr>
                          <p:cNvPr id="0" name="Object 2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9658" name="Group 252"/>
            <p:cNvGrpSpPr/>
            <p:nvPr/>
          </p:nvGrpSpPr>
          <p:grpSpPr bwMode="auto">
            <a:xfrm>
              <a:off x="-201" y="3657"/>
              <a:ext cx="220" cy="203"/>
              <a:chOff x="2870" y="1518"/>
              <a:chExt cx="292" cy="320"/>
            </a:xfrm>
          </p:grpSpPr>
          <p:graphicFrame>
            <p:nvGraphicFramePr>
              <p:cNvPr id="19463" name="Object 25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9612" name="Clip" r:id="rId17" imgW="11601450" imgH="11791950" progId="">
                      <p:embed/>
                    </p:oleObj>
                  </mc:Choice>
                  <mc:Fallback>
                    <p:oleObj name="Clip" r:id="rId17" imgW="11601450" imgH="11791950" progId="">
                      <p:embed/>
                      <p:pic>
                        <p:nvPicPr>
                          <p:cNvPr id="0" name="Object 2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4" name="Object 25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9613" name="Clip" r:id="rId18" imgW="1268095" imgH="1199515" progId="">
                      <p:embed/>
                    </p:oleObj>
                  </mc:Choice>
                  <mc:Fallback>
                    <p:oleObj name="Clip" r:id="rId18" imgW="1268095" imgH="1199515" progId="">
                      <p:embed/>
                      <p:pic>
                        <p:nvPicPr>
                          <p:cNvPr id="0" name="Object 2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9659" name="Group 255"/>
            <p:cNvGrpSpPr/>
            <p:nvPr/>
          </p:nvGrpSpPr>
          <p:grpSpPr bwMode="auto">
            <a:xfrm>
              <a:off x="569" y="3419"/>
              <a:ext cx="131" cy="258"/>
              <a:chOff x="4180" y="783"/>
              <a:chExt cx="150" cy="307"/>
            </a:xfrm>
          </p:grpSpPr>
          <p:sp>
            <p:nvSpPr>
              <p:cNvPr id="19660" name="AutoShape 25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19661" name="Rectangle 25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19662" name="Rectangle 25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19663" name="AutoShape 25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19664" name="Line 26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19665" name="Line 26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19666" name="Rectangle 26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19667" name="Rectangle 26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pSp>
      <p:sp>
        <p:nvSpPr>
          <p:cNvPr id="19570" name="Line 264"/>
          <p:cNvSpPr>
            <a:spLocks noChangeShapeType="1"/>
          </p:cNvSpPr>
          <p:nvPr/>
        </p:nvSpPr>
        <p:spPr bwMode="auto">
          <a:xfrm flipH="1">
            <a:off x="5988050" y="3440113"/>
            <a:ext cx="3175" cy="144462"/>
          </a:xfrm>
          <a:prstGeom prst="line">
            <a:avLst/>
          </a:prstGeom>
          <a:noFill/>
          <a:ln w="9525">
            <a:solidFill>
              <a:schemeClr val="bg2"/>
            </a:solidFill>
            <a:round/>
          </a:ln>
        </p:spPr>
        <p:txBody>
          <a:bodyPr/>
          <a:lstStyle/>
          <a:p>
            <a:endParaRPr lang="en-US"/>
          </a:p>
        </p:txBody>
      </p:sp>
      <p:sp>
        <p:nvSpPr>
          <p:cNvPr id="19571" name="Line 265"/>
          <p:cNvSpPr>
            <a:spLocks noChangeShapeType="1"/>
          </p:cNvSpPr>
          <p:nvPr/>
        </p:nvSpPr>
        <p:spPr bwMode="auto">
          <a:xfrm flipV="1">
            <a:off x="7285038" y="2422525"/>
            <a:ext cx="123825" cy="87313"/>
          </a:xfrm>
          <a:prstGeom prst="line">
            <a:avLst/>
          </a:prstGeom>
          <a:noFill/>
          <a:ln w="9525">
            <a:solidFill>
              <a:schemeClr val="bg2"/>
            </a:solidFill>
            <a:round/>
          </a:ln>
        </p:spPr>
        <p:txBody>
          <a:bodyPr/>
          <a:lstStyle/>
          <a:p>
            <a:endParaRPr lang="en-US"/>
          </a:p>
        </p:txBody>
      </p:sp>
      <p:sp>
        <p:nvSpPr>
          <p:cNvPr id="19572" name="Line 266"/>
          <p:cNvSpPr>
            <a:spLocks noChangeShapeType="1"/>
          </p:cNvSpPr>
          <p:nvPr/>
        </p:nvSpPr>
        <p:spPr bwMode="auto">
          <a:xfrm>
            <a:off x="7112000" y="2595563"/>
            <a:ext cx="0" cy="82550"/>
          </a:xfrm>
          <a:prstGeom prst="line">
            <a:avLst/>
          </a:prstGeom>
          <a:noFill/>
          <a:ln w="9525">
            <a:solidFill>
              <a:schemeClr val="bg2"/>
            </a:solidFill>
            <a:round/>
          </a:ln>
        </p:spPr>
        <p:txBody>
          <a:bodyPr/>
          <a:lstStyle/>
          <a:p>
            <a:endParaRPr lang="en-US"/>
          </a:p>
        </p:txBody>
      </p:sp>
      <p:sp>
        <p:nvSpPr>
          <p:cNvPr id="19573" name="Line 267"/>
          <p:cNvSpPr>
            <a:spLocks noChangeShapeType="1"/>
          </p:cNvSpPr>
          <p:nvPr/>
        </p:nvSpPr>
        <p:spPr bwMode="auto">
          <a:xfrm flipV="1">
            <a:off x="7296150" y="2492375"/>
            <a:ext cx="263525" cy="288925"/>
          </a:xfrm>
          <a:prstGeom prst="line">
            <a:avLst/>
          </a:prstGeom>
          <a:noFill/>
          <a:ln w="9525">
            <a:solidFill>
              <a:schemeClr val="bg2"/>
            </a:solidFill>
            <a:round/>
          </a:ln>
        </p:spPr>
        <p:txBody>
          <a:bodyPr/>
          <a:lstStyle/>
          <a:p>
            <a:endParaRPr lang="en-US"/>
          </a:p>
        </p:txBody>
      </p:sp>
      <p:sp>
        <p:nvSpPr>
          <p:cNvPr id="19574" name="Line 268"/>
          <p:cNvSpPr>
            <a:spLocks noChangeShapeType="1"/>
          </p:cNvSpPr>
          <p:nvPr/>
        </p:nvSpPr>
        <p:spPr bwMode="auto">
          <a:xfrm>
            <a:off x="7648575" y="2490788"/>
            <a:ext cx="0" cy="196850"/>
          </a:xfrm>
          <a:prstGeom prst="line">
            <a:avLst/>
          </a:prstGeom>
          <a:noFill/>
          <a:ln w="9525">
            <a:solidFill>
              <a:schemeClr val="bg2"/>
            </a:solidFill>
            <a:round/>
          </a:ln>
        </p:spPr>
        <p:txBody>
          <a:bodyPr/>
          <a:lstStyle/>
          <a:p>
            <a:endParaRPr lang="en-US"/>
          </a:p>
        </p:txBody>
      </p:sp>
      <p:sp>
        <p:nvSpPr>
          <p:cNvPr id="19575" name="Line 269"/>
          <p:cNvSpPr>
            <a:spLocks noChangeShapeType="1"/>
          </p:cNvSpPr>
          <p:nvPr/>
        </p:nvSpPr>
        <p:spPr bwMode="auto">
          <a:xfrm>
            <a:off x="7302500" y="2797175"/>
            <a:ext cx="188913" cy="0"/>
          </a:xfrm>
          <a:prstGeom prst="line">
            <a:avLst/>
          </a:prstGeom>
          <a:noFill/>
          <a:ln w="9525">
            <a:solidFill>
              <a:schemeClr val="bg2"/>
            </a:solidFill>
            <a:round/>
          </a:ln>
        </p:spPr>
        <p:txBody>
          <a:bodyPr/>
          <a:lstStyle/>
          <a:p>
            <a:endParaRPr lang="en-US"/>
          </a:p>
        </p:txBody>
      </p:sp>
      <p:sp>
        <p:nvSpPr>
          <p:cNvPr id="19576" name="Line 270"/>
          <p:cNvSpPr>
            <a:spLocks noChangeShapeType="1"/>
          </p:cNvSpPr>
          <p:nvPr/>
        </p:nvSpPr>
        <p:spPr bwMode="auto">
          <a:xfrm flipV="1">
            <a:off x="5597525" y="3663950"/>
            <a:ext cx="168275" cy="3175"/>
          </a:xfrm>
          <a:prstGeom prst="line">
            <a:avLst/>
          </a:prstGeom>
          <a:noFill/>
          <a:ln w="9525">
            <a:solidFill>
              <a:schemeClr val="bg2"/>
            </a:solidFill>
            <a:round/>
          </a:ln>
        </p:spPr>
        <p:txBody>
          <a:bodyPr/>
          <a:lstStyle/>
          <a:p>
            <a:endParaRPr lang="en-US"/>
          </a:p>
        </p:txBody>
      </p:sp>
      <p:sp>
        <p:nvSpPr>
          <p:cNvPr id="19577" name="Line 271"/>
          <p:cNvSpPr>
            <a:spLocks noChangeShapeType="1"/>
          </p:cNvSpPr>
          <p:nvPr/>
        </p:nvSpPr>
        <p:spPr bwMode="auto">
          <a:xfrm flipV="1">
            <a:off x="7716838" y="2190750"/>
            <a:ext cx="238125" cy="168275"/>
          </a:xfrm>
          <a:prstGeom prst="line">
            <a:avLst/>
          </a:prstGeom>
          <a:noFill/>
          <a:ln w="9525">
            <a:solidFill>
              <a:schemeClr val="bg2"/>
            </a:solidFill>
            <a:round/>
          </a:ln>
        </p:spPr>
        <p:txBody>
          <a:bodyPr/>
          <a:lstStyle/>
          <a:p>
            <a:endParaRPr lang="en-US"/>
          </a:p>
        </p:txBody>
      </p:sp>
      <p:sp>
        <p:nvSpPr>
          <p:cNvPr id="19578" name="Line 272"/>
          <p:cNvSpPr>
            <a:spLocks noChangeShapeType="1"/>
          </p:cNvSpPr>
          <p:nvPr/>
        </p:nvSpPr>
        <p:spPr bwMode="auto">
          <a:xfrm>
            <a:off x="7856538" y="2787650"/>
            <a:ext cx="177800" cy="0"/>
          </a:xfrm>
          <a:prstGeom prst="line">
            <a:avLst/>
          </a:prstGeom>
          <a:noFill/>
          <a:ln w="9525">
            <a:solidFill>
              <a:schemeClr val="bg2"/>
            </a:solidFill>
            <a:round/>
          </a:ln>
        </p:spPr>
        <p:txBody>
          <a:bodyPr/>
          <a:lstStyle/>
          <a:p>
            <a:endParaRPr lang="en-US"/>
          </a:p>
        </p:txBody>
      </p:sp>
      <p:sp>
        <p:nvSpPr>
          <p:cNvPr id="19579" name="Line 273"/>
          <p:cNvSpPr>
            <a:spLocks noChangeShapeType="1"/>
          </p:cNvSpPr>
          <p:nvPr/>
        </p:nvSpPr>
        <p:spPr bwMode="auto">
          <a:xfrm flipH="1">
            <a:off x="7002463" y="2863850"/>
            <a:ext cx="98425" cy="704850"/>
          </a:xfrm>
          <a:prstGeom prst="line">
            <a:avLst/>
          </a:prstGeom>
          <a:noFill/>
          <a:ln w="9525">
            <a:solidFill>
              <a:schemeClr val="bg2"/>
            </a:solidFill>
            <a:round/>
          </a:ln>
        </p:spPr>
        <p:txBody>
          <a:bodyPr/>
          <a:lstStyle/>
          <a:p>
            <a:endParaRPr lang="en-US"/>
          </a:p>
        </p:txBody>
      </p:sp>
      <p:sp>
        <p:nvSpPr>
          <p:cNvPr id="19580" name="Line 274"/>
          <p:cNvSpPr>
            <a:spLocks noChangeShapeType="1"/>
          </p:cNvSpPr>
          <p:nvPr/>
        </p:nvSpPr>
        <p:spPr bwMode="auto">
          <a:xfrm flipH="1">
            <a:off x="7593013" y="2863850"/>
            <a:ext cx="111125" cy="727075"/>
          </a:xfrm>
          <a:prstGeom prst="line">
            <a:avLst/>
          </a:prstGeom>
          <a:noFill/>
          <a:ln w="9525">
            <a:solidFill>
              <a:schemeClr val="bg2"/>
            </a:solidFill>
            <a:round/>
          </a:ln>
        </p:spPr>
        <p:txBody>
          <a:bodyPr/>
          <a:lstStyle/>
          <a:p>
            <a:endParaRPr lang="en-US"/>
          </a:p>
        </p:txBody>
      </p:sp>
      <p:grpSp>
        <p:nvGrpSpPr>
          <p:cNvPr id="19581" name="Group 275"/>
          <p:cNvGrpSpPr/>
          <p:nvPr/>
        </p:nvGrpSpPr>
        <p:grpSpPr bwMode="auto">
          <a:xfrm>
            <a:off x="6645275" y="4481513"/>
            <a:ext cx="501650" cy="234950"/>
            <a:chOff x="4701" y="2996"/>
            <a:chExt cx="316" cy="148"/>
          </a:xfrm>
        </p:grpSpPr>
        <p:sp>
          <p:nvSpPr>
            <p:cNvPr id="19639" name="Oval 276"/>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19640" name="Line 277"/>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19641" name="Line 278"/>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19642" name="Rectangle 279"/>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643" name="Oval 280"/>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19644" name="Group 281"/>
            <p:cNvGrpSpPr/>
            <p:nvPr/>
          </p:nvGrpSpPr>
          <p:grpSpPr bwMode="auto">
            <a:xfrm>
              <a:off x="4776" y="3017"/>
              <a:ext cx="156" cy="56"/>
              <a:chOff x="2848" y="848"/>
              <a:chExt cx="140" cy="98"/>
            </a:xfrm>
          </p:grpSpPr>
          <p:sp>
            <p:nvSpPr>
              <p:cNvPr id="19649" name="Line 282"/>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650" name="Line 283"/>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651" name="Line 284"/>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645" name="Group 285"/>
            <p:cNvGrpSpPr/>
            <p:nvPr/>
          </p:nvGrpSpPr>
          <p:grpSpPr bwMode="auto">
            <a:xfrm flipV="1">
              <a:off x="4776" y="3016"/>
              <a:ext cx="156" cy="56"/>
              <a:chOff x="2848" y="848"/>
              <a:chExt cx="140" cy="98"/>
            </a:xfrm>
          </p:grpSpPr>
          <p:sp>
            <p:nvSpPr>
              <p:cNvPr id="19646" name="Line 28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647" name="Line 28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648" name="Line 28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19582" name="Group 289"/>
          <p:cNvGrpSpPr/>
          <p:nvPr/>
        </p:nvGrpSpPr>
        <p:grpSpPr bwMode="auto">
          <a:xfrm>
            <a:off x="5980113" y="4783138"/>
            <a:ext cx="501650" cy="234950"/>
            <a:chOff x="4701" y="2996"/>
            <a:chExt cx="316" cy="148"/>
          </a:xfrm>
        </p:grpSpPr>
        <p:sp>
          <p:nvSpPr>
            <p:cNvPr id="19626" name="Oval 290"/>
            <p:cNvSpPr>
              <a:spLocks noChangeArrowheads="1"/>
            </p:cNvSpPr>
            <p:nvPr/>
          </p:nvSpPr>
          <p:spPr bwMode="auto">
            <a:xfrm>
              <a:off x="4704" y="3062"/>
              <a:ext cx="313" cy="82"/>
            </a:xfrm>
            <a:prstGeom prst="ellipse">
              <a:avLst/>
            </a:prstGeom>
            <a:solidFill>
              <a:srgbClr val="DDDDDD"/>
            </a:solidFill>
            <a:ln w="12700">
              <a:solidFill>
                <a:schemeClr val="folHlink"/>
              </a:solidFill>
              <a:round/>
            </a:ln>
          </p:spPr>
          <p:txBody>
            <a:bodyPr wrap="none" anchor="ctr"/>
            <a:lstStyle/>
            <a:p>
              <a:endParaRPr lang="en-US"/>
            </a:p>
          </p:txBody>
        </p:sp>
        <p:sp>
          <p:nvSpPr>
            <p:cNvPr id="19627" name="Line 291"/>
            <p:cNvSpPr>
              <a:spLocks noChangeShapeType="1"/>
            </p:cNvSpPr>
            <p:nvPr/>
          </p:nvSpPr>
          <p:spPr bwMode="auto">
            <a:xfrm>
              <a:off x="4704" y="3055"/>
              <a:ext cx="0" cy="51"/>
            </a:xfrm>
            <a:prstGeom prst="line">
              <a:avLst/>
            </a:prstGeom>
            <a:noFill/>
            <a:ln w="12700">
              <a:solidFill>
                <a:schemeClr val="folHlink"/>
              </a:solidFill>
              <a:round/>
            </a:ln>
          </p:spPr>
          <p:txBody>
            <a:bodyPr wrap="none" anchor="ctr"/>
            <a:lstStyle/>
            <a:p>
              <a:endParaRPr lang="en-US"/>
            </a:p>
          </p:txBody>
        </p:sp>
        <p:sp>
          <p:nvSpPr>
            <p:cNvPr id="19628" name="Line 292"/>
            <p:cNvSpPr>
              <a:spLocks noChangeShapeType="1"/>
            </p:cNvSpPr>
            <p:nvPr/>
          </p:nvSpPr>
          <p:spPr bwMode="auto">
            <a:xfrm>
              <a:off x="5017" y="3055"/>
              <a:ext cx="0" cy="51"/>
            </a:xfrm>
            <a:prstGeom prst="line">
              <a:avLst/>
            </a:prstGeom>
            <a:noFill/>
            <a:ln w="12700">
              <a:solidFill>
                <a:schemeClr val="folHlink"/>
              </a:solidFill>
              <a:round/>
            </a:ln>
          </p:spPr>
          <p:txBody>
            <a:bodyPr wrap="none" anchor="ctr"/>
            <a:lstStyle/>
            <a:p>
              <a:endParaRPr lang="en-US"/>
            </a:p>
          </p:txBody>
        </p:sp>
        <p:sp>
          <p:nvSpPr>
            <p:cNvPr id="19629" name="Rectangle 293"/>
            <p:cNvSpPr>
              <a:spLocks noChangeArrowheads="1"/>
            </p:cNvSpPr>
            <p:nvPr/>
          </p:nvSpPr>
          <p:spPr bwMode="auto">
            <a:xfrm>
              <a:off x="4704" y="3055"/>
              <a:ext cx="310" cy="50"/>
            </a:xfrm>
            <a:prstGeom prst="rect">
              <a:avLst/>
            </a:prstGeom>
            <a:solidFill>
              <a:srgbClr val="DDDDDD"/>
            </a:solidFill>
            <a:ln w="12700">
              <a:noFill/>
              <a:miter lim="800000"/>
            </a:ln>
          </p:spPr>
          <p:txBody>
            <a:bodyPr wrap="none" anchor="ctr"/>
            <a:lstStyle/>
            <a:p>
              <a:pPr algn="ctr">
                <a:spcBef>
                  <a:spcPct val="0"/>
                </a:spcBef>
                <a:buClrTx/>
                <a:buSzTx/>
                <a:buFontTx/>
                <a:buNone/>
              </a:pPr>
              <a:endParaRPr lang="en-US">
                <a:latin typeface="Times New Roman" panose="02020603050405020304" pitchFamily="18" charset="0"/>
              </a:endParaRPr>
            </a:p>
          </p:txBody>
        </p:sp>
        <p:sp>
          <p:nvSpPr>
            <p:cNvPr id="19630" name="Oval 294"/>
            <p:cNvSpPr>
              <a:spLocks noChangeArrowheads="1"/>
            </p:cNvSpPr>
            <p:nvPr/>
          </p:nvSpPr>
          <p:spPr bwMode="auto">
            <a:xfrm>
              <a:off x="4701" y="2996"/>
              <a:ext cx="313" cy="96"/>
            </a:xfrm>
            <a:prstGeom prst="ellipse">
              <a:avLst/>
            </a:prstGeom>
            <a:solidFill>
              <a:srgbClr val="DDDDDD"/>
            </a:solidFill>
            <a:ln w="12700">
              <a:solidFill>
                <a:schemeClr val="folHlink"/>
              </a:solidFill>
              <a:round/>
            </a:ln>
          </p:spPr>
          <p:txBody>
            <a:bodyPr wrap="none" anchor="ctr"/>
            <a:lstStyle/>
            <a:p>
              <a:endParaRPr lang="en-US"/>
            </a:p>
          </p:txBody>
        </p:sp>
        <p:grpSp>
          <p:nvGrpSpPr>
            <p:cNvPr id="19631" name="Group 295"/>
            <p:cNvGrpSpPr/>
            <p:nvPr/>
          </p:nvGrpSpPr>
          <p:grpSpPr bwMode="auto">
            <a:xfrm>
              <a:off x="4776" y="3017"/>
              <a:ext cx="156" cy="56"/>
              <a:chOff x="2848" y="848"/>
              <a:chExt cx="140" cy="98"/>
            </a:xfrm>
          </p:grpSpPr>
          <p:sp>
            <p:nvSpPr>
              <p:cNvPr id="19636" name="Line 296"/>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637" name="Line 297"/>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638" name="Line 298"/>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nvGrpSpPr>
            <p:cNvPr id="19632" name="Group 299"/>
            <p:cNvGrpSpPr/>
            <p:nvPr/>
          </p:nvGrpSpPr>
          <p:grpSpPr bwMode="auto">
            <a:xfrm flipV="1">
              <a:off x="4776" y="3016"/>
              <a:ext cx="156" cy="56"/>
              <a:chOff x="2848" y="848"/>
              <a:chExt cx="140" cy="98"/>
            </a:xfrm>
          </p:grpSpPr>
          <p:sp>
            <p:nvSpPr>
              <p:cNvPr id="19633" name="Line 300"/>
              <p:cNvSpPr>
                <a:spLocks noChangeShapeType="1"/>
              </p:cNvSpPr>
              <p:nvPr/>
            </p:nvSpPr>
            <p:spPr bwMode="auto">
              <a:xfrm flipV="1">
                <a:off x="2848" y="848"/>
                <a:ext cx="50" cy="2"/>
              </a:xfrm>
              <a:prstGeom prst="line">
                <a:avLst/>
              </a:prstGeom>
              <a:noFill/>
              <a:ln w="28575">
                <a:solidFill>
                  <a:schemeClr val="bg2"/>
                </a:solidFill>
                <a:round/>
              </a:ln>
            </p:spPr>
            <p:txBody>
              <a:bodyPr wrap="none" anchor="ctr"/>
              <a:lstStyle/>
              <a:p>
                <a:endParaRPr lang="en-US"/>
              </a:p>
            </p:txBody>
          </p:sp>
          <p:sp>
            <p:nvSpPr>
              <p:cNvPr id="19634" name="Line 301"/>
              <p:cNvSpPr>
                <a:spLocks noChangeShapeType="1"/>
              </p:cNvSpPr>
              <p:nvPr/>
            </p:nvSpPr>
            <p:spPr bwMode="auto">
              <a:xfrm>
                <a:off x="2944" y="946"/>
                <a:ext cx="44" cy="0"/>
              </a:xfrm>
              <a:prstGeom prst="line">
                <a:avLst/>
              </a:prstGeom>
              <a:noFill/>
              <a:ln w="28575">
                <a:solidFill>
                  <a:schemeClr val="bg2"/>
                </a:solidFill>
                <a:round/>
              </a:ln>
            </p:spPr>
            <p:txBody>
              <a:bodyPr wrap="none" anchor="ctr"/>
              <a:lstStyle/>
              <a:p>
                <a:endParaRPr lang="en-US"/>
              </a:p>
            </p:txBody>
          </p:sp>
          <p:sp>
            <p:nvSpPr>
              <p:cNvPr id="19635" name="Line 302"/>
              <p:cNvSpPr>
                <a:spLocks noChangeShapeType="1"/>
              </p:cNvSpPr>
              <p:nvPr/>
            </p:nvSpPr>
            <p:spPr bwMode="auto">
              <a:xfrm>
                <a:off x="2894" y="850"/>
                <a:ext cx="52" cy="96"/>
              </a:xfrm>
              <a:prstGeom prst="line">
                <a:avLst/>
              </a:prstGeom>
              <a:noFill/>
              <a:ln w="28575">
                <a:solidFill>
                  <a:schemeClr val="bg2"/>
                </a:solidFill>
                <a:round/>
              </a:ln>
            </p:spPr>
            <p:txBody>
              <a:bodyPr wrap="none" anchor="ctr"/>
              <a:lstStyle/>
              <a:p>
                <a:endParaRPr lang="en-US"/>
              </a:p>
            </p:txBody>
          </p:sp>
        </p:grpSp>
      </p:grpSp>
      <p:grpSp>
        <p:nvGrpSpPr>
          <p:cNvPr id="19583" name="Group 303"/>
          <p:cNvGrpSpPr/>
          <p:nvPr/>
        </p:nvGrpSpPr>
        <p:grpSpPr bwMode="auto">
          <a:xfrm>
            <a:off x="6810375" y="4968875"/>
            <a:ext cx="290513" cy="404813"/>
            <a:chOff x="4290" y="3130"/>
            <a:chExt cx="183" cy="255"/>
          </a:xfrm>
        </p:grpSpPr>
        <p:pic>
          <p:nvPicPr>
            <p:cNvPr id="2" name="Picture 304" descr="31u_bnrz[1]"/>
            <p:cNvPicPr>
              <a:picLocks noChangeAspect="1" noChangeArrowheads="1"/>
            </p:cNvPicPr>
            <p:nvPr/>
          </p:nvPicPr>
          <p:blipFill>
            <a:blip r:embed="rId19"/>
            <a:srcRect/>
            <a:stretch>
              <a:fillRect/>
            </a:stretch>
          </p:blipFill>
          <p:spPr bwMode="auto">
            <a:xfrm>
              <a:off x="4343" y="3211"/>
              <a:ext cx="121" cy="174"/>
            </a:xfrm>
            <a:prstGeom prst="rect">
              <a:avLst/>
            </a:prstGeom>
            <a:solidFill>
              <a:srgbClr val="DDDDDD"/>
            </a:solidFill>
            <a:ln w="9525">
              <a:noFill/>
              <a:miter lim="800000"/>
              <a:headEnd/>
              <a:tailEnd/>
            </a:ln>
          </p:spPr>
        </p:pic>
        <p:sp>
          <p:nvSpPr>
            <p:cNvPr id="3" name="Freeform 305"/>
            <p:cNvSpPr/>
            <p:nvPr/>
          </p:nvSpPr>
          <p:spPr bwMode="auto">
            <a:xfrm>
              <a:off x="4339" y="3143"/>
              <a:ext cx="33" cy="39"/>
            </a:xfrm>
            <a:custGeom>
              <a:avLst/>
              <a:gdLst>
                <a:gd name="T0" fmla="*/ 70 w 199"/>
                <a:gd name="T1" fmla="*/ 29 h 232"/>
                <a:gd name="T2" fmla="*/ 55 w 199"/>
                <a:gd name="T3" fmla="*/ 39 h 232"/>
                <a:gd name="T4" fmla="*/ 42 w 199"/>
                <a:gd name="T5" fmla="*/ 50 h 232"/>
                <a:gd name="T6" fmla="*/ 30 w 199"/>
                <a:gd name="T7" fmla="*/ 63 h 232"/>
                <a:gd name="T8" fmla="*/ 20 w 199"/>
                <a:gd name="T9" fmla="*/ 77 h 232"/>
                <a:gd name="T10" fmla="*/ 12 w 199"/>
                <a:gd name="T11" fmla="*/ 91 h 232"/>
                <a:gd name="T12" fmla="*/ 6 w 199"/>
                <a:gd name="T13" fmla="*/ 108 h 232"/>
                <a:gd name="T14" fmla="*/ 2 w 199"/>
                <a:gd name="T15" fmla="*/ 125 h 232"/>
                <a:gd name="T16" fmla="*/ 0 w 199"/>
                <a:gd name="T17" fmla="*/ 142 h 232"/>
                <a:gd name="T18" fmla="*/ 2 w 199"/>
                <a:gd name="T19" fmla="*/ 166 h 232"/>
                <a:gd name="T20" fmla="*/ 12 w 199"/>
                <a:gd name="T21" fmla="*/ 186 h 232"/>
                <a:gd name="T22" fmla="*/ 26 w 199"/>
                <a:gd name="T23" fmla="*/ 203 h 232"/>
                <a:gd name="T24" fmla="*/ 45 w 199"/>
                <a:gd name="T25" fmla="*/ 216 h 232"/>
                <a:gd name="T26" fmla="*/ 66 w 199"/>
                <a:gd name="T27" fmla="*/ 226 h 232"/>
                <a:gd name="T28" fmla="*/ 88 w 199"/>
                <a:gd name="T29" fmla="*/ 230 h 232"/>
                <a:gd name="T30" fmla="*/ 111 w 199"/>
                <a:gd name="T31" fmla="*/ 232 h 232"/>
                <a:gd name="T32" fmla="*/ 134 w 199"/>
                <a:gd name="T33" fmla="*/ 228 h 232"/>
                <a:gd name="T34" fmla="*/ 138 w 199"/>
                <a:gd name="T35" fmla="*/ 228 h 232"/>
                <a:gd name="T36" fmla="*/ 143 w 199"/>
                <a:gd name="T37" fmla="*/ 226 h 232"/>
                <a:gd name="T38" fmla="*/ 147 w 199"/>
                <a:gd name="T39" fmla="*/ 222 h 232"/>
                <a:gd name="T40" fmla="*/ 148 w 199"/>
                <a:gd name="T41" fmla="*/ 218 h 232"/>
                <a:gd name="T42" fmla="*/ 145 w 199"/>
                <a:gd name="T43" fmla="*/ 212 h 232"/>
                <a:gd name="T44" fmla="*/ 141 w 199"/>
                <a:gd name="T45" fmla="*/ 207 h 232"/>
                <a:gd name="T46" fmla="*/ 135 w 199"/>
                <a:gd name="T47" fmla="*/ 203 h 232"/>
                <a:gd name="T48" fmla="*/ 129 w 199"/>
                <a:gd name="T49" fmla="*/ 201 h 232"/>
                <a:gd name="T50" fmla="*/ 117 w 199"/>
                <a:gd name="T51" fmla="*/ 197 h 232"/>
                <a:gd name="T52" fmla="*/ 105 w 199"/>
                <a:gd name="T53" fmla="*/ 195 h 232"/>
                <a:gd name="T54" fmla="*/ 94 w 199"/>
                <a:gd name="T55" fmla="*/ 193 h 232"/>
                <a:gd name="T56" fmla="*/ 83 w 199"/>
                <a:gd name="T57" fmla="*/ 190 h 232"/>
                <a:gd name="T58" fmla="*/ 73 w 199"/>
                <a:gd name="T59" fmla="*/ 187 h 232"/>
                <a:gd name="T60" fmla="*/ 62 w 199"/>
                <a:gd name="T61" fmla="*/ 182 h 232"/>
                <a:gd name="T62" fmla="*/ 53 w 199"/>
                <a:gd name="T63" fmla="*/ 176 h 232"/>
                <a:gd name="T64" fmla="*/ 43 w 199"/>
                <a:gd name="T65" fmla="*/ 167 h 232"/>
                <a:gd name="T66" fmla="*/ 40 w 199"/>
                <a:gd name="T67" fmla="*/ 128 h 232"/>
                <a:gd name="T68" fmla="*/ 49 w 199"/>
                <a:gd name="T69" fmla="*/ 96 h 232"/>
                <a:gd name="T70" fmla="*/ 68 w 199"/>
                <a:gd name="T71" fmla="*/ 71 h 232"/>
                <a:gd name="T72" fmla="*/ 94 w 199"/>
                <a:gd name="T73" fmla="*/ 50 h 232"/>
                <a:gd name="T74" fmla="*/ 122 w 199"/>
                <a:gd name="T75" fmla="*/ 34 h 232"/>
                <a:gd name="T76" fmla="*/ 151 w 199"/>
                <a:gd name="T77" fmla="*/ 21 h 232"/>
                <a:gd name="T78" fmla="*/ 178 w 199"/>
                <a:gd name="T79" fmla="*/ 12 h 232"/>
                <a:gd name="T80" fmla="*/ 199 w 199"/>
                <a:gd name="T81" fmla="*/ 4 h 232"/>
                <a:gd name="T82" fmla="*/ 186 w 199"/>
                <a:gd name="T83" fmla="*/ 1 h 232"/>
                <a:gd name="T84" fmla="*/ 172 w 199"/>
                <a:gd name="T85" fmla="*/ 0 h 232"/>
                <a:gd name="T86" fmla="*/ 156 w 199"/>
                <a:gd name="T87" fmla="*/ 2 h 232"/>
                <a:gd name="T88" fmla="*/ 138 w 199"/>
                <a:gd name="T89" fmla="*/ 4 h 232"/>
                <a:gd name="T90" fmla="*/ 121 w 199"/>
                <a:gd name="T91" fmla="*/ 10 h 232"/>
                <a:gd name="T92" fmla="*/ 103 w 199"/>
                <a:gd name="T93" fmla="*/ 16 h 232"/>
                <a:gd name="T94" fmla="*/ 86 w 199"/>
                <a:gd name="T95" fmla="*/ 23 h 232"/>
                <a:gd name="T96" fmla="*/ 70 w 199"/>
                <a:gd name="T97" fmla="*/ 29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ln>
          </p:spPr>
          <p:txBody>
            <a:bodyPr/>
            <a:lstStyle/>
            <a:p>
              <a:endParaRPr lang="en-US"/>
            </a:p>
          </p:txBody>
        </p:sp>
        <p:sp>
          <p:nvSpPr>
            <p:cNvPr id="4" name="Freeform 306"/>
            <p:cNvSpPr/>
            <p:nvPr/>
          </p:nvSpPr>
          <p:spPr bwMode="auto">
            <a:xfrm>
              <a:off x="4395" y="3142"/>
              <a:ext cx="22" cy="30"/>
            </a:xfrm>
            <a:custGeom>
              <a:avLst/>
              <a:gdLst>
                <a:gd name="T0" fmla="*/ 108 w 128"/>
                <a:gd name="T1" fmla="*/ 59 h 180"/>
                <a:gd name="T2" fmla="*/ 113 w 128"/>
                <a:gd name="T3" fmla="*/ 77 h 180"/>
                <a:gd name="T4" fmla="*/ 111 w 128"/>
                <a:gd name="T5" fmla="*/ 94 h 180"/>
                <a:gd name="T6" fmla="*/ 103 w 128"/>
                <a:gd name="T7" fmla="*/ 108 h 180"/>
                <a:gd name="T8" fmla="*/ 91 w 128"/>
                <a:gd name="T9" fmla="*/ 121 h 180"/>
                <a:gd name="T10" fmla="*/ 77 w 128"/>
                <a:gd name="T11" fmla="*/ 132 h 180"/>
                <a:gd name="T12" fmla="*/ 61 w 128"/>
                <a:gd name="T13" fmla="*/ 144 h 180"/>
                <a:gd name="T14" fmla="*/ 45 w 128"/>
                <a:gd name="T15" fmla="*/ 154 h 180"/>
                <a:gd name="T16" fmla="*/ 30 w 128"/>
                <a:gd name="T17" fmla="*/ 164 h 180"/>
                <a:gd name="T18" fmla="*/ 28 w 128"/>
                <a:gd name="T19" fmla="*/ 168 h 180"/>
                <a:gd name="T20" fmla="*/ 27 w 128"/>
                <a:gd name="T21" fmla="*/ 170 h 180"/>
                <a:gd name="T22" fmla="*/ 27 w 128"/>
                <a:gd name="T23" fmla="*/ 174 h 180"/>
                <a:gd name="T24" fmla="*/ 28 w 128"/>
                <a:gd name="T25" fmla="*/ 177 h 180"/>
                <a:gd name="T26" fmla="*/ 32 w 128"/>
                <a:gd name="T27" fmla="*/ 179 h 180"/>
                <a:gd name="T28" fmla="*/ 35 w 128"/>
                <a:gd name="T29" fmla="*/ 180 h 180"/>
                <a:gd name="T30" fmla="*/ 37 w 128"/>
                <a:gd name="T31" fmla="*/ 180 h 180"/>
                <a:gd name="T32" fmla="*/ 41 w 128"/>
                <a:gd name="T33" fmla="*/ 179 h 180"/>
                <a:gd name="T34" fmla="*/ 60 w 128"/>
                <a:gd name="T35" fmla="*/ 169 h 180"/>
                <a:gd name="T36" fmla="*/ 77 w 128"/>
                <a:gd name="T37" fmla="*/ 158 h 180"/>
                <a:gd name="T38" fmla="*/ 94 w 128"/>
                <a:gd name="T39" fmla="*/ 145 h 180"/>
                <a:gd name="T40" fmla="*/ 109 w 128"/>
                <a:gd name="T41" fmla="*/ 130 h 180"/>
                <a:gd name="T42" fmla="*/ 120 w 128"/>
                <a:gd name="T43" fmla="*/ 114 h 180"/>
                <a:gd name="T44" fmla="*/ 127 w 128"/>
                <a:gd name="T45" fmla="*/ 95 h 180"/>
                <a:gd name="T46" fmla="*/ 128 w 128"/>
                <a:gd name="T47" fmla="*/ 76 h 180"/>
                <a:gd name="T48" fmla="*/ 123 w 128"/>
                <a:gd name="T49" fmla="*/ 55 h 180"/>
                <a:gd name="T50" fmla="*/ 113 w 128"/>
                <a:gd name="T51" fmla="*/ 39 h 180"/>
                <a:gd name="T52" fmla="*/ 97 w 128"/>
                <a:gd name="T53" fmla="*/ 25 h 180"/>
                <a:gd name="T54" fmla="*/ 79 w 128"/>
                <a:gd name="T55" fmla="*/ 15 h 180"/>
                <a:gd name="T56" fmla="*/ 57 w 128"/>
                <a:gd name="T57" fmla="*/ 7 h 180"/>
                <a:gd name="T58" fmla="*/ 36 w 128"/>
                <a:gd name="T59" fmla="*/ 2 h 180"/>
                <a:gd name="T60" fmla="*/ 19 w 128"/>
                <a:gd name="T61" fmla="*/ 0 h 180"/>
                <a:gd name="T62" fmla="*/ 6 w 128"/>
                <a:gd name="T63" fmla="*/ 0 h 180"/>
                <a:gd name="T64" fmla="*/ 0 w 128"/>
                <a:gd name="T65" fmla="*/ 4 h 180"/>
                <a:gd name="T66" fmla="*/ 14 w 128"/>
                <a:gd name="T67" fmla="*/ 9 h 180"/>
                <a:gd name="T68" fmla="*/ 29 w 128"/>
                <a:gd name="T69" fmla="*/ 14 h 180"/>
                <a:gd name="T70" fmla="*/ 46 w 128"/>
                <a:gd name="T71" fmla="*/ 19 h 180"/>
                <a:gd name="T72" fmla="*/ 61 w 128"/>
                <a:gd name="T73" fmla="*/ 23 h 180"/>
                <a:gd name="T74" fmla="*/ 76 w 128"/>
                <a:gd name="T75" fmla="*/ 29 h 180"/>
                <a:gd name="T76" fmla="*/ 89 w 128"/>
                <a:gd name="T77" fmla="*/ 37 h 180"/>
                <a:gd name="T78" fmla="*/ 100 w 128"/>
                <a:gd name="T79" fmla="*/ 46 h 180"/>
                <a:gd name="T80" fmla="*/ 108 w 128"/>
                <a:gd name="T81" fmla="*/ 59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ln>
          </p:spPr>
          <p:txBody>
            <a:bodyPr/>
            <a:lstStyle/>
            <a:p>
              <a:endParaRPr lang="en-US"/>
            </a:p>
          </p:txBody>
        </p:sp>
        <p:sp>
          <p:nvSpPr>
            <p:cNvPr id="5" name="Freeform 307"/>
            <p:cNvSpPr/>
            <p:nvPr/>
          </p:nvSpPr>
          <p:spPr bwMode="auto">
            <a:xfrm>
              <a:off x="4318" y="3135"/>
              <a:ext cx="54" cy="63"/>
            </a:xfrm>
            <a:custGeom>
              <a:avLst/>
              <a:gdLst>
                <a:gd name="T0" fmla="*/ 100 w 322"/>
                <a:gd name="T1" fmla="*/ 70 h 378"/>
                <a:gd name="T2" fmla="*/ 53 w 322"/>
                <a:gd name="T3" fmla="*/ 115 h 378"/>
                <a:gd name="T4" fmla="*/ 17 w 322"/>
                <a:gd name="T5" fmla="*/ 166 h 378"/>
                <a:gd name="T6" fmla="*/ 0 w 322"/>
                <a:gd name="T7" fmla="*/ 226 h 378"/>
                <a:gd name="T8" fmla="*/ 3 w 322"/>
                <a:gd name="T9" fmla="*/ 266 h 378"/>
                <a:gd name="T10" fmla="*/ 9 w 322"/>
                <a:gd name="T11" fmla="*/ 282 h 378"/>
                <a:gd name="T12" fmla="*/ 19 w 322"/>
                <a:gd name="T13" fmla="*/ 297 h 378"/>
                <a:gd name="T14" fmla="*/ 32 w 322"/>
                <a:gd name="T15" fmla="*/ 310 h 378"/>
                <a:gd name="T16" fmla="*/ 56 w 322"/>
                <a:gd name="T17" fmla="*/ 324 h 378"/>
                <a:gd name="T18" fmla="*/ 86 w 322"/>
                <a:gd name="T19" fmla="*/ 338 h 378"/>
                <a:gd name="T20" fmla="*/ 119 w 322"/>
                <a:gd name="T21" fmla="*/ 350 h 378"/>
                <a:gd name="T22" fmla="*/ 152 w 322"/>
                <a:gd name="T23" fmla="*/ 359 h 378"/>
                <a:gd name="T24" fmla="*/ 186 w 322"/>
                <a:gd name="T25" fmla="*/ 366 h 378"/>
                <a:gd name="T26" fmla="*/ 220 w 322"/>
                <a:gd name="T27" fmla="*/ 371 h 378"/>
                <a:gd name="T28" fmla="*/ 254 w 322"/>
                <a:gd name="T29" fmla="*/ 374 h 378"/>
                <a:gd name="T30" fmla="*/ 289 w 322"/>
                <a:gd name="T31" fmla="*/ 376 h 378"/>
                <a:gd name="T32" fmla="*/ 311 w 322"/>
                <a:gd name="T33" fmla="*/ 378 h 378"/>
                <a:gd name="T34" fmla="*/ 320 w 322"/>
                <a:gd name="T35" fmla="*/ 371 h 378"/>
                <a:gd name="T36" fmla="*/ 322 w 322"/>
                <a:gd name="T37" fmla="*/ 360 h 378"/>
                <a:gd name="T38" fmla="*/ 315 w 322"/>
                <a:gd name="T39" fmla="*/ 352 h 378"/>
                <a:gd name="T40" fmla="*/ 294 w 322"/>
                <a:gd name="T41" fmla="*/ 347 h 378"/>
                <a:gd name="T42" fmla="*/ 263 w 322"/>
                <a:gd name="T43" fmla="*/ 341 h 378"/>
                <a:gd name="T44" fmla="*/ 232 w 322"/>
                <a:gd name="T45" fmla="*/ 336 h 378"/>
                <a:gd name="T46" fmla="*/ 200 w 322"/>
                <a:gd name="T47" fmla="*/ 332 h 378"/>
                <a:gd name="T48" fmla="*/ 170 w 322"/>
                <a:gd name="T49" fmla="*/ 326 h 378"/>
                <a:gd name="T50" fmla="*/ 139 w 322"/>
                <a:gd name="T51" fmla="*/ 318 h 378"/>
                <a:gd name="T52" fmla="*/ 110 w 322"/>
                <a:gd name="T53" fmla="*/ 309 h 378"/>
                <a:gd name="T54" fmla="*/ 80 w 322"/>
                <a:gd name="T55" fmla="*/ 297 h 378"/>
                <a:gd name="T56" fmla="*/ 55 w 322"/>
                <a:gd name="T57" fmla="*/ 281 h 378"/>
                <a:gd name="T58" fmla="*/ 38 w 322"/>
                <a:gd name="T59" fmla="*/ 259 h 378"/>
                <a:gd name="T60" fmla="*/ 34 w 322"/>
                <a:gd name="T61" fmla="*/ 232 h 378"/>
                <a:gd name="T62" fmla="*/ 38 w 322"/>
                <a:gd name="T63" fmla="*/ 200 h 378"/>
                <a:gd name="T64" fmla="*/ 51 w 322"/>
                <a:gd name="T65" fmla="*/ 170 h 378"/>
                <a:gd name="T66" fmla="*/ 71 w 322"/>
                <a:gd name="T67" fmla="*/ 137 h 378"/>
                <a:gd name="T68" fmla="*/ 94 w 322"/>
                <a:gd name="T69" fmla="*/ 110 h 378"/>
                <a:gd name="T70" fmla="*/ 123 w 322"/>
                <a:gd name="T71" fmla="*/ 82 h 378"/>
                <a:gd name="T72" fmla="*/ 153 w 322"/>
                <a:gd name="T73" fmla="*/ 57 h 378"/>
                <a:gd name="T74" fmla="*/ 195 w 322"/>
                <a:gd name="T75" fmla="*/ 38 h 378"/>
                <a:gd name="T76" fmla="*/ 238 w 322"/>
                <a:gd name="T77" fmla="*/ 20 h 378"/>
                <a:gd name="T78" fmla="*/ 264 w 322"/>
                <a:gd name="T79" fmla="*/ 7 h 378"/>
                <a:gd name="T80" fmla="*/ 256 w 322"/>
                <a:gd name="T81" fmla="*/ 0 h 378"/>
                <a:gd name="T82" fmla="*/ 221 w 322"/>
                <a:gd name="T83" fmla="*/ 4 h 378"/>
                <a:gd name="T84" fmla="*/ 180 w 322"/>
                <a:gd name="T85" fmla="*/ 18 h 378"/>
                <a:gd name="T86" fmla="*/ 141 w 322"/>
                <a:gd name="T87" fmla="*/ 38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ln>
          </p:spPr>
          <p:txBody>
            <a:bodyPr/>
            <a:lstStyle/>
            <a:p>
              <a:endParaRPr lang="en-US"/>
            </a:p>
          </p:txBody>
        </p:sp>
        <p:sp>
          <p:nvSpPr>
            <p:cNvPr id="6" name="Freeform 308"/>
            <p:cNvSpPr/>
            <p:nvPr/>
          </p:nvSpPr>
          <p:spPr bwMode="auto">
            <a:xfrm>
              <a:off x="4394" y="3133"/>
              <a:ext cx="47" cy="42"/>
            </a:xfrm>
            <a:custGeom>
              <a:avLst/>
              <a:gdLst>
                <a:gd name="T0" fmla="*/ 235 w 283"/>
                <a:gd name="T1" fmla="*/ 77 h 252"/>
                <a:gd name="T2" fmla="*/ 248 w 283"/>
                <a:gd name="T3" fmla="*/ 91 h 252"/>
                <a:gd name="T4" fmla="*/ 256 w 283"/>
                <a:gd name="T5" fmla="*/ 107 h 252"/>
                <a:gd name="T6" fmla="*/ 259 w 283"/>
                <a:gd name="T7" fmla="*/ 124 h 252"/>
                <a:gd name="T8" fmla="*/ 259 w 283"/>
                <a:gd name="T9" fmla="*/ 142 h 252"/>
                <a:gd name="T10" fmla="*/ 257 w 283"/>
                <a:gd name="T11" fmla="*/ 157 h 252"/>
                <a:gd name="T12" fmla="*/ 252 w 283"/>
                <a:gd name="T13" fmla="*/ 170 h 252"/>
                <a:gd name="T14" fmla="*/ 244 w 283"/>
                <a:gd name="T15" fmla="*/ 183 h 252"/>
                <a:gd name="T16" fmla="*/ 236 w 283"/>
                <a:gd name="T17" fmla="*/ 193 h 252"/>
                <a:gd name="T18" fmla="*/ 225 w 283"/>
                <a:gd name="T19" fmla="*/ 204 h 252"/>
                <a:gd name="T20" fmla="*/ 215 w 283"/>
                <a:gd name="T21" fmla="*/ 214 h 252"/>
                <a:gd name="T22" fmla="*/ 204 w 283"/>
                <a:gd name="T23" fmla="*/ 224 h 252"/>
                <a:gd name="T24" fmla="*/ 194 w 283"/>
                <a:gd name="T25" fmla="*/ 234 h 252"/>
                <a:gd name="T26" fmla="*/ 191 w 283"/>
                <a:gd name="T27" fmla="*/ 238 h 252"/>
                <a:gd name="T28" fmla="*/ 191 w 283"/>
                <a:gd name="T29" fmla="*/ 241 h 252"/>
                <a:gd name="T30" fmla="*/ 191 w 283"/>
                <a:gd name="T31" fmla="*/ 245 h 252"/>
                <a:gd name="T32" fmla="*/ 194 w 283"/>
                <a:gd name="T33" fmla="*/ 248 h 252"/>
                <a:gd name="T34" fmla="*/ 197 w 283"/>
                <a:gd name="T35" fmla="*/ 250 h 252"/>
                <a:gd name="T36" fmla="*/ 202 w 283"/>
                <a:gd name="T37" fmla="*/ 252 h 252"/>
                <a:gd name="T38" fmla="*/ 205 w 283"/>
                <a:gd name="T39" fmla="*/ 250 h 252"/>
                <a:gd name="T40" fmla="*/ 209 w 283"/>
                <a:gd name="T41" fmla="*/ 248 h 252"/>
                <a:gd name="T42" fmla="*/ 232 w 283"/>
                <a:gd name="T43" fmla="*/ 233 h 252"/>
                <a:gd name="T44" fmla="*/ 252 w 283"/>
                <a:gd name="T45" fmla="*/ 214 h 252"/>
                <a:gd name="T46" fmla="*/ 268 w 283"/>
                <a:gd name="T47" fmla="*/ 192 h 252"/>
                <a:gd name="T48" fmla="*/ 278 w 283"/>
                <a:gd name="T49" fmla="*/ 167 h 252"/>
                <a:gd name="T50" fmla="*/ 283 w 283"/>
                <a:gd name="T51" fmla="*/ 141 h 252"/>
                <a:gd name="T52" fmla="*/ 280 w 283"/>
                <a:gd name="T53" fmla="*/ 115 h 252"/>
                <a:gd name="T54" fmla="*/ 271 w 283"/>
                <a:gd name="T55" fmla="*/ 91 h 252"/>
                <a:gd name="T56" fmla="*/ 252 w 283"/>
                <a:gd name="T57" fmla="*/ 69 h 252"/>
                <a:gd name="T58" fmla="*/ 238 w 283"/>
                <a:gd name="T59" fmla="*/ 57 h 252"/>
                <a:gd name="T60" fmla="*/ 222 w 283"/>
                <a:gd name="T61" fmla="*/ 48 h 252"/>
                <a:gd name="T62" fmla="*/ 204 w 283"/>
                <a:gd name="T63" fmla="*/ 39 h 252"/>
                <a:gd name="T64" fmla="*/ 184 w 283"/>
                <a:gd name="T65" fmla="*/ 31 h 252"/>
                <a:gd name="T66" fmla="*/ 164 w 283"/>
                <a:gd name="T67" fmla="*/ 23 h 252"/>
                <a:gd name="T68" fmla="*/ 144 w 283"/>
                <a:gd name="T69" fmla="*/ 17 h 252"/>
                <a:gd name="T70" fmla="*/ 123 w 283"/>
                <a:gd name="T71" fmla="*/ 13 h 252"/>
                <a:gd name="T72" fmla="*/ 103 w 283"/>
                <a:gd name="T73" fmla="*/ 8 h 252"/>
                <a:gd name="T74" fmla="*/ 83 w 283"/>
                <a:gd name="T75" fmla="*/ 5 h 252"/>
                <a:gd name="T76" fmla="*/ 66 w 283"/>
                <a:gd name="T77" fmla="*/ 2 h 252"/>
                <a:gd name="T78" fmla="*/ 48 w 283"/>
                <a:gd name="T79" fmla="*/ 0 h 252"/>
                <a:gd name="T80" fmla="*/ 34 w 283"/>
                <a:gd name="T81" fmla="*/ 0 h 252"/>
                <a:gd name="T82" fmla="*/ 21 w 283"/>
                <a:gd name="T83" fmla="*/ 0 h 252"/>
                <a:gd name="T84" fmla="*/ 11 w 283"/>
                <a:gd name="T85" fmla="*/ 0 h 252"/>
                <a:gd name="T86" fmla="*/ 4 w 283"/>
                <a:gd name="T87" fmla="*/ 2 h 252"/>
                <a:gd name="T88" fmla="*/ 0 w 283"/>
                <a:gd name="T89" fmla="*/ 5 h 252"/>
                <a:gd name="T90" fmla="*/ 12 w 283"/>
                <a:gd name="T91" fmla="*/ 7 h 252"/>
                <a:gd name="T92" fmla="*/ 24 w 283"/>
                <a:gd name="T93" fmla="*/ 8 h 252"/>
                <a:gd name="T94" fmla="*/ 38 w 283"/>
                <a:gd name="T95" fmla="*/ 10 h 252"/>
                <a:gd name="T96" fmla="*/ 52 w 283"/>
                <a:gd name="T97" fmla="*/ 13 h 252"/>
                <a:gd name="T98" fmla="*/ 66 w 283"/>
                <a:gd name="T99" fmla="*/ 16 h 252"/>
                <a:gd name="T100" fmla="*/ 82 w 283"/>
                <a:gd name="T101" fmla="*/ 18 h 252"/>
                <a:gd name="T102" fmla="*/ 98 w 283"/>
                <a:gd name="T103" fmla="*/ 22 h 252"/>
                <a:gd name="T104" fmla="*/ 114 w 283"/>
                <a:gd name="T105" fmla="*/ 25 h 252"/>
                <a:gd name="T106" fmla="*/ 129 w 283"/>
                <a:gd name="T107" fmla="*/ 30 h 252"/>
                <a:gd name="T108" fmla="*/ 146 w 283"/>
                <a:gd name="T109" fmla="*/ 34 h 252"/>
                <a:gd name="T110" fmla="*/ 162 w 283"/>
                <a:gd name="T111" fmla="*/ 39 h 252"/>
                <a:gd name="T112" fmla="*/ 177 w 283"/>
                <a:gd name="T113" fmla="*/ 45 h 252"/>
                <a:gd name="T114" fmla="*/ 193 w 283"/>
                <a:gd name="T115" fmla="*/ 52 h 252"/>
                <a:gd name="T116" fmla="*/ 208 w 283"/>
                <a:gd name="T117" fmla="*/ 60 h 252"/>
                <a:gd name="T118" fmla="*/ 222 w 283"/>
                <a:gd name="T119" fmla="*/ 68 h 252"/>
                <a:gd name="T120" fmla="*/ 235 w 283"/>
                <a:gd name="T121" fmla="*/ 77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ln>
          </p:spPr>
          <p:txBody>
            <a:bodyPr/>
            <a:lstStyle/>
            <a:p>
              <a:endParaRPr lang="en-US"/>
            </a:p>
          </p:txBody>
        </p:sp>
        <p:sp>
          <p:nvSpPr>
            <p:cNvPr id="7" name="Freeform 309"/>
            <p:cNvSpPr/>
            <p:nvPr/>
          </p:nvSpPr>
          <p:spPr bwMode="auto">
            <a:xfrm>
              <a:off x="4298" y="3153"/>
              <a:ext cx="19" cy="39"/>
            </a:xfrm>
            <a:custGeom>
              <a:avLst/>
              <a:gdLst>
                <a:gd name="T0" fmla="*/ 0 w 114"/>
                <a:gd name="T1" fmla="*/ 130 h 238"/>
                <a:gd name="T2" fmla="*/ 0 w 114"/>
                <a:gd name="T3" fmla="*/ 149 h 238"/>
                <a:gd name="T4" fmla="*/ 4 w 114"/>
                <a:gd name="T5" fmla="*/ 168 h 238"/>
                <a:gd name="T6" fmla="*/ 12 w 114"/>
                <a:gd name="T7" fmla="*/ 185 h 238"/>
                <a:gd name="T8" fmla="*/ 24 w 114"/>
                <a:gd name="T9" fmla="*/ 200 h 238"/>
                <a:gd name="T10" fmla="*/ 38 w 114"/>
                <a:gd name="T11" fmla="*/ 213 h 238"/>
                <a:gd name="T12" fmla="*/ 55 w 114"/>
                <a:gd name="T13" fmla="*/ 224 h 238"/>
                <a:gd name="T14" fmla="*/ 73 w 114"/>
                <a:gd name="T15" fmla="*/ 232 h 238"/>
                <a:gd name="T16" fmla="*/ 92 w 114"/>
                <a:gd name="T17" fmla="*/ 237 h 238"/>
                <a:gd name="T18" fmla="*/ 98 w 114"/>
                <a:gd name="T19" fmla="*/ 238 h 238"/>
                <a:gd name="T20" fmla="*/ 104 w 114"/>
                <a:gd name="T21" fmla="*/ 235 h 238"/>
                <a:gd name="T22" fmla="*/ 109 w 114"/>
                <a:gd name="T23" fmla="*/ 232 h 238"/>
                <a:gd name="T24" fmla="*/ 111 w 114"/>
                <a:gd name="T25" fmla="*/ 227 h 238"/>
                <a:gd name="T26" fmla="*/ 111 w 114"/>
                <a:gd name="T27" fmla="*/ 222 h 238"/>
                <a:gd name="T28" fmla="*/ 110 w 114"/>
                <a:gd name="T29" fmla="*/ 216 h 238"/>
                <a:gd name="T30" fmla="*/ 106 w 114"/>
                <a:gd name="T31" fmla="*/ 211 h 238"/>
                <a:gd name="T32" fmla="*/ 100 w 114"/>
                <a:gd name="T33" fmla="*/ 209 h 238"/>
                <a:gd name="T34" fmla="*/ 82 w 114"/>
                <a:gd name="T35" fmla="*/ 202 h 238"/>
                <a:gd name="T36" fmla="*/ 64 w 114"/>
                <a:gd name="T37" fmla="*/ 193 h 238"/>
                <a:gd name="T38" fmla="*/ 50 w 114"/>
                <a:gd name="T39" fmla="*/ 180 h 238"/>
                <a:gd name="T40" fmla="*/ 39 w 114"/>
                <a:gd name="T41" fmla="*/ 167 h 238"/>
                <a:gd name="T42" fmla="*/ 32 w 114"/>
                <a:gd name="T43" fmla="*/ 149 h 238"/>
                <a:gd name="T44" fmla="*/ 29 w 114"/>
                <a:gd name="T45" fmla="*/ 131 h 238"/>
                <a:gd name="T46" fmla="*/ 29 w 114"/>
                <a:gd name="T47" fmla="*/ 111 h 238"/>
                <a:gd name="T48" fmla="*/ 35 w 114"/>
                <a:gd name="T49" fmla="*/ 91 h 238"/>
                <a:gd name="T50" fmla="*/ 42 w 114"/>
                <a:gd name="T51" fmla="*/ 76 h 238"/>
                <a:gd name="T52" fmla="*/ 51 w 114"/>
                <a:gd name="T53" fmla="*/ 62 h 238"/>
                <a:gd name="T54" fmla="*/ 62 w 114"/>
                <a:gd name="T55" fmla="*/ 49 h 238"/>
                <a:gd name="T56" fmla="*/ 73 w 114"/>
                <a:gd name="T57" fmla="*/ 38 h 238"/>
                <a:gd name="T58" fmla="*/ 84 w 114"/>
                <a:gd name="T59" fmla="*/ 28 h 238"/>
                <a:gd name="T60" fmla="*/ 96 w 114"/>
                <a:gd name="T61" fmla="*/ 18 h 238"/>
                <a:gd name="T62" fmla="*/ 106 w 114"/>
                <a:gd name="T63" fmla="*/ 9 h 238"/>
                <a:gd name="T64" fmla="*/ 114 w 114"/>
                <a:gd name="T65" fmla="*/ 1 h 238"/>
                <a:gd name="T66" fmla="*/ 106 w 114"/>
                <a:gd name="T67" fmla="*/ 0 h 238"/>
                <a:gd name="T68" fmla="*/ 93 w 114"/>
                <a:gd name="T69" fmla="*/ 6 h 238"/>
                <a:gd name="T70" fmla="*/ 76 w 114"/>
                <a:gd name="T71" fmla="*/ 18 h 238"/>
                <a:gd name="T72" fmla="*/ 56 w 114"/>
                <a:gd name="T73" fmla="*/ 36 h 238"/>
                <a:gd name="T74" fmla="*/ 37 w 114"/>
                <a:gd name="T75" fmla="*/ 57 h 238"/>
                <a:gd name="T76" fmla="*/ 20 w 114"/>
                <a:gd name="T77" fmla="*/ 80 h 238"/>
                <a:gd name="T78" fmla="*/ 7 w 114"/>
                <a:gd name="T79" fmla="*/ 106 h 238"/>
                <a:gd name="T80" fmla="*/ 0 w 114"/>
                <a:gd name="T81" fmla="*/ 13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ln>
          </p:spPr>
          <p:txBody>
            <a:bodyPr/>
            <a:lstStyle/>
            <a:p>
              <a:endParaRPr lang="en-US"/>
            </a:p>
          </p:txBody>
        </p:sp>
        <p:sp>
          <p:nvSpPr>
            <p:cNvPr id="19614" name="Freeform 310"/>
            <p:cNvSpPr/>
            <p:nvPr/>
          </p:nvSpPr>
          <p:spPr bwMode="auto">
            <a:xfrm>
              <a:off x="4432" y="3130"/>
              <a:ext cx="41" cy="52"/>
            </a:xfrm>
            <a:custGeom>
              <a:avLst/>
              <a:gdLst>
                <a:gd name="T0" fmla="*/ 207 w 246"/>
                <a:gd name="T1" fmla="*/ 124 h 310"/>
                <a:gd name="T2" fmla="*/ 219 w 246"/>
                <a:gd name="T3" fmla="*/ 143 h 310"/>
                <a:gd name="T4" fmla="*/ 225 w 246"/>
                <a:gd name="T5" fmla="*/ 164 h 310"/>
                <a:gd name="T6" fmla="*/ 221 w 246"/>
                <a:gd name="T7" fmla="*/ 187 h 310"/>
                <a:gd name="T8" fmla="*/ 208 w 246"/>
                <a:gd name="T9" fmla="*/ 209 h 310"/>
                <a:gd name="T10" fmla="*/ 188 w 246"/>
                <a:gd name="T11" fmla="*/ 228 h 310"/>
                <a:gd name="T12" fmla="*/ 166 w 246"/>
                <a:gd name="T13" fmla="*/ 246 h 310"/>
                <a:gd name="T14" fmla="*/ 143 w 246"/>
                <a:gd name="T15" fmla="*/ 264 h 310"/>
                <a:gd name="T16" fmla="*/ 129 w 246"/>
                <a:gd name="T17" fmla="*/ 278 h 310"/>
                <a:gd name="T18" fmla="*/ 124 w 246"/>
                <a:gd name="T19" fmla="*/ 287 h 310"/>
                <a:gd name="T20" fmla="*/ 120 w 246"/>
                <a:gd name="T21" fmla="*/ 296 h 310"/>
                <a:gd name="T22" fmla="*/ 121 w 246"/>
                <a:gd name="T23" fmla="*/ 305 h 310"/>
                <a:gd name="T24" fmla="*/ 130 w 246"/>
                <a:gd name="T25" fmla="*/ 310 h 310"/>
                <a:gd name="T26" fmla="*/ 139 w 246"/>
                <a:gd name="T27" fmla="*/ 309 h 310"/>
                <a:gd name="T28" fmla="*/ 154 w 246"/>
                <a:gd name="T29" fmla="*/ 293 h 310"/>
                <a:gd name="T30" fmla="*/ 180 w 246"/>
                <a:gd name="T31" fmla="*/ 269 h 310"/>
                <a:gd name="T32" fmla="*/ 207 w 246"/>
                <a:gd name="T33" fmla="*/ 246 h 310"/>
                <a:gd name="T34" fmla="*/ 231 w 246"/>
                <a:gd name="T35" fmla="*/ 219 h 310"/>
                <a:gd name="T36" fmla="*/ 245 w 246"/>
                <a:gd name="T37" fmla="*/ 187 h 310"/>
                <a:gd name="T38" fmla="*/ 242 w 246"/>
                <a:gd name="T39" fmla="*/ 153 h 310"/>
                <a:gd name="T40" fmla="*/ 227 w 246"/>
                <a:gd name="T41" fmla="*/ 120 h 310"/>
                <a:gd name="T42" fmla="*/ 201 w 246"/>
                <a:gd name="T43" fmla="*/ 94 h 310"/>
                <a:gd name="T44" fmla="*/ 177 w 246"/>
                <a:gd name="T45" fmla="*/ 74 h 310"/>
                <a:gd name="T46" fmla="*/ 152 w 246"/>
                <a:gd name="T47" fmla="*/ 60 h 310"/>
                <a:gd name="T48" fmla="*/ 126 w 246"/>
                <a:gd name="T49" fmla="*/ 43 h 310"/>
                <a:gd name="T50" fmla="*/ 98 w 246"/>
                <a:gd name="T51" fmla="*/ 28 h 310"/>
                <a:gd name="T52" fmla="*/ 72 w 246"/>
                <a:gd name="T53" fmla="*/ 16 h 310"/>
                <a:gd name="T54" fmla="*/ 46 w 246"/>
                <a:gd name="T55" fmla="*/ 7 h 310"/>
                <a:gd name="T56" fmla="*/ 24 w 246"/>
                <a:gd name="T57" fmla="*/ 1 h 310"/>
                <a:gd name="T58" fmla="*/ 7 w 246"/>
                <a:gd name="T59" fmla="*/ 1 h 310"/>
                <a:gd name="T60" fmla="*/ 8 w 246"/>
                <a:gd name="T61" fmla="*/ 6 h 310"/>
                <a:gd name="T62" fmla="*/ 28 w 246"/>
                <a:gd name="T63" fmla="*/ 14 h 310"/>
                <a:gd name="T64" fmla="*/ 51 w 246"/>
                <a:gd name="T65" fmla="*/ 24 h 310"/>
                <a:gd name="T66" fmla="*/ 78 w 246"/>
                <a:gd name="T67" fmla="*/ 37 h 310"/>
                <a:gd name="T68" fmla="*/ 106 w 246"/>
                <a:gd name="T69" fmla="*/ 51 h 310"/>
                <a:gd name="T70" fmla="*/ 134 w 246"/>
                <a:gd name="T71" fmla="*/ 69 h 310"/>
                <a:gd name="T72" fmla="*/ 163 w 246"/>
                <a:gd name="T73" fmla="*/ 87 h 310"/>
                <a:gd name="T74" fmla="*/ 187 w 246"/>
                <a:gd name="T75" fmla="*/ 105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ln>
          </p:spPr>
          <p:txBody>
            <a:bodyPr/>
            <a:lstStyle/>
            <a:p>
              <a:endParaRPr lang="en-US"/>
            </a:p>
          </p:txBody>
        </p:sp>
        <p:sp>
          <p:nvSpPr>
            <p:cNvPr id="19615" name="Freeform 311"/>
            <p:cNvSpPr/>
            <p:nvPr/>
          </p:nvSpPr>
          <p:spPr bwMode="auto">
            <a:xfrm>
              <a:off x="4387" y="3191"/>
              <a:ext cx="14" cy="31"/>
            </a:xfrm>
            <a:custGeom>
              <a:avLst/>
              <a:gdLst>
                <a:gd name="T0" fmla="*/ 31 w 83"/>
                <a:gd name="T1" fmla="*/ 14 h 187"/>
                <a:gd name="T2" fmla="*/ 29 w 83"/>
                <a:gd name="T3" fmla="*/ 8 h 187"/>
                <a:gd name="T4" fmla="*/ 25 w 83"/>
                <a:gd name="T5" fmla="*/ 3 h 187"/>
                <a:gd name="T6" fmla="*/ 19 w 83"/>
                <a:gd name="T7" fmla="*/ 1 h 187"/>
                <a:gd name="T8" fmla="*/ 14 w 83"/>
                <a:gd name="T9" fmla="*/ 0 h 187"/>
                <a:gd name="T10" fmla="*/ 8 w 83"/>
                <a:gd name="T11" fmla="*/ 2 h 187"/>
                <a:gd name="T12" fmla="*/ 3 w 83"/>
                <a:gd name="T13" fmla="*/ 5 h 187"/>
                <a:gd name="T14" fmla="*/ 0 w 83"/>
                <a:gd name="T15" fmla="*/ 11 h 187"/>
                <a:gd name="T16" fmla="*/ 0 w 83"/>
                <a:gd name="T17" fmla="*/ 17 h 187"/>
                <a:gd name="T18" fmla="*/ 5 w 83"/>
                <a:gd name="T19" fmla="*/ 42 h 187"/>
                <a:gd name="T20" fmla="*/ 15 w 83"/>
                <a:gd name="T21" fmla="*/ 71 h 187"/>
                <a:gd name="T22" fmla="*/ 27 w 83"/>
                <a:gd name="T23" fmla="*/ 100 h 187"/>
                <a:gd name="T24" fmla="*/ 41 w 83"/>
                <a:gd name="T25" fmla="*/ 127 h 187"/>
                <a:gd name="T26" fmla="*/ 55 w 83"/>
                <a:gd name="T27" fmla="*/ 151 h 187"/>
                <a:gd name="T28" fmla="*/ 68 w 83"/>
                <a:gd name="T29" fmla="*/ 171 h 187"/>
                <a:gd name="T30" fmla="*/ 77 w 83"/>
                <a:gd name="T31" fmla="*/ 184 h 187"/>
                <a:gd name="T32" fmla="*/ 83 w 83"/>
                <a:gd name="T33" fmla="*/ 187 h 187"/>
                <a:gd name="T34" fmla="*/ 80 w 83"/>
                <a:gd name="T35" fmla="*/ 174 h 187"/>
                <a:gd name="T36" fmla="*/ 75 w 83"/>
                <a:gd name="T37" fmla="*/ 158 h 187"/>
                <a:gd name="T38" fmla="*/ 68 w 83"/>
                <a:gd name="T39" fmla="*/ 138 h 187"/>
                <a:gd name="T40" fmla="*/ 59 w 83"/>
                <a:gd name="T41" fmla="*/ 113 h 187"/>
                <a:gd name="T42" fmla="*/ 51 w 83"/>
                <a:gd name="T43" fmla="*/ 88 h 187"/>
                <a:gd name="T44" fmla="*/ 43 w 83"/>
                <a:gd name="T45" fmla="*/ 63 h 187"/>
                <a:gd name="T46" fmla="*/ 36 w 83"/>
                <a:gd name="T47" fmla="*/ 38 h 187"/>
                <a:gd name="T48" fmla="*/ 31 w 83"/>
                <a:gd name="T49" fmla="*/ 14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ln>
          </p:spPr>
          <p:txBody>
            <a:bodyPr/>
            <a:lstStyle/>
            <a:p>
              <a:endParaRPr lang="en-US"/>
            </a:p>
          </p:txBody>
        </p:sp>
        <p:sp>
          <p:nvSpPr>
            <p:cNvPr id="19616" name="Freeform 312"/>
            <p:cNvSpPr/>
            <p:nvPr/>
          </p:nvSpPr>
          <p:spPr bwMode="auto">
            <a:xfrm>
              <a:off x="4381" y="3174"/>
              <a:ext cx="7" cy="16"/>
            </a:xfrm>
            <a:custGeom>
              <a:avLst/>
              <a:gdLst>
                <a:gd name="T0" fmla="*/ 22 w 44"/>
                <a:gd name="T1" fmla="*/ 10 h 94"/>
                <a:gd name="T2" fmla="*/ 21 w 44"/>
                <a:gd name="T3" fmla="*/ 6 h 94"/>
                <a:gd name="T4" fmla="*/ 18 w 44"/>
                <a:gd name="T5" fmla="*/ 2 h 94"/>
                <a:gd name="T6" fmla="*/ 14 w 44"/>
                <a:gd name="T7" fmla="*/ 0 h 94"/>
                <a:gd name="T8" fmla="*/ 10 w 44"/>
                <a:gd name="T9" fmla="*/ 0 h 94"/>
                <a:gd name="T10" fmla="*/ 6 w 44"/>
                <a:gd name="T11" fmla="*/ 1 h 94"/>
                <a:gd name="T12" fmla="*/ 3 w 44"/>
                <a:gd name="T13" fmla="*/ 3 h 94"/>
                <a:gd name="T14" fmla="*/ 0 w 44"/>
                <a:gd name="T15" fmla="*/ 7 h 94"/>
                <a:gd name="T16" fmla="*/ 0 w 44"/>
                <a:gd name="T17" fmla="*/ 11 h 94"/>
                <a:gd name="T18" fmla="*/ 0 w 44"/>
                <a:gd name="T19" fmla="*/ 24 h 94"/>
                <a:gd name="T20" fmla="*/ 4 w 44"/>
                <a:gd name="T21" fmla="*/ 38 h 94"/>
                <a:gd name="T22" fmla="*/ 8 w 44"/>
                <a:gd name="T23" fmla="*/ 52 h 94"/>
                <a:gd name="T24" fmla="*/ 14 w 44"/>
                <a:gd name="T25" fmla="*/ 65 h 94"/>
                <a:gd name="T26" fmla="*/ 21 w 44"/>
                <a:gd name="T27" fmla="*/ 78 h 94"/>
                <a:gd name="T28" fmla="*/ 28 w 44"/>
                <a:gd name="T29" fmla="*/ 87 h 94"/>
                <a:gd name="T30" fmla="*/ 37 w 44"/>
                <a:gd name="T31" fmla="*/ 93 h 94"/>
                <a:gd name="T32" fmla="*/ 42 w 44"/>
                <a:gd name="T33" fmla="*/ 94 h 94"/>
                <a:gd name="T34" fmla="*/ 44 w 44"/>
                <a:gd name="T35" fmla="*/ 76 h 94"/>
                <a:gd name="T36" fmla="*/ 38 w 44"/>
                <a:gd name="T37" fmla="*/ 54 h 94"/>
                <a:gd name="T38" fmla="*/ 31 w 44"/>
                <a:gd name="T39" fmla="*/ 32 h 94"/>
                <a:gd name="T40" fmla="*/ 22 w 44"/>
                <a:gd name="T41" fmla="*/ 1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ln>
          </p:spPr>
          <p:txBody>
            <a:bodyPr/>
            <a:lstStyle/>
            <a:p>
              <a:endParaRPr lang="en-US"/>
            </a:p>
          </p:txBody>
        </p:sp>
        <p:sp>
          <p:nvSpPr>
            <p:cNvPr id="19617" name="Freeform 313"/>
            <p:cNvSpPr/>
            <p:nvPr/>
          </p:nvSpPr>
          <p:spPr bwMode="auto">
            <a:xfrm>
              <a:off x="4375" y="3163"/>
              <a:ext cx="6" cy="9"/>
            </a:xfrm>
            <a:custGeom>
              <a:avLst/>
              <a:gdLst>
                <a:gd name="T0" fmla="*/ 20 w 38"/>
                <a:gd name="T1" fmla="*/ 7 h 54"/>
                <a:gd name="T2" fmla="*/ 20 w 38"/>
                <a:gd name="T3" fmla="*/ 8 h 54"/>
                <a:gd name="T4" fmla="*/ 20 w 38"/>
                <a:gd name="T5" fmla="*/ 8 h 54"/>
                <a:gd name="T6" fmla="*/ 20 w 38"/>
                <a:gd name="T7" fmla="*/ 8 h 54"/>
                <a:gd name="T8" fmla="*/ 20 w 38"/>
                <a:gd name="T9" fmla="*/ 8 h 54"/>
                <a:gd name="T10" fmla="*/ 19 w 38"/>
                <a:gd name="T11" fmla="*/ 4 h 54"/>
                <a:gd name="T12" fmla="*/ 15 w 38"/>
                <a:gd name="T13" fmla="*/ 1 h 54"/>
                <a:gd name="T14" fmla="*/ 12 w 38"/>
                <a:gd name="T15" fmla="*/ 0 h 54"/>
                <a:gd name="T16" fmla="*/ 7 w 38"/>
                <a:gd name="T17" fmla="*/ 0 h 54"/>
                <a:gd name="T18" fmla="*/ 4 w 38"/>
                <a:gd name="T19" fmla="*/ 1 h 54"/>
                <a:gd name="T20" fmla="*/ 1 w 38"/>
                <a:gd name="T21" fmla="*/ 4 h 54"/>
                <a:gd name="T22" fmla="*/ 0 w 38"/>
                <a:gd name="T23" fmla="*/ 8 h 54"/>
                <a:gd name="T24" fmla="*/ 0 w 38"/>
                <a:gd name="T25" fmla="*/ 11 h 54"/>
                <a:gd name="T26" fmla="*/ 1 w 38"/>
                <a:gd name="T27" fmla="*/ 17 h 54"/>
                <a:gd name="T28" fmla="*/ 4 w 38"/>
                <a:gd name="T29" fmla="*/ 24 h 54"/>
                <a:gd name="T30" fmla="*/ 8 w 38"/>
                <a:gd name="T31" fmla="*/ 32 h 54"/>
                <a:gd name="T32" fmla="*/ 14 w 38"/>
                <a:gd name="T33" fmla="*/ 39 h 54"/>
                <a:gd name="T34" fmla="*/ 20 w 38"/>
                <a:gd name="T35" fmla="*/ 46 h 54"/>
                <a:gd name="T36" fmla="*/ 27 w 38"/>
                <a:gd name="T37" fmla="*/ 50 h 54"/>
                <a:gd name="T38" fmla="*/ 33 w 38"/>
                <a:gd name="T39" fmla="*/ 54 h 54"/>
                <a:gd name="T40" fmla="*/ 38 w 38"/>
                <a:gd name="T41" fmla="*/ 54 h 54"/>
                <a:gd name="T42" fmla="*/ 36 w 38"/>
                <a:gd name="T43" fmla="*/ 42 h 54"/>
                <a:gd name="T44" fmla="*/ 32 w 38"/>
                <a:gd name="T45" fmla="*/ 29 h 54"/>
                <a:gd name="T46" fmla="*/ 25 w 38"/>
                <a:gd name="T47" fmla="*/ 16 h 54"/>
                <a:gd name="T48" fmla="*/ 20 w 38"/>
                <a:gd name="T49" fmla="*/ 7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ln>
          </p:spPr>
          <p:txBody>
            <a:bodyPr/>
            <a:lstStyle/>
            <a:p>
              <a:endParaRPr lang="en-US"/>
            </a:p>
          </p:txBody>
        </p:sp>
        <p:sp>
          <p:nvSpPr>
            <p:cNvPr id="19618" name="Freeform 314"/>
            <p:cNvSpPr/>
            <p:nvPr/>
          </p:nvSpPr>
          <p:spPr bwMode="auto">
            <a:xfrm>
              <a:off x="4370" y="3155"/>
              <a:ext cx="8" cy="6"/>
            </a:xfrm>
            <a:custGeom>
              <a:avLst/>
              <a:gdLst>
                <a:gd name="T0" fmla="*/ 41 w 52"/>
                <a:gd name="T1" fmla="*/ 27 h 36"/>
                <a:gd name="T2" fmla="*/ 46 w 52"/>
                <a:gd name="T3" fmla="*/ 24 h 36"/>
                <a:gd name="T4" fmla="*/ 51 w 52"/>
                <a:gd name="T5" fmla="*/ 21 h 36"/>
                <a:gd name="T6" fmla="*/ 52 w 52"/>
                <a:gd name="T7" fmla="*/ 16 h 36"/>
                <a:gd name="T8" fmla="*/ 52 w 52"/>
                <a:gd name="T9" fmla="*/ 12 h 36"/>
                <a:gd name="T10" fmla="*/ 50 w 52"/>
                <a:gd name="T11" fmla="*/ 6 h 36"/>
                <a:gd name="T12" fmla="*/ 46 w 52"/>
                <a:gd name="T13" fmla="*/ 2 h 36"/>
                <a:gd name="T14" fmla="*/ 41 w 52"/>
                <a:gd name="T15" fmla="*/ 0 h 36"/>
                <a:gd name="T16" fmla="*/ 36 w 52"/>
                <a:gd name="T17" fmla="*/ 0 h 36"/>
                <a:gd name="T18" fmla="*/ 33 w 52"/>
                <a:gd name="T19" fmla="*/ 0 h 36"/>
                <a:gd name="T20" fmla="*/ 29 w 52"/>
                <a:gd name="T21" fmla="*/ 1 h 36"/>
                <a:gd name="T22" fmla="*/ 21 w 52"/>
                <a:gd name="T23" fmla="*/ 4 h 36"/>
                <a:gd name="T24" fmla="*/ 13 w 52"/>
                <a:gd name="T25" fmla="*/ 8 h 36"/>
                <a:gd name="T26" fmla="*/ 6 w 52"/>
                <a:gd name="T27" fmla="*/ 15 h 36"/>
                <a:gd name="T28" fmla="*/ 3 w 52"/>
                <a:gd name="T29" fmla="*/ 22 h 36"/>
                <a:gd name="T30" fmla="*/ 0 w 52"/>
                <a:gd name="T31" fmla="*/ 29 h 36"/>
                <a:gd name="T32" fmla="*/ 0 w 52"/>
                <a:gd name="T33" fmla="*/ 31 h 36"/>
                <a:gd name="T34" fmla="*/ 4 w 52"/>
                <a:gd name="T35" fmla="*/ 33 h 36"/>
                <a:gd name="T36" fmla="*/ 9 w 52"/>
                <a:gd name="T37" fmla="*/ 36 h 36"/>
                <a:gd name="T38" fmla="*/ 13 w 52"/>
                <a:gd name="T39" fmla="*/ 36 h 36"/>
                <a:gd name="T40" fmla="*/ 18 w 52"/>
                <a:gd name="T41" fmla="*/ 36 h 36"/>
                <a:gd name="T42" fmla="*/ 24 w 52"/>
                <a:gd name="T43" fmla="*/ 33 h 36"/>
                <a:gd name="T44" fmla="*/ 30 w 52"/>
                <a:gd name="T45" fmla="*/ 32 h 36"/>
                <a:gd name="T46" fmla="*/ 36 w 52"/>
                <a:gd name="T47" fmla="*/ 30 h 36"/>
                <a:gd name="T48" fmla="*/ 41 w 52"/>
                <a:gd name="T49" fmla="*/ 27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ln>
          </p:spPr>
          <p:txBody>
            <a:bodyPr/>
            <a:lstStyle/>
            <a:p>
              <a:endParaRPr lang="en-US"/>
            </a:p>
          </p:txBody>
        </p:sp>
        <p:sp>
          <p:nvSpPr>
            <p:cNvPr id="19619" name="Freeform 315"/>
            <p:cNvSpPr/>
            <p:nvPr/>
          </p:nvSpPr>
          <p:spPr bwMode="auto">
            <a:xfrm>
              <a:off x="4330" y="3145"/>
              <a:ext cx="33" cy="39"/>
            </a:xfrm>
            <a:custGeom>
              <a:avLst/>
              <a:gdLst>
                <a:gd name="T0" fmla="*/ 73 w 198"/>
                <a:gd name="T1" fmla="*/ 36 h 236"/>
                <a:gd name="T2" fmla="*/ 58 w 198"/>
                <a:gd name="T3" fmla="*/ 46 h 236"/>
                <a:gd name="T4" fmla="*/ 46 w 198"/>
                <a:gd name="T5" fmla="*/ 58 h 236"/>
                <a:gd name="T6" fmla="*/ 33 w 198"/>
                <a:gd name="T7" fmla="*/ 72 h 236"/>
                <a:gd name="T8" fmla="*/ 22 w 198"/>
                <a:gd name="T9" fmla="*/ 85 h 236"/>
                <a:gd name="T10" fmla="*/ 14 w 198"/>
                <a:gd name="T11" fmla="*/ 100 h 236"/>
                <a:gd name="T12" fmla="*/ 7 w 198"/>
                <a:gd name="T13" fmla="*/ 115 h 236"/>
                <a:gd name="T14" fmla="*/ 2 w 198"/>
                <a:gd name="T15" fmla="*/ 130 h 236"/>
                <a:gd name="T16" fmla="*/ 0 w 198"/>
                <a:gd name="T17" fmla="*/ 146 h 236"/>
                <a:gd name="T18" fmla="*/ 2 w 198"/>
                <a:gd name="T19" fmla="*/ 170 h 236"/>
                <a:gd name="T20" fmla="*/ 12 w 198"/>
                <a:gd name="T21" fmla="*/ 190 h 236"/>
                <a:gd name="T22" fmla="*/ 26 w 198"/>
                <a:gd name="T23" fmla="*/ 207 h 236"/>
                <a:gd name="T24" fmla="*/ 43 w 198"/>
                <a:gd name="T25" fmla="*/ 220 h 236"/>
                <a:gd name="T26" fmla="*/ 64 w 198"/>
                <a:gd name="T27" fmla="*/ 229 h 236"/>
                <a:gd name="T28" fmla="*/ 88 w 198"/>
                <a:gd name="T29" fmla="*/ 235 h 236"/>
                <a:gd name="T30" fmla="*/ 110 w 198"/>
                <a:gd name="T31" fmla="*/ 236 h 236"/>
                <a:gd name="T32" fmla="*/ 132 w 198"/>
                <a:gd name="T33" fmla="*/ 232 h 236"/>
                <a:gd name="T34" fmla="*/ 137 w 198"/>
                <a:gd name="T35" fmla="*/ 232 h 236"/>
                <a:gd name="T36" fmla="*/ 142 w 198"/>
                <a:gd name="T37" fmla="*/ 230 h 236"/>
                <a:gd name="T38" fmla="*/ 145 w 198"/>
                <a:gd name="T39" fmla="*/ 226 h 236"/>
                <a:gd name="T40" fmla="*/ 146 w 198"/>
                <a:gd name="T41" fmla="*/ 221 h 236"/>
                <a:gd name="T42" fmla="*/ 145 w 198"/>
                <a:gd name="T43" fmla="*/ 219 h 236"/>
                <a:gd name="T44" fmla="*/ 142 w 198"/>
                <a:gd name="T45" fmla="*/ 219 h 236"/>
                <a:gd name="T46" fmla="*/ 137 w 198"/>
                <a:gd name="T47" fmla="*/ 217 h 236"/>
                <a:gd name="T48" fmla="*/ 131 w 198"/>
                <a:gd name="T49" fmla="*/ 217 h 236"/>
                <a:gd name="T50" fmla="*/ 124 w 198"/>
                <a:gd name="T51" fmla="*/ 217 h 236"/>
                <a:gd name="T52" fmla="*/ 118 w 198"/>
                <a:gd name="T53" fmla="*/ 217 h 236"/>
                <a:gd name="T54" fmla="*/ 112 w 198"/>
                <a:gd name="T55" fmla="*/ 217 h 236"/>
                <a:gd name="T56" fmla="*/ 109 w 198"/>
                <a:gd name="T57" fmla="*/ 217 h 236"/>
                <a:gd name="T58" fmla="*/ 97 w 198"/>
                <a:gd name="T59" fmla="*/ 216 h 236"/>
                <a:gd name="T60" fmla="*/ 87 w 198"/>
                <a:gd name="T61" fmla="*/ 215 h 236"/>
                <a:gd name="T62" fmla="*/ 75 w 198"/>
                <a:gd name="T63" fmla="*/ 214 h 236"/>
                <a:gd name="T64" fmla="*/ 63 w 198"/>
                <a:gd name="T65" fmla="*/ 211 h 236"/>
                <a:gd name="T66" fmla="*/ 51 w 198"/>
                <a:gd name="T67" fmla="*/ 207 h 236"/>
                <a:gd name="T68" fmla="*/ 40 w 198"/>
                <a:gd name="T69" fmla="*/ 199 h 236"/>
                <a:gd name="T70" fmla="*/ 29 w 198"/>
                <a:gd name="T71" fmla="*/ 189 h 236"/>
                <a:gd name="T72" fmla="*/ 17 w 198"/>
                <a:gd name="T73" fmla="*/ 174 h 236"/>
                <a:gd name="T74" fmla="*/ 15 w 198"/>
                <a:gd name="T75" fmla="*/ 157 h 236"/>
                <a:gd name="T76" fmla="*/ 16 w 198"/>
                <a:gd name="T77" fmla="*/ 141 h 236"/>
                <a:gd name="T78" fmla="*/ 21 w 198"/>
                <a:gd name="T79" fmla="*/ 124 h 236"/>
                <a:gd name="T80" fmla="*/ 28 w 198"/>
                <a:gd name="T81" fmla="*/ 109 h 236"/>
                <a:gd name="T82" fmla="*/ 39 w 198"/>
                <a:gd name="T83" fmla="*/ 96 h 236"/>
                <a:gd name="T84" fmla="*/ 50 w 198"/>
                <a:gd name="T85" fmla="*/ 82 h 236"/>
                <a:gd name="T86" fmla="*/ 63 w 198"/>
                <a:gd name="T87" fmla="*/ 70 h 236"/>
                <a:gd name="T88" fmla="*/ 78 w 198"/>
                <a:gd name="T89" fmla="*/ 59 h 236"/>
                <a:gd name="T90" fmla="*/ 94 w 198"/>
                <a:gd name="T91" fmla="*/ 49 h 236"/>
                <a:gd name="T92" fmla="*/ 110 w 198"/>
                <a:gd name="T93" fmla="*/ 39 h 236"/>
                <a:gd name="T94" fmla="*/ 126 w 198"/>
                <a:gd name="T95" fmla="*/ 31 h 236"/>
                <a:gd name="T96" fmla="*/ 142 w 198"/>
                <a:gd name="T97" fmla="*/ 24 h 236"/>
                <a:gd name="T98" fmla="*/ 158 w 198"/>
                <a:gd name="T99" fmla="*/ 19 h 236"/>
                <a:gd name="T100" fmla="*/ 172 w 198"/>
                <a:gd name="T101" fmla="*/ 13 h 236"/>
                <a:gd name="T102" fmla="*/ 186 w 198"/>
                <a:gd name="T103" fmla="*/ 10 h 236"/>
                <a:gd name="T104" fmla="*/ 198 w 198"/>
                <a:gd name="T105" fmla="*/ 7 h 236"/>
                <a:gd name="T106" fmla="*/ 190 w 198"/>
                <a:gd name="T107" fmla="*/ 3 h 236"/>
                <a:gd name="T108" fmla="*/ 177 w 198"/>
                <a:gd name="T109" fmla="*/ 0 h 236"/>
                <a:gd name="T110" fmla="*/ 162 w 198"/>
                <a:gd name="T111" fmla="*/ 3 h 236"/>
                <a:gd name="T112" fmla="*/ 144 w 198"/>
                <a:gd name="T113" fmla="*/ 6 h 236"/>
                <a:gd name="T114" fmla="*/ 124 w 198"/>
                <a:gd name="T115" fmla="*/ 12 h 236"/>
                <a:gd name="T116" fmla="*/ 105 w 198"/>
                <a:gd name="T117" fmla="*/ 19 h 236"/>
                <a:gd name="T118" fmla="*/ 88 w 198"/>
                <a:gd name="T119" fmla="*/ 28 h 236"/>
                <a:gd name="T120" fmla="*/ 73 w 198"/>
                <a:gd name="T121" fmla="*/ 3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en-US"/>
            </a:p>
          </p:txBody>
        </p:sp>
        <p:sp>
          <p:nvSpPr>
            <p:cNvPr id="19620" name="Freeform 316"/>
            <p:cNvSpPr/>
            <p:nvPr/>
          </p:nvSpPr>
          <p:spPr bwMode="auto">
            <a:xfrm>
              <a:off x="4386" y="3145"/>
              <a:ext cx="22" cy="30"/>
            </a:xfrm>
            <a:custGeom>
              <a:avLst/>
              <a:gdLst>
                <a:gd name="T0" fmla="*/ 108 w 128"/>
                <a:gd name="T1" fmla="*/ 61 h 183"/>
                <a:gd name="T2" fmla="*/ 111 w 128"/>
                <a:gd name="T3" fmla="*/ 80 h 183"/>
                <a:gd name="T4" fmla="*/ 109 w 128"/>
                <a:gd name="T5" fmla="*/ 97 h 183"/>
                <a:gd name="T6" fmla="*/ 101 w 128"/>
                <a:gd name="T7" fmla="*/ 110 h 183"/>
                <a:gd name="T8" fmla="*/ 89 w 128"/>
                <a:gd name="T9" fmla="*/ 123 h 183"/>
                <a:gd name="T10" fmla="*/ 75 w 128"/>
                <a:gd name="T11" fmla="*/ 134 h 183"/>
                <a:gd name="T12" fmla="*/ 60 w 128"/>
                <a:gd name="T13" fmla="*/ 145 h 183"/>
                <a:gd name="T14" fmla="*/ 43 w 128"/>
                <a:gd name="T15" fmla="*/ 156 h 183"/>
                <a:gd name="T16" fmla="*/ 29 w 128"/>
                <a:gd name="T17" fmla="*/ 167 h 183"/>
                <a:gd name="T18" fmla="*/ 27 w 128"/>
                <a:gd name="T19" fmla="*/ 170 h 183"/>
                <a:gd name="T20" fmla="*/ 26 w 128"/>
                <a:gd name="T21" fmla="*/ 172 h 183"/>
                <a:gd name="T22" fmla="*/ 26 w 128"/>
                <a:gd name="T23" fmla="*/ 176 h 183"/>
                <a:gd name="T24" fmla="*/ 28 w 128"/>
                <a:gd name="T25" fmla="*/ 179 h 183"/>
                <a:gd name="T26" fmla="*/ 30 w 128"/>
                <a:gd name="T27" fmla="*/ 182 h 183"/>
                <a:gd name="T28" fmla="*/ 34 w 128"/>
                <a:gd name="T29" fmla="*/ 183 h 183"/>
                <a:gd name="T30" fmla="*/ 37 w 128"/>
                <a:gd name="T31" fmla="*/ 183 h 183"/>
                <a:gd name="T32" fmla="*/ 41 w 128"/>
                <a:gd name="T33" fmla="*/ 182 h 183"/>
                <a:gd name="T34" fmla="*/ 58 w 128"/>
                <a:gd name="T35" fmla="*/ 171 h 183"/>
                <a:gd name="T36" fmla="*/ 76 w 128"/>
                <a:gd name="T37" fmla="*/ 160 h 183"/>
                <a:gd name="T38" fmla="*/ 92 w 128"/>
                <a:gd name="T39" fmla="*/ 147 h 183"/>
                <a:gd name="T40" fmla="*/ 108 w 128"/>
                <a:gd name="T41" fmla="*/ 132 h 183"/>
                <a:gd name="T42" fmla="*/ 118 w 128"/>
                <a:gd name="T43" fmla="*/ 116 h 183"/>
                <a:gd name="T44" fmla="*/ 125 w 128"/>
                <a:gd name="T45" fmla="*/ 98 h 183"/>
                <a:gd name="T46" fmla="*/ 128 w 128"/>
                <a:gd name="T47" fmla="*/ 78 h 183"/>
                <a:gd name="T48" fmla="*/ 123 w 128"/>
                <a:gd name="T49" fmla="*/ 58 h 183"/>
                <a:gd name="T50" fmla="*/ 112 w 128"/>
                <a:gd name="T51" fmla="*/ 41 h 183"/>
                <a:gd name="T52" fmla="*/ 98 w 128"/>
                <a:gd name="T53" fmla="*/ 28 h 183"/>
                <a:gd name="T54" fmla="*/ 80 w 128"/>
                <a:gd name="T55" fmla="*/ 16 h 183"/>
                <a:gd name="T56" fmla="*/ 61 w 128"/>
                <a:gd name="T57" fmla="*/ 8 h 183"/>
                <a:gd name="T58" fmla="*/ 41 w 128"/>
                <a:gd name="T59" fmla="*/ 2 h 183"/>
                <a:gd name="T60" fmla="*/ 23 w 128"/>
                <a:gd name="T61" fmla="*/ 0 h 183"/>
                <a:gd name="T62" fmla="*/ 9 w 128"/>
                <a:gd name="T63" fmla="*/ 1 h 183"/>
                <a:gd name="T64" fmla="*/ 0 w 128"/>
                <a:gd name="T65" fmla="*/ 6 h 183"/>
                <a:gd name="T66" fmla="*/ 16 w 128"/>
                <a:gd name="T67" fmla="*/ 10 h 183"/>
                <a:gd name="T68" fmla="*/ 33 w 128"/>
                <a:gd name="T69" fmla="*/ 14 h 183"/>
                <a:gd name="T70" fmla="*/ 48 w 128"/>
                <a:gd name="T71" fmla="*/ 17 h 183"/>
                <a:gd name="T72" fmla="*/ 63 w 128"/>
                <a:gd name="T73" fmla="*/ 22 h 183"/>
                <a:gd name="T74" fmla="*/ 77 w 128"/>
                <a:gd name="T75" fmla="*/ 28 h 183"/>
                <a:gd name="T76" fmla="*/ 90 w 128"/>
                <a:gd name="T77" fmla="*/ 36 h 183"/>
                <a:gd name="T78" fmla="*/ 101 w 128"/>
                <a:gd name="T79" fmla="*/ 46 h 183"/>
                <a:gd name="T80" fmla="*/ 108 w 128"/>
                <a:gd name="T81" fmla="*/ 61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en-US"/>
            </a:p>
          </p:txBody>
        </p:sp>
        <p:sp>
          <p:nvSpPr>
            <p:cNvPr id="19621" name="Freeform 317"/>
            <p:cNvSpPr/>
            <p:nvPr/>
          </p:nvSpPr>
          <p:spPr bwMode="auto">
            <a:xfrm>
              <a:off x="4309" y="3138"/>
              <a:ext cx="53" cy="63"/>
            </a:xfrm>
            <a:custGeom>
              <a:avLst/>
              <a:gdLst>
                <a:gd name="T0" fmla="*/ 101 w 323"/>
                <a:gd name="T1" fmla="*/ 70 h 379"/>
                <a:gd name="T2" fmla="*/ 54 w 323"/>
                <a:gd name="T3" fmla="*/ 115 h 379"/>
                <a:gd name="T4" fmla="*/ 18 w 323"/>
                <a:gd name="T5" fmla="*/ 167 h 379"/>
                <a:gd name="T6" fmla="*/ 0 w 323"/>
                <a:gd name="T7" fmla="*/ 227 h 379"/>
                <a:gd name="T8" fmla="*/ 4 w 323"/>
                <a:gd name="T9" fmla="*/ 267 h 379"/>
                <a:gd name="T10" fmla="*/ 11 w 323"/>
                <a:gd name="T11" fmla="*/ 283 h 379"/>
                <a:gd name="T12" fmla="*/ 21 w 323"/>
                <a:gd name="T13" fmla="*/ 298 h 379"/>
                <a:gd name="T14" fmla="*/ 34 w 323"/>
                <a:gd name="T15" fmla="*/ 311 h 379"/>
                <a:gd name="T16" fmla="*/ 57 w 323"/>
                <a:gd name="T17" fmla="*/ 325 h 379"/>
                <a:gd name="T18" fmla="*/ 87 w 323"/>
                <a:gd name="T19" fmla="*/ 340 h 379"/>
                <a:gd name="T20" fmla="*/ 120 w 323"/>
                <a:gd name="T21" fmla="*/ 351 h 379"/>
                <a:gd name="T22" fmla="*/ 153 w 323"/>
                <a:gd name="T23" fmla="*/ 360 h 379"/>
                <a:gd name="T24" fmla="*/ 187 w 323"/>
                <a:gd name="T25" fmla="*/ 367 h 379"/>
                <a:gd name="T26" fmla="*/ 221 w 323"/>
                <a:gd name="T27" fmla="*/ 372 h 379"/>
                <a:gd name="T28" fmla="*/ 256 w 323"/>
                <a:gd name="T29" fmla="*/ 375 h 379"/>
                <a:gd name="T30" fmla="*/ 290 w 323"/>
                <a:gd name="T31" fmla="*/ 378 h 379"/>
                <a:gd name="T32" fmla="*/ 312 w 323"/>
                <a:gd name="T33" fmla="*/ 379 h 379"/>
                <a:gd name="T34" fmla="*/ 320 w 323"/>
                <a:gd name="T35" fmla="*/ 372 h 379"/>
                <a:gd name="T36" fmla="*/ 323 w 323"/>
                <a:gd name="T37" fmla="*/ 360 h 379"/>
                <a:gd name="T38" fmla="*/ 316 w 323"/>
                <a:gd name="T39" fmla="*/ 352 h 379"/>
                <a:gd name="T40" fmla="*/ 295 w 323"/>
                <a:gd name="T41" fmla="*/ 351 h 379"/>
                <a:gd name="T42" fmla="*/ 263 w 323"/>
                <a:gd name="T43" fmla="*/ 350 h 379"/>
                <a:gd name="T44" fmla="*/ 231 w 323"/>
                <a:gd name="T45" fmla="*/ 348 h 379"/>
                <a:gd name="T46" fmla="*/ 200 w 323"/>
                <a:gd name="T47" fmla="*/ 343 h 379"/>
                <a:gd name="T48" fmla="*/ 168 w 323"/>
                <a:gd name="T49" fmla="*/ 337 h 379"/>
                <a:gd name="T50" fmla="*/ 136 w 323"/>
                <a:gd name="T51" fmla="*/ 329 h 379"/>
                <a:gd name="T52" fmla="*/ 106 w 323"/>
                <a:gd name="T53" fmla="*/ 320 h 379"/>
                <a:gd name="T54" fmla="*/ 76 w 323"/>
                <a:gd name="T55" fmla="*/ 306 h 379"/>
                <a:gd name="T56" fmla="*/ 51 w 323"/>
                <a:gd name="T57" fmla="*/ 291 h 379"/>
                <a:gd name="T58" fmla="*/ 35 w 323"/>
                <a:gd name="T59" fmla="*/ 269 h 379"/>
                <a:gd name="T60" fmla="*/ 31 w 323"/>
                <a:gd name="T61" fmla="*/ 239 h 379"/>
                <a:gd name="T62" fmla="*/ 38 w 323"/>
                <a:gd name="T63" fmla="*/ 197 h 379"/>
                <a:gd name="T64" fmla="*/ 51 w 323"/>
                <a:gd name="T65" fmla="*/ 165 h 379"/>
                <a:gd name="T66" fmla="*/ 68 w 323"/>
                <a:gd name="T67" fmla="*/ 136 h 379"/>
                <a:gd name="T68" fmla="*/ 89 w 323"/>
                <a:gd name="T69" fmla="*/ 111 h 379"/>
                <a:gd name="T70" fmla="*/ 114 w 323"/>
                <a:gd name="T71" fmla="*/ 88 h 379"/>
                <a:gd name="T72" fmla="*/ 144 w 323"/>
                <a:gd name="T73" fmla="*/ 64 h 379"/>
                <a:gd name="T74" fmla="*/ 181 w 323"/>
                <a:gd name="T75" fmla="*/ 41 h 379"/>
                <a:gd name="T76" fmla="*/ 219 w 323"/>
                <a:gd name="T77" fmla="*/ 22 h 379"/>
                <a:gd name="T78" fmla="*/ 253 w 323"/>
                <a:gd name="T79" fmla="*/ 7 h 379"/>
                <a:gd name="T80" fmla="*/ 255 w 323"/>
                <a:gd name="T81" fmla="*/ 0 h 379"/>
                <a:gd name="T82" fmla="*/ 221 w 323"/>
                <a:gd name="T83" fmla="*/ 5 h 379"/>
                <a:gd name="T84" fmla="*/ 181 w 323"/>
                <a:gd name="T85" fmla="*/ 19 h 379"/>
                <a:gd name="T86" fmla="*/ 142 w 323"/>
                <a:gd name="T87" fmla="*/ 39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en-US"/>
            </a:p>
          </p:txBody>
        </p:sp>
        <p:sp>
          <p:nvSpPr>
            <p:cNvPr id="19622" name="Freeform 318"/>
            <p:cNvSpPr/>
            <p:nvPr/>
          </p:nvSpPr>
          <p:spPr bwMode="auto">
            <a:xfrm>
              <a:off x="4384" y="3136"/>
              <a:ext cx="47" cy="42"/>
            </a:xfrm>
            <a:custGeom>
              <a:avLst/>
              <a:gdLst>
                <a:gd name="T0" fmla="*/ 235 w 282"/>
                <a:gd name="T1" fmla="*/ 78 h 253"/>
                <a:gd name="T2" fmla="*/ 248 w 282"/>
                <a:gd name="T3" fmla="*/ 92 h 253"/>
                <a:gd name="T4" fmla="*/ 255 w 282"/>
                <a:gd name="T5" fmla="*/ 108 h 253"/>
                <a:gd name="T6" fmla="*/ 259 w 282"/>
                <a:gd name="T7" fmla="*/ 125 h 253"/>
                <a:gd name="T8" fmla="*/ 259 w 282"/>
                <a:gd name="T9" fmla="*/ 144 h 253"/>
                <a:gd name="T10" fmla="*/ 257 w 282"/>
                <a:gd name="T11" fmla="*/ 159 h 253"/>
                <a:gd name="T12" fmla="*/ 252 w 282"/>
                <a:gd name="T13" fmla="*/ 171 h 253"/>
                <a:gd name="T14" fmla="*/ 244 w 282"/>
                <a:gd name="T15" fmla="*/ 184 h 253"/>
                <a:gd name="T16" fmla="*/ 236 w 282"/>
                <a:gd name="T17" fmla="*/ 194 h 253"/>
                <a:gd name="T18" fmla="*/ 225 w 282"/>
                <a:gd name="T19" fmla="*/ 206 h 253"/>
                <a:gd name="T20" fmla="*/ 215 w 282"/>
                <a:gd name="T21" fmla="*/ 215 h 253"/>
                <a:gd name="T22" fmla="*/ 204 w 282"/>
                <a:gd name="T23" fmla="*/ 225 h 253"/>
                <a:gd name="T24" fmla="*/ 194 w 282"/>
                <a:gd name="T25" fmla="*/ 236 h 253"/>
                <a:gd name="T26" fmla="*/ 191 w 282"/>
                <a:gd name="T27" fmla="*/ 239 h 253"/>
                <a:gd name="T28" fmla="*/ 190 w 282"/>
                <a:gd name="T29" fmla="*/ 242 h 253"/>
                <a:gd name="T30" fmla="*/ 191 w 282"/>
                <a:gd name="T31" fmla="*/ 246 h 253"/>
                <a:gd name="T32" fmla="*/ 194 w 282"/>
                <a:gd name="T33" fmla="*/ 249 h 253"/>
                <a:gd name="T34" fmla="*/ 197 w 282"/>
                <a:gd name="T35" fmla="*/ 252 h 253"/>
                <a:gd name="T36" fmla="*/ 201 w 282"/>
                <a:gd name="T37" fmla="*/ 253 h 253"/>
                <a:gd name="T38" fmla="*/ 205 w 282"/>
                <a:gd name="T39" fmla="*/ 252 h 253"/>
                <a:gd name="T40" fmla="*/ 209 w 282"/>
                <a:gd name="T41" fmla="*/ 249 h 253"/>
                <a:gd name="T42" fmla="*/ 232 w 282"/>
                <a:gd name="T43" fmla="*/ 234 h 253"/>
                <a:gd name="T44" fmla="*/ 251 w 282"/>
                <a:gd name="T45" fmla="*/ 215 h 253"/>
                <a:gd name="T46" fmla="*/ 267 w 282"/>
                <a:gd name="T47" fmla="*/ 192 h 253"/>
                <a:gd name="T48" fmla="*/ 278 w 282"/>
                <a:gd name="T49" fmla="*/ 168 h 253"/>
                <a:gd name="T50" fmla="*/ 282 w 282"/>
                <a:gd name="T51" fmla="*/ 141 h 253"/>
                <a:gd name="T52" fmla="*/ 279 w 282"/>
                <a:gd name="T53" fmla="*/ 116 h 253"/>
                <a:gd name="T54" fmla="*/ 270 w 282"/>
                <a:gd name="T55" fmla="*/ 92 h 253"/>
                <a:gd name="T56" fmla="*/ 251 w 282"/>
                <a:gd name="T57" fmla="*/ 70 h 253"/>
                <a:gd name="T58" fmla="*/ 237 w 282"/>
                <a:gd name="T59" fmla="*/ 59 h 253"/>
                <a:gd name="T60" fmla="*/ 221 w 282"/>
                <a:gd name="T61" fmla="*/ 48 h 253"/>
                <a:gd name="T62" fmla="*/ 202 w 282"/>
                <a:gd name="T63" fmla="*/ 39 h 253"/>
                <a:gd name="T64" fmla="*/ 183 w 282"/>
                <a:gd name="T65" fmla="*/ 31 h 253"/>
                <a:gd name="T66" fmla="*/ 163 w 282"/>
                <a:gd name="T67" fmla="*/ 24 h 253"/>
                <a:gd name="T68" fmla="*/ 142 w 282"/>
                <a:gd name="T69" fmla="*/ 18 h 253"/>
                <a:gd name="T70" fmla="*/ 122 w 282"/>
                <a:gd name="T71" fmla="*/ 13 h 253"/>
                <a:gd name="T72" fmla="*/ 101 w 282"/>
                <a:gd name="T73" fmla="*/ 8 h 253"/>
                <a:gd name="T74" fmla="*/ 82 w 282"/>
                <a:gd name="T75" fmla="*/ 5 h 253"/>
                <a:gd name="T76" fmla="*/ 63 w 282"/>
                <a:gd name="T77" fmla="*/ 2 h 253"/>
                <a:gd name="T78" fmla="*/ 47 w 282"/>
                <a:gd name="T79" fmla="*/ 0 h 253"/>
                <a:gd name="T80" fmla="*/ 32 w 282"/>
                <a:gd name="T81" fmla="*/ 0 h 253"/>
                <a:gd name="T82" fmla="*/ 19 w 282"/>
                <a:gd name="T83" fmla="*/ 0 h 253"/>
                <a:gd name="T84" fmla="*/ 10 w 282"/>
                <a:gd name="T85" fmla="*/ 1 h 253"/>
                <a:gd name="T86" fmla="*/ 4 w 282"/>
                <a:gd name="T87" fmla="*/ 4 h 253"/>
                <a:gd name="T88" fmla="*/ 0 w 282"/>
                <a:gd name="T89" fmla="*/ 6 h 253"/>
                <a:gd name="T90" fmla="*/ 12 w 282"/>
                <a:gd name="T91" fmla="*/ 8 h 253"/>
                <a:gd name="T92" fmla="*/ 25 w 282"/>
                <a:gd name="T93" fmla="*/ 9 h 253"/>
                <a:gd name="T94" fmla="*/ 38 w 282"/>
                <a:gd name="T95" fmla="*/ 12 h 253"/>
                <a:gd name="T96" fmla="*/ 52 w 282"/>
                <a:gd name="T97" fmla="*/ 14 h 253"/>
                <a:gd name="T98" fmla="*/ 67 w 282"/>
                <a:gd name="T99" fmla="*/ 16 h 253"/>
                <a:gd name="T100" fmla="*/ 82 w 282"/>
                <a:gd name="T101" fmla="*/ 18 h 253"/>
                <a:gd name="T102" fmla="*/ 97 w 282"/>
                <a:gd name="T103" fmla="*/ 22 h 253"/>
                <a:gd name="T104" fmla="*/ 114 w 282"/>
                <a:gd name="T105" fmla="*/ 25 h 253"/>
                <a:gd name="T106" fmla="*/ 129 w 282"/>
                <a:gd name="T107" fmla="*/ 30 h 253"/>
                <a:gd name="T108" fmla="*/ 146 w 282"/>
                <a:gd name="T109" fmla="*/ 35 h 253"/>
                <a:gd name="T110" fmla="*/ 162 w 282"/>
                <a:gd name="T111" fmla="*/ 40 h 253"/>
                <a:gd name="T112" fmla="*/ 177 w 282"/>
                <a:gd name="T113" fmla="*/ 46 h 253"/>
                <a:gd name="T114" fmla="*/ 192 w 282"/>
                <a:gd name="T115" fmla="*/ 53 h 253"/>
                <a:gd name="T116" fmla="*/ 208 w 282"/>
                <a:gd name="T117" fmla="*/ 60 h 253"/>
                <a:gd name="T118" fmla="*/ 222 w 282"/>
                <a:gd name="T119" fmla="*/ 69 h 253"/>
                <a:gd name="T120" fmla="*/ 235 w 282"/>
                <a:gd name="T121" fmla="*/ 7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en-US"/>
            </a:p>
          </p:txBody>
        </p:sp>
        <p:sp>
          <p:nvSpPr>
            <p:cNvPr id="19623" name="Freeform 319"/>
            <p:cNvSpPr/>
            <p:nvPr/>
          </p:nvSpPr>
          <p:spPr bwMode="auto">
            <a:xfrm>
              <a:off x="4290" y="3159"/>
              <a:ext cx="19" cy="39"/>
            </a:xfrm>
            <a:custGeom>
              <a:avLst/>
              <a:gdLst>
                <a:gd name="T0" fmla="*/ 0 w 115"/>
                <a:gd name="T1" fmla="*/ 128 h 236"/>
                <a:gd name="T2" fmla="*/ 0 w 115"/>
                <a:gd name="T3" fmla="*/ 148 h 236"/>
                <a:gd name="T4" fmla="*/ 5 w 115"/>
                <a:gd name="T5" fmla="*/ 166 h 236"/>
                <a:gd name="T6" fmla="*/ 13 w 115"/>
                <a:gd name="T7" fmla="*/ 184 h 236"/>
                <a:gd name="T8" fmla="*/ 24 w 115"/>
                <a:gd name="T9" fmla="*/ 198 h 236"/>
                <a:gd name="T10" fmla="*/ 39 w 115"/>
                <a:gd name="T11" fmla="*/ 211 h 236"/>
                <a:gd name="T12" fmla="*/ 55 w 115"/>
                <a:gd name="T13" fmla="*/ 223 h 236"/>
                <a:gd name="T14" fmla="*/ 74 w 115"/>
                <a:gd name="T15" fmla="*/ 231 h 236"/>
                <a:gd name="T16" fmla="*/ 92 w 115"/>
                <a:gd name="T17" fmla="*/ 235 h 236"/>
                <a:gd name="T18" fmla="*/ 98 w 115"/>
                <a:gd name="T19" fmla="*/ 236 h 236"/>
                <a:gd name="T20" fmla="*/ 104 w 115"/>
                <a:gd name="T21" fmla="*/ 234 h 236"/>
                <a:gd name="T22" fmla="*/ 109 w 115"/>
                <a:gd name="T23" fmla="*/ 231 h 236"/>
                <a:gd name="T24" fmla="*/ 111 w 115"/>
                <a:gd name="T25" fmla="*/ 226 h 236"/>
                <a:gd name="T26" fmla="*/ 111 w 115"/>
                <a:gd name="T27" fmla="*/ 220 h 236"/>
                <a:gd name="T28" fmla="*/ 110 w 115"/>
                <a:gd name="T29" fmla="*/ 215 h 236"/>
                <a:gd name="T30" fmla="*/ 107 w 115"/>
                <a:gd name="T31" fmla="*/ 210 h 236"/>
                <a:gd name="T32" fmla="*/ 101 w 115"/>
                <a:gd name="T33" fmla="*/ 208 h 236"/>
                <a:gd name="T34" fmla="*/ 82 w 115"/>
                <a:gd name="T35" fmla="*/ 201 h 236"/>
                <a:gd name="T36" fmla="*/ 64 w 115"/>
                <a:gd name="T37" fmla="*/ 192 h 236"/>
                <a:gd name="T38" fmla="*/ 50 w 115"/>
                <a:gd name="T39" fmla="*/ 179 h 236"/>
                <a:gd name="T40" fmla="*/ 40 w 115"/>
                <a:gd name="T41" fmla="*/ 165 h 236"/>
                <a:gd name="T42" fmla="*/ 33 w 115"/>
                <a:gd name="T43" fmla="*/ 148 h 236"/>
                <a:gd name="T44" fmla="*/ 29 w 115"/>
                <a:gd name="T45" fmla="*/ 130 h 236"/>
                <a:gd name="T46" fmla="*/ 29 w 115"/>
                <a:gd name="T47" fmla="*/ 110 h 236"/>
                <a:gd name="T48" fmla="*/ 35 w 115"/>
                <a:gd name="T49" fmla="*/ 89 h 236"/>
                <a:gd name="T50" fmla="*/ 43 w 115"/>
                <a:gd name="T51" fmla="*/ 74 h 236"/>
                <a:gd name="T52" fmla="*/ 56 w 115"/>
                <a:gd name="T53" fmla="*/ 60 h 236"/>
                <a:gd name="T54" fmla="*/ 70 w 115"/>
                <a:gd name="T55" fmla="*/ 46 h 236"/>
                <a:gd name="T56" fmla="*/ 85 w 115"/>
                <a:gd name="T57" fmla="*/ 33 h 236"/>
                <a:gd name="T58" fmla="*/ 98 w 115"/>
                <a:gd name="T59" fmla="*/ 23 h 236"/>
                <a:gd name="T60" fmla="*/ 109 w 115"/>
                <a:gd name="T61" fmla="*/ 12 h 236"/>
                <a:gd name="T62" fmla="*/ 115 w 115"/>
                <a:gd name="T63" fmla="*/ 6 h 236"/>
                <a:gd name="T64" fmla="*/ 115 w 115"/>
                <a:gd name="T65" fmla="*/ 0 h 236"/>
                <a:gd name="T66" fmla="*/ 102 w 115"/>
                <a:gd name="T67" fmla="*/ 4 h 236"/>
                <a:gd name="T68" fmla="*/ 85 w 115"/>
                <a:gd name="T69" fmla="*/ 12 h 236"/>
                <a:gd name="T70" fmla="*/ 68 w 115"/>
                <a:gd name="T71" fmla="*/ 26 h 236"/>
                <a:gd name="T72" fmla="*/ 49 w 115"/>
                <a:gd name="T73" fmla="*/ 42 h 236"/>
                <a:gd name="T74" fmla="*/ 32 w 115"/>
                <a:gd name="T75" fmla="*/ 61 h 236"/>
                <a:gd name="T76" fmla="*/ 17 w 115"/>
                <a:gd name="T77" fmla="*/ 82 h 236"/>
                <a:gd name="T78" fmla="*/ 6 w 115"/>
                <a:gd name="T79" fmla="*/ 105 h 236"/>
                <a:gd name="T80" fmla="*/ 0 w 115"/>
                <a:gd name="T81" fmla="*/ 128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en-US"/>
            </a:p>
          </p:txBody>
        </p:sp>
        <p:sp>
          <p:nvSpPr>
            <p:cNvPr id="19624" name="Freeform 320"/>
            <p:cNvSpPr/>
            <p:nvPr/>
          </p:nvSpPr>
          <p:spPr bwMode="auto">
            <a:xfrm>
              <a:off x="4423" y="3133"/>
              <a:ext cx="41" cy="52"/>
            </a:xfrm>
            <a:custGeom>
              <a:avLst/>
              <a:gdLst>
                <a:gd name="T0" fmla="*/ 208 w 245"/>
                <a:gd name="T1" fmla="*/ 124 h 310"/>
                <a:gd name="T2" fmla="*/ 220 w 245"/>
                <a:gd name="T3" fmla="*/ 144 h 310"/>
                <a:gd name="T4" fmla="*/ 226 w 245"/>
                <a:gd name="T5" fmla="*/ 164 h 310"/>
                <a:gd name="T6" fmla="*/ 222 w 245"/>
                <a:gd name="T7" fmla="*/ 187 h 310"/>
                <a:gd name="T8" fmla="*/ 208 w 245"/>
                <a:gd name="T9" fmla="*/ 209 h 310"/>
                <a:gd name="T10" fmla="*/ 188 w 245"/>
                <a:gd name="T11" fmla="*/ 229 h 310"/>
                <a:gd name="T12" fmla="*/ 166 w 245"/>
                <a:gd name="T13" fmla="*/ 246 h 310"/>
                <a:gd name="T14" fmla="*/ 142 w 245"/>
                <a:gd name="T15" fmla="*/ 264 h 310"/>
                <a:gd name="T16" fmla="*/ 128 w 245"/>
                <a:gd name="T17" fmla="*/ 278 h 310"/>
                <a:gd name="T18" fmla="*/ 124 w 245"/>
                <a:gd name="T19" fmla="*/ 287 h 310"/>
                <a:gd name="T20" fmla="*/ 120 w 245"/>
                <a:gd name="T21" fmla="*/ 296 h 310"/>
                <a:gd name="T22" fmla="*/ 122 w 245"/>
                <a:gd name="T23" fmla="*/ 306 h 310"/>
                <a:gd name="T24" fmla="*/ 131 w 245"/>
                <a:gd name="T25" fmla="*/ 310 h 310"/>
                <a:gd name="T26" fmla="*/ 139 w 245"/>
                <a:gd name="T27" fmla="*/ 309 h 310"/>
                <a:gd name="T28" fmla="*/ 154 w 245"/>
                <a:gd name="T29" fmla="*/ 292 h 310"/>
                <a:gd name="T30" fmla="*/ 180 w 245"/>
                <a:gd name="T31" fmla="*/ 269 h 310"/>
                <a:gd name="T32" fmla="*/ 207 w 245"/>
                <a:gd name="T33" fmla="*/ 246 h 310"/>
                <a:gd name="T34" fmla="*/ 230 w 245"/>
                <a:gd name="T35" fmla="*/ 219 h 310"/>
                <a:gd name="T36" fmla="*/ 244 w 245"/>
                <a:gd name="T37" fmla="*/ 186 h 310"/>
                <a:gd name="T38" fmla="*/ 243 w 245"/>
                <a:gd name="T39" fmla="*/ 152 h 310"/>
                <a:gd name="T40" fmla="*/ 228 w 245"/>
                <a:gd name="T41" fmla="*/ 119 h 310"/>
                <a:gd name="T42" fmla="*/ 203 w 245"/>
                <a:gd name="T43" fmla="*/ 93 h 310"/>
                <a:gd name="T44" fmla="*/ 176 w 245"/>
                <a:gd name="T45" fmla="*/ 76 h 310"/>
                <a:gd name="T46" fmla="*/ 151 w 245"/>
                <a:gd name="T47" fmla="*/ 61 h 310"/>
                <a:gd name="T48" fmla="*/ 122 w 245"/>
                <a:gd name="T49" fmla="*/ 46 h 310"/>
                <a:gd name="T50" fmla="*/ 93 w 245"/>
                <a:gd name="T51" fmla="*/ 31 h 310"/>
                <a:gd name="T52" fmla="*/ 66 w 245"/>
                <a:gd name="T53" fmla="*/ 18 h 310"/>
                <a:gd name="T54" fmla="*/ 40 w 245"/>
                <a:gd name="T55" fmla="*/ 8 h 310"/>
                <a:gd name="T56" fmla="*/ 20 w 245"/>
                <a:gd name="T57" fmla="*/ 1 h 310"/>
                <a:gd name="T58" fmla="*/ 5 w 245"/>
                <a:gd name="T59" fmla="*/ 0 h 310"/>
                <a:gd name="T60" fmla="*/ 11 w 245"/>
                <a:gd name="T61" fmla="*/ 8 h 310"/>
                <a:gd name="T62" fmla="*/ 36 w 245"/>
                <a:gd name="T63" fmla="*/ 20 h 310"/>
                <a:gd name="T64" fmla="*/ 60 w 245"/>
                <a:gd name="T65" fmla="*/ 31 h 310"/>
                <a:gd name="T66" fmla="*/ 86 w 245"/>
                <a:gd name="T67" fmla="*/ 44 h 310"/>
                <a:gd name="T68" fmla="*/ 113 w 245"/>
                <a:gd name="T69" fmla="*/ 57 h 310"/>
                <a:gd name="T70" fmla="*/ 139 w 245"/>
                <a:gd name="T71" fmla="*/ 71 h 310"/>
                <a:gd name="T72" fmla="*/ 165 w 245"/>
                <a:gd name="T73" fmla="*/ 88 h 310"/>
                <a:gd name="T74" fmla="*/ 188 w 245"/>
                <a:gd name="T75" fmla="*/ 106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en-US"/>
            </a:p>
          </p:txBody>
        </p:sp>
        <p:sp>
          <p:nvSpPr>
            <p:cNvPr id="19625" name="Freeform 321"/>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ln>
          </p:spPr>
          <p:txBody>
            <a:bodyPr/>
            <a:lstStyle/>
            <a:p>
              <a:endParaRPr lang="en-US"/>
            </a:p>
          </p:txBody>
        </p:sp>
      </p:grpSp>
      <p:grpSp>
        <p:nvGrpSpPr>
          <p:cNvPr id="19584" name="Group 322"/>
          <p:cNvGrpSpPr/>
          <p:nvPr/>
        </p:nvGrpSpPr>
        <p:grpSpPr bwMode="auto">
          <a:xfrm>
            <a:off x="5367338" y="3430588"/>
            <a:ext cx="290512" cy="404812"/>
            <a:chOff x="4290" y="3130"/>
            <a:chExt cx="183" cy="255"/>
          </a:xfrm>
        </p:grpSpPr>
        <p:pic>
          <p:nvPicPr>
            <p:cNvPr id="19590" name="Picture 323" descr="31u_bnrz[1]"/>
            <p:cNvPicPr>
              <a:picLocks noChangeAspect="1" noChangeArrowheads="1"/>
            </p:cNvPicPr>
            <p:nvPr/>
          </p:nvPicPr>
          <p:blipFill>
            <a:blip r:embed="rId19"/>
            <a:srcRect/>
            <a:stretch>
              <a:fillRect/>
            </a:stretch>
          </p:blipFill>
          <p:spPr bwMode="auto">
            <a:xfrm>
              <a:off x="4343" y="3211"/>
              <a:ext cx="121" cy="174"/>
            </a:xfrm>
            <a:prstGeom prst="rect">
              <a:avLst/>
            </a:prstGeom>
            <a:solidFill>
              <a:srgbClr val="DDDDDD"/>
            </a:solidFill>
            <a:ln w="9525">
              <a:noFill/>
              <a:miter lim="800000"/>
              <a:headEnd/>
              <a:tailEnd/>
            </a:ln>
          </p:spPr>
        </p:pic>
        <p:sp>
          <p:nvSpPr>
            <p:cNvPr id="19591" name="Freeform 324"/>
            <p:cNvSpPr/>
            <p:nvPr/>
          </p:nvSpPr>
          <p:spPr bwMode="auto">
            <a:xfrm>
              <a:off x="4339" y="3143"/>
              <a:ext cx="33" cy="39"/>
            </a:xfrm>
            <a:custGeom>
              <a:avLst/>
              <a:gdLst>
                <a:gd name="T0" fmla="*/ 70 w 199"/>
                <a:gd name="T1" fmla="*/ 29 h 232"/>
                <a:gd name="T2" fmla="*/ 55 w 199"/>
                <a:gd name="T3" fmla="*/ 39 h 232"/>
                <a:gd name="T4" fmla="*/ 42 w 199"/>
                <a:gd name="T5" fmla="*/ 50 h 232"/>
                <a:gd name="T6" fmla="*/ 30 w 199"/>
                <a:gd name="T7" fmla="*/ 63 h 232"/>
                <a:gd name="T8" fmla="*/ 20 w 199"/>
                <a:gd name="T9" fmla="*/ 77 h 232"/>
                <a:gd name="T10" fmla="*/ 12 w 199"/>
                <a:gd name="T11" fmla="*/ 91 h 232"/>
                <a:gd name="T12" fmla="*/ 6 w 199"/>
                <a:gd name="T13" fmla="*/ 108 h 232"/>
                <a:gd name="T14" fmla="*/ 2 w 199"/>
                <a:gd name="T15" fmla="*/ 125 h 232"/>
                <a:gd name="T16" fmla="*/ 0 w 199"/>
                <a:gd name="T17" fmla="*/ 142 h 232"/>
                <a:gd name="T18" fmla="*/ 2 w 199"/>
                <a:gd name="T19" fmla="*/ 166 h 232"/>
                <a:gd name="T20" fmla="*/ 12 w 199"/>
                <a:gd name="T21" fmla="*/ 186 h 232"/>
                <a:gd name="T22" fmla="*/ 26 w 199"/>
                <a:gd name="T23" fmla="*/ 203 h 232"/>
                <a:gd name="T24" fmla="*/ 45 w 199"/>
                <a:gd name="T25" fmla="*/ 216 h 232"/>
                <a:gd name="T26" fmla="*/ 66 w 199"/>
                <a:gd name="T27" fmla="*/ 226 h 232"/>
                <a:gd name="T28" fmla="*/ 88 w 199"/>
                <a:gd name="T29" fmla="*/ 230 h 232"/>
                <a:gd name="T30" fmla="*/ 111 w 199"/>
                <a:gd name="T31" fmla="*/ 232 h 232"/>
                <a:gd name="T32" fmla="*/ 134 w 199"/>
                <a:gd name="T33" fmla="*/ 228 h 232"/>
                <a:gd name="T34" fmla="*/ 138 w 199"/>
                <a:gd name="T35" fmla="*/ 228 h 232"/>
                <a:gd name="T36" fmla="*/ 143 w 199"/>
                <a:gd name="T37" fmla="*/ 226 h 232"/>
                <a:gd name="T38" fmla="*/ 147 w 199"/>
                <a:gd name="T39" fmla="*/ 222 h 232"/>
                <a:gd name="T40" fmla="*/ 148 w 199"/>
                <a:gd name="T41" fmla="*/ 218 h 232"/>
                <a:gd name="T42" fmla="*/ 145 w 199"/>
                <a:gd name="T43" fmla="*/ 212 h 232"/>
                <a:gd name="T44" fmla="*/ 141 w 199"/>
                <a:gd name="T45" fmla="*/ 207 h 232"/>
                <a:gd name="T46" fmla="*/ 135 w 199"/>
                <a:gd name="T47" fmla="*/ 203 h 232"/>
                <a:gd name="T48" fmla="*/ 129 w 199"/>
                <a:gd name="T49" fmla="*/ 201 h 232"/>
                <a:gd name="T50" fmla="*/ 117 w 199"/>
                <a:gd name="T51" fmla="*/ 197 h 232"/>
                <a:gd name="T52" fmla="*/ 105 w 199"/>
                <a:gd name="T53" fmla="*/ 195 h 232"/>
                <a:gd name="T54" fmla="*/ 94 w 199"/>
                <a:gd name="T55" fmla="*/ 193 h 232"/>
                <a:gd name="T56" fmla="*/ 83 w 199"/>
                <a:gd name="T57" fmla="*/ 190 h 232"/>
                <a:gd name="T58" fmla="*/ 73 w 199"/>
                <a:gd name="T59" fmla="*/ 187 h 232"/>
                <a:gd name="T60" fmla="*/ 62 w 199"/>
                <a:gd name="T61" fmla="*/ 182 h 232"/>
                <a:gd name="T62" fmla="*/ 53 w 199"/>
                <a:gd name="T63" fmla="*/ 176 h 232"/>
                <a:gd name="T64" fmla="*/ 43 w 199"/>
                <a:gd name="T65" fmla="*/ 167 h 232"/>
                <a:gd name="T66" fmla="*/ 40 w 199"/>
                <a:gd name="T67" fmla="*/ 128 h 232"/>
                <a:gd name="T68" fmla="*/ 49 w 199"/>
                <a:gd name="T69" fmla="*/ 96 h 232"/>
                <a:gd name="T70" fmla="*/ 68 w 199"/>
                <a:gd name="T71" fmla="*/ 71 h 232"/>
                <a:gd name="T72" fmla="*/ 94 w 199"/>
                <a:gd name="T73" fmla="*/ 50 h 232"/>
                <a:gd name="T74" fmla="*/ 122 w 199"/>
                <a:gd name="T75" fmla="*/ 34 h 232"/>
                <a:gd name="T76" fmla="*/ 151 w 199"/>
                <a:gd name="T77" fmla="*/ 21 h 232"/>
                <a:gd name="T78" fmla="*/ 178 w 199"/>
                <a:gd name="T79" fmla="*/ 12 h 232"/>
                <a:gd name="T80" fmla="*/ 199 w 199"/>
                <a:gd name="T81" fmla="*/ 4 h 232"/>
                <a:gd name="T82" fmla="*/ 186 w 199"/>
                <a:gd name="T83" fmla="*/ 1 h 232"/>
                <a:gd name="T84" fmla="*/ 172 w 199"/>
                <a:gd name="T85" fmla="*/ 0 h 232"/>
                <a:gd name="T86" fmla="*/ 156 w 199"/>
                <a:gd name="T87" fmla="*/ 2 h 232"/>
                <a:gd name="T88" fmla="*/ 138 w 199"/>
                <a:gd name="T89" fmla="*/ 4 h 232"/>
                <a:gd name="T90" fmla="*/ 121 w 199"/>
                <a:gd name="T91" fmla="*/ 10 h 232"/>
                <a:gd name="T92" fmla="*/ 103 w 199"/>
                <a:gd name="T93" fmla="*/ 16 h 232"/>
                <a:gd name="T94" fmla="*/ 86 w 199"/>
                <a:gd name="T95" fmla="*/ 23 h 232"/>
                <a:gd name="T96" fmla="*/ 70 w 199"/>
                <a:gd name="T97" fmla="*/ 29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ln>
          </p:spPr>
          <p:txBody>
            <a:bodyPr/>
            <a:lstStyle/>
            <a:p>
              <a:endParaRPr lang="en-US"/>
            </a:p>
          </p:txBody>
        </p:sp>
        <p:sp>
          <p:nvSpPr>
            <p:cNvPr id="19592" name="Freeform 325"/>
            <p:cNvSpPr/>
            <p:nvPr/>
          </p:nvSpPr>
          <p:spPr bwMode="auto">
            <a:xfrm>
              <a:off x="4395" y="3142"/>
              <a:ext cx="22" cy="30"/>
            </a:xfrm>
            <a:custGeom>
              <a:avLst/>
              <a:gdLst>
                <a:gd name="T0" fmla="*/ 108 w 128"/>
                <a:gd name="T1" fmla="*/ 59 h 180"/>
                <a:gd name="T2" fmla="*/ 113 w 128"/>
                <a:gd name="T3" fmla="*/ 77 h 180"/>
                <a:gd name="T4" fmla="*/ 111 w 128"/>
                <a:gd name="T5" fmla="*/ 94 h 180"/>
                <a:gd name="T6" fmla="*/ 103 w 128"/>
                <a:gd name="T7" fmla="*/ 108 h 180"/>
                <a:gd name="T8" fmla="*/ 91 w 128"/>
                <a:gd name="T9" fmla="*/ 121 h 180"/>
                <a:gd name="T10" fmla="*/ 77 w 128"/>
                <a:gd name="T11" fmla="*/ 132 h 180"/>
                <a:gd name="T12" fmla="*/ 61 w 128"/>
                <a:gd name="T13" fmla="*/ 144 h 180"/>
                <a:gd name="T14" fmla="*/ 45 w 128"/>
                <a:gd name="T15" fmla="*/ 154 h 180"/>
                <a:gd name="T16" fmla="*/ 30 w 128"/>
                <a:gd name="T17" fmla="*/ 164 h 180"/>
                <a:gd name="T18" fmla="*/ 28 w 128"/>
                <a:gd name="T19" fmla="*/ 168 h 180"/>
                <a:gd name="T20" fmla="*/ 27 w 128"/>
                <a:gd name="T21" fmla="*/ 170 h 180"/>
                <a:gd name="T22" fmla="*/ 27 w 128"/>
                <a:gd name="T23" fmla="*/ 174 h 180"/>
                <a:gd name="T24" fmla="*/ 28 w 128"/>
                <a:gd name="T25" fmla="*/ 177 h 180"/>
                <a:gd name="T26" fmla="*/ 32 w 128"/>
                <a:gd name="T27" fmla="*/ 179 h 180"/>
                <a:gd name="T28" fmla="*/ 35 w 128"/>
                <a:gd name="T29" fmla="*/ 180 h 180"/>
                <a:gd name="T30" fmla="*/ 37 w 128"/>
                <a:gd name="T31" fmla="*/ 180 h 180"/>
                <a:gd name="T32" fmla="*/ 41 w 128"/>
                <a:gd name="T33" fmla="*/ 179 h 180"/>
                <a:gd name="T34" fmla="*/ 60 w 128"/>
                <a:gd name="T35" fmla="*/ 169 h 180"/>
                <a:gd name="T36" fmla="*/ 77 w 128"/>
                <a:gd name="T37" fmla="*/ 158 h 180"/>
                <a:gd name="T38" fmla="*/ 94 w 128"/>
                <a:gd name="T39" fmla="*/ 145 h 180"/>
                <a:gd name="T40" fmla="*/ 109 w 128"/>
                <a:gd name="T41" fmla="*/ 130 h 180"/>
                <a:gd name="T42" fmla="*/ 120 w 128"/>
                <a:gd name="T43" fmla="*/ 114 h 180"/>
                <a:gd name="T44" fmla="*/ 127 w 128"/>
                <a:gd name="T45" fmla="*/ 95 h 180"/>
                <a:gd name="T46" fmla="*/ 128 w 128"/>
                <a:gd name="T47" fmla="*/ 76 h 180"/>
                <a:gd name="T48" fmla="*/ 123 w 128"/>
                <a:gd name="T49" fmla="*/ 55 h 180"/>
                <a:gd name="T50" fmla="*/ 113 w 128"/>
                <a:gd name="T51" fmla="*/ 39 h 180"/>
                <a:gd name="T52" fmla="*/ 97 w 128"/>
                <a:gd name="T53" fmla="*/ 25 h 180"/>
                <a:gd name="T54" fmla="*/ 79 w 128"/>
                <a:gd name="T55" fmla="*/ 15 h 180"/>
                <a:gd name="T56" fmla="*/ 57 w 128"/>
                <a:gd name="T57" fmla="*/ 7 h 180"/>
                <a:gd name="T58" fmla="*/ 36 w 128"/>
                <a:gd name="T59" fmla="*/ 2 h 180"/>
                <a:gd name="T60" fmla="*/ 19 w 128"/>
                <a:gd name="T61" fmla="*/ 0 h 180"/>
                <a:gd name="T62" fmla="*/ 6 w 128"/>
                <a:gd name="T63" fmla="*/ 0 h 180"/>
                <a:gd name="T64" fmla="*/ 0 w 128"/>
                <a:gd name="T65" fmla="*/ 4 h 180"/>
                <a:gd name="T66" fmla="*/ 14 w 128"/>
                <a:gd name="T67" fmla="*/ 9 h 180"/>
                <a:gd name="T68" fmla="*/ 29 w 128"/>
                <a:gd name="T69" fmla="*/ 14 h 180"/>
                <a:gd name="T70" fmla="*/ 46 w 128"/>
                <a:gd name="T71" fmla="*/ 19 h 180"/>
                <a:gd name="T72" fmla="*/ 61 w 128"/>
                <a:gd name="T73" fmla="*/ 23 h 180"/>
                <a:gd name="T74" fmla="*/ 76 w 128"/>
                <a:gd name="T75" fmla="*/ 29 h 180"/>
                <a:gd name="T76" fmla="*/ 89 w 128"/>
                <a:gd name="T77" fmla="*/ 37 h 180"/>
                <a:gd name="T78" fmla="*/ 100 w 128"/>
                <a:gd name="T79" fmla="*/ 46 h 180"/>
                <a:gd name="T80" fmla="*/ 108 w 128"/>
                <a:gd name="T81" fmla="*/ 59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ln>
          </p:spPr>
          <p:txBody>
            <a:bodyPr/>
            <a:lstStyle/>
            <a:p>
              <a:endParaRPr lang="en-US"/>
            </a:p>
          </p:txBody>
        </p:sp>
        <p:sp>
          <p:nvSpPr>
            <p:cNvPr id="19593" name="Freeform 326"/>
            <p:cNvSpPr/>
            <p:nvPr/>
          </p:nvSpPr>
          <p:spPr bwMode="auto">
            <a:xfrm>
              <a:off x="4318" y="3135"/>
              <a:ext cx="54" cy="63"/>
            </a:xfrm>
            <a:custGeom>
              <a:avLst/>
              <a:gdLst>
                <a:gd name="T0" fmla="*/ 100 w 322"/>
                <a:gd name="T1" fmla="*/ 70 h 378"/>
                <a:gd name="T2" fmla="*/ 53 w 322"/>
                <a:gd name="T3" fmla="*/ 115 h 378"/>
                <a:gd name="T4" fmla="*/ 17 w 322"/>
                <a:gd name="T5" fmla="*/ 166 h 378"/>
                <a:gd name="T6" fmla="*/ 0 w 322"/>
                <a:gd name="T7" fmla="*/ 226 h 378"/>
                <a:gd name="T8" fmla="*/ 3 w 322"/>
                <a:gd name="T9" fmla="*/ 266 h 378"/>
                <a:gd name="T10" fmla="*/ 9 w 322"/>
                <a:gd name="T11" fmla="*/ 282 h 378"/>
                <a:gd name="T12" fmla="*/ 19 w 322"/>
                <a:gd name="T13" fmla="*/ 297 h 378"/>
                <a:gd name="T14" fmla="*/ 32 w 322"/>
                <a:gd name="T15" fmla="*/ 310 h 378"/>
                <a:gd name="T16" fmla="*/ 56 w 322"/>
                <a:gd name="T17" fmla="*/ 324 h 378"/>
                <a:gd name="T18" fmla="*/ 86 w 322"/>
                <a:gd name="T19" fmla="*/ 338 h 378"/>
                <a:gd name="T20" fmla="*/ 119 w 322"/>
                <a:gd name="T21" fmla="*/ 350 h 378"/>
                <a:gd name="T22" fmla="*/ 152 w 322"/>
                <a:gd name="T23" fmla="*/ 359 h 378"/>
                <a:gd name="T24" fmla="*/ 186 w 322"/>
                <a:gd name="T25" fmla="*/ 366 h 378"/>
                <a:gd name="T26" fmla="*/ 220 w 322"/>
                <a:gd name="T27" fmla="*/ 371 h 378"/>
                <a:gd name="T28" fmla="*/ 254 w 322"/>
                <a:gd name="T29" fmla="*/ 374 h 378"/>
                <a:gd name="T30" fmla="*/ 289 w 322"/>
                <a:gd name="T31" fmla="*/ 376 h 378"/>
                <a:gd name="T32" fmla="*/ 311 w 322"/>
                <a:gd name="T33" fmla="*/ 378 h 378"/>
                <a:gd name="T34" fmla="*/ 320 w 322"/>
                <a:gd name="T35" fmla="*/ 371 h 378"/>
                <a:gd name="T36" fmla="*/ 322 w 322"/>
                <a:gd name="T37" fmla="*/ 360 h 378"/>
                <a:gd name="T38" fmla="*/ 315 w 322"/>
                <a:gd name="T39" fmla="*/ 352 h 378"/>
                <a:gd name="T40" fmla="*/ 294 w 322"/>
                <a:gd name="T41" fmla="*/ 347 h 378"/>
                <a:gd name="T42" fmla="*/ 263 w 322"/>
                <a:gd name="T43" fmla="*/ 341 h 378"/>
                <a:gd name="T44" fmla="*/ 232 w 322"/>
                <a:gd name="T45" fmla="*/ 336 h 378"/>
                <a:gd name="T46" fmla="*/ 200 w 322"/>
                <a:gd name="T47" fmla="*/ 332 h 378"/>
                <a:gd name="T48" fmla="*/ 170 w 322"/>
                <a:gd name="T49" fmla="*/ 326 h 378"/>
                <a:gd name="T50" fmla="*/ 139 w 322"/>
                <a:gd name="T51" fmla="*/ 318 h 378"/>
                <a:gd name="T52" fmla="*/ 110 w 322"/>
                <a:gd name="T53" fmla="*/ 309 h 378"/>
                <a:gd name="T54" fmla="*/ 80 w 322"/>
                <a:gd name="T55" fmla="*/ 297 h 378"/>
                <a:gd name="T56" fmla="*/ 55 w 322"/>
                <a:gd name="T57" fmla="*/ 281 h 378"/>
                <a:gd name="T58" fmla="*/ 38 w 322"/>
                <a:gd name="T59" fmla="*/ 259 h 378"/>
                <a:gd name="T60" fmla="*/ 34 w 322"/>
                <a:gd name="T61" fmla="*/ 232 h 378"/>
                <a:gd name="T62" fmla="*/ 38 w 322"/>
                <a:gd name="T63" fmla="*/ 200 h 378"/>
                <a:gd name="T64" fmla="*/ 51 w 322"/>
                <a:gd name="T65" fmla="*/ 170 h 378"/>
                <a:gd name="T66" fmla="*/ 71 w 322"/>
                <a:gd name="T67" fmla="*/ 137 h 378"/>
                <a:gd name="T68" fmla="*/ 94 w 322"/>
                <a:gd name="T69" fmla="*/ 110 h 378"/>
                <a:gd name="T70" fmla="*/ 123 w 322"/>
                <a:gd name="T71" fmla="*/ 82 h 378"/>
                <a:gd name="T72" fmla="*/ 153 w 322"/>
                <a:gd name="T73" fmla="*/ 57 h 378"/>
                <a:gd name="T74" fmla="*/ 195 w 322"/>
                <a:gd name="T75" fmla="*/ 38 h 378"/>
                <a:gd name="T76" fmla="*/ 238 w 322"/>
                <a:gd name="T77" fmla="*/ 20 h 378"/>
                <a:gd name="T78" fmla="*/ 264 w 322"/>
                <a:gd name="T79" fmla="*/ 7 h 378"/>
                <a:gd name="T80" fmla="*/ 256 w 322"/>
                <a:gd name="T81" fmla="*/ 0 h 378"/>
                <a:gd name="T82" fmla="*/ 221 w 322"/>
                <a:gd name="T83" fmla="*/ 4 h 378"/>
                <a:gd name="T84" fmla="*/ 180 w 322"/>
                <a:gd name="T85" fmla="*/ 18 h 378"/>
                <a:gd name="T86" fmla="*/ 141 w 322"/>
                <a:gd name="T87" fmla="*/ 38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ln>
          </p:spPr>
          <p:txBody>
            <a:bodyPr/>
            <a:lstStyle/>
            <a:p>
              <a:endParaRPr lang="en-US"/>
            </a:p>
          </p:txBody>
        </p:sp>
        <p:sp>
          <p:nvSpPr>
            <p:cNvPr id="19594" name="Freeform 327"/>
            <p:cNvSpPr/>
            <p:nvPr/>
          </p:nvSpPr>
          <p:spPr bwMode="auto">
            <a:xfrm>
              <a:off x="4394" y="3133"/>
              <a:ext cx="47" cy="42"/>
            </a:xfrm>
            <a:custGeom>
              <a:avLst/>
              <a:gdLst>
                <a:gd name="T0" fmla="*/ 235 w 283"/>
                <a:gd name="T1" fmla="*/ 77 h 252"/>
                <a:gd name="T2" fmla="*/ 248 w 283"/>
                <a:gd name="T3" fmla="*/ 91 h 252"/>
                <a:gd name="T4" fmla="*/ 256 w 283"/>
                <a:gd name="T5" fmla="*/ 107 h 252"/>
                <a:gd name="T6" fmla="*/ 259 w 283"/>
                <a:gd name="T7" fmla="*/ 124 h 252"/>
                <a:gd name="T8" fmla="*/ 259 w 283"/>
                <a:gd name="T9" fmla="*/ 142 h 252"/>
                <a:gd name="T10" fmla="*/ 257 w 283"/>
                <a:gd name="T11" fmla="*/ 157 h 252"/>
                <a:gd name="T12" fmla="*/ 252 w 283"/>
                <a:gd name="T13" fmla="*/ 170 h 252"/>
                <a:gd name="T14" fmla="*/ 244 w 283"/>
                <a:gd name="T15" fmla="*/ 183 h 252"/>
                <a:gd name="T16" fmla="*/ 236 w 283"/>
                <a:gd name="T17" fmla="*/ 193 h 252"/>
                <a:gd name="T18" fmla="*/ 225 w 283"/>
                <a:gd name="T19" fmla="*/ 204 h 252"/>
                <a:gd name="T20" fmla="*/ 215 w 283"/>
                <a:gd name="T21" fmla="*/ 214 h 252"/>
                <a:gd name="T22" fmla="*/ 204 w 283"/>
                <a:gd name="T23" fmla="*/ 224 h 252"/>
                <a:gd name="T24" fmla="*/ 194 w 283"/>
                <a:gd name="T25" fmla="*/ 234 h 252"/>
                <a:gd name="T26" fmla="*/ 191 w 283"/>
                <a:gd name="T27" fmla="*/ 238 h 252"/>
                <a:gd name="T28" fmla="*/ 191 w 283"/>
                <a:gd name="T29" fmla="*/ 241 h 252"/>
                <a:gd name="T30" fmla="*/ 191 w 283"/>
                <a:gd name="T31" fmla="*/ 245 h 252"/>
                <a:gd name="T32" fmla="*/ 194 w 283"/>
                <a:gd name="T33" fmla="*/ 248 h 252"/>
                <a:gd name="T34" fmla="*/ 197 w 283"/>
                <a:gd name="T35" fmla="*/ 250 h 252"/>
                <a:gd name="T36" fmla="*/ 202 w 283"/>
                <a:gd name="T37" fmla="*/ 252 h 252"/>
                <a:gd name="T38" fmla="*/ 205 w 283"/>
                <a:gd name="T39" fmla="*/ 250 h 252"/>
                <a:gd name="T40" fmla="*/ 209 w 283"/>
                <a:gd name="T41" fmla="*/ 248 h 252"/>
                <a:gd name="T42" fmla="*/ 232 w 283"/>
                <a:gd name="T43" fmla="*/ 233 h 252"/>
                <a:gd name="T44" fmla="*/ 252 w 283"/>
                <a:gd name="T45" fmla="*/ 214 h 252"/>
                <a:gd name="T46" fmla="*/ 268 w 283"/>
                <a:gd name="T47" fmla="*/ 192 h 252"/>
                <a:gd name="T48" fmla="*/ 278 w 283"/>
                <a:gd name="T49" fmla="*/ 167 h 252"/>
                <a:gd name="T50" fmla="*/ 283 w 283"/>
                <a:gd name="T51" fmla="*/ 141 h 252"/>
                <a:gd name="T52" fmla="*/ 280 w 283"/>
                <a:gd name="T53" fmla="*/ 115 h 252"/>
                <a:gd name="T54" fmla="*/ 271 w 283"/>
                <a:gd name="T55" fmla="*/ 91 h 252"/>
                <a:gd name="T56" fmla="*/ 252 w 283"/>
                <a:gd name="T57" fmla="*/ 69 h 252"/>
                <a:gd name="T58" fmla="*/ 238 w 283"/>
                <a:gd name="T59" fmla="*/ 57 h 252"/>
                <a:gd name="T60" fmla="*/ 222 w 283"/>
                <a:gd name="T61" fmla="*/ 48 h 252"/>
                <a:gd name="T62" fmla="*/ 204 w 283"/>
                <a:gd name="T63" fmla="*/ 39 h 252"/>
                <a:gd name="T64" fmla="*/ 184 w 283"/>
                <a:gd name="T65" fmla="*/ 31 h 252"/>
                <a:gd name="T66" fmla="*/ 164 w 283"/>
                <a:gd name="T67" fmla="*/ 23 h 252"/>
                <a:gd name="T68" fmla="*/ 144 w 283"/>
                <a:gd name="T69" fmla="*/ 17 h 252"/>
                <a:gd name="T70" fmla="*/ 123 w 283"/>
                <a:gd name="T71" fmla="*/ 13 h 252"/>
                <a:gd name="T72" fmla="*/ 103 w 283"/>
                <a:gd name="T73" fmla="*/ 8 h 252"/>
                <a:gd name="T74" fmla="*/ 83 w 283"/>
                <a:gd name="T75" fmla="*/ 5 h 252"/>
                <a:gd name="T76" fmla="*/ 66 w 283"/>
                <a:gd name="T77" fmla="*/ 2 h 252"/>
                <a:gd name="T78" fmla="*/ 48 w 283"/>
                <a:gd name="T79" fmla="*/ 0 h 252"/>
                <a:gd name="T80" fmla="*/ 34 w 283"/>
                <a:gd name="T81" fmla="*/ 0 h 252"/>
                <a:gd name="T82" fmla="*/ 21 w 283"/>
                <a:gd name="T83" fmla="*/ 0 h 252"/>
                <a:gd name="T84" fmla="*/ 11 w 283"/>
                <a:gd name="T85" fmla="*/ 0 h 252"/>
                <a:gd name="T86" fmla="*/ 4 w 283"/>
                <a:gd name="T87" fmla="*/ 2 h 252"/>
                <a:gd name="T88" fmla="*/ 0 w 283"/>
                <a:gd name="T89" fmla="*/ 5 h 252"/>
                <a:gd name="T90" fmla="*/ 12 w 283"/>
                <a:gd name="T91" fmla="*/ 7 h 252"/>
                <a:gd name="T92" fmla="*/ 24 w 283"/>
                <a:gd name="T93" fmla="*/ 8 h 252"/>
                <a:gd name="T94" fmla="*/ 38 w 283"/>
                <a:gd name="T95" fmla="*/ 10 h 252"/>
                <a:gd name="T96" fmla="*/ 52 w 283"/>
                <a:gd name="T97" fmla="*/ 13 h 252"/>
                <a:gd name="T98" fmla="*/ 66 w 283"/>
                <a:gd name="T99" fmla="*/ 16 h 252"/>
                <a:gd name="T100" fmla="*/ 82 w 283"/>
                <a:gd name="T101" fmla="*/ 18 h 252"/>
                <a:gd name="T102" fmla="*/ 98 w 283"/>
                <a:gd name="T103" fmla="*/ 22 h 252"/>
                <a:gd name="T104" fmla="*/ 114 w 283"/>
                <a:gd name="T105" fmla="*/ 25 h 252"/>
                <a:gd name="T106" fmla="*/ 129 w 283"/>
                <a:gd name="T107" fmla="*/ 30 h 252"/>
                <a:gd name="T108" fmla="*/ 146 w 283"/>
                <a:gd name="T109" fmla="*/ 34 h 252"/>
                <a:gd name="T110" fmla="*/ 162 w 283"/>
                <a:gd name="T111" fmla="*/ 39 h 252"/>
                <a:gd name="T112" fmla="*/ 177 w 283"/>
                <a:gd name="T113" fmla="*/ 45 h 252"/>
                <a:gd name="T114" fmla="*/ 193 w 283"/>
                <a:gd name="T115" fmla="*/ 52 h 252"/>
                <a:gd name="T116" fmla="*/ 208 w 283"/>
                <a:gd name="T117" fmla="*/ 60 h 252"/>
                <a:gd name="T118" fmla="*/ 222 w 283"/>
                <a:gd name="T119" fmla="*/ 68 h 252"/>
                <a:gd name="T120" fmla="*/ 235 w 283"/>
                <a:gd name="T121" fmla="*/ 77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ln>
          </p:spPr>
          <p:txBody>
            <a:bodyPr/>
            <a:lstStyle/>
            <a:p>
              <a:endParaRPr lang="en-US"/>
            </a:p>
          </p:txBody>
        </p:sp>
        <p:sp>
          <p:nvSpPr>
            <p:cNvPr id="19595" name="Freeform 328"/>
            <p:cNvSpPr/>
            <p:nvPr/>
          </p:nvSpPr>
          <p:spPr bwMode="auto">
            <a:xfrm>
              <a:off x="4298" y="3153"/>
              <a:ext cx="19" cy="39"/>
            </a:xfrm>
            <a:custGeom>
              <a:avLst/>
              <a:gdLst>
                <a:gd name="T0" fmla="*/ 0 w 114"/>
                <a:gd name="T1" fmla="*/ 130 h 238"/>
                <a:gd name="T2" fmla="*/ 0 w 114"/>
                <a:gd name="T3" fmla="*/ 149 h 238"/>
                <a:gd name="T4" fmla="*/ 4 w 114"/>
                <a:gd name="T5" fmla="*/ 168 h 238"/>
                <a:gd name="T6" fmla="*/ 12 w 114"/>
                <a:gd name="T7" fmla="*/ 185 h 238"/>
                <a:gd name="T8" fmla="*/ 24 w 114"/>
                <a:gd name="T9" fmla="*/ 200 h 238"/>
                <a:gd name="T10" fmla="*/ 38 w 114"/>
                <a:gd name="T11" fmla="*/ 213 h 238"/>
                <a:gd name="T12" fmla="*/ 55 w 114"/>
                <a:gd name="T13" fmla="*/ 224 h 238"/>
                <a:gd name="T14" fmla="*/ 73 w 114"/>
                <a:gd name="T15" fmla="*/ 232 h 238"/>
                <a:gd name="T16" fmla="*/ 92 w 114"/>
                <a:gd name="T17" fmla="*/ 237 h 238"/>
                <a:gd name="T18" fmla="*/ 98 w 114"/>
                <a:gd name="T19" fmla="*/ 238 h 238"/>
                <a:gd name="T20" fmla="*/ 104 w 114"/>
                <a:gd name="T21" fmla="*/ 235 h 238"/>
                <a:gd name="T22" fmla="*/ 109 w 114"/>
                <a:gd name="T23" fmla="*/ 232 h 238"/>
                <a:gd name="T24" fmla="*/ 111 w 114"/>
                <a:gd name="T25" fmla="*/ 227 h 238"/>
                <a:gd name="T26" fmla="*/ 111 w 114"/>
                <a:gd name="T27" fmla="*/ 222 h 238"/>
                <a:gd name="T28" fmla="*/ 110 w 114"/>
                <a:gd name="T29" fmla="*/ 216 h 238"/>
                <a:gd name="T30" fmla="*/ 106 w 114"/>
                <a:gd name="T31" fmla="*/ 211 h 238"/>
                <a:gd name="T32" fmla="*/ 100 w 114"/>
                <a:gd name="T33" fmla="*/ 209 h 238"/>
                <a:gd name="T34" fmla="*/ 82 w 114"/>
                <a:gd name="T35" fmla="*/ 202 h 238"/>
                <a:gd name="T36" fmla="*/ 64 w 114"/>
                <a:gd name="T37" fmla="*/ 193 h 238"/>
                <a:gd name="T38" fmla="*/ 50 w 114"/>
                <a:gd name="T39" fmla="*/ 180 h 238"/>
                <a:gd name="T40" fmla="*/ 39 w 114"/>
                <a:gd name="T41" fmla="*/ 167 h 238"/>
                <a:gd name="T42" fmla="*/ 32 w 114"/>
                <a:gd name="T43" fmla="*/ 149 h 238"/>
                <a:gd name="T44" fmla="*/ 29 w 114"/>
                <a:gd name="T45" fmla="*/ 131 h 238"/>
                <a:gd name="T46" fmla="*/ 29 w 114"/>
                <a:gd name="T47" fmla="*/ 111 h 238"/>
                <a:gd name="T48" fmla="*/ 35 w 114"/>
                <a:gd name="T49" fmla="*/ 91 h 238"/>
                <a:gd name="T50" fmla="*/ 42 w 114"/>
                <a:gd name="T51" fmla="*/ 76 h 238"/>
                <a:gd name="T52" fmla="*/ 51 w 114"/>
                <a:gd name="T53" fmla="*/ 62 h 238"/>
                <a:gd name="T54" fmla="*/ 62 w 114"/>
                <a:gd name="T55" fmla="*/ 49 h 238"/>
                <a:gd name="T56" fmla="*/ 73 w 114"/>
                <a:gd name="T57" fmla="*/ 38 h 238"/>
                <a:gd name="T58" fmla="*/ 84 w 114"/>
                <a:gd name="T59" fmla="*/ 28 h 238"/>
                <a:gd name="T60" fmla="*/ 96 w 114"/>
                <a:gd name="T61" fmla="*/ 18 h 238"/>
                <a:gd name="T62" fmla="*/ 106 w 114"/>
                <a:gd name="T63" fmla="*/ 9 h 238"/>
                <a:gd name="T64" fmla="*/ 114 w 114"/>
                <a:gd name="T65" fmla="*/ 1 h 238"/>
                <a:gd name="T66" fmla="*/ 106 w 114"/>
                <a:gd name="T67" fmla="*/ 0 h 238"/>
                <a:gd name="T68" fmla="*/ 93 w 114"/>
                <a:gd name="T69" fmla="*/ 6 h 238"/>
                <a:gd name="T70" fmla="*/ 76 w 114"/>
                <a:gd name="T71" fmla="*/ 18 h 238"/>
                <a:gd name="T72" fmla="*/ 56 w 114"/>
                <a:gd name="T73" fmla="*/ 36 h 238"/>
                <a:gd name="T74" fmla="*/ 37 w 114"/>
                <a:gd name="T75" fmla="*/ 57 h 238"/>
                <a:gd name="T76" fmla="*/ 20 w 114"/>
                <a:gd name="T77" fmla="*/ 80 h 238"/>
                <a:gd name="T78" fmla="*/ 7 w 114"/>
                <a:gd name="T79" fmla="*/ 106 h 238"/>
                <a:gd name="T80" fmla="*/ 0 w 114"/>
                <a:gd name="T81" fmla="*/ 130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ln>
          </p:spPr>
          <p:txBody>
            <a:bodyPr/>
            <a:lstStyle/>
            <a:p>
              <a:endParaRPr lang="en-US"/>
            </a:p>
          </p:txBody>
        </p:sp>
        <p:sp>
          <p:nvSpPr>
            <p:cNvPr id="19596" name="Freeform 329"/>
            <p:cNvSpPr/>
            <p:nvPr/>
          </p:nvSpPr>
          <p:spPr bwMode="auto">
            <a:xfrm>
              <a:off x="4432" y="3130"/>
              <a:ext cx="41" cy="52"/>
            </a:xfrm>
            <a:custGeom>
              <a:avLst/>
              <a:gdLst>
                <a:gd name="T0" fmla="*/ 207 w 246"/>
                <a:gd name="T1" fmla="*/ 124 h 310"/>
                <a:gd name="T2" fmla="*/ 219 w 246"/>
                <a:gd name="T3" fmla="*/ 143 h 310"/>
                <a:gd name="T4" fmla="*/ 225 w 246"/>
                <a:gd name="T5" fmla="*/ 164 h 310"/>
                <a:gd name="T6" fmla="*/ 221 w 246"/>
                <a:gd name="T7" fmla="*/ 187 h 310"/>
                <a:gd name="T8" fmla="*/ 208 w 246"/>
                <a:gd name="T9" fmla="*/ 209 h 310"/>
                <a:gd name="T10" fmla="*/ 188 w 246"/>
                <a:gd name="T11" fmla="*/ 228 h 310"/>
                <a:gd name="T12" fmla="*/ 166 w 246"/>
                <a:gd name="T13" fmla="*/ 246 h 310"/>
                <a:gd name="T14" fmla="*/ 143 w 246"/>
                <a:gd name="T15" fmla="*/ 264 h 310"/>
                <a:gd name="T16" fmla="*/ 129 w 246"/>
                <a:gd name="T17" fmla="*/ 278 h 310"/>
                <a:gd name="T18" fmla="*/ 124 w 246"/>
                <a:gd name="T19" fmla="*/ 287 h 310"/>
                <a:gd name="T20" fmla="*/ 120 w 246"/>
                <a:gd name="T21" fmla="*/ 296 h 310"/>
                <a:gd name="T22" fmla="*/ 121 w 246"/>
                <a:gd name="T23" fmla="*/ 305 h 310"/>
                <a:gd name="T24" fmla="*/ 130 w 246"/>
                <a:gd name="T25" fmla="*/ 310 h 310"/>
                <a:gd name="T26" fmla="*/ 139 w 246"/>
                <a:gd name="T27" fmla="*/ 309 h 310"/>
                <a:gd name="T28" fmla="*/ 154 w 246"/>
                <a:gd name="T29" fmla="*/ 293 h 310"/>
                <a:gd name="T30" fmla="*/ 180 w 246"/>
                <a:gd name="T31" fmla="*/ 269 h 310"/>
                <a:gd name="T32" fmla="*/ 207 w 246"/>
                <a:gd name="T33" fmla="*/ 246 h 310"/>
                <a:gd name="T34" fmla="*/ 231 w 246"/>
                <a:gd name="T35" fmla="*/ 219 h 310"/>
                <a:gd name="T36" fmla="*/ 245 w 246"/>
                <a:gd name="T37" fmla="*/ 187 h 310"/>
                <a:gd name="T38" fmla="*/ 242 w 246"/>
                <a:gd name="T39" fmla="*/ 153 h 310"/>
                <a:gd name="T40" fmla="*/ 227 w 246"/>
                <a:gd name="T41" fmla="*/ 120 h 310"/>
                <a:gd name="T42" fmla="*/ 201 w 246"/>
                <a:gd name="T43" fmla="*/ 94 h 310"/>
                <a:gd name="T44" fmla="*/ 177 w 246"/>
                <a:gd name="T45" fmla="*/ 74 h 310"/>
                <a:gd name="T46" fmla="*/ 152 w 246"/>
                <a:gd name="T47" fmla="*/ 60 h 310"/>
                <a:gd name="T48" fmla="*/ 126 w 246"/>
                <a:gd name="T49" fmla="*/ 43 h 310"/>
                <a:gd name="T50" fmla="*/ 98 w 246"/>
                <a:gd name="T51" fmla="*/ 28 h 310"/>
                <a:gd name="T52" fmla="*/ 72 w 246"/>
                <a:gd name="T53" fmla="*/ 16 h 310"/>
                <a:gd name="T54" fmla="*/ 46 w 246"/>
                <a:gd name="T55" fmla="*/ 7 h 310"/>
                <a:gd name="T56" fmla="*/ 24 w 246"/>
                <a:gd name="T57" fmla="*/ 1 h 310"/>
                <a:gd name="T58" fmla="*/ 7 w 246"/>
                <a:gd name="T59" fmla="*/ 1 h 310"/>
                <a:gd name="T60" fmla="*/ 8 w 246"/>
                <a:gd name="T61" fmla="*/ 6 h 310"/>
                <a:gd name="T62" fmla="*/ 28 w 246"/>
                <a:gd name="T63" fmla="*/ 14 h 310"/>
                <a:gd name="T64" fmla="*/ 51 w 246"/>
                <a:gd name="T65" fmla="*/ 24 h 310"/>
                <a:gd name="T66" fmla="*/ 78 w 246"/>
                <a:gd name="T67" fmla="*/ 37 h 310"/>
                <a:gd name="T68" fmla="*/ 106 w 246"/>
                <a:gd name="T69" fmla="*/ 51 h 310"/>
                <a:gd name="T70" fmla="*/ 134 w 246"/>
                <a:gd name="T71" fmla="*/ 69 h 310"/>
                <a:gd name="T72" fmla="*/ 163 w 246"/>
                <a:gd name="T73" fmla="*/ 87 h 310"/>
                <a:gd name="T74" fmla="*/ 187 w 246"/>
                <a:gd name="T75" fmla="*/ 105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ln>
          </p:spPr>
          <p:txBody>
            <a:bodyPr/>
            <a:lstStyle/>
            <a:p>
              <a:endParaRPr lang="en-US"/>
            </a:p>
          </p:txBody>
        </p:sp>
        <p:sp>
          <p:nvSpPr>
            <p:cNvPr id="19597" name="Freeform 330"/>
            <p:cNvSpPr/>
            <p:nvPr/>
          </p:nvSpPr>
          <p:spPr bwMode="auto">
            <a:xfrm>
              <a:off x="4387" y="3191"/>
              <a:ext cx="14" cy="31"/>
            </a:xfrm>
            <a:custGeom>
              <a:avLst/>
              <a:gdLst>
                <a:gd name="T0" fmla="*/ 31 w 83"/>
                <a:gd name="T1" fmla="*/ 14 h 187"/>
                <a:gd name="T2" fmla="*/ 29 w 83"/>
                <a:gd name="T3" fmla="*/ 8 h 187"/>
                <a:gd name="T4" fmla="*/ 25 w 83"/>
                <a:gd name="T5" fmla="*/ 3 h 187"/>
                <a:gd name="T6" fmla="*/ 19 w 83"/>
                <a:gd name="T7" fmla="*/ 1 h 187"/>
                <a:gd name="T8" fmla="*/ 14 w 83"/>
                <a:gd name="T9" fmla="*/ 0 h 187"/>
                <a:gd name="T10" fmla="*/ 8 w 83"/>
                <a:gd name="T11" fmla="*/ 2 h 187"/>
                <a:gd name="T12" fmla="*/ 3 w 83"/>
                <a:gd name="T13" fmla="*/ 5 h 187"/>
                <a:gd name="T14" fmla="*/ 0 w 83"/>
                <a:gd name="T15" fmla="*/ 11 h 187"/>
                <a:gd name="T16" fmla="*/ 0 w 83"/>
                <a:gd name="T17" fmla="*/ 17 h 187"/>
                <a:gd name="T18" fmla="*/ 5 w 83"/>
                <a:gd name="T19" fmla="*/ 42 h 187"/>
                <a:gd name="T20" fmla="*/ 15 w 83"/>
                <a:gd name="T21" fmla="*/ 71 h 187"/>
                <a:gd name="T22" fmla="*/ 27 w 83"/>
                <a:gd name="T23" fmla="*/ 100 h 187"/>
                <a:gd name="T24" fmla="*/ 41 w 83"/>
                <a:gd name="T25" fmla="*/ 127 h 187"/>
                <a:gd name="T26" fmla="*/ 55 w 83"/>
                <a:gd name="T27" fmla="*/ 151 h 187"/>
                <a:gd name="T28" fmla="*/ 68 w 83"/>
                <a:gd name="T29" fmla="*/ 171 h 187"/>
                <a:gd name="T30" fmla="*/ 77 w 83"/>
                <a:gd name="T31" fmla="*/ 184 h 187"/>
                <a:gd name="T32" fmla="*/ 83 w 83"/>
                <a:gd name="T33" fmla="*/ 187 h 187"/>
                <a:gd name="T34" fmla="*/ 80 w 83"/>
                <a:gd name="T35" fmla="*/ 174 h 187"/>
                <a:gd name="T36" fmla="*/ 75 w 83"/>
                <a:gd name="T37" fmla="*/ 158 h 187"/>
                <a:gd name="T38" fmla="*/ 68 w 83"/>
                <a:gd name="T39" fmla="*/ 138 h 187"/>
                <a:gd name="T40" fmla="*/ 59 w 83"/>
                <a:gd name="T41" fmla="*/ 113 h 187"/>
                <a:gd name="T42" fmla="*/ 51 w 83"/>
                <a:gd name="T43" fmla="*/ 88 h 187"/>
                <a:gd name="T44" fmla="*/ 43 w 83"/>
                <a:gd name="T45" fmla="*/ 63 h 187"/>
                <a:gd name="T46" fmla="*/ 36 w 83"/>
                <a:gd name="T47" fmla="*/ 38 h 187"/>
                <a:gd name="T48" fmla="*/ 31 w 83"/>
                <a:gd name="T49" fmla="*/ 14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ln>
          </p:spPr>
          <p:txBody>
            <a:bodyPr/>
            <a:lstStyle/>
            <a:p>
              <a:endParaRPr lang="en-US"/>
            </a:p>
          </p:txBody>
        </p:sp>
        <p:sp>
          <p:nvSpPr>
            <p:cNvPr id="19598" name="Freeform 331"/>
            <p:cNvSpPr/>
            <p:nvPr/>
          </p:nvSpPr>
          <p:spPr bwMode="auto">
            <a:xfrm>
              <a:off x="4381" y="3174"/>
              <a:ext cx="7" cy="16"/>
            </a:xfrm>
            <a:custGeom>
              <a:avLst/>
              <a:gdLst>
                <a:gd name="T0" fmla="*/ 22 w 44"/>
                <a:gd name="T1" fmla="*/ 10 h 94"/>
                <a:gd name="T2" fmla="*/ 21 w 44"/>
                <a:gd name="T3" fmla="*/ 6 h 94"/>
                <a:gd name="T4" fmla="*/ 18 w 44"/>
                <a:gd name="T5" fmla="*/ 2 h 94"/>
                <a:gd name="T6" fmla="*/ 14 w 44"/>
                <a:gd name="T7" fmla="*/ 0 h 94"/>
                <a:gd name="T8" fmla="*/ 10 w 44"/>
                <a:gd name="T9" fmla="*/ 0 h 94"/>
                <a:gd name="T10" fmla="*/ 6 w 44"/>
                <a:gd name="T11" fmla="*/ 1 h 94"/>
                <a:gd name="T12" fmla="*/ 3 w 44"/>
                <a:gd name="T13" fmla="*/ 3 h 94"/>
                <a:gd name="T14" fmla="*/ 0 w 44"/>
                <a:gd name="T15" fmla="*/ 7 h 94"/>
                <a:gd name="T16" fmla="*/ 0 w 44"/>
                <a:gd name="T17" fmla="*/ 11 h 94"/>
                <a:gd name="T18" fmla="*/ 0 w 44"/>
                <a:gd name="T19" fmla="*/ 24 h 94"/>
                <a:gd name="T20" fmla="*/ 4 w 44"/>
                <a:gd name="T21" fmla="*/ 38 h 94"/>
                <a:gd name="T22" fmla="*/ 8 w 44"/>
                <a:gd name="T23" fmla="*/ 52 h 94"/>
                <a:gd name="T24" fmla="*/ 14 w 44"/>
                <a:gd name="T25" fmla="*/ 65 h 94"/>
                <a:gd name="T26" fmla="*/ 21 w 44"/>
                <a:gd name="T27" fmla="*/ 78 h 94"/>
                <a:gd name="T28" fmla="*/ 28 w 44"/>
                <a:gd name="T29" fmla="*/ 87 h 94"/>
                <a:gd name="T30" fmla="*/ 37 w 44"/>
                <a:gd name="T31" fmla="*/ 93 h 94"/>
                <a:gd name="T32" fmla="*/ 42 w 44"/>
                <a:gd name="T33" fmla="*/ 94 h 94"/>
                <a:gd name="T34" fmla="*/ 44 w 44"/>
                <a:gd name="T35" fmla="*/ 76 h 94"/>
                <a:gd name="T36" fmla="*/ 38 w 44"/>
                <a:gd name="T37" fmla="*/ 54 h 94"/>
                <a:gd name="T38" fmla="*/ 31 w 44"/>
                <a:gd name="T39" fmla="*/ 32 h 94"/>
                <a:gd name="T40" fmla="*/ 22 w 44"/>
                <a:gd name="T41" fmla="*/ 10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ln>
          </p:spPr>
          <p:txBody>
            <a:bodyPr/>
            <a:lstStyle/>
            <a:p>
              <a:endParaRPr lang="en-US"/>
            </a:p>
          </p:txBody>
        </p:sp>
        <p:sp>
          <p:nvSpPr>
            <p:cNvPr id="19599" name="Freeform 332"/>
            <p:cNvSpPr/>
            <p:nvPr/>
          </p:nvSpPr>
          <p:spPr bwMode="auto">
            <a:xfrm>
              <a:off x="4375" y="3163"/>
              <a:ext cx="6" cy="9"/>
            </a:xfrm>
            <a:custGeom>
              <a:avLst/>
              <a:gdLst>
                <a:gd name="T0" fmla="*/ 20 w 38"/>
                <a:gd name="T1" fmla="*/ 7 h 54"/>
                <a:gd name="T2" fmla="*/ 20 w 38"/>
                <a:gd name="T3" fmla="*/ 8 h 54"/>
                <a:gd name="T4" fmla="*/ 20 w 38"/>
                <a:gd name="T5" fmla="*/ 8 h 54"/>
                <a:gd name="T6" fmla="*/ 20 w 38"/>
                <a:gd name="T7" fmla="*/ 8 h 54"/>
                <a:gd name="T8" fmla="*/ 20 w 38"/>
                <a:gd name="T9" fmla="*/ 8 h 54"/>
                <a:gd name="T10" fmla="*/ 19 w 38"/>
                <a:gd name="T11" fmla="*/ 4 h 54"/>
                <a:gd name="T12" fmla="*/ 15 w 38"/>
                <a:gd name="T13" fmla="*/ 1 h 54"/>
                <a:gd name="T14" fmla="*/ 12 w 38"/>
                <a:gd name="T15" fmla="*/ 0 h 54"/>
                <a:gd name="T16" fmla="*/ 7 w 38"/>
                <a:gd name="T17" fmla="*/ 0 h 54"/>
                <a:gd name="T18" fmla="*/ 4 w 38"/>
                <a:gd name="T19" fmla="*/ 1 h 54"/>
                <a:gd name="T20" fmla="*/ 1 w 38"/>
                <a:gd name="T21" fmla="*/ 4 h 54"/>
                <a:gd name="T22" fmla="*/ 0 w 38"/>
                <a:gd name="T23" fmla="*/ 8 h 54"/>
                <a:gd name="T24" fmla="*/ 0 w 38"/>
                <a:gd name="T25" fmla="*/ 11 h 54"/>
                <a:gd name="T26" fmla="*/ 1 w 38"/>
                <a:gd name="T27" fmla="*/ 17 h 54"/>
                <a:gd name="T28" fmla="*/ 4 w 38"/>
                <a:gd name="T29" fmla="*/ 24 h 54"/>
                <a:gd name="T30" fmla="*/ 8 w 38"/>
                <a:gd name="T31" fmla="*/ 32 h 54"/>
                <a:gd name="T32" fmla="*/ 14 w 38"/>
                <a:gd name="T33" fmla="*/ 39 h 54"/>
                <a:gd name="T34" fmla="*/ 20 w 38"/>
                <a:gd name="T35" fmla="*/ 46 h 54"/>
                <a:gd name="T36" fmla="*/ 27 w 38"/>
                <a:gd name="T37" fmla="*/ 50 h 54"/>
                <a:gd name="T38" fmla="*/ 33 w 38"/>
                <a:gd name="T39" fmla="*/ 54 h 54"/>
                <a:gd name="T40" fmla="*/ 38 w 38"/>
                <a:gd name="T41" fmla="*/ 54 h 54"/>
                <a:gd name="T42" fmla="*/ 36 w 38"/>
                <a:gd name="T43" fmla="*/ 42 h 54"/>
                <a:gd name="T44" fmla="*/ 32 w 38"/>
                <a:gd name="T45" fmla="*/ 29 h 54"/>
                <a:gd name="T46" fmla="*/ 25 w 38"/>
                <a:gd name="T47" fmla="*/ 16 h 54"/>
                <a:gd name="T48" fmla="*/ 20 w 38"/>
                <a:gd name="T49" fmla="*/ 7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ln>
          </p:spPr>
          <p:txBody>
            <a:bodyPr/>
            <a:lstStyle/>
            <a:p>
              <a:endParaRPr lang="en-US"/>
            </a:p>
          </p:txBody>
        </p:sp>
        <p:sp>
          <p:nvSpPr>
            <p:cNvPr id="19600" name="Freeform 333"/>
            <p:cNvSpPr/>
            <p:nvPr/>
          </p:nvSpPr>
          <p:spPr bwMode="auto">
            <a:xfrm>
              <a:off x="4370" y="3155"/>
              <a:ext cx="8" cy="6"/>
            </a:xfrm>
            <a:custGeom>
              <a:avLst/>
              <a:gdLst>
                <a:gd name="T0" fmla="*/ 41 w 52"/>
                <a:gd name="T1" fmla="*/ 27 h 36"/>
                <a:gd name="T2" fmla="*/ 46 w 52"/>
                <a:gd name="T3" fmla="*/ 24 h 36"/>
                <a:gd name="T4" fmla="*/ 51 w 52"/>
                <a:gd name="T5" fmla="*/ 21 h 36"/>
                <a:gd name="T6" fmla="*/ 52 w 52"/>
                <a:gd name="T7" fmla="*/ 16 h 36"/>
                <a:gd name="T8" fmla="*/ 52 w 52"/>
                <a:gd name="T9" fmla="*/ 12 h 36"/>
                <a:gd name="T10" fmla="*/ 50 w 52"/>
                <a:gd name="T11" fmla="*/ 6 h 36"/>
                <a:gd name="T12" fmla="*/ 46 w 52"/>
                <a:gd name="T13" fmla="*/ 2 h 36"/>
                <a:gd name="T14" fmla="*/ 41 w 52"/>
                <a:gd name="T15" fmla="*/ 0 h 36"/>
                <a:gd name="T16" fmla="*/ 36 w 52"/>
                <a:gd name="T17" fmla="*/ 0 h 36"/>
                <a:gd name="T18" fmla="*/ 33 w 52"/>
                <a:gd name="T19" fmla="*/ 0 h 36"/>
                <a:gd name="T20" fmla="*/ 29 w 52"/>
                <a:gd name="T21" fmla="*/ 1 h 36"/>
                <a:gd name="T22" fmla="*/ 21 w 52"/>
                <a:gd name="T23" fmla="*/ 4 h 36"/>
                <a:gd name="T24" fmla="*/ 13 w 52"/>
                <a:gd name="T25" fmla="*/ 8 h 36"/>
                <a:gd name="T26" fmla="*/ 6 w 52"/>
                <a:gd name="T27" fmla="*/ 15 h 36"/>
                <a:gd name="T28" fmla="*/ 3 w 52"/>
                <a:gd name="T29" fmla="*/ 22 h 36"/>
                <a:gd name="T30" fmla="*/ 0 w 52"/>
                <a:gd name="T31" fmla="*/ 29 h 36"/>
                <a:gd name="T32" fmla="*/ 0 w 52"/>
                <a:gd name="T33" fmla="*/ 31 h 36"/>
                <a:gd name="T34" fmla="*/ 4 w 52"/>
                <a:gd name="T35" fmla="*/ 33 h 36"/>
                <a:gd name="T36" fmla="*/ 9 w 52"/>
                <a:gd name="T37" fmla="*/ 36 h 36"/>
                <a:gd name="T38" fmla="*/ 13 w 52"/>
                <a:gd name="T39" fmla="*/ 36 h 36"/>
                <a:gd name="T40" fmla="*/ 18 w 52"/>
                <a:gd name="T41" fmla="*/ 36 h 36"/>
                <a:gd name="T42" fmla="*/ 24 w 52"/>
                <a:gd name="T43" fmla="*/ 33 h 36"/>
                <a:gd name="T44" fmla="*/ 30 w 52"/>
                <a:gd name="T45" fmla="*/ 32 h 36"/>
                <a:gd name="T46" fmla="*/ 36 w 52"/>
                <a:gd name="T47" fmla="*/ 30 h 36"/>
                <a:gd name="T48" fmla="*/ 41 w 52"/>
                <a:gd name="T49" fmla="*/ 27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ln>
          </p:spPr>
          <p:txBody>
            <a:bodyPr/>
            <a:lstStyle/>
            <a:p>
              <a:endParaRPr lang="en-US"/>
            </a:p>
          </p:txBody>
        </p:sp>
        <p:sp>
          <p:nvSpPr>
            <p:cNvPr id="8" name="Freeform 334"/>
            <p:cNvSpPr/>
            <p:nvPr/>
          </p:nvSpPr>
          <p:spPr bwMode="auto">
            <a:xfrm>
              <a:off x="4330" y="3145"/>
              <a:ext cx="33" cy="39"/>
            </a:xfrm>
            <a:custGeom>
              <a:avLst/>
              <a:gdLst>
                <a:gd name="T0" fmla="*/ 73 w 198"/>
                <a:gd name="T1" fmla="*/ 36 h 236"/>
                <a:gd name="T2" fmla="*/ 58 w 198"/>
                <a:gd name="T3" fmla="*/ 46 h 236"/>
                <a:gd name="T4" fmla="*/ 46 w 198"/>
                <a:gd name="T5" fmla="*/ 58 h 236"/>
                <a:gd name="T6" fmla="*/ 33 w 198"/>
                <a:gd name="T7" fmla="*/ 72 h 236"/>
                <a:gd name="T8" fmla="*/ 22 w 198"/>
                <a:gd name="T9" fmla="*/ 85 h 236"/>
                <a:gd name="T10" fmla="*/ 14 w 198"/>
                <a:gd name="T11" fmla="*/ 100 h 236"/>
                <a:gd name="T12" fmla="*/ 7 w 198"/>
                <a:gd name="T13" fmla="*/ 115 h 236"/>
                <a:gd name="T14" fmla="*/ 2 w 198"/>
                <a:gd name="T15" fmla="*/ 130 h 236"/>
                <a:gd name="T16" fmla="*/ 0 w 198"/>
                <a:gd name="T17" fmla="*/ 146 h 236"/>
                <a:gd name="T18" fmla="*/ 2 w 198"/>
                <a:gd name="T19" fmla="*/ 170 h 236"/>
                <a:gd name="T20" fmla="*/ 12 w 198"/>
                <a:gd name="T21" fmla="*/ 190 h 236"/>
                <a:gd name="T22" fmla="*/ 26 w 198"/>
                <a:gd name="T23" fmla="*/ 207 h 236"/>
                <a:gd name="T24" fmla="*/ 43 w 198"/>
                <a:gd name="T25" fmla="*/ 220 h 236"/>
                <a:gd name="T26" fmla="*/ 64 w 198"/>
                <a:gd name="T27" fmla="*/ 229 h 236"/>
                <a:gd name="T28" fmla="*/ 88 w 198"/>
                <a:gd name="T29" fmla="*/ 235 h 236"/>
                <a:gd name="T30" fmla="*/ 110 w 198"/>
                <a:gd name="T31" fmla="*/ 236 h 236"/>
                <a:gd name="T32" fmla="*/ 132 w 198"/>
                <a:gd name="T33" fmla="*/ 232 h 236"/>
                <a:gd name="T34" fmla="*/ 137 w 198"/>
                <a:gd name="T35" fmla="*/ 232 h 236"/>
                <a:gd name="T36" fmla="*/ 142 w 198"/>
                <a:gd name="T37" fmla="*/ 230 h 236"/>
                <a:gd name="T38" fmla="*/ 145 w 198"/>
                <a:gd name="T39" fmla="*/ 226 h 236"/>
                <a:gd name="T40" fmla="*/ 146 w 198"/>
                <a:gd name="T41" fmla="*/ 221 h 236"/>
                <a:gd name="T42" fmla="*/ 145 w 198"/>
                <a:gd name="T43" fmla="*/ 219 h 236"/>
                <a:gd name="T44" fmla="*/ 142 w 198"/>
                <a:gd name="T45" fmla="*/ 219 h 236"/>
                <a:gd name="T46" fmla="*/ 137 w 198"/>
                <a:gd name="T47" fmla="*/ 217 h 236"/>
                <a:gd name="T48" fmla="*/ 131 w 198"/>
                <a:gd name="T49" fmla="*/ 217 h 236"/>
                <a:gd name="T50" fmla="*/ 124 w 198"/>
                <a:gd name="T51" fmla="*/ 217 h 236"/>
                <a:gd name="T52" fmla="*/ 118 w 198"/>
                <a:gd name="T53" fmla="*/ 217 h 236"/>
                <a:gd name="T54" fmla="*/ 112 w 198"/>
                <a:gd name="T55" fmla="*/ 217 h 236"/>
                <a:gd name="T56" fmla="*/ 109 w 198"/>
                <a:gd name="T57" fmla="*/ 217 h 236"/>
                <a:gd name="T58" fmla="*/ 97 w 198"/>
                <a:gd name="T59" fmla="*/ 216 h 236"/>
                <a:gd name="T60" fmla="*/ 87 w 198"/>
                <a:gd name="T61" fmla="*/ 215 h 236"/>
                <a:gd name="T62" fmla="*/ 75 w 198"/>
                <a:gd name="T63" fmla="*/ 214 h 236"/>
                <a:gd name="T64" fmla="*/ 63 w 198"/>
                <a:gd name="T65" fmla="*/ 211 h 236"/>
                <a:gd name="T66" fmla="*/ 51 w 198"/>
                <a:gd name="T67" fmla="*/ 207 h 236"/>
                <a:gd name="T68" fmla="*/ 40 w 198"/>
                <a:gd name="T69" fmla="*/ 199 h 236"/>
                <a:gd name="T70" fmla="*/ 29 w 198"/>
                <a:gd name="T71" fmla="*/ 189 h 236"/>
                <a:gd name="T72" fmla="*/ 17 w 198"/>
                <a:gd name="T73" fmla="*/ 174 h 236"/>
                <a:gd name="T74" fmla="*/ 15 w 198"/>
                <a:gd name="T75" fmla="*/ 157 h 236"/>
                <a:gd name="T76" fmla="*/ 16 w 198"/>
                <a:gd name="T77" fmla="*/ 141 h 236"/>
                <a:gd name="T78" fmla="*/ 21 w 198"/>
                <a:gd name="T79" fmla="*/ 124 h 236"/>
                <a:gd name="T80" fmla="*/ 28 w 198"/>
                <a:gd name="T81" fmla="*/ 109 h 236"/>
                <a:gd name="T82" fmla="*/ 39 w 198"/>
                <a:gd name="T83" fmla="*/ 96 h 236"/>
                <a:gd name="T84" fmla="*/ 50 w 198"/>
                <a:gd name="T85" fmla="*/ 82 h 236"/>
                <a:gd name="T86" fmla="*/ 63 w 198"/>
                <a:gd name="T87" fmla="*/ 70 h 236"/>
                <a:gd name="T88" fmla="*/ 78 w 198"/>
                <a:gd name="T89" fmla="*/ 59 h 236"/>
                <a:gd name="T90" fmla="*/ 94 w 198"/>
                <a:gd name="T91" fmla="*/ 49 h 236"/>
                <a:gd name="T92" fmla="*/ 110 w 198"/>
                <a:gd name="T93" fmla="*/ 39 h 236"/>
                <a:gd name="T94" fmla="*/ 126 w 198"/>
                <a:gd name="T95" fmla="*/ 31 h 236"/>
                <a:gd name="T96" fmla="*/ 142 w 198"/>
                <a:gd name="T97" fmla="*/ 24 h 236"/>
                <a:gd name="T98" fmla="*/ 158 w 198"/>
                <a:gd name="T99" fmla="*/ 19 h 236"/>
                <a:gd name="T100" fmla="*/ 172 w 198"/>
                <a:gd name="T101" fmla="*/ 13 h 236"/>
                <a:gd name="T102" fmla="*/ 186 w 198"/>
                <a:gd name="T103" fmla="*/ 10 h 236"/>
                <a:gd name="T104" fmla="*/ 198 w 198"/>
                <a:gd name="T105" fmla="*/ 7 h 236"/>
                <a:gd name="T106" fmla="*/ 190 w 198"/>
                <a:gd name="T107" fmla="*/ 3 h 236"/>
                <a:gd name="T108" fmla="*/ 177 w 198"/>
                <a:gd name="T109" fmla="*/ 0 h 236"/>
                <a:gd name="T110" fmla="*/ 162 w 198"/>
                <a:gd name="T111" fmla="*/ 3 h 236"/>
                <a:gd name="T112" fmla="*/ 144 w 198"/>
                <a:gd name="T113" fmla="*/ 6 h 236"/>
                <a:gd name="T114" fmla="*/ 124 w 198"/>
                <a:gd name="T115" fmla="*/ 12 h 236"/>
                <a:gd name="T116" fmla="*/ 105 w 198"/>
                <a:gd name="T117" fmla="*/ 19 h 236"/>
                <a:gd name="T118" fmla="*/ 88 w 198"/>
                <a:gd name="T119" fmla="*/ 28 h 236"/>
                <a:gd name="T120" fmla="*/ 73 w 198"/>
                <a:gd name="T121" fmla="*/ 3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ln>
          </p:spPr>
          <p:txBody>
            <a:bodyPr/>
            <a:lstStyle/>
            <a:p>
              <a:endParaRPr lang="en-US"/>
            </a:p>
          </p:txBody>
        </p:sp>
        <p:sp>
          <p:nvSpPr>
            <p:cNvPr id="9" name="Freeform 335"/>
            <p:cNvSpPr/>
            <p:nvPr/>
          </p:nvSpPr>
          <p:spPr bwMode="auto">
            <a:xfrm>
              <a:off x="4386" y="3145"/>
              <a:ext cx="22" cy="30"/>
            </a:xfrm>
            <a:custGeom>
              <a:avLst/>
              <a:gdLst>
                <a:gd name="T0" fmla="*/ 108 w 128"/>
                <a:gd name="T1" fmla="*/ 61 h 183"/>
                <a:gd name="T2" fmla="*/ 111 w 128"/>
                <a:gd name="T3" fmla="*/ 80 h 183"/>
                <a:gd name="T4" fmla="*/ 109 w 128"/>
                <a:gd name="T5" fmla="*/ 97 h 183"/>
                <a:gd name="T6" fmla="*/ 101 w 128"/>
                <a:gd name="T7" fmla="*/ 110 h 183"/>
                <a:gd name="T8" fmla="*/ 89 w 128"/>
                <a:gd name="T9" fmla="*/ 123 h 183"/>
                <a:gd name="T10" fmla="*/ 75 w 128"/>
                <a:gd name="T11" fmla="*/ 134 h 183"/>
                <a:gd name="T12" fmla="*/ 60 w 128"/>
                <a:gd name="T13" fmla="*/ 145 h 183"/>
                <a:gd name="T14" fmla="*/ 43 w 128"/>
                <a:gd name="T15" fmla="*/ 156 h 183"/>
                <a:gd name="T16" fmla="*/ 29 w 128"/>
                <a:gd name="T17" fmla="*/ 167 h 183"/>
                <a:gd name="T18" fmla="*/ 27 w 128"/>
                <a:gd name="T19" fmla="*/ 170 h 183"/>
                <a:gd name="T20" fmla="*/ 26 w 128"/>
                <a:gd name="T21" fmla="*/ 172 h 183"/>
                <a:gd name="T22" fmla="*/ 26 w 128"/>
                <a:gd name="T23" fmla="*/ 176 h 183"/>
                <a:gd name="T24" fmla="*/ 28 w 128"/>
                <a:gd name="T25" fmla="*/ 179 h 183"/>
                <a:gd name="T26" fmla="*/ 30 w 128"/>
                <a:gd name="T27" fmla="*/ 182 h 183"/>
                <a:gd name="T28" fmla="*/ 34 w 128"/>
                <a:gd name="T29" fmla="*/ 183 h 183"/>
                <a:gd name="T30" fmla="*/ 37 w 128"/>
                <a:gd name="T31" fmla="*/ 183 h 183"/>
                <a:gd name="T32" fmla="*/ 41 w 128"/>
                <a:gd name="T33" fmla="*/ 182 h 183"/>
                <a:gd name="T34" fmla="*/ 58 w 128"/>
                <a:gd name="T35" fmla="*/ 171 h 183"/>
                <a:gd name="T36" fmla="*/ 76 w 128"/>
                <a:gd name="T37" fmla="*/ 160 h 183"/>
                <a:gd name="T38" fmla="*/ 92 w 128"/>
                <a:gd name="T39" fmla="*/ 147 h 183"/>
                <a:gd name="T40" fmla="*/ 108 w 128"/>
                <a:gd name="T41" fmla="*/ 132 h 183"/>
                <a:gd name="T42" fmla="*/ 118 w 128"/>
                <a:gd name="T43" fmla="*/ 116 h 183"/>
                <a:gd name="T44" fmla="*/ 125 w 128"/>
                <a:gd name="T45" fmla="*/ 98 h 183"/>
                <a:gd name="T46" fmla="*/ 128 w 128"/>
                <a:gd name="T47" fmla="*/ 78 h 183"/>
                <a:gd name="T48" fmla="*/ 123 w 128"/>
                <a:gd name="T49" fmla="*/ 58 h 183"/>
                <a:gd name="T50" fmla="*/ 112 w 128"/>
                <a:gd name="T51" fmla="*/ 41 h 183"/>
                <a:gd name="T52" fmla="*/ 98 w 128"/>
                <a:gd name="T53" fmla="*/ 28 h 183"/>
                <a:gd name="T54" fmla="*/ 80 w 128"/>
                <a:gd name="T55" fmla="*/ 16 h 183"/>
                <a:gd name="T56" fmla="*/ 61 w 128"/>
                <a:gd name="T57" fmla="*/ 8 h 183"/>
                <a:gd name="T58" fmla="*/ 41 w 128"/>
                <a:gd name="T59" fmla="*/ 2 h 183"/>
                <a:gd name="T60" fmla="*/ 23 w 128"/>
                <a:gd name="T61" fmla="*/ 0 h 183"/>
                <a:gd name="T62" fmla="*/ 9 w 128"/>
                <a:gd name="T63" fmla="*/ 1 h 183"/>
                <a:gd name="T64" fmla="*/ 0 w 128"/>
                <a:gd name="T65" fmla="*/ 6 h 183"/>
                <a:gd name="T66" fmla="*/ 16 w 128"/>
                <a:gd name="T67" fmla="*/ 10 h 183"/>
                <a:gd name="T68" fmla="*/ 33 w 128"/>
                <a:gd name="T69" fmla="*/ 14 h 183"/>
                <a:gd name="T70" fmla="*/ 48 w 128"/>
                <a:gd name="T71" fmla="*/ 17 h 183"/>
                <a:gd name="T72" fmla="*/ 63 w 128"/>
                <a:gd name="T73" fmla="*/ 22 h 183"/>
                <a:gd name="T74" fmla="*/ 77 w 128"/>
                <a:gd name="T75" fmla="*/ 28 h 183"/>
                <a:gd name="T76" fmla="*/ 90 w 128"/>
                <a:gd name="T77" fmla="*/ 36 h 183"/>
                <a:gd name="T78" fmla="*/ 101 w 128"/>
                <a:gd name="T79" fmla="*/ 46 h 183"/>
                <a:gd name="T80" fmla="*/ 108 w 128"/>
                <a:gd name="T81" fmla="*/ 61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ln>
          </p:spPr>
          <p:txBody>
            <a:bodyPr/>
            <a:lstStyle/>
            <a:p>
              <a:endParaRPr lang="en-US"/>
            </a:p>
          </p:txBody>
        </p:sp>
        <p:sp>
          <p:nvSpPr>
            <p:cNvPr id="10" name="Freeform 336"/>
            <p:cNvSpPr/>
            <p:nvPr/>
          </p:nvSpPr>
          <p:spPr bwMode="auto">
            <a:xfrm>
              <a:off x="4309" y="3138"/>
              <a:ext cx="53" cy="63"/>
            </a:xfrm>
            <a:custGeom>
              <a:avLst/>
              <a:gdLst>
                <a:gd name="T0" fmla="*/ 101 w 323"/>
                <a:gd name="T1" fmla="*/ 70 h 379"/>
                <a:gd name="T2" fmla="*/ 54 w 323"/>
                <a:gd name="T3" fmla="*/ 115 h 379"/>
                <a:gd name="T4" fmla="*/ 18 w 323"/>
                <a:gd name="T5" fmla="*/ 167 h 379"/>
                <a:gd name="T6" fmla="*/ 0 w 323"/>
                <a:gd name="T7" fmla="*/ 227 h 379"/>
                <a:gd name="T8" fmla="*/ 4 w 323"/>
                <a:gd name="T9" fmla="*/ 267 h 379"/>
                <a:gd name="T10" fmla="*/ 11 w 323"/>
                <a:gd name="T11" fmla="*/ 283 h 379"/>
                <a:gd name="T12" fmla="*/ 21 w 323"/>
                <a:gd name="T13" fmla="*/ 298 h 379"/>
                <a:gd name="T14" fmla="*/ 34 w 323"/>
                <a:gd name="T15" fmla="*/ 311 h 379"/>
                <a:gd name="T16" fmla="*/ 57 w 323"/>
                <a:gd name="T17" fmla="*/ 325 h 379"/>
                <a:gd name="T18" fmla="*/ 87 w 323"/>
                <a:gd name="T19" fmla="*/ 340 h 379"/>
                <a:gd name="T20" fmla="*/ 120 w 323"/>
                <a:gd name="T21" fmla="*/ 351 h 379"/>
                <a:gd name="T22" fmla="*/ 153 w 323"/>
                <a:gd name="T23" fmla="*/ 360 h 379"/>
                <a:gd name="T24" fmla="*/ 187 w 323"/>
                <a:gd name="T25" fmla="*/ 367 h 379"/>
                <a:gd name="T26" fmla="*/ 221 w 323"/>
                <a:gd name="T27" fmla="*/ 372 h 379"/>
                <a:gd name="T28" fmla="*/ 256 w 323"/>
                <a:gd name="T29" fmla="*/ 375 h 379"/>
                <a:gd name="T30" fmla="*/ 290 w 323"/>
                <a:gd name="T31" fmla="*/ 378 h 379"/>
                <a:gd name="T32" fmla="*/ 312 w 323"/>
                <a:gd name="T33" fmla="*/ 379 h 379"/>
                <a:gd name="T34" fmla="*/ 320 w 323"/>
                <a:gd name="T35" fmla="*/ 372 h 379"/>
                <a:gd name="T36" fmla="*/ 323 w 323"/>
                <a:gd name="T37" fmla="*/ 360 h 379"/>
                <a:gd name="T38" fmla="*/ 316 w 323"/>
                <a:gd name="T39" fmla="*/ 352 h 379"/>
                <a:gd name="T40" fmla="*/ 295 w 323"/>
                <a:gd name="T41" fmla="*/ 351 h 379"/>
                <a:gd name="T42" fmla="*/ 263 w 323"/>
                <a:gd name="T43" fmla="*/ 350 h 379"/>
                <a:gd name="T44" fmla="*/ 231 w 323"/>
                <a:gd name="T45" fmla="*/ 348 h 379"/>
                <a:gd name="T46" fmla="*/ 200 w 323"/>
                <a:gd name="T47" fmla="*/ 343 h 379"/>
                <a:gd name="T48" fmla="*/ 168 w 323"/>
                <a:gd name="T49" fmla="*/ 337 h 379"/>
                <a:gd name="T50" fmla="*/ 136 w 323"/>
                <a:gd name="T51" fmla="*/ 329 h 379"/>
                <a:gd name="T52" fmla="*/ 106 w 323"/>
                <a:gd name="T53" fmla="*/ 320 h 379"/>
                <a:gd name="T54" fmla="*/ 76 w 323"/>
                <a:gd name="T55" fmla="*/ 306 h 379"/>
                <a:gd name="T56" fmla="*/ 51 w 323"/>
                <a:gd name="T57" fmla="*/ 291 h 379"/>
                <a:gd name="T58" fmla="*/ 35 w 323"/>
                <a:gd name="T59" fmla="*/ 269 h 379"/>
                <a:gd name="T60" fmla="*/ 31 w 323"/>
                <a:gd name="T61" fmla="*/ 239 h 379"/>
                <a:gd name="T62" fmla="*/ 38 w 323"/>
                <a:gd name="T63" fmla="*/ 197 h 379"/>
                <a:gd name="T64" fmla="*/ 51 w 323"/>
                <a:gd name="T65" fmla="*/ 165 h 379"/>
                <a:gd name="T66" fmla="*/ 68 w 323"/>
                <a:gd name="T67" fmla="*/ 136 h 379"/>
                <a:gd name="T68" fmla="*/ 89 w 323"/>
                <a:gd name="T69" fmla="*/ 111 h 379"/>
                <a:gd name="T70" fmla="*/ 114 w 323"/>
                <a:gd name="T71" fmla="*/ 88 h 379"/>
                <a:gd name="T72" fmla="*/ 144 w 323"/>
                <a:gd name="T73" fmla="*/ 64 h 379"/>
                <a:gd name="T74" fmla="*/ 181 w 323"/>
                <a:gd name="T75" fmla="*/ 41 h 379"/>
                <a:gd name="T76" fmla="*/ 219 w 323"/>
                <a:gd name="T77" fmla="*/ 22 h 379"/>
                <a:gd name="T78" fmla="*/ 253 w 323"/>
                <a:gd name="T79" fmla="*/ 7 h 379"/>
                <a:gd name="T80" fmla="*/ 255 w 323"/>
                <a:gd name="T81" fmla="*/ 0 h 379"/>
                <a:gd name="T82" fmla="*/ 221 w 323"/>
                <a:gd name="T83" fmla="*/ 5 h 379"/>
                <a:gd name="T84" fmla="*/ 181 w 323"/>
                <a:gd name="T85" fmla="*/ 19 h 379"/>
                <a:gd name="T86" fmla="*/ 142 w 323"/>
                <a:gd name="T87" fmla="*/ 39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ln>
          </p:spPr>
          <p:txBody>
            <a:bodyPr/>
            <a:lstStyle/>
            <a:p>
              <a:endParaRPr lang="en-US"/>
            </a:p>
          </p:txBody>
        </p:sp>
        <p:sp>
          <p:nvSpPr>
            <p:cNvPr id="11" name="Freeform 337"/>
            <p:cNvSpPr/>
            <p:nvPr/>
          </p:nvSpPr>
          <p:spPr bwMode="auto">
            <a:xfrm>
              <a:off x="4384" y="3136"/>
              <a:ext cx="47" cy="42"/>
            </a:xfrm>
            <a:custGeom>
              <a:avLst/>
              <a:gdLst>
                <a:gd name="T0" fmla="*/ 235 w 282"/>
                <a:gd name="T1" fmla="*/ 78 h 253"/>
                <a:gd name="T2" fmla="*/ 248 w 282"/>
                <a:gd name="T3" fmla="*/ 92 h 253"/>
                <a:gd name="T4" fmla="*/ 255 w 282"/>
                <a:gd name="T5" fmla="*/ 108 h 253"/>
                <a:gd name="T6" fmla="*/ 259 w 282"/>
                <a:gd name="T7" fmla="*/ 125 h 253"/>
                <a:gd name="T8" fmla="*/ 259 w 282"/>
                <a:gd name="T9" fmla="*/ 144 h 253"/>
                <a:gd name="T10" fmla="*/ 257 w 282"/>
                <a:gd name="T11" fmla="*/ 159 h 253"/>
                <a:gd name="T12" fmla="*/ 252 w 282"/>
                <a:gd name="T13" fmla="*/ 171 h 253"/>
                <a:gd name="T14" fmla="*/ 244 w 282"/>
                <a:gd name="T15" fmla="*/ 184 h 253"/>
                <a:gd name="T16" fmla="*/ 236 w 282"/>
                <a:gd name="T17" fmla="*/ 194 h 253"/>
                <a:gd name="T18" fmla="*/ 225 w 282"/>
                <a:gd name="T19" fmla="*/ 206 h 253"/>
                <a:gd name="T20" fmla="*/ 215 w 282"/>
                <a:gd name="T21" fmla="*/ 215 h 253"/>
                <a:gd name="T22" fmla="*/ 204 w 282"/>
                <a:gd name="T23" fmla="*/ 225 h 253"/>
                <a:gd name="T24" fmla="*/ 194 w 282"/>
                <a:gd name="T25" fmla="*/ 236 h 253"/>
                <a:gd name="T26" fmla="*/ 191 w 282"/>
                <a:gd name="T27" fmla="*/ 239 h 253"/>
                <a:gd name="T28" fmla="*/ 190 w 282"/>
                <a:gd name="T29" fmla="*/ 242 h 253"/>
                <a:gd name="T30" fmla="*/ 191 w 282"/>
                <a:gd name="T31" fmla="*/ 246 h 253"/>
                <a:gd name="T32" fmla="*/ 194 w 282"/>
                <a:gd name="T33" fmla="*/ 249 h 253"/>
                <a:gd name="T34" fmla="*/ 197 w 282"/>
                <a:gd name="T35" fmla="*/ 252 h 253"/>
                <a:gd name="T36" fmla="*/ 201 w 282"/>
                <a:gd name="T37" fmla="*/ 253 h 253"/>
                <a:gd name="T38" fmla="*/ 205 w 282"/>
                <a:gd name="T39" fmla="*/ 252 h 253"/>
                <a:gd name="T40" fmla="*/ 209 w 282"/>
                <a:gd name="T41" fmla="*/ 249 h 253"/>
                <a:gd name="T42" fmla="*/ 232 w 282"/>
                <a:gd name="T43" fmla="*/ 234 h 253"/>
                <a:gd name="T44" fmla="*/ 251 w 282"/>
                <a:gd name="T45" fmla="*/ 215 h 253"/>
                <a:gd name="T46" fmla="*/ 267 w 282"/>
                <a:gd name="T47" fmla="*/ 192 h 253"/>
                <a:gd name="T48" fmla="*/ 278 w 282"/>
                <a:gd name="T49" fmla="*/ 168 h 253"/>
                <a:gd name="T50" fmla="*/ 282 w 282"/>
                <a:gd name="T51" fmla="*/ 141 h 253"/>
                <a:gd name="T52" fmla="*/ 279 w 282"/>
                <a:gd name="T53" fmla="*/ 116 h 253"/>
                <a:gd name="T54" fmla="*/ 270 w 282"/>
                <a:gd name="T55" fmla="*/ 92 h 253"/>
                <a:gd name="T56" fmla="*/ 251 w 282"/>
                <a:gd name="T57" fmla="*/ 70 h 253"/>
                <a:gd name="T58" fmla="*/ 237 w 282"/>
                <a:gd name="T59" fmla="*/ 59 h 253"/>
                <a:gd name="T60" fmla="*/ 221 w 282"/>
                <a:gd name="T61" fmla="*/ 48 h 253"/>
                <a:gd name="T62" fmla="*/ 202 w 282"/>
                <a:gd name="T63" fmla="*/ 39 h 253"/>
                <a:gd name="T64" fmla="*/ 183 w 282"/>
                <a:gd name="T65" fmla="*/ 31 h 253"/>
                <a:gd name="T66" fmla="*/ 163 w 282"/>
                <a:gd name="T67" fmla="*/ 24 h 253"/>
                <a:gd name="T68" fmla="*/ 142 w 282"/>
                <a:gd name="T69" fmla="*/ 18 h 253"/>
                <a:gd name="T70" fmla="*/ 122 w 282"/>
                <a:gd name="T71" fmla="*/ 13 h 253"/>
                <a:gd name="T72" fmla="*/ 101 w 282"/>
                <a:gd name="T73" fmla="*/ 8 h 253"/>
                <a:gd name="T74" fmla="*/ 82 w 282"/>
                <a:gd name="T75" fmla="*/ 5 h 253"/>
                <a:gd name="T76" fmla="*/ 63 w 282"/>
                <a:gd name="T77" fmla="*/ 2 h 253"/>
                <a:gd name="T78" fmla="*/ 47 w 282"/>
                <a:gd name="T79" fmla="*/ 0 h 253"/>
                <a:gd name="T80" fmla="*/ 32 w 282"/>
                <a:gd name="T81" fmla="*/ 0 h 253"/>
                <a:gd name="T82" fmla="*/ 19 w 282"/>
                <a:gd name="T83" fmla="*/ 0 h 253"/>
                <a:gd name="T84" fmla="*/ 10 w 282"/>
                <a:gd name="T85" fmla="*/ 1 h 253"/>
                <a:gd name="T86" fmla="*/ 4 w 282"/>
                <a:gd name="T87" fmla="*/ 4 h 253"/>
                <a:gd name="T88" fmla="*/ 0 w 282"/>
                <a:gd name="T89" fmla="*/ 6 h 253"/>
                <a:gd name="T90" fmla="*/ 12 w 282"/>
                <a:gd name="T91" fmla="*/ 8 h 253"/>
                <a:gd name="T92" fmla="*/ 25 w 282"/>
                <a:gd name="T93" fmla="*/ 9 h 253"/>
                <a:gd name="T94" fmla="*/ 38 w 282"/>
                <a:gd name="T95" fmla="*/ 12 h 253"/>
                <a:gd name="T96" fmla="*/ 52 w 282"/>
                <a:gd name="T97" fmla="*/ 14 h 253"/>
                <a:gd name="T98" fmla="*/ 67 w 282"/>
                <a:gd name="T99" fmla="*/ 16 h 253"/>
                <a:gd name="T100" fmla="*/ 82 w 282"/>
                <a:gd name="T101" fmla="*/ 18 h 253"/>
                <a:gd name="T102" fmla="*/ 97 w 282"/>
                <a:gd name="T103" fmla="*/ 22 h 253"/>
                <a:gd name="T104" fmla="*/ 114 w 282"/>
                <a:gd name="T105" fmla="*/ 25 h 253"/>
                <a:gd name="T106" fmla="*/ 129 w 282"/>
                <a:gd name="T107" fmla="*/ 30 h 253"/>
                <a:gd name="T108" fmla="*/ 146 w 282"/>
                <a:gd name="T109" fmla="*/ 35 h 253"/>
                <a:gd name="T110" fmla="*/ 162 w 282"/>
                <a:gd name="T111" fmla="*/ 40 h 253"/>
                <a:gd name="T112" fmla="*/ 177 w 282"/>
                <a:gd name="T113" fmla="*/ 46 h 253"/>
                <a:gd name="T114" fmla="*/ 192 w 282"/>
                <a:gd name="T115" fmla="*/ 53 h 253"/>
                <a:gd name="T116" fmla="*/ 208 w 282"/>
                <a:gd name="T117" fmla="*/ 60 h 253"/>
                <a:gd name="T118" fmla="*/ 222 w 282"/>
                <a:gd name="T119" fmla="*/ 69 h 253"/>
                <a:gd name="T120" fmla="*/ 235 w 282"/>
                <a:gd name="T121" fmla="*/ 78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ln>
          </p:spPr>
          <p:txBody>
            <a:bodyPr/>
            <a:lstStyle/>
            <a:p>
              <a:endParaRPr lang="en-US"/>
            </a:p>
          </p:txBody>
        </p:sp>
        <p:sp>
          <p:nvSpPr>
            <p:cNvPr id="12" name="Freeform 338"/>
            <p:cNvSpPr/>
            <p:nvPr/>
          </p:nvSpPr>
          <p:spPr bwMode="auto">
            <a:xfrm>
              <a:off x="4290" y="3159"/>
              <a:ext cx="19" cy="39"/>
            </a:xfrm>
            <a:custGeom>
              <a:avLst/>
              <a:gdLst>
                <a:gd name="T0" fmla="*/ 0 w 115"/>
                <a:gd name="T1" fmla="*/ 128 h 236"/>
                <a:gd name="T2" fmla="*/ 0 w 115"/>
                <a:gd name="T3" fmla="*/ 148 h 236"/>
                <a:gd name="T4" fmla="*/ 5 w 115"/>
                <a:gd name="T5" fmla="*/ 166 h 236"/>
                <a:gd name="T6" fmla="*/ 13 w 115"/>
                <a:gd name="T7" fmla="*/ 184 h 236"/>
                <a:gd name="T8" fmla="*/ 24 w 115"/>
                <a:gd name="T9" fmla="*/ 198 h 236"/>
                <a:gd name="T10" fmla="*/ 39 w 115"/>
                <a:gd name="T11" fmla="*/ 211 h 236"/>
                <a:gd name="T12" fmla="*/ 55 w 115"/>
                <a:gd name="T13" fmla="*/ 223 h 236"/>
                <a:gd name="T14" fmla="*/ 74 w 115"/>
                <a:gd name="T15" fmla="*/ 231 h 236"/>
                <a:gd name="T16" fmla="*/ 92 w 115"/>
                <a:gd name="T17" fmla="*/ 235 h 236"/>
                <a:gd name="T18" fmla="*/ 98 w 115"/>
                <a:gd name="T19" fmla="*/ 236 h 236"/>
                <a:gd name="T20" fmla="*/ 104 w 115"/>
                <a:gd name="T21" fmla="*/ 234 h 236"/>
                <a:gd name="T22" fmla="*/ 109 w 115"/>
                <a:gd name="T23" fmla="*/ 231 h 236"/>
                <a:gd name="T24" fmla="*/ 111 w 115"/>
                <a:gd name="T25" fmla="*/ 226 h 236"/>
                <a:gd name="T26" fmla="*/ 111 w 115"/>
                <a:gd name="T27" fmla="*/ 220 h 236"/>
                <a:gd name="T28" fmla="*/ 110 w 115"/>
                <a:gd name="T29" fmla="*/ 215 h 236"/>
                <a:gd name="T30" fmla="*/ 107 w 115"/>
                <a:gd name="T31" fmla="*/ 210 h 236"/>
                <a:gd name="T32" fmla="*/ 101 w 115"/>
                <a:gd name="T33" fmla="*/ 208 h 236"/>
                <a:gd name="T34" fmla="*/ 82 w 115"/>
                <a:gd name="T35" fmla="*/ 201 h 236"/>
                <a:gd name="T36" fmla="*/ 64 w 115"/>
                <a:gd name="T37" fmla="*/ 192 h 236"/>
                <a:gd name="T38" fmla="*/ 50 w 115"/>
                <a:gd name="T39" fmla="*/ 179 h 236"/>
                <a:gd name="T40" fmla="*/ 40 w 115"/>
                <a:gd name="T41" fmla="*/ 165 h 236"/>
                <a:gd name="T42" fmla="*/ 33 w 115"/>
                <a:gd name="T43" fmla="*/ 148 h 236"/>
                <a:gd name="T44" fmla="*/ 29 w 115"/>
                <a:gd name="T45" fmla="*/ 130 h 236"/>
                <a:gd name="T46" fmla="*/ 29 w 115"/>
                <a:gd name="T47" fmla="*/ 110 h 236"/>
                <a:gd name="T48" fmla="*/ 35 w 115"/>
                <a:gd name="T49" fmla="*/ 89 h 236"/>
                <a:gd name="T50" fmla="*/ 43 w 115"/>
                <a:gd name="T51" fmla="*/ 74 h 236"/>
                <a:gd name="T52" fmla="*/ 56 w 115"/>
                <a:gd name="T53" fmla="*/ 60 h 236"/>
                <a:gd name="T54" fmla="*/ 70 w 115"/>
                <a:gd name="T55" fmla="*/ 46 h 236"/>
                <a:gd name="T56" fmla="*/ 85 w 115"/>
                <a:gd name="T57" fmla="*/ 33 h 236"/>
                <a:gd name="T58" fmla="*/ 98 w 115"/>
                <a:gd name="T59" fmla="*/ 23 h 236"/>
                <a:gd name="T60" fmla="*/ 109 w 115"/>
                <a:gd name="T61" fmla="*/ 12 h 236"/>
                <a:gd name="T62" fmla="*/ 115 w 115"/>
                <a:gd name="T63" fmla="*/ 6 h 236"/>
                <a:gd name="T64" fmla="*/ 115 w 115"/>
                <a:gd name="T65" fmla="*/ 0 h 236"/>
                <a:gd name="T66" fmla="*/ 102 w 115"/>
                <a:gd name="T67" fmla="*/ 4 h 236"/>
                <a:gd name="T68" fmla="*/ 85 w 115"/>
                <a:gd name="T69" fmla="*/ 12 h 236"/>
                <a:gd name="T70" fmla="*/ 68 w 115"/>
                <a:gd name="T71" fmla="*/ 26 h 236"/>
                <a:gd name="T72" fmla="*/ 49 w 115"/>
                <a:gd name="T73" fmla="*/ 42 h 236"/>
                <a:gd name="T74" fmla="*/ 32 w 115"/>
                <a:gd name="T75" fmla="*/ 61 h 236"/>
                <a:gd name="T76" fmla="*/ 17 w 115"/>
                <a:gd name="T77" fmla="*/ 82 h 236"/>
                <a:gd name="T78" fmla="*/ 6 w 115"/>
                <a:gd name="T79" fmla="*/ 105 h 236"/>
                <a:gd name="T80" fmla="*/ 0 w 115"/>
                <a:gd name="T81" fmla="*/ 128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ln>
          </p:spPr>
          <p:txBody>
            <a:bodyPr/>
            <a:lstStyle/>
            <a:p>
              <a:endParaRPr lang="en-US"/>
            </a:p>
          </p:txBody>
        </p:sp>
        <p:sp>
          <p:nvSpPr>
            <p:cNvPr id="13" name="Freeform 339"/>
            <p:cNvSpPr/>
            <p:nvPr/>
          </p:nvSpPr>
          <p:spPr bwMode="auto">
            <a:xfrm>
              <a:off x="4423" y="3133"/>
              <a:ext cx="41" cy="52"/>
            </a:xfrm>
            <a:custGeom>
              <a:avLst/>
              <a:gdLst>
                <a:gd name="T0" fmla="*/ 208 w 245"/>
                <a:gd name="T1" fmla="*/ 124 h 310"/>
                <a:gd name="T2" fmla="*/ 220 w 245"/>
                <a:gd name="T3" fmla="*/ 144 h 310"/>
                <a:gd name="T4" fmla="*/ 226 w 245"/>
                <a:gd name="T5" fmla="*/ 164 h 310"/>
                <a:gd name="T6" fmla="*/ 222 w 245"/>
                <a:gd name="T7" fmla="*/ 187 h 310"/>
                <a:gd name="T8" fmla="*/ 208 w 245"/>
                <a:gd name="T9" fmla="*/ 209 h 310"/>
                <a:gd name="T10" fmla="*/ 188 w 245"/>
                <a:gd name="T11" fmla="*/ 229 h 310"/>
                <a:gd name="T12" fmla="*/ 166 w 245"/>
                <a:gd name="T13" fmla="*/ 246 h 310"/>
                <a:gd name="T14" fmla="*/ 142 w 245"/>
                <a:gd name="T15" fmla="*/ 264 h 310"/>
                <a:gd name="T16" fmla="*/ 128 w 245"/>
                <a:gd name="T17" fmla="*/ 278 h 310"/>
                <a:gd name="T18" fmla="*/ 124 w 245"/>
                <a:gd name="T19" fmla="*/ 287 h 310"/>
                <a:gd name="T20" fmla="*/ 120 w 245"/>
                <a:gd name="T21" fmla="*/ 296 h 310"/>
                <a:gd name="T22" fmla="*/ 122 w 245"/>
                <a:gd name="T23" fmla="*/ 306 h 310"/>
                <a:gd name="T24" fmla="*/ 131 w 245"/>
                <a:gd name="T25" fmla="*/ 310 h 310"/>
                <a:gd name="T26" fmla="*/ 139 w 245"/>
                <a:gd name="T27" fmla="*/ 309 h 310"/>
                <a:gd name="T28" fmla="*/ 154 w 245"/>
                <a:gd name="T29" fmla="*/ 292 h 310"/>
                <a:gd name="T30" fmla="*/ 180 w 245"/>
                <a:gd name="T31" fmla="*/ 269 h 310"/>
                <a:gd name="T32" fmla="*/ 207 w 245"/>
                <a:gd name="T33" fmla="*/ 246 h 310"/>
                <a:gd name="T34" fmla="*/ 230 w 245"/>
                <a:gd name="T35" fmla="*/ 219 h 310"/>
                <a:gd name="T36" fmla="*/ 244 w 245"/>
                <a:gd name="T37" fmla="*/ 186 h 310"/>
                <a:gd name="T38" fmla="*/ 243 w 245"/>
                <a:gd name="T39" fmla="*/ 152 h 310"/>
                <a:gd name="T40" fmla="*/ 228 w 245"/>
                <a:gd name="T41" fmla="*/ 119 h 310"/>
                <a:gd name="T42" fmla="*/ 203 w 245"/>
                <a:gd name="T43" fmla="*/ 93 h 310"/>
                <a:gd name="T44" fmla="*/ 176 w 245"/>
                <a:gd name="T45" fmla="*/ 76 h 310"/>
                <a:gd name="T46" fmla="*/ 151 w 245"/>
                <a:gd name="T47" fmla="*/ 61 h 310"/>
                <a:gd name="T48" fmla="*/ 122 w 245"/>
                <a:gd name="T49" fmla="*/ 46 h 310"/>
                <a:gd name="T50" fmla="*/ 93 w 245"/>
                <a:gd name="T51" fmla="*/ 31 h 310"/>
                <a:gd name="T52" fmla="*/ 66 w 245"/>
                <a:gd name="T53" fmla="*/ 18 h 310"/>
                <a:gd name="T54" fmla="*/ 40 w 245"/>
                <a:gd name="T55" fmla="*/ 8 h 310"/>
                <a:gd name="T56" fmla="*/ 20 w 245"/>
                <a:gd name="T57" fmla="*/ 1 h 310"/>
                <a:gd name="T58" fmla="*/ 5 w 245"/>
                <a:gd name="T59" fmla="*/ 0 h 310"/>
                <a:gd name="T60" fmla="*/ 11 w 245"/>
                <a:gd name="T61" fmla="*/ 8 h 310"/>
                <a:gd name="T62" fmla="*/ 36 w 245"/>
                <a:gd name="T63" fmla="*/ 20 h 310"/>
                <a:gd name="T64" fmla="*/ 60 w 245"/>
                <a:gd name="T65" fmla="*/ 31 h 310"/>
                <a:gd name="T66" fmla="*/ 86 w 245"/>
                <a:gd name="T67" fmla="*/ 44 h 310"/>
                <a:gd name="T68" fmla="*/ 113 w 245"/>
                <a:gd name="T69" fmla="*/ 57 h 310"/>
                <a:gd name="T70" fmla="*/ 139 w 245"/>
                <a:gd name="T71" fmla="*/ 71 h 310"/>
                <a:gd name="T72" fmla="*/ 165 w 245"/>
                <a:gd name="T73" fmla="*/ 88 h 310"/>
                <a:gd name="T74" fmla="*/ 188 w 245"/>
                <a:gd name="T75" fmla="*/ 106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ln>
          </p:spPr>
          <p:txBody>
            <a:bodyPr/>
            <a:lstStyle/>
            <a:p>
              <a:endParaRPr lang="en-US"/>
            </a:p>
          </p:txBody>
        </p:sp>
        <p:sp>
          <p:nvSpPr>
            <p:cNvPr id="14" name="Freeform 340"/>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ln>
          </p:spPr>
          <p:txBody>
            <a:bodyPr/>
            <a:lstStyle/>
            <a:p>
              <a:endParaRPr lang="en-US"/>
            </a:p>
          </p:txBody>
        </p:sp>
      </p:grpSp>
      <p:grpSp>
        <p:nvGrpSpPr>
          <p:cNvPr id="330" name="Group 341"/>
          <p:cNvGrpSpPr/>
          <p:nvPr/>
        </p:nvGrpSpPr>
        <p:grpSpPr bwMode="auto">
          <a:xfrm>
            <a:off x="4206875" y="2076450"/>
            <a:ext cx="3013075" cy="3355975"/>
            <a:chOff x="2650" y="1308"/>
            <a:chExt cx="1898" cy="2114"/>
          </a:xfrm>
        </p:grpSpPr>
        <p:sp>
          <p:nvSpPr>
            <p:cNvPr id="19586" name="Line 342"/>
            <p:cNvSpPr>
              <a:spLocks noChangeShapeType="1"/>
            </p:cNvSpPr>
            <p:nvPr/>
          </p:nvSpPr>
          <p:spPr bwMode="auto">
            <a:xfrm flipH="1">
              <a:off x="3800" y="1315"/>
              <a:ext cx="188" cy="671"/>
            </a:xfrm>
            <a:prstGeom prst="line">
              <a:avLst/>
            </a:prstGeom>
            <a:noFill/>
            <a:ln w="76200">
              <a:solidFill>
                <a:srgbClr val="FF3300"/>
              </a:solidFill>
              <a:round/>
              <a:headEnd type="triangle" w="med" len="med"/>
              <a:tailEnd type="triangle" w="med" len="med"/>
            </a:ln>
          </p:spPr>
          <p:txBody>
            <a:bodyPr/>
            <a:lstStyle/>
            <a:p>
              <a:endParaRPr lang="en-US"/>
            </a:p>
          </p:txBody>
        </p:sp>
        <p:sp>
          <p:nvSpPr>
            <p:cNvPr id="19587" name="Line 343"/>
            <p:cNvSpPr>
              <a:spLocks noChangeShapeType="1"/>
            </p:cNvSpPr>
            <p:nvPr/>
          </p:nvSpPr>
          <p:spPr bwMode="auto">
            <a:xfrm flipH="1">
              <a:off x="3501" y="1308"/>
              <a:ext cx="15" cy="1831"/>
            </a:xfrm>
            <a:prstGeom prst="line">
              <a:avLst/>
            </a:prstGeom>
            <a:noFill/>
            <a:ln w="76200">
              <a:solidFill>
                <a:srgbClr val="FF3300"/>
              </a:solidFill>
              <a:round/>
              <a:headEnd type="triangle" w="med" len="med"/>
              <a:tailEnd type="triangle" w="med" len="med"/>
            </a:ln>
          </p:spPr>
          <p:txBody>
            <a:bodyPr/>
            <a:lstStyle/>
            <a:p>
              <a:endParaRPr lang="en-US"/>
            </a:p>
          </p:txBody>
        </p:sp>
        <p:sp>
          <p:nvSpPr>
            <p:cNvPr id="19588" name="Line 344"/>
            <p:cNvSpPr>
              <a:spLocks noChangeShapeType="1"/>
            </p:cNvSpPr>
            <p:nvPr/>
          </p:nvSpPr>
          <p:spPr bwMode="auto">
            <a:xfrm>
              <a:off x="3740" y="2940"/>
              <a:ext cx="808" cy="482"/>
            </a:xfrm>
            <a:prstGeom prst="line">
              <a:avLst/>
            </a:prstGeom>
            <a:noFill/>
            <a:ln w="76200">
              <a:solidFill>
                <a:srgbClr val="FF3300"/>
              </a:solidFill>
              <a:round/>
              <a:headEnd type="triangle" w="med" len="med"/>
              <a:tailEnd type="triangle" w="med" len="med"/>
            </a:ln>
          </p:spPr>
          <p:txBody>
            <a:bodyPr/>
            <a:lstStyle/>
            <a:p>
              <a:endParaRPr lang="en-US"/>
            </a:p>
          </p:txBody>
        </p:sp>
        <p:sp>
          <p:nvSpPr>
            <p:cNvPr id="19589" name="Text Box 345"/>
            <p:cNvSpPr txBox="1">
              <a:spLocks noChangeArrowheads="1"/>
            </p:cNvSpPr>
            <p:nvPr/>
          </p:nvSpPr>
          <p:spPr bwMode="auto">
            <a:xfrm>
              <a:off x="2650" y="1581"/>
              <a:ext cx="861" cy="250"/>
            </a:xfrm>
            <a:prstGeom prst="rect">
              <a:avLst/>
            </a:prstGeom>
            <a:noFill/>
            <a:ln w="9525">
              <a:noFill/>
              <a:miter lim="800000"/>
            </a:ln>
          </p:spPr>
          <p:txBody>
            <a:bodyPr wrap="none">
              <a:spAutoFit/>
            </a:bodyPr>
            <a:lstStyle/>
            <a:p>
              <a:pPr>
                <a:spcBef>
                  <a:spcPct val="0"/>
                </a:spcBef>
                <a:buClrTx/>
                <a:buSzTx/>
                <a:buFontTx/>
                <a:buNone/>
              </a:pPr>
              <a:r>
                <a:rPr lang="en-US" sz="2000">
                  <a:solidFill>
                    <a:srgbClr val="FF3300"/>
                  </a:solidFill>
                </a:rPr>
                <a:t>peer-peer</a:t>
              </a:r>
              <a:endParaRPr lang="en-US" sz="2000">
                <a:solidFill>
                  <a:srgbClr val="FF33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0486" name="Slide Number Placeholder 5"/>
          <p:cNvSpPr>
            <a:spLocks noGrp="1"/>
          </p:cNvSpPr>
          <p:nvPr>
            <p:ph type="sldNum" sz="quarter" idx="12"/>
          </p:nvPr>
        </p:nvSpPr>
        <p:spPr>
          <a:noFill/>
        </p:spPr>
        <p:txBody>
          <a:bodyPr/>
          <a:lstStyle/>
          <a:p>
            <a:fld id="{8A6A7DD6-998A-49E2-A3A3-051BA3FA4B1F}" type="slidenum">
              <a:rPr lang="en-US"/>
            </a:fld>
            <a:endParaRPr lang="en-US"/>
          </a:p>
        </p:txBody>
      </p:sp>
      <p:sp>
        <p:nvSpPr>
          <p:cNvPr id="20487" name="Rectangle 2"/>
          <p:cNvSpPr>
            <a:spLocks noGrp="1" noChangeArrowheads="1"/>
          </p:cNvSpPr>
          <p:nvPr>
            <p:ph type="title"/>
          </p:nvPr>
        </p:nvSpPr>
        <p:spPr>
          <a:xfrm>
            <a:off x="298450" y="228600"/>
            <a:ext cx="8520113" cy="1143000"/>
          </a:xfrm>
        </p:spPr>
        <p:txBody>
          <a:bodyPr/>
          <a:lstStyle/>
          <a:p>
            <a:r>
              <a:rPr lang="en-US" sz="3600"/>
              <a:t>File Distribution: Server-Client vs P2P</a:t>
            </a:r>
            <a:endParaRPr lang="en-US" sz="3600"/>
          </a:p>
        </p:txBody>
      </p:sp>
      <p:sp>
        <p:nvSpPr>
          <p:cNvPr id="20488" name="Rectangle 3"/>
          <p:cNvSpPr>
            <a:spLocks noGrp="1" noChangeArrowheads="1"/>
          </p:cNvSpPr>
          <p:nvPr>
            <p:ph type="body" idx="1"/>
          </p:nvPr>
        </p:nvSpPr>
        <p:spPr>
          <a:xfrm>
            <a:off x="465138" y="1227138"/>
            <a:ext cx="8258175" cy="1143000"/>
          </a:xfrm>
        </p:spPr>
        <p:txBody>
          <a:bodyPr/>
          <a:lstStyle/>
          <a:p>
            <a:pPr>
              <a:buFont typeface="ZapfDingbats" pitchFamily="82" charset="2"/>
              <a:buNone/>
            </a:pPr>
            <a:r>
              <a:rPr lang="en-US" i="1" u="sng">
                <a:solidFill>
                  <a:srgbClr val="FF3300"/>
                </a:solidFill>
              </a:rPr>
              <a:t>Question</a:t>
            </a:r>
            <a:r>
              <a:rPr lang="en-US"/>
              <a:t> : How much time to distribute file from one server to </a:t>
            </a:r>
            <a:r>
              <a:rPr lang="en-US" i="1"/>
              <a:t>N  peers</a:t>
            </a:r>
            <a:r>
              <a:rPr lang="en-US"/>
              <a:t>?</a:t>
            </a:r>
            <a:endParaRPr lang="en-US"/>
          </a:p>
        </p:txBody>
      </p:sp>
      <p:sp>
        <p:nvSpPr>
          <p:cNvPr id="20489" name="Freeform 4"/>
          <p:cNvSpPr/>
          <p:nvPr/>
        </p:nvSpPr>
        <p:spPr bwMode="auto">
          <a:xfrm>
            <a:off x="2373313" y="4032250"/>
            <a:ext cx="3775075" cy="2146300"/>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round/>
          </a:ln>
        </p:spPr>
        <p:txBody>
          <a:bodyPr wrap="none" anchor="ctr"/>
          <a:lstStyle/>
          <a:p>
            <a:endParaRPr lang="en-US"/>
          </a:p>
        </p:txBody>
      </p:sp>
      <p:grpSp>
        <p:nvGrpSpPr>
          <p:cNvPr id="20490" name="Group 5"/>
          <p:cNvGrpSpPr/>
          <p:nvPr/>
        </p:nvGrpSpPr>
        <p:grpSpPr bwMode="auto">
          <a:xfrm>
            <a:off x="1552575" y="3181350"/>
            <a:ext cx="538163" cy="885825"/>
            <a:chOff x="4180" y="783"/>
            <a:chExt cx="150" cy="307"/>
          </a:xfrm>
        </p:grpSpPr>
        <p:sp>
          <p:nvSpPr>
            <p:cNvPr id="20521" name="AutoShape 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20522" name="Rectangle 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20523" name="Rectangle 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20524" name="AutoShape 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20525" name="Line 1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20526" name="Line 1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20527" name="Rectangle 1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20528" name="Rectangle 1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20491" name="Line 14"/>
          <p:cNvSpPr>
            <a:spLocks noChangeShapeType="1"/>
          </p:cNvSpPr>
          <p:nvPr/>
        </p:nvSpPr>
        <p:spPr bwMode="auto">
          <a:xfrm>
            <a:off x="1819275" y="4051300"/>
            <a:ext cx="803275" cy="311150"/>
          </a:xfrm>
          <a:prstGeom prst="line">
            <a:avLst/>
          </a:prstGeom>
          <a:noFill/>
          <a:ln w="9525">
            <a:solidFill>
              <a:schemeClr val="tx1"/>
            </a:solidFill>
            <a:round/>
            <a:tailEnd type="triangle" w="med" len="med"/>
          </a:ln>
        </p:spPr>
        <p:txBody>
          <a:bodyPr/>
          <a:lstStyle/>
          <a:p>
            <a:endParaRPr lang="en-US"/>
          </a:p>
        </p:txBody>
      </p:sp>
      <p:sp>
        <p:nvSpPr>
          <p:cNvPr id="20492" name="Text Box 15"/>
          <p:cNvSpPr txBox="1">
            <a:spLocks noChangeArrowheads="1"/>
          </p:cNvSpPr>
          <p:nvPr/>
        </p:nvSpPr>
        <p:spPr bwMode="auto">
          <a:xfrm>
            <a:off x="2179638" y="3719513"/>
            <a:ext cx="387350" cy="366712"/>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u</a:t>
            </a:r>
            <a:r>
              <a:rPr lang="en-US" sz="1800" baseline="-25000">
                <a:latin typeface="Arial" panose="020B0604020202020204" pitchFamily="34" charset="0"/>
              </a:rPr>
              <a:t>s</a:t>
            </a:r>
            <a:endParaRPr lang="en-US" sz="1800" baseline="-25000">
              <a:latin typeface="Arial" panose="020B0604020202020204" pitchFamily="34" charset="0"/>
            </a:endParaRPr>
          </a:p>
        </p:txBody>
      </p:sp>
      <p:graphicFrame>
        <p:nvGraphicFramePr>
          <p:cNvPr id="20482" name="Object 16"/>
          <p:cNvGraphicFramePr>
            <a:graphicFrameLocks noChangeAspect="1"/>
          </p:cNvGraphicFramePr>
          <p:nvPr/>
        </p:nvGraphicFramePr>
        <p:xfrm>
          <a:off x="3190875" y="2817813"/>
          <a:ext cx="547688" cy="466725"/>
        </p:xfrm>
        <a:graphic>
          <a:graphicData uri="http://schemas.openxmlformats.org/presentationml/2006/ole">
            <mc:AlternateContent xmlns:mc="http://schemas.openxmlformats.org/markup-compatibility/2006">
              <mc:Choice xmlns:v="urn:schemas-microsoft-com:vml" Requires="v">
                <p:oleObj spid="_x0000_s20515" name="Clip" r:id="rId1" imgW="18192750" imgH="15087600" progId="">
                  <p:embed/>
                </p:oleObj>
              </mc:Choice>
              <mc:Fallback>
                <p:oleObj name="Clip" r:id="rId1" imgW="18192750" imgH="15087600" progId="">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0875" y="2817813"/>
                        <a:ext cx="547688"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3" name="Line 17"/>
          <p:cNvSpPr>
            <a:spLocks noChangeShapeType="1"/>
          </p:cNvSpPr>
          <p:nvPr/>
        </p:nvSpPr>
        <p:spPr bwMode="auto">
          <a:xfrm>
            <a:off x="3551238" y="3214688"/>
            <a:ext cx="228600" cy="914400"/>
          </a:xfrm>
          <a:prstGeom prst="line">
            <a:avLst/>
          </a:prstGeom>
          <a:noFill/>
          <a:ln w="9525">
            <a:solidFill>
              <a:schemeClr val="tx1"/>
            </a:solidFill>
            <a:round/>
            <a:headEnd type="triangle" w="med" len="med"/>
          </a:ln>
        </p:spPr>
        <p:txBody>
          <a:bodyPr/>
          <a:lstStyle/>
          <a:p>
            <a:endParaRPr lang="en-US"/>
          </a:p>
        </p:txBody>
      </p:sp>
      <p:sp>
        <p:nvSpPr>
          <p:cNvPr id="20494" name="Line 18"/>
          <p:cNvSpPr>
            <a:spLocks noChangeShapeType="1"/>
          </p:cNvSpPr>
          <p:nvPr/>
        </p:nvSpPr>
        <p:spPr bwMode="auto">
          <a:xfrm flipH="1" flipV="1">
            <a:off x="3348038" y="3205163"/>
            <a:ext cx="228600" cy="889000"/>
          </a:xfrm>
          <a:prstGeom prst="line">
            <a:avLst/>
          </a:prstGeom>
          <a:noFill/>
          <a:ln w="9525">
            <a:solidFill>
              <a:schemeClr val="tx1"/>
            </a:solidFill>
            <a:round/>
            <a:headEnd type="triangle" w="med" len="med"/>
          </a:ln>
        </p:spPr>
        <p:txBody>
          <a:bodyPr/>
          <a:lstStyle/>
          <a:p>
            <a:endParaRPr lang="en-US"/>
          </a:p>
        </p:txBody>
      </p:sp>
      <p:sp>
        <p:nvSpPr>
          <p:cNvPr id="20495" name="Text Box 19"/>
          <p:cNvSpPr txBox="1">
            <a:spLocks noChangeArrowheads="1"/>
          </p:cNvSpPr>
          <p:nvPr/>
        </p:nvSpPr>
        <p:spPr bwMode="auto">
          <a:xfrm>
            <a:off x="4184650" y="3440113"/>
            <a:ext cx="609600"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u</a:t>
            </a:r>
            <a:r>
              <a:rPr lang="en-US" sz="1800" i="1" baseline="-25000">
                <a:latin typeface="Arial" panose="020B0604020202020204" pitchFamily="34" charset="0"/>
              </a:rPr>
              <a:t>2</a:t>
            </a:r>
            <a:endParaRPr lang="en-US" sz="1800" i="1" baseline="-25000">
              <a:latin typeface="Arial" panose="020B0604020202020204" pitchFamily="34" charset="0"/>
            </a:endParaRPr>
          </a:p>
        </p:txBody>
      </p:sp>
      <p:sp>
        <p:nvSpPr>
          <p:cNvPr id="20496" name="Text Box 20"/>
          <p:cNvSpPr txBox="1">
            <a:spLocks noChangeArrowheads="1"/>
          </p:cNvSpPr>
          <p:nvPr/>
        </p:nvSpPr>
        <p:spPr bwMode="auto">
          <a:xfrm>
            <a:off x="3592513" y="3475038"/>
            <a:ext cx="609600"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d</a:t>
            </a:r>
            <a:r>
              <a:rPr lang="en-US" sz="1800" i="1" baseline="-25000">
                <a:latin typeface="Arial" panose="020B0604020202020204" pitchFamily="34" charset="0"/>
              </a:rPr>
              <a:t>1</a:t>
            </a:r>
            <a:endParaRPr lang="en-US" sz="1800" i="1" baseline="-25000">
              <a:latin typeface="Arial" panose="020B0604020202020204" pitchFamily="34" charset="0"/>
            </a:endParaRPr>
          </a:p>
        </p:txBody>
      </p:sp>
      <p:graphicFrame>
        <p:nvGraphicFramePr>
          <p:cNvPr id="20483" name="Object 21"/>
          <p:cNvGraphicFramePr>
            <a:graphicFrameLocks noChangeAspect="1"/>
          </p:cNvGraphicFramePr>
          <p:nvPr/>
        </p:nvGraphicFramePr>
        <p:xfrm>
          <a:off x="4614863" y="2784475"/>
          <a:ext cx="573087" cy="488950"/>
        </p:xfrm>
        <a:graphic>
          <a:graphicData uri="http://schemas.openxmlformats.org/presentationml/2006/ole">
            <mc:AlternateContent xmlns:mc="http://schemas.openxmlformats.org/markup-compatibility/2006">
              <mc:Choice xmlns:v="urn:schemas-microsoft-com:vml" Requires="v">
                <p:oleObj spid="_x0000_s20516" name="Clip" r:id="rId3" imgW="18192750" imgH="15087600" progId="">
                  <p:embed/>
                </p:oleObj>
              </mc:Choice>
              <mc:Fallback>
                <p:oleObj name="Clip" r:id="rId3" imgW="18192750" imgH="15087600" progId="">
                  <p:embed/>
                  <p:pic>
                    <p:nvPicPr>
                      <p:cNvPr id="0" name="Object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4863" y="2784475"/>
                        <a:ext cx="573087"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7" name="Line 22"/>
          <p:cNvSpPr>
            <a:spLocks noChangeShapeType="1"/>
          </p:cNvSpPr>
          <p:nvPr/>
        </p:nvSpPr>
        <p:spPr bwMode="auto">
          <a:xfrm flipV="1">
            <a:off x="4397375" y="3243263"/>
            <a:ext cx="317500" cy="1042987"/>
          </a:xfrm>
          <a:prstGeom prst="line">
            <a:avLst/>
          </a:prstGeom>
          <a:noFill/>
          <a:ln w="9525">
            <a:solidFill>
              <a:schemeClr val="tx1"/>
            </a:solidFill>
            <a:round/>
            <a:headEnd type="triangle" w="med" len="med"/>
          </a:ln>
        </p:spPr>
        <p:txBody>
          <a:bodyPr/>
          <a:lstStyle/>
          <a:p>
            <a:endParaRPr lang="en-US"/>
          </a:p>
        </p:txBody>
      </p:sp>
      <p:sp>
        <p:nvSpPr>
          <p:cNvPr id="20498" name="Line 23"/>
          <p:cNvSpPr>
            <a:spLocks noChangeShapeType="1"/>
          </p:cNvSpPr>
          <p:nvPr/>
        </p:nvSpPr>
        <p:spPr bwMode="auto">
          <a:xfrm flipH="1">
            <a:off x="4587875" y="3322638"/>
            <a:ext cx="330200" cy="1052512"/>
          </a:xfrm>
          <a:prstGeom prst="line">
            <a:avLst/>
          </a:prstGeom>
          <a:noFill/>
          <a:ln w="9525">
            <a:solidFill>
              <a:schemeClr val="tx1"/>
            </a:solidFill>
            <a:round/>
            <a:headEnd type="triangle" w="med" len="med"/>
          </a:ln>
        </p:spPr>
        <p:txBody>
          <a:bodyPr/>
          <a:lstStyle/>
          <a:p>
            <a:endParaRPr lang="en-US"/>
          </a:p>
        </p:txBody>
      </p:sp>
      <p:sp>
        <p:nvSpPr>
          <p:cNvPr id="20499" name="Text Box 24"/>
          <p:cNvSpPr txBox="1">
            <a:spLocks noChangeArrowheads="1"/>
          </p:cNvSpPr>
          <p:nvPr/>
        </p:nvSpPr>
        <p:spPr bwMode="auto">
          <a:xfrm>
            <a:off x="4722813" y="3625850"/>
            <a:ext cx="609600" cy="366713"/>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d</a:t>
            </a:r>
            <a:r>
              <a:rPr lang="en-US" sz="1800" i="1" baseline="-25000">
                <a:latin typeface="Arial" panose="020B0604020202020204" pitchFamily="34" charset="0"/>
              </a:rPr>
              <a:t>2</a:t>
            </a:r>
            <a:endParaRPr lang="en-US" sz="1800" i="1" baseline="-25000">
              <a:latin typeface="Arial" panose="020B0604020202020204" pitchFamily="34" charset="0"/>
            </a:endParaRPr>
          </a:p>
        </p:txBody>
      </p:sp>
      <p:sp>
        <p:nvSpPr>
          <p:cNvPr id="20500" name="Text Box 25"/>
          <p:cNvSpPr txBox="1">
            <a:spLocks noChangeArrowheads="1"/>
          </p:cNvSpPr>
          <p:nvPr/>
        </p:nvSpPr>
        <p:spPr bwMode="auto">
          <a:xfrm>
            <a:off x="3140075" y="3475038"/>
            <a:ext cx="609600"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u</a:t>
            </a:r>
            <a:r>
              <a:rPr lang="en-US" sz="1800" i="1" baseline="-25000">
                <a:latin typeface="Arial" panose="020B0604020202020204" pitchFamily="34" charset="0"/>
              </a:rPr>
              <a:t>1</a:t>
            </a:r>
            <a:endParaRPr lang="en-US" sz="1800" i="1" baseline="-25000">
              <a:latin typeface="Arial" panose="020B0604020202020204" pitchFamily="34" charset="0"/>
            </a:endParaRPr>
          </a:p>
        </p:txBody>
      </p:sp>
      <p:sp>
        <p:nvSpPr>
          <p:cNvPr id="20501" name="Oval 27"/>
          <p:cNvSpPr>
            <a:spLocks noChangeArrowheads="1"/>
          </p:cNvSpPr>
          <p:nvPr/>
        </p:nvSpPr>
        <p:spPr bwMode="auto">
          <a:xfrm>
            <a:off x="2657475" y="5608638"/>
            <a:ext cx="112713" cy="123825"/>
          </a:xfrm>
          <a:prstGeom prst="ellipse">
            <a:avLst/>
          </a:prstGeom>
          <a:solidFill>
            <a:schemeClr val="tx1"/>
          </a:solidFill>
          <a:ln w="9525">
            <a:solidFill>
              <a:schemeClr val="tx1"/>
            </a:solidFill>
            <a:round/>
          </a:ln>
        </p:spPr>
        <p:txBody>
          <a:bodyPr wrap="none" anchor="ctr"/>
          <a:lstStyle/>
          <a:p>
            <a:endParaRPr lang="en-US"/>
          </a:p>
        </p:txBody>
      </p:sp>
      <p:sp>
        <p:nvSpPr>
          <p:cNvPr id="20502" name="Oval 28"/>
          <p:cNvSpPr>
            <a:spLocks noChangeArrowheads="1"/>
          </p:cNvSpPr>
          <p:nvPr/>
        </p:nvSpPr>
        <p:spPr bwMode="auto">
          <a:xfrm>
            <a:off x="3360738" y="5922963"/>
            <a:ext cx="112712" cy="123825"/>
          </a:xfrm>
          <a:prstGeom prst="ellipse">
            <a:avLst/>
          </a:prstGeom>
          <a:solidFill>
            <a:schemeClr val="tx1"/>
          </a:solidFill>
          <a:ln w="9525">
            <a:solidFill>
              <a:schemeClr val="tx1"/>
            </a:solidFill>
            <a:round/>
          </a:ln>
        </p:spPr>
        <p:txBody>
          <a:bodyPr wrap="none" anchor="ctr"/>
          <a:lstStyle/>
          <a:p>
            <a:endParaRPr lang="en-US"/>
          </a:p>
        </p:txBody>
      </p:sp>
      <p:sp>
        <p:nvSpPr>
          <p:cNvPr id="20503" name="Oval 29"/>
          <p:cNvSpPr>
            <a:spLocks noChangeArrowheads="1"/>
          </p:cNvSpPr>
          <p:nvPr/>
        </p:nvSpPr>
        <p:spPr bwMode="auto">
          <a:xfrm>
            <a:off x="3833813" y="6130925"/>
            <a:ext cx="112712" cy="123825"/>
          </a:xfrm>
          <a:prstGeom prst="ellipse">
            <a:avLst/>
          </a:prstGeom>
          <a:solidFill>
            <a:schemeClr val="tx1"/>
          </a:solidFill>
          <a:ln w="9525">
            <a:solidFill>
              <a:schemeClr val="tx1"/>
            </a:solidFill>
            <a:round/>
          </a:ln>
        </p:spPr>
        <p:txBody>
          <a:bodyPr wrap="none" anchor="ctr"/>
          <a:lstStyle/>
          <a:p>
            <a:endParaRPr lang="en-US"/>
          </a:p>
        </p:txBody>
      </p:sp>
      <p:sp>
        <p:nvSpPr>
          <p:cNvPr id="20504" name="Oval 30"/>
          <p:cNvSpPr>
            <a:spLocks noChangeArrowheads="1"/>
          </p:cNvSpPr>
          <p:nvPr/>
        </p:nvSpPr>
        <p:spPr bwMode="auto">
          <a:xfrm>
            <a:off x="4552950" y="6248400"/>
            <a:ext cx="112713" cy="123825"/>
          </a:xfrm>
          <a:prstGeom prst="ellipse">
            <a:avLst/>
          </a:prstGeom>
          <a:solidFill>
            <a:schemeClr val="tx1"/>
          </a:solidFill>
          <a:ln w="9525">
            <a:solidFill>
              <a:schemeClr val="tx1"/>
            </a:solidFill>
            <a:round/>
          </a:ln>
        </p:spPr>
        <p:txBody>
          <a:bodyPr wrap="none" anchor="ctr"/>
          <a:lstStyle/>
          <a:p>
            <a:endParaRPr lang="en-US"/>
          </a:p>
        </p:txBody>
      </p:sp>
      <p:sp>
        <p:nvSpPr>
          <p:cNvPr id="20505" name="Oval 31"/>
          <p:cNvSpPr>
            <a:spLocks noChangeArrowheads="1"/>
          </p:cNvSpPr>
          <p:nvPr/>
        </p:nvSpPr>
        <p:spPr bwMode="auto">
          <a:xfrm>
            <a:off x="5454650" y="6335713"/>
            <a:ext cx="112713" cy="123825"/>
          </a:xfrm>
          <a:prstGeom prst="ellipse">
            <a:avLst/>
          </a:prstGeom>
          <a:solidFill>
            <a:schemeClr val="tx1"/>
          </a:solidFill>
          <a:ln w="9525">
            <a:solidFill>
              <a:schemeClr val="tx1"/>
            </a:solidFill>
            <a:round/>
          </a:ln>
        </p:spPr>
        <p:txBody>
          <a:bodyPr wrap="none" anchor="ctr"/>
          <a:lstStyle/>
          <a:p>
            <a:endParaRPr lang="en-US"/>
          </a:p>
        </p:txBody>
      </p:sp>
      <p:sp>
        <p:nvSpPr>
          <p:cNvPr id="20506" name="Oval 32"/>
          <p:cNvSpPr>
            <a:spLocks noChangeArrowheads="1"/>
          </p:cNvSpPr>
          <p:nvPr/>
        </p:nvSpPr>
        <p:spPr bwMode="auto">
          <a:xfrm>
            <a:off x="6057900" y="6089650"/>
            <a:ext cx="112713" cy="123825"/>
          </a:xfrm>
          <a:prstGeom prst="ellipse">
            <a:avLst/>
          </a:prstGeom>
          <a:solidFill>
            <a:schemeClr val="tx1"/>
          </a:solidFill>
          <a:ln w="9525">
            <a:solidFill>
              <a:schemeClr val="tx1"/>
            </a:solidFill>
            <a:round/>
          </a:ln>
        </p:spPr>
        <p:txBody>
          <a:bodyPr wrap="none" anchor="ctr"/>
          <a:lstStyle/>
          <a:p>
            <a:endParaRPr lang="en-US"/>
          </a:p>
        </p:txBody>
      </p:sp>
      <p:sp>
        <p:nvSpPr>
          <p:cNvPr id="20507" name="Oval 33"/>
          <p:cNvSpPr>
            <a:spLocks noChangeArrowheads="1"/>
          </p:cNvSpPr>
          <p:nvPr/>
        </p:nvSpPr>
        <p:spPr bwMode="auto">
          <a:xfrm>
            <a:off x="6272213" y="5416550"/>
            <a:ext cx="112712" cy="123825"/>
          </a:xfrm>
          <a:prstGeom prst="ellipse">
            <a:avLst/>
          </a:prstGeom>
          <a:solidFill>
            <a:schemeClr val="tx1"/>
          </a:solidFill>
          <a:ln w="9525">
            <a:solidFill>
              <a:schemeClr val="tx1"/>
            </a:solidFill>
            <a:round/>
          </a:ln>
        </p:spPr>
        <p:txBody>
          <a:bodyPr wrap="none" anchor="ctr"/>
          <a:lstStyle/>
          <a:p>
            <a:endParaRPr lang="en-US"/>
          </a:p>
        </p:txBody>
      </p:sp>
      <p:sp>
        <p:nvSpPr>
          <p:cNvPr id="20508" name="Oval 34"/>
          <p:cNvSpPr>
            <a:spLocks noChangeArrowheads="1"/>
          </p:cNvSpPr>
          <p:nvPr/>
        </p:nvSpPr>
        <p:spPr bwMode="auto">
          <a:xfrm>
            <a:off x="5448300" y="3986213"/>
            <a:ext cx="112713" cy="123825"/>
          </a:xfrm>
          <a:prstGeom prst="ellipse">
            <a:avLst/>
          </a:prstGeom>
          <a:solidFill>
            <a:schemeClr val="tx1"/>
          </a:solidFill>
          <a:ln w="9525">
            <a:solidFill>
              <a:schemeClr val="tx1"/>
            </a:solidFill>
            <a:round/>
          </a:ln>
        </p:spPr>
        <p:txBody>
          <a:bodyPr wrap="none" anchor="ctr"/>
          <a:lstStyle/>
          <a:p>
            <a:endParaRPr lang="en-US"/>
          </a:p>
        </p:txBody>
      </p:sp>
      <p:sp>
        <p:nvSpPr>
          <p:cNvPr id="20509" name="Oval 35"/>
          <p:cNvSpPr>
            <a:spLocks noChangeArrowheads="1"/>
          </p:cNvSpPr>
          <p:nvPr/>
        </p:nvSpPr>
        <p:spPr bwMode="auto">
          <a:xfrm>
            <a:off x="6348413" y="4821238"/>
            <a:ext cx="112712" cy="123825"/>
          </a:xfrm>
          <a:prstGeom prst="ellipse">
            <a:avLst/>
          </a:prstGeom>
          <a:solidFill>
            <a:schemeClr val="tx1"/>
          </a:solidFill>
          <a:ln w="9525">
            <a:solidFill>
              <a:schemeClr val="tx1"/>
            </a:solidFill>
            <a:round/>
          </a:ln>
        </p:spPr>
        <p:txBody>
          <a:bodyPr wrap="none" anchor="ctr"/>
          <a:lstStyle/>
          <a:p>
            <a:endParaRPr lang="en-US"/>
          </a:p>
        </p:txBody>
      </p:sp>
      <p:graphicFrame>
        <p:nvGraphicFramePr>
          <p:cNvPr id="20484" name="Object 38"/>
          <p:cNvGraphicFramePr>
            <a:graphicFrameLocks noChangeAspect="1"/>
          </p:cNvGraphicFramePr>
          <p:nvPr/>
        </p:nvGraphicFramePr>
        <p:xfrm>
          <a:off x="846138" y="4733925"/>
          <a:ext cx="566737" cy="482600"/>
        </p:xfrm>
        <a:graphic>
          <a:graphicData uri="http://schemas.openxmlformats.org/presentationml/2006/ole">
            <mc:AlternateContent xmlns:mc="http://schemas.openxmlformats.org/markup-compatibility/2006">
              <mc:Choice xmlns:v="urn:schemas-microsoft-com:vml" Requires="v">
                <p:oleObj spid="_x0000_s20517" name="Clip" r:id="rId4" imgW="18192750" imgH="15087600" progId="">
                  <p:embed/>
                </p:oleObj>
              </mc:Choice>
              <mc:Fallback>
                <p:oleObj name="Clip" r:id="rId4" imgW="18192750" imgH="15087600" progId="">
                  <p:embed/>
                  <p:pic>
                    <p:nvPicPr>
                      <p:cNvPr id="0" name="Object 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138" y="4733925"/>
                        <a:ext cx="56673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10" name="Line 39"/>
          <p:cNvSpPr>
            <a:spLocks noChangeShapeType="1"/>
          </p:cNvSpPr>
          <p:nvPr/>
        </p:nvSpPr>
        <p:spPr bwMode="auto">
          <a:xfrm>
            <a:off x="1376363" y="4962525"/>
            <a:ext cx="1016000" cy="0"/>
          </a:xfrm>
          <a:prstGeom prst="line">
            <a:avLst/>
          </a:prstGeom>
          <a:noFill/>
          <a:ln w="9525">
            <a:solidFill>
              <a:schemeClr val="tx1"/>
            </a:solidFill>
            <a:round/>
            <a:tailEnd type="triangle" w="med" len="med"/>
          </a:ln>
        </p:spPr>
        <p:txBody>
          <a:bodyPr/>
          <a:lstStyle/>
          <a:p>
            <a:endParaRPr lang="en-US"/>
          </a:p>
        </p:txBody>
      </p:sp>
      <p:sp>
        <p:nvSpPr>
          <p:cNvPr id="20511" name="Line 40"/>
          <p:cNvSpPr>
            <a:spLocks noChangeShapeType="1"/>
          </p:cNvSpPr>
          <p:nvPr/>
        </p:nvSpPr>
        <p:spPr bwMode="auto">
          <a:xfrm flipH="1">
            <a:off x="1431925" y="5110163"/>
            <a:ext cx="1003300" cy="0"/>
          </a:xfrm>
          <a:prstGeom prst="line">
            <a:avLst/>
          </a:prstGeom>
          <a:noFill/>
          <a:ln w="9525">
            <a:solidFill>
              <a:schemeClr val="tx1"/>
            </a:solidFill>
            <a:round/>
            <a:tailEnd type="triangle" w="med" len="med"/>
          </a:ln>
        </p:spPr>
        <p:txBody>
          <a:bodyPr/>
          <a:lstStyle/>
          <a:p>
            <a:endParaRPr lang="en-US"/>
          </a:p>
        </p:txBody>
      </p:sp>
      <p:sp>
        <p:nvSpPr>
          <p:cNvPr id="20512" name="Text Box 41"/>
          <p:cNvSpPr txBox="1">
            <a:spLocks noChangeArrowheads="1"/>
          </p:cNvSpPr>
          <p:nvPr/>
        </p:nvSpPr>
        <p:spPr bwMode="auto">
          <a:xfrm>
            <a:off x="1565275" y="5108575"/>
            <a:ext cx="609600" cy="366713"/>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u</a:t>
            </a:r>
            <a:r>
              <a:rPr lang="en-US" sz="1800" i="1" baseline="-25000">
                <a:latin typeface="Arial" panose="020B0604020202020204" pitchFamily="34" charset="0"/>
              </a:rPr>
              <a:t>N</a:t>
            </a:r>
            <a:endParaRPr lang="en-US" sz="1800" i="1" baseline="-25000">
              <a:latin typeface="Arial" panose="020B0604020202020204" pitchFamily="34" charset="0"/>
            </a:endParaRPr>
          </a:p>
        </p:txBody>
      </p:sp>
      <p:sp>
        <p:nvSpPr>
          <p:cNvPr id="20513" name="Text Box 42"/>
          <p:cNvSpPr txBox="1">
            <a:spLocks noChangeArrowheads="1"/>
          </p:cNvSpPr>
          <p:nvPr/>
        </p:nvSpPr>
        <p:spPr bwMode="auto">
          <a:xfrm>
            <a:off x="1568450" y="4511675"/>
            <a:ext cx="609600" cy="366713"/>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d</a:t>
            </a:r>
            <a:r>
              <a:rPr lang="en-US" sz="1800" i="1" baseline="-25000">
                <a:latin typeface="Arial" panose="020B0604020202020204" pitchFamily="34" charset="0"/>
              </a:rPr>
              <a:t>N</a:t>
            </a:r>
            <a:endParaRPr lang="en-US" sz="1800" i="1" baseline="-25000">
              <a:latin typeface="Arial" panose="020B0604020202020204" pitchFamily="34" charset="0"/>
            </a:endParaRPr>
          </a:p>
        </p:txBody>
      </p:sp>
      <p:sp>
        <p:nvSpPr>
          <p:cNvPr id="20514" name="Text Box 43"/>
          <p:cNvSpPr txBox="1">
            <a:spLocks noChangeArrowheads="1"/>
          </p:cNvSpPr>
          <p:nvPr/>
        </p:nvSpPr>
        <p:spPr bwMode="auto">
          <a:xfrm>
            <a:off x="1443038" y="2797175"/>
            <a:ext cx="1173162" cy="366713"/>
          </a:xfrm>
          <a:prstGeom prst="rect">
            <a:avLst/>
          </a:prstGeom>
          <a:noFill/>
          <a:ln w="9525" algn="ctr">
            <a:noFill/>
            <a:miter lim="800000"/>
          </a:ln>
        </p:spPr>
        <p:txBody>
          <a:bodyPr>
            <a:spAutoFit/>
          </a:bodyPr>
          <a:lstStyle/>
          <a:p>
            <a:pPr algn="ctr" eaLnBrk="1" hangingPunct="1">
              <a:spcBef>
                <a:spcPct val="0"/>
              </a:spcBef>
              <a:buClrTx/>
              <a:buSzTx/>
              <a:buFontTx/>
              <a:buNone/>
            </a:pPr>
            <a:r>
              <a:rPr lang="en-US" sz="1800"/>
              <a:t>Server</a:t>
            </a:r>
            <a:endParaRPr lang="en-US" sz="1800" baseline="-25000"/>
          </a:p>
        </p:txBody>
      </p:sp>
      <p:sp>
        <p:nvSpPr>
          <p:cNvPr id="2" name="Text Box 44"/>
          <p:cNvSpPr txBox="1">
            <a:spLocks noChangeArrowheads="1"/>
          </p:cNvSpPr>
          <p:nvPr/>
        </p:nvSpPr>
        <p:spPr bwMode="auto">
          <a:xfrm>
            <a:off x="3294063" y="4730750"/>
            <a:ext cx="2408237" cy="641350"/>
          </a:xfrm>
          <a:prstGeom prst="rect">
            <a:avLst/>
          </a:prstGeom>
          <a:noFill/>
          <a:ln w="9525">
            <a:noFill/>
            <a:miter lim="800000"/>
          </a:ln>
        </p:spPr>
        <p:txBody>
          <a:bodyPr wrap="none">
            <a:spAutoFit/>
          </a:bodyPr>
          <a:lstStyle/>
          <a:p>
            <a:pPr eaLnBrk="1" hangingPunct="1">
              <a:spcBef>
                <a:spcPct val="0"/>
              </a:spcBef>
              <a:buClrTx/>
              <a:buSzTx/>
              <a:buFontTx/>
              <a:buNone/>
            </a:pPr>
            <a:r>
              <a:rPr lang="en-US" sz="1800"/>
              <a:t>Network (with </a:t>
            </a:r>
            <a:endParaRPr lang="en-US" sz="1800"/>
          </a:p>
          <a:p>
            <a:pPr eaLnBrk="1" hangingPunct="1">
              <a:spcBef>
                <a:spcPct val="0"/>
              </a:spcBef>
              <a:buClrTx/>
              <a:buSzTx/>
              <a:buFontTx/>
              <a:buNone/>
            </a:pPr>
            <a:r>
              <a:rPr lang="en-US" sz="1800"/>
              <a:t>abundant bandwidth)</a:t>
            </a:r>
            <a:endParaRPr lang="en-US" sz="1800"/>
          </a:p>
        </p:txBody>
      </p:sp>
      <p:sp>
        <p:nvSpPr>
          <p:cNvPr id="3" name="AutoShape 46"/>
          <p:cNvSpPr>
            <a:spLocks noChangeArrowheads="1"/>
          </p:cNvSpPr>
          <p:nvPr/>
        </p:nvSpPr>
        <p:spPr bwMode="auto">
          <a:xfrm>
            <a:off x="900113" y="3176588"/>
            <a:ext cx="527050" cy="825500"/>
          </a:xfrm>
          <a:prstGeom prst="can">
            <a:avLst>
              <a:gd name="adj" fmla="val 39157"/>
            </a:avLst>
          </a:prstGeom>
          <a:solidFill>
            <a:srgbClr val="009900"/>
          </a:solidFill>
          <a:ln w="9525">
            <a:solidFill>
              <a:schemeClr val="tx1"/>
            </a:solidFill>
            <a:round/>
          </a:ln>
        </p:spPr>
        <p:txBody>
          <a:bodyPr wrap="none" anchor="ctr"/>
          <a:lstStyle/>
          <a:p>
            <a:endParaRPr lang="en-US"/>
          </a:p>
        </p:txBody>
      </p:sp>
      <p:sp>
        <p:nvSpPr>
          <p:cNvPr id="4" name="Text Box 47"/>
          <p:cNvSpPr txBox="1">
            <a:spLocks noChangeArrowheads="1"/>
          </p:cNvSpPr>
          <p:nvPr/>
        </p:nvSpPr>
        <p:spPr bwMode="auto">
          <a:xfrm>
            <a:off x="71438" y="4030663"/>
            <a:ext cx="1658937" cy="366712"/>
          </a:xfrm>
          <a:prstGeom prst="rect">
            <a:avLst/>
          </a:prstGeom>
          <a:noFill/>
          <a:ln w="9525" algn="ctr">
            <a:noFill/>
            <a:miter lim="800000"/>
          </a:ln>
        </p:spPr>
        <p:txBody>
          <a:bodyPr>
            <a:spAutoFit/>
          </a:bodyPr>
          <a:lstStyle/>
          <a:p>
            <a:pPr algn="ctr" eaLnBrk="1" hangingPunct="1">
              <a:spcBef>
                <a:spcPct val="0"/>
              </a:spcBef>
              <a:buClrTx/>
              <a:buSzTx/>
              <a:buFontTx/>
              <a:buNone/>
            </a:pPr>
            <a:r>
              <a:rPr lang="en-US" sz="1800"/>
              <a:t>File, size </a:t>
            </a:r>
            <a:r>
              <a:rPr lang="en-US" sz="1800" i="1"/>
              <a:t>F</a:t>
            </a:r>
            <a:endParaRPr lang="en-US" sz="1800" i="1" baseline="-25000"/>
          </a:p>
        </p:txBody>
      </p:sp>
      <p:sp>
        <p:nvSpPr>
          <p:cNvPr id="20518" name="Text Box 49"/>
          <p:cNvSpPr txBox="1">
            <a:spLocks noChangeArrowheads="1"/>
          </p:cNvSpPr>
          <p:nvPr/>
        </p:nvSpPr>
        <p:spPr bwMode="auto">
          <a:xfrm>
            <a:off x="6151563" y="2300288"/>
            <a:ext cx="2590800" cy="701675"/>
          </a:xfrm>
          <a:prstGeom prst="rect">
            <a:avLst/>
          </a:prstGeom>
          <a:noFill/>
          <a:ln w="9525">
            <a:noFill/>
            <a:miter lim="800000"/>
          </a:ln>
        </p:spPr>
        <p:txBody>
          <a:bodyPr>
            <a:spAutoFit/>
          </a:bodyPr>
          <a:lstStyle/>
          <a:p>
            <a:pPr eaLnBrk="1" hangingPunct="1">
              <a:spcBef>
                <a:spcPct val="0"/>
              </a:spcBef>
              <a:buClrTx/>
              <a:buSzTx/>
              <a:buFontTx/>
              <a:buNone/>
            </a:pPr>
            <a:r>
              <a:rPr lang="en-US" sz="2000" i="1">
                <a:solidFill>
                  <a:srgbClr val="FF3300"/>
                </a:solidFill>
                <a:latin typeface="Arial" panose="020B0604020202020204" pitchFamily="34" charset="0"/>
              </a:rPr>
              <a:t>u</a:t>
            </a:r>
            <a:r>
              <a:rPr lang="en-US" sz="2000" i="1" baseline="-25000">
                <a:solidFill>
                  <a:srgbClr val="FF3300"/>
                </a:solidFill>
                <a:latin typeface="Arial" panose="020B0604020202020204" pitchFamily="34" charset="0"/>
              </a:rPr>
              <a:t>s</a:t>
            </a:r>
            <a:r>
              <a:rPr lang="en-US" sz="2000" i="1">
                <a:solidFill>
                  <a:srgbClr val="FF3300"/>
                </a:solidFill>
                <a:latin typeface="Arial" panose="020B0604020202020204" pitchFamily="34" charset="0"/>
              </a:rPr>
              <a:t>:</a:t>
            </a:r>
            <a:r>
              <a:rPr lang="en-US" sz="2000">
                <a:latin typeface="Arial" panose="020B0604020202020204" pitchFamily="34" charset="0"/>
              </a:rPr>
              <a:t> server upload bandwidth</a:t>
            </a:r>
            <a:endParaRPr lang="en-US" sz="2000">
              <a:latin typeface="Arial" panose="020B0604020202020204" pitchFamily="34" charset="0"/>
            </a:endParaRPr>
          </a:p>
        </p:txBody>
      </p:sp>
      <p:sp>
        <p:nvSpPr>
          <p:cNvPr id="20519" name="Text Box 50"/>
          <p:cNvSpPr txBox="1">
            <a:spLocks noChangeArrowheads="1"/>
          </p:cNvSpPr>
          <p:nvPr/>
        </p:nvSpPr>
        <p:spPr bwMode="auto">
          <a:xfrm>
            <a:off x="6178550" y="3019425"/>
            <a:ext cx="2590800" cy="701675"/>
          </a:xfrm>
          <a:prstGeom prst="rect">
            <a:avLst/>
          </a:prstGeom>
          <a:noFill/>
          <a:ln w="9525">
            <a:noFill/>
            <a:miter lim="800000"/>
          </a:ln>
        </p:spPr>
        <p:txBody>
          <a:bodyPr>
            <a:spAutoFit/>
          </a:bodyPr>
          <a:lstStyle/>
          <a:p>
            <a:pPr eaLnBrk="1" hangingPunct="1">
              <a:spcBef>
                <a:spcPct val="0"/>
              </a:spcBef>
              <a:buClrTx/>
              <a:buSzTx/>
              <a:buFontTx/>
              <a:buNone/>
            </a:pPr>
            <a:r>
              <a:rPr lang="en-US" sz="2000" i="1">
                <a:solidFill>
                  <a:srgbClr val="FF3300"/>
                </a:solidFill>
                <a:latin typeface="Arial" panose="020B0604020202020204" pitchFamily="34" charset="0"/>
              </a:rPr>
              <a:t>u</a:t>
            </a:r>
            <a:r>
              <a:rPr lang="en-US" sz="2000" i="1" baseline="-25000">
                <a:solidFill>
                  <a:srgbClr val="FF3300"/>
                </a:solidFill>
                <a:latin typeface="Arial" panose="020B0604020202020204" pitchFamily="34" charset="0"/>
              </a:rPr>
              <a:t>i</a:t>
            </a:r>
            <a:r>
              <a:rPr lang="en-US" sz="2000" i="1">
                <a:solidFill>
                  <a:srgbClr val="FF3300"/>
                </a:solidFill>
                <a:latin typeface="Arial" panose="020B0604020202020204" pitchFamily="34" charset="0"/>
              </a:rPr>
              <a:t>:</a:t>
            </a:r>
            <a:r>
              <a:rPr lang="en-US" sz="2000">
                <a:latin typeface="Arial" panose="020B0604020202020204" pitchFamily="34" charset="0"/>
              </a:rPr>
              <a:t> peer i upload bandwidth</a:t>
            </a:r>
            <a:endParaRPr lang="en-US" sz="2000">
              <a:latin typeface="Arial" panose="020B0604020202020204" pitchFamily="34" charset="0"/>
            </a:endParaRPr>
          </a:p>
        </p:txBody>
      </p:sp>
      <p:sp>
        <p:nvSpPr>
          <p:cNvPr id="20520" name="Text Box 51"/>
          <p:cNvSpPr txBox="1">
            <a:spLocks noChangeArrowheads="1"/>
          </p:cNvSpPr>
          <p:nvPr/>
        </p:nvSpPr>
        <p:spPr bwMode="auto">
          <a:xfrm>
            <a:off x="6205538" y="3763963"/>
            <a:ext cx="2590800" cy="701675"/>
          </a:xfrm>
          <a:prstGeom prst="rect">
            <a:avLst/>
          </a:prstGeom>
          <a:noFill/>
          <a:ln w="9525">
            <a:noFill/>
            <a:miter lim="800000"/>
          </a:ln>
        </p:spPr>
        <p:txBody>
          <a:bodyPr>
            <a:spAutoFit/>
          </a:bodyPr>
          <a:lstStyle/>
          <a:p>
            <a:pPr eaLnBrk="1" hangingPunct="1">
              <a:spcBef>
                <a:spcPct val="0"/>
              </a:spcBef>
              <a:buClrTx/>
              <a:buSzTx/>
              <a:buFontTx/>
              <a:buNone/>
            </a:pPr>
            <a:r>
              <a:rPr lang="en-US" sz="2000" i="1">
                <a:solidFill>
                  <a:srgbClr val="FF3300"/>
                </a:solidFill>
                <a:latin typeface="Arial" panose="020B0604020202020204" pitchFamily="34" charset="0"/>
              </a:rPr>
              <a:t>d</a:t>
            </a:r>
            <a:r>
              <a:rPr lang="en-US" sz="2000" i="1" baseline="-25000">
                <a:solidFill>
                  <a:srgbClr val="FF3300"/>
                </a:solidFill>
                <a:latin typeface="Arial" panose="020B0604020202020204" pitchFamily="34" charset="0"/>
              </a:rPr>
              <a:t>i</a:t>
            </a:r>
            <a:r>
              <a:rPr lang="en-US" sz="2000" i="1">
                <a:solidFill>
                  <a:srgbClr val="FF3300"/>
                </a:solidFill>
                <a:latin typeface="Arial" panose="020B0604020202020204" pitchFamily="34" charset="0"/>
              </a:rPr>
              <a:t>:</a:t>
            </a:r>
            <a:r>
              <a:rPr lang="en-US" sz="2000">
                <a:latin typeface="Arial" panose="020B0604020202020204" pitchFamily="34" charset="0"/>
              </a:rPr>
              <a:t> peer i download bandwidth</a:t>
            </a:r>
            <a:endParaRPr lang="en-US" sz="2000">
              <a:latin typeface="Arial" panose="020B060402020202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1510" name="Slide Number Placeholder 5"/>
          <p:cNvSpPr>
            <a:spLocks noGrp="1"/>
          </p:cNvSpPr>
          <p:nvPr>
            <p:ph type="sldNum" sz="quarter" idx="12"/>
          </p:nvPr>
        </p:nvSpPr>
        <p:spPr>
          <a:noFill/>
        </p:spPr>
        <p:txBody>
          <a:bodyPr/>
          <a:lstStyle/>
          <a:p>
            <a:fld id="{D608E38C-0FFE-4E68-B9BD-D75BC340DF4F}" type="slidenum">
              <a:rPr lang="en-US"/>
            </a:fld>
            <a:endParaRPr lang="en-US"/>
          </a:p>
        </p:txBody>
      </p:sp>
      <p:sp>
        <p:nvSpPr>
          <p:cNvPr id="21511" name="Rectangle 2"/>
          <p:cNvSpPr>
            <a:spLocks noGrp="1" noChangeArrowheads="1"/>
          </p:cNvSpPr>
          <p:nvPr>
            <p:ph type="title"/>
          </p:nvPr>
        </p:nvSpPr>
        <p:spPr>
          <a:xfrm>
            <a:off x="298450" y="228600"/>
            <a:ext cx="8520113" cy="1143000"/>
          </a:xfrm>
        </p:spPr>
        <p:txBody>
          <a:bodyPr/>
          <a:lstStyle/>
          <a:p>
            <a:r>
              <a:rPr lang="en-US" sz="3200"/>
              <a:t>File distribution time: server-client</a:t>
            </a:r>
            <a:r>
              <a:rPr lang="zh-CN" altLang="en-US" sz="3200">
                <a:ea typeface="宋体" panose="02010600030101010101" pitchFamily="2" charset="-122"/>
                <a:sym typeface="+mn-ea"/>
              </a:rPr>
              <a:t>（课后题）</a:t>
            </a:r>
            <a:endParaRPr lang="en-US" sz="3200"/>
          </a:p>
        </p:txBody>
      </p:sp>
      <p:sp>
        <p:nvSpPr>
          <p:cNvPr id="21512" name="Freeform 4"/>
          <p:cNvSpPr/>
          <p:nvPr/>
        </p:nvSpPr>
        <p:spPr bwMode="auto">
          <a:xfrm>
            <a:off x="5807075" y="2316163"/>
            <a:ext cx="2497138" cy="1677987"/>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round/>
          </a:ln>
        </p:spPr>
        <p:txBody>
          <a:bodyPr wrap="none" anchor="ctr"/>
          <a:lstStyle/>
          <a:p>
            <a:endParaRPr lang="en-US"/>
          </a:p>
        </p:txBody>
      </p:sp>
      <p:grpSp>
        <p:nvGrpSpPr>
          <p:cNvPr id="21513" name="Group 5"/>
          <p:cNvGrpSpPr/>
          <p:nvPr/>
        </p:nvGrpSpPr>
        <p:grpSpPr bwMode="auto">
          <a:xfrm>
            <a:off x="5264150" y="1651000"/>
            <a:ext cx="355600" cy="692150"/>
            <a:chOff x="4180" y="783"/>
            <a:chExt cx="150" cy="307"/>
          </a:xfrm>
        </p:grpSpPr>
        <p:sp>
          <p:nvSpPr>
            <p:cNvPr id="21550" name="AutoShape 6"/>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21551" name="Rectangle 7"/>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21552" name="Rectangle 8"/>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21553" name="AutoShape 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21554" name="Line 10"/>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21555" name="Line 11"/>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21556" name="Rectangle 12"/>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21557" name="Rectangle 13"/>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21514" name="Line 14"/>
          <p:cNvSpPr>
            <a:spLocks noChangeShapeType="1"/>
          </p:cNvSpPr>
          <p:nvPr/>
        </p:nvSpPr>
        <p:spPr bwMode="auto">
          <a:xfrm>
            <a:off x="5440363" y="2332038"/>
            <a:ext cx="531812" cy="242887"/>
          </a:xfrm>
          <a:prstGeom prst="line">
            <a:avLst/>
          </a:prstGeom>
          <a:noFill/>
          <a:ln w="9525">
            <a:solidFill>
              <a:schemeClr val="tx1"/>
            </a:solidFill>
            <a:round/>
            <a:tailEnd type="triangle" w="med" len="med"/>
          </a:ln>
        </p:spPr>
        <p:txBody>
          <a:bodyPr/>
          <a:lstStyle/>
          <a:p>
            <a:endParaRPr lang="en-US"/>
          </a:p>
        </p:txBody>
      </p:sp>
      <p:sp>
        <p:nvSpPr>
          <p:cNvPr id="21515" name="Text Box 15"/>
          <p:cNvSpPr txBox="1">
            <a:spLocks noChangeArrowheads="1"/>
          </p:cNvSpPr>
          <p:nvPr/>
        </p:nvSpPr>
        <p:spPr bwMode="auto">
          <a:xfrm>
            <a:off x="5678488" y="2071688"/>
            <a:ext cx="387350" cy="366712"/>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u</a:t>
            </a:r>
            <a:r>
              <a:rPr lang="en-US" sz="1800" baseline="-25000">
                <a:latin typeface="Arial" panose="020B0604020202020204" pitchFamily="34" charset="0"/>
              </a:rPr>
              <a:t>s</a:t>
            </a:r>
            <a:endParaRPr lang="en-US" sz="1800" baseline="-25000">
              <a:latin typeface="Arial" panose="020B0604020202020204" pitchFamily="34" charset="0"/>
            </a:endParaRPr>
          </a:p>
        </p:txBody>
      </p:sp>
      <p:graphicFrame>
        <p:nvGraphicFramePr>
          <p:cNvPr id="21506" name="Object 16"/>
          <p:cNvGraphicFramePr>
            <a:graphicFrameLocks noChangeAspect="1"/>
          </p:cNvGraphicFramePr>
          <p:nvPr/>
        </p:nvGraphicFramePr>
        <p:xfrm>
          <a:off x="6346825" y="1366838"/>
          <a:ext cx="363538" cy="365125"/>
        </p:xfrm>
        <a:graphic>
          <a:graphicData uri="http://schemas.openxmlformats.org/presentationml/2006/ole">
            <mc:AlternateContent xmlns:mc="http://schemas.openxmlformats.org/markup-compatibility/2006">
              <mc:Choice xmlns:v="urn:schemas-microsoft-com:vml" Requires="v">
                <p:oleObj spid="_x0000_s21539" name="Clip" r:id="rId1" imgW="18192750" imgH="15087600" progId="">
                  <p:embed/>
                </p:oleObj>
              </mc:Choice>
              <mc:Fallback>
                <p:oleObj name="Clip" r:id="rId1" imgW="18192750" imgH="15087600" progId="">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6825" y="1366838"/>
                        <a:ext cx="363538"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6" name="Line 17"/>
          <p:cNvSpPr>
            <a:spLocks noChangeShapeType="1"/>
          </p:cNvSpPr>
          <p:nvPr/>
        </p:nvSpPr>
        <p:spPr bwMode="auto">
          <a:xfrm>
            <a:off x="6586538" y="1677988"/>
            <a:ext cx="150812" cy="714375"/>
          </a:xfrm>
          <a:prstGeom prst="line">
            <a:avLst/>
          </a:prstGeom>
          <a:noFill/>
          <a:ln w="9525">
            <a:solidFill>
              <a:schemeClr val="tx1"/>
            </a:solidFill>
            <a:round/>
            <a:headEnd type="triangle" w="med" len="med"/>
          </a:ln>
        </p:spPr>
        <p:txBody>
          <a:bodyPr/>
          <a:lstStyle/>
          <a:p>
            <a:endParaRPr lang="en-US"/>
          </a:p>
        </p:txBody>
      </p:sp>
      <p:sp>
        <p:nvSpPr>
          <p:cNvPr id="21517" name="Line 18"/>
          <p:cNvSpPr>
            <a:spLocks noChangeShapeType="1"/>
          </p:cNvSpPr>
          <p:nvPr/>
        </p:nvSpPr>
        <p:spPr bwMode="auto">
          <a:xfrm flipH="1" flipV="1">
            <a:off x="6451600" y="1670050"/>
            <a:ext cx="150813" cy="695325"/>
          </a:xfrm>
          <a:prstGeom prst="line">
            <a:avLst/>
          </a:prstGeom>
          <a:noFill/>
          <a:ln w="9525">
            <a:solidFill>
              <a:schemeClr val="tx1"/>
            </a:solidFill>
            <a:round/>
            <a:headEnd type="triangle" w="med" len="med"/>
          </a:ln>
        </p:spPr>
        <p:txBody>
          <a:bodyPr/>
          <a:lstStyle/>
          <a:p>
            <a:endParaRPr lang="en-US"/>
          </a:p>
        </p:txBody>
      </p:sp>
      <p:sp>
        <p:nvSpPr>
          <p:cNvPr id="21518" name="Text Box 19"/>
          <p:cNvSpPr txBox="1">
            <a:spLocks noChangeArrowheads="1"/>
          </p:cNvSpPr>
          <p:nvPr/>
        </p:nvSpPr>
        <p:spPr bwMode="auto">
          <a:xfrm>
            <a:off x="6938963" y="1797050"/>
            <a:ext cx="555625" cy="366713"/>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u</a:t>
            </a:r>
            <a:r>
              <a:rPr lang="en-US" sz="1800" i="1" baseline="-25000">
                <a:latin typeface="Arial" panose="020B0604020202020204" pitchFamily="34" charset="0"/>
              </a:rPr>
              <a:t>2</a:t>
            </a:r>
            <a:endParaRPr lang="en-US" sz="1800" i="1" baseline="-25000">
              <a:latin typeface="Arial" panose="020B0604020202020204" pitchFamily="34" charset="0"/>
            </a:endParaRPr>
          </a:p>
        </p:txBody>
      </p:sp>
      <p:sp>
        <p:nvSpPr>
          <p:cNvPr id="21519" name="Text Box 20"/>
          <p:cNvSpPr txBox="1">
            <a:spLocks noChangeArrowheads="1"/>
          </p:cNvSpPr>
          <p:nvPr/>
        </p:nvSpPr>
        <p:spPr bwMode="auto">
          <a:xfrm>
            <a:off x="6613525" y="1881188"/>
            <a:ext cx="403225"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d</a:t>
            </a:r>
            <a:r>
              <a:rPr lang="en-US" sz="1800" i="1" baseline="-25000">
                <a:latin typeface="Arial" panose="020B0604020202020204" pitchFamily="34" charset="0"/>
              </a:rPr>
              <a:t>1</a:t>
            </a:r>
            <a:endParaRPr lang="en-US" sz="1800" i="1" baseline="-25000">
              <a:latin typeface="Arial" panose="020B0604020202020204" pitchFamily="34" charset="0"/>
            </a:endParaRPr>
          </a:p>
        </p:txBody>
      </p:sp>
      <p:graphicFrame>
        <p:nvGraphicFramePr>
          <p:cNvPr id="21507" name="Object 21"/>
          <p:cNvGraphicFramePr>
            <a:graphicFrameLocks noChangeAspect="1"/>
          </p:cNvGraphicFramePr>
          <p:nvPr/>
        </p:nvGraphicFramePr>
        <p:xfrm>
          <a:off x="7289800" y="1341438"/>
          <a:ext cx="379413" cy="382587"/>
        </p:xfrm>
        <a:graphic>
          <a:graphicData uri="http://schemas.openxmlformats.org/presentationml/2006/ole">
            <mc:AlternateContent xmlns:mc="http://schemas.openxmlformats.org/markup-compatibility/2006">
              <mc:Choice xmlns:v="urn:schemas-microsoft-com:vml" Requires="v">
                <p:oleObj spid="_x0000_s21540" name="Clip" r:id="rId3" imgW="18192750" imgH="15087600" progId="">
                  <p:embed/>
                </p:oleObj>
              </mc:Choice>
              <mc:Fallback>
                <p:oleObj name="Clip" r:id="rId3" imgW="18192750" imgH="15087600" progId="">
                  <p:embed/>
                  <p:pic>
                    <p:nvPicPr>
                      <p:cNvPr id="0" name="Object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9800" y="1341438"/>
                        <a:ext cx="379413" cy="38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20" name="Line 22"/>
          <p:cNvSpPr>
            <a:spLocks noChangeShapeType="1"/>
          </p:cNvSpPr>
          <p:nvPr/>
        </p:nvSpPr>
        <p:spPr bwMode="auto">
          <a:xfrm flipV="1">
            <a:off x="7145338" y="1700213"/>
            <a:ext cx="211137" cy="814387"/>
          </a:xfrm>
          <a:prstGeom prst="line">
            <a:avLst/>
          </a:prstGeom>
          <a:noFill/>
          <a:ln w="9525">
            <a:solidFill>
              <a:schemeClr val="tx1"/>
            </a:solidFill>
            <a:round/>
            <a:headEnd type="triangle" w="med" len="med"/>
          </a:ln>
        </p:spPr>
        <p:txBody>
          <a:bodyPr/>
          <a:lstStyle/>
          <a:p>
            <a:endParaRPr lang="en-US"/>
          </a:p>
        </p:txBody>
      </p:sp>
      <p:sp>
        <p:nvSpPr>
          <p:cNvPr id="21521" name="Line 23"/>
          <p:cNvSpPr>
            <a:spLocks noChangeShapeType="1"/>
          </p:cNvSpPr>
          <p:nvPr/>
        </p:nvSpPr>
        <p:spPr bwMode="auto">
          <a:xfrm flipH="1">
            <a:off x="7272338" y="1762125"/>
            <a:ext cx="219075" cy="822325"/>
          </a:xfrm>
          <a:prstGeom prst="line">
            <a:avLst/>
          </a:prstGeom>
          <a:noFill/>
          <a:ln w="9525">
            <a:solidFill>
              <a:schemeClr val="tx1"/>
            </a:solidFill>
            <a:round/>
            <a:headEnd type="triangle" w="med" len="med"/>
          </a:ln>
        </p:spPr>
        <p:txBody>
          <a:bodyPr/>
          <a:lstStyle/>
          <a:p>
            <a:endParaRPr lang="en-US"/>
          </a:p>
        </p:txBody>
      </p:sp>
      <p:sp>
        <p:nvSpPr>
          <p:cNvPr id="21522" name="Text Box 24"/>
          <p:cNvSpPr txBox="1">
            <a:spLocks noChangeArrowheads="1"/>
          </p:cNvSpPr>
          <p:nvPr/>
        </p:nvSpPr>
        <p:spPr bwMode="auto">
          <a:xfrm>
            <a:off x="7361238" y="1998663"/>
            <a:ext cx="403225"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d</a:t>
            </a:r>
            <a:r>
              <a:rPr lang="en-US" sz="1800" i="1" baseline="-25000">
                <a:latin typeface="Arial" panose="020B0604020202020204" pitchFamily="34" charset="0"/>
              </a:rPr>
              <a:t>2</a:t>
            </a:r>
            <a:endParaRPr lang="en-US" sz="1800" i="1" baseline="-25000">
              <a:latin typeface="Arial" panose="020B0604020202020204" pitchFamily="34" charset="0"/>
            </a:endParaRPr>
          </a:p>
        </p:txBody>
      </p:sp>
      <p:sp>
        <p:nvSpPr>
          <p:cNvPr id="21523" name="Text Box 25"/>
          <p:cNvSpPr txBox="1">
            <a:spLocks noChangeArrowheads="1"/>
          </p:cNvSpPr>
          <p:nvPr/>
        </p:nvSpPr>
        <p:spPr bwMode="auto">
          <a:xfrm>
            <a:off x="6203950" y="1881188"/>
            <a:ext cx="512763"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u</a:t>
            </a:r>
            <a:r>
              <a:rPr lang="en-US" sz="1800" i="1" baseline="-25000">
                <a:latin typeface="Arial" panose="020B0604020202020204" pitchFamily="34" charset="0"/>
              </a:rPr>
              <a:t>1</a:t>
            </a:r>
            <a:endParaRPr lang="en-US" sz="1800" i="1" baseline="-25000">
              <a:latin typeface="Arial" panose="020B0604020202020204" pitchFamily="34" charset="0"/>
            </a:endParaRPr>
          </a:p>
        </p:txBody>
      </p:sp>
      <p:sp>
        <p:nvSpPr>
          <p:cNvPr id="21524" name="Oval 26"/>
          <p:cNvSpPr>
            <a:spLocks noChangeArrowheads="1"/>
          </p:cNvSpPr>
          <p:nvPr/>
        </p:nvSpPr>
        <p:spPr bwMode="auto">
          <a:xfrm>
            <a:off x="5994400" y="3548063"/>
            <a:ext cx="74613" cy="96837"/>
          </a:xfrm>
          <a:prstGeom prst="ellipse">
            <a:avLst/>
          </a:prstGeom>
          <a:solidFill>
            <a:schemeClr val="tx1"/>
          </a:solidFill>
          <a:ln w="9525">
            <a:solidFill>
              <a:schemeClr val="tx1"/>
            </a:solidFill>
            <a:round/>
          </a:ln>
        </p:spPr>
        <p:txBody>
          <a:bodyPr wrap="none" anchor="ctr"/>
          <a:lstStyle/>
          <a:p>
            <a:endParaRPr lang="en-US"/>
          </a:p>
        </p:txBody>
      </p:sp>
      <p:sp>
        <p:nvSpPr>
          <p:cNvPr id="21525" name="Oval 27"/>
          <p:cNvSpPr>
            <a:spLocks noChangeArrowheads="1"/>
          </p:cNvSpPr>
          <p:nvPr/>
        </p:nvSpPr>
        <p:spPr bwMode="auto">
          <a:xfrm>
            <a:off x="6459538" y="3794125"/>
            <a:ext cx="74612" cy="96838"/>
          </a:xfrm>
          <a:prstGeom prst="ellipse">
            <a:avLst/>
          </a:prstGeom>
          <a:solidFill>
            <a:schemeClr val="tx1"/>
          </a:solidFill>
          <a:ln w="9525">
            <a:solidFill>
              <a:schemeClr val="tx1"/>
            </a:solidFill>
            <a:round/>
          </a:ln>
        </p:spPr>
        <p:txBody>
          <a:bodyPr wrap="none" anchor="ctr"/>
          <a:lstStyle/>
          <a:p>
            <a:endParaRPr lang="en-US"/>
          </a:p>
        </p:txBody>
      </p:sp>
      <p:sp>
        <p:nvSpPr>
          <p:cNvPr id="21526" name="Oval 28"/>
          <p:cNvSpPr>
            <a:spLocks noChangeArrowheads="1"/>
          </p:cNvSpPr>
          <p:nvPr/>
        </p:nvSpPr>
        <p:spPr bwMode="auto">
          <a:xfrm>
            <a:off x="6773863" y="3956050"/>
            <a:ext cx="73025" cy="96838"/>
          </a:xfrm>
          <a:prstGeom prst="ellipse">
            <a:avLst/>
          </a:prstGeom>
          <a:solidFill>
            <a:schemeClr val="tx1"/>
          </a:solidFill>
          <a:ln w="9525">
            <a:solidFill>
              <a:schemeClr val="tx1"/>
            </a:solidFill>
            <a:round/>
          </a:ln>
        </p:spPr>
        <p:txBody>
          <a:bodyPr wrap="none" anchor="ctr"/>
          <a:lstStyle/>
          <a:p>
            <a:endParaRPr lang="en-US"/>
          </a:p>
        </p:txBody>
      </p:sp>
      <p:sp>
        <p:nvSpPr>
          <p:cNvPr id="21527" name="Oval 31"/>
          <p:cNvSpPr>
            <a:spLocks noChangeArrowheads="1"/>
          </p:cNvSpPr>
          <p:nvPr/>
        </p:nvSpPr>
        <p:spPr bwMode="auto">
          <a:xfrm>
            <a:off x="8245475" y="3924300"/>
            <a:ext cx="74613" cy="96838"/>
          </a:xfrm>
          <a:prstGeom prst="ellipse">
            <a:avLst/>
          </a:prstGeom>
          <a:solidFill>
            <a:schemeClr val="tx1"/>
          </a:solidFill>
          <a:ln w="9525">
            <a:solidFill>
              <a:schemeClr val="tx1"/>
            </a:solidFill>
            <a:round/>
          </a:ln>
        </p:spPr>
        <p:txBody>
          <a:bodyPr wrap="none" anchor="ctr"/>
          <a:lstStyle/>
          <a:p>
            <a:endParaRPr lang="en-US"/>
          </a:p>
        </p:txBody>
      </p:sp>
      <p:sp>
        <p:nvSpPr>
          <p:cNvPr id="21528" name="Oval 32"/>
          <p:cNvSpPr>
            <a:spLocks noChangeArrowheads="1"/>
          </p:cNvSpPr>
          <p:nvPr/>
        </p:nvSpPr>
        <p:spPr bwMode="auto">
          <a:xfrm>
            <a:off x="8386763" y="3398838"/>
            <a:ext cx="74612" cy="96837"/>
          </a:xfrm>
          <a:prstGeom prst="ellipse">
            <a:avLst/>
          </a:prstGeom>
          <a:solidFill>
            <a:schemeClr val="tx1"/>
          </a:solidFill>
          <a:ln w="9525">
            <a:solidFill>
              <a:schemeClr val="tx1"/>
            </a:solidFill>
            <a:round/>
          </a:ln>
        </p:spPr>
        <p:txBody>
          <a:bodyPr wrap="none" anchor="ctr"/>
          <a:lstStyle/>
          <a:p>
            <a:endParaRPr lang="en-US"/>
          </a:p>
        </p:txBody>
      </p:sp>
      <p:sp>
        <p:nvSpPr>
          <p:cNvPr id="21529" name="Oval 33"/>
          <p:cNvSpPr>
            <a:spLocks noChangeArrowheads="1"/>
          </p:cNvSpPr>
          <p:nvPr/>
        </p:nvSpPr>
        <p:spPr bwMode="auto">
          <a:xfrm>
            <a:off x="7842250" y="2281238"/>
            <a:ext cx="74613" cy="95250"/>
          </a:xfrm>
          <a:prstGeom prst="ellipse">
            <a:avLst/>
          </a:prstGeom>
          <a:solidFill>
            <a:schemeClr val="tx1"/>
          </a:solidFill>
          <a:ln w="9525">
            <a:solidFill>
              <a:schemeClr val="tx1"/>
            </a:solidFill>
            <a:round/>
          </a:ln>
        </p:spPr>
        <p:txBody>
          <a:bodyPr wrap="none" anchor="ctr"/>
          <a:lstStyle/>
          <a:p>
            <a:endParaRPr lang="en-US"/>
          </a:p>
        </p:txBody>
      </p:sp>
      <p:sp>
        <p:nvSpPr>
          <p:cNvPr id="21530" name="Oval 34"/>
          <p:cNvSpPr>
            <a:spLocks noChangeArrowheads="1"/>
          </p:cNvSpPr>
          <p:nvPr/>
        </p:nvSpPr>
        <p:spPr bwMode="auto">
          <a:xfrm>
            <a:off x="8437563" y="2933700"/>
            <a:ext cx="74612" cy="96838"/>
          </a:xfrm>
          <a:prstGeom prst="ellipse">
            <a:avLst/>
          </a:prstGeom>
          <a:solidFill>
            <a:schemeClr val="tx1"/>
          </a:solidFill>
          <a:ln w="9525">
            <a:solidFill>
              <a:schemeClr val="tx1"/>
            </a:solidFill>
            <a:round/>
          </a:ln>
        </p:spPr>
        <p:txBody>
          <a:bodyPr wrap="none" anchor="ctr"/>
          <a:lstStyle/>
          <a:p>
            <a:endParaRPr lang="en-US"/>
          </a:p>
        </p:txBody>
      </p:sp>
      <p:graphicFrame>
        <p:nvGraphicFramePr>
          <p:cNvPr id="21508" name="Object 35"/>
          <p:cNvGraphicFramePr>
            <a:graphicFrameLocks noChangeAspect="1"/>
          </p:cNvGraphicFramePr>
          <p:nvPr/>
        </p:nvGraphicFramePr>
        <p:xfrm>
          <a:off x="4795838" y="2865438"/>
          <a:ext cx="374650" cy="376237"/>
        </p:xfrm>
        <a:graphic>
          <a:graphicData uri="http://schemas.openxmlformats.org/presentationml/2006/ole">
            <mc:AlternateContent xmlns:mc="http://schemas.openxmlformats.org/markup-compatibility/2006">
              <mc:Choice xmlns:v="urn:schemas-microsoft-com:vml" Requires="v">
                <p:oleObj spid="_x0000_s21541" name="Clip" r:id="rId4" imgW="18192750" imgH="15087600" progId="">
                  <p:embed/>
                </p:oleObj>
              </mc:Choice>
              <mc:Fallback>
                <p:oleObj name="Clip" r:id="rId4" imgW="18192750" imgH="15087600" progId="">
                  <p:embed/>
                  <p:pic>
                    <p:nvPicPr>
                      <p:cNvPr id="0" name="Object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5838" y="2865438"/>
                        <a:ext cx="374650" cy="376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31" name="Line 36"/>
          <p:cNvSpPr>
            <a:spLocks noChangeShapeType="1"/>
          </p:cNvSpPr>
          <p:nvPr/>
        </p:nvSpPr>
        <p:spPr bwMode="auto">
          <a:xfrm>
            <a:off x="5146675" y="3043238"/>
            <a:ext cx="673100" cy="0"/>
          </a:xfrm>
          <a:prstGeom prst="line">
            <a:avLst/>
          </a:prstGeom>
          <a:noFill/>
          <a:ln w="9525">
            <a:solidFill>
              <a:schemeClr val="tx1"/>
            </a:solidFill>
            <a:round/>
            <a:tailEnd type="triangle" w="med" len="med"/>
          </a:ln>
        </p:spPr>
        <p:txBody>
          <a:bodyPr/>
          <a:lstStyle/>
          <a:p>
            <a:endParaRPr lang="en-US"/>
          </a:p>
        </p:txBody>
      </p:sp>
      <p:sp>
        <p:nvSpPr>
          <p:cNvPr id="21532" name="Line 37"/>
          <p:cNvSpPr>
            <a:spLocks noChangeShapeType="1"/>
          </p:cNvSpPr>
          <p:nvPr/>
        </p:nvSpPr>
        <p:spPr bwMode="auto">
          <a:xfrm flipH="1">
            <a:off x="5183188" y="3159125"/>
            <a:ext cx="663575" cy="0"/>
          </a:xfrm>
          <a:prstGeom prst="line">
            <a:avLst/>
          </a:prstGeom>
          <a:noFill/>
          <a:ln w="9525">
            <a:solidFill>
              <a:schemeClr val="tx1"/>
            </a:solidFill>
            <a:round/>
            <a:tailEnd type="triangle" w="med" len="med"/>
          </a:ln>
        </p:spPr>
        <p:txBody>
          <a:bodyPr/>
          <a:lstStyle/>
          <a:p>
            <a:endParaRPr lang="en-US"/>
          </a:p>
        </p:txBody>
      </p:sp>
      <p:sp>
        <p:nvSpPr>
          <p:cNvPr id="21533" name="Text Box 38"/>
          <p:cNvSpPr txBox="1">
            <a:spLocks noChangeArrowheads="1"/>
          </p:cNvSpPr>
          <p:nvPr/>
        </p:nvSpPr>
        <p:spPr bwMode="auto">
          <a:xfrm>
            <a:off x="5272088" y="3157538"/>
            <a:ext cx="514350"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u</a:t>
            </a:r>
            <a:r>
              <a:rPr lang="en-US" sz="1800" i="1" baseline="-25000">
                <a:latin typeface="Arial" panose="020B0604020202020204" pitchFamily="34" charset="0"/>
              </a:rPr>
              <a:t>N</a:t>
            </a:r>
            <a:endParaRPr lang="en-US" sz="1800" i="1" baseline="-25000">
              <a:latin typeface="Arial" panose="020B0604020202020204" pitchFamily="34" charset="0"/>
            </a:endParaRPr>
          </a:p>
        </p:txBody>
      </p:sp>
      <p:sp>
        <p:nvSpPr>
          <p:cNvPr id="21534" name="Text Box 39"/>
          <p:cNvSpPr txBox="1">
            <a:spLocks noChangeArrowheads="1"/>
          </p:cNvSpPr>
          <p:nvPr/>
        </p:nvSpPr>
        <p:spPr bwMode="auto">
          <a:xfrm>
            <a:off x="5273675" y="2690813"/>
            <a:ext cx="528638"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d</a:t>
            </a:r>
            <a:r>
              <a:rPr lang="en-US" sz="1800" i="1" baseline="-25000">
                <a:latin typeface="Arial" panose="020B0604020202020204" pitchFamily="34" charset="0"/>
              </a:rPr>
              <a:t>N</a:t>
            </a:r>
            <a:endParaRPr lang="en-US" sz="1800" i="1" baseline="-25000">
              <a:latin typeface="Arial" panose="020B0604020202020204" pitchFamily="34" charset="0"/>
            </a:endParaRPr>
          </a:p>
        </p:txBody>
      </p:sp>
      <p:sp>
        <p:nvSpPr>
          <p:cNvPr id="21535" name="Text Box 40"/>
          <p:cNvSpPr txBox="1">
            <a:spLocks noChangeArrowheads="1"/>
          </p:cNvSpPr>
          <p:nvPr/>
        </p:nvSpPr>
        <p:spPr bwMode="auto">
          <a:xfrm>
            <a:off x="5081588" y="1295400"/>
            <a:ext cx="1011237" cy="366713"/>
          </a:xfrm>
          <a:prstGeom prst="rect">
            <a:avLst/>
          </a:prstGeom>
          <a:noFill/>
          <a:ln w="9525" algn="ctr">
            <a:noFill/>
            <a:miter lim="800000"/>
          </a:ln>
        </p:spPr>
        <p:txBody>
          <a:bodyPr>
            <a:spAutoFit/>
          </a:bodyPr>
          <a:lstStyle/>
          <a:p>
            <a:pPr algn="ctr" eaLnBrk="1" hangingPunct="1">
              <a:spcBef>
                <a:spcPct val="0"/>
              </a:spcBef>
              <a:buClrTx/>
              <a:buSzTx/>
              <a:buFontTx/>
              <a:buNone/>
            </a:pPr>
            <a:r>
              <a:rPr lang="en-US" sz="1800"/>
              <a:t>Server</a:t>
            </a:r>
            <a:endParaRPr lang="en-US" sz="1800" baseline="-25000"/>
          </a:p>
        </p:txBody>
      </p:sp>
      <p:sp>
        <p:nvSpPr>
          <p:cNvPr id="21536" name="Text Box 41"/>
          <p:cNvSpPr txBox="1">
            <a:spLocks noChangeArrowheads="1"/>
          </p:cNvSpPr>
          <p:nvPr/>
        </p:nvSpPr>
        <p:spPr bwMode="auto">
          <a:xfrm>
            <a:off x="5889625" y="2625725"/>
            <a:ext cx="2408238" cy="641350"/>
          </a:xfrm>
          <a:prstGeom prst="rect">
            <a:avLst/>
          </a:prstGeom>
          <a:noFill/>
          <a:ln w="9525">
            <a:noFill/>
            <a:miter lim="800000"/>
          </a:ln>
        </p:spPr>
        <p:txBody>
          <a:bodyPr wrap="none">
            <a:spAutoFit/>
          </a:bodyPr>
          <a:lstStyle/>
          <a:p>
            <a:pPr eaLnBrk="1" hangingPunct="1">
              <a:spcBef>
                <a:spcPct val="0"/>
              </a:spcBef>
              <a:buClrTx/>
              <a:buSzTx/>
              <a:buFontTx/>
              <a:buNone/>
            </a:pPr>
            <a:r>
              <a:rPr lang="en-US" sz="1800"/>
              <a:t>Network (with </a:t>
            </a:r>
            <a:endParaRPr lang="en-US" sz="1800"/>
          </a:p>
          <a:p>
            <a:pPr eaLnBrk="1" hangingPunct="1">
              <a:spcBef>
                <a:spcPct val="0"/>
              </a:spcBef>
              <a:buClrTx/>
              <a:buSzTx/>
              <a:buFontTx/>
              <a:buNone/>
            </a:pPr>
            <a:r>
              <a:rPr lang="en-US" sz="1800"/>
              <a:t>abundant bandwidth)</a:t>
            </a:r>
            <a:endParaRPr lang="en-US" sz="1800"/>
          </a:p>
        </p:txBody>
      </p:sp>
      <p:sp>
        <p:nvSpPr>
          <p:cNvPr id="21537" name="AutoShape 42"/>
          <p:cNvSpPr>
            <a:spLocks noChangeArrowheads="1"/>
          </p:cNvSpPr>
          <p:nvPr/>
        </p:nvSpPr>
        <p:spPr bwMode="auto">
          <a:xfrm>
            <a:off x="4832350" y="1647825"/>
            <a:ext cx="347663" cy="644525"/>
          </a:xfrm>
          <a:prstGeom prst="can">
            <a:avLst>
              <a:gd name="adj" fmla="val 46347"/>
            </a:avLst>
          </a:prstGeom>
          <a:solidFill>
            <a:srgbClr val="009900"/>
          </a:solidFill>
          <a:ln w="9525">
            <a:solidFill>
              <a:schemeClr val="tx1"/>
            </a:solidFill>
            <a:round/>
          </a:ln>
        </p:spPr>
        <p:txBody>
          <a:bodyPr wrap="none" anchor="ctr"/>
          <a:lstStyle/>
          <a:p>
            <a:endParaRPr lang="en-US"/>
          </a:p>
        </p:txBody>
      </p:sp>
      <p:sp>
        <p:nvSpPr>
          <p:cNvPr id="21538" name="Text Box 43"/>
          <p:cNvSpPr txBox="1">
            <a:spLocks noChangeArrowheads="1"/>
          </p:cNvSpPr>
          <p:nvPr/>
        </p:nvSpPr>
        <p:spPr bwMode="auto">
          <a:xfrm>
            <a:off x="4779963" y="1828800"/>
            <a:ext cx="411162" cy="366713"/>
          </a:xfrm>
          <a:prstGeom prst="rect">
            <a:avLst/>
          </a:prstGeom>
          <a:noFill/>
          <a:ln w="9525" algn="ctr">
            <a:noFill/>
            <a:miter lim="800000"/>
          </a:ln>
        </p:spPr>
        <p:txBody>
          <a:bodyPr>
            <a:spAutoFit/>
          </a:bodyPr>
          <a:lstStyle/>
          <a:p>
            <a:pPr algn="ctr" eaLnBrk="1" hangingPunct="1">
              <a:spcBef>
                <a:spcPct val="0"/>
              </a:spcBef>
              <a:buClrTx/>
              <a:buSzTx/>
              <a:buFontTx/>
              <a:buNone/>
            </a:pPr>
            <a:r>
              <a:rPr lang="en-US" sz="1800" i="1">
                <a:solidFill>
                  <a:schemeClr val="bg1"/>
                </a:solidFill>
              </a:rPr>
              <a:t>F</a:t>
            </a:r>
            <a:endParaRPr lang="en-US" sz="1800" i="1" baseline="-25000">
              <a:solidFill>
                <a:schemeClr val="bg1"/>
              </a:solidFill>
            </a:endParaRPr>
          </a:p>
        </p:txBody>
      </p:sp>
      <p:sp>
        <p:nvSpPr>
          <p:cNvPr id="2" name="Rectangle 47"/>
          <p:cNvSpPr>
            <a:spLocks noGrp="1" noChangeArrowheads="1"/>
          </p:cNvSpPr>
          <p:nvPr>
            <p:ph type="body" idx="1"/>
          </p:nvPr>
        </p:nvSpPr>
        <p:spPr>
          <a:xfrm>
            <a:off x="385763" y="1614488"/>
            <a:ext cx="3760787" cy="4648200"/>
          </a:xfrm>
        </p:spPr>
        <p:txBody>
          <a:bodyPr/>
          <a:lstStyle/>
          <a:p>
            <a:r>
              <a:rPr lang="en-US"/>
              <a:t>server sequentially sends N copies:</a:t>
            </a:r>
            <a:endParaRPr lang="en-US"/>
          </a:p>
          <a:p>
            <a:pPr lvl="1"/>
            <a:r>
              <a:rPr lang="en-US" i="1"/>
              <a:t>NF/u</a:t>
            </a:r>
            <a:r>
              <a:rPr lang="en-US" i="1" baseline="-25000"/>
              <a:t>s</a:t>
            </a:r>
            <a:r>
              <a:rPr lang="en-US" baseline="-25000"/>
              <a:t> </a:t>
            </a:r>
            <a:r>
              <a:rPr lang="en-US"/>
              <a:t>time </a:t>
            </a:r>
            <a:endParaRPr lang="en-US"/>
          </a:p>
          <a:p>
            <a:r>
              <a:rPr lang="en-US"/>
              <a:t>client i takes F/d</a:t>
            </a:r>
            <a:r>
              <a:rPr lang="en-US" baseline="-25000"/>
              <a:t>i </a:t>
            </a:r>
            <a:r>
              <a:rPr lang="en-US"/>
              <a:t>time to download</a:t>
            </a:r>
            <a:endParaRPr lang="en-US"/>
          </a:p>
        </p:txBody>
      </p:sp>
      <p:sp>
        <p:nvSpPr>
          <p:cNvPr id="245813" name="Line 53"/>
          <p:cNvSpPr>
            <a:spLocks noChangeShapeType="1"/>
          </p:cNvSpPr>
          <p:nvPr/>
        </p:nvSpPr>
        <p:spPr bwMode="auto">
          <a:xfrm flipV="1">
            <a:off x="4986338" y="5334000"/>
            <a:ext cx="430212" cy="692150"/>
          </a:xfrm>
          <a:prstGeom prst="line">
            <a:avLst/>
          </a:prstGeom>
          <a:noFill/>
          <a:ln w="9525">
            <a:solidFill>
              <a:schemeClr val="tx1"/>
            </a:solidFill>
            <a:round/>
          </a:ln>
        </p:spPr>
        <p:txBody>
          <a:bodyPr/>
          <a:lstStyle/>
          <a:p>
            <a:endParaRPr lang="en-US"/>
          </a:p>
        </p:txBody>
      </p:sp>
      <p:sp>
        <p:nvSpPr>
          <p:cNvPr id="245814" name="Text Box 54"/>
          <p:cNvSpPr txBox="1">
            <a:spLocks noChangeArrowheads="1"/>
          </p:cNvSpPr>
          <p:nvPr/>
        </p:nvSpPr>
        <p:spPr bwMode="auto">
          <a:xfrm>
            <a:off x="4506913" y="5922963"/>
            <a:ext cx="3319462" cy="749300"/>
          </a:xfrm>
          <a:prstGeom prst="rect">
            <a:avLst/>
          </a:prstGeom>
          <a:noFill/>
          <a:ln w="9525" algn="ctr">
            <a:noFill/>
            <a:miter lim="800000"/>
          </a:ln>
        </p:spPr>
        <p:txBody>
          <a:bodyPr wrap="none">
            <a:spAutoFit/>
          </a:bodyPr>
          <a:lstStyle/>
          <a:p>
            <a:pPr marL="342900" indent="-342900">
              <a:lnSpc>
                <a:spcPct val="80000"/>
              </a:lnSpc>
            </a:pPr>
            <a:r>
              <a:rPr lang="en-US"/>
              <a:t>increases linearly in N</a:t>
            </a:r>
            <a:endParaRPr lang="en-US"/>
          </a:p>
          <a:p>
            <a:pPr marL="342900" indent="-342900">
              <a:lnSpc>
                <a:spcPct val="80000"/>
              </a:lnSpc>
            </a:pPr>
            <a:r>
              <a:rPr lang="en-US"/>
              <a:t>(for large N)</a:t>
            </a:r>
            <a:endParaRPr lang="en-US"/>
          </a:p>
        </p:txBody>
      </p:sp>
      <p:grpSp>
        <p:nvGrpSpPr>
          <p:cNvPr id="3" name="Group 56"/>
          <p:cNvGrpSpPr/>
          <p:nvPr/>
        </p:nvGrpSpPr>
        <p:grpSpPr bwMode="auto">
          <a:xfrm>
            <a:off x="331788" y="4048125"/>
            <a:ext cx="8369300" cy="1798638"/>
            <a:chOff x="209" y="2550"/>
            <a:chExt cx="5272" cy="1133"/>
          </a:xfrm>
        </p:grpSpPr>
        <p:sp>
          <p:nvSpPr>
            <p:cNvPr id="21543" name="Oval 29"/>
            <p:cNvSpPr>
              <a:spLocks noChangeArrowheads="1"/>
            </p:cNvSpPr>
            <p:nvPr/>
          </p:nvSpPr>
          <p:spPr bwMode="auto">
            <a:xfrm>
              <a:off x="4566" y="2550"/>
              <a:ext cx="47" cy="61"/>
            </a:xfrm>
            <a:prstGeom prst="ellipse">
              <a:avLst/>
            </a:prstGeom>
            <a:solidFill>
              <a:schemeClr val="tx1"/>
            </a:solidFill>
            <a:ln w="9525">
              <a:solidFill>
                <a:schemeClr val="tx1"/>
              </a:solidFill>
              <a:round/>
            </a:ln>
          </p:spPr>
          <p:txBody>
            <a:bodyPr wrap="none" anchor="ctr"/>
            <a:lstStyle/>
            <a:p>
              <a:endParaRPr lang="en-US"/>
            </a:p>
          </p:txBody>
        </p:sp>
        <p:sp>
          <p:nvSpPr>
            <p:cNvPr id="21544" name="Oval 30"/>
            <p:cNvSpPr>
              <a:spLocks noChangeArrowheads="1"/>
            </p:cNvSpPr>
            <p:nvPr/>
          </p:nvSpPr>
          <p:spPr bwMode="auto">
            <a:xfrm>
              <a:off x="4942" y="2593"/>
              <a:ext cx="47" cy="61"/>
            </a:xfrm>
            <a:prstGeom prst="ellipse">
              <a:avLst/>
            </a:prstGeom>
            <a:solidFill>
              <a:schemeClr val="tx1"/>
            </a:solidFill>
            <a:ln w="9525">
              <a:solidFill>
                <a:schemeClr val="tx1"/>
              </a:solidFill>
              <a:round/>
            </a:ln>
          </p:spPr>
          <p:txBody>
            <a:bodyPr wrap="none" anchor="ctr"/>
            <a:lstStyle/>
            <a:p>
              <a:endParaRPr lang="en-US"/>
            </a:p>
          </p:txBody>
        </p:sp>
        <p:grpSp>
          <p:nvGrpSpPr>
            <p:cNvPr id="21545" name="Group 52"/>
            <p:cNvGrpSpPr/>
            <p:nvPr/>
          </p:nvGrpSpPr>
          <p:grpSpPr bwMode="auto">
            <a:xfrm>
              <a:off x="2473" y="3048"/>
              <a:ext cx="2867" cy="450"/>
              <a:chOff x="693" y="3074"/>
              <a:chExt cx="2867" cy="450"/>
            </a:xfrm>
          </p:grpSpPr>
          <p:sp>
            <p:nvSpPr>
              <p:cNvPr id="21548" name="Text Box 49"/>
              <p:cNvSpPr txBox="1">
                <a:spLocks noChangeArrowheads="1"/>
              </p:cNvSpPr>
              <p:nvPr/>
            </p:nvSpPr>
            <p:spPr bwMode="auto">
              <a:xfrm>
                <a:off x="693" y="3074"/>
                <a:ext cx="2867" cy="327"/>
              </a:xfrm>
              <a:prstGeom prst="rect">
                <a:avLst/>
              </a:prstGeom>
              <a:noFill/>
              <a:ln w="9525" algn="ctr">
                <a:noFill/>
                <a:miter lim="800000"/>
              </a:ln>
            </p:spPr>
            <p:txBody>
              <a:bodyPr wrap="none">
                <a:spAutoFit/>
              </a:bodyPr>
              <a:lstStyle/>
              <a:p>
                <a:pPr marL="342900" indent="-342900"/>
                <a:r>
                  <a:rPr lang="en-US"/>
                  <a:t>= d</a:t>
                </a:r>
                <a:r>
                  <a:rPr lang="en-US" baseline="-25000"/>
                  <a:t>cs</a:t>
                </a:r>
                <a:r>
                  <a:rPr lang="en-US"/>
                  <a:t> = max </a:t>
                </a:r>
                <a:r>
                  <a:rPr lang="en-US" sz="2800"/>
                  <a:t>{</a:t>
                </a:r>
                <a:r>
                  <a:rPr lang="en-US"/>
                  <a:t> </a:t>
                </a:r>
                <a:r>
                  <a:rPr lang="en-US" i="1"/>
                  <a:t>NF/u</a:t>
                </a:r>
                <a:r>
                  <a:rPr lang="en-US" i="1" baseline="-25000"/>
                  <a:t>s</a:t>
                </a:r>
                <a:r>
                  <a:rPr lang="en-US" i="1"/>
                  <a:t>, F/min(d</a:t>
                </a:r>
                <a:r>
                  <a:rPr lang="en-US" i="1" baseline="-25000"/>
                  <a:t>i</a:t>
                </a:r>
                <a:r>
                  <a:rPr lang="en-US" i="1"/>
                  <a:t>)</a:t>
                </a:r>
                <a:r>
                  <a:rPr lang="en-US"/>
                  <a:t> </a:t>
                </a:r>
                <a:r>
                  <a:rPr lang="en-US" sz="2800"/>
                  <a:t>}</a:t>
                </a:r>
                <a:endParaRPr lang="en-US" sz="2800"/>
              </a:p>
            </p:txBody>
          </p:sp>
          <p:sp>
            <p:nvSpPr>
              <p:cNvPr id="21549" name="Text Box 50"/>
              <p:cNvSpPr txBox="1">
                <a:spLocks noChangeArrowheads="1"/>
              </p:cNvSpPr>
              <p:nvPr/>
            </p:nvSpPr>
            <p:spPr bwMode="auto">
              <a:xfrm>
                <a:off x="2863" y="3274"/>
                <a:ext cx="161" cy="250"/>
              </a:xfrm>
              <a:prstGeom prst="rect">
                <a:avLst/>
              </a:prstGeom>
              <a:noFill/>
              <a:ln w="9525" algn="ctr">
                <a:noFill/>
                <a:miter lim="800000"/>
              </a:ln>
            </p:spPr>
            <p:txBody>
              <a:bodyPr wrap="none">
                <a:spAutoFit/>
              </a:bodyPr>
              <a:lstStyle/>
              <a:p>
                <a:pPr marL="342900" indent="-342900"/>
                <a:r>
                  <a:rPr lang="en-US" sz="2000" i="1"/>
                  <a:t>i</a:t>
                </a:r>
                <a:endParaRPr lang="en-US" sz="2000" i="1"/>
              </a:p>
            </p:txBody>
          </p:sp>
        </p:grpSp>
        <p:sp>
          <p:nvSpPr>
            <p:cNvPr id="21546" name="Text Box 51"/>
            <p:cNvSpPr txBox="1">
              <a:spLocks noChangeArrowheads="1"/>
            </p:cNvSpPr>
            <p:nvPr/>
          </p:nvSpPr>
          <p:spPr bwMode="auto">
            <a:xfrm>
              <a:off x="321" y="2888"/>
              <a:ext cx="2215" cy="702"/>
            </a:xfrm>
            <a:prstGeom prst="rect">
              <a:avLst/>
            </a:prstGeom>
            <a:noFill/>
            <a:ln w="9525" algn="ctr">
              <a:noFill/>
              <a:miter lim="800000"/>
            </a:ln>
          </p:spPr>
          <p:txBody>
            <a:bodyPr wrap="none">
              <a:spAutoFit/>
            </a:bodyPr>
            <a:lstStyle/>
            <a:p>
              <a:pPr marL="342900" indent="-342900" algn="r">
                <a:lnSpc>
                  <a:spcPct val="80000"/>
                </a:lnSpc>
              </a:pPr>
              <a:r>
                <a:rPr lang="en-US"/>
                <a:t>Time to  distribute </a:t>
              </a:r>
              <a:r>
                <a:rPr lang="en-US" i="1"/>
                <a:t>F</a:t>
              </a:r>
              <a:r>
                <a:rPr lang="en-US"/>
                <a:t> </a:t>
              </a:r>
              <a:endParaRPr lang="en-US"/>
            </a:p>
            <a:p>
              <a:pPr marL="342900" indent="-342900" algn="r">
                <a:lnSpc>
                  <a:spcPct val="80000"/>
                </a:lnSpc>
              </a:pPr>
              <a:r>
                <a:rPr lang="en-US"/>
                <a:t>to </a:t>
              </a:r>
              <a:r>
                <a:rPr lang="en-US" i="1"/>
                <a:t>N</a:t>
              </a:r>
              <a:r>
                <a:rPr lang="en-US"/>
                <a:t> clients using </a:t>
              </a:r>
              <a:endParaRPr lang="en-US"/>
            </a:p>
            <a:p>
              <a:pPr marL="342900" indent="-342900" algn="r">
                <a:lnSpc>
                  <a:spcPct val="80000"/>
                </a:lnSpc>
              </a:pPr>
              <a:r>
                <a:rPr lang="en-US"/>
                <a:t>client/server approach </a:t>
              </a:r>
              <a:endParaRPr lang="en-US" sz="2800"/>
            </a:p>
          </p:txBody>
        </p:sp>
        <p:sp>
          <p:nvSpPr>
            <p:cNvPr id="21547" name="Rectangle 55"/>
            <p:cNvSpPr>
              <a:spLocks noChangeArrowheads="1"/>
            </p:cNvSpPr>
            <p:nvPr/>
          </p:nvSpPr>
          <p:spPr bwMode="auto">
            <a:xfrm>
              <a:off x="209" y="2740"/>
              <a:ext cx="5272" cy="943"/>
            </a:xfrm>
            <a:prstGeom prst="rect">
              <a:avLst/>
            </a:prstGeom>
            <a:noFill/>
            <a:ln w="9525" algn="ctr">
              <a:solidFill>
                <a:srgbClr val="FF3300"/>
              </a:solidFill>
              <a:miter lim="800000"/>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8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58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3" grpId="0" animBg="1"/>
      <p:bldP spid="24581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2534" name="Slide Number Placeholder 5"/>
          <p:cNvSpPr>
            <a:spLocks noGrp="1"/>
          </p:cNvSpPr>
          <p:nvPr>
            <p:ph type="sldNum" sz="quarter" idx="12"/>
          </p:nvPr>
        </p:nvSpPr>
        <p:spPr>
          <a:noFill/>
        </p:spPr>
        <p:txBody>
          <a:bodyPr/>
          <a:lstStyle/>
          <a:p>
            <a:fld id="{F0556E6F-6868-4657-8004-1A92A4B61FD2}" type="slidenum">
              <a:rPr lang="en-US"/>
            </a:fld>
            <a:endParaRPr lang="en-US"/>
          </a:p>
        </p:txBody>
      </p:sp>
      <p:sp>
        <p:nvSpPr>
          <p:cNvPr id="22535" name="Rectangle 2"/>
          <p:cNvSpPr>
            <a:spLocks noGrp="1" noChangeArrowheads="1"/>
          </p:cNvSpPr>
          <p:nvPr>
            <p:ph type="title"/>
          </p:nvPr>
        </p:nvSpPr>
        <p:spPr>
          <a:xfrm>
            <a:off x="298450" y="228600"/>
            <a:ext cx="8520113" cy="1143000"/>
          </a:xfrm>
        </p:spPr>
        <p:txBody>
          <a:bodyPr/>
          <a:lstStyle/>
          <a:p>
            <a:r>
              <a:rPr lang="en-US" sz="3200"/>
              <a:t>File distribution time: P2P</a:t>
            </a:r>
            <a:r>
              <a:rPr lang="zh-CN" altLang="en-US" sz="3200">
                <a:ea typeface="宋体" panose="02010600030101010101" pitchFamily="2" charset="-122"/>
              </a:rPr>
              <a:t>（课后题）</a:t>
            </a:r>
            <a:endParaRPr lang="zh-CN" altLang="en-US" sz="3200">
              <a:ea typeface="宋体" panose="02010600030101010101" pitchFamily="2" charset="-122"/>
            </a:endParaRPr>
          </a:p>
        </p:txBody>
      </p:sp>
      <p:sp>
        <p:nvSpPr>
          <p:cNvPr id="22536" name="Freeform 3"/>
          <p:cNvSpPr/>
          <p:nvPr/>
        </p:nvSpPr>
        <p:spPr bwMode="auto">
          <a:xfrm>
            <a:off x="5807075" y="2316163"/>
            <a:ext cx="2497138" cy="1677987"/>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round/>
          </a:ln>
        </p:spPr>
        <p:txBody>
          <a:bodyPr wrap="none" anchor="ctr"/>
          <a:lstStyle/>
          <a:p>
            <a:endParaRPr lang="en-US"/>
          </a:p>
        </p:txBody>
      </p:sp>
      <p:grpSp>
        <p:nvGrpSpPr>
          <p:cNvPr id="22537" name="Group 4"/>
          <p:cNvGrpSpPr/>
          <p:nvPr/>
        </p:nvGrpSpPr>
        <p:grpSpPr bwMode="auto">
          <a:xfrm>
            <a:off x="5264150" y="1651000"/>
            <a:ext cx="355600" cy="692150"/>
            <a:chOff x="4180" y="783"/>
            <a:chExt cx="150" cy="307"/>
          </a:xfrm>
        </p:grpSpPr>
        <p:sp>
          <p:nvSpPr>
            <p:cNvPr id="22572" name="AutoShape 5"/>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22573" name="Rectangle 6"/>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22574" name="Rectangle 7"/>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22575" name="AutoShape 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22576" name="Line 9"/>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22577" name="Line 10"/>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22578" name="Rectangle 11"/>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22579" name="Rectangle 12"/>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22538" name="Line 13"/>
          <p:cNvSpPr>
            <a:spLocks noChangeShapeType="1"/>
          </p:cNvSpPr>
          <p:nvPr/>
        </p:nvSpPr>
        <p:spPr bwMode="auto">
          <a:xfrm>
            <a:off x="5440363" y="2332038"/>
            <a:ext cx="531812" cy="242887"/>
          </a:xfrm>
          <a:prstGeom prst="line">
            <a:avLst/>
          </a:prstGeom>
          <a:noFill/>
          <a:ln w="9525">
            <a:solidFill>
              <a:schemeClr val="tx1"/>
            </a:solidFill>
            <a:round/>
            <a:tailEnd type="triangle" w="med" len="med"/>
          </a:ln>
        </p:spPr>
        <p:txBody>
          <a:bodyPr/>
          <a:lstStyle/>
          <a:p>
            <a:endParaRPr lang="en-US"/>
          </a:p>
        </p:txBody>
      </p:sp>
      <p:sp>
        <p:nvSpPr>
          <p:cNvPr id="22539" name="Text Box 14"/>
          <p:cNvSpPr txBox="1">
            <a:spLocks noChangeArrowheads="1"/>
          </p:cNvSpPr>
          <p:nvPr/>
        </p:nvSpPr>
        <p:spPr bwMode="auto">
          <a:xfrm>
            <a:off x="5678488" y="2071688"/>
            <a:ext cx="387350" cy="366712"/>
          </a:xfrm>
          <a:prstGeom prst="rect">
            <a:avLst/>
          </a:prstGeom>
          <a:noFill/>
          <a:ln w="9525">
            <a:noFill/>
            <a:miter lim="800000"/>
          </a:ln>
        </p:spPr>
        <p:txBody>
          <a:bodyPr wrap="none">
            <a:spAutoFit/>
          </a:bodyPr>
          <a:lstStyle/>
          <a:p>
            <a:pPr eaLnBrk="1" hangingPunct="1">
              <a:spcBef>
                <a:spcPct val="0"/>
              </a:spcBef>
              <a:buClrTx/>
              <a:buSzTx/>
              <a:buFontTx/>
              <a:buNone/>
            </a:pPr>
            <a:r>
              <a:rPr lang="en-US" sz="1800">
                <a:latin typeface="Arial" panose="020B0604020202020204" pitchFamily="34" charset="0"/>
              </a:rPr>
              <a:t>u</a:t>
            </a:r>
            <a:r>
              <a:rPr lang="en-US" sz="1800" baseline="-25000">
                <a:latin typeface="Arial" panose="020B0604020202020204" pitchFamily="34" charset="0"/>
              </a:rPr>
              <a:t>s</a:t>
            </a:r>
            <a:endParaRPr lang="en-US" sz="1800" baseline="-25000">
              <a:latin typeface="Arial" panose="020B0604020202020204" pitchFamily="34" charset="0"/>
            </a:endParaRPr>
          </a:p>
        </p:txBody>
      </p:sp>
      <p:graphicFrame>
        <p:nvGraphicFramePr>
          <p:cNvPr id="22530" name="Object 15"/>
          <p:cNvGraphicFramePr>
            <a:graphicFrameLocks noChangeAspect="1"/>
          </p:cNvGraphicFramePr>
          <p:nvPr/>
        </p:nvGraphicFramePr>
        <p:xfrm>
          <a:off x="6346825" y="1366838"/>
          <a:ext cx="363538" cy="365125"/>
        </p:xfrm>
        <a:graphic>
          <a:graphicData uri="http://schemas.openxmlformats.org/presentationml/2006/ole">
            <mc:AlternateContent xmlns:mc="http://schemas.openxmlformats.org/markup-compatibility/2006">
              <mc:Choice xmlns:v="urn:schemas-microsoft-com:vml" Requires="v">
                <p:oleObj spid="_x0000_s22563" name="Clip" r:id="rId1" imgW="18192750" imgH="15087600" progId="">
                  <p:embed/>
                </p:oleObj>
              </mc:Choice>
              <mc:Fallback>
                <p:oleObj name="Clip" r:id="rId1" imgW="18192750" imgH="15087600" progId="">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6825" y="1366838"/>
                        <a:ext cx="363538"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0" name="Line 16"/>
          <p:cNvSpPr>
            <a:spLocks noChangeShapeType="1"/>
          </p:cNvSpPr>
          <p:nvPr/>
        </p:nvSpPr>
        <p:spPr bwMode="auto">
          <a:xfrm>
            <a:off x="6586538" y="1677988"/>
            <a:ext cx="150812" cy="714375"/>
          </a:xfrm>
          <a:prstGeom prst="line">
            <a:avLst/>
          </a:prstGeom>
          <a:noFill/>
          <a:ln w="9525">
            <a:solidFill>
              <a:schemeClr val="tx1"/>
            </a:solidFill>
            <a:round/>
            <a:headEnd type="triangle" w="med" len="med"/>
          </a:ln>
        </p:spPr>
        <p:txBody>
          <a:bodyPr/>
          <a:lstStyle/>
          <a:p>
            <a:endParaRPr lang="en-US"/>
          </a:p>
        </p:txBody>
      </p:sp>
      <p:sp>
        <p:nvSpPr>
          <p:cNvPr id="22541" name="Line 17"/>
          <p:cNvSpPr>
            <a:spLocks noChangeShapeType="1"/>
          </p:cNvSpPr>
          <p:nvPr/>
        </p:nvSpPr>
        <p:spPr bwMode="auto">
          <a:xfrm flipH="1" flipV="1">
            <a:off x="6451600" y="1670050"/>
            <a:ext cx="150813" cy="695325"/>
          </a:xfrm>
          <a:prstGeom prst="line">
            <a:avLst/>
          </a:prstGeom>
          <a:noFill/>
          <a:ln w="9525">
            <a:solidFill>
              <a:schemeClr val="tx1"/>
            </a:solidFill>
            <a:round/>
            <a:headEnd type="triangle" w="med" len="med"/>
          </a:ln>
        </p:spPr>
        <p:txBody>
          <a:bodyPr/>
          <a:lstStyle/>
          <a:p>
            <a:endParaRPr lang="en-US"/>
          </a:p>
        </p:txBody>
      </p:sp>
      <p:sp>
        <p:nvSpPr>
          <p:cNvPr id="22542" name="Text Box 18"/>
          <p:cNvSpPr txBox="1">
            <a:spLocks noChangeArrowheads="1"/>
          </p:cNvSpPr>
          <p:nvPr/>
        </p:nvSpPr>
        <p:spPr bwMode="auto">
          <a:xfrm>
            <a:off x="6938963" y="1797050"/>
            <a:ext cx="555625" cy="366713"/>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u</a:t>
            </a:r>
            <a:r>
              <a:rPr lang="en-US" sz="1800" i="1" baseline="-25000">
                <a:latin typeface="Arial" panose="020B0604020202020204" pitchFamily="34" charset="0"/>
              </a:rPr>
              <a:t>2</a:t>
            </a:r>
            <a:endParaRPr lang="en-US" sz="1800" i="1" baseline="-25000">
              <a:latin typeface="Arial" panose="020B0604020202020204" pitchFamily="34" charset="0"/>
            </a:endParaRPr>
          </a:p>
        </p:txBody>
      </p:sp>
      <p:sp>
        <p:nvSpPr>
          <p:cNvPr id="22543" name="Text Box 19"/>
          <p:cNvSpPr txBox="1">
            <a:spLocks noChangeArrowheads="1"/>
          </p:cNvSpPr>
          <p:nvPr/>
        </p:nvSpPr>
        <p:spPr bwMode="auto">
          <a:xfrm>
            <a:off x="6613525" y="1881188"/>
            <a:ext cx="403225"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d</a:t>
            </a:r>
            <a:r>
              <a:rPr lang="en-US" sz="1800" i="1" baseline="-25000">
                <a:latin typeface="Arial" panose="020B0604020202020204" pitchFamily="34" charset="0"/>
              </a:rPr>
              <a:t>1</a:t>
            </a:r>
            <a:endParaRPr lang="en-US" sz="1800" i="1" baseline="-25000">
              <a:latin typeface="Arial" panose="020B0604020202020204" pitchFamily="34" charset="0"/>
            </a:endParaRPr>
          </a:p>
        </p:txBody>
      </p:sp>
      <p:graphicFrame>
        <p:nvGraphicFramePr>
          <p:cNvPr id="22531" name="Object 20"/>
          <p:cNvGraphicFramePr>
            <a:graphicFrameLocks noChangeAspect="1"/>
          </p:cNvGraphicFramePr>
          <p:nvPr/>
        </p:nvGraphicFramePr>
        <p:xfrm>
          <a:off x="7289800" y="1341438"/>
          <a:ext cx="379413" cy="382587"/>
        </p:xfrm>
        <a:graphic>
          <a:graphicData uri="http://schemas.openxmlformats.org/presentationml/2006/ole">
            <mc:AlternateContent xmlns:mc="http://schemas.openxmlformats.org/markup-compatibility/2006">
              <mc:Choice xmlns:v="urn:schemas-microsoft-com:vml" Requires="v">
                <p:oleObj spid="_x0000_s22564" name="Clip" r:id="rId3" imgW="18192750" imgH="15087600" progId="">
                  <p:embed/>
                </p:oleObj>
              </mc:Choice>
              <mc:Fallback>
                <p:oleObj name="Clip" r:id="rId3" imgW="18192750" imgH="15087600" progId="">
                  <p:embed/>
                  <p:pic>
                    <p:nvPicPr>
                      <p:cNvPr id="0" name="Object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9800" y="1341438"/>
                        <a:ext cx="379413" cy="38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4" name="Line 21"/>
          <p:cNvSpPr>
            <a:spLocks noChangeShapeType="1"/>
          </p:cNvSpPr>
          <p:nvPr/>
        </p:nvSpPr>
        <p:spPr bwMode="auto">
          <a:xfrm flipV="1">
            <a:off x="7145338" y="1700213"/>
            <a:ext cx="211137" cy="814387"/>
          </a:xfrm>
          <a:prstGeom prst="line">
            <a:avLst/>
          </a:prstGeom>
          <a:noFill/>
          <a:ln w="9525">
            <a:solidFill>
              <a:schemeClr val="tx1"/>
            </a:solidFill>
            <a:round/>
            <a:headEnd type="triangle" w="med" len="med"/>
          </a:ln>
        </p:spPr>
        <p:txBody>
          <a:bodyPr/>
          <a:lstStyle/>
          <a:p>
            <a:endParaRPr lang="en-US"/>
          </a:p>
        </p:txBody>
      </p:sp>
      <p:sp>
        <p:nvSpPr>
          <p:cNvPr id="22545" name="Line 22"/>
          <p:cNvSpPr>
            <a:spLocks noChangeShapeType="1"/>
          </p:cNvSpPr>
          <p:nvPr/>
        </p:nvSpPr>
        <p:spPr bwMode="auto">
          <a:xfrm flipH="1">
            <a:off x="7272338" y="1762125"/>
            <a:ext cx="219075" cy="822325"/>
          </a:xfrm>
          <a:prstGeom prst="line">
            <a:avLst/>
          </a:prstGeom>
          <a:noFill/>
          <a:ln w="9525">
            <a:solidFill>
              <a:schemeClr val="tx1"/>
            </a:solidFill>
            <a:round/>
            <a:headEnd type="triangle" w="med" len="med"/>
          </a:ln>
        </p:spPr>
        <p:txBody>
          <a:bodyPr/>
          <a:lstStyle/>
          <a:p>
            <a:endParaRPr lang="en-US"/>
          </a:p>
        </p:txBody>
      </p:sp>
      <p:sp>
        <p:nvSpPr>
          <p:cNvPr id="22546" name="Text Box 23"/>
          <p:cNvSpPr txBox="1">
            <a:spLocks noChangeArrowheads="1"/>
          </p:cNvSpPr>
          <p:nvPr/>
        </p:nvSpPr>
        <p:spPr bwMode="auto">
          <a:xfrm>
            <a:off x="7361238" y="1998663"/>
            <a:ext cx="403225"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d</a:t>
            </a:r>
            <a:r>
              <a:rPr lang="en-US" sz="1800" i="1" baseline="-25000">
                <a:latin typeface="Arial" panose="020B0604020202020204" pitchFamily="34" charset="0"/>
              </a:rPr>
              <a:t>2</a:t>
            </a:r>
            <a:endParaRPr lang="en-US" sz="1800" i="1" baseline="-25000">
              <a:latin typeface="Arial" panose="020B0604020202020204" pitchFamily="34" charset="0"/>
            </a:endParaRPr>
          </a:p>
        </p:txBody>
      </p:sp>
      <p:sp>
        <p:nvSpPr>
          <p:cNvPr id="22547" name="Text Box 24"/>
          <p:cNvSpPr txBox="1">
            <a:spLocks noChangeArrowheads="1"/>
          </p:cNvSpPr>
          <p:nvPr/>
        </p:nvSpPr>
        <p:spPr bwMode="auto">
          <a:xfrm>
            <a:off x="6203950" y="1881188"/>
            <a:ext cx="512763"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u</a:t>
            </a:r>
            <a:r>
              <a:rPr lang="en-US" sz="1800" i="1" baseline="-25000">
                <a:latin typeface="Arial" panose="020B0604020202020204" pitchFamily="34" charset="0"/>
              </a:rPr>
              <a:t>1</a:t>
            </a:r>
            <a:endParaRPr lang="en-US" sz="1800" i="1" baseline="-25000">
              <a:latin typeface="Arial" panose="020B0604020202020204" pitchFamily="34" charset="0"/>
            </a:endParaRPr>
          </a:p>
        </p:txBody>
      </p:sp>
      <p:sp>
        <p:nvSpPr>
          <p:cNvPr id="22548" name="Oval 25"/>
          <p:cNvSpPr>
            <a:spLocks noChangeArrowheads="1"/>
          </p:cNvSpPr>
          <p:nvPr/>
        </p:nvSpPr>
        <p:spPr bwMode="auto">
          <a:xfrm>
            <a:off x="5994400" y="3548063"/>
            <a:ext cx="74613" cy="96837"/>
          </a:xfrm>
          <a:prstGeom prst="ellipse">
            <a:avLst/>
          </a:prstGeom>
          <a:solidFill>
            <a:schemeClr val="tx1"/>
          </a:solidFill>
          <a:ln w="9525">
            <a:solidFill>
              <a:schemeClr val="tx1"/>
            </a:solidFill>
            <a:round/>
          </a:ln>
        </p:spPr>
        <p:txBody>
          <a:bodyPr wrap="none" anchor="ctr"/>
          <a:lstStyle/>
          <a:p>
            <a:endParaRPr lang="en-US"/>
          </a:p>
        </p:txBody>
      </p:sp>
      <p:sp>
        <p:nvSpPr>
          <p:cNvPr id="22549" name="Oval 26"/>
          <p:cNvSpPr>
            <a:spLocks noChangeArrowheads="1"/>
          </p:cNvSpPr>
          <p:nvPr/>
        </p:nvSpPr>
        <p:spPr bwMode="auto">
          <a:xfrm>
            <a:off x="6459538" y="3794125"/>
            <a:ext cx="74612" cy="96838"/>
          </a:xfrm>
          <a:prstGeom prst="ellipse">
            <a:avLst/>
          </a:prstGeom>
          <a:solidFill>
            <a:schemeClr val="tx1"/>
          </a:solidFill>
          <a:ln w="9525">
            <a:solidFill>
              <a:schemeClr val="tx1"/>
            </a:solidFill>
            <a:round/>
          </a:ln>
        </p:spPr>
        <p:txBody>
          <a:bodyPr wrap="none" anchor="ctr"/>
          <a:lstStyle/>
          <a:p>
            <a:endParaRPr lang="en-US"/>
          </a:p>
        </p:txBody>
      </p:sp>
      <p:sp>
        <p:nvSpPr>
          <p:cNvPr id="22550" name="Oval 27"/>
          <p:cNvSpPr>
            <a:spLocks noChangeArrowheads="1"/>
          </p:cNvSpPr>
          <p:nvPr/>
        </p:nvSpPr>
        <p:spPr bwMode="auto">
          <a:xfrm>
            <a:off x="6773863" y="3956050"/>
            <a:ext cx="73025" cy="96838"/>
          </a:xfrm>
          <a:prstGeom prst="ellipse">
            <a:avLst/>
          </a:prstGeom>
          <a:solidFill>
            <a:schemeClr val="tx1"/>
          </a:solidFill>
          <a:ln w="9525">
            <a:solidFill>
              <a:schemeClr val="tx1"/>
            </a:solidFill>
            <a:round/>
          </a:ln>
        </p:spPr>
        <p:txBody>
          <a:bodyPr wrap="none" anchor="ctr"/>
          <a:lstStyle/>
          <a:p>
            <a:endParaRPr lang="en-US"/>
          </a:p>
        </p:txBody>
      </p:sp>
      <p:sp>
        <p:nvSpPr>
          <p:cNvPr id="22551" name="Oval 28"/>
          <p:cNvSpPr>
            <a:spLocks noChangeArrowheads="1"/>
          </p:cNvSpPr>
          <p:nvPr/>
        </p:nvSpPr>
        <p:spPr bwMode="auto">
          <a:xfrm>
            <a:off x="7248525" y="4048125"/>
            <a:ext cx="74613" cy="96838"/>
          </a:xfrm>
          <a:prstGeom prst="ellipse">
            <a:avLst/>
          </a:prstGeom>
          <a:solidFill>
            <a:schemeClr val="tx1"/>
          </a:solidFill>
          <a:ln w="9525">
            <a:solidFill>
              <a:schemeClr val="tx1"/>
            </a:solidFill>
            <a:round/>
          </a:ln>
        </p:spPr>
        <p:txBody>
          <a:bodyPr wrap="none" anchor="ctr"/>
          <a:lstStyle/>
          <a:p>
            <a:endParaRPr lang="en-US"/>
          </a:p>
        </p:txBody>
      </p:sp>
      <p:sp>
        <p:nvSpPr>
          <p:cNvPr id="22552" name="Oval 29"/>
          <p:cNvSpPr>
            <a:spLocks noChangeArrowheads="1"/>
          </p:cNvSpPr>
          <p:nvPr/>
        </p:nvSpPr>
        <p:spPr bwMode="auto">
          <a:xfrm>
            <a:off x="7845425" y="4116388"/>
            <a:ext cx="74613" cy="96837"/>
          </a:xfrm>
          <a:prstGeom prst="ellipse">
            <a:avLst/>
          </a:prstGeom>
          <a:solidFill>
            <a:schemeClr val="tx1"/>
          </a:solidFill>
          <a:ln w="9525">
            <a:solidFill>
              <a:schemeClr val="tx1"/>
            </a:solidFill>
            <a:round/>
          </a:ln>
        </p:spPr>
        <p:txBody>
          <a:bodyPr wrap="none" anchor="ctr"/>
          <a:lstStyle/>
          <a:p>
            <a:endParaRPr lang="en-US"/>
          </a:p>
        </p:txBody>
      </p:sp>
      <p:sp>
        <p:nvSpPr>
          <p:cNvPr id="22553" name="Oval 30"/>
          <p:cNvSpPr>
            <a:spLocks noChangeArrowheads="1"/>
          </p:cNvSpPr>
          <p:nvPr/>
        </p:nvSpPr>
        <p:spPr bwMode="auto">
          <a:xfrm>
            <a:off x="8245475" y="3924300"/>
            <a:ext cx="74613" cy="96838"/>
          </a:xfrm>
          <a:prstGeom prst="ellipse">
            <a:avLst/>
          </a:prstGeom>
          <a:solidFill>
            <a:schemeClr val="tx1"/>
          </a:solidFill>
          <a:ln w="9525">
            <a:solidFill>
              <a:schemeClr val="tx1"/>
            </a:solidFill>
            <a:round/>
          </a:ln>
        </p:spPr>
        <p:txBody>
          <a:bodyPr wrap="none" anchor="ctr"/>
          <a:lstStyle/>
          <a:p>
            <a:endParaRPr lang="en-US"/>
          </a:p>
        </p:txBody>
      </p:sp>
      <p:sp>
        <p:nvSpPr>
          <p:cNvPr id="22554" name="Oval 31"/>
          <p:cNvSpPr>
            <a:spLocks noChangeArrowheads="1"/>
          </p:cNvSpPr>
          <p:nvPr/>
        </p:nvSpPr>
        <p:spPr bwMode="auto">
          <a:xfrm>
            <a:off x="8386763" y="3398838"/>
            <a:ext cx="74612" cy="96837"/>
          </a:xfrm>
          <a:prstGeom prst="ellipse">
            <a:avLst/>
          </a:prstGeom>
          <a:solidFill>
            <a:schemeClr val="tx1"/>
          </a:solidFill>
          <a:ln w="9525">
            <a:solidFill>
              <a:schemeClr val="tx1"/>
            </a:solidFill>
            <a:round/>
          </a:ln>
        </p:spPr>
        <p:txBody>
          <a:bodyPr wrap="none" anchor="ctr"/>
          <a:lstStyle/>
          <a:p>
            <a:endParaRPr lang="en-US"/>
          </a:p>
        </p:txBody>
      </p:sp>
      <p:sp>
        <p:nvSpPr>
          <p:cNvPr id="22555" name="Oval 32"/>
          <p:cNvSpPr>
            <a:spLocks noChangeArrowheads="1"/>
          </p:cNvSpPr>
          <p:nvPr/>
        </p:nvSpPr>
        <p:spPr bwMode="auto">
          <a:xfrm>
            <a:off x="7842250" y="2281238"/>
            <a:ext cx="74613" cy="95250"/>
          </a:xfrm>
          <a:prstGeom prst="ellipse">
            <a:avLst/>
          </a:prstGeom>
          <a:solidFill>
            <a:schemeClr val="tx1"/>
          </a:solidFill>
          <a:ln w="9525">
            <a:solidFill>
              <a:schemeClr val="tx1"/>
            </a:solidFill>
            <a:round/>
          </a:ln>
        </p:spPr>
        <p:txBody>
          <a:bodyPr wrap="none" anchor="ctr"/>
          <a:lstStyle/>
          <a:p>
            <a:endParaRPr lang="en-US"/>
          </a:p>
        </p:txBody>
      </p:sp>
      <p:sp>
        <p:nvSpPr>
          <p:cNvPr id="22556" name="Oval 33"/>
          <p:cNvSpPr>
            <a:spLocks noChangeArrowheads="1"/>
          </p:cNvSpPr>
          <p:nvPr/>
        </p:nvSpPr>
        <p:spPr bwMode="auto">
          <a:xfrm>
            <a:off x="8437563" y="2933700"/>
            <a:ext cx="74612" cy="96838"/>
          </a:xfrm>
          <a:prstGeom prst="ellipse">
            <a:avLst/>
          </a:prstGeom>
          <a:solidFill>
            <a:schemeClr val="tx1"/>
          </a:solidFill>
          <a:ln w="9525">
            <a:solidFill>
              <a:schemeClr val="tx1"/>
            </a:solidFill>
            <a:round/>
          </a:ln>
        </p:spPr>
        <p:txBody>
          <a:bodyPr wrap="none" anchor="ctr"/>
          <a:lstStyle/>
          <a:p>
            <a:endParaRPr lang="en-US"/>
          </a:p>
        </p:txBody>
      </p:sp>
      <p:graphicFrame>
        <p:nvGraphicFramePr>
          <p:cNvPr id="22532" name="Object 34"/>
          <p:cNvGraphicFramePr>
            <a:graphicFrameLocks noChangeAspect="1"/>
          </p:cNvGraphicFramePr>
          <p:nvPr/>
        </p:nvGraphicFramePr>
        <p:xfrm>
          <a:off x="4795838" y="2865438"/>
          <a:ext cx="374650" cy="376237"/>
        </p:xfrm>
        <a:graphic>
          <a:graphicData uri="http://schemas.openxmlformats.org/presentationml/2006/ole">
            <mc:AlternateContent xmlns:mc="http://schemas.openxmlformats.org/markup-compatibility/2006">
              <mc:Choice xmlns:v="urn:schemas-microsoft-com:vml" Requires="v">
                <p:oleObj spid="_x0000_s22565" name="Clip" r:id="rId4" imgW="18192750" imgH="15087600" progId="">
                  <p:embed/>
                </p:oleObj>
              </mc:Choice>
              <mc:Fallback>
                <p:oleObj name="Clip" r:id="rId4" imgW="18192750" imgH="15087600" progId="">
                  <p:embed/>
                  <p:pic>
                    <p:nvPicPr>
                      <p:cNvPr id="0" name="Object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5838" y="2865438"/>
                        <a:ext cx="374650" cy="376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57" name="Line 35"/>
          <p:cNvSpPr>
            <a:spLocks noChangeShapeType="1"/>
          </p:cNvSpPr>
          <p:nvPr/>
        </p:nvSpPr>
        <p:spPr bwMode="auto">
          <a:xfrm>
            <a:off x="5146675" y="3043238"/>
            <a:ext cx="673100" cy="0"/>
          </a:xfrm>
          <a:prstGeom prst="line">
            <a:avLst/>
          </a:prstGeom>
          <a:noFill/>
          <a:ln w="9525">
            <a:solidFill>
              <a:schemeClr val="tx1"/>
            </a:solidFill>
            <a:round/>
            <a:tailEnd type="triangle" w="med" len="med"/>
          </a:ln>
        </p:spPr>
        <p:txBody>
          <a:bodyPr/>
          <a:lstStyle/>
          <a:p>
            <a:endParaRPr lang="en-US"/>
          </a:p>
        </p:txBody>
      </p:sp>
      <p:sp>
        <p:nvSpPr>
          <p:cNvPr id="22558" name="Line 36"/>
          <p:cNvSpPr>
            <a:spLocks noChangeShapeType="1"/>
          </p:cNvSpPr>
          <p:nvPr/>
        </p:nvSpPr>
        <p:spPr bwMode="auto">
          <a:xfrm flipH="1">
            <a:off x="5183188" y="3159125"/>
            <a:ext cx="663575" cy="0"/>
          </a:xfrm>
          <a:prstGeom prst="line">
            <a:avLst/>
          </a:prstGeom>
          <a:noFill/>
          <a:ln w="9525">
            <a:solidFill>
              <a:schemeClr val="tx1"/>
            </a:solidFill>
            <a:round/>
            <a:tailEnd type="triangle" w="med" len="med"/>
          </a:ln>
        </p:spPr>
        <p:txBody>
          <a:bodyPr/>
          <a:lstStyle/>
          <a:p>
            <a:endParaRPr lang="en-US"/>
          </a:p>
        </p:txBody>
      </p:sp>
      <p:sp>
        <p:nvSpPr>
          <p:cNvPr id="22559" name="Text Box 37"/>
          <p:cNvSpPr txBox="1">
            <a:spLocks noChangeArrowheads="1"/>
          </p:cNvSpPr>
          <p:nvPr/>
        </p:nvSpPr>
        <p:spPr bwMode="auto">
          <a:xfrm>
            <a:off x="5272088" y="3157538"/>
            <a:ext cx="514350"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u</a:t>
            </a:r>
            <a:r>
              <a:rPr lang="en-US" sz="1800" i="1" baseline="-25000">
                <a:latin typeface="Arial" panose="020B0604020202020204" pitchFamily="34" charset="0"/>
              </a:rPr>
              <a:t>N</a:t>
            </a:r>
            <a:endParaRPr lang="en-US" sz="1800" i="1" baseline="-25000">
              <a:latin typeface="Arial" panose="020B0604020202020204" pitchFamily="34" charset="0"/>
            </a:endParaRPr>
          </a:p>
        </p:txBody>
      </p:sp>
      <p:sp>
        <p:nvSpPr>
          <p:cNvPr id="22560" name="Text Box 38"/>
          <p:cNvSpPr txBox="1">
            <a:spLocks noChangeArrowheads="1"/>
          </p:cNvSpPr>
          <p:nvPr/>
        </p:nvSpPr>
        <p:spPr bwMode="auto">
          <a:xfrm>
            <a:off x="5273675" y="2690813"/>
            <a:ext cx="528638" cy="366712"/>
          </a:xfrm>
          <a:prstGeom prst="rect">
            <a:avLst/>
          </a:prstGeom>
          <a:noFill/>
          <a:ln w="9525">
            <a:noFill/>
            <a:miter lim="800000"/>
          </a:ln>
        </p:spPr>
        <p:txBody>
          <a:bodyPr>
            <a:spAutoFit/>
          </a:bodyPr>
          <a:lstStyle/>
          <a:p>
            <a:pPr eaLnBrk="1" hangingPunct="1">
              <a:spcBef>
                <a:spcPct val="0"/>
              </a:spcBef>
              <a:buClrTx/>
              <a:buSzTx/>
              <a:buFontTx/>
              <a:buNone/>
            </a:pPr>
            <a:r>
              <a:rPr lang="en-US" sz="1800" i="1">
                <a:latin typeface="Arial" panose="020B0604020202020204" pitchFamily="34" charset="0"/>
              </a:rPr>
              <a:t>d</a:t>
            </a:r>
            <a:r>
              <a:rPr lang="en-US" sz="1800" i="1" baseline="-25000">
                <a:latin typeface="Arial" panose="020B0604020202020204" pitchFamily="34" charset="0"/>
              </a:rPr>
              <a:t>N</a:t>
            </a:r>
            <a:endParaRPr lang="en-US" sz="1800" i="1" baseline="-25000">
              <a:latin typeface="Arial" panose="020B0604020202020204" pitchFamily="34" charset="0"/>
            </a:endParaRPr>
          </a:p>
        </p:txBody>
      </p:sp>
      <p:sp>
        <p:nvSpPr>
          <p:cNvPr id="22561" name="Text Box 39"/>
          <p:cNvSpPr txBox="1">
            <a:spLocks noChangeArrowheads="1"/>
          </p:cNvSpPr>
          <p:nvPr/>
        </p:nvSpPr>
        <p:spPr bwMode="auto">
          <a:xfrm>
            <a:off x="5081588" y="1295400"/>
            <a:ext cx="1011237" cy="366713"/>
          </a:xfrm>
          <a:prstGeom prst="rect">
            <a:avLst/>
          </a:prstGeom>
          <a:noFill/>
          <a:ln w="9525" algn="ctr">
            <a:noFill/>
            <a:miter lim="800000"/>
          </a:ln>
        </p:spPr>
        <p:txBody>
          <a:bodyPr>
            <a:spAutoFit/>
          </a:bodyPr>
          <a:lstStyle/>
          <a:p>
            <a:pPr algn="ctr" eaLnBrk="1" hangingPunct="1">
              <a:spcBef>
                <a:spcPct val="0"/>
              </a:spcBef>
              <a:buClrTx/>
              <a:buSzTx/>
              <a:buFontTx/>
              <a:buNone/>
            </a:pPr>
            <a:r>
              <a:rPr lang="en-US" sz="1800"/>
              <a:t>Server</a:t>
            </a:r>
            <a:endParaRPr lang="en-US" sz="1800" baseline="-25000"/>
          </a:p>
        </p:txBody>
      </p:sp>
      <p:sp>
        <p:nvSpPr>
          <p:cNvPr id="22562" name="Text Box 40"/>
          <p:cNvSpPr txBox="1">
            <a:spLocks noChangeArrowheads="1"/>
          </p:cNvSpPr>
          <p:nvPr/>
        </p:nvSpPr>
        <p:spPr bwMode="auto">
          <a:xfrm>
            <a:off x="5889625" y="2625725"/>
            <a:ext cx="2408238" cy="641350"/>
          </a:xfrm>
          <a:prstGeom prst="rect">
            <a:avLst/>
          </a:prstGeom>
          <a:noFill/>
          <a:ln w="9525">
            <a:noFill/>
            <a:miter lim="800000"/>
          </a:ln>
        </p:spPr>
        <p:txBody>
          <a:bodyPr wrap="none">
            <a:spAutoFit/>
          </a:bodyPr>
          <a:lstStyle/>
          <a:p>
            <a:pPr eaLnBrk="1" hangingPunct="1">
              <a:spcBef>
                <a:spcPct val="0"/>
              </a:spcBef>
              <a:buClrTx/>
              <a:buSzTx/>
              <a:buFontTx/>
              <a:buNone/>
            </a:pPr>
            <a:r>
              <a:rPr lang="en-US" sz="1800"/>
              <a:t>Network (with </a:t>
            </a:r>
            <a:endParaRPr lang="en-US" sz="1800"/>
          </a:p>
          <a:p>
            <a:pPr eaLnBrk="1" hangingPunct="1">
              <a:spcBef>
                <a:spcPct val="0"/>
              </a:spcBef>
              <a:buClrTx/>
              <a:buSzTx/>
              <a:buFontTx/>
              <a:buNone/>
            </a:pPr>
            <a:r>
              <a:rPr lang="en-US" sz="1800"/>
              <a:t>abundant bandwidth)</a:t>
            </a:r>
            <a:endParaRPr lang="en-US" sz="1800"/>
          </a:p>
        </p:txBody>
      </p:sp>
      <p:sp>
        <p:nvSpPr>
          <p:cNvPr id="2" name="AutoShape 41"/>
          <p:cNvSpPr>
            <a:spLocks noChangeArrowheads="1"/>
          </p:cNvSpPr>
          <p:nvPr/>
        </p:nvSpPr>
        <p:spPr bwMode="auto">
          <a:xfrm>
            <a:off x="4832350" y="1647825"/>
            <a:ext cx="347663" cy="644525"/>
          </a:xfrm>
          <a:prstGeom prst="can">
            <a:avLst>
              <a:gd name="adj" fmla="val 46347"/>
            </a:avLst>
          </a:prstGeom>
          <a:solidFill>
            <a:srgbClr val="009900"/>
          </a:solidFill>
          <a:ln w="9525">
            <a:solidFill>
              <a:schemeClr val="tx1"/>
            </a:solidFill>
            <a:round/>
          </a:ln>
        </p:spPr>
        <p:txBody>
          <a:bodyPr wrap="none" anchor="ctr"/>
          <a:lstStyle/>
          <a:p>
            <a:endParaRPr lang="en-US"/>
          </a:p>
        </p:txBody>
      </p:sp>
      <p:sp>
        <p:nvSpPr>
          <p:cNvPr id="3" name="Text Box 42"/>
          <p:cNvSpPr txBox="1">
            <a:spLocks noChangeArrowheads="1"/>
          </p:cNvSpPr>
          <p:nvPr/>
        </p:nvSpPr>
        <p:spPr bwMode="auto">
          <a:xfrm>
            <a:off x="4779963" y="1828800"/>
            <a:ext cx="411162" cy="366713"/>
          </a:xfrm>
          <a:prstGeom prst="rect">
            <a:avLst/>
          </a:prstGeom>
          <a:noFill/>
          <a:ln w="9525" algn="ctr">
            <a:noFill/>
            <a:miter lim="800000"/>
          </a:ln>
        </p:spPr>
        <p:txBody>
          <a:bodyPr>
            <a:spAutoFit/>
          </a:bodyPr>
          <a:lstStyle/>
          <a:p>
            <a:pPr algn="ctr" eaLnBrk="1" hangingPunct="1">
              <a:spcBef>
                <a:spcPct val="0"/>
              </a:spcBef>
              <a:buClrTx/>
              <a:buSzTx/>
              <a:buFontTx/>
              <a:buNone/>
            </a:pPr>
            <a:r>
              <a:rPr lang="en-US" sz="1800" i="1">
                <a:solidFill>
                  <a:schemeClr val="bg1"/>
                </a:solidFill>
              </a:rPr>
              <a:t>F</a:t>
            </a:r>
            <a:endParaRPr lang="en-US" sz="1800" i="1" baseline="-25000">
              <a:solidFill>
                <a:schemeClr val="bg1"/>
              </a:solidFill>
            </a:endParaRPr>
          </a:p>
        </p:txBody>
      </p:sp>
      <p:sp>
        <p:nvSpPr>
          <p:cNvPr id="4" name="Rectangle 43"/>
          <p:cNvSpPr>
            <a:spLocks noGrp="1" noChangeArrowheads="1"/>
          </p:cNvSpPr>
          <p:nvPr>
            <p:ph type="body" idx="1"/>
          </p:nvPr>
        </p:nvSpPr>
        <p:spPr>
          <a:xfrm>
            <a:off x="385763" y="1614488"/>
            <a:ext cx="3968750" cy="2832100"/>
          </a:xfrm>
        </p:spPr>
        <p:txBody>
          <a:bodyPr/>
          <a:lstStyle/>
          <a:p>
            <a:r>
              <a:rPr lang="en-US" sz="2400"/>
              <a:t>server must send one copy: F</a:t>
            </a:r>
            <a:r>
              <a:rPr lang="en-US" sz="2400" i="1"/>
              <a:t>/u</a:t>
            </a:r>
            <a:r>
              <a:rPr lang="en-US" sz="2400" i="1" baseline="-25000"/>
              <a:t>s</a:t>
            </a:r>
            <a:r>
              <a:rPr lang="en-US" sz="2400" baseline="-25000"/>
              <a:t> </a:t>
            </a:r>
            <a:r>
              <a:rPr lang="en-US" sz="2400"/>
              <a:t>time </a:t>
            </a:r>
            <a:endParaRPr lang="en-US" sz="2400"/>
          </a:p>
          <a:p>
            <a:r>
              <a:rPr lang="en-US" sz="2400"/>
              <a:t>client i takes F/d</a:t>
            </a:r>
            <a:r>
              <a:rPr lang="en-US" sz="2400" baseline="-25000"/>
              <a:t>i </a:t>
            </a:r>
            <a:r>
              <a:rPr lang="en-US" sz="2400"/>
              <a:t>time to download</a:t>
            </a:r>
            <a:endParaRPr lang="en-US" sz="2400"/>
          </a:p>
          <a:p>
            <a:r>
              <a:rPr lang="en-US" sz="2400"/>
              <a:t>NF bits must be downloaded (aggregate)</a:t>
            </a:r>
            <a:endParaRPr lang="en-US" sz="2400"/>
          </a:p>
        </p:txBody>
      </p:sp>
      <p:sp>
        <p:nvSpPr>
          <p:cNvPr id="22566" name="Rectangle 50"/>
          <p:cNvSpPr>
            <a:spLocks noChangeArrowheads="1"/>
          </p:cNvSpPr>
          <p:nvPr/>
        </p:nvSpPr>
        <p:spPr bwMode="auto">
          <a:xfrm>
            <a:off x="801688" y="3973513"/>
            <a:ext cx="6338887" cy="1100137"/>
          </a:xfrm>
          <a:prstGeom prst="rect">
            <a:avLst/>
          </a:prstGeom>
          <a:noFill/>
          <a:ln w="9525">
            <a:noFill/>
            <a:miter lim="800000"/>
          </a:ln>
        </p:spPr>
        <p:txBody>
          <a:bodyPr/>
          <a:lstStyle/>
          <a:p>
            <a:pPr marL="342900" indent="-342900">
              <a:lnSpc>
                <a:spcPct val="75000"/>
              </a:lnSpc>
              <a:buFont typeface="ZapfDingbats" pitchFamily="82" charset="2"/>
              <a:buChar char="r"/>
            </a:pPr>
            <a:r>
              <a:rPr lang="en-US"/>
              <a:t>fastest possible upload rate: u</a:t>
            </a:r>
            <a:r>
              <a:rPr lang="en-US" baseline="-25000"/>
              <a:t>s</a:t>
            </a:r>
            <a:r>
              <a:rPr lang="en-US"/>
              <a:t> + </a:t>
            </a:r>
            <a:r>
              <a:rPr lang="en-US" sz="3200">
                <a:latin typeface="Symbol" panose="05050102010706020507" pitchFamily="18" charset="2"/>
              </a:rPr>
              <a:t>S</a:t>
            </a:r>
            <a:r>
              <a:rPr lang="en-US"/>
              <a:t>u</a:t>
            </a:r>
            <a:r>
              <a:rPr lang="en-US" baseline="-25000"/>
              <a:t>i</a:t>
            </a:r>
            <a:endParaRPr lang="en-US" baseline="-25000"/>
          </a:p>
        </p:txBody>
      </p:sp>
      <p:grpSp>
        <p:nvGrpSpPr>
          <p:cNvPr id="5" name="Group 54"/>
          <p:cNvGrpSpPr/>
          <p:nvPr/>
        </p:nvGrpSpPr>
        <p:grpSpPr bwMode="auto">
          <a:xfrm>
            <a:off x="1150938" y="5318125"/>
            <a:ext cx="7423150" cy="1095375"/>
            <a:chOff x="454" y="3185"/>
            <a:chExt cx="4676" cy="690"/>
          </a:xfrm>
        </p:grpSpPr>
        <p:sp>
          <p:nvSpPr>
            <p:cNvPr id="22568" name="Text Box 45"/>
            <p:cNvSpPr txBox="1">
              <a:spLocks noChangeArrowheads="1"/>
            </p:cNvSpPr>
            <p:nvPr/>
          </p:nvSpPr>
          <p:spPr bwMode="auto">
            <a:xfrm>
              <a:off x="619" y="3303"/>
              <a:ext cx="4511" cy="365"/>
            </a:xfrm>
            <a:prstGeom prst="rect">
              <a:avLst/>
            </a:prstGeom>
            <a:noFill/>
            <a:ln w="9525" algn="ctr">
              <a:noFill/>
              <a:miter lim="800000"/>
            </a:ln>
          </p:spPr>
          <p:txBody>
            <a:bodyPr>
              <a:spAutoFit/>
            </a:bodyPr>
            <a:lstStyle/>
            <a:p>
              <a:pPr marL="342900" indent="-342900"/>
              <a:r>
                <a:rPr lang="en-US"/>
                <a:t>d</a:t>
              </a:r>
              <a:r>
                <a:rPr lang="en-US" baseline="-25000"/>
                <a:t>P2P</a:t>
              </a:r>
              <a:r>
                <a:rPr lang="en-US"/>
                <a:t> = max </a:t>
              </a:r>
              <a:r>
                <a:rPr lang="en-US" sz="2800"/>
                <a:t>{</a:t>
              </a:r>
              <a:r>
                <a:rPr lang="en-US"/>
                <a:t> </a:t>
              </a:r>
              <a:r>
                <a:rPr lang="en-US" i="1"/>
                <a:t>F/u</a:t>
              </a:r>
              <a:r>
                <a:rPr lang="en-US" i="1" baseline="-25000"/>
                <a:t>s</a:t>
              </a:r>
              <a:r>
                <a:rPr lang="en-US" i="1"/>
                <a:t>, F/min(d</a:t>
              </a:r>
              <a:r>
                <a:rPr lang="en-US" i="1" baseline="-25000"/>
                <a:t>i</a:t>
              </a:r>
              <a:r>
                <a:rPr lang="en-US" i="1"/>
                <a:t>)</a:t>
              </a:r>
              <a:r>
                <a:rPr lang="en-US"/>
                <a:t> , NF/(u</a:t>
              </a:r>
              <a:r>
                <a:rPr lang="en-US" baseline="-25000"/>
                <a:t>s</a:t>
              </a:r>
              <a:r>
                <a:rPr lang="en-US"/>
                <a:t> + </a:t>
              </a:r>
              <a:r>
                <a:rPr lang="en-US" sz="3200">
                  <a:latin typeface="Symbol" panose="05050102010706020507" pitchFamily="18" charset="2"/>
                </a:rPr>
                <a:t>S</a:t>
              </a:r>
              <a:r>
                <a:rPr lang="en-US"/>
                <a:t>u</a:t>
              </a:r>
              <a:r>
                <a:rPr lang="en-US" baseline="-25000"/>
                <a:t>i</a:t>
              </a:r>
              <a:r>
                <a:rPr lang="en-US"/>
                <a:t>)</a:t>
              </a:r>
              <a:r>
                <a:rPr lang="en-US" baseline="-25000"/>
                <a:t> </a:t>
              </a:r>
              <a:r>
                <a:rPr lang="en-US" sz="2800"/>
                <a:t>}</a:t>
              </a:r>
              <a:endParaRPr lang="en-US" sz="2800"/>
            </a:p>
          </p:txBody>
        </p:sp>
        <p:sp>
          <p:nvSpPr>
            <p:cNvPr id="22569" name="Text Box 46"/>
            <p:cNvSpPr txBox="1">
              <a:spLocks noChangeArrowheads="1"/>
            </p:cNvSpPr>
            <p:nvPr/>
          </p:nvSpPr>
          <p:spPr bwMode="auto">
            <a:xfrm>
              <a:off x="3013" y="3535"/>
              <a:ext cx="161" cy="250"/>
            </a:xfrm>
            <a:prstGeom prst="rect">
              <a:avLst/>
            </a:prstGeom>
            <a:noFill/>
            <a:ln w="9525" algn="ctr">
              <a:noFill/>
              <a:miter lim="800000"/>
            </a:ln>
          </p:spPr>
          <p:txBody>
            <a:bodyPr wrap="none">
              <a:spAutoFit/>
            </a:bodyPr>
            <a:lstStyle/>
            <a:p>
              <a:pPr marL="342900" indent="-342900"/>
              <a:r>
                <a:rPr lang="en-US" sz="2000" i="1"/>
                <a:t>i</a:t>
              </a:r>
              <a:endParaRPr lang="en-US" sz="2000" i="1"/>
            </a:p>
          </p:txBody>
        </p:sp>
        <p:sp>
          <p:nvSpPr>
            <p:cNvPr id="22570" name="Text Box 52"/>
            <p:cNvSpPr txBox="1">
              <a:spLocks noChangeArrowheads="1"/>
            </p:cNvSpPr>
            <p:nvPr/>
          </p:nvSpPr>
          <p:spPr bwMode="auto">
            <a:xfrm>
              <a:off x="3921" y="3559"/>
              <a:ext cx="116" cy="212"/>
            </a:xfrm>
            <a:prstGeom prst="rect">
              <a:avLst/>
            </a:prstGeom>
            <a:noFill/>
            <a:ln w="9525" algn="ctr">
              <a:noFill/>
              <a:miter lim="800000"/>
            </a:ln>
          </p:spPr>
          <p:txBody>
            <a:bodyPr wrap="none">
              <a:spAutoFit/>
            </a:bodyPr>
            <a:lstStyle/>
            <a:p>
              <a:pPr marL="342900" indent="-342900"/>
              <a:endParaRPr lang="en-US" sz="1600" i="1"/>
            </a:p>
          </p:txBody>
        </p:sp>
        <p:sp>
          <p:nvSpPr>
            <p:cNvPr id="22571" name="Rectangle 53"/>
            <p:cNvSpPr>
              <a:spLocks noChangeArrowheads="1"/>
            </p:cNvSpPr>
            <p:nvPr/>
          </p:nvSpPr>
          <p:spPr bwMode="auto">
            <a:xfrm>
              <a:off x="454" y="3185"/>
              <a:ext cx="4302" cy="690"/>
            </a:xfrm>
            <a:prstGeom prst="rect">
              <a:avLst/>
            </a:prstGeom>
            <a:noFill/>
            <a:ln w="9525" algn="ctr">
              <a:solidFill>
                <a:srgbClr val="FF3300"/>
              </a:solidFill>
              <a:miter lim="800000"/>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3556" name="Slide Number Placeholder 5"/>
          <p:cNvSpPr>
            <a:spLocks noGrp="1"/>
          </p:cNvSpPr>
          <p:nvPr>
            <p:ph type="sldNum" sz="quarter" idx="12"/>
          </p:nvPr>
        </p:nvSpPr>
        <p:spPr>
          <a:noFill/>
        </p:spPr>
        <p:txBody>
          <a:bodyPr/>
          <a:lstStyle/>
          <a:p>
            <a:fld id="{F9C8A430-9B1F-4CAD-8AA5-278C55ABC6B9}" type="slidenum">
              <a:rPr lang="en-US"/>
            </a:fld>
            <a:endParaRPr lang="en-US"/>
          </a:p>
        </p:txBody>
      </p:sp>
      <p:graphicFrame>
        <p:nvGraphicFramePr>
          <p:cNvPr id="23554" name="Object 2"/>
          <p:cNvGraphicFramePr>
            <a:graphicFrameLocks noChangeAspect="1"/>
          </p:cNvGraphicFramePr>
          <p:nvPr/>
        </p:nvGraphicFramePr>
        <p:xfrm>
          <a:off x="1431925" y="1939925"/>
          <a:ext cx="6543675" cy="4457700"/>
        </p:xfrm>
        <a:graphic>
          <a:graphicData uri="http://schemas.openxmlformats.org/presentationml/2006/ole">
            <mc:AlternateContent xmlns:mc="http://schemas.openxmlformats.org/markup-compatibility/2006">
              <mc:Choice xmlns:v="urn:schemas-microsoft-com:vml" Requires="v">
                <p:oleObj spid="_x0000_s23565" name="Chart" r:id="rId1" imgW="9166860" imgH="6276340" progId="Excel.Sheet.8">
                  <p:embed/>
                </p:oleObj>
              </mc:Choice>
              <mc:Fallback>
                <p:oleObj name="Chart" r:id="rId1" imgW="9166860" imgH="6276340" progId="Excel.Sheet.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1925" y="1939925"/>
                        <a:ext cx="6543675"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57" name="Rectangle 4"/>
          <p:cNvSpPr>
            <a:spLocks noChangeArrowheads="1"/>
          </p:cNvSpPr>
          <p:nvPr/>
        </p:nvSpPr>
        <p:spPr bwMode="auto">
          <a:xfrm>
            <a:off x="298450" y="228600"/>
            <a:ext cx="8520113" cy="1143000"/>
          </a:xfrm>
          <a:prstGeom prst="rect">
            <a:avLst/>
          </a:prstGeom>
          <a:noFill/>
          <a:ln w="9525">
            <a:noFill/>
            <a:miter lim="800000"/>
          </a:ln>
        </p:spPr>
        <p:txBody>
          <a:bodyPr anchor="ctr"/>
          <a:lstStyle/>
          <a:p>
            <a:pPr>
              <a:spcBef>
                <a:spcPct val="0"/>
              </a:spcBef>
              <a:buClrTx/>
              <a:buSzTx/>
              <a:buFontTx/>
              <a:buNone/>
            </a:pPr>
            <a:r>
              <a:rPr lang="en-US" sz="3200" u="sng">
                <a:solidFill>
                  <a:schemeClr val="accent2"/>
                </a:solidFill>
              </a:rPr>
              <a:t>Server-client vs. P2P: example</a:t>
            </a:r>
            <a:endParaRPr lang="en-US" sz="3200" u="sng">
              <a:solidFill>
                <a:schemeClr val="accent2"/>
              </a:solidFill>
            </a:endParaRPr>
          </a:p>
        </p:txBody>
      </p:sp>
      <p:sp>
        <p:nvSpPr>
          <p:cNvPr id="23558" name="Text Box 5"/>
          <p:cNvSpPr txBox="1">
            <a:spLocks noChangeArrowheads="1"/>
          </p:cNvSpPr>
          <p:nvPr/>
        </p:nvSpPr>
        <p:spPr bwMode="auto">
          <a:xfrm>
            <a:off x="433388" y="1292225"/>
            <a:ext cx="7826375" cy="457200"/>
          </a:xfrm>
          <a:prstGeom prst="rect">
            <a:avLst/>
          </a:prstGeom>
          <a:noFill/>
          <a:ln w="9525" algn="ctr">
            <a:noFill/>
            <a:miter lim="800000"/>
          </a:ln>
        </p:spPr>
        <p:txBody>
          <a:bodyPr wrap="none">
            <a:spAutoFit/>
          </a:bodyPr>
          <a:lstStyle/>
          <a:p>
            <a:pPr marL="342900" indent="-342900"/>
            <a:r>
              <a:rPr lang="en-US"/>
              <a:t>Client upload rate = u,  F/u = 1 hour,  u</a:t>
            </a:r>
            <a:r>
              <a:rPr lang="en-US" baseline="-25000"/>
              <a:t>s</a:t>
            </a:r>
            <a:r>
              <a:rPr lang="en-US"/>
              <a:t> = 10u,  d</a:t>
            </a:r>
            <a:r>
              <a:rPr lang="en-US" baseline="-25000"/>
              <a:t>min</a:t>
            </a:r>
            <a:r>
              <a:rPr lang="en-US"/>
              <a:t> ≥ u</a:t>
            </a:r>
            <a:r>
              <a:rPr lang="en-US" baseline="-25000"/>
              <a:t>s</a:t>
            </a:r>
            <a:endParaRPr lang="en-US" baseline="-250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7"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4588" name="Slide Number Placeholder 5"/>
          <p:cNvSpPr>
            <a:spLocks noGrp="1"/>
          </p:cNvSpPr>
          <p:nvPr>
            <p:ph type="sldNum" sz="quarter" idx="12"/>
          </p:nvPr>
        </p:nvSpPr>
        <p:spPr>
          <a:noFill/>
        </p:spPr>
        <p:txBody>
          <a:bodyPr/>
          <a:lstStyle/>
          <a:p>
            <a:fld id="{959F7F28-E399-44CE-8259-844B7F1078D3}" type="slidenum">
              <a:rPr lang="en-US"/>
            </a:fld>
            <a:endParaRPr lang="en-US"/>
          </a:p>
        </p:txBody>
      </p:sp>
      <p:sp>
        <p:nvSpPr>
          <p:cNvPr id="24589" name="Rectangle 2"/>
          <p:cNvSpPr>
            <a:spLocks noGrp="1" noChangeArrowheads="1"/>
          </p:cNvSpPr>
          <p:nvPr>
            <p:ph type="title"/>
          </p:nvPr>
        </p:nvSpPr>
        <p:spPr/>
        <p:txBody>
          <a:bodyPr/>
          <a:lstStyle/>
          <a:p>
            <a:r>
              <a:rPr lang="en-US"/>
              <a:t>File distribution: BitTorrent </a:t>
            </a:r>
            <a:endParaRPr lang="en-US"/>
          </a:p>
        </p:txBody>
      </p:sp>
      <p:sp>
        <p:nvSpPr>
          <p:cNvPr id="24590" name="Text Box 37"/>
          <p:cNvSpPr txBox="1">
            <a:spLocks noChangeArrowheads="1"/>
          </p:cNvSpPr>
          <p:nvPr/>
        </p:nvSpPr>
        <p:spPr bwMode="auto">
          <a:xfrm>
            <a:off x="1322388" y="1965325"/>
            <a:ext cx="3482975" cy="822325"/>
          </a:xfrm>
          <a:prstGeom prst="rect">
            <a:avLst/>
          </a:prstGeom>
          <a:noFill/>
          <a:ln w="9525" algn="ctr">
            <a:noFill/>
            <a:miter lim="800000"/>
          </a:ln>
        </p:spPr>
        <p:txBody>
          <a:bodyPr wrap="none">
            <a:spAutoFit/>
          </a:bodyPr>
          <a:lstStyle/>
          <a:p>
            <a:pPr eaLnBrk="1" hangingPunct="1">
              <a:spcBef>
                <a:spcPct val="0"/>
              </a:spcBef>
              <a:buClrTx/>
              <a:buSzTx/>
              <a:buFontTx/>
              <a:buNone/>
            </a:pPr>
            <a:r>
              <a:rPr lang="en-US" i="1" u="sng">
                <a:solidFill>
                  <a:srgbClr val="FF3300"/>
                </a:solidFill>
              </a:rPr>
              <a:t>tracker:</a:t>
            </a:r>
            <a:r>
              <a:rPr lang="en-US"/>
              <a:t> tracks peers </a:t>
            </a:r>
            <a:endParaRPr lang="en-US"/>
          </a:p>
          <a:p>
            <a:pPr eaLnBrk="1" hangingPunct="1">
              <a:spcBef>
                <a:spcPct val="0"/>
              </a:spcBef>
              <a:buClrTx/>
              <a:buSzTx/>
              <a:buFontTx/>
              <a:buNone/>
            </a:pPr>
            <a:r>
              <a:rPr lang="en-US"/>
              <a:t>participating in torrent</a:t>
            </a:r>
            <a:endParaRPr lang="en-US"/>
          </a:p>
        </p:txBody>
      </p:sp>
      <p:sp>
        <p:nvSpPr>
          <p:cNvPr id="24591" name="Text Box 41"/>
          <p:cNvSpPr txBox="1">
            <a:spLocks noChangeArrowheads="1"/>
          </p:cNvSpPr>
          <p:nvPr/>
        </p:nvSpPr>
        <p:spPr bwMode="auto">
          <a:xfrm>
            <a:off x="5778500" y="1989138"/>
            <a:ext cx="2811463" cy="1062037"/>
          </a:xfrm>
          <a:prstGeom prst="rect">
            <a:avLst/>
          </a:prstGeom>
          <a:noFill/>
          <a:ln w="9525" algn="ctr">
            <a:noFill/>
            <a:miter lim="800000"/>
          </a:ln>
        </p:spPr>
        <p:txBody>
          <a:bodyPr wrap="none">
            <a:spAutoFit/>
          </a:bodyPr>
          <a:lstStyle/>
          <a:p>
            <a:pPr marL="342900" indent="-342900">
              <a:lnSpc>
                <a:spcPct val="75000"/>
              </a:lnSpc>
            </a:pPr>
            <a:r>
              <a:rPr lang="en-US" i="1" u="sng">
                <a:solidFill>
                  <a:srgbClr val="FF3300"/>
                </a:solidFill>
              </a:rPr>
              <a:t>torrent:</a:t>
            </a:r>
            <a:r>
              <a:rPr lang="en-US"/>
              <a:t> group of </a:t>
            </a:r>
            <a:endParaRPr lang="en-US"/>
          </a:p>
          <a:p>
            <a:pPr marL="342900" indent="-342900">
              <a:lnSpc>
                <a:spcPct val="75000"/>
              </a:lnSpc>
            </a:pPr>
            <a:r>
              <a:rPr lang="en-US"/>
              <a:t>peers exchanging  </a:t>
            </a:r>
            <a:endParaRPr lang="en-US"/>
          </a:p>
          <a:p>
            <a:pPr marL="342900" indent="-342900">
              <a:lnSpc>
                <a:spcPct val="75000"/>
              </a:lnSpc>
            </a:pPr>
            <a:r>
              <a:rPr lang="en-US"/>
              <a:t>chunks of a file</a:t>
            </a:r>
            <a:endParaRPr lang="en-US"/>
          </a:p>
        </p:txBody>
      </p:sp>
      <p:grpSp>
        <p:nvGrpSpPr>
          <p:cNvPr id="24592" name="Group 44"/>
          <p:cNvGrpSpPr/>
          <p:nvPr/>
        </p:nvGrpSpPr>
        <p:grpSpPr bwMode="auto">
          <a:xfrm>
            <a:off x="1243013" y="2792413"/>
            <a:ext cx="5408612" cy="3863975"/>
            <a:chOff x="846" y="1309"/>
            <a:chExt cx="3407" cy="2792"/>
          </a:xfrm>
        </p:grpSpPr>
        <p:grpSp>
          <p:nvGrpSpPr>
            <p:cNvPr id="24594" name="Group 3"/>
            <p:cNvGrpSpPr/>
            <p:nvPr/>
          </p:nvGrpSpPr>
          <p:grpSpPr bwMode="auto">
            <a:xfrm>
              <a:off x="1431" y="1325"/>
              <a:ext cx="339" cy="558"/>
              <a:chOff x="4180" y="783"/>
              <a:chExt cx="150" cy="307"/>
            </a:xfrm>
          </p:grpSpPr>
          <p:sp>
            <p:nvSpPr>
              <p:cNvPr id="24615" name="AutoShape 4"/>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24616" name="Rectangle 5"/>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24617" name="Rectangle 6"/>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24618" name="AutoShape 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24619" name="Line 8"/>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24620" name="Line 9"/>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24621" name="Rectangle 10"/>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24622" name="Rectangle 11"/>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aphicFrame>
          <p:nvGraphicFramePr>
            <p:cNvPr id="24578" name="Object 12"/>
            <p:cNvGraphicFramePr>
              <a:graphicFrameLocks noChangeAspect="1"/>
            </p:cNvGraphicFramePr>
            <p:nvPr/>
          </p:nvGraphicFramePr>
          <p:xfrm>
            <a:off x="1398" y="2546"/>
            <a:ext cx="280" cy="239"/>
          </p:xfrm>
          <a:graphic>
            <a:graphicData uri="http://schemas.openxmlformats.org/presentationml/2006/ole">
              <mc:AlternateContent xmlns:mc="http://schemas.openxmlformats.org/markup-compatibility/2006">
                <mc:Choice xmlns:v="urn:schemas-microsoft-com:vml" Requires="v">
                  <p:oleObj spid="_x0000_s24677" name="Clip" r:id="rId1" imgW="18192750" imgH="15087600" progId="">
                    <p:embed/>
                  </p:oleObj>
                </mc:Choice>
                <mc:Fallback>
                  <p:oleObj name="Clip" r:id="rId1" imgW="18192750" imgH="15087600" progId="">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8" y="2546"/>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13"/>
            <p:cNvGraphicFramePr>
              <a:graphicFrameLocks noChangeAspect="1"/>
            </p:cNvGraphicFramePr>
            <p:nvPr/>
          </p:nvGraphicFramePr>
          <p:xfrm>
            <a:off x="2583" y="3755"/>
            <a:ext cx="280" cy="239"/>
          </p:xfrm>
          <a:graphic>
            <a:graphicData uri="http://schemas.openxmlformats.org/presentationml/2006/ole">
              <mc:AlternateContent xmlns:mc="http://schemas.openxmlformats.org/markup-compatibility/2006">
                <mc:Choice xmlns:v="urn:schemas-microsoft-com:vml" Requires="v">
                  <p:oleObj spid="_x0000_s24678" name="Clip" r:id="rId3" imgW="18192750" imgH="15087600" progId="">
                    <p:embed/>
                  </p:oleObj>
                </mc:Choice>
                <mc:Fallback>
                  <p:oleObj name="Clip" r:id="rId3" imgW="18192750" imgH="15087600" progId="">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3" y="3755"/>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0" name="Object 14"/>
            <p:cNvGraphicFramePr>
              <a:graphicFrameLocks noChangeAspect="1"/>
            </p:cNvGraphicFramePr>
            <p:nvPr/>
          </p:nvGraphicFramePr>
          <p:xfrm>
            <a:off x="1826" y="3267"/>
            <a:ext cx="280" cy="239"/>
          </p:xfrm>
          <a:graphic>
            <a:graphicData uri="http://schemas.openxmlformats.org/presentationml/2006/ole">
              <mc:AlternateContent xmlns:mc="http://schemas.openxmlformats.org/markup-compatibility/2006">
                <mc:Choice xmlns:v="urn:schemas-microsoft-com:vml" Requires="v">
                  <p:oleObj spid="_x0000_s24679" name="Clip" r:id="rId4" imgW="18192750" imgH="15087600" progId="">
                    <p:embed/>
                  </p:oleObj>
                </mc:Choice>
                <mc:Fallback>
                  <p:oleObj name="Clip" r:id="rId4" imgW="18192750" imgH="15087600" progId="">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6" y="3267"/>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1" name="Object 15"/>
            <p:cNvGraphicFramePr>
              <a:graphicFrameLocks noChangeAspect="1"/>
            </p:cNvGraphicFramePr>
            <p:nvPr/>
          </p:nvGraphicFramePr>
          <p:xfrm>
            <a:off x="3296" y="3553"/>
            <a:ext cx="280" cy="239"/>
          </p:xfrm>
          <a:graphic>
            <a:graphicData uri="http://schemas.openxmlformats.org/presentationml/2006/ole">
              <mc:AlternateContent xmlns:mc="http://schemas.openxmlformats.org/markup-compatibility/2006">
                <mc:Choice xmlns:v="urn:schemas-microsoft-com:vml" Requires="v">
                  <p:oleObj spid="_x0000_s24680" name="Clip" r:id="rId5" imgW="18192750" imgH="15087600" progId="">
                    <p:embed/>
                  </p:oleObj>
                </mc:Choice>
                <mc:Fallback>
                  <p:oleObj name="Clip" r:id="rId5" imgW="18192750" imgH="15087600" progId="">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6" y="3553"/>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2" name="Object 16"/>
            <p:cNvGraphicFramePr>
              <a:graphicFrameLocks noChangeAspect="1"/>
            </p:cNvGraphicFramePr>
            <p:nvPr/>
          </p:nvGraphicFramePr>
          <p:xfrm>
            <a:off x="3754" y="3862"/>
            <a:ext cx="280" cy="239"/>
          </p:xfrm>
          <a:graphic>
            <a:graphicData uri="http://schemas.openxmlformats.org/presentationml/2006/ole">
              <mc:AlternateContent xmlns:mc="http://schemas.openxmlformats.org/markup-compatibility/2006">
                <mc:Choice xmlns:v="urn:schemas-microsoft-com:vml" Requires="v">
                  <p:oleObj spid="_x0000_s24681" name="Clip" r:id="rId6" imgW="18192750" imgH="15087600" progId="">
                    <p:embed/>
                  </p:oleObj>
                </mc:Choice>
                <mc:Fallback>
                  <p:oleObj name="Clip" r:id="rId6" imgW="18192750" imgH="15087600" progId="">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4" y="3862"/>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3" name="Object 17"/>
            <p:cNvGraphicFramePr>
              <a:graphicFrameLocks noChangeAspect="1"/>
            </p:cNvGraphicFramePr>
            <p:nvPr/>
          </p:nvGraphicFramePr>
          <p:xfrm>
            <a:off x="3961" y="2633"/>
            <a:ext cx="280" cy="239"/>
          </p:xfrm>
          <a:graphic>
            <a:graphicData uri="http://schemas.openxmlformats.org/presentationml/2006/ole">
              <mc:AlternateContent xmlns:mc="http://schemas.openxmlformats.org/markup-compatibility/2006">
                <mc:Choice xmlns:v="urn:schemas-microsoft-com:vml" Requires="v">
                  <p:oleObj spid="_x0000_s24682" name="Clip" r:id="rId7" imgW="18192750" imgH="15087600" progId="">
                    <p:embed/>
                  </p:oleObj>
                </mc:Choice>
                <mc:Fallback>
                  <p:oleObj name="Clip" r:id="rId7" imgW="18192750" imgH="15087600" progId="">
                    <p:embed/>
                    <p:pic>
                      <p:nvPicPr>
                        <p:cNvPr id="0" name="Object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1" y="2633"/>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4" name="Object 18"/>
            <p:cNvGraphicFramePr>
              <a:graphicFrameLocks noChangeAspect="1"/>
            </p:cNvGraphicFramePr>
            <p:nvPr/>
          </p:nvGraphicFramePr>
          <p:xfrm>
            <a:off x="2189" y="1451"/>
            <a:ext cx="280" cy="239"/>
          </p:xfrm>
          <a:graphic>
            <a:graphicData uri="http://schemas.openxmlformats.org/presentationml/2006/ole">
              <mc:AlternateContent xmlns:mc="http://schemas.openxmlformats.org/markup-compatibility/2006">
                <mc:Choice xmlns:v="urn:schemas-microsoft-com:vml" Requires="v">
                  <p:oleObj spid="_x0000_s24683" name="Clip" r:id="rId8" imgW="18192750" imgH="15087600" progId="">
                    <p:embed/>
                  </p:oleObj>
                </mc:Choice>
                <mc:Fallback>
                  <p:oleObj name="Clip" r:id="rId8" imgW="18192750" imgH="15087600" progId="">
                    <p:embed/>
                    <p:pic>
                      <p:nvPicPr>
                        <p:cNvPr id="0" name="Object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9" y="1451"/>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5" name="Object 19"/>
            <p:cNvGraphicFramePr>
              <a:graphicFrameLocks noChangeAspect="1"/>
            </p:cNvGraphicFramePr>
            <p:nvPr/>
          </p:nvGraphicFramePr>
          <p:xfrm>
            <a:off x="3973" y="1903"/>
            <a:ext cx="280" cy="239"/>
          </p:xfrm>
          <a:graphic>
            <a:graphicData uri="http://schemas.openxmlformats.org/presentationml/2006/ole">
              <mc:AlternateContent xmlns:mc="http://schemas.openxmlformats.org/markup-compatibility/2006">
                <mc:Choice xmlns:v="urn:schemas-microsoft-com:vml" Requires="v">
                  <p:oleObj spid="_x0000_s24684" name="Clip" r:id="rId9" imgW="18192750" imgH="15087600" progId="">
                    <p:embed/>
                  </p:oleObj>
                </mc:Choice>
                <mc:Fallback>
                  <p:oleObj name="Clip" r:id="rId9" imgW="18192750" imgH="15087600" progId="">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3" y="1903"/>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6" name="Object 20"/>
            <p:cNvGraphicFramePr>
              <a:graphicFrameLocks noChangeAspect="1"/>
            </p:cNvGraphicFramePr>
            <p:nvPr/>
          </p:nvGraphicFramePr>
          <p:xfrm>
            <a:off x="3289" y="1391"/>
            <a:ext cx="280" cy="239"/>
          </p:xfrm>
          <a:graphic>
            <a:graphicData uri="http://schemas.openxmlformats.org/presentationml/2006/ole">
              <mc:AlternateContent xmlns:mc="http://schemas.openxmlformats.org/markup-compatibility/2006">
                <mc:Choice xmlns:v="urn:schemas-microsoft-com:vml" Requires="v">
                  <p:oleObj spid="_x0000_s24685" name="Clip" r:id="rId10" imgW="18192750" imgH="15087600" progId="">
                    <p:embed/>
                  </p:oleObj>
                </mc:Choice>
                <mc:Fallback>
                  <p:oleObj name="Clip" r:id="rId10" imgW="18192750" imgH="15087600" progId="">
                    <p:embed/>
                    <p:pic>
                      <p:nvPicPr>
                        <p:cNvPr id="0" name="Object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9" y="1391"/>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95" name="Line 21"/>
            <p:cNvSpPr>
              <a:spLocks noChangeShapeType="1"/>
            </p:cNvSpPr>
            <p:nvPr/>
          </p:nvSpPr>
          <p:spPr bwMode="auto">
            <a:xfrm>
              <a:off x="1541" y="1892"/>
              <a:ext cx="1" cy="663"/>
            </a:xfrm>
            <a:prstGeom prst="line">
              <a:avLst/>
            </a:prstGeom>
            <a:noFill/>
            <a:ln w="9525">
              <a:solidFill>
                <a:srgbClr val="FF0000"/>
              </a:solidFill>
              <a:round/>
              <a:headEnd type="triangle" w="med" len="med"/>
              <a:tailEnd type="triangle" w="med" len="med"/>
            </a:ln>
          </p:spPr>
          <p:txBody>
            <a:bodyPr wrap="none" anchor="ctr"/>
            <a:lstStyle/>
            <a:p>
              <a:endParaRPr lang="en-US"/>
            </a:p>
          </p:txBody>
        </p:sp>
        <p:sp>
          <p:nvSpPr>
            <p:cNvPr id="24596" name="Line 22"/>
            <p:cNvSpPr>
              <a:spLocks noChangeShapeType="1"/>
            </p:cNvSpPr>
            <p:nvPr/>
          </p:nvSpPr>
          <p:spPr bwMode="auto">
            <a:xfrm flipV="1">
              <a:off x="1636" y="1656"/>
              <a:ext cx="615" cy="946"/>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597" name="Line 23"/>
            <p:cNvSpPr>
              <a:spLocks noChangeShapeType="1"/>
            </p:cNvSpPr>
            <p:nvPr/>
          </p:nvSpPr>
          <p:spPr bwMode="auto">
            <a:xfrm flipV="1">
              <a:off x="1661" y="2020"/>
              <a:ext cx="2360" cy="63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598" name="Line 24"/>
            <p:cNvSpPr>
              <a:spLocks noChangeShapeType="1"/>
            </p:cNvSpPr>
            <p:nvPr/>
          </p:nvSpPr>
          <p:spPr bwMode="auto">
            <a:xfrm>
              <a:off x="1635" y="2760"/>
              <a:ext cx="1736" cy="805"/>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599" name="Line 25"/>
            <p:cNvSpPr>
              <a:spLocks noChangeShapeType="1"/>
            </p:cNvSpPr>
            <p:nvPr/>
          </p:nvSpPr>
          <p:spPr bwMode="auto">
            <a:xfrm>
              <a:off x="2409" y="1665"/>
              <a:ext cx="1594" cy="994"/>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0" name="Line 26"/>
            <p:cNvSpPr>
              <a:spLocks noChangeShapeType="1"/>
            </p:cNvSpPr>
            <p:nvPr/>
          </p:nvSpPr>
          <p:spPr bwMode="auto">
            <a:xfrm flipH="1">
              <a:off x="2007" y="1671"/>
              <a:ext cx="323" cy="1586"/>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1" name="Line 27"/>
            <p:cNvSpPr>
              <a:spLocks noChangeShapeType="1"/>
            </p:cNvSpPr>
            <p:nvPr/>
          </p:nvSpPr>
          <p:spPr bwMode="auto">
            <a:xfrm flipH="1" flipV="1">
              <a:off x="3561" y="1592"/>
              <a:ext cx="489" cy="30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2" name="Line 28"/>
            <p:cNvSpPr>
              <a:spLocks noChangeShapeType="1"/>
            </p:cNvSpPr>
            <p:nvPr/>
          </p:nvSpPr>
          <p:spPr bwMode="auto">
            <a:xfrm flipH="1">
              <a:off x="2780" y="2137"/>
              <a:ext cx="1278" cy="1594"/>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3" name="Line 29"/>
            <p:cNvSpPr>
              <a:spLocks noChangeShapeType="1"/>
            </p:cNvSpPr>
            <p:nvPr/>
          </p:nvSpPr>
          <p:spPr bwMode="auto">
            <a:xfrm flipH="1">
              <a:off x="2835" y="3715"/>
              <a:ext cx="466" cy="11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4" name="Line 30"/>
            <p:cNvSpPr>
              <a:spLocks noChangeShapeType="1"/>
            </p:cNvSpPr>
            <p:nvPr/>
          </p:nvSpPr>
          <p:spPr bwMode="auto">
            <a:xfrm flipH="1">
              <a:off x="2086" y="1624"/>
              <a:ext cx="1294" cy="168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5" name="Line 31"/>
            <p:cNvSpPr>
              <a:spLocks noChangeShapeType="1"/>
            </p:cNvSpPr>
            <p:nvPr/>
          </p:nvSpPr>
          <p:spPr bwMode="auto">
            <a:xfrm flipV="1">
              <a:off x="2094" y="2792"/>
              <a:ext cx="1893" cy="592"/>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6" name="Line 32"/>
            <p:cNvSpPr>
              <a:spLocks noChangeShapeType="1"/>
            </p:cNvSpPr>
            <p:nvPr/>
          </p:nvSpPr>
          <p:spPr bwMode="auto">
            <a:xfrm>
              <a:off x="3506" y="1608"/>
              <a:ext cx="607" cy="101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7" name="Line 33"/>
            <p:cNvSpPr>
              <a:spLocks noChangeShapeType="1"/>
            </p:cNvSpPr>
            <p:nvPr/>
          </p:nvSpPr>
          <p:spPr bwMode="auto">
            <a:xfrm>
              <a:off x="3545" y="3731"/>
              <a:ext cx="237" cy="157"/>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8" name="Line 34"/>
            <p:cNvSpPr>
              <a:spLocks noChangeShapeType="1"/>
            </p:cNvSpPr>
            <p:nvPr/>
          </p:nvSpPr>
          <p:spPr bwMode="auto">
            <a:xfrm>
              <a:off x="2843" y="3944"/>
              <a:ext cx="939" cy="1"/>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609" name="Text Box 35"/>
            <p:cNvSpPr txBox="1">
              <a:spLocks noChangeArrowheads="1"/>
            </p:cNvSpPr>
            <p:nvPr/>
          </p:nvSpPr>
          <p:spPr bwMode="auto">
            <a:xfrm>
              <a:off x="846" y="2049"/>
              <a:ext cx="719" cy="441"/>
            </a:xfrm>
            <a:prstGeom prst="rect">
              <a:avLst/>
            </a:prstGeom>
            <a:noFill/>
            <a:ln w="9525" algn="ctr">
              <a:noFill/>
              <a:miter lim="800000"/>
            </a:ln>
          </p:spPr>
          <p:txBody>
            <a:bodyPr wrap="none">
              <a:spAutoFit/>
            </a:bodyPr>
            <a:lstStyle/>
            <a:p>
              <a:pPr eaLnBrk="1" hangingPunct="1">
                <a:spcBef>
                  <a:spcPct val="0"/>
                </a:spcBef>
                <a:buClrTx/>
                <a:buSzTx/>
                <a:buFontTx/>
                <a:buNone/>
              </a:pPr>
              <a:r>
                <a:rPr lang="en-US" sz="1600">
                  <a:solidFill>
                    <a:srgbClr val="FF0000"/>
                  </a:solidFill>
                </a:rPr>
                <a:t>obtain list</a:t>
              </a:r>
              <a:endParaRPr lang="en-US" sz="1600">
                <a:solidFill>
                  <a:srgbClr val="FF0000"/>
                </a:solidFill>
              </a:endParaRPr>
            </a:p>
            <a:p>
              <a:pPr eaLnBrk="1" hangingPunct="1">
                <a:spcBef>
                  <a:spcPct val="0"/>
                </a:spcBef>
                <a:buClrTx/>
                <a:buSzTx/>
                <a:buFontTx/>
                <a:buNone/>
              </a:pPr>
              <a:r>
                <a:rPr lang="en-US" sz="1600">
                  <a:solidFill>
                    <a:srgbClr val="FF0000"/>
                  </a:solidFill>
                </a:rPr>
                <a:t>of peers</a:t>
              </a:r>
              <a:r>
                <a:rPr lang="en-US" sz="1800">
                  <a:latin typeface="Arial" panose="020B0604020202020204" pitchFamily="34" charset="0"/>
                </a:rPr>
                <a:t> </a:t>
              </a:r>
              <a:endParaRPr lang="en-US" sz="1800">
                <a:latin typeface="Arial" panose="020B0604020202020204" pitchFamily="34" charset="0"/>
              </a:endParaRPr>
            </a:p>
          </p:txBody>
        </p:sp>
        <p:sp>
          <p:nvSpPr>
            <p:cNvPr id="24610" name="Text Box 36"/>
            <p:cNvSpPr txBox="1">
              <a:spLocks noChangeArrowheads="1"/>
            </p:cNvSpPr>
            <p:nvPr/>
          </p:nvSpPr>
          <p:spPr bwMode="auto">
            <a:xfrm>
              <a:off x="2730" y="2539"/>
              <a:ext cx="588" cy="420"/>
            </a:xfrm>
            <a:prstGeom prst="rect">
              <a:avLst/>
            </a:prstGeom>
            <a:noFill/>
            <a:ln w="9525" algn="ctr">
              <a:noFill/>
              <a:miter lim="800000"/>
            </a:ln>
          </p:spPr>
          <p:txBody>
            <a:bodyPr wrap="none">
              <a:spAutoFit/>
            </a:bodyPr>
            <a:lstStyle/>
            <a:p>
              <a:pPr eaLnBrk="1" hangingPunct="1">
                <a:spcBef>
                  <a:spcPct val="0"/>
                </a:spcBef>
                <a:buClrTx/>
                <a:buSzTx/>
                <a:buFontTx/>
                <a:buNone/>
              </a:pPr>
              <a:r>
                <a:rPr lang="en-US" sz="1600"/>
                <a:t>trading </a:t>
              </a:r>
              <a:endParaRPr lang="en-US" sz="1600"/>
            </a:p>
            <a:p>
              <a:pPr eaLnBrk="1" hangingPunct="1">
                <a:spcBef>
                  <a:spcPct val="0"/>
                </a:spcBef>
                <a:buClrTx/>
                <a:buSzTx/>
                <a:buFontTx/>
                <a:buNone/>
              </a:pPr>
              <a:r>
                <a:rPr lang="en-US" sz="1600"/>
                <a:t>chunks</a:t>
              </a:r>
              <a:endParaRPr lang="en-US" sz="1600"/>
            </a:p>
          </p:txBody>
        </p:sp>
        <p:sp>
          <p:nvSpPr>
            <p:cNvPr id="24611" name="Line 38"/>
            <p:cNvSpPr>
              <a:spLocks noChangeShapeType="1"/>
            </p:cNvSpPr>
            <p:nvPr/>
          </p:nvSpPr>
          <p:spPr bwMode="auto">
            <a:xfrm flipH="1">
              <a:off x="3892" y="2871"/>
              <a:ext cx="214" cy="986"/>
            </a:xfrm>
            <a:prstGeom prst="line">
              <a:avLst/>
            </a:prstGeom>
            <a:noFill/>
            <a:ln w="9525">
              <a:solidFill>
                <a:schemeClr val="tx1"/>
              </a:solidFill>
              <a:round/>
              <a:headEnd type="triangle" w="med" len="med"/>
              <a:tailEnd type="triangle" w="med" len="med"/>
            </a:ln>
          </p:spPr>
          <p:txBody>
            <a:bodyPr wrap="none" anchor="ctr"/>
            <a:lstStyle/>
            <a:p>
              <a:endParaRPr lang="en-US"/>
            </a:p>
          </p:txBody>
        </p:sp>
        <p:pic>
          <p:nvPicPr>
            <p:cNvPr id="24612" name="Picture 39" descr="Alice"/>
            <p:cNvPicPr>
              <a:picLocks noChangeAspect="1" noChangeArrowheads="1"/>
            </p:cNvPicPr>
            <p:nvPr/>
          </p:nvPicPr>
          <p:blipFill>
            <a:blip r:embed="rId11"/>
            <a:srcRect/>
            <a:stretch>
              <a:fillRect/>
            </a:stretch>
          </p:blipFill>
          <p:spPr bwMode="auto">
            <a:xfrm>
              <a:off x="1113" y="2742"/>
              <a:ext cx="354" cy="437"/>
            </a:xfrm>
            <a:prstGeom prst="rect">
              <a:avLst/>
            </a:prstGeom>
            <a:noFill/>
            <a:ln w="9525">
              <a:noFill/>
              <a:miter lim="800000"/>
              <a:headEnd/>
              <a:tailEnd/>
            </a:ln>
          </p:spPr>
        </p:pic>
        <p:sp>
          <p:nvSpPr>
            <p:cNvPr id="24613" name="Text Box 40"/>
            <p:cNvSpPr txBox="1">
              <a:spLocks noChangeArrowheads="1"/>
            </p:cNvSpPr>
            <p:nvPr/>
          </p:nvSpPr>
          <p:spPr bwMode="auto">
            <a:xfrm>
              <a:off x="1760" y="3471"/>
              <a:ext cx="386" cy="243"/>
            </a:xfrm>
            <a:prstGeom prst="rect">
              <a:avLst/>
            </a:prstGeom>
            <a:noFill/>
            <a:ln w="9525" algn="ctr">
              <a:noFill/>
              <a:miter lim="800000"/>
            </a:ln>
          </p:spPr>
          <p:txBody>
            <a:bodyPr wrap="none">
              <a:spAutoFit/>
            </a:bodyPr>
            <a:lstStyle/>
            <a:p>
              <a:pPr eaLnBrk="1" hangingPunct="1">
                <a:spcBef>
                  <a:spcPct val="0"/>
                </a:spcBef>
                <a:buClrTx/>
                <a:buSzTx/>
                <a:buFontTx/>
                <a:buNone/>
              </a:pPr>
              <a:r>
                <a:rPr lang="en-US" sz="1600"/>
                <a:t>peer</a:t>
              </a:r>
              <a:endParaRPr lang="en-US" sz="1600"/>
            </a:p>
          </p:txBody>
        </p:sp>
        <p:sp>
          <p:nvSpPr>
            <p:cNvPr id="24614" name="Line 42"/>
            <p:cNvSpPr>
              <a:spLocks noChangeShapeType="1"/>
            </p:cNvSpPr>
            <p:nvPr/>
          </p:nvSpPr>
          <p:spPr bwMode="auto">
            <a:xfrm>
              <a:off x="1178" y="1309"/>
              <a:ext cx="218" cy="227"/>
            </a:xfrm>
            <a:prstGeom prst="line">
              <a:avLst/>
            </a:prstGeom>
            <a:noFill/>
            <a:ln w="9525">
              <a:solidFill>
                <a:srgbClr val="FF3300"/>
              </a:solidFill>
              <a:round/>
            </a:ln>
          </p:spPr>
          <p:txBody>
            <a:bodyPr/>
            <a:lstStyle/>
            <a:p>
              <a:endParaRPr lang="en-US"/>
            </a:p>
          </p:txBody>
        </p:sp>
      </p:grpSp>
      <p:sp>
        <p:nvSpPr>
          <p:cNvPr id="24593" name="Rectangle 43"/>
          <p:cNvSpPr>
            <a:spLocks noChangeArrowheads="1"/>
          </p:cNvSpPr>
          <p:nvPr/>
        </p:nvSpPr>
        <p:spPr bwMode="auto">
          <a:xfrm>
            <a:off x="614363" y="1416050"/>
            <a:ext cx="3989387" cy="546100"/>
          </a:xfrm>
          <a:prstGeom prst="rect">
            <a:avLst/>
          </a:prstGeom>
          <a:noFill/>
          <a:ln w="9525">
            <a:noFill/>
            <a:miter lim="800000"/>
          </a:ln>
        </p:spPr>
        <p:txBody>
          <a:bodyPr/>
          <a:lstStyle/>
          <a:p>
            <a:pPr marL="342900" indent="-342900">
              <a:buFont typeface="ZapfDingbats" pitchFamily="82" charset="2"/>
              <a:buChar char="r"/>
            </a:pPr>
            <a:r>
              <a:rPr lang="en-US"/>
              <a:t>P2P file distribution</a:t>
            </a:r>
            <a:endParaRPr lang="en-US" sz="28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11"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5612" name="Slide Number Placeholder 6"/>
          <p:cNvSpPr>
            <a:spLocks noGrp="1"/>
          </p:cNvSpPr>
          <p:nvPr>
            <p:ph type="sldNum" sz="quarter" idx="12"/>
          </p:nvPr>
        </p:nvSpPr>
        <p:spPr>
          <a:noFill/>
        </p:spPr>
        <p:txBody>
          <a:bodyPr/>
          <a:lstStyle/>
          <a:p>
            <a:fld id="{7DCE6A64-B075-4301-A9F2-97456EC1DDF4}" type="slidenum">
              <a:rPr lang="en-US"/>
            </a:fld>
            <a:endParaRPr lang="en-US"/>
          </a:p>
        </p:txBody>
      </p:sp>
      <p:sp>
        <p:nvSpPr>
          <p:cNvPr id="25613" name="Rectangle 2"/>
          <p:cNvSpPr>
            <a:spLocks noGrp="1" noChangeArrowheads="1"/>
          </p:cNvSpPr>
          <p:nvPr>
            <p:ph type="title"/>
          </p:nvPr>
        </p:nvSpPr>
        <p:spPr>
          <a:xfrm>
            <a:off x="312738" y="865188"/>
            <a:ext cx="7772400" cy="1143000"/>
          </a:xfrm>
        </p:spPr>
        <p:txBody>
          <a:bodyPr/>
          <a:lstStyle/>
          <a:p>
            <a:r>
              <a:rPr lang="en-US"/>
              <a:t>BitTorrent (1)</a:t>
            </a:r>
            <a:endParaRPr lang="en-US"/>
          </a:p>
        </p:txBody>
      </p:sp>
      <p:sp>
        <p:nvSpPr>
          <p:cNvPr id="25614" name="Rectangle 3"/>
          <p:cNvSpPr>
            <a:spLocks noGrp="1" noChangeArrowheads="1"/>
          </p:cNvSpPr>
          <p:nvPr>
            <p:ph type="body" sz="half" idx="1"/>
          </p:nvPr>
        </p:nvSpPr>
        <p:spPr>
          <a:xfrm>
            <a:off x="212725" y="2124075"/>
            <a:ext cx="8120063" cy="4384675"/>
          </a:xfrm>
        </p:spPr>
        <p:txBody>
          <a:bodyPr/>
          <a:lstStyle/>
          <a:p>
            <a:r>
              <a:rPr lang="en-US" sz="2400"/>
              <a:t>file divided into 256KB </a:t>
            </a:r>
            <a:r>
              <a:rPr lang="en-US" sz="2400" i="1">
                <a:solidFill>
                  <a:srgbClr val="FF3300"/>
                </a:solidFill>
              </a:rPr>
              <a:t>chunks</a:t>
            </a:r>
            <a:r>
              <a:rPr lang="en-US" sz="2400"/>
              <a:t>.</a:t>
            </a:r>
            <a:endParaRPr lang="en-US" sz="2400"/>
          </a:p>
          <a:p>
            <a:r>
              <a:rPr lang="en-US" sz="2400"/>
              <a:t>peer joining torrent: </a:t>
            </a:r>
            <a:endParaRPr lang="en-US" sz="2400"/>
          </a:p>
          <a:p>
            <a:pPr lvl="1"/>
            <a:r>
              <a:rPr lang="en-US"/>
              <a:t>has no chunks, but will accumulate them over time</a:t>
            </a:r>
            <a:endParaRPr lang="en-US"/>
          </a:p>
          <a:p>
            <a:pPr lvl="1"/>
            <a:r>
              <a:rPr lang="en-US"/>
              <a:t>registers with tracker to get list of peers, connects to subset of peers (“neighbors”)</a:t>
            </a:r>
            <a:endParaRPr lang="en-US"/>
          </a:p>
          <a:p>
            <a:r>
              <a:rPr lang="en-US" sz="2400"/>
              <a:t>while downloading,  peer uploads chunks to other peers. </a:t>
            </a:r>
            <a:endParaRPr lang="en-US" sz="2400"/>
          </a:p>
          <a:p>
            <a:r>
              <a:rPr lang="en-US" sz="2400"/>
              <a:t>peers may come and go</a:t>
            </a:r>
            <a:endParaRPr lang="en-US" sz="2400"/>
          </a:p>
          <a:p>
            <a:r>
              <a:rPr lang="en-US" sz="2400"/>
              <a:t>once peer has entire file, it may (selfishly) leave or (altruistically) remain</a:t>
            </a:r>
            <a:endParaRPr lang="en-US" sz="2400"/>
          </a:p>
        </p:txBody>
      </p:sp>
      <p:grpSp>
        <p:nvGrpSpPr>
          <p:cNvPr id="25615" name="Group 43"/>
          <p:cNvGrpSpPr/>
          <p:nvPr/>
        </p:nvGrpSpPr>
        <p:grpSpPr bwMode="auto">
          <a:xfrm>
            <a:off x="5521325" y="233363"/>
            <a:ext cx="2962275" cy="2882900"/>
            <a:chOff x="2195" y="208"/>
            <a:chExt cx="3140" cy="2776"/>
          </a:xfrm>
        </p:grpSpPr>
        <p:grpSp>
          <p:nvGrpSpPr>
            <p:cNvPr id="25616" name="Group 6"/>
            <p:cNvGrpSpPr/>
            <p:nvPr/>
          </p:nvGrpSpPr>
          <p:grpSpPr bwMode="auto">
            <a:xfrm>
              <a:off x="2513" y="208"/>
              <a:ext cx="339" cy="558"/>
              <a:chOff x="4180" y="783"/>
              <a:chExt cx="150" cy="307"/>
            </a:xfrm>
          </p:grpSpPr>
          <p:sp>
            <p:nvSpPr>
              <p:cNvPr id="25633" name="AutoShape 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25634" name="Rectangle 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25635"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25636"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25637" name="Line 1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25638" name="Line 1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25639"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25640" name="Rectangle 1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graphicFrame>
          <p:nvGraphicFramePr>
            <p:cNvPr id="25602" name="Object 15"/>
            <p:cNvGraphicFramePr>
              <a:graphicFrameLocks noChangeAspect="1"/>
            </p:cNvGraphicFramePr>
            <p:nvPr/>
          </p:nvGraphicFramePr>
          <p:xfrm>
            <a:off x="2480" y="1429"/>
            <a:ext cx="280" cy="239"/>
          </p:xfrm>
          <a:graphic>
            <a:graphicData uri="http://schemas.openxmlformats.org/presentationml/2006/ole">
              <mc:AlternateContent xmlns:mc="http://schemas.openxmlformats.org/markup-compatibility/2006">
                <mc:Choice xmlns:v="urn:schemas-microsoft-com:vml" Requires="v">
                  <p:oleObj spid="_x0000_s25701" name="Clip" r:id="rId1" imgW="18192750" imgH="15087600" progId="">
                    <p:embed/>
                  </p:oleObj>
                </mc:Choice>
                <mc:Fallback>
                  <p:oleObj name="Clip" r:id="rId1" imgW="18192750" imgH="15087600" progId="">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0" y="1429"/>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3" name="Object 16"/>
            <p:cNvGraphicFramePr>
              <a:graphicFrameLocks noChangeAspect="1"/>
            </p:cNvGraphicFramePr>
            <p:nvPr/>
          </p:nvGraphicFramePr>
          <p:xfrm>
            <a:off x="3665" y="2638"/>
            <a:ext cx="280" cy="239"/>
          </p:xfrm>
          <a:graphic>
            <a:graphicData uri="http://schemas.openxmlformats.org/presentationml/2006/ole">
              <mc:AlternateContent xmlns:mc="http://schemas.openxmlformats.org/markup-compatibility/2006">
                <mc:Choice xmlns:v="urn:schemas-microsoft-com:vml" Requires="v">
                  <p:oleObj spid="_x0000_s25702" name="Clip" r:id="rId3" imgW="18192750" imgH="15087600" progId="">
                    <p:embed/>
                  </p:oleObj>
                </mc:Choice>
                <mc:Fallback>
                  <p:oleObj name="Clip" r:id="rId3" imgW="18192750" imgH="15087600" progId="">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5" y="2638"/>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4" name="Object 17"/>
            <p:cNvGraphicFramePr>
              <a:graphicFrameLocks noChangeAspect="1"/>
            </p:cNvGraphicFramePr>
            <p:nvPr/>
          </p:nvGraphicFramePr>
          <p:xfrm>
            <a:off x="2908" y="2150"/>
            <a:ext cx="280" cy="239"/>
          </p:xfrm>
          <a:graphic>
            <a:graphicData uri="http://schemas.openxmlformats.org/presentationml/2006/ole">
              <mc:AlternateContent xmlns:mc="http://schemas.openxmlformats.org/markup-compatibility/2006">
                <mc:Choice xmlns:v="urn:schemas-microsoft-com:vml" Requires="v">
                  <p:oleObj spid="_x0000_s25703" name="Clip" r:id="rId4" imgW="18192750" imgH="15087600" progId="">
                    <p:embed/>
                  </p:oleObj>
                </mc:Choice>
                <mc:Fallback>
                  <p:oleObj name="Clip" r:id="rId4" imgW="18192750" imgH="15087600" progId="">
                    <p:embed/>
                    <p:pic>
                      <p:nvPicPr>
                        <p:cNvPr id="0" name="Object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8" y="2150"/>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5" name="Object 18"/>
            <p:cNvGraphicFramePr>
              <a:graphicFrameLocks noChangeAspect="1"/>
            </p:cNvGraphicFramePr>
            <p:nvPr/>
          </p:nvGraphicFramePr>
          <p:xfrm>
            <a:off x="4378" y="2436"/>
            <a:ext cx="280" cy="239"/>
          </p:xfrm>
          <a:graphic>
            <a:graphicData uri="http://schemas.openxmlformats.org/presentationml/2006/ole">
              <mc:AlternateContent xmlns:mc="http://schemas.openxmlformats.org/markup-compatibility/2006">
                <mc:Choice xmlns:v="urn:schemas-microsoft-com:vml" Requires="v">
                  <p:oleObj spid="_x0000_s25704" name="Clip" r:id="rId5" imgW="18192750" imgH="15087600" progId="">
                    <p:embed/>
                  </p:oleObj>
                </mc:Choice>
                <mc:Fallback>
                  <p:oleObj name="Clip" r:id="rId5" imgW="18192750" imgH="15087600" progId="">
                    <p:embed/>
                    <p:pic>
                      <p:nvPicPr>
                        <p:cNvPr id="0" name="Object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8" y="2436"/>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6" name="Object 19"/>
            <p:cNvGraphicFramePr>
              <a:graphicFrameLocks noChangeAspect="1"/>
            </p:cNvGraphicFramePr>
            <p:nvPr/>
          </p:nvGraphicFramePr>
          <p:xfrm>
            <a:off x="4836" y="2745"/>
            <a:ext cx="280" cy="239"/>
          </p:xfrm>
          <a:graphic>
            <a:graphicData uri="http://schemas.openxmlformats.org/presentationml/2006/ole">
              <mc:AlternateContent xmlns:mc="http://schemas.openxmlformats.org/markup-compatibility/2006">
                <mc:Choice xmlns:v="urn:schemas-microsoft-com:vml" Requires="v">
                  <p:oleObj spid="_x0000_s25705" name="Clip" r:id="rId6" imgW="18192750" imgH="15087600" progId="">
                    <p:embed/>
                  </p:oleObj>
                </mc:Choice>
                <mc:Fallback>
                  <p:oleObj name="Clip" r:id="rId6" imgW="18192750" imgH="15087600" progId="">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6" y="2745"/>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7" name="Object 20"/>
            <p:cNvGraphicFramePr>
              <a:graphicFrameLocks noChangeAspect="1"/>
            </p:cNvGraphicFramePr>
            <p:nvPr/>
          </p:nvGraphicFramePr>
          <p:xfrm>
            <a:off x="5043" y="1516"/>
            <a:ext cx="280" cy="239"/>
          </p:xfrm>
          <a:graphic>
            <a:graphicData uri="http://schemas.openxmlformats.org/presentationml/2006/ole">
              <mc:AlternateContent xmlns:mc="http://schemas.openxmlformats.org/markup-compatibility/2006">
                <mc:Choice xmlns:v="urn:schemas-microsoft-com:vml" Requires="v">
                  <p:oleObj spid="_x0000_s25706" name="Clip" r:id="rId7" imgW="18192750" imgH="15087600" progId="">
                    <p:embed/>
                  </p:oleObj>
                </mc:Choice>
                <mc:Fallback>
                  <p:oleObj name="Clip" r:id="rId7" imgW="18192750" imgH="15087600" progId="">
                    <p:embed/>
                    <p:pic>
                      <p:nvPicPr>
                        <p:cNvPr id="0" name="Object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3" y="1516"/>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8" name="Object 21"/>
            <p:cNvGraphicFramePr>
              <a:graphicFrameLocks noChangeAspect="1"/>
            </p:cNvGraphicFramePr>
            <p:nvPr/>
          </p:nvGraphicFramePr>
          <p:xfrm>
            <a:off x="3271" y="334"/>
            <a:ext cx="280" cy="239"/>
          </p:xfrm>
          <a:graphic>
            <a:graphicData uri="http://schemas.openxmlformats.org/presentationml/2006/ole">
              <mc:AlternateContent xmlns:mc="http://schemas.openxmlformats.org/markup-compatibility/2006">
                <mc:Choice xmlns:v="urn:schemas-microsoft-com:vml" Requires="v">
                  <p:oleObj spid="_x0000_s25707" name="Clip" r:id="rId8" imgW="18192750" imgH="15087600" progId="">
                    <p:embed/>
                  </p:oleObj>
                </mc:Choice>
                <mc:Fallback>
                  <p:oleObj name="Clip" r:id="rId8" imgW="18192750" imgH="15087600" progId="">
                    <p:embed/>
                    <p:pic>
                      <p:nvPicPr>
                        <p:cNvPr id="0" name="Object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1" y="334"/>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9" name="Object 22"/>
            <p:cNvGraphicFramePr>
              <a:graphicFrameLocks noChangeAspect="1"/>
            </p:cNvGraphicFramePr>
            <p:nvPr/>
          </p:nvGraphicFramePr>
          <p:xfrm>
            <a:off x="5055" y="786"/>
            <a:ext cx="280" cy="239"/>
          </p:xfrm>
          <a:graphic>
            <a:graphicData uri="http://schemas.openxmlformats.org/presentationml/2006/ole">
              <mc:AlternateContent xmlns:mc="http://schemas.openxmlformats.org/markup-compatibility/2006">
                <mc:Choice xmlns:v="urn:schemas-microsoft-com:vml" Requires="v">
                  <p:oleObj spid="_x0000_s25708" name="Clip" r:id="rId9" imgW="18192750" imgH="15087600" progId="">
                    <p:embed/>
                  </p:oleObj>
                </mc:Choice>
                <mc:Fallback>
                  <p:oleObj name="Clip" r:id="rId9" imgW="18192750" imgH="15087600" progId="">
                    <p:embed/>
                    <p:pic>
                      <p:nvPicPr>
                        <p:cNvPr id="0" name="Object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5" y="786"/>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10" name="Object 23"/>
            <p:cNvGraphicFramePr>
              <a:graphicFrameLocks noChangeAspect="1"/>
            </p:cNvGraphicFramePr>
            <p:nvPr/>
          </p:nvGraphicFramePr>
          <p:xfrm>
            <a:off x="4371" y="274"/>
            <a:ext cx="280" cy="239"/>
          </p:xfrm>
          <a:graphic>
            <a:graphicData uri="http://schemas.openxmlformats.org/presentationml/2006/ole">
              <mc:AlternateContent xmlns:mc="http://schemas.openxmlformats.org/markup-compatibility/2006">
                <mc:Choice xmlns:v="urn:schemas-microsoft-com:vml" Requires="v">
                  <p:oleObj spid="_x0000_s25709" name="Clip" r:id="rId10" imgW="18192750" imgH="15087600" progId="">
                    <p:embed/>
                  </p:oleObj>
                </mc:Choice>
                <mc:Fallback>
                  <p:oleObj name="Clip" r:id="rId10" imgW="18192750" imgH="15087600" progId="">
                    <p:embed/>
                    <p:pic>
                      <p:nvPicPr>
                        <p:cNvPr id="0" name="Object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1" y="274"/>
                          <a:ext cx="280" cy="2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17" name="Line 24"/>
            <p:cNvSpPr>
              <a:spLocks noChangeShapeType="1"/>
            </p:cNvSpPr>
            <p:nvPr/>
          </p:nvSpPr>
          <p:spPr bwMode="auto">
            <a:xfrm>
              <a:off x="2623" y="775"/>
              <a:ext cx="0" cy="663"/>
            </a:xfrm>
            <a:prstGeom prst="line">
              <a:avLst/>
            </a:prstGeom>
            <a:noFill/>
            <a:ln w="9525">
              <a:solidFill>
                <a:srgbClr val="FF0000"/>
              </a:solidFill>
              <a:round/>
              <a:headEnd type="triangle" w="med" len="med"/>
              <a:tailEnd type="triangle" w="med" len="med"/>
            </a:ln>
          </p:spPr>
          <p:txBody>
            <a:bodyPr wrap="none" anchor="ctr"/>
            <a:lstStyle/>
            <a:p>
              <a:endParaRPr lang="en-US"/>
            </a:p>
          </p:txBody>
        </p:sp>
        <p:sp>
          <p:nvSpPr>
            <p:cNvPr id="25618" name="Line 25"/>
            <p:cNvSpPr>
              <a:spLocks noChangeShapeType="1"/>
            </p:cNvSpPr>
            <p:nvPr/>
          </p:nvSpPr>
          <p:spPr bwMode="auto">
            <a:xfrm flipV="1">
              <a:off x="2718" y="539"/>
              <a:ext cx="615" cy="946"/>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19" name="Line 26"/>
            <p:cNvSpPr>
              <a:spLocks noChangeShapeType="1"/>
            </p:cNvSpPr>
            <p:nvPr/>
          </p:nvSpPr>
          <p:spPr bwMode="auto">
            <a:xfrm flipV="1">
              <a:off x="2743" y="903"/>
              <a:ext cx="2360" cy="63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0" name="Line 27"/>
            <p:cNvSpPr>
              <a:spLocks noChangeShapeType="1"/>
            </p:cNvSpPr>
            <p:nvPr/>
          </p:nvSpPr>
          <p:spPr bwMode="auto">
            <a:xfrm>
              <a:off x="2717" y="1643"/>
              <a:ext cx="1736" cy="805"/>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1" name="Line 28"/>
            <p:cNvSpPr>
              <a:spLocks noChangeShapeType="1"/>
            </p:cNvSpPr>
            <p:nvPr/>
          </p:nvSpPr>
          <p:spPr bwMode="auto">
            <a:xfrm>
              <a:off x="3491" y="548"/>
              <a:ext cx="1594" cy="994"/>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2" name="Line 29"/>
            <p:cNvSpPr>
              <a:spLocks noChangeShapeType="1"/>
            </p:cNvSpPr>
            <p:nvPr/>
          </p:nvSpPr>
          <p:spPr bwMode="auto">
            <a:xfrm flipH="1">
              <a:off x="3089" y="554"/>
              <a:ext cx="323" cy="1586"/>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3" name="Line 30"/>
            <p:cNvSpPr>
              <a:spLocks noChangeShapeType="1"/>
            </p:cNvSpPr>
            <p:nvPr/>
          </p:nvSpPr>
          <p:spPr bwMode="auto">
            <a:xfrm flipH="1" flipV="1">
              <a:off x="4643" y="475"/>
              <a:ext cx="489" cy="30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4" name="Line 31"/>
            <p:cNvSpPr>
              <a:spLocks noChangeShapeType="1"/>
            </p:cNvSpPr>
            <p:nvPr/>
          </p:nvSpPr>
          <p:spPr bwMode="auto">
            <a:xfrm flipH="1">
              <a:off x="3862" y="1020"/>
              <a:ext cx="1278" cy="1594"/>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5" name="Line 32"/>
            <p:cNvSpPr>
              <a:spLocks noChangeShapeType="1"/>
            </p:cNvSpPr>
            <p:nvPr/>
          </p:nvSpPr>
          <p:spPr bwMode="auto">
            <a:xfrm flipH="1">
              <a:off x="3917" y="2598"/>
              <a:ext cx="466" cy="11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6" name="Line 33"/>
            <p:cNvSpPr>
              <a:spLocks noChangeShapeType="1"/>
            </p:cNvSpPr>
            <p:nvPr/>
          </p:nvSpPr>
          <p:spPr bwMode="auto">
            <a:xfrm flipH="1">
              <a:off x="3168" y="507"/>
              <a:ext cx="1294" cy="168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7" name="Line 34"/>
            <p:cNvSpPr>
              <a:spLocks noChangeShapeType="1"/>
            </p:cNvSpPr>
            <p:nvPr/>
          </p:nvSpPr>
          <p:spPr bwMode="auto">
            <a:xfrm flipV="1">
              <a:off x="3176" y="1675"/>
              <a:ext cx="1893" cy="592"/>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8" name="Line 35"/>
            <p:cNvSpPr>
              <a:spLocks noChangeShapeType="1"/>
            </p:cNvSpPr>
            <p:nvPr/>
          </p:nvSpPr>
          <p:spPr bwMode="auto">
            <a:xfrm>
              <a:off x="4588" y="491"/>
              <a:ext cx="607" cy="1018"/>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29" name="Line 36"/>
            <p:cNvSpPr>
              <a:spLocks noChangeShapeType="1"/>
            </p:cNvSpPr>
            <p:nvPr/>
          </p:nvSpPr>
          <p:spPr bwMode="auto">
            <a:xfrm>
              <a:off x="4627" y="2614"/>
              <a:ext cx="237" cy="157"/>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30" name="Line 37"/>
            <p:cNvSpPr>
              <a:spLocks noChangeShapeType="1"/>
            </p:cNvSpPr>
            <p:nvPr/>
          </p:nvSpPr>
          <p:spPr bwMode="auto">
            <a:xfrm>
              <a:off x="3925" y="2827"/>
              <a:ext cx="939"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5631" name="Line 39"/>
            <p:cNvSpPr>
              <a:spLocks noChangeShapeType="1"/>
            </p:cNvSpPr>
            <p:nvPr/>
          </p:nvSpPr>
          <p:spPr bwMode="auto">
            <a:xfrm flipH="1">
              <a:off x="4974" y="1754"/>
              <a:ext cx="214" cy="986"/>
            </a:xfrm>
            <a:prstGeom prst="line">
              <a:avLst/>
            </a:prstGeom>
            <a:noFill/>
            <a:ln w="9525">
              <a:solidFill>
                <a:schemeClr val="tx1"/>
              </a:solidFill>
              <a:round/>
              <a:headEnd type="triangle" w="med" len="med"/>
              <a:tailEnd type="triangle" w="med" len="med"/>
            </a:ln>
          </p:spPr>
          <p:txBody>
            <a:bodyPr wrap="none" anchor="ctr"/>
            <a:lstStyle/>
            <a:p>
              <a:endParaRPr lang="en-US"/>
            </a:p>
          </p:txBody>
        </p:sp>
        <p:pic>
          <p:nvPicPr>
            <p:cNvPr id="25632" name="Picture 40" descr="Alice"/>
            <p:cNvPicPr>
              <a:picLocks noChangeAspect="1" noChangeArrowheads="1"/>
            </p:cNvPicPr>
            <p:nvPr/>
          </p:nvPicPr>
          <p:blipFill>
            <a:blip r:embed="rId11"/>
            <a:srcRect/>
            <a:stretch>
              <a:fillRect/>
            </a:stretch>
          </p:blipFill>
          <p:spPr bwMode="auto">
            <a:xfrm>
              <a:off x="2195" y="1625"/>
              <a:ext cx="354" cy="437"/>
            </a:xfrm>
            <a:prstGeom prst="rect">
              <a:avLst/>
            </a:prstGeom>
            <a:noFill/>
            <a:ln w="9525">
              <a:noFill/>
              <a:miter lim="800000"/>
              <a:headEnd/>
              <a:tailEnd/>
            </a:ln>
          </p:spPr>
        </p:pic>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92163" name="Slide Number Placeholder 6"/>
          <p:cNvSpPr>
            <a:spLocks noGrp="1"/>
          </p:cNvSpPr>
          <p:nvPr>
            <p:ph type="sldNum" sz="quarter" idx="12"/>
          </p:nvPr>
        </p:nvSpPr>
        <p:spPr>
          <a:noFill/>
        </p:spPr>
        <p:txBody>
          <a:bodyPr/>
          <a:lstStyle/>
          <a:p>
            <a:fld id="{6FDDAC3D-3272-4F7C-A687-193E6930566E}" type="slidenum">
              <a:rPr lang="en-US"/>
            </a:fld>
            <a:endParaRPr lang="en-US"/>
          </a:p>
        </p:txBody>
      </p:sp>
      <p:sp>
        <p:nvSpPr>
          <p:cNvPr id="92164" name="Rectangle 2"/>
          <p:cNvSpPr>
            <a:spLocks noGrp="1" noChangeArrowheads="1"/>
          </p:cNvSpPr>
          <p:nvPr>
            <p:ph type="title"/>
          </p:nvPr>
        </p:nvSpPr>
        <p:spPr/>
        <p:txBody>
          <a:bodyPr/>
          <a:lstStyle/>
          <a:p>
            <a:r>
              <a:rPr lang="en-US"/>
              <a:t>BitTorrent (2)</a:t>
            </a:r>
            <a:endParaRPr lang="en-US"/>
          </a:p>
        </p:txBody>
      </p:sp>
      <p:sp>
        <p:nvSpPr>
          <p:cNvPr id="92165" name="Rectangle 4"/>
          <p:cNvSpPr>
            <a:spLocks noGrp="1" noChangeArrowheads="1"/>
          </p:cNvSpPr>
          <p:nvPr>
            <p:ph type="body" sz="half" idx="2"/>
          </p:nvPr>
        </p:nvSpPr>
        <p:spPr>
          <a:xfrm>
            <a:off x="600075" y="1443038"/>
            <a:ext cx="3989388" cy="4965700"/>
          </a:xfrm>
        </p:spPr>
        <p:txBody>
          <a:bodyPr/>
          <a:lstStyle/>
          <a:p>
            <a:pPr>
              <a:buFont typeface="ZapfDingbats" pitchFamily="82" charset="2"/>
              <a:buNone/>
            </a:pPr>
            <a:r>
              <a:rPr lang="en-US" sz="2400" u="sng">
                <a:solidFill>
                  <a:srgbClr val="FF0000"/>
                </a:solidFill>
              </a:rPr>
              <a:t>Pulling Chunks</a:t>
            </a:r>
            <a:endParaRPr lang="en-US" sz="2400" u="sng">
              <a:solidFill>
                <a:srgbClr val="FF0000"/>
              </a:solidFill>
            </a:endParaRPr>
          </a:p>
          <a:p>
            <a:r>
              <a:rPr lang="en-US" sz="2400"/>
              <a:t>at any given time, different peers have different subsets of file chunks</a:t>
            </a:r>
            <a:endParaRPr lang="en-US" sz="2400"/>
          </a:p>
          <a:p>
            <a:r>
              <a:rPr lang="en-US" sz="2400"/>
              <a:t>periodically, a peer (Alice) asks each neighbor for list of chunks that they have.</a:t>
            </a:r>
            <a:endParaRPr lang="en-US" sz="2400"/>
          </a:p>
          <a:p>
            <a:r>
              <a:rPr lang="en-US" sz="2400"/>
              <a:t>Alice sends requests for her missing chunks</a:t>
            </a:r>
            <a:endParaRPr lang="en-US" sz="2400"/>
          </a:p>
          <a:p>
            <a:pPr lvl="1"/>
            <a:r>
              <a:rPr lang="en-US"/>
              <a:t>rarest first</a:t>
            </a:r>
            <a:endParaRPr lang="en-US"/>
          </a:p>
        </p:txBody>
      </p:sp>
      <p:sp>
        <p:nvSpPr>
          <p:cNvPr id="92166" name="Rectangle 6"/>
          <p:cNvSpPr>
            <a:spLocks noChangeArrowheads="1"/>
          </p:cNvSpPr>
          <p:nvPr/>
        </p:nvSpPr>
        <p:spPr bwMode="auto">
          <a:xfrm>
            <a:off x="4564063" y="860425"/>
            <a:ext cx="4337050" cy="4965700"/>
          </a:xfrm>
          <a:prstGeom prst="rect">
            <a:avLst/>
          </a:prstGeom>
          <a:noFill/>
          <a:ln w="9525">
            <a:noFill/>
            <a:miter lim="800000"/>
          </a:ln>
        </p:spPr>
        <p:txBody>
          <a:bodyPr/>
          <a:lstStyle/>
          <a:p>
            <a:pPr marL="342900" indent="-342900"/>
            <a:r>
              <a:rPr lang="en-US" u="sng">
                <a:solidFill>
                  <a:srgbClr val="FF0000"/>
                </a:solidFill>
              </a:rPr>
              <a:t>Sending Chunks: tit-for-tat</a:t>
            </a:r>
            <a:endParaRPr lang="en-US" u="sng">
              <a:solidFill>
                <a:srgbClr val="FF0000"/>
              </a:solidFill>
            </a:endParaRPr>
          </a:p>
          <a:p>
            <a:pPr marL="342900" indent="-342900">
              <a:buFont typeface="ZapfDingbats" pitchFamily="82" charset="2"/>
              <a:buChar char="r"/>
            </a:pPr>
            <a:r>
              <a:rPr lang="en-US"/>
              <a:t>Alice sends chunks to four neighbors currently sending her chunks </a:t>
            </a:r>
            <a:r>
              <a:rPr lang="en-US" i="1"/>
              <a:t>at the highest rate</a:t>
            </a:r>
            <a:r>
              <a:rPr lang="en-US"/>
              <a:t> </a:t>
            </a:r>
            <a:endParaRPr lang="en-US"/>
          </a:p>
          <a:p>
            <a:pPr marL="742950" lvl="1" indent="-285750">
              <a:buSzPct val="75000"/>
              <a:buFont typeface="Wingdings" panose="05000000000000000000" pitchFamily="2" charset="2"/>
              <a:buChar char="v"/>
            </a:pPr>
            <a:r>
              <a:rPr lang="en-US"/>
              <a:t>re-evaluate top 4 every 10 secs</a:t>
            </a:r>
            <a:endParaRPr lang="en-US"/>
          </a:p>
          <a:p>
            <a:pPr marL="342900" indent="-342900">
              <a:buFont typeface="ZapfDingbats" pitchFamily="82" charset="2"/>
              <a:buChar char="r"/>
            </a:pPr>
            <a:r>
              <a:rPr lang="en-US"/>
              <a:t>every 30 secs: randomly select another peer, starts sending chunks</a:t>
            </a:r>
            <a:endParaRPr lang="en-US"/>
          </a:p>
          <a:p>
            <a:pPr marL="742950" lvl="1" indent="-285750">
              <a:buSzPct val="75000"/>
              <a:buFont typeface="Wingdings" panose="05000000000000000000" pitchFamily="2" charset="2"/>
              <a:buChar char="v"/>
            </a:pPr>
            <a:r>
              <a:rPr lang="en-US"/>
              <a:t>newly chosen peer may join top 4</a:t>
            </a:r>
            <a:endParaRPr lang="en-US"/>
          </a:p>
          <a:p>
            <a:pPr marL="742950" lvl="1" indent="-285750">
              <a:buSzPct val="75000"/>
              <a:buFont typeface="Wingdings" panose="05000000000000000000" pitchFamily="2" charset="2"/>
              <a:buChar char="v"/>
            </a:pPr>
            <a:r>
              <a:rPr lang="en-US"/>
              <a:t>“optimistically unchoke”</a:t>
            </a:r>
            <a:endParaRPr lang="en-US"/>
          </a:p>
          <a:p>
            <a:pPr marL="342900" indent="-342900">
              <a:buFont typeface="ZapfDingbats" pitchFamily="82" charset="2"/>
              <a:buChar char="r"/>
            </a:pPr>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6"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6637" name="Slide Number Placeholder 4"/>
          <p:cNvSpPr>
            <a:spLocks noGrp="1"/>
          </p:cNvSpPr>
          <p:nvPr>
            <p:ph type="sldNum" sz="quarter" idx="12"/>
          </p:nvPr>
        </p:nvSpPr>
        <p:spPr>
          <a:noFill/>
        </p:spPr>
        <p:txBody>
          <a:bodyPr/>
          <a:lstStyle/>
          <a:p>
            <a:fld id="{1BEB03A4-1145-47F0-ADCF-E826C852846B}" type="slidenum">
              <a:rPr lang="en-US"/>
            </a:fld>
            <a:endParaRPr lang="en-US"/>
          </a:p>
        </p:txBody>
      </p:sp>
      <p:sp>
        <p:nvSpPr>
          <p:cNvPr id="26638" name="Rectangle 2"/>
          <p:cNvSpPr>
            <a:spLocks noGrp="1" noChangeArrowheads="1"/>
          </p:cNvSpPr>
          <p:nvPr>
            <p:ph type="title"/>
          </p:nvPr>
        </p:nvSpPr>
        <p:spPr>
          <a:xfrm>
            <a:off x="482600" y="254000"/>
            <a:ext cx="7772400" cy="1143000"/>
          </a:xfrm>
        </p:spPr>
        <p:txBody>
          <a:bodyPr/>
          <a:lstStyle/>
          <a:p>
            <a:r>
              <a:rPr lang="en-US"/>
              <a:t>BitTorrent:  Tit-for-tat</a:t>
            </a:r>
            <a:endParaRPr lang="en-US"/>
          </a:p>
        </p:txBody>
      </p:sp>
      <p:graphicFrame>
        <p:nvGraphicFramePr>
          <p:cNvPr id="26626" name="Object 3"/>
          <p:cNvGraphicFramePr>
            <a:graphicFrameLocks noChangeAspect="1"/>
          </p:cNvGraphicFramePr>
          <p:nvPr/>
        </p:nvGraphicFramePr>
        <p:xfrm>
          <a:off x="2909888" y="4518025"/>
          <a:ext cx="617537" cy="473075"/>
        </p:xfrm>
        <a:graphic>
          <a:graphicData uri="http://schemas.openxmlformats.org/presentationml/2006/ole">
            <mc:AlternateContent xmlns:mc="http://schemas.openxmlformats.org/markup-compatibility/2006">
              <mc:Choice xmlns:v="urn:schemas-microsoft-com:vml" Requires="v">
                <p:oleObj spid="_x0000_s26746" name="Clip" r:id="rId1" imgW="18192750" imgH="15087600" progId="">
                  <p:embed/>
                </p:oleObj>
              </mc:Choice>
              <mc:Fallback>
                <p:oleObj name="Clip" r:id="rId1" imgW="18192750" imgH="15087600" progId="">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9888" y="45180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7" name="Object 4"/>
          <p:cNvGraphicFramePr>
            <a:graphicFrameLocks noChangeAspect="1"/>
          </p:cNvGraphicFramePr>
          <p:nvPr/>
        </p:nvGraphicFramePr>
        <p:xfrm>
          <a:off x="827088" y="3641725"/>
          <a:ext cx="617537" cy="473075"/>
        </p:xfrm>
        <a:graphic>
          <a:graphicData uri="http://schemas.openxmlformats.org/presentationml/2006/ole">
            <mc:AlternateContent xmlns:mc="http://schemas.openxmlformats.org/markup-compatibility/2006">
              <mc:Choice xmlns:v="urn:schemas-microsoft-com:vml" Requires="v">
                <p:oleObj spid="_x0000_s26747" name="Clip" r:id="rId3" imgW="18192750" imgH="15087600" progId="">
                  <p:embed/>
                </p:oleObj>
              </mc:Choice>
              <mc:Fallback>
                <p:oleObj name="Clip" r:id="rId3" imgW="18192750" imgH="15087600" progId="">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36417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45" name="Object 5"/>
          <p:cNvGraphicFramePr>
            <a:graphicFrameLocks noChangeAspect="1"/>
          </p:cNvGraphicFramePr>
          <p:nvPr/>
        </p:nvGraphicFramePr>
        <p:xfrm>
          <a:off x="2160588" y="3438525"/>
          <a:ext cx="617537" cy="473075"/>
        </p:xfrm>
        <a:graphic>
          <a:graphicData uri="http://schemas.openxmlformats.org/presentationml/2006/ole">
            <mc:AlternateContent xmlns:mc="http://schemas.openxmlformats.org/markup-compatibility/2006">
              <mc:Choice xmlns:v="urn:schemas-microsoft-com:vml" Requires="v">
                <p:oleObj spid="_x0000_s26748" name="Clip" r:id="rId4" imgW="18192750" imgH="15087600" progId="">
                  <p:embed/>
                </p:oleObj>
              </mc:Choice>
              <mc:Fallback>
                <p:oleObj name="Clip" r:id="rId4" imgW="18192750" imgH="15087600" progId="">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588" y="34385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9" name="Object 6"/>
          <p:cNvGraphicFramePr>
            <a:graphicFrameLocks noChangeAspect="1"/>
          </p:cNvGraphicFramePr>
          <p:nvPr/>
        </p:nvGraphicFramePr>
        <p:xfrm>
          <a:off x="1538288" y="5241925"/>
          <a:ext cx="617537" cy="473075"/>
        </p:xfrm>
        <a:graphic>
          <a:graphicData uri="http://schemas.openxmlformats.org/presentationml/2006/ole">
            <mc:AlternateContent xmlns:mc="http://schemas.openxmlformats.org/markup-compatibility/2006">
              <mc:Choice xmlns:v="urn:schemas-microsoft-com:vml" Requires="v">
                <p:oleObj spid="_x0000_s26749" name="Clip" r:id="rId5" imgW="18192750" imgH="15087600" progId="">
                  <p:embed/>
                </p:oleObj>
              </mc:Choice>
              <mc:Fallback>
                <p:oleObj name="Clip" r:id="rId5" imgW="18192750" imgH="15087600" progId="">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8288" y="52419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0" name="Object 7"/>
          <p:cNvGraphicFramePr>
            <a:graphicFrameLocks noChangeAspect="1"/>
          </p:cNvGraphicFramePr>
          <p:nvPr/>
        </p:nvGraphicFramePr>
        <p:xfrm>
          <a:off x="2262188" y="6118225"/>
          <a:ext cx="617537" cy="473075"/>
        </p:xfrm>
        <a:graphic>
          <a:graphicData uri="http://schemas.openxmlformats.org/presentationml/2006/ole">
            <mc:AlternateContent xmlns:mc="http://schemas.openxmlformats.org/markup-compatibility/2006">
              <mc:Choice xmlns:v="urn:schemas-microsoft-com:vml" Requires="v">
                <p:oleObj spid="_x0000_s26750" name="Clip" r:id="rId6" imgW="18192750" imgH="15087600" progId="">
                  <p:embed/>
                </p:oleObj>
              </mc:Choice>
              <mc:Fallback>
                <p:oleObj name="Clip" r:id="rId6" imgW="18192750" imgH="15087600" progId="">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2188" y="61182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1" name="Object 8"/>
          <p:cNvGraphicFramePr>
            <a:graphicFrameLocks noChangeAspect="1"/>
          </p:cNvGraphicFramePr>
          <p:nvPr/>
        </p:nvGraphicFramePr>
        <p:xfrm>
          <a:off x="4967288" y="3895725"/>
          <a:ext cx="617537" cy="473075"/>
        </p:xfrm>
        <a:graphic>
          <a:graphicData uri="http://schemas.openxmlformats.org/presentationml/2006/ole">
            <mc:AlternateContent xmlns:mc="http://schemas.openxmlformats.org/markup-compatibility/2006">
              <mc:Choice xmlns:v="urn:schemas-microsoft-com:vml" Requires="v">
                <p:oleObj spid="_x0000_s26751" name="Clip" r:id="rId7" imgW="18192750" imgH="15087600" progId="">
                  <p:embed/>
                </p:oleObj>
              </mc:Choice>
              <mc:Fallback>
                <p:oleObj name="Clip" r:id="rId7" imgW="18192750" imgH="15087600" progId="">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7288" y="38957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49" name="Object 9"/>
          <p:cNvGraphicFramePr>
            <a:graphicFrameLocks noChangeAspect="1"/>
          </p:cNvGraphicFramePr>
          <p:nvPr/>
        </p:nvGraphicFramePr>
        <p:xfrm>
          <a:off x="4662488" y="3057525"/>
          <a:ext cx="617537" cy="473075"/>
        </p:xfrm>
        <a:graphic>
          <a:graphicData uri="http://schemas.openxmlformats.org/presentationml/2006/ole">
            <mc:AlternateContent xmlns:mc="http://schemas.openxmlformats.org/markup-compatibility/2006">
              <mc:Choice xmlns:v="urn:schemas-microsoft-com:vml" Requires="v">
                <p:oleObj spid="_x0000_s26752" name="Clip" r:id="rId8" imgW="18192750" imgH="15087600" progId="">
                  <p:embed/>
                </p:oleObj>
              </mc:Choice>
              <mc:Fallback>
                <p:oleObj name="Clip" r:id="rId8" imgW="18192750" imgH="15087600" progId="">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2488" y="30575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3" name="Object 10"/>
          <p:cNvGraphicFramePr>
            <a:graphicFrameLocks noChangeAspect="1"/>
          </p:cNvGraphicFramePr>
          <p:nvPr/>
        </p:nvGraphicFramePr>
        <p:xfrm>
          <a:off x="5729288" y="2714625"/>
          <a:ext cx="617537" cy="473075"/>
        </p:xfrm>
        <a:graphic>
          <a:graphicData uri="http://schemas.openxmlformats.org/presentationml/2006/ole">
            <mc:AlternateContent xmlns:mc="http://schemas.openxmlformats.org/markup-compatibility/2006">
              <mc:Choice xmlns:v="urn:schemas-microsoft-com:vml" Requires="v">
                <p:oleObj spid="_x0000_s26753" name="Clip" r:id="rId9" imgW="18192750" imgH="15087600" progId="">
                  <p:embed/>
                </p:oleObj>
              </mc:Choice>
              <mc:Fallback>
                <p:oleObj name="Clip" r:id="rId9" imgW="18192750" imgH="15087600" progId="">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9288" y="27146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4" name="Object 11"/>
          <p:cNvGraphicFramePr>
            <a:graphicFrameLocks noChangeAspect="1"/>
          </p:cNvGraphicFramePr>
          <p:nvPr/>
        </p:nvGraphicFramePr>
        <p:xfrm>
          <a:off x="6351588" y="3565525"/>
          <a:ext cx="617537" cy="473075"/>
        </p:xfrm>
        <a:graphic>
          <a:graphicData uri="http://schemas.openxmlformats.org/presentationml/2006/ole">
            <mc:AlternateContent xmlns:mc="http://schemas.openxmlformats.org/markup-compatibility/2006">
              <mc:Choice xmlns:v="urn:schemas-microsoft-com:vml" Requires="v">
                <p:oleObj spid="_x0000_s26754" name="Clip" r:id="rId10" imgW="18192750" imgH="15087600" progId="">
                  <p:embed/>
                </p:oleObj>
              </mc:Choice>
              <mc:Fallback>
                <p:oleObj name="Clip" r:id="rId10" imgW="18192750" imgH="15087600" progId="">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1588" y="35655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5" name="Object 12"/>
          <p:cNvGraphicFramePr>
            <a:graphicFrameLocks noChangeAspect="1"/>
          </p:cNvGraphicFramePr>
          <p:nvPr/>
        </p:nvGraphicFramePr>
        <p:xfrm>
          <a:off x="6173788" y="4454525"/>
          <a:ext cx="617537" cy="473075"/>
        </p:xfrm>
        <a:graphic>
          <a:graphicData uri="http://schemas.openxmlformats.org/presentationml/2006/ole">
            <mc:AlternateContent xmlns:mc="http://schemas.openxmlformats.org/markup-compatibility/2006">
              <mc:Choice xmlns:v="urn:schemas-microsoft-com:vml" Requires="v">
                <p:oleObj spid="_x0000_s26755" name="Clip" r:id="rId11" imgW="18192750" imgH="15087600" progId="">
                  <p:embed/>
                </p:oleObj>
              </mc:Choice>
              <mc:Fallback>
                <p:oleObj name="Clip" r:id="rId11" imgW="18192750" imgH="15087600" progId="">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3788" y="4454525"/>
                        <a:ext cx="61753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639" name="Picture 13" descr="Alice"/>
          <p:cNvPicPr>
            <a:picLocks noChangeAspect="1" noChangeArrowheads="1"/>
          </p:cNvPicPr>
          <p:nvPr/>
        </p:nvPicPr>
        <p:blipFill>
          <a:blip r:embed="rId12"/>
          <a:srcRect/>
          <a:stretch>
            <a:fillRect/>
          </a:stretch>
        </p:blipFill>
        <p:spPr bwMode="auto">
          <a:xfrm>
            <a:off x="3389313" y="5095875"/>
            <a:ext cx="561975" cy="693738"/>
          </a:xfrm>
          <a:prstGeom prst="rect">
            <a:avLst/>
          </a:prstGeom>
          <a:noFill/>
          <a:ln w="9525">
            <a:noFill/>
            <a:miter lim="800000"/>
            <a:headEnd/>
            <a:tailEnd/>
          </a:ln>
        </p:spPr>
      </p:pic>
      <p:sp>
        <p:nvSpPr>
          <p:cNvPr id="266254" name="Line 14"/>
          <p:cNvSpPr>
            <a:spLocks noChangeShapeType="1"/>
          </p:cNvSpPr>
          <p:nvPr/>
        </p:nvSpPr>
        <p:spPr bwMode="auto">
          <a:xfrm flipH="1" flipV="1">
            <a:off x="2654300" y="3937000"/>
            <a:ext cx="457200" cy="546100"/>
          </a:xfrm>
          <a:prstGeom prst="line">
            <a:avLst/>
          </a:prstGeom>
          <a:noFill/>
          <a:ln w="25400">
            <a:solidFill>
              <a:schemeClr val="tx1"/>
            </a:solidFill>
            <a:round/>
            <a:headEnd type="triangle" w="med" len="med"/>
            <a:tailEnd type="triangle" w="med" len="med"/>
          </a:ln>
        </p:spPr>
        <p:txBody>
          <a:bodyPr wrap="none" lIns="0" tIns="0" rIns="0" bIns="0">
            <a:spAutoFit/>
          </a:bodyPr>
          <a:lstStyle/>
          <a:p>
            <a:endParaRPr lang="en-US"/>
          </a:p>
        </p:txBody>
      </p:sp>
      <p:sp>
        <p:nvSpPr>
          <p:cNvPr id="26641" name="Line 15"/>
          <p:cNvSpPr>
            <a:spLocks noChangeShapeType="1"/>
          </p:cNvSpPr>
          <p:nvPr/>
        </p:nvSpPr>
        <p:spPr bwMode="auto">
          <a:xfrm flipH="1" flipV="1">
            <a:off x="1473200" y="4102100"/>
            <a:ext cx="1473200" cy="596900"/>
          </a:xfrm>
          <a:prstGeom prst="line">
            <a:avLst/>
          </a:prstGeom>
          <a:noFill/>
          <a:ln w="25400">
            <a:solidFill>
              <a:schemeClr val="tx1"/>
            </a:solidFill>
            <a:round/>
            <a:headEnd type="triangle" w="med" len="med"/>
            <a:tailEnd type="triangle" w="med" len="med"/>
          </a:ln>
        </p:spPr>
        <p:txBody>
          <a:bodyPr lIns="0" tIns="0" rIns="0" bIns="0">
            <a:spAutoFit/>
          </a:bodyPr>
          <a:lstStyle/>
          <a:p>
            <a:endParaRPr lang="en-US"/>
          </a:p>
        </p:txBody>
      </p:sp>
      <p:sp>
        <p:nvSpPr>
          <p:cNvPr id="26642" name="Line 16"/>
          <p:cNvSpPr>
            <a:spLocks noChangeShapeType="1"/>
          </p:cNvSpPr>
          <p:nvPr/>
        </p:nvSpPr>
        <p:spPr bwMode="auto">
          <a:xfrm flipH="1">
            <a:off x="2159000" y="4991100"/>
            <a:ext cx="965200" cy="381000"/>
          </a:xfrm>
          <a:prstGeom prst="line">
            <a:avLst/>
          </a:prstGeom>
          <a:noFill/>
          <a:ln w="25400">
            <a:solidFill>
              <a:schemeClr val="tx1"/>
            </a:solidFill>
            <a:round/>
            <a:headEnd type="triangle" w="med" len="med"/>
            <a:tailEnd type="triangle" w="med" len="med"/>
          </a:ln>
        </p:spPr>
        <p:txBody>
          <a:bodyPr lIns="0" tIns="0" rIns="0" bIns="0">
            <a:spAutoFit/>
          </a:bodyPr>
          <a:lstStyle/>
          <a:p>
            <a:endParaRPr lang="en-US"/>
          </a:p>
        </p:txBody>
      </p:sp>
      <p:sp>
        <p:nvSpPr>
          <p:cNvPr id="26643" name="Line 17"/>
          <p:cNvSpPr>
            <a:spLocks noChangeShapeType="1"/>
          </p:cNvSpPr>
          <p:nvPr/>
        </p:nvSpPr>
        <p:spPr bwMode="auto">
          <a:xfrm flipH="1">
            <a:off x="2628900" y="5041900"/>
            <a:ext cx="596900" cy="1041400"/>
          </a:xfrm>
          <a:prstGeom prst="line">
            <a:avLst/>
          </a:prstGeom>
          <a:noFill/>
          <a:ln w="25400">
            <a:solidFill>
              <a:schemeClr val="tx1"/>
            </a:solidFill>
            <a:round/>
            <a:headEnd type="triangle" w="med" len="med"/>
            <a:tailEnd type="triangle" w="med" len="med"/>
          </a:ln>
        </p:spPr>
        <p:txBody>
          <a:bodyPr lIns="0" tIns="0" rIns="0" bIns="0">
            <a:spAutoFit/>
          </a:bodyPr>
          <a:lstStyle/>
          <a:p>
            <a:endParaRPr lang="en-US"/>
          </a:p>
        </p:txBody>
      </p:sp>
      <p:sp>
        <p:nvSpPr>
          <p:cNvPr id="26644" name="Line 18"/>
          <p:cNvSpPr>
            <a:spLocks noChangeShapeType="1"/>
          </p:cNvSpPr>
          <p:nvPr/>
        </p:nvSpPr>
        <p:spPr bwMode="auto">
          <a:xfrm flipV="1">
            <a:off x="5511800" y="3225800"/>
            <a:ext cx="419100" cy="647700"/>
          </a:xfrm>
          <a:prstGeom prst="line">
            <a:avLst/>
          </a:prstGeom>
          <a:noFill/>
          <a:ln w="25400">
            <a:solidFill>
              <a:schemeClr val="tx1"/>
            </a:solidFill>
            <a:round/>
            <a:headEnd type="triangle" w="med" len="med"/>
            <a:tailEnd type="triangle" w="med" len="med"/>
          </a:ln>
        </p:spPr>
        <p:txBody>
          <a:bodyPr lIns="0" tIns="0" rIns="0" bIns="0">
            <a:spAutoFit/>
          </a:bodyPr>
          <a:lstStyle/>
          <a:p>
            <a:endParaRPr lang="en-US"/>
          </a:p>
        </p:txBody>
      </p:sp>
      <p:sp>
        <p:nvSpPr>
          <p:cNvPr id="266259" name="Line 19"/>
          <p:cNvSpPr>
            <a:spLocks noChangeShapeType="1"/>
          </p:cNvSpPr>
          <p:nvPr/>
        </p:nvSpPr>
        <p:spPr bwMode="auto">
          <a:xfrm flipH="1" flipV="1">
            <a:off x="5168900" y="3492500"/>
            <a:ext cx="76200" cy="355600"/>
          </a:xfrm>
          <a:prstGeom prst="line">
            <a:avLst/>
          </a:prstGeom>
          <a:noFill/>
          <a:ln w="25400">
            <a:solidFill>
              <a:schemeClr val="tx1"/>
            </a:solidFill>
            <a:round/>
            <a:headEnd type="triangle" w="med" len="med"/>
            <a:tailEnd type="triangle" w="med" len="med"/>
          </a:ln>
        </p:spPr>
        <p:txBody>
          <a:bodyPr lIns="0" tIns="0" rIns="0" bIns="0">
            <a:spAutoFit/>
          </a:bodyPr>
          <a:lstStyle/>
          <a:p>
            <a:endParaRPr lang="en-US"/>
          </a:p>
        </p:txBody>
      </p:sp>
      <p:sp>
        <p:nvSpPr>
          <p:cNvPr id="26646" name="Line 20"/>
          <p:cNvSpPr>
            <a:spLocks noChangeShapeType="1"/>
          </p:cNvSpPr>
          <p:nvPr/>
        </p:nvSpPr>
        <p:spPr bwMode="auto">
          <a:xfrm flipV="1">
            <a:off x="5613400" y="3810000"/>
            <a:ext cx="787400" cy="304800"/>
          </a:xfrm>
          <a:prstGeom prst="line">
            <a:avLst/>
          </a:prstGeom>
          <a:noFill/>
          <a:ln w="25400">
            <a:solidFill>
              <a:schemeClr val="tx1"/>
            </a:solidFill>
            <a:round/>
            <a:headEnd type="triangle" w="med" len="med"/>
            <a:tailEnd type="triangle" w="med" len="med"/>
          </a:ln>
        </p:spPr>
        <p:txBody>
          <a:bodyPr lIns="0" tIns="0" rIns="0" bIns="0">
            <a:spAutoFit/>
          </a:bodyPr>
          <a:lstStyle/>
          <a:p>
            <a:endParaRPr lang="en-US"/>
          </a:p>
        </p:txBody>
      </p:sp>
      <p:sp>
        <p:nvSpPr>
          <p:cNvPr id="26647" name="Line 21"/>
          <p:cNvSpPr>
            <a:spLocks noChangeShapeType="1"/>
          </p:cNvSpPr>
          <p:nvPr/>
        </p:nvSpPr>
        <p:spPr bwMode="auto">
          <a:xfrm>
            <a:off x="5613400" y="4279900"/>
            <a:ext cx="596900" cy="317500"/>
          </a:xfrm>
          <a:prstGeom prst="line">
            <a:avLst/>
          </a:prstGeom>
          <a:noFill/>
          <a:ln w="25400">
            <a:solidFill>
              <a:schemeClr val="tx1"/>
            </a:solidFill>
            <a:round/>
            <a:headEnd type="triangle" w="med" len="med"/>
            <a:tailEnd type="triangle" w="med" len="med"/>
          </a:ln>
        </p:spPr>
        <p:txBody>
          <a:bodyPr lIns="0" tIns="0" rIns="0" bIns="0">
            <a:spAutoFit/>
          </a:bodyPr>
          <a:lstStyle/>
          <a:p>
            <a:endParaRPr lang="en-US"/>
          </a:p>
        </p:txBody>
      </p:sp>
      <p:pic>
        <p:nvPicPr>
          <p:cNvPr id="26648" name="Picture 22" descr="Bob"/>
          <p:cNvPicPr>
            <a:picLocks noChangeAspect="1" noChangeArrowheads="1"/>
          </p:cNvPicPr>
          <p:nvPr/>
        </p:nvPicPr>
        <p:blipFill>
          <a:blip r:embed="rId13"/>
          <a:srcRect/>
          <a:stretch>
            <a:fillRect/>
          </a:stretch>
        </p:blipFill>
        <p:spPr bwMode="auto">
          <a:xfrm>
            <a:off x="4979988" y="4524375"/>
            <a:ext cx="676275" cy="690563"/>
          </a:xfrm>
          <a:prstGeom prst="rect">
            <a:avLst/>
          </a:prstGeom>
          <a:noFill/>
          <a:ln w="9525">
            <a:noFill/>
            <a:miter lim="800000"/>
            <a:headEnd/>
            <a:tailEnd/>
          </a:ln>
        </p:spPr>
      </p:pic>
      <p:sp>
        <p:nvSpPr>
          <p:cNvPr id="266263" name="Line 23"/>
          <p:cNvSpPr>
            <a:spLocks noChangeShapeType="1"/>
          </p:cNvSpPr>
          <p:nvPr/>
        </p:nvSpPr>
        <p:spPr bwMode="auto">
          <a:xfrm flipV="1">
            <a:off x="3530600" y="4076700"/>
            <a:ext cx="1435100" cy="482600"/>
          </a:xfrm>
          <a:prstGeom prst="line">
            <a:avLst/>
          </a:prstGeom>
          <a:noFill/>
          <a:ln w="25400">
            <a:solidFill>
              <a:srgbClr val="FF0000"/>
            </a:solidFill>
            <a:prstDash val="sysDot"/>
            <a:round/>
            <a:tailEnd type="triangle" w="med" len="med"/>
          </a:ln>
        </p:spPr>
        <p:txBody>
          <a:bodyPr lIns="0" tIns="0" rIns="0" bIns="0">
            <a:spAutoFit/>
          </a:bodyPr>
          <a:lstStyle/>
          <a:p>
            <a:endParaRPr lang="en-US"/>
          </a:p>
        </p:txBody>
      </p:sp>
      <p:sp>
        <p:nvSpPr>
          <p:cNvPr id="266264" name="Line 24"/>
          <p:cNvSpPr>
            <a:spLocks noChangeShapeType="1"/>
          </p:cNvSpPr>
          <p:nvPr/>
        </p:nvSpPr>
        <p:spPr bwMode="auto">
          <a:xfrm flipH="1">
            <a:off x="3543300" y="4165600"/>
            <a:ext cx="1397000" cy="469900"/>
          </a:xfrm>
          <a:prstGeom prst="line">
            <a:avLst/>
          </a:prstGeom>
          <a:noFill/>
          <a:ln w="25400">
            <a:solidFill>
              <a:srgbClr val="FF0000"/>
            </a:solidFill>
            <a:round/>
            <a:tailEnd type="triangle" w="med" len="med"/>
          </a:ln>
        </p:spPr>
        <p:txBody>
          <a:bodyPr wrap="none" lIns="0" tIns="0" rIns="0" bIns="0">
            <a:spAutoFit/>
          </a:bodyPr>
          <a:lstStyle/>
          <a:p>
            <a:endParaRPr lang="en-US"/>
          </a:p>
        </p:txBody>
      </p:sp>
      <p:sp>
        <p:nvSpPr>
          <p:cNvPr id="266265" name="Line 25"/>
          <p:cNvSpPr>
            <a:spLocks noChangeShapeType="1"/>
          </p:cNvSpPr>
          <p:nvPr/>
        </p:nvSpPr>
        <p:spPr bwMode="auto">
          <a:xfrm flipV="1">
            <a:off x="3581400" y="4267200"/>
            <a:ext cx="1371600" cy="482600"/>
          </a:xfrm>
          <a:prstGeom prst="line">
            <a:avLst/>
          </a:prstGeom>
          <a:noFill/>
          <a:ln w="25400">
            <a:solidFill>
              <a:srgbClr val="FF0000"/>
            </a:solidFill>
            <a:round/>
            <a:tailEnd type="triangle" w="med" len="med"/>
          </a:ln>
        </p:spPr>
        <p:txBody>
          <a:bodyPr wrap="none" lIns="0" tIns="0" rIns="0" bIns="0">
            <a:spAutoFit/>
          </a:bodyPr>
          <a:lstStyle/>
          <a:p>
            <a:endParaRPr lang="en-US"/>
          </a:p>
        </p:txBody>
      </p:sp>
      <p:sp>
        <p:nvSpPr>
          <p:cNvPr id="266266" name="Text Box 26"/>
          <p:cNvSpPr txBox="1">
            <a:spLocks noChangeArrowheads="1"/>
          </p:cNvSpPr>
          <p:nvPr/>
        </p:nvSpPr>
        <p:spPr bwMode="auto">
          <a:xfrm>
            <a:off x="841375" y="1320800"/>
            <a:ext cx="4497388" cy="304800"/>
          </a:xfrm>
          <a:prstGeom prst="rect">
            <a:avLst/>
          </a:prstGeom>
          <a:noFill/>
          <a:ln w="25400" algn="ctr">
            <a:noFill/>
            <a:miter lim="800000"/>
          </a:ln>
        </p:spPr>
        <p:txBody>
          <a:bodyPr wrap="none" lIns="0" tIns="0" rIns="0" bIns="0">
            <a:spAutoFit/>
          </a:bodyPr>
          <a:lstStyle/>
          <a:p>
            <a:pPr eaLnBrk="1" hangingPunct="1">
              <a:spcBef>
                <a:spcPct val="0"/>
              </a:spcBef>
              <a:buClrTx/>
              <a:buSzTx/>
              <a:buFontTx/>
              <a:buNone/>
            </a:pPr>
            <a:r>
              <a:rPr lang="en-US" sz="2000" dirty="0">
                <a:solidFill>
                  <a:schemeClr val="accent2"/>
                </a:solidFill>
              </a:rPr>
              <a:t>(1) Alice “optimistically unchokes” Bob</a:t>
            </a:r>
            <a:endParaRPr lang="en-US" sz="2000" dirty="0">
              <a:solidFill>
                <a:schemeClr val="accent2"/>
              </a:solidFill>
            </a:endParaRPr>
          </a:p>
        </p:txBody>
      </p:sp>
      <p:sp>
        <p:nvSpPr>
          <p:cNvPr id="266267" name="Text Box 27"/>
          <p:cNvSpPr txBox="1">
            <a:spLocks noChangeArrowheads="1"/>
          </p:cNvSpPr>
          <p:nvPr/>
        </p:nvSpPr>
        <p:spPr bwMode="auto">
          <a:xfrm>
            <a:off x="808038" y="1663700"/>
            <a:ext cx="8075612" cy="304800"/>
          </a:xfrm>
          <a:prstGeom prst="rect">
            <a:avLst/>
          </a:prstGeom>
          <a:noFill/>
          <a:ln w="25400" algn="ctr">
            <a:noFill/>
            <a:miter lim="800000"/>
          </a:ln>
        </p:spPr>
        <p:txBody>
          <a:bodyPr wrap="none" lIns="0" tIns="0" rIns="0" bIns="0">
            <a:spAutoFit/>
          </a:bodyPr>
          <a:lstStyle/>
          <a:p>
            <a:pPr eaLnBrk="1" hangingPunct="1">
              <a:spcBef>
                <a:spcPct val="0"/>
              </a:spcBef>
              <a:buClrTx/>
              <a:buSzTx/>
              <a:buFontTx/>
              <a:buNone/>
            </a:pPr>
            <a:r>
              <a:rPr lang="en-US" sz="2000" dirty="0">
                <a:solidFill>
                  <a:schemeClr val="accent2"/>
                </a:solidFill>
              </a:rPr>
              <a:t>(2) Alice becomes one of Bob’s top-four providers; Bob reciprocates</a:t>
            </a:r>
            <a:endParaRPr lang="en-US" sz="2000" dirty="0">
              <a:solidFill>
                <a:schemeClr val="accent2"/>
              </a:solidFill>
            </a:endParaRPr>
          </a:p>
        </p:txBody>
      </p:sp>
      <p:sp>
        <p:nvSpPr>
          <p:cNvPr id="266268" name="Text Box 28"/>
          <p:cNvSpPr txBox="1">
            <a:spLocks noChangeArrowheads="1"/>
          </p:cNvSpPr>
          <p:nvPr/>
        </p:nvSpPr>
        <p:spPr bwMode="auto">
          <a:xfrm>
            <a:off x="800100" y="2019300"/>
            <a:ext cx="5903913" cy="304800"/>
          </a:xfrm>
          <a:prstGeom prst="rect">
            <a:avLst/>
          </a:prstGeom>
          <a:noFill/>
          <a:ln w="25400" algn="ctr">
            <a:noFill/>
            <a:miter lim="800000"/>
          </a:ln>
        </p:spPr>
        <p:txBody>
          <a:bodyPr wrap="none" lIns="0" tIns="0" rIns="0" bIns="0">
            <a:spAutoFit/>
          </a:bodyPr>
          <a:lstStyle/>
          <a:p>
            <a:pPr eaLnBrk="1" hangingPunct="1">
              <a:spcBef>
                <a:spcPct val="0"/>
              </a:spcBef>
              <a:buClrTx/>
              <a:buSzTx/>
              <a:buFontTx/>
              <a:buNone/>
            </a:pPr>
            <a:r>
              <a:rPr lang="en-US" sz="2000">
                <a:solidFill>
                  <a:schemeClr val="accent2"/>
                </a:solidFill>
              </a:rPr>
              <a:t>(3) Bob becomes one of Alice’s top-four providers</a:t>
            </a:r>
            <a:endParaRPr lang="en-US" sz="2000">
              <a:solidFill>
                <a:schemeClr val="accent2"/>
              </a:solidFill>
            </a:endParaRPr>
          </a:p>
        </p:txBody>
      </p:sp>
      <p:sp>
        <p:nvSpPr>
          <p:cNvPr id="266269" name="Text Box 29"/>
          <p:cNvSpPr txBox="1">
            <a:spLocks noChangeArrowheads="1"/>
          </p:cNvSpPr>
          <p:nvPr/>
        </p:nvSpPr>
        <p:spPr bwMode="auto">
          <a:xfrm>
            <a:off x="4724400" y="5457825"/>
            <a:ext cx="3657600" cy="1016000"/>
          </a:xfrm>
          <a:prstGeom prst="rect">
            <a:avLst/>
          </a:prstGeom>
          <a:noFill/>
          <a:ln w="9525">
            <a:solidFill>
              <a:srgbClr val="FF0000"/>
            </a:solidFill>
            <a:miter lim="800000"/>
          </a:ln>
        </p:spPr>
        <p:txBody>
          <a:bodyPr>
            <a:spAutoFit/>
          </a:bodyPr>
          <a:lstStyle/>
          <a:p>
            <a:pPr eaLnBrk="1" hangingPunct="1">
              <a:spcBef>
                <a:spcPct val="0"/>
              </a:spcBef>
              <a:buClrTx/>
              <a:buSzTx/>
              <a:buFontTx/>
              <a:buNone/>
            </a:pPr>
            <a:r>
              <a:rPr lang="en-US" sz="2000">
                <a:solidFill>
                  <a:srgbClr val="FF0000"/>
                </a:solidFill>
              </a:rPr>
              <a:t>With higher upload rate, </a:t>
            </a:r>
            <a:br>
              <a:rPr lang="en-US" sz="2000">
                <a:solidFill>
                  <a:srgbClr val="FF0000"/>
                </a:solidFill>
              </a:rPr>
            </a:br>
            <a:r>
              <a:rPr lang="en-US" sz="2000">
                <a:solidFill>
                  <a:srgbClr val="FF0000"/>
                </a:solidFill>
              </a:rPr>
              <a:t>can find better trading </a:t>
            </a:r>
            <a:endParaRPr lang="en-US" sz="2000">
              <a:solidFill>
                <a:srgbClr val="FF0000"/>
              </a:solidFill>
            </a:endParaRPr>
          </a:p>
          <a:p>
            <a:pPr eaLnBrk="1" hangingPunct="1">
              <a:spcBef>
                <a:spcPct val="0"/>
              </a:spcBef>
              <a:buClrTx/>
              <a:buSzTx/>
              <a:buFontTx/>
              <a:buNone/>
            </a:pPr>
            <a:r>
              <a:rPr lang="en-US" sz="2000">
                <a:solidFill>
                  <a:srgbClr val="FF0000"/>
                </a:solidFill>
              </a:rPr>
              <a:t>partners &amp; get file faster!</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66"/>
                                        </p:tgtEl>
                                        <p:attrNameLst>
                                          <p:attrName>style.visibility</p:attrName>
                                        </p:attrNameLst>
                                      </p:cBhvr>
                                      <p:to>
                                        <p:strVal val="visible"/>
                                      </p:to>
                                    </p:set>
                                    <p:animEffect transition="in" filter="blinds(horizontal)">
                                      <p:cBhvr>
                                        <p:cTn id="7" dur="500"/>
                                        <p:tgtEl>
                                          <p:spTgt spid="26626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6263"/>
                                        </p:tgtEl>
                                        <p:attrNameLst>
                                          <p:attrName>style.visibility</p:attrName>
                                        </p:attrNameLst>
                                      </p:cBhvr>
                                      <p:to>
                                        <p:strVal val="visible"/>
                                      </p:to>
                                    </p:set>
                                    <p:animEffect transition="in" filter="blinds(horizontal)">
                                      <p:cBhvr>
                                        <p:cTn id="10" dur="500"/>
                                        <p:tgtEl>
                                          <p:spTgt spid="26626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66267"/>
                                        </p:tgtEl>
                                        <p:attrNameLst>
                                          <p:attrName>style.visibility</p:attrName>
                                        </p:attrNameLst>
                                      </p:cBhvr>
                                      <p:to>
                                        <p:strVal val="visible"/>
                                      </p:to>
                                    </p:set>
                                    <p:animEffect transition="in" filter="blinds(horizontal)">
                                      <p:cBhvr>
                                        <p:cTn id="15" dur="500"/>
                                        <p:tgtEl>
                                          <p:spTgt spid="26626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66264"/>
                                        </p:tgtEl>
                                        <p:attrNameLst>
                                          <p:attrName>style.visibility</p:attrName>
                                        </p:attrNameLst>
                                      </p:cBhvr>
                                      <p:to>
                                        <p:strVal val="visible"/>
                                      </p:to>
                                    </p:set>
                                    <p:animEffect transition="in" filter="blinds(horizontal)">
                                      <p:cBhvr>
                                        <p:cTn id="18" dur="500"/>
                                        <p:tgtEl>
                                          <p:spTgt spid="266264"/>
                                        </p:tgtEl>
                                      </p:cBhvr>
                                    </p:animEffect>
                                  </p:childTnLst>
                                </p:cTn>
                              </p:par>
                              <p:par>
                                <p:cTn id="19" presetID="3" presetClass="exit" presetSubtype="10" fill="hold" nodeType="withEffect">
                                  <p:stCondLst>
                                    <p:cond delay="0"/>
                                  </p:stCondLst>
                                  <p:childTnLst>
                                    <p:animEffect transition="out" filter="blinds(horizontal)">
                                      <p:cBhvr>
                                        <p:cTn id="20" dur="500"/>
                                        <p:tgtEl>
                                          <p:spTgt spid="266249"/>
                                        </p:tgtEl>
                                      </p:cBhvr>
                                    </p:animEffect>
                                    <p:set>
                                      <p:cBhvr>
                                        <p:cTn id="21" dur="1" fill="hold">
                                          <p:stCondLst>
                                            <p:cond delay="499"/>
                                          </p:stCondLst>
                                        </p:cTn>
                                        <p:tgtEl>
                                          <p:spTgt spid="266249"/>
                                        </p:tgtEl>
                                        <p:attrNameLst>
                                          <p:attrName>style.visibility</p:attrName>
                                        </p:attrNameLst>
                                      </p:cBhvr>
                                      <p:to>
                                        <p:strVal val="hidden"/>
                                      </p:to>
                                    </p:set>
                                  </p:childTnLst>
                                </p:cTn>
                              </p:par>
                              <p:par>
                                <p:cTn id="22" presetID="3" presetClass="exit" presetSubtype="10" fill="hold" grpId="0" nodeType="withEffect">
                                  <p:stCondLst>
                                    <p:cond delay="0"/>
                                  </p:stCondLst>
                                  <p:childTnLst>
                                    <p:animEffect transition="out" filter="blinds(horizontal)">
                                      <p:cBhvr>
                                        <p:cTn id="23" dur="500"/>
                                        <p:tgtEl>
                                          <p:spTgt spid="266259"/>
                                        </p:tgtEl>
                                      </p:cBhvr>
                                    </p:animEffect>
                                    <p:set>
                                      <p:cBhvr>
                                        <p:cTn id="24" dur="1" fill="hold">
                                          <p:stCondLst>
                                            <p:cond delay="499"/>
                                          </p:stCondLst>
                                        </p:cTn>
                                        <p:tgtEl>
                                          <p:spTgt spid="26625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66268"/>
                                        </p:tgtEl>
                                        <p:attrNameLst>
                                          <p:attrName>style.visibility</p:attrName>
                                        </p:attrNameLst>
                                      </p:cBhvr>
                                      <p:to>
                                        <p:strVal val="visible"/>
                                      </p:to>
                                    </p:set>
                                    <p:animEffect transition="in" filter="blinds(horizontal)">
                                      <p:cBhvr>
                                        <p:cTn id="29" dur="500"/>
                                        <p:tgtEl>
                                          <p:spTgt spid="266268"/>
                                        </p:tgtEl>
                                      </p:cBhvr>
                                    </p:animEffect>
                                  </p:childTnLst>
                                </p:cTn>
                              </p:par>
                              <p:par>
                                <p:cTn id="30" presetID="3" presetClass="exit" presetSubtype="10" fill="hold" nodeType="withEffect">
                                  <p:stCondLst>
                                    <p:cond delay="0"/>
                                  </p:stCondLst>
                                  <p:childTnLst>
                                    <p:animEffect transition="out" filter="blinds(horizontal)">
                                      <p:cBhvr>
                                        <p:cTn id="31" dur="500"/>
                                        <p:tgtEl>
                                          <p:spTgt spid="266245"/>
                                        </p:tgtEl>
                                      </p:cBhvr>
                                    </p:animEffect>
                                    <p:set>
                                      <p:cBhvr>
                                        <p:cTn id="32" dur="1" fill="hold">
                                          <p:stCondLst>
                                            <p:cond delay="499"/>
                                          </p:stCondLst>
                                        </p:cTn>
                                        <p:tgtEl>
                                          <p:spTgt spid="266245"/>
                                        </p:tgtEl>
                                        <p:attrNameLst>
                                          <p:attrName>style.visibility</p:attrName>
                                        </p:attrNameLst>
                                      </p:cBhvr>
                                      <p:to>
                                        <p:strVal val="hidden"/>
                                      </p:to>
                                    </p:set>
                                  </p:childTnLst>
                                </p:cTn>
                              </p:par>
                              <p:par>
                                <p:cTn id="33" presetID="3" presetClass="exit" presetSubtype="10" fill="hold" grpId="0" nodeType="withEffect">
                                  <p:stCondLst>
                                    <p:cond delay="0"/>
                                  </p:stCondLst>
                                  <p:childTnLst>
                                    <p:animEffect transition="out" filter="blinds(horizontal)">
                                      <p:cBhvr>
                                        <p:cTn id="34" dur="500"/>
                                        <p:tgtEl>
                                          <p:spTgt spid="266254"/>
                                        </p:tgtEl>
                                      </p:cBhvr>
                                    </p:animEffect>
                                    <p:set>
                                      <p:cBhvr>
                                        <p:cTn id="35" dur="1" fill="hold">
                                          <p:stCondLst>
                                            <p:cond delay="499"/>
                                          </p:stCondLst>
                                        </p:cTn>
                                        <p:tgtEl>
                                          <p:spTgt spid="266254"/>
                                        </p:tgtEl>
                                        <p:attrNameLst>
                                          <p:attrName>style.visibility</p:attrName>
                                        </p:attrNameLst>
                                      </p:cBhvr>
                                      <p:to>
                                        <p:strVal val="hidden"/>
                                      </p:to>
                                    </p:set>
                                  </p:childTnLst>
                                </p:cTn>
                              </p:par>
                              <p:par>
                                <p:cTn id="36" presetID="3" presetClass="entr" presetSubtype="10" fill="hold" grpId="0" nodeType="withEffect">
                                  <p:stCondLst>
                                    <p:cond delay="0"/>
                                  </p:stCondLst>
                                  <p:childTnLst>
                                    <p:set>
                                      <p:cBhvr>
                                        <p:cTn id="37" dur="1" fill="hold">
                                          <p:stCondLst>
                                            <p:cond delay="0"/>
                                          </p:stCondLst>
                                        </p:cTn>
                                        <p:tgtEl>
                                          <p:spTgt spid="266265"/>
                                        </p:tgtEl>
                                        <p:attrNameLst>
                                          <p:attrName>style.visibility</p:attrName>
                                        </p:attrNameLst>
                                      </p:cBhvr>
                                      <p:to>
                                        <p:strVal val="visible"/>
                                      </p:to>
                                    </p:set>
                                    <p:animEffect transition="in" filter="blinds(horizontal)">
                                      <p:cBhvr>
                                        <p:cTn id="38" dur="500"/>
                                        <p:tgtEl>
                                          <p:spTgt spid="266265"/>
                                        </p:tgtEl>
                                      </p:cBhvr>
                                    </p:animEffect>
                                  </p:childTnLst>
                                </p:cTn>
                              </p:par>
                              <p:par>
                                <p:cTn id="39" presetID="3" presetClass="exit" presetSubtype="10" fill="hold" grpId="1" nodeType="withEffect">
                                  <p:stCondLst>
                                    <p:cond delay="0"/>
                                  </p:stCondLst>
                                  <p:childTnLst>
                                    <p:animEffect transition="out" filter="blinds(horizontal)">
                                      <p:cBhvr>
                                        <p:cTn id="40" dur="500"/>
                                        <p:tgtEl>
                                          <p:spTgt spid="266263"/>
                                        </p:tgtEl>
                                      </p:cBhvr>
                                    </p:animEffect>
                                    <p:set>
                                      <p:cBhvr>
                                        <p:cTn id="41" dur="1" fill="hold">
                                          <p:stCondLst>
                                            <p:cond delay="499"/>
                                          </p:stCondLst>
                                        </p:cTn>
                                        <p:tgtEl>
                                          <p:spTgt spid="266263"/>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66269"/>
                                        </p:tgtEl>
                                        <p:attrNameLst>
                                          <p:attrName>style.visibility</p:attrName>
                                        </p:attrNameLst>
                                      </p:cBhvr>
                                      <p:to>
                                        <p:strVal val="visible"/>
                                      </p:to>
                                    </p:set>
                                    <p:animEffect transition="in" filter="blinds(horizontal)">
                                      <p:cBhvr>
                                        <p:cTn id="46" dur="500"/>
                                        <p:tgtEl>
                                          <p:spTgt spid="266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54" grpId="0" animBg="1"/>
      <p:bldP spid="266259" grpId="0" animBg="1"/>
      <p:bldP spid="266263" grpId="0" animBg="1"/>
      <p:bldP spid="266263" grpId="1" animBg="1"/>
      <p:bldP spid="266264" grpId="0" animBg="1"/>
      <p:bldP spid="266265" grpId="0" animBg="1"/>
      <p:bldP spid="266266" grpId="0"/>
      <p:bldP spid="266267" grpId="0"/>
      <p:bldP spid="266268" grpId="0"/>
      <p:bldP spid="266269" grpId="0" animBg="1"/>
    </p:bld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6" name="Title 3"/>
          <p:cNvSpPr>
            <a:spLocks noGrp="1"/>
          </p:cNvSpPr>
          <p:nvPr>
            <p:ph type="title"/>
          </p:nvPr>
        </p:nvSpPr>
        <p:spPr/>
        <p:txBody>
          <a:bodyPr/>
          <a:lstStyle/>
          <a:p>
            <a:r>
              <a:rPr lang="en-US"/>
              <a:t>Distributed Hash Table (DHT)</a:t>
            </a:r>
            <a:endParaRPr lang="en-US"/>
          </a:p>
        </p:txBody>
      </p:sp>
      <p:sp>
        <p:nvSpPr>
          <p:cNvPr id="93187" name="Content Placeholder 4"/>
          <p:cNvSpPr>
            <a:spLocks noGrp="1"/>
          </p:cNvSpPr>
          <p:nvPr>
            <p:ph idx="1"/>
          </p:nvPr>
        </p:nvSpPr>
        <p:spPr/>
        <p:txBody>
          <a:bodyPr/>
          <a:lstStyle/>
          <a:p>
            <a:r>
              <a:rPr lang="en-US"/>
              <a:t>DHT = distributed P2P database</a:t>
            </a:r>
            <a:endParaRPr lang="en-US"/>
          </a:p>
          <a:p>
            <a:r>
              <a:rPr lang="en-US"/>
              <a:t>Database has </a:t>
            </a:r>
            <a:r>
              <a:rPr lang="en-US">
                <a:solidFill>
                  <a:srgbClr val="FF0000"/>
                </a:solidFill>
              </a:rPr>
              <a:t>(key, value) </a:t>
            </a:r>
            <a:r>
              <a:rPr lang="en-US"/>
              <a:t>pairs; </a:t>
            </a:r>
            <a:endParaRPr lang="en-US"/>
          </a:p>
          <a:p>
            <a:pPr lvl="1"/>
            <a:r>
              <a:rPr lang="en-US"/>
              <a:t> key: ss number; value: human name</a:t>
            </a:r>
            <a:endParaRPr lang="en-US"/>
          </a:p>
          <a:p>
            <a:pPr lvl="1"/>
            <a:r>
              <a:rPr lang="en-US"/>
              <a:t>key: content type; value: IP address</a:t>
            </a:r>
            <a:endParaRPr lang="en-US"/>
          </a:p>
          <a:p>
            <a:r>
              <a:rPr lang="en-US"/>
              <a:t>Peers </a:t>
            </a:r>
            <a:r>
              <a:rPr lang="en-US">
                <a:solidFill>
                  <a:srgbClr val="FF0000"/>
                </a:solidFill>
              </a:rPr>
              <a:t>query</a:t>
            </a:r>
            <a:r>
              <a:rPr lang="en-US"/>
              <a:t> DB with key</a:t>
            </a:r>
            <a:endParaRPr lang="en-US"/>
          </a:p>
          <a:p>
            <a:pPr lvl="1"/>
            <a:r>
              <a:rPr lang="en-US"/>
              <a:t>DB returns values that match the key</a:t>
            </a:r>
            <a:endParaRPr lang="en-US"/>
          </a:p>
          <a:p>
            <a:r>
              <a:rPr lang="en-US"/>
              <a:t>Peers can also </a:t>
            </a:r>
            <a:r>
              <a:rPr lang="en-US">
                <a:solidFill>
                  <a:srgbClr val="FF0000"/>
                </a:solidFill>
              </a:rPr>
              <a:t>insert</a:t>
            </a:r>
            <a:r>
              <a:rPr lang="en-US"/>
              <a:t> (key, value) peers</a:t>
            </a:r>
            <a:endParaRPr lang="en-US"/>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a:t>DHT Identifiers</a:t>
            </a:r>
            <a:endParaRPr lang="en-US"/>
          </a:p>
        </p:txBody>
      </p:sp>
      <p:sp>
        <p:nvSpPr>
          <p:cNvPr id="94211" name="Content Placeholder 2"/>
          <p:cNvSpPr>
            <a:spLocks noGrp="1"/>
          </p:cNvSpPr>
          <p:nvPr>
            <p:ph idx="1"/>
          </p:nvPr>
        </p:nvSpPr>
        <p:spPr>
          <a:xfrm>
            <a:off x="457200" y="1600200"/>
            <a:ext cx="8686800" cy="4525963"/>
          </a:xfrm>
        </p:spPr>
        <p:txBody>
          <a:bodyPr/>
          <a:lstStyle/>
          <a:p>
            <a:r>
              <a:rPr lang="en-US"/>
              <a:t>Assign integer identifier to each peer in range [0,2</a:t>
            </a:r>
            <a:r>
              <a:rPr lang="en-US" baseline="30000"/>
              <a:t>n</a:t>
            </a:r>
            <a:r>
              <a:rPr lang="en-US"/>
              <a:t>-1].</a:t>
            </a:r>
            <a:endParaRPr lang="en-US"/>
          </a:p>
          <a:p>
            <a:pPr lvl="1"/>
            <a:r>
              <a:rPr lang="en-US"/>
              <a:t>Each identifier can be represented by n bits.</a:t>
            </a:r>
            <a:endParaRPr lang="en-US"/>
          </a:p>
          <a:p>
            <a:r>
              <a:rPr lang="en-US"/>
              <a:t>Require each key to be an integer in </a:t>
            </a:r>
            <a:r>
              <a:rPr lang="en-US">
                <a:solidFill>
                  <a:srgbClr val="FF0000"/>
                </a:solidFill>
              </a:rPr>
              <a:t>same range</a:t>
            </a:r>
            <a:r>
              <a:rPr lang="en-US"/>
              <a:t>.</a:t>
            </a:r>
            <a:endParaRPr lang="en-US"/>
          </a:p>
          <a:p>
            <a:r>
              <a:rPr lang="en-US"/>
              <a:t>To get integer keys, hash original key.</a:t>
            </a:r>
            <a:endParaRPr lang="en-US"/>
          </a:p>
          <a:p>
            <a:pPr lvl="1"/>
            <a:r>
              <a:rPr lang="en-US"/>
              <a:t>eg, key = h(“Led Zeppelin IV”)</a:t>
            </a:r>
            <a:endParaRPr lang="en-US"/>
          </a:p>
          <a:p>
            <a:pPr lvl="1"/>
            <a:r>
              <a:rPr lang="en-US"/>
              <a:t>This is why they call it a distributed “hash” table</a:t>
            </a:r>
            <a:endParaRPr lang="en-US"/>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a:t>How to assign keys to peers?</a:t>
            </a:r>
            <a:endParaRPr lang="en-US"/>
          </a:p>
        </p:txBody>
      </p:sp>
      <p:sp>
        <p:nvSpPr>
          <p:cNvPr id="95235" name="Content Placeholder 2"/>
          <p:cNvSpPr>
            <a:spLocks noGrp="1"/>
          </p:cNvSpPr>
          <p:nvPr>
            <p:ph idx="1"/>
          </p:nvPr>
        </p:nvSpPr>
        <p:spPr/>
        <p:txBody>
          <a:bodyPr/>
          <a:lstStyle/>
          <a:p>
            <a:r>
              <a:rPr lang="en-US"/>
              <a:t>Central issue:</a:t>
            </a:r>
            <a:endParaRPr lang="en-US"/>
          </a:p>
          <a:p>
            <a:pPr lvl="1"/>
            <a:r>
              <a:rPr lang="en-US"/>
              <a:t>Assigning (key, value) pairs to peers.</a:t>
            </a:r>
            <a:endParaRPr lang="en-US"/>
          </a:p>
          <a:p>
            <a:r>
              <a:rPr lang="en-US"/>
              <a:t>Rule: assign key to the peer that has the </a:t>
            </a:r>
            <a:r>
              <a:rPr lang="en-US">
                <a:solidFill>
                  <a:srgbClr val="FF0000"/>
                </a:solidFill>
              </a:rPr>
              <a:t>closest</a:t>
            </a:r>
            <a:r>
              <a:rPr lang="en-US"/>
              <a:t> ID.</a:t>
            </a:r>
            <a:endParaRPr lang="en-US"/>
          </a:p>
          <a:p>
            <a:r>
              <a:rPr lang="en-US"/>
              <a:t>Convention in lecture: closest is the </a:t>
            </a:r>
            <a:r>
              <a:rPr lang="en-US">
                <a:solidFill>
                  <a:srgbClr val="FF0000"/>
                </a:solidFill>
              </a:rPr>
              <a:t>immediate successor </a:t>
            </a:r>
            <a:r>
              <a:rPr lang="en-US"/>
              <a:t>of the key.</a:t>
            </a:r>
            <a:endParaRPr lang="en-US"/>
          </a:p>
          <a:p>
            <a:r>
              <a:rPr lang="en-US"/>
              <a:t>Ex: n=4; peers: 1,3,4,5,8,10,12,14; </a:t>
            </a:r>
            <a:endParaRPr lang="en-US"/>
          </a:p>
          <a:p>
            <a:pPr lvl="1"/>
            <a:r>
              <a:rPr lang="en-US"/>
              <a:t>key = 13, then successor  peer = 14</a:t>
            </a:r>
            <a:endParaRPr lang="en-US"/>
          </a:p>
          <a:p>
            <a:pPr lvl="1"/>
            <a:r>
              <a:rPr lang="en-US"/>
              <a:t>key = 15, then successor peer = 1</a:t>
            </a:r>
            <a:endParaRPr lang="en-US"/>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6258" name="Group 42"/>
          <p:cNvGrpSpPr/>
          <p:nvPr/>
        </p:nvGrpSpPr>
        <p:grpSpPr bwMode="auto">
          <a:xfrm>
            <a:off x="2438400" y="1219200"/>
            <a:ext cx="3602038" cy="3570288"/>
            <a:chOff x="1066800" y="1676400"/>
            <a:chExt cx="3602330" cy="3569732"/>
          </a:xfrm>
        </p:grpSpPr>
        <p:sp>
          <p:nvSpPr>
            <p:cNvPr id="96263" name="Oval 3"/>
            <p:cNvSpPr>
              <a:spLocks noChangeArrowheads="1"/>
            </p:cNvSpPr>
            <p:nvPr/>
          </p:nvSpPr>
          <p:spPr bwMode="auto">
            <a:xfrm>
              <a:off x="2794354" y="4791480"/>
              <a:ext cx="96564" cy="98891"/>
            </a:xfrm>
            <a:prstGeom prst="ellipse">
              <a:avLst/>
            </a:prstGeom>
            <a:solidFill>
              <a:schemeClr val="accent1"/>
            </a:solidFill>
            <a:ln w="9525">
              <a:solidFill>
                <a:schemeClr val="tx1"/>
              </a:solidFill>
              <a:round/>
            </a:ln>
          </p:spPr>
          <p:txBody>
            <a:bodyPr wrap="none" anchor="ctr"/>
            <a:lstStyle/>
            <a:p>
              <a:endParaRPr lang="en-US"/>
            </a:p>
          </p:txBody>
        </p:sp>
        <p:sp>
          <p:nvSpPr>
            <p:cNvPr id="96264" name="Oval 4"/>
            <p:cNvSpPr>
              <a:spLocks noChangeArrowheads="1"/>
            </p:cNvSpPr>
            <p:nvPr/>
          </p:nvSpPr>
          <p:spPr bwMode="auto">
            <a:xfrm>
              <a:off x="1435115" y="2890435"/>
              <a:ext cx="96564" cy="98891"/>
            </a:xfrm>
            <a:prstGeom prst="ellipse">
              <a:avLst/>
            </a:prstGeom>
            <a:solidFill>
              <a:schemeClr val="accent1"/>
            </a:solidFill>
            <a:ln w="9525">
              <a:solidFill>
                <a:schemeClr val="tx1"/>
              </a:solidFill>
              <a:round/>
            </a:ln>
          </p:spPr>
          <p:txBody>
            <a:bodyPr wrap="none" anchor="ctr"/>
            <a:lstStyle/>
            <a:p>
              <a:endParaRPr lang="en-US"/>
            </a:p>
          </p:txBody>
        </p:sp>
        <p:sp>
          <p:nvSpPr>
            <p:cNvPr id="96265" name="Oval 5"/>
            <p:cNvSpPr>
              <a:spLocks noChangeArrowheads="1"/>
            </p:cNvSpPr>
            <p:nvPr/>
          </p:nvSpPr>
          <p:spPr bwMode="auto">
            <a:xfrm>
              <a:off x="1459562" y="3978242"/>
              <a:ext cx="96564" cy="98892"/>
            </a:xfrm>
            <a:prstGeom prst="ellipse">
              <a:avLst/>
            </a:prstGeom>
            <a:solidFill>
              <a:schemeClr val="accent1"/>
            </a:solidFill>
            <a:ln w="9525">
              <a:solidFill>
                <a:schemeClr val="tx1"/>
              </a:solidFill>
              <a:round/>
            </a:ln>
          </p:spPr>
          <p:txBody>
            <a:bodyPr wrap="none" anchor="ctr"/>
            <a:lstStyle/>
            <a:p>
              <a:endParaRPr lang="en-US"/>
            </a:p>
          </p:txBody>
        </p:sp>
        <p:sp>
          <p:nvSpPr>
            <p:cNvPr id="96266" name="Oval 6"/>
            <p:cNvSpPr>
              <a:spLocks noChangeArrowheads="1"/>
            </p:cNvSpPr>
            <p:nvPr/>
          </p:nvSpPr>
          <p:spPr bwMode="auto">
            <a:xfrm>
              <a:off x="3989799" y="2585616"/>
              <a:ext cx="96564" cy="98891"/>
            </a:xfrm>
            <a:prstGeom prst="ellipse">
              <a:avLst/>
            </a:prstGeom>
            <a:solidFill>
              <a:schemeClr val="accent1"/>
            </a:solidFill>
            <a:ln w="9525">
              <a:solidFill>
                <a:schemeClr val="tx1"/>
              </a:solidFill>
              <a:round/>
            </a:ln>
          </p:spPr>
          <p:txBody>
            <a:bodyPr wrap="none" anchor="ctr"/>
            <a:lstStyle/>
            <a:p>
              <a:endParaRPr lang="en-US"/>
            </a:p>
          </p:txBody>
        </p:sp>
        <p:sp>
          <p:nvSpPr>
            <p:cNvPr id="96267" name="Oval 7"/>
            <p:cNvSpPr>
              <a:spLocks noChangeArrowheads="1"/>
            </p:cNvSpPr>
            <p:nvPr/>
          </p:nvSpPr>
          <p:spPr bwMode="auto">
            <a:xfrm>
              <a:off x="4283160" y="3457025"/>
              <a:ext cx="96564" cy="98892"/>
            </a:xfrm>
            <a:prstGeom prst="ellipse">
              <a:avLst/>
            </a:prstGeom>
            <a:solidFill>
              <a:schemeClr val="accent1"/>
            </a:solidFill>
            <a:ln w="9525">
              <a:solidFill>
                <a:schemeClr val="tx1"/>
              </a:solidFill>
              <a:round/>
            </a:ln>
          </p:spPr>
          <p:txBody>
            <a:bodyPr wrap="none" anchor="ctr"/>
            <a:lstStyle/>
            <a:p>
              <a:endParaRPr lang="en-US"/>
            </a:p>
          </p:txBody>
        </p:sp>
        <p:sp>
          <p:nvSpPr>
            <p:cNvPr id="96268" name="Oval 8"/>
            <p:cNvSpPr>
              <a:spLocks noChangeArrowheads="1"/>
            </p:cNvSpPr>
            <p:nvPr/>
          </p:nvSpPr>
          <p:spPr bwMode="auto">
            <a:xfrm>
              <a:off x="4004467" y="4192313"/>
              <a:ext cx="96564" cy="98892"/>
            </a:xfrm>
            <a:prstGeom prst="ellipse">
              <a:avLst/>
            </a:prstGeom>
            <a:solidFill>
              <a:schemeClr val="accent1"/>
            </a:solidFill>
            <a:ln w="9525">
              <a:solidFill>
                <a:schemeClr val="tx1"/>
              </a:solidFill>
              <a:round/>
            </a:ln>
          </p:spPr>
          <p:txBody>
            <a:bodyPr wrap="none" anchor="ctr"/>
            <a:lstStyle/>
            <a:p>
              <a:endParaRPr lang="en-US"/>
            </a:p>
          </p:txBody>
        </p:sp>
        <p:sp>
          <p:nvSpPr>
            <p:cNvPr id="96269" name="Oval 9"/>
            <p:cNvSpPr>
              <a:spLocks noChangeArrowheads="1"/>
            </p:cNvSpPr>
            <p:nvPr/>
          </p:nvSpPr>
          <p:spPr bwMode="auto">
            <a:xfrm>
              <a:off x="1991278" y="4548323"/>
              <a:ext cx="96565" cy="98892"/>
            </a:xfrm>
            <a:prstGeom prst="ellipse">
              <a:avLst/>
            </a:prstGeom>
            <a:solidFill>
              <a:schemeClr val="accent1"/>
            </a:solidFill>
            <a:ln w="9525">
              <a:solidFill>
                <a:schemeClr val="tx1"/>
              </a:solidFill>
              <a:round/>
            </a:ln>
          </p:spPr>
          <p:txBody>
            <a:bodyPr wrap="none" anchor="ctr"/>
            <a:lstStyle/>
            <a:p>
              <a:endParaRPr lang="en-US"/>
            </a:p>
          </p:txBody>
        </p:sp>
        <p:sp>
          <p:nvSpPr>
            <p:cNvPr id="96270" name="Oval 10"/>
            <p:cNvSpPr>
              <a:spLocks noChangeArrowheads="1"/>
            </p:cNvSpPr>
            <p:nvPr/>
          </p:nvSpPr>
          <p:spPr bwMode="auto">
            <a:xfrm>
              <a:off x="1376443" y="2050438"/>
              <a:ext cx="2927496" cy="2793396"/>
            </a:xfrm>
            <a:prstGeom prst="ellipse">
              <a:avLst/>
            </a:prstGeom>
            <a:noFill/>
            <a:ln w="9525">
              <a:solidFill>
                <a:schemeClr val="tx1"/>
              </a:solidFill>
              <a:round/>
            </a:ln>
          </p:spPr>
          <p:txBody>
            <a:bodyPr wrap="none" anchor="ctr"/>
            <a:lstStyle/>
            <a:p>
              <a:endParaRPr lang="en-US"/>
            </a:p>
          </p:txBody>
        </p:sp>
        <p:sp>
          <p:nvSpPr>
            <p:cNvPr id="96271" name="Text Box 11"/>
            <p:cNvSpPr txBox="1">
              <a:spLocks noChangeArrowheads="1"/>
            </p:cNvSpPr>
            <p:nvPr/>
          </p:nvSpPr>
          <p:spPr bwMode="auto">
            <a:xfrm>
              <a:off x="2895600" y="1676400"/>
              <a:ext cx="288862" cy="369332"/>
            </a:xfrm>
            <a:prstGeom prst="rect">
              <a:avLst/>
            </a:prstGeom>
            <a:noFill/>
            <a:ln w="9525">
              <a:noFill/>
              <a:miter lim="800000"/>
            </a:ln>
          </p:spPr>
          <p:txBody>
            <a:bodyPr wrap="none">
              <a:spAutoFit/>
            </a:bodyPr>
            <a:lstStyle/>
            <a:p>
              <a:r>
                <a:rPr lang="en-US"/>
                <a:t>1</a:t>
              </a:r>
              <a:endParaRPr lang="en-US"/>
            </a:p>
          </p:txBody>
        </p:sp>
        <p:sp>
          <p:nvSpPr>
            <p:cNvPr id="96272" name="Rectangle 12"/>
            <p:cNvSpPr>
              <a:spLocks noChangeArrowheads="1"/>
            </p:cNvSpPr>
            <p:nvPr/>
          </p:nvSpPr>
          <p:spPr bwMode="auto">
            <a:xfrm>
              <a:off x="4114800" y="2514600"/>
              <a:ext cx="325730" cy="369332"/>
            </a:xfrm>
            <a:prstGeom prst="rect">
              <a:avLst/>
            </a:prstGeom>
            <a:noFill/>
            <a:ln w="9525">
              <a:noFill/>
              <a:miter lim="800000"/>
            </a:ln>
          </p:spPr>
          <p:txBody>
            <a:bodyPr wrap="none">
              <a:spAutoFit/>
            </a:bodyPr>
            <a:lstStyle/>
            <a:p>
              <a:r>
                <a:rPr lang="en-US"/>
                <a:t>3</a:t>
              </a:r>
              <a:endParaRPr lang="en-US"/>
            </a:p>
          </p:txBody>
        </p:sp>
        <p:sp>
          <p:nvSpPr>
            <p:cNvPr id="96273" name="Rectangle 13"/>
            <p:cNvSpPr>
              <a:spLocks noChangeArrowheads="1"/>
            </p:cNvSpPr>
            <p:nvPr/>
          </p:nvSpPr>
          <p:spPr bwMode="auto">
            <a:xfrm>
              <a:off x="4343400" y="3352800"/>
              <a:ext cx="325730" cy="369332"/>
            </a:xfrm>
            <a:prstGeom prst="rect">
              <a:avLst/>
            </a:prstGeom>
            <a:noFill/>
            <a:ln w="9525">
              <a:noFill/>
              <a:miter lim="800000"/>
            </a:ln>
          </p:spPr>
          <p:txBody>
            <a:bodyPr wrap="none">
              <a:spAutoFit/>
            </a:bodyPr>
            <a:lstStyle/>
            <a:p>
              <a:r>
                <a:rPr lang="en-US"/>
                <a:t>4</a:t>
              </a:r>
              <a:endParaRPr lang="en-US"/>
            </a:p>
          </p:txBody>
        </p:sp>
        <p:sp>
          <p:nvSpPr>
            <p:cNvPr id="96274" name="Rectangle 14"/>
            <p:cNvSpPr>
              <a:spLocks noChangeArrowheads="1"/>
            </p:cNvSpPr>
            <p:nvPr/>
          </p:nvSpPr>
          <p:spPr bwMode="auto">
            <a:xfrm>
              <a:off x="4114800" y="4114800"/>
              <a:ext cx="325730" cy="369332"/>
            </a:xfrm>
            <a:prstGeom prst="rect">
              <a:avLst/>
            </a:prstGeom>
            <a:noFill/>
            <a:ln w="9525">
              <a:noFill/>
              <a:miter lim="800000"/>
            </a:ln>
          </p:spPr>
          <p:txBody>
            <a:bodyPr wrap="none">
              <a:spAutoFit/>
            </a:bodyPr>
            <a:lstStyle/>
            <a:p>
              <a:r>
                <a:rPr lang="en-US"/>
                <a:t>5</a:t>
              </a:r>
              <a:endParaRPr lang="en-US"/>
            </a:p>
          </p:txBody>
        </p:sp>
        <p:sp>
          <p:nvSpPr>
            <p:cNvPr id="96275" name="Rectangle 15"/>
            <p:cNvSpPr>
              <a:spLocks noChangeArrowheads="1"/>
            </p:cNvSpPr>
            <p:nvPr/>
          </p:nvSpPr>
          <p:spPr bwMode="auto">
            <a:xfrm>
              <a:off x="2743200" y="4876800"/>
              <a:ext cx="325730" cy="369332"/>
            </a:xfrm>
            <a:prstGeom prst="rect">
              <a:avLst/>
            </a:prstGeom>
            <a:noFill/>
            <a:ln w="9525">
              <a:noFill/>
              <a:miter lim="800000"/>
            </a:ln>
          </p:spPr>
          <p:txBody>
            <a:bodyPr wrap="none">
              <a:spAutoFit/>
            </a:bodyPr>
            <a:lstStyle/>
            <a:p>
              <a:r>
                <a:rPr lang="en-US"/>
                <a:t>8</a:t>
              </a:r>
              <a:endParaRPr lang="en-US"/>
            </a:p>
          </p:txBody>
        </p:sp>
        <p:sp>
          <p:nvSpPr>
            <p:cNvPr id="96276" name="Rectangle 16"/>
            <p:cNvSpPr>
              <a:spLocks noChangeArrowheads="1"/>
            </p:cNvSpPr>
            <p:nvPr/>
          </p:nvSpPr>
          <p:spPr bwMode="auto">
            <a:xfrm>
              <a:off x="1676400" y="4648200"/>
              <a:ext cx="429926" cy="369332"/>
            </a:xfrm>
            <a:prstGeom prst="rect">
              <a:avLst/>
            </a:prstGeom>
            <a:noFill/>
            <a:ln w="9525">
              <a:noFill/>
              <a:miter lim="800000"/>
            </a:ln>
          </p:spPr>
          <p:txBody>
            <a:bodyPr wrap="none">
              <a:spAutoFit/>
            </a:bodyPr>
            <a:lstStyle/>
            <a:p>
              <a:r>
                <a:rPr lang="en-US"/>
                <a:t>10</a:t>
              </a:r>
              <a:endParaRPr lang="en-US"/>
            </a:p>
          </p:txBody>
        </p:sp>
        <p:sp>
          <p:nvSpPr>
            <p:cNvPr id="96277" name="Rectangle 17"/>
            <p:cNvSpPr>
              <a:spLocks noChangeArrowheads="1"/>
            </p:cNvSpPr>
            <p:nvPr/>
          </p:nvSpPr>
          <p:spPr bwMode="auto">
            <a:xfrm>
              <a:off x="1066800" y="3886200"/>
              <a:ext cx="429926" cy="369332"/>
            </a:xfrm>
            <a:prstGeom prst="rect">
              <a:avLst/>
            </a:prstGeom>
            <a:noFill/>
            <a:ln w="9525">
              <a:noFill/>
              <a:miter lim="800000"/>
            </a:ln>
          </p:spPr>
          <p:txBody>
            <a:bodyPr wrap="none">
              <a:spAutoFit/>
            </a:bodyPr>
            <a:lstStyle/>
            <a:p>
              <a:r>
                <a:rPr lang="en-US"/>
                <a:t>12</a:t>
              </a:r>
              <a:endParaRPr lang="en-US"/>
            </a:p>
          </p:txBody>
        </p:sp>
        <p:sp>
          <p:nvSpPr>
            <p:cNvPr id="96278" name="Rectangle 18"/>
            <p:cNvSpPr>
              <a:spLocks noChangeArrowheads="1"/>
            </p:cNvSpPr>
            <p:nvPr/>
          </p:nvSpPr>
          <p:spPr bwMode="auto">
            <a:xfrm>
              <a:off x="1066800" y="2667000"/>
              <a:ext cx="429926" cy="369332"/>
            </a:xfrm>
            <a:prstGeom prst="rect">
              <a:avLst/>
            </a:prstGeom>
            <a:noFill/>
            <a:ln w="9525">
              <a:noFill/>
              <a:miter lim="800000"/>
            </a:ln>
          </p:spPr>
          <p:txBody>
            <a:bodyPr wrap="none">
              <a:spAutoFit/>
            </a:bodyPr>
            <a:lstStyle/>
            <a:p>
              <a:r>
                <a:rPr lang="en-US"/>
                <a:t>15</a:t>
              </a:r>
              <a:endParaRPr lang="en-US"/>
            </a:p>
          </p:txBody>
        </p:sp>
        <p:sp>
          <p:nvSpPr>
            <p:cNvPr id="96279" name="Oval 28"/>
            <p:cNvSpPr>
              <a:spLocks noChangeArrowheads="1"/>
            </p:cNvSpPr>
            <p:nvPr/>
          </p:nvSpPr>
          <p:spPr bwMode="auto">
            <a:xfrm>
              <a:off x="2912920" y="2010882"/>
              <a:ext cx="96565" cy="98891"/>
            </a:xfrm>
            <a:prstGeom prst="ellipse">
              <a:avLst/>
            </a:prstGeom>
            <a:solidFill>
              <a:schemeClr val="accent1"/>
            </a:solidFill>
            <a:ln w="9525">
              <a:solidFill>
                <a:schemeClr val="tx1"/>
              </a:solidFill>
              <a:round/>
            </a:ln>
          </p:spPr>
          <p:txBody>
            <a:bodyPr wrap="none" anchor="ctr"/>
            <a:lstStyle/>
            <a:p>
              <a:endParaRPr lang="en-US"/>
            </a:p>
          </p:txBody>
        </p:sp>
      </p:grpSp>
      <p:cxnSp>
        <p:nvCxnSpPr>
          <p:cNvPr id="64" name="Straight Connector 63"/>
          <p:cNvCxnSpPr/>
          <p:nvPr/>
        </p:nvCxnSpPr>
        <p:spPr>
          <a:xfrm>
            <a:off x="4114800" y="1524000"/>
            <a:ext cx="1524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10800000" flipV="1">
            <a:off x="4191000" y="1600200"/>
            <a:ext cx="169863" cy="968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261" name="Title 67"/>
          <p:cNvSpPr>
            <a:spLocks noGrp="1"/>
          </p:cNvSpPr>
          <p:nvPr>
            <p:ph type="title"/>
          </p:nvPr>
        </p:nvSpPr>
        <p:spPr/>
        <p:txBody>
          <a:bodyPr/>
          <a:lstStyle/>
          <a:p>
            <a:r>
              <a:rPr lang="en-US"/>
              <a:t>Circular DHT (1)</a:t>
            </a:r>
            <a:endParaRPr lang="en-US"/>
          </a:p>
        </p:txBody>
      </p:sp>
      <p:sp>
        <p:nvSpPr>
          <p:cNvPr id="96262" name="Content Placeholder 68"/>
          <p:cNvSpPr>
            <a:spLocks noGrp="1"/>
          </p:cNvSpPr>
          <p:nvPr>
            <p:ph idx="1"/>
          </p:nvPr>
        </p:nvSpPr>
        <p:spPr>
          <a:xfrm>
            <a:off x="457200" y="4953000"/>
            <a:ext cx="8229600" cy="1524000"/>
          </a:xfrm>
        </p:spPr>
        <p:txBody>
          <a:bodyPr/>
          <a:lstStyle/>
          <a:p>
            <a:r>
              <a:rPr lang="en-US"/>
              <a:t>Each peer </a:t>
            </a:r>
            <a:r>
              <a:rPr lang="en-US" i="1"/>
              <a:t>only</a:t>
            </a:r>
            <a:r>
              <a:rPr lang="en-US"/>
              <a:t> aware of immediate successor and predecessor.</a:t>
            </a:r>
            <a:endParaRPr lang="en-US"/>
          </a:p>
          <a:p>
            <a:r>
              <a:rPr lang="en-US"/>
              <a:t>“Overlay network”</a:t>
            </a:r>
            <a:endParaRPr lang="en-US"/>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76275" y="377825"/>
            <a:ext cx="7772400" cy="1143000"/>
          </a:xfrm>
        </p:spPr>
        <p:txBody>
          <a:bodyPr>
            <a:normAutofit fontScale="90000"/>
          </a:bodyPr>
          <a:lstStyle/>
          <a:p>
            <a:pPr eaLnBrk="1" hangingPunct="1">
              <a:defRPr/>
            </a:pPr>
            <a:r>
              <a:rPr lang="en-US" dirty="0"/>
              <a:t>Circle DHT  (2)</a:t>
            </a:r>
            <a:br>
              <a:rPr lang="en-US" dirty="0"/>
            </a:br>
            <a:endParaRPr lang="en-US" dirty="0"/>
          </a:p>
        </p:txBody>
      </p:sp>
      <p:sp>
        <p:nvSpPr>
          <p:cNvPr id="97283" name="Oval 3"/>
          <p:cNvSpPr>
            <a:spLocks noChangeArrowheads="1"/>
          </p:cNvSpPr>
          <p:nvPr/>
        </p:nvSpPr>
        <p:spPr bwMode="auto">
          <a:xfrm>
            <a:off x="4691063" y="5799138"/>
            <a:ext cx="125412" cy="134937"/>
          </a:xfrm>
          <a:prstGeom prst="ellipse">
            <a:avLst/>
          </a:prstGeom>
          <a:solidFill>
            <a:schemeClr val="accent1"/>
          </a:solidFill>
          <a:ln w="9525">
            <a:solidFill>
              <a:schemeClr val="tx1"/>
            </a:solidFill>
            <a:round/>
          </a:ln>
        </p:spPr>
        <p:txBody>
          <a:bodyPr wrap="none" anchor="ctr"/>
          <a:lstStyle/>
          <a:p>
            <a:endParaRPr lang="en-US"/>
          </a:p>
        </p:txBody>
      </p:sp>
      <p:sp>
        <p:nvSpPr>
          <p:cNvPr id="97284" name="Oval 4"/>
          <p:cNvSpPr>
            <a:spLocks noChangeArrowheads="1"/>
          </p:cNvSpPr>
          <p:nvPr/>
        </p:nvSpPr>
        <p:spPr bwMode="auto">
          <a:xfrm>
            <a:off x="2925763" y="3205163"/>
            <a:ext cx="125412" cy="134937"/>
          </a:xfrm>
          <a:prstGeom prst="ellipse">
            <a:avLst/>
          </a:prstGeom>
          <a:solidFill>
            <a:schemeClr val="accent1"/>
          </a:solidFill>
          <a:ln w="9525">
            <a:solidFill>
              <a:schemeClr val="tx1"/>
            </a:solidFill>
            <a:round/>
          </a:ln>
        </p:spPr>
        <p:txBody>
          <a:bodyPr wrap="none" anchor="ctr"/>
          <a:lstStyle/>
          <a:p>
            <a:endParaRPr lang="en-US"/>
          </a:p>
        </p:txBody>
      </p:sp>
      <p:sp>
        <p:nvSpPr>
          <p:cNvPr id="97285" name="Oval 5"/>
          <p:cNvSpPr>
            <a:spLocks noChangeArrowheads="1"/>
          </p:cNvSpPr>
          <p:nvPr/>
        </p:nvSpPr>
        <p:spPr bwMode="auto">
          <a:xfrm>
            <a:off x="2957513" y="4689475"/>
            <a:ext cx="125412" cy="134938"/>
          </a:xfrm>
          <a:prstGeom prst="ellipse">
            <a:avLst/>
          </a:prstGeom>
          <a:solidFill>
            <a:schemeClr val="accent1"/>
          </a:solidFill>
          <a:ln w="9525">
            <a:solidFill>
              <a:schemeClr val="tx1"/>
            </a:solidFill>
            <a:round/>
          </a:ln>
        </p:spPr>
        <p:txBody>
          <a:bodyPr wrap="none" anchor="ctr"/>
          <a:lstStyle/>
          <a:p>
            <a:endParaRPr lang="en-US"/>
          </a:p>
        </p:txBody>
      </p:sp>
      <p:sp>
        <p:nvSpPr>
          <p:cNvPr id="97286" name="Oval 6"/>
          <p:cNvSpPr>
            <a:spLocks noChangeArrowheads="1"/>
          </p:cNvSpPr>
          <p:nvPr/>
        </p:nvSpPr>
        <p:spPr bwMode="auto">
          <a:xfrm>
            <a:off x="6243638" y="2789238"/>
            <a:ext cx="125412" cy="134937"/>
          </a:xfrm>
          <a:prstGeom prst="ellipse">
            <a:avLst/>
          </a:prstGeom>
          <a:solidFill>
            <a:schemeClr val="accent1"/>
          </a:solidFill>
          <a:ln w="9525">
            <a:solidFill>
              <a:schemeClr val="tx1"/>
            </a:solidFill>
            <a:round/>
          </a:ln>
        </p:spPr>
        <p:txBody>
          <a:bodyPr wrap="none" anchor="ctr"/>
          <a:lstStyle/>
          <a:p>
            <a:endParaRPr lang="en-US"/>
          </a:p>
        </p:txBody>
      </p:sp>
      <p:sp>
        <p:nvSpPr>
          <p:cNvPr id="97287" name="Oval 7"/>
          <p:cNvSpPr>
            <a:spLocks noChangeArrowheads="1"/>
          </p:cNvSpPr>
          <p:nvPr/>
        </p:nvSpPr>
        <p:spPr bwMode="auto">
          <a:xfrm>
            <a:off x="6624638" y="3978275"/>
            <a:ext cx="125412" cy="134938"/>
          </a:xfrm>
          <a:prstGeom prst="ellipse">
            <a:avLst/>
          </a:prstGeom>
          <a:solidFill>
            <a:schemeClr val="accent1"/>
          </a:solidFill>
          <a:ln w="9525">
            <a:solidFill>
              <a:schemeClr val="tx1"/>
            </a:solidFill>
            <a:round/>
          </a:ln>
        </p:spPr>
        <p:txBody>
          <a:bodyPr wrap="none" anchor="ctr"/>
          <a:lstStyle/>
          <a:p>
            <a:endParaRPr lang="en-US"/>
          </a:p>
        </p:txBody>
      </p:sp>
      <p:sp>
        <p:nvSpPr>
          <p:cNvPr id="97288" name="Oval 8"/>
          <p:cNvSpPr>
            <a:spLocks noChangeArrowheads="1"/>
          </p:cNvSpPr>
          <p:nvPr/>
        </p:nvSpPr>
        <p:spPr bwMode="auto">
          <a:xfrm>
            <a:off x="6262688" y="4981575"/>
            <a:ext cx="125412" cy="134938"/>
          </a:xfrm>
          <a:prstGeom prst="ellipse">
            <a:avLst/>
          </a:prstGeom>
          <a:solidFill>
            <a:schemeClr val="accent1"/>
          </a:solidFill>
          <a:ln w="9525">
            <a:solidFill>
              <a:schemeClr val="tx1"/>
            </a:solidFill>
            <a:round/>
          </a:ln>
        </p:spPr>
        <p:txBody>
          <a:bodyPr wrap="none" anchor="ctr"/>
          <a:lstStyle/>
          <a:p>
            <a:endParaRPr lang="en-US"/>
          </a:p>
        </p:txBody>
      </p:sp>
      <p:sp>
        <p:nvSpPr>
          <p:cNvPr id="97289" name="Oval 9"/>
          <p:cNvSpPr>
            <a:spLocks noChangeArrowheads="1"/>
          </p:cNvSpPr>
          <p:nvPr/>
        </p:nvSpPr>
        <p:spPr bwMode="auto">
          <a:xfrm>
            <a:off x="3648075" y="5467350"/>
            <a:ext cx="125413" cy="134938"/>
          </a:xfrm>
          <a:prstGeom prst="ellipse">
            <a:avLst/>
          </a:prstGeom>
          <a:solidFill>
            <a:schemeClr val="accent1"/>
          </a:solidFill>
          <a:ln w="9525">
            <a:solidFill>
              <a:schemeClr val="tx1"/>
            </a:solidFill>
            <a:round/>
          </a:ln>
        </p:spPr>
        <p:txBody>
          <a:bodyPr wrap="none" anchor="ctr"/>
          <a:lstStyle/>
          <a:p>
            <a:endParaRPr lang="en-US"/>
          </a:p>
        </p:txBody>
      </p:sp>
      <p:sp>
        <p:nvSpPr>
          <p:cNvPr id="97290" name="Oval 10"/>
          <p:cNvSpPr>
            <a:spLocks noChangeArrowheads="1"/>
          </p:cNvSpPr>
          <p:nvPr/>
        </p:nvSpPr>
        <p:spPr bwMode="auto">
          <a:xfrm>
            <a:off x="2849563" y="2058988"/>
            <a:ext cx="3802062" cy="3811587"/>
          </a:xfrm>
          <a:prstGeom prst="ellipse">
            <a:avLst/>
          </a:prstGeom>
          <a:noFill/>
          <a:ln w="9525">
            <a:solidFill>
              <a:schemeClr val="tx1"/>
            </a:solidFill>
            <a:round/>
          </a:ln>
        </p:spPr>
        <p:txBody>
          <a:bodyPr wrap="none" anchor="ctr"/>
          <a:lstStyle/>
          <a:p>
            <a:endParaRPr lang="en-US"/>
          </a:p>
        </p:txBody>
      </p:sp>
      <p:sp>
        <p:nvSpPr>
          <p:cNvPr id="97291" name="Text Box 11"/>
          <p:cNvSpPr txBox="1">
            <a:spLocks noChangeArrowheads="1"/>
          </p:cNvSpPr>
          <p:nvPr/>
        </p:nvSpPr>
        <p:spPr bwMode="auto">
          <a:xfrm>
            <a:off x="4605338" y="1652588"/>
            <a:ext cx="706437" cy="366712"/>
          </a:xfrm>
          <a:prstGeom prst="rect">
            <a:avLst/>
          </a:prstGeom>
          <a:noFill/>
          <a:ln w="9525">
            <a:noFill/>
            <a:miter lim="800000"/>
          </a:ln>
        </p:spPr>
        <p:txBody>
          <a:bodyPr wrap="none">
            <a:spAutoFit/>
          </a:bodyPr>
          <a:lstStyle/>
          <a:p>
            <a:r>
              <a:rPr lang="en-US"/>
              <a:t>0001</a:t>
            </a:r>
            <a:endParaRPr lang="en-US"/>
          </a:p>
        </p:txBody>
      </p:sp>
      <p:sp>
        <p:nvSpPr>
          <p:cNvPr id="97292" name="Rectangle 12"/>
          <p:cNvSpPr>
            <a:spLocks noChangeArrowheads="1"/>
          </p:cNvSpPr>
          <p:nvPr/>
        </p:nvSpPr>
        <p:spPr bwMode="auto">
          <a:xfrm>
            <a:off x="5562600" y="2514600"/>
            <a:ext cx="669925" cy="366713"/>
          </a:xfrm>
          <a:prstGeom prst="rect">
            <a:avLst/>
          </a:prstGeom>
          <a:noFill/>
          <a:ln w="9525">
            <a:noFill/>
            <a:miter lim="800000"/>
          </a:ln>
        </p:spPr>
        <p:txBody>
          <a:bodyPr wrap="none">
            <a:spAutoFit/>
          </a:bodyPr>
          <a:lstStyle/>
          <a:p>
            <a:r>
              <a:rPr lang="en-US"/>
              <a:t>0011</a:t>
            </a:r>
            <a:endParaRPr lang="en-US"/>
          </a:p>
        </p:txBody>
      </p:sp>
      <p:sp>
        <p:nvSpPr>
          <p:cNvPr id="97293" name="Rectangle 13"/>
          <p:cNvSpPr>
            <a:spLocks noChangeArrowheads="1"/>
          </p:cNvSpPr>
          <p:nvPr/>
        </p:nvSpPr>
        <p:spPr bwMode="auto">
          <a:xfrm>
            <a:off x="6788150" y="3890963"/>
            <a:ext cx="706438" cy="366712"/>
          </a:xfrm>
          <a:prstGeom prst="rect">
            <a:avLst/>
          </a:prstGeom>
          <a:noFill/>
          <a:ln w="9525">
            <a:noFill/>
            <a:miter lim="800000"/>
          </a:ln>
        </p:spPr>
        <p:txBody>
          <a:bodyPr wrap="none">
            <a:spAutoFit/>
          </a:bodyPr>
          <a:lstStyle/>
          <a:p>
            <a:r>
              <a:rPr lang="en-US"/>
              <a:t>0100</a:t>
            </a:r>
            <a:endParaRPr lang="en-US"/>
          </a:p>
        </p:txBody>
      </p:sp>
      <p:sp>
        <p:nvSpPr>
          <p:cNvPr id="97294" name="Rectangle 14"/>
          <p:cNvSpPr>
            <a:spLocks noChangeArrowheads="1"/>
          </p:cNvSpPr>
          <p:nvPr/>
        </p:nvSpPr>
        <p:spPr bwMode="auto">
          <a:xfrm>
            <a:off x="6494463" y="4895850"/>
            <a:ext cx="669925" cy="366713"/>
          </a:xfrm>
          <a:prstGeom prst="rect">
            <a:avLst/>
          </a:prstGeom>
          <a:noFill/>
          <a:ln w="9525">
            <a:noFill/>
            <a:miter lim="800000"/>
          </a:ln>
        </p:spPr>
        <p:txBody>
          <a:bodyPr wrap="none">
            <a:spAutoFit/>
          </a:bodyPr>
          <a:lstStyle/>
          <a:p>
            <a:r>
              <a:rPr lang="en-US"/>
              <a:t>0101</a:t>
            </a:r>
            <a:endParaRPr lang="en-US"/>
          </a:p>
        </p:txBody>
      </p:sp>
      <p:sp>
        <p:nvSpPr>
          <p:cNvPr id="97295" name="Rectangle 15"/>
          <p:cNvSpPr>
            <a:spLocks noChangeArrowheads="1"/>
          </p:cNvSpPr>
          <p:nvPr/>
        </p:nvSpPr>
        <p:spPr bwMode="auto">
          <a:xfrm>
            <a:off x="4867275" y="5849938"/>
            <a:ext cx="706438" cy="366712"/>
          </a:xfrm>
          <a:prstGeom prst="rect">
            <a:avLst/>
          </a:prstGeom>
          <a:noFill/>
          <a:ln w="9525">
            <a:noFill/>
            <a:miter lim="800000"/>
          </a:ln>
        </p:spPr>
        <p:txBody>
          <a:bodyPr wrap="none">
            <a:spAutoFit/>
          </a:bodyPr>
          <a:lstStyle/>
          <a:p>
            <a:r>
              <a:rPr lang="en-US"/>
              <a:t>1000</a:t>
            </a:r>
            <a:endParaRPr lang="en-US"/>
          </a:p>
        </p:txBody>
      </p:sp>
      <p:sp>
        <p:nvSpPr>
          <p:cNvPr id="97296" name="Rectangle 16"/>
          <p:cNvSpPr>
            <a:spLocks noChangeArrowheads="1"/>
          </p:cNvSpPr>
          <p:nvPr/>
        </p:nvSpPr>
        <p:spPr bwMode="auto">
          <a:xfrm>
            <a:off x="3068638" y="5610225"/>
            <a:ext cx="669925" cy="366713"/>
          </a:xfrm>
          <a:prstGeom prst="rect">
            <a:avLst/>
          </a:prstGeom>
          <a:noFill/>
          <a:ln w="9525">
            <a:noFill/>
            <a:miter lim="800000"/>
          </a:ln>
        </p:spPr>
        <p:txBody>
          <a:bodyPr wrap="none">
            <a:spAutoFit/>
          </a:bodyPr>
          <a:lstStyle/>
          <a:p>
            <a:r>
              <a:rPr lang="en-US"/>
              <a:t>1010</a:t>
            </a:r>
            <a:endParaRPr lang="en-US"/>
          </a:p>
        </p:txBody>
      </p:sp>
      <p:sp>
        <p:nvSpPr>
          <p:cNvPr id="97297" name="Rectangle 17"/>
          <p:cNvSpPr>
            <a:spLocks noChangeArrowheads="1"/>
          </p:cNvSpPr>
          <p:nvPr/>
        </p:nvSpPr>
        <p:spPr bwMode="auto">
          <a:xfrm>
            <a:off x="2249488" y="4510088"/>
            <a:ext cx="669925" cy="366712"/>
          </a:xfrm>
          <a:prstGeom prst="rect">
            <a:avLst/>
          </a:prstGeom>
          <a:noFill/>
          <a:ln w="9525">
            <a:noFill/>
            <a:miter lim="800000"/>
          </a:ln>
        </p:spPr>
        <p:txBody>
          <a:bodyPr wrap="none">
            <a:spAutoFit/>
          </a:bodyPr>
          <a:lstStyle/>
          <a:p>
            <a:r>
              <a:rPr lang="en-US"/>
              <a:t>1100</a:t>
            </a:r>
            <a:endParaRPr lang="en-US"/>
          </a:p>
        </p:txBody>
      </p:sp>
      <p:sp>
        <p:nvSpPr>
          <p:cNvPr id="97298" name="Rectangle 18"/>
          <p:cNvSpPr>
            <a:spLocks noChangeArrowheads="1"/>
          </p:cNvSpPr>
          <p:nvPr/>
        </p:nvSpPr>
        <p:spPr bwMode="auto">
          <a:xfrm>
            <a:off x="2374900" y="2960688"/>
            <a:ext cx="596900" cy="366712"/>
          </a:xfrm>
          <a:prstGeom prst="rect">
            <a:avLst/>
          </a:prstGeom>
          <a:noFill/>
          <a:ln w="9525">
            <a:noFill/>
            <a:miter lim="800000"/>
          </a:ln>
        </p:spPr>
        <p:txBody>
          <a:bodyPr wrap="none">
            <a:spAutoFit/>
          </a:bodyPr>
          <a:lstStyle/>
          <a:p>
            <a:r>
              <a:rPr lang="en-US"/>
              <a:t>1111</a:t>
            </a:r>
            <a:endParaRPr lang="en-US"/>
          </a:p>
        </p:txBody>
      </p:sp>
      <p:grpSp>
        <p:nvGrpSpPr>
          <p:cNvPr id="2" name="Group 19"/>
          <p:cNvGrpSpPr/>
          <p:nvPr/>
        </p:nvGrpSpPr>
        <p:grpSpPr bwMode="auto">
          <a:xfrm>
            <a:off x="6545263" y="1676400"/>
            <a:ext cx="2200275" cy="993775"/>
            <a:chOff x="4289" y="1273"/>
            <a:chExt cx="853" cy="609"/>
          </a:xfrm>
        </p:grpSpPr>
        <p:sp>
          <p:nvSpPr>
            <p:cNvPr id="97320" name="AutoShape 20"/>
            <p:cNvSpPr>
              <a:spLocks noChangeArrowheads="1"/>
            </p:cNvSpPr>
            <p:nvPr/>
          </p:nvSpPr>
          <p:spPr bwMode="auto">
            <a:xfrm>
              <a:off x="4311" y="1273"/>
              <a:ext cx="709" cy="609"/>
            </a:xfrm>
            <a:prstGeom prst="wedgeRoundRectCallout">
              <a:avLst>
                <a:gd name="adj1" fmla="val -59593"/>
                <a:gd name="adj2" fmla="val 68556"/>
                <a:gd name="adj3" fmla="val 16667"/>
              </a:avLst>
            </a:prstGeom>
            <a:noFill/>
            <a:ln w="9525">
              <a:solidFill>
                <a:schemeClr val="tx1"/>
              </a:solidFill>
              <a:miter lim="800000"/>
            </a:ln>
          </p:spPr>
          <p:txBody>
            <a:bodyPr/>
            <a:lstStyle/>
            <a:p>
              <a:pPr algn="ctr"/>
              <a:endParaRPr lang="en-US" sz="1600">
                <a:latin typeface="Times New Roman" panose="02020603050405020304" pitchFamily="18" charset="0"/>
              </a:endParaRPr>
            </a:p>
          </p:txBody>
        </p:sp>
        <p:sp>
          <p:nvSpPr>
            <p:cNvPr id="97321" name="Text Box 21"/>
            <p:cNvSpPr txBox="1">
              <a:spLocks noChangeArrowheads="1"/>
            </p:cNvSpPr>
            <p:nvPr/>
          </p:nvSpPr>
          <p:spPr bwMode="auto">
            <a:xfrm>
              <a:off x="4289" y="1315"/>
              <a:ext cx="853" cy="517"/>
            </a:xfrm>
            <a:prstGeom prst="rect">
              <a:avLst/>
            </a:prstGeom>
            <a:noFill/>
            <a:ln w="9525">
              <a:noFill/>
              <a:miter lim="800000"/>
            </a:ln>
          </p:spPr>
          <p:txBody>
            <a:bodyPr wrap="none">
              <a:spAutoFit/>
            </a:bodyPr>
            <a:lstStyle/>
            <a:p>
              <a:r>
                <a:rPr lang="en-US" sz="2000">
                  <a:solidFill>
                    <a:srgbClr val="FF0000"/>
                  </a:solidFill>
                </a:rPr>
                <a:t>Who’s resp </a:t>
              </a:r>
              <a:endParaRPr lang="en-US" sz="2000">
                <a:solidFill>
                  <a:srgbClr val="FF0000"/>
                </a:solidFill>
              </a:endParaRPr>
            </a:p>
            <a:p>
              <a:r>
                <a:rPr lang="en-US" sz="2000">
                  <a:solidFill>
                    <a:srgbClr val="FF0000"/>
                  </a:solidFill>
                </a:rPr>
                <a:t>for key 1110 </a:t>
              </a:r>
              <a:r>
                <a:rPr lang="en-US">
                  <a:solidFill>
                    <a:srgbClr val="FF0000"/>
                  </a:solidFill>
                </a:rPr>
                <a:t>?</a:t>
              </a:r>
              <a:endParaRPr lang="en-US">
                <a:solidFill>
                  <a:srgbClr val="FF0000"/>
                </a:solidFill>
              </a:endParaRPr>
            </a:p>
          </p:txBody>
        </p:sp>
      </p:grpSp>
      <p:sp>
        <p:nvSpPr>
          <p:cNvPr id="226326" name="Line 22"/>
          <p:cNvSpPr>
            <a:spLocks noChangeShapeType="1"/>
          </p:cNvSpPr>
          <p:nvPr/>
        </p:nvSpPr>
        <p:spPr bwMode="auto">
          <a:xfrm>
            <a:off x="6323013" y="3003550"/>
            <a:ext cx="288925" cy="952500"/>
          </a:xfrm>
          <a:prstGeom prst="line">
            <a:avLst/>
          </a:prstGeom>
          <a:noFill/>
          <a:ln w="9525">
            <a:solidFill>
              <a:schemeClr val="accent2"/>
            </a:solidFill>
            <a:round/>
            <a:tailEnd type="triangle" w="med" len="med"/>
          </a:ln>
        </p:spPr>
        <p:txBody>
          <a:bodyPr/>
          <a:lstStyle/>
          <a:p>
            <a:endParaRPr lang="en-US"/>
          </a:p>
        </p:txBody>
      </p:sp>
      <p:sp>
        <p:nvSpPr>
          <p:cNvPr id="226327" name="Line 23"/>
          <p:cNvSpPr>
            <a:spLocks noChangeShapeType="1"/>
          </p:cNvSpPr>
          <p:nvPr/>
        </p:nvSpPr>
        <p:spPr bwMode="auto">
          <a:xfrm flipH="1">
            <a:off x="6303963" y="4164013"/>
            <a:ext cx="301625" cy="795337"/>
          </a:xfrm>
          <a:prstGeom prst="line">
            <a:avLst/>
          </a:prstGeom>
          <a:noFill/>
          <a:ln w="9525">
            <a:solidFill>
              <a:schemeClr val="accent2"/>
            </a:solidFill>
            <a:round/>
            <a:tailEnd type="triangle" w="med" len="med"/>
          </a:ln>
        </p:spPr>
        <p:txBody>
          <a:bodyPr/>
          <a:lstStyle/>
          <a:p>
            <a:endParaRPr lang="en-US"/>
          </a:p>
        </p:txBody>
      </p:sp>
      <p:sp>
        <p:nvSpPr>
          <p:cNvPr id="226328" name="Line 24"/>
          <p:cNvSpPr>
            <a:spLocks noChangeShapeType="1"/>
          </p:cNvSpPr>
          <p:nvPr/>
        </p:nvSpPr>
        <p:spPr bwMode="auto">
          <a:xfrm flipH="1">
            <a:off x="4864100" y="5100638"/>
            <a:ext cx="1282700" cy="669925"/>
          </a:xfrm>
          <a:prstGeom prst="line">
            <a:avLst/>
          </a:prstGeom>
          <a:noFill/>
          <a:ln w="9525">
            <a:solidFill>
              <a:schemeClr val="accent2"/>
            </a:solidFill>
            <a:round/>
            <a:tailEnd type="triangle" w="med" len="med"/>
          </a:ln>
        </p:spPr>
        <p:txBody>
          <a:bodyPr/>
          <a:lstStyle/>
          <a:p>
            <a:endParaRPr lang="en-US"/>
          </a:p>
        </p:txBody>
      </p:sp>
      <p:sp>
        <p:nvSpPr>
          <p:cNvPr id="226329" name="Line 25"/>
          <p:cNvSpPr>
            <a:spLocks noChangeShapeType="1"/>
          </p:cNvSpPr>
          <p:nvPr/>
        </p:nvSpPr>
        <p:spPr bwMode="auto">
          <a:xfrm flipH="1" flipV="1">
            <a:off x="3856038" y="5521325"/>
            <a:ext cx="812800" cy="265113"/>
          </a:xfrm>
          <a:prstGeom prst="line">
            <a:avLst/>
          </a:prstGeom>
          <a:noFill/>
          <a:ln w="9525">
            <a:solidFill>
              <a:schemeClr val="accent2"/>
            </a:solidFill>
            <a:round/>
            <a:tailEnd type="triangle" w="med" len="med"/>
          </a:ln>
        </p:spPr>
        <p:txBody>
          <a:bodyPr/>
          <a:lstStyle/>
          <a:p>
            <a:endParaRPr lang="en-US"/>
          </a:p>
        </p:txBody>
      </p:sp>
      <p:sp>
        <p:nvSpPr>
          <p:cNvPr id="226330" name="Line 26"/>
          <p:cNvSpPr>
            <a:spLocks noChangeShapeType="1"/>
          </p:cNvSpPr>
          <p:nvPr/>
        </p:nvSpPr>
        <p:spPr bwMode="auto">
          <a:xfrm flipH="1" flipV="1">
            <a:off x="3109913" y="4794250"/>
            <a:ext cx="552450" cy="620713"/>
          </a:xfrm>
          <a:prstGeom prst="line">
            <a:avLst/>
          </a:prstGeom>
          <a:noFill/>
          <a:ln w="9525">
            <a:solidFill>
              <a:schemeClr val="accent2"/>
            </a:solidFill>
            <a:round/>
            <a:tailEnd type="triangle" w="med" len="med"/>
          </a:ln>
        </p:spPr>
        <p:txBody>
          <a:bodyPr/>
          <a:lstStyle/>
          <a:p>
            <a:endParaRPr lang="en-US"/>
          </a:p>
        </p:txBody>
      </p:sp>
      <p:sp>
        <p:nvSpPr>
          <p:cNvPr id="226331" name="Line 27"/>
          <p:cNvSpPr>
            <a:spLocks noChangeShapeType="1"/>
          </p:cNvSpPr>
          <p:nvPr/>
        </p:nvSpPr>
        <p:spPr bwMode="auto">
          <a:xfrm flipH="1" flipV="1">
            <a:off x="2960688" y="3422650"/>
            <a:ext cx="52387" cy="1198563"/>
          </a:xfrm>
          <a:prstGeom prst="line">
            <a:avLst/>
          </a:prstGeom>
          <a:noFill/>
          <a:ln w="9525">
            <a:solidFill>
              <a:schemeClr val="accent2"/>
            </a:solidFill>
            <a:round/>
            <a:tailEnd type="triangle" w="med" len="med"/>
          </a:ln>
        </p:spPr>
        <p:txBody>
          <a:bodyPr/>
          <a:lstStyle/>
          <a:p>
            <a:endParaRPr lang="en-US"/>
          </a:p>
        </p:txBody>
      </p:sp>
      <p:sp>
        <p:nvSpPr>
          <p:cNvPr id="97306" name="Oval 28"/>
          <p:cNvSpPr>
            <a:spLocks noChangeArrowheads="1"/>
          </p:cNvSpPr>
          <p:nvPr/>
        </p:nvSpPr>
        <p:spPr bwMode="auto">
          <a:xfrm>
            <a:off x="4845050" y="2005013"/>
            <a:ext cx="125413" cy="134937"/>
          </a:xfrm>
          <a:prstGeom prst="ellipse">
            <a:avLst/>
          </a:prstGeom>
          <a:solidFill>
            <a:schemeClr val="accent1"/>
          </a:solidFill>
          <a:ln w="9525">
            <a:solidFill>
              <a:schemeClr val="tx1"/>
            </a:solidFill>
            <a:round/>
          </a:ln>
        </p:spPr>
        <p:txBody>
          <a:bodyPr wrap="none" anchor="ctr"/>
          <a:lstStyle/>
          <a:p>
            <a:endParaRPr lang="en-US"/>
          </a:p>
        </p:txBody>
      </p:sp>
      <p:grpSp>
        <p:nvGrpSpPr>
          <p:cNvPr id="3" name="Group 29"/>
          <p:cNvGrpSpPr/>
          <p:nvPr/>
        </p:nvGrpSpPr>
        <p:grpSpPr bwMode="auto">
          <a:xfrm>
            <a:off x="2968625" y="2252663"/>
            <a:ext cx="3049588" cy="933450"/>
            <a:chOff x="1870" y="1419"/>
            <a:chExt cx="1921" cy="588"/>
          </a:xfrm>
        </p:grpSpPr>
        <p:grpSp>
          <p:nvGrpSpPr>
            <p:cNvPr id="97316" name="Group 30"/>
            <p:cNvGrpSpPr/>
            <p:nvPr/>
          </p:nvGrpSpPr>
          <p:grpSpPr bwMode="auto">
            <a:xfrm>
              <a:off x="1870" y="1419"/>
              <a:ext cx="1921" cy="588"/>
              <a:chOff x="1870" y="1419"/>
              <a:chExt cx="1921" cy="588"/>
            </a:xfrm>
          </p:grpSpPr>
          <p:sp>
            <p:nvSpPr>
              <p:cNvPr id="97318" name="Line 31"/>
              <p:cNvSpPr>
                <a:spLocks noChangeShapeType="1"/>
              </p:cNvSpPr>
              <p:nvPr/>
            </p:nvSpPr>
            <p:spPr bwMode="auto">
              <a:xfrm flipV="1">
                <a:off x="1941" y="1813"/>
                <a:ext cx="1850" cy="194"/>
              </a:xfrm>
              <a:prstGeom prst="line">
                <a:avLst/>
              </a:prstGeom>
              <a:noFill/>
              <a:ln w="19050">
                <a:solidFill>
                  <a:schemeClr val="accent2"/>
                </a:solidFill>
                <a:round/>
                <a:tailEnd type="triangle" w="med" len="med"/>
              </a:ln>
            </p:spPr>
            <p:txBody>
              <a:bodyPr/>
              <a:lstStyle/>
              <a:p>
                <a:endParaRPr lang="en-US"/>
              </a:p>
            </p:txBody>
          </p:sp>
          <p:sp>
            <p:nvSpPr>
              <p:cNvPr id="97319" name="AutoShape 32"/>
              <p:cNvSpPr>
                <a:spLocks noChangeArrowheads="1"/>
              </p:cNvSpPr>
              <p:nvPr/>
            </p:nvSpPr>
            <p:spPr bwMode="auto">
              <a:xfrm>
                <a:off x="1870" y="1419"/>
                <a:ext cx="691" cy="384"/>
              </a:xfrm>
              <a:prstGeom prst="wedgeRoundRectCallout">
                <a:avLst>
                  <a:gd name="adj1" fmla="val 17440"/>
                  <a:gd name="adj2" fmla="val 87759"/>
                  <a:gd name="adj3" fmla="val 16667"/>
                </a:avLst>
              </a:prstGeom>
              <a:solidFill>
                <a:schemeClr val="bg1"/>
              </a:solidFill>
              <a:ln w="9525">
                <a:solidFill>
                  <a:schemeClr val="tx1"/>
                </a:solidFill>
                <a:miter lim="800000"/>
              </a:ln>
            </p:spPr>
            <p:txBody>
              <a:bodyPr/>
              <a:lstStyle/>
              <a:p>
                <a:pPr algn="ctr"/>
                <a:endParaRPr lang="en-US">
                  <a:latin typeface="Times New Roman" panose="02020603050405020304" pitchFamily="18" charset="0"/>
                </a:endParaRPr>
              </a:p>
            </p:txBody>
          </p:sp>
        </p:grpSp>
        <p:sp>
          <p:nvSpPr>
            <p:cNvPr id="97317" name="Text Box 33"/>
            <p:cNvSpPr txBox="1">
              <a:spLocks noChangeArrowheads="1"/>
            </p:cNvSpPr>
            <p:nvPr/>
          </p:nvSpPr>
          <p:spPr bwMode="auto">
            <a:xfrm>
              <a:off x="1908" y="1511"/>
              <a:ext cx="817" cy="212"/>
            </a:xfrm>
            <a:prstGeom prst="rect">
              <a:avLst/>
            </a:prstGeom>
            <a:noFill/>
            <a:ln w="9525">
              <a:noFill/>
              <a:miter lim="800000"/>
            </a:ln>
          </p:spPr>
          <p:txBody>
            <a:bodyPr>
              <a:spAutoFit/>
            </a:bodyPr>
            <a:lstStyle/>
            <a:p>
              <a:r>
                <a:rPr lang="en-US" sz="1600">
                  <a:solidFill>
                    <a:srgbClr val="FF0000"/>
                  </a:solidFill>
                </a:rPr>
                <a:t>I am</a:t>
              </a:r>
              <a:endParaRPr lang="en-US" sz="1600">
                <a:solidFill>
                  <a:srgbClr val="FF0000"/>
                </a:solidFill>
              </a:endParaRPr>
            </a:p>
          </p:txBody>
        </p:sp>
      </p:grpSp>
      <p:sp>
        <p:nvSpPr>
          <p:cNvPr id="226338" name="Text Box 34"/>
          <p:cNvSpPr txBox="1">
            <a:spLocks noChangeArrowheads="1"/>
          </p:cNvSpPr>
          <p:nvPr/>
        </p:nvSpPr>
        <p:spPr bwMode="auto">
          <a:xfrm>
            <a:off x="265113" y="1728788"/>
            <a:ext cx="2093912" cy="1323975"/>
          </a:xfrm>
          <a:prstGeom prst="rect">
            <a:avLst/>
          </a:prstGeom>
          <a:noFill/>
          <a:ln w="9525">
            <a:noFill/>
            <a:miter lim="800000"/>
          </a:ln>
        </p:spPr>
        <p:txBody>
          <a:bodyPr wrap="none">
            <a:spAutoFit/>
          </a:bodyPr>
          <a:lstStyle/>
          <a:p>
            <a:r>
              <a:rPr lang="en-US" sz="2000">
                <a:solidFill>
                  <a:srgbClr val="FF0000"/>
                </a:solidFill>
              </a:rPr>
              <a:t>O(N) messages</a:t>
            </a:r>
            <a:endParaRPr lang="en-US" sz="2000">
              <a:solidFill>
                <a:srgbClr val="FF0000"/>
              </a:solidFill>
            </a:endParaRPr>
          </a:p>
          <a:p>
            <a:r>
              <a:rPr lang="en-US" sz="2000">
                <a:solidFill>
                  <a:srgbClr val="FF0000"/>
                </a:solidFill>
              </a:rPr>
              <a:t>on avg to resolve</a:t>
            </a:r>
            <a:endParaRPr lang="en-US" sz="2000">
              <a:solidFill>
                <a:srgbClr val="FF0000"/>
              </a:solidFill>
            </a:endParaRPr>
          </a:p>
          <a:p>
            <a:r>
              <a:rPr lang="en-US" sz="2000">
                <a:solidFill>
                  <a:srgbClr val="FF0000"/>
                </a:solidFill>
              </a:rPr>
              <a:t>query, when there</a:t>
            </a:r>
            <a:endParaRPr lang="en-US" sz="2000">
              <a:solidFill>
                <a:srgbClr val="FF0000"/>
              </a:solidFill>
            </a:endParaRPr>
          </a:p>
          <a:p>
            <a:r>
              <a:rPr lang="en-US" sz="2000">
                <a:solidFill>
                  <a:srgbClr val="FF0000"/>
                </a:solidFill>
              </a:rPr>
              <a:t>are N peers</a:t>
            </a:r>
            <a:endParaRPr lang="en-US" sz="2000">
              <a:solidFill>
                <a:srgbClr val="FF0000"/>
              </a:solidFill>
            </a:endParaRPr>
          </a:p>
        </p:txBody>
      </p:sp>
      <p:sp>
        <p:nvSpPr>
          <p:cNvPr id="226340" name="Text Box 36"/>
          <p:cNvSpPr txBox="1">
            <a:spLocks noChangeArrowheads="1"/>
          </p:cNvSpPr>
          <p:nvPr/>
        </p:nvSpPr>
        <p:spPr bwMode="auto">
          <a:xfrm>
            <a:off x="5943600" y="3429000"/>
            <a:ext cx="520700" cy="274638"/>
          </a:xfrm>
          <a:prstGeom prst="rect">
            <a:avLst/>
          </a:prstGeom>
          <a:noFill/>
          <a:ln w="9525">
            <a:noFill/>
            <a:miter lim="800000"/>
          </a:ln>
        </p:spPr>
        <p:txBody>
          <a:bodyPr wrap="none">
            <a:spAutoFit/>
          </a:bodyPr>
          <a:lstStyle/>
          <a:p>
            <a:r>
              <a:rPr lang="en-US" sz="1200">
                <a:solidFill>
                  <a:schemeClr val="accent2"/>
                </a:solidFill>
                <a:latin typeface="Arial" panose="020B0604020202020204" pitchFamily="34" charset="0"/>
              </a:rPr>
              <a:t>1110</a:t>
            </a:r>
            <a:endParaRPr lang="en-US" sz="1200">
              <a:solidFill>
                <a:schemeClr val="accent2"/>
              </a:solidFill>
              <a:latin typeface="Arial" panose="020B0604020202020204" pitchFamily="34" charset="0"/>
            </a:endParaRPr>
          </a:p>
        </p:txBody>
      </p:sp>
      <p:sp>
        <p:nvSpPr>
          <p:cNvPr id="226341" name="Text Box 37"/>
          <p:cNvSpPr txBox="1">
            <a:spLocks noChangeArrowheads="1"/>
          </p:cNvSpPr>
          <p:nvPr/>
        </p:nvSpPr>
        <p:spPr bwMode="auto">
          <a:xfrm>
            <a:off x="5943600" y="4343400"/>
            <a:ext cx="520700" cy="274638"/>
          </a:xfrm>
          <a:prstGeom prst="rect">
            <a:avLst/>
          </a:prstGeom>
          <a:noFill/>
          <a:ln w="9525">
            <a:noFill/>
            <a:miter lim="800000"/>
          </a:ln>
        </p:spPr>
        <p:txBody>
          <a:bodyPr wrap="none">
            <a:spAutoFit/>
          </a:bodyPr>
          <a:lstStyle/>
          <a:p>
            <a:r>
              <a:rPr lang="en-US" sz="1200">
                <a:solidFill>
                  <a:schemeClr val="accent2"/>
                </a:solidFill>
                <a:latin typeface="Arial" panose="020B0604020202020204" pitchFamily="34" charset="0"/>
              </a:rPr>
              <a:t>1110</a:t>
            </a:r>
            <a:endParaRPr lang="en-US" sz="1200">
              <a:solidFill>
                <a:schemeClr val="accent2"/>
              </a:solidFill>
              <a:latin typeface="Arial" panose="020B0604020202020204" pitchFamily="34" charset="0"/>
            </a:endParaRPr>
          </a:p>
        </p:txBody>
      </p:sp>
      <p:sp>
        <p:nvSpPr>
          <p:cNvPr id="226342" name="Text Box 38"/>
          <p:cNvSpPr txBox="1">
            <a:spLocks noChangeArrowheads="1"/>
          </p:cNvSpPr>
          <p:nvPr/>
        </p:nvSpPr>
        <p:spPr bwMode="auto">
          <a:xfrm>
            <a:off x="5181600" y="5105400"/>
            <a:ext cx="520700" cy="274638"/>
          </a:xfrm>
          <a:prstGeom prst="rect">
            <a:avLst/>
          </a:prstGeom>
          <a:noFill/>
          <a:ln w="9525">
            <a:noFill/>
            <a:miter lim="800000"/>
          </a:ln>
        </p:spPr>
        <p:txBody>
          <a:bodyPr wrap="none">
            <a:spAutoFit/>
          </a:bodyPr>
          <a:lstStyle/>
          <a:p>
            <a:r>
              <a:rPr lang="en-US" sz="1200">
                <a:solidFill>
                  <a:schemeClr val="accent2"/>
                </a:solidFill>
                <a:latin typeface="Arial" panose="020B0604020202020204" pitchFamily="34" charset="0"/>
              </a:rPr>
              <a:t>1110</a:t>
            </a:r>
            <a:endParaRPr lang="en-US" sz="1200">
              <a:solidFill>
                <a:schemeClr val="accent2"/>
              </a:solidFill>
              <a:latin typeface="Arial" panose="020B0604020202020204" pitchFamily="34" charset="0"/>
            </a:endParaRPr>
          </a:p>
        </p:txBody>
      </p:sp>
      <p:sp>
        <p:nvSpPr>
          <p:cNvPr id="226343" name="Text Box 39"/>
          <p:cNvSpPr txBox="1">
            <a:spLocks noChangeArrowheads="1"/>
          </p:cNvSpPr>
          <p:nvPr/>
        </p:nvSpPr>
        <p:spPr bwMode="auto">
          <a:xfrm>
            <a:off x="4114800" y="5410200"/>
            <a:ext cx="520700" cy="274638"/>
          </a:xfrm>
          <a:prstGeom prst="rect">
            <a:avLst/>
          </a:prstGeom>
          <a:noFill/>
          <a:ln w="9525">
            <a:noFill/>
            <a:miter lim="800000"/>
          </a:ln>
        </p:spPr>
        <p:txBody>
          <a:bodyPr wrap="none">
            <a:spAutoFit/>
          </a:bodyPr>
          <a:lstStyle/>
          <a:p>
            <a:r>
              <a:rPr lang="en-US" sz="1200">
                <a:solidFill>
                  <a:schemeClr val="accent2"/>
                </a:solidFill>
                <a:latin typeface="Arial" panose="020B0604020202020204" pitchFamily="34" charset="0"/>
              </a:rPr>
              <a:t>1110</a:t>
            </a:r>
            <a:endParaRPr lang="en-US" sz="1200">
              <a:solidFill>
                <a:schemeClr val="accent2"/>
              </a:solidFill>
              <a:latin typeface="Arial" panose="020B0604020202020204" pitchFamily="34" charset="0"/>
            </a:endParaRPr>
          </a:p>
        </p:txBody>
      </p:sp>
      <p:sp>
        <p:nvSpPr>
          <p:cNvPr id="226344" name="Text Box 40"/>
          <p:cNvSpPr txBox="1">
            <a:spLocks noChangeArrowheads="1"/>
          </p:cNvSpPr>
          <p:nvPr/>
        </p:nvSpPr>
        <p:spPr bwMode="auto">
          <a:xfrm>
            <a:off x="3352800" y="4953000"/>
            <a:ext cx="520700" cy="274638"/>
          </a:xfrm>
          <a:prstGeom prst="rect">
            <a:avLst/>
          </a:prstGeom>
          <a:noFill/>
          <a:ln w="9525">
            <a:noFill/>
            <a:miter lim="800000"/>
          </a:ln>
        </p:spPr>
        <p:txBody>
          <a:bodyPr wrap="none">
            <a:spAutoFit/>
          </a:bodyPr>
          <a:lstStyle/>
          <a:p>
            <a:r>
              <a:rPr lang="en-US" sz="1200">
                <a:solidFill>
                  <a:schemeClr val="accent2"/>
                </a:solidFill>
                <a:latin typeface="Arial" panose="020B0604020202020204" pitchFamily="34" charset="0"/>
              </a:rPr>
              <a:t>1110</a:t>
            </a:r>
            <a:endParaRPr lang="en-US" sz="1200">
              <a:solidFill>
                <a:schemeClr val="accent2"/>
              </a:solidFill>
              <a:latin typeface="Arial" panose="020B0604020202020204" pitchFamily="34" charset="0"/>
            </a:endParaRPr>
          </a:p>
        </p:txBody>
      </p:sp>
      <p:sp>
        <p:nvSpPr>
          <p:cNvPr id="226345" name="Text Box 41"/>
          <p:cNvSpPr txBox="1">
            <a:spLocks noChangeArrowheads="1"/>
          </p:cNvSpPr>
          <p:nvPr/>
        </p:nvSpPr>
        <p:spPr bwMode="auto">
          <a:xfrm>
            <a:off x="2971800" y="3962400"/>
            <a:ext cx="520700" cy="274638"/>
          </a:xfrm>
          <a:prstGeom prst="rect">
            <a:avLst/>
          </a:prstGeom>
          <a:noFill/>
          <a:ln w="9525">
            <a:noFill/>
            <a:miter lim="800000"/>
          </a:ln>
        </p:spPr>
        <p:txBody>
          <a:bodyPr wrap="none">
            <a:spAutoFit/>
          </a:bodyPr>
          <a:lstStyle/>
          <a:p>
            <a:r>
              <a:rPr lang="en-US" sz="1200">
                <a:solidFill>
                  <a:schemeClr val="accent2"/>
                </a:solidFill>
                <a:latin typeface="Arial" panose="020B0604020202020204" pitchFamily="34" charset="0"/>
              </a:rPr>
              <a:t>1110</a:t>
            </a:r>
            <a:endParaRPr lang="en-US" sz="1200">
              <a:solidFill>
                <a:schemeClr val="accent2"/>
              </a:solidFill>
              <a:latin typeface="Arial" panose="020B0604020202020204" pitchFamily="34" charset="0"/>
            </a:endParaRPr>
          </a:p>
        </p:txBody>
      </p:sp>
      <p:sp>
        <p:nvSpPr>
          <p:cNvPr id="97315" name="Text Box 42"/>
          <p:cNvSpPr txBox="1">
            <a:spLocks noChangeArrowheads="1"/>
          </p:cNvSpPr>
          <p:nvPr/>
        </p:nvSpPr>
        <p:spPr bwMode="auto">
          <a:xfrm>
            <a:off x="365125" y="5375275"/>
            <a:ext cx="1912938" cy="1016000"/>
          </a:xfrm>
          <a:prstGeom prst="rect">
            <a:avLst/>
          </a:prstGeom>
          <a:noFill/>
          <a:ln w="9525">
            <a:solidFill>
              <a:srgbClr val="FF0000"/>
            </a:solidFill>
            <a:miter lim="800000"/>
          </a:ln>
        </p:spPr>
        <p:txBody>
          <a:bodyPr wrap="none">
            <a:spAutoFit/>
          </a:bodyPr>
          <a:lstStyle/>
          <a:p>
            <a:r>
              <a:rPr lang="en-US" sz="2000">
                <a:solidFill>
                  <a:srgbClr val="FF3300"/>
                </a:solidFill>
              </a:rPr>
              <a:t>Define </a:t>
            </a:r>
            <a:r>
              <a:rPr lang="en-US" sz="2000" u="sng">
                <a:solidFill>
                  <a:srgbClr val="FF3300"/>
                </a:solidFill>
              </a:rPr>
              <a:t>closest</a:t>
            </a:r>
            <a:br>
              <a:rPr lang="en-US" sz="2000">
                <a:solidFill>
                  <a:srgbClr val="FF3300"/>
                </a:solidFill>
              </a:rPr>
            </a:br>
            <a:r>
              <a:rPr lang="en-US" sz="2000">
                <a:solidFill>
                  <a:srgbClr val="FF3300"/>
                </a:solidFill>
              </a:rPr>
              <a:t>as closest</a:t>
            </a:r>
            <a:br>
              <a:rPr lang="en-US" sz="2000">
                <a:solidFill>
                  <a:srgbClr val="FF3300"/>
                </a:solidFill>
              </a:rPr>
            </a:br>
            <a:r>
              <a:rPr lang="en-US" sz="2000">
                <a:solidFill>
                  <a:srgbClr val="FF3300"/>
                </a:solidFill>
              </a:rPr>
              <a:t>successor</a:t>
            </a:r>
            <a:endParaRPr lang="en-US" sz="2000">
              <a:solidFill>
                <a:srgbClr val="FF33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326"/>
                                        </p:tgtEl>
                                        <p:attrNameLst>
                                          <p:attrName>style.visibility</p:attrName>
                                        </p:attrNameLst>
                                      </p:cBhvr>
                                      <p:to>
                                        <p:strVal val="visible"/>
                                      </p:to>
                                    </p:set>
                                  </p:childTnLst>
                                </p:cTn>
                              </p:par>
                              <p:par>
                                <p:cTn id="11" presetID="3" presetClass="entr" presetSubtype="10" fill="hold" grpId="0" nodeType="withEffect">
                                  <p:stCondLst>
                                    <p:cond delay="0"/>
                                  </p:stCondLst>
                                  <p:childTnLst>
                                    <p:set>
                                      <p:cBhvr>
                                        <p:cTn id="12" dur="1" fill="hold">
                                          <p:stCondLst>
                                            <p:cond delay="0"/>
                                          </p:stCondLst>
                                        </p:cTn>
                                        <p:tgtEl>
                                          <p:spTgt spid="226340"/>
                                        </p:tgtEl>
                                        <p:attrNameLst>
                                          <p:attrName>style.visibility</p:attrName>
                                        </p:attrNameLst>
                                      </p:cBhvr>
                                      <p:to>
                                        <p:strVal val="visible"/>
                                      </p:to>
                                    </p:set>
                                    <p:animEffect transition="in" filter="blinds(horizontal)">
                                      <p:cBhvr>
                                        <p:cTn id="13" dur="500"/>
                                        <p:tgtEl>
                                          <p:spTgt spid="22634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26327"/>
                                        </p:tgtEl>
                                        <p:attrNameLst>
                                          <p:attrName>style.visibility</p:attrName>
                                        </p:attrNameLst>
                                      </p:cBhvr>
                                      <p:to>
                                        <p:strVal val="visible"/>
                                      </p:to>
                                    </p:set>
                                  </p:childTnLst>
                                </p:cTn>
                              </p:par>
                              <p:par>
                                <p:cTn id="18" presetID="3" presetClass="entr" presetSubtype="10" fill="hold" grpId="0" nodeType="withEffect">
                                  <p:stCondLst>
                                    <p:cond delay="0"/>
                                  </p:stCondLst>
                                  <p:childTnLst>
                                    <p:set>
                                      <p:cBhvr>
                                        <p:cTn id="19" dur="1" fill="hold">
                                          <p:stCondLst>
                                            <p:cond delay="0"/>
                                          </p:stCondLst>
                                        </p:cTn>
                                        <p:tgtEl>
                                          <p:spTgt spid="226341"/>
                                        </p:tgtEl>
                                        <p:attrNameLst>
                                          <p:attrName>style.visibility</p:attrName>
                                        </p:attrNameLst>
                                      </p:cBhvr>
                                      <p:to>
                                        <p:strVal val="visible"/>
                                      </p:to>
                                    </p:set>
                                    <p:animEffect transition="in" filter="blinds(horizontal)">
                                      <p:cBhvr>
                                        <p:cTn id="20" dur="500"/>
                                        <p:tgtEl>
                                          <p:spTgt spid="22634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6328"/>
                                        </p:tgtEl>
                                        <p:attrNameLst>
                                          <p:attrName>style.visibility</p:attrName>
                                        </p:attrNameLst>
                                      </p:cBhvr>
                                      <p:to>
                                        <p:strVal val="visible"/>
                                      </p:to>
                                    </p:set>
                                  </p:childTnLst>
                                </p:cTn>
                              </p:par>
                              <p:par>
                                <p:cTn id="25" presetID="3" presetClass="entr" presetSubtype="10" fill="hold" grpId="0" nodeType="withEffect">
                                  <p:stCondLst>
                                    <p:cond delay="0"/>
                                  </p:stCondLst>
                                  <p:childTnLst>
                                    <p:set>
                                      <p:cBhvr>
                                        <p:cTn id="26" dur="1" fill="hold">
                                          <p:stCondLst>
                                            <p:cond delay="0"/>
                                          </p:stCondLst>
                                        </p:cTn>
                                        <p:tgtEl>
                                          <p:spTgt spid="226342"/>
                                        </p:tgtEl>
                                        <p:attrNameLst>
                                          <p:attrName>style.visibility</p:attrName>
                                        </p:attrNameLst>
                                      </p:cBhvr>
                                      <p:to>
                                        <p:strVal val="visible"/>
                                      </p:to>
                                    </p:set>
                                    <p:animEffect transition="in" filter="blinds(horizontal)">
                                      <p:cBhvr>
                                        <p:cTn id="27" dur="500"/>
                                        <p:tgtEl>
                                          <p:spTgt spid="22634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26329"/>
                                        </p:tgtEl>
                                        <p:attrNameLst>
                                          <p:attrName>style.visibility</p:attrName>
                                        </p:attrNameLst>
                                      </p:cBhvr>
                                      <p:to>
                                        <p:strVal val="visible"/>
                                      </p:to>
                                    </p:set>
                                  </p:childTnLst>
                                </p:cTn>
                              </p:par>
                              <p:par>
                                <p:cTn id="32" presetID="3" presetClass="entr" presetSubtype="10" fill="hold" grpId="0" nodeType="withEffect">
                                  <p:stCondLst>
                                    <p:cond delay="0"/>
                                  </p:stCondLst>
                                  <p:childTnLst>
                                    <p:set>
                                      <p:cBhvr>
                                        <p:cTn id="33" dur="1" fill="hold">
                                          <p:stCondLst>
                                            <p:cond delay="0"/>
                                          </p:stCondLst>
                                        </p:cTn>
                                        <p:tgtEl>
                                          <p:spTgt spid="226343"/>
                                        </p:tgtEl>
                                        <p:attrNameLst>
                                          <p:attrName>style.visibility</p:attrName>
                                        </p:attrNameLst>
                                      </p:cBhvr>
                                      <p:to>
                                        <p:strVal val="visible"/>
                                      </p:to>
                                    </p:set>
                                    <p:animEffect transition="in" filter="blinds(horizontal)">
                                      <p:cBhvr>
                                        <p:cTn id="34" dur="500"/>
                                        <p:tgtEl>
                                          <p:spTgt spid="226343"/>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6330"/>
                                        </p:tgtEl>
                                        <p:attrNameLst>
                                          <p:attrName>style.visibility</p:attrName>
                                        </p:attrNameLst>
                                      </p:cBhvr>
                                      <p:to>
                                        <p:strVal val="visible"/>
                                      </p:to>
                                    </p:set>
                                  </p:childTnLst>
                                </p:cTn>
                              </p:par>
                              <p:par>
                                <p:cTn id="39" presetID="3" presetClass="entr" presetSubtype="10" fill="hold" grpId="0" nodeType="withEffect">
                                  <p:stCondLst>
                                    <p:cond delay="0"/>
                                  </p:stCondLst>
                                  <p:childTnLst>
                                    <p:set>
                                      <p:cBhvr>
                                        <p:cTn id="40" dur="1" fill="hold">
                                          <p:stCondLst>
                                            <p:cond delay="0"/>
                                          </p:stCondLst>
                                        </p:cTn>
                                        <p:tgtEl>
                                          <p:spTgt spid="226344"/>
                                        </p:tgtEl>
                                        <p:attrNameLst>
                                          <p:attrName>style.visibility</p:attrName>
                                        </p:attrNameLst>
                                      </p:cBhvr>
                                      <p:to>
                                        <p:strVal val="visible"/>
                                      </p:to>
                                    </p:set>
                                    <p:animEffect transition="in" filter="blinds(horizontal)">
                                      <p:cBhvr>
                                        <p:cTn id="41" dur="500"/>
                                        <p:tgtEl>
                                          <p:spTgt spid="226344"/>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26331"/>
                                        </p:tgtEl>
                                        <p:attrNameLst>
                                          <p:attrName>style.visibility</p:attrName>
                                        </p:attrNameLst>
                                      </p:cBhvr>
                                      <p:to>
                                        <p:strVal val="visible"/>
                                      </p:to>
                                    </p:set>
                                  </p:childTnLst>
                                </p:cTn>
                              </p:par>
                              <p:par>
                                <p:cTn id="46" presetID="3" presetClass="entr" presetSubtype="10" fill="hold" grpId="0" nodeType="withEffect">
                                  <p:stCondLst>
                                    <p:cond delay="0"/>
                                  </p:stCondLst>
                                  <p:childTnLst>
                                    <p:set>
                                      <p:cBhvr>
                                        <p:cTn id="47" dur="1" fill="hold">
                                          <p:stCondLst>
                                            <p:cond delay="0"/>
                                          </p:stCondLst>
                                        </p:cTn>
                                        <p:tgtEl>
                                          <p:spTgt spid="226345"/>
                                        </p:tgtEl>
                                        <p:attrNameLst>
                                          <p:attrName>style.visibility</p:attrName>
                                        </p:attrNameLst>
                                      </p:cBhvr>
                                      <p:to>
                                        <p:strVal val="visible"/>
                                      </p:to>
                                    </p:set>
                                    <p:animEffect transition="in" filter="blinds(horizontal)">
                                      <p:cBhvr>
                                        <p:cTn id="48" dur="500"/>
                                        <p:tgtEl>
                                          <p:spTgt spid="22634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6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26" grpId="0" animBg="1"/>
      <p:bldP spid="226327" grpId="0" animBg="1"/>
      <p:bldP spid="226328" grpId="0" animBg="1"/>
      <p:bldP spid="226329" grpId="0" animBg="1"/>
      <p:bldP spid="226330" grpId="0" animBg="1"/>
      <p:bldP spid="226331" grpId="0" animBg="1"/>
      <p:bldP spid="226338" grpId="0"/>
      <p:bldP spid="226340" grpId="0"/>
      <p:bldP spid="226341" grpId="0"/>
      <p:bldP spid="226342" grpId="0"/>
      <p:bldP spid="226343" grpId="0"/>
      <p:bldP spid="226344" grpId="0"/>
      <p:bldP spid="226345" grpId="0"/>
    </p:bld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Title 67"/>
          <p:cNvSpPr>
            <a:spLocks noGrp="1"/>
          </p:cNvSpPr>
          <p:nvPr>
            <p:ph type="title"/>
          </p:nvPr>
        </p:nvSpPr>
        <p:spPr>
          <a:xfrm>
            <a:off x="254000" y="0"/>
            <a:ext cx="8229600" cy="1143000"/>
          </a:xfrm>
        </p:spPr>
        <p:txBody>
          <a:bodyPr/>
          <a:lstStyle/>
          <a:p>
            <a:r>
              <a:rPr lang="en-US"/>
              <a:t>Circular DHT with Shortcuts</a:t>
            </a:r>
            <a:endParaRPr lang="en-US"/>
          </a:p>
        </p:txBody>
      </p:sp>
      <p:sp>
        <p:nvSpPr>
          <p:cNvPr id="38" name="Content Placeholder 37"/>
          <p:cNvSpPr>
            <a:spLocks noGrp="1"/>
          </p:cNvSpPr>
          <p:nvPr>
            <p:ph idx="1"/>
          </p:nvPr>
        </p:nvSpPr>
        <p:spPr>
          <a:xfrm>
            <a:off x="228600" y="4572000"/>
            <a:ext cx="8229600" cy="1676400"/>
          </a:xfrm>
        </p:spPr>
        <p:txBody>
          <a:bodyPr>
            <a:normAutofit fontScale="77500" lnSpcReduction="20000"/>
          </a:bodyPr>
          <a:lstStyle/>
          <a:p>
            <a:pPr>
              <a:defRPr/>
            </a:pPr>
            <a:r>
              <a:rPr lang="en-US" dirty="0"/>
              <a:t>Each peer keeps track of IP addresses of predecessor, successor, short cuts.</a:t>
            </a:r>
            <a:endParaRPr lang="en-US" dirty="0"/>
          </a:p>
          <a:p>
            <a:pPr>
              <a:defRPr/>
            </a:pPr>
            <a:r>
              <a:rPr lang="en-US" dirty="0"/>
              <a:t>Reduced from 6 to 2 messages.</a:t>
            </a:r>
            <a:endParaRPr lang="en-US" dirty="0"/>
          </a:p>
          <a:p>
            <a:pPr>
              <a:defRPr/>
            </a:pPr>
            <a:r>
              <a:rPr lang="en-US" dirty="0"/>
              <a:t>Possible to design shortcuts so O(log N) neighbors, O(log N) messages in query</a:t>
            </a:r>
            <a:endParaRPr lang="en-US" dirty="0"/>
          </a:p>
        </p:txBody>
      </p:sp>
      <p:grpSp>
        <p:nvGrpSpPr>
          <p:cNvPr id="98308" name="Group 66"/>
          <p:cNvGrpSpPr/>
          <p:nvPr/>
        </p:nvGrpSpPr>
        <p:grpSpPr bwMode="auto">
          <a:xfrm>
            <a:off x="2362200" y="914400"/>
            <a:ext cx="3602038" cy="3570288"/>
            <a:chOff x="4953000" y="1676400"/>
            <a:chExt cx="3602330" cy="3569732"/>
          </a:xfrm>
        </p:grpSpPr>
        <p:grpSp>
          <p:nvGrpSpPr>
            <p:cNvPr id="98314" name="Group 43"/>
            <p:cNvGrpSpPr/>
            <p:nvPr/>
          </p:nvGrpSpPr>
          <p:grpSpPr bwMode="auto">
            <a:xfrm>
              <a:off x="4953000" y="1676400"/>
              <a:ext cx="3602330" cy="3569732"/>
              <a:chOff x="1066800" y="1676400"/>
              <a:chExt cx="3602330" cy="3569732"/>
            </a:xfrm>
          </p:grpSpPr>
          <p:sp>
            <p:nvSpPr>
              <p:cNvPr id="98323" name="Oval 3"/>
              <p:cNvSpPr>
                <a:spLocks noChangeArrowheads="1"/>
              </p:cNvSpPr>
              <p:nvPr/>
            </p:nvSpPr>
            <p:spPr bwMode="auto">
              <a:xfrm>
                <a:off x="2794354" y="4791480"/>
                <a:ext cx="96564" cy="98891"/>
              </a:xfrm>
              <a:prstGeom prst="ellipse">
                <a:avLst/>
              </a:prstGeom>
              <a:solidFill>
                <a:schemeClr val="accent1"/>
              </a:solidFill>
              <a:ln w="9525">
                <a:solidFill>
                  <a:schemeClr val="tx1"/>
                </a:solidFill>
                <a:round/>
              </a:ln>
            </p:spPr>
            <p:txBody>
              <a:bodyPr wrap="none" anchor="ctr"/>
              <a:lstStyle/>
              <a:p>
                <a:endParaRPr lang="en-US"/>
              </a:p>
            </p:txBody>
          </p:sp>
          <p:sp>
            <p:nvSpPr>
              <p:cNvPr id="98324" name="Oval 4"/>
              <p:cNvSpPr>
                <a:spLocks noChangeArrowheads="1"/>
              </p:cNvSpPr>
              <p:nvPr/>
            </p:nvSpPr>
            <p:spPr bwMode="auto">
              <a:xfrm>
                <a:off x="1435115" y="2890435"/>
                <a:ext cx="96564" cy="98891"/>
              </a:xfrm>
              <a:prstGeom prst="ellipse">
                <a:avLst/>
              </a:prstGeom>
              <a:solidFill>
                <a:schemeClr val="accent1"/>
              </a:solidFill>
              <a:ln w="9525">
                <a:solidFill>
                  <a:schemeClr val="tx1"/>
                </a:solidFill>
                <a:round/>
              </a:ln>
            </p:spPr>
            <p:txBody>
              <a:bodyPr wrap="none" anchor="ctr"/>
              <a:lstStyle/>
              <a:p>
                <a:endParaRPr lang="en-US"/>
              </a:p>
            </p:txBody>
          </p:sp>
          <p:sp>
            <p:nvSpPr>
              <p:cNvPr id="98325" name="Oval 5"/>
              <p:cNvSpPr>
                <a:spLocks noChangeArrowheads="1"/>
              </p:cNvSpPr>
              <p:nvPr/>
            </p:nvSpPr>
            <p:spPr bwMode="auto">
              <a:xfrm>
                <a:off x="1459562" y="3978242"/>
                <a:ext cx="96564" cy="98892"/>
              </a:xfrm>
              <a:prstGeom prst="ellipse">
                <a:avLst/>
              </a:prstGeom>
              <a:solidFill>
                <a:schemeClr val="accent1"/>
              </a:solidFill>
              <a:ln w="9525">
                <a:solidFill>
                  <a:schemeClr val="tx1"/>
                </a:solidFill>
                <a:round/>
              </a:ln>
            </p:spPr>
            <p:txBody>
              <a:bodyPr wrap="none" anchor="ctr"/>
              <a:lstStyle/>
              <a:p>
                <a:endParaRPr lang="en-US"/>
              </a:p>
            </p:txBody>
          </p:sp>
          <p:sp>
            <p:nvSpPr>
              <p:cNvPr id="98326" name="Oval 6"/>
              <p:cNvSpPr>
                <a:spLocks noChangeArrowheads="1"/>
              </p:cNvSpPr>
              <p:nvPr/>
            </p:nvSpPr>
            <p:spPr bwMode="auto">
              <a:xfrm>
                <a:off x="3989799" y="2585616"/>
                <a:ext cx="96564" cy="98891"/>
              </a:xfrm>
              <a:prstGeom prst="ellipse">
                <a:avLst/>
              </a:prstGeom>
              <a:solidFill>
                <a:schemeClr val="accent1"/>
              </a:solidFill>
              <a:ln w="9525">
                <a:solidFill>
                  <a:schemeClr val="tx1"/>
                </a:solidFill>
                <a:round/>
              </a:ln>
            </p:spPr>
            <p:txBody>
              <a:bodyPr wrap="none" anchor="ctr"/>
              <a:lstStyle/>
              <a:p>
                <a:endParaRPr lang="en-US"/>
              </a:p>
            </p:txBody>
          </p:sp>
          <p:sp>
            <p:nvSpPr>
              <p:cNvPr id="98327" name="Oval 7"/>
              <p:cNvSpPr>
                <a:spLocks noChangeArrowheads="1"/>
              </p:cNvSpPr>
              <p:nvPr/>
            </p:nvSpPr>
            <p:spPr bwMode="auto">
              <a:xfrm>
                <a:off x="4283160" y="3457025"/>
                <a:ext cx="96564" cy="98892"/>
              </a:xfrm>
              <a:prstGeom prst="ellipse">
                <a:avLst/>
              </a:prstGeom>
              <a:solidFill>
                <a:schemeClr val="accent1"/>
              </a:solidFill>
              <a:ln w="9525">
                <a:solidFill>
                  <a:schemeClr val="tx1"/>
                </a:solidFill>
                <a:round/>
              </a:ln>
            </p:spPr>
            <p:txBody>
              <a:bodyPr wrap="none" anchor="ctr"/>
              <a:lstStyle/>
              <a:p>
                <a:endParaRPr lang="en-US"/>
              </a:p>
            </p:txBody>
          </p:sp>
          <p:sp>
            <p:nvSpPr>
              <p:cNvPr id="98328" name="Oval 8"/>
              <p:cNvSpPr>
                <a:spLocks noChangeArrowheads="1"/>
              </p:cNvSpPr>
              <p:nvPr/>
            </p:nvSpPr>
            <p:spPr bwMode="auto">
              <a:xfrm>
                <a:off x="4004467" y="4192313"/>
                <a:ext cx="96564" cy="98892"/>
              </a:xfrm>
              <a:prstGeom prst="ellipse">
                <a:avLst/>
              </a:prstGeom>
              <a:solidFill>
                <a:schemeClr val="accent1"/>
              </a:solidFill>
              <a:ln w="9525">
                <a:solidFill>
                  <a:schemeClr val="tx1"/>
                </a:solidFill>
                <a:round/>
              </a:ln>
            </p:spPr>
            <p:txBody>
              <a:bodyPr wrap="none" anchor="ctr"/>
              <a:lstStyle/>
              <a:p>
                <a:endParaRPr lang="en-US"/>
              </a:p>
            </p:txBody>
          </p:sp>
          <p:sp>
            <p:nvSpPr>
              <p:cNvPr id="98329" name="Oval 9"/>
              <p:cNvSpPr>
                <a:spLocks noChangeArrowheads="1"/>
              </p:cNvSpPr>
              <p:nvPr/>
            </p:nvSpPr>
            <p:spPr bwMode="auto">
              <a:xfrm>
                <a:off x="1991278" y="4548323"/>
                <a:ext cx="96565" cy="98892"/>
              </a:xfrm>
              <a:prstGeom prst="ellipse">
                <a:avLst/>
              </a:prstGeom>
              <a:solidFill>
                <a:schemeClr val="accent1"/>
              </a:solidFill>
              <a:ln w="9525">
                <a:solidFill>
                  <a:schemeClr val="tx1"/>
                </a:solidFill>
                <a:round/>
              </a:ln>
            </p:spPr>
            <p:txBody>
              <a:bodyPr wrap="none" anchor="ctr"/>
              <a:lstStyle/>
              <a:p>
                <a:endParaRPr lang="en-US"/>
              </a:p>
            </p:txBody>
          </p:sp>
          <p:sp>
            <p:nvSpPr>
              <p:cNvPr id="98330" name="Oval 10"/>
              <p:cNvSpPr>
                <a:spLocks noChangeArrowheads="1"/>
              </p:cNvSpPr>
              <p:nvPr/>
            </p:nvSpPr>
            <p:spPr bwMode="auto">
              <a:xfrm>
                <a:off x="1376443" y="2050438"/>
                <a:ext cx="2927496" cy="2793396"/>
              </a:xfrm>
              <a:prstGeom prst="ellipse">
                <a:avLst/>
              </a:prstGeom>
              <a:noFill/>
              <a:ln w="9525">
                <a:solidFill>
                  <a:schemeClr val="tx1"/>
                </a:solidFill>
                <a:round/>
              </a:ln>
            </p:spPr>
            <p:txBody>
              <a:bodyPr wrap="none" anchor="ctr"/>
              <a:lstStyle/>
              <a:p>
                <a:endParaRPr lang="en-US"/>
              </a:p>
            </p:txBody>
          </p:sp>
          <p:sp>
            <p:nvSpPr>
              <p:cNvPr id="98331" name="Text Box 11"/>
              <p:cNvSpPr txBox="1">
                <a:spLocks noChangeArrowheads="1"/>
              </p:cNvSpPr>
              <p:nvPr/>
            </p:nvSpPr>
            <p:spPr bwMode="auto">
              <a:xfrm>
                <a:off x="2895600" y="1676400"/>
                <a:ext cx="288862" cy="369332"/>
              </a:xfrm>
              <a:prstGeom prst="rect">
                <a:avLst/>
              </a:prstGeom>
              <a:noFill/>
              <a:ln w="9525">
                <a:noFill/>
                <a:miter lim="800000"/>
              </a:ln>
            </p:spPr>
            <p:txBody>
              <a:bodyPr wrap="none">
                <a:spAutoFit/>
              </a:bodyPr>
              <a:lstStyle/>
              <a:p>
                <a:r>
                  <a:rPr lang="en-US"/>
                  <a:t>1</a:t>
                </a:r>
                <a:endParaRPr lang="en-US"/>
              </a:p>
            </p:txBody>
          </p:sp>
          <p:sp>
            <p:nvSpPr>
              <p:cNvPr id="98332" name="Rectangle 12"/>
              <p:cNvSpPr>
                <a:spLocks noChangeArrowheads="1"/>
              </p:cNvSpPr>
              <p:nvPr/>
            </p:nvSpPr>
            <p:spPr bwMode="auto">
              <a:xfrm>
                <a:off x="3962400" y="2286000"/>
                <a:ext cx="325730" cy="369332"/>
              </a:xfrm>
              <a:prstGeom prst="rect">
                <a:avLst/>
              </a:prstGeom>
              <a:noFill/>
              <a:ln w="9525">
                <a:noFill/>
                <a:miter lim="800000"/>
              </a:ln>
            </p:spPr>
            <p:txBody>
              <a:bodyPr wrap="none">
                <a:spAutoFit/>
              </a:bodyPr>
              <a:lstStyle/>
              <a:p>
                <a:r>
                  <a:rPr lang="en-US"/>
                  <a:t>3</a:t>
                </a:r>
                <a:endParaRPr lang="en-US"/>
              </a:p>
            </p:txBody>
          </p:sp>
          <p:sp>
            <p:nvSpPr>
              <p:cNvPr id="98333" name="Rectangle 13"/>
              <p:cNvSpPr>
                <a:spLocks noChangeArrowheads="1"/>
              </p:cNvSpPr>
              <p:nvPr/>
            </p:nvSpPr>
            <p:spPr bwMode="auto">
              <a:xfrm>
                <a:off x="4343400" y="3352800"/>
                <a:ext cx="325730" cy="369332"/>
              </a:xfrm>
              <a:prstGeom prst="rect">
                <a:avLst/>
              </a:prstGeom>
              <a:noFill/>
              <a:ln w="9525">
                <a:noFill/>
                <a:miter lim="800000"/>
              </a:ln>
            </p:spPr>
            <p:txBody>
              <a:bodyPr wrap="none">
                <a:spAutoFit/>
              </a:bodyPr>
              <a:lstStyle/>
              <a:p>
                <a:r>
                  <a:rPr lang="en-US"/>
                  <a:t>4</a:t>
                </a:r>
                <a:endParaRPr lang="en-US"/>
              </a:p>
            </p:txBody>
          </p:sp>
          <p:sp>
            <p:nvSpPr>
              <p:cNvPr id="98334" name="Rectangle 14"/>
              <p:cNvSpPr>
                <a:spLocks noChangeArrowheads="1"/>
              </p:cNvSpPr>
              <p:nvPr/>
            </p:nvSpPr>
            <p:spPr bwMode="auto">
              <a:xfrm>
                <a:off x="4114800" y="4114800"/>
                <a:ext cx="325730" cy="369332"/>
              </a:xfrm>
              <a:prstGeom prst="rect">
                <a:avLst/>
              </a:prstGeom>
              <a:noFill/>
              <a:ln w="9525">
                <a:noFill/>
                <a:miter lim="800000"/>
              </a:ln>
            </p:spPr>
            <p:txBody>
              <a:bodyPr wrap="none">
                <a:spAutoFit/>
              </a:bodyPr>
              <a:lstStyle/>
              <a:p>
                <a:r>
                  <a:rPr lang="en-US"/>
                  <a:t>5</a:t>
                </a:r>
                <a:endParaRPr lang="en-US"/>
              </a:p>
            </p:txBody>
          </p:sp>
          <p:sp>
            <p:nvSpPr>
              <p:cNvPr id="98335" name="Rectangle 15"/>
              <p:cNvSpPr>
                <a:spLocks noChangeArrowheads="1"/>
              </p:cNvSpPr>
              <p:nvPr/>
            </p:nvSpPr>
            <p:spPr bwMode="auto">
              <a:xfrm>
                <a:off x="2743200" y="4876800"/>
                <a:ext cx="325730" cy="369332"/>
              </a:xfrm>
              <a:prstGeom prst="rect">
                <a:avLst/>
              </a:prstGeom>
              <a:noFill/>
              <a:ln w="9525">
                <a:noFill/>
                <a:miter lim="800000"/>
              </a:ln>
            </p:spPr>
            <p:txBody>
              <a:bodyPr wrap="none">
                <a:spAutoFit/>
              </a:bodyPr>
              <a:lstStyle/>
              <a:p>
                <a:r>
                  <a:rPr lang="en-US"/>
                  <a:t>8</a:t>
                </a:r>
                <a:endParaRPr lang="en-US"/>
              </a:p>
            </p:txBody>
          </p:sp>
          <p:sp>
            <p:nvSpPr>
              <p:cNvPr id="98336" name="Rectangle 16"/>
              <p:cNvSpPr>
                <a:spLocks noChangeArrowheads="1"/>
              </p:cNvSpPr>
              <p:nvPr/>
            </p:nvSpPr>
            <p:spPr bwMode="auto">
              <a:xfrm>
                <a:off x="1676400" y="4648200"/>
                <a:ext cx="429926" cy="369332"/>
              </a:xfrm>
              <a:prstGeom prst="rect">
                <a:avLst/>
              </a:prstGeom>
              <a:noFill/>
              <a:ln w="9525">
                <a:noFill/>
                <a:miter lim="800000"/>
              </a:ln>
            </p:spPr>
            <p:txBody>
              <a:bodyPr wrap="none">
                <a:spAutoFit/>
              </a:bodyPr>
              <a:lstStyle/>
              <a:p>
                <a:r>
                  <a:rPr lang="en-US"/>
                  <a:t>10</a:t>
                </a:r>
                <a:endParaRPr lang="en-US"/>
              </a:p>
            </p:txBody>
          </p:sp>
          <p:sp>
            <p:nvSpPr>
              <p:cNvPr id="98337" name="Rectangle 17"/>
              <p:cNvSpPr>
                <a:spLocks noChangeArrowheads="1"/>
              </p:cNvSpPr>
              <p:nvPr/>
            </p:nvSpPr>
            <p:spPr bwMode="auto">
              <a:xfrm>
                <a:off x="1066800" y="3886200"/>
                <a:ext cx="429926" cy="369332"/>
              </a:xfrm>
              <a:prstGeom prst="rect">
                <a:avLst/>
              </a:prstGeom>
              <a:noFill/>
              <a:ln w="9525">
                <a:noFill/>
                <a:miter lim="800000"/>
              </a:ln>
            </p:spPr>
            <p:txBody>
              <a:bodyPr wrap="none">
                <a:spAutoFit/>
              </a:bodyPr>
              <a:lstStyle/>
              <a:p>
                <a:r>
                  <a:rPr lang="en-US"/>
                  <a:t>12</a:t>
                </a:r>
                <a:endParaRPr lang="en-US"/>
              </a:p>
            </p:txBody>
          </p:sp>
          <p:sp>
            <p:nvSpPr>
              <p:cNvPr id="98338" name="Rectangle 18"/>
              <p:cNvSpPr>
                <a:spLocks noChangeArrowheads="1"/>
              </p:cNvSpPr>
              <p:nvPr/>
            </p:nvSpPr>
            <p:spPr bwMode="auto">
              <a:xfrm>
                <a:off x="1066800" y="2667000"/>
                <a:ext cx="429926" cy="369332"/>
              </a:xfrm>
              <a:prstGeom prst="rect">
                <a:avLst/>
              </a:prstGeom>
              <a:noFill/>
              <a:ln w="9525">
                <a:noFill/>
                <a:miter lim="800000"/>
              </a:ln>
            </p:spPr>
            <p:txBody>
              <a:bodyPr wrap="none">
                <a:spAutoFit/>
              </a:bodyPr>
              <a:lstStyle/>
              <a:p>
                <a:r>
                  <a:rPr lang="en-US"/>
                  <a:t>15</a:t>
                </a:r>
                <a:endParaRPr lang="en-US"/>
              </a:p>
            </p:txBody>
          </p:sp>
          <p:sp>
            <p:nvSpPr>
              <p:cNvPr id="98339" name="Oval 28"/>
              <p:cNvSpPr>
                <a:spLocks noChangeArrowheads="1"/>
              </p:cNvSpPr>
              <p:nvPr/>
            </p:nvSpPr>
            <p:spPr bwMode="auto">
              <a:xfrm>
                <a:off x="2912920" y="2010882"/>
                <a:ext cx="96565" cy="98891"/>
              </a:xfrm>
              <a:prstGeom prst="ellipse">
                <a:avLst/>
              </a:prstGeom>
              <a:solidFill>
                <a:schemeClr val="accent1"/>
              </a:solidFill>
              <a:ln w="9525">
                <a:solidFill>
                  <a:schemeClr val="tx1"/>
                </a:solidFill>
                <a:round/>
              </a:ln>
            </p:spPr>
            <p:txBody>
              <a:bodyPr wrap="none" anchor="ctr"/>
              <a:lstStyle/>
              <a:p>
                <a:endParaRPr lang="en-US"/>
              </a:p>
            </p:txBody>
          </p:sp>
        </p:grpSp>
        <p:cxnSp>
          <p:nvCxnSpPr>
            <p:cNvPr id="80" name="Straight Arrow Connector 79"/>
            <p:cNvCxnSpPr>
              <a:endCxn id="98329" idx="7"/>
            </p:cNvCxnSpPr>
            <p:nvPr/>
          </p:nvCxnSpPr>
          <p:spPr>
            <a:xfrm rot="10800000" flipV="1">
              <a:off x="5959557" y="3504915"/>
              <a:ext cx="2254433" cy="105711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98328" idx="1"/>
              <a:endCxn id="98325" idx="6"/>
            </p:cNvCxnSpPr>
            <p:nvPr/>
          </p:nvCxnSpPr>
          <p:spPr>
            <a:xfrm rot="16200000" flipV="1">
              <a:off x="6583516" y="2885595"/>
              <a:ext cx="179359" cy="24624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98323" idx="0"/>
            </p:cNvCxnSpPr>
            <p:nvPr/>
          </p:nvCxnSpPr>
          <p:spPr>
            <a:xfrm rot="16200000" flipV="1">
              <a:off x="5159607" y="3222228"/>
              <a:ext cx="1820579" cy="131932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rot="5400000" flipH="1" flipV="1">
              <a:off x="5161270" y="2839751"/>
              <a:ext cx="2452306" cy="88748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98325" idx="7"/>
            </p:cNvCxnSpPr>
            <p:nvPr/>
          </p:nvCxnSpPr>
          <p:spPr>
            <a:xfrm rot="5400000" flipH="1" flipV="1">
              <a:off x="6013693" y="2080854"/>
              <a:ext cx="1325357" cy="24973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endCxn id="98330" idx="6"/>
            </p:cNvCxnSpPr>
            <p:nvPr/>
          </p:nvCxnSpPr>
          <p:spPr>
            <a:xfrm>
              <a:off x="5410237" y="2939853"/>
              <a:ext cx="2779938" cy="5079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98339" idx="5"/>
            </p:cNvCxnSpPr>
            <p:nvPr/>
          </p:nvCxnSpPr>
          <p:spPr>
            <a:xfrm rot="16200000" flipH="1">
              <a:off x="6355919" y="2621485"/>
              <a:ext cx="2095174" cy="104307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rot="5400000">
              <a:off x="6292423" y="3156371"/>
              <a:ext cx="2177711" cy="11986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34" name="Straight Arrow Connector 33"/>
          <p:cNvCxnSpPr/>
          <p:nvPr/>
        </p:nvCxnSpPr>
        <p:spPr>
          <a:xfrm rot="5400000">
            <a:off x="3848100" y="2476500"/>
            <a:ext cx="2133600" cy="114300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rot="16200000" flipV="1">
            <a:off x="2438400" y="2590800"/>
            <a:ext cx="1828800" cy="121920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nvGrpSpPr>
          <p:cNvPr id="4" name="Group 19"/>
          <p:cNvGrpSpPr/>
          <p:nvPr/>
        </p:nvGrpSpPr>
        <p:grpSpPr bwMode="auto">
          <a:xfrm>
            <a:off x="5694363" y="1030288"/>
            <a:ext cx="1725612" cy="860425"/>
            <a:chOff x="4311" y="1273"/>
            <a:chExt cx="737" cy="609"/>
          </a:xfrm>
        </p:grpSpPr>
        <p:sp>
          <p:nvSpPr>
            <p:cNvPr id="98312" name="AutoShape 20"/>
            <p:cNvSpPr>
              <a:spLocks noChangeArrowheads="1"/>
            </p:cNvSpPr>
            <p:nvPr/>
          </p:nvSpPr>
          <p:spPr bwMode="auto">
            <a:xfrm>
              <a:off x="4311" y="1273"/>
              <a:ext cx="709" cy="609"/>
            </a:xfrm>
            <a:prstGeom prst="wedgeRoundRectCallout">
              <a:avLst>
                <a:gd name="adj1" fmla="val -59593"/>
                <a:gd name="adj2" fmla="val 68556"/>
                <a:gd name="adj3" fmla="val 16667"/>
              </a:avLst>
            </a:prstGeom>
            <a:noFill/>
            <a:ln w="9525">
              <a:solidFill>
                <a:schemeClr val="tx1"/>
              </a:solidFill>
              <a:miter lim="800000"/>
            </a:ln>
          </p:spPr>
          <p:txBody>
            <a:bodyPr/>
            <a:lstStyle/>
            <a:p>
              <a:pPr algn="ctr"/>
              <a:endParaRPr lang="en-US" sz="1600">
                <a:latin typeface="Times New Roman" panose="02020603050405020304" pitchFamily="18" charset="0"/>
              </a:endParaRPr>
            </a:p>
          </p:txBody>
        </p:sp>
        <p:sp>
          <p:nvSpPr>
            <p:cNvPr id="98313" name="Text Box 21"/>
            <p:cNvSpPr txBox="1">
              <a:spLocks noChangeArrowheads="1"/>
            </p:cNvSpPr>
            <p:nvPr/>
          </p:nvSpPr>
          <p:spPr bwMode="auto">
            <a:xfrm>
              <a:off x="4344" y="1326"/>
              <a:ext cx="704" cy="496"/>
            </a:xfrm>
            <a:prstGeom prst="rect">
              <a:avLst/>
            </a:prstGeom>
            <a:noFill/>
            <a:ln w="9525">
              <a:noFill/>
              <a:miter lim="800000"/>
            </a:ln>
          </p:spPr>
          <p:txBody>
            <a:bodyPr>
              <a:spAutoFit/>
            </a:bodyPr>
            <a:lstStyle/>
            <a:p>
              <a:r>
                <a:rPr lang="en-US" sz="1800">
                  <a:solidFill>
                    <a:srgbClr val="FF0000"/>
                  </a:solidFill>
                </a:rPr>
                <a:t>Who’s resp </a:t>
              </a:r>
              <a:endParaRPr lang="en-US" sz="1800">
                <a:solidFill>
                  <a:srgbClr val="FF0000"/>
                </a:solidFill>
              </a:endParaRPr>
            </a:p>
            <a:p>
              <a:r>
                <a:rPr lang="en-US" sz="1800">
                  <a:solidFill>
                    <a:srgbClr val="FF0000"/>
                  </a:solidFill>
                </a:rPr>
                <a:t>for key 1110? </a:t>
              </a:r>
              <a:endParaRPr lang="en-US" sz="1800">
                <a:solidFill>
                  <a:srgbClr val="FF000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linds(horizontal)">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blinds(horizontal)">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9330" name="Title 67"/>
          <p:cNvSpPr>
            <a:spLocks noGrp="1"/>
          </p:cNvSpPr>
          <p:nvPr>
            <p:ph type="title"/>
          </p:nvPr>
        </p:nvSpPr>
        <p:spPr>
          <a:xfrm>
            <a:off x="381000" y="0"/>
            <a:ext cx="8229600" cy="1143000"/>
          </a:xfrm>
        </p:spPr>
        <p:txBody>
          <a:bodyPr/>
          <a:lstStyle/>
          <a:p>
            <a:r>
              <a:rPr lang="en-US"/>
              <a:t>Peer Churn</a:t>
            </a:r>
            <a:endParaRPr lang="en-US"/>
          </a:p>
        </p:txBody>
      </p:sp>
      <p:sp>
        <p:nvSpPr>
          <p:cNvPr id="69" name="Content Placeholder 68"/>
          <p:cNvSpPr>
            <a:spLocks noGrp="1"/>
          </p:cNvSpPr>
          <p:nvPr>
            <p:ph idx="1"/>
          </p:nvPr>
        </p:nvSpPr>
        <p:spPr>
          <a:xfrm>
            <a:off x="457200" y="4370388"/>
            <a:ext cx="8229600" cy="2133600"/>
          </a:xfrm>
        </p:spPr>
        <p:txBody>
          <a:bodyPr>
            <a:normAutofit fontScale="92500" lnSpcReduction="10000"/>
          </a:bodyPr>
          <a:lstStyle/>
          <a:p>
            <a:pPr>
              <a:defRPr/>
            </a:pPr>
            <a:r>
              <a:rPr lang="en-US" dirty="0"/>
              <a:t>Peer 5 abruptly leaves</a:t>
            </a:r>
            <a:endParaRPr lang="en-US" dirty="0"/>
          </a:p>
          <a:p>
            <a:pPr>
              <a:defRPr/>
            </a:pPr>
            <a:r>
              <a:rPr lang="en-US" dirty="0"/>
              <a:t>Peer 4 detects; makes 8 its immediate successor; asks 8 who its immediate successor is; makes 8’s immediate successor its second successor.</a:t>
            </a:r>
            <a:endParaRPr lang="en-US" dirty="0"/>
          </a:p>
          <a:p>
            <a:pPr>
              <a:defRPr/>
            </a:pPr>
            <a:r>
              <a:rPr lang="en-US" dirty="0"/>
              <a:t>What if peer 13 wants to join?</a:t>
            </a:r>
            <a:endParaRPr lang="en-US" dirty="0"/>
          </a:p>
        </p:txBody>
      </p:sp>
      <p:grpSp>
        <p:nvGrpSpPr>
          <p:cNvPr id="99332" name="Group 42"/>
          <p:cNvGrpSpPr/>
          <p:nvPr/>
        </p:nvGrpSpPr>
        <p:grpSpPr bwMode="auto">
          <a:xfrm>
            <a:off x="377825" y="814388"/>
            <a:ext cx="3602038" cy="3570287"/>
            <a:chOff x="1066800" y="1676400"/>
            <a:chExt cx="3602330" cy="3569732"/>
          </a:xfrm>
        </p:grpSpPr>
        <p:sp>
          <p:nvSpPr>
            <p:cNvPr id="99339" name="Oval 3"/>
            <p:cNvSpPr>
              <a:spLocks noChangeArrowheads="1"/>
            </p:cNvSpPr>
            <p:nvPr/>
          </p:nvSpPr>
          <p:spPr bwMode="auto">
            <a:xfrm>
              <a:off x="2794354" y="4791480"/>
              <a:ext cx="96564" cy="98891"/>
            </a:xfrm>
            <a:prstGeom prst="ellipse">
              <a:avLst/>
            </a:prstGeom>
            <a:solidFill>
              <a:schemeClr val="accent1"/>
            </a:solidFill>
            <a:ln w="9525">
              <a:solidFill>
                <a:schemeClr val="tx1"/>
              </a:solidFill>
              <a:round/>
            </a:ln>
          </p:spPr>
          <p:txBody>
            <a:bodyPr wrap="none" anchor="ctr"/>
            <a:lstStyle/>
            <a:p>
              <a:endParaRPr lang="en-US"/>
            </a:p>
          </p:txBody>
        </p:sp>
        <p:sp>
          <p:nvSpPr>
            <p:cNvPr id="99340" name="Oval 4"/>
            <p:cNvSpPr>
              <a:spLocks noChangeArrowheads="1"/>
            </p:cNvSpPr>
            <p:nvPr/>
          </p:nvSpPr>
          <p:spPr bwMode="auto">
            <a:xfrm>
              <a:off x="1435115" y="2890435"/>
              <a:ext cx="96564" cy="98891"/>
            </a:xfrm>
            <a:prstGeom prst="ellipse">
              <a:avLst/>
            </a:prstGeom>
            <a:solidFill>
              <a:schemeClr val="accent1"/>
            </a:solidFill>
            <a:ln w="9525">
              <a:solidFill>
                <a:schemeClr val="tx1"/>
              </a:solidFill>
              <a:round/>
            </a:ln>
          </p:spPr>
          <p:txBody>
            <a:bodyPr wrap="none" anchor="ctr"/>
            <a:lstStyle/>
            <a:p>
              <a:endParaRPr lang="en-US"/>
            </a:p>
          </p:txBody>
        </p:sp>
        <p:sp>
          <p:nvSpPr>
            <p:cNvPr id="99341" name="Oval 5"/>
            <p:cNvSpPr>
              <a:spLocks noChangeArrowheads="1"/>
            </p:cNvSpPr>
            <p:nvPr/>
          </p:nvSpPr>
          <p:spPr bwMode="auto">
            <a:xfrm>
              <a:off x="1459562" y="3978242"/>
              <a:ext cx="96564" cy="98892"/>
            </a:xfrm>
            <a:prstGeom prst="ellipse">
              <a:avLst/>
            </a:prstGeom>
            <a:solidFill>
              <a:schemeClr val="accent1"/>
            </a:solidFill>
            <a:ln w="9525">
              <a:solidFill>
                <a:schemeClr val="tx1"/>
              </a:solidFill>
              <a:round/>
            </a:ln>
          </p:spPr>
          <p:txBody>
            <a:bodyPr wrap="none" anchor="ctr"/>
            <a:lstStyle/>
            <a:p>
              <a:endParaRPr lang="en-US"/>
            </a:p>
          </p:txBody>
        </p:sp>
        <p:sp>
          <p:nvSpPr>
            <p:cNvPr id="99342" name="Oval 6"/>
            <p:cNvSpPr>
              <a:spLocks noChangeArrowheads="1"/>
            </p:cNvSpPr>
            <p:nvPr/>
          </p:nvSpPr>
          <p:spPr bwMode="auto">
            <a:xfrm>
              <a:off x="3989799" y="2585616"/>
              <a:ext cx="96564" cy="98891"/>
            </a:xfrm>
            <a:prstGeom prst="ellipse">
              <a:avLst/>
            </a:prstGeom>
            <a:solidFill>
              <a:schemeClr val="accent1"/>
            </a:solidFill>
            <a:ln w="9525">
              <a:solidFill>
                <a:schemeClr val="tx1"/>
              </a:solidFill>
              <a:round/>
            </a:ln>
          </p:spPr>
          <p:txBody>
            <a:bodyPr wrap="none" anchor="ctr"/>
            <a:lstStyle/>
            <a:p>
              <a:endParaRPr lang="en-US"/>
            </a:p>
          </p:txBody>
        </p:sp>
        <p:sp>
          <p:nvSpPr>
            <p:cNvPr id="99343" name="Oval 7"/>
            <p:cNvSpPr>
              <a:spLocks noChangeArrowheads="1"/>
            </p:cNvSpPr>
            <p:nvPr/>
          </p:nvSpPr>
          <p:spPr bwMode="auto">
            <a:xfrm>
              <a:off x="4283160" y="3457025"/>
              <a:ext cx="96564" cy="98892"/>
            </a:xfrm>
            <a:prstGeom prst="ellipse">
              <a:avLst/>
            </a:prstGeom>
            <a:solidFill>
              <a:schemeClr val="accent1"/>
            </a:solidFill>
            <a:ln w="9525">
              <a:solidFill>
                <a:schemeClr val="tx1"/>
              </a:solidFill>
              <a:round/>
            </a:ln>
          </p:spPr>
          <p:txBody>
            <a:bodyPr wrap="none" anchor="ctr"/>
            <a:lstStyle/>
            <a:p>
              <a:endParaRPr lang="en-US"/>
            </a:p>
          </p:txBody>
        </p:sp>
        <p:sp>
          <p:nvSpPr>
            <p:cNvPr id="99344" name="Oval 8"/>
            <p:cNvSpPr>
              <a:spLocks noChangeArrowheads="1"/>
            </p:cNvSpPr>
            <p:nvPr/>
          </p:nvSpPr>
          <p:spPr bwMode="auto">
            <a:xfrm>
              <a:off x="4004467" y="4192313"/>
              <a:ext cx="96564" cy="98892"/>
            </a:xfrm>
            <a:prstGeom prst="ellipse">
              <a:avLst/>
            </a:prstGeom>
            <a:solidFill>
              <a:schemeClr val="accent1"/>
            </a:solidFill>
            <a:ln w="9525">
              <a:solidFill>
                <a:schemeClr val="tx1"/>
              </a:solidFill>
              <a:round/>
            </a:ln>
          </p:spPr>
          <p:txBody>
            <a:bodyPr wrap="none" anchor="ctr"/>
            <a:lstStyle/>
            <a:p>
              <a:endParaRPr lang="en-US"/>
            </a:p>
          </p:txBody>
        </p:sp>
        <p:sp>
          <p:nvSpPr>
            <p:cNvPr id="99345" name="Oval 9"/>
            <p:cNvSpPr>
              <a:spLocks noChangeArrowheads="1"/>
            </p:cNvSpPr>
            <p:nvPr/>
          </p:nvSpPr>
          <p:spPr bwMode="auto">
            <a:xfrm>
              <a:off x="1991278" y="4548323"/>
              <a:ext cx="96565" cy="98892"/>
            </a:xfrm>
            <a:prstGeom prst="ellipse">
              <a:avLst/>
            </a:prstGeom>
            <a:solidFill>
              <a:schemeClr val="accent1"/>
            </a:solidFill>
            <a:ln w="9525">
              <a:solidFill>
                <a:schemeClr val="tx1"/>
              </a:solidFill>
              <a:round/>
            </a:ln>
          </p:spPr>
          <p:txBody>
            <a:bodyPr wrap="none" anchor="ctr"/>
            <a:lstStyle/>
            <a:p>
              <a:endParaRPr lang="en-US"/>
            </a:p>
          </p:txBody>
        </p:sp>
        <p:sp>
          <p:nvSpPr>
            <p:cNvPr id="99346" name="Oval 10"/>
            <p:cNvSpPr>
              <a:spLocks noChangeArrowheads="1"/>
            </p:cNvSpPr>
            <p:nvPr/>
          </p:nvSpPr>
          <p:spPr bwMode="auto">
            <a:xfrm>
              <a:off x="1376443" y="2050438"/>
              <a:ext cx="2927496" cy="2793396"/>
            </a:xfrm>
            <a:prstGeom prst="ellipse">
              <a:avLst/>
            </a:prstGeom>
            <a:noFill/>
            <a:ln w="9525">
              <a:solidFill>
                <a:schemeClr val="tx1"/>
              </a:solidFill>
              <a:round/>
            </a:ln>
          </p:spPr>
          <p:txBody>
            <a:bodyPr wrap="none" anchor="ctr"/>
            <a:lstStyle/>
            <a:p>
              <a:endParaRPr lang="en-US"/>
            </a:p>
          </p:txBody>
        </p:sp>
        <p:sp>
          <p:nvSpPr>
            <p:cNvPr id="99347" name="Text Box 11"/>
            <p:cNvSpPr txBox="1">
              <a:spLocks noChangeArrowheads="1"/>
            </p:cNvSpPr>
            <p:nvPr/>
          </p:nvSpPr>
          <p:spPr bwMode="auto">
            <a:xfrm>
              <a:off x="2895600" y="1676400"/>
              <a:ext cx="288862" cy="369332"/>
            </a:xfrm>
            <a:prstGeom prst="rect">
              <a:avLst/>
            </a:prstGeom>
            <a:noFill/>
            <a:ln w="9525">
              <a:noFill/>
              <a:miter lim="800000"/>
            </a:ln>
          </p:spPr>
          <p:txBody>
            <a:bodyPr wrap="none">
              <a:spAutoFit/>
            </a:bodyPr>
            <a:lstStyle/>
            <a:p>
              <a:r>
                <a:rPr lang="en-US"/>
                <a:t>1</a:t>
              </a:r>
              <a:endParaRPr lang="en-US"/>
            </a:p>
          </p:txBody>
        </p:sp>
        <p:sp>
          <p:nvSpPr>
            <p:cNvPr id="99348" name="Rectangle 12"/>
            <p:cNvSpPr>
              <a:spLocks noChangeArrowheads="1"/>
            </p:cNvSpPr>
            <p:nvPr/>
          </p:nvSpPr>
          <p:spPr bwMode="auto">
            <a:xfrm>
              <a:off x="4114800" y="2514600"/>
              <a:ext cx="325730" cy="369332"/>
            </a:xfrm>
            <a:prstGeom prst="rect">
              <a:avLst/>
            </a:prstGeom>
            <a:noFill/>
            <a:ln w="9525">
              <a:noFill/>
              <a:miter lim="800000"/>
            </a:ln>
          </p:spPr>
          <p:txBody>
            <a:bodyPr wrap="none">
              <a:spAutoFit/>
            </a:bodyPr>
            <a:lstStyle/>
            <a:p>
              <a:r>
                <a:rPr lang="en-US"/>
                <a:t>3</a:t>
              </a:r>
              <a:endParaRPr lang="en-US"/>
            </a:p>
          </p:txBody>
        </p:sp>
        <p:sp>
          <p:nvSpPr>
            <p:cNvPr id="99349" name="Rectangle 13"/>
            <p:cNvSpPr>
              <a:spLocks noChangeArrowheads="1"/>
            </p:cNvSpPr>
            <p:nvPr/>
          </p:nvSpPr>
          <p:spPr bwMode="auto">
            <a:xfrm>
              <a:off x="4343400" y="3352800"/>
              <a:ext cx="325730" cy="369332"/>
            </a:xfrm>
            <a:prstGeom prst="rect">
              <a:avLst/>
            </a:prstGeom>
            <a:noFill/>
            <a:ln w="9525">
              <a:noFill/>
              <a:miter lim="800000"/>
            </a:ln>
          </p:spPr>
          <p:txBody>
            <a:bodyPr wrap="none">
              <a:spAutoFit/>
            </a:bodyPr>
            <a:lstStyle/>
            <a:p>
              <a:r>
                <a:rPr lang="en-US"/>
                <a:t>4</a:t>
              </a:r>
              <a:endParaRPr lang="en-US"/>
            </a:p>
          </p:txBody>
        </p:sp>
        <p:sp>
          <p:nvSpPr>
            <p:cNvPr id="99350" name="Rectangle 14"/>
            <p:cNvSpPr>
              <a:spLocks noChangeArrowheads="1"/>
            </p:cNvSpPr>
            <p:nvPr/>
          </p:nvSpPr>
          <p:spPr bwMode="auto">
            <a:xfrm>
              <a:off x="4114800" y="4114800"/>
              <a:ext cx="325730" cy="369332"/>
            </a:xfrm>
            <a:prstGeom prst="rect">
              <a:avLst/>
            </a:prstGeom>
            <a:noFill/>
            <a:ln w="9525">
              <a:noFill/>
              <a:miter lim="800000"/>
            </a:ln>
          </p:spPr>
          <p:txBody>
            <a:bodyPr wrap="none">
              <a:spAutoFit/>
            </a:bodyPr>
            <a:lstStyle/>
            <a:p>
              <a:r>
                <a:rPr lang="en-US"/>
                <a:t>5</a:t>
              </a:r>
              <a:endParaRPr lang="en-US"/>
            </a:p>
          </p:txBody>
        </p:sp>
        <p:sp>
          <p:nvSpPr>
            <p:cNvPr id="99351" name="Rectangle 15"/>
            <p:cNvSpPr>
              <a:spLocks noChangeArrowheads="1"/>
            </p:cNvSpPr>
            <p:nvPr/>
          </p:nvSpPr>
          <p:spPr bwMode="auto">
            <a:xfrm>
              <a:off x="2743200" y="4876800"/>
              <a:ext cx="325730" cy="369332"/>
            </a:xfrm>
            <a:prstGeom prst="rect">
              <a:avLst/>
            </a:prstGeom>
            <a:noFill/>
            <a:ln w="9525">
              <a:noFill/>
              <a:miter lim="800000"/>
            </a:ln>
          </p:spPr>
          <p:txBody>
            <a:bodyPr wrap="none">
              <a:spAutoFit/>
            </a:bodyPr>
            <a:lstStyle/>
            <a:p>
              <a:r>
                <a:rPr lang="en-US"/>
                <a:t>8</a:t>
              </a:r>
              <a:endParaRPr lang="en-US"/>
            </a:p>
          </p:txBody>
        </p:sp>
        <p:sp>
          <p:nvSpPr>
            <p:cNvPr id="99352" name="Rectangle 16"/>
            <p:cNvSpPr>
              <a:spLocks noChangeArrowheads="1"/>
            </p:cNvSpPr>
            <p:nvPr/>
          </p:nvSpPr>
          <p:spPr bwMode="auto">
            <a:xfrm>
              <a:off x="1676400" y="4648200"/>
              <a:ext cx="429926" cy="369332"/>
            </a:xfrm>
            <a:prstGeom prst="rect">
              <a:avLst/>
            </a:prstGeom>
            <a:noFill/>
            <a:ln w="9525">
              <a:noFill/>
              <a:miter lim="800000"/>
            </a:ln>
          </p:spPr>
          <p:txBody>
            <a:bodyPr wrap="none">
              <a:spAutoFit/>
            </a:bodyPr>
            <a:lstStyle/>
            <a:p>
              <a:r>
                <a:rPr lang="en-US"/>
                <a:t>10</a:t>
              </a:r>
              <a:endParaRPr lang="en-US"/>
            </a:p>
          </p:txBody>
        </p:sp>
        <p:sp>
          <p:nvSpPr>
            <p:cNvPr id="99353" name="Rectangle 17"/>
            <p:cNvSpPr>
              <a:spLocks noChangeArrowheads="1"/>
            </p:cNvSpPr>
            <p:nvPr/>
          </p:nvSpPr>
          <p:spPr bwMode="auto">
            <a:xfrm>
              <a:off x="1066800" y="3886200"/>
              <a:ext cx="429926" cy="369332"/>
            </a:xfrm>
            <a:prstGeom prst="rect">
              <a:avLst/>
            </a:prstGeom>
            <a:noFill/>
            <a:ln w="9525">
              <a:noFill/>
              <a:miter lim="800000"/>
            </a:ln>
          </p:spPr>
          <p:txBody>
            <a:bodyPr wrap="none">
              <a:spAutoFit/>
            </a:bodyPr>
            <a:lstStyle/>
            <a:p>
              <a:r>
                <a:rPr lang="en-US"/>
                <a:t>12</a:t>
              </a:r>
              <a:endParaRPr lang="en-US"/>
            </a:p>
          </p:txBody>
        </p:sp>
        <p:sp>
          <p:nvSpPr>
            <p:cNvPr id="99354" name="Rectangle 18"/>
            <p:cNvSpPr>
              <a:spLocks noChangeArrowheads="1"/>
            </p:cNvSpPr>
            <p:nvPr/>
          </p:nvSpPr>
          <p:spPr bwMode="auto">
            <a:xfrm>
              <a:off x="1066800" y="2667000"/>
              <a:ext cx="429926" cy="369332"/>
            </a:xfrm>
            <a:prstGeom prst="rect">
              <a:avLst/>
            </a:prstGeom>
            <a:noFill/>
            <a:ln w="9525">
              <a:noFill/>
              <a:miter lim="800000"/>
            </a:ln>
          </p:spPr>
          <p:txBody>
            <a:bodyPr wrap="none">
              <a:spAutoFit/>
            </a:bodyPr>
            <a:lstStyle/>
            <a:p>
              <a:r>
                <a:rPr lang="en-US"/>
                <a:t>15</a:t>
              </a:r>
              <a:endParaRPr lang="en-US"/>
            </a:p>
          </p:txBody>
        </p:sp>
        <p:sp>
          <p:nvSpPr>
            <p:cNvPr id="99355" name="Oval 28"/>
            <p:cNvSpPr>
              <a:spLocks noChangeArrowheads="1"/>
            </p:cNvSpPr>
            <p:nvPr/>
          </p:nvSpPr>
          <p:spPr bwMode="auto">
            <a:xfrm>
              <a:off x="2912920" y="2010882"/>
              <a:ext cx="96565" cy="98891"/>
            </a:xfrm>
            <a:prstGeom prst="ellipse">
              <a:avLst/>
            </a:prstGeom>
            <a:solidFill>
              <a:schemeClr val="accent1"/>
            </a:solidFill>
            <a:ln w="9525">
              <a:solidFill>
                <a:schemeClr val="tx1"/>
              </a:solidFill>
              <a:round/>
            </a:ln>
          </p:spPr>
          <p:txBody>
            <a:bodyPr wrap="none" anchor="ctr"/>
            <a:lstStyle/>
            <a:p>
              <a:endParaRPr lang="en-US"/>
            </a:p>
          </p:txBody>
        </p:sp>
      </p:grpSp>
      <p:cxnSp>
        <p:nvCxnSpPr>
          <p:cNvPr id="64" name="Straight Connector 63"/>
          <p:cNvCxnSpPr/>
          <p:nvPr/>
        </p:nvCxnSpPr>
        <p:spPr>
          <a:xfrm>
            <a:off x="2054225" y="1119188"/>
            <a:ext cx="152400" cy="76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10800000" flipV="1">
            <a:off x="2130425" y="1195388"/>
            <a:ext cx="169863" cy="96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273425" y="3252788"/>
            <a:ext cx="228600" cy="18415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99350" idx="0"/>
          </p:cNvCxnSpPr>
          <p:nvPr/>
        </p:nvCxnSpPr>
        <p:spPr>
          <a:xfrm rot="16200000" flipH="1" flipV="1">
            <a:off x="3278982" y="3171031"/>
            <a:ext cx="228600" cy="39211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99337" name="TextBox 28"/>
          <p:cNvSpPr txBox="1">
            <a:spLocks noChangeArrowheads="1"/>
          </p:cNvSpPr>
          <p:nvPr/>
        </p:nvSpPr>
        <p:spPr bwMode="auto">
          <a:xfrm>
            <a:off x="4454525" y="1287463"/>
            <a:ext cx="4283075" cy="2628900"/>
          </a:xfrm>
          <a:prstGeom prst="rect">
            <a:avLst/>
          </a:prstGeom>
          <a:noFill/>
          <a:ln w="9525">
            <a:noFill/>
            <a:miter lim="800000"/>
          </a:ln>
        </p:spPr>
        <p:txBody>
          <a:bodyPr wrap="none">
            <a:spAutoFit/>
          </a:bodyPr>
          <a:lstStyle/>
          <a:p>
            <a:pPr>
              <a:buFont typeface="Arial" panose="020B0604020202020204" pitchFamily="34" charset="0"/>
              <a:buChar char="•"/>
            </a:pPr>
            <a:r>
              <a:rPr lang="en-US" sz="2000"/>
              <a:t>To handle peer churn, require </a:t>
            </a:r>
            <a:endParaRPr lang="en-US" sz="2000"/>
          </a:p>
          <a:p>
            <a:r>
              <a:rPr lang="en-US" sz="2000"/>
              <a:t>each peer to know the IP address </a:t>
            </a:r>
            <a:endParaRPr lang="en-US" sz="2000"/>
          </a:p>
          <a:p>
            <a:r>
              <a:rPr lang="en-US" sz="2000"/>
              <a:t>of its two successors. </a:t>
            </a:r>
            <a:endParaRPr lang="en-US" sz="2000"/>
          </a:p>
          <a:p>
            <a:pPr>
              <a:buFont typeface="Arial" panose="020B0604020202020204" pitchFamily="34" charset="0"/>
              <a:buChar char="•"/>
            </a:pPr>
            <a:r>
              <a:rPr lang="en-US" sz="2000"/>
              <a:t> Each peer periodically pings its </a:t>
            </a:r>
            <a:br>
              <a:rPr lang="en-US" sz="2000"/>
            </a:br>
            <a:r>
              <a:rPr lang="en-US" sz="2000"/>
              <a:t>two successors to see if they </a:t>
            </a:r>
            <a:br>
              <a:rPr lang="en-US" sz="2000"/>
            </a:br>
            <a:r>
              <a:rPr lang="en-US" sz="2000"/>
              <a:t>are still alive</a:t>
            </a:r>
            <a:r>
              <a:rPr lang="en-US"/>
              <a:t>. </a:t>
            </a:r>
            <a:endParaRPr lang="en-US"/>
          </a:p>
          <a:p>
            <a:endParaRPr lang="en-US"/>
          </a:p>
        </p:txBody>
      </p:sp>
      <p:cxnSp>
        <p:nvCxnSpPr>
          <p:cNvPr id="99338" name="Straight Arrow Connector 30"/>
          <p:cNvCxnSpPr>
            <a:cxnSpLocks noChangeShapeType="1"/>
            <a:stCxn id="99349" idx="1"/>
          </p:cNvCxnSpPr>
          <p:nvPr/>
        </p:nvCxnSpPr>
        <p:spPr bwMode="auto">
          <a:xfrm rot="10800000" flipV="1">
            <a:off x="3206750" y="2674938"/>
            <a:ext cx="447675" cy="312737"/>
          </a:xfrm>
          <a:prstGeom prst="straightConnector1">
            <a:avLst/>
          </a:prstGeom>
          <a:noFill/>
          <a:ln w="9525" algn="ctr">
            <a:noFill/>
            <a:round/>
            <a:tailEnd type="arrow" w="med"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
                                            <p:txEl>
                                              <p:pRg st="0" end="0"/>
                                            </p:txEl>
                                          </p:spTgt>
                                        </p:tgtEl>
                                        <p:attrNameLst>
                                          <p:attrName>style.visibility</p:attrName>
                                        </p:attrNameLst>
                                      </p:cBhvr>
                                      <p:to>
                                        <p:strVal val="visible"/>
                                      </p:to>
                                    </p:set>
                                    <p:animEffect transition="in" filter="blinds(horizontal)">
                                      <p:cBhvr>
                                        <p:cTn id="7" dur="500"/>
                                        <p:tgtEl>
                                          <p:spTgt spid="6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blinds(horizontal)">
                                      <p:cBhvr>
                                        <p:cTn id="10" dur="500"/>
                                        <p:tgtEl>
                                          <p:spTgt spid="27"/>
                                        </p:tgtEl>
                                      </p:cBhvr>
                                    </p:animEffect>
                                  </p:childTnLst>
                                </p:cTn>
                              </p:par>
                              <p:par>
                                <p:cTn id="11" presetID="3" presetClass="entr" presetSubtype="1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blinds(horizontal)">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9">
                                            <p:txEl>
                                              <p:pRg st="1" end="1"/>
                                            </p:txEl>
                                          </p:spTgt>
                                        </p:tgtEl>
                                        <p:attrNameLst>
                                          <p:attrName>style.visibility</p:attrName>
                                        </p:attrNameLst>
                                      </p:cBhvr>
                                      <p:to>
                                        <p:strVal val="visible"/>
                                      </p:to>
                                    </p:set>
                                    <p:animEffect transition="in" filter="blinds(horizontal)">
                                      <p:cBhvr>
                                        <p:cTn id="18" dur="500"/>
                                        <p:tgtEl>
                                          <p:spTgt spid="69">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9">
                                            <p:txEl>
                                              <p:pRg st="2" end="2"/>
                                            </p:txEl>
                                          </p:spTgt>
                                        </p:tgtEl>
                                        <p:attrNameLst>
                                          <p:attrName>style.visibility</p:attrName>
                                        </p:attrNameLst>
                                      </p:cBhvr>
                                      <p:to>
                                        <p:strVal val="visible"/>
                                      </p:to>
                                    </p:set>
                                    <p:animEffect transition="in" filter="blinds(horizontal)">
                                      <p:cBhvr>
                                        <p:cTn id="23" dur="500"/>
                                        <p:tgtEl>
                                          <p:spTgt spid="6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68"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7669" name="Slide Number Placeholder 5"/>
          <p:cNvSpPr>
            <a:spLocks noGrp="1"/>
          </p:cNvSpPr>
          <p:nvPr>
            <p:ph type="sldNum" sz="quarter" idx="12"/>
          </p:nvPr>
        </p:nvSpPr>
        <p:spPr>
          <a:noFill/>
        </p:spPr>
        <p:txBody>
          <a:bodyPr/>
          <a:lstStyle/>
          <a:p>
            <a:fld id="{E757FADB-F1CC-403F-971F-3EFBA6829275}" type="slidenum">
              <a:rPr lang="en-US"/>
            </a:fld>
            <a:endParaRPr lang="en-US"/>
          </a:p>
        </p:txBody>
      </p:sp>
      <p:sp>
        <p:nvSpPr>
          <p:cNvPr id="27670" name="Rectangle 2"/>
          <p:cNvSpPr>
            <a:spLocks noGrp="1" noChangeArrowheads="1"/>
          </p:cNvSpPr>
          <p:nvPr>
            <p:ph type="title"/>
          </p:nvPr>
        </p:nvSpPr>
        <p:spPr/>
        <p:txBody>
          <a:bodyPr/>
          <a:lstStyle/>
          <a:p>
            <a:r>
              <a:rPr lang="en-US"/>
              <a:t>P2P Case study: Skype</a:t>
            </a:r>
            <a:r>
              <a:rPr lang="zh-CN" altLang="en-US">
                <a:ea typeface="宋体" panose="02010600030101010101" pitchFamily="2" charset="-122"/>
                <a:sym typeface="+mn-ea"/>
              </a:rPr>
              <a:t>（题）</a:t>
            </a:r>
            <a:endParaRPr lang="en-US"/>
          </a:p>
        </p:txBody>
      </p:sp>
      <p:sp>
        <p:nvSpPr>
          <p:cNvPr id="27671" name="Rectangle 3"/>
          <p:cNvSpPr>
            <a:spLocks noGrp="1" noChangeArrowheads="1"/>
          </p:cNvSpPr>
          <p:nvPr>
            <p:ph type="body" idx="1"/>
          </p:nvPr>
        </p:nvSpPr>
        <p:spPr>
          <a:xfrm>
            <a:off x="533400" y="1600200"/>
            <a:ext cx="3781425" cy="4648200"/>
          </a:xfrm>
        </p:spPr>
        <p:txBody>
          <a:bodyPr/>
          <a:lstStyle/>
          <a:p>
            <a:r>
              <a:rPr lang="en-US" sz="2400"/>
              <a:t>inherently P2P: pairs of users communicate.</a:t>
            </a:r>
            <a:endParaRPr lang="en-US" sz="2400"/>
          </a:p>
          <a:p>
            <a:r>
              <a:rPr lang="en-US" sz="2400"/>
              <a:t>proprietary application-layer protocol (inferred via reverse engineering) </a:t>
            </a:r>
            <a:endParaRPr lang="en-US" sz="2400"/>
          </a:p>
          <a:p>
            <a:r>
              <a:rPr lang="en-US" sz="2400"/>
              <a:t>hierarchical overlay with SNs</a:t>
            </a:r>
            <a:endParaRPr lang="en-US" sz="2400"/>
          </a:p>
          <a:p>
            <a:r>
              <a:rPr lang="en-US" sz="2400"/>
              <a:t>Index maps usernames to IP addresses; distributed over SNs</a:t>
            </a:r>
            <a:endParaRPr lang="en-US" sz="2400"/>
          </a:p>
        </p:txBody>
      </p:sp>
      <p:grpSp>
        <p:nvGrpSpPr>
          <p:cNvPr id="2" name="Group 122"/>
          <p:cNvGrpSpPr/>
          <p:nvPr/>
        </p:nvGrpSpPr>
        <p:grpSpPr bwMode="auto">
          <a:xfrm>
            <a:off x="6256338" y="1789113"/>
            <a:ext cx="1635125" cy="1538287"/>
            <a:chOff x="3941" y="1127"/>
            <a:chExt cx="1030" cy="969"/>
          </a:xfrm>
        </p:grpSpPr>
        <p:sp>
          <p:nvSpPr>
            <p:cNvPr id="27737" name="Line 63"/>
            <p:cNvSpPr>
              <a:spLocks noChangeShapeType="1"/>
            </p:cNvSpPr>
            <p:nvPr/>
          </p:nvSpPr>
          <p:spPr bwMode="auto">
            <a:xfrm>
              <a:off x="3941" y="1599"/>
              <a:ext cx="401" cy="227"/>
            </a:xfrm>
            <a:prstGeom prst="line">
              <a:avLst/>
            </a:prstGeom>
            <a:noFill/>
            <a:ln w="9525">
              <a:solidFill>
                <a:schemeClr val="tx1"/>
              </a:solidFill>
              <a:round/>
            </a:ln>
          </p:spPr>
          <p:txBody>
            <a:bodyPr/>
            <a:lstStyle/>
            <a:p>
              <a:endParaRPr lang="en-US"/>
            </a:p>
          </p:txBody>
        </p:sp>
        <p:sp>
          <p:nvSpPr>
            <p:cNvPr id="27738" name="Line 64"/>
            <p:cNvSpPr>
              <a:spLocks noChangeShapeType="1"/>
            </p:cNvSpPr>
            <p:nvPr/>
          </p:nvSpPr>
          <p:spPr bwMode="auto">
            <a:xfrm>
              <a:off x="4063" y="1232"/>
              <a:ext cx="314" cy="612"/>
            </a:xfrm>
            <a:prstGeom prst="line">
              <a:avLst/>
            </a:prstGeom>
            <a:noFill/>
            <a:ln w="9525">
              <a:solidFill>
                <a:schemeClr val="tx1"/>
              </a:solidFill>
              <a:round/>
            </a:ln>
          </p:spPr>
          <p:txBody>
            <a:bodyPr/>
            <a:lstStyle/>
            <a:p>
              <a:endParaRPr lang="en-US"/>
            </a:p>
          </p:txBody>
        </p:sp>
        <p:sp>
          <p:nvSpPr>
            <p:cNvPr id="27739" name="Line 65"/>
            <p:cNvSpPr>
              <a:spLocks noChangeShapeType="1"/>
            </p:cNvSpPr>
            <p:nvPr/>
          </p:nvSpPr>
          <p:spPr bwMode="auto">
            <a:xfrm flipH="1">
              <a:off x="4352" y="1127"/>
              <a:ext cx="9" cy="699"/>
            </a:xfrm>
            <a:prstGeom prst="line">
              <a:avLst/>
            </a:prstGeom>
            <a:noFill/>
            <a:ln w="9525">
              <a:solidFill>
                <a:schemeClr val="tx1"/>
              </a:solidFill>
              <a:round/>
            </a:ln>
          </p:spPr>
          <p:txBody>
            <a:bodyPr/>
            <a:lstStyle/>
            <a:p>
              <a:endParaRPr lang="en-US"/>
            </a:p>
          </p:txBody>
        </p:sp>
        <p:sp>
          <p:nvSpPr>
            <p:cNvPr id="27740" name="Line 66"/>
            <p:cNvSpPr>
              <a:spLocks noChangeShapeType="1"/>
            </p:cNvSpPr>
            <p:nvPr/>
          </p:nvSpPr>
          <p:spPr bwMode="auto">
            <a:xfrm flipH="1">
              <a:off x="4352" y="1231"/>
              <a:ext cx="375" cy="604"/>
            </a:xfrm>
            <a:prstGeom prst="line">
              <a:avLst/>
            </a:prstGeom>
            <a:noFill/>
            <a:ln w="9525">
              <a:solidFill>
                <a:schemeClr val="tx1"/>
              </a:solidFill>
              <a:round/>
            </a:ln>
          </p:spPr>
          <p:txBody>
            <a:bodyPr/>
            <a:lstStyle/>
            <a:p>
              <a:endParaRPr lang="en-US"/>
            </a:p>
          </p:txBody>
        </p:sp>
        <p:sp>
          <p:nvSpPr>
            <p:cNvPr id="27741" name="Line 67"/>
            <p:cNvSpPr>
              <a:spLocks noChangeShapeType="1"/>
            </p:cNvSpPr>
            <p:nvPr/>
          </p:nvSpPr>
          <p:spPr bwMode="auto">
            <a:xfrm flipH="1">
              <a:off x="4369" y="1457"/>
              <a:ext cx="602" cy="412"/>
            </a:xfrm>
            <a:prstGeom prst="line">
              <a:avLst/>
            </a:prstGeom>
            <a:noFill/>
            <a:ln w="9525">
              <a:solidFill>
                <a:schemeClr val="tx1"/>
              </a:solidFill>
              <a:round/>
            </a:ln>
          </p:spPr>
          <p:txBody>
            <a:bodyPr/>
            <a:lstStyle/>
            <a:p>
              <a:endParaRPr lang="en-US"/>
            </a:p>
          </p:txBody>
        </p:sp>
        <p:grpSp>
          <p:nvGrpSpPr>
            <p:cNvPr id="27742" name="Group 60"/>
            <p:cNvGrpSpPr/>
            <p:nvPr/>
          </p:nvGrpSpPr>
          <p:grpSpPr bwMode="auto">
            <a:xfrm>
              <a:off x="4098" y="1653"/>
              <a:ext cx="535" cy="443"/>
              <a:chOff x="3464" y="1275"/>
              <a:chExt cx="395" cy="329"/>
            </a:xfrm>
          </p:grpSpPr>
          <p:pic>
            <p:nvPicPr>
              <p:cNvPr id="27743" name="Picture 61"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67" name="Object 62"/>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48" name="Clip" r:id="rId2" imgW="18192750" imgH="15087600" progId="">
                      <p:embed/>
                    </p:oleObj>
                  </mc:Choice>
                  <mc:Fallback>
                    <p:oleObj name="Clip" r:id="rId2" imgW="18192750" imgH="15087600" progId="">
                      <p:embed/>
                      <p:pic>
                        <p:nvPicPr>
                          <p:cNvPr id="0" name="Object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4" name="Group 124"/>
          <p:cNvGrpSpPr/>
          <p:nvPr/>
        </p:nvGrpSpPr>
        <p:grpSpPr bwMode="auto">
          <a:xfrm>
            <a:off x="4751388" y="3451225"/>
            <a:ext cx="1557337" cy="2085975"/>
            <a:chOff x="2993" y="2174"/>
            <a:chExt cx="981" cy="1314"/>
          </a:xfrm>
        </p:grpSpPr>
        <p:sp>
          <p:nvSpPr>
            <p:cNvPr id="27720" name="Line 68"/>
            <p:cNvSpPr>
              <a:spLocks noChangeShapeType="1"/>
            </p:cNvSpPr>
            <p:nvPr/>
          </p:nvSpPr>
          <p:spPr bwMode="auto">
            <a:xfrm flipV="1">
              <a:off x="3622" y="2775"/>
              <a:ext cx="61" cy="463"/>
            </a:xfrm>
            <a:prstGeom prst="line">
              <a:avLst/>
            </a:prstGeom>
            <a:noFill/>
            <a:ln w="9525">
              <a:solidFill>
                <a:schemeClr val="tx1"/>
              </a:solidFill>
              <a:round/>
            </a:ln>
          </p:spPr>
          <p:txBody>
            <a:bodyPr/>
            <a:lstStyle/>
            <a:p>
              <a:endParaRPr lang="en-US"/>
            </a:p>
          </p:txBody>
        </p:sp>
        <p:sp>
          <p:nvSpPr>
            <p:cNvPr id="27721" name="Line 69"/>
            <p:cNvSpPr>
              <a:spLocks noChangeShapeType="1"/>
            </p:cNvSpPr>
            <p:nvPr/>
          </p:nvSpPr>
          <p:spPr bwMode="auto">
            <a:xfrm>
              <a:off x="3405" y="2181"/>
              <a:ext cx="313" cy="612"/>
            </a:xfrm>
            <a:prstGeom prst="line">
              <a:avLst/>
            </a:prstGeom>
            <a:noFill/>
            <a:ln w="9525">
              <a:solidFill>
                <a:schemeClr val="tx1"/>
              </a:solidFill>
              <a:round/>
            </a:ln>
          </p:spPr>
          <p:txBody>
            <a:bodyPr/>
            <a:lstStyle/>
            <a:p>
              <a:endParaRPr lang="en-US"/>
            </a:p>
          </p:txBody>
        </p:sp>
        <p:sp>
          <p:nvSpPr>
            <p:cNvPr id="27722" name="Line 70"/>
            <p:cNvSpPr>
              <a:spLocks noChangeShapeType="1"/>
            </p:cNvSpPr>
            <p:nvPr/>
          </p:nvSpPr>
          <p:spPr bwMode="auto">
            <a:xfrm>
              <a:off x="3265" y="2556"/>
              <a:ext cx="428" cy="219"/>
            </a:xfrm>
            <a:prstGeom prst="line">
              <a:avLst/>
            </a:prstGeom>
            <a:noFill/>
            <a:ln w="9525">
              <a:solidFill>
                <a:schemeClr val="tx1"/>
              </a:solidFill>
              <a:round/>
            </a:ln>
          </p:spPr>
          <p:txBody>
            <a:bodyPr/>
            <a:lstStyle/>
            <a:p>
              <a:endParaRPr lang="en-US"/>
            </a:p>
          </p:txBody>
        </p:sp>
        <p:sp>
          <p:nvSpPr>
            <p:cNvPr id="27723" name="Line 71"/>
            <p:cNvSpPr>
              <a:spLocks noChangeShapeType="1"/>
            </p:cNvSpPr>
            <p:nvPr/>
          </p:nvSpPr>
          <p:spPr bwMode="auto">
            <a:xfrm flipV="1">
              <a:off x="3117" y="2784"/>
              <a:ext cx="576" cy="120"/>
            </a:xfrm>
            <a:prstGeom prst="line">
              <a:avLst/>
            </a:prstGeom>
            <a:noFill/>
            <a:ln w="9525">
              <a:solidFill>
                <a:schemeClr val="tx1"/>
              </a:solidFill>
              <a:round/>
            </a:ln>
          </p:spPr>
          <p:txBody>
            <a:bodyPr/>
            <a:lstStyle/>
            <a:p>
              <a:endParaRPr lang="en-US"/>
            </a:p>
          </p:txBody>
        </p:sp>
        <p:sp>
          <p:nvSpPr>
            <p:cNvPr id="27724" name="Line 72"/>
            <p:cNvSpPr>
              <a:spLocks noChangeShapeType="1"/>
            </p:cNvSpPr>
            <p:nvPr/>
          </p:nvSpPr>
          <p:spPr bwMode="auto">
            <a:xfrm flipV="1">
              <a:off x="3238" y="2818"/>
              <a:ext cx="472" cy="478"/>
            </a:xfrm>
            <a:prstGeom prst="line">
              <a:avLst/>
            </a:prstGeom>
            <a:noFill/>
            <a:ln w="9525">
              <a:solidFill>
                <a:schemeClr val="tx1"/>
              </a:solidFill>
              <a:round/>
            </a:ln>
          </p:spPr>
          <p:txBody>
            <a:bodyPr/>
            <a:lstStyle/>
            <a:p>
              <a:endParaRPr lang="en-US"/>
            </a:p>
          </p:txBody>
        </p:sp>
        <p:grpSp>
          <p:nvGrpSpPr>
            <p:cNvPr id="27725" name="Group 73"/>
            <p:cNvGrpSpPr/>
            <p:nvPr/>
          </p:nvGrpSpPr>
          <p:grpSpPr bwMode="auto">
            <a:xfrm>
              <a:off x="3125" y="3091"/>
              <a:ext cx="316" cy="303"/>
              <a:chOff x="3464" y="1275"/>
              <a:chExt cx="395" cy="329"/>
            </a:xfrm>
          </p:grpSpPr>
          <p:pic>
            <p:nvPicPr>
              <p:cNvPr id="27736" name="Picture 74"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66" name="Object 75"/>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49" name="Clip" r:id="rId4" imgW="18192750" imgH="15087600" progId="">
                      <p:embed/>
                    </p:oleObj>
                  </mc:Choice>
                  <mc:Fallback>
                    <p:oleObj name="Clip" r:id="rId4" imgW="18192750" imgH="15087600" progId="">
                      <p:embed/>
                      <p:pic>
                        <p:nvPicPr>
                          <p:cNvPr id="0" name="Object 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26" name="Group 76"/>
            <p:cNvGrpSpPr/>
            <p:nvPr/>
          </p:nvGrpSpPr>
          <p:grpSpPr bwMode="auto">
            <a:xfrm>
              <a:off x="2993" y="2768"/>
              <a:ext cx="316" cy="303"/>
              <a:chOff x="3464" y="1275"/>
              <a:chExt cx="395" cy="329"/>
            </a:xfrm>
          </p:grpSpPr>
          <p:pic>
            <p:nvPicPr>
              <p:cNvPr id="27735" name="Picture 77"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65" name="Object 78"/>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0" name="Clip" r:id="rId5" imgW="18192750" imgH="15087600" progId="">
                      <p:embed/>
                    </p:oleObj>
                  </mc:Choice>
                  <mc:Fallback>
                    <p:oleObj name="Clip" r:id="rId5" imgW="18192750" imgH="15087600" progId="">
                      <p:embed/>
                      <p:pic>
                        <p:nvPicPr>
                          <p:cNvPr id="0" name="Object 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27" name="Group 79"/>
            <p:cNvGrpSpPr/>
            <p:nvPr/>
          </p:nvGrpSpPr>
          <p:grpSpPr bwMode="auto">
            <a:xfrm>
              <a:off x="3509" y="3185"/>
              <a:ext cx="316" cy="303"/>
              <a:chOff x="3464" y="1275"/>
              <a:chExt cx="395" cy="329"/>
            </a:xfrm>
          </p:grpSpPr>
          <p:pic>
            <p:nvPicPr>
              <p:cNvPr id="27734" name="Picture 80"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64" name="Object 81"/>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1" name="Clip" r:id="rId6" imgW="18192750" imgH="15087600" progId="">
                      <p:embed/>
                    </p:oleObj>
                  </mc:Choice>
                  <mc:Fallback>
                    <p:oleObj name="Clip" r:id="rId6" imgW="18192750" imgH="15087600" progId="">
                      <p:embed/>
                      <p:pic>
                        <p:nvPicPr>
                          <p:cNvPr id="0" name="Object 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28" name="Group 82"/>
            <p:cNvGrpSpPr/>
            <p:nvPr/>
          </p:nvGrpSpPr>
          <p:grpSpPr bwMode="auto">
            <a:xfrm>
              <a:off x="3264" y="2174"/>
              <a:ext cx="316" cy="303"/>
              <a:chOff x="3464" y="1275"/>
              <a:chExt cx="395" cy="329"/>
            </a:xfrm>
          </p:grpSpPr>
          <p:pic>
            <p:nvPicPr>
              <p:cNvPr id="27733" name="Picture 83"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63" name="Object 84"/>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2" name="Clip" r:id="rId7" imgW="18192750" imgH="15087600" progId="">
                      <p:embed/>
                    </p:oleObj>
                  </mc:Choice>
                  <mc:Fallback>
                    <p:oleObj name="Clip" r:id="rId7" imgW="18192750" imgH="15087600" progId="">
                      <p:embed/>
                      <p:pic>
                        <p:nvPicPr>
                          <p:cNvPr id="0" name="Object 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29" name="Group 85"/>
            <p:cNvGrpSpPr/>
            <p:nvPr/>
          </p:nvGrpSpPr>
          <p:grpSpPr bwMode="auto">
            <a:xfrm>
              <a:off x="3019" y="2408"/>
              <a:ext cx="316" cy="303"/>
              <a:chOff x="3464" y="1275"/>
              <a:chExt cx="395" cy="329"/>
            </a:xfrm>
          </p:grpSpPr>
          <p:pic>
            <p:nvPicPr>
              <p:cNvPr id="27732" name="Picture 86"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62" name="Object 87"/>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3" name="Clip" r:id="rId8" imgW="18192750" imgH="15087600" progId="">
                      <p:embed/>
                    </p:oleObj>
                  </mc:Choice>
                  <mc:Fallback>
                    <p:oleObj name="Clip" r:id="rId8" imgW="18192750" imgH="15087600" progId="">
                      <p:embed/>
                      <p:pic>
                        <p:nvPicPr>
                          <p:cNvPr id="0" name="Object 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30" name="Group 88"/>
            <p:cNvGrpSpPr/>
            <p:nvPr/>
          </p:nvGrpSpPr>
          <p:grpSpPr bwMode="auto">
            <a:xfrm>
              <a:off x="3439" y="2610"/>
              <a:ext cx="535" cy="443"/>
              <a:chOff x="3464" y="1275"/>
              <a:chExt cx="395" cy="329"/>
            </a:xfrm>
          </p:grpSpPr>
          <p:pic>
            <p:nvPicPr>
              <p:cNvPr id="27731" name="Picture 89"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61" name="Object 90"/>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4" name="Clip" r:id="rId9" imgW="18192750" imgH="15087600" progId="">
                      <p:embed/>
                    </p:oleObj>
                  </mc:Choice>
                  <mc:Fallback>
                    <p:oleObj name="Clip" r:id="rId9" imgW="18192750" imgH="15087600" progId="">
                      <p:embed/>
                      <p:pic>
                        <p:nvPicPr>
                          <p:cNvPr id="0" name="Object 9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254067" name="Line 115"/>
          <p:cNvSpPr>
            <a:spLocks noChangeShapeType="1"/>
          </p:cNvSpPr>
          <p:nvPr/>
        </p:nvSpPr>
        <p:spPr bwMode="auto">
          <a:xfrm flipH="1">
            <a:off x="5930900" y="3021013"/>
            <a:ext cx="1011238" cy="1343025"/>
          </a:xfrm>
          <a:prstGeom prst="line">
            <a:avLst/>
          </a:prstGeom>
          <a:noFill/>
          <a:ln w="9525">
            <a:solidFill>
              <a:schemeClr val="tx1"/>
            </a:solidFill>
            <a:round/>
          </a:ln>
        </p:spPr>
        <p:txBody>
          <a:bodyPr/>
          <a:lstStyle/>
          <a:p>
            <a:endParaRPr lang="en-US"/>
          </a:p>
        </p:txBody>
      </p:sp>
      <p:sp>
        <p:nvSpPr>
          <p:cNvPr id="254068" name="Line 116"/>
          <p:cNvSpPr>
            <a:spLocks noChangeShapeType="1"/>
          </p:cNvSpPr>
          <p:nvPr/>
        </p:nvSpPr>
        <p:spPr bwMode="auto">
          <a:xfrm>
            <a:off x="6983413" y="2868613"/>
            <a:ext cx="692150" cy="1509712"/>
          </a:xfrm>
          <a:prstGeom prst="line">
            <a:avLst/>
          </a:prstGeom>
          <a:noFill/>
          <a:ln w="9525">
            <a:solidFill>
              <a:schemeClr val="tx1"/>
            </a:solidFill>
            <a:round/>
          </a:ln>
        </p:spPr>
        <p:txBody>
          <a:bodyPr/>
          <a:lstStyle/>
          <a:p>
            <a:endParaRPr lang="en-US"/>
          </a:p>
        </p:txBody>
      </p:sp>
      <p:sp>
        <p:nvSpPr>
          <p:cNvPr id="254069" name="Line 117"/>
          <p:cNvSpPr>
            <a:spLocks noChangeShapeType="1"/>
          </p:cNvSpPr>
          <p:nvPr/>
        </p:nvSpPr>
        <p:spPr bwMode="auto">
          <a:xfrm flipV="1">
            <a:off x="6013450" y="4335463"/>
            <a:ext cx="1703388" cy="1587"/>
          </a:xfrm>
          <a:prstGeom prst="line">
            <a:avLst/>
          </a:prstGeom>
          <a:noFill/>
          <a:ln w="9525">
            <a:solidFill>
              <a:schemeClr val="tx1"/>
            </a:solidFill>
            <a:round/>
          </a:ln>
        </p:spPr>
        <p:txBody>
          <a:bodyPr/>
          <a:lstStyle/>
          <a:p>
            <a:endParaRPr lang="en-US"/>
          </a:p>
        </p:txBody>
      </p:sp>
      <p:grpSp>
        <p:nvGrpSpPr>
          <p:cNvPr id="11" name="Group 125"/>
          <p:cNvGrpSpPr/>
          <p:nvPr/>
        </p:nvGrpSpPr>
        <p:grpSpPr bwMode="auto">
          <a:xfrm>
            <a:off x="7259638" y="3381375"/>
            <a:ext cx="1620837" cy="2074863"/>
            <a:chOff x="4564" y="2130"/>
            <a:chExt cx="1021" cy="1307"/>
          </a:xfrm>
        </p:grpSpPr>
        <p:sp>
          <p:nvSpPr>
            <p:cNvPr id="27703" name="Line 92"/>
            <p:cNvSpPr>
              <a:spLocks noChangeShapeType="1"/>
            </p:cNvSpPr>
            <p:nvPr/>
          </p:nvSpPr>
          <p:spPr bwMode="auto">
            <a:xfrm flipH="1" flipV="1">
              <a:off x="4808" y="2828"/>
              <a:ext cx="53" cy="393"/>
            </a:xfrm>
            <a:prstGeom prst="line">
              <a:avLst/>
            </a:prstGeom>
            <a:noFill/>
            <a:ln w="9525">
              <a:solidFill>
                <a:schemeClr val="tx1"/>
              </a:solidFill>
              <a:round/>
            </a:ln>
          </p:spPr>
          <p:txBody>
            <a:bodyPr/>
            <a:lstStyle/>
            <a:p>
              <a:endParaRPr lang="en-US"/>
            </a:p>
          </p:txBody>
        </p:sp>
        <p:sp>
          <p:nvSpPr>
            <p:cNvPr id="27704" name="Line 93"/>
            <p:cNvSpPr>
              <a:spLocks noChangeShapeType="1"/>
            </p:cNvSpPr>
            <p:nvPr/>
          </p:nvSpPr>
          <p:spPr bwMode="auto">
            <a:xfrm flipH="1" flipV="1">
              <a:off x="4843" y="2846"/>
              <a:ext cx="490" cy="296"/>
            </a:xfrm>
            <a:prstGeom prst="line">
              <a:avLst/>
            </a:prstGeom>
            <a:noFill/>
            <a:ln w="9525">
              <a:solidFill>
                <a:schemeClr val="tx1"/>
              </a:solidFill>
              <a:round/>
            </a:ln>
          </p:spPr>
          <p:txBody>
            <a:bodyPr/>
            <a:lstStyle/>
            <a:p>
              <a:endParaRPr lang="en-US"/>
            </a:p>
          </p:txBody>
        </p:sp>
        <p:sp>
          <p:nvSpPr>
            <p:cNvPr id="27705" name="Line 94"/>
            <p:cNvSpPr>
              <a:spLocks noChangeShapeType="1"/>
            </p:cNvSpPr>
            <p:nvPr/>
          </p:nvSpPr>
          <p:spPr bwMode="auto">
            <a:xfrm flipH="1" flipV="1">
              <a:off x="4818" y="2828"/>
              <a:ext cx="638" cy="61"/>
            </a:xfrm>
            <a:prstGeom prst="line">
              <a:avLst/>
            </a:prstGeom>
            <a:noFill/>
            <a:ln w="9525">
              <a:solidFill>
                <a:schemeClr val="tx1"/>
              </a:solidFill>
              <a:round/>
            </a:ln>
          </p:spPr>
          <p:txBody>
            <a:bodyPr/>
            <a:lstStyle/>
            <a:p>
              <a:endParaRPr lang="en-US"/>
            </a:p>
          </p:txBody>
        </p:sp>
        <p:sp>
          <p:nvSpPr>
            <p:cNvPr id="27706" name="Line 95"/>
            <p:cNvSpPr>
              <a:spLocks noChangeShapeType="1"/>
            </p:cNvSpPr>
            <p:nvPr/>
          </p:nvSpPr>
          <p:spPr bwMode="auto">
            <a:xfrm flipH="1">
              <a:off x="4818" y="2233"/>
              <a:ext cx="375" cy="604"/>
            </a:xfrm>
            <a:prstGeom prst="line">
              <a:avLst/>
            </a:prstGeom>
            <a:noFill/>
            <a:ln w="9525">
              <a:solidFill>
                <a:schemeClr val="tx1"/>
              </a:solidFill>
              <a:round/>
            </a:ln>
          </p:spPr>
          <p:txBody>
            <a:bodyPr/>
            <a:lstStyle/>
            <a:p>
              <a:endParaRPr lang="en-US"/>
            </a:p>
          </p:txBody>
        </p:sp>
        <p:sp>
          <p:nvSpPr>
            <p:cNvPr id="27707" name="Line 96"/>
            <p:cNvSpPr>
              <a:spLocks noChangeShapeType="1"/>
            </p:cNvSpPr>
            <p:nvPr/>
          </p:nvSpPr>
          <p:spPr bwMode="auto">
            <a:xfrm flipH="1">
              <a:off x="4835" y="2459"/>
              <a:ext cx="602" cy="412"/>
            </a:xfrm>
            <a:prstGeom prst="line">
              <a:avLst/>
            </a:prstGeom>
            <a:noFill/>
            <a:ln w="9525">
              <a:solidFill>
                <a:schemeClr val="tx1"/>
              </a:solidFill>
              <a:round/>
            </a:ln>
          </p:spPr>
          <p:txBody>
            <a:bodyPr/>
            <a:lstStyle/>
            <a:p>
              <a:endParaRPr lang="en-US"/>
            </a:p>
          </p:txBody>
        </p:sp>
        <p:grpSp>
          <p:nvGrpSpPr>
            <p:cNvPr id="27708" name="Group 100"/>
            <p:cNvGrpSpPr/>
            <p:nvPr/>
          </p:nvGrpSpPr>
          <p:grpSpPr bwMode="auto">
            <a:xfrm>
              <a:off x="5269" y="2759"/>
              <a:ext cx="316" cy="303"/>
              <a:chOff x="3464" y="1275"/>
              <a:chExt cx="395" cy="329"/>
            </a:xfrm>
          </p:grpSpPr>
          <p:pic>
            <p:nvPicPr>
              <p:cNvPr id="27719" name="Picture 101"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60" name="Object 102"/>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5" name="Clip" r:id="rId10" imgW="18192750" imgH="15087600" progId="">
                      <p:embed/>
                    </p:oleObj>
                  </mc:Choice>
                  <mc:Fallback>
                    <p:oleObj name="Clip" r:id="rId10" imgW="18192750" imgH="15087600" progId="">
                      <p:embed/>
                      <p:pic>
                        <p:nvPicPr>
                          <p:cNvPr id="0" name="Object 1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09" name="Group 103"/>
            <p:cNvGrpSpPr/>
            <p:nvPr/>
          </p:nvGrpSpPr>
          <p:grpSpPr bwMode="auto">
            <a:xfrm>
              <a:off x="5166" y="3081"/>
              <a:ext cx="316" cy="303"/>
              <a:chOff x="3464" y="1275"/>
              <a:chExt cx="395" cy="329"/>
            </a:xfrm>
          </p:grpSpPr>
          <p:pic>
            <p:nvPicPr>
              <p:cNvPr id="27718" name="Picture 104"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9" name="Object 105"/>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6" name="Clip" r:id="rId11" imgW="18192750" imgH="15087600" progId="">
                      <p:embed/>
                    </p:oleObj>
                  </mc:Choice>
                  <mc:Fallback>
                    <p:oleObj name="Clip" r:id="rId11" imgW="18192750" imgH="15087600" progId="">
                      <p:embed/>
                      <p:pic>
                        <p:nvPicPr>
                          <p:cNvPr id="0" name="Object 1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10" name="Group 106"/>
            <p:cNvGrpSpPr/>
            <p:nvPr/>
          </p:nvGrpSpPr>
          <p:grpSpPr bwMode="auto">
            <a:xfrm>
              <a:off x="5262" y="2375"/>
              <a:ext cx="316" cy="303"/>
              <a:chOff x="3464" y="1275"/>
              <a:chExt cx="395" cy="329"/>
            </a:xfrm>
          </p:grpSpPr>
          <p:pic>
            <p:nvPicPr>
              <p:cNvPr id="27717" name="Picture 107"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8" name="Object 108"/>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7" name="Clip" r:id="rId12" imgW="18192750" imgH="15087600" progId="">
                      <p:embed/>
                    </p:oleObj>
                  </mc:Choice>
                  <mc:Fallback>
                    <p:oleObj name="Clip" r:id="rId12" imgW="18192750" imgH="15087600" progId="">
                      <p:embed/>
                      <p:pic>
                        <p:nvPicPr>
                          <p:cNvPr id="0" name="Object 1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11" name="Group 109"/>
            <p:cNvGrpSpPr/>
            <p:nvPr/>
          </p:nvGrpSpPr>
          <p:grpSpPr bwMode="auto">
            <a:xfrm>
              <a:off x="5026" y="2130"/>
              <a:ext cx="316" cy="303"/>
              <a:chOff x="3464" y="1275"/>
              <a:chExt cx="395" cy="329"/>
            </a:xfrm>
          </p:grpSpPr>
          <p:pic>
            <p:nvPicPr>
              <p:cNvPr id="27716" name="Picture 110"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7" name="Object 111"/>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8" name="Clip" r:id="rId13" imgW="18192750" imgH="15087600" progId="">
                      <p:embed/>
                    </p:oleObj>
                  </mc:Choice>
                  <mc:Fallback>
                    <p:oleObj name="Clip" r:id="rId13" imgW="18192750" imgH="15087600" progId="">
                      <p:embed/>
                      <p:pic>
                        <p:nvPicPr>
                          <p:cNvPr id="0" name="Object 1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12" name="Group 97"/>
            <p:cNvGrpSpPr/>
            <p:nvPr/>
          </p:nvGrpSpPr>
          <p:grpSpPr bwMode="auto">
            <a:xfrm>
              <a:off x="4720" y="3134"/>
              <a:ext cx="316" cy="303"/>
              <a:chOff x="3464" y="1275"/>
              <a:chExt cx="395" cy="329"/>
            </a:xfrm>
          </p:grpSpPr>
          <p:pic>
            <p:nvPicPr>
              <p:cNvPr id="27715" name="Picture 98"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6" name="Object 99"/>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59" name="Clip" r:id="rId14" imgW="18192750" imgH="15087600" progId="">
                      <p:embed/>
                    </p:oleObj>
                  </mc:Choice>
                  <mc:Fallback>
                    <p:oleObj name="Clip" r:id="rId14" imgW="18192750" imgH="15087600" progId="">
                      <p:embed/>
                      <p:pic>
                        <p:nvPicPr>
                          <p:cNvPr id="0" name="Object 9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713" name="Group 112"/>
            <p:cNvGrpSpPr/>
            <p:nvPr/>
          </p:nvGrpSpPr>
          <p:grpSpPr bwMode="auto">
            <a:xfrm>
              <a:off x="4564" y="2655"/>
              <a:ext cx="535" cy="443"/>
              <a:chOff x="3464" y="1275"/>
              <a:chExt cx="395" cy="329"/>
            </a:xfrm>
          </p:grpSpPr>
          <p:pic>
            <p:nvPicPr>
              <p:cNvPr id="27714" name="Picture 113"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5" name="Object 114"/>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60" name="Clip" r:id="rId15" imgW="18192750" imgH="15087600" progId="">
                      <p:embed/>
                    </p:oleObj>
                  </mc:Choice>
                  <mc:Fallback>
                    <p:oleObj name="Clip" r:id="rId15" imgW="18192750" imgH="15087600" progId="">
                      <p:embed/>
                      <p:pic>
                        <p:nvPicPr>
                          <p:cNvPr id="0" name="Object 1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18" name="Group 123"/>
          <p:cNvGrpSpPr/>
          <p:nvPr/>
        </p:nvGrpSpPr>
        <p:grpSpPr bwMode="auto">
          <a:xfrm>
            <a:off x="5867400" y="1235075"/>
            <a:ext cx="3025775" cy="1425575"/>
            <a:chOff x="3696" y="778"/>
            <a:chExt cx="1906" cy="898"/>
          </a:xfrm>
        </p:grpSpPr>
        <p:grpSp>
          <p:nvGrpSpPr>
            <p:cNvPr id="27691" name="Group 121"/>
            <p:cNvGrpSpPr/>
            <p:nvPr/>
          </p:nvGrpSpPr>
          <p:grpSpPr bwMode="auto">
            <a:xfrm>
              <a:off x="3696" y="1085"/>
              <a:ext cx="1416" cy="591"/>
              <a:chOff x="3696" y="1085"/>
              <a:chExt cx="1416" cy="591"/>
            </a:xfrm>
          </p:grpSpPr>
          <p:grpSp>
            <p:nvGrpSpPr>
              <p:cNvPr id="27693" name="Group 44"/>
              <p:cNvGrpSpPr/>
              <p:nvPr/>
            </p:nvGrpSpPr>
            <p:grpSpPr bwMode="auto">
              <a:xfrm>
                <a:off x="3696" y="1373"/>
                <a:ext cx="316" cy="303"/>
                <a:chOff x="3464" y="1275"/>
                <a:chExt cx="395" cy="329"/>
              </a:xfrm>
            </p:grpSpPr>
            <p:pic>
              <p:nvPicPr>
                <p:cNvPr id="27702" name="Picture 4"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4" name="Object 23"/>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61" name="Clip" r:id="rId16" imgW="18192750" imgH="15087600" progId="">
                        <p:embed/>
                      </p:oleObj>
                    </mc:Choice>
                    <mc:Fallback>
                      <p:oleObj name="Clip" r:id="rId16" imgW="18192750" imgH="15087600" progId="">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694" name="Group 48"/>
              <p:cNvGrpSpPr/>
              <p:nvPr/>
            </p:nvGrpSpPr>
            <p:grpSpPr bwMode="auto">
              <a:xfrm>
                <a:off x="4219" y="1085"/>
                <a:ext cx="316" cy="303"/>
                <a:chOff x="3464" y="1275"/>
                <a:chExt cx="395" cy="329"/>
              </a:xfrm>
            </p:grpSpPr>
            <p:pic>
              <p:nvPicPr>
                <p:cNvPr id="27701" name="Picture 49"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3" name="Object 50"/>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62" name="Clip" r:id="rId17" imgW="18192750" imgH="15087600" progId="">
                        <p:embed/>
                      </p:oleObj>
                    </mc:Choice>
                    <mc:Fallback>
                      <p:oleObj name="Clip" r:id="rId17" imgW="18192750" imgH="15087600" progId="">
                        <p:embed/>
                        <p:pic>
                          <p:nvPicPr>
                            <p:cNvPr id="0"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695" name="Group 51"/>
              <p:cNvGrpSpPr/>
              <p:nvPr/>
            </p:nvGrpSpPr>
            <p:grpSpPr bwMode="auto">
              <a:xfrm>
                <a:off x="3888" y="1146"/>
                <a:ext cx="316" cy="303"/>
                <a:chOff x="3464" y="1275"/>
                <a:chExt cx="395" cy="329"/>
              </a:xfrm>
            </p:grpSpPr>
            <p:pic>
              <p:nvPicPr>
                <p:cNvPr id="27700" name="Picture 52"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2" name="Object 53"/>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63" name="Clip" r:id="rId18" imgW="18192750" imgH="15087600" progId="">
                        <p:embed/>
                      </p:oleObj>
                    </mc:Choice>
                    <mc:Fallback>
                      <p:oleObj name="Clip" r:id="rId18" imgW="18192750" imgH="15087600" progId="">
                        <p:embed/>
                        <p:pic>
                          <p:nvPicPr>
                            <p:cNvPr id="0" name="Object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696" name="Group 54"/>
              <p:cNvGrpSpPr/>
              <p:nvPr/>
            </p:nvGrpSpPr>
            <p:grpSpPr bwMode="auto">
              <a:xfrm>
                <a:off x="4796" y="1373"/>
                <a:ext cx="316" cy="303"/>
                <a:chOff x="3464" y="1275"/>
                <a:chExt cx="395" cy="329"/>
              </a:xfrm>
            </p:grpSpPr>
            <p:pic>
              <p:nvPicPr>
                <p:cNvPr id="27699" name="Picture 55"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1" name="Object 56"/>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64" name="Clip" r:id="rId19" imgW="18192750" imgH="15087600" progId="">
                        <p:embed/>
                      </p:oleObj>
                    </mc:Choice>
                    <mc:Fallback>
                      <p:oleObj name="Clip" r:id="rId19" imgW="18192750" imgH="15087600" progId="">
                        <p:embed/>
                        <p:pic>
                          <p:nvPicPr>
                            <p:cNvPr id="0" name="Object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7697" name="Group 57"/>
              <p:cNvGrpSpPr/>
              <p:nvPr/>
            </p:nvGrpSpPr>
            <p:grpSpPr bwMode="auto">
              <a:xfrm>
                <a:off x="4560" y="1128"/>
                <a:ext cx="316" cy="303"/>
                <a:chOff x="3464" y="1275"/>
                <a:chExt cx="395" cy="329"/>
              </a:xfrm>
            </p:grpSpPr>
            <p:pic>
              <p:nvPicPr>
                <p:cNvPr id="27698" name="Picture 58"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7650" name="Object 59"/>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7865" name="Clip" r:id="rId20" imgW="18192750" imgH="15087600" progId="">
                        <p:embed/>
                      </p:oleObj>
                    </mc:Choice>
                    <mc:Fallback>
                      <p:oleObj name="Clip" r:id="rId20" imgW="18192750" imgH="15087600" progId="">
                        <p:embed/>
                        <p:pic>
                          <p:nvPicPr>
                            <p:cNvPr id="0" name="Object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27692" name="Text Box 118"/>
            <p:cNvSpPr txBox="1">
              <a:spLocks noChangeArrowheads="1"/>
            </p:cNvSpPr>
            <p:nvPr/>
          </p:nvSpPr>
          <p:spPr bwMode="auto">
            <a:xfrm>
              <a:off x="4115" y="778"/>
              <a:ext cx="1487" cy="250"/>
            </a:xfrm>
            <a:prstGeom prst="rect">
              <a:avLst/>
            </a:prstGeom>
            <a:noFill/>
            <a:ln w="9525" algn="ctr">
              <a:noFill/>
              <a:miter lim="800000"/>
            </a:ln>
          </p:spPr>
          <p:txBody>
            <a:bodyPr wrap="none">
              <a:spAutoFit/>
            </a:bodyPr>
            <a:lstStyle/>
            <a:p>
              <a:pPr marL="342900" indent="-342900"/>
              <a:r>
                <a:rPr lang="en-US" sz="2000"/>
                <a:t>Skype clients (SC)</a:t>
              </a:r>
              <a:endParaRPr lang="en-US" sz="2000"/>
            </a:p>
          </p:txBody>
        </p:sp>
      </p:grpSp>
      <p:sp>
        <p:nvSpPr>
          <p:cNvPr id="254071" name="Text Box 119"/>
          <p:cNvSpPr txBox="1">
            <a:spLocks noChangeArrowheads="1"/>
          </p:cNvSpPr>
          <p:nvPr/>
        </p:nvSpPr>
        <p:spPr bwMode="auto">
          <a:xfrm>
            <a:off x="7242175" y="2746375"/>
            <a:ext cx="1522413" cy="762000"/>
          </a:xfrm>
          <a:prstGeom prst="rect">
            <a:avLst/>
          </a:prstGeom>
          <a:noFill/>
          <a:ln w="9525" algn="ctr">
            <a:noFill/>
            <a:miter lim="800000"/>
          </a:ln>
        </p:spPr>
        <p:txBody>
          <a:bodyPr wrap="none">
            <a:spAutoFit/>
          </a:bodyPr>
          <a:lstStyle/>
          <a:p>
            <a:pPr marL="342900" indent="-342900"/>
            <a:r>
              <a:rPr lang="en-US" sz="2000"/>
              <a:t>Supernode </a:t>
            </a:r>
            <a:endParaRPr lang="en-US" sz="2000"/>
          </a:p>
          <a:p>
            <a:pPr marL="342900" indent="-342900"/>
            <a:r>
              <a:rPr lang="en-US" sz="2000"/>
              <a:t>(SN)</a:t>
            </a:r>
            <a:endParaRPr lang="en-US" sz="2000"/>
          </a:p>
        </p:txBody>
      </p:sp>
      <p:grpSp>
        <p:nvGrpSpPr>
          <p:cNvPr id="25" name="Group 127"/>
          <p:cNvGrpSpPr/>
          <p:nvPr/>
        </p:nvGrpSpPr>
        <p:grpSpPr bwMode="auto">
          <a:xfrm>
            <a:off x="4189413" y="1677988"/>
            <a:ext cx="1574800" cy="1476375"/>
            <a:chOff x="2639" y="1057"/>
            <a:chExt cx="992" cy="930"/>
          </a:xfrm>
        </p:grpSpPr>
        <p:grpSp>
          <p:nvGrpSpPr>
            <p:cNvPr id="27681" name="Group 6"/>
            <p:cNvGrpSpPr/>
            <p:nvPr/>
          </p:nvGrpSpPr>
          <p:grpSpPr bwMode="auto">
            <a:xfrm>
              <a:off x="2974" y="1057"/>
              <a:ext cx="269" cy="547"/>
              <a:chOff x="4180" y="783"/>
              <a:chExt cx="150" cy="307"/>
            </a:xfrm>
          </p:grpSpPr>
          <p:sp>
            <p:nvSpPr>
              <p:cNvPr id="27683" name="AutoShape 7"/>
              <p:cNvSpPr>
                <a:spLocks noChangeArrowheads="1"/>
              </p:cNvSpPr>
              <p:nvPr/>
            </p:nvSpPr>
            <p:spPr bwMode="auto">
              <a:xfrm>
                <a:off x="4180" y="1019"/>
                <a:ext cx="150" cy="71"/>
              </a:xfrm>
              <a:prstGeom prst="parallelogram">
                <a:avLst>
                  <a:gd name="adj" fmla="val 81387"/>
                </a:avLst>
              </a:prstGeom>
              <a:solidFill>
                <a:srgbClr val="33CCCC"/>
              </a:solidFill>
              <a:ln w="9525">
                <a:noFill/>
                <a:miter lim="800000"/>
              </a:ln>
            </p:spPr>
            <p:txBody>
              <a:bodyPr wrap="none" anchor="ctr"/>
              <a:lstStyle/>
              <a:p>
                <a:endParaRPr lang="en-US"/>
              </a:p>
            </p:txBody>
          </p:sp>
          <p:sp>
            <p:nvSpPr>
              <p:cNvPr id="27684" name="Rectangle 8"/>
              <p:cNvSpPr>
                <a:spLocks noChangeArrowheads="1"/>
              </p:cNvSpPr>
              <p:nvPr/>
            </p:nvSpPr>
            <p:spPr bwMode="auto">
              <a:xfrm>
                <a:off x="4256" y="785"/>
                <a:ext cx="69" cy="236"/>
              </a:xfrm>
              <a:prstGeom prst="rect">
                <a:avLst/>
              </a:prstGeom>
              <a:solidFill>
                <a:srgbClr val="33CCCC"/>
              </a:solidFill>
              <a:ln w="9525">
                <a:noFill/>
                <a:miter lim="800000"/>
              </a:ln>
            </p:spPr>
            <p:txBody>
              <a:bodyPr wrap="none" anchor="ctr"/>
              <a:lstStyle/>
              <a:p>
                <a:endParaRPr lang="en-US"/>
              </a:p>
            </p:txBody>
          </p:sp>
          <p:sp>
            <p:nvSpPr>
              <p:cNvPr id="27685"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ln>
            </p:spPr>
            <p:txBody>
              <a:bodyPr wrap="none" anchor="ctr"/>
              <a:lstStyle/>
              <a:p>
                <a:endParaRPr lang="en-US"/>
              </a:p>
            </p:txBody>
          </p:sp>
          <p:sp>
            <p:nvSpPr>
              <p:cNvPr id="27686"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ln>
            </p:spPr>
            <p:txBody>
              <a:bodyPr wrap="none" anchor="ctr"/>
              <a:lstStyle/>
              <a:p>
                <a:endParaRPr lang="en-US"/>
              </a:p>
            </p:txBody>
          </p:sp>
          <p:sp>
            <p:nvSpPr>
              <p:cNvPr id="27687" name="Line 11"/>
              <p:cNvSpPr>
                <a:spLocks noChangeShapeType="1"/>
              </p:cNvSpPr>
              <p:nvPr/>
            </p:nvSpPr>
            <p:spPr bwMode="auto">
              <a:xfrm>
                <a:off x="4330" y="788"/>
                <a:ext cx="0" cy="231"/>
              </a:xfrm>
              <a:prstGeom prst="line">
                <a:avLst/>
              </a:prstGeom>
              <a:noFill/>
              <a:ln w="9525">
                <a:solidFill>
                  <a:schemeClr val="tx1"/>
                </a:solidFill>
                <a:round/>
              </a:ln>
            </p:spPr>
            <p:txBody>
              <a:bodyPr wrap="none" anchor="ctr"/>
              <a:lstStyle/>
              <a:p>
                <a:endParaRPr lang="en-US"/>
              </a:p>
            </p:txBody>
          </p:sp>
          <p:sp>
            <p:nvSpPr>
              <p:cNvPr id="27688" name="Line 12"/>
              <p:cNvSpPr>
                <a:spLocks noChangeShapeType="1"/>
              </p:cNvSpPr>
              <p:nvPr/>
            </p:nvSpPr>
            <p:spPr bwMode="auto">
              <a:xfrm flipH="1">
                <a:off x="4276" y="1019"/>
                <a:ext cx="54" cy="69"/>
              </a:xfrm>
              <a:prstGeom prst="line">
                <a:avLst/>
              </a:prstGeom>
              <a:noFill/>
              <a:ln w="9525">
                <a:solidFill>
                  <a:schemeClr val="tx1"/>
                </a:solidFill>
                <a:round/>
              </a:ln>
            </p:spPr>
            <p:txBody>
              <a:bodyPr wrap="none" anchor="ctr"/>
              <a:lstStyle/>
              <a:p>
                <a:endParaRPr lang="en-US"/>
              </a:p>
            </p:txBody>
          </p:sp>
          <p:sp>
            <p:nvSpPr>
              <p:cNvPr id="27689"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ln>
            </p:spPr>
            <p:txBody>
              <a:bodyPr wrap="none" anchor="ctr"/>
              <a:lstStyle/>
              <a:p>
                <a:endParaRPr lang="en-US"/>
              </a:p>
            </p:txBody>
          </p:sp>
          <p:sp>
            <p:nvSpPr>
              <p:cNvPr id="27690" name="Rectangle 14"/>
              <p:cNvSpPr>
                <a:spLocks noChangeArrowheads="1"/>
              </p:cNvSpPr>
              <p:nvPr/>
            </p:nvSpPr>
            <p:spPr bwMode="auto">
              <a:xfrm>
                <a:off x="4202" y="924"/>
                <a:ext cx="48" cy="48"/>
              </a:xfrm>
              <a:prstGeom prst="rect">
                <a:avLst/>
              </a:prstGeom>
              <a:solidFill>
                <a:schemeClr val="bg1"/>
              </a:solidFill>
              <a:ln w="9525">
                <a:noFill/>
                <a:miter lim="800000"/>
              </a:ln>
            </p:spPr>
            <p:txBody>
              <a:bodyPr wrap="none" anchor="ctr"/>
              <a:lstStyle/>
              <a:p>
                <a:endParaRPr lang="en-US"/>
              </a:p>
            </p:txBody>
          </p:sp>
        </p:grpSp>
        <p:sp>
          <p:nvSpPr>
            <p:cNvPr id="27682" name="Text Box 120"/>
            <p:cNvSpPr txBox="1">
              <a:spLocks noChangeArrowheads="1"/>
            </p:cNvSpPr>
            <p:nvPr/>
          </p:nvSpPr>
          <p:spPr bwMode="auto">
            <a:xfrm>
              <a:off x="2639" y="1603"/>
              <a:ext cx="992" cy="384"/>
            </a:xfrm>
            <a:prstGeom prst="rect">
              <a:avLst/>
            </a:prstGeom>
            <a:noFill/>
            <a:ln w="9525" algn="ctr">
              <a:noFill/>
              <a:miter lim="800000"/>
            </a:ln>
          </p:spPr>
          <p:txBody>
            <a:bodyPr wrap="none">
              <a:spAutoFit/>
            </a:bodyPr>
            <a:lstStyle/>
            <a:p>
              <a:pPr marL="342900" indent="-342900" algn="ctr">
                <a:lnSpc>
                  <a:spcPct val="75000"/>
                </a:lnSpc>
              </a:pPr>
              <a:r>
                <a:rPr lang="en-US" sz="2000"/>
                <a:t>Skype </a:t>
              </a:r>
              <a:endParaRPr lang="en-US" sz="2000"/>
            </a:p>
            <a:p>
              <a:pPr marL="342900" indent="-342900" algn="ctr">
                <a:lnSpc>
                  <a:spcPct val="75000"/>
                </a:lnSpc>
              </a:pPr>
              <a:r>
                <a:rPr lang="en-US" sz="2000"/>
                <a:t>login server</a:t>
              </a:r>
              <a:endParaRPr lang="en-US" sz="20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4071">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407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1"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5406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5406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5406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067" grpId="0" animBg="1"/>
      <p:bldP spid="254068" grpId="0" animBg="1"/>
      <p:bldP spid="254069"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1"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8692" name="Slide Number Placeholder 5"/>
          <p:cNvSpPr>
            <a:spLocks noGrp="1"/>
          </p:cNvSpPr>
          <p:nvPr>
            <p:ph type="sldNum" sz="quarter" idx="12"/>
          </p:nvPr>
        </p:nvSpPr>
        <p:spPr>
          <a:noFill/>
        </p:spPr>
        <p:txBody>
          <a:bodyPr/>
          <a:lstStyle/>
          <a:p>
            <a:fld id="{CDA0F148-01F3-40ED-97BA-695A23789EAE}" type="slidenum">
              <a:rPr lang="en-US"/>
            </a:fld>
            <a:endParaRPr lang="en-US"/>
          </a:p>
        </p:txBody>
      </p:sp>
      <p:sp>
        <p:nvSpPr>
          <p:cNvPr id="28693" name="Rectangle 2"/>
          <p:cNvSpPr>
            <a:spLocks noGrp="1" noChangeArrowheads="1"/>
          </p:cNvSpPr>
          <p:nvPr>
            <p:ph type="title"/>
          </p:nvPr>
        </p:nvSpPr>
        <p:spPr/>
        <p:txBody>
          <a:bodyPr/>
          <a:lstStyle/>
          <a:p>
            <a:r>
              <a:rPr lang="en-US"/>
              <a:t>Peers as relays</a:t>
            </a:r>
            <a:endParaRPr lang="en-US"/>
          </a:p>
        </p:txBody>
      </p:sp>
      <p:sp>
        <p:nvSpPr>
          <p:cNvPr id="28694" name="Rectangle 3"/>
          <p:cNvSpPr>
            <a:spLocks noGrp="1" noChangeArrowheads="1"/>
          </p:cNvSpPr>
          <p:nvPr>
            <p:ph type="body" idx="1"/>
          </p:nvPr>
        </p:nvSpPr>
        <p:spPr>
          <a:xfrm>
            <a:off x="533400" y="1600200"/>
            <a:ext cx="3997325" cy="4648200"/>
          </a:xfrm>
        </p:spPr>
        <p:txBody>
          <a:bodyPr/>
          <a:lstStyle/>
          <a:p>
            <a:pPr>
              <a:lnSpc>
                <a:spcPct val="90000"/>
              </a:lnSpc>
            </a:pPr>
            <a:r>
              <a:rPr lang="en-US" sz="2400"/>
              <a:t>Problem when both Alice and Bob are behind  “NATs”. </a:t>
            </a:r>
            <a:endParaRPr lang="en-US" sz="2400"/>
          </a:p>
          <a:p>
            <a:pPr lvl="1">
              <a:lnSpc>
                <a:spcPct val="90000"/>
              </a:lnSpc>
            </a:pPr>
            <a:r>
              <a:rPr lang="en-US" sz="2000"/>
              <a:t>NAT prevents an outside peer from initiating a call to insider peer</a:t>
            </a:r>
            <a:endParaRPr lang="en-US" sz="2000"/>
          </a:p>
          <a:p>
            <a:pPr>
              <a:lnSpc>
                <a:spcPct val="90000"/>
              </a:lnSpc>
            </a:pPr>
            <a:r>
              <a:rPr lang="en-US" sz="2400"/>
              <a:t>Solution:</a:t>
            </a:r>
            <a:endParaRPr lang="en-US" sz="2400"/>
          </a:p>
          <a:p>
            <a:pPr lvl="1">
              <a:lnSpc>
                <a:spcPct val="90000"/>
              </a:lnSpc>
            </a:pPr>
            <a:r>
              <a:rPr lang="en-US" sz="2000"/>
              <a:t>Using Alice’s and Bob’s SNs, Relay is chosen</a:t>
            </a:r>
            <a:endParaRPr lang="en-US" sz="2000"/>
          </a:p>
          <a:p>
            <a:pPr lvl="1">
              <a:lnSpc>
                <a:spcPct val="90000"/>
              </a:lnSpc>
            </a:pPr>
            <a:r>
              <a:rPr lang="en-US" sz="2000"/>
              <a:t>Each peer initiates session with relay. </a:t>
            </a:r>
            <a:endParaRPr lang="en-US" sz="2000"/>
          </a:p>
          <a:p>
            <a:pPr lvl="1">
              <a:lnSpc>
                <a:spcPct val="90000"/>
              </a:lnSpc>
            </a:pPr>
            <a:r>
              <a:rPr lang="en-US" sz="2000"/>
              <a:t>Peers can now communicate through NATs via relay</a:t>
            </a:r>
            <a:endParaRPr lang="en-US" sz="2000"/>
          </a:p>
        </p:txBody>
      </p:sp>
      <p:grpSp>
        <p:nvGrpSpPr>
          <p:cNvPr id="28695" name="Group 4"/>
          <p:cNvGrpSpPr/>
          <p:nvPr/>
        </p:nvGrpSpPr>
        <p:grpSpPr bwMode="auto">
          <a:xfrm>
            <a:off x="4751388" y="1722438"/>
            <a:ext cx="4129087" cy="3814762"/>
            <a:chOff x="2993" y="1085"/>
            <a:chExt cx="2601" cy="2403"/>
          </a:xfrm>
        </p:grpSpPr>
        <p:sp>
          <p:nvSpPr>
            <p:cNvPr id="28696" name="Line 5"/>
            <p:cNvSpPr>
              <a:spLocks noChangeShapeType="1"/>
            </p:cNvSpPr>
            <p:nvPr/>
          </p:nvSpPr>
          <p:spPr bwMode="auto">
            <a:xfrm>
              <a:off x="3941" y="1599"/>
              <a:ext cx="401" cy="227"/>
            </a:xfrm>
            <a:prstGeom prst="line">
              <a:avLst/>
            </a:prstGeom>
            <a:noFill/>
            <a:ln w="9525">
              <a:solidFill>
                <a:schemeClr val="tx1"/>
              </a:solidFill>
              <a:round/>
            </a:ln>
          </p:spPr>
          <p:txBody>
            <a:bodyPr/>
            <a:lstStyle/>
            <a:p>
              <a:endParaRPr lang="en-US"/>
            </a:p>
          </p:txBody>
        </p:sp>
        <p:sp>
          <p:nvSpPr>
            <p:cNvPr id="28697" name="Line 6"/>
            <p:cNvSpPr>
              <a:spLocks noChangeShapeType="1"/>
            </p:cNvSpPr>
            <p:nvPr/>
          </p:nvSpPr>
          <p:spPr bwMode="auto">
            <a:xfrm>
              <a:off x="4063" y="1232"/>
              <a:ext cx="314" cy="612"/>
            </a:xfrm>
            <a:prstGeom prst="line">
              <a:avLst/>
            </a:prstGeom>
            <a:noFill/>
            <a:ln w="9525">
              <a:solidFill>
                <a:schemeClr val="tx1"/>
              </a:solidFill>
              <a:round/>
            </a:ln>
          </p:spPr>
          <p:txBody>
            <a:bodyPr/>
            <a:lstStyle/>
            <a:p>
              <a:endParaRPr lang="en-US"/>
            </a:p>
          </p:txBody>
        </p:sp>
        <p:sp>
          <p:nvSpPr>
            <p:cNvPr id="28698" name="Line 7"/>
            <p:cNvSpPr>
              <a:spLocks noChangeShapeType="1"/>
            </p:cNvSpPr>
            <p:nvPr/>
          </p:nvSpPr>
          <p:spPr bwMode="auto">
            <a:xfrm flipH="1">
              <a:off x="4352" y="1127"/>
              <a:ext cx="9" cy="699"/>
            </a:xfrm>
            <a:prstGeom prst="line">
              <a:avLst/>
            </a:prstGeom>
            <a:noFill/>
            <a:ln w="9525">
              <a:solidFill>
                <a:schemeClr val="tx1"/>
              </a:solidFill>
              <a:round/>
            </a:ln>
          </p:spPr>
          <p:txBody>
            <a:bodyPr/>
            <a:lstStyle/>
            <a:p>
              <a:endParaRPr lang="en-US"/>
            </a:p>
          </p:txBody>
        </p:sp>
        <p:sp>
          <p:nvSpPr>
            <p:cNvPr id="28699" name="Line 8"/>
            <p:cNvSpPr>
              <a:spLocks noChangeShapeType="1"/>
            </p:cNvSpPr>
            <p:nvPr/>
          </p:nvSpPr>
          <p:spPr bwMode="auto">
            <a:xfrm flipH="1">
              <a:off x="4369" y="1457"/>
              <a:ext cx="602" cy="412"/>
            </a:xfrm>
            <a:prstGeom prst="line">
              <a:avLst/>
            </a:prstGeom>
            <a:noFill/>
            <a:ln w="9525">
              <a:solidFill>
                <a:schemeClr val="tx1"/>
              </a:solidFill>
              <a:round/>
            </a:ln>
          </p:spPr>
          <p:txBody>
            <a:bodyPr/>
            <a:lstStyle/>
            <a:p>
              <a:endParaRPr lang="en-US"/>
            </a:p>
          </p:txBody>
        </p:sp>
        <p:grpSp>
          <p:nvGrpSpPr>
            <p:cNvPr id="28700" name="Group 9"/>
            <p:cNvGrpSpPr/>
            <p:nvPr/>
          </p:nvGrpSpPr>
          <p:grpSpPr bwMode="auto">
            <a:xfrm>
              <a:off x="4098" y="1653"/>
              <a:ext cx="535" cy="443"/>
              <a:chOff x="3464" y="1275"/>
              <a:chExt cx="395" cy="329"/>
            </a:xfrm>
          </p:grpSpPr>
          <p:pic>
            <p:nvPicPr>
              <p:cNvPr id="28751" name="Picture 10"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90" name="Object 11"/>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61" name="Clip" r:id="rId2" imgW="18192750" imgH="15087600" progId="">
                      <p:embed/>
                    </p:oleObj>
                  </mc:Choice>
                  <mc:Fallback>
                    <p:oleObj name="Clip" r:id="rId2" imgW="18192750" imgH="15087600" progId="">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701" name="Line 12"/>
            <p:cNvSpPr>
              <a:spLocks noChangeShapeType="1"/>
            </p:cNvSpPr>
            <p:nvPr/>
          </p:nvSpPr>
          <p:spPr bwMode="auto">
            <a:xfrm flipV="1">
              <a:off x="3622" y="2775"/>
              <a:ext cx="61" cy="463"/>
            </a:xfrm>
            <a:prstGeom prst="line">
              <a:avLst/>
            </a:prstGeom>
            <a:noFill/>
            <a:ln w="9525">
              <a:solidFill>
                <a:schemeClr val="tx1"/>
              </a:solidFill>
              <a:round/>
            </a:ln>
          </p:spPr>
          <p:txBody>
            <a:bodyPr/>
            <a:lstStyle/>
            <a:p>
              <a:endParaRPr lang="en-US"/>
            </a:p>
          </p:txBody>
        </p:sp>
        <p:sp>
          <p:nvSpPr>
            <p:cNvPr id="28702" name="Line 13"/>
            <p:cNvSpPr>
              <a:spLocks noChangeShapeType="1"/>
            </p:cNvSpPr>
            <p:nvPr/>
          </p:nvSpPr>
          <p:spPr bwMode="auto">
            <a:xfrm>
              <a:off x="3405" y="2181"/>
              <a:ext cx="313" cy="612"/>
            </a:xfrm>
            <a:prstGeom prst="line">
              <a:avLst/>
            </a:prstGeom>
            <a:noFill/>
            <a:ln w="9525">
              <a:solidFill>
                <a:schemeClr val="tx1"/>
              </a:solidFill>
              <a:round/>
            </a:ln>
          </p:spPr>
          <p:txBody>
            <a:bodyPr/>
            <a:lstStyle/>
            <a:p>
              <a:endParaRPr lang="en-US"/>
            </a:p>
          </p:txBody>
        </p:sp>
        <p:sp>
          <p:nvSpPr>
            <p:cNvPr id="28703" name="Line 14"/>
            <p:cNvSpPr>
              <a:spLocks noChangeShapeType="1"/>
            </p:cNvSpPr>
            <p:nvPr/>
          </p:nvSpPr>
          <p:spPr bwMode="auto">
            <a:xfrm>
              <a:off x="3265" y="2556"/>
              <a:ext cx="428" cy="219"/>
            </a:xfrm>
            <a:prstGeom prst="line">
              <a:avLst/>
            </a:prstGeom>
            <a:noFill/>
            <a:ln w="9525">
              <a:solidFill>
                <a:schemeClr val="tx1"/>
              </a:solidFill>
              <a:round/>
            </a:ln>
          </p:spPr>
          <p:txBody>
            <a:bodyPr/>
            <a:lstStyle/>
            <a:p>
              <a:endParaRPr lang="en-US"/>
            </a:p>
          </p:txBody>
        </p:sp>
        <p:sp>
          <p:nvSpPr>
            <p:cNvPr id="28704" name="Line 15"/>
            <p:cNvSpPr>
              <a:spLocks noChangeShapeType="1"/>
            </p:cNvSpPr>
            <p:nvPr/>
          </p:nvSpPr>
          <p:spPr bwMode="auto">
            <a:xfrm flipV="1">
              <a:off x="3117" y="2784"/>
              <a:ext cx="576" cy="120"/>
            </a:xfrm>
            <a:prstGeom prst="line">
              <a:avLst/>
            </a:prstGeom>
            <a:noFill/>
            <a:ln w="9525">
              <a:solidFill>
                <a:schemeClr val="tx1"/>
              </a:solidFill>
              <a:round/>
            </a:ln>
          </p:spPr>
          <p:txBody>
            <a:bodyPr/>
            <a:lstStyle/>
            <a:p>
              <a:endParaRPr lang="en-US"/>
            </a:p>
          </p:txBody>
        </p:sp>
        <p:sp>
          <p:nvSpPr>
            <p:cNvPr id="28705" name="Line 16"/>
            <p:cNvSpPr>
              <a:spLocks noChangeShapeType="1"/>
            </p:cNvSpPr>
            <p:nvPr/>
          </p:nvSpPr>
          <p:spPr bwMode="auto">
            <a:xfrm flipV="1">
              <a:off x="3238" y="2818"/>
              <a:ext cx="472" cy="478"/>
            </a:xfrm>
            <a:prstGeom prst="line">
              <a:avLst/>
            </a:prstGeom>
            <a:noFill/>
            <a:ln w="9525">
              <a:solidFill>
                <a:schemeClr val="tx1"/>
              </a:solidFill>
              <a:round/>
            </a:ln>
          </p:spPr>
          <p:txBody>
            <a:bodyPr/>
            <a:lstStyle/>
            <a:p>
              <a:endParaRPr lang="en-US"/>
            </a:p>
          </p:txBody>
        </p:sp>
        <p:grpSp>
          <p:nvGrpSpPr>
            <p:cNvPr id="28706" name="Group 17"/>
            <p:cNvGrpSpPr/>
            <p:nvPr/>
          </p:nvGrpSpPr>
          <p:grpSpPr bwMode="auto">
            <a:xfrm>
              <a:off x="3125" y="3091"/>
              <a:ext cx="316" cy="303"/>
              <a:chOff x="3464" y="1275"/>
              <a:chExt cx="395" cy="329"/>
            </a:xfrm>
          </p:grpSpPr>
          <p:pic>
            <p:nvPicPr>
              <p:cNvPr id="28750" name="Picture 18"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9" name="Object 19"/>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62" name="Clip" r:id="rId4" imgW="18192750" imgH="15087600" progId="">
                      <p:embed/>
                    </p:oleObj>
                  </mc:Choice>
                  <mc:Fallback>
                    <p:oleObj name="Clip" r:id="rId4" imgW="18192750" imgH="15087600" progId="">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07" name="Group 20"/>
            <p:cNvGrpSpPr/>
            <p:nvPr/>
          </p:nvGrpSpPr>
          <p:grpSpPr bwMode="auto">
            <a:xfrm>
              <a:off x="2993" y="2768"/>
              <a:ext cx="316" cy="303"/>
              <a:chOff x="3464" y="1275"/>
              <a:chExt cx="395" cy="329"/>
            </a:xfrm>
          </p:grpSpPr>
          <p:pic>
            <p:nvPicPr>
              <p:cNvPr id="28749" name="Picture 21"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8" name="Object 22"/>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63" name="Clip" r:id="rId5" imgW="18192750" imgH="15087600" progId="">
                      <p:embed/>
                    </p:oleObj>
                  </mc:Choice>
                  <mc:Fallback>
                    <p:oleObj name="Clip" r:id="rId5" imgW="18192750" imgH="15087600" progId="">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08" name="Group 23"/>
            <p:cNvGrpSpPr/>
            <p:nvPr/>
          </p:nvGrpSpPr>
          <p:grpSpPr bwMode="auto">
            <a:xfrm>
              <a:off x="3509" y="3185"/>
              <a:ext cx="316" cy="303"/>
              <a:chOff x="3464" y="1275"/>
              <a:chExt cx="395" cy="329"/>
            </a:xfrm>
          </p:grpSpPr>
          <p:pic>
            <p:nvPicPr>
              <p:cNvPr id="28748" name="Picture 24"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7" name="Object 25"/>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64" name="Clip" r:id="rId6" imgW="18192750" imgH="15087600" progId="">
                      <p:embed/>
                    </p:oleObj>
                  </mc:Choice>
                  <mc:Fallback>
                    <p:oleObj name="Clip" r:id="rId6" imgW="18192750" imgH="15087600" progId="">
                      <p:embed/>
                      <p:pic>
                        <p:nvPicPr>
                          <p:cNvPr id="0"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09" name="Group 26"/>
            <p:cNvGrpSpPr/>
            <p:nvPr/>
          </p:nvGrpSpPr>
          <p:grpSpPr bwMode="auto">
            <a:xfrm>
              <a:off x="3264" y="2174"/>
              <a:ext cx="316" cy="303"/>
              <a:chOff x="3464" y="1275"/>
              <a:chExt cx="395" cy="329"/>
            </a:xfrm>
          </p:grpSpPr>
          <p:pic>
            <p:nvPicPr>
              <p:cNvPr id="28747" name="Picture 27"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6" name="Object 28"/>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65" name="Clip" r:id="rId7" imgW="18192750" imgH="15087600" progId="">
                      <p:embed/>
                    </p:oleObj>
                  </mc:Choice>
                  <mc:Fallback>
                    <p:oleObj name="Clip" r:id="rId7" imgW="18192750" imgH="15087600" progId="">
                      <p:embed/>
                      <p:pic>
                        <p:nvPicPr>
                          <p:cNvPr id="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10" name="Group 29"/>
            <p:cNvGrpSpPr/>
            <p:nvPr/>
          </p:nvGrpSpPr>
          <p:grpSpPr bwMode="auto">
            <a:xfrm>
              <a:off x="3019" y="2408"/>
              <a:ext cx="316" cy="303"/>
              <a:chOff x="3464" y="1275"/>
              <a:chExt cx="395" cy="329"/>
            </a:xfrm>
          </p:grpSpPr>
          <p:pic>
            <p:nvPicPr>
              <p:cNvPr id="28746" name="Picture 30"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5" name="Object 31"/>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66" name="Clip" r:id="rId8" imgW="18192750" imgH="15087600" progId="">
                      <p:embed/>
                    </p:oleObj>
                  </mc:Choice>
                  <mc:Fallback>
                    <p:oleObj name="Clip" r:id="rId8" imgW="18192750" imgH="15087600" progId="">
                      <p:embed/>
                      <p:pic>
                        <p:nvPicPr>
                          <p:cNvPr id="0" name="Object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11" name="Group 32"/>
            <p:cNvGrpSpPr/>
            <p:nvPr/>
          </p:nvGrpSpPr>
          <p:grpSpPr bwMode="auto">
            <a:xfrm>
              <a:off x="3439" y="2610"/>
              <a:ext cx="535" cy="443"/>
              <a:chOff x="3464" y="1275"/>
              <a:chExt cx="395" cy="329"/>
            </a:xfrm>
          </p:grpSpPr>
          <p:pic>
            <p:nvPicPr>
              <p:cNvPr id="28745" name="Picture 33"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4" name="Object 34"/>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67" name="Clip" r:id="rId9" imgW="18192750" imgH="15087600" progId="">
                      <p:embed/>
                    </p:oleObj>
                  </mc:Choice>
                  <mc:Fallback>
                    <p:oleObj name="Clip" r:id="rId9" imgW="18192750" imgH="15087600" progId="">
                      <p:embed/>
                      <p:pic>
                        <p:nvPicPr>
                          <p:cNvPr id="0" name="Object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712" name="Line 35"/>
            <p:cNvSpPr>
              <a:spLocks noChangeShapeType="1"/>
            </p:cNvSpPr>
            <p:nvPr/>
          </p:nvSpPr>
          <p:spPr bwMode="auto">
            <a:xfrm flipH="1">
              <a:off x="3736" y="1903"/>
              <a:ext cx="637" cy="846"/>
            </a:xfrm>
            <a:prstGeom prst="line">
              <a:avLst/>
            </a:prstGeom>
            <a:noFill/>
            <a:ln w="9525">
              <a:solidFill>
                <a:schemeClr val="tx1"/>
              </a:solidFill>
              <a:round/>
            </a:ln>
          </p:spPr>
          <p:txBody>
            <a:bodyPr/>
            <a:lstStyle/>
            <a:p>
              <a:endParaRPr lang="en-US"/>
            </a:p>
          </p:txBody>
        </p:sp>
        <p:sp>
          <p:nvSpPr>
            <p:cNvPr id="28713" name="Line 36"/>
            <p:cNvSpPr>
              <a:spLocks noChangeShapeType="1"/>
            </p:cNvSpPr>
            <p:nvPr/>
          </p:nvSpPr>
          <p:spPr bwMode="auto">
            <a:xfrm>
              <a:off x="4399" y="1807"/>
              <a:ext cx="436" cy="951"/>
            </a:xfrm>
            <a:prstGeom prst="line">
              <a:avLst/>
            </a:prstGeom>
            <a:noFill/>
            <a:ln w="9525">
              <a:solidFill>
                <a:schemeClr val="tx1"/>
              </a:solidFill>
              <a:round/>
            </a:ln>
          </p:spPr>
          <p:txBody>
            <a:bodyPr/>
            <a:lstStyle/>
            <a:p>
              <a:endParaRPr lang="en-US"/>
            </a:p>
          </p:txBody>
        </p:sp>
        <p:sp>
          <p:nvSpPr>
            <p:cNvPr id="28714" name="Line 37"/>
            <p:cNvSpPr>
              <a:spLocks noChangeShapeType="1"/>
            </p:cNvSpPr>
            <p:nvPr/>
          </p:nvSpPr>
          <p:spPr bwMode="auto">
            <a:xfrm flipV="1">
              <a:off x="3788" y="2731"/>
              <a:ext cx="1073" cy="1"/>
            </a:xfrm>
            <a:prstGeom prst="line">
              <a:avLst/>
            </a:prstGeom>
            <a:noFill/>
            <a:ln w="9525">
              <a:solidFill>
                <a:schemeClr val="tx1"/>
              </a:solidFill>
              <a:round/>
            </a:ln>
          </p:spPr>
          <p:txBody>
            <a:bodyPr/>
            <a:lstStyle/>
            <a:p>
              <a:endParaRPr lang="en-US"/>
            </a:p>
          </p:txBody>
        </p:sp>
        <p:sp>
          <p:nvSpPr>
            <p:cNvPr id="28715" name="Line 38"/>
            <p:cNvSpPr>
              <a:spLocks noChangeShapeType="1"/>
            </p:cNvSpPr>
            <p:nvPr/>
          </p:nvSpPr>
          <p:spPr bwMode="auto">
            <a:xfrm flipH="1" flipV="1">
              <a:off x="4817" y="2828"/>
              <a:ext cx="53" cy="393"/>
            </a:xfrm>
            <a:prstGeom prst="line">
              <a:avLst/>
            </a:prstGeom>
            <a:noFill/>
            <a:ln w="9525">
              <a:solidFill>
                <a:schemeClr val="tx1"/>
              </a:solidFill>
              <a:round/>
            </a:ln>
          </p:spPr>
          <p:txBody>
            <a:bodyPr/>
            <a:lstStyle/>
            <a:p>
              <a:endParaRPr lang="en-US"/>
            </a:p>
          </p:txBody>
        </p:sp>
        <p:sp>
          <p:nvSpPr>
            <p:cNvPr id="28716" name="Line 39"/>
            <p:cNvSpPr>
              <a:spLocks noChangeShapeType="1"/>
            </p:cNvSpPr>
            <p:nvPr/>
          </p:nvSpPr>
          <p:spPr bwMode="auto">
            <a:xfrm flipH="1" flipV="1">
              <a:off x="4852" y="2846"/>
              <a:ext cx="490" cy="296"/>
            </a:xfrm>
            <a:prstGeom prst="line">
              <a:avLst/>
            </a:prstGeom>
            <a:noFill/>
            <a:ln w="9525">
              <a:solidFill>
                <a:schemeClr val="tx1"/>
              </a:solidFill>
              <a:round/>
            </a:ln>
          </p:spPr>
          <p:txBody>
            <a:bodyPr/>
            <a:lstStyle/>
            <a:p>
              <a:endParaRPr lang="en-US"/>
            </a:p>
          </p:txBody>
        </p:sp>
        <p:sp>
          <p:nvSpPr>
            <p:cNvPr id="28717" name="Line 40"/>
            <p:cNvSpPr>
              <a:spLocks noChangeShapeType="1"/>
            </p:cNvSpPr>
            <p:nvPr/>
          </p:nvSpPr>
          <p:spPr bwMode="auto">
            <a:xfrm flipH="1" flipV="1">
              <a:off x="4827" y="2828"/>
              <a:ext cx="638" cy="61"/>
            </a:xfrm>
            <a:prstGeom prst="line">
              <a:avLst/>
            </a:prstGeom>
            <a:noFill/>
            <a:ln w="9525">
              <a:solidFill>
                <a:schemeClr val="tx1"/>
              </a:solidFill>
              <a:round/>
            </a:ln>
          </p:spPr>
          <p:txBody>
            <a:bodyPr/>
            <a:lstStyle/>
            <a:p>
              <a:endParaRPr lang="en-US"/>
            </a:p>
          </p:txBody>
        </p:sp>
        <p:sp>
          <p:nvSpPr>
            <p:cNvPr id="28718" name="Line 41"/>
            <p:cNvSpPr>
              <a:spLocks noChangeShapeType="1"/>
            </p:cNvSpPr>
            <p:nvPr/>
          </p:nvSpPr>
          <p:spPr bwMode="auto">
            <a:xfrm flipH="1">
              <a:off x="4827" y="2233"/>
              <a:ext cx="375" cy="604"/>
            </a:xfrm>
            <a:prstGeom prst="line">
              <a:avLst/>
            </a:prstGeom>
            <a:noFill/>
            <a:ln w="9525">
              <a:solidFill>
                <a:schemeClr val="tx1"/>
              </a:solidFill>
              <a:round/>
            </a:ln>
          </p:spPr>
          <p:txBody>
            <a:bodyPr/>
            <a:lstStyle/>
            <a:p>
              <a:endParaRPr lang="en-US"/>
            </a:p>
          </p:txBody>
        </p:sp>
        <p:sp>
          <p:nvSpPr>
            <p:cNvPr id="28719" name="Line 42"/>
            <p:cNvSpPr>
              <a:spLocks noChangeShapeType="1"/>
            </p:cNvSpPr>
            <p:nvPr/>
          </p:nvSpPr>
          <p:spPr bwMode="auto">
            <a:xfrm flipH="1">
              <a:off x="4844" y="2459"/>
              <a:ext cx="602" cy="412"/>
            </a:xfrm>
            <a:prstGeom prst="line">
              <a:avLst/>
            </a:prstGeom>
            <a:noFill/>
            <a:ln w="9525">
              <a:solidFill>
                <a:schemeClr val="tx1"/>
              </a:solidFill>
              <a:round/>
            </a:ln>
          </p:spPr>
          <p:txBody>
            <a:bodyPr/>
            <a:lstStyle/>
            <a:p>
              <a:endParaRPr lang="en-US"/>
            </a:p>
          </p:txBody>
        </p:sp>
        <p:grpSp>
          <p:nvGrpSpPr>
            <p:cNvPr id="28720" name="Group 43"/>
            <p:cNvGrpSpPr/>
            <p:nvPr/>
          </p:nvGrpSpPr>
          <p:grpSpPr bwMode="auto">
            <a:xfrm>
              <a:off x="5278" y="2759"/>
              <a:ext cx="316" cy="303"/>
              <a:chOff x="3464" y="1275"/>
              <a:chExt cx="395" cy="329"/>
            </a:xfrm>
          </p:grpSpPr>
          <p:pic>
            <p:nvPicPr>
              <p:cNvPr id="28744" name="Picture 44"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3" name="Object 45"/>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68" name="Clip" r:id="rId10" imgW="18192750" imgH="15087600" progId="">
                      <p:embed/>
                    </p:oleObj>
                  </mc:Choice>
                  <mc:Fallback>
                    <p:oleObj name="Clip" r:id="rId10" imgW="18192750" imgH="15087600" progId="">
                      <p:embed/>
                      <p:pic>
                        <p:nvPicPr>
                          <p:cNvPr id="0" name="Object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21" name="Group 46"/>
            <p:cNvGrpSpPr/>
            <p:nvPr/>
          </p:nvGrpSpPr>
          <p:grpSpPr bwMode="auto">
            <a:xfrm>
              <a:off x="5175" y="3081"/>
              <a:ext cx="316" cy="303"/>
              <a:chOff x="3464" y="1275"/>
              <a:chExt cx="395" cy="329"/>
            </a:xfrm>
          </p:grpSpPr>
          <p:pic>
            <p:nvPicPr>
              <p:cNvPr id="28743" name="Picture 47"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2" name="Object 48"/>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69" name="Clip" r:id="rId11" imgW="18192750" imgH="15087600" progId="">
                      <p:embed/>
                    </p:oleObj>
                  </mc:Choice>
                  <mc:Fallback>
                    <p:oleObj name="Clip" r:id="rId11" imgW="18192750" imgH="15087600" progId="">
                      <p:embed/>
                      <p:pic>
                        <p:nvPicPr>
                          <p:cNvPr id="0" name="Object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22" name="Group 49"/>
            <p:cNvGrpSpPr/>
            <p:nvPr/>
          </p:nvGrpSpPr>
          <p:grpSpPr bwMode="auto">
            <a:xfrm>
              <a:off x="5271" y="2375"/>
              <a:ext cx="316" cy="303"/>
              <a:chOff x="3464" y="1275"/>
              <a:chExt cx="395" cy="329"/>
            </a:xfrm>
          </p:grpSpPr>
          <p:pic>
            <p:nvPicPr>
              <p:cNvPr id="28742" name="Picture 50"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1" name="Object 51"/>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70" name="Clip" r:id="rId12" imgW="18192750" imgH="15087600" progId="">
                      <p:embed/>
                    </p:oleObj>
                  </mc:Choice>
                  <mc:Fallback>
                    <p:oleObj name="Clip" r:id="rId12" imgW="18192750" imgH="15087600" progId="">
                      <p:embed/>
                      <p:pic>
                        <p:nvPicPr>
                          <p:cNvPr id="0" name="Object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23" name="Group 52"/>
            <p:cNvGrpSpPr/>
            <p:nvPr/>
          </p:nvGrpSpPr>
          <p:grpSpPr bwMode="auto">
            <a:xfrm>
              <a:off x="5035" y="2130"/>
              <a:ext cx="316" cy="303"/>
              <a:chOff x="3464" y="1275"/>
              <a:chExt cx="395" cy="329"/>
            </a:xfrm>
          </p:grpSpPr>
          <p:pic>
            <p:nvPicPr>
              <p:cNvPr id="28741" name="Picture 53"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80" name="Object 54"/>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71" name="Clip" r:id="rId13" imgW="18192750" imgH="15087600" progId="">
                      <p:embed/>
                    </p:oleObj>
                  </mc:Choice>
                  <mc:Fallback>
                    <p:oleObj name="Clip" r:id="rId13" imgW="18192750" imgH="15087600" progId="">
                      <p:embed/>
                      <p:pic>
                        <p:nvPicPr>
                          <p:cNvPr id="0" name="Object 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24" name="Group 55"/>
            <p:cNvGrpSpPr/>
            <p:nvPr/>
          </p:nvGrpSpPr>
          <p:grpSpPr bwMode="auto">
            <a:xfrm>
              <a:off x="4729" y="3134"/>
              <a:ext cx="316" cy="303"/>
              <a:chOff x="3464" y="1275"/>
              <a:chExt cx="395" cy="329"/>
            </a:xfrm>
          </p:grpSpPr>
          <p:pic>
            <p:nvPicPr>
              <p:cNvPr id="28740" name="Picture 56"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79" name="Object 57"/>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72" name="Clip" r:id="rId14" imgW="18192750" imgH="15087600" progId="">
                      <p:embed/>
                    </p:oleObj>
                  </mc:Choice>
                  <mc:Fallback>
                    <p:oleObj name="Clip" r:id="rId14" imgW="18192750" imgH="15087600" progId="">
                      <p:embed/>
                      <p:pic>
                        <p:nvPicPr>
                          <p:cNvPr id="0" name="Object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25" name="Group 58"/>
            <p:cNvGrpSpPr/>
            <p:nvPr/>
          </p:nvGrpSpPr>
          <p:grpSpPr bwMode="auto">
            <a:xfrm>
              <a:off x="4573" y="2655"/>
              <a:ext cx="535" cy="443"/>
              <a:chOff x="3464" y="1275"/>
              <a:chExt cx="395" cy="329"/>
            </a:xfrm>
          </p:grpSpPr>
          <p:pic>
            <p:nvPicPr>
              <p:cNvPr id="28739" name="Picture 59"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78" name="Object 60"/>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73" name="Clip" r:id="rId15" imgW="18192750" imgH="15087600" progId="">
                      <p:embed/>
                    </p:oleObj>
                  </mc:Choice>
                  <mc:Fallback>
                    <p:oleObj name="Clip" r:id="rId15" imgW="18192750" imgH="15087600" progId="">
                      <p:embed/>
                      <p:pic>
                        <p:nvPicPr>
                          <p:cNvPr id="0" name="Object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26" name="Group 61"/>
            <p:cNvGrpSpPr/>
            <p:nvPr/>
          </p:nvGrpSpPr>
          <p:grpSpPr bwMode="auto">
            <a:xfrm>
              <a:off x="3696" y="1373"/>
              <a:ext cx="316" cy="303"/>
              <a:chOff x="3464" y="1275"/>
              <a:chExt cx="395" cy="329"/>
            </a:xfrm>
          </p:grpSpPr>
          <p:pic>
            <p:nvPicPr>
              <p:cNvPr id="28738" name="Picture 62"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77" name="Object 63"/>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74" name="Clip" r:id="rId16" imgW="18192750" imgH="15087600" progId="">
                      <p:embed/>
                    </p:oleObj>
                  </mc:Choice>
                  <mc:Fallback>
                    <p:oleObj name="Clip" r:id="rId16" imgW="18192750" imgH="15087600" progId="">
                      <p:embed/>
                      <p:pic>
                        <p:nvPicPr>
                          <p:cNvPr id="0" name="Object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27" name="Group 64"/>
            <p:cNvGrpSpPr/>
            <p:nvPr/>
          </p:nvGrpSpPr>
          <p:grpSpPr bwMode="auto">
            <a:xfrm>
              <a:off x="4219" y="1085"/>
              <a:ext cx="316" cy="303"/>
              <a:chOff x="3464" y="1275"/>
              <a:chExt cx="395" cy="329"/>
            </a:xfrm>
          </p:grpSpPr>
          <p:pic>
            <p:nvPicPr>
              <p:cNvPr id="28737" name="Picture 65"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76" name="Object 66"/>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75" name="Clip" r:id="rId17" imgW="18192750" imgH="15087600" progId="">
                      <p:embed/>
                    </p:oleObj>
                  </mc:Choice>
                  <mc:Fallback>
                    <p:oleObj name="Clip" r:id="rId17" imgW="18192750" imgH="15087600" progId="">
                      <p:embed/>
                      <p:pic>
                        <p:nvPicPr>
                          <p:cNvPr id="0" name="Object 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28" name="Group 67"/>
            <p:cNvGrpSpPr/>
            <p:nvPr/>
          </p:nvGrpSpPr>
          <p:grpSpPr bwMode="auto">
            <a:xfrm>
              <a:off x="3888" y="1146"/>
              <a:ext cx="316" cy="303"/>
              <a:chOff x="3464" y="1275"/>
              <a:chExt cx="395" cy="329"/>
            </a:xfrm>
          </p:grpSpPr>
          <p:pic>
            <p:nvPicPr>
              <p:cNvPr id="28736" name="Picture 68"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75" name="Object 69"/>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76" name="Clip" r:id="rId18" imgW="18192750" imgH="15087600" progId="">
                      <p:embed/>
                    </p:oleObj>
                  </mc:Choice>
                  <mc:Fallback>
                    <p:oleObj name="Clip" r:id="rId18" imgW="18192750" imgH="15087600" progId="">
                      <p:embed/>
                      <p:pic>
                        <p:nvPicPr>
                          <p:cNvPr id="0" name="Object 6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8729" name="Group 70"/>
            <p:cNvGrpSpPr/>
            <p:nvPr/>
          </p:nvGrpSpPr>
          <p:grpSpPr bwMode="auto">
            <a:xfrm>
              <a:off x="4796" y="1373"/>
              <a:ext cx="316" cy="303"/>
              <a:chOff x="3464" y="1275"/>
              <a:chExt cx="395" cy="329"/>
            </a:xfrm>
          </p:grpSpPr>
          <p:pic>
            <p:nvPicPr>
              <p:cNvPr id="28735" name="Picture 71" descr="kw_skype_logo"/>
              <p:cNvPicPr>
                <a:picLocks noChangeAspect="1" noChangeArrowheads="1"/>
              </p:cNvPicPr>
              <p:nvPr/>
            </p:nvPicPr>
            <p:blipFill>
              <a:blip r:embed="rId1"/>
              <a:srcRect/>
              <a:stretch>
                <a:fillRect/>
              </a:stretch>
            </p:blipFill>
            <p:spPr bwMode="auto">
              <a:xfrm>
                <a:off x="3464" y="1427"/>
                <a:ext cx="395" cy="177"/>
              </a:xfrm>
              <a:prstGeom prst="rect">
                <a:avLst/>
              </a:prstGeom>
              <a:noFill/>
              <a:ln w="9525">
                <a:noFill/>
                <a:miter lim="800000"/>
                <a:headEnd/>
                <a:tailEnd/>
              </a:ln>
            </p:spPr>
          </p:pic>
          <p:graphicFrame>
            <p:nvGraphicFramePr>
              <p:cNvPr id="28674" name="Object 72"/>
              <p:cNvGraphicFramePr>
                <a:graphicFrameLocks noChangeAspect="1"/>
              </p:cNvGraphicFramePr>
              <p:nvPr/>
            </p:nvGraphicFramePr>
            <p:xfrm>
              <a:off x="3523" y="1275"/>
              <a:ext cx="280" cy="209"/>
            </p:xfrm>
            <a:graphic>
              <a:graphicData uri="http://schemas.openxmlformats.org/presentationml/2006/ole">
                <mc:AlternateContent xmlns:mc="http://schemas.openxmlformats.org/markup-compatibility/2006">
                  <mc:Choice xmlns:v="urn:schemas-microsoft-com:vml" Requires="v">
                    <p:oleObj spid="_x0000_s28877" name="Clip" r:id="rId19" imgW="18192750" imgH="15087600" progId="">
                      <p:embed/>
                    </p:oleObj>
                  </mc:Choice>
                  <mc:Fallback>
                    <p:oleObj name="Clip" r:id="rId19" imgW="18192750" imgH="15087600" progId="">
                      <p:embed/>
                      <p:pic>
                        <p:nvPicPr>
                          <p:cNvPr id="0" name="Object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 y="1275"/>
                            <a:ext cx="280" cy="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730" name="Freeform 73"/>
            <p:cNvSpPr/>
            <p:nvPr/>
          </p:nvSpPr>
          <p:spPr bwMode="auto">
            <a:xfrm>
              <a:off x="3693" y="1228"/>
              <a:ext cx="1597" cy="2008"/>
            </a:xfrm>
            <a:custGeom>
              <a:avLst/>
              <a:gdLst>
                <a:gd name="T0" fmla="*/ 737 w 1597"/>
                <a:gd name="T1" fmla="*/ 0 h 2008"/>
                <a:gd name="T2" fmla="*/ 1474 w 1597"/>
                <a:gd name="T3" fmla="*/ 983 h 2008"/>
                <a:gd name="T4" fmla="*/ 0 w 1597"/>
                <a:gd name="T5" fmla="*/ 2008 h 2008"/>
                <a:gd name="T6" fmla="*/ 0 60000 65536"/>
                <a:gd name="T7" fmla="*/ 0 60000 65536"/>
                <a:gd name="T8" fmla="*/ 0 60000 65536"/>
                <a:gd name="T9" fmla="*/ 0 w 1597"/>
                <a:gd name="T10" fmla="*/ 0 h 2008"/>
                <a:gd name="T11" fmla="*/ 1597 w 1597"/>
                <a:gd name="T12" fmla="*/ 2008 h 2008"/>
              </a:gdLst>
              <a:ahLst/>
              <a:cxnLst>
                <a:cxn ang="T6">
                  <a:pos x="T0" y="T1"/>
                </a:cxn>
                <a:cxn ang="T7">
                  <a:pos x="T2" y="T3"/>
                </a:cxn>
                <a:cxn ang="T8">
                  <a:pos x="T4" y="T5"/>
                </a:cxn>
              </a:cxnLst>
              <a:rect l="T9" t="T10" r="T11" b="T12"/>
              <a:pathLst>
                <a:path w="1597" h="2008">
                  <a:moveTo>
                    <a:pt x="737" y="0"/>
                  </a:moveTo>
                  <a:cubicBezTo>
                    <a:pt x="1167" y="324"/>
                    <a:pt x="1597" y="648"/>
                    <a:pt x="1474" y="983"/>
                  </a:cubicBezTo>
                  <a:cubicBezTo>
                    <a:pt x="1351" y="1318"/>
                    <a:pt x="675" y="1663"/>
                    <a:pt x="0" y="2008"/>
                  </a:cubicBezTo>
                </a:path>
              </a:pathLst>
            </a:custGeom>
            <a:noFill/>
            <a:ln w="9525">
              <a:noFill/>
              <a:round/>
            </a:ln>
          </p:spPr>
          <p:txBody>
            <a:bodyPr/>
            <a:lstStyle/>
            <a:p>
              <a:endParaRPr lang="en-US"/>
            </a:p>
          </p:txBody>
        </p:sp>
        <p:sp>
          <p:nvSpPr>
            <p:cNvPr id="28731" name="Freeform 74"/>
            <p:cNvSpPr/>
            <p:nvPr/>
          </p:nvSpPr>
          <p:spPr bwMode="auto">
            <a:xfrm>
              <a:off x="3685" y="1203"/>
              <a:ext cx="1615" cy="2075"/>
            </a:xfrm>
            <a:custGeom>
              <a:avLst/>
              <a:gdLst>
                <a:gd name="T0" fmla="*/ 745 w 1615"/>
                <a:gd name="T1" fmla="*/ 0 h 2075"/>
                <a:gd name="T2" fmla="*/ 1491 w 1615"/>
                <a:gd name="T3" fmla="*/ 1016 h 2075"/>
                <a:gd name="T4" fmla="*/ 0 w 1615"/>
                <a:gd name="T5" fmla="*/ 2075 h 2075"/>
                <a:gd name="T6" fmla="*/ 0 60000 65536"/>
                <a:gd name="T7" fmla="*/ 0 60000 65536"/>
                <a:gd name="T8" fmla="*/ 0 60000 65536"/>
                <a:gd name="T9" fmla="*/ 0 w 1615"/>
                <a:gd name="T10" fmla="*/ 0 h 2075"/>
                <a:gd name="T11" fmla="*/ 1615 w 1615"/>
                <a:gd name="T12" fmla="*/ 2075 h 2075"/>
              </a:gdLst>
              <a:ahLst/>
              <a:cxnLst>
                <a:cxn ang="T6">
                  <a:pos x="T0" y="T1"/>
                </a:cxn>
                <a:cxn ang="T7">
                  <a:pos x="T2" y="T3"/>
                </a:cxn>
                <a:cxn ang="T8">
                  <a:pos x="T4" y="T5"/>
                </a:cxn>
              </a:cxnLst>
              <a:rect l="T9" t="T10" r="T11" b="T12"/>
              <a:pathLst>
                <a:path w="1615" h="2075">
                  <a:moveTo>
                    <a:pt x="745" y="0"/>
                  </a:moveTo>
                  <a:cubicBezTo>
                    <a:pt x="1180" y="335"/>
                    <a:pt x="1615" y="670"/>
                    <a:pt x="1491" y="1016"/>
                  </a:cubicBezTo>
                  <a:cubicBezTo>
                    <a:pt x="1367" y="1362"/>
                    <a:pt x="250" y="1899"/>
                    <a:pt x="0" y="2075"/>
                  </a:cubicBezTo>
                </a:path>
              </a:pathLst>
            </a:custGeom>
            <a:noFill/>
            <a:ln w="9525">
              <a:noFill/>
              <a:round/>
            </a:ln>
          </p:spPr>
          <p:txBody>
            <a:bodyPr/>
            <a:lstStyle/>
            <a:p>
              <a:endParaRPr lang="en-US"/>
            </a:p>
          </p:txBody>
        </p:sp>
        <p:sp>
          <p:nvSpPr>
            <p:cNvPr id="28732" name="Freeform 75"/>
            <p:cNvSpPr/>
            <p:nvPr/>
          </p:nvSpPr>
          <p:spPr bwMode="auto">
            <a:xfrm>
              <a:off x="3693" y="1203"/>
              <a:ext cx="1600" cy="2058"/>
            </a:xfrm>
            <a:custGeom>
              <a:avLst/>
              <a:gdLst>
                <a:gd name="T0" fmla="*/ 754 w 1600"/>
                <a:gd name="T1" fmla="*/ 0 h 2058"/>
                <a:gd name="T2" fmla="*/ 1474 w 1600"/>
                <a:gd name="T3" fmla="*/ 982 h 2058"/>
                <a:gd name="T4" fmla="*/ 0 w 1600"/>
                <a:gd name="T5" fmla="*/ 2058 h 2058"/>
                <a:gd name="T6" fmla="*/ 0 60000 65536"/>
                <a:gd name="T7" fmla="*/ 0 60000 65536"/>
                <a:gd name="T8" fmla="*/ 0 60000 65536"/>
                <a:gd name="T9" fmla="*/ 0 w 1600"/>
                <a:gd name="T10" fmla="*/ 0 h 2058"/>
                <a:gd name="T11" fmla="*/ 1600 w 1600"/>
                <a:gd name="T12" fmla="*/ 2058 h 2058"/>
              </a:gdLst>
              <a:ahLst/>
              <a:cxnLst>
                <a:cxn ang="T6">
                  <a:pos x="T0" y="T1"/>
                </a:cxn>
                <a:cxn ang="T7">
                  <a:pos x="T2" y="T3"/>
                </a:cxn>
                <a:cxn ang="T8">
                  <a:pos x="T4" y="T5"/>
                </a:cxn>
              </a:cxnLst>
              <a:rect l="T9" t="T10" r="T11" b="T12"/>
              <a:pathLst>
                <a:path w="1600" h="2058">
                  <a:moveTo>
                    <a:pt x="754" y="0"/>
                  </a:moveTo>
                  <a:cubicBezTo>
                    <a:pt x="1177" y="319"/>
                    <a:pt x="1600" y="639"/>
                    <a:pt x="1474" y="982"/>
                  </a:cubicBezTo>
                  <a:cubicBezTo>
                    <a:pt x="1348" y="1325"/>
                    <a:pt x="674" y="1691"/>
                    <a:pt x="0" y="2058"/>
                  </a:cubicBezTo>
                </a:path>
              </a:pathLst>
            </a:custGeom>
            <a:noFill/>
            <a:ln w="9525">
              <a:noFill/>
              <a:round/>
            </a:ln>
          </p:spPr>
          <p:txBody>
            <a:bodyPr/>
            <a:lstStyle/>
            <a:p>
              <a:endParaRPr lang="en-US"/>
            </a:p>
          </p:txBody>
        </p:sp>
        <p:sp>
          <p:nvSpPr>
            <p:cNvPr id="28733" name="Line 76"/>
            <p:cNvSpPr>
              <a:spLocks noChangeShapeType="1"/>
            </p:cNvSpPr>
            <p:nvPr/>
          </p:nvSpPr>
          <p:spPr bwMode="auto">
            <a:xfrm flipH="1">
              <a:off x="3736" y="1516"/>
              <a:ext cx="127" cy="1169"/>
            </a:xfrm>
            <a:prstGeom prst="line">
              <a:avLst/>
            </a:prstGeom>
            <a:noFill/>
            <a:ln w="9525">
              <a:noFill/>
              <a:round/>
            </a:ln>
          </p:spPr>
          <p:txBody>
            <a:bodyPr/>
            <a:lstStyle/>
            <a:p>
              <a:endParaRPr lang="en-US"/>
            </a:p>
          </p:txBody>
        </p:sp>
        <p:sp>
          <p:nvSpPr>
            <p:cNvPr id="28734" name="Freeform 77"/>
            <p:cNvSpPr/>
            <p:nvPr/>
          </p:nvSpPr>
          <p:spPr bwMode="auto">
            <a:xfrm>
              <a:off x="3719" y="1203"/>
              <a:ext cx="1577" cy="2067"/>
            </a:xfrm>
            <a:custGeom>
              <a:avLst/>
              <a:gdLst>
                <a:gd name="T0" fmla="*/ 720 w 1577"/>
                <a:gd name="T1" fmla="*/ 0 h 2067"/>
                <a:gd name="T2" fmla="*/ 1457 w 1577"/>
                <a:gd name="T3" fmla="*/ 999 h 2067"/>
                <a:gd name="T4" fmla="*/ 0 w 1577"/>
                <a:gd name="T5" fmla="*/ 2067 h 2067"/>
                <a:gd name="T6" fmla="*/ 0 60000 65536"/>
                <a:gd name="T7" fmla="*/ 0 60000 65536"/>
                <a:gd name="T8" fmla="*/ 0 60000 65536"/>
                <a:gd name="T9" fmla="*/ 0 w 1577"/>
                <a:gd name="T10" fmla="*/ 0 h 2067"/>
                <a:gd name="T11" fmla="*/ 1577 w 1577"/>
                <a:gd name="T12" fmla="*/ 2067 h 2067"/>
              </a:gdLst>
              <a:ahLst/>
              <a:cxnLst>
                <a:cxn ang="T6">
                  <a:pos x="T0" y="T1"/>
                </a:cxn>
                <a:cxn ang="T7">
                  <a:pos x="T2" y="T3"/>
                </a:cxn>
                <a:cxn ang="T8">
                  <a:pos x="T4" y="T5"/>
                </a:cxn>
              </a:cxnLst>
              <a:rect l="T9" t="T10" r="T11" b="T12"/>
              <a:pathLst>
                <a:path w="1577" h="2067">
                  <a:moveTo>
                    <a:pt x="720" y="0"/>
                  </a:moveTo>
                  <a:cubicBezTo>
                    <a:pt x="1148" y="327"/>
                    <a:pt x="1577" y="655"/>
                    <a:pt x="1457" y="999"/>
                  </a:cubicBezTo>
                  <a:cubicBezTo>
                    <a:pt x="1337" y="1343"/>
                    <a:pt x="249" y="1892"/>
                    <a:pt x="0" y="2067"/>
                  </a:cubicBezTo>
                </a:path>
              </a:pathLst>
            </a:custGeom>
            <a:noFill/>
            <a:ln w="31750">
              <a:solidFill>
                <a:srgbClr val="FF0000"/>
              </a:solidFill>
              <a:round/>
            </a:ln>
          </p:spPr>
          <p:txBody>
            <a:bodyPr/>
            <a:lstStyle/>
            <a:p>
              <a:endParaRPr lang="en-US"/>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4819" name="Slide Number Placeholder 6"/>
          <p:cNvSpPr>
            <a:spLocks noGrp="1"/>
          </p:cNvSpPr>
          <p:nvPr>
            <p:ph type="sldNum" sz="quarter" idx="12"/>
          </p:nvPr>
        </p:nvSpPr>
        <p:spPr>
          <a:noFill/>
        </p:spPr>
        <p:txBody>
          <a:bodyPr/>
          <a:lstStyle/>
          <a:p>
            <a:fld id="{09FB5B14-3207-4596-9B15-A315FEC6D487}" type="slidenum">
              <a:rPr lang="en-US"/>
            </a:fld>
            <a:endParaRPr lang="en-US"/>
          </a:p>
        </p:txBody>
      </p:sp>
      <p:sp>
        <p:nvSpPr>
          <p:cNvPr id="34820" name="Rectangle 2"/>
          <p:cNvSpPr>
            <a:spLocks noGrp="1" noChangeArrowheads="1"/>
          </p:cNvSpPr>
          <p:nvPr>
            <p:ph type="title"/>
          </p:nvPr>
        </p:nvSpPr>
        <p:spPr/>
        <p:txBody>
          <a:bodyPr/>
          <a:lstStyle/>
          <a:p>
            <a:r>
              <a:rPr lang="en-US" dirty="0"/>
              <a:t>Chapter 2: Application layer</a:t>
            </a:r>
            <a:endParaRPr lang="en-US" dirty="0"/>
          </a:p>
        </p:txBody>
      </p:sp>
      <p:sp>
        <p:nvSpPr>
          <p:cNvPr id="34821" name="Rectangle 3"/>
          <p:cNvSpPr>
            <a:spLocks noGrp="1" noChangeArrowheads="1"/>
          </p:cNvSpPr>
          <p:nvPr>
            <p:ph type="body" sz="half" idx="1"/>
          </p:nvPr>
        </p:nvSpPr>
        <p:spPr/>
        <p:txBody>
          <a:bodyPr/>
          <a:lstStyle/>
          <a:p>
            <a:r>
              <a:rPr lang="en-US" sz="2400"/>
              <a:t>2.1 Principles of network applications</a:t>
            </a:r>
            <a:endParaRPr lang="en-US" sz="2400"/>
          </a:p>
          <a:p>
            <a:r>
              <a:rPr lang="en-US" sz="2400"/>
              <a:t>2.2 Web and HTTP</a:t>
            </a:r>
            <a:endParaRPr lang="en-US" sz="2400"/>
          </a:p>
          <a:p>
            <a:r>
              <a:rPr lang="en-US" sz="2400"/>
              <a:t>2.3 FTP </a:t>
            </a:r>
            <a:endParaRPr lang="en-US" sz="2400">
              <a:solidFill>
                <a:srgbClr val="FF0000"/>
              </a:solidFill>
            </a:endParaRPr>
          </a:p>
          <a:p>
            <a:r>
              <a:rPr lang="en-US" sz="2400"/>
              <a:t>2.4 Electronic Mail</a:t>
            </a:r>
            <a:endParaRPr lang="en-US" sz="2400"/>
          </a:p>
          <a:p>
            <a:pPr lvl="1"/>
            <a:r>
              <a:rPr lang="en-US" sz="2000"/>
              <a:t>SMTP, POP3, IMAP</a:t>
            </a:r>
            <a:endParaRPr lang="en-US" sz="2000"/>
          </a:p>
          <a:p>
            <a:r>
              <a:rPr lang="en-US" sz="2400"/>
              <a:t>2.5 DNS</a:t>
            </a:r>
            <a:endParaRPr lang="en-US" sz="2400"/>
          </a:p>
          <a:p>
            <a:endParaRPr lang="en-US" sz="2400"/>
          </a:p>
        </p:txBody>
      </p:sp>
      <p:sp>
        <p:nvSpPr>
          <p:cNvPr id="34822" name="Rectangle 4"/>
          <p:cNvSpPr>
            <a:spLocks noGrp="1" noChangeArrowheads="1"/>
          </p:cNvSpPr>
          <p:nvPr>
            <p:ph type="body" sz="half" idx="2"/>
          </p:nvPr>
        </p:nvSpPr>
        <p:spPr>
          <a:xfrm>
            <a:off x="4495800" y="1600200"/>
            <a:ext cx="4054475" cy="4648200"/>
          </a:xfrm>
        </p:spPr>
        <p:txBody>
          <a:bodyPr/>
          <a:lstStyle/>
          <a:p>
            <a:r>
              <a:rPr lang="en-US" sz="2400" dirty="0"/>
              <a:t>2.6 P2P applications</a:t>
            </a:r>
            <a:endParaRPr lang="en-US" sz="2400" dirty="0"/>
          </a:p>
          <a:p>
            <a:r>
              <a:rPr lang="en-US" sz="2400" dirty="0">
                <a:solidFill>
                  <a:srgbClr val="FF0000"/>
                </a:solidFill>
              </a:rPr>
              <a:t>2.7 Socket programming with UDP</a:t>
            </a:r>
            <a:endParaRPr lang="en-US" sz="2400" dirty="0">
              <a:solidFill>
                <a:srgbClr val="FF0000"/>
              </a:solidFill>
            </a:endParaRPr>
          </a:p>
          <a:p>
            <a:r>
              <a:rPr lang="en-US" sz="2400" dirty="0"/>
              <a:t>2.8 Socket programming with TCP</a:t>
            </a:r>
            <a:endParaRPr lang="en-US" sz="2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1379" name="Slide Number Placeholder 5"/>
          <p:cNvSpPr>
            <a:spLocks noGrp="1"/>
          </p:cNvSpPr>
          <p:nvPr>
            <p:ph type="sldNum" sz="quarter" idx="12"/>
          </p:nvPr>
        </p:nvSpPr>
        <p:spPr>
          <a:noFill/>
        </p:spPr>
        <p:txBody>
          <a:bodyPr/>
          <a:lstStyle/>
          <a:p>
            <a:fld id="{DEA570FC-85B2-4BF6-878E-CF2F60D34886}" type="slidenum">
              <a:rPr lang="en-US"/>
            </a:fld>
            <a:endParaRPr lang="en-US"/>
          </a:p>
        </p:txBody>
      </p:sp>
      <p:sp>
        <p:nvSpPr>
          <p:cNvPr id="101380" name="Rectangle 2"/>
          <p:cNvSpPr>
            <a:spLocks noGrp="1" noChangeArrowheads="1"/>
          </p:cNvSpPr>
          <p:nvPr>
            <p:ph type="title"/>
          </p:nvPr>
        </p:nvSpPr>
        <p:spPr>
          <a:xfrm>
            <a:off x="533400" y="247650"/>
            <a:ext cx="7772400" cy="857250"/>
          </a:xfrm>
        </p:spPr>
        <p:txBody>
          <a:bodyPr/>
          <a:lstStyle/>
          <a:p>
            <a:r>
              <a:rPr lang="en-US" dirty="0"/>
              <a:t>Socket programming</a:t>
            </a:r>
            <a:endParaRPr lang="en-US" dirty="0"/>
          </a:p>
        </p:txBody>
      </p:sp>
      <p:sp>
        <p:nvSpPr>
          <p:cNvPr id="101381" name="Rectangle 3"/>
          <p:cNvSpPr>
            <a:spLocks noGrp="1" noChangeArrowheads="1"/>
          </p:cNvSpPr>
          <p:nvPr>
            <p:ph type="body" idx="1"/>
          </p:nvPr>
        </p:nvSpPr>
        <p:spPr>
          <a:xfrm>
            <a:off x="704850" y="2295525"/>
            <a:ext cx="3962400" cy="3695700"/>
          </a:xfrm>
        </p:spPr>
        <p:txBody>
          <a:bodyPr/>
          <a:lstStyle/>
          <a:p>
            <a:pPr>
              <a:buFont typeface="ZapfDingbats" pitchFamily="82" charset="2"/>
              <a:buNone/>
            </a:pPr>
            <a:r>
              <a:rPr lang="en-US" sz="2400" dirty="0">
                <a:solidFill>
                  <a:srgbClr val="FF0000"/>
                </a:solidFill>
              </a:rPr>
              <a:t>Socket API</a:t>
            </a:r>
            <a:endParaRPr lang="en-US" sz="2400" dirty="0"/>
          </a:p>
          <a:p>
            <a:r>
              <a:rPr lang="en-US" sz="2000" dirty="0"/>
              <a:t>introduced in BSD4.1 UNIX, 1981</a:t>
            </a:r>
            <a:endParaRPr lang="en-US" sz="2000" dirty="0"/>
          </a:p>
          <a:p>
            <a:r>
              <a:rPr lang="en-US" sz="2000" dirty="0"/>
              <a:t>explicitly created, used, released by apps </a:t>
            </a:r>
            <a:endParaRPr lang="en-US" sz="2000" dirty="0"/>
          </a:p>
          <a:p>
            <a:r>
              <a:rPr lang="en-US" sz="2000" dirty="0"/>
              <a:t>client/server paradigm </a:t>
            </a:r>
            <a:endParaRPr lang="en-US" sz="2000" dirty="0"/>
          </a:p>
          <a:p>
            <a:r>
              <a:rPr lang="en-US" sz="2000" dirty="0"/>
              <a:t>two types of transport service via socket API: </a:t>
            </a:r>
            <a:endParaRPr lang="en-US" sz="2000" dirty="0"/>
          </a:p>
          <a:p>
            <a:pPr lvl="1"/>
            <a:r>
              <a:rPr lang="en-US" sz="1600" dirty="0"/>
              <a:t>UDP</a:t>
            </a:r>
            <a:endParaRPr lang="en-US" sz="1600" dirty="0"/>
          </a:p>
          <a:p>
            <a:pPr lvl="1"/>
            <a:r>
              <a:rPr lang="en-US" sz="1600" dirty="0"/>
              <a:t>TCP</a:t>
            </a:r>
            <a:endParaRPr lang="en-US" sz="1600" dirty="0"/>
          </a:p>
        </p:txBody>
      </p:sp>
      <p:grpSp>
        <p:nvGrpSpPr>
          <p:cNvPr id="101382" name="Group 4"/>
          <p:cNvGrpSpPr/>
          <p:nvPr/>
        </p:nvGrpSpPr>
        <p:grpSpPr bwMode="auto">
          <a:xfrm>
            <a:off x="5248275" y="2314575"/>
            <a:ext cx="3338513" cy="4008952"/>
            <a:chOff x="3198" y="1248"/>
            <a:chExt cx="2103" cy="2340"/>
          </a:xfrm>
        </p:grpSpPr>
        <p:sp>
          <p:nvSpPr>
            <p:cNvPr id="101384" name="Text Box 5"/>
            <p:cNvSpPr txBox="1">
              <a:spLocks noChangeArrowheads="1"/>
            </p:cNvSpPr>
            <p:nvPr/>
          </p:nvSpPr>
          <p:spPr bwMode="auto">
            <a:xfrm>
              <a:off x="3223" y="1575"/>
              <a:ext cx="2078" cy="1842"/>
            </a:xfrm>
            <a:prstGeom prst="rect">
              <a:avLst/>
            </a:prstGeom>
            <a:noFill/>
            <a:ln w="9525">
              <a:noFill/>
              <a:miter lim="800000"/>
            </a:ln>
          </p:spPr>
          <p:txBody>
            <a:bodyPr anchor="ctr">
              <a:spAutoFit/>
            </a:bodyPr>
            <a:lstStyle/>
            <a:p>
              <a:pPr algn="ctr">
                <a:spcBef>
                  <a:spcPct val="0"/>
                </a:spcBef>
                <a:buClrTx/>
                <a:buSzTx/>
                <a:buFontTx/>
                <a:buNone/>
              </a:pPr>
              <a:r>
                <a:rPr lang="en-US" sz="2000" dirty="0"/>
                <a:t>A </a:t>
              </a:r>
              <a:r>
                <a:rPr lang="en-US" sz="2000" i="1" dirty="0">
                  <a:solidFill>
                    <a:srgbClr val="FF0000"/>
                  </a:solidFill>
                </a:rPr>
                <a:t>application-created</a:t>
              </a:r>
              <a:r>
                <a:rPr lang="en-US" sz="2000" dirty="0"/>
                <a:t>, </a:t>
              </a:r>
              <a:endParaRPr lang="en-US" sz="2000" dirty="0"/>
            </a:p>
            <a:p>
              <a:pPr algn="ctr">
                <a:spcBef>
                  <a:spcPct val="0"/>
                </a:spcBef>
                <a:buClrTx/>
                <a:buSzTx/>
                <a:buFontTx/>
                <a:buNone/>
              </a:pPr>
              <a:r>
                <a:rPr lang="en-US" sz="2000" i="1" dirty="0">
                  <a:solidFill>
                    <a:srgbClr val="FF0000"/>
                  </a:solidFill>
                </a:rPr>
                <a:t>OS-controlled</a:t>
              </a:r>
              <a:r>
                <a:rPr lang="en-US" sz="2000" dirty="0"/>
                <a:t> interface (a “door”) into which</a:t>
              </a:r>
              <a:endParaRPr lang="en-US" sz="2000" dirty="0"/>
            </a:p>
            <a:p>
              <a:pPr algn="ctr">
                <a:spcBef>
                  <a:spcPct val="0"/>
                </a:spcBef>
                <a:buClrTx/>
                <a:buSzTx/>
                <a:buFontTx/>
                <a:buNone/>
              </a:pPr>
              <a:r>
                <a:rPr lang="en-US" sz="2000" dirty="0"/>
                <a:t>application process can </a:t>
              </a:r>
              <a:r>
                <a:rPr lang="en-US" sz="2000" dirty="0">
                  <a:solidFill>
                    <a:srgbClr val="FF0000"/>
                  </a:solidFill>
                </a:rPr>
                <a:t>both send and </a:t>
              </a:r>
              <a:endParaRPr lang="en-US" sz="2000" dirty="0">
                <a:solidFill>
                  <a:srgbClr val="FF0000"/>
                </a:solidFill>
              </a:endParaRPr>
            </a:p>
            <a:p>
              <a:pPr algn="ctr">
                <a:spcBef>
                  <a:spcPct val="0"/>
                </a:spcBef>
                <a:buClrTx/>
                <a:buSzTx/>
                <a:buFontTx/>
                <a:buNone/>
              </a:pPr>
              <a:r>
                <a:rPr lang="en-US" sz="2000" dirty="0">
                  <a:solidFill>
                    <a:srgbClr val="FF0000"/>
                  </a:solidFill>
                </a:rPr>
                <a:t>receive</a:t>
              </a:r>
              <a:r>
                <a:rPr lang="en-US" sz="2000" dirty="0"/>
                <a:t> messages to/from another application process</a:t>
              </a:r>
              <a:endParaRPr lang="en-US" sz="2000" dirty="0">
                <a:latin typeface="Times New Roman" panose="02020603050405020304" pitchFamily="18" charset="0"/>
              </a:endParaRPr>
            </a:p>
            <a:p>
              <a:pPr algn="ctr">
                <a:spcBef>
                  <a:spcPct val="0"/>
                </a:spcBef>
                <a:buClrTx/>
                <a:buSzTx/>
                <a:buFontTx/>
                <a:buNone/>
              </a:pPr>
              <a:endParaRPr lang="en-US" dirty="0">
                <a:latin typeface="Times New Roman" panose="02020603050405020304" pitchFamily="18" charset="0"/>
              </a:endParaRPr>
            </a:p>
          </p:txBody>
        </p:sp>
        <p:sp>
          <p:nvSpPr>
            <p:cNvPr id="101385" name="Rectangle 6"/>
            <p:cNvSpPr>
              <a:spLocks noChangeArrowheads="1"/>
            </p:cNvSpPr>
            <p:nvPr/>
          </p:nvSpPr>
          <p:spPr bwMode="auto">
            <a:xfrm>
              <a:off x="3198" y="1392"/>
              <a:ext cx="2076" cy="2196"/>
            </a:xfrm>
            <a:prstGeom prst="rect">
              <a:avLst/>
            </a:prstGeom>
            <a:noFill/>
            <a:ln w="28575">
              <a:solidFill>
                <a:schemeClr val="accent2"/>
              </a:solidFill>
              <a:miter lim="800000"/>
            </a:ln>
          </p:spPr>
          <p:txBody>
            <a:bodyPr wrap="none" anchor="ctr"/>
            <a:lstStyle/>
            <a:p>
              <a:endParaRPr lang="en-US"/>
            </a:p>
          </p:txBody>
        </p:sp>
        <p:grpSp>
          <p:nvGrpSpPr>
            <p:cNvPr id="101386" name="Group 7"/>
            <p:cNvGrpSpPr/>
            <p:nvPr/>
          </p:nvGrpSpPr>
          <p:grpSpPr bwMode="auto">
            <a:xfrm>
              <a:off x="3302" y="1248"/>
              <a:ext cx="708" cy="288"/>
              <a:chOff x="134" y="3906"/>
              <a:chExt cx="708" cy="288"/>
            </a:xfrm>
          </p:grpSpPr>
          <p:sp>
            <p:nvSpPr>
              <p:cNvPr id="101387" name="Rectangle 8"/>
              <p:cNvSpPr>
                <a:spLocks noChangeArrowheads="1"/>
              </p:cNvSpPr>
              <p:nvPr/>
            </p:nvSpPr>
            <p:spPr bwMode="auto">
              <a:xfrm>
                <a:off x="138" y="3924"/>
                <a:ext cx="678" cy="252"/>
              </a:xfrm>
              <a:prstGeom prst="rect">
                <a:avLst/>
              </a:prstGeom>
              <a:solidFill>
                <a:schemeClr val="bg1"/>
              </a:solidFill>
              <a:ln w="9525">
                <a:noFill/>
                <a:miter lim="800000"/>
              </a:ln>
            </p:spPr>
            <p:txBody>
              <a:bodyPr wrap="none" anchor="ctr"/>
              <a:lstStyle/>
              <a:p>
                <a:endParaRPr lang="en-US"/>
              </a:p>
            </p:txBody>
          </p:sp>
          <p:sp>
            <p:nvSpPr>
              <p:cNvPr id="101388" name="Text Box 9"/>
              <p:cNvSpPr txBox="1">
                <a:spLocks noChangeArrowheads="1"/>
              </p:cNvSpPr>
              <p:nvPr/>
            </p:nvSpPr>
            <p:spPr bwMode="auto">
              <a:xfrm>
                <a:off x="134" y="3906"/>
                <a:ext cx="708" cy="288"/>
              </a:xfrm>
              <a:prstGeom prst="rect">
                <a:avLst/>
              </a:prstGeom>
              <a:noFill/>
              <a:ln w="9525">
                <a:noFill/>
                <a:miter lim="800000"/>
              </a:ln>
            </p:spPr>
            <p:txBody>
              <a:bodyPr wrap="none" anchor="ctr">
                <a:spAutoFit/>
              </a:bodyPr>
              <a:lstStyle/>
              <a:p>
                <a:pPr algn="ctr">
                  <a:spcBef>
                    <a:spcPct val="0"/>
                  </a:spcBef>
                  <a:buClrTx/>
                  <a:buSzTx/>
                  <a:buFontTx/>
                  <a:buNone/>
                </a:pPr>
                <a:r>
                  <a:rPr lang="en-US">
                    <a:solidFill>
                      <a:schemeClr val="accent2"/>
                    </a:solidFill>
                  </a:rPr>
                  <a:t>socket</a:t>
                </a:r>
                <a:endParaRPr lang="en-US">
                  <a:latin typeface="Times New Roman" panose="02020603050405020304" pitchFamily="18" charset="0"/>
                </a:endParaRPr>
              </a:p>
            </p:txBody>
          </p:sp>
        </p:grpSp>
      </p:grpSp>
      <p:sp>
        <p:nvSpPr>
          <p:cNvPr id="101383" name="Rectangle 10"/>
          <p:cNvSpPr>
            <a:spLocks noChangeArrowheads="1"/>
          </p:cNvSpPr>
          <p:nvPr/>
        </p:nvSpPr>
        <p:spPr bwMode="auto">
          <a:xfrm>
            <a:off x="619125" y="1276350"/>
            <a:ext cx="8162925" cy="895350"/>
          </a:xfrm>
          <a:prstGeom prst="rect">
            <a:avLst/>
          </a:prstGeom>
          <a:noFill/>
          <a:ln w="9525">
            <a:noFill/>
            <a:miter lim="800000"/>
          </a:ln>
        </p:spPr>
        <p:txBody>
          <a:bodyPr/>
          <a:lstStyle/>
          <a:p>
            <a:pPr marL="342900" indent="-342900"/>
            <a:r>
              <a:rPr lang="en-US" u="sng" dirty="0">
                <a:solidFill>
                  <a:srgbClr val="FF0000"/>
                </a:solidFill>
              </a:rPr>
              <a:t>Goal:</a:t>
            </a:r>
            <a:r>
              <a:rPr lang="en-US" dirty="0"/>
              <a:t> learn how to build client/server application that communicate using sockets</a:t>
            </a:r>
            <a:endParaRPr lang="en-US" sz="2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Socket programming basics</a:t>
            </a:r>
            <a:endParaRPr lang="en-US" dirty="0"/>
          </a:p>
        </p:txBody>
      </p:sp>
      <p:sp>
        <p:nvSpPr>
          <p:cNvPr id="3" name="Content Placeholder 2"/>
          <p:cNvSpPr>
            <a:spLocks noGrp="1"/>
          </p:cNvSpPr>
          <p:nvPr>
            <p:ph sz="half" idx="1"/>
          </p:nvPr>
        </p:nvSpPr>
        <p:spPr>
          <a:xfrm>
            <a:off x="533400" y="1600200"/>
            <a:ext cx="3987085" cy="4648200"/>
          </a:xfrm>
        </p:spPr>
        <p:txBody>
          <a:bodyPr/>
          <a:lstStyle/>
          <a:p>
            <a:r>
              <a:rPr lang="en-US" dirty="0"/>
              <a:t>Server must be </a:t>
            </a:r>
            <a:r>
              <a:rPr lang="en-US" u="sng" dirty="0">
                <a:solidFill>
                  <a:srgbClr val="FF0000"/>
                </a:solidFill>
              </a:rPr>
              <a:t>running</a:t>
            </a:r>
            <a:r>
              <a:rPr lang="en-US" dirty="0"/>
              <a:t> before client can send anything to it.</a:t>
            </a:r>
            <a:endParaRPr lang="en-US" dirty="0"/>
          </a:p>
          <a:p>
            <a:r>
              <a:rPr lang="en-US" dirty="0"/>
              <a:t>Server must have a </a:t>
            </a:r>
            <a:r>
              <a:rPr lang="en-US" u="sng" dirty="0">
                <a:solidFill>
                  <a:srgbClr val="FF0000"/>
                </a:solidFill>
              </a:rPr>
              <a:t>socket</a:t>
            </a:r>
            <a:r>
              <a:rPr lang="en-US" dirty="0"/>
              <a:t> (door) through which it receives and sends segments</a:t>
            </a:r>
            <a:endParaRPr lang="en-US" dirty="0"/>
          </a:p>
          <a:p>
            <a:r>
              <a:rPr lang="en-US" dirty="0"/>
              <a:t>Similarly client needs a socket</a:t>
            </a:r>
            <a:endParaRPr lang="en-US" dirty="0"/>
          </a:p>
        </p:txBody>
      </p:sp>
      <p:sp>
        <p:nvSpPr>
          <p:cNvPr id="9" name="Content Placeholder 8"/>
          <p:cNvSpPr>
            <a:spLocks noGrp="1"/>
          </p:cNvSpPr>
          <p:nvPr>
            <p:ph sz="half" idx="2"/>
          </p:nvPr>
        </p:nvSpPr>
        <p:spPr>
          <a:xfrm>
            <a:off x="4495800" y="1600200"/>
            <a:ext cx="4287592" cy="4648200"/>
          </a:xfrm>
        </p:spPr>
        <p:txBody>
          <a:bodyPr/>
          <a:lstStyle/>
          <a:p>
            <a:r>
              <a:rPr lang="en-US" dirty="0"/>
              <a:t>Socket is locally identified with a </a:t>
            </a:r>
            <a:r>
              <a:rPr lang="en-US" u="sng" dirty="0">
                <a:solidFill>
                  <a:srgbClr val="FF0000"/>
                </a:solidFill>
              </a:rPr>
              <a:t>port number</a:t>
            </a:r>
            <a:endParaRPr lang="en-US" u="sng" dirty="0">
              <a:solidFill>
                <a:srgbClr val="FF0000"/>
              </a:solidFill>
            </a:endParaRPr>
          </a:p>
          <a:p>
            <a:pPr lvl="1"/>
            <a:r>
              <a:rPr lang="en-US" dirty="0">
                <a:solidFill>
                  <a:schemeClr val="accent2"/>
                </a:solidFill>
              </a:rPr>
              <a:t>Analogous to the apt # in a building</a:t>
            </a:r>
            <a:endParaRPr lang="en-US" dirty="0">
              <a:solidFill>
                <a:schemeClr val="accent2"/>
              </a:solidFill>
            </a:endParaRPr>
          </a:p>
          <a:p>
            <a:r>
              <a:rPr lang="en-US" dirty="0"/>
              <a:t>Client </a:t>
            </a:r>
            <a:r>
              <a:rPr lang="en-US" u="sng" dirty="0">
                <a:solidFill>
                  <a:srgbClr val="FF0000"/>
                </a:solidFill>
              </a:rPr>
              <a:t>needs to know </a:t>
            </a:r>
            <a:r>
              <a:rPr lang="en-US" dirty="0"/>
              <a:t>server IP address and socket port number.</a:t>
            </a:r>
            <a:endParaRPr lang="en-US" dirty="0"/>
          </a:p>
          <a:p>
            <a:pPr>
              <a:buNone/>
            </a:pPr>
            <a:endParaRPr lang="en-US" dirty="0"/>
          </a:p>
        </p:txBody>
      </p:sp>
      <p:sp>
        <p:nvSpPr>
          <p:cNvPr id="4" name="Footer Placeholder 3"/>
          <p:cNvSpPr>
            <a:spLocks noGrp="1"/>
          </p:cNvSpPr>
          <p:nvPr>
            <p:ph type="ftr" sz="quarter" idx="11"/>
          </p:nvPr>
        </p:nvSpPr>
        <p:spPr/>
        <p:txBody>
          <a:bodyPr/>
          <a:lstStyle/>
          <a:p>
            <a:pPr>
              <a:defRPr/>
            </a:pPr>
            <a:r>
              <a:rPr lang="en-US"/>
              <a:t>2: Application Layer</a:t>
            </a:r>
            <a:endParaRPr lang="en-US">
              <a:latin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F0763449-6262-4D75-9142-AE9983774729}" type="slidenum">
              <a:rPr lang="en-US" smtClean="0"/>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10595" name="Slide Number Placeholder 6"/>
          <p:cNvSpPr>
            <a:spLocks noGrp="1"/>
          </p:cNvSpPr>
          <p:nvPr>
            <p:ph type="sldNum" sz="quarter" idx="12"/>
          </p:nvPr>
        </p:nvSpPr>
        <p:spPr>
          <a:noFill/>
        </p:spPr>
        <p:txBody>
          <a:bodyPr/>
          <a:lstStyle/>
          <a:p>
            <a:fld id="{047E0539-53B2-4176-95F1-73D4FB51AC9C}" type="slidenum">
              <a:rPr lang="en-US"/>
            </a:fld>
            <a:endParaRPr lang="en-US"/>
          </a:p>
        </p:txBody>
      </p:sp>
      <p:sp>
        <p:nvSpPr>
          <p:cNvPr id="110596" name="Rectangle 2"/>
          <p:cNvSpPr>
            <a:spLocks noGrp="1" noChangeArrowheads="1"/>
          </p:cNvSpPr>
          <p:nvPr>
            <p:ph type="title"/>
          </p:nvPr>
        </p:nvSpPr>
        <p:spPr/>
        <p:txBody>
          <a:bodyPr/>
          <a:lstStyle/>
          <a:p>
            <a:r>
              <a:rPr lang="en-US" sz="3600"/>
              <a:t>Socket programming </a:t>
            </a:r>
            <a:r>
              <a:rPr lang="en-US" sz="3600" i="1">
                <a:solidFill>
                  <a:srgbClr val="FF0000"/>
                </a:solidFill>
              </a:rPr>
              <a:t>with UDP</a:t>
            </a:r>
            <a:endParaRPr lang="en-US"/>
          </a:p>
        </p:txBody>
      </p:sp>
      <p:sp>
        <p:nvSpPr>
          <p:cNvPr id="110597" name="Rectangle 3"/>
          <p:cNvSpPr>
            <a:spLocks noGrp="1" noChangeArrowheads="1"/>
          </p:cNvSpPr>
          <p:nvPr>
            <p:ph type="body" sz="half" idx="1"/>
          </p:nvPr>
        </p:nvSpPr>
        <p:spPr>
          <a:xfrm>
            <a:off x="533400" y="1600200"/>
            <a:ext cx="3922690" cy="4648200"/>
          </a:xfrm>
        </p:spPr>
        <p:txBody>
          <a:bodyPr/>
          <a:lstStyle/>
          <a:p>
            <a:pPr>
              <a:buFont typeface="ZapfDingbats" pitchFamily="82" charset="2"/>
              <a:buNone/>
            </a:pPr>
            <a:r>
              <a:rPr lang="en-US" sz="2000" dirty="0">
                <a:solidFill>
                  <a:srgbClr val="FF0000"/>
                </a:solidFill>
              </a:rPr>
              <a:t>UDP: no “connection” between client and server</a:t>
            </a:r>
            <a:endParaRPr lang="en-US" sz="2000" dirty="0"/>
          </a:p>
          <a:p>
            <a:r>
              <a:rPr lang="en-US" sz="2000" dirty="0"/>
              <a:t>no handshaking</a:t>
            </a:r>
            <a:endParaRPr lang="en-US" sz="2000" dirty="0"/>
          </a:p>
          <a:p>
            <a:r>
              <a:rPr lang="en-US" sz="2000" dirty="0"/>
              <a:t>sender explicitly attaches IP address and port of destination to each segment</a:t>
            </a:r>
            <a:endParaRPr lang="en-US" sz="2000" dirty="0"/>
          </a:p>
          <a:p>
            <a:r>
              <a:rPr lang="en-US" sz="2000" dirty="0"/>
              <a:t>OS attaches IP address and port of sending socket to each segment</a:t>
            </a:r>
            <a:endParaRPr lang="en-US" sz="2000" dirty="0"/>
          </a:p>
          <a:p>
            <a:r>
              <a:rPr lang="en-US" sz="2000" dirty="0"/>
              <a:t>Server can extract IP address, port of sender from received segment</a:t>
            </a:r>
            <a:endParaRPr lang="en-US" sz="2000" dirty="0"/>
          </a:p>
        </p:txBody>
      </p:sp>
      <p:grpSp>
        <p:nvGrpSpPr>
          <p:cNvPr id="2" name="Group 4"/>
          <p:cNvGrpSpPr/>
          <p:nvPr/>
        </p:nvGrpSpPr>
        <p:grpSpPr bwMode="auto">
          <a:xfrm>
            <a:off x="4616450" y="2679700"/>
            <a:ext cx="4175125" cy="1743075"/>
            <a:chOff x="2914" y="2888"/>
            <a:chExt cx="2630" cy="1098"/>
          </a:xfrm>
        </p:grpSpPr>
        <p:sp>
          <p:nvSpPr>
            <p:cNvPr id="110599" name="Rectangle 5"/>
            <p:cNvSpPr>
              <a:spLocks noChangeArrowheads="1"/>
            </p:cNvSpPr>
            <p:nvPr/>
          </p:nvSpPr>
          <p:spPr bwMode="auto">
            <a:xfrm>
              <a:off x="2940" y="3024"/>
              <a:ext cx="2604" cy="894"/>
            </a:xfrm>
            <a:prstGeom prst="rect">
              <a:avLst/>
            </a:prstGeom>
            <a:noFill/>
            <a:ln w="28575">
              <a:solidFill>
                <a:schemeClr val="accent2"/>
              </a:solidFill>
              <a:miter lim="800000"/>
            </a:ln>
          </p:spPr>
          <p:txBody>
            <a:bodyPr wrap="none" anchor="ctr">
              <a:spAutoFit/>
            </a:bodyPr>
            <a:lstStyle/>
            <a:p>
              <a:endParaRPr lang="en-US"/>
            </a:p>
          </p:txBody>
        </p:sp>
        <p:grpSp>
          <p:nvGrpSpPr>
            <p:cNvPr id="3" name="Group 6"/>
            <p:cNvGrpSpPr/>
            <p:nvPr/>
          </p:nvGrpSpPr>
          <p:grpSpPr bwMode="auto">
            <a:xfrm>
              <a:off x="2976" y="2888"/>
              <a:ext cx="1653" cy="250"/>
              <a:chOff x="66" y="3842"/>
              <a:chExt cx="1653" cy="250"/>
            </a:xfrm>
          </p:grpSpPr>
          <p:sp>
            <p:nvSpPr>
              <p:cNvPr id="110602" name="Rectangle 7"/>
              <p:cNvSpPr>
                <a:spLocks noChangeArrowheads="1"/>
              </p:cNvSpPr>
              <p:nvPr/>
            </p:nvSpPr>
            <p:spPr bwMode="auto">
              <a:xfrm>
                <a:off x="96" y="3888"/>
                <a:ext cx="1584" cy="162"/>
              </a:xfrm>
              <a:prstGeom prst="rect">
                <a:avLst/>
              </a:prstGeom>
              <a:solidFill>
                <a:schemeClr val="bg1"/>
              </a:solidFill>
              <a:ln w="9525">
                <a:noFill/>
                <a:miter lim="800000"/>
              </a:ln>
            </p:spPr>
            <p:txBody>
              <a:bodyPr wrap="none" anchor="ctr">
                <a:spAutoFit/>
              </a:bodyPr>
              <a:lstStyle/>
              <a:p>
                <a:endParaRPr lang="en-US"/>
              </a:p>
            </p:txBody>
          </p:sp>
          <p:sp>
            <p:nvSpPr>
              <p:cNvPr id="110603" name="Text Box 8"/>
              <p:cNvSpPr txBox="1">
                <a:spLocks noChangeArrowheads="1"/>
              </p:cNvSpPr>
              <p:nvPr/>
            </p:nvSpPr>
            <p:spPr bwMode="auto">
              <a:xfrm>
                <a:off x="66" y="3842"/>
                <a:ext cx="1653" cy="250"/>
              </a:xfrm>
              <a:prstGeom prst="rect">
                <a:avLst/>
              </a:prstGeom>
              <a:noFill/>
              <a:ln w="9525">
                <a:noFill/>
                <a:miter lim="800000"/>
              </a:ln>
            </p:spPr>
            <p:txBody>
              <a:bodyPr wrap="none" anchor="ctr">
                <a:spAutoFit/>
              </a:bodyPr>
              <a:lstStyle/>
              <a:p>
                <a:pPr algn="ctr">
                  <a:spcBef>
                    <a:spcPct val="0"/>
                  </a:spcBef>
                  <a:buClrTx/>
                  <a:buSzTx/>
                  <a:buFontTx/>
                  <a:buNone/>
                </a:pPr>
                <a:r>
                  <a:rPr lang="en-US" sz="2000">
                    <a:solidFill>
                      <a:srgbClr val="FF0000"/>
                    </a:solidFill>
                  </a:rPr>
                  <a:t>application viewpoint</a:t>
                </a:r>
                <a:endParaRPr lang="en-US" sz="1800"/>
              </a:p>
            </p:txBody>
          </p:sp>
        </p:grpSp>
        <p:sp>
          <p:nvSpPr>
            <p:cNvPr id="110601" name="Text Box 9"/>
            <p:cNvSpPr txBox="1">
              <a:spLocks noChangeArrowheads="1"/>
            </p:cNvSpPr>
            <p:nvPr/>
          </p:nvSpPr>
          <p:spPr bwMode="auto">
            <a:xfrm>
              <a:off x="2914" y="3179"/>
              <a:ext cx="2621" cy="807"/>
            </a:xfrm>
            <a:prstGeom prst="rect">
              <a:avLst/>
            </a:prstGeom>
            <a:noFill/>
            <a:ln w="9525">
              <a:noFill/>
              <a:miter lim="800000"/>
            </a:ln>
          </p:spPr>
          <p:txBody>
            <a:bodyPr wrap="none" anchor="ctr">
              <a:spAutoFit/>
            </a:bodyPr>
            <a:lstStyle/>
            <a:p>
              <a:pPr algn="ctr">
                <a:spcBef>
                  <a:spcPct val="0"/>
                </a:spcBef>
                <a:buClrTx/>
                <a:buSzTx/>
                <a:buFontTx/>
                <a:buNone/>
              </a:pPr>
              <a:r>
                <a:rPr lang="en-US" sz="2000" i="1">
                  <a:solidFill>
                    <a:schemeClr val="accent2"/>
                  </a:solidFill>
                </a:rPr>
                <a:t>UDP provides </a:t>
              </a:r>
              <a:r>
                <a:rPr lang="en-US" sz="2000" i="1" u="sng">
                  <a:solidFill>
                    <a:schemeClr val="accent2"/>
                  </a:solidFill>
                </a:rPr>
                <a:t>unreliable</a:t>
              </a:r>
              <a:r>
                <a:rPr lang="en-US" sz="2000" i="1">
                  <a:solidFill>
                    <a:schemeClr val="accent2"/>
                  </a:solidFill>
                </a:rPr>
                <a:t> transfer</a:t>
              </a:r>
              <a:endParaRPr lang="en-US" sz="2000" i="1">
                <a:solidFill>
                  <a:schemeClr val="accent2"/>
                </a:solidFill>
              </a:endParaRPr>
            </a:p>
            <a:p>
              <a:pPr algn="ctr">
                <a:spcBef>
                  <a:spcPct val="0"/>
                </a:spcBef>
                <a:buClrTx/>
                <a:buSzTx/>
                <a:buFontTx/>
                <a:buNone/>
              </a:pPr>
              <a:r>
                <a:rPr lang="en-US" sz="2000" i="1">
                  <a:solidFill>
                    <a:schemeClr val="accent2"/>
                  </a:solidFill>
                </a:rPr>
                <a:t> of groups of bytes (“datagrams”)</a:t>
              </a:r>
              <a:endParaRPr lang="en-US" sz="2000" i="1">
                <a:solidFill>
                  <a:schemeClr val="accent2"/>
                </a:solidFill>
              </a:endParaRPr>
            </a:p>
            <a:p>
              <a:pPr algn="ctr">
                <a:spcBef>
                  <a:spcPct val="0"/>
                </a:spcBef>
                <a:buClrTx/>
                <a:buSzTx/>
                <a:buFontTx/>
                <a:buNone/>
              </a:pPr>
              <a:r>
                <a:rPr lang="en-US" sz="2000" i="1">
                  <a:solidFill>
                    <a:schemeClr val="accent2"/>
                  </a:solidFill>
                </a:rPr>
                <a:t> between client and server</a:t>
              </a:r>
              <a:endParaRPr lang="en-US" sz="2000" i="1">
                <a:solidFill>
                  <a:schemeClr val="accent2"/>
                </a:solidFill>
                <a:latin typeface="Times New Roman" panose="02020603050405020304" pitchFamily="18" charset="0"/>
              </a:endParaRPr>
            </a:p>
            <a:p>
              <a:pPr algn="ctr">
                <a:spcBef>
                  <a:spcPct val="0"/>
                </a:spcBef>
                <a:buClrTx/>
                <a:buSzTx/>
                <a:buFontTx/>
                <a:buNone/>
              </a:pPr>
              <a:endParaRPr lang="en-US" sz="1800"/>
            </a:p>
          </p:txBody>
        </p:sp>
      </p:grpSp>
      <p:sp>
        <p:nvSpPr>
          <p:cNvPr id="12" name="TextBox 11"/>
          <p:cNvSpPr txBox="1"/>
          <p:nvPr/>
        </p:nvSpPr>
        <p:spPr>
          <a:xfrm>
            <a:off x="4636395" y="4803819"/>
            <a:ext cx="4322017" cy="1384995"/>
          </a:xfrm>
          <a:prstGeom prst="rect">
            <a:avLst/>
          </a:prstGeom>
          <a:noFill/>
        </p:spPr>
        <p:txBody>
          <a:bodyPr wrap="none" rtlCol="0">
            <a:spAutoFit/>
          </a:bodyPr>
          <a:lstStyle/>
          <a:p>
            <a:r>
              <a:rPr lang="en-US" sz="2000" u="sng" dirty="0">
                <a:solidFill>
                  <a:srgbClr val="FF0000"/>
                </a:solidFill>
              </a:rPr>
              <a:t>Note:</a:t>
            </a:r>
            <a:r>
              <a:rPr lang="en-US" sz="2000" dirty="0"/>
              <a:t> the official terminology </a:t>
            </a:r>
            <a:endParaRPr lang="en-US" sz="2000" dirty="0"/>
          </a:p>
          <a:p>
            <a:r>
              <a:rPr lang="en-US" sz="2000" dirty="0"/>
              <a:t>for a UDP packet is “datagram”. </a:t>
            </a:r>
            <a:br>
              <a:rPr lang="en-US" sz="2000" dirty="0"/>
            </a:br>
            <a:r>
              <a:rPr lang="en-US" sz="2000" dirty="0"/>
              <a:t>In this class, we instead use “UDP </a:t>
            </a:r>
            <a:br>
              <a:rPr lang="en-US" sz="2000" dirty="0"/>
            </a:br>
            <a:r>
              <a:rPr lang="en-US" sz="2000" dirty="0"/>
              <a:t>segment”.</a:t>
            </a:r>
            <a:endParaRPr lang="en-US" sz="2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example</a:t>
            </a:r>
            <a:endParaRPr lang="en-US" dirty="0"/>
          </a:p>
        </p:txBody>
      </p:sp>
      <p:sp>
        <p:nvSpPr>
          <p:cNvPr id="5" name="Content Placeholder 4"/>
          <p:cNvSpPr>
            <a:spLocks noGrp="1"/>
          </p:cNvSpPr>
          <p:nvPr>
            <p:ph idx="1"/>
          </p:nvPr>
        </p:nvSpPr>
        <p:spPr/>
        <p:txBody>
          <a:bodyPr/>
          <a:lstStyle/>
          <a:p>
            <a:r>
              <a:rPr lang="en-US" u="sng" dirty="0">
                <a:solidFill>
                  <a:srgbClr val="FF0000"/>
                </a:solidFill>
              </a:rPr>
              <a:t>Client:</a:t>
            </a:r>
            <a:r>
              <a:rPr lang="en-US" dirty="0"/>
              <a:t> </a:t>
            </a:r>
            <a:endParaRPr lang="en-US" dirty="0"/>
          </a:p>
          <a:p>
            <a:pPr lvl="1"/>
            <a:r>
              <a:rPr lang="en-US" dirty="0"/>
              <a:t>User types line of text</a:t>
            </a:r>
            <a:endParaRPr lang="en-US" dirty="0"/>
          </a:p>
          <a:p>
            <a:pPr lvl="1"/>
            <a:r>
              <a:rPr lang="en-US" dirty="0"/>
              <a:t>Client program sends line to server</a:t>
            </a:r>
            <a:endParaRPr lang="en-US" dirty="0"/>
          </a:p>
          <a:p>
            <a:r>
              <a:rPr lang="en-US" u="sng" dirty="0">
                <a:solidFill>
                  <a:srgbClr val="FF0000"/>
                </a:solidFill>
              </a:rPr>
              <a:t>Server:</a:t>
            </a:r>
            <a:endParaRPr lang="en-US" u="sng" dirty="0">
              <a:solidFill>
                <a:srgbClr val="FF0000"/>
              </a:solidFill>
            </a:endParaRPr>
          </a:p>
          <a:p>
            <a:pPr lvl="1"/>
            <a:r>
              <a:rPr lang="en-US" dirty="0"/>
              <a:t>Server receives line of text</a:t>
            </a:r>
            <a:endParaRPr lang="en-US" dirty="0"/>
          </a:p>
          <a:p>
            <a:pPr lvl="1"/>
            <a:r>
              <a:rPr lang="en-US" dirty="0"/>
              <a:t>Capitalizes all the letters</a:t>
            </a:r>
            <a:endParaRPr lang="en-US" dirty="0"/>
          </a:p>
          <a:p>
            <a:pPr lvl="1"/>
            <a:r>
              <a:rPr lang="en-US" dirty="0"/>
              <a:t>Sends modified line to client</a:t>
            </a:r>
            <a:endParaRPr lang="en-US" dirty="0"/>
          </a:p>
          <a:p>
            <a:r>
              <a:rPr lang="en-US" u="sng" dirty="0">
                <a:solidFill>
                  <a:srgbClr val="FF0000"/>
                </a:solidFill>
              </a:rPr>
              <a:t>Client:</a:t>
            </a:r>
            <a:endParaRPr lang="en-US" u="sng" dirty="0">
              <a:solidFill>
                <a:srgbClr val="FF0000"/>
              </a:solidFill>
            </a:endParaRPr>
          </a:p>
          <a:p>
            <a:pPr lvl="1"/>
            <a:r>
              <a:rPr lang="en-US" dirty="0"/>
              <a:t>Receives line of text</a:t>
            </a:r>
            <a:endParaRPr lang="en-US" dirty="0"/>
          </a:p>
          <a:p>
            <a:pPr lvl="1"/>
            <a:r>
              <a:rPr lang="en-US" dirty="0"/>
              <a:t>Displays</a:t>
            </a:r>
            <a:endParaRPr lang="en-US" dirty="0"/>
          </a:p>
        </p:txBody>
      </p:sp>
      <p:sp>
        <p:nvSpPr>
          <p:cNvPr id="3" name="Footer Placeholder 2"/>
          <p:cNvSpPr>
            <a:spLocks noGrp="1"/>
          </p:cNvSpPr>
          <p:nvPr>
            <p:ph type="ftr" sz="quarter" idx="11"/>
          </p:nvPr>
        </p:nvSpPr>
        <p:spPr/>
        <p:txBody>
          <a:bodyPr/>
          <a:lstStyle/>
          <a:p>
            <a:pPr>
              <a:defRPr/>
            </a:pPr>
            <a:r>
              <a:rPr lang="en-US"/>
              <a:t>2: Application Layer</a:t>
            </a:r>
            <a:endParaRPr lang="en-US">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C28A9413-D3A1-4AF3-8DD7-3635D5070192}" type="slidenum">
              <a:rPr lang="en-US" smtClean="0"/>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11619" name="Slide Number Placeholder 4"/>
          <p:cNvSpPr>
            <a:spLocks noGrp="1"/>
          </p:cNvSpPr>
          <p:nvPr>
            <p:ph type="sldNum" sz="quarter" idx="12"/>
          </p:nvPr>
        </p:nvSpPr>
        <p:spPr>
          <a:noFill/>
        </p:spPr>
        <p:txBody>
          <a:bodyPr/>
          <a:lstStyle/>
          <a:p>
            <a:fld id="{F6450A56-3B09-42A6-BBA2-87A68C03D6F0}" type="slidenum">
              <a:rPr lang="en-US"/>
            </a:fld>
            <a:endParaRPr lang="en-US"/>
          </a:p>
        </p:txBody>
      </p:sp>
      <p:sp>
        <p:nvSpPr>
          <p:cNvPr id="111620" name="Rectangle 2"/>
          <p:cNvSpPr>
            <a:spLocks noGrp="1" noChangeArrowheads="1"/>
          </p:cNvSpPr>
          <p:nvPr>
            <p:ph type="title"/>
          </p:nvPr>
        </p:nvSpPr>
        <p:spPr/>
        <p:txBody>
          <a:bodyPr/>
          <a:lstStyle/>
          <a:p>
            <a:r>
              <a:rPr lang="en-US" sz="3200"/>
              <a:t>Client/server socket interaction: UDP</a:t>
            </a:r>
            <a:endParaRPr lang="en-US"/>
          </a:p>
        </p:txBody>
      </p:sp>
      <p:sp>
        <p:nvSpPr>
          <p:cNvPr id="111621" name="Text Box 3"/>
          <p:cNvSpPr txBox="1">
            <a:spLocks noChangeArrowheads="1"/>
          </p:cNvSpPr>
          <p:nvPr/>
        </p:nvSpPr>
        <p:spPr bwMode="auto">
          <a:xfrm>
            <a:off x="585788" y="1314450"/>
            <a:ext cx="3392487" cy="457200"/>
          </a:xfrm>
          <a:prstGeom prst="rect">
            <a:avLst/>
          </a:prstGeom>
          <a:noFill/>
          <a:ln w="9525">
            <a:noFill/>
            <a:miter lim="800000"/>
          </a:ln>
        </p:spPr>
        <p:txBody>
          <a:bodyPr wrap="none" anchor="ctr">
            <a:spAutoFit/>
          </a:bodyPr>
          <a:lstStyle/>
          <a:p>
            <a:pPr algn="ctr">
              <a:spcBef>
                <a:spcPct val="50000"/>
              </a:spcBef>
              <a:buClrTx/>
              <a:buSzTx/>
              <a:buFontTx/>
              <a:buNone/>
            </a:pPr>
            <a:r>
              <a:rPr lang="en-US"/>
              <a:t>Server </a:t>
            </a:r>
            <a:r>
              <a:rPr lang="en-US" sz="1800"/>
              <a:t>(running on </a:t>
            </a:r>
            <a:r>
              <a:rPr lang="en-US" sz="1800" b="1">
                <a:latin typeface="Courier New" panose="02070309020205020404" pitchFamily="49" charset="0"/>
              </a:rPr>
              <a:t>hostid</a:t>
            </a:r>
            <a:r>
              <a:rPr lang="en-US" sz="1800"/>
              <a:t>)</a:t>
            </a:r>
            <a:endParaRPr lang="en-US">
              <a:latin typeface="Times New Roman" panose="02020603050405020304" pitchFamily="18" charset="0"/>
            </a:endParaRPr>
          </a:p>
        </p:txBody>
      </p:sp>
      <p:grpSp>
        <p:nvGrpSpPr>
          <p:cNvPr id="2" name="Group 4"/>
          <p:cNvGrpSpPr/>
          <p:nvPr/>
        </p:nvGrpSpPr>
        <p:grpSpPr bwMode="auto">
          <a:xfrm>
            <a:off x="5532438" y="3933825"/>
            <a:ext cx="1738312" cy="1935163"/>
            <a:chOff x="3485" y="2478"/>
            <a:chExt cx="1095" cy="1219"/>
          </a:xfrm>
        </p:grpSpPr>
        <p:grpSp>
          <p:nvGrpSpPr>
            <p:cNvPr id="3" name="Group 5"/>
            <p:cNvGrpSpPr/>
            <p:nvPr/>
          </p:nvGrpSpPr>
          <p:grpSpPr bwMode="auto">
            <a:xfrm>
              <a:off x="3485" y="3005"/>
              <a:ext cx="1095" cy="692"/>
              <a:chOff x="3485" y="3005"/>
              <a:chExt cx="1095" cy="692"/>
            </a:xfrm>
          </p:grpSpPr>
          <p:sp>
            <p:nvSpPr>
              <p:cNvPr id="111642" name="Text Box 6"/>
              <p:cNvSpPr txBox="1">
                <a:spLocks noChangeArrowheads="1"/>
              </p:cNvSpPr>
              <p:nvPr/>
            </p:nvSpPr>
            <p:spPr bwMode="auto">
              <a:xfrm>
                <a:off x="3509" y="3371"/>
                <a:ext cx="719"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close</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clientSocket</a:t>
                </a:r>
                <a:endParaRPr lang="en-US">
                  <a:latin typeface="Times New Roman" panose="02020603050405020304" pitchFamily="18" charset="0"/>
                </a:endParaRPr>
              </a:p>
            </p:txBody>
          </p:sp>
          <p:sp>
            <p:nvSpPr>
              <p:cNvPr id="111643" name="Line 7"/>
              <p:cNvSpPr>
                <a:spLocks noChangeShapeType="1"/>
              </p:cNvSpPr>
              <p:nvPr/>
            </p:nvSpPr>
            <p:spPr bwMode="auto">
              <a:xfrm>
                <a:off x="3936" y="3318"/>
                <a:ext cx="0" cy="204"/>
              </a:xfrm>
              <a:prstGeom prst="line">
                <a:avLst/>
              </a:prstGeom>
              <a:noFill/>
              <a:ln w="28575">
                <a:solidFill>
                  <a:schemeClr val="accent2"/>
                </a:solidFill>
                <a:round/>
                <a:tailEnd type="triangle" w="med" len="med"/>
              </a:ln>
            </p:spPr>
            <p:txBody>
              <a:bodyPr anchor="ctr">
                <a:spAutoFit/>
              </a:bodyPr>
              <a:lstStyle/>
              <a:p>
                <a:endParaRPr lang="en-US"/>
              </a:p>
            </p:txBody>
          </p:sp>
          <p:sp>
            <p:nvSpPr>
              <p:cNvPr id="111644" name="Text Box 8"/>
              <p:cNvSpPr txBox="1">
                <a:spLocks noChangeArrowheads="1"/>
              </p:cNvSpPr>
              <p:nvPr/>
            </p:nvSpPr>
            <p:spPr bwMode="auto">
              <a:xfrm>
                <a:off x="3485" y="3005"/>
                <a:ext cx="1095"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read datagram from</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clientSocket</a:t>
                </a:r>
                <a:endParaRPr lang="en-US">
                  <a:latin typeface="Times New Roman" panose="02020603050405020304" pitchFamily="18" charset="0"/>
                </a:endParaRPr>
              </a:p>
            </p:txBody>
          </p:sp>
        </p:grpSp>
        <p:sp>
          <p:nvSpPr>
            <p:cNvPr id="111641" name="Line 9"/>
            <p:cNvSpPr>
              <a:spLocks noChangeShapeType="1"/>
            </p:cNvSpPr>
            <p:nvPr/>
          </p:nvSpPr>
          <p:spPr bwMode="auto">
            <a:xfrm>
              <a:off x="3864" y="2478"/>
              <a:ext cx="0" cy="522"/>
            </a:xfrm>
            <a:prstGeom prst="line">
              <a:avLst/>
            </a:prstGeom>
            <a:noFill/>
            <a:ln w="28575">
              <a:solidFill>
                <a:schemeClr val="accent2"/>
              </a:solidFill>
              <a:round/>
              <a:tailEnd type="triangle" w="med" len="med"/>
            </a:ln>
          </p:spPr>
          <p:txBody>
            <a:bodyPr anchor="ctr">
              <a:spAutoFit/>
            </a:bodyPr>
            <a:lstStyle/>
            <a:p>
              <a:endParaRPr lang="en-US"/>
            </a:p>
          </p:txBody>
        </p:sp>
      </p:grpSp>
      <p:grpSp>
        <p:nvGrpSpPr>
          <p:cNvPr id="4" name="Group 10"/>
          <p:cNvGrpSpPr/>
          <p:nvPr/>
        </p:nvGrpSpPr>
        <p:grpSpPr bwMode="auto">
          <a:xfrm>
            <a:off x="3000375" y="1333500"/>
            <a:ext cx="5360988" cy="2593975"/>
            <a:chOff x="1890" y="840"/>
            <a:chExt cx="3377" cy="1634"/>
          </a:xfrm>
        </p:grpSpPr>
        <p:grpSp>
          <p:nvGrpSpPr>
            <p:cNvPr id="5" name="Group 11"/>
            <p:cNvGrpSpPr/>
            <p:nvPr/>
          </p:nvGrpSpPr>
          <p:grpSpPr bwMode="auto">
            <a:xfrm>
              <a:off x="3389" y="1342"/>
              <a:ext cx="1030" cy="465"/>
              <a:chOff x="3233" y="1852"/>
              <a:chExt cx="1030" cy="465"/>
            </a:xfrm>
          </p:grpSpPr>
          <p:sp>
            <p:nvSpPr>
              <p:cNvPr id="111638" name="Text Box 12"/>
              <p:cNvSpPr txBox="1">
                <a:spLocks noChangeArrowheads="1"/>
              </p:cNvSpPr>
              <p:nvPr/>
            </p:nvSpPr>
            <p:spPr bwMode="auto">
              <a:xfrm>
                <a:off x="3233" y="1852"/>
                <a:ext cx="811" cy="422"/>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create socket,</a:t>
                </a:r>
                <a:endParaRPr lang="en-US" sz="1400">
                  <a:latin typeface="Arial" panose="020B0604020202020204" pitchFamily="34" charset="0"/>
                </a:endParaRPr>
              </a:p>
              <a:p>
                <a:pPr>
                  <a:spcBef>
                    <a:spcPct val="0"/>
                  </a:spcBef>
                  <a:buClrTx/>
                  <a:buSzTx/>
                  <a:buFontTx/>
                  <a:buNone/>
                </a:pPr>
                <a:endParaRPr lang="en-US">
                  <a:latin typeface="Times New Roman" panose="02020603050405020304" pitchFamily="18" charset="0"/>
                </a:endParaRPr>
              </a:p>
            </p:txBody>
          </p:sp>
          <p:sp>
            <p:nvSpPr>
              <p:cNvPr id="111639" name="Text Box 13"/>
              <p:cNvSpPr txBox="1">
                <a:spLocks noChangeArrowheads="1"/>
              </p:cNvSpPr>
              <p:nvPr/>
            </p:nvSpPr>
            <p:spPr bwMode="auto">
              <a:xfrm>
                <a:off x="3241" y="1991"/>
                <a:ext cx="1022" cy="326"/>
              </a:xfrm>
              <a:prstGeom prst="rect">
                <a:avLst/>
              </a:prstGeom>
              <a:noFill/>
              <a:ln w="9525">
                <a:noFill/>
                <a:miter lim="800000"/>
              </a:ln>
            </p:spPr>
            <p:txBody>
              <a:bodyPr wrap="none" anchor="ctr">
                <a:spAutoFit/>
              </a:bodyPr>
              <a:lstStyle/>
              <a:p>
                <a:pPr>
                  <a:spcBef>
                    <a:spcPct val="0"/>
                  </a:spcBef>
                  <a:buClrTx/>
                  <a:buSzTx/>
                  <a:buFontTx/>
                  <a:buNone/>
                </a:pPr>
                <a:r>
                  <a:rPr lang="en-US" sz="1400">
                    <a:solidFill>
                      <a:srgbClr val="FF0000"/>
                    </a:solidFill>
                    <a:latin typeface="Arial" panose="020B0604020202020204" pitchFamily="34" charset="0"/>
                  </a:rPr>
                  <a:t>clientSocket = </a:t>
                </a:r>
                <a:endParaRPr lang="en-US" sz="1400">
                  <a:solidFill>
                    <a:srgbClr val="FF0000"/>
                  </a:solidFill>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DatagramSocket()</a:t>
                </a:r>
                <a:endParaRPr lang="en-US">
                  <a:latin typeface="Times New Roman" panose="02020603050405020304" pitchFamily="18" charset="0"/>
                </a:endParaRPr>
              </a:p>
            </p:txBody>
          </p:sp>
        </p:grpSp>
        <p:sp>
          <p:nvSpPr>
            <p:cNvPr id="111634" name="Text Box 14"/>
            <p:cNvSpPr txBox="1">
              <a:spLocks noChangeArrowheads="1"/>
            </p:cNvSpPr>
            <p:nvPr/>
          </p:nvSpPr>
          <p:spPr bwMode="auto">
            <a:xfrm>
              <a:off x="3311" y="840"/>
              <a:ext cx="635" cy="288"/>
            </a:xfrm>
            <a:prstGeom prst="rect">
              <a:avLst/>
            </a:prstGeom>
            <a:noFill/>
            <a:ln w="9525">
              <a:noFill/>
              <a:miter lim="800000"/>
            </a:ln>
          </p:spPr>
          <p:txBody>
            <a:bodyPr wrap="none" anchor="ctr">
              <a:spAutoFit/>
            </a:bodyPr>
            <a:lstStyle/>
            <a:p>
              <a:pPr algn="ctr">
                <a:spcBef>
                  <a:spcPct val="50000"/>
                </a:spcBef>
                <a:buClrTx/>
                <a:buSzTx/>
                <a:buFontTx/>
                <a:buNone/>
              </a:pPr>
              <a:r>
                <a:rPr lang="en-US"/>
                <a:t>Client</a:t>
              </a:r>
              <a:endParaRPr lang="en-US">
                <a:latin typeface="Times New Roman" panose="02020603050405020304" pitchFamily="18" charset="0"/>
              </a:endParaRPr>
            </a:p>
          </p:txBody>
        </p:sp>
        <p:sp>
          <p:nvSpPr>
            <p:cNvPr id="111635" name="Text Box 15"/>
            <p:cNvSpPr txBox="1">
              <a:spLocks noChangeArrowheads="1"/>
            </p:cNvSpPr>
            <p:nvPr/>
          </p:nvSpPr>
          <p:spPr bwMode="auto">
            <a:xfrm>
              <a:off x="3389" y="2014"/>
              <a:ext cx="1878" cy="460"/>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Create datagram with server IP and</a:t>
              </a:r>
              <a:endParaRPr lang="en-US" sz="1400">
                <a:latin typeface="Arial" panose="020B0604020202020204" pitchFamily="34" charset="0"/>
              </a:endParaRPr>
            </a:p>
            <a:p>
              <a:pPr>
                <a:spcBef>
                  <a:spcPct val="0"/>
                </a:spcBef>
                <a:buClrTx/>
                <a:buSzTx/>
                <a:buFontTx/>
                <a:buNone/>
              </a:pPr>
              <a:r>
                <a:rPr lang="en-US" sz="1400">
                  <a:latin typeface="Arial" panose="020B0604020202020204" pitchFamily="34" charset="0"/>
                </a:rPr>
                <a:t>port=x; send datagram via</a:t>
              </a:r>
              <a:br>
                <a:rPr lang="en-US" sz="1400">
                  <a:latin typeface="Arial" panose="020B0604020202020204" pitchFamily="34" charset="0"/>
                </a:rPr>
              </a:br>
              <a:r>
                <a:rPr lang="en-US" sz="1400">
                  <a:latin typeface="Arial" panose="020B0604020202020204" pitchFamily="34" charset="0"/>
                </a:rPr>
                <a:t> </a:t>
              </a:r>
              <a:r>
                <a:rPr lang="en-US" sz="1400">
                  <a:solidFill>
                    <a:srgbClr val="FF0000"/>
                  </a:solidFill>
                  <a:latin typeface="Arial" panose="020B0604020202020204" pitchFamily="34" charset="0"/>
                </a:rPr>
                <a:t>clientSocket</a:t>
              </a:r>
              <a:endParaRPr lang="en-US">
                <a:latin typeface="Times New Roman" panose="02020603050405020304" pitchFamily="18" charset="0"/>
              </a:endParaRPr>
            </a:p>
          </p:txBody>
        </p:sp>
        <p:sp>
          <p:nvSpPr>
            <p:cNvPr id="111636" name="Line 16"/>
            <p:cNvSpPr>
              <a:spLocks noChangeShapeType="1"/>
            </p:cNvSpPr>
            <p:nvPr/>
          </p:nvSpPr>
          <p:spPr bwMode="auto">
            <a:xfrm>
              <a:off x="3828" y="1830"/>
              <a:ext cx="0" cy="204"/>
            </a:xfrm>
            <a:prstGeom prst="line">
              <a:avLst/>
            </a:prstGeom>
            <a:noFill/>
            <a:ln w="28575">
              <a:solidFill>
                <a:schemeClr val="accent2"/>
              </a:solidFill>
              <a:round/>
              <a:tailEnd type="triangle" w="med" len="med"/>
            </a:ln>
          </p:spPr>
          <p:txBody>
            <a:bodyPr anchor="ctr">
              <a:spAutoFit/>
            </a:bodyPr>
            <a:lstStyle/>
            <a:p>
              <a:endParaRPr lang="en-US"/>
            </a:p>
          </p:txBody>
        </p:sp>
        <p:sp>
          <p:nvSpPr>
            <p:cNvPr id="111637" name="Line 17"/>
            <p:cNvSpPr>
              <a:spLocks noChangeShapeType="1"/>
            </p:cNvSpPr>
            <p:nvPr/>
          </p:nvSpPr>
          <p:spPr bwMode="auto">
            <a:xfrm flipH="1">
              <a:off x="1890" y="2208"/>
              <a:ext cx="1518" cy="252"/>
            </a:xfrm>
            <a:prstGeom prst="line">
              <a:avLst/>
            </a:prstGeom>
            <a:noFill/>
            <a:ln w="28575">
              <a:solidFill>
                <a:srgbClr val="FF0000"/>
              </a:solidFill>
              <a:round/>
              <a:tailEnd type="triangle" w="med" len="med"/>
            </a:ln>
          </p:spPr>
          <p:txBody>
            <a:bodyPr wrap="none" anchor="ctr">
              <a:spAutoFit/>
            </a:bodyPr>
            <a:lstStyle/>
            <a:p>
              <a:endParaRPr lang="en-US"/>
            </a:p>
          </p:txBody>
        </p:sp>
      </p:grpSp>
      <p:sp>
        <p:nvSpPr>
          <p:cNvPr id="111624" name="Text Box 18"/>
          <p:cNvSpPr txBox="1">
            <a:spLocks noChangeArrowheads="1"/>
          </p:cNvSpPr>
          <p:nvPr/>
        </p:nvSpPr>
        <p:spPr bwMode="auto">
          <a:xfrm>
            <a:off x="1303338" y="2187575"/>
            <a:ext cx="1287462" cy="517525"/>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create socket,</a:t>
            </a:r>
            <a:endParaRPr lang="en-US" sz="1400">
              <a:latin typeface="Arial" panose="020B0604020202020204" pitchFamily="34" charset="0"/>
            </a:endParaRPr>
          </a:p>
          <a:p>
            <a:pPr>
              <a:spcBef>
                <a:spcPct val="0"/>
              </a:spcBef>
              <a:buClrTx/>
              <a:buSzTx/>
              <a:buFontTx/>
              <a:buNone/>
            </a:pPr>
            <a:r>
              <a:rPr lang="en-US" sz="1400">
                <a:latin typeface="Arial" panose="020B0604020202020204" pitchFamily="34" charset="0"/>
              </a:rPr>
              <a:t>port= x.</a:t>
            </a:r>
            <a:endParaRPr lang="en-US">
              <a:latin typeface="Times New Roman" panose="02020603050405020304" pitchFamily="18" charset="0"/>
            </a:endParaRPr>
          </a:p>
        </p:txBody>
      </p:sp>
      <p:sp>
        <p:nvSpPr>
          <p:cNvPr id="111625" name="Text Box 19"/>
          <p:cNvSpPr txBox="1">
            <a:spLocks noChangeArrowheads="1"/>
          </p:cNvSpPr>
          <p:nvPr/>
        </p:nvSpPr>
        <p:spPr bwMode="auto">
          <a:xfrm>
            <a:off x="1303338" y="2632075"/>
            <a:ext cx="1622425" cy="517525"/>
          </a:xfrm>
          <a:prstGeom prst="rect">
            <a:avLst/>
          </a:prstGeom>
          <a:noFill/>
          <a:ln w="9525">
            <a:noFill/>
            <a:miter lim="800000"/>
          </a:ln>
        </p:spPr>
        <p:txBody>
          <a:bodyPr wrap="none" anchor="ctr">
            <a:spAutoFit/>
          </a:bodyPr>
          <a:lstStyle/>
          <a:p>
            <a:pPr>
              <a:spcBef>
                <a:spcPct val="0"/>
              </a:spcBef>
              <a:buClrTx/>
              <a:buSzTx/>
              <a:buFontTx/>
              <a:buNone/>
            </a:pPr>
            <a:r>
              <a:rPr lang="en-US" sz="1400">
                <a:solidFill>
                  <a:srgbClr val="FF0000"/>
                </a:solidFill>
                <a:latin typeface="Arial" panose="020B0604020202020204" pitchFamily="34" charset="0"/>
              </a:rPr>
              <a:t>serverSocket = </a:t>
            </a:r>
            <a:endParaRPr lang="en-US" sz="1400">
              <a:solidFill>
                <a:srgbClr val="FF0000"/>
              </a:solidFill>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DatagramSocket()</a:t>
            </a:r>
            <a:endParaRPr lang="en-US">
              <a:latin typeface="Times New Roman" panose="02020603050405020304" pitchFamily="18" charset="0"/>
            </a:endParaRPr>
          </a:p>
        </p:txBody>
      </p:sp>
      <p:grpSp>
        <p:nvGrpSpPr>
          <p:cNvPr id="6" name="Group 20"/>
          <p:cNvGrpSpPr/>
          <p:nvPr/>
        </p:nvGrpSpPr>
        <p:grpSpPr bwMode="auto">
          <a:xfrm>
            <a:off x="1404938" y="3146425"/>
            <a:ext cx="1738312" cy="1058863"/>
            <a:chOff x="885" y="1982"/>
            <a:chExt cx="1095" cy="667"/>
          </a:xfrm>
        </p:grpSpPr>
        <p:sp>
          <p:nvSpPr>
            <p:cNvPr id="111631" name="Line 21"/>
            <p:cNvSpPr>
              <a:spLocks noChangeShapeType="1"/>
            </p:cNvSpPr>
            <p:nvPr/>
          </p:nvSpPr>
          <p:spPr bwMode="auto">
            <a:xfrm>
              <a:off x="1276" y="1982"/>
              <a:ext cx="0" cy="366"/>
            </a:xfrm>
            <a:prstGeom prst="line">
              <a:avLst/>
            </a:prstGeom>
            <a:noFill/>
            <a:ln w="28575">
              <a:solidFill>
                <a:schemeClr val="accent2"/>
              </a:solidFill>
              <a:round/>
              <a:tailEnd type="triangle" w="med" len="med"/>
            </a:ln>
          </p:spPr>
          <p:txBody>
            <a:bodyPr anchor="ctr">
              <a:spAutoFit/>
            </a:bodyPr>
            <a:lstStyle/>
            <a:p>
              <a:endParaRPr lang="en-US"/>
            </a:p>
          </p:txBody>
        </p:sp>
        <p:sp>
          <p:nvSpPr>
            <p:cNvPr id="111632" name="Text Box 22"/>
            <p:cNvSpPr txBox="1">
              <a:spLocks noChangeArrowheads="1"/>
            </p:cNvSpPr>
            <p:nvPr/>
          </p:nvSpPr>
          <p:spPr bwMode="auto">
            <a:xfrm>
              <a:off x="885" y="2323"/>
              <a:ext cx="1095"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read datagram from</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serverSocket</a:t>
              </a:r>
              <a:endParaRPr lang="en-US">
                <a:latin typeface="Times New Roman" panose="02020603050405020304" pitchFamily="18" charset="0"/>
              </a:endParaRPr>
            </a:p>
          </p:txBody>
        </p:sp>
      </p:grpSp>
      <p:grpSp>
        <p:nvGrpSpPr>
          <p:cNvPr id="7" name="Group 23"/>
          <p:cNvGrpSpPr/>
          <p:nvPr/>
        </p:nvGrpSpPr>
        <p:grpSpPr bwMode="auto">
          <a:xfrm>
            <a:off x="1427163" y="4229100"/>
            <a:ext cx="3973512" cy="1358900"/>
            <a:chOff x="899" y="2664"/>
            <a:chExt cx="2503" cy="856"/>
          </a:xfrm>
        </p:grpSpPr>
        <p:sp>
          <p:nvSpPr>
            <p:cNvPr id="111628" name="Text Box 24"/>
            <p:cNvSpPr txBox="1">
              <a:spLocks noChangeArrowheads="1"/>
            </p:cNvSpPr>
            <p:nvPr/>
          </p:nvSpPr>
          <p:spPr bwMode="auto">
            <a:xfrm>
              <a:off x="899" y="2792"/>
              <a:ext cx="836" cy="728"/>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write reply to</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serverSocket</a:t>
              </a:r>
              <a:endParaRPr lang="en-US" sz="1400">
                <a:solidFill>
                  <a:srgbClr val="FF0000"/>
                </a:solidFill>
                <a:latin typeface="Arial" panose="020B0604020202020204" pitchFamily="34" charset="0"/>
              </a:endParaRPr>
            </a:p>
            <a:p>
              <a:pPr>
                <a:spcBef>
                  <a:spcPct val="0"/>
                </a:spcBef>
                <a:buClrTx/>
                <a:buSzTx/>
                <a:buFontTx/>
                <a:buNone/>
              </a:pPr>
              <a:r>
                <a:rPr lang="en-US" sz="1400">
                  <a:latin typeface="Arial" panose="020B0604020202020204" pitchFamily="34" charset="0"/>
                </a:rPr>
                <a:t>specifying </a:t>
              </a:r>
              <a:br>
                <a:rPr lang="en-US" sz="1400">
                  <a:latin typeface="Arial" panose="020B0604020202020204" pitchFamily="34" charset="0"/>
                </a:rPr>
              </a:br>
              <a:r>
                <a:rPr lang="en-US" sz="1400">
                  <a:latin typeface="Arial" panose="020B0604020202020204" pitchFamily="34" charset="0"/>
                </a:rPr>
                <a:t>client address,</a:t>
              </a:r>
              <a:endParaRPr lang="en-US" sz="1400">
                <a:latin typeface="Arial" panose="020B0604020202020204" pitchFamily="34" charset="0"/>
              </a:endParaRPr>
            </a:p>
            <a:p>
              <a:pPr>
                <a:spcBef>
                  <a:spcPct val="0"/>
                </a:spcBef>
                <a:buClrTx/>
                <a:buSzTx/>
                <a:buFontTx/>
                <a:buNone/>
              </a:pPr>
              <a:r>
                <a:rPr lang="en-US" sz="1400">
                  <a:latin typeface="Arial" panose="020B0604020202020204" pitchFamily="34" charset="0"/>
                </a:rPr>
                <a:t>port number</a:t>
              </a:r>
              <a:endParaRPr lang="en-US">
                <a:latin typeface="Times New Roman" panose="02020603050405020304" pitchFamily="18" charset="0"/>
              </a:endParaRPr>
            </a:p>
          </p:txBody>
        </p:sp>
        <p:sp>
          <p:nvSpPr>
            <p:cNvPr id="111629" name="Line 25"/>
            <p:cNvSpPr>
              <a:spLocks noChangeShapeType="1"/>
            </p:cNvSpPr>
            <p:nvPr/>
          </p:nvSpPr>
          <p:spPr bwMode="auto">
            <a:xfrm>
              <a:off x="1302" y="2664"/>
              <a:ext cx="0" cy="198"/>
            </a:xfrm>
            <a:prstGeom prst="line">
              <a:avLst/>
            </a:prstGeom>
            <a:noFill/>
            <a:ln w="28575">
              <a:solidFill>
                <a:schemeClr val="accent2"/>
              </a:solidFill>
              <a:round/>
              <a:tailEnd type="triangle" w="med" len="med"/>
            </a:ln>
          </p:spPr>
          <p:txBody>
            <a:bodyPr anchor="ctr">
              <a:spAutoFit/>
            </a:bodyPr>
            <a:lstStyle/>
            <a:p>
              <a:endParaRPr lang="en-US"/>
            </a:p>
          </p:txBody>
        </p:sp>
        <p:sp>
          <p:nvSpPr>
            <p:cNvPr id="111630" name="Line 26"/>
            <p:cNvSpPr>
              <a:spLocks noChangeShapeType="1"/>
            </p:cNvSpPr>
            <p:nvPr/>
          </p:nvSpPr>
          <p:spPr bwMode="auto">
            <a:xfrm>
              <a:off x="1866" y="2970"/>
              <a:ext cx="1536" cy="180"/>
            </a:xfrm>
            <a:prstGeom prst="line">
              <a:avLst/>
            </a:prstGeom>
            <a:noFill/>
            <a:ln w="28575">
              <a:solidFill>
                <a:srgbClr val="FF0000"/>
              </a:solidFill>
              <a:round/>
              <a:tailEnd type="triangle" w="med" len="med"/>
            </a:ln>
          </p:spPr>
          <p:txBody>
            <a:bodyPr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1748" name="Slide Number Placeholder 4"/>
          <p:cNvSpPr>
            <a:spLocks noGrp="1"/>
          </p:cNvSpPr>
          <p:nvPr>
            <p:ph type="sldNum" sz="quarter" idx="12"/>
          </p:nvPr>
        </p:nvSpPr>
        <p:spPr>
          <a:noFill/>
        </p:spPr>
        <p:txBody>
          <a:bodyPr/>
          <a:lstStyle/>
          <a:p>
            <a:fld id="{EB266E80-0A02-4410-82AB-3962CE3B6238}" type="slidenum">
              <a:rPr lang="en-US"/>
            </a:fld>
            <a:endParaRPr lang="en-US"/>
          </a:p>
        </p:txBody>
      </p:sp>
      <p:sp>
        <p:nvSpPr>
          <p:cNvPr id="31749" name="Rectangle 2"/>
          <p:cNvSpPr>
            <a:spLocks noGrp="1" noChangeArrowheads="1"/>
          </p:cNvSpPr>
          <p:nvPr>
            <p:ph type="title"/>
          </p:nvPr>
        </p:nvSpPr>
        <p:spPr/>
        <p:txBody>
          <a:bodyPr/>
          <a:lstStyle/>
          <a:p>
            <a:r>
              <a:rPr lang="en-US" sz="3600"/>
              <a:t>Example: Java client (UDP)</a:t>
            </a:r>
            <a:endParaRPr lang="en-US"/>
          </a:p>
        </p:txBody>
      </p:sp>
      <p:sp>
        <p:nvSpPr>
          <p:cNvPr id="31750" name="Rectangle 14"/>
          <p:cNvSpPr>
            <a:spLocks noChangeArrowheads="1"/>
          </p:cNvSpPr>
          <p:nvPr/>
        </p:nvSpPr>
        <p:spPr bwMode="auto">
          <a:xfrm>
            <a:off x="0" y="1185863"/>
            <a:ext cx="9144000" cy="0"/>
          </a:xfrm>
          <a:prstGeom prst="rect">
            <a:avLst/>
          </a:prstGeom>
          <a:noFill/>
          <a:ln w="9525">
            <a:noFill/>
            <a:miter lim="800000"/>
          </a:ln>
        </p:spPr>
        <p:txBody>
          <a:bodyPr wrap="none" anchor="ctr">
            <a:spAutoFit/>
          </a:bodyPr>
          <a:lstStyle/>
          <a:p>
            <a:endParaRPr lang="en-US"/>
          </a:p>
        </p:txBody>
      </p:sp>
      <p:graphicFrame>
        <p:nvGraphicFramePr>
          <p:cNvPr id="31746" name="Object 13"/>
          <p:cNvGraphicFramePr>
            <a:graphicFrameLocks noChangeAspect="1"/>
          </p:cNvGraphicFramePr>
          <p:nvPr/>
        </p:nvGraphicFramePr>
        <p:xfrm>
          <a:off x="2655888" y="1262063"/>
          <a:ext cx="4067175" cy="4486275"/>
        </p:xfrm>
        <a:graphic>
          <a:graphicData uri="http://schemas.openxmlformats.org/presentationml/2006/ole">
            <mc:AlternateContent xmlns:mc="http://schemas.openxmlformats.org/markup-compatibility/2006">
              <mc:Choice xmlns:v="urn:schemas-microsoft-com:vml" Requires="v">
                <p:oleObj spid="_x0000_s125966" name="VISIO" r:id="rId1" imgW="15011400" imgH="17735550" progId="Visio.Drawing.5">
                  <p:embed/>
                </p:oleObj>
              </mc:Choice>
              <mc:Fallback>
                <p:oleObj name="VISIO" r:id="rId1" imgW="15011400" imgH="17735550" progId="Visio.Drawing.5">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5888" y="1262063"/>
                        <a:ext cx="4067175" cy="448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1" name="Text Box 15"/>
          <p:cNvSpPr txBox="1">
            <a:spLocks noChangeArrowheads="1"/>
          </p:cNvSpPr>
          <p:nvPr/>
        </p:nvSpPr>
        <p:spPr bwMode="auto">
          <a:xfrm>
            <a:off x="1522413" y="3408363"/>
            <a:ext cx="2184400" cy="646331"/>
          </a:xfrm>
          <a:prstGeom prst="rect">
            <a:avLst/>
          </a:prstGeom>
          <a:solidFill>
            <a:schemeClr val="bg1"/>
          </a:solidFill>
          <a:ln w="9525">
            <a:noFill/>
            <a:miter lim="800000"/>
          </a:ln>
        </p:spPr>
        <p:txBody>
          <a:bodyPr>
            <a:spAutoFit/>
          </a:bodyPr>
          <a:lstStyle/>
          <a:p>
            <a:r>
              <a:rPr lang="en-US" sz="1600" dirty="0">
                <a:solidFill>
                  <a:srgbClr val="FF0000"/>
                </a:solidFill>
              </a:rPr>
              <a:t>Output: </a:t>
            </a:r>
            <a:r>
              <a:rPr lang="en-US" sz="1800" dirty="0"/>
              <a:t>sends packet</a:t>
            </a:r>
            <a:endParaRPr lang="en-US" sz="1800" dirty="0">
              <a:latin typeface="Times New Roman" panose="02020603050405020304" pitchFamily="18" charset="0"/>
            </a:endParaRPr>
          </a:p>
        </p:txBody>
      </p:sp>
      <p:sp>
        <p:nvSpPr>
          <p:cNvPr id="31752" name="Text Box 16"/>
          <p:cNvSpPr txBox="1">
            <a:spLocks noChangeArrowheads="1"/>
          </p:cNvSpPr>
          <p:nvPr/>
        </p:nvSpPr>
        <p:spPr bwMode="auto">
          <a:xfrm>
            <a:off x="5932488" y="2759075"/>
            <a:ext cx="2184400" cy="646331"/>
          </a:xfrm>
          <a:prstGeom prst="rect">
            <a:avLst/>
          </a:prstGeom>
          <a:solidFill>
            <a:schemeClr val="bg1"/>
          </a:solidFill>
          <a:ln w="9525">
            <a:noFill/>
            <a:miter lim="800000"/>
          </a:ln>
        </p:spPr>
        <p:txBody>
          <a:bodyPr>
            <a:spAutoFit/>
          </a:bodyPr>
          <a:lstStyle/>
          <a:p>
            <a:r>
              <a:rPr lang="en-US" sz="1600" dirty="0">
                <a:solidFill>
                  <a:srgbClr val="FF0000"/>
                </a:solidFill>
              </a:rPr>
              <a:t>Input: </a:t>
            </a:r>
            <a:r>
              <a:rPr lang="en-US" sz="1800" dirty="0"/>
              <a:t>receives packet</a:t>
            </a:r>
            <a:endParaRPr lang="en-US" sz="1800" dirty="0">
              <a:latin typeface="Times New Roman" panose="02020603050405020304" pitchFamily="18" charset="0"/>
            </a:endParaRPr>
          </a:p>
        </p:txBody>
      </p:sp>
      <p:sp>
        <p:nvSpPr>
          <p:cNvPr id="31753" name="Line 17"/>
          <p:cNvSpPr>
            <a:spLocks noChangeShapeType="1"/>
          </p:cNvSpPr>
          <p:nvPr/>
        </p:nvSpPr>
        <p:spPr bwMode="auto">
          <a:xfrm>
            <a:off x="3294063" y="3595688"/>
            <a:ext cx="952500" cy="438150"/>
          </a:xfrm>
          <a:prstGeom prst="line">
            <a:avLst/>
          </a:prstGeom>
          <a:noFill/>
          <a:ln w="9525">
            <a:solidFill>
              <a:srgbClr val="FF0000"/>
            </a:solidFill>
            <a:round/>
            <a:tailEnd type="triangle" w="med" len="med"/>
          </a:ln>
        </p:spPr>
        <p:txBody>
          <a:bodyPr wrap="none"/>
          <a:lstStyle/>
          <a:p>
            <a:endParaRPr lang="en-US"/>
          </a:p>
        </p:txBody>
      </p:sp>
      <p:sp>
        <p:nvSpPr>
          <p:cNvPr id="31754" name="Line 18"/>
          <p:cNvSpPr>
            <a:spLocks noChangeShapeType="1"/>
          </p:cNvSpPr>
          <p:nvPr/>
        </p:nvSpPr>
        <p:spPr bwMode="auto">
          <a:xfrm flipH="1">
            <a:off x="5387975" y="2971800"/>
            <a:ext cx="576263" cy="788988"/>
          </a:xfrm>
          <a:prstGeom prst="line">
            <a:avLst/>
          </a:prstGeom>
          <a:noFill/>
          <a:ln w="9525">
            <a:solidFill>
              <a:srgbClr val="FF0000"/>
            </a:solidFill>
            <a:round/>
            <a:tailEnd type="triangle" w="med" len="med"/>
          </a:ln>
        </p:spPr>
        <p:txBody>
          <a:bodyPr wrap="none"/>
          <a:lstStyle/>
          <a:p>
            <a:endParaRPr lang="en-US"/>
          </a:p>
        </p:txBody>
      </p:sp>
      <p:sp>
        <p:nvSpPr>
          <p:cNvPr id="31755" name="Text Box 19"/>
          <p:cNvSpPr txBox="1">
            <a:spLocks noChangeArrowheads="1"/>
          </p:cNvSpPr>
          <p:nvPr/>
        </p:nvSpPr>
        <p:spPr bwMode="auto">
          <a:xfrm>
            <a:off x="2862263" y="2482850"/>
            <a:ext cx="1206500" cy="762000"/>
          </a:xfrm>
          <a:prstGeom prst="rect">
            <a:avLst/>
          </a:prstGeom>
          <a:solidFill>
            <a:schemeClr val="bg1"/>
          </a:solidFill>
          <a:ln w="9525">
            <a:noFill/>
            <a:miter lim="800000"/>
          </a:ln>
        </p:spPr>
        <p:txBody>
          <a:bodyPr>
            <a:spAutoFit/>
          </a:bodyPr>
          <a:lstStyle/>
          <a:p>
            <a:r>
              <a:rPr lang="en-US" sz="2000">
                <a:solidFill>
                  <a:schemeClr val="accent2"/>
                </a:solidFill>
              </a:rPr>
              <a:t>Client</a:t>
            </a:r>
            <a:endParaRPr lang="en-US" sz="2000">
              <a:solidFill>
                <a:schemeClr val="accent2"/>
              </a:solidFill>
            </a:endParaRPr>
          </a:p>
          <a:p>
            <a:r>
              <a:rPr lang="en-US" sz="2000">
                <a:solidFill>
                  <a:schemeClr val="accent2"/>
                </a:solidFill>
              </a:rPr>
              <a:t>process</a:t>
            </a:r>
            <a:endParaRPr lang="en-US" sz="2000">
              <a:solidFill>
                <a:schemeClr val="accent2"/>
              </a:solidFill>
              <a:latin typeface="Times New Roman" panose="02020603050405020304" pitchFamily="18" charset="0"/>
            </a:endParaRPr>
          </a:p>
        </p:txBody>
      </p:sp>
      <p:sp>
        <p:nvSpPr>
          <p:cNvPr id="31756" name="Rectangle 20"/>
          <p:cNvSpPr>
            <a:spLocks noChangeArrowheads="1"/>
          </p:cNvSpPr>
          <p:nvPr/>
        </p:nvSpPr>
        <p:spPr bwMode="auto">
          <a:xfrm>
            <a:off x="4051300" y="4768850"/>
            <a:ext cx="1625600" cy="509588"/>
          </a:xfrm>
          <a:prstGeom prst="rect">
            <a:avLst/>
          </a:prstGeom>
          <a:solidFill>
            <a:srgbClr val="FF0000"/>
          </a:solidFill>
          <a:ln w="9525">
            <a:noFill/>
            <a:miter lim="800000"/>
          </a:ln>
        </p:spPr>
        <p:txBody>
          <a:bodyPr wrap="none" anchor="ctr"/>
          <a:lstStyle/>
          <a:p>
            <a:endParaRPr lang="en-US"/>
          </a:p>
        </p:txBody>
      </p:sp>
      <p:sp>
        <p:nvSpPr>
          <p:cNvPr id="31757" name="Text Box 21"/>
          <p:cNvSpPr txBox="1">
            <a:spLocks noChangeArrowheads="1"/>
          </p:cNvSpPr>
          <p:nvPr/>
        </p:nvSpPr>
        <p:spPr bwMode="auto">
          <a:xfrm>
            <a:off x="4087813" y="4700588"/>
            <a:ext cx="1541462" cy="641350"/>
          </a:xfrm>
          <a:prstGeom prst="rect">
            <a:avLst/>
          </a:prstGeom>
          <a:noFill/>
          <a:ln w="9525">
            <a:noFill/>
            <a:miter lim="800000"/>
          </a:ln>
        </p:spPr>
        <p:txBody>
          <a:bodyPr anchor="ctr">
            <a:spAutoFit/>
          </a:bodyPr>
          <a:lstStyle/>
          <a:p>
            <a:pPr algn="ctr">
              <a:spcBef>
                <a:spcPct val="0"/>
              </a:spcBef>
              <a:buClrTx/>
              <a:buSzTx/>
              <a:buFontTx/>
              <a:buNone/>
            </a:pPr>
            <a:r>
              <a:rPr lang="en-US" sz="1800">
                <a:solidFill>
                  <a:schemeClr val="bg1"/>
                </a:solidFill>
              </a:rPr>
              <a:t>client UDP socket</a:t>
            </a:r>
            <a:endParaRPr lang="en-US" sz="1800">
              <a:latin typeface="Times New Roman" panose="02020603050405020304" pitchFamily="18" charset="0"/>
            </a:endParaRPr>
          </a:p>
        </p:txBody>
      </p:sp>
      <p:sp>
        <p:nvSpPr>
          <p:cNvPr id="31758" name="Line 22"/>
          <p:cNvSpPr>
            <a:spLocks noChangeShapeType="1"/>
          </p:cNvSpPr>
          <p:nvPr/>
        </p:nvSpPr>
        <p:spPr bwMode="auto">
          <a:xfrm flipV="1">
            <a:off x="5235575" y="5248275"/>
            <a:ext cx="0" cy="287338"/>
          </a:xfrm>
          <a:prstGeom prst="line">
            <a:avLst/>
          </a:prstGeom>
          <a:noFill/>
          <a:ln w="9525">
            <a:solidFill>
              <a:schemeClr val="tx1"/>
            </a:solidFill>
            <a:round/>
            <a:tailEnd type="triangle" w="med" len="med"/>
          </a:ln>
        </p:spPr>
        <p:txBody>
          <a:bodyPr wrap="none"/>
          <a:lstStyle/>
          <a:p>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12643" name="Slide Number Placeholder 4"/>
          <p:cNvSpPr>
            <a:spLocks noGrp="1"/>
          </p:cNvSpPr>
          <p:nvPr>
            <p:ph type="sldNum" sz="quarter" idx="12"/>
          </p:nvPr>
        </p:nvSpPr>
        <p:spPr>
          <a:noFill/>
        </p:spPr>
        <p:txBody>
          <a:bodyPr/>
          <a:lstStyle/>
          <a:p>
            <a:fld id="{C1B28881-027B-4775-875F-7935C01F597D}" type="slidenum">
              <a:rPr lang="en-US"/>
            </a:fld>
            <a:endParaRPr lang="en-US"/>
          </a:p>
        </p:txBody>
      </p:sp>
      <p:sp>
        <p:nvSpPr>
          <p:cNvPr id="112644" name="Rectangle 2"/>
          <p:cNvSpPr>
            <a:spLocks noGrp="1" noChangeArrowheads="1"/>
          </p:cNvSpPr>
          <p:nvPr>
            <p:ph type="title"/>
          </p:nvPr>
        </p:nvSpPr>
        <p:spPr/>
        <p:txBody>
          <a:bodyPr/>
          <a:lstStyle/>
          <a:p>
            <a:r>
              <a:rPr lang="en-US" sz="3600"/>
              <a:t>Example: Java client (UDP)</a:t>
            </a:r>
            <a:endParaRPr lang="en-US"/>
          </a:p>
        </p:txBody>
      </p:sp>
      <p:sp>
        <p:nvSpPr>
          <p:cNvPr id="112645" name="Rectangle 3"/>
          <p:cNvSpPr>
            <a:spLocks noChangeArrowheads="1"/>
          </p:cNvSpPr>
          <p:nvPr/>
        </p:nvSpPr>
        <p:spPr bwMode="auto">
          <a:xfrm>
            <a:off x="2185988" y="1581150"/>
            <a:ext cx="6326187" cy="4857750"/>
          </a:xfrm>
          <a:prstGeom prst="rect">
            <a:avLst/>
          </a:prstGeom>
          <a:noFill/>
          <a:ln w="9525">
            <a:noFill/>
            <a:miter lim="800000"/>
          </a:ln>
        </p:spPr>
        <p:txBody>
          <a:bodyPr wrap="none" anchor="ctr">
            <a:spAutoFit/>
          </a:bodyPr>
          <a:lstStyle/>
          <a:p>
            <a:pPr>
              <a:spcBef>
                <a:spcPct val="0"/>
              </a:spcBef>
              <a:buClrTx/>
              <a:buSzTx/>
              <a:buFontTx/>
              <a:buNone/>
            </a:pPr>
            <a:r>
              <a:rPr lang="en-US" sz="1600">
                <a:latin typeface="Arial" panose="020B0604020202020204" pitchFamily="34" charset="0"/>
              </a:rPr>
              <a:t>import java.io.*;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import java.net.*;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class UDPClient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public static void main(String args[]) throws Exception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BufferedReader inFromUser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new BufferedReader(new InputStreamReader(System.in));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DatagramSocket clientSocket = new DatagramSocket();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InetAddress IPAddress = InetAddress.getByName("hostname");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byte[] sendData = new byte[1024];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byte[] receiveData = new byte[1024];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String sentence = inFromUser.readLine();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sendData = sentence.getBytes();</a:t>
            </a:r>
            <a:r>
              <a:rPr lang="en-US">
                <a:latin typeface="Times New Roman" panose="02020603050405020304" pitchFamily="18" charset="0"/>
              </a:rPr>
              <a:t> </a:t>
            </a:r>
            <a:r>
              <a:rPr lang="en-US" sz="1600">
                <a:latin typeface="Times New Roman" panose="02020603050405020304" pitchFamily="18" charset="0"/>
              </a:rPr>
              <a:t>        </a:t>
            </a:r>
            <a:endParaRPr lang="en-US" sz="1600">
              <a:latin typeface="Times New Roman" panose="02020603050405020304" pitchFamily="18" charset="0"/>
            </a:endParaRPr>
          </a:p>
        </p:txBody>
      </p:sp>
      <p:sp>
        <p:nvSpPr>
          <p:cNvPr id="112646" name="Text Box 4"/>
          <p:cNvSpPr txBox="1">
            <a:spLocks noChangeArrowheads="1"/>
          </p:cNvSpPr>
          <p:nvPr/>
        </p:nvSpPr>
        <p:spPr bwMode="auto">
          <a:xfrm>
            <a:off x="681038" y="2933700"/>
            <a:ext cx="1533525"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a:t>
            </a:r>
            <a:endParaRPr lang="en-US" sz="1800">
              <a:solidFill>
                <a:schemeClr val="accent2"/>
              </a:solidFill>
            </a:endParaRPr>
          </a:p>
          <a:p>
            <a:pPr algn="r">
              <a:spcBef>
                <a:spcPct val="0"/>
              </a:spcBef>
              <a:buClrTx/>
              <a:buSzTx/>
              <a:buFontTx/>
              <a:buNone/>
            </a:pPr>
            <a:r>
              <a:rPr lang="en-US" sz="1800">
                <a:solidFill>
                  <a:schemeClr val="accent2"/>
                </a:solidFill>
              </a:rPr>
              <a:t>input stream</a:t>
            </a:r>
            <a:endParaRPr lang="en-US" sz="1800"/>
          </a:p>
        </p:txBody>
      </p:sp>
      <p:sp>
        <p:nvSpPr>
          <p:cNvPr id="112647" name="Text Box 5"/>
          <p:cNvSpPr txBox="1">
            <a:spLocks noChangeArrowheads="1"/>
          </p:cNvSpPr>
          <p:nvPr/>
        </p:nvSpPr>
        <p:spPr bwMode="auto">
          <a:xfrm>
            <a:off x="709613" y="3632200"/>
            <a:ext cx="1554162"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 </a:t>
            </a:r>
            <a:endParaRPr lang="en-US" sz="1800">
              <a:solidFill>
                <a:schemeClr val="accent2"/>
              </a:solidFill>
            </a:endParaRPr>
          </a:p>
          <a:p>
            <a:pPr algn="r">
              <a:spcBef>
                <a:spcPct val="0"/>
              </a:spcBef>
              <a:buClrTx/>
              <a:buSzTx/>
              <a:buFontTx/>
              <a:buNone/>
            </a:pPr>
            <a:r>
              <a:rPr lang="en-US" sz="1800">
                <a:solidFill>
                  <a:schemeClr val="accent2"/>
                </a:solidFill>
              </a:rPr>
              <a:t>client socket</a:t>
            </a:r>
            <a:endParaRPr lang="en-US" sz="1800"/>
          </a:p>
        </p:txBody>
      </p:sp>
      <p:sp>
        <p:nvSpPr>
          <p:cNvPr id="112648" name="Text Box 6"/>
          <p:cNvSpPr txBox="1">
            <a:spLocks noChangeArrowheads="1"/>
          </p:cNvSpPr>
          <p:nvPr/>
        </p:nvSpPr>
        <p:spPr bwMode="auto">
          <a:xfrm>
            <a:off x="0" y="4327525"/>
            <a:ext cx="2205038" cy="915988"/>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Translate</a:t>
            </a:r>
            <a:endParaRPr lang="en-US" sz="1800">
              <a:solidFill>
                <a:schemeClr val="accent2"/>
              </a:solidFill>
            </a:endParaRPr>
          </a:p>
          <a:p>
            <a:pPr algn="r">
              <a:spcBef>
                <a:spcPct val="0"/>
              </a:spcBef>
              <a:buClrTx/>
              <a:buSzTx/>
              <a:buFontTx/>
              <a:buNone/>
            </a:pPr>
            <a:r>
              <a:rPr lang="en-US" sz="1800">
                <a:solidFill>
                  <a:schemeClr val="accent2"/>
                </a:solidFill>
              </a:rPr>
              <a:t> hostname to IP </a:t>
            </a:r>
            <a:endParaRPr lang="en-US" sz="1800">
              <a:solidFill>
                <a:schemeClr val="accent2"/>
              </a:solidFill>
            </a:endParaRPr>
          </a:p>
          <a:p>
            <a:pPr algn="r">
              <a:spcBef>
                <a:spcPct val="0"/>
              </a:spcBef>
              <a:buClrTx/>
              <a:buSzTx/>
              <a:buFontTx/>
              <a:buNone/>
            </a:pPr>
            <a:r>
              <a:rPr lang="en-US" sz="1800">
                <a:solidFill>
                  <a:schemeClr val="accent2"/>
                </a:solidFill>
              </a:rPr>
              <a:t>address </a:t>
            </a:r>
            <a:r>
              <a:rPr lang="en-US" sz="1800">
                <a:solidFill>
                  <a:srgbClr val="FF0000"/>
                </a:solidFill>
              </a:rPr>
              <a:t>using DNS</a:t>
            </a:r>
            <a:endParaRPr lang="en-US" sz="1800"/>
          </a:p>
        </p:txBody>
      </p:sp>
      <p:sp>
        <p:nvSpPr>
          <p:cNvPr id="112649" name="Freeform 7"/>
          <p:cNvSpPr/>
          <p:nvPr/>
        </p:nvSpPr>
        <p:spPr bwMode="auto">
          <a:xfrm>
            <a:off x="2071688" y="2986088"/>
            <a:ext cx="123825" cy="542925"/>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wrap="none" anchor="ctr">
            <a:spAutoFit/>
          </a:bodyPr>
          <a:lstStyle/>
          <a:p>
            <a:endParaRPr lang="en-US"/>
          </a:p>
        </p:txBody>
      </p:sp>
      <p:sp>
        <p:nvSpPr>
          <p:cNvPr id="112650" name="Line 8"/>
          <p:cNvSpPr>
            <a:spLocks noChangeShapeType="1"/>
          </p:cNvSpPr>
          <p:nvPr/>
        </p:nvSpPr>
        <p:spPr bwMode="auto">
          <a:xfrm flipV="1">
            <a:off x="2205038" y="3419475"/>
            <a:ext cx="323850" cy="4763"/>
          </a:xfrm>
          <a:prstGeom prst="line">
            <a:avLst/>
          </a:prstGeom>
          <a:noFill/>
          <a:ln w="28575">
            <a:solidFill>
              <a:schemeClr val="accent2"/>
            </a:solidFill>
            <a:round/>
            <a:tailEnd type="triangle" w="med" len="med"/>
          </a:ln>
        </p:spPr>
        <p:txBody>
          <a:bodyPr anchor="ctr">
            <a:spAutoFit/>
          </a:bodyPr>
          <a:lstStyle/>
          <a:p>
            <a:endParaRPr lang="en-US"/>
          </a:p>
        </p:txBody>
      </p:sp>
      <p:sp>
        <p:nvSpPr>
          <p:cNvPr id="112651" name="Freeform 9"/>
          <p:cNvSpPr/>
          <p:nvPr/>
        </p:nvSpPr>
        <p:spPr bwMode="auto">
          <a:xfrm>
            <a:off x="2081213" y="3709988"/>
            <a:ext cx="123825" cy="5095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2652" name="Line 10"/>
          <p:cNvSpPr>
            <a:spLocks noChangeShapeType="1"/>
          </p:cNvSpPr>
          <p:nvPr/>
        </p:nvSpPr>
        <p:spPr bwMode="auto">
          <a:xfrm flipV="1">
            <a:off x="2200275" y="4067175"/>
            <a:ext cx="328613" cy="6350"/>
          </a:xfrm>
          <a:prstGeom prst="line">
            <a:avLst/>
          </a:prstGeom>
          <a:noFill/>
          <a:ln w="28575">
            <a:solidFill>
              <a:schemeClr val="accent2"/>
            </a:solidFill>
            <a:round/>
            <a:tailEnd type="triangle" w="med" len="med"/>
          </a:ln>
        </p:spPr>
        <p:txBody>
          <a:bodyPr anchor="ctr">
            <a:spAutoFit/>
          </a:bodyPr>
          <a:lstStyle/>
          <a:p>
            <a:endParaRPr lang="en-US"/>
          </a:p>
        </p:txBody>
      </p:sp>
      <p:sp>
        <p:nvSpPr>
          <p:cNvPr id="112653" name="Freeform 11"/>
          <p:cNvSpPr/>
          <p:nvPr/>
        </p:nvSpPr>
        <p:spPr bwMode="auto">
          <a:xfrm>
            <a:off x="2081213" y="4424363"/>
            <a:ext cx="123825" cy="804862"/>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2654" name="Line 12"/>
          <p:cNvSpPr>
            <a:spLocks noChangeShapeType="1"/>
          </p:cNvSpPr>
          <p:nvPr/>
        </p:nvSpPr>
        <p:spPr bwMode="auto">
          <a:xfrm flipV="1">
            <a:off x="2209800" y="4572000"/>
            <a:ext cx="361950" cy="14288"/>
          </a:xfrm>
          <a:prstGeom prst="line">
            <a:avLst/>
          </a:prstGeom>
          <a:noFill/>
          <a:ln w="28575">
            <a:solidFill>
              <a:schemeClr val="accent2"/>
            </a:solidFill>
            <a:round/>
            <a:tailEnd type="triangle" w="med" len="med"/>
          </a:ln>
        </p:spPr>
        <p:txBody>
          <a:bodyPr anchor="ctr">
            <a:spAutoFit/>
          </a:bodyPr>
          <a:lstStyle/>
          <a:p>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13667" name="Slide Number Placeholder 4"/>
          <p:cNvSpPr>
            <a:spLocks noGrp="1"/>
          </p:cNvSpPr>
          <p:nvPr>
            <p:ph type="sldNum" sz="quarter" idx="12"/>
          </p:nvPr>
        </p:nvSpPr>
        <p:spPr>
          <a:noFill/>
        </p:spPr>
        <p:txBody>
          <a:bodyPr/>
          <a:lstStyle/>
          <a:p>
            <a:fld id="{F1CFE56C-FCF9-4560-A9FB-6E1B214CDF1A}" type="slidenum">
              <a:rPr lang="en-US"/>
            </a:fld>
            <a:endParaRPr lang="en-US"/>
          </a:p>
        </p:txBody>
      </p:sp>
      <p:sp>
        <p:nvSpPr>
          <p:cNvPr id="113668" name="Rectangle 2"/>
          <p:cNvSpPr>
            <a:spLocks noGrp="1" noChangeArrowheads="1"/>
          </p:cNvSpPr>
          <p:nvPr>
            <p:ph type="title"/>
          </p:nvPr>
        </p:nvSpPr>
        <p:spPr/>
        <p:txBody>
          <a:bodyPr/>
          <a:lstStyle/>
          <a:p>
            <a:r>
              <a:rPr lang="en-US" sz="3600"/>
              <a:t>Example: Java client (UDP), cont.</a:t>
            </a:r>
            <a:endParaRPr lang="en-US" sz="3600"/>
          </a:p>
        </p:txBody>
      </p:sp>
      <p:sp>
        <p:nvSpPr>
          <p:cNvPr id="113669" name="Rectangle 3"/>
          <p:cNvSpPr>
            <a:spLocks noChangeArrowheads="1"/>
          </p:cNvSpPr>
          <p:nvPr/>
        </p:nvSpPr>
        <p:spPr bwMode="auto">
          <a:xfrm>
            <a:off x="2176463" y="1752600"/>
            <a:ext cx="6967537" cy="4368800"/>
          </a:xfrm>
          <a:prstGeom prst="rect">
            <a:avLst/>
          </a:prstGeom>
          <a:noFill/>
          <a:ln w="9525">
            <a:noFill/>
            <a:miter lim="800000"/>
          </a:ln>
        </p:spPr>
        <p:txBody>
          <a:bodyPr wrap="none" anchor="ctr">
            <a:spAutoFit/>
          </a:bodyPr>
          <a:lstStyle/>
          <a:p>
            <a:pPr>
              <a:spcBef>
                <a:spcPct val="0"/>
              </a:spcBef>
              <a:buClrTx/>
              <a:buSzTx/>
              <a:buFontTx/>
              <a:buNone/>
            </a:pPr>
            <a:r>
              <a:rPr lang="en-US" sz="1600">
                <a:latin typeface="Arial" panose="020B0604020202020204" pitchFamily="34" charset="0"/>
              </a:rPr>
              <a:t>      DatagramPacket sendPacket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new DatagramPacket(sendData, sendData.length, IPAddress, 9876);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clientSocket.send(sendPacket);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DatagramPacket receivePacket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new DatagramPacket(receiveData, receiveData.length);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clientSocket.receive(receivePacket);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String modifiedSentence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new String(receivePacket.getData());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System.out.println("FROM SERVER:" + modifiedSentence);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clientSocket.close();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a:t>
            </a:r>
            <a:r>
              <a:rPr lang="en-US">
                <a:latin typeface="Times New Roman" panose="02020603050405020304" pitchFamily="18" charset="0"/>
              </a:rPr>
              <a:t> </a:t>
            </a:r>
            <a:endParaRPr lang="en-US">
              <a:latin typeface="Times New Roman" panose="02020603050405020304" pitchFamily="18" charset="0"/>
            </a:endParaRPr>
          </a:p>
        </p:txBody>
      </p:sp>
      <p:sp>
        <p:nvSpPr>
          <p:cNvPr id="113670" name="Text Box 4"/>
          <p:cNvSpPr txBox="1">
            <a:spLocks noChangeArrowheads="1"/>
          </p:cNvSpPr>
          <p:nvPr/>
        </p:nvSpPr>
        <p:spPr bwMode="auto">
          <a:xfrm>
            <a:off x="0" y="1446213"/>
            <a:ext cx="2392363" cy="1190625"/>
          </a:xfrm>
          <a:prstGeom prst="rect">
            <a:avLst/>
          </a:prstGeom>
          <a:noFill/>
          <a:ln w="9525">
            <a:noFill/>
            <a:miter lim="800000"/>
          </a:ln>
        </p:spPr>
        <p:txBody>
          <a:bodyPr anchor="ctr">
            <a:spAutoFit/>
          </a:bodyPr>
          <a:lstStyle/>
          <a:p>
            <a:pPr algn="r">
              <a:spcBef>
                <a:spcPct val="0"/>
              </a:spcBef>
              <a:buClrTx/>
              <a:buSzTx/>
              <a:buFontTx/>
              <a:buNone/>
            </a:pPr>
            <a:r>
              <a:rPr lang="en-US" sz="1800">
                <a:solidFill>
                  <a:schemeClr val="accent2"/>
                </a:solidFill>
              </a:rPr>
              <a:t>Create datagram with data-to-send,</a:t>
            </a:r>
            <a:endParaRPr lang="en-US" sz="1800">
              <a:solidFill>
                <a:schemeClr val="accent2"/>
              </a:solidFill>
            </a:endParaRPr>
          </a:p>
          <a:p>
            <a:pPr algn="r">
              <a:spcBef>
                <a:spcPct val="0"/>
              </a:spcBef>
              <a:buClrTx/>
              <a:buSzTx/>
              <a:buFontTx/>
              <a:buNone/>
            </a:pPr>
            <a:r>
              <a:rPr lang="en-US" sz="1800">
                <a:solidFill>
                  <a:schemeClr val="accent2"/>
                </a:solidFill>
              </a:rPr>
              <a:t>length, IP addr, port</a:t>
            </a:r>
            <a:endParaRPr lang="en-US" sz="1800">
              <a:solidFill>
                <a:schemeClr val="accent2"/>
              </a:solidFill>
            </a:endParaRPr>
          </a:p>
          <a:p>
            <a:pPr algn="r">
              <a:spcBef>
                <a:spcPct val="0"/>
              </a:spcBef>
              <a:buClrTx/>
              <a:buSzTx/>
              <a:buFontTx/>
              <a:buNone/>
            </a:pPr>
            <a:endParaRPr lang="en-US" sz="1800"/>
          </a:p>
        </p:txBody>
      </p:sp>
      <p:sp>
        <p:nvSpPr>
          <p:cNvPr id="113671" name="Text Box 5"/>
          <p:cNvSpPr txBox="1">
            <a:spLocks noChangeArrowheads="1"/>
          </p:cNvSpPr>
          <p:nvPr/>
        </p:nvSpPr>
        <p:spPr bwMode="auto">
          <a:xfrm>
            <a:off x="466725" y="2473325"/>
            <a:ext cx="1793875"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Send datagram</a:t>
            </a:r>
            <a:endParaRPr lang="en-US" sz="1800">
              <a:solidFill>
                <a:schemeClr val="accent2"/>
              </a:solidFill>
            </a:endParaRPr>
          </a:p>
          <a:p>
            <a:pPr algn="r">
              <a:spcBef>
                <a:spcPct val="0"/>
              </a:spcBef>
              <a:buClrTx/>
              <a:buSzTx/>
              <a:buFontTx/>
              <a:buNone/>
            </a:pPr>
            <a:r>
              <a:rPr lang="en-US" sz="1800">
                <a:solidFill>
                  <a:schemeClr val="accent2"/>
                </a:solidFill>
              </a:rPr>
              <a:t>to server</a:t>
            </a:r>
            <a:endParaRPr lang="en-US" sz="1800"/>
          </a:p>
        </p:txBody>
      </p:sp>
      <p:sp>
        <p:nvSpPr>
          <p:cNvPr id="113672" name="Text Box 6"/>
          <p:cNvSpPr txBox="1">
            <a:spLocks noChangeArrowheads="1"/>
          </p:cNvSpPr>
          <p:nvPr/>
        </p:nvSpPr>
        <p:spPr bwMode="auto">
          <a:xfrm>
            <a:off x="482600" y="3538538"/>
            <a:ext cx="1776413"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Read datagram</a:t>
            </a:r>
            <a:endParaRPr lang="en-US" sz="1800">
              <a:solidFill>
                <a:schemeClr val="accent2"/>
              </a:solidFill>
            </a:endParaRPr>
          </a:p>
          <a:p>
            <a:pPr algn="r">
              <a:spcBef>
                <a:spcPct val="0"/>
              </a:spcBef>
              <a:buClrTx/>
              <a:buSzTx/>
              <a:buFontTx/>
              <a:buNone/>
            </a:pPr>
            <a:r>
              <a:rPr lang="en-US" sz="1800">
                <a:solidFill>
                  <a:schemeClr val="accent2"/>
                </a:solidFill>
              </a:rPr>
              <a:t>from server</a:t>
            </a:r>
            <a:endParaRPr lang="en-US" sz="1800"/>
          </a:p>
        </p:txBody>
      </p:sp>
      <p:sp>
        <p:nvSpPr>
          <p:cNvPr id="113673" name="Freeform 7"/>
          <p:cNvSpPr/>
          <p:nvPr/>
        </p:nvSpPr>
        <p:spPr bwMode="auto">
          <a:xfrm>
            <a:off x="2228850" y="1528763"/>
            <a:ext cx="114300" cy="790575"/>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3674" name="Line 8"/>
          <p:cNvSpPr>
            <a:spLocks noChangeShapeType="1"/>
          </p:cNvSpPr>
          <p:nvPr/>
        </p:nvSpPr>
        <p:spPr bwMode="auto">
          <a:xfrm flipV="1">
            <a:off x="2343150" y="2181225"/>
            <a:ext cx="342900" cy="14288"/>
          </a:xfrm>
          <a:prstGeom prst="line">
            <a:avLst/>
          </a:prstGeom>
          <a:noFill/>
          <a:ln w="28575">
            <a:solidFill>
              <a:schemeClr val="accent2"/>
            </a:solidFill>
            <a:round/>
            <a:tailEnd type="triangle" w="med" len="med"/>
          </a:ln>
        </p:spPr>
        <p:txBody>
          <a:bodyPr anchor="ctr">
            <a:spAutoFit/>
          </a:bodyPr>
          <a:lstStyle/>
          <a:p>
            <a:endParaRPr lang="en-US"/>
          </a:p>
        </p:txBody>
      </p:sp>
      <p:sp>
        <p:nvSpPr>
          <p:cNvPr id="113675" name="Freeform 9"/>
          <p:cNvSpPr/>
          <p:nvPr/>
        </p:nvSpPr>
        <p:spPr bwMode="auto">
          <a:xfrm>
            <a:off x="2076450" y="2509838"/>
            <a:ext cx="123825" cy="5857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3676" name="Line 10"/>
          <p:cNvSpPr>
            <a:spLocks noChangeShapeType="1"/>
          </p:cNvSpPr>
          <p:nvPr/>
        </p:nvSpPr>
        <p:spPr bwMode="auto">
          <a:xfrm flipV="1">
            <a:off x="2214563" y="2647950"/>
            <a:ext cx="309562" cy="15875"/>
          </a:xfrm>
          <a:prstGeom prst="line">
            <a:avLst/>
          </a:prstGeom>
          <a:noFill/>
          <a:ln w="28575">
            <a:solidFill>
              <a:schemeClr val="accent2"/>
            </a:solidFill>
            <a:round/>
            <a:tailEnd type="triangle" w="med" len="med"/>
          </a:ln>
        </p:spPr>
        <p:txBody>
          <a:bodyPr anchor="ctr">
            <a:spAutoFit/>
          </a:bodyPr>
          <a:lstStyle/>
          <a:p>
            <a:endParaRPr lang="en-US"/>
          </a:p>
        </p:txBody>
      </p:sp>
      <p:sp>
        <p:nvSpPr>
          <p:cNvPr id="113677" name="Freeform 11"/>
          <p:cNvSpPr/>
          <p:nvPr/>
        </p:nvSpPr>
        <p:spPr bwMode="auto">
          <a:xfrm>
            <a:off x="2095500" y="3605213"/>
            <a:ext cx="123825" cy="5095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3678" name="Line 12"/>
          <p:cNvSpPr>
            <a:spLocks noChangeShapeType="1"/>
          </p:cNvSpPr>
          <p:nvPr/>
        </p:nvSpPr>
        <p:spPr bwMode="auto">
          <a:xfrm flipV="1">
            <a:off x="2233613" y="3924300"/>
            <a:ext cx="295275" cy="4763"/>
          </a:xfrm>
          <a:prstGeom prst="line">
            <a:avLst/>
          </a:prstGeom>
          <a:noFill/>
          <a:ln w="28575">
            <a:solidFill>
              <a:schemeClr val="accent2"/>
            </a:solidFill>
            <a:round/>
            <a:tailEnd type="triangle" w="med" len="med"/>
          </a:ln>
        </p:spPr>
        <p:txBody>
          <a:bodyPr anchor="ctr">
            <a:spAutoFit/>
          </a:bodyPr>
          <a:lstStyle/>
          <a:p>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14691" name="Slide Number Placeholder 4"/>
          <p:cNvSpPr>
            <a:spLocks noGrp="1"/>
          </p:cNvSpPr>
          <p:nvPr>
            <p:ph type="sldNum" sz="quarter" idx="12"/>
          </p:nvPr>
        </p:nvSpPr>
        <p:spPr>
          <a:noFill/>
        </p:spPr>
        <p:txBody>
          <a:bodyPr/>
          <a:lstStyle/>
          <a:p>
            <a:fld id="{9F216651-9228-44FA-96D0-FCEB43A47D04}" type="slidenum">
              <a:rPr lang="en-US"/>
            </a:fld>
            <a:endParaRPr lang="en-US"/>
          </a:p>
        </p:txBody>
      </p:sp>
      <p:sp>
        <p:nvSpPr>
          <p:cNvPr id="114692" name="Rectangle 2"/>
          <p:cNvSpPr>
            <a:spLocks noGrp="1" noChangeArrowheads="1"/>
          </p:cNvSpPr>
          <p:nvPr>
            <p:ph type="title"/>
          </p:nvPr>
        </p:nvSpPr>
        <p:spPr/>
        <p:txBody>
          <a:bodyPr/>
          <a:lstStyle/>
          <a:p>
            <a:r>
              <a:rPr lang="en-US" sz="3600"/>
              <a:t>Example: Java server (UDP)</a:t>
            </a:r>
            <a:endParaRPr lang="en-US" sz="3600"/>
          </a:p>
        </p:txBody>
      </p:sp>
      <p:sp>
        <p:nvSpPr>
          <p:cNvPr id="114693" name="Rectangle 3"/>
          <p:cNvSpPr>
            <a:spLocks noChangeArrowheads="1"/>
          </p:cNvSpPr>
          <p:nvPr/>
        </p:nvSpPr>
        <p:spPr bwMode="auto">
          <a:xfrm>
            <a:off x="2565400" y="1541463"/>
            <a:ext cx="6159500" cy="4613275"/>
          </a:xfrm>
          <a:prstGeom prst="rect">
            <a:avLst/>
          </a:prstGeom>
          <a:noFill/>
          <a:ln w="9525">
            <a:noFill/>
            <a:miter lim="800000"/>
          </a:ln>
        </p:spPr>
        <p:txBody>
          <a:bodyPr wrap="none" anchor="ctr">
            <a:spAutoFit/>
          </a:bodyPr>
          <a:lstStyle/>
          <a:p>
            <a:pPr>
              <a:spcBef>
                <a:spcPct val="0"/>
              </a:spcBef>
              <a:buClrTx/>
              <a:buSzTx/>
              <a:buFontTx/>
              <a:buNone/>
            </a:pPr>
            <a:r>
              <a:rPr lang="en-US" sz="1600">
                <a:latin typeface="Arial" panose="020B0604020202020204" pitchFamily="34" charset="0"/>
              </a:rPr>
              <a:t>import java.io.*;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import java.net.*;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class UDPServer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public static void main(String args[]) throws Exception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DatagramSocket serverSocket = new DatagramSocket(9876);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byte[] receiveData = new byte[1024];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byte[] sendData  = new byte[1024];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while(true)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DatagramPacket receivePacket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new DatagramPacket(receiveData, receiveData.length);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serverSocket.receive(receivePacket);</a:t>
            </a:r>
            <a:r>
              <a:rPr lang="en-US">
                <a:latin typeface="Times New Roman" panose="02020603050405020304" pitchFamily="18" charset="0"/>
              </a:rPr>
              <a:t> </a:t>
            </a:r>
            <a:endParaRPr lang="en-US">
              <a:latin typeface="Times New Roman" panose="02020603050405020304" pitchFamily="18" charset="0"/>
            </a:endParaRPr>
          </a:p>
        </p:txBody>
      </p:sp>
      <p:sp>
        <p:nvSpPr>
          <p:cNvPr id="114694" name="Text Box 4"/>
          <p:cNvSpPr txBox="1">
            <a:spLocks noChangeArrowheads="1"/>
          </p:cNvSpPr>
          <p:nvPr/>
        </p:nvSpPr>
        <p:spPr bwMode="auto">
          <a:xfrm>
            <a:off x="449263" y="2811463"/>
            <a:ext cx="1962150" cy="915987"/>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a:t>
            </a:r>
            <a:endParaRPr lang="en-US" sz="1800">
              <a:solidFill>
                <a:schemeClr val="accent2"/>
              </a:solidFill>
            </a:endParaRPr>
          </a:p>
          <a:p>
            <a:pPr algn="r">
              <a:spcBef>
                <a:spcPct val="0"/>
              </a:spcBef>
              <a:buClrTx/>
              <a:buSzTx/>
              <a:buFontTx/>
              <a:buNone/>
            </a:pPr>
            <a:r>
              <a:rPr lang="en-US" sz="1800">
                <a:solidFill>
                  <a:schemeClr val="accent2"/>
                </a:solidFill>
              </a:rPr>
              <a:t>datagram socket</a:t>
            </a:r>
            <a:endParaRPr lang="en-US" sz="1800">
              <a:solidFill>
                <a:schemeClr val="accent2"/>
              </a:solidFill>
            </a:endParaRPr>
          </a:p>
          <a:p>
            <a:pPr algn="r">
              <a:spcBef>
                <a:spcPct val="0"/>
              </a:spcBef>
              <a:buClrTx/>
              <a:buSzTx/>
              <a:buFontTx/>
              <a:buNone/>
            </a:pPr>
            <a:r>
              <a:rPr lang="en-US" sz="1800">
                <a:solidFill>
                  <a:schemeClr val="accent2"/>
                </a:solidFill>
              </a:rPr>
              <a:t>at port 9876</a:t>
            </a:r>
            <a:endParaRPr lang="en-US" sz="1800"/>
          </a:p>
        </p:txBody>
      </p:sp>
      <p:sp>
        <p:nvSpPr>
          <p:cNvPr id="114695" name="Text Box 5"/>
          <p:cNvSpPr txBox="1">
            <a:spLocks noChangeArrowheads="1"/>
          </p:cNvSpPr>
          <p:nvPr/>
        </p:nvSpPr>
        <p:spPr bwMode="auto">
          <a:xfrm>
            <a:off x="311150" y="5018088"/>
            <a:ext cx="2168525"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 space for</a:t>
            </a:r>
            <a:endParaRPr lang="en-US" sz="1800">
              <a:solidFill>
                <a:schemeClr val="accent2"/>
              </a:solidFill>
            </a:endParaRPr>
          </a:p>
          <a:p>
            <a:pPr algn="r">
              <a:spcBef>
                <a:spcPct val="0"/>
              </a:spcBef>
              <a:buClrTx/>
              <a:buSzTx/>
              <a:buFontTx/>
              <a:buNone/>
            </a:pPr>
            <a:r>
              <a:rPr lang="en-US" sz="1800">
                <a:solidFill>
                  <a:schemeClr val="accent2"/>
                </a:solidFill>
              </a:rPr>
              <a:t>received datagram</a:t>
            </a:r>
            <a:endParaRPr lang="en-US" sz="1800"/>
          </a:p>
        </p:txBody>
      </p:sp>
      <p:sp>
        <p:nvSpPr>
          <p:cNvPr id="114696" name="Text Box 6"/>
          <p:cNvSpPr txBox="1">
            <a:spLocks noChangeArrowheads="1"/>
          </p:cNvSpPr>
          <p:nvPr/>
        </p:nvSpPr>
        <p:spPr bwMode="auto">
          <a:xfrm>
            <a:off x="1328738" y="5788025"/>
            <a:ext cx="1225550" cy="641350"/>
          </a:xfrm>
          <a:prstGeom prst="rect">
            <a:avLst/>
          </a:prstGeom>
          <a:noFill/>
          <a:ln w="9525">
            <a:noFill/>
            <a:miter lim="800000"/>
          </a:ln>
        </p:spPr>
        <p:txBody>
          <a:bodyPr anchor="ctr">
            <a:spAutoFit/>
          </a:bodyPr>
          <a:lstStyle/>
          <a:p>
            <a:pPr algn="r">
              <a:spcBef>
                <a:spcPct val="0"/>
              </a:spcBef>
              <a:buClrTx/>
              <a:buSzTx/>
              <a:buFontTx/>
              <a:buNone/>
            </a:pPr>
            <a:r>
              <a:rPr lang="en-US" sz="1800">
                <a:solidFill>
                  <a:schemeClr val="accent2"/>
                </a:solidFill>
              </a:rPr>
              <a:t>Receive</a:t>
            </a:r>
            <a:endParaRPr lang="en-US" sz="1800">
              <a:solidFill>
                <a:schemeClr val="accent2"/>
              </a:solidFill>
            </a:endParaRPr>
          </a:p>
          <a:p>
            <a:pPr algn="r">
              <a:spcBef>
                <a:spcPct val="0"/>
              </a:spcBef>
              <a:buClrTx/>
              <a:buSzTx/>
              <a:buFontTx/>
              <a:buNone/>
            </a:pPr>
            <a:r>
              <a:rPr lang="en-US" sz="1800">
                <a:solidFill>
                  <a:schemeClr val="accent2"/>
                </a:solidFill>
              </a:rPr>
              <a:t>datagram</a:t>
            </a:r>
            <a:endParaRPr lang="en-US" sz="1800"/>
          </a:p>
        </p:txBody>
      </p:sp>
      <p:sp>
        <p:nvSpPr>
          <p:cNvPr id="114697" name="Freeform 7"/>
          <p:cNvSpPr/>
          <p:nvPr/>
        </p:nvSpPr>
        <p:spPr bwMode="auto">
          <a:xfrm>
            <a:off x="2286000" y="2871788"/>
            <a:ext cx="152400" cy="800100"/>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4698" name="Line 8"/>
          <p:cNvSpPr>
            <a:spLocks noChangeShapeType="1"/>
          </p:cNvSpPr>
          <p:nvPr/>
        </p:nvSpPr>
        <p:spPr bwMode="auto">
          <a:xfrm>
            <a:off x="2457450" y="3405188"/>
            <a:ext cx="419100" cy="4762"/>
          </a:xfrm>
          <a:prstGeom prst="line">
            <a:avLst/>
          </a:prstGeom>
          <a:noFill/>
          <a:ln w="28575">
            <a:solidFill>
              <a:schemeClr val="accent2"/>
            </a:solidFill>
            <a:round/>
            <a:tailEnd type="triangle" w="med" len="med"/>
          </a:ln>
        </p:spPr>
        <p:txBody>
          <a:bodyPr anchor="ctr">
            <a:spAutoFit/>
          </a:bodyPr>
          <a:lstStyle/>
          <a:p>
            <a:endParaRPr lang="en-US"/>
          </a:p>
        </p:txBody>
      </p:sp>
      <p:sp>
        <p:nvSpPr>
          <p:cNvPr id="114699" name="Freeform 9"/>
          <p:cNvSpPr/>
          <p:nvPr/>
        </p:nvSpPr>
        <p:spPr bwMode="auto">
          <a:xfrm>
            <a:off x="2362200" y="5072063"/>
            <a:ext cx="85725" cy="5476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4700" name="Line 10"/>
          <p:cNvSpPr>
            <a:spLocks noChangeShapeType="1"/>
          </p:cNvSpPr>
          <p:nvPr/>
        </p:nvSpPr>
        <p:spPr bwMode="auto">
          <a:xfrm>
            <a:off x="2471738" y="5407025"/>
            <a:ext cx="604837" cy="12700"/>
          </a:xfrm>
          <a:prstGeom prst="line">
            <a:avLst/>
          </a:prstGeom>
          <a:noFill/>
          <a:ln w="28575">
            <a:solidFill>
              <a:schemeClr val="accent2"/>
            </a:solidFill>
            <a:round/>
            <a:tailEnd type="triangle" w="med" len="med"/>
          </a:ln>
        </p:spPr>
        <p:txBody>
          <a:bodyPr anchor="ctr">
            <a:spAutoFit/>
          </a:bodyPr>
          <a:lstStyle/>
          <a:p>
            <a:endParaRPr lang="en-US"/>
          </a:p>
        </p:txBody>
      </p:sp>
      <p:sp>
        <p:nvSpPr>
          <p:cNvPr id="114701" name="Freeform 11"/>
          <p:cNvSpPr/>
          <p:nvPr/>
        </p:nvSpPr>
        <p:spPr bwMode="auto">
          <a:xfrm>
            <a:off x="2352675" y="5805488"/>
            <a:ext cx="138113" cy="5857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4702" name="Line 12"/>
          <p:cNvSpPr>
            <a:spLocks noChangeShapeType="1"/>
          </p:cNvSpPr>
          <p:nvPr/>
        </p:nvSpPr>
        <p:spPr bwMode="auto">
          <a:xfrm flipV="1">
            <a:off x="2490788" y="5972175"/>
            <a:ext cx="592137" cy="14288"/>
          </a:xfrm>
          <a:prstGeom prst="line">
            <a:avLst/>
          </a:prstGeom>
          <a:noFill/>
          <a:ln w="28575">
            <a:solidFill>
              <a:schemeClr val="accent2"/>
            </a:solidFill>
            <a:round/>
            <a:tailEnd type="triangle" w="med" len="med"/>
          </a:ln>
        </p:spPr>
        <p:txBody>
          <a:bodyPr anchor="ctr">
            <a:spAutoFit/>
          </a:bodyPr>
          <a:lstStyle/>
          <a:p>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15715" name="Slide Number Placeholder 4"/>
          <p:cNvSpPr>
            <a:spLocks noGrp="1"/>
          </p:cNvSpPr>
          <p:nvPr>
            <p:ph type="sldNum" sz="quarter" idx="12"/>
          </p:nvPr>
        </p:nvSpPr>
        <p:spPr>
          <a:noFill/>
        </p:spPr>
        <p:txBody>
          <a:bodyPr/>
          <a:lstStyle/>
          <a:p>
            <a:fld id="{DB07E520-7B15-40D3-8C06-67442399EE39}" type="slidenum">
              <a:rPr lang="en-US"/>
            </a:fld>
            <a:endParaRPr lang="en-US"/>
          </a:p>
        </p:txBody>
      </p:sp>
      <p:sp>
        <p:nvSpPr>
          <p:cNvPr id="115716" name="Rectangle 2"/>
          <p:cNvSpPr>
            <a:spLocks noGrp="1" noChangeArrowheads="1"/>
          </p:cNvSpPr>
          <p:nvPr>
            <p:ph type="title"/>
          </p:nvPr>
        </p:nvSpPr>
        <p:spPr/>
        <p:txBody>
          <a:bodyPr/>
          <a:lstStyle/>
          <a:p>
            <a:r>
              <a:rPr lang="en-US" sz="3600"/>
              <a:t>Example: Java server (UDP), cont</a:t>
            </a:r>
            <a:endParaRPr lang="en-US" sz="3600"/>
          </a:p>
        </p:txBody>
      </p:sp>
      <p:sp>
        <p:nvSpPr>
          <p:cNvPr id="115717" name="Rectangle 3"/>
          <p:cNvSpPr>
            <a:spLocks noChangeArrowheads="1"/>
          </p:cNvSpPr>
          <p:nvPr/>
        </p:nvSpPr>
        <p:spPr bwMode="auto">
          <a:xfrm>
            <a:off x="1851025" y="1173163"/>
            <a:ext cx="6562725" cy="4857750"/>
          </a:xfrm>
          <a:prstGeom prst="rect">
            <a:avLst/>
          </a:prstGeom>
          <a:noFill/>
          <a:ln w="9525">
            <a:noFill/>
            <a:miter lim="800000"/>
          </a:ln>
        </p:spPr>
        <p:txBody>
          <a:bodyPr wrap="none" anchor="ctr">
            <a:spAutoFit/>
          </a:bodyPr>
          <a:lstStyle/>
          <a:p>
            <a:pPr>
              <a:spcBef>
                <a:spcPct val="0"/>
              </a:spcBef>
              <a:buClrTx/>
              <a:buSzTx/>
              <a:buFontTx/>
              <a:buNone/>
            </a:pP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String sentence = new String(receivePacket.getData());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InetAddress IPAddress = receivePacket.getAddress();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int port = receivePacket.getPort();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String capitalizedSentence = sentence.toUpperCase(); </a:t>
            </a:r>
            <a:endParaRPr lang="en-US" sz="1600">
              <a:latin typeface="Arial" panose="020B0604020202020204" pitchFamily="34" charset="0"/>
            </a:endParaRPr>
          </a:p>
          <a:p>
            <a:pPr>
              <a:spcBef>
                <a:spcPct val="0"/>
              </a:spcBef>
              <a:buClrTx/>
              <a:buSzTx/>
              <a:buFontTx/>
              <a:buNone/>
            </a:pP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sendData = capitalizedSentence.getBytes();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DatagramPacket sendPacket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new DatagramPacket(sendData, sendData.length, IPAddress,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port);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serverSocket.send(sendPacket);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a:t>
            </a:r>
            <a:r>
              <a:rPr lang="en-US">
                <a:latin typeface="Times New Roman" panose="02020603050405020304" pitchFamily="18" charset="0"/>
              </a:rPr>
              <a:t>  </a:t>
            </a:r>
            <a:endParaRPr lang="en-US">
              <a:latin typeface="Times New Roman" panose="02020603050405020304" pitchFamily="18" charset="0"/>
            </a:endParaRPr>
          </a:p>
        </p:txBody>
      </p:sp>
      <p:sp>
        <p:nvSpPr>
          <p:cNvPr id="115718" name="Text Box 4"/>
          <p:cNvSpPr txBox="1">
            <a:spLocks noChangeArrowheads="1"/>
          </p:cNvSpPr>
          <p:nvPr/>
        </p:nvSpPr>
        <p:spPr bwMode="auto">
          <a:xfrm>
            <a:off x="127000" y="1736725"/>
            <a:ext cx="2093913" cy="915988"/>
          </a:xfrm>
          <a:prstGeom prst="rect">
            <a:avLst/>
          </a:prstGeom>
          <a:noFill/>
          <a:ln w="9525">
            <a:noFill/>
            <a:miter lim="800000"/>
          </a:ln>
        </p:spPr>
        <p:txBody>
          <a:bodyPr anchor="ctr">
            <a:spAutoFit/>
          </a:bodyPr>
          <a:lstStyle/>
          <a:p>
            <a:pPr algn="r">
              <a:spcBef>
                <a:spcPct val="0"/>
              </a:spcBef>
              <a:buClrTx/>
              <a:buSzTx/>
              <a:buFontTx/>
              <a:buNone/>
            </a:pPr>
            <a:r>
              <a:rPr lang="en-US" sz="1800">
                <a:solidFill>
                  <a:schemeClr val="accent2"/>
                </a:solidFill>
              </a:rPr>
              <a:t>Get IP addr</a:t>
            </a:r>
            <a:endParaRPr lang="en-US" sz="1800">
              <a:solidFill>
                <a:schemeClr val="accent2"/>
              </a:solidFill>
            </a:endParaRPr>
          </a:p>
          <a:p>
            <a:pPr algn="r">
              <a:spcBef>
                <a:spcPct val="0"/>
              </a:spcBef>
              <a:buClrTx/>
              <a:buSzTx/>
              <a:buFontTx/>
              <a:buNone/>
            </a:pPr>
            <a:r>
              <a:rPr lang="en-US" sz="1800">
                <a:solidFill>
                  <a:schemeClr val="accent2"/>
                </a:solidFill>
              </a:rPr>
              <a:t>port #, of</a:t>
            </a:r>
            <a:endParaRPr lang="en-US" sz="1800">
              <a:solidFill>
                <a:schemeClr val="accent2"/>
              </a:solidFill>
            </a:endParaRPr>
          </a:p>
          <a:p>
            <a:pPr algn="r">
              <a:spcBef>
                <a:spcPct val="0"/>
              </a:spcBef>
              <a:buClrTx/>
              <a:buSzTx/>
              <a:buFontTx/>
              <a:buNone/>
            </a:pPr>
            <a:r>
              <a:rPr lang="en-US" sz="1800">
                <a:solidFill>
                  <a:schemeClr val="accent2"/>
                </a:solidFill>
              </a:rPr>
              <a:t>sender</a:t>
            </a:r>
            <a:endParaRPr lang="en-US" sz="1800"/>
          </a:p>
        </p:txBody>
      </p:sp>
      <p:sp>
        <p:nvSpPr>
          <p:cNvPr id="115719" name="Freeform 5"/>
          <p:cNvSpPr/>
          <p:nvPr/>
        </p:nvSpPr>
        <p:spPr bwMode="auto">
          <a:xfrm>
            <a:off x="2057400" y="1795463"/>
            <a:ext cx="133350" cy="8143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5720" name="Line 6"/>
          <p:cNvSpPr>
            <a:spLocks noChangeShapeType="1"/>
          </p:cNvSpPr>
          <p:nvPr/>
        </p:nvSpPr>
        <p:spPr bwMode="auto">
          <a:xfrm flipV="1">
            <a:off x="2214563" y="2533650"/>
            <a:ext cx="285750" cy="14288"/>
          </a:xfrm>
          <a:prstGeom prst="line">
            <a:avLst/>
          </a:prstGeom>
          <a:noFill/>
          <a:ln w="28575">
            <a:solidFill>
              <a:schemeClr val="accent2"/>
            </a:solidFill>
            <a:round/>
            <a:tailEnd type="triangle" w="med" len="med"/>
          </a:ln>
        </p:spPr>
        <p:txBody>
          <a:bodyPr anchor="ctr">
            <a:spAutoFit/>
          </a:bodyPr>
          <a:lstStyle/>
          <a:p>
            <a:endParaRPr lang="en-US"/>
          </a:p>
        </p:txBody>
      </p:sp>
      <p:sp>
        <p:nvSpPr>
          <p:cNvPr id="115721" name="Text Box 7"/>
          <p:cNvSpPr txBox="1">
            <a:spLocks noChangeArrowheads="1"/>
          </p:cNvSpPr>
          <p:nvPr/>
        </p:nvSpPr>
        <p:spPr bwMode="auto">
          <a:xfrm>
            <a:off x="765175" y="4508500"/>
            <a:ext cx="1312863" cy="915988"/>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Write out </a:t>
            </a:r>
            <a:endParaRPr lang="en-US" sz="1800">
              <a:solidFill>
                <a:schemeClr val="accent2"/>
              </a:solidFill>
            </a:endParaRPr>
          </a:p>
          <a:p>
            <a:pPr algn="r">
              <a:spcBef>
                <a:spcPct val="0"/>
              </a:spcBef>
              <a:buClrTx/>
              <a:buSzTx/>
              <a:buFontTx/>
              <a:buNone/>
            </a:pPr>
            <a:r>
              <a:rPr lang="en-US" sz="1800">
                <a:solidFill>
                  <a:schemeClr val="accent2"/>
                </a:solidFill>
              </a:rPr>
              <a:t>datagram</a:t>
            </a:r>
            <a:endParaRPr lang="en-US" sz="1800">
              <a:solidFill>
                <a:schemeClr val="accent2"/>
              </a:solidFill>
            </a:endParaRPr>
          </a:p>
          <a:p>
            <a:pPr algn="r">
              <a:spcBef>
                <a:spcPct val="0"/>
              </a:spcBef>
              <a:buClrTx/>
              <a:buSzTx/>
              <a:buFontTx/>
              <a:buNone/>
            </a:pPr>
            <a:r>
              <a:rPr lang="en-US" sz="1800">
                <a:solidFill>
                  <a:schemeClr val="accent2"/>
                </a:solidFill>
              </a:rPr>
              <a:t>to socket</a:t>
            </a:r>
            <a:endParaRPr lang="en-US" sz="1800"/>
          </a:p>
        </p:txBody>
      </p:sp>
      <p:sp>
        <p:nvSpPr>
          <p:cNvPr id="115722" name="Freeform 8"/>
          <p:cNvSpPr/>
          <p:nvPr/>
        </p:nvSpPr>
        <p:spPr bwMode="auto">
          <a:xfrm>
            <a:off x="1895475" y="4595813"/>
            <a:ext cx="161925" cy="819150"/>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5723" name="Line 9"/>
          <p:cNvSpPr>
            <a:spLocks noChangeShapeType="1"/>
          </p:cNvSpPr>
          <p:nvPr/>
        </p:nvSpPr>
        <p:spPr bwMode="auto">
          <a:xfrm flipV="1">
            <a:off x="2076450" y="4991100"/>
            <a:ext cx="333375" cy="4763"/>
          </a:xfrm>
          <a:prstGeom prst="line">
            <a:avLst/>
          </a:prstGeom>
          <a:noFill/>
          <a:ln w="28575">
            <a:solidFill>
              <a:schemeClr val="accent2"/>
            </a:solidFill>
            <a:round/>
            <a:tailEnd type="triangle" w="med" len="med"/>
          </a:ln>
        </p:spPr>
        <p:txBody>
          <a:bodyPr anchor="ctr">
            <a:spAutoFit/>
          </a:bodyPr>
          <a:lstStyle/>
          <a:p>
            <a:endParaRPr lang="en-US"/>
          </a:p>
        </p:txBody>
      </p:sp>
      <p:sp>
        <p:nvSpPr>
          <p:cNvPr id="115724" name="Text Box 10"/>
          <p:cNvSpPr txBox="1">
            <a:spLocks noChangeArrowheads="1"/>
          </p:cNvSpPr>
          <p:nvPr/>
        </p:nvSpPr>
        <p:spPr bwMode="auto">
          <a:xfrm>
            <a:off x="3228975" y="5632450"/>
            <a:ext cx="2540000" cy="915988"/>
          </a:xfrm>
          <a:prstGeom prst="rect">
            <a:avLst/>
          </a:prstGeom>
          <a:noFill/>
          <a:ln w="9525">
            <a:noFill/>
            <a:miter lim="800000"/>
          </a:ln>
        </p:spPr>
        <p:txBody>
          <a:bodyPr wrap="none" anchor="ctr">
            <a:spAutoFit/>
          </a:bodyPr>
          <a:lstStyle/>
          <a:p>
            <a:pPr>
              <a:spcBef>
                <a:spcPct val="0"/>
              </a:spcBef>
              <a:buClrTx/>
              <a:buSzTx/>
              <a:buFontTx/>
              <a:buNone/>
            </a:pPr>
            <a:r>
              <a:rPr lang="en-US" sz="1800">
                <a:solidFill>
                  <a:schemeClr val="accent2"/>
                </a:solidFill>
              </a:rPr>
              <a:t>End of while loop,</a:t>
            </a:r>
            <a:endParaRPr lang="en-US" sz="1800">
              <a:solidFill>
                <a:schemeClr val="accent2"/>
              </a:solidFill>
            </a:endParaRPr>
          </a:p>
          <a:p>
            <a:pPr>
              <a:spcBef>
                <a:spcPct val="0"/>
              </a:spcBef>
              <a:buClrTx/>
              <a:buSzTx/>
              <a:buFontTx/>
              <a:buNone/>
            </a:pPr>
            <a:r>
              <a:rPr lang="en-US" sz="1800">
                <a:solidFill>
                  <a:schemeClr val="accent2"/>
                </a:solidFill>
              </a:rPr>
              <a:t>loop back and wait for</a:t>
            </a:r>
            <a:endParaRPr lang="en-US" sz="1800">
              <a:solidFill>
                <a:schemeClr val="accent2"/>
              </a:solidFill>
            </a:endParaRPr>
          </a:p>
          <a:p>
            <a:pPr>
              <a:spcBef>
                <a:spcPct val="0"/>
              </a:spcBef>
              <a:buClrTx/>
              <a:buSzTx/>
              <a:buFontTx/>
              <a:buNone/>
            </a:pPr>
            <a:r>
              <a:rPr lang="en-US" sz="1800">
                <a:solidFill>
                  <a:schemeClr val="accent2"/>
                </a:solidFill>
              </a:rPr>
              <a:t>another datagram</a:t>
            </a:r>
            <a:endParaRPr lang="en-US" sz="1800"/>
          </a:p>
        </p:txBody>
      </p:sp>
      <p:sp>
        <p:nvSpPr>
          <p:cNvPr id="115725" name="Freeform 11"/>
          <p:cNvSpPr/>
          <p:nvPr/>
        </p:nvSpPr>
        <p:spPr bwMode="auto">
          <a:xfrm rot="10784139">
            <a:off x="3209925" y="5622925"/>
            <a:ext cx="160338" cy="912813"/>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5726" name="Line 12"/>
          <p:cNvSpPr>
            <a:spLocks noChangeShapeType="1"/>
          </p:cNvSpPr>
          <p:nvPr/>
        </p:nvSpPr>
        <p:spPr bwMode="auto">
          <a:xfrm flipH="1" flipV="1">
            <a:off x="2562225" y="5295900"/>
            <a:ext cx="647700" cy="604838"/>
          </a:xfrm>
          <a:prstGeom prst="line">
            <a:avLst/>
          </a:prstGeom>
          <a:noFill/>
          <a:ln w="28575">
            <a:solidFill>
              <a:schemeClr val="accent2"/>
            </a:solidFill>
            <a:round/>
            <a:tailEnd type="triangle" w="med" len="med"/>
          </a:ln>
        </p:spPr>
        <p:txBody>
          <a:bodyPr anchor="ctr">
            <a:spAutoFit/>
          </a:bodyPr>
          <a:lstStyle/>
          <a:p>
            <a:endParaRPr lang="en-US"/>
          </a:p>
        </p:txBody>
      </p:sp>
      <p:sp>
        <p:nvSpPr>
          <p:cNvPr id="115727" name="Line 13"/>
          <p:cNvSpPr>
            <a:spLocks noChangeShapeType="1"/>
          </p:cNvSpPr>
          <p:nvPr/>
        </p:nvSpPr>
        <p:spPr bwMode="auto">
          <a:xfrm flipV="1">
            <a:off x="2205038" y="2095500"/>
            <a:ext cx="285750" cy="14288"/>
          </a:xfrm>
          <a:prstGeom prst="line">
            <a:avLst/>
          </a:prstGeom>
          <a:noFill/>
          <a:ln w="28575">
            <a:solidFill>
              <a:schemeClr val="accent2"/>
            </a:solidFill>
            <a:round/>
            <a:tailEnd type="triangle" w="med" len="med"/>
          </a:ln>
        </p:spPr>
        <p:txBody>
          <a:bodyPr anchor="ctr">
            <a:spAutoFit/>
          </a:bodyPr>
          <a:lstStyle/>
          <a:p>
            <a:endParaRPr lang="en-US"/>
          </a:p>
        </p:txBody>
      </p:sp>
      <p:sp>
        <p:nvSpPr>
          <p:cNvPr id="115728" name="Text Box 14"/>
          <p:cNvSpPr txBox="1">
            <a:spLocks noChangeArrowheads="1"/>
          </p:cNvSpPr>
          <p:nvPr/>
        </p:nvSpPr>
        <p:spPr bwMode="auto">
          <a:xfrm>
            <a:off x="117475" y="3702050"/>
            <a:ext cx="1979613"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 datagram</a:t>
            </a:r>
            <a:endParaRPr lang="en-US" sz="1800">
              <a:solidFill>
                <a:schemeClr val="accent2"/>
              </a:solidFill>
            </a:endParaRPr>
          </a:p>
          <a:p>
            <a:pPr algn="r">
              <a:spcBef>
                <a:spcPct val="0"/>
              </a:spcBef>
              <a:buClrTx/>
              <a:buSzTx/>
              <a:buFontTx/>
              <a:buNone/>
            </a:pPr>
            <a:r>
              <a:rPr lang="en-US" sz="1800">
                <a:solidFill>
                  <a:schemeClr val="accent2"/>
                </a:solidFill>
              </a:rPr>
              <a:t>to send to client</a:t>
            </a:r>
            <a:endParaRPr lang="en-US" sz="1800"/>
          </a:p>
        </p:txBody>
      </p:sp>
      <p:sp>
        <p:nvSpPr>
          <p:cNvPr id="115729" name="Freeform 15"/>
          <p:cNvSpPr/>
          <p:nvPr/>
        </p:nvSpPr>
        <p:spPr bwMode="auto">
          <a:xfrm>
            <a:off x="1933575" y="3757613"/>
            <a:ext cx="161925" cy="571500"/>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15730" name="Line 16"/>
          <p:cNvSpPr>
            <a:spLocks noChangeShapeType="1"/>
          </p:cNvSpPr>
          <p:nvPr/>
        </p:nvSpPr>
        <p:spPr bwMode="auto">
          <a:xfrm flipV="1">
            <a:off x="2114550" y="4019550"/>
            <a:ext cx="333375" cy="4763"/>
          </a:xfrm>
          <a:prstGeom prst="line">
            <a:avLst/>
          </a:prstGeom>
          <a:noFill/>
          <a:ln w="28575">
            <a:solidFill>
              <a:schemeClr val="accent2"/>
            </a:solidFill>
            <a:round/>
            <a:tailEnd type="triangle" w="med" len="med"/>
          </a:ln>
        </p:spPr>
        <p:txBody>
          <a:bodyPr anchor="ctr">
            <a:spAutoFit/>
          </a:bodyPr>
          <a:lstStyle/>
          <a:p>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UDP observations &amp; questions</a:t>
            </a:r>
            <a:endParaRPr lang="en-US" dirty="0"/>
          </a:p>
        </p:txBody>
      </p:sp>
      <p:sp>
        <p:nvSpPr>
          <p:cNvPr id="5" name="Content Placeholder 4"/>
          <p:cNvSpPr>
            <a:spLocks noGrp="1"/>
          </p:cNvSpPr>
          <p:nvPr>
            <p:ph idx="1"/>
          </p:nvPr>
        </p:nvSpPr>
        <p:spPr>
          <a:xfrm>
            <a:off x="456125" y="1381260"/>
            <a:ext cx="8494691" cy="4648200"/>
          </a:xfrm>
          <a:ln>
            <a:noFill/>
          </a:ln>
        </p:spPr>
        <p:txBody>
          <a:bodyPr/>
          <a:lstStyle/>
          <a:p>
            <a:r>
              <a:rPr lang="en-US" dirty="0"/>
              <a:t>Both client server use </a:t>
            </a:r>
            <a:r>
              <a:rPr lang="en-US" dirty="0" err="1"/>
              <a:t>DatagramSocket</a:t>
            </a:r>
            <a:r>
              <a:rPr lang="en-US" dirty="0"/>
              <a:t> </a:t>
            </a:r>
            <a:endParaRPr lang="en-US" dirty="0"/>
          </a:p>
          <a:p>
            <a:r>
              <a:rPr lang="en-US" dirty="0" err="1"/>
              <a:t>Dest</a:t>
            </a:r>
            <a:r>
              <a:rPr lang="en-US" dirty="0"/>
              <a:t> IP and port are </a:t>
            </a:r>
            <a:r>
              <a:rPr lang="en-US" u="sng" dirty="0">
                <a:solidFill>
                  <a:srgbClr val="FF0000"/>
                </a:solidFill>
              </a:rPr>
              <a:t>explicitly attached </a:t>
            </a:r>
            <a:r>
              <a:rPr lang="en-US" dirty="0"/>
              <a:t>to segment.</a:t>
            </a:r>
            <a:endParaRPr lang="en-US" dirty="0"/>
          </a:p>
          <a:p>
            <a:r>
              <a:rPr lang="en-US" dirty="0"/>
              <a:t>What would happen if change </a:t>
            </a:r>
            <a:r>
              <a:rPr lang="en-US" u="sng" dirty="0">
                <a:solidFill>
                  <a:srgbClr val="FF0000"/>
                </a:solidFill>
              </a:rPr>
              <a:t>both</a:t>
            </a:r>
            <a:r>
              <a:rPr lang="en-US" dirty="0"/>
              <a:t> </a:t>
            </a:r>
            <a:r>
              <a:rPr lang="en-US" dirty="0" err="1"/>
              <a:t>clientSocket</a:t>
            </a:r>
            <a:r>
              <a:rPr lang="en-US" dirty="0"/>
              <a:t> and </a:t>
            </a:r>
            <a:r>
              <a:rPr lang="en-US" dirty="0" err="1"/>
              <a:t>serverSocket</a:t>
            </a:r>
            <a:r>
              <a:rPr lang="en-US" dirty="0"/>
              <a:t> to “</a:t>
            </a:r>
            <a:r>
              <a:rPr lang="en-US" dirty="0" err="1"/>
              <a:t>mySocket</a:t>
            </a:r>
            <a:r>
              <a:rPr lang="en-US" dirty="0"/>
              <a:t>”?</a:t>
            </a:r>
            <a:endParaRPr lang="en-US" dirty="0"/>
          </a:p>
          <a:p>
            <a:r>
              <a:rPr lang="en-US" dirty="0"/>
              <a:t>Can the client send a segment to server </a:t>
            </a:r>
            <a:r>
              <a:rPr lang="en-US" u="sng" dirty="0">
                <a:solidFill>
                  <a:srgbClr val="FF0000"/>
                </a:solidFill>
              </a:rPr>
              <a:t>without knowing</a:t>
            </a:r>
            <a:r>
              <a:rPr lang="en-US" dirty="0"/>
              <a:t> the server’s IP address and/or port number?</a:t>
            </a:r>
            <a:endParaRPr lang="en-US" dirty="0"/>
          </a:p>
          <a:p>
            <a:r>
              <a:rPr lang="en-US" dirty="0"/>
              <a:t>Can </a:t>
            </a:r>
            <a:r>
              <a:rPr lang="en-US" u="sng" dirty="0">
                <a:solidFill>
                  <a:srgbClr val="FF0000"/>
                </a:solidFill>
              </a:rPr>
              <a:t>multiple clients </a:t>
            </a:r>
            <a:r>
              <a:rPr lang="en-US" dirty="0"/>
              <a:t>use the server?</a:t>
            </a:r>
            <a:endParaRPr lang="en-US" dirty="0"/>
          </a:p>
          <a:p>
            <a:pPr>
              <a:buNone/>
            </a:pPr>
            <a:br>
              <a:rPr lang="en-US" dirty="0"/>
            </a:br>
            <a:endParaRPr lang="en-US" dirty="0"/>
          </a:p>
          <a:p>
            <a:endParaRPr lang="en-US" dirty="0"/>
          </a:p>
        </p:txBody>
      </p:sp>
      <p:sp>
        <p:nvSpPr>
          <p:cNvPr id="3" name="Footer Placeholder 2"/>
          <p:cNvSpPr>
            <a:spLocks noGrp="1"/>
          </p:cNvSpPr>
          <p:nvPr>
            <p:ph type="ftr" sz="quarter" idx="11"/>
          </p:nvPr>
        </p:nvSpPr>
        <p:spPr/>
        <p:txBody>
          <a:bodyPr/>
          <a:lstStyle/>
          <a:p>
            <a:pPr>
              <a:defRPr/>
            </a:pPr>
            <a:r>
              <a:rPr lang="en-US" dirty="0"/>
              <a:t>2: Application Layer</a:t>
            </a:r>
            <a:endParaRPr lang="en-US" dirty="0">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C28A9413-D3A1-4AF3-8DD7-3635D5070192}" type="slidenum">
              <a:rPr lang="en-US" smtClean="0"/>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4819" name="Slide Number Placeholder 6"/>
          <p:cNvSpPr>
            <a:spLocks noGrp="1"/>
          </p:cNvSpPr>
          <p:nvPr>
            <p:ph type="sldNum" sz="quarter" idx="12"/>
          </p:nvPr>
        </p:nvSpPr>
        <p:spPr>
          <a:noFill/>
        </p:spPr>
        <p:txBody>
          <a:bodyPr/>
          <a:lstStyle/>
          <a:p>
            <a:fld id="{09FB5B14-3207-4596-9B15-A315FEC6D487}" type="slidenum">
              <a:rPr lang="en-US"/>
            </a:fld>
            <a:endParaRPr lang="en-US"/>
          </a:p>
        </p:txBody>
      </p:sp>
      <p:sp>
        <p:nvSpPr>
          <p:cNvPr id="34820" name="Rectangle 2"/>
          <p:cNvSpPr>
            <a:spLocks noGrp="1" noChangeArrowheads="1"/>
          </p:cNvSpPr>
          <p:nvPr>
            <p:ph type="title"/>
          </p:nvPr>
        </p:nvSpPr>
        <p:spPr/>
        <p:txBody>
          <a:bodyPr/>
          <a:lstStyle/>
          <a:p>
            <a:r>
              <a:rPr lang="en-US" dirty="0"/>
              <a:t>Chapter 2: Application layer</a:t>
            </a:r>
            <a:endParaRPr lang="en-US" dirty="0"/>
          </a:p>
        </p:txBody>
      </p:sp>
      <p:sp>
        <p:nvSpPr>
          <p:cNvPr id="34821" name="Rectangle 3"/>
          <p:cNvSpPr>
            <a:spLocks noGrp="1" noChangeArrowheads="1"/>
          </p:cNvSpPr>
          <p:nvPr>
            <p:ph type="body" sz="half" idx="1"/>
          </p:nvPr>
        </p:nvSpPr>
        <p:spPr/>
        <p:txBody>
          <a:bodyPr/>
          <a:lstStyle/>
          <a:p>
            <a:r>
              <a:rPr lang="en-US" sz="2400"/>
              <a:t>2.1 Principles of network applications</a:t>
            </a:r>
            <a:endParaRPr lang="en-US" sz="2400"/>
          </a:p>
          <a:p>
            <a:r>
              <a:rPr lang="en-US" sz="2400"/>
              <a:t>2.2 Web and HTTP</a:t>
            </a:r>
            <a:endParaRPr lang="en-US" sz="2400"/>
          </a:p>
          <a:p>
            <a:r>
              <a:rPr lang="en-US" sz="2400"/>
              <a:t>2.3 FTP </a:t>
            </a:r>
            <a:endParaRPr lang="en-US" sz="2400">
              <a:solidFill>
                <a:srgbClr val="FF0000"/>
              </a:solidFill>
            </a:endParaRPr>
          </a:p>
          <a:p>
            <a:r>
              <a:rPr lang="en-US" sz="2400"/>
              <a:t>2.4 Electronic Mail</a:t>
            </a:r>
            <a:endParaRPr lang="en-US" sz="2400"/>
          </a:p>
          <a:p>
            <a:pPr lvl="1"/>
            <a:r>
              <a:rPr lang="en-US" sz="2000"/>
              <a:t>SMTP, POP3, IMAP</a:t>
            </a:r>
            <a:endParaRPr lang="en-US" sz="2000"/>
          </a:p>
          <a:p>
            <a:r>
              <a:rPr lang="en-US" sz="2400"/>
              <a:t>2.5 DNS</a:t>
            </a:r>
            <a:endParaRPr lang="en-US" sz="2400"/>
          </a:p>
          <a:p>
            <a:endParaRPr lang="en-US" sz="2400"/>
          </a:p>
        </p:txBody>
      </p:sp>
      <p:sp>
        <p:nvSpPr>
          <p:cNvPr id="34822" name="Rectangle 4"/>
          <p:cNvSpPr>
            <a:spLocks noGrp="1" noChangeArrowheads="1"/>
          </p:cNvSpPr>
          <p:nvPr>
            <p:ph type="body" sz="half" idx="2"/>
          </p:nvPr>
        </p:nvSpPr>
        <p:spPr>
          <a:xfrm>
            <a:off x="4495800" y="1600200"/>
            <a:ext cx="4054475" cy="4648200"/>
          </a:xfrm>
        </p:spPr>
        <p:txBody>
          <a:bodyPr/>
          <a:lstStyle/>
          <a:p>
            <a:r>
              <a:rPr lang="en-US" sz="2400" dirty="0"/>
              <a:t>2.6 P2P applications</a:t>
            </a:r>
            <a:endParaRPr lang="en-US" sz="2400" dirty="0"/>
          </a:p>
          <a:p>
            <a:r>
              <a:rPr lang="en-US" sz="2400" dirty="0"/>
              <a:t>2.7 Socket programming with UDP</a:t>
            </a:r>
            <a:endParaRPr lang="en-US" sz="2400" dirty="0"/>
          </a:p>
          <a:p>
            <a:r>
              <a:rPr lang="en-US" sz="2400" dirty="0">
                <a:solidFill>
                  <a:srgbClr val="FF0000"/>
                </a:solidFill>
              </a:rPr>
              <a:t>2.8 Socket programming with TCP</a:t>
            </a:r>
            <a:endParaRPr lang="en-US" sz="2400" dirty="0">
              <a:solidFill>
                <a:srgbClr val="FF0000"/>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Footer Placeholder 4"/>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29701" name="Slide Number Placeholder 5"/>
          <p:cNvSpPr>
            <a:spLocks noGrp="1"/>
          </p:cNvSpPr>
          <p:nvPr>
            <p:ph type="sldNum" sz="quarter" idx="12"/>
          </p:nvPr>
        </p:nvSpPr>
        <p:spPr>
          <a:noFill/>
        </p:spPr>
        <p:txBody>
          <a:bodyPr/>
          <a:lstStyle/>
          <a:p>
            <a:fld id="{543FF9D7-E760-44AC-9081-1B6160AA3BF9}" type="slidenum">
              <a:rPr lang="en-US"/>
            </a:fld>
            <a:endParaRPr lang="en-US"/>
          </a:p>
        </p:txBody>
      </p:sp>
      <p:sp>
        <p:nvSpPr>
          <p:cNvPr id="29702" name="Rectangle 2"/>
          <p:cNvSpPr>
            <a:spLocks noGrp="1" noChangeArrowheads="1"/>
          </p:cNvSpPr>
          <p:nvPr>
            <p:ph type="title"/>
          </p:nvPr>
        </p:nvSpPr>
        <p:spPr/>
        <p:txBody>
          <a:bodyPr/>
          <a:lstStyle/>
          <a:p>
            <a:r>
              <a:rPr lang="en-US" sz="3600" dirty="0"/>
              <a:t>Socket-programming using TCP</a:t>
            </a:r>
            <a:endParaRPr lang="en-US" dirty="0"/>
          </a:p>
        </p:txBody>
      </p:sp>
      <p:sp>
        <p:nvSpPr>
          <p:cNvPr id="29703" name="Rectangle 3"/>
          <p:cNvSpPr>
            <a:spLocks noGrp="1" noChangeArrowheads="1"/>
          </p:cNvSpPr>
          <p:nvPr>
            <p:ph type="body" idx="1"/>
          </p:nvPr>
        </p:nvSpPr>
        <p:spPr>
          <a:xfrm>
            <a:off x="574317" y="1702561"/>
            <a:ext cx="7772400" cy="1220944"/>
          </a:xfrm>
        </p:spPr>
        <p:txBody>
          <a:bodyPr/>
          <a:lstStyle/>
          <a:p>
            <a:pPr>
              <a:buFont typeface="ZapfDingbats" pitchFamily="82" charset="2"/>
              <a:buNone/>
            </a:pPr>
            <a:r>
              <a:rPr lang="en-US" sz="2400" u="sng" dirty="0">
                <a:solidFill>
                  <a:srgbClr val="FF0000"/>
                </a:solidFill>
              </a:rPr>
              <a:t>TCP service:</a:t>
            </a:r>
            <a:r>
              <a:rPr lang="en-US" sz="2400" dirty="0"/>
              <a:t> reliable transfer of </a:t>
            </a:r>
            <a:r>
              <a:rPr lang="en-US" sz="2400" b="1" dirty="0">
                <a:solidFill>
                  <a:schemeClr val="accent2"/>
                </a:solidFill>
              </a:rPr>
              <a:t>bytes</a:t>
            </a:r>
            <a:r>
              <a:rPr lang="en-US" sz="2400" dirty="0">
                <a:solidFill>
                  <a:schemeClr val="accent2"/>
                </a:solidFill>
              </a:rPr>
              <a:t> </a:t>
            </a:r>
            <a:r>
              <a:rPr lang="en-US" sz="2400" dirty="0"/>
              <a:t>from one process to another</a:t>
            </a:r>
            <a:endParaRPr lang="en-US" dirty="0"/>
          </a:p>
        </p:txBody>
      </p:sp>
      <p:graphicFrame>
        <p:nvGraphicFramePr>
          <p:cNvPr id="29698" name="Object 4"/>
          <p:cNvGraphicFramePr>
            <a:graphicFrameLocks noChangeAspect="1"/>
          </p:cNvGraphicFramePr>
          <p:nvPr/>
        </p:nvGraphicFramePr>
        <p:xfrm>
          <a:off x="2073275" y="3513138"/>
          <a:ext cx="1123950" cy="892175"/>
        </p:xfrm>
        <a:graphic>
          <a:graphicData uri="http://schemas.openxmlformats.org/presentationml/2006/ole">
            <mc:AlternateContent xmlns:mc="http://schemas.openxmlformats.org/markup-compatibility/2006">
              <mc:Choice xmlns:v="urn:schemas-microsoft-com:vml" Requires="v">
                <p:oleObj spid="_x0000_s29720" name="Clip" r:id="rId1" imgW="18192750" imgH="15087600" progId="">
                  <p:embed/>
                </p:oleObj>
              </mc:Choice>
              <mc:Fallback>
                <p:oleObj name="Clip" r:id="rId1" imgW="18192750" imgH="15087600" progId="">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275" y="3513138"/>
                        <a:ext cx="1123950" cy="892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9704" name="Group 5"/>
          <p:cNvGrpSpPr/>
          <p:nvPr/>
        </p:nvGrpSpPr>
        <p:grpSpPr bwMode="auto">
          <a:xfrm>
            <a:off x="2116138" y="3854450"/>
            <a:ext cx="1136650" cy="1584325"/>
            <a:chOff x="649" y="2260"/>
            <a:chExt cx="716" cy="998"/>
          </a:xfrm>
        </p:grpSpPr>
        <p:sp>
          <p:nvSpPr>
            <p:cNvPr id="29727" name="Rectangle 6"/>
            <p:cNvSpPr>
              <a:spLocks noChangeArrowheads="1"/>
            </p:cNvSpPr>
            <p:nvPr/>
          </p:nvSpPr>
          <p:spPr bwMode="auto">
            <a:xfrm>
              <a:off x="678" y="2280"/>
              <a:ext cx="642" cy="288"/>
            </a:xfrm>
            <a:prstGeom prst="rect">
              <a:avLst/>
            </a:prstGeom>
            <a:solidFill>
              <a:schemeClr val="bg1"/>
            </a:solidFill>
            <a:ln w="28575">
              <a:solidFill>
                <a:schemeClr val="tx1"/>
              </a:solidFill>
              <a:miter lim="800000"/>
            </a:ln>
          </p:spPr>
          <p:txBody>
            <a:bodyPr wrap="none" anchor="ctr"/>
            <a:lstStyle/>
            <a:p>
              <a:pPr algn="ctr">
                <a:spcBef>
                  <a:spcPct val="0"/>
                </a:spcBef>
                <a:buClrTx/>
                <a:buSzTx/>
                <a:buFontTx/>
                <a:buNone/>
              </a:pPr>
              <a:endParaRPr lang="en-US">
                <a:solidFill>
                  <a:schemeClr val="bg1"/>
                </a:solidFill>
                <a:latin typeface="Times New Roman" panose="02020603050405020304" pitchFamily="18" charset="0"/>
              </a:endParaRPr>
            </a:p>
          </p:txBody>
        </p:sp>
        <p:sp>
          <p:nvSpPr>
            <p:cNvPr id="29728" name="Text Box 7"/>
            <p:cNvSpPr txBox="1">
              <a:spLocks noChangeArrowheads="1"/>
            </p:cNvSpPr>
            <p:nvPr/>
          </p:nvSpPr>
          <p:spPr bwMode="auto">
            <a:xfrm>
              <a:off x="694" y="2260"/>
              <a:ext cx="631" cy="231"/>
            </a:xfrm>
            <a:prstGeom prst="rect">
              <a:avLst/>
            </a:prstGeom>
            <a:noFill/>
            <a:ln w="9525">
              <a:noFill/>
              <a:miter lim="800000"/>
            </a:ln>
          </p:spPr>
          <p:txBody>
            <a:bodyPr wrap="none" anchor="ctr">
              <a:spAutoFit/>
            </a:bodyPr>
            <a:lstStyle/>
            <a:p>
              <a:pPr algn="ctr">
                <a:spcBef>
                  <a:spcPct val="0"/>
                </a:spcBef>
                <a:buClrTx/>
                <a:buSzTx/>
                <a:buFontTx/>
                <a:buNone/>
              </a:pPr>
              <a:r>
                <a:rPr lang="en-US" sz="1800"/>
                <a:t>process</a:t>
              </a:r>
              <a:endParaRPr lang="en-US" sz="1800">
                <a:latin typeface="Times New Roman" panose="02020603050405020304" pitchFamily="18" charset="0"/>
              </a:endParaRPr>
            </a:p>
          </p:txBody>
        </p:sp>
        <p:grpSp>
          <p:nvGrpSpPr>
            <p:cNvPr id="29729" name="Group 8"/>
            <p:cNvGrpSpPr/>
            <p:nvPr/>
          </p:nvGrpSpPr>
          <p:grpSpPr bwMode="auto">
            <a:xfrm>
              <a:off x="649" y="2628"/>
              <a:ext cx="716" cy="630"/>
              <a:chOff x="637" y="2610"/>
              <a:chExt cx="716" cy="630"/>
            </a:xfrm>
          </p:grpSpPr>
          <p:sp>
            <p:nvSpPr>
              <p:cNvPr id="29733" name="Text Box 9"/>
              <p:cNvSpPr txBox="1">
                <a:spLocks noChangeArrowheads="1"/>
              </p:cNvSpPr>
              <p:nvPr/>
            </p:nvSpPr>
            <p:spPr bwMode="auto">
              <a:xfrm>
                <a:off x="637" y="2658"/>
                <a:ext cx="716" cy="577"/>
              </a:xfrm>
              <a:prstGeom prst="rect">
                <a:avLst/>
              </a:prstGeom>
              <a:noFill/>
              <a:ln w="9525">
                <a:noFill/>
                <a:miter lim="800000"/>
              </a:ln>
            </p:spPr>
            <p:txBody>
              <a:bodyPr wrap="none" anchor="ctr">
                <a:spAutoFit/>
              </a:bodyPr>
              <a:lstStyle/>
              <a:p>
                <a:pPr algn="ctr">
                  <a:spcBef>
                    <a:spcPct val="0"/>
                  </a:spcBef>
                  <a:buClrTx/>
                  <a:buSzTx/>
                  <a:buFontTx/>
                  <a:buNone/>
                </a:pPr>
                <a:r>
                  <a:rPr lang="en-US" sz="1800"/>
                  <a:t>TCP with</a:t>
                </a:r>
                <a:endParaRPr lang="en-US" sz="1800"/>
              </a:p>
              <a:p>
                <a:pPr algn="ctr">
                  <a:spcBef>
                    <a:spcPct val="0"/>
                  </a:spcBef>
                  <a:buClrTx/>
                  <a:buSzTx/>
                  <a:buFontTx/>
                  <a:buNone/>
                </a:pPr>
                <a:r>
                  <a:rPr lang="en-US" sz="1800"/>
                  <a:t>buffers,</a:t>
                </a:r>
                <a:endParaRPr lang="en-US" sz="1800"/>
              </a:p>
              <a:p>
                <a:pPr algn="ctr">
                  <a:spcBef>
                    <a:spcPct val="0"/>
                  </a:spcBef>
                  <a:buClrTx/>
                  <a:buSzTx/>
                  <a:buFontTx/>
                  <a:buNone/>
                </a:pPr>
                <a:r>
                  <a:rPr lang="en-US" sz="1800"/>
                  <a:t>variables</a:t>
                </a:r>
                <a:endParaRPr lang="en-US" sz="1800">
                  <a:latin typeface="Times New Roman" panose="02020603050405020304" pitchFamily="18" charset="0"/>
                </a:endParaRPr>
              </a:p>
            </p:txBody>
          </p:sp>
          <p:sp>
            <p:nvSpPr>
              <p:cNvPr id="29734" name="Rectangle 10"/>
              <p:cNvSpPr>
                <a:spLocks noChangeArrowheads="1"/>
              </p:cNvSpPr>
              <p:nvPr/>
            </p:nvSpPr>
            <p:spPr bwMode="auto">
              <a:xfrm>
                <a:off x="672" y="2610"/>
                <a:ext cx="642" cy="630"/>
              </a:xfrm>
              <a:prstGeom prst="rect">
                <a:avLst/>
              </a:prstGeom>
              <a:noFill/>
              <a:ln w="28575">
                <a:solidFill>
                  <a:schemeClr val="tx1"/>
                </a:solidFill>
                <a:miter lim="800000"/>
              </a:ln>
            </p:spPr>
            <p:txBody>
              <a:bodyPr wrap="none" anchor="ctr"/>
              <a:lstStyle/>
              <a:p>
                <a:endParaRPr lang="en-US"/>
              </a:p>
            </p:txBody>
          </p:sp>
        </p:grpSp>
        <p:grpSp>
          <p:nvGrpSpPr>
            <p:cNvPr id="29730" name="Group 11"/>
            <p:cNvGrpSpPr/>
            <p:nvPr/>
          </p:nvGrpSpPr>
          <p:grpSpPr bwMode="auto">
            <a:xfrm>
              <a:off x="741" y="2500"/>
              <a:ext cx="561" cy="231"/>
              <a:chOff x="897" y="3736"/>
              <a:chExt cx="561" cy="231"/>
            </a:xfrm>
          </p:grpSpPr>
          <p:sp>
            <p:nvSpPr>
              <p:cNvPr id="29731" name="Rectangle 12"/>
              <p:cNvSpPr>
                <a:spLocks noChangeArrowheads="1"/>
              </p:cNvSpPr>
              <p:nvPr/>
            </p:nvSpPr>
            <p:spPr bwMode="auto">
              <a:xfrm>
                <a:off x="924" y="3774"/>
                <a:ext cx="492" cy="156"/>
              </a:xfrm>
              <a:prstGeom prst="rect">
                <a:avLst/>
              </a:prstGeom>
              <a:solidFill>
                <a:srgbClr val="FF0000"/>
              </a:solidFill>
              <a:ln w="9525">
                <a:noFill/>
                <a:miter lim="800000"/>
              </a:ln>
            </p:spPr>
            <p:txBody>
              <a:bodyPr wrap="none" anchor="ctr"/>
              <a:lstStyle/>
              <a:p>
                <a:endParaRPr lang="en-US"/>
              </a:p>
            </p:txBody>
          </p:sp>
          <p:sp>
            <p:nvSpPr>
              <p:cNvPr id="29732" name="Text Box 13"/>
              <p:cNvSpPr txBox="1">
                <a:spLocks noChangeArrowheads="1"/>
              </p:cNvSpPr>
              <p:nvPr/>
            </p:nvSpPr>
            <p:spPr bwMode="auto">
              <a:xfrm>
                <a:off x="897" y="3736"/>
                <a:ext cx="561" cy="231"/>
              </a:xfrm>
              <a:prstGeom prst="rect">
                <a:avLst/>
              </a:prstGeom>
              <a:noFill/>
              <a:ln w="9525">
                <a:noFill/>
                <a:miter lim="800000"/>
              </a:ln>
            </p:spPr>
            <p:txBody>
              <a:bodyPr wrap="none" anchor="ctr">
                <a:spAutoFit/>
              </a:bodyPr>
              <a:lstStyle/>
              <a:p>
                <a:pPr algn="ctr">
                  <a:spcBef>
                    <a:spcPct val="0"/>
                  </a:spcBef>
                  <a:buClrTx/>
                  <a:buSzTx/>
                  <a:buFontTx/>
                  <a:buNone/>
                </a:pPr>
                <a:r>
                  <a:rPr lang="en-US" sz="1800">
                    <a:solidFill>
                      <a:schemeClr val="bg1"/>
                    </a:solidFill>
                  </a:rPr>
                  <a:t>socket</a:t>
                </a:r>
                <a:endParaRPr lang="en-US">
                  <a:latin typeface="Times New Roman" panose="02020603050405020304" pitchFamily="18" charset="0"/>
                </a:endParaRPr>
              </a:p>
            </p:txBody>
          </p:sp>
        </p:grpSp>
      </p:grpSp>
      <p:sp>
        <p:nvSpPr>
          <p:cNvPr id="29705" name="Text Box 14"/>
          <p:cNvSpPr txBox="1">
            <a:spLocks noChangeArrowheads="1"/>
          </p:cNvSpPr>
          <p:nvPr/>
        </p:nvSpPr>
        <p:spPr bwMode="auto">
          <a:xfrm>
            <a:off x="517525" y="3681413"/>
            <a:ext cx="1430338" cy="825500"/>
          </a:xfrm>
          <a:prstGeom prst="rect">
            <a:avLst/>
          </a:prstGeom>
          <a:noFill/>
          <a:ln w="9525">
            <a:noFill/>
            <a:miter lim="800000"/>
          </a:ln>
        </p:spPr>
        <p:txBody>
          <a:bodyPr wrap="none" anchor="ctr">
            <a:spAutoFit/>
          </a:bodyPr>
          <a:lstStyle/>
          <a:p>
            <a:pPr algn="r">
              <a:spcBef>
                <a:spcPct val="0"/>
              </a:spcBef>
              <a:buClrTx/>
              <a:buSzTx/>
              <a:buFontTx/>
              <a:buNone/>
            </a:pPr>
            <a:r>
              <a:rPr lang="en-US" sz="1600"/>
              <a:t>controlled by</a:t>
            </a:r>
            <a:endParaRPr lang="en-US" sz="1600"/>
          </a:p>
          <a:p>
            <a:pPr algn="r">
              <a:spcBef>
                <a:spcPct val="0"/>
              </a:spcBef>
              <a:buClrTx/>
              <a:buSzTx/>
              <a:buFontTx/>
              <a:buNone/>
            </a:pPr>
            <a:r>
              <a:rPr lang="en-US" sz="1600"/>
              <a:t>application</a:t>
            </a:r>
            <a:endParaRPr lang="en-US" sz="1600"/>
          </a:p>
          <a:p>
            <a:pPr algn="r">
              <a:spcBef>
                <a:spcPct val="0"/>
              </a:spcBef>
              <a:buClrTx/>
              <a:buSzTx/>
              <a:buFontTx/>
              <a:buNone/>
            </a:pPr>
            <a:r>
              <a:rPr lang="en-US" sz="1600"/>
              <a:t>developer</a:t>
            </a:r>
            <a:endParaRPr lang="en-US">
              <a:latin typeface="Times New Roman" panose="02020603050405020304" pitchFamily="18" charset="0"/>
            </a:endParaRPr>
          </a:p>
        </p:txBody>
      </p:sp>
      <p:sp>
        <p:nvSpPr>
          <p:cNvPr id="29706" name="Text Box 15"/>
          <p:cNvSpPr txBox="1">
            <a:spLocks noChangeArrowheads="1"/>
          </p:cNvSpPr>
          <p:nvPr/>
        </p:nvSpPr>
        <p:spPr bwMode="auto">
          <a:xfrm>
            <a:off x="488950" y="4548188"/>
            <a:ext cx="1430338" cy="825500"/>
          </a:xfrm>
          <a:prstGeom prst="rect">
            <a:avLst/>
          </a:prstGeom>
          <a:noFill/>
          <a:ln w="9525">
            <a:noFill/>
            <a:miter lim="800000"/>
          </a:ln>
        </p:spPr>
        <p:txBody>
          <a:bodyPr wrap="none" anchor="ctr">
            <a:spAutoFit/>
          </a:bodyPr>
          <a:lstStyle/>
          <a:p>
            <a:pPr algn="r">
              <a:spcBef>
                <a:spcPct val="0"/>
              </a:spcBef>
              <a:buClrTx/>
              <a:buSzTx/>
              <a:buFontTx/>
              <a:buNone/>
            </a:pPr>
            <a:r>
              <a:rPr lang="en-US" sz="1600"/>
              <a:t>controlled by</a:t>
            </a:r>
            <a:endParaRPr lang="en-US" sz="1600"/>
          </a:p>
          <a:p>
            <a:pPr algn="r">
              <a:spcBef>
                <a:spcPct val="0"/>
              </a:spcBef>
              <a:buClrTx/>
              <a:buSzTx/>
              <a:buFontTx/>
              <a:buNone/>
            </a:pPr>
            <a:r>
              <a:rPr lang="en-US" sz="1600"/>
              <a:t>operating</a:t>
            </a:r>
            <a:endParaRPr lang="en-US" sz="1600"/>
          </a:p>
          <a:p>
            <a:pPr algn="r">
              <a:spcBef>
                <a:spcPct val="0"/>
              </a:spcBef>
              <a:buClrTx/>
              <a:buSzTx/>
              <a:buFontTx/>
              <a:buNone/>
            </a:pPr>
            <a:r>
              <a:rPr lang="en-US" sz="1600"/>
              <a:t>system</a:t>
            </a:r>
            <a:endParaRPr lang="en-US">
              <a:latin typeface="Times New Roman" panose="02020603050405020304" pitchFamily="18" charset="0"/>
            </a:endParaRPr>
          </a:p>
        </p:txBody>
      </p:sp>
      <p:sp>
        <p:nvSpPr>
          <p:cNvPr id="29707" name="Line 16"/>
          <p:cNvSpPr>
            <a:spLocks noChangeShapeType="1"/>
          </p:cNvSpPr>
          <p:nvPr/>
        </p:nvSpPr>
        <p:spPr bwMode="auto">
          <a:xfrm flipV="1">
            <a:off x="1943100" y="3895725"/>
            <a:ext cx="0" cy="485775"/>
          </a:xfrm>
          <a:prstGeom prst="line">
            <a:avLst/>
          </a:prstGeom>
          <a:noFill/>
          <a:ln w="28575">
            <a:solidFill>
              <a:schemeClr val="tx1"/>
            </a:solidFill>
            <a:round/>
            <a:headEnd type="triangle" w="med" len="med"/>
            <a:tailEnd type="triangle" w="med" len="med"/>
          </a:ln>
        </p:spPr>
        <p:txBody>
          <a:bodyPr wrap="none" anchor="ctr"/>
          <a:lstStyle/>
          <a:p>
            <a:endParaRPr lang="en-US"/>
          </a:p>
        </p:txBody>
      </p:sp>
      <p:sp>
        <p:nvSpPr>
          <p:cNvPr id="29708" name="Line 17"/>
          <p:cNvSpPr>
            <a:spLocks noChangeShapeType="1"/>
          </p:cNvSpPr>
          <p:nvPr/>
        </p:nvSpPr>
        <p:spPr bwMode="auto">
          <a:xfrm flipH="1" flipV="1">
            <a:off x="1933575" y="4476750"/>
            <a:ext cx="0" cy="1000125"/>
          </a:xfrm>
          <a:prstGeom prst="line">
            <a:avLst/>
          </a:prstGeom>
          <a:noFill/>
          <a:ln w="28575">
            <a:solidFill>
              <a:schemeClr val="tx1"/>
            </a:solidFill>
            <a:round/>
            <a:headEnd type="triangle" w="med" len="med"/>
            <a:tailEnd type="triangle" w="med" len="med"/>
          </a:ln>
        </p:spPr>
        <p:txBody>
          <a:bodyPr wrap="none" anchor="ctr"/>
          <a:lstStyle/>
          <a:p>
            <a:endParaRPr lang="en-US"/>
          </a:p>
        </p:txBody>
      </p:sp>
      <p:sp>
        <p:nvSpPr>
          <p:cNvPr id="29709" name="Text Box 18"/>
          <p:cNvSpPr txBox="1">
            <a:spLocks noChangeArrowheads="1"/>
          </p:cNvSpPr>
          <p:nvPr/>
        </p:nvSpPr>
        <p:spPr bwMode="auto">
          <a:xfrm>
            <a:off x="2157413" y="5600700"/>
            <a:ext cx="1038225" cy="701675"/>
          </a:xfrm>
          <a:prstGeom prst="rect">
            <a:avLst/>
          </a:prstGeom>
          <a:noFill/>
          <a:ln w="9525">
            <a:noFill/>
            <a:miter lim="800000"/>
          </a:ln>
        </p:spPr>
        <p:txBody>
          <a:bodyPr wrap="none" anchor="ctr">
            <a:spAutoFit/>
          </a:bodyPr>
          <a:lstStyle/>
          <a:p>
            <a:pPr algn="ctr">
              <a:spcBef>
                <a:spcPct val="0"/>
              </a:spcBef>
              <a:buClrTx/>
              <a:buSzTx/>
              <a:buFontTx/>
              <a:buNone/>
            </a:pPr>
            <a:r>
              <a:rPr lang="en-US" sz="2000"/>
              <a:t>host or</a:t>
            </a:r>
            <a:endParaRPr lang="en-US" sz="2000"/>
          </a:p>
          <a:p>
            <a:pPr algn="ctr">
              <a:spcBef>
                <a:spcPct val="0"/>
              </a:spcBef>
              <a:buClrTx/>
              <a:buSzTx/>
              <a:buFontTx/>
              <a:buNone/>
            </a:pPr>
            <a:r>
              <a:rPr lang="en-US" sz="2000"/>
              <a:t>server</a:t>
            </a:r>
            <a:endParaRPr lang="en-US">
              <a:latin typeface="Times New Roman" panose="02020603050405020304" pitchFamily="18" charset="0"/>
            </a:endParaRPr>
          </a:p>
        </p:txBody>
      </p:sp>
      <p:graphicFrame>
        <p:nvGraphicFramePr>
          <p:cNvPr id="29699" name="Object 19"/>
          <p:cNvGraphicFramePr>
            <a:graphicFrameLocks noChangeAspect="1"/>
          </p:cNvGraphicFramePr>
          <p:nvPr/>
        </p:nvGraphicFramePr>
        <p:xfrm>
          <a:off x="5730875" y="3408363"/>
          <a:ext cx="1123950" cy="892175"/>
        </p:xfrm>
        <a:graphic>
          <a:graphicData uri="http://schemas.openxmlformats.org/presentationml/2006/ole">
            <mc:AlternateContent xmlns:mc="http://schemas.openxmlformats.org/markup-compatibility/2006">
              <mc:Choice xmlns:v="urn:schemas-microsoft-com:vml" Requires="v">
                <p:oleObj spid="_x0000_s29721" name="Clip" r:id="rId3" imgW="18192750" imgH="15087600" progId="">
                  <p:embed/>
                </p:oleObj>
              </mc:Choice>
              <mc:Fallback>
                <p:oleObj name="Clip" r:id="rId3" imgW="18192750" imgH="15087600" progId="">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0875" y="3408363"/>
                        <a:ext cx="1123950" cy="892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9710" name="Group 20"/>
          <p:cNvGrpSpPr/>
          <p:nvPr/>
        </p:nvGrpSpPr>
        <p:grpSpPr bwMode="auto">
          <a:xfrm>
            <a:off x="5773738" y="3749675"/>
            <a:ext cx="1136650" cy="1584325"/>
            <a:chOff x="649" y="2260"/>
            <a:chExt cx="716" cy="998"/>
          </a:xfrm>
        </p:grpSpPr>
        <p:sp>
          <p:nvSpPr>
            <p:cNvPr id="29719" name="Rectangle 21"/>
            <p:cNvSpPr>
              <a:spLocks noChangeArrowheads="1"/>
            </p:cNvSpPr>
            <p:nvPr/>
          </p:nvSpPr>
          <p:spPr bwMode="auto">
            <a:xfrm>
              <a:off x="678" y="2280"/>
              <a:ext cx="642" cy="288"/>
            </a:xfrm>
            <a:prstGeom prst="rect">
              <a:avLst/>
            </a:prstGeom>
            <a:solidFill>
              <a:schemeClr val="bg1"/>
            </a:solidFill>
            <a:ln w="28575">
              <a:solidFill>
                <a:schemeClr val="tx1"/>
              </a:solidFill>
              <a:miter lim="800000"/>
            </a:ln>
          </p:spPr>
          <p:txBody>
            <a:bodyPr wrap="none" anchor="ctr"/>
            <a:lstStyle/>
            <a:p>
              <a:pPr algn="ctr">
                <a:spcBef>
                  <a:spcPct val="0"/>
                </a:spcBef>
                <a:buClrTx/>
                <a:buSzTx/>
                <a:buFontTx/>
                <a:buNone/>
              </a:pPr>
              <a:endParaRPr lang="en-US">
                <a:solidFill>
                  <a:schemeClr val="bg1"/>
                </a:solidFill>
                <a:latin typeface="Times New Roman" panose="02020603050405020304" pitchFamily="18" charset="0"/>
              </a:endParaRPr>
            </a:p>
          </p:txBody>
        </p:sp>
        <p:sp>
          <p:nvSpPr>
            <p:cNvPr id="2" name="Text Box 22"/>
            <p:cNvSpPr txBox="1">
              <a:spLocks noChangeArrowheads="1"/>
            </p:cNvSpPr>
            <p:nvPr/>
          </p:nvSpPr>
          <p:spPr bwMode="auto">
            <a:xfrm>
              <a:off x="694" y="2260"/>
              <a:ext cx="631" cy="231"/>
            </a:xfrm>
            <a:prstGeom prst="rect">
              <a:avLst/>
            </a:prstGeom>
            <a:noFill/>
            <a:ln w="9525">
              <a:noFill/>
              <a:miter lim="800000"/>
            </a:ln>
          </p:spPr>
          <p:txBody>
            <a:bodyPr wrap="none" anchor="ctr">
              <a:spAutoFit/>
            </a:bodyPr>
            <a:lstStyle/>
            <a:p>
              <a:pPr algn="ctr">
                <a:spcBef>
                  <a:spcPct val="0"/>
                </a:spcBef>
                <a:buClrTx/>
                <a:buSzTx/>
                <a:buFontTx/>
                <a:buNone/>
              </a:pPr>
              <a:r>
                <a:rPr lang="en-US" sz="1800"/>
                <a:t>process</a:t>
              </a:r>
              <a:endParaRPr lang="en-US" sz="1800">
                <a:latin typeface="Times New Roman" panose="02020603050405020304" pitchFamily="18" charset="0"/>
              </a:endParaRPr>
            </a:p>
          </p:txBody>
        </p:sp>
        <p:grpSp>
          <p:nvGrpSpPr>
            <p:cNvPr id="3" name="Group 23"/>
            <p:cNvGrpSpPr/>
            <p:nvPr/>
          </p:nvGrpSpPr>
          <p:grpSpPr bwMode="auto">
            <a:xfrm>
              <a:off x="649" y="2628"/>
              <a:ext cx="716" cy="630"/>
              <a:chOff x="637" y="2610"/>
              <a:chExt cx="716" cy="630"/>
            </a:xfrm>
          </p:grpSpPr>
          <p:sp>
            <p:nvSpPr>
              <p:cNvPr id="29725" name="Text Box 24"/>
              <p:cNvSpPr txBox="1">
                <a:spLocks noChangeArrowheads="1"/>
              </p:cNvSpPr>
              <p:nvPr/>
            </p:nvSpPr>
            <p:spPr bwMode="auto">
              <a:xfrm>
                <a:off x="637" y="2658"/>
                <a:ext cx="716" cy="577"/>
              </a:xfrm>
              <a:prstGeom prst="rect">
                <a:avLst/>
              </a:prstGeom>
              <a:noFill/>
              <a:ln w="9525">
                <a:noFill/>
                <a:miter lim="800000"/>
              </a:ln>
            </p:spPr>
            <p:txBody>
              <a:bodyPr wrap="none" anchor="ctr">
                <a:spAutoFit/>
              </a:bodyPr>
              <a:lstStyle/>
              <a:p>
                <a:pPr algn="ctr">
                  <a:spcBef>
                    <a:spcPct val="0"/>
                  </a:spcBef>
                  <a:buClrTx/>
                  <a:buSzTx/>
                  <a:buFontTx/>
                  <a:buNone/>
                </a:pPr>
                <a:r>
                  <a:rPr lang="en-US" sz="1800"/>
                  <a:t>TCP with</a:t>
                </a:r>
                <a:endParaRPr lang="en-US" sz="1800"/>
              </a:p>
              <a:p>
                <a:pPr algn="ctr">
                  <a:spcBef>
                    <a:spcPct val="0"/>
                  </a:spcBef>
                  <a:buClrTx/>
                  <a:buSzTx/>
                  <a:buFontTx/>
                  <a:buNone/>
                </a:pPr>
                <a:r>
                  <a:rPr lang="en-US" sz="1800"/>
                  <a:t>buffers,</a:t>
                </a:r>
                <a:endParaRPr lang="en-US" sz="1800"/>
              </a:p>
              <a:p>
                <a:pPr algn="ctr">
                  <a:spcBef>
                    <a:spcPct val="0"/>
                  </a:spcBef>
                  <a:buClrTx/>
                  <a:buSzTx/>
                  <a:buFontTx/>
                  <a:buNone/>
                </a:pPr>
                <a:r>
                  <a:rPr lang="en-US" sz="1800"/>
                  <a:t>variables</a:t>
                </a:r>
                <a:endParaRPr lang="en-US" sz="1800">
                  <a:latin typeface="Times New Roman" panose="02020603050405020304" pitchFamily="18" charset="0"/>
                </a:endParaRPr>
              </a:p>
            </p:txBody>
          </p:sp>
          <p:sp>
            <p:nvSpPr>
              <p:cNvPr id="29726" name="Rectangle 25"/>
              <p:cNvSpPr>
                <a:spLocks noChangeArrowheads="1"/>
              </p:cNvSpPr>
              <p:nvPr/>
            </p:nvSpPr>
            <p:spPr bwMode="auto">
              <a:xfrm>
                <a:off x="672" y="2610"/>
                <a:ext cx="642" cy="630"/>
              </a:xfrm>
              <a:prstGeom prst="rect">
                <a:avLst/>
              </a:prstGeom>
              <a:noFill/>
              <a:ln w="28575">
                <a:solidFill>
                  <a:schemeClr val="tx1"/>
                </a:solidFill>
                <a:miter lim="800000"/>
              </a:ln>
            </p:spPr>
            <p:txBody>
              <a:bodyPr wrap="none" anchor="ctr"/>
              <a:lstStyle/>
              <a:p>
                <a:endParaRPr lang="en-US"/>
              </a:p>
            </p:txBody>
          </p:sp>
        </p:grpSp>
        <p:grpSp>
          <p:nvGrpSpPr>
            <p:cNvPr id="29722" name="Group 26"/>
            <p:cNvGrpSpPr/>
            <p:nvPr/>
          </p:nvGrpSpPr>
          <p:grpSpPr bwMode="auto">
            <a:xfrm>
              <a:off x="741" y="2500"/>
              <a:ext cx="561" cy="231"/>
              <a:chOff x="897" y="3736"/>
              <a:chExt cx="561" cy="231"/>
            </a:xfrm>
          </p:grpSpPr>
          <p:sp>
            <p:nvSpPr>
              <p:cNvPr id="29723" name="Rectangle 27"/>
              <p:cNvSpPr>
                <a:spLocks noChangeArrowheads="1"/>
              </p:cNvSpPr>
              <p:nvPr/>
            </p:nvSpPr>
            <p:spPr bwMode="auto">
              <a:xfrm>
                <a:off x="924" y="3774"/>
                <a:ext cx="492" cy="156"/>
              </a:xfrm>
              <a:prstGeom prst="rect">
                <a:avLst/>
              </a:prstGeom>
              <a:solidFill>
                <a:srgbClr val="FF0000"/>
              </a:solidFill>
              <a:ln w="9525">
                <a:noFill/>
                <a:miter lim="800000"/>
              </a:ln>
            </p:spPr>
            <p:txBody>
              <a:bodyPr wrap="none" anchor="ctr"/>
              <a:lstStyle/>
              <a:p>
                <a:endParaRPr lang="en-US"/>
              </a:p>
            </p:txBody>
          </p:sp>
          <p:sp>
            <p:nvSpPr>
              <p:cNvPr id="29724" name="Text Box 28"/>
              <p:cNvSpPr txBox="1">
                <a:spLocks noChangeArrowheads="1"/>
              </p:cNvSpPr>
              <p:nvPr/>
            </p:nvSpPr>
            <p:spPr bwMode="auto">
              <a:xfrm>
                <a:off x="897" y="3736"/>
                <a:ext cx="561" cy="231"/>
              </a:xfrm>
              <a:prstGeom prst="rect">
                <a:avLst/>
              </a:prstGeom>
              <a:noFill/>
              <a:ln w="9525">
                <a:noFill/>
                <a:miter lim="800000"/>
              </a:ln>
            </p:spPr>
            <p:txBody>
              <a:bodyPr wrap="none" anchor="ctr">
                <a:spAutoFit/>
              </a:bodyPr>
              <a:lstStyle/>
              <a:p>
                <a:pPr algn="ctr">
                  <a:spcBef>
                    <a:spcPct val="0"/>
                  </a:spcBef>
                  <a:buClrTx/>
                  <a:buSzTx/>
                  <a:buFontTx/>
                  <a:buNone/>
                </a:pPr>
                <a:r>
                  <a:rPr lang="en-US" sz="1800">
                    <a:solidFill>
                      <a:schemeClr val="bg1"/>
                    </a:solidFill>
                  </a:rPr>
                  <a:t>socket</a:t>
                </a:r>
                <a:endParaRPr lang="en-US">
                  <a:latin typeface="Times New Roman" panose="02020603050405020304" pitchFamily="18" charset="0"/>
                </a:endParaRPr>
              </a:p>
            </p:txBody>
          </p:sp>
        </p:grpSp>
      </p:grpSp>
      <p:sp>
        <p:nvSpPr>
          <p:cNvPr id="29711" name="Text Box 29"/>
          <p:cNvSpPr txBox="1">
            <a:spLocks noChangeArrowheads="1"/>
          </p:cNvSpPr>
          <p:nvPr/>
        </p:nvSpPr>
        <p:spPr bwMode="auto">
          <a:xfrm>
            <a:off x="7118350" y="3519488"/>
            <a:ext cx="1430338" cy="825500"/>
          </a:xfrm>
          <a:prstGeom prst="rect">
            <a:avLst/>
          </a:prstGeom>
          <a:noFill/>
          <a:ln w="9525">
            <a:noFill/>
            <a:miter lim="800000"/>
          </a:ln>
        </p:spPr>
        <p:txBody>
          <a:bodyPr wrap="none" anchor="ctr">
            <a:spAutoFit/>
          </a:bodyPr>
          <a:lstStyle/>
          <a:p>
            <a:pPr>
              <a:spcBef>
                <a:spcPct val="0"/>
              </a:spcBef>
              <a:buClrTx/>
              <a:buSzTx/>
              <a:buFontTx/>
              <a:buNone/>
            </a:pPr>
            <a:r>
              <a:rPr lang="en-US" sz="1600"/>
              <a:t>controlled by</a:t>
            </a:r>
            <a:endParaRPr lang="en-US" sz="1600"/>
          </a:p>
          <a:p>
            <a:pPr>
              <a:spcBef>
                <a:spcPct val="0"/>
              </a:spcBef>
              <a:buClrTx/>
              <a:buSzTx/>
              <a:buFontTx/>
              <a:buNone/>
            </a:pPr>
            <a:r>
              <a:rPr lang="en-US" sz="1600"/>
              <a:t>application</a:t>
            </a:r>
            <a:endParaRPr lang="en-US" sz="1600"/>
          </a:p>
          <a:p>
            <a:pPr>
              <a:spcBef>
                <a:spcPct val="0"/>
              </a:spcBef>
              <a:buClrTx/>
              <a:buSzTx/>
              <a:buFontTx/>
              <a:buNone/>
            </a:pPr>
            <a:r>
              <a:rPr lang="en-US" sz="1600"/>
              <a:t>developer</a:t>
            </a:r>
            <a:endParaRPr lang="en-US">
              <a:latin typeface="Times New Roman" panose="02020603050405020304" pitchFamily="18" charset="0"/>
            </a:endParaRPr>
          </a:p>
        </p:txBody>
      </p:sp>
      <p:sp>
        <p:nvSpPr>
          <p:cNvPr id="29712" name="Text Box 30"/>
          <p:cNvSpPr txBox="1">
            <a:spLocks noChangeArrowheads="1"/>
          </p:cNvSpPr>
          <p:nvPr/>
        </p:nvSpPr>
        <p:spPr bwMode="auto">
          <a:xfrm>
            <a:off x="7123113" y="4433888"/>
            <a:ext cx="1430337" cy="825500"/>
          </a:xfrm>
          <a:prstGeom prst="rect">
            <a:avLst/>
          </a:prstGeom>
          <a:noFill/>
          <a:ln w="9525">
            <a:noFill/>
            <a:miter lim="800000"/>
          </a:ln>
        </p:spPr>
        <p:txBody>
          <a:bodyPr wrap="none" anchor="ctr">
            <a:spAutoFit/>
          </a:bodyPr>
          <a:lstStyle/>
          <a:p>
            <a:pPr>
              <a:spcBef>
                <a:spcPct val="0"/>
              </a:spcBef>
              <a:buClrTx/>
              <a:buSzTx/>
              <a:buFontTx/>
              <a:buNone/>
            </a:pPr>
            <a:r>
              <a:rPr lang="en-US" sz="1600"/>
              <a:t>controlled by</a:t>
            </a:r>
            <a:endParaRPr lang="en-US" sz="1600"/>
          </a:p>
          <a:p>
            <a:pPr>
              <a:spcBef>
                <a:spcPct val="0"/>
              </a:spcBef>
              <a:buClrTx/>
              <a:buSzTx/>
              <a:buFontTx/>
              <a:buNone/>
            </a:pPr>
            <a:r>
              <a:rPr lang="en-US" sz="1600"/>
              <a:t>operating</a:t>
            </a:r>
            <a:endParaRPr lang="en-US" sz="1600"/>
          </a:p>
          <a:p>
            <a:pPr>
              <a:spcBef>
                <a:spcPct val="0"/>
              </a:spcBef>
              <a:buClrTx/>
              <a:buSzTx/>
              <a:buFontTx/>
              <a:buNone/>
            </a:pPr>
            <a:r>
              <a:rPr lang="en-US" sz="1600"/>
              <a:t>system</a:t>
            </a:r>
            <a:endParaRPr lang="en-US">
              <a:latin typeface="Times New Roman" panose="02020603050405020304" pitchFamily="18" charset="0"/>
            </a:endParaRPr>
          </a:p>
        </p:txBody>
      </p:sp>
      <p:sp>
        <p:nvSpPr>
          <p:cNvPr id="29713" name="Line 31"/>
          <p:cNvSpPr>
            <a:spLocks noChangeShapeType="1"/>
          </p:cNvSpPr>
          <p:nvPr/>
        </p:nvSpPr>
        <p:spPr bwMode="auto">
          <a:xfrm flipV="1">
            <a:off x="7029450" y="3762375"/>
            <a:ext cx="0" cy="485775"/>
          </a:xfrm>
          <a:prstGeom prst="line">
            <a:avLst/>
          </a:prstGeom>
          <a:noFill/>
          <a:ln w="28575">
            <a:solidFill>
              <a:schemeClr val="tx1"/>
            </a:solidFill>
            <a:round/>
            <a:headEnd type="triangle" w="med" len="med"/>
            <a:tailEnd type="triangle" w="med" len="med"/>
          </a:ln>
        </p:spPr>
        <p:txBody>
          <a:bodyPr wrap="none" anchor="ctr"/>
          <a:lstStyle/>
          <a:p>
            <a:endParaRPr lang="en-US"/>
          </a:p>
        </p:txBody>
      </p:sp>
      <p:sp>
        <p:nvSpPr>
          <p:cNvPr id="29714" name="Line 32"/>
          <p:cNvSpPr>
            <a:spLocks noChangeShapeType="1"/>
          </p:cNvSpPr>
          <p:nvPr/>
        </p:nvSpPr>
        <p:spPr bwMode="auto">
          <a:xfrm flipH="1" flipV="1">
            <a:off x="7019925" y="4343400"/>
            <a:ext cx="0" cy="1000125"/>
          </a:xfrm>
          <a:prstGeom prst="line">
            <a:avLst/>
          </a:prstGeom>
          <a:noFill/>
          <a:ln w="28575">
            <a:solidFill>
              <a:schemeClr val="tx1"/>
            </a:solidFill>
            <a:round/>
            <a:headEnd type="triangle" w="med" len="med"/>
            <a:tailEnd type="triangle" w="med" len="med"/>
          </a:ln>
        </p:spPr>
        <p:txBody>
          <a:bodyPr wrap="none" anchor="ctr"/>
          <a:lstStyle/>
          <a:p>
            <a:endParaRPr lang="en-US"/>
          </a:p>
        </p:txBody>
      </p:sp>
      <p:sp>
        <p:nvSpPr>
          <p:cNvPr id="29715" name="Text Box 33"/>
          <p:cNvSpPr txBox="1">
            <a:spLocks noChangeArrowheads="1"/>
          </p:cNvSpPr>
          <p:nvPr/>
        </p:nvSpPr>
        <p:spPr bwMode="auto">
          <a:xfrm>
            <a:off x="5815013" y="5495925"/>
            <a:ext cx="1038225" cy="701675"/>
          </a:xfrm>
          <a:prstGeom prst="rect">
            <a:avLst/>
          </a:prstGeom>
          <a:noFill/>
          <a:ln w="9525">
            <a:noFill/>
            <a:miter lim="800000"/>
          </a:ln>
        </p:spPr>
        <p:txBody>
          <a:bodyPr wrap="none" anchor="ctr">
            <a:spAutoFit/>
          </a:bodyPr>
          <a:lstStyle/>
          <a:p>
            <a:pPr algn="ctr">
              <a:spcBef>
                <a:spcPct val="0"/>
              </a:spcBef>
              <a:buClrTx/>
              <a:buSzTx/>
              <a:buFontTx/>
              <a:buNone/>
            </a:pPr>
            <a:r>
              <a:rPr lang="en-US" sz="2000"/>
              <a:t>host or</a:t>
            </a:r>
            <a:endParaRPr lang="en-US" sz="2000"/>
          </a:p>
          <a:p>
            <a:pPr algn="ctr">
              <a:spcBef>
                <a:spcPct val="0"/>
              </a:spcBef>
              <a:buClrTx/>
              <a:buSzTx/>
              <a:buFontTx/>
              <a:buNone/>
            </a:pPr>
            <a:r>
              <a:rPr lang="en-US" sz="2000"/>
              <a:t>server</a:t>
            </a:r>
            <a:endParaRPr lang="en-US">
              <a:latin typeface="Times New Roman" panose="02020603050405020304" pitchFamily="18" charset="0"/>
            </a:endParaRPr>
          </a:p>
        </p:txBody>
      </p:sp>
      <p:sp>
        <p:nvSpPr>
          <p:cNvPr id="29716" name="Freeform 34"/>
          <p:cNvSpPr/>
          <p:nvPr/>
        </p:nvSpPr>
        <p:spPr bwMode="auto">
          <a:xfrm>
            <a:off x="3597275" y="4229100"/>
            <a:ext cx="1798638" cy="1674813"/>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33CCCC"/>
          </a:solidFill>
          <a:ln w="9525">
            <a:noFill/>
            <a:round/>
          </a:ln>
        </p:spPr>
        <p:txBody>
          <a:bodyPr wrap="none" anchor="ctr"/>
          <a:lstStyle/>
          <a:p>
            <a:endParaRPr lang="en-US"/>
          </a:p>
        </p:txBody>
      </p:sp>
      <p:sp>
        <p:nvSpPr>
          <p:cNvPr id="29717" name="Text Box 35"/>
          <p:cNvSpPr txBox="1">
            <a:spLocks noChangeArrowheads="1"/>
          </p:cNvSpPr>
          <p:nvPr/>
        </p:nvSpPr>
        <p:spPr bwMode="auto">
          <a:xfrm>
            <a:off x="3935413" y="4838700"/>
            <a:ext cx="1162050" cy="396875"/>
          </a:xfrm>
          <a:prstGeom prst="rect">
            <a:avLst/>
          </a:prstGeom>
          <a:noFill/>
          <a:ln w="9525">
            <a:noFill/>
            <a:miter lim="800000"/>
          </a:ln>
        </p:spPr>
        <p:txBody>
          <a:bodyPr wrap="none" anchor="ctr">
            <a:spAutoFit/>
          </a:bodyPr>
          <a:lstStyle/>
          <a:p>
            <a:pPr algn="ctr">
              <a:spcBef>
                <a:spcPct val="0"/>
              </a:spcBef>
              <a:buClrTx/>
              <a:buSzTx/>
              <a:buFontTx/>
              <a:buNone/>
            </a:pPr>
            <a:r>
              <a:rPr lang="en-US" sz="2000"/>
              <a:t>internet</a:t>
            </a:r>
            <a:endParaRPr lang="en-US">
              <a:latin typeface="Times New Roman" panose="02020603050405020304" pitchFamily="18" charset="0"/>
            </a:endParaRPr>
          </a:p>
        </p:txBody>
      </p:sp>
      <p:sp>
        <p:nvSpPr>
          <p:cNvPr id="29718" name="Line 36"/>
          <p:cNvSpPr>
            <a:spLocks noChangeShapeType="1"/>
          </p:cNvSpPr>
          <p:nvPr/>
        </p:nvSpPr>
        <p:spPr bwMode="auto">
          <a:xfrm flipH="1">
            <a:off x="3228975" y="4733925"/>
            <a:ext cx="2533650" cy="9525"/>
          </a:xfrm>
          <a:prstGeom prst="line">
            <a:avLst/>
          </a:prstGeom>
          <a:noFill/>
          <a:ln w="38100">
            <a:solidFill>
              <a:srgbClr val="FF0000"/>
            </a:solidFill>
            <a:round/>
            <a:headEnd type="triangle" w="med" len="med"/>
            <a:tailEnd type="triangle" w="med" len="med"/>
          </a:ln>
        </p:spPr>
        <p:txBody>
          <a:bodyPr wrap="none" anchor="ctr"/>
          <a:lstStyle/>
          <a:p>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2403" name="Slide Number Placeholder 6"/>
          <p:cNvSpPr>
            <a:spLocks noGrp="1"/>
          </p:cNvSpPr>
          <p:nvPr>
            <p:ph type="sldNum" sz="quarter" idx="12"/>
          </p:nvPr>
        </p:nvSpPr>
        <p:spPr>
          <a:noFill/>
        </p:spPr>
        <p:txBody>
          <a:bodyPr/>
          <a:lstStyle/>
          <a:p>
            <a:fld id="{A00D454F-ACE5-4584-96F1-D6AED9ACAC9B}" type="slidenum">
              <a:rPr lang="en-US"/>
            </a:fld>
            <a:endParaRPr lang="en-US"/>
          </a:p>
        </p:txBody>
      </p:sp>
      <p:sp>
        <p:nvSpPr>
          <p:cNvPr id="102404" name="Rectangle 2"/>
          <p:cNvSpPr>
            <a:spLocks noGrp="1" noChangeArrowheads="1"/>
          </p:cNvSpPr>
          <p:nvPr>
            <p:ph type="title"/>
          </p:nvPr>
        </p:nvSpPr>
        <p:spPr/>
        <p:txBody>
          <a:bodyPr/>
          <a:lstStyle/>
          <a:p>
            <a:r>
              <a:rPr lang="en-US" sz="3600"/>
              <a:t>Socket programming </a:t>
            </a:r>
            <a:r>
              <a:rPr lang="en-US" sz="3600" i="1">
                <a:solidFill>
                  <a:srgbClr val="FF0000"/>
                </a:solidFill>
              </a:rPr>
              <a:t>with TCP</a:t>
            </a:r>
            <a:endParaRPr lang="en-US"/>
          </a:p>
        </p:txBody>
      </p:sp>
      <p:sp>
        <p:nvSpPr>
          <p:cNvPr id="102405" name="Rectangle 3"/>
          <p:cNvSpPr>
            <a:spLocks noGrp="1" noChangeArrowheads="1"/>
          </p:cNvSpPr>
          <p:nvPr>
            <p:ph type="body" sz="half" idx="1"/>
          </p:nvPr>
        </p:nvSpPr>
        <p:spPr>
          <a:xfrm>
            <a:off x="514350" y="1352550"/>
            <a:ext cx="3810000" cy="4648200"/>
          </a:xfrm>
        </p:spPr>
        <p:txBody>
          <a:bodyPr/>
          <a:lstStyle/>
          <a:p>
            <a:pPr>
              <a:buFont typeface="ZapfDingbats" pitchFamily="82" charset="2"/>
              <a:buNone/>
            </a:pPr>
            <a:r>
              <a:rPr lang="en-US" sz="2000" dirty="0">
                <a:solidFill>
                  <a:srgbClr val="FF0000"/>
                </a:solidFill>
              </a:rPr>
              <a:t>Client must contact server</a:t>
            </a:r>
            <a:endParaRPr lang="en-US" sz="2400" dirty="0"/>
          </a:p>
          <a:p>
            <a:r>
              <a:rPr lang="en-US" sz="2000" dirty="0"/>
              <a:t>server process must first be running</a:t>
            </a:r>
            <a:endParaRPr lang="en-US" sz="2000" dirty="0"/>
          </a:p>
          <a:p>
            <a:r>
              <a:rPr lang="en-US" sz="2000" dirty="0"/>
              <a:t>server must have created socket (door) that welcomes client’s contact</a:t>
            </a:r>
            <a:endParaRPr lang="en-US" sz="2400" dirty="0"/>
          </a:p>
          <a:p>
            <a:pPr>
              <a:spcBef>
                <a:spcPct val="50000"/>
              </a:spcBef>
              <a:buFont typeface="ZapfDingbats" pitchFamily="82" charset="2"/>
              <a:buNone/>
            </a:pPr>
            <a:r>
              <a:rPr lang="en-US" sz="2000" dirty="0">
                <a:solidFill>
                  <a:srgbClr val="FF0000"/>
                </a:solidFill>
              </a:rPr>
              <a:t>Client contacts server by:</a:t>
            </a:r>
            <a:endParaRPr lang="en-US" sz="2400" dirty="0"/>
          </a:p>
          <a:p>
            <a:r>
              <a:rPr lang="en-US" sz="2000" dirty="0"/>
              <a:t>creating client-local TCP socket</a:t>
            </a:r>
            <a:endParaRPr lang="en-US" sz="2000" dirty="0"/>
          </a:p>
          <a:p>
            <a:r>
              <a:rPr lang="en-US" sz="2000" dirty="0"/>
              <a:t>specifying IP address, port number of server process</a:t>
            </a:r>
            <a:endParaRPr lang="en-US" sz="2000" dirty="0"/>
          </a:p>
          <a:p>
            <a:r>
              <a:rPr lang="en-US" sz="2000" dirty="0"/>
              <a:t>When </a:t>
            </a:r>
            <a:r>
              <a:rPr lang="en-US" sz="2000" dirty="0">
                <a:solidFill>
                  <a:srgbClr val="FF0000"/>
                </a:solidFill>
              </a:rPr>
              <a:t>client creates socket</a:t>
            </a:r>
            <a:r>
              <a:rPr lang="en-US" sz="2000" dirty="0"/>
              <a:t>: client TCP establishes connection to server TCP</a:t>
            </a:r>
            <a:endParaRPr lang="en-US" sz="2000" dirty="0"/>
          </a:p>
          <a:p>
            <a:endParaRPr lang="en-US" sz="2000" dirty="0"/>
          </a:p>
        </p:txBody>
      </p:sp>
      <p:sp>
        <p:nvSpPr>
          <p:cNvPr id="102406" name="Rectangle 4"/>
          <p:cNvSpPr>
            <a:spLocks noGrp="1" noChangeArrowheads="1"/>
          </p:cNvSpPr>
          <p:nvPr>
            <p:ph type="body" sz="half" idx="2"/>
          </p:nvPr>
        </p:nvSpPr>
        <p:spPr>
          <a:xfrm>
            <a:off x="4495800" y="1390650"/>
            <a:ext cx="3962400" cy="3000375"/>
          </a:xfrm>
        </p:spPr>
        <p:txBody>
          <a:bodyPr/>
          <a:lstStyle/>
          <a:p>
            <a:r>
              <a:rPr lang="en-US" sz="2000"/>
              <a:t>When contacted by client, </a:t>
            </a:r>
            <a:r>
              <a:rPr lang="en-US" sz="2000">
                <a:solidFill>
                  <a:srgbClr val="FF0000"/>
                </a:solidFill>
              </a:rPr>
              <a:t>server TCP creates new socket</a:t>
            </a:r>
            <a:r>
              <a:rPr lang="en-US" sz="2000"/>
              <a:t> for server process to communicate with client</a:t>
            </a:r>
            <a:endParaRPr lang="en-US" sz="2000"/>
          </a:p>
          <a:p>
            <a:pPr lvl="1"/>
            <a:r>
              <a:rPr lang="en-US" sz="2000"/>
              <a:t>allows server to talk with multiple clients</a:t>
            </a:r>
            <a:endParaRPr lang="en-US" sz="2000"/>
          </a:p>
          <a:p>
            <a:pPr lvl="1"/>
            <a:r>
              <a:rPr lang="en-US" sz="2000"/>
              <a:t>source port numbers used to distinguish clients </a:t>
            </a:r>
            <a:r>
              <a:rPr lang="en-US" sz="2000">
                <a:solidFill>
                  <a:schemeClr val="accent2"/>
                </a:solidFill>
              </a:rPr>
              <a:t>(more in Chap 3)</a:t>
            </a:r>
            <a:endParaRPr lang="en-US" sz="1800" i="1">
              <a:solidFill>
                <a:schemeClr val="accent2"/>
              </a:solidFill>
            </a:endParaRPr>
          </a:p>
        </p:txBody>
      </p:sp>
      <p:grpSp>
        <p:nvGrpSpPr>
          <p:cNvPr id="102407" name="Group 5"/>
          <p:cNvGrpSpPr/>
          <p:nvPr/>
        </p:nvGrpSpPr>
        <p:grpSpPr bwMode="auto">
          <a:xfrm>
            <a:off x="4667250" y="4584700"/>
            <a:ext cx="4133850" cy="1635125"/>
            <a:chOff x="2940" y="2888"/>
            <a:chExt cx="2604" cy="1030"/>
          </a:xfrm>
        </p:grpSpPr>
        <p:sp>
          <p:nvSpPr>
            <p:cNvPr id="102408" name="Text Box 6"/>
            <p:cNvSpPr txBox="1">
              <a:spLocks noChangeArrowheads="1"/>
            </p:cNvSpPr>
            <p:nvPr/>
          </p:nvSpPr>
          <p:spPr bwMode="auto">
            <a:xfrm>
              <a:off x="3020" y="3140"/>
              <a:ext cx="2401" cy="634"/>
            </a:xfrm>
            <a:prstGeom prst="rect">
              <a:avLst/>
            </a:prstGeom>
            <a:noFill/>
            <a:ln w="9525">
              <a:noFill/>
              <a:miter lim="800000"/>
            </a:ln>
          </p:spPr>
          <p:txBody>
            <a:bodyPr wrap="none" anchor="ctr">
              <a:spAutoFit/>
            </a:bodyPr>
            <a:lstStyle/>
            <a:p>
              <a:pPr algn="ctr">
                <a:spcBef>
                  <a:spcPct val="0"/>
                </a:spcBef>
                <a:buClrTx/>
                <a:buSzTx/>
                <a:buFontTx/>
                <a:buNone/>
              </a:pPr>
              <a:r>
                <a:rPr lang="en-US" sz="2000" i="1">
                  <a:solidFill>
                    <a:schemeClr val="accent2"/>
                  </a:solidFill>
                </a:rPr>
                <a:t>TCP provides reliable, in-order</a:t>
              </a:r>
              <a:endParaRPr lang="en-US" sz="2000" i="1">
                <a:solidFill>
                  <a:schemeClr val="accent2"/>
                </a:solidFill>
              </a:endParaRPr>
            </a:p>
            <a:p>
              <a:pPr algn="ctr">
                <a:spcBef>
                  <a:spcPct val="0"/>
                </a:spcBef>
                <a:buClrTx/>
                <a:buSzTx/>
                <a:buFontTx/>
                <a:buNone/>
              </a:pPr>
              <a:r>
                <a:rPr lang="en-US" sz="2000" i="1">
                  <a:solidFill>
                    <a:schemeClr val="accent2"/>
                  </a:solidFill>
                </a:rPr>
                <a:t> transfer of bytes (“pipe”) </a:t>
              </a:r>
              <a:endParaRPr lang="en-US" sz="2000" i="1">
                <a:solidFill>
                  <a:schemeClr val="accent2"/>
                </a:solidFill>
              </a:endParaRPr>
            </a:p>
            <a:p>
              <a:pPr algn="ctr">
                <a:spcBef>
                  <a:spcPct val="0"/>
                </a:spcBef>
                <a:buClrTx/>
                <a:buSzTx/>
                <a:buFontTx/>
                <a:buNone/>
              </a:pPr>
              <a:r>
                <a:rPr lang="en-US" sz="2000" i="1">
                  <a:solidFill>
                    <a:schemeClr val="accent2"/>
                  </a:solidFill>
                </a:rPr>
                <a:t>between client and server</a:t>
              </a:r>
              <a:endParaRPr lang="en-US" sz="2000" i="1">
                <a:solidFill>
                  <a:schemeClr val="accent2"/>
                </a:solidFill>
              </a:endParaRPr>
            </a:p>
          </p:txBody>
        </p:sp>
        <p:sp>
          <p:nvSpPr>
            <p:cNvPr id="102409" name="Rectangle 7"/>
            <p:cNvSpPr>
              <a:spLocks noChangeArrowheads="1"/>
            </p:cNvSpPr>
            <p:nvPr/>
          </p:nvSpPr>
          <p:spPr bwMode="auto">
            <a:xfrm>
              <a:off x="2940" y="3024"/>
              <a:ext cx="2604" cy="894"/>
            </a:xfrm>
            <a:prstGeom prst="rect">
              <a:avLst/>
            </a:prstGeom>
            <a:noFill/>
            <a:ln w="28575">
              <a:solidFill>
                <a:schemeClr val="accent2"/>
              </a:solidFill>
              <a:miter lim="800000"/>
            </a:ln>
          </p:spPr>
          <p:txBody>
            <a:bodyPr wrap="none" anchor="ctr">
              <a:spAutoFit/>
            </a:bodyPr>
            <a:lstStyle/>
            <a:p>
              <a:endParaRPr lang="en-US"/>
            </a:p>
          </p:txBody>
        </p:sp>
        <p:grpSp>
          <p:nvGrpSpPr>
            <p:cNvPr id="102410" name="Group 8"/>
            <p:cNvGrpSpPr/>
            <p:nvPr/>
          </p:nvGrpSpPr>
          <p:grpSpPr bwMode="auto">
            <a:xfrm>
              <a:off x="2976" y="2888"/>
              <a:ext cx="1653" cy="250"/>
              <a:chOff x="66" y="3842"/>
              <a:chExt cx="1653" cy="250"/>
            </a:xfrm>
          </p:grpSpPr>
          <p:sp>
            <p:nvSpPr>
              <p:cNvPr id="102411" name="Rectangle 9"/>
              <p:cNvSpPr>
                <a:spLocks noChangeArrowheads="1"/>
              </p:cNvSpPr>
              <p:nvPr/>
            </p:nvSpPr>
            <p:spPr bwMode="auto">
              <a:xfrm>
                <a:off x="96" y="3888"/>
                <a:ext cx="1584" cy="162"/>
              </a:xfrm>
              <a:prstGeom prst="rect">
                <a:avLst/>
              </a:prstGeom>
              <a:solidFill>
                <a:schemeClr val="bg1"/>
              </a:solidFill>
              <a:ln w="9525">
                <a:noFill/>
                <a:miter lim="800000"/>
              </a:ln>
            </p:spPr>
            <p:txBody>
              <a:bodyPr wrap="none" anchor="ctr">
                <a:spAutoFit/>
              </a:bodyPr>
              <a:lstStyle/>
              <a:p>
                <a:endParaRPr lang="en-US"/>
              </a:p>
            </p:txBody>
          </p:sp>
          <p:sp>
            <p:nvSpPr>
              <p:cNvPr id="102412" name="Text Box 10"/>
              <p:cNvSpPr txBox="1">
                <a:spLocks noChangeArrowheads="1"/>
              </p:cNvSpPr>
              <p:nvPr/>
            </p:nvSpPr>
            <p:spPr bwMode="auto">
              <a:xfrm>
                <a:off x="66" y="3842"/>
                <a:ext cx="1653" cy="250"/>
              </a:xfrm>
              <a:prstGeom prst="rect">
                <a:avLst/>
              </a:prstGeom>
              <a:noFill/>
              <a:ln w="9525">
                <a:noFill/>
                <a:miter lim="800000"/>
              </a:ln>
            </p:spPr>
            <p:txBody>
              <a:bodyPr wrap="none" anchor="ctr">
                <a:spAutoFit/>
              </a:bodyPr>
              <a:lstStyle/>
              <a:p>
                <a:pPr algn="ctr">
                  <a:spcBef>
                    <a:spcPct val="0"/>
                  </a:spcBef>
                  <a:buClrTx/>
                  <a:buSzTx/>
                  <a:buFontTx/>
                  <a:buNone/>
                </a:pPr>
                <a:r>
                  <a:rPr lang="en-US" sz="2000">
                    <a:solidFill>
                      <a:srgbClr val="FF0000"/>
                    </a:solidFill>
                  </a:rPr>
                  <a:t>application viewpoint</a:t>
                </a:r>
                <a:endParaRPr lang="en-US" sz="1800"/>
              </a:p>
            </p:txBody>
          </p:sp>
        </p:gr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3427" name="Slide Number Placeholder 4"/>
          <p:cNvSpPr>
            <a:spLocks noGrp="1"/>
          </p:cNvSpPr>
          <p:nvPr>
            <p:ph type="sldNum" sz="quarter" idx="12"/>
          </p:nvPr>
        </p:nvSpPr>
        <p:spPr>
          <a:noFill/>
        </p:spPr>
        <p:txBody>
          <a:bodyPr/>
          <a:lstStyle/>
          <a:p>
            <a:fld id="{053554CB-384A-45AC-8EA1-FA3B7A1E7AEA}" type="slidenum">
              <a:rPr lang="en-US"/>
            </a:fld>
            <a:endParaRPr lang="en-US"/>
          </a:p>
        </p:txBody>
      </p:sp>
      <p:sp>
        <p:nvSpPr>
          <p:cNvPr id="103428" name="Rectangle 2"/>
          <p:cNvSpPr>
            <a:spLocks noGrp="1" noChangeArrowheads="1"/>
          </p:cNvSpPr>
          <p:nvPr>
            <p:ph type="title"/>
          </p:nvPr>
        </p:nvSpPr>
        <p:spPr/>
        <p:txBody>
          <a:bodyPr/>
          <a:lstStyle/>
          <a:p>
            <a:r>
              <a:rPr lang="en-US" sz="3200"/>
              <a:t>Client/server socket interaction: TCP</a:t>
            </a:r>
            <a:endParaRPr lang="en-US"/>
          </a:p>
        </p:txBody>
      </p:sp>
      <p:grpSp>
        <p:nvGrpSpPr>
          <p:cNvPr id="2" name="Group 3"/>
          <p:cNvGrpSpPr/>
          <p:nvPr/>
        </p:nvGrpSpPr>
        <p:grpSpPr bwMode="auto">
          <a:xfrm>
            <a:off x="1312863" y="3217863"/>
            <a:ext cx="2117725" cy="927100"/>
            <a:chOff x="827" y="2027"/>
            <a:chExt cx="1334" cy="584"/>
          </a:xfrm>
        </p:grpSpPr>
        <p:sp>
          <p:nvSpPr>
            <p:cNvPr id="103463" name="Text Box 4"/>
            <p:cNvSpPr txBox="1">
              <a:spLocks noChangeArrowheads="1"/>
            </p:cNvSpPr>
            <p:nvPr/>
          </p:nvSpPr>
          <p:spPr bwMode="auto">
            <a:xfrm>
              <a:off x="827" y="2027"/>
              <a:ext cx="1059"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wait for incoming</a:t>
              </a:r>
              <a:endParaRPr lang="en-US" sz="1400">
                <a:latin typeface="Arial" panose="020B0604020202020204" pitchFamily="34" charset="0"/>
              </a:endParaRPr>
            </a:p>
            <a:p>
              <a:pPr>
                <a:spcBef>
                  <a:spcPct val="0"/>
                </a:spcBef>
                <a:buClrTx/>
                <a:buSzTx/>
                <a:buFontTx/>
                <a:buNone/>
              </a:pPr>
              <a:r>
                <a:rPr lang="en-US" sz="1400">
                  <a:latin typeface="Arial" panose="020B0604020202020204" pitchFamily="34" charset="0"/>
                </a:rPr>
                <a:t>connection request</a:t>
              </a:r>
              <a:endParaRPr lang="en-US">
                <a:latin typeface="Times New Roman" panose="02020603050405020304" pitchFamily="18" charset="0"/>
              </a:endParaRPr>
            </a:p>
          </p:txBody>
        </p:sp>
        <p:sp>
          <p:nvSpPr>
            <p:cNvPr id="103464" name="Text Box 5"/>
            <p:cNvSpPr txBox="1">
              <a:spLocks noChangeArrowheads="1"/>
            </p:cNvSpPr>
            <p:nvPr/>
          </p:nvSpPr>
          <p:spPr bwMode="auto">
            <a:xfrm>
              <a:off x="828" y="2285"/>
              <a:ext cx="1333" cy="326"/>
            </a:xfrm>
            <a:prstGeom prst="rect">
              <a:avLst/>
            </a:prstGeom>
            <a:noFill/>
            <a:ln w="9525">
              <a:noFill/>
              <a:miter lim="800000"/>
            </a:ln>
          </p:spPr>
          <p:txBody>
            <a:bodyPr wrap="none" anchor="ctr">
              <a:spAutoFit/>
            </a:bodyPr>
            <a:lstStyle/>
            <a:p>
              <a:pPr>
                <a:spcBef>
                  <a:spcPct val="0"/>
                </a:spcBef>
                <a:buClrTx/>
                <a:buSzTx/>
                <a:buFontTx/>
                <a:buNone/>
              </a:pPr>
              <a:r>
                <a:rPr lang="en-US" sz="1400">
                  <a:solidFill>
                    <a:srgbClr val="FF0000"/>
                  </a:solidFill>
                  <a:latin typeface="Arial" panose="020B0604020202020204" pitchFamily="34" charset="0"/>
                </a:rPr>
                <a:t>connectionSocket =</a:t>
              </a:r>
              <a:endParaRPr lang="en-US" sz="1400">
                <a:solidFill>
                  <a:srgbClr val="FF0000"/>
                </a:solidFill>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welcomeSocket.accept()</a:t>
              </a:r>
              <a:endParaRPr lang="en-US">
                <a:latin typeface="Times New Roman" panose="02020603050405020304" pitchFamily="18" charset="0"/>
              </a:endParaRPr>
            </a:p>
          </p:txBody>
        </p:sp>
      </p:grpSp>
      <p:grpSp>
        <p:nvGrpSpPr>
          <p:cNvPr id="3" name="Group 6"/>
          <p:cNvGrpSpPr/>
          <p:nvPr/>
        </p:nvGrpSpPr>
        <p:grpSpPr bwMode="auto">
          <a:xfrm>
            <a:off x="1303338" y="1881188"/>
            <a:ext cx="1635125" cy="1414462"/>
            <a:chOff x="821" y="1185"/>
            <a:chExt cx="1030" cy="891"/>
          </a:xfrm>
        </p:grpSpPr>
        <p:grpSp>
          <p:nvGrpSpPr>
            <p:cNvPr id="4" name="Group 7"/>
            <p:cNvGrpSpPr/>
            <p:nvPr/>
          </p:nvGrpSpPr>
          <p:grpSpPr bwMode="auto">
            <a:xfrm>
              <a:off x="821" y="1185"/>
              <a:ext cx="1030" cy="712"/>
              <a:chOff x="329" y="1209"/>
              <a:chExt cx="1030" cy="712"/>
            </a:xfrm>
          </p:grpSpPr>
          <p:sp>
            <p:nvSpPr>
              <p:cNvPr id="103461" name="Text Box 8"/>
              <p:cNvSpPr txBox="1">
                <a:spLocks noChangeArrowheads="1"/>
              </p:cNvSpPr>
              <p:nvPr/>
            </p:nvSpPr>
            <p:spPr bwMode="auto">
              <a:xfrm>
                <a:off x="329" y="1209"/>
                <a:ext cx="997" cy="460"/>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create socket,</a:t>
                </a:r>
                <a:endParaRPr lang="en-US" sz="1400">
                  <a:latin typeface="Arial" panose="020B0604020202020204" pitchFamily="34" charset="0"/>
                </a:endParaRPr>
              </a:p>
              <a:p>
                <a:pPr>
                  <a:spcBef>
                    <a:spcPct val="0"/>
                  </a:spcBef>
                  <a:buClrTx/>
                  <a:buSzTx/>
                  <a:buFontTx/>
                  <a:buNone/>
                </a:pPr>
                <a:r>
                  <a:rPr lang="en-US" sz="1400">
                    <a:latin typeface="Arial" panose="020B0604020202020204" pitchFamily="34" charset="0"/>
                  </a:rPr>
                  <a:t>port=</a:t>
                </a:r>
                <a:r>
                  <a:rPr lang="en-US" sz="1400" b="1">
                    <a:latin typeface="Courier New" panose="02070309020205020404" pitchFamily="49" charset="0"/>
                  </a:rPr>
                  <a:t>x</a:t>
                </a:r>
                <a:r>
                  <a:rPr lang="en-US" sz="1400">
                    <a:latin typeface="Arial" panose="020B0604020202020204" pitchFamily="34" charset="0"/>
                  </a:rPr>
                  <a:t>, for</a:t>
                </a:r>
                <a:endParaRPr lang="en-US" sz="1400">
                  <a:latin typeface="Arial" panose="020B0604020202020204" pitchFamily="34" charset="0"/>
                </a:endParaRPr>
              </a:p>
              <a:p>
                <a:pPr>
                  <a:spcBef>
                    <a:spcPct val="0"/>
                  </a:spcBef>
                  <a:buClrTx/>
                  <a:buSzTx/>
                  <a:buFontTx/>
                  <a:buNone/>
                </a:pPr>
                <a:r>
                  <a:rPr lang="en-US" sz="1400">
                    <a:latin typeface="Arial" panose="020B0604020202020204" pitchFamily="34" charset="0"/>
                  </a:rPr>
                  <a:t>incoming request:</a:t>
                </a:r>
                <a:endParaRPr lang="en-US">
                  <a:latin typeface="Times New Roman" panose="02020603050405020304" pitchFamily="18" charset="0"/>
                </a:endParaRPr>
              </a:p>
            </p:txBody>
          </p:sp>
          <p:sp>
            <p:nvSpPr>
              <p:cNvPr id="103462" name="Text Box 9"/>
              <p:cNvSpPr txBox="1">
                <a:spLocks noChangeArrowheads="1"/>
              </p:cNvSpPr>
              <p:nvPr/>
            </p:nvSpPr>
            <p:spPr bwMode="auto">
              <a:xfrm>
                <a:off x="333" y="1595"/>
                <a:ext cx="1026" cy="326"/>
              </a:xfrm>
              <a:prstGeom prst="rect">
                <a:avLst/>
              </a:prstGeom>
              <a:noFill/>
              <a:ln w="9525">
                <a:noFill/>
                <a:miter lim="800000"/>
              </a:ln>
            </p:spPr>
            <p:txBody>
              <a:bodyPr wrap="none" anchor="ctr">
                <a:spAutoFit/>
              </a:bodyPr>
              <a:lstStyle/>
              <a:p>
                <a:pPr algn="r">
                  <a:spcBef>
                    <a:spcPct val="0"/>
                  </a:spcBef>
                  <a:buClrTx/>
                  <a:buSzTx/>
                  <a:buFontTx/>
                  <a:buNone/>
                </a:pPr>
                <a:r>
                  <a:rPr lang="en-US" sz="1400">
                    <a:solidFill>
                      <a:srgbClr val="FF0000"/>
                    </a:solidFill>
                    <a:latin typeface="Arial" panose="020B0604020202020204" pitchFamily="34" charset="0"/>
                  </a:rPr>
                  <a:t>welcomeSocket = </a:t>
                </a:r>
                <a:endParaRPr lang="en-US" sz="1400">
                  <a:solidFill>
                    <a:srgbClr val="FF0000"/>
                  </a:solidFill>
                  <a:latin typeface="Arial" panose="020B0604020202020204" pitchFamily="34" charset="0"/>
                </a:endParaRPr>
              </a:p>
              <a:p>
                <a:pPr algn="r">
                  <a:spcBef>
                    <a:spcPct val="0"/>
                  </a:spcBef>
                  <a:buClrTx/>
                  <a:buSzTx/>
                  <a:buFontTx/>
                  <a:buNone/>
                </a:pPr>
                <a:r>
                  <a:rPr lang="en-US" sz="1400">
                    <a:solidFill>
                      <a:srgbClr val="FF0000"/>
                    </a:solidFill>
                    <a:latin typeface="Arial" panose="020B0604020202020204" pitchFamily="34" charset="0"/>
                  </a:rPr>
                  <a:t>ServerSocket()</a:t>
                </a:r>
                <a:endParaRPr lang="en-US">
                  <a:latin typeface="Times New Roman" panose="02020603050405020304" pitchFamily="18" charset="0"/>
                </a:endParaRPr>
              </a:p>
            </p:txBody>
          </p:sp>
        </p:grpSp>
        <p:sp>
          <p:nvSpPr>
            <p:cNvPr id="103460" name="Line 10"/>
            <p:cNvSpPr>
              <a:spLocks noChangeShapeType="1"/>
            </p:cNvSpPr>
            <p:nvPr/>
          </p:nvSpPr>
          <p:spPr bwMode="auto">
            <a:xfrm>
              <a:off x="1284" y="1872"/>
              <a:ext cx="0" cy="204"/>
            </a:xfrm>
            <a:prstGeom prst="line">
              <a:avLst/>
            </a:prstGeom>
            <a:noFill/>
            <a:ln w="28575">
              <a:solidFill>
                <a:schemeClr val="accent2"/>
              </a:solidFill>
              <a:round/>
              <a:tailEnd type="triangle" w="med" len="med"/>
            </a:ln>
          </p:spPr>
          <p:txBody>
            <a:bodyPr anchor="ctr">
              <a:spAutoFit/>
            </a:bodyPr>
            <a:lstStyle/>
            <a:p>
              <a:endParaRPr lang="en-US"/>
            </a:p>
          </p:txBody>
        </p:sp>
      </p:grpSp>
      <p:grpSp>
        <p:nvGrpSpPr>
          <p:cNvPr id="5" name="Group 11"/>
          <p:cNvGrpSpPr/>
          <p:nvPr/>
        </p:nvGrpSpPr>
        <p:grpSpPr bwMode="auto">
          <a:xfrm>
            <a:off x="5091113" y="3149600"/>
            <a:ext cx="2305050" cy="909638"/>
            <a:chOff x="3333" y="1156"/>
            <a:chExt cx="1452" cy="573"/>
          </a:xfrm>
        </p:grpSpPr>
        <p:sp>
          <p:nvSpPr>
            <p:cNvPr id="103457" name="Text Box 12"/>
            <p:cNvSpPr txBox="1">
              <a:spLocks noChangeArrowheads="1"/>
            </p:cNvSpPr>
            <p:nvPr/>
          </p:nvSpPr>
          <p:spPr bwMode="auto">
            <a:xfrm>
              <a:off x="3335" y="1156"/>
              <a:ext cx="1450"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create socket,</a:t>
              </a:r>
              <a:endParaRPr lang="en-US" sz="1400">
                <a:latin typeface="Arial" panose="020B0604020202020204" pitchFamily="34" charset="0"/>
              </a:endParaRPr>
            </a:p>
            <a:p>
              <a:pPr>
                <a:spcBef>
                  <a:spcPct val="0"/>
                </a:spcBef>
                <a:buClrTx/>
                <a:buSzTx/>
                <a:buFontTx/>
                <a:buNone/>
              </a:pPr>
              <a:r>
                <a:rPr lang="en-US" sz="1400">
                  <a:latin typeface="Arial" panose="020B0604020202020204" pitchFamily="34" charset="0"/>
                </a:rPr>
                <a:t>connect to </a:t>
              </a:r>
              <a:r>
                <a:rPr lang="en-US" sz="1400" b="1">
                  <a:latin typeface="Courier New" panose="02070309020205020404" pitchFamily="49" charset="0"/>
                </a:rPr>
                <a:t>hostid</a:t>
              </a:r>
              <a:r>
                <a:rPr lang="en-US" sz="1400">
                  <a:latin typeface="Arial" panose="020B0604020202020204" pitchFamily="34" charset="0"/>
                </a:rPr>
                <a:t>, port=</a:t>
              </a:r>
              <a:r>
                <a:rPr lang="en-US" sz="1400" b="1">
                  <a:latin typeface="Courier New" panose="02070309020205020404" pitchFamily="49" charset="0"/>
                </a:rPr>
                <a:t>x</a:t>
              </a:r>
              <a:endParaRPr lang="en-US">
                <a:latin typeface="Times New Roman" panose="02020603050405020304" pitchFamily="18" charset="0"/>
              </a:endParaRPr>
            </a:p>
          </p:txBody>
        </p:sp>
        <p:sp>
          <p:nvSpPr>
            <p:cNvPr id="103458" name="Text Box 13"/>
            <p:cNvSpPr txBox="1">
              <a:spLocks noChangeArrowheads="1"/>
            </p:cNvSpPr>
            <p:nvPr/>
          </p:nvSpPr>
          <p:spPr bwMode="auto">
            <a:xfrm>
              <a:off x="3333" y="1403"/>
              <a:ext cx="846" cy="326"/>
            </a:xfrm>
            <a:prstGeom prst="rect">
              <a:avLst/>
            </a:prstGeom>
            <a:noFill/>
            <a:ln w="9525">
              <a:noFill/>
              <a:miter lim="800000"/>
            </a:ln>
          </p:spPr>
          <p:txBody>
            <a:bodyPr wrap="none" anchor="ctr">
              <a:spAutoFit/>
            </a:bodyPr>
            <a:lstStyle/>
            <a:p>
              <a:pPr algn="r">
                <a:spcBef>
                  <a:spcPct val="0"/>
                </a:spcBef>
                <a:buClrTx/>
                <a:buSzTx/>
                <a:buFontTx/>
                <a:buNone/>
              </a:pPr>
              <a:r>
                <a:rPr lang="en-US" sz="1400">
                  <a:solidFill>
                    <a:srgbClr val="FF0000"/>
                  </a:solidFill>
                  <a:latin typeface="Arial" panose="020B0604020202020204" pitchFamily="34" charset="0"/>
                </a:rPr>
                <a:t>clientSocket = </a:t>
              </a:r>
              <a:endParaRPr lang="en-US" sz="1400">
                <a:solidFill>
                  <a:srgbClr val="FF0000"/>
                </a:solidFill>
                <a:latin typeface="Arial" panose="020B0604020202020204" pitchFamily="34" charset="0"/>
              </a:endParaRPr>
            </a:p>
            <a:p>
              <a:pPr algn="r">
                <a:spcBef>
                  <a:spcPct val="0"/>
                </a:spcBef>
                <a:buClrTx/>
                <a:buSzTx/>
                <a:buFontTx/>
                <a:buNone/>
              </a:pPr>
              <a:r>
                <a:rPr lang="en-US" sz="1400">
                  <a:solidFill>
                    <a:srgbClr val="FF0000"/>
                  </a:solidFill>
                  <a:latin typeface="Arial" panose="020B0604020202020204" pitchFamily="34" charset="0"/>
                </a:rPr>
                <a:t>Socket()</a:t>
              </a:r>
              <a:endParaRPr lang="en-US">
                <a:latin typeface="Times New Roman" panose="02020603050405020304" pitchFamily="18" charset="0"/>
              </a:endParaRPr>
            </a:p>
          </p:txBody>
        </p:sp>
      </p:grpSp>
      <p:grpSp>
        <p:nvGrpSpPr>
          <p:cNvPr id="6" name="Group 14"/>
          <p:cNvGrpSpPr/>
          <p:nvPr/>
        </p:nvGrpSpPr>
        <p:grpSpPr bwMode="auto">
          <a:xfrm>
            <a:off x="1276350" y="3124200"/>
            <a:ext cx="5440363" cy="3352800"/>
            <a:chOff x="804" y="1968"/>
            <a:chExt cx="3427" cy="2112"/>
          </a:xfrm>
        </p:grpSpPr>
        <p:sp>
          <p:nvSpPr>
            <p:cNvPr id="103450" name="Text Box 15"/>
            <p:cNvSpPr txBox="1">
              <a:spLocks noChangeArrowheads="1"/>
            </p:cNvSpPr>
            <p:nvPr/>
          </p:nvSpPr>
          <p:spPr bwMode="auto">
            <a:xfrm>
              <a:off x="839" y="3641"/>
              <a:ext cx="998"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close</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connectionSocket</a:t>
              </a:r>
              <a:endParaRPr lang="en-US">
                <a:latin typeface="Times New Roman" panose="02020603050405020304" pitchFamily="18" charset="0"/>
              </a:endParaRPr>
            </a:p>
          </p:txBody>
        </p:sp>
        <p:sp>
          <p:nvSpPr>
            <p:cNvPr id="103451" name="Line 16"/>
            <p:cNvSpPr>
              <a:spLocks noChangeShapeType="1"/>
            </p:cNvSpPr>
            <p:nvPr/>
          </p:nvSpPr>
          <p:spPr bwMode="auto">
            <a:xfrm>
              <a:off x="1290" y="3564"/>
              <a:ext cx="0" cy="204"/>
            </a:xfrm>
            <a:prstGeom prst="line">
              <a:avLst/>
            </a:prstGeom>
            <a:noFill/>
            <a:ln w="28575">
              <a:solidFill>
                <a:schemeClr val="accent2"/>
              </a:solidFill>
              <a:round/>
              <a:tailEnd type="triangle" w="med" len="med"/>
            </a:ln>
          </p:spPr>
          <p:txBody>
            <a:bodyPr anchor="ctr">
              <a:spAutoFit/>
            </a:bodyPr>
            <a:lstStyle/>
            <a:p>
              <a:endParaRPr lang="en-US"/>
            </a:p>
          </p:txBody>
        </p:sp>
        <p:sp>
          <p:nvSpPr>
            <p:cNvPr id="103452" name="Freeform 17"/>
            <p:cNvSpPr/>
            <p:nvPr/>
          </p:nvSpPr>
          <p:spPr bwMode="auto">
            <a:xfrm>
              <a:off x="804" y="1968"/>
              <a:ext cx="492" cy="2112"/>
            </a:xfrm>
            <a:custGeom>
              <a:avLst/>
              <a:gdLst>
                <a:gd name="T0" fmla="*/ 492 w 492"/>
                <a:gd name="T1" fmla="*/ 1968 h 2112"/>
                <a:gd name="T2" fmla="*/ 492 w 492"/>
                <a:gd name="T3" fmla="*/ 2112 h 2112"/>
                <a:gd name="T4" fmla="*/ 0 w 492"/>
                <a:gd name="T5" fmla="*/ 2112 h 2112"/>
                <a:gd name="T6" fmla="*/ 0 w 492"/>
                <a:gd name="T7" fmla="*/ 0 h 2112"/>
                <a:gd name="T8" fmla="*/ 402 w 492"/>
                <a:gd name="T9" fmla="*/ 0 h 2112"/>
                <a:gd name="T10" fmla="*/ 0 60000 65536"/>
                <a:gd name="T11" fmla="*/ 0 60000 65536"/>
                <a:gd name="T12" fmla="*/ 0 60000 65536"/>
                <a:gd name="T13" fmla="*/ 0 60000 65536"/>
                <a:gd name="T14" fmla="*/ 0 60000 65536"/>
                <a:gd name="T15" fmla="*/ 0 w 492"/>
                <a:gd name="T16" fmla="*/ 0 h 2112"/>
                <a:gd name="T17" fmla="*/ 492 w 492"/>
                <a:gd name="T18" fmla="*/ 2112 h 2112"/>
              </a:gdLst>
              <a:ahLst/>
              <a:cxnLst>
                <a:cxn ang="T10">
                  <a:pos x="T0" y="T1"/>
                </a:cxn>
                <a:cxn ang="T11">
                  <a:pos x="T2" y="T3"/>
                </a:cxn>
                <a:cxn ang="T12">
                  <a:pos x="T4" y="T5"/>
                </a:cxn>
                <a:cxn ang="T13">
                  <a:pos x="T6" y="T7"/>
                </a:cxn>
                <a:cxn ang="T14">
                  <a:pos x="T8" y="T9"/>
                </a:cxn>
              </a:cxnLst>
              <a:rect l="T15" t="T16" r="T17" b="T18"/>
              <a:pathLst>
                <a:path w="492" h="2112">
                  <a:moveTo>
                    <a:pt x="492" y="1968"/>
                  </a:moveTo>
                  <a:lnTo>
                    <a:pt x="492" y="2112"/>
                  </a:lnTo>
                  <a:lnTo>
                    <a:pt x="0" y="2112"/>
                  </a:lnTo>
                  <a:lnTo>
                    <a:pt x="0" y="0"/>
                  </a:lnTo>
                  <a:lnTo>
                    <a:pt x="402" y="0"/>
                  </a:lnTo>
                </a:path>
              </a:pathLst>
            </a:custGeom>
            <a:noFill/>
            <a:ln w="28575">
              <a:solidFill>
                <a:schemeClr val="accent2"/>
              </a:solidFill>
              <a:round/>
              <a:tailEnd type="triangle" w="med" len="med"/>
            </a:ln>
          </p:spPr>
          <p:txBody>
            <a:bodyPr anchor="ctr">
              <a:spAutoFit/>
            </a:bodyPr>
            <a:lstStyle/>
            <a:p>
              <a:endParaRPr lang="en-US"/>
            </a:p>
          </p:txBody>
        </p:sp>
        <p:grpSp>
          <p:nvGrpSpPr>
            <p:cNvPr id="7" name="Group 18"/>
            <p:cNvGrpSpPr/>
            <p:nvPr/>
          </p:nvGrpSpPr>
          <p:grpSpPr bwMode="auto">
            <a:xfrm>
              <a:off x="3365" y="3377"/>
              <a:ext cx="866" cy="692"/>
              <a:chOff x="3365" y="3377"/>
              <a:chExt cx="866" cy="692"/>
            </a:xfrm>
          </p:grpSpPr>
          <p:sp>
            <p:nvSpPr>
              <p:cNvPr id="103454" name="Text Box 19"/>
              <p:cNvSpPr txBox="1">
                <a:spLocks noChangeArrowheads="1"/>
              </p:cNvSpPr>
              <p:nvPr/>
            </p:nvSpPr>
            <p:spPr bwMode="auto">
              <a:xfrm>
                <a:off x="3365" y="3377"/>
                <a:ext cx="866"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read reply from</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clientSocket</a:t>
                </a:r>
                <a:endParaRPr lang="en-US">
                  <a:latin typeface="Times New Roman" panose="02020603050405020304" pitchFamily="18" charset="0"/>
                </a:endParaRPr>
              </a:p>
            </p:txBody>
          </p:sp>
          <p:sp>
            <p:nvSpPr>
              <p:cNvPr id="103455" name="Text Box 20"/>
              <p:cNvSpPr txBox="1">
                <a:spLocks noChangeArrowheads="1"/>
              </p:cNvSpPr>
              <p:nvPr/>
            </p:nvSpPr>
            <p:spPr bwMode="auto">
              <a:xfrm>
                <a:off x="3389" y="3743"/>
                <a:ext cx="719"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close</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clientSocket</a:t>
                </a:r>
                <a:endParaRPr lang="en-US">
                  <a:latin typeface="Times New Roman" panose="02020603050405020304" pitchFamily="18" charset="0"/>
                </a:endParaRPr>
              </a:p>
            </p:txBody>
          </p:sp>
          <p:sp>
            <p:nvSpPr>
              <p:cNvPr id="103456" name="Line 21"/>
              <p:cNvSpPr>
                <a:spLocks noChangeShapeType="1"/>
              </p:cNvSpPr>
              <p:nvPr/>
            </p:nvSpPr>
            <p:spPr bwMode="auto">
              <a:xfrm>
                <a:off x="3816" y="3690"/>
                <a:ext cx="0" cy="204"/>
              </a:xfrm>
              <a:prstGeom prst="line">
                <a:avLst/>
              </a:prstGeom>
              <a:noFill/>
              <a:ln w="28575">
                <a:solidFill>
                  <a:schemeClr val="accent2"/>
                </a:solidFill>
                <a:round/>
                <a:tailEnd type="triangle" w="med" len="med"/>
              </a:ln>
            </p:spPr>
            <p:txBody>
              <a:bodyPr anchor="ctr">
                <a:spAutoFit/>
              </a:bodyPr>
              <a:lstStyle/>
              <a:p>
                <a:endParaRPr lang="en-US"/>
              </a:p>
            </p:txBody>
          </p:sp>
        </p:grpSp>
      </p:grpSp>
      <p:sp>
        <p:nvSpPr>
          <p:cNvPr id="103433" name="Text Box 22"/>
          <p:cNvSpPr txBox="1">
            <a:spLocks noChangeArrowheads="1"/>
          </p:cNvSpPr>
          <p:nvPr/>
        </p:nvSpPr>
        <p:spPr bwMode="auto">
          <a:xfrm>
            <a:off x="585788" y="1314450"/>
            <a:ext cx="3392487" cy="457200"/>
          </a:xfrm>
          <a:prstGeom prst="rect">
            <a:avLst/>
          </a:prstGeom>
          <a:noFill/>
          <a:ln w="9525">
            <a:noFill/>
            <a:miter lim="800000"/>
          </a:ln>
        </p:spPr>
        <p:txBody>
          <a:bodyPr wrap="none" anchor="ctr">
            <a:spAutoFit/>
          </a:bodyPr>
          <a:lstStyle/>
          <a:p>
            <a:pPr algn="ctr">
              <a:spcBef>
                <a:spcPct val="50000"/>
              </a:spcBef>
              <a:buClrTx/>
              <a:buSzTx/>
              <a:buFontTx/>
              <a:buNone/>
            </a:pPr>
            <a:r>
              <a:rPr lang="en-US"/>
              <a:t>Server </a:t>
            </a:r>
            <a:r>
              <a:rPr lang="en-US" sz="1800"/>
              <a:t>(running on </a:t>
            </a:r>
            <a:r>
              <a:rPr lang="en-US" sz="1800" b="1">
                <a:latin typeface="Courier New" panose="02070309020205020404" pitchFamily="49" charset="0"/>
              </a:rPr>
              <a:t>hostid</a:t>
            </a:r>
            <a:r>
              <a:rPr lang="en-US" sz="1800"/>
              <a:t>)</a:t>
            </a:r>
            <a:endParaRPr lang="en-US">
              <a:latin typeface="Times New Roman" panose="02020603050405020304" pitchFamily="18" charset="0"/>
            </a:endParaRPr>
          </a:p>
        </p:txBody>
      </p:sp>
      <p:sp>
        <p:nvSpPr>
          <p:cNvPr id="103434" name="Text Box 23"/>
          <p:cNvSpPr txBox="1">
            <a:spLocks noChangeArrowheads="1"/>
          </p:cNvSpPr>
          <p:nvPr/>
        </p:nvSpPr>
        <p:spPr bwMode="auto">
          <a:xfrm>
            <a:off x="5256213" y="1333500"/>
            <a:ext cx="1008062" cy="457200"/>
          </a:xfrm>
          <a:prstGeom prst="rect">
            <a:avLst/>
          </a:prstGeom>
          <a:noFill/>
          <a:ln w="9525">
            <a:noFill/>
            <a:miter lim="800000"/>
          </a:ln>
        </p:spPr>
        <p:txBody>
          <a:bodyPr wrap="none" anchor="ctr">
            <a:spAutoFit/>
          </a:bodyPr>
          <a:lstStyle/>
          <a:p>
            <a:pPr algn="ctr">
              <a:spcBef>
                <a:spcPct val="50000"/>
              </a:spcBef>
              <a:buClrTx/>
              <a:buSzTx/>
              <a:buFontTx/>
              <a:buNone/>
            </a:pPr>
            <a:r>
              <a:rPr lang="en-US"/>
              <a:t>Client</a:t>
            </a:r>
            <a:endParaRPr lang="en-US">
              <a:latin typeface="Times New Roman" panose="02020603050405020304" pitchFamily="18" charset="0"/>
            </a:endParaRPr>
          </a:p>
        </p:txBody>
      </p:sp>
      <p:grpSp>
        <p:nvGrpSpPr>
          <p:cNvPr id="8" name="Group 24"/>
          <p:cNvGrpSpPr/>
          <p:nvPr/>
        </p:nvGrpSpPr>
        <p:grpSpPr bwMode="auto">
          <a:xfrm>
            <a:off x="2933700" y="4010025"/>
            <a:ext cx="4041775" cy="1371600"/>
            <a:chOff x="1848" y="2526"/>
            <a:chExt cx="2546" cy="864"/>
          </a:xfrm>
        </p:grpSpPr>
        <p:sp>
          <p:nvSpPr>
            <p:cNvPr id="103445" name="Line 25"/>
            <p:cNvSpPr>
              <a:spLocks noChangeShapeType="1"/>
            </p:cNvSpPr>
            <p:nvPr/>
          </p:nvSpPr>
          <p:spPr bwMode="auto">
            <a:xfrm flipH="1">
              <a:off x="3792" y="2964"/>
              <a:ext cx="6" cy="426"/>
            </a:xfrm>
            <a:prstGeom prst="line">
              <a:avLst/>
            </a:prstGeom>
            <a:noFill/>
            <a:ln w="28575">
              <a:solidFill>
                <a:schemeClr val="accent2"/>
              </a:solidFill>
              <a:round/>
              <a:tailEnd type="triangle" w="med" len="med"/>
            </a:ln>
          </p:spPr>
          <p:txBody>
            <a:bodyPr anchor="ctr">
              <a:spAutoFit/>
            </a:bodyPr>
            <a:lstStyle/>
            <a:p>
              <a:endParaRPr lang="en-US"/>
            </a:p>
          </p:txBody>
        </p:sp>
        <p:grpSp>
          <p:nvGrpSpPr>
            <p:cNvPr id="9" name="Group 26"/>
            <p:cNvGrpSpPr/>
            <p:nvPr/>
          </p:nvGrpSpPr>
          <p:grpSpPr bwMode="auto">
            <a:xfrm>
              <a:off x="1848" y="2526"/>
              <a:ext cx="2546" cy="516"/>
              <a:chOff x="1848" y="2526"/>
              <a:chExt cx="2546" cy="516"/>
            </a:xfrm>
          </p:grpSpPr>
          <p:sp>
            <p:nvSpPr>
              <p:cNvPr id="103447" name="Text Box 27"/>
              <p:cNvSpPr txBox="1">
                <a:spLocks noChangeArrowheads="1"/>
              </p:cNvSpPr>
              <p:nvPr/>
            </p:nvSpPr>
            <p:spPr bwMode="auto">
              <a:xfrm>
                <a:off x="3335" y="2675"/>
                <a:ext cx="1059"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send request using</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clientSocket</a:t>
                </a:r>
                <a:endParaRPr lang="en-US">
                  <a:latin typeface="Times New Roman" panose="02020603050405020304" pitchFamily="18" charset="0"/>
                </a:endParaRPr>
              </a:p>
            </p:txBody>
          </p:sp>
          <p:sp>
            <p:nvSpPr>
              <p:cNvPr id="103448" name="Line 28"/>
              <p:cNvSpPr>
                <a:spLocks noChangeShapeType="1"/>
              </p:cNvSpPr>
              <p:nvPr/>
            </p:nvSpPr>
            <p:spPr bwMode="auto">
              <a:xfrm>
                <a:off x="3792" y="2526"/>
                <a:ext cx="0" cy="204"/>
              </a:xfrm>
              <a:prstGeom prst="line">
                <a:avLst/>
              </a:prstGeom>
              <a:noFill/>
              <a:ln w="28575">
                <a:solidFill>
                  <a:schemeClr val="accent2"/>
                </a:solidFill>
                <a:round/>
                <a:tailEnd type="triangle" w="med" len="med"/>
              </a:ln>
            </p:spPr>
            <p:txBody>
              <a:bodyPr anchor="ctr">
                <a:spAutoFit/>
              </a:bodyPr>
              <a:lstStyle/>
              <a:p>
                <a:endParaRPr lang="en-US"/>
              </a:p>
            </p:txBody>
          </p:sp>
          <p:sp>
            <p:nvSpPr>
              <p:cNvPr id="103449" name="Line 29"/>
              <p:cNvSpPr>
                <a:spLocks noChangeShapeType="1"/>
              </p:cNvSpPr>
              <p:nvPr/>
            </p:nvSpPr>
            <p:spPr bwMode="auto">
              <a:xfrm flipH="1">
                <a:off x="1848" y="2790"/>
                <a:ext cx="1518" cy="252"/>
              </a:xfrm>
              <a:prstGeom prst="line">
                <a:avLst/>
              </a:prstGeom>
              <a:noFill/>
              <a:ln w="28575">
                <a:solidFill>
                  <a:srgbClr val="FF0000"/>
                </a:solidFill>
                <a:round/>
                <a:tailEnd type="triangle" w="med" len="med"/>
              </a:ln>
            </p:spPr>
            <p:txBody>
              <a:bodyPr wrap="none" anchor="ctr">
                <a:spAutoFit/>
              </a:bodyPr>
              <a:lstStyle/>
              <a:p>
                <a:endParaRPr lang="en-US"/>
              </a:p>
            </p:txBody>
          </p:sp>
        </p:grpSp>
      </p:grpSp>
      <p:grpSp>
        <p:nvGrpSpPr>
          <p:cNvPr id="10" name="Group 30"/>
          <p:cNvGrpSpPr/>
          <p:nvPr/>
        </p:nvGrpSpPr>
        <p:grpSpPr bwMode="auto">
          <a:xfrm>
            <a:off x="1303338" y="4105275"/>
            <a:ext cx="4097337" cy="1487488"/>
            <a:chOff x="821" y="2586"/>
            <a:chExt cx="2581" cy="937"/>
          </a:xfrm>
        </p:grpSpPr>
        <p:sp>
          <p:nvSpPr>
            <p:cNvPr id="103440" name="Text Box 31"/>
            <p:cNvSpPr txBox="1">
              <a:spLocks noChangeArrowheads="1"/>
            </p:cNvSpPr>
            <p:nvPr/>
          </p:nvSpPr>
          <p:spPr bwMode="auto">
            <a:xfrm>
              <a:off x="821" y="2789"/>
              <a:ext cx="998"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read request from</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connectionSocket</a:t>
              </a:r>
              <a:endParaRPr lang="en-US">
                <a:latin typeface="Times New Roman" panose="02020603050405020304" pitchFamily="18" charset="0"/>
              </a:endParaRPr>
            </a:p>
          </p:txBody>
        </p:sp>
        <p:sp>
          <p:nvSpPr>
            <p:cNvPr id="103441" name="Text Box 32"/>
            <p:cNvSpPr txBox="1">
              <a:spLocks noChangeArrowheads="1"/>
            </p:cNvSpPr>
            <p:nvPr/>
          </p:nvSpPr>
          <p:spPr bwMode="auto">
            <a:xfrm>
              <a:off x="851" y="3197"/>
              <a:ext cx="998" cy="326"/>
            </a:xfrm>
            <a:prstGeom prst="rect">
              <a:avLst/>
            </a:prstGeom>
            <a:noFill/>
            <a:ln w="9525">
              <a:noFill/>
              <a:miter lim="800000"/>
            </a:ln>
          </p:spPr>
          <p:txBody>
            <a:bodyPr wrap="none" anchor="ctr">
              <a:spAutoFit/>
            </a:bodyPr>
            <a:lstStyle/>
            <a:p>
              <a:pPr>
                <a:spcBef>
                  <a:spcPct val="0"/>
                </a:spcBef>
                <a:buClrTx/>
                <a:buSzTx/>
                <a:buFontTx/>
                <a:buNone/>
              </a:pPr>
              <a:r>
                <a:rPr lang="en-US" sz="1400">
                  <a:latin typeface="Arial" panose="020B0604020202020204" pitchFamily="34" charset="0"/>
                </a:rPr>
                <a:t>write reply to</a:t>
              </a:r>
              <a:endParaRPr lang="en-US" sz="1400">
                <a:latin typeface="Arial" panose="020B0604020202020204" pitchFamily="34" charset="0"/>
              </a:endParaRPr>
            </a:p>
            <a:p>
              <a:pPr>
                <a:spcBef>
                  <a:spcPct val="0"/>
                </a:spcBef>
                <a:buClrTx/>
                <a:buSzTx/>
                <a:buFontTx/>
                <a:buNone/>
              </a:pPr>
              <a:r>
                <a:rPr lang="en-US" sz="1400">
                  <a:solidFill>
                    <a:srgbClr val="FF0000"/>
                  </a:solidFill>
                  <a:latin typeface="Arial" panose="020B0604020202020204" pitchFamily="34" charset="0"/>
                </a:rPr>
                <a:t>connectionSocket</a:t>
              </a:r>
              <a:endParaRPr lang="en-US">
                <a:latin typeface="Times New Roman" panose="02020603050405020304" pitchFamily="18" charset="0"/>
              </a:endParaRPr>
            </a:p>
          </p:txBody>
        </p:sp>
        <p:sp>
          <p:nvSpPr>
            <p:cNvPr id="103442" name="Line 33"/>
            <p:cNvSpPr>
              <a:spLocks noChangeShapeType="1"/>
            </p:cNvSpPr>
            <p:nvPr/>
          </p:nvSpPr>
          <p:spPr bwMode="auto">
            <a:xfrm>
              <a:off x="1278" y="2586"/>
              <a:ext cx="0" cy="240"/>
            </a:xfrm>
            <a:prstGeom prst="line">
              <a:avLst/>
            </a:prstGeom>
            <a:noFill/>
            <a:ln w="28575">
              <a:solidFill>
                <a:schemeClr val="accent2"/>
              </a:solidFill>
              <a:round/>
              <a:tailEnd type="triangle" w="med" len="med"/>
            </a:ln>
          </p:spPr>
          <p:txBody>
            <a:bodyPr anchor="ctr">
              <a:spAutoFit/>
            </a:bodyPr>
            <a:lstStyle/>
            <a:p>
              <a:endParaRPr lang="en-US"/>
            </a:p>
          </p:txBody>
        </p:sp>
        <p:sp>
          <p:nvSpPr>
            <p:cNvPr id="103443" name="Line 34"/>
            <p:cNvSpPr>
              <a:spLocks noChangeShapeType="1"/>
            </p:cNvSpPr>
            <p:nvPr/>
          </p:nvSpPr>
          <p:spPr bwMode="auto">
            <a:xfrm flipH="1">
              <a:off x="1284" y="3090"/>
              <a:ext cx="6" cy="156"/>
            </a:xfrm>
            <a:prstGeom prst="line">
              <a:avLst/>
            </a:prstGeom>
            <a:noFill/>
            <a:ln w="28575">
              <a:solidFill>
                <a:schemeClr val="accent2"/>
              </a:solidFill>
              <a:round/>
              <a:tailEnd type="triangle" w="med" len="med"/>
            </a:ln>
          </p:spPr>
          <p:txBody>
            <a:bodyPr anchor="ctr">
              <a:spAutoFit/>
            </a:bodyPr>
            <a:lstStyle/>
            <a:p>
              <a:endParaRPr lang="en-US"/>
            </a:p>
          </p:txBody>
        </p:sp>
        <p:sp>
          <p:nvSpPr>
            <p:cNvPr id="103444" name="Line 35"/>
            <p:cNvSpPr>
              <a:spLocks noChangeShapeType="1"/>
            </p:cNvSpPr>
            <p:nvPr/>
          </p:nvSpPr>
          <p:spPr bwMode="auto">
            <a:xfrm>
              <a:off x="1866" y="3306"/>
              <a:ext cx="1536" cy="180"/>
            </a:xfrm>
            <a:prstGeom prst="line">
              <a:avLst/>
            </a:prstGeom>
            <a:noFill/>
            <a:ln w="28575">
              <a:solidFill>
                <a:srgbClr val="FF0000"/>
              </a:solidFill>
              <a:round/>
              <a:tailEnd type="triangle" w="med" len="med"/>
            </a:ln>
          </p:spPr>
          <p:txBody>
            <a:bodyPr anchor="ctr">
              <a:spAutoFit/>
            </a:bodyPr>
            <a:lstStyle/>
            <a:p>
              <a:endParaRPr lang="en-US"/>
            </a:p>
          </p:txBody>
        </p:sp>
      </p:grpSp>
      <p:grpSp>
        <p:nvGrpSpPr>
          <p:cNvPr id="11" name="Group 36"/>
          <p:cNvGrpSpPr/>
          <p:nvPr/>
        </p:nvGrpSpPr>
        <p:grpSpPr bwMode="auto">
          <a:xfrm>
            <a:off x="2924175" y="3041650"/>
            <a:ext cx="2200275" cy="641350"/>
            <a:chOff x="1842" y="1916"/>
            <a:chExt cx="1386" cy="404"/>
          </a:xfrm>
        </p:grpSpPr>
        <p:sp>
          <p:nvSpPr>
            <p:cNvPr id="103438" name="Line 37"/>
            <p:cNvSpPr>
              <a:spLocks noChangeShapeType="1"/>
            </p:cNvSpPr>
            <p:nvPr/>
          </p:nvSpPr>
          <p:spPr bwMode="auto">
            <a:xfrm>
              <a:off x="1842" y="2130"/>
              <a:ext cx="1386" cy="0"/>
            </a:xfrm>
            <a:prstGeom prst="line">
              <a:avLst/>
            </a:prstGeom>
            <a:noFill/>
            <a:ln w="38100">
              <a:solidFill>
                <a:srgbClr val="FF0000"/>
              </a:solidFill>
              <a:prstDash val="dash"/>
              <a:round/>
              <a:headEnd type="triangle" w="med" len="med"/>
              <a:tailEnd type="triangle" w="med" len="med"/>
            </a:ln>
          </p:spPr>
          <p:txBody>
            <a:bodyPr wrap="none" anchor="ctr">
              <a:spAutoFit/>
            </a:bodyPr>
            <a:lstStyle/>
            <a:p>
              <a:endParaRPr lang="en-US"/>
            </a:p>
          </p:txBody>
        </p:sp>
        <p:sp>
          <p:nvSpPr>
            <p:cNvPr id="103439" name="Text Box 38"/>
            <p:cNvSpPr txBox="1">
              <a:spLocks noChangeArrowheads="1"/>
            </p:cNvSpPr>
            <p:nvPr/>
          </p:nvSpPr>
          <p:spPr bwMode="auto">
            <a:xfrm>
              <a:off x="1887" y="1916"/>
              <a:ext cx="1240" cy="404"/>
            </a:xfrm>
            <a:prstGeom prst="rect">
              <a:avLst/>
            </a:prstGeom>
            <a:noFill/>
            <a:ln w="9525">
              <a:noFill/>
              <a:miter lim="800000"/>
            </a:ln>
          </p:spPr>
          <p:txBody>
            <a:bodyPr wrap="none" anchor="ctr">
              <a:spAutoFit/>
            </a:bodyPr>
            <a:lstStyle/>
            <a:p>
              <a:pPr algn="ctr">
                <a:spcBef>
                  <a:spcPct val="0"/>
                </a:spcBef>
                <a:buClrTx/>
                <a:buSzTx/>
                <a:buFontTx/>
                <a:buNone/>
              </a:pPr>
              <a:r>
                <a:rPr lang="en-US" sz="1800">
                  <a:solidFill>
                    <a:srgbClr val="FF0000"/>
                  </a:solidFill>
                </a:rPr>
                <a:t>TCP </a:t>
              </a:r>
              <a:endParaRPr lang="en-US" sz="1800">
                <a:solidFill>
                  <a:srgbClr val="FF0000"/>
                </a:solidFill>
              </a:endParaRPr>
            </a:p>
            <a:p>
              <a:pPr algn="ctr">
                <a:spcBef>
                  <a:spcPct val="0"/>
                </a:spcBef>
                <a:buClrTx/>
                <a:buSzTx/>
                <a:buFontTx/>
                <a:buNone/>
              </a:pPr>
              <a:r>
                <a:rPr lang="en-US" sz="1800">
                  <a:solidFill>
                    <a:srgbClr val="FF0000"/>
                  </a:solidFill>
                </a:rPr>
                <a:t>connection setup</a:t>
              </a:r>
              <a:endParaRPr lang="en-US">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dissolv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30724" name="Slide Number Placeholder 6"/>
          <p:cNvSpPr>
            <a:spLocks noGrp="1"/>
          </p:cNvSpPr>
          <p:nvPr>
            <p:ph type="sldNum" sz="quarter" idx="12"/>
          </p:nvPr>
        </p:nvSpPr>
        <p:spPr>
          <a:noFill/>
        </p:spPr>
        <p:txBody>
          <a:bodyPr/>
          <a:lstStyle/>
          <a:p>
            <a:fld id="{4FC30E6A-EF43-4358-9EFC-CFA6B36DE66F}" type="slidenum">
              <a:rPr lang="en-US"/>
            </a:fld>
            <a:endParaRPr lang="en-US"/>
          </a:p>
        </p:txBody>
      </p:sp>
      <p:sp>
        <p:nvSpPr>
          <p:cNvPr id="30725" name="Rectangle 16"/>
          <p:cNvSpPr>
            <a:spLocks noChangeArrowheads="1"/>
          </p:cNvSpPr>
          <p:nvPr/>
        </p:nvSpPr>
        <p:spPr bwMode="auto">
          <a:xfrm>
            <a:off x="0" y="1395413"/>
            <a:ext cx="9144000" cy="0"/>
          </a:xfrm>
          <a:prstGeom prst="rect">
            <a:avLst/>
          </a:prstGeom>
          <a:noFill/>
          <a:ln w="9525">
            <a:noFill/>
            <a:miter lim="800000"/>
          </a:ln>
        </p:spPr>
        <p:txBody>
          <a:bodyPr wrap="none" anchor="ctr">
            <a:spAutoFit/>
          </a:bodyPr>
          <a:lstStyle/>
          <a:p>
            <a:endParaRPr lang="en-US"/>
          </a:p>
        </p:txBody>
      </p:sp>
      <p:graphicFrame>
        <p:nvGraphicFramePr>
          <p:cNvPr id="30722" name="Object 15"/>
          <p:cNvGraphicFramePr>
            <a:graphicFrameLocks noChangeAspect="1"/>
          </p:cNvGraphicFramePr>
          <p:nvPr/>
        </p:nvGraphicFramePr>
        <p:xfrm>
          <a:off x="5059363" y="1397000"/>
          <a:ext cx="3670300" cy="4791075"/>
        </p:xfrm>
        <a:graphic>
          <a:graphicData uri="http://schemas.openxmlformats.org/presentationml/2006/ole">
            <mc:AlternateContent xmlns:mc="http://schemas.openxmlformats.org/markup-compatibility/2006">
              <mc:Choice xmlns:v="urn:schemas-microsoft-com:vml" Requires="v">
                <p:oleObj spid="_x0000_s126990" name="VISIO" r:id="rId1" imgW="15601950" imgH="17735550" progId="Visio.Drawing.5">
                  <p:embed/>
                </p:oleObj>
              </mc:Choice>
              <mc:Fallback>
                <p:oleObj name="VISIO" r:id="rId1" imgW="15601950" imgH="17735550" progId="Visio.Drawing.5">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9363" y="1397000"/>
                        <a:ext cx="3670300" cy="479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26" name="Text Box 24"/>
          <p:cNvSpPr txBox="1">
            <a:spLocks noChangeArrowheads="1"/>
          </p:cNvSpPr>
          <p:nvPr/>
        </p:nvSpPr>
        <p:spPr bwMode="auto">
          <a:xfrm>
            <a:off x="5305425" y="2608263"/>
            <a:ext cx="1206500" cy="762000"/>
          </a:xfrm>
          <a:prstGeom prst="rect">
            <a:avLst/>
          </a:prstGeom>
          <a:solidFill>
            <a:schemeClr val="bg1"/>
          </a:solidFill>
          <a:ln w="9525">
            <a:noFill/>
            <a:miter lim="800000"/>
          </a:ln>
        </p:spPr>
        <p:txBody>
          <a:bodyPr>
            <a:spAutoFit/>
          </a:bodyPr>
          <a:lstStyle/>
          <a:p>
            <a:r>
              <a:rPr lang="en-US" sz="2000">
                <a:solidFill>
                  <a:schemeClr val="accent2"/>
                </a:solidFill>
              </a:rPr>
              <a:t>Client</a:t>
            </a:r>
            <a:endParaRPr lang="en-US" sz="2000">
              <a:solidFill>
                <a:schemeClr val="accent2"/>
              </a:solidFill>
            </a:endParaRPr>
          </a:p>
          <a:p>
            <a:r>
              <a:rPr lang="en-US" sz="2000">
                <a:solidFill>
                  <a:schemeClr val="accent2"/>
                </a:solidFill>
              </a:rPr>
              <a:t>process</a:t>
            </a:r>
            <a:endParaRPr lang="en-US" sz="2000">
              <a:solidFill>
                <a:schemeClr val="accent2"/>
              </a:solidFill>
              <a:latin typeface="Times New Roman" panose="02020603050405020304" pitchFamily="18" charset="0"/>
            </a:endParaRPr>
          </a:p>
        </p:txBody>
      </p:sp>
      <p:sp>
        <p:nvSpPr>
          <p:cNvPr id="30727" name="Rectangle 33"/>
          <p:cNvSpPr>
            <a:spLocks noChangeArrowheads="1"/>
          </p:cNvSpPr>
          <p:nvPr/>
        </p:nvSpPr>
        <p:spPr bwMode="auto">
          <a:xfrm>
            <a:off x="6418263" y="5132388"/>
            <a:ext cx="1450975" cy="547687"/>
          </a:xfrm>
          <a:prstGeom prst="rect">
            <a:avLst/>
          </a:prstGeom>
          <a:solidFill>
            <a:srgbClr val="FF0000"/>
          </a:solidFill>
          <a:ln w="9525">
            <a:noFill/>
            <a:miter lim="800000"/>
          </a:ln>
        </p:spPr>
        <p:txBody>
          <a:bodyPr wrap="none" anchor="ctr"/>
          <a:lstStyle/>
          <a:p>
            <a:endParaRPr lang="en-US"/>
          </a:p>
        </p:txBody>
      </p:sp>
      <p:sp>
        <p:nvSpPr>
          <p:cNvPr id="30728" name="Text Box 34"/>
          <p:cNvSpPr txBox="1">
            <a:spLocks noChangeArrowheads="1"/>
          </p:cNvSpPr>
          <p:nvPr/>
        </p:nvSpPr>
        <p:spPr bwMode="auto">
          <a:xfrm>
            <a:off x="6342063" y="5076825"/>
            <a:ext cx="1541462" cy="641350"/>
          </a:xfrm>
          <a:prstGeom prst="rect">
            <a:avLst/>
          </a:prstGeom>
          <a:noFill/>
          <a:ln w="9525">
            <a:noFill/>
            <a:miter lim="800000"/>
          </a:ln>
        </p:spPr>
        <p:txBody>
          <a:bodyPr anchor="ctr">
            <a:spAutoFit/>
          </a:bodyPr>
          <a:lstStyle/>
          <a:p>
            <a:pPr algn="ctr">
              <a:spcBef>
                <a:spcPct val="0"/>
              </a:spcBef>
              <a:buClrTx/>
              <a:buSzTx/>
              <a:buFontTx/>
              <a:buNone/>
            </a:pPr>
            <a:r>
              <a:rPr lang="en-US" sz="1800">
                <a:solidFill>
                  <a:schemeClr val="bg1"/>
                </a:solidFill>
              </a:rPr>
              <a:t>client TCP socket</a:t>
            </a:r>
            <a:endParaRPr lang="en-US" sz="1800">
              <a:latin typeface="Times New Roman" panose="02020603050405020304" pitchFamily="18" charset="0"/>
            </a:endParaRPr>
          </a:p>
        </p:txBody>
      </p:sp>
      <p:sp>
        <p:nvSpPr>
          <p:cNvPr id="30729" name="Line 36"/>
          <p:cNvSpPr>
            <a:spLocks noChangeShapeType="1"/>
          </p:cNvSpPr>
          <p:nvPr/>
        </p:nvSpPr>
        <p:spPr bwMode="auto">
          <a:xfrm flipV="1">
            <a:off x="7427913" y="5624513"/>
            <a:ext cx="0" cy="438150"/>
          </a:xfrm>
          <a:prstGeom prst="line">
            <a:avLst/>
          </a:prstGeom>
          <a:noFill/>
          <a:ln w="9525">
            <a:solidFill>
              <a:schemeClr val="tx1"/>
            </a:solidFill>
            <a:round/>
            <a:tailEnd type="triangle" w="med" len="med"/>
          </a:ln>
        </p:spPr>
        <p:txBody>
          <a:bodyPr wrap="none"/>
          <a:lstStyle/>
          <a:p>
            <a:endParaRPr lang="en-US"/>
          </a:p>
        </p:txBody>
      </p:sp>
      <p:sp>
        <p:nvSpPr>
          <p:cNvPr id="30730" name="Rectangle 46"/>
          <p:cNvSpPr>
            <a:spLocks noChangeArrowheads="1"/>
          </p:cNvSpPr>
          <p:nvPr/>
        </p:nvSpPr>
        <p:spPr bwMode="auto">
          <a:xfrm>
            <a:off x="668338" y="282575"/>
            <a:ext cx="7772400" cy="1143000"/>
          </a:xfrm>
          <a:prstGeom prst="rect">
            <a:avLst/>
          </a:prstGeom>
          <a:noFill/>
          <a:ln w="9525">
            <a:noFill/>
            <a:miter lim="800000"/>
          </a:ln>
        </p:spPr>
        <p:txBody>
          <a:bodyPr anchor="ctr"/>
          <a:lstStyle/>
          <a:p>
            <a:pPr>
              <a:spcBef>
                <a:spcPct val="0"/>
              </a:spcBef>
              <a:buClrTx/>
              <a:buSzTx/>
              <a:buFontTx/>
              <a:buNone/>
            </a:pPr>
            <a:r>
              <a:rPr lang="en-US" sz="4000" u="sng">
                <a:solidFill>
                  <a:schemeClr val="accent2"/>
                </a:solidFill>
              </a:rPr>
              <a:t>Stream jargon</a:t>
            </a:r>
            <a:endParaRPr lang="en-US" sz="4000" u="sng">
              <a:solidFill>
                <a:schemeClr val="accent2"/>
              </a:solidFill>
            </a:endParaRPr>
          </a:p>
        </p:txBody>
      </p:sp>
      <p:sp>
        <p:nvSpPr>
          <p:cNvPr id="30731" name="Rectangle 50"/>
          <p:cNvSpPr>
            <a:spLocks noGrp="1" noChangeArrowheads="1"/>
          </p:cNvSpPr>
          <p:nvPr>
            <p:ph type="body" sz="half" idx="1"/>
          </p:nvPr>
        </p:nvSpPr>
        <p:spPr>
          <a:noFill/>
        </p:spPr>
        <p:txBody>
          <a:bodyPr/>
          <a:lstStyle/>
          <a:p>
            <a:r>
              <a:rPr lang="en-US" sz="2000"/>
              <a:t>A </a:t>
            </a:r>
            <a:r>
              <a:rPr lang="en-US" sz="2000">
                <a:solidFill>
                  <a:srgbClr val="FF0000"/>
                </a:solidFill>
              </a:rPr>
              <a:t>stream</a:t>
            </a:r>
            <a:r>
              <a:rPr lang="en-US" sz="2000"/>
              <a:t> is a sequence of characters that flow into or out of a process.</a:t>
            </a:r>
            <a:endParaRPr lang="en-US" sz="2000"/>
          </a:p>
          <a:p>
            <a:r>
              <a:rPr lang="en-US" sz="2000"/>
              <a:t>An </a:t>
            </a:r>
            <a:r>
              <a:rPr lang="en-US" sz="2000">
                <a:solidFill>
                  <a:srgbClr val="FF0000"/>
                </a:solidFill>
              </a:rPr>
              <a:t>input stream</a:t>
            </a:r>
            <a:r>
              <a:rPr lang="en-US" sz="2000"/>
              <a:t> is attached to some input source for the process, e.g., keyboard or socket.</a:t>
            </a:r>
            <a:endParaRPr lang="en-US" sz="2000"/>
          </a:p>
          <a:p>
            <a:r>
              <a:rPr lang="en-US" sz="2000"/>
              <a:t>An </a:t>
            </a:r>
            <a:r>
              <a:rPr lang="en-US" sz="2000">
                <a:solidFill>
                  <a:srgbClr val="FF0000"/>
                </a:solidFill>
              </a:rPr>
              <a:t>output stream</a:t>
            </a:r>
            <a:r>
              <a:rPr lang="en-US" sz="2000"/>
              <a:t> is attached to an output source, e.g., monitor or socket.</a:t>
            </a:r>
            <a:endParaRPr lang="en-US" sz="200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4451" name="Slide Number Placeholder 6"/>
          <p:cNvSpPr>
            <a:spLocks noGrp="1"/>
          </p:cNvSpPr>
          <p:nvPr>
            <p:ph type="sldNum" sz="quarter" idx="12"/>
          </p:nvPr>
        </p:nvSpPr>
        <p:spPr>
          <a:noFill/>
        </p:spPr>
        <p:txBody>
          <a:bodyPr/>
          <a:lstStyle/>
          <a:p>
            <a:fld id="{9152BE3D-42BE-49A9-B5A7-073DC311E204}" type="slidenum">
              <a:rPr lang="en-US"/>
            </a:fld>
            <a:endParaRPr lang="en-US"/>
          </a:p>
        </p:txBody>
      </p:sp>
      <p:sp>
        <p:nvSpPr>
          <p:cNvPr id="104452" name="Rectangle 2"/>
          <p:cNvSpPr>
            <a:spLocks noGrp="1" noChangeArrowheads="1"/>
          </p:cNvSpPr>
          <p:nvPr>
            <p:ph type="title"/>
          </p:nvPr>
        </p:nvSpPr>
        <p:spPr/>
        <p:txBody>
          <a:bodyPr/>
          <a:lstStyle/>
          <a:p>
            <a:r>
              <a:rPr lang="en-US" sz="3600"/>
              <a:t>Socket programming with TCP</a:t>
            </a:r>
            <a:endParaRPr lang="en-US"/>
          </a:p>
        </p:txBody>
      </p:sp>
      <p:sp>
        <p:nvSpPr>
          <p:cNvPr id="104453" name="Rectangle 3"/>
          <p:cNvSpPr>
            <a:spLocks noGrp="1" noChangeArrowheads="1"/>
          </p:cNvSpPr>
          <p:nvPr>
            <p:ph type="body" sz="half" idx="1"/>
          </p:nvPr>
        </p:nvSpPr>
        <p:spPr>
          <a:xfrm>
            <a:off x="492125" y="1474788"/>
            <a:ext cx="4114800" cy="4648200"/>
          </a:xfrm>
        </p:spPr>
        <p:txBody>
          <a:bodyPr/>
          <a:lstStyle/>
          <a:p>
            <a:pPr>
              <a:buFont typeface="ZapfDingbats" pitchFamily="82" charset="2"/>
              <a:buNone/>
            </a:pPr>
            <a:r>
              <a:rPr lang="en-US" sz="2400">
                <a:solidFill>
                  <a:srgbClr val="FF0000"/>
                </a:solidFill>
              </a:rPr>
              <a:t>Example client-server app:</a:t>
            </a:r>
            <a:endParaRPr lang="en-US" sz="2400"/>
          </a:p>
          <a:p>
            <a:pPr>
              <a:buFont typeface="ZapfDingbats" pitchFamily="82" charset="2"/>
              <a:buNone/>
            </a:pPr>
            <a:r>
              <a:rPr lang="en-US" sz="2000"/>
              <a:t>1) client reads line from standard input (</a:t>
            </a:r>
            <a:r>
              <a:rPr lang="en-US" sz="2000" b="1">
                <a:latin typeface="Courier New" panose="02070309020205020404" pitchFamily="49" charset="0"/>
              </a:rPr>
              <a:t>inFromUser</a:t>
            </a:r>
            <a:r>
              <a:rPr lang="en-US" sz="2000"/>
              <a:t> stream) , sends to server via socket (</a:t>
            </a:r>
            <a:r>
              <a:rPr lang="en-US" sz="2000" b="1">
                <a:latin typeface="Courier New" panose="02070309020205020404" pitchFamily="49" charset="0"/>
              </a:rPr>
              <a:t>outToServer</a:t>
            </a:r>
            <a:r>
              <a:rPr lang="en-US" sz="2000"/>
              <a:t> stream)</a:t>
            </a:r>
            <a:endParaRPr lang="en-US" sz="2000"/>
          </a:p>
          <a:p>
            <a:pPr>
              <a:buFont typeface="ZapfDingbats" pitchFamily="82" charset="2"/>
              <a:buNone/>
            </a:pPr>
            <a:r>
              <a:rPr lang="en-US" sz="2000"/>
              <a:t>2) server reads line from socket</a:t>
            </a:r>
            <a:endParaRPr lang="en-US" sz="2000"/>
          </a:p>
          <a:p>
            <a:pPr>
              <a:buFont typeface="ZapfDingbats" pitchFamily="82" charset="2"/>
              <a:buNone/>
            </a:pPr>
            <a:r>
              <a:rPr lang="en-US" sz="2000"/>
              <a:t>3) server converts line to uppercase, sends back to client</a:t>
            </a:r>
            <a:endParaRPr lang="en-US" sz="2000"/>
          </a:p>
          <a:p>
            <a:pPr>
              <a:buFont typeface="ZapfDingbats" pitchFamily="82" charset="2"/>
              <a:buNone/>
            </a:pPr>
            <a:r>
              <a:rPr lang="en-US" sz="2000"/>
              <a:t>4) client reads, prints  modified line from socket (</a:t>
            </a:r>
            <a:r>
              <a:rPr lang="en-US" sz="2000" b="1">
                <a:latin typeface="Courier New" panose="02070309020205020404" pitchFamily="49" charset="0"/>
              </a:rPr>
              <a:t>inFromServer</a:t>
            </a:r>
            <a:r>
              <a:rPr lang="en-US" sz="2000"/>
              <a:t> stream)</a:t>
            </a:r>
            <a:endParaRPr lang="en-US" sz="2000"/>
          </a:p>
        </p:txBody>
      </p:sp>
      <p:sp>
        <p:nvSpPr>
          <p:cNvPr id="104454" name="Rectangle 4"/>
          <p:cNvSpPr>
            <a:spLocks noChangeArrowheads="1"/>
          </p:cNvSpPr>
          <p:nvPr/>
        </p:nvSpPr>
        <p:spPr bwMode="auto">
          <a:xfrm>
            <a:off x="0" y="1395413"/>
            <a:ext cx="9144000" cy="0"/>
          </a:xfrm>
          <a:prstGeom prst="rect">
            <a:avLst/>
          </a:prstGeom>
          <a:noFill/>
          <a:ln w="9525">
            <a:noFill/>
            <a:miter lim="800000"/>
          </a:ln>
        </p:spPr>
        <p:txBody>
          <a:bodyPr wrap="none" anchor="ctr">
            <a:spAutoFit/>
          </a:bodyPr>
          <a:lstStyle/>
          <a:p>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5475" name="Slide Number Placeholder 4"/>
          <p:cNvSpPr>
            <a:spLocks noGrp="1"/>
          </p:cNvSpPr>
          <p:nvPr>
            <p:ph type="sldNum" sz="quarter" idx="12"/>
          </p:nvPr>
        </p:nvSpPr>
        <p:spPr>
          <a:noFill/>
        </p:spPr>
        <p:txBody>
          <a:bodyPr/>
          <a:lstStyle/>
          <a:p>
            <a:fld id="{D61A75B3-C1CF-4EDE-89F8-B44ECD161EE1}" type="slidenum">
              <a:rPr lang="en-US"/>
            </a:fld>
            <a:endParaRPr lang="en-US"/>
          </a:p>
        </p:txBody>
      </p:sp>
      <p:sp>
        <p:nvSpPr>
          <p:cNvPr id="105476" name="Rectangle 2"/>
          <p:cNvSpPr>
            <a:spLocks noGrp="1" noChangeArrowheads="1"/>
          </p:cNvSpPr>
          <p:nvPr>
            <p:ph type="title"/>
          </p:nvPr>
        </p:nvSpPr>
        <p:spPr/>
        <p:txBody>
          <a:bodyPr/>
          <a:lstStyle/>
          <a:p>
            <a:r>
              <a:rPr lang="en-US" sz="3600"/>
              <a:t>Example: Java client (TCP)</a:t>
            </a:r>
            <a:endParaRPr lang="en-US"/>
          </a:p>
        </p:txBody>
      </p:sp>
      <p:sp>
        <p:nvSpPr>
          <p:cNvPr id="105477" name="Rectangle 3"/>
          <p:cNvSpPr>
            <a:spLocks noChangeArrowheads="1"/>
          </p:cNvSpPr>
          <p:nvPr/>
        </p:nvSpPr>
        <p:spPr bwMode="auto">
          <a:xfrm>
            <a:off x="2185988" y="1508125"/>
            <a:ext cx="6826250" cy="5005388"/>
          </a:xfrm>
          <a:prstGeom prst="rect">
            <a:avLst/>
          </a:prstGeom>
          <a:noFill/>
          <a:ln w="9525">
            <a:noFill/>
            <a:miter lim="800000"/>
          </a:ln>
        </p:spPr>
        <p:txBody>
          <a:bodyPr wrap="none" anchor="ctr">
            <a:spAutoFit/>
          </a:bodyPr>
          <a:lstStyle/>
          <a:p>
            <a:pPr>
              <a:spcBef>
                <a:spcPct val="0"/>
              </a:spcBef>
              <a:buClrTx/>
              <a:buSzTx/>
              <a:buFontTx/>
              <a:buNone/>
            </a:pPr>
            <a:r>
              <a:rPr lang="en-US" sz="1800">
                <a:latin typeface="Arial" panose="020B0604020202020204" pitchFamily="34" charset="0"/>
              </a:rPr>
              <a:t>import java.io.*;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import java.net.*;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class TCPClient {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public static void main(String argv[]) throws Exception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String sentence;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String modifiedSentence;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BufferedReader inFromUser =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new BufferedReader(new InputStreamReader(System.in));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Socket clientSocket = new Socket("hostname", 6789);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DataOutputStream outToServer =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new DataOutputStream(clientSocket.getOutputStream());</a:t>
            </a:r>
            <a:r>
              <a:rPr lang="en-US" sz="1800">
                <a:latin typeface="Times New Roman" panose="02020603050405020304" pitchFamily="18" charset="0"/>
              </a:rPr>
              <a:t> </a:t>
            </a:r>
            <a:endParaRPr lang="en-US" sz="1800">
              <a:latin typeface="Times New Roman" panose="02020603050405020304" pitchFamily="18" charset="0"/>
            </a:endParaRPr>
          </a:p>
          <a:p>
            <a:pPr>
              <a:spcBef>
                <a:spcPct val="0"/>
              </a:spcBef>
              <a:buClrTx/>
              <a:buSzTx/>
              <a:buFontTx/>
              <a:buNone/>
            </a:pPr>
            <a:endParaRPr lang="en-US" sz="1800">
              <a:latin typeface="Times New Roman" panose="02020603050405020304" pitchFamily="18" charset="0"/>
            </a:endParaRPr>
          </a:p>
          <a:p>
            <a:pPr>
              <a:spcBef>
                <a:spcPct val="0"/>
              </a:spcBef>
              <a:buClrTx/>
              <a:buSzTx/>
              <a:buFontTx/>
              <a:buNone/>
            </a:pPr>
            <a:r>
              <a:rPr lang="en-US" sz="1600">
                <a:latin typeface="Times New Roman" panose="02020603050405020304" pitchFamily="18" charset="0"/>
              </a:rPr>
              <a:t>        </a:t>
            </a:r>
            <a:endParaRPr lang="en-US" sz="1600">
              <a:latin typeface="Times New Roman" panose="02020603050405020304" pitchFamily="18" charset="0"/>
            </a:endParaRPr>
          </a:p>
        </p:txBody>
      </p:sp>
      <p:sp>
        <p:nvSpPr>
          <p:cNvPr id="105478" name="Text Box 4"/>
          <p:cNvSpPr txBox="1">
            <a:spLocks noChangeArrowheads="1"/>
          </p:cNvSpPr>
          <p:nvPr/>
        </p:nvSpPr>
        <p:spPr bwMode="auto">
          <a:xfrm>
            <a:off x="700088" y="3810000"/>
            <a:ext cx="1533525"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a:t>
            </a:r>
            <a:endParaRPr lang="en-US" sz="1800">
              <a:solidFill>
                <a:schemeClr val="accent2"/>
              </a:solidFill>
            </a:endParaRPr>
          </a:p>
          <a:p>
            <a:pPr algn="r">
              <a:spcBef>
                <a:spcPct val="0"/>
              </a:spcBef>
              <a:buClrTx/>
              <a:buSzTx/>
              <a:buFontTx/>
              <a:buNone/>
            </a:pPr>
            <a:r>
              <a:rPr lang="en-US" sz="1800">
                <a:solidFill>
                  <a:schemeClr val="accent2"/>
                </a:solidFill>
              </a:rPr>
              <a:t>input stream</a:t>
            </a:r>
            <a:endParaRPr lang="en-US" sz="1800"/>
          </a:p>
        </p:txBody>
      </p:sp>
      <p:sp>
        <p:nvSpPr>
          <p:cNvPr id="105479" name="Text Box 5"/>
          <p:cNvSpPr txBox="1">
            <a:spLocks noChangeArrowheads="1"/>
          </p:cNvSpPr>
          <p:nvPr/>
        </p:nvSpPr>
        <p:spPr bwMode="auto">
          <a:xfrm>
            <a:off x="166688" y="4505325"/>
            <a:ext cx="2068512" cy="915988"/>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 </a:t>
            </a:r>
            <a:endParaRPr lang="en-US" sz="1800">
              <a:solidFill>
                <a:schemeClr val="accent2"/>
              </a:solidFill>
            </a:endParaRPr>
          </a:p>
          <a:p>
            <a:pPr algn="r">
              <a:spcBef>
                <a:spcPct val="0"/>
              </a:spcBef>
              <a:buClrTx/>
              <a:buSzTx/>
              <a:buFontTx/>
              <a:buNone/>
            </a:pPr>
            <a:r>
              <a:rPr lang="en-US" sz="1800">
                <a:solidFill>
                  <a:schemeClr val="accent2"/>
                </a:solidFill>
              </a:rPr>
              <a:t>client socket, </a:t>
            </a:r>
            <a:endParaRPr lang="en-US" sz="1800">
              <a:solidFill>
                <a:schemeClr val="accent2"/>
              </a:solidFill>
            </a:endParaRPr>
          </a:p>
          <a:p>
            <a:pPr algn="r">
              <a:spcBef>
                <a:spcPct val="0"/>
              </a:spcBef>
              <a:buClrTx/>
              <a:buSzTx/>
              <a:buFontTx/>
              <a:buNone/>
            </a:pPr>
            <a:r>
              <a:rPr lang="en-US" sz="1800">
                <a:solidFill>
                  <a:schemeClr val="accent2"/>
                </a:solidFill>
              </a:rPr>
              <a:t>connect to server</a:t>
            </a:r>
            <a:endParaRPr lang="en-US" sz="1800"/>
          </a:p>
        </p:txBody>
      </p:sp>
      <p:sp>
        <p:nvSpPr>
          <p:cNvPr id="105480" name="Text Box 6"/>
          <p:cNvSpPr txBox="1">
            <a:spLocks noChangeArrowheads="1"/>
          </p:cNvSpPr>
          <p:nvPr/>
        </p:nvSpPr>
        <p:spPr bwMode="auto">
          <a:xfrm>
            <a:off x="0" y="5421313"/>
            <a:ext cx="2216150" cy="915987"/>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a:t>
            </a:r>
            <a:endParaRPr lang="en-US" sz="1800">
              <a:solidFill>
                <a:schemeClr val="accent2"/>
              </a:solidFill>
            </a:endParaRPr>
          </a:p>
          <a:p>
            <a:pPr algn="r">
              <a:spcBef>
                <a:spcPct val="0"/>
              </a:spcBef>
              <a:buClrTx/>
              <a:buSzTx/>
              <a:buFontTx/>
              <a:buNone/>
            </a:pPr>
            <a:r>
              <a:rPr lang="en-US" sz="1800">
                <a:solidFill>
                  <a:schemeClr val="accent2"/>
                </a:solidFill>
              </a:rPr>
              <a:t>output stream</a:t>
            </a:r>
            <a:endParaRPr lang="en-US" sz="1800">
              <a:solidFill>
                <a:schemeClr val="accent2"/>
              </a:solidFill>
            </a:endParaRPr>
          </a:p>
          <a:p>
            <a:pPr algn="r">
              <a:spcBef>
                <a:spcPct val="0"/>
              </a:spcBef>
              <a:buClrTx/>
              <a:buSzTx/>
              <a:buFontTx/>
              <a:buNone/>
            </a:pPr>
            <a:r>
              <a:rPr lang="en-US" sz="1800">
                <a:solidFill>
                  <a:schemeClr val="accent2"/>
                </a:solidFill>
              </a:rPr>
              <a:t>attached to socket</a:t>
            </a:r>
            <a:endParaRPr lang="en-US" sz="1800"/>
          </a:p>
        </p:txBody>
      </p:sp>
      <p:sp>
        <p:nvSpPr>
          <p:cNvPr id="105481" name="Freeform 7"/>
          <p:cNvSpPr/>
          <p:nvPr/>
        </p:nvSpPr>
        <p:spPr bwMode="auto">
          <a:xfrm>
            <a:off x="2081213" y="3890963"/>
            <a:ext cx="123825" cy="542925"/>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wrap="none" anchor="ctr">
            <a:spAutoFit/>
          </a:bodyPr>
          <a:lstStyle/>
          <a:p>
            <a:endParaRPr lang="en-US"/>
          </a:p>
        </p:txBody>
      </p:sp>
      <p:sp>
        <p:nvSpPr>
          <p:cNvPr id="105482" name="Line 8"/>
          <p:cNvSpPr>
            <a:spLocks noChangeShapeType="1"/>
          </p:cNvSpPr>
          <p:nvPr/>
        </p:nvSpPr>
        <p:spPr bwMode="auto">
          <a:xfrm flipV="1">
            <a:off x="2214563" y="4152900"/>
            <a:ext cx="361950" cy="4763"/>
          </a:xfrm>
          <a:prstGeom prst="line">
            <a:avLst/>
          </a:prstGeom>
          <a:noFill/>
          <a:ln w="28575">
            <a:solidFill>
              <a:schemeClr val="accent2"/>
            </a:solidFill>
            <a:round/>
            <a:tailEnd type="triangle" w="med" len="med"/>
          </a:ln>
        </p:spPr>
        <p:txBody>
          <a:bodyPr anchor="ctr">
            <a:spAutoFit/>
          </a:bodyPr>
          <a:lstStyle/>
          <a:p>
            <a:endParaRPr lang="en-US"/>
          </a:p>
        </p:txBody>
      </p:sp>
      <p:sp>
        <p:nvSpPr>
          <p:cNvPr id="105483" name="Freeform 9"/>
          <p:cNvSpPr/>
          <p:nvPr/>
        </p:nvSpPr>
        <p:spPr bwMode="auto">
          <a:xfrm>
            <a:off x="2081213" y="4605338"/>
            <a:ext cx="123825" cy="766762"/>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5484" name="Line 10"/>
          <p:cNvSpPr>
            <a:spLocks noChangeShapeType="1"/>
          </p:cNvSpPr>
          <p:nvPr/>
        </p:nvSpPr>
        <p:spPr bwMode="auto">
          <a:xfrm>
            <a:off x="2209800" y="4987925"/>
            <a:ext cx="423863" cy="3175"/>
          </a:xfrm>
          <a:prstGeom prst="line">
            <a:avLst/>
          </a:prstGeom>
          <a:noFill/>
          <a:ln w="28575">
            <a:solidFill>
              <a:schemeClr val="accent2"/>
            </a:solidFill>
            <a:round/>
            <a:tailEnd type="triangle" w="med" len="med"/>
          </a:ln>
        </p:spPr>
        <p:txBody>
          <a:bodyPr anchor="ctr">
            <a:spAutoFit/>
          </a:bodyPr>
          <a:lstStyle/>
          <a:p>
            <a:endParaRPr lang="en-US"/>
          </a:p>
        </p:txBody>
      </p:sp>
      <p:sp>
        <p:nvSpPr>
          <p:cNvPr id="105485" name="Freeform 11"/>
          <p:cNvSpPr/>
          <p:nvPr/>
        </p:nvSpPr>
        <p:spPr bwMode="auto">
          <a:xfrm>
            <a:off x="2109788" y="5519738"/>
            <a:ext cx="123825" cy="804862"/>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5486" name="Line 12"/>
          <p:cNvSpPr>
            <a:spLocks noChangeShapeType="1"/>
          </p:cNvSpPr>
          <p:nvPr/>
        </p:nvSpPr>
        <p:spPr bwMode="auto">
          <a:xfrm flipV="1">
            <a:off x="2238375" y="5619750"/>
            <a:ext cx="361950" cy="14288"/>
          </a:xfrm>
          <a:prstGeom prst="line">
            <a:avLst/>
          </a:prstGeom>
          <a:noFill/>
          <a:ln w="28575">
            <a:solidFill>
              <a:schemeClr val="accent2"/>
            </a:solidFill>
            <a:round/>
            <a:tailEnd type="triangle" w="med" len="med"/>
          </a:ln>
        </p:spPr>
        <p:txBody>
          <a:bodyPr anchor="ctr">
            <a:spAutoFit/>
          </a:bodyPr>
          <a:lstStyle/>
          <a:p>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6499" name="Slide Number Placeholder 4"/>
          <p:cNvSpPr>
            <a:spLocks noGrp="1"/>
          </p:cNvSpPr>
          <p:nvPr>
            <p:ph type="sldNum" sz="quarter" idx="12"/>
          </p:nvPr>
        </p:nvSpPr>
        <p:spPr>
          <a:noFill/>
        </p:spPr>
        <p:txBody>
          <a:bodyPr/>
          <a:lstStyle/>
          <a:p>
            <a:fld id="{68D01A5B-D073-4E3C-8E4A-D35C571DDBD8}" type="slidenum">
              <a:rPr lang="en-US"/>
            </a:fld>
            <a:endParaRPr lang="en-US"/>
          </a:p>
        </p:txBody>
      </p:sp>
      <p:sp>
        <p:nvSpPr>
          <p:cNvPr id="106500" name="Rectangle 2"/>
          <p:cNvSpPr>
            <a:spLocks noGrp="1" noChangeArrowheads="1"/>
          </p:cNvSpPr>
          <p:nvPr>
            <p:ph type="title"/>
          </p:nvPr>
        </p:nvSpPr>
        <p:spPr/>
        <p:txBody>
          <a:bodyPr/>
          <a:lstStyle/>
          <a:p>
            <a:r>
              <a:rPr lang="en-US" sz="3600"/>
              <a:t>Example: Java client (TCP), cont.</a:t>
            </a:r>
            <a:endParaRPr lang="en-US" sz="3600"/>
          </a:p>
        </p:txBody>
      </p:sp>
      <p:sp>
        <p:nvSpPr>
          <p:cNvPr id="106501" name="Rectangle 3"/>
          <p:cNvSpPr>
            <a:spLocks noChangeArrowheads="1"/>
          </p:cNvSpPr>
          <p:nvPr/>
        </p:nvSpPr>
        <p:spPr bwMode="auto">
          <a:xfrm>
            <a:off x="2490788" y="1865313"/>
            <a:ext cx="6394450" cy="4486275"/>
          </a:xfrm>
          <a:prstGeom prst="rect">
            <a:avLst/>
          </a:prstGeom>
          <a:noFill/>
          <a:ln w="9525">
            <a:noFill/>
            <a:miter lim="800000"/>
          </a:ln>
        </p:spPr>
        <p:txBody>
          <a:bodyPr wrap="none" anchor="ctr">
            <a:spAutoFit/>
          </a:bodyPr>
          <a:lstStyle/>
          <a:p>
            <a:pPr>
              <a:spcBef>
                <a:spcPct val="0"/>
              </a:spcBef>
              <a:buClrTx/>
              <a:buSzTx/>
              <a:buFontTx/>
              <a:buNone/>
            </a:pPr>
            <a:r>
              <a:rPr lang="en-US" sz="1800">
                <a:latin typeface="Times New Roman" panose="02020603050405020304" pitchFamily="18" charset="0"/>
              </a:rPr>
              <a:t>        </a:t>
            </a:r>
            <a:r>
              <a:rPr lang="en-US" sz="1800">
                <a:latin typeface="Arial" panose="020B0604020202020204" pitchFamily="34" charset="0"/>
              </a:rPr>
              <a:t>BufferedReader inFromServer =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new BufferedReader(new</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InputStreamReader(clientSocket.getInputStream()));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sentence = inFromUser.readLine();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outToServer.writeBytes(sentence + '\n');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modifiedSentence = inFromServer.readLine();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System.out.println</a:t>
            </a:r>
            <a:r>
              <a:rPr lang="en-US" sz="1600">
                <a:latin typeface="Arial" panose="020B0604020202020204" pitchFamily="34" charset="0"/>
              </a:rPr>
              <a:t>("FROM SERVER: " + modifiedSentence</a:t>
            </a:r>
            <a:r>
              <a:rPr lang="en-US" sz="1800">
                <a:latin typeface="Arial" panose="020B0604020202020204" pitchFamily="34" charset="0"/>
              </a:rPr>
              <a:t>);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clientSocket.close();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a:t>
            </a:r>
            <a:r>
              <a:rPr lang="en-US" sz="1600">
                <a:latin typeface="Arial" panose="020B0604020202020204" pitchFamily="34" charset="0"/>
              </a:rPr>
              <a:t> </a:t>
            </a:r>
            <a:endParaRPr lang="en-US" sz="1600">
              <a:latin typeface="Arial" panose="020B0604020202020204" pitchFamily="34" charset="0"/>
            </a:endParaRPr>
          </a:p>
        </p:txBody>
      </p:sp>
      <p:sp>
        <p:nvSpPr>
          <p:cNvPr id="106502" name="Text Box 4"/>
          <p:cNvSpPr txBox="1">
            <a:spLocks noChangeArrowheads="1"/>
          </p:cNvSpPr>
          <p:nvPr/>
        </p:nvSpPr>
        <p:spPr bwMode="auto">
          <a:xfrm>
            <a:off x="114300" y="1849438"/>
            <a:ext cx="2392363" cy="915987"/>
          </a:xfrm>
          <a:prstGeom prst="rect">
            <a:avLst/>
          </a:prstGeom>
          <a:noFill/>
          <a:ln w="9525">
            <a:noFill/>
            <a:miter lim="800000"/>
          </a:ln>
        </p:spPr>
        <p:txBody>
          <a:bodyPr anchor="ctr">
            <a:spAutoFit/>
          </a:bodyPr>
          <a:lstStyle/>
          <a:p>
            <a:pPr algn="r">
              <a:spcBef>
                <a:spcPct val="0"/>
              </a:spcBef>
              <a:buClrTx/>
              <a:buSzTx/>
              <a:buFontTx/>
              <a:buNone/>
            </a:pPr>
            <a:r>
              <a:rPr lang="en-US" sz="1800">
                <a:solidFill>
                  <a:schemeClr val="accent2"/>
                </a:solidFill>
              </a:rPr>
              <a:t>Create</a:t>
            </a:r>
            <a:endParaRPr lang="en-US" sz="1800">
              <a:solidFill>
                <a:schemeClr val="accent2"/>
              </a:solidFill>
            </a:endParaRPr>
          </a:p>
          <a:p>
            <a:pPr algn="r">
              <a:spcBef>
                <a:spcPct val="0"/>
              </a:spcBef>
              <a:buClrTx/>
              <a:buSzTx/>
              <a:buFontTx/>
              <a:buNone/>
            </a:pPr>
            <a:r>
              <a:rPr lang="en-US" sz="1800">
                <a:solidFill>
                  <a:schemeClr val="accent2"/>
                </a:solidFill>
              </a:rPr>
              <a:t>input stream</a:t>
            </a:r>
            <a:endParaRPr lang="en-US" sz="1800">
              <a:solidFill>
                <a:schemeClr val="accent2"/>
              </a:solidFill>
            </a:endParaRPr>
          </a:p>
          <a:p>
            <a:pPr algn="r">
              <a:spcBef>
                <a:spcPct val="0"/>
              </a:spcBef>
              <a:buClrTx/>
              <a:buSzTx/>
              <a:buFontTx/>
              <a:buNone/>
            </a:pPr>
            <a:r>
              <a:rPr lang="en-US" sz="1800">
                <a:solidFill>
                  <a:schemeClr val="accent2"/>
                </a:solidFill>
              </a:rPr>
              <a:t>attached to socket</a:t>
            </a:r>
            <a:endParaRPr lang="en-US" sz="1800"/>
          </a:p>
        </p:txBody>
      </p:sp>
      <p:sp>
        <p:nvSpPr>
          <p:cNvPr id="106503" name="Text Box 5"/>
          <p:cNvSpPr txBox="1">
            <a:spLocks noChangeArrowheads="1"/>
          </p:cNvSpPr>
          <p:nvPr/>
        </p:nvSpPr>
        <p:spPr bwMode="auto">
          <a:xfrm>
            <a:off x="1487488" y="3321050"/>
            <a:ext cx="1173162"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Send line</a:t>
            </a:r>
            <a:endParaRPr lang="en-US" sz="1800">
              <a:solidFill>
                <a:schemeClr val="accent2"/>
              </a:solidFill>
            </a:endParaRPr>
          </a:p>
          <a:p>
            <a:pPr algn="r">
              <a:spcBef>
                <a:spcPct val="0"/>
              </a:spcBef>
              <a:buClrTx/>
              <a:buSzTx/>
              <a:buFontTx/>
              <a:buNone/>
            </a:pPr>
            <a:r>
              <a:rPr lang="en-US" sz="1800">
                <a:solidFill>
                  <a:schemeClr val="accent2"/>
                </a:solidFill>
              </a:rPr>
              <a:t>to server</a:t>
            </a:r>
            <a:endParaRPr lang="en-US" sz="1800"/>
          </a:p>
        </p:txBody>
      </p:sp>
      <p:sp>
        <p:nvSpPr>
          <p:cNvPr id="106504" name="Text Box 6"/>
          <p:cNvSpPr txBox="1">
            <a:spLocks noChangeArrowheads="1"/>
          </p:cNvSpPr>
          <p:nvPr/>
        </p:nvSpPr>
        <p:spPr bwMode="auto">
          <a:xfrm>
            <a:off x="1181100" y="4110038"/>
            <a:ext cx="1468438"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Read line</a:t>
            </a:r>
            <a:endParaRPr lang="en-US" sz="1800">
              <a:solidFill>
                <a:schemeClr val="accent2"/>
              </a:solidFill>
            </a:endParaRPr>
          </a:p>
          <a:p>
            <a:pPr algn="r">
              <a:spcBef>
                <a:spcPct val="0"/>
              </a:spcBef>
              <a:buClrTx/>
              <a:buSzTx/>
              <a:buFontTx/>
              <a:buNone/>
            </a:pPr>
            <a:r>
              <a:rPr lang="en-US" sz="1800">
                <a:solidFill>
                  <a:schemeClr val="accent2"/>
                </a:solidFill>
              </a:rPr>
              <a:t>from server</a:t>
            </a:r>
            <a:endParaRPr lang="en-US" sz="1800"/>
          </a:p>
        </p:txBody>
      </p:sp>
      <p:sp>
        <p:nvSpPr>
          <p:cNvPr id="106505" name="Freeform 7"/>
          <p:cNvSpPr/>
          <p:nvPr/>
        </p:nvSpPr>
        <p:spPr bwMode="auto">
          <a:xfrm>
            <a:off x="2466975" y="1919288"/>
            <a:ext cx="114300" cy="790575"/>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6506" name="Line 8"/>
          <p:cNvSpPr>
            <a:spLocks noChangeShapeType="1"/>
          </p:cNvSpPr>
          <p:nvPr/>
        </p:nvSpPr>
        <p:spPr bwMode="auto">
          <a:xfrm flipV="1">
            <a:off x="2581275" y="2324100"/>
            <a:ext cx="342900" cy="14288"/>
          </a:xfrm>
          <a:prstGeom prst="line">
            <a:avLst/>
          </a:prstGeom>
          <a:noFill/>
          <a:ln w="28575">
            <a:solidFill>
              <a:schemeClr val="accent2"/>
            </a:solidFill>
            <a:round/>
            <a:tailEnd type="triangle" w="med" len="med"/>
          </a:ln>
        </p:spPr>
        <p:txBody>
          <a:bodyPr anchor="ctr">
            <a:spAutoFit/>
          </a:bodyPr>
          <a:lstStyle/>
          <a:p>
            <a:endParaRPr lang="en-US"/>
          </a:p>
        </p:txBody>
      </p:sp>
      <p:sp>
        <p:nvSpPr>
          <p:cNvPr id="106507" name="Freeform 9"/>
          <p:cNvSpPr/>
          <p:nvPr/>
        </p:nvSpPr>
        <p:spPr bwMode="auto">
          <a:xfrm>
            <a:off x="2505075" y="3357563"/>
            <a:ext cx="123825" cy="5857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6508" name="Line 10"/>
          <p:cNvSpPr>
            <a:spLocks noChangeShapeType="1"/>
          </p:cNvSpPr>
          <p:nvPr/>
        </p:nvSpPr>
        <p:spPr bwMode="auto">
          <a:xfrm flipV="1">
            <a:off x="2633663" y="3667125"/>
            <a:ext cx="309562" cy="15875"/>
          </a:xfrm>
          <a:prstGeom prst="line">
            <a:avLst/>
          </a:prstGeom>
          <a:noFill/>
          <a:ln w="28575">
            <a:solidFill>
              <a:schemeClr val="accent2"/>
            </a:solidFill>
            <a:round/>
            <a:tailEnd type="triangle" w="med" len="med"/>
          </a:ln>
        </p:spPr>
        <p:txBody>
          <a:bodyPr anchor="ctr">
            <a:spAutoFit/>
          </a:bodyPr>
          <a:lstStyle/>
          <a:p>
            <a:endParaRPr lang="en-US"/>
          </a:p>
        </p:txBody>
      </p:sp>
      <p:sp>
        <p:nvSpPr>
          <p:cNvPr id="106509" name="Freeform 11"/>
          <p:cNvSpPr/>
          <p:nvPr/>
        </p:nvSpPr>
        <p:spPr bwMode="auto">
          <a:xfrm>
            <a:off x="2524125" y="4186238"/>
            <a:ext cx="123825" cy="5095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6510" name="Line 12"/>
          <p:cNvSpPr>
            <a:spLocks noChangeShapeType="1"/>
          </p:cNvSpPr>
          <p:nvPr/>
        </p:nvSpPr>
        <p:spPr bwMode="auto">
          <a:xfrm flipV="1">
            <a:off x="2662238" y="4295775"/>
            <a:ext cx="295275" cy="4763"/>
          </a:xfrm>
          <a:prstGeom prst="line">
            <a:avLst/>
          </a:prstGeom>
          <a:noFill/>
          <a:ln w="28575">
            <a:solidFill>
              <a:schemeClr val="accent2"/>
            </a:solidFill>
            <a:round/>
            <a:tailEnd type="triangle" w="med" len="med"/>
          </a:ln>
        </p:spPr>
        <p:txBody>
          <a:bodyPr anchor="ctr">
            <a:spAutoFit/>
          </a:bodyPr>
          <a:lstStyle/>
          <a:p>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7523" name="Slide Number Placeholder 4"/>
          <p:cNvSpPr>
            <a:spLocks noGrp="1"/>
          </p:cNvSpPr>
          <p:nvPr>
            <p:ph type="sldNum" sz="quarter" idx="12"/>
          </p:nvPr>
        </p:nvSpPr>
        <p:spPr>
          <a:noFill/>
        </p:spPr>
        <p:txBody>
          <a:bodyPr/>
          <a:lstStyle/>
          <a:p>
            <a:fld id="{AE69DF0B-38B2-4424-831A-B5330B0E220F}" type="slidenum">
              <a:rPr lang="en-US"/>
            </a:fld>
            <a:endParaRPr lang="en-US"/>
          </a:p>
        </p:txBody>
      </p:sp>
      <p:sp>
        <p:nvSpPr>
          <p:cNvPr id="107524" name="Rectangle 2"/>
          <p:cNvSpPr>
            <a:spLocks noGrp="1" noChangeArrowheads="1"/>
          </p:cNvSpPr>
          <p:nvPr>
            <p:ph type="title"/>
          </p:nvPr>
        </p:nvSpPr>
        <p:spPr/>
        <p:txBody>
          <a:bodyPr/>
          <a:lstStyle/>
          <a:p>
            <a:r>
              <a:rPr lang="en-US" sz="3600"/>
              <a:t>Example: Java server (TCP)</a:t>
            </a:r>
            <a:endParaRPr lang="en-US" sz="3600"/>
          </a:p>
        </p:txBody>
      </p:sp>
      <p:sp>
        <p:nvSpPr>
          <p:cNvPr id="107525" name="Rectangle 3"/>
          <p:cNvSpPr>
            <a:spLocks noChangeArrowheads="1"/>
          </p:cNvSpPr>
          <p:nvPr/>
        </p:nvSpPr>
        <p:spPr bwMode="auto">
          <a:xfrm>
            <a:off x="2565400" y="1235075"/>
            <a:ext cx="6262688" cy="5226050"/>
          </a:xfrm>
          <a:prstGeom prst="rect">
            <a:avLst/>
          </a:prstGeom>
          <a:noFill/>
          <a:ln w="9525">
            <a:noFill/>
            <a:miter lim="800000"/>
          </a:ln>
        </p:spPr>
        <p:txBody>
          <a:bodyPr wrap="none" anchor="ctr">
            <a:spAutoFit/>
          </a:bodyPr>
          <a:lstStyle/>
          <a:p>
            <a:pPr>
              <a:spcBef>
                <a:spcPct val="0"/>
              </a:spcBef>
              <a:buClrTx/>
              <a:buSzTx/>
              <a:buFontTx/>
              <a:buNone/>
            </a:pPr>
            <a:r>
              <a:rPr lang="en-US" sz="1600">
                <a:latin typeface="Arial" panose="020B0604020202020204" pitchFamily="34" charset="0"/>
              </a:rPr>
              <a:t>import java.io.*;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import java.net.*; </a:t>
            </a:r>
            <a:endParaRPr lang="en-US" sz="1600">
              <a:latin typeface="Arial" panose="020B0604020202020204" pitchFamily="34" charset="0"/>
            </a:endParaRPr>
          </a:p>
          <a:p>
            <a:pPr>
              <a:spcBef>
                <a:spcPct val="0"/>
              </a:spcBef>
              <a:buClrTx/>
              <a:buSzTx/>
              <a:buFontTx/>
              <a:buNone/>
            </a:pP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class TCPServer { </a:t>
            </a:r>
            <a:endParaRPr lang="en-US" sz="1600">
              <a:latin typeface="Arial" panose="020B0604020202020204" pitchFamily="34" charset="0"/>
            </a:endParaRPr>
          </a:p>
          <a:p>
            <a:pPr>
              <a:spcBef>
                <a:spcPct val="0"/>
              </a:spcBef>
              <a:buClrTx/>
              <a:buSzTx/>
              <a:buFontTx/>
              <a:buNone/>
            </a:pP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public static void main(String argv[]) throws Exception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String clientSentence;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String capitalizedSentence; </a:t>
            </a:r>
            <a:endParaRPr lang="en-US" sz="1600">
              <a:latin typeface="Arial" panose="020B0604020202020204" pitchFamily="34" charset="0"/>
            </a:endParaRPr>
          </a:p>
          <a:p>
            <a:pPr>
              <a:spcBef>
                <a:spcPct val="0"/>
              </a:spcBef>
              <a:buClrTx/>
              <a:buSzTx/>
              <a:buFontTx/>
              <a:buNone/>
            </a:pP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ServerSocket welcomeSocket = new ServerSocket(6789);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while(true)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Socket connectionSocket = welcomeSocket.accept(); </a:t>
            </a:r>
            <a:endParaRPr lang="en-US" sz="1600">
              <a:latin typeface="Arial" panose="020B0604020202020204" pitchFamily="34" charset="0"/>
            </a:endParaRPr>
          </a:p>
          <a:p>
            <a:pPr>
              <a:spcBef>
                <a:spcPct val="0"/>
              </a:spcBef>
              <a:buClrTx/>
              <a:buSzTx/>
              <a:buFontTx/>
              <a:buNone/>
            </a:pP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BufferedReader inFromClient = </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new BufferedReader(new</a:t>
            </a: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InputStreamReader(connectionSocket.getInputStream())); </a:t>
            </a:r>
            <a:endParaRPr lang="en-US" sz="1600">
              <a:latin typeface="Arial" panose="020B0604020202020204" pitchFamily="34" charset="0"/>
            </a:endParaRPr>
          </a:p>
          <a:p>
            <a:pPr>
              <a:spcBef>
                <a:spcPct val="0"/>
              </a:spcBef>
              <a:buClrTx/>
              <a:buSzTx/>
              <a:buFontTx/>
              <a:buNone/>
            </a:pPr>
            <a:endParaRPr lang="en-US" sz="1600">
              <a:latin typeface="Arial" panose="020B0604020202020204" pitchFamily="34" charset="0"/>
            </a:endParaRPr>
          </a:p>
          <a:p>
            <a:pPr>
              <a:spcBef>
                <a:spcPct val="0"/>
              </a:spcBef>
              <a:buClrTx/>
              <a:buSzTx/>
              <a:buFontTx/>
              <a:buNone/>
            </a:pPr>
            <a:r>
              <a:rPr lang="en-US" sz="1600">
                <a:latin typeface="Arial" panose="020B0604020202020204" pitchFamily="34" charset="0"/>
              </a:rPr>
              <a:t>           </a:t>
            </a:r>
            <a:endParaRPr lang="en-US">
              <a:latin typeface="Times New Roman" panose="02020603050405020304" pitchFamily="18" charset="0"/>
            </a:endParaRPr>
          </a:p>
        </p:txBody>
      </p:sp>
      <p:sp>
        <p:nvSpPr>
          <p:cNvPr id="107526" name="Text Box 4"/>
          <p:cNvSpPr txBox="1">
            <a:spLocks noChangeArrowheads="1"/>
          </p:cNvSpPr>
          <p:nvPr/>
        </p:nvSpPr>
        <p:spPr bwMode="auto">
          <a:xfrm>
            <a:off x="350838" y="3249613"/>
            <a:ext cx="2022475" cy="915987"/>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a:t>
            </a:r>
            <a:endParaRPr lang="en-US" sz="1800">
              <a:solidFill>
                <a:schemeClr val="accent2"/>
              </a:solidFill>
            </a:endParaRPr>
          </a:p>
          <a:p>
            <a:pPr algn="r">
              <a:spcBef>
                <a:spcPct val="0"/>
              </a:spcBef>
              <a:buClrTx/>
              <a:buSzTx/>
              <a:buFontTx/>
              <a:buNone/>
            </a:pPr>
            <a:r>
              <a:rPr lang="en-US" sz="1800">
                <a:solidFill>
                  <a:schemeClr val="accent2"/>
                </a:solidFill>
              </a:rPr>
              <a:t>welcoming socket</a:t>
            </a:r>
            <a:endParaRPr lang="en-US" sz="1800">
              <a:solidFill>
                <a:schemeClr val="accent2"/>
              </a:solidFill>
            </a:endParaRPr>
          </a:p>
          <a:p>
            <a:pPr algn="r">
              <a:spcBef>
                <a:spcPct val="0"/>
              </a:spcBef>
              <a:buClrTx/>
              <a:buSzTx/>
              <a:buFontTx/>
              <a:buNone/>
            </a:pPr>
            <a:r>
              <a:rPr lang="en-US" sz="1800">
                <a:solidFill>
                  <a:schemeClr val="accent2"/>
                </a:solidFill>
              </a:rPr>
              <a:t>at port 6789</a:t>
            </a:r>
            <a:endParaRPr lang="en-US" sz="1800"/>
          </a:p>
        </p:txBody>
      </p:sp>
      <p:sp>
        <p:nvSpPr>
          <p:cNvPr id="107527" name="Text Box 5"/>
          <p:cNvSpPr txBox="1">
            <a:spLocks noChangeArrowheads="1"/>
          </p:cNvSpPr>
          <p:nvPr/>
        </p:nvSpPr>
        <p:spPr bwMode="auto">
          <a:xfrm>
            <a:off x="207963" y="4260850"/>
            <a:ext cx="2214562" cy="915988"/>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Wait, on welcoming</a:t>
            </a:r>
            <a:endParaRPr lang="en-US" sz="1800">
              <a:solidFill>
                <a:schemeClr val="accent2"/>
              </a:solidFill>
            </a:endParaRPr>
          </a:p>
          <a:p>
            <a:pPr algn="r">
              <a:spcBef>
                <a:spcPct val="0"/>
              </a:spcBef>
              <a:buClrTx/>
              <a:buSzTx/>
              <a:buFontTx/>
              <a:buNone/>
            </a:pPr>
            <a:r>
              <a:rPr lang="en-US" sz="1800">
                <a:solidFill>
                  <a:schemeClr val="accent2"/>
                </a:solidFill>
              </a:rPr>
              <a:t>socket for contact</a:t>
            </a:r>
            <a:endParaRPr lang="en-US" sz="1800">
              <a:solidFill>
                <a:schemeClr val="accent2"/>
              </a:solidFill>
            </a:endParaRPr>
          </a:p>
          <a:p>
            <a:pPr algn="r">
              <a:spcBef>
                <a:spcPct val="0"/>
              </a:spcBef>
              <a:buClrTx/>
              <a:buSzTx/>
              <a:buFontTx/>
              <a:buNone/>
            </a:pPr>
            <a:r>
              <a:rPr lang="en-US" sz="1800">
                <a:solidFill>
                  <a:schemeClr val="accent2"/>
                </a:solidFill>
              </a:rPr>
              <a:t>by client</a:t>
            </a:r>
            <a:endParaRPr lang="en-US" sz="1800"/>
          </a:p>
        </p:txBody>
      </p:sp>
      <p:sp>
        <p:nvSpPr>
          <p:cNvPr id="107528" name="Text Box 6"/>
          <p:cNvSpPr txBox="1">
            <a:spLocks noChangeArrowheads="1"/>
          </p:cNvSpPr>
          <p:nvPr/>
        </p:nvSpPr>
        <p:spPr bwMode="auto">
          <a:xfrm>
            <a:off x="307975" y="5278438"/>
            <a:ext cx="2093913" cy="915987"/>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Create input</a:t>
            </a:r>
            <a:endParaRPr lang="en-US" sz="1800">
              <a:solidFill>
                <a:schemeClr val="accent2"/>
              </a:solidFill>
            </a:endParaRPr>
          </a:p>
          <a:p>
            <a:pPr algn="r">
              <a:spcBef>
                <a:spcPct val="0"/>
              </a:spcBef>
              <a:buClrTx/>
              <a:buSzTx/>
              <a:buFontTx/>
              <a:buNone/>
            </a:pPr>
            <a:r>
              <a:rPr lang="en-US" sz="1800">
                <a:solidFill>
                  <a:schemeClr val="accent2"/>
                </a:solidFill>
              </a:rPr>
              <a:t>stream, attached </a:t>
            </a:r>
            <a:endParaRPr lang="en-US" sz="1800">
              <a:solidFill>
                <a:schemeClr val="accent2"/>
              </a:solidFill>
            </a:endParaRPr>
          </a:p>
          <a:p>
            <a:pPr algn="r">
              <a:spcBef>
                <a:spcPct val="0"/>
              </a:spcBef>
              <a:buClrTx/>
              <a:buSzTx/>
              <a:buFontTx/>
              <a:buNone/>
            </a:pPr>
            <a:r>
              <a:rPr lang="en-US" sz="1800">
                <a:solidFill>
                  <a:schemeClr val="accent2"/>
                </a:solidFill>
              </a:rPr>
              <a:t>to socket</a:t>
            </a:r>
            <a:endParaRPr lang="en-US" sz="1800"/>
          </a:p>
        </p:txBody>
      </p:sp>
      <p:sp>
        <p:nvSpPr>
          <p:cNvPr id="107529" name="Freeform 7"/>
          <p:cNvSpPr/>
          <p:nvPr/>
        </p:nvSpPr>
        <p:spPr bwMode="auto">
          <a:xfrm>
            <a:off x="2247900" y="3309938"/>
            <a:ext cx="152400" cy="800100"/>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7530" name="Line 8"/>
          <p:cNvSpPr>
            <a:spLocks noChangeShapeType="1"/>
          </p:cNvSpPr>
          <p:nvPr/>
        </p:nvSpPr>
        <p:spPr bwMode="auto">
          <a:xfrm>
            <a:off x="2419350" y="3843338"/>
            <a:ext cx="419100" cy="4762"/>
          </a:xfrm>
          <a:prstGeom prst="line">
            <a:avLst/>
          </a:prstGeom>
          <a:noFill/>
          <a:ln w="28575">
            <a:solidFill>
              <a:schemeClr val="accent2"/>
            </a:solidFill>
            <a:round/>
            <a:tailEnd type="triangle" w="med" len="med"/>
          </a:ln>
        </p:spPr>
        <p:txBody>
          <a:bodyPr anchor="ctr">
            <a:spAutoFit/>
          </a:bodyPr>
          <a:lstStyle/>
          <a:p>
            <a:endParaRPr lang="en-US"/>
          </a:p>
        </p:txBody>
      </p:sp>
      <p:sp>
        <p:nvSpPr>
          <p:cNvPr id="107531" name="Freeform 9"/>
          <p:cNvSpPr/>
          <p:nvPr/>
        </p:nvSpPr>
        <p:spPr bwMode="auto">
          <a:xfrm>
            <a:off x="2314575" y="4348163"/>
            <a:ext cx="123825" cy="766762"/>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7532" name="Line 10"/>
          <p:cNvSpPr>
            <a:spLocks noChangeShapeType="1"/>
          </p:cNvSpPr>
          <p:nvPr/>
        </p:nvSpPr>
        <p:spPr bwMode="auto">
          <a:xfrm>
            <a:off x="2452688" y="4787900"/>
            <a:ext cx="604837" cy="12700"/>
          </a:xfrm>
          <a:prstGeom prst="line">
            <a:avLst/>
          </a:prstGeom>
          <a:noFill/>
          <a:ln w="28575">
            <a:solidFill>
              <a:schemeClr val="accent2"/>
            </a:solidFill>
            <a:round/>
            <a:tailEnd type="triangle" w="med" len="med"/>
          </a:ln>
        </p:spPr>
        <p:txBody>
          <a:bodyPr anchor="ctr">
            <a:spAutoFit/>
          </a:bodyPr>
          <a:lstStyle/>
          <a:p>
            <a:endParaRPr lang="en-US"/>
          </a:p>
        </p:txBody>
      </p:sp>
      <p:sp>
        <p:nvSpPr>
          <p:cNvPr id="107533" name="Freeform 11"/>
          <p:cNvSpPr/>
          <p:nvPr/>
        </p:nvSpPr>
        <p:spPr bwMode="auto">
          <a:xfrm>
            <a:off x="2286000" y="5386388"/>
            <a:ext cx="152400" cy="7381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7534" name="Line 12"/>
          <p:cNvSpPr>
            <a:spLocks noChangeShapeType="1"/>
          </p:cNvSpPr>
          <p:nvPr/>
        </p:nvSpPr>
        <p:spPr bwMode="auto">
          <a:xfrm flipV="1">
            <a:off x="2443163" y="5581650"/>
            <a:ext cx="647700" cy="14288"/>
          </a:xfrm>
          <a:prstGeom prst="line">
            <a:avLst/>
          </a:prstGeom>
          <a:noFill/>
          <a:ln w="28575">
            <a:solidFill>
              <a:schemeClr val="accent2"/>
            </a:solidFill>
            <a:round/>
            <a:tailEnd type="triangle" w="med" len="med"/>
          </a:ln>
        </p:spPr>
        <p:txBody>
          <a:bodyPr anchor="ctr">
            <a:spAutoFit/>
          </a:bodyPr>
          <a:lstStyle/>
          <a:p>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3"/>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08547" name="Slide Number Placeholder 4"/>
          <p:cNvSpPr>
            <a:spLocks noGrp="1"/>
          </p:cNvSpPr>
          <p:nvPr>
            <p:ph type="sldNum" sz="quarter" idx="12"/>
          </p:nvPr>
        </p:nvSpPr>
        <p:spPr>
          <a:noFill/>
        </p:spPr>
        <p:txBody>
          <a:bodyPr/>
          <a:lstStyle/>
          <a:p>
            <a:fld id="{BC871B09-95E0-491F-9258-BF4A71A33EEF}" type="slidenum">
              <a:rPr lang="en-US"/>
            </a:fld>
            <a:endParaRPr lang="en-US"/>
          </a:p>
        </p:txBody>
      </p:sp>
      <p:sp>
        <p:nvSpPr>
          <p:cNvPr id="108548" name="Rectangle 2"/>
          <p:cNvSpPr>
            <a:spLocks noGrp="1" noChangeArrowheads="1"/>
          </p:cNvSpPr>
          <p:nvPr>
            <p:ph type="title"/>
          </p:nvPr>
        </p:nvSpPr>
        <p:spPr/>
        <p:txBody>
          <a:bodyPr/>
          <a:lstStyle/>
          <a:p>
            <a:r>
              <a:rPr lang="en-US" sz="3600"/>
              <a:t>Example: Java server (TCP), cont</a:t>
            </a:r>
            <a:endParaRPr lang="en-US" sz="3600"/>
          </a:p>
        </p:txBody>
      </p:sp>
      <p:sp>
        <p:nvSpPr>
          <p:cNvPr id="108549" name="Rectangle 3"/>
          <p:cNvSpPr>
            <a:spLocks noChangeArrowheads="1"/>
          </p:cNvSpPr>
          <p:nvPr/>
        </p:nvSpPr>
        <p:spPr bwMode="auto">
          <a:xfrm>
            <a:off x="1851025" y="1617663"/>
            <a:ext cx="6999288" cy="3967162"/>
          </a:xfrm>
          <a:prstGeom prst="rect">
            <a:avLst/>
          </a:prstGeom>
          <a:noFill/>
          <a:ln w="9525">
            <a:noFill/>
            <a:miter lim="800000"/>
          </a:ln>
        </p:spPr>
        <p:txBody>
          <a:bodyPr wrap="none" anchor="ctr">
            <a:spAutoFit/>
          </a:bodyPr>
          <a:lstStyle/>
          <a:p>
            <a:pPr>
              <a:spcBef>
                <a:spcPct val="0"/>
              </a:spcBef>
              <a:buClrTx/>
              <a:buSzTx/>
              <a:buFontTx/>
              <a:buNone/>
            </a:pPr>
            <a:endParaRPr lang="en-US" sz="1600">
              <a:latin typeface="Arial" panose="020B0604020202020204" pitchFamily="34" charset="0"/>
            </a:endParaRPr>
          </a:p>
          <a:p>
            <a:pPr>
              <a:spcBef>
                <a:spcPct val="0"/>
              </a:spcBef>
              <a:buClrTx/>
              <a:buSzTx/>
              <a:buFontTx/>
              <a:buNone/>
            </a:pPr>
            <a:endParaRPr lang="en-US" sz="1600">
              <a:latin typeface="Arial" panose="020B0604020202020204" pitchFamily="34" charset="0"/>
            </a:endParaRPr>
          </a:p>
          <a:p>
            <a:pPr>
              <a:spcBef>
                <a:spcPct val="0"/>
              </a:spcBef>
              <a:buClrTx/>
              <a:buSzTx/>
              <a:buFontTx/>
              <a:buNone/>
            </a:pPr>
            <a:r>
              <a:rPr lang="en-US" sz="1800">
                <a:latin typeface="Arial" panose="020B0604020202020204" pitchFamily="34" charset="0"/>
              </a:rPr>
              <a:t>           DataOutputStream  outToClient =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new DataOutputStream</a:t>
            </a:r>
            <a:r>
              <a:rPr lang="en-US" sz="1600">
                <a:latin typeface="Arial" panose="020B0604020202020204" pitchFamily="34" charset="0"/>
              </a:rPr>
              <a:t>(connectionSocket.getOutputStream());</a:t>
            </a:r>
            <a:r>
              <a:rPr lang="en-US" sz="1800">
                <a:latin typeface="Arial" panose="020B0604020202020204" pitchFamily="34" charset="0"/>
              </a:rPr>
              <a:t>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clientSentence = inFromClient.readLine();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capitalizedSentence = clientSentence.toUpperCase() + '\n'; </a:t>
            </a:r>
            <a:endParaRPr lang="en-US" sz="1800">
              <a:latin typeface="Arial" panose="020B0604020202020204" pitchFamily="34" charset="0"/>
            </a:endParaRPr>
          </a:p>
          <a:p>
            <a:pPr>
              <a:spcBef>
                <a:spcPct val="0"/>
              </a:spcBef>
              <a:buClrTx/>
              <a:buSzTx/>
              <a:buFontTx/>
              <a:buNone/>
            </a:pP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outToClient.writeBytes(capitalizedSentence);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    } </a:t>
            </a:r>
            <a:endParaRPr lang="en-US" sz="1800">
              <a:latin typeface="Arial" panose="020B0604020202020204" pitchFamily="34" charset="0"/>
            </a:endParaRPr>
          </a:p>
          <a:p>
            <a:pPr>
              <a:spcBef>
                <a:spcPct val="0"/>
              </a:spcBef>
              <a:buClrTx/>
              <a:buSzTx/>
              <a:buFontTx/>
              <a:buNone/>
            </a:pPr>
            <a:r>
              <a:rPr lang="en-US" sz="1800">
                <a:latin typeface="Arial" panose="020B0604020202020204" pitchFamily="34" charset="0"/>
              </a:rPr>
              <a:t>}</a:t>
            </a:r>
            <a:r>
              <a:rPr lang="en-US" sz="1800">
                <a:latin typeface="Times New Roman" panose="02020603050405020304" pitchFamily="18" charset="0"/>
              </a:rPr>
              <a:t> </a:t>
            </a:r>
            <a:endParaRPr lang="en-US" sz="1800">
              <a:latin typeface="Times New Roman" panose="02020603050405020304" pitchFamily="18" charset="0"/>
            </a:endParaRPr>
          </a:p>
          <a:p>
            <a:pPr>
              <a:spcBef>
                <a:spcPct val="0"/>
              </a:spcBef>
              <a:buClrTx/>
              <a:buSzTx/>
              <a:buFontTx/>
              <a:buNone/>
            </a:pPr>
            <a:r>
              <a:rPr lang="en-US">
                <a:latin typeface="Times New Roman" panose="02020603050405020304" pitchFamily="18" charset="0"/>
              </a:rPr>
              <a:t> </a:t>
            </a:r>
            <a:endParaRPr lang="en-US">
              <a:latin typeface="Times New Roman" panose="02020603050405020304" pitchFamily="18" charset="0"/>
            </a:endParaRPr>
          </a:p>
        </p:txBody>
      </p:sp>
      <p:sp>
        <p:nvSpPr>
          <p:cNvPr id="108550" name="Text Box 4"/>
          <p:cNvSpPr txBox="1">
            <a:spLocks noChangeArrowheads="1"/>
          </p:cNvSpPr>
          <p:nvPr/>
        </p:nvSpPr>
        <p:spPr bwMode="auto">
          <a:xfrm>
            <a:off x="738188" y="2759075"/>
            <a:ext cx="1482725"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Read in  line</a:t>
            </a:r>
            <a:endParaRPr lang="en-US" sz="1800">
              <a:solidFill>
                <a:schemeClr val="accent2"/>
              </a:solidFill>
            </a:endParaRPr>
          </a:p>
          <a:p>
            <a:pPr algn="r">
              <a:spcBef>
                <a:spcPct val="0"/>
              </a:spcBef>
              <a:buClrTx/>
              <a:buSzTx/>
              <a:buFontTx/>
              <a:buNone/>
            </a:pPr>
            <a:r>
              <a:rPr lang="en-US" sz="1800">
                <a:solidFill>
                  <a:schemeClr val="accent2"/>
                </a:solidFill>
              </a:rPr>
              <a:t>from socket</a:t>
            </a:r>
            <a:endParaRPr lang="en-US" sz="1800"/>
          </a:p>
        </p:txBody>
      </p:sp>
      <p:sp>
        <p:nvSpPr>
          <p:cNvPr id="108551" name="Text Box 5"/>
          <p:cNvSpPr txBox="1">
            <a:spLocks noChangeArrowheads="1"/>
          </p:cNvSpPr>
          <p:nvPr/>
        </p:nvSpPr>
        <p:spPr bwMode="auto">
          <a:xfrm>
            <a:off x="127000" y="1735138"/>
            <a:ext cx="2093913" cy="915987"/>
          </a:xfrm>
          <a:prstGeom prst="rect">
            <a:avLst/>
          </a:prstGeom>
          <a:noFill/>
          <a:ln w="9525">
            <a:noFill/>
            <a:miter lim="800000"/>
          </a:ln>
        </p:spPr>
        <p:txBody>
          <a:bodyPr anchor="ctr">
            <a:spAutoFit/>
          </a:bodyPr>
          <a:lstStyle/>
          <a:p>
            <a:pPr algn="r">
              <a:spcBef>
                <a:spcPct val="0"/>
              </a:spcBef>
              <a:buClrTx/>
              <a:buSzTx/>
              <a:buFontTx/>
              <a:buNone/>
            </a:pPr>
            <a:r>
              <a:rPr lang="en-US" sz="1800">
                <a:solidFill>
                  <a:schemeClr val="accent2"/>
                </a:solidFill>
              </a:rPr>
              <a:t>Create output</a:t>
            </a:r>
            <a:endParaRPr lang="en-US" sz="1800">
              <a:solidFill>
                <a:schemeClr val="accent2"/>
              </a:solidFill>
            </a:endParaRPr>
          </a:p>
          <a:p>
            <a:pPr algn="r">
              <a:spcBef>
                <a:spcPct val="0"/>
              </a:spcBef>
              <a:buClrTx/>
              <a:buSzTx/>
              <a:buFontTx/>
              <a:buNone/>
            </a:pPr>
            <a:r>
              <a:rPr lang="en-US" sz="1800">
                <a:solidFill>
                  <a:schemeClr val="accent2"/>
                </a:solidFill>
              </a:rPr>
              <a:t>stream, attached </a:t>
            </a:r>
            <a:endParaRPr lang="en-US" sz="1800">
              <a:solidFill>
                <a:schemeClr val="accent2"/>
              </a:solidFill>
            </a:endParaRPr>
          </a:p>
          <a:p>
            <a:pPr algn="r">
              <a:spcBef>
                <a:spcPct val="0"/>
              </a:spcBef>
              <a:buClrTx/>
              <a:buSzTx/>
              <a:buFontTx/>
              <a:buNone/>
            </a:pPr>
            <a:r>
              <a:rPr lang="en-US" sz="1800">
                <a:solidFill>
                  <a:schemeClr val="accent2"/>
                </a:solidFill>
              </a:rPr>
              <a:t>to socket</a:t>
            </a:r>
            <a:endParaRPr lang="en-US" sz="1800"/>
          </a:p>
        </p:txBody>
      </p:sp>
      <p:sp>
        <p:nvSpPr>
          <p:cNvPr id="108552" name="Freeform 6"/>
          <p:cNvSpPr/>
          <p:nvPr/>
        </p:nvSpPr>
        <p:spPr bwMode="auto">
          <a:xfrm>
            <a:off x="2028825" y="2814638"/>
            <a:ext cx="161925" cy="533400"/>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8553" name="Line 7"/>
          <p:cNvSpPr>
            <a:spLocks noChangeShapeType="1"/>
          </p:cNvSpPr>
          <p:nvPr/>
        </p:nvSpPr>
        <p:spPr bwMode="auto">
          <a:xfrm flipV="1">
            <a:off x="2209800" y="3114675"/>
            <a:ext cx="333375" cy="4763"/>
          </a:xfrm>
          <a:prstGeom prst="line">
            <a:avLst/>
          </a:prstGeom>
          <a:noFill/>
          <a:ln w="28575">
            <a:solidFill>
              <a:schemeClr val="accent2"/>
            </a:solidFill>
            <a:round/>
            <a:tailEnd type="triangle" w="med" len="med"/>
          </a:ln>
        </p:spPr>
        <p:txBody>
          <a:bodyPr anchor="ctr">
            <a:spAutoFit/>
          </a:bodyPr>
          <a:lstStyle/>
          <a:p>
            <a:endParaRPr lang="en-US"/>
          </a:p>
        </p:txBody>
      </p:sp>
      <p:sp>
        <p:nvSpPr>
          <p:cNvPr id="108554" name="Freeform 8"/>
          <p:cNvSpPr/>
          <p:nvPr/>
        </p:nvSpPr>
        <p:spPr bwMode="auto">
          <a:xfrm>
            <a:off x="2057400" y="1795463"/>
            <a:ext cx="133350" cy="814387"/>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8555" name="Line 9"/>
          <p:cNvSpPr>
            <a:spLocks noChangeShapeType="1"/>
          </p:cNvSpPr>
          <p:nvPr/>
        </p:nvSpPr>
        <p:spPr bwMode="auto">
          <a:xfrm flipV="1">
            <a:off x="2214563" y="2486025"/>
            <a:ext cx="285750" cy="14288"/>
          </a:xfrm>
          <a:prstGeom prst="line">
            <a:avLst/>
          </a:prstGeom>
          <a:noFill/>
          <a:ln w="28575">
            <a:solidFill>
              <a:schemeClr val="accent2"/>
            </a:solidFill>
            <a:round/>
            <a:tailEnd type="triangle" w="med" len="med"/>
          </a:ln>
        </p:spPr>
        <p:txBody>
          <a:bodyPr anchor="ctr">
            <a:spAutoFit/>
          </a:bodyPr>
          <a:lstStyle/>
          <a:p>
            <a:endParaRPr lang="en-US"/>
          </a:p>
        </p:txBody>
      </p:sp>
      <p:sp>
        <p:nvSpPr>
          <p:cNvPr id="108556" name="Text Box 10"/>
          <p:cNvSpPr txBox="1">
            <a:spLocks noChangeArrowheads="1"/>
          </p:cNvSpPr>
          <p:nvPr/>
        </p:nvSpPr>
        <p:spPr bwMode="auto">
          <a:xfrm>
            <a:off x="490538" y="3902075"/>
            <a:ext cx="1682750" cy="641350"/>
          </a:xfrm>
          <a:prstGeom prst="rect">
            <a:avLst/>
          </a:prstGeom>
          <a:noFill/>
          <a:ln w="9525">
            <a:noFill/>
            <a:miter lim="800000"/>
          </a:ln>
        </p:spPr>
        <p:txBody>
          <a:bodyPr wrap="none" anchor="ctr">
            <a:spAutoFit/>
          </a:bodyPr>
          <a:lstStyle/>
          <a:p>
            <a:pPr algn="r">
              <a:spcBef>
                <a:spcPct val="0"/>
              </a:spcBef>
              <a:buClrTx/>
              <a:buSzTx/>
              <a:buFontTx/>
              <a:buNone/>
            </a:pPr>
            <a:r>
              <a:rPr lang="en-US" sz="1800">
                <a:solidFill>
                  <a:schemeClr val="accent2"/>
                </a:solidFill>
              </a:rPr>
              <a:t>Write out line</a:t>
            </a:r>
            <a:endParaRPr lang="en-US" sz="1800">
              <a:solidFill>
                <a:schemeClr val="accent2"/>
              </a:solidFill>
            </a:endParaRPr>
          </a:p>
          <a:p>
            <a:pPr algn="r">
              <a:spcBef>
                <a:spcPct val="0"/>
              </a:spcBef>
              <a:buClrTx/>
              <a:buSzTx/>
              <a:buFontTx/>
              <a:buNone/>
            </a:pPr>
            <a:r>
              <a:rPr lang="en-US" sz="1800">
                <a:solidFill>
                  <a:schemeClr val="accent2"/>
                </a:solidFill>
              </a:rPr>
              <a:t>to socket</a:t>
            </a:r>
            <a:endParaRPr lang="en-US" sz="1800"/>
          </a:p>
        </p:txBody>
      </p:sp>
      <p:sp>
        <p:nvSpPr>
          <p:cNvPr id="108557" name="Freeform 11"/>
          <p:cNvSpPr/>
          <p:nvPr/>
        </p:nvSpPr>
        <p:spPr bwMode="auto">
          <a:xfrm>
            <a:off x="2009775" y="3957638"/>
            <a:ext cx="161925" cy="571500"/>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8558" name="Line 12"/>
          <p:cNvSpPr>
            <a:spLocks noChangeShapeType="1"/>
          </p:cNvSpPr>
          <p:nvPr/>
        </p:nvSpPr>
        <p:spPr bwMode="auto">
          <a:xfrm flipV="1">
            <a:off x="2190750" y="4219575"/>
            <a:ext cx="333375" cy="4763"/>
          </a:xfrm>
          <a:prstGeom prst="line">
            <a:avLst/>
          </a:prstGeom>
          <a:noFill/>
          <a:ln w="28575">
            <a:solidFill>
              <a:schemeClr val="accent2"/>
            </a:solidFill>
            <a:round/>
            <a:tailEnd type="triangle" w="med" len="med"/>
          </a:ln>
        </p:spPr>
        <p:txBody>
          <a:bodyPr anchor="ctr">
            <a:spAutoFit/>
          </a:bodyPr>
          <a:lstStyle/>
          <a:p>
            <a:endParaRPr lang="en-US"/>
          </a:p>
        </p:txBody>
      </p:sp>
      <p:sp>
        <p:nvSpPr>
          <p:cNvPr id="108559" name="Text Box 13"/>
          <p:cNvSpPr txBox="1">
            <a:spLocks noChangeArrowheads="1"/>
          </p:cNvSpPr>
          <p:nvPr/>
        </p:nvSpPr>
        <p:spPr bwMode="auto">
          <a:xfrm>
            <a:off x="3209925" y="4889500"/>
            <a:ext cx="2878138" cy="915988"/>
          </a:xfrm>
          <a:prstGeom prst="rect">
            <a:avLst/>
          </a:prstGeom>
          <a:noFill/>
          <a:ln w="9525">
            <a:noFill/>
            <a:miter lim="800000"/>
          </a:ln>
        </p:spPr>
        <p:txBody>
          <a:bodyPr wrap="none" anchor="ctr">
            <a:spAutoFit/>
          </a:bodyPr>
          <a:lstStyle/>
          <a:p>
            <a:pPr>
              <a:spcBef>
                <a:spcPct val="0"/>
              </a:spcBef>
              <a:buClrTx/>
              <a:buSzTx/>
              <a:buFontTx/>
              <a:buNone/>
            </a:pPr>
            <a:r>
              <a:rPr lang="en-US" sz="1800">
                <a:solidFill>
                  <a:schemeClr val="accent2"/>
                </a:solidFill>
              </a:rPr>
              <a:t>End of while loop,</a:t>
            </a:r>
            <a:endParaRPr lang="en-US" sz="1800">
              <a:solidFill>
                <a:schemeClr val="accent2"/>
              </a:solidFill>
            </a:endParaRPr>
          </a:p>
          <a:p>
            <a:pPr>
              <a:spcBef>
                <a:spcPct val="0"/>
              </a:spcBef>
              <a:buClrTx/>
              <a:buSzTx/>
              <a:buFontTx/>
              <a:buNone/>
            </a:pPr>
            <a:r>
              <a:rPr lang="en-US" sz="1800">
                <a:solidFill>
                  <a:schemeClr val="accent2"/>
                </a:solidFill>
              </a:rPr>
              <a:t>loop back and wait for</a:t>
            </a:r>
            <a:endParaRPr lang="en-US" sz="1800">
              <a:solidFill>
                <a:schemeClr val="accent2"/>
              </a:solidFill>
            </a:endParaRPr>
          </a:p>
          <a:p>
            <a:pPr>
              <a:spcBef>
                <a:spcPct val="0"/>
              </a:spcBef>
              <a:buClrTx/>
              <a:buSzTx/>
              <a:buFontTx/>
              <a:buNone/>
            </a:pPr>
            <a:r>
              <a:rPr lang="en-US" sz="1800">
                <a:solidFill>
                  <a:schemeClr val="accent2"/>
                </a:solidFill>
              </a:rPr>
              <a:t>another client connection</a:t>
            </a:r>
            <a:endParaRPr lang="en-US" sz="1800"/>
          </a:p>
        </p:txBody>
      </p:sp>
      <p:sp>
        <p:nvSpPr>
          <p:cNvPr id="108560" name="Freeform 14"/>
          <p:cNvSpPr/>
          <p:nvPr/>
        </p:nvSpPr>
        <p:spPr bwMode="auto">
          <a:xfrm rot="10784139">
            <a:off x="3190875" y="4879975"/>
            <a:ext cx="160338" cy="912813"/>
          </a:xfrm>
          <a:custGeom>
            <a:avLst/>
            <a:gdLst>
              <a:gd name="T0" fmla="*/ 0 w 78"/>
              <a:gd name="T1" fmla="*/ 0 h 342"/>
              <a:gd name="T2" fmla="*/ 78 w 78"/>
              <a:gd name="T3" fmla="*/ 0 h 342"/>
              <a:gd name="T4" fmla="*/ 78 w 78"/>
              <a:gd name="T5" fmla="*/ 342 h 342"/>
              <a:gd name="T6" fmla="*/ 6 w 78"/>
              <a:gd name="T7" fmla="*/ 342 h 342"/>
              <a:gd name="T8" fmla="*/ 0 60000 65536"/>
              <a:gd name="T9" fmla="*/ 0 60000 65536"/>
              <a:gd name="T10" fmla="*/ 0 60000 65536"/>
              <a:gd name="T11" fmla="*/ 0 60000 65536"/>
              <a:gd name="T12" fmla="*/ 0 w 78"/>
              <a:gd name="T13" fmla="*/ 0 h 342"/>
              <a:gd name="T14" fmla="*/ 78 w 78"/>
              <a:gd name="T15" fmla="*/ 342 h 342"/>
            </a:gdLst>
            <a:ahLst/>
            <a:cxnLst>
              <a:cxn ang="T8">
                <a:pos x="T0" y="T1"/>
              </a:cxn>
              <a:cxn ang="T9">
                <a:pos x="T2" y="T3"/>
              </a:cxn>
              <a:cxn ang="T10">
                <a:pos x="T4" y="T5"/>
              </a:cxn>
              <a:cxn ang="T11">
                <a:pos x="T6" y="T7"/>
              </a:cxn>
            </a:cxnLst>
            <a:rect l="T12" t="T13" r="T14" b="T15"/>
            <a:pathLst>
              <a:path w="78" h="342">
                <a:moveTo>
                  <a:pt x="0" y="0"/>
                </a:moveTo>
                <a:lnTo>
                  <a:pt x="78" y="0"/>
                </a:lnTo>
                <a:lnTo>
                  <a:pt x="78" y="342"/>
                </a:lnTo>
                <a:lnTo>
                  <a:pt x="6" y="342"/>
                </a:lnTo>
              </a:path>
            </a:pathLst>
          </a:custGeom>
          <a:noFill/>
          <a:ln w="28575">
            <a:solidFill>
              <a:schemeClr val="accent2"/>
            </a:solidFill>
            <a:round/>
          </a:ln>
        </p:spPr>
        <p:txBody>
          <a:bodyPr anchor="ctr">
            <a:spAutoFit/>
          </a:bodyPr>
          <a:lstStyle/>
          <a:p>
            <a:endParaRPr lang="en-US"/>
          </a:p>
        </p:txBody>
      </p:sp>
      <p:sp>
        <p:nvSpPr>
          <p:cNvPr id="108561" name="Line 15"/>
          <p:cNvSpPr>
            <a:spLocks noChangeShapeType="1"/>
          </p:cNvSpPr>
          <p:nvPr/>
        </p:nvSpPr>
        <p:spPr bwMode="auto">
          <a:xfrm flipH="1" flipV="1">
            <a:off x="2543175" y="4552950"/>
            <a:ext cx="647700" cy="604838"/>
          </a:xfrm>
          <a:prstGeom prst="line">
            <a:avLst/>
          </a:prstGeom>
          <a:noFill/>
          <a:ln w="28575">
            <a:solidFill>
              <a:schemeClr val="accent2"/>
            </a:solidFill>
            <a:round/>
            <a:tailEnd type="triangle" w="med" len="med"/>
          </a:ln>
        </p:spPr>
        <p:txBody>
          <a:bodyPr anchor="ctr">
            <a:spAutoFit/>
          </a:bodyPr>
          <a:lstStyle/>
          <a:p>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521" y="0"/>
            <a:ext cx="7772400" cy="1143000"/>
          </a:xfrm>
        </p:spPr>
        <p:txBody>
          <a:bodyPr/>
          <a:lstStyle/>
          <a:p>
            <a:r>
              <a:rPr lang="en-US" dirty="0"/>
              <a:t>TCP observations &amp; questions</a:t>
            </a:r>
            <a:endParaRPr lang="en-US" dirty="0"/>
          </a:p>
        </p:txBody>
      </p:sp>
      <p:sp>
        <p:nvSpPr>
          <p:cNvPr id="5" name="Content Placeholder 4"/>
          <p:cNvSpPr>
            <a:spLocks noGrp="1"/>
          </p:cNvSpPr>
          <p:nvPr>
            <p:ph idx="1"/>
          </p:nvPr>
        </p:nvSpPr>
        <p:spPr>
          <a:xfrm>
            <a:off x="456125" y="1316866"/>
            <a:ext cx="8494691" cy="4648200"/>
          </a:xfrm>
          <a:ln>
            <a:noFill/>
          </a:ln>
        </p:spPr>
        <p:txBody>
          <a:bodyPr/>
          <a:lstStyle/>
          <a:p>
            <a:r>
              <a:rPr lang="en-US" dirty="0"/>
              <a:t>Server has two types of sockets: </a:t>
            </a:r>
            <a:endParaRPr lang="en-US" dirty="0"/>
          </a:p>
          <a:p>
            <a:pPr lvl="1"/>
            <a:r>
              <a:rPr lang="en-US" dirty="0" err="1"/>
              <a:t>ServerSocket</a:t>
            </a:r>
            <a:r>
              <a:rPr lang="en-US" dirty="0"/>
              <a:t> and Socket </a:t>
            </a:r>
            <a:endParaRPr lang="en-US" dirty="0"/>
          </a:p>
          <a:p>
            <a:r>
              <a:rPr lang="en-US" dirty="0">
                <a:cs typeface="Times New Roman" panose="02020603050405020304" pitchFamily="18" charset="0"/>
              </a:rPr>
              <a:t>When client knocks on </a:t>
            </a:r>
            <a:r>
              <a:rPr lang="en-US" dirty="0" err="1">
                <a:cs typeface="Times New Roman" panose="02020603050405020304" pitchFamily="18" charset="0"/>
              </a:rPr>
              <a:t>serverSocket’s</a:t>
            </a:r>
            <a:r>
              <a:rPr lang="en-US" dirty="0">
                <a:cs typeface="Times New Roman" panose="02020603050405020304" pitchFamily="18" charset="0"/>
              </a:rPr>
              <a:t> “door,” server creates </a:t>
            </a:r>
            <a:r>
              <a:rPr lang="en-US" dirty="0" err="1">
                <a:cs typeface="Times New Roman" panose="02020603050405020304" pitchFamily="18" charset="0"/>
              </a:rPr>
              <a:t>connectionSocket</a:t>
            </a:r>
            <a:r>
              <a:rPr lang="en-US" dirty="0">
                <a:cs typeface="Times New Roman" panose="02020603050405020304" pitchFamily="18" charset="0"/>
              </a:rPr>
              <a:t> and completes TCP </a:t>
            </a:r>
            <a:r>
              <a:rPr lang="en-US" dirty="0" err="1">
                <a:cs typeface="Times New Roman" panose="02020603050405020304" pitchFamily="18" charset="0"/>
              </a:rPr>
              <a:t>conx</a:t>
            </a:r>
            <a:r>
              <a:rPr lang="en-US" dirty="0">
                <a:cs typeface="Times New Roman" panose="02020603050405020304" pitchFamily="18" charset="0"/>
              </a:rPr>
              <a:t>.</a:t>
            </a:r>
            <a:endParaRPr lang="en-US" dirty="0">
              <a:cs typeface="Times New Roman" panose="02020603050405020304" pitchFamily="18" charset="0"/>
            </a:endParaRPr>
          </a:p>
          <a:p>
            <a:r>
              <a:rPr lang="en-US" dirty="0" err="1"/>
              <a:t>Dest</a:t>
            </a:r>
            <a:r>
              <a:rPr lang="en-US" dirty="0"/>
              <a:t> IP and port are </a:t>
            </a:r>
            <a:r>
              <a:rPr lang="en-US" u="sng" dirty="0">
                <a:solidFill>
                  <a:srgbClr val="FF0000"/>
                </a:solidFill>
              </a:rPr>
              <a:t>not</a:t>
            </a:r>
            <a:r>
              <a:rPr lang="en-US" dirty="0"/>
              <a:t> explicitly attached to segment.</a:t>
            </a:r>
            <a:endParaRPr lang="en-US" dirty="0"/>
          </a:p>
          <a:p>
            <a:r>
              <a:rPr lang="en-US" dirty="0"/>
              <a:t>Can </a:t>
            </a:r>
            <a:r>
              <a:rPr lang="en-US" u="sng" dirty="0">
                <a:solidFill>
                  <a:srgbClr val="FF0000"/>
                </a:solidFill>
              </a:rPr>
              <a:t>multiple clients </a:t>
            </a:r>
            <a:r>
              <a:rPr lang="en-US" dirty="0"/>
              <a:t>use the server?</a:t>
            </a:r>
            <a:endParaRPr lang="en-US" dirty="0"/>
          </a:p>
          <a:p>
            <a:pPr>
              <a:buNone/>
            </a:pPr>
            <a:br>
              <a:rPr lang="en-US" dirty="0"/>
            </a:br>
            <a:endParaRPr lang="en-US" dirty="0"/>
          </a:p>
          <a:p>
            <a:endParaRPr lang="en-US" dirty="0"/>
          </a:p>
        </p:txBody>
      </p:sp>
      <p:sp>
        <p:nvSpPr>
          <p:cNvPr id="3" name="Footer Placeholder 2"/>
          <p:cNvSpPr>
            <a:spLocks noGrp="1"/>
          </p:cNvSpPr>
          <p:nvPr>
            <p:ph type="ftr" sz="quarter" idx="11"/>
          </p:nvPr>
        </p:nvSpPr>
        <p:spPr/>
        <p:txBody>
          <a:bodyPr/>
          <a:lstStyle/>
          <a:p>
            <a:pPr>
              <a:defRPr/>
            </a:pPr>
            <a:r>
              <a:rPr lang="en-US"/>
              <a:t>2: Application Layer</a:t>
            </a:r>
            <a:endParaRPr lang="en-US">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C28A9413-D3A1-4AF3-8DD7-3635D5070192}" type="slidenum">
              <a:rPr lang="en-US" smtClean="0"/>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16739" name="Slide Number Placeholder 6"/>
          <p:cNvSpPr>
            <a:spLocks noGrp="1"/>
          </p:cNvSpPr>
          <p:nvPr>
            <p:ph type="sldNum" sz="quarter" idx="12"/>
          </p:nvPr>
        </p:nvSpPr>
        <p:spPr>
          <a:noFill/>
        </p:spPr>
        <p:txBody>
          <a:bodyPr/>
          <a:lstStyle/>
          <a:p>
            <a:fld id="{790E9AAD-56CE-4081-AFEB-196E45BBE44D}" type="slidenum">
              <a:rPr lang="en-US"/>
            </a:fld>
            <a:endParaRPr lang="en-US"/>
          </a:p>
        </p:txBody>
      </p:sp>
      <p:sp>
        <p:nvSpPr>
          <p:cNvPr id="116740" name="Rectangle 2"/>
          <p:cNvSpPr>
            <a:spLocks noGrp="1" noChangeArrowheads="1"/>
          </p:cNvSpPr>
          <p:nvPr>
            <p:ph type="title"/>
          </p:nvPr>
        </p:nvSpPr>
        <p:spPr>
          <a:xfrm>
            <a:off x="506413" y="0"/>
            <a:ext cx="7772400" cy="1014413"/>
          </a:xfrm>
        </p:spPr>
        <p:txBody>
          <a:bodyPr/>
          <a:lstStyle/>
          <a:p>
            <a:r>
              <a:rPr lang="en-US"/>
              <a:t>Chapter 2: Summary</a:t>
            </a:r>
            <a:endParaRPr lang="en-US"/>
          </a:p>
        </p:txBody>
      </p:sp>
      <p:sp>
        <p:nvSpPr>
          <p:cNvPr id="116741" name="Rectangle 3"/>
          <p:cNvSpPr>
            <a:spLocks noGrp="1" noChangeArrowheads="1"/>
          </p:cNvSpPr>
          <p:nvPr>
            <p:ph type="body" sz="half" idx="1"/>
          </p:nvPr>
        </p:nvSpPr>
        <p:spPr>
          <a:xfrm>
            <a:off x="582613" y="1655763"/>
            <a:ext cx="4171950" cy="3676650"/>
          </a:xfrm>
        </p:spPr>
        <p:txBody>
          <a:bodyPr/>
          <a:lstStyle/>
          <a:p>
            <a:r>
              <a:rPr lang="en-US" sz="2400"/>
              <a:t>application architectures</a:t>
            </a:r>
            <a:endParaRPr lang="en-US" sz="2400"/>
          </a:p>
          <a:p>
            <a:pPr lvl="1"/>
            <a:r>
              <a:rPr lang="en-US" sz="2000"/>
              <a:t>client-server</a:t>
            </a:r>
            <a:endParaRPr lang="en-US" sz="2000"/>
          </a:p>
          <a:p>
            <a:pPr lvl="1"/>
            <a:r>
              <a:rPr lang="en-US" sz="2000"/>
              <a:t>P2P</a:t>
            </a:r>
            <a:endParaRPr lang="en-US" sz="2000"/>
          </a:p>
          <a:p>
            <a:pPr lvl="1"/>
            <a:r>
              <a:rPr lang="en-US" sz="2000"/>
              <a:t>hybrid</a:t>
            </a:r>
            <a:endParaRPr lang="en-US" sz="2000"/>
          </a:p>
          <a:p>
            <a:r>
              <a:rPr lang="en-US" sz="2400"/>
              <a:t>application service requirements:</a:t>
            </a:r>
            <a:endParaRPr lang="en-US" sz="2400"/>
          </a:p>
          <a:p>
            <a:pPr lvl="1"/>
            <a:r>
              <a:rPr lang="en-US" sz="2000"/>
              <a:t> reliability, bandwidth, delay</a:t>
            </a:r>
            <a:endParaRPr lang="en-US" sz="2000"/>
          </a:p>
          <a:p>
            <a:r>
              <a:rPr lang="en-US" sz="2400"/>
              <a:t>Internet transport service model</a:t>
            </a:r>
            <a:endParaRPr lang="en-US" sz="2400"/>
          </a:p>
          <a:p>
            <a:pPr lvl="1"/>
            <a:r>
              <a:rPr lang="en-US" sz="2000"/>
              <a:t>connection-oriented, reliable: TCP</a:t>
            </a:r>
            <a:endParaRPr lang="en-US" sz="2000"/>
          </a:p>
          <a:p>
            <a:pPr lvl="1"/>
            <a:r>
              <a:rPr lang="en-US" sz="2000"/>
              <a:t>unreliable, datagrams: UDP</a:t>
            </a:r>
            <a:endParaRPr lang="en-US" sz="2000"/>
          </a:p>
        </p:txBody>
      </p:sp>
      <p:sp>
        <p:nvSpPr>
          <p:cNvPr id="116742" name="Rectangle 4"/>
          <p:cNvSpPr>
            <a:spLocks noGrp="1" noChangeArrowheads="1"/>
          </p:cNvSpPr>
          <p:nvPr>
            <p:ph type="body" sz="half" idx="2"/>
          </p:nvPr>
        </p:nvSpPr>
        <p:spPr>
          <a:xfrm>
            <a:off x="500063" y="952500"/>
            <a:ext cx="7581900" cy="676275"/>
          </a:xfrm>
        </p:spPr>
        <p:txBody>
          <a:bodyPr/>
          <a:lstStyle/>
          <a:p>
            <a:pPr>
              <a:buFont typeface="ZapfDingbats" pitchFamily="82" charset="2"/>
              <a:buNone/>
            </a:pPr>
            <a:r>
              <a:rPr lang="en-US">
                <a:solidFill>
                  <a:srgbClr val="FF0000"/>
                </a:solidFill>
              </a:rPr>
              <a:t>our study of network apps now complete!</a:t>
            </a:r>
            <a:endParaRPr lang="en-US"/>
          </a:p>
        </p:txBody>
      </p:sp>
      <p:sp>
        <p:nvSpPr>
          <p:cNvPr id="116743" name="Rectangle 5"/>
          <p:cNvSpPr>
            <a:spLocks noChangeArrowheads="1"/>
          </p:cNvSpPr>
          <p:nvPr/>
        </p:nvSpPr>
        <p:spPr bwMode="auto">
          <a:xfrm>
            <a:off x="4978400" y="1582738"/>
            <a:ext cx="3962400" cy="3676650"/>
          </a:xfrm>
          <a:prstGeom prst="rect">
            <a:avLst/>
          </a:prstGeom>
          <a:noFill/>
          <a:ln w="9525">
            <a:noFill/>
            <a:miter lim="800000"/>
          </a:ln>
        </p:spPr>
        <p:txBody>
          <a:bodyPr/>
          <a:lstStyle/>
          <a:p>
            <a:pPr marL="342900" indent="-342900">
              <a:buFont typeface="ZapfDingbats" pitchFamily="82" charset="2"/>
              <a:buChar char="r"/>
            </a:pPr>
            <a:r>
              <a:rPr lang="en-US"/>
              <a:t>specific protocols:</a:t>
            </a:r>
            <a:endParaRPr lang="en-US"/>
          </a:p>
          <a:p>
            <a:pPr marL="742950" lvl="1" indent="-285750">
              <a:buSzPct val="75000"/>
              <a:buFont typeface="Wingdings" panose="05000000000000000000" pitchFamily="2" charset="2"/>
              <a:buChar char="v"/>
            </a:pPr>
            <a:r>
              <a:rPr lang="en-US" sz="2000"/>
              <a:t>HTTP</a:t>
            </a:r>
            <a:endParaRPr lang="en-US" sz="2000"/>
          </a:p>
          <a:p>
            <a:pPr marL="742950" lvl="1" indent="-285750">
              <a:buSzPct val="75000"/>
              <a:buFont typeface="Wingdings" panose="05000000000000000000" pitchFamily="2" charset="2"/>
              <a:buChar char="v"/>
            </a:pPr>
            <a:r>
              <a:rPr lang="en-US" sz="2000"/>
              <a:t>FTP</a:t>
            </a:r>
            <a:endParaRPr lang="en-US" sz="2000"/>
          </a:p>
          <a:p>
            <a:pPr marL="742950" lvl="1" indent="-285750">
              <a:buSzPct val="75000"/>
              <a:buFont typeface="Wingdings" panose="05000000000000000000" pitchFamily="2" charset="2"/>
              <a:buChar char="v"/>
            </a:pPr>
            <a:r>
              <a:rPr lang="en-US" sz="2000"/>
              <a:t>SMTP, POP, IMAP</a:t>
            </a:r>
            <a:endParaRPr lang="en-US" sz="2000"/>
          </a:p>
          <a:p>
            <a:pPr marL="742950" lvl="1" indent="-285750">
              <a:buSzPct val="75000"/>
              <a:buFont typeface="Wingdings" panose="05000000000000000000" pitchFamily="2" charset="2"/>
              <a:buChar char="v"/>
            </a:pPr>
            <a:r>
              <a:rPr lang="en-US" sz="2000"/>
              <a:t>DNS</a:t>
            </a:r>
            <a:endParaRPr lang="en-US" sz="2000"/>
          </a:p>
          <a:p>
            <a:pPr marL="742950" lvl="1" indent="-285750">
              <a:buSzPct val="75000"/>
              <a:buFont typeface="Wingdings" panose="05000000000000000000" pitchFamily="2" charset="2"/>
              <a:buChar char="v"/>
            </a:pPr>
            <a:r>
              <a:rPr lang="en-US" sz="2000"/>
              <a:t>P2P: BitTorrent, Skype</a:t>
            </a:r>
            <a:endParaRPr lang="en-US" sz="2000"/>
          </a:p>
          <a:p>
            <a:pPr marL="342900" indent="-342900">
              <a:buFont typeface="ZapfDingbats" pitchFamily="82" charset="2"/>
              <a:buChar char="r"/>
            </a:pPr>
            <a:r>
              <a:rPr lang="en-US"/>
              <a:t>socket programming</a:t>
            </a:r>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Footer Placeholder 5"/>
          <p:cNvSpPr>
            <a:spLocks noGrp="1"/>
          </p:cNvSpPr>
          <p:nvPr>
            <p:ph type="ftr" sz="quarter" idx="11"/>
          </p:nvPr>
        </p:nvSpPr>
        <p:spPr>
          <a:noFill/>
        </p:spPr>
        <p:txBody>
          <a:bodyPr/>
          <a:lstStyle/>
          <a:p>
            <a:r>
              <a:rPr lang="en-US"/>
              <a:t>2: Application Layer</a:t>
            </a:r>
            <a:endParaRPr lang="en-US">
              <a:latin typeface="Times New Roman" panose="02020603050405020304" pitchFamily="18" charset="0"/>
            </a:endParaRPr>
          </a:p>
        </p:txBody>
      </p:sp>
      <p:sp>
        <p:nvSpPr>
          <p:cNvPr id="117763" name="Slide Number Placeholder 6"/>
          <p:cNvSpPr>
            <a:spLocks noGrp="1"/>
          </p:cNvSpPr>
          <p:nvPr>
            <p:ph type="sldNum" sz="quarter" idx="12"/>
          </p:nvPr>
        </p:nvSpPr>
        <p:spPr>
          <a:noFill/>
        </p:spPr>
        <p:txBody>
          <a:bodyPr/>
          <a:lstStyle/>
          <a:p>
            <a:fld id="{3AF7ADDC-8BD6-4B5A-88EA-8E8D963CAF34}" type="slidenum">
              <a:rPr lang="en-US"/>
            </a:fld>
            <a:endParaRPr lang="en-US"/>
          </a:p>
        </p:txBody>
      </p:sp>
      <p:sp>
        <p:nvSpPr>
          <p:cNvPr id="117764" name="Rectangle 2"/>
          <p:cNvSpPr>
            <a:spLocks noGrp="1" noChangeArrowheads="1"/>
          </p:cNvSpPr>
          <p:nvPr>
            <p:ph type="title"/>
          </p:nvPr>
        </p:nvSpPr>
        <p:spPr/>
        <p:txBody>
          <a:bodyPr/>
          <a:lstStyle/>
          <a:p>
            <a:r>
              <a:rPr lang="en-US"/>
              <a:t>Chapter 2: Summary</a:t>
            </a:r>
            <a:endParaRPr lang="en-US"/>
          </a:p>
        </p:txBody>
      </p:sp>
      <p:sp>
        <p:nvSpPr>
          <p:cNvPr id="117765" name="Rectangle 3"/>
          <p:cNvSpPr>
            <a:spLocks noGrp="1" noChangeArrowheads="1"/>
          </p:cNvSpPr>
          <p:nvPr>
            <p:ph type="body" sz="half" idx="1"/>
          </p:nvPr>
        </p:nvSpPr>
        <p:spPr>
          <a:xfrm>
            <a:off x="495300" y="2162175"/>
            <a:ext cx="3810000" cy="3676650"/>
          </a:xfrm>
        </p:spPr>
        <p:txBody>
          <a:bodyPr/>
          <a:lstStyle/>
          <a:p>
            <a:r>
              <a:rPr lang="en-US" sz="2400"/>
              <a:t>typical request/reply message exchange:</a:t>
            </a:r>
            <a:endParaRPr lang="en-US" sz="2400"/>
          </a:p>
          <a:p>
            <a:pPr lvl="1"/>
            <a:r>
              <a:rPr lang="en-US" sz="2000"/>
              <a:t>client requests info or service</a:t>
            </a:r>
            <a:endParaRPr lang="en-US" sz="2000"/>
          </a:p>
          <a:p>
            <a:pPr lvl="1"/>
            <a:r>
              <a:rPr lang="en-US" sz="2000"/>
              <a:t>server responds with data, status code</a:t>
            </a:r>
            <a:endParaRPr lang="en-US" sz="2000"/>
          </a:p>
          <a:p>
            <a:r>
              <a:rPr lang="en-US" sz="2400"/>
              <a:t>message formats:</a:t>
            </a:r>
            <a:endParaRPr lang="en-US" sz="2400"/>
          </a:p>
          <a:p>
            <a:pPr lvl="1"/>
            <a:r>
              <a:rPr lang="en-US" sz="2000"/>
              <a:t>headers: fields giving info about data</a:t>
            </a:r>
            <a:endParaRPr lang="en-US" sz="2000"/>
          </a:p>
          <a:p>
            <a:pPr lvl="1"/>
            <a:r>
              <a:rPr lang="en-US" sz="2000"/>
              <a:t>data: info being communicated</a:t>
            </a:r>
            <a:endParaRPr lang="en-US" sz="2000"/>
          </a:p>
        </p:txBody>
      </p:sp>
      <p:sp>
        <p:nvSpPr>
          <p:cNvPr id="117766" name="Rectangle 4"/>
          <p:cNvSpPr>
            <a:spLocks noGrp="1" noChangeArrowheads="1"/>
          </p:cNvSpPr>
          <p:nvPr>
            <p:ph type="body" sz="half" idx="2"/>
          </p:nvPr>
        </p:nvSpPr>
        <p:spPr>
          <a:xfrm>
            <a:off x="552450" y="1390650"/>
            <a:ext cx="7581900" cy="676275"/>
          </a:xfrm>
        </p:spPr>
        <p:txBody>
          <a:bodyPr/>
          <a:lstStyle/>
          <a:p>
            <a:pPr>
              <a:buFont typeface="ZapfDingbats" pitchFamily="82" charset="2"/>
              <a:buNone/>
            </a:pPr>
            <a:r>
              <a:rPr lang="en-US" u="sng">
                <a:solidFill>
                  <a:srgbClr val="FF0000"/>
                </a:solidFill>
              </a:rPr>
              <a:t>Most importantly:</a:t>
            </a:r>
            <a:r>
              <a:rPr lang="en-US">
                <a:solidFill>
                  <a:srgbClr val="FF0000"/>
                </a:solidFill>
              </a:rPr>
              <a:t> learned about </a:t>
            </a:r>
            <a:r>
              <a:rPr lang="en-US" i="1">
                <a:solidFill>
                  <a:srgbClr val="FF0000"/>
                </a:solidFill>
              </a:rPr>
              <a:t>protocols</a:t>
            </a:r>
            <a:endParaRPr lang="en-US"/>
          </a:p>
        </p:txBody>
      </p:sp>
      <p:sp>
        <p:nvSpPr>
          <p:cNvPr id="117767" name="Rectangle 5"/>
          <p:cNvSpPr>
            <a:spLocks noChangeArrowheads="1"/>
          </p:cNvSpPr>
          <p:nvPr/>
        </p:nvSpPr>
        <p:spPr bwMode="auto">
          <a:xfrm>
            <a:off x="4603750" y="2187575"/>
            <a:ext cx="3962400" cy="3676650"/>
          </a:xfrm>
          <a:prstGeom prst="rect">
            <a:avLst/>
          </a:prstGeom>
          <a:noFill/>
          <a:ln w="9525">
            <a:noFill/>
            <a:miter lim="800000"/>
          </a:ln>
        </p:spPr>
        <p:txBody>
          <a:bodyPr/>
          <a:lstStyle/>
          <a:p>
            <a:pPr marL="342900" indent="-342900"/>
            <a:r>
              <a:rPr lang="en-US" i="1">
                <a:solidFill>
                  <a:srgbClr val="FF3300"/>
                </a:solidFill>
              </a:rPr>
              <a:t>Important themes: </a:t>
            </a:r>
            <a:endParaRPr lang="en-US" i="1">
              <a:solidFill>
                <a:srgbClr val="FF3300"/>
              </a:solidFill>
            </a:endParaRPr>
          </a:p>
          <a:p>
            <a:pPr marL="342900" indent="-342900">
              <a:buFont typeface="ZapfDingbats" pitchFamily="82" charset="2"/>
              <a:buChar char="r"/>
            </a:pPr>
            <a:r>
              <a:rPr lang="en-US"/>
              <a:t>control vs. data msgs</a:t>
            </a:r>
            <a:endParaRPr lang="en-US"/>
          </a:p>
          <a:p>
            <a:pPr marL="742950" lvl="1" indent="-285750">
              <a:buSzPct val="75000"/>
              <a:buFont typeface="Wingdings" panose="05000000000000000000" pitchFamily="2" charset="2"/>
              <a:buChar char="v"/>
            </a:pPr>
            <a:r>
              <a:rPr lang="en-US"/>
              <a:t>in-band, out-of-band</a:t>
            </a:r>
            <a:endParaRPr lang="en-US"/>
          </a:p>
          <a:p>
            <a:pPr marL="342900" indent="-342900">
              <a:buFont typeface="ZapfDingbats" pitchFamily="82" charset="2"/>
              <a:buChar char="r"/>
            </a:pPr>
            <a:r>
              <a:rPr lang="en-US"/>
              <a:t>centralized vs. decentralized </a:t>
            </a:r>
            <a:endParaRPr lang="en-US"/>
          </a:p>
          <a:p>
            <a:pPr marL="342900" indent="-342900">
              <a:buFont typeface="ZapfDingbats" pitchFamily="82" charset="2"/>
              <a:buChar char="r"/>
            </a:pPr>
            <a:r>
              <a:rPr lang="en-US"/>
              <a:t>stateless vs. stateful</a:t>
            </a:r>
            <a:endParaRPr lang="en-US"/>
          </a:p>
          <a:p>
            <a:pPr marL="342900" indent="-342900">
              <a:buFont typeface="ZapfDingbats" pitchFamily="82" charset="2"/>
              <a:buChar char="r"/>
            </a:pPr>
            <a:r>
              <a:rPr lang="en-US"/>
              <a:t>reliable vs. unreliable msg transfer </a:t>
            </a:r>
            <a:endParaRPr lang="en-US"/>
          </a:p>
          <a:p>
            <a:pPr marL="342900" indent="-342900">
              <a:buFont typeface="ZapfDingbats" pitchFamily="82" charset="2"/>
              <a:buChar char="r"/>
            </a:pPr>
            <a:r>
              <a:rPr lang="en-US"/>
              <a:t>“complexity at network edge”</a:t>
            </a:r>
            <a:endParaRPr lang="en-US"/>
          </a:p>
        </p:txBody>
      </p:sp>
    </p:spTree>
  </p:cSld>
  <p:clrMapOvr>
    <a:masterClrMapping/>
  </p:clrMapOvr>
</p:sld>
</file>

<file path=ppt/tags/tag1.xml><?xml version="1.0" encoding="utf-8"?>
<p:tagLst xmlns:p="http://schemas.openxmlformats.org/presentationml/2006/main">
  <p:tag name="KSO_WM_BEAUTIFY_FLAG" val=""/>
  <p:tag name="KSO_WM_UNIT_PLACING_PICTURE_USER_VIEWPORT" val="{&quot;height&quot;:5868,&quot;width&quot;:8299}"/>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PP_MARK_KEY" val="569063d7-4f9e-4cf9-98b3-b65e1dd95ef6"/>
  <p:tag name="COMMONDATA" val="eyJoZGlkIjoiNGM2MWUwMjc1MTFlYjQ1NTJhZmEzYzI5NDcxZmUzMDMifQ=="/>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defRPr kumimoji="0" lang="en-US" sz="2400" b="0" i="0" u="none" strike="noStrike" cap="none" normalizeH="0" baseline="0" smtClean="0">
            <a:ln>
              <a:noFill/>
            </a:ln>
            <a:solidFill>
              <a:schemeClr val="tx1"/>
            </a:solidFill>
            <a:effectLst/>
            <a:latin typeface="Comic Sans MS" panose="030F0702030302020204" pitchFamily="66"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
            <a:schemeClr val="accent2"/>
          </a:buClr>
          <a:buSzPct val="85000"/>
          <a:buFont typeface="ZapfDingbats" pitchFamily="82" charset="2"/>
          <a:buNone/>
          <a:defRPr kumimoji="0" lang="en-US" sz="2400" b="0" i="0" u="none" strike="noStrike" cap="none" normalizeH="0" baseline="0" smtClean="0">
            <a:ln>
              <a:noFill/>
            </a:ln>
            <a:solidFill>
              <a:schemeClr val="tx1"/>
            </a:solidFill>
            <a:effectLst/>
            <a:latin typeface="Comic Sans MS" panose="030F0702030302020204" pitchFamily="66"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45182</Words>
  <Application>WPS 演示</Application>
  <PresentationFormat>全屏显示(4:3)</PresentationFormat>
  <Paragraphs>2973</Paragraphs>
  <Slides>123</Slides>
  <Notes>0</Notes>
  <HiddenSlides>7</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123</vt:i4>
      </vt:variant>
    </vt:vector>
  </HeadingPairs>
  <TitlesOfParts>
    <vt:vector size="137" baseType="lpstr">
      <vt:lpstr>Arial</vt:lpstr>
      <vt:lpstr>宋体</vt:lpstr>
      <vt:lpstr>Wingdings</vt:lpstr>
      <vt:lpstr>ZapfDingbats</vt:lpstr>
      <vt:lpstr>Comic Sans MS</vt:lpstr>
      <vt:lpstr>Times New Roman</vt:lpstr>
      <vt:lpstr>微软雅黑</vt:lpstr>
      <vt:lpstr>Arial Unicode MS</vt:lpstr>
      <vt:lpstr>Courier New</vt:lpstr>
      <vt:lpstr>Symbol</vt:lpstr>
      <vt:lpstr>Default Design</vt:lpstr>
      <vt:lpstr>Excel.Sheet.8</vt:lpstr>
      <vt:lpstr>Visio.Drawing.5</vt:lpstr>
      <vt:lpstr>Visio.Drawing.5</vt:lpstr>
      <vt:lpstr>PowerPoint 演示文稿</vt:lpstr>
      <vt:lpstr>PowerPoint 演示文稿</vt:lpstr>
      <vt:lpstr>Chapter 2: Application layer</vt:lpstr>
      <vt:lpstr>Chapter 2: Application Layer</vt:lpstr>
      <vt:lpstr>Some network apps</vt:lpstr>
      <vt:lpstr>Creating a network app</vt:lpstr>
      <vt:lpstr>Chapter 2: Application layer</vt:lpstr>
      <vt:lpstr>Application architectures（题）</vt:lpstr>
      <vt:lpstr>Client-server architecture</vt:lpstr>
      <vt:lpstr>Google Data Centers</vt:lpstr>
      <vt:lpstr>Pure P2P architecture</vt:lpstr>
      <vt:lpstr>Hybrid of client-server and P2P</vt:lpstr>
      <vt:lpstr>Processes communicating</vt:lpstr>
      <vt:lpstr>Sockets</vt:lpstr>
      <vt:lpstr>Addressing processes</vt:lpstr>
      <vt:lpstr>Addressing processes</vt:lpstr>
      <vt:lpstr>App-layer protocol defines</vt:lpstr>
      <vt:lpstr>What transport service does an app need?</vt:lpstr>
      <vt:lpstr>Transport service requirements of common apps</vt:lpstr>
      <vt:lpstr>Internet transport protocols services</vt:lpstr>
      <vt:lpstr>Internet apps:  application, transport protocols</vt:lpstr>
      <vt:lpstr>Chapter 2: Application layer</vt:lpstr>
      <vt:lpstr>Web and HTTP</vt:lpstr>
      <vt:lpstr>HTTP overview</vt:lpstr>
      <vt:lpstr>HTTP overview (continued)</vt:lpstr>
      <vt:lpstr>HTTP connections</vt:lpstr>
      <vt:lpstr>Non-Persistent HTTP: Response time</vt:lpstr>
      <vt:lpstr>Nonpersistent HTTP</vt:lpstr>
      <vt:lpstr>Nonpersistent HTTP (cont.)</vt:lpstr>
      <vt:lpstr>Persistent HTTP</vt:lpstr>
      <vt:lpstr>HTTP request message（题）</vt:lpstr>
      <vt:lpstr>HTTP request message: general format</vt:lpstr>
      <vt:lpstr>Uploading form input</vt:lpstr>
      <vt:lpstr>Method types</vt:lpstr>
      <vt:lpstr>HTTP response message（题）</vt:lpstr>
      <vt:lpstr>HTTP response status codes</vt:lpstr>
      <vt:lpstr>Trying out HTTP (client side) for yourself</vt:lpstr>
      <vt:lpstr>PowerPoint 演示文稿</vt:lpstr>
      <vt:lpstr>User-server state: cookies</vt:lpstr>
      <vt:lpstr>Cookies: keeping “state” (cont.)</vt:lpstr>
      <vt:lpstr>Cookies (continued)</vt:lpstr>
      <vt:lpstr>Web caches (proxy server)</vt:lpstr>
      <vt:lpstr>More about Web caching</vt:lpstr>
      <vt:lpstr>Caching example（题） </vt:lpstr>
      <vt:lpstr>Caching example (cont)</vt:lpstr>
      <vt:lpstr>Caching example (cont)</vt:lpstr>
      <vt:lpstr>Conditional GET</vt:lpstr>
      <vt:lpstr>Chapter 2: Application layer</vt:lpstr>
      <vt:lpstr>FTP: the file transfer protocol</vt:lpstr>
      <vt:lpstr>FTP: separate control, data connections</vt:lpstr>
      <vt:lpstr>FTP commands, responses</vt:lpstr>
      <vt:lpstr>Chapter 2: Application layer</vt:lpstr>
      <vt:lpstr>Electronic Mail</vt:lpstr>
      <vt:lpstr>Electronic Mail: mail servers</vt:lpstr>
      <vt:lpstr>Electronic Mail: SMTP [RFC 2821]</vt:lpstr>
      <vt:lpstr>Scenario: Alice sends message to Bob</vt:lpstr>
      <vt:lpstr>Sample SMTP interaction</vt:lpstr>
      <vt:lpstr>Try SMTP interaction for yourself:</vt:lpstr>
      <vt:lpstr>题</vt:lpstr>
      <vt:lpstr>PowerPoint 演示文稿</vt:lpstr>
      <vt:lpstr>SMTP: final words</vt:lpstr>
      <vt:lpstr>Mail message format</vt:lpstr>
      <vt:lpstr>Mail access protocols</vt:lpstr>
      <vt:lpstr>POP3 protocol</vt:lpstr>
      <vt:lpstr>POP3 (more) and IMAP</vt:lpstr>
      <vt:lpstr>Chapter 2: Application layer</vt:lpstr>
      <vt:lpstr>DNS: Domain Name System</vt:lpstr>
      <vt:lpstr>DNS </vt:lpstr>
      <vt:lpstr>Distributed, Hierarchical Database</vt:lpstr>
      <vt:lpstr>DNS: Root name servers</vt:lpstr>
      <vt:lpstr>TLD and Authoritative Servers</vt:lpstr>
      <vt:lpstr>Local Name Server</vt:lpstr>
      <vt:lpstr>DNS name  resolution example</vt:lpstr>
      <vt:lpstr>DNS name  resolution example</vt:lpstr>
      <vt:lpstr>DNS: caching and updating records（课后题）</vt:lpstr>
      <vt:lpstr>DNS records</vt:lpstr>
      <vt:lpstr>DNS protocol, messages</vt:lpstr>
      <vt:lpstr>DNS protocol, messages</vt:lpstr>
      <vt:lpstr>Inserting records into DNS</vt:lpstr>
      <vt:lpstr>Chapter 2: Application layer</vt:lpstr>
      <vt:lpstr>Pure P2P architecture</vt:lpstr>
      <vt:lpstr>File Distribution: Server-Client vs P2P</vt:lpstr>
      <vt:lpstr>File distribution time: server-client（课后题）</vt:lpstr>
      <vt:lpstr>File distribution time: P2P（课后题）</vt:lpstr>
      <vt:lpstr>PowerPoint 演示文稿</vt:lpstr>
      <vt:lpstr>File distribution: BitTorrent </vt:lpstr>
      <vt:lpstr>BitTorrent (1)</vt:lpstr>
      <vt:lpstr>BitTorrent (2)</vt:lpstr>
      <vt:lpstr>BitTorrent:  Tit-for-tat</vt:lpstr>
      <vt:lpstr>Distributed Hash Table (DHT)</vt:lpstr>
      <vt:lpstr>DHT Identifiers</vt:lpstr>
      <vt:lpstr>How to assign keys to peers?</vt:lpstr>
      <vt:lpstr>Circular DHT (1)</vt:lpstr>
      <vt:lpstr>Circle DHT  (2) </vt:lpstr>
      <vt:lpstr>Circular DHT with Shortcuts</vt:lpstr>
      <vt:lpstr>Peer Churn</vt:lpstr>
      <vt:lpstr>P2P Case study: Skype（题）</vt:lpstr>
      <vt:lpstr>Peers as relays</vt:lpstr>
      <vt:lpstr>Chapter 2: Application layer</vt:lpstr>
      <vt:lpstr>Socket programming</vt:lpstr>
      <vt:lpstr>Socket programming basics</vt:lpstr>
      <vt:lpstr>Socket programming with UDP</vt:lpstr>
      <vt:lpstr>Running example</vt:lpstr>
      <vt:lpstr>Client/server socket interaction: UDP</vt:lpstr>
      <vt:lpstr>Example: Java client (UDP)</vt:lpstr>
      <vt:lpstr>Example: Java client (UDP)</vt:lpstr>
      <vt:lpstr>Example: Java client (UDP), cont.</vt:lpstr>
      <vt:lpstr>Example: Java server (UDP)</vt:lpstr>
      <vt:lpstr>Example: Java server (UDP), cont</vt:lpstr>
      <vt:lpstr>UDP observations &amp; questions</vt:lpstr>
      <vt:lpstr>Chapter 2: Application layer</vt:lpstr>
      <vt:lpstr>Socket-programming using TCP</vt:lpstr>
      <vt:lpstr>Socket programming with TCP</vt:lpstr>
      <vt:lpstr>Client/server socket interaction: TCP</vt:lpstr>
      <vt:lpstr>PowerPoint 演示文稿</vt:lpstr>
      <vt:lpstr>Socket programming with TCP</vt:lpstr>
      <vt:lpstr>Example: Java client (TCP)</vt:lpstr>
      <vt:lpstr>Example: Java client (TCP), cont.</vt:lpstr>
      <vt:lpstr>Example: Java server (TCP)</vt:lpstr>
      <vt:lpstr>Example: Java server (TCP), cont</vt:lpstr>
      <vt:lpstr>TCP observations &amp; questions</vt:lpstr>
      <vt:lpstr>Chapter 2: Summary</vt:lpstr>
      <vt:lpstr>Chapter 2: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3rd Edition: Chapter 2</dc:title>
  <dc:creator>Jim Kurose and Keith Ross</dc:creator>
  <cp:lastModifiedBy>姜竹青</cp:lastModifiedBy>
  <cp:revision>304</cp:revision>
  <dcterms:created xsi:type="dcterms:W3CDTF">1999-10-08T19:08:00Z</dcterms:created>
  <dcterms:modified xsi:type="dcterms:W3CDTF">2025-03-24T00:49:27Z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46C531F87EB64ED991A193B705447EE6_13</vt:lpwstr>
  </property>
  <property fmtid="{D5CDD505-2E9C-101B-9397-08002B2CF9AE}" pid="3" name="KSOProductBuildVer">
    <vt:lpwstr>2052-12.1.0.19770</vt:lpwstr>
  </property>
</Properties>
</file>
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515" r:id="rId3"/>
    <p:sldId id="517" r:id="rId5"/>
    <p:sldId id="518" r:id="rId6"/>
    <p:sldId id="519" r:id="rId7"/>
    <p:sldId id="520" r:id="rId8"/>
    <p:sldId id="521" r:id="rId9"/>
    <p:sldId id="522" r:id="rId10"/>
    <p:sldId id="523" r:id="rId11"/>
    <p:sldId id="524" r:id="rId12"/>
    <p:sldId id="527" r:id="rId13"/>
    <p:sldId id="528" r:id="rId14"/>
    <p:sldId id="529" r:id="rId15"/>
    <p:sldId id="530" r:id="rId16"/>
    <p:sldId id="531" r:id="rId17"/>
    <p:sldId id="532" r:id="rId18"/>
    <p:sldId id="533" r:id="rId19"/>
    <p:sldId id="534" r:id="rId20"/>
    <p:sldId id="555" r:id="rId21"/>
    <p:sldId id="537" r:id="rId22"/>
    <p:sldId id="538" r:id="rId23"/>
    <p:sldId id="539" r:id="rId24"/>
  </p:sldIdLst>
  <p:sldSz cx="12192000" cy="6858000"/>
  <p:notesSz cx="6668770" cy="9926320"/>
  <p:defaultTextStyle>
    <a:defPPr>
      <a:defRPr lang="zh-CN"/>
    </a:defPPr>
    <a:lvl1pPr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6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CC00"/>
    <a:srgbClr val="CC0000"/>
    <a:srgbClr val="0099FF"/>
    <a:srgbClr val="0066FF"/>
    <a:srgbClr val="3333CC"/>
    <a:srgbClr val="0000FF"/>
    <a:srgbClr val="FF33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7" autoAdjust="0"/>
    <p:restoredTop sz="94660" autoAdjust="0"/>
  </p:normalViewPr>
  <p:slideViewPr>
    <p:cSldViewPr showGuides="1">
      <p:cViewPr varScale="1">
        <p:scale>
          <a:sx n="126" d="100"/>
          <a:sy n="126" d="100"/>
        </p:scale>
        <p:origin x="156" y="13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486"/>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14339" name="Rectangle 3"/>
          <p:cNvSpPr>
            <a:spLocks noGrp="1" noChangeArrowheads="1"/>
          </p:cNvSpPr>
          <p:nvPr>
            <p:ph type="dt" sz="quarter" idx="1"/>
          </p:nvPr>
        </p:nvSpPr>
        <p:spPr bwMode="auto">
          <a:xfrm>
            <a:off x="3779838"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14340" name="Rectangle 4"/>
          <p:cNvSpPr>
            <a:spLocks noGrp="1" noChangeArrowheads="1"/>
          </p:cNvSpPr>
          <p:nvPr>
            <p:ph type="ftr" sz="quarter" idx="2"/>
          </p:nvPr>
        </p:nvSpPr>
        <p:spPr bwMode="auto">
          <a:xfrm>
            <a:off x="0"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14341" name="Rectangle 5"/>
          <p:cNvSpPr>
            <a:spLocks noGrp="1" noChangeArrowheads="1"/>
          </p:cNvSpPr>
          <p:nvPr>
            <p:ph type="sldNum" sz="quarter" idx="3"/>
          </p:nvPr>
        </p:nvSpPr>
        <p:spPr bwMode="auto">
          <a:xfrm>
            <a:off x="3779838" y="942975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7AC399C5-F505-410D-8CBE-F6D51B1E0D0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6418" name="Rectangle 2"/>
          <p:cNvSpPr>
            <a:spLocks noGrp="1" noChangeArrowheads="1"/>
          </p:cNvSpPr>
          <p:nvPr>
            <p:ph type="hdr" sz="quarter"/>
          </p:nvPr>
        </p:nvSpPr>
        <p:spPr bwMode="auto">
          <a:xfrm>
            <a:off x="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kumimoji="1" sz="1200">
                <a:latin typeface="Times New Roman" panose="02020603050405020304" pitchFamily="18" charset="0"/>
              </a:defRPr>
            </a:lvl1pPr>
          </a:lstStyle>
          <a:p>
            <a:endParaRPr lang="en-US" altLang="zh-CN"/>
          </a:p>
        </p:txBody>
      </p:sp>
      <p:sp>
        <p:nvSpPr>
          <p:cNvPr id="316419" name="Rectangle 3"/>
          <p:cNvSpPr>
            <a:spLocks noGrp="1" noChangeArrowheads="1"/>
          </p:cNvSpPr>
          <p:nvPr>
            <p:ph type="dt" idx="1"/>
          </p:nvPr>
        </p:nvSpPr>
        <p:spPr bwMode="auto">
          <a:xfrm>
            <a:off x="3778250" y="0"/>
            <a:ext cx="28892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kumimoji="1" sz="1200">
                <a:latin typeface="Times New Roman" panose="02020603050405020304" pitchFamily="18" charset="0"/>
              </a:defRPr>
            </a:lvl1pPr>
          </a:lstStyle>
          <a:p>
            <a:endParaRPr lang="en-US" altLang="zh-CN"/>
          </a:p>
        </p:txBody>
      </p:sp>
      <p:sp>
        <p:nvSpPr>
          <p:cNvPr id="316420" name="Rectangle 4"/>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6421" name="Rectangle 5"/>
          <p:cNvSpPr>
            <a:spLocks noGrp="1" noChangeArrowheads="1"/>
          </p:cNvSpPr>
          <p:nvPr>
            <p:ph type="body" sz="quarter" idx="3"/>
          </p:nvPr>
        </p:nvSpPr>
        <p:spPr bwMode="auto">
          <a:xfrm>
            <a:off x="666750" y="4714875"/>
            <a:ext cx="5335588" cy="446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316422" name="Rectangle 6"/>
          <p:cNvSpPr>
            <a:spLocks noGrp="1" noChangeArrowheads="1"/>
          </p:cNvSpPr>
          <p:nvPr>
            <p:ph type="ftr" sz="quarter" idx="4"/>
          </p:nvPr>
        </p:nvSpPr>
        <p:spPr bwMode="auto">
          <a:xfrm>
            <a:off x="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1" sz="1200">
                <a:latin typeface="Times New Roman" panose="02020603050405020304" pitchFamily="18" charset="0"/>
              </a:defRPr>
            </a:lvl1pPr>
          </a:lstStyle>
          <a:p>
            <a:endParaRPr lang="en-US" altLang="zh-CN"/>
          </a:p>
        </p:txBody>
      </p:sp>
      <p:sp>
        <p:nvSpPr>
          <p:cNvPr id="316423" name="Rectangle 7"/>
          <p:cNvSpPr>
            <a:spLocks noGrp="1" noChangeArrowheads="1"/>
          </p:cNvSpPr>
          <p:nvPr>
            <p:ph type="sldNum" sz="quarter" idx="5"/>
          </p:nvPr>
        </p:nvSpPr>
        <p:spPr bwMode="auto">
          <a:xfrm>
            <a:off x="3778250" y="9428163"/>
            <a:ext cx="28892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1" sz="1200">
                <a:latin typeface="Times New Roman" panose="02020603050405020304" pitchFamily="18" charset="0"/>
              </a:defRPr>
            </a:lvl1pPr>
          </a:lstStyle>
          <a:p>
            <a:fld id="{2AE44EBE-441B-481F-9A2F-52D8EEBCC3A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69931A95-B0E9-43DE-8595-2CA1AC45AE00}"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smtClean="0">
                <a:latin typeface="Arial" panose="020B0604020202020204" pitchFamily="34" charset="0"/>
              </a:rPr>
              <a:t>中间件的种类包括：消息中间件、对象中间件、交易中间件、安全中间件、应用服务器、应用集成服务器等；</a:t>
            </a:r>
            <a:endParaRPr lang="zh-CN" altLang="en-US" smtClean="0">
              <a:latin typeface="Arial" panose="020B0604020202020204" pitchFamily="34" charset="0"/>
            </a:endParaRPr>
          </a:p>
          <a:p>
            <a:pPr eaLnBrk="1" hangingPunct="1">
              <a:lnSpc>
                <a:spcPct val="90000"/>
              </a:lnSpc>
            </a:pPr>
            <a:r>
              <a:rPr lang="zh-CN" altLang="en-US" smtClean="0">
                <a:latin typeface="Arial" panose="020B0604020202020204" pitchFamily="34" charset="0"/>
              </a:rPr>
              <a:t>世界著名的咨询机构</a:t>
            </a:r>
            <a:r>
              <a:rPr lang="en-US" altLang="zh-CN" smtClean="0">
                <a:latin typeface="Arial" panose="020B0604020202020204" pitchFamily="34" charset="0"/>
              </a:rPr>
              <a:t>Standish Group</a:t>
            </a:r>
            <a:r>
              <a:rPr lang="zh-CN" altLang="en-US" smtClean="0">
                <a:latin typeface="Arial" panose="020B0604020202020204" pitchFamily="34" charset="0"/>
              </a:rPr>
              <a:t>在一份研究报告中归纳了中间件的十大优越性：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缩短应用的开发周期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节约应用的开发成本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减少系统初期的建设成本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降低应用开发的失败率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保护已有的投资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简化应用集成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减少维护费用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提高应用的开发质量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保证技术进步的连续性  </a:t>
            </a:r>
            <a:br>
              <a:rPr lang="zh-CN" altLang="en-US" smtClean="0">
                <a:latin typeface="Arial" panose="020B0604020202020204" pitchFamily="34" charset="0"/>
              </a:rPr>
            </a:br>
            <a:br>
              <a:rPr lang="zh-CN" altLang="en-US" smtClean="0">
                <a:latin typeface="Arial" panose="020B0604020202020204" pitchFamily="34" charset="0"/>
              </a:rPr>
            </a:br>
            <a:r>
              <a:rPr lang="en-US" altLang="zh-CN" smtClean="0">
                <a:latin typeface="Arial" panose="020B0604020202020204" pitchFamily="34" charset="0"/>
              </a:rPr>
              <a:t>· </a:t>
            </a:r>
            <a:r>
              <a:rPr lang="zh-CN" altLang="en-US" smtClean="0">
                <a:latin typeface="Arial" panose="020B0604020202020204" pitchFamily="34" charset="0"/>
              </a:rPr>
              <a:t>增强应用的生命力 </a:t>
            </a:r>
            <a:endParaRPr lang="zh-CN" altLang="en-US"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D2E54381-CFAB-44B3-9A97-6B6BDF2E104F}"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3EAB1A60-33EB-4B08-B567-DC8C50E8F7AD}"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A50A37E4-9EC8-4BCC-95A4-A6F9580193EB}"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B80259A-A0C1-4422-A283-BCE19FEC99FB}"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A2DC6B7A-D6CD-44A6-B4BE-D387DF76AB1B}" type="datetime1">
              <a:rPr lang="zh-CN" altLang="en-US" smtClean="0"/>
            </a:fld>
            <a:endParaRPr lang="en-US" altLang="zh-CN"/>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r>
              <a:rPr lang="en-US" altLang="zh-CN" smtClean="0"/>
              <a:t>© 2014-2018 BUPT TSEG</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D4CBECFB-BAAF-4F60-B969-B6634AA3C49B}" type="slidenum">
              <a:rPr lang="en-US" altLang="zh-CN" smtClean="0"/>
            </a:fld>
            <a:endParaRPr lang="en-US" altLang="zh-CN"/>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6" y="138542"/>
            <a:ext cx="10765455" cy="645258"/>
          </a:xfrm>
        </p:spPr>
        <p:txBody>
          <a:bodyPr>
            <a:normAutofit/>
          </a:bodyPr>
          <a:lstStyle>
            <a:lvl1pPr algn="r">
              <a:defRPr sz="28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07368" y="922341"/>
            <a:ext cx="11377263" cy="5254622"/>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20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11" name="日期占位符 10"/>
          <p:cNvSpPr>
            <a:spLocks noGrp="1"/>
          </p:cNvSpPr>
          <p:nvPr>
            <p:ph type="dt" sz="half" idx="10"/>
          </p:nvPr>
        </p:nvSpPr>
        <p:spPr/>
        <p:txBody>
          <a:bodyPr/>
          <a:lstStyle/>
          <a:p>
            <a:fld id="{7E6739BF-C30C-4A35-8BEC-D7EF64F81437}" type="datetime1">
              <a:rPr lang="zh-CN" altLang="en-US" smtClean="0"/>
            </a:fld>
            <a:endParaRPr lang="en-US" altLang="zh-CN"/>
          </a:p>
        </p:txBody>
      </p:sp>
      <p:sp>
        <p:nvSpPr>
          <p:cNvPr id="12" name="页脚占位符 11"/>
          <p:cNvSpPr>
            <a:spLocks noGrp="1"/>
          </p:cNvSpPr>
          <p:nvPr>
            <p:ph type="ftr" sz="quarter" idx="11"/>
          </p:nvPr>
        </p:nvSpPr>
        <p:spPr/>
        <p:txBody>
          <a:bodyPr/>
          <a:lstStyle/>
          <a:p>
            <a:r>
              <a:rPr lang="en-US" altLang="zh-CN" dirty="0" smtClean="0"/>
              <a:t>© 2014-2018 BUPT TSEG</a:t>
            </a:r>
            <a:endParaRPr lang="en-US" altLang="zh-CN" dirty="0"/>
          </a:p>
        </p:txBody>
      </p:sp>
      <p:sp>
        <p:nvSpPr>
          <p:cNvPr id="13" name="灯片编号占位符 12"/>
          <p:cNvSpPr>
            <a:spLocks noGrp="1"/>
          </p:cNvSpPr>
          <p:nvPr>
            <p:ph type="sldNum" sz="quarter" idx="12"/>
          </p:nvPr>
        </p:nvSpPr>
        <p:spPr/>
        <p:txBody>
          <a:bodyPr/>
          <a:lstStyle/>
          <a:p>
            <a:fld id="{BB8F36B6-E69B-46DC-BD69-409530B6DB32}" type="slidenum">
              <a:rPr lang="en-US" altLang="zh-CN" smtClean="0"/>
            </a:fld>
            <a:endParaRPr lang="en-US" altLang="zh-CN" dirty="0"/>
          </a:p>
        </p:txBody>
      </p:sp>
      <p:pic>
        <p:nvPicPr>
          <p:cNvPr id="10" name="图片 9"/>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0910040-1E61-49D9-ACD5-766D80333E29}"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smtClean="0"/>
              <a:t>© 2014-2018 BUPT TSEG</a:t>
            </a:r>
            <a:endParaRPr lang="en-US" altLang="zh-CN"/>
          </a:p>
        </p:txBody>
      </p:sp>
      <p:sp>
        <p:nvSpPr>
          <p:cNvPr id="7" name="灯片编号占位符 6"/>
          <p:cNvSpPr>
            <a:spLocks noGrp="1"/>
          </p:cNvSpPr>
          <p:nvPr>
            <p:ph type="sldNum" sz="quarter" idx="12"/>
          </p:nvPr>
        </p:nvSpPr>
        <p:spPr/>
        <p:txBody>
          <a:bodyPr/>
          <a:lstStyle/>
          <a:p>
            <a:fld id="{1785D4AB-BEF3-44A7-80A9-70F15845910A}" type="slidenum">
              <a:rPr lang="en-US" altLang="zh-CN" smtClean="0"/>
            </a:fld>
            <a:endParaRPr lang="en-US" altLang="zh-CN"/>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A24DA28-3541-405B-80D3-8DF15E268B40}" type="datetime1">
              <a:rPr lang="zh-CN" altLang="en-US" smtClean="0"/>
            </a:fld>
            <a:endParaRPr lang="en-US" altLang="zh-CN"/>
          </a:p>
        </p:txBody>
      </p:sp>
      <p:sp>
        <p:nvSpPr>
          <p:cNvPr id="8" name="页脚占位符 7"/>
          <p:cNvSpPr>
            <a:spLocks noGrp="1"/>
          </p:cNvSpPr>
          <p:nvPr>
            <p:ph type="ftr" sz="quarter" idx="11"/>
          </p:nvPr>
        </p:nvSpPr>
        <p:spPr/>
        <p:txBody>
          <a:bodyPr/>
          <a:lstStyle/>
          <a:p>
            <a:r>
              <a:rPr lang="en-US" altLang="zh-CN" smtClean="0"/>
              <a:t>© 2014-2018 BUPT TSEG</a:t>
            </a:r>
            <a:endParaRPr lang="en-US" altLang="zh-CN"/>
          </a:p>
        </p:txBody>
      </p:sp>
      <p:sp>
        <p:nvSpPr>
          <p:cNvPr id="9" name="灯片编号占位符 8"/>
          <p:cNvSpPr>
            <a:spLocks noGrp="1"/>
          </p:cNvSpPr>
          <p:nvPr>
            <p:ph type="sldNum" sz="quarter" idx="12"/>
          </p:nvPr>
        </p:nvSpPr>
        <p:spPr/>
        <p:txBody>
          <a:bodyPr/>
          <a:lstStyle/>
          <a:p>
            <a:fld id="{C97E3893-382F-40D2-A136-F7A947AAA86A}" type="slidenum">
              <a:rPr lang="en-US" altLang="zh-CN" smtClean="0"/>
            </a:fld>
            <a:endParaRPr lang="en-US" altLang="zh-CN"/>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7E6739BF-C30C-4A35-8BEC-D7EF64F81437}" type="datetime1">
              <a:rPr lang="zh-CN" altLang="en-US" smtClean="0"/>
            </a:fld>
            <a:endParaRPr lang="en-US" altLang="zh-CN"/>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zh-CN" smtClean="0"/>
              <a:t>© 2014-2018 BUPT TSEG</a:t>
            </a:r>
            <a:endParaRPr lang="en-US" altLang="zh-CN"/>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8F36B6-E69B-46DC-BD69-409530B6DB32}"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36830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1800" b="1" dirty="0">
                <a:solidFill>
                  <a:prstClr val="white"/>
                </a:solidFill>
                <a:latin typeface="微软雅黑" panose="020B0503020204020204" pitchFamily="34" charset="-122"/>
                <a:ea typeface="微软雅黑" panose="020B0503020204020204" pitchFamily="34" charset="-122"/>
              </a:rPr>
              <a:t>软件项目管理及软件维护</a:t>
            </a:r>
            <a:endParaRPr lang="zh-CN" altLang="en-US" sz="1800" b="1" dirty="0">
              <a:solidFill>
                <a:prstClr val="white"/>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812570" y="4519241"/>
            <a:ext cx="8531902" cy="398780"/>
          </a:xfrm>
          <a:prstGeom prst="rect">
            <a:avLst/>
          </a:prstGeom>
          <a:noFill/>
        </p:spPr>
        <p:txBody>
          <a:bodyPr wrap="square" rtlCol="0">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老师邮箱</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 </a:t>
            </a:r>
            <a:r>
              <a:rPr lang="en-US" altLang="zh-CN" sz="2000" b="1" dirty="0">
                <a:solidFill>
                  <a:schemeClr val="bg1"/>
                </a:solidFill>
                <a:latin typeface="微软雅黑" panose="020B0503020204020204" pitchFamily="34" charset="-122"/>
                <a:ea typeface="微软雅黑" panose="020B0503020204020204" pitchFamily="34" charset="-122"/>
              </a:rPr>
              <a:t>dxiao@bupt.edu.cn	</a:t>
            </a:r>
            <a:r>
              <a:rPr lang="en-US" altLang="zh-CN" sz="2000" b="1" dirty="0" smtClean="0">
                <a:solidFill>
                  <a:schemeClr val="bg1"/>
                </a:solidFill>
                <a:latin typeface="微软雅黑" panose="020B0503020204020204" pitchFamily="34" charset="-122"/>
                <a:ea typeface="微软雅黑" panose="020B0503020204020204" pitchFamily="34" charset="-122"/>
                <a:sym typeface="+mn-ea"/>
              </a:rPr>
              <a:t>QQ:14915703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 name="日期占位符 4"/>
          <p:cNvSpPr>
            <a:spLocks noGrp="1"/>
          </p:cNvSpPr>
          <p:nvPr>
            <p:ph type="dt" sz="half" idx="10"/>
          </p:nvPr>
        </p:nvSpPr>
        <p:spPr/>
        <p:txBody>
          <a:bodyPr/>
          <a:lstStyle/>
          <a:p>
            <a:fld id="{AC4D13C8-5D36-49EE-9B04-A17A05C3CF14}" type="datetime1">
              <a:rPr lang="zh-CN" altLang="en-US" smtClean="0"/>
            </a:fld>
            <a:endParaRPr lang="en-US" altLang="zh-CN"/>
          </a:p>
        </p:txBody>
      </p:sp>
      <p:sp>
        <p:nvSpPr>
          <p:cNvPr id="6" name="页脚占位符 5"/>
          <p:cNvSpPr>
            <a:spLocks noGrp="1"/>
          </p:cNvSpPr>
          <p:nvPr>
            <p:ph type="ftr" sz="quarter" idx="11"/>
          </p:nvPr>
        </p:nvSpPr>
        <p:spPr/>
        <p:txBody>
          <a:bodyPr/>
          <a:lstStyle/>
          <a:p>
            <a:r>
              <a:rPr lang="en-US" altLang="zh-CN" smtClean="0"/>
              <a:t>© 2014-2018 BUPT TSEG</a:t>
            </a:r>
            <a:endParaRPr lang="en-US" altLang="zh-CN"/>
          </a:p>
        </p:txBody>
      </p:sp>
      <p:sp>
        <p:nvSpPr>
          <p:cNvPr id="7" name="灯片编号占位符 6"/>
          <p:cNvSpPr>
            <a:spLocks noGrp="1"/>
          </p:cNvSpPr>
          <p:nvPr>
            <p:ph type="sldNum" sz="quarter" idx="12"/>
          </p:nvPr>
        </p:nvSpPr>
        <p:spPr/>
        <p:txBody>
          <a:bodyPr/>
          <a:lstStyle/>
          <a:p>
            <a:fld id="{D4CBECFB-BAAF-4F60-B969-B6634AA3C49B}" type="slidenum">
              <a:rPr lang="en-US" altLang="zh-CN" smtClean="0"/>
            </a:fld>
            <a:endParaRPr lang="en-US" altLang="zh-CN"/>
          </a:p>
        </p:txBody>
      </p:sp>
      <p:pic>
        <p:nvPicPr>
          <p:cNvPr id="10" name="图片 9"/>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536779" cy="716317"/>
          </a:xfrm>
          <a:prstGeom prst="rect">
            <a:avLst/>
          </a:prstGeom>
        </p:spPr>
      </p:pic>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smtClean="0"/>
              <a:t>主要内容</a:t>
            </a:r>
            <a:endParaRPr lang="zh-CN" altLang="en-US" smtClean="0"/>
          </a:p>
        </p:txBody>
      </p:sp>
      <p:sp>
        <p:nvSpPr>
          <p:cNvPr id="6148" name="Rectangle 3"/>
          <p:cNvSpPr>
            <a:spLocks noGrp="1" noChangeArrowheads="1"/>
          </p:cNvSpPr>
          <p:nvPr>
            <p:ph type="body" idx="1"/>
          </p:nvPr>
        </p:nvSpPr>
        <p:spPr/>
        <p:txBody>
          <a:bodyPr/>
          <a:lstStyle/>
          <a:p>
            <a:r>
              <a:rPr lang="zh-CN" altLang="en-US" dirty="0" smtClean="0"/>
              <a:t>软件维护</a:t>
            </a:r>
            <a:endParaRPr lang="zh-CN" altLang="en-US" dirty="0" smtClean="0"/>
          </a:p>
          <a:p>
            <a:r>
              <a:rPr lang="zh-CN" altLang="en-US" dirty="0" smtClean="0"/>
              <a:t>软件项目管理</a:t>
            </a:r>
            <a:endParaRPr lang="zh-CN" altLang="en-US" dirty="0" smtClean="0"/>
          </a:p>
          <a:p>
            <a:endParaRPr lang="zh-CN" altLang="en-US" dirty="0" smtClean="0"/>
          </a:p>
          <a:p>
            <a:pPr>
              <a:buFont typeface="Wingdings" panose="05000000000000000000" pitchFamily="2" charset="2"/>
              <a:buNone/>
            </a:pPr>
            <a:endParaRPr lang="en-US" altLang="zh-CN"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软件维护</a:t>
            </a:r>
            <a:endParaRPr lang="zh-CN" altLang="en-US" dirty="0" smtClean="0"/>
          </a:p>
        </p:txBody>
      </p:sp>
      <p:sp>
        <p:nvSpPr>
          <p:cNvPr id="7172" name="Rectangle 3"/>
          <p:cNvSpPr>
            <a:spLocks noGrp="1" noChangeArrowheads="1"/>
          </p:cNvSpPr>
          <p:nvPr>
            <p:ph type="body" idx="1"/>
          </p:nvPr>
        </p:nvSpPr>
        <p:spPr/>
        <p:txBody>
          <a:bodyPr/>
          <a:lstStyle/>
          <a:p>
            <a:r>
              <a:rPr lang="zh-CN" altLang="en-US" dirty="0" smtClean="0"/>
              <a:t>软件维护的定义</a:t>
            </a:r>
            <a:endParaRPr lang="zh-CN" altLang="en-US" dirty="0" smtClean="0"/>
          </a:p>
          <a:p>
            <a:r>
              <a:rPr lang="zh-CN" altLang="en-US" dirty="0" smtClean="0"/>
              <a:t>软件维护的分类</a:t>
            </a:r>
            <a:endParaRPr lang="zh-CN" altLang="en-US" dirty="0" smtClean="0"/>
          </a:p>
          <a:p>
            <a:r>
              <a:rPr lang="zh-CN" altLang="en-US" dirty="0" smtClean="0"/>
              <a:t>软件维护的活动</a:t>
            </a:r>
            <a:endParaRPr lang="zh-CN" altLang="en-US" dirty="0" smtClean="0"/>
          </a:p>
          <a:p>
            <a:r>
              <a:rPr lang="zh-CN" altLang="en-US" dirty="0" smtClean="0"/>
              <a:t>软件的逆向和再工程</a:t>
            </a:r>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smtClean="0"/>
              <a:t>软件维护的定义和分类</a:t>
            </a:r>
            <a:endParaRPr lang="zh-CN" altLang="en-US" smtClean="0"/>
          </a:p>
        </p:txBody>
      </p:sp>
      <p:sp>
        <p:nvSpPr>
          <p:cNvPr id="18435" name="Rectangle 3"/>
          <p:cNvSpPr>
            <a:spLocks noGrp="1" noChangeArrowheads="1"/>
          </p:cNvSpPr>
          <p:nvPr>
            <p:ph type="body" idx="1"/>
          </p:nvPr>
        </p:nvSpPr>
        <p:spPr/>
        <p:txBody>
          <a:bodyPr/>
          <a:lstStyle/>
          <a:p>
            <a:pPr>
              <a:spcBef>
                <a:spcPct val="30000"/>
              </a:spcBef>
            </a:pPr>
            <a:r>
              <a:rPr lang="zh-CN" altLang="en-US" sz="2800" dirty="0"/>
              <a:t>在软件已经交付使用之后，为了改正错误或满足新的需要而修改软件的过程，即在软件</a:t>
            </a:r>
            <a:r>
              <a:rPr lang="zh-CN" altLang="en-US" sz="2800" dirty="0" smtClean="0"/>
              <a:t>运行</a:t>
            </a:r>
            <a:r>
              <a:rPr lang="en-US" altLang="zh-CN" sz="2800" dirty="0" smtClean="0"/>
              <a:t>-</a:t>
            </a:r>
            <a:r>
              <a:rPr lang="zh-CN" altLang="en-US" sz="2800" dirty="0" smtClean="0"/>
              <a:t>维护阶段</a:t>
            </a:r>
            <a:r>
              <a:rPr lang="zh-CN" altLang="en-US" sz="2800" dirty="0"/>
              <a:t>对软件产品所进行的一切改动。 </a:t>
            </a:r>
            <a:endParaRPr lang="zh-CN" altLang="en-US" sz="2800" dirty="0"/>
          </a:p>
          <a:p>
            <a:pPr lvl="1"/>
            <a:r>
              <a:rPr lang="zh-CN" altLang="en-US" sz="2400" dirty="0"/>
              <a:t>改正在系统运行过程</a:t>
            </a:r>
            <a:r>
              <a:rPr lang="zh-CN" altLang="en-US" sz="2400" dirty="0" smtClean="0"/>
              <a:t>中</a:t>
            </a:r>
            <a:r>
              <a:rPr lang="zh-CN" altLang="en-US" sz="2400" dirty="0"/>
              <a:t>发现</a:t>
            </a:r>
            <a:r>
              <a:rPr lang="zh-CN" altLang="en-US" sz="2400" dirty="0" smtClean="0"/>
              <a:t>的</a:t>
            </a:r>
            <a:r>
              <a:rPr lang="zh-CN" altLang="en-US" sz="2400" dirty="0"/>
              <a:t>一些潜在程序错误或设计缺陷，称为改正性维护。</a:t>
            </a:r>
            <a:endParaRPr lang="zh-CN" altLang="en-US" sz="2400" dirty="0"/>
          </a:p>
          <a:p>
            <a:pPr lvl="1"/>
            <a:r>
              <a:rPr lang="zh-CN" altLang="en-US" sz="2400" dirty="0"/>
              <a:t>为了适应在软件使用过程中数据环境发生变化或处理环境发生变化而进行的软件修改，称为适应性维护。</a:t>
            </a:r>
            <a:endParaRPr lang="zh-CN" altLang="en-US" sz="2400" dirty="0"/>
          </a:p>
          <a:p>
            <a:pPr lvl="1"/>
            <a:r>
              <a:rPr lang="zh-CN" altLang="en-US" sz="2400" dirty="0"/>
              <a:t>为满足用户的其他要求，就需要修改软件并把这些要求纳入到软件之中，称为完善性维护。</a:t>
            </a:r>
            <a:endParaRPr lang="zh-CN" altLang="en-US" sz="2400" dirty="0"/>
          </a:p>
          <a:p>
            <a:pPr lvl="1"/>
            <a:r>
              <a:rPr lang="zh-CN" altLang="en-US" sz="2400" dirty="0"/>
              <a:t>为了提高软件的可维护性、可靠性等而事先进行的软件改动，称为预防性维护。</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smtClean="0"/>
              <a:t>影响软件维护工作量的因素</a:t>
            </a:r>
            <a:endParaRPr lang="zh-CN" altLang="en-US" smtClean="0"/>
          </a:p>
        </p:txBody>
      </p:sp>
      <p:sp>
        <p:nvSpPr>
          <p:cNvPr id="19459" name="Rectangle 3"/>
          <p:cNvSpPr>
            <a:spLocks noGrp="1" noChangeArrowheads="1"/>
          </p:cNvSpPr>
          <p:nvPr>
            <p:ph type="body" idx="1"/>
          </p:nvPr>
        </p:nvSpPr>
        <p:spPr/>
        <p:txBody>
          <a:bodyPr/>
          <a:lstStyle/>
          <a:p>
            <a:pPr>
              <a:spcBef>
                <a:spcPct val="30000"/>
              </a:spcBef>
            </a:pPr>
            <a:r>
              <a:rPr lang="zh-CN" altLang="en-US" dirty="0"/>
              <a:t>系统大小：系统越大，理解掌握起来越困难。系统越大，所执行功能越复杂。因而需要更多的维护工作量。</a:t>
            </a:r>
            <a:endParaRPr lang="zh-CN" altLang="en-US" dirty="0"/>
          </a:p>
          <a:p>
            <a:pPr>
              <a:spcBef>
                <a:spcPct val="30000"/>
              </a:spcBef>
            </a:pPr>
            <a:r>
              <a:rPr lang="zh-CN" altLang="en-US" dirty="0"/>
              <a:t>程序设计语言：使用强功能的程序设计语言可以控制程序的规模。语言的功能越强，生成程序的模块化和结构化程度越高，所需的指令数就越少，程序的可读性越好。</a:t>
            </a:r>
            <a:endParaRPr lang="zh-CN" altLang="en-US" dirty="0"/>
          </a:p>
          <a:p>
            <a:pPr>
              <a:spcBef>
                <a:spcPct val="30000"/>
              </a:spcBef>
            </a:pPr>
            <a:r>
              <a:rPr lang="zh-CN" altLang="en-US" dirty="0"/>
              <a:t>系统年龄：系统随着不断的修改，结构越来越乱；由于维护人员经常更换，程序又变得越来越难于理解；长期的维护过程中文档在许多地方与程序实现变得不一致。</a:t>
            </a:r>
            <a:endParaRPr lang="zh-CN" altLang="en-US" dirty="0"/>
          </a:p>
          <a:p>
            <a:pPr>
              <a:spcBef>
                <a:spcPct val="30000"/>
              </a:spcBef>
            </a:pPr>
            <a:r>
              <a:rPr lang="zh-CN" altLang="en-US" dirty="0"/>
              <a:t>其它：例如，应用的类型、数学模型、任务的难度、开关与标记、</a:t>
            </a:r>
            <a:r>
              <a:rPr lang="en-US" altLang="zh-CN" dirty="0"/>
              <a:t>IF</a:t>
            </a:r>
            <a:r>
              <a:rPr lang="zh-CN" altLang="en-US" dirty="0"/>
              <a:t>嵌套深度、索引或下标数等，对维护工作量都有影响。</a:t>
            </a:r>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zh-CN" altLang="en-US" smtClean="0"/>
              <a:t>软件维护中的典型问题</a:t>
            </a:r>
            <a:endParaRPr lang="zh-CN" altLang="en-US" smtClean="0"/>
          </a:p>
        </p:txBody>
      </p:sp>
      <p:sp>
        <p:nvSpPr>
          <p:cNvPr id="20483" name="Rectangle 3"/>
          <p:cNvSpPr>
            <a:spLocks noGrp="1" noChangeArrowheads="1"/>
          </p:cNvSpPr>
          <p:nvPr>
            <p:ph type="body" idx="1"/>
          </p:nvPr>
        </p:nvSpPr>
        <p:spPr/>
        <p:txBody>
          <a:bodyPr/>
          <a:lstStyle/>
          <a:p>
            <a:r>
              <a:rPr lang="zh-CN" altLang="en-US" sz="2800"/>
              <a:t>首先软件维护人员大多数情况下不是软件开发人员，为此他们会遇到以下问题：</a:t>
            </a:r>
            <a:endParaRPr lang="zh-CN" altLang="en-US" sz="2800"/>
          </a:p>
          <a:p>
            <a:pPr lvl="1"/>
            <a:r>
              <a:rPr lang="zh-CN" altLang="en-US" sz="2400"/>
              <a:t>阅读和理解别人写的程序非常困难。</a:t>
            </a:r>
            <a:endParaRPr lang="zh-CN" altLang="en-US" sz="2400"/>
          </a:p>
          <a:p>
            <a:pPr lvl="1"/>
            <a:r>
              <a:rPr lang="zh-CN" altLang="en-US" sz="2400"/>
              <a:t>需要维护的软件往往没有合格的文档，或者文档资料明显不足。</a:t>
            </a:r>
            <a:endParaRPr lang="zh-CN" altLang="en-US" sz="2400"/>
          </a:p>
          <a:p>
            <a:pPr lvl="1"/>
            <a:r>
              <a:rPr lang="zh-CN" altLang="en-US" sz="2400"/>
              <a:t>不能指望开发人员仔细说明软件。</a:t>
            </a:r>
            <a:endParaRPr lang="zh-CN" altLang="en-US" sz="2400"/>
          </a:p>
          <a:p>
            <a:pPr lvl="1"/>
            <a:r>
              <a:rPr lang="zh-CN" altLang="en-US" sz="2400"/>
              <a:t>决大多数软件在设计时没有考虑将来的修改，从而导致了软件的可维护性很差。</a:t>
            </a:r>
            <a:endParaRPr lang="zh-CN" altLang="en-US" sz="2400"/>
          </a:p>
          <a:p>
            <a:pPr lvl="1"/>
            <a:r>
              <a:rPr lang="zh-CN" altLang="en-US" sz="2400"/>
              <a:t>软件维护不是一项吸引人的工作，由于以上原因经常导致维护出现困难，从而使软件维护人员产生厌烦和挫折感。</a:t>
            </a:r>
            <a:endParaRPr lang="zh-CN" altLang="en-US" sz="240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anim calcmode="lin" valueType="num">
                                      <p:cBhvr additive="base">
                                        <p:cTn id="19"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 calcmode="lin" valueType="num">
                                      <p:cBhvr additive="base">
                                        <p:cTn id="23"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 calcmode="lin" valueType="num">
                                      <p:cBhvr additive="base">
                                        <p:cTn id="2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zh-CN" altLang="en-US" smtClean="0"/>
              <a:t>软件维护的活动</a:t>
            </a:r>
            <a:endParaRPr lang="zh-CN" altLang="en-US" smtClean="0"/>
          </a:p>
        </p:txBody>
      </p:sp>
      <p:sp>
        <p:nvSpPr>
          <p:cNvPr id="39939" name="Rectangle 3"/>
          <p:cNvSpPr>
            <a:spLocks noGrp="1" noChangeArrowheads="1"/>
          </p:cNvSpPr>
          <p:nvPr>
            <p:ph type="body" idx="1"/>
          </p:nvPr>
        </p:nvSpPr>
        <p:spPr/>
        <p:txBody>
          <a:bodyPr/>
          <a:lstStyle/>
          <a:p>
            <a:r>
              <a:rPr lang="zh-CN" altLang="en-US" sz="2800"/>
              <a:t>为了有效地进行软件维护，就必须：</a:t>
            </a:r>
            <a:endParaRPr lang="zh-CN" altLang="en-US" sz="2800"/>
          </a:p>
          <a:p>
            <a:pPr lvl="1"/>
            <a:r>
              <a:rPr lang="zh-CN" altLang="en-US" sz="2400"/>
              <a:t>建立维护机构</a:t>
            </a:r>
            <a:endParaRPr lang="zh-CN" altLang="en-US" sz="2400"/>
          </a:p>
          <a:p>
            <a:pPr lvl="1"/>
            <a:r>
              <a:rPr lang="zh-CN" altLang="en-US" sz="2400"/>
              <a:t>给出软件维护的工作管理流程</a:t>
            </a:r>
            <a:endParaRPr lang="zh-CN" altLang="en-US" sz="2400"/>
          </a:p>
          <a:p>
            <a:pPr lvl="1"/>
            <a:r>
              <a:rPr lang="zh-CN" altLang="en-US" sz="2400"/>
              <a:t>为每一个维护申请规定标准的处理步骤</a:t>
            </a:r>
            <a:endParaRPr lang="zh-CN" altLang="en-US" sz="2400"/>
          </a:p>
          <a:p>
            <a:pPr>
              <a:buFont typeface="Wingdings" panose="05000000000000000000" pitchFamily="2" charset="2"/>
              <a:buNone/>
            </a:pPr>
            <a:endParaRPr lang="en-US" altLang="zh-CN" sz="2800"/>
          </a:p>
        </p:txBody>
      </p:sp>
      <p:pic>
        <p:nvPicPr>
          <p:cNvPr id="1126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95800" y="3140968"/>
            <a:ext cx="3830637"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0" dur="500"/>
                                        <p:tgtEl>
                                          <p:spTgt spid="399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3" dur="500"/>
                                        <p:tgtEl>
                                          <p:spTgt spid="3993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9939">
                                            <p:txEl>
                                              <p:pRg st="3" end="3"/>
                                            </p:txEl>
                                          </p:spTgt>
                                        </p:tgtEl>
                                        <p:attrNameLst>
                                          <p:attrName>style.visibility</p:attrName>
                                        </p:attrNameLst>
                                      </p:cBhvr>
                                      <p:to>
                                        <p:strVal val="visible"/>
                                      </p:to>
                                    </p:set>
                                    <p:animEffect transition="in" filter="blinds(horizontal)">
                                      <p:cBhvr>
                                        <p:cTn id="16" dur="500"/>
                                        <p:tgtEl>
                                          <p:spTgt spid="399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smtClean="0"/>
              <a:t>软件维护的管理工作流程</a:t>
            </a:r>
            <a:endParaRPr lang="zh-CN" altLang="en-US" smtClean="0"/>
          </a:p>
        </p:txBody>
      </p:sp>
      <p:sp>
        <p:nvSpPr>
          <p:cNvPr id="12292" name="Rectangle 5"/>
          <p:cNvSpPr>
            <a:spLocks noChangeArrowheads="1"/>
          </p:cNvSpPr>
          <p:nvPr/>
        </p:nvSpPr>
        <p:spPr bwMode="auto">
          <a:xfrm>
            <a:off x="1524001" y="2459982"/>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nvGrpSpPr>
          <p:cNvPr id="12293" name="Group 9"/>
          <p:cNvGrpSpPr/>
          <p:nvPr/>
        </p:nvGrpSpPr>
        <p:grpSpPr bwMode="auto">
          <a:xfrm>
            <a:off x="2279576" y="783800"/>
            <a:ext cx="6588125" cy="4797425"/>
            <a:chOff x="0" y="0"/>
            <a:chExt cx="5760" cy="4320"/>
          </a:xfrm>
        </p:grpSpPr>
        <p:pic>
          <p:nvPicPr>
            <p:cNvPr id="12294"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5760" cy="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56"/>
              <a:ext cx="5760" cy="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smtClean="0"/>
              <a:t>软件维护的标准化</a:t>
            </a:r>
            <a:endParaRPr lang="zh-CN" altLang="en-US" smtClean="0"/>
          </a:p>
        </p:txBody>
      </p:sp>
      <p:sp>
        <p:nvSpPr>
          <p:cNvPr id="13316" name="Rectangle 3"/>
          <p:cNvSpPr>
            <a:spLocks noGrp="1" noChangeArrowheads="1"/>
          </p:cNvSpPr>
          <p:nvPr>
            <p:ph type="body" idx="1"/>
          </p:nvPr>
        </p:nvSpPr>
        <p:spPr>
          <a:xfrm>
            <a:off x="839416" y="1125538"/>
            <a:ext cx="10729192" cy="4895750"/>
          </a:xfrm>
        </p:spPr>
        <p:txBody>
          <a:bodyPr>
            <a:normAutofit lnSpcReduction="10000"/>
          </a:bodyPr>
          <a:lstStyle/>
          <a:p>
            <a:pPr>
              <a:spcBef>
                <a:spcPct val="30000"/>
              </a:spcBef>
            </a:pPr>
            <a:r>
              <a:rPr lang="zh-CN" altLang="en-US" sz="2200" dirty="0"/>
              <a:t>修改请求：一般由用户、程序员或管理人员提出，是软件维护的开始；</a:t>
            </a:r>
            <a:endParaRPr lang="zh-CN" altLang="en-US" sz="2200" dirty="0"/>
          </a:p>
          <a:p>
            <a:pPr>
              <a:spcBef>
                <a:spcPct val="30000"/>
              </a:spcBef>
            </a:pPr>
            <a:r>
              <a:rPr lang="zh-CN" altLang="en-US" sz="2200" dirty="0"/>
              <a:t>分类与鉴别：根据修改请求，由维护机构来确认其维护类别，给一个编号，并输入数据库保存；</a:t>
            </a:r>
            <a:endParaRPr lang="zh-CN" altLang="en-US" sz="2200" dirty="0"/>
          </a:p>
          <a:p>
            <a:pPr>
              <a:spcBef>
                <a:spcPct val="30000"/>
              </a:spcBef>
            </a:pPr>
            <a:r>
              <a:rPr lang="zh-CN" altLang="en-US" sz="2200" dirty="0"/>
              <a:t>分析：先进行维护的可行性分析，然后进行详细分析； </a:t>
            </a:r>
            <a:endParaRPr lang="zh-CN" altLang="en-US" sz="2200" dirty="0"/>
          </a:p>
          <a:p>
            <a:pPr>
              <a:spcBef>
                <a:spcPct val="30000"/>
              </a:spcBef>
            </a:pPr>
            <a:r>
              <a:rPr lang="zh-CN" altLang="en-US" sz="2200" dirty="0"/>
              <a:t>设计：汇总全部信息开始更改，本阶段应更改设计的基线、更改测试计划、修订详细分析结果、核实维护需求；</a:t>
            </a:r>
            <a:endParaRPr lang="zh-CN" altLang="en-US" sz="2200" dirty="0"/>
          </a:p>
          <a:p>
            <a:pPr>
              <a:spcBef>
                <a:spcPct val="30000"/>
              </a:spcBef>
            </a:pPr>
            <a:r>
              <a:rPr lang="zh-CN" altLang="en-US" sz="2200" dirty="0"/>
              <a:t>实现：制定程序更改计划并进行软件更改。包括编码、单元测试、集成、风险分析、测试准备审查、更新文档；</a:t>
            </a:r>
            <a:endParaRPr lang="zh-CN" altLang="en-US" sz="2200" dirty="0"/>
          </a:p>
          <a:p>
            <a:pPr>
              <a:spcBef>
                <a:spcPct val="30000"/>
              </a:spcBef>
            </a:pPr>
            <a:r>
              <a:rPr lang="zh-CN" altLang="en-US" sz="2200" dirty="0"/>
              <a:t>系统测试：主要进行程序之间的接口测试，以确保加入了修改的软件满足原来的需求，回归测试是确保不要引入新的错误；</a:t>
            </a:r>
            <a:endParaRPr lang="zh-CN" altLang="en-US" sz="2200" dirty="0"/>
          </a:p>
          <a:p>
            <a:pPr>
              <a:spcBef>
                <a:spcPct val="30000"/>
              </a:spcBef>
            </a:pPr>
            <a:r>
              <a:rPr lang="zh-CN" altLang="en-US" sz="2200" dirty="0"/>
              <a:t>验收测试：最终的综合测试，由客户、用户和第三方共同进行；</a:t>
            </a:r>
            <a:endParaRPr lang="zh-CN" altLang="en-US" sz="2200" dirty="0"/>
          </a:p>
          <a:p>
            <a:pPr>
              <a:spcBef>
                <a:spcPct val="30000"/>
              </a:spcBef>
            </a:pPr>
            <a:r>
              <a:rPr lang="zh-CN" altLang="en-US" sz="2200" dirty="0"/>
              <a:t>交付：此阶段是将新的系统交给用户安装并运行。</a:t>
            </a:r>
            <a:endParaRPr lang="zh-CN" altLang="en-US" sz="2200"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软件项目管理</a:t>
            </a:r>
            <a:endParaRPr lang="zh-CN" altLang="en-US" dirty="0" smtClean="0"/>
          </a:p>
        </p:txBody>
      </p:sp>
      <p:sp>
        <p:nvSpPr>
          <p:cNvPr id="21507" name="Rectangle 3"/>
          <p:cNvSpPr>
            <a:spLocks noGrp="1" noChangeArrowheads="1"/>
          </p:cNvSpPr>
          <p:nvPr>
            <p:ph type="body" idx="1"/>
          </p:nvPr>
        </p:nvSpPr>
        <p:spPr/>
        <p:txBody>
          <a:bodyPr/>
          <a:lstStyle/>
          <a:p>
            <a:r>
              <a:rPr lang="zh-CN" altLang="en-US" smtClean="0"/>
              <a:t>项目和软件项目的定义</a:t>
            </a:r>
            <a:endParaRPr lang="zh-CN" altLang="en-US" smtClean="0"/>
          </a:p>
          <a:p>
            <a:r>
              <a:rPr lang="zh-CN" altLang="en-US" smtClean="0"/>
              <a:t>软件项目管理过程</a:t>
            </a:r>
            <a:endParaRPr lang="zh-CN" altLang="en-US" smtClean="0"/>
          </a:p>
          <a:p>
            <a:r>
              <a:rPr lang="zh-CN" altLang="en-US" smtClean="0"/>
              <a:t>软件项目度量</a:t>
            </a:r>
            <a:endParaRPr lang="zh-CN" altLang="en-US" smtClean="0"/>
          </a:p>
          <a:p>
            <a:pPr lvl="1"/>
            <a:r>
              <a:rPr lang="zh-CN" altLang="en-US" smtClean="0"/>
              <a:t>软件规模度量</a:t>
            </a:r>
            <a:endParaRPr lang="zh-CN" altLang="en-US" smtClean="0"/>
          </a:p>
          <a:p>
            <a:pPr lvl="1"/>
            <a:r>
              <a:rPr lang="zh-CN" altLang="en-US" smtClean="0"/>
              <a:t>软件项目估算</a:t>
            </a:r>
            <a:endParaRPr lang="zh-CN" altLang="en-US" smtClean="0"/>
          </a:p>
          <a:p>
            <a:r>
              <a:rPr lang="zh-CN" altLang="en-US" smtClean="0"/>
              <a:t>软件项目进度安排</a:t>
            </a:r>
            <a:endParaRPr lang="zh-CN" altLang="en-US" smtClean="0"/>
          </a:p>
          <a:p>
            <a:r>
              <a:rPr lang="zh-CN" altLang="en-US" smtClean="0"/>
              <a:t>软件项目的组织结构</a:t>
            </a:r>
            <a:endParaRPr lang="zh-CN" altLang="en-US"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7">
                                            <p:txEl>
                                              <p:pRg st="2" end="2"/>
                                            </p:txEl>
                                          </p:spTgt>
                                        </p:tgtEl>
                                        <p:attrNameLst>
                                          <p:attrName>style.visibility</p:attrName>
                                        </p:attrNameLst>
                                      </p:cBhvr>
                                      <p:to>
                                        <p:strVal val="visible"/>
                                      </p:to>
                                    </p:set>
                                    <p:anim calcmode="lin" valueType="num">
                                      <p:cBhvr additive="base">
                                        <p:cTn id="19" dur="500" fill="hold"/>
                                        <p:tgtEl>
                                          <p:spTgt spid="21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 calcmode="lin" valueType="num">
                                      <p:cBhvr additive="base">
                                        <p:cTn id="23" dur="500" fill="hold"/>
                                        <p:tgtEl>
                                          <p:spTgt spid="215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50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 calcmode="lin" valueType="num">
                                      <p:cBhvr additive="base">
                                        <p:cTn id="27" dur="500" fill="hold"/>
                                        <p:tgtEl>
                                          <p:spTgt spid="2150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5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1507">
                                            <p:txEl>
                                              <p:pRg st="5" end="5"/>
                                            </p:txEl>
                                          </p:spTgt>
                                        </p:tgtEl>
                                        <p:attrNameLst>
                                          <p:attrName>style.visibility</p:attrName>
                                        </p:attrNameLst>
                                      </p:cBhvr>
                                      <p:to>
                                        <p:strVal val="visible"/>
                                      </p:to>
                                    </p:set>
                                    <p:anim calcmode="lin" valueType="num">
                                      <p:cBhvr additive="base">
                                        <p:cTn id="33" dur="500" fill="hold"/>
                                        <p:tgtEl>
                                          <p:spTgt spid="2150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15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1507">
                                            <p:txEl>
                                              <p:pRg st="6" end="6"/>
                                            </p:txEl>
                                          </p:spTgt>
                                        </p:tgtEl>
                                        <p:attrNameLst>
                                          <p:attrName>style.visibility</p:attrName>
                                        </p:attrNameLst>
                                      </p:cBhvr>
                                      <p:to>
                                        <p:strVal val="visible"/>
                                      </p:to>
                                    </p:set>
                                    <p:anim calcmode="lin" valueType="num">
                                      <p:cBhvr additive="base">
                                        <p:cTn id="39" dur="500" fill="hold"/>
                                        <p:tgtEl>
                                          <p:spTgt spid="21507">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15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smtClean="0"/>
              <a:t>项目和软件项目的定义</a:t>
            </a:r>
            <a:endParaRPr lang="zh-CN" altLang="en-US" smtClean="0"/>
          </a:p>
        </p:txBody>
      </p:sp>
      <p:sp>
        <p:nvSpPr>
          <p:cNvPr id="16388" name="Rectangle 3"/>
          <p:cNvSpPr>
            <a:spLocks noGrp="1" noChangeArrowheads="1"/>
          </p:cNvSpPr>
          <p:nvPr>
            <p:ph type="body" idx="1"/>
          </p:nvPr>
        </p:nvSpPr>
        <p:spPr/>
        <p:txBody>
          <a:bodyPr/>
          <a:lstStyle/>
          <a:p>
            <a:r>
              <a:rPr lang="zh-CN" altLang="en-US" sz="2800" dirty="0"/>
              <a:t>项目，是一项为了创造某一唯一的产品或服务的时限性工作。具有以下特征：</a:t>
            </a:r>
            <a:endParaRPr lang="zh-CN" altLang="en-US" sz="2800" dirty="0"/>
          </a:p>
          <a:p>
            <a:pPr lvl="1">
              <a:lnSpc>
                <a:spcPct val="80000"/>
              </a:lnSpc>
            </a:pPr>
            <a:r>
              <a:rPr lang="zh-CN" altLang="en-US" sz="2400" dirty="0"/>
              <a:t>需要由人来完成；</a:t>
            </a:r>
            <a:endParaRPr lang="zh-CN" altLang="en-US" sz="2400" dirty="0"/>
          </a:p>
          <a:p>
            <a:pPr lvl="1">
              <a:lnSpc>
                <a:spcPct val="80000"/>
              </a:lnSpc>
            </a:pPr>
            <a:r>
              <a:rPr lang="zh-CN" altLang="en-US" sz="2400" dirty="0"/>
              <a:t>受到有限资源的限制；</a:t>
            </a:r>
            <a:endParaRPr lang="zh-CN" altLang="en-US" sz="2400" dirty="0"/>
          </a:p>
          <a:p>
            <a:pPr lvl="1">
              <a:lnSpc>
                <a:spcPct val="80000"/>
              </a:lnSpc>
            </a:pPr>
            <a:r>
              <a:rPr lang="zh-CN" altLang="en-US" sz="2400" dirty="0"/>
              <a:t>需要计划、执行和控制。</a:t>
            </a:r>
            <a:endParaRPr lang="zh-CN" altLang="en-US" sz="2400" dirty="0"/>
          </a:p>
          <a:p>
            <a:pPr>
              <a:lnSpc>
                <a:spcPct val="80000"/>
              </a:lnSpc>
            </a:pPr>
            <a:r>
              <a:rPr lang="zh-CN" altLang="en-US" sz="2800" dirty="0"/>
              <a:t>软件项目是一种成果体现为软件产品的项目，其特有的特征表现为：</a:t>
            </a:r>
            <a:endParaRPr lang="zh-CN" altLang="en-US" sz="2800" dirty="0"/>
          </a:p>
          <a:p>
            <a:pPr lvl="1">
              <a:lnSpc>
                <a:spcPct val="80000"/>
              </a:lnSpc>
            </a:pPr>
            <a:r>
              <a:rPr lang="zh-CN" altLang="en-US" sz="2400" dirty="0"/>
              <a:t>软件产品是无形的；</a:t>
            </a:r>
            <a:endParaRPr lang="zh-CN" altLang="en-US" sz="2400" dirty="0"/>
          </a:p>
          <a:p>
            <a:pPr lvl="1">
              <a:lnSpc>
                <a:spcPct val="80000"/>
              </a:lnSpc>
            </a:pPr>
            <a:r>
              <a:rPr lang="zh-CN" altLang="en-US" sz="2400" dirty="0"/>
              <a:t>软件产品没有标准的软件过程 ；</a:t>
            </a:r>
            <a:endParaRPr lang="zh-CN" altLang="en-US" sz="2400" dirty="0"/>
          </a:p>
          <a:p>
            <a:pPr lvl="1">
              <a:lnSpc>
                <a:spcPct val="80000"/>
              </a:lnSpc>
            </a:pPr>
            <a:r>
              <a:rPr lang="zh-CN" altLang="en-US" sz="2400" dirty="0"/>
              <a:t>大型软件项目开发常常是“一次性的”。 </a:t>
            </a:r>
            <a:endParaRPr lang="zh-CN" altLang="en-US" sz="2400"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smtClean="0"/>
              <a:t>项目的管理过程</a:t>
            </a:r>
            <a:endParaRPr lang="zh-CN" altLang="en-US" smtClean="0"/>
          </a:p>
        </p:txBody>
      </p:sp>
      <p:sp>
        <p:nvSpPr>
          <p:cNvPr id="17412" name="Rectangle 3"/>
          <p:cNvSpPr>
            <a:spLocks noGrp="1" noChangeArrowheads="1"/>
          </p:cNvSpPr>
          <p:nvPr>
            <p:ph type="body" idx="1"/>
          </p:nvPr>
        </p:nvSpPr>
        <p:spPr>
          <a:xfrm>
            <a:off x="479376" y="783800"/>
            <a:ext cx="11172824" cy="5237488"/>
          </a:xfrm>
        </p:spPr>
        <p:txBody>
          <a:bodyPr>
            <a:normAutofit lnSpcReduction="10000"/>
          </a:bodyPr>
          <a:lstStyle/>
          <a:p>
            <a:pPr marL="457200" indent="-457200">
              <a:spcBef>
                <a:spcPct val="30000"/>
              </a:spcBef>
            </a:pPr>
            <a:r>
              <a:rPr lang="zh-CN" altLang="en-US" sz="2000" dirty="0"/>
              <a:t>项目管理就是为了满足甚至超越项目干系人员对项目的需求和期望的一些活动，并将理论知识、技能、工具和技巧应用到项目的活动中。</a:t>
            </a:r>
            <a:endParaRPr lang="zh-CN" altLang="en-US" sz="2000" dirty="0"/>
          </a:p>
          <a:p>
            <a:pPr marL="457200" indent="-457200">
              <a:spcBef>
                <a:spcPct val="30000"/>
              </a:spcBef>
            </a:pPr>
            <a:r>
              <a:rPr lang="zh-CN" altLang="en-US" sz="2000" dirty="0"/>
              <a:t>项目管理包括以下九个知识领域：</a:t>
            </a:r>
            <a:endParaRPr lang="zh-CN" altLang="en-US" sz="20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t>综合管理：将项目管理各种必要要素综合为整体的过程和活动，并在项目管理过程组范围内识别、定义、组合、统一并协调。 </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范围管理</a:t>
            </a:r>
            <a:r>
              <a:rPr lang="zh-CN" altLang="en-US" sz="1800" dirty="0"/>
              <a:t>：界定为了确保成功地完成项目所需要做的工作，也是仅仅被要求做的工作。 </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时间管理</a:t>
            </a:r>
            <a:r>
              <a:rPr lang="zh-CN" altLang="en-US" sz="1800" dirty="0"/>
              <a:t>：阐述确保项目按时完成所需的各项过程。</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成本管理</a:t>
            </a:r>
            <a:r>
              <a:rPr lang="zh-CN" altLang="en-US" sz="1800" dirty="0"/>
              <a:t>：阐述了确保项目按照规定预算完成需要进行的费用规划、估算、预算的各项过程。 </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solidFill>
                  <a:srgbClr val="FF0000"/>
                </a:solidFill>
              </a:rPr>
              <a:t>质量管理</a:t>
            </a:r>
            <a:r>
              <a:rPr lang="zh-CN" altLang="en-US" sz="1800" dirty="0"/>
              <a:t>：阐述了确保项目达到其既定质量要求所需实施的各项过程。</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t>人力资源管理：阐述了组织和管理项目团队的各个过程。  </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t>沟通管理：阐述了为确保项目信息及时而恰当地提取、收集、传输、存储和最终处置而需要实施的一系列过程。 </a:t>
            </a:r>
            <a:endParaRPr lang="zh-CN" altLang="en-US" sz="18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t>风险管理：阐述了与项目风险管理有关的过程。</a:t>
            </a:r>
            <a:r>
              <a:rPr lang="zh-CN" altLang="en-US" sz="2000" dirty="0"/>
              <a:t> </a:t>
            </a:r>
            <a:endParaRPr lang="zh-CN" altLang="en-US" sz="2000" dirty="0"/>
          </a:p>
          <a:p>
            <a:pPr marL="1011555" lvl="1" indent="-381000">
              <a:spcBef>
                <a:spcPct val="30000"/>
              </a:spcBef>
              <a:buClr>
                <a:schemeClr val="bg2"/>
              </a:buClr>
              <a:buSzPct val="75000"/>
              <a:buFont typeface="Wingdings" panose="05000000000000000000" pitchFamily="2" charset="2"/>
              <a:buAutoNum type="arabicPeriod"/>
            </a:pPr>
            <a:r>
              <a:rPr lang="zh-CN" altLang="en-US" sz="1800" dirty="0"/>
              <a:t>采购管理：阐述了采购或取得产品、服务或成果，以及合同管理所需的各过程。 </a:t>
            </a:r>
            <a:endParaRPr lang="zh-CN" altLang="en-US" sz="1800"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smtClean="0"/>
              <a:t>项目目标及其制约因素</a:t>
            </a:r>
            <a:endParaRPr lang="zh-CN" altLang="en-US" smtClean="0"/>
          </a:p>
        </p:txBody>
      </p:sp>
      <p:sp>
        <p:nvSpPr>
          <p:cNvPr id="23555" name="Rectangle 3"/>
          <p:cNvSpPr>
            <a:spLocks noGrp="1" noChangeArrowheads="1"/>
          </p:cNvSpPr>
          <p:nvPr>
            <p:ph type="body" idx="1"/>
          </p:nvPr>
        </p:nvSpPr>
        <p:spPr/>
        <p:txBody>
          <a:bodyPr/>
          <a:lstStyle/>
          <a:p>
            <a:r>
              <a:rPr lang="zh-CN" altLang="en-US" sz="2800"/>
              <a:t>项目目标就是在一定时间、预算内完成工作的范围，以使客户满意。 </a:t>
            </a:r>
            <a:endParaRPr lang="zh-CN" altLang="en-US" sz="2800"/>
          </a:p>
          <a:p>
            <a:r>
              <a:rPr lang="zh-CN" altLang="en-US" sz="2800"/>
              <a:t>实现项目目标要受到四个因素的制约，它们是： </a:t>
            </a:r>
            <a:endParaRPr lang="zh-CN" altLang="en-US" sz="2800"/>
          </a:p>
          <a:p>
            <a:pPr lvl="1"/>
            <a:r>
              <a:rPr lang="zh-CN" altLang="en-US" sz="2400" u="sng">
                <a:solidFill>
                  <a:srgbClr val="FF0000"/>
                </a:solidFill>
              </a:rPr>
              <a:t>项目范围是为使客户满意必须做的所有工作；</a:t>
            </a:r>
            <a:endParaRPr lang="zh-CN" altLang="en-US" sz="2400"/>
          </a:p>
          <a:p>
            <a:pPr lvl="1"/>
            <a:r>
              <a:rPr lang="zh-CN" altLang="en-US" sz="2400"/>
              <a:t>项目成本就是完成项目所需要的费用，它必须在客户为这个项目提供的资金限额以内；</a:t>
            </a:r>
            <a:endParaRPr lang="zh-CN" altLang="en-US" sz="2400"/>
          </a:p>
          <a:p>
            <a:pPr lvl="1"/>
            <a:r>
              <a:rPr lang="zh-CN" altLang="en-US" sz="2400"/>
              <a:t>项目进度是安排每项任务的起止时间以及所需的资源等，是为项目描绘的一个过程蓝图。</a:t>
            </a:r>
            <a:endParaRPr lang="zh-CN" altLang="en-US" sz="2400"/>
          </a:p>
          <a:p>
            <a:pPr lvl="1"/>
            <a:r>
              <a:rPr lang="zh-CN" altLang="en-US" sz="2400"/>
              <a:t>客户满意度：是指完成的项目质量是否达到预期的效果。 </a:t>
            </a:r>
            <a:endParaRPr lang="zh-CN" altLang="en-US" sz="240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5" dur="500"/>
                                        <p:tgtEl>
                                          <p:spTgt spid="23555">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8" dur="500"/>
                                        <p:tgtEl>
                                          <p:spTgt spid="2355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1" dur="500"/>
                                        <p:tgtEl>
                                          <p:spTgt spid="23555">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24" dur="500"/>
                                        <p:tgtEl>
                                          <p:spTgt spid="23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smtClean="0"/>
              <a:t>软件项目管理过程</a:t>
            </a:r>
            <a:endParaRPr lang="zh-CN" altLang="en-US" smtClean="0"/>
          </a:p>
        </p:txBody>
      </p:sp>
      <p:sp>
        <p:nvSpPr>
          <p:cNvPr id="19460" name="Rectangle 3"/>
          <p:cNvSpPr>
            <a:spLocks noGrp="1" noChangeArrowheads="1"/>
          </p:cNvSpPr>
          <p:nvPr>
            <p:ph type="body" idx="1"/>
          </p:nvPr>
        </p:nvSpPr>
        <p:spPr/>
        <p:txBody>
          <a:bodyPr/>
          <a:lstStyle/>
          <a:p>
            <a:pPr>
              <a:spcBef>
                <a:spcPct val="35000"/>
              </a:spcBef>
            </a:pPr>
            <a:r>
              <a:rPr lang="zh-CN" altLang="en-US" dirty="0"/>
              <a:t>启动软件项目：这是软件项目管理的第一个过程，目的是确定软件项目的目标、范围。通常，软件人员和用户是在系统需求工程阶段确定项目的目标和范围的；</a:t>
            </a:r>
            <a:endParaRPr lang="zh-CN" altLang="en-US" dirty="0"/>
          </a:p>
          <a:p>
            <a:pPr>
              <a:spcBef>
                <a:spcPct val="35000"/>
              </a:spcBef>
            </a:pPr>
            <a:r>
              <a:rPr lang="zh-CN" altLang="en-US" dirty="0"/>
              <a:t>制定项目计划：项目计划是建立项目行动指南的基准，包括对软件项目的估算、风险分析、进度安排、人员的选择与配备等；</a:t>
            </a:r>
            <a:endParaRPr lang="zh-CN" altLang="en-US" dirty="0"/>
          </a:p>
          <a:p>
            <a:pPr>
              <a:spcBef>
                <a:spcPct val="35000"/>
              </a:spcBef>
            </a:pPr>
            <a:r>
              <a:rPr lang="zh-CN" altLang="en-US" dirty="0"/>
              <a:t>项目计划的执行：根据定义的计划由具体的人员实施的各项活动；</a:t>
            </a:r>
            <a:endParaRPr lang="zh-CN" altLang="en-US" dirty="0"/>
          </a:p>
          <a:p>
            <a:pPr>
              <a:spcBef>
                <a:spcPct val="35000"/>
              </a:spcBef>
            </a:pPr>
            <a:r>
              <a:rPr lang="zh-CN" altLang="en-US" dirty="0"/>
              <a:t>项目的控制：在项目的执行过程中所必须的监督、跟踪和控制活动，保证按时保质地完成计划的任务；</a:t>
            </a:r>
            <a:endParaRPr lang="zh-CN" altLang="en-US" dirty="0"/>
          </a:p>
          <a:p>
            <a:pPr>
              <a:spcBef>
                <a:spcPct val="35000"/>
              </a:spcBef>
            </a:pPr>
            <a:r>
              <a:rPr lang="zh-CN" altLang="en-US" dirty="0"/>
              <a:t>项目结束：在项目执行完毕时进行的总结。</a:t>
            </a:r>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smtClean="0"/>
              <a:t>软件项目度量</a:t>
            </a:r>
            <a:endParaRPr lang="zh-CN" altLang="en-US" smtClean="0"/>
          </a:p>
        </p:txBody>
      </p:sp>
      <p:sp>
        <p:nvSpPr>
          <p:cNvPr id="24579" name="Rectangle 3"/>
          <p:cNvSpPr>
            <a:spLocks noGrp="1" noChangeArrowheads="1"/>
          </p:cNvSpPr>
          <p:nvPr>
            <p:ph type="body" idx="1"/>
          </p:nvPr>
        </p:nvSpPr>
        <p:spPr/>
        <p:txBody>
          <a:bodyPr/>
          <a:lstStyle/>
          <a:p>
            <a:r>
              <a:rPr lang="zh-CN" altLang="en-US" sz="2800" dirty="0"/>
              <a:t>所谓度量，是指根据已明确的规则把数字或符号指定给现实世界中实体的某一属性，以便阐述实体的某种状态。 </a:t>
            </a:r>
            <a:endParaRPr lang="zh-CN" altLang="en-US" sz="2800" dirty="0"/>
          </a:p>
          <a:p>
            <a:r>
              <a:rPr lang="zh-CN" altLang="en-US" sz="2800" dirty="0"/>
              <a:t>软件度量涉及的范围较广，其度量实体大致划分为三大类：</a:t>
            </a:r>
            <a:endParaRPr lang="zh-CN" altLang="en-US" sz="2800" dirty="0"/>
          </a:p>
          <a:p>
            <a:pPr lvl="1"/>
            <a:r>
              <a:rPr lang="zh-CN" altLang="en-US" sz="2400" dirty="0"/>
              <a:t>产品：是指在软件开发过程中产生的各种中间产品、发布的资料和文档等，如规格说明书、设计模型、代码、测试用例等。</a:t>
            </a:r>
            <a:endParaRPr lang="zh-CN" altLang="en-US" sz="2400" dirty="0"/>
          </a:p>
          <a:p>
            <a:pPr lvl="1"/>
            <a:r>
              <a:rPr lang="zh-CN" altLang="en-US" sz="2400" dirty="0"/>
              <a:t>过程：是与软件相关的一些活动，如编制规格说明书、详细设计、测试等活动。</a:t>
            </a:r>
            <a:endParaRPr lang="zh-CN" altLang="en-US" sz="2400" dirty="0"/>
          </a:p>
          <a:p>
            <a:pPr lvl="1"/>
            <a:r>
              <a:rPr lang="zh-CN" altLang="en-US" sz="2400" dirty="0"/>
              <a:t>资源：是指开发过程中使用的资源，包括人员、团队、软件和硬件、办公地点等。</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5" dur="500"/>
                                        <p:tgtEl>
                                          <p:spTgt spid="2457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8" dur="500"/>
                                        <p:tgtEl>
                                          <p:spTgt spid="2457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1"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smtClean="0"/>
              <a:t>软件度量的内容</a:t>
            </a:r>
            <a:endParaRPr lang="zh-CN" altLang="en-US" smtClean="0"/>
          </a:p>
        </p:txBody>
      </p:sp>
      <p:sp>
        <p:nvSpPr>
          <p:cNvPr id="60419" name="Rectangle 3"/>
          <p:cNvSpPr>
            <a:spLocks noGrp="1" noChangeArrowheads="1"/>
          </p:cNvSpPr>
          <p:nvPr>
            <p:ph type="body" idx="1"/>
          </p:nvPr>
        </p:nvSpPr>
        <p:spPr/>
        <p:txBody>
          <a:bodyPr/>
          <a:lstStyle/>
          <a:p>
            <a:pPr>
              <a:spcBef>
                <a:spcPct val="30000"/>
              </a:spcBef>
            </a:pPr>
            <a:r>
              <a:rPr lang="zh-CN" altLang="en-US" sz="2800" dirty="0"/>
              <a:t>软件度量就是为了获取上述实体属性的值。这些实体的属性又划分为内部属性和外部属性。</a:t>
            </a:r>
            <a:endParaRPr lang="zh-CN" altLang="en-US" sz="2800" dirty="0"/>
          </a:p>
          <a:p>
            <a:pPr lvl="1">
              <a:spcBef>
                <a:spcPct val="30000"/>
              </a:spcBef>
            </a:pPr>
            <a:r>
              <a:rPr lang="zh-CN" altLang="en-US" sz="2400" dirty="0"/>
              <a:t>内部属性：是能够纯粹用实体自身来度量的属性。如产品中设计模块实体的内部属性有：规模、可复用性、耦合度、内聚度等。</a:t>
            </a:r>
            <a:endParaRPr lang="zh-CN" altLang="en-US" sz="2400" dirty="0"/>
          </a:p>
          <a:p>
            <a:pPr lvl="1">
              <a:spcBef>
                <a:spcPct val="30000"/>
              </a:spcBef>
            </a:pPr>
            <a:r>
              <a:rPr lang="zh-CN" altLang="en-US" sz="2400" dirty="0"/>
              <a:t>外部属性：是指由实体与其相关环境一起共同才能度量的属性。如产品中设计模块实体的外部属性有质量、复杂性、可维护性等。</a:t>
            </a:r>
            <a:endParaRPr lang="zh-CN" altLang="en-US" sz="2400" dirty="0"/>
          </a:p>
          <a:p>
            <a:pPr>
              <a:spcBef>
                <a:spcPct val="30000"/>
              </a:spcBef>
            </a:pPr>
            <a:r>
              <a:rPr lang="zh-CN" altLang="en-US" sz="2800" dirty="0"/>
              <a:t>实体属性的度量又可分为直接度量和间接度量：</a:t>
            </a:r>
            <a:endParaRPr lang="zh-CN" altLang="en-US" sz="2800" dirty="0"/>
          </a:p>
          <a:p>
            <a:pPr lvl="1">
              <a:spcBef>
                <a:spcPct val="30000"/>
              </a:spcBef>
            </a:pPr>
            <a:r>
              <a:rPr lang="zh-CN" altLang="en-US" sz="2400" dirty="0"/>
              <a:t>直接度量：指实体属性的度量不依赖于其他属性的度量。 </a:t>
            </a:r>
            <a:endParaRPr lang="zh-CN" altLang="en-US" sz="2400" dirty="0"/>
          </a:p>
          <a:p>
            <a:pPr lvl="1">
              <a:spcBef>
                <a:spcPct val="30000"/>
              </a:spcBef>
            </a:pPr>
            <a:r>
              <a:rPr lang="zh-CN" altLang="en-US" sz="2400" dirty="0"/>
              <a:t>间接度量：指实体属性的度量与一个或多个其他属性的度量标准有关。 </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0" dur="500"/>
                                        <p:tgtEl>
                                          <p:spTgt spid="6041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3" dur="500"/>
                                        <p:tgtEl>
                                          <p:spTgt spid="604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18" dur="500"/>
                                        <p:tgtEl>
                                          <p:spTgt spid="6041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1" dur="500"/>
                                        <p:tgtEl>
                                          <p:spTgt spid="60419">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24"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smtClean="0"/>
              <a:t>软件项目规模度量</a:t>
            </a:r>
            <a:endParaRPr lang="zh-CN" altLang="en-US" smtClean="0"/>
          </a:p>
        </p:txBody>
      </p:sp>
      <p:sp>
        <p:nvSpPr>
          <p:cNvPr id="22532" name="Rectangle 3"/>
          <p:cNvSpPr>
            <a:spLocks noGrp="1" noChangeArrowheads="1"/>
          </p:cNvSpPr>
          <p:nvPr>
            <p:ph type="body" idx="1"/>
          </p:nvPr>
        </p:nvSpPr>
        <p:spPr/>
        <p:txBody>
          <a:bodyPr/>
          <a:lstStyle/>
          <a:p>
            <a:r>
              <a:rPr lang="zh-CN" altLang="en-US" sz="2800" dirty="0"/>
              <a:t>其主要目的是为软件项目估算建立基线，是估算软件项目工作量、编制成本预算、策划合理项目进度的基础。</a:t>
            </a:r>
            <a:endParaRPr lang="zh-CN" altLang="en-US" sz="2800" dirty="0"/>
          </a:p>
          <a:p>
            <a:r>
              <a:rPr lang="zh-CN" altLang="en-US" sz="2800" dirty="0"/>
              <a:t>其度量对象包括软件产品、软件开发过程和软件资源；</a:t>
            </a:r>
            <a:endParaRPr lang="zh-CN" altLang="en-US" sz="2800" dirty="0"/>
          </a:p>
          <a:p>
            <a:r>
              <a:rPr lang="zh-CN" altLang="en-US" sz="2800" dirty="0"/>
              <a:t>需要度量的属性包括：</a:t>
            </a:r>
            <a:endParaRPr lang="zh-CN" altLang="en-US" sz="2800" dirty="0"/>
          </a:p>
          <a:p>
            <a:pPr lvl="1"/>
            <a:r>
              <a:rPr lang="zh-CN" altLang="en-US" sz="2400" dirty="0"/>
              <a:t>项目投入的费用、投入的人力、持续的时间；</a:t>
            </a:r>
            <a:endParaRPr lang="zh-CN" altLang="en-US" sz="2400" dirty="0"/>
          </a:p>
          <a:p>
            <a:pPr lvl="1"/>
            <a:r>
              <a:rPr lang="zh-CN" altLang="en-US" sz="2400" dirty="0"/>
              <a:t>产生的代码行数、完成的功能点数；</a:t>
            </a:r>
            <a:endParaRPr lang="zh-CN" altLang="en-US" sz="2400" dirty="0"/>
          </a:p>
          <a:p>
            <a:pPr lvl="1"/>
            <a:r>
              <a:rPr lang="zh-CN" altLang="en-US" sz="2400" dirty="0"/>
              <a:t>发生的错误数；</a:t>
            </a:r>
            <a:endParaRPr lang="zh-CN" altLang="en-US" sz="2400" dirty="0"/>
          </a:p>
          <a:p>
            <a:pPr lvl="1"/>
            <a:r>
              <a:rPr lang="zh-CN" altLang="en-US" sz="2400" dirty="0"/>
              <a:t>软件的生产率、软件质量等。 </a:t>
            </a:r>
            <a:endParaRPr lang="zh-CN" altLang="en-US" sz="2400"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代码行度量方法</a:t>
            </a:r>
            <a:endParaRPr lang="zh-CN" altLang="en-US" dirty="0"/>
          </a:p>
        </p:txBody>
      </p:sp>
      <p:sp>
        <p:nvSpPr>
          <p:cNvPr id="3" name="内容占位符 2"/>
          <p:cNvSpPr>
            <a:spLocks noGrp="1"/>
          </p:cNvSpPr>
          <p:nvPr>
            <p:ph idx="1"/>
          </p:nvPr>
        </p:nvSpPr>
        <p:spPr/>
        <p:txBody>
          <a:bodyPr/>
          <a:lstStyle/>
          <a:p>
            <a:r>
              <a:rPr lang="zh-CN" altLang="en-US" dirty="0"/>
              <a:t>代码行指所有的可执行的源代码行数，包括可交付的动作和控制语句、数据定义、数据类型声明等。 </a:t>
            </a:r>
            <a:endParaRPr lang="zh-CN" altLang="en-US" dirty="0"/>
          </a:p>
          <a:p>
            <a:endParaRPr lang="en-US" altLang="zh-CN" dirty="0" smtClean="0"/>
          </a:p>
          <a:p>
            <a:endParaRPr lang="en-US" altLang="zh-CN" dirty="0"/>
          </a:p>
          <a:p>
            <a:endParaRPr lang="en-US" altLang="zh-CN" dirty="0" smtClean="0"/>
          </a:p>
          <a:p>
            <a:endParaRPr lang="en-US" altLang="zh-CN" dirty="0"/>
          </a:p>
          <a:p>
            <a:pPr lvl="1"/>
            <a:r>
              <a:rPr lang="zh-CN" altLang="en-US" sz="2000" dirty="0"/>
              <a:t>生产率＝</a:t>
            </a:r>
            <a:r>
              <a:rPr lang="en-US" altLang="zh-CN" sz="2000" dirty="0"/>
              <a:t>KLOC</a:t>
            </a:r>
            <a:r>
              <a:rPr lang="zh-CN" altLang="en-US" sz="2000" dirty="0"/>
              <a:t>／工作量（人月数）</a:t>
            </a:r>
            <a:endParaRPr lang="zh-CN" altLang="en-US" sz="2000" dirty="0"/>
          </a:p>
          <a:p>
            <a:pPr lvl="1"/>
            <a:r>
              <a:rPr lang="zh-CN" altLang="en-US" sz="2000" dirty="0"/>
              <a:t>质量＝错误数／</a:t>
            </a:r>
            <a:r>
              <a:rPr lang="en-US" altLang="zh-CN" sz="2000" dirty="0"/>
              <a:t>KLOC</a:t>
            </a:r>
            <a:endParaRPr lang="en-US" altLang="zh-CN" sz="2000" dirty="0"/>
          </a:p>
          <a:p>
            <a:pPr lvl="1"/>
            <a:r>
              <a:rPr lang="zh-CN" altLang="en-US" sz="2000" dirty="0"/>
              <a:t>单位成本＝成本／ </a:t>
            </a:r>
            <a:r>
              <a:rPr lang="en-US" altLang="zh-CN" sz="2000" dirty="0"/>
              <a:t>KLOC</a:t>
            </a:r>
            <a:endParaRPr lang="en-US" altLang="zh-CN" sz="2000" dirty="0"/>
          </a:p>
          <a:p>
            <a:pPr lvl="1"/>
            <a:r>
              <a:rPr lang="zh-CN" altLang="en-US" sz="2000" dirty="0"/>
              <a:t>单位文档＝文档页数／</a:t>
            </a:r>
            <a:r>
              <a:rPr lang="en-US" altLang="zh-CN" sz="2000" dirty="0"/>
              <a:t>KLOC</a:t>
            </a:r>
            <a:endParaRPr lang="en-US" altLang="zh-CN" sz="2000" dirty="0">
              <a:solidFill>
                <a:srgbClr val="000000"/>
              </a:solidFill>
              <a:ea typeface="宋体" panose="02010600030101010101" pitchFamily="2" charset="-122"/>
              <a:cs typeface="Times New Roman" panose="02020603050405020304" pitchFamily="18" charset="0"/>
            </a:endParaRPr>
          </a:p>
          <a:p>
            <a:endParaRPr lang="en-US" altLang="zh-CN" dirty="0" smtClean="0"/>
          </a:p>
          <a:p>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2135560" y="2060848"/>
            <a:ext cx="7084166" cy="1713124"/>
          </a:xfrm>
          <a:prstGeom prst="rect">
            <a:avLst/>
          </a:prstGeom>
        </p:spPr>
      </p:pic>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smtClean="0"/>
              <a:t>软件项目估算</a:t>
            </a:r>
            <a:endParaRPr lang="zh-CN" altLang="en-US" smtClean="0"/>
          </a:p>
        </p:txBody>
      </p:sp>
      <p:sp>
        <p:nvSpPr>
          <p:cNvPr id="25604" name="Rectangle 3"/>
          <p:cNvSpPr>
            <a:spLocks noGrp="1" noChangeArrowheads="1"/>
          </p:cNvSpPr>
          <p:nvPr>
            <p:ph type="body" idx="1"/>
          </p:nvPr>
        </p:nvSpPr>
        <p:spPr>
          <a:xfrm>
            <a:off x="839415" y="1196975"/>
            <a:ext cx="10945215" cy="5068888"/>
          </a:xfrm>
        </p:spPr>
        <p:txBody>
          <a:bodyPr/>
          <a:lstStyle/>
          <a:p>
            <a:r>
              <a:rPr lang="zh-CN" altLang="en-US" dirty="0"/>
              <a:t>为了制定合理有效的项目计划，就必须事先进行项目估算，确定项目的范围、所需的资源、所能投入的成本以及项目开发所必需的时间。</a:t>
            </a:r>
            <a:endParaRPr lang="zh-CN" altLang="en-US" dirty="0"/>
          </a:p>
          <a:p>
            <a:pPr lvl="1"/>
            <a:r>
              <a:rPr lang="zh-CN" altLang="en-US" sz="2000" dirty="0"/>
              <a:t>明确项目范围：包括软件功能、性能、约束、接口和可靠性等 ；</a:t>
            </a:r>
            <a:endParaRPr lang="zh-CN" altLang="en-US" sz="2000" dirty="0"/>
          </a:p>
          <a:p>
            <a:pPr lvl="1"/>
            <a:r>
              <a:rPr lang="zh-CN" altLang="en-US" sz="2000" dirty="0"/>
              <a:t>估算项目资源：包括人力资源、开发环境及可复用的软件构件；</a:t>
            </a:r>
            <a:endParaRPr lang="zh-CN" altLang="en-US" sz="2000" dirty="0"/>
          </a:p>
          <a:p>
            <a:pPr lvl="1"/>
            <a:r>
              <a:rPr lang="zh-CN" altLang="en-US" sz="2000" dirty="0"/>
              <a:t>估算成本和工作量：根据软件项目的规模以及以往的经验建立估算项目基线以计算项目的成本和工作量；</a:t>
            </a:r>
            <a:endParaRPr lang="zh-CN" altLang="en-US" sz="2000" dirty="0"/>
          </a:p>
          <a:p>
            <a:pPr lvl="2"/>
            <a:r>
              <a:rPr lang="zh-CN" altLang="en-US" sz="1800" dirty="0"/>
              <a:t>基于分解技术的估算模型</a:t>
            </a:r>
            <a:endParaRPr lang="zh-CN" altLang="en-US" sz="1800" dirty="0"/>
          </a:p>
          <a:p>
            <a:pPr lvl="2"/>
            <a:r>
              <a:rPr lang="zh-CN" altLang="en-US" sz="1800" dirty="0"/>
              <a:t>基于经验的估算模型</a:t>
            </a:r>
            <a:endParaRPr lang="zh-CN" altLang="en-US" sz="1800" dirty="0"/>
          </a:p>
          <a:p>
            <a:pPr lvl="2"/>
            <a:r>
              <a:rPr lang="en-US" altLang="zh-CN" sz="1800" dirty="0"/>
              <a:t>COCOMO</a:t>
            </a:r>
            <a:r>
              <a:rPr lang="zh-CN" altLang="en-US" sz="1800" dirty="0"/>
              <a:t>模型等</a:t>
            </a:r>
            <a:endParaRPr lang="zh-CN" altLang="en-US" sz="1800" dirty="0"/>
          </a:p>
          <a:p>
            <a:pPr lvl="1"/>
            <a:r>
              <a:rPr lang="zh-CN" altLang="en-US" sz="2000" dirty="0"/>
              <a:t>确定项目的开发时间：根据上述三项内容及甘特图和</a:t>
            </a:r>
            <a:r>
              <a:rPr lang="en-US" altLang="zh-CN" sz="2000" dirty="0"/>
              <a:t>PERT</a:t>
            </a:r>
            <a:r>
              <a:rPr lang="zh-CN" altLang="en-US" sz="2000" dirty="0"/>
              <a:t>技术确定每项任务的关键路径，最终可得到最短、最合理和最长的项目开发时间，从而制定一个合理的项目开发计划。</a:t>
            </a:r>
            <a:endParaRPr lang="zh-CN" altLang="en-US" sz="2000" dirty="0"/>
          </a:p>
        </p:txBody>
      </p:sp>
    </p:spTree>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smtClean="0"/>
              <a:t>软件项目的进度安排</a:t>
            </a:r>
            <a:endParaRPr lang="zh-CN" altLang="en-US" smtClean="0"/>
          </a:p>
        </p:txBody>
      </p:sp>
      <p:sp>
        <p:nvSpPr>
          <p:cNvPr id="27651" name="Rectangle 3"/>
          <p:cNvSpPr>
            <a:spLocks noGrp="1" noChangeArrowheads="1"/>
          </p:cNvSpPr>
          <p:nvPr>
            <p:ph type="body" idx="1"/>
          </p:nvPr>
        </p:nvSpPr>
        <p:spPr/>
        <p:txBody>
          <a:bodyPr/>
          <a:lstStyle/>
          <a:p>
            <a:r>
              <a:rPr lang="zh-CN" altLang="en-US"/>
              <a:t>软件项目的进度计划和工作的实际进展情况，需要采用图示的方法描述，特别是表现各项任务之间进度的相互依赖关系。 </a:t>
            </a:r>
            <a:endParaRPr lang="zh-CN" altLang="en-US"/>
          </a:p>
          <a:p>
            <a:pPr lvl="1"/>
            <a:r>
              <a:rPr lang="zh-CN" altLang="en-US" sz="2000"/>
              <a:t>各任务的计划开始时间，完成时间；</a:t>
            </a:r>
            <a:endParaRPr lang="zh-CN" altLang="en-US" sz="2000"/>
          </a:p>
          <a:p>
            <a:pPr lvl="1"/>
            <a:r>
              <a:rPr lang="zh-CN" altLang="en-US" sz="2000"/>
              <a:t>各任务完成的标志（即○文档编写和△评审）；</a:t>
            </a:r>
            <a:endParaRPr lang="zh-CN" altLang="en-US" sz="2000"/>
          </a:p>
          <a:p>
            <a:pPr lvl="1"/>
            <a:r>
              <a:rPr lang="zh-CN" altLang="en-US" sz="2000"/>
              <a:t>各任务与参与工作的人数，各个任务与工作量之间的衔接情况；</a:t>
            </a:r>
            <a:endParaRPr lang="zh-CN" altLang="en-US" sz="2000"/>
          </a:p>
          <a:p>
            <a:pPr lvl="1"/>
            <a:r>
              <a:rPr lang="zh-CN" altLang="en-US" sz="2000"/>
              <a:t>完成各个任务所需的物理资源和数据资源。</a:t>
            </a:r>
            <a:endParaRPr lang="zh-CN" altLang="en-US" sz="2000"/>
          </a:p>
        </p:txBody>
      </p:sp>
      <p:pic>
        <p:nvPicPr>
          <p:cNvPr id="2662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16080" y="3178613"/>
            <a:ext cx="4534272" cy="2511631"/>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 calcmode="lin" valueType="num">
                                      <p:cBhvr additive="base">
                                        <p:cTn id="15"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anim calcmode="lin" valueType="num">
                                      <p:cBhvr additive="base">
                                        <p:cTn id="19"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7651">
                                            <p:txEl>
                                              <p:pRg st="4" end="4"/>
                                            </p:txEl>
                                          </p:spTgt>
                                        </p:tgtEl>
                                        <p:attrNameLst>
                                          <p:attrName>style.visibility</p:attrName>
                                        </p:attrNameLst>
                                      </p:cBhvr>
                                      <p:to>
                                        <p:strVal val="visible"/>
                                      </p:to>
                                    </p:set>
                                    <p:anim calcmode="lin" valueType="num">
                                      <p:cBhvr additive="base">
                                        <p:cTn id="23"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smtClean="0"/>
              <a:t>任务完成时间的估计 </a:t>
            </a:r>
            <a:endParaRPr lang="zh-CN" altLang="en-US" smtClean="0"/>
          </a:p>
        </p:txBody>
      </p:sp>
      <p:sp>
        <p:nvSpPr>
          <p:cNvPr id="70659" name="Rectangle 3"/>
          <p:cNvSpPr>
            <a:spLocks noGrp="1" noChangeArrowheads="1"/>
          </p:cNvSpPr>
          <p:nvPr>
            <p:ph type="body" idx="1"/>
          </p:nvPr>
        </p:nvSpPr>
        <p:spPr/>
        <p:txBody>
          <a:bodyPr/>
          <a:lstStyle/>
          <a:p>
            <a:r>
              <a:rPr lang="zh-CN" altLang="en-US"/>
              <a:t>乐观时间</a:t>
            </a:r>
            <a:r>
              <a:rPr lang="en-US" altLang="zh-CN"/>
              <a:t>ai</a:t>
            </a:r>
            <a:r>
              <a:rPr lang="zh-CN" altLang="en-US"/>
              <a:t>：顺利的情况下，完成第</a:t>
            </a:r>
            <a:r>
              <a:rPr lang="en-US" altLang="zh-CN"/>
              <a:t>i</a:t>
            </a:r>
            <a:r>
              <a:rPr lang="zh-CN" altLang="en-US"/>
              <a:t>项任务的时间。</a:t>
            </a:r>
            <a:endParaRPr lang="zh-CN" altLang="en-US"/>
          </a:p>
          <a:p>
            <a:r>
              <a:rPr lang="zh-CN" altLang="en-US"/>
              <a:t>最可能时间</a:t>
            </a:r>
            <a:r>
              <a:rPr lang="en-US" altLang="zh-CN"/>
              <a:t>mi</a:t>
            </a:r>
            <a:r>
              <a:rPr lang="zh-CN" altLang="en-US"/>
              <a:t>：正常情况下完成第</a:t>
            </a:r>
            <a:r>
              <a:rPr lang="en-US" altLang="zh-CN"/>
              <a:t>i</a:t>
            </a:r>
            <a:r>
              <a:rPr lang="zh-CN" altLang="en-US"/>
              <a:t>项任务的时间。</a:t>
            </a:r>
            <a:endParaRPr lang="zh-CN" altLang="en-US"/>
          </a:p>
          <a:p>
            <a:r>
              <a:rPr lang="zh-CN" altLang="en-US"/>
              <a:t>悲观时间</a:t>
            </a:r>
            <a:r>
              <a:rPr lang="en-US" altLang="zh-CN"/>
              <a:t>bi</a:t>
            </a:r>
            <a:r>
              <a:rPr lang="zh-CN" altLang="en-US"/>
              <a:t>：最不利的情况下完成第</a:t>
            </a:r>
            <a:r>
              <a:rPr lang="en-US" altLang="zh-CN"/>
              <a:t>i</a:t>
            </a:r>
            <a:r>
              <a:rPr lang="zh-CN" altLang="en-US"/>
              <a:t>项任务的时间。</a:t>
            </a:r>
            <a:endParaRPr lang="zh-CN" altLang="en-US"/>
          </a:p>
          <a:p>
            <a:r>
              <a:rPr lang="zh-CN" altLang="en-US"/>
              <a:t>由此可算出第</a:t>
            </a:r>
            <a:r>
              <a:rPr lang="en-US" altLang="zh-CN"/>
              <a:t>i</a:t>
            </a:r>
            <a:r>
              <a:rPr lang="zh-CN" altLang="en-US"/>
              <a:t>个任务期望完成时间 </a:t>
            </a:r>
            <a:endParaRPr lang="zh-CN" altLang="en-US"/>
          </a:p>
          <a:p>
            <a:pPr lvl="1"/>
            <a:r>
              <a:rPr lang="en-US" altLang="zh-CN" sz="2000"/>
              <a:t>Ti = (ai+4mi+bi)/6</a:t>
            </a:r>
            <a:endParaRPr lang="en-US" altLang="zh-CN" sz="2000"/>
          </a:p>
          <a:p>
            <a:pPr lvl="1"/>
            <a:endParaRPr lang="en-US" altLang="zh-CN" sz="2000"/>
          </a:p>
        </p:txBody>
      </p:sp>
      <p:pic>
        <p:nvPicPr>
          <p:cNvPr id="2765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5840" y="3284984"/>
            <a:ext cx="6600056" cy="2678997"/>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blinds(horizontal)">
                                      <p:cBhvr>
                                        <p:cTn id="7" dur="500"/>
                                        <p:tgtEl>
                                          <p:spTgt spid="70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12" dur="500"/>
                                        <p:tgtEl>
                                          <p:spTgt spid="70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17" dur="500"/>
                                        <p:tgtEl>
                                          <p:spTgt spid="706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3" end="3"/>
                                            </p:txEl>
                                          </p:spTgt>
                                        </p:tgtEl>
                                        <p:attrNameLst>
                                          <p:attrName>style.visibility</p:attrName>
                                        </p:attrNameLst>
                                      </p:cBhvr>
                                      <p:to>
                                        <p:strVal val="visible"/>
                                      </p:to>
                                    </p:set>
                                    <p:animEffect transition="in" filter="blinds(horizontal)">
                                      <p:cBhvr>
                                        <p:cTn id="22" dur="500"/>
                                        <p:tgtEl>
                                          <p:spTgt spid="70659">
                                            <p:txEl>
                                              <p:pRg st="3" end="3"/>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70659">
                                            <p:txEl>
                                              <p:pRg st="4" end="4"/>
                                            </p:txEl>
                                          </p:spTgt>
                                        </p:tgtEl>
                                        <p:attrNameLst>
                                          <p:attrName>style.visibility</p:attrName>
                                        </p:attrNameLst>
                                      </p:cBhvr>
                                      <p:to>
                                        <p:strVal val="visible"/>
                                      </p:to>
                                    </p:set>
                                    <p:animEffect transition="in" filter="blinds(horizontal)">
                                      <p:cBhvr>
                                        <p:cTn id="25" dur="500"/>
                                        <p:tgtEl>
                                          <p:spTgt spid="706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3469</Words>
  <Application>WPS 演示</Application>
  <PresentationFormat>宽屏</PresentationFormat>
  <Paragraphs>195</Paragraphs>
  <Slides>21</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宋体</vt:lpstr>
      <vt:lpstr>Wingdings</vt:lpstr>
      <vt:lpstr>微软雅黑</vt:lpstr>
      <vt:lpstr>Times New Roman</vt:lpstr>
      <vt:lpstr>华文细黑</vt:lpstr>
      <vt:lpstr>Arial Unicode MS</vt:lpstr>
      <vt:lpstr>Calibri Light</vt:lpstr>
      <vt:lpstr>Calibri</vt:lpstr>
      <vt:lpstr>2015SE</vt:lpstr>
      <vt:lpstr>PowerPoint 演示文稿</vt:lpstr>
      <vt:lpstr>主要内容</vt:lpstr>
      <vt:lpstr>软件维护</vt:lpstr>
      <vt:lpstr>软件维护的定义和分类</vt:lpstr>
      <vt:lpstr>影响软件维护工作量的因素</vt:lpstr>
      <vt:lpstr>软件维护中的典型问题</vt:lpstr>
      <vt:lpstr>软件维护的活动</vt:lpstr>
      <vt:lpstr>软件维护的管理工作流程</vt:lpstr>
      <vt:lpstr>软件维护的标准化</vt:lpstr>
      <vt:lpstr>软件项目管理</vt:lpstr>
      <vt:lpstr>项目和软件项目的定义</vt:lpstr>
      <vt:lpstr>项目的管理过程</vt:lpstr>
      <vt:lpstr>项目目标及其制约因素</vt:lpstr>
      <vt:lpstr>软件项目管理过程</vt:lpstr>
      <vt:lpstr>软件项目度量</vt:lpstr>
      <vt:lpstr>软件度量的内容</vt:lpstr>
      <vt:lpstr>软件项目规模度量</vt:lpstr>
      <vt:lpstr>代码行度量方法</vt:lpstr>
      <vt:lpstr>软件项目估算</vt:lpstr>
      <vt:lpstr>软件项目的进度安排</vt:lpstr>
      <vt:lpstr>任务完成时间的估计 </vt:lpstr>
    </vt:vector>
  </TitlesOfParts>
  <Company>清华大学计算机系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殷人昆</dc:creator>
  <cp:lastModifiedBy>肖丁</cp:lastModifiedBy>
  <cp:revision>208</cp:revision>
  <dcterms:created xsi:type="dcterms:W3CDTF">1999-04-15T21:26:00Z</dcterms:created>
  <dcterms:modified xsi:type="dcterms:W3CDTF">2025-12-18T03:17:39Z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6FF72B1785B846639566032FBC2CC7A1</vt:lpwstr>
  </property>
  <property fmtid="{D5CDD505-2E9C-101B-9397-08002B2CF9AE}" pid="3" name="KSOProductBuildVer">
    <vt:lpwstr>2052-12.1.0.20784</vt:lpwstr>
  </property>
</Properties>
</file>
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342" r:id="rId3"/>
    <p:sldId id="260" r:id="rId5"/>
    <p:sldId id="261" r:id="rId6"/>
    <p:sldId id="344" r:id="rId7"/>
    <p:sldId id="345" r:id="rId8"/>
    <p:sldId id="346" r:id="rId9"/>
    <p:sldId id="347" r:id="rId10"/>
  </p:sldIdLst>
  <p:sldSz cx="12192000" cy="6858000"/>
  <p:notesSz cx="6858000" cy="9144000"/>
  <p:defaultTextStyle>
    <a:defPPr>
      <a:defRPr lang="zh-CN"/>
    </a:defPPr>
    <a:lvl1pPr algn="r" rtl="0" eaLnBrk="0" fontAlgn="base" hangingPunct="0">
      <a:lnSpc>
        <a:spcPct val="75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1pPr>
    <a:lvl2pPr marL="457200" algn="r" rtl="0" eaLnBrk="0" fontAlgn="base" hangingPunct="0">
      <a:lnSpc>
        <a:spcPct val="75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2pPr>
    <a:lvl3pPr marL="914400" algn="r" rtl="0" eaLnBrk="0" fontAlgn="base" hangingPunct="0">
      <a:lnSpc>
        <a:spcPct val="75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3pPr>
    <a:lvl4pPr marL="1371600" algn="r" rtl="0" eaLnBrk="0" fontAlgn="base" hangingPunct="0">
      <a:lnSpc>
        <a:spcPct val="75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4pPr>
    <a:lvl5pPr marL="1828800" algn="r" rtl="0" eaLnBrk="0" fontAlgn="base" hangingPunct="0">
      <a:lnSpc>
        <a:spcPct val="75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76" autoAdjust="0"/>
    <p:restoredTop sz="90791" autoAdjust="0"/>
  </p:normalViewPr>
  <p:slideViewPr>
    <p:cSldViewPr>
      <p:cViewPr varScale="1">
        <p:scale>
          <a:sx n="61" d="100"/>
          <a:sy n="61" d="100"/>
        </p:scale>
        <p:origin x="654" y="66"/>
      </p:cViewPr>
      <p:guideLst>
        <p:guide orient="horz" pos="2175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1404" y="-90"/>
      </p:cViewPr>
      <p:guideLst>
        <p:guide orient="horz" pos="290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fld id="{72A2E6C2-95BD-4C58-AA1E-BE13C7D16706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fld id="{ED9DD337-D876-427D-92DB-812F3941FF5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F5C26-33B9-4C93-BD21-A507E0647A82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628D26-1964-4718-AA9C-F652CA40A602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gradFill>
            <a:gsLst>
              <a:gs pos="0">
                <a:schemeClr val="dk1">
                  <a:satMod val="103000"/>
                  <a:lumMod val="102000"/>
                  <a:tint val="94000"/>
                </a:schemeClr>
              </a:gs>
              <a:gs pos="50000">
                <a:schemeClr val="dk1">
                  <a:satMod val="110000"/>
                  <a:lumMod val="100000"/>
                  <a:shade val="100000"/>
                </a:schemeClr>
              </a:gs>
              <a:gs pos="100000">
                <a:schemeClr val="dk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altLang="en-US" dirty="0" smtClean="0"/>
              <a:t>©2015-2020 Data Science &amp; Service Center</a:t>
            </a:r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gradFill>
            <a:gsLst>
              <a:gs pos="0">
                <a:schemeClr val="dk1">
                  <a:satMod val="103000"/>
                  <a:lumMod val="102000"/>
                  <a:tint val="94000"/>
                </a:schemeClr>
              </a:gs>
              <a:gs pos="50000">
                <a:schemeClr val="dk1">
                  <a:satMod val="110000"/>
                  <a:lumMod val="100000"/>
                  <a:shade val="100000"/>
                </a:schemeClr>
              </a:gs>
              <a:gs pos="100000">
                <a:schemeClr val="dk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C61107-C9B8-45B5-BD23-C8A00455B7E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flip="none" rotWithShape="1">
          <a:gsLst>
            <a:gs pos="8900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9788" y="278084"/>
            <a:ext cx="10334625" cy="645258"/>
          </a:xfrm>
        </p:spPr>
        <p:txBody>
          <a:bodyPr>
            <a:normAutofit/>
          </a:bodyPr>
          <a:lstStyle>
            <a:lvl1pPr algn="r">
              <a:defRPr sz="32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196123"/>
            <a:ext cx="11377263" cy="4980840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 sz="24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Aft>
                <a:spcPts val="450"/>
              </a:spcAft>
              <a:defRPr sz="2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20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019175" y="6356351"/>
            <a:ext cx="2743200" cy="365125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none"/>
        </p:style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fld id="{2FDF5F78-37C6-4C65-901A-C54DD943561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9087" y="6356351"/>
            <a:ext cx="4114800" cy="365125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none"/>
        </p:style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altLang="zh-CN" dirty="0" smtClean="0">
                <a:sym typeface="+mn-ea"/>
              </a:rPr>
              <a:t>©2015-2020 Data Science &amp; Service Center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none"/>
        </p:style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C61107-C9B8-45B5-BD23-C8A00455B7E2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36779" cy="716317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A10D-957C-4E12-8EBD-68E45F68660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en-US" dirty="0" smtClean="0"/>
              <a:t>©2015-2020 Data Science &amp; Service Center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E810C-A9DC-4199-924E-86500577EE4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en-US" dirty="0" smtClean="0"/>
              <a:t>©2015-2020 Data Science &amp; Service Center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push/>
  </p:transition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00000">
              <a:schemeClr val="accent5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none"/>
        </p:style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886F2-FCB4-4FF9-BB14-B17FE074477A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altLang="en-US" dirty="0" smtClean="0"/>
              <a:t>©2015-2020 Data Science &amp; Service Center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61107-C9B8-45B5-BD23-C8A00455B7E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>
    <p:push/>
  </p:transition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12569" y="1207714"/>
            <a:ext cx="6340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 模型与方法</a:t>
            </a:r>
            <a:endParaRPr lang="en-US" altLang="zh-CN" sz="40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Models &amp; Methods of SE</a:t>
            </a:r>
            <a:endParaRPr lang="zh-CN" altLang="en-US" sz="3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12569" y="3222755"/>
            <a:ext cx="515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软件实现</a:t>
            </a: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12570" y="4519241"/>
            <a:ext cx="867591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老师邮箱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dxiao@bupt.edu.cn	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QQ:14915703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8343F-4DEB-4883-9A89-5995C2348B1A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sym typeface="+mn-ea"/>
              </a:rPr>
              <a:t>©2015-2020 Data Science &amp; Service Center</a:t>
            </a:r>
            <a:endParaRPr lang="en-US" altLang="zh-CN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36779" cy="71631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本章内容</a:t>
            </a: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dirty="0" smtClean="0"/>
              <a:t>软件实现的目标与任务</a:t>
            </a:r>
            <a:endParaRPr lang="en-US" altLang="zh-CN" dirty="0" smtClean="0"/>
          </a:p>
          <a:p>
            <a:pPr>
              <a:lnSpc>
                <a:spcPct val="80000"/>
              </a:lnSpc>
            </a:pPr>
            <a:r>
              <a:rPr lang="zh-CN" altLang="en-US" dirty="0"/>
              <a:t>程序</a:t>
            </a:r>
            <a:r>
              <a:rPr lang="zh-CN" altLang="en-US" dirty="0" smtClean="0"/>
              <a:t>语言的选择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zh-CN" altLang="en-US" dirty="0" smtClean="0"/>
              <a:t>源程序文档化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en-US" dirty="0" smtClean="0"/>
              <a:t>©2015-2020 Data Science &amp; Service Center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7B18-75EB-4D86-A4F3-BCA1D91FB9D2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</a:t>
            </a:r>
            <a:r>
              <a:rPr lang="zh-CN" altLang="en-US" dirty="0" smtClean="0"/>
              <a:t>与任务</a:t>
            </a:r>
            <a:endParaRPr lang="zh-CN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软件实现是软件详细设计的后续阶段及任务，即程序编码；</a:t>
            </a:r>
            <a:endParaRPr lang="en-US" altLang="zh-CN" dirty="0" smtClean="0"/>
          </a:p>
          <a:p>
            <a:r>
              <a:rPr lang="zh-CN" altLang="en-US" dirty="0" smtClean="0"/>
              <a:t>程序编码需要根据具体情况条件确定具体的程序设计语言；</a:t>
            </a:r>
            <a:endParaRPr lang="en-US" altLang="zh-CN" dirty="0" smtClean="0"/>
          </a:p>
          <a:p>
            <a:r>
              <a:rPr lang="zh-CN" altLang="en-US" dirty="0" smtClean="0"/>
              <a:t>按照详细设计及概要设计的要求转换成选定的编程语言；</a:t>
            </a:r>
            <a:endParaRPr lang="en-US" altLang="zh-CN" dirty="0" smtClean="0"/>
          </a:p>
          <a:p>
            <a:r>
              <a:rPr lang="zh-CN" altLang="en-US" dirty="0"/>
              <a:t>进一步</a:t>
            </a:r>
            <a:r>
              <a:rPr lang="zh-CN" altLang="en-US" dirty="0" smtClean="0"/>
              <a:t>按照要求进行必要的软件单元测试，使可执行程序达到软件的质量要求。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en-US" dirty="0" smtClean="0"/>
              <a:t>©2015-2020 Data Science &amp; Service Center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1E5D-87D3-48D9-A5D1-7B1B5043B71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程序语言的选择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参考应用领域；</a:t>
            </a:r>
            <a:endParaRPr lang="zh-CN" altLang="en-US" dirty="0"/>
          </a:p>
          <a:p>
            <a:r>
              <a:rPr lang="zh-CN" altLang="en-US" dirty="0"/>
              <a:t>根据用户的要求；</a:t>
            </a:r>
            <a:endParaRPr lang="zh-CN" altLang="en-US" dirty="0"/>
          </a:p>
          <a:p>
            <a:r>
              <a:rPr lang="zh-CN" altLang="en-US" dirty="0"/>
              <a:t>参考现有的工具及环境；</a:t>
            </a:r>
            <a:endParaRPr lang="zh-CN" altLang="en-US" dirty="0"/>
          </a:p>
          <a:p>
            <a:r>
              <a:rPr lang="zh-CN" altLang="en-US" dirty="0"/>
              <a:t>程序员的能力水平；</a:t>
            </a:r>
            <a:endParaRPr lang="zh-CN" altLang="en-US" dirty="0"/>
          </a:p>
          <a:p>
            <a:r>
              <a:rPr lang="zh-CN" altLang="en-US" dirty="0"/>
              <a:t>可移植性的要求；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5F78-37C6-4C65-901A-C54DD943561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en-US" dirty="0" smtClean="0"/>
              <a:t>©2015-2020 Data Science &amp; Service Center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源程序文档化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052736"/>
            <a:ext cx="11377263" cy="5124227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从软件工程的角度，对于源程序除了质量要求之外，为了后期代码的维护和更改，还必须从提高可阅读性，即达到源程序文档化。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标识符命名：模块名（类名及方法名），变量</a:t>
            </a:r>
            <a:r>
              <a:rPr lang="en-US" altLang="zh-CN" dirty="0" smtClean="0"/>
              <a:t>/</a:t>
            </a:r>
            <a:r>
              <a:rPr lang="zh-CN" altLang="en-US" dirty="0" smtClean="0"/>
              <a:t>常量名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名称需清楚表示具体的含义，采用添加前缀和后缀增加可阅读性；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使用专业术语（业务词汇），注意编码语言的关键字冲突；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注意大小写及长度；</a:t>
            </a:r>
            <a:endParaRPr lang="en-US" altLang="zh-CN" dirty="0" smtClean="0"/>
          </a:p>
          <a:p>
            <a:pPr lvl="1"/>
            <a:r>
              <a:rPr lang="zh-CN" altLang="en-US" dirty="0"/>
              <a:t>源程序</a:t>
            </a:r>
            <a:r>
              <a:rPr lang="zh-CN" altLang="en-US" dirty="0" smtClean="0"/>
              <a:t>布局</a:t>
            </a:r>
            <a:endParaRPr lang="en-US" altLang="zh-CN" dirty="0" smtClean="0"/>
          </a:p>
          <a:p>
            <a:pPr lvl="2"/>
            <a:r>
              <a:rPr lang="zh-CN" altLang="en-US" dirty="0"/>
              <a:t>编码</a:t>
            </a:r>
            <a:r>
              <a:rPr lang="zh-CN" altLang="en-US" dirty="0" smtClean="0"/>
              <a:t>之前定义统一的编码规范；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规定合理的注释、缩进、空格、空行等方式；</a:t>
            </a:r>
            <a:endParaRPr lang="en-US" altLang="zh-CN" dirty="0" smtClean="0"/>
          </a:p>
          <a:p>
            <a:pPr lvl="1"/>
            <a:r>
              <a:rPr lang="zh-CN" altLang="en-US" dirty="0"/>
              <a:t>程序</a:t>
            </a:r>
            <a:r>
              <a:rPr lang="zh-CN" altLang="en-US" dirty="0" smtClean="0"/>
              <a:t>注释</a:t>
            </a:r>
            <a:endParaRPr lang="en-US" altLang="zh-CN" dirty="0" smtClean="0"/>
          </a:p>
          <a:p>
            <a:pPr lvl="2"/>
            <a:r>
              <a:rPr lang="zh-CN" altLang="en-US" dirty="0"/>
              <a:t>序言性</a:t>
            </a:r>
            <a:r>
              <a:rPr lang="zh-CN" altLang="en-US" dirty="0" smtClean="0"/>
              <a:t>注释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功能性注释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5F78-37C6-4C65-901A-C54DD943561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en-US" dirty="0" smtClean="0"/>
              <a:t>©2015-2020 Data Science &amp; Service Center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序言性注释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注释的目的：解释程序的主要内容及难点说明；</a:t>
            </a:r>
            <a:endParaRPr lang="en-US" altLang="zh-CN" dirty="0" smtClean="0"/>
          </a:p>
          <a:p>
            <a:r>
              <a:rPr lang="zh-CN" altLang="en-US" dirty="0"/>
              <a:t>序言性</a:t>
            </a:r>
            <a:r>
              <a:rPr lang="zh-CN" altLang="en-US" dirty="0" smtClean="0"/>
              <a:t>注释：位于程序代码之前，说明该模块（类及方法）具体作用</a:t>
            </a:r>
            <a:endParaRPr lang="en-US" altLang="zh-CN" dirty="0" smtClean="0"/>
          </a:p>
          <a:p>
            <a:r>
              <a:rPr lang="zh-CN" altLang="en-US" dirty="0" smtClean="0"/>
              <a:t>主要包括以下内容：</a:t>
            </a:r>
            <a:endParaRPr lang="en-US" altLang="zh-CN" dirty="0" smtClean="0"/>
          </a:p>
          <a:p>
            <a:pPr lvl="1"/>
            <a:r>
              <a:rPr lang="zh-CN" altLang="en-US" dirty="0"/>
              <a:t>程序</a:t>
            </a:r>
            <a:r>
              <a:rPr lang="zh-CN" altLang="en-US" dirty="0" smtClean="0"/>
              <a:t>标题：模块名称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模块描述：该模块的功能和目的说明</a:t>
            </a:r>
            <a:endParaRPr lang="en-US" altLang="zh-CN" dirty="0" smtClean="0"/>
          </a:p>
          <a:p>
            <a:pPr lvl="1"/>
            <a:r>
              <a:rPr lang="zh-CN" altLang="en-US" dirty="0"/>
              <a:t>主要</a:t>
            </a:r>
            <a:r>
              <a:rPr lang="zh-CN" altLang="en-US" dirty="0" smtClean="0"/>
              <a:t>算法</a:t>
            </a:r>
            <a:r>
              <a:rPr lang="zh-CN" altLang="en-US" dirty="0" smtClean="0">
                <a:sym typeface="Wingdings" panose="05000000000000000000" pitchFamily="2" charset="2"/>
              </a:rPr>
              <a:t>：（</a:t>
            </a:r>
            <a:r>
              <a:rPr lang="en-US" altLang="zh-CN" dirty="0" smtClean="0">
                <a:sym typeface="Wingdings" panose="05000000000000000000" pitchFamily="2" charset="2"/>
              </a:rPr>
              <a:t>option</a:t>
            </a:r>
            <a:r>
              <a:rPr lang="zh-CN" altLang="en-US" dirty="0" smtClean="0">
                <a:sym typeface="Wingdings" panose="05000000000000000000" pitchFamily="2" charset="2"/>
              </a:rPr>
              <a:t>）说明算法结构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接口</a:t>
            </a:r>
            <a:r>
              <a:rPr lang="zh-CN" altLang="en-US" dirty="0" smtClean="0">
                <a:sym typeface="Wingdings" panose="05000000000000000000" pitchFamily="2" charset="2"/>
              </a:rPr>
              <a:t>说明：说明该模块与其他模块的调用关系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开发</a:t>
            </a:r>
            <a:r>
              <a:rPr lang="zh-CN" altLang="en-US" dirty="0" smtClean="0">
                <a:sym typeface="Wingdings" panose="05000000000000000000" pitchFamily="2" charset="2"/>
              </a:rPr>
              <a:t>简历：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lvl="2"/>
            <a:r>
              <a:rPr lang="zh-CN" altLang="en-US" dirty="0">
                <a:sym typeface="Wingdings" panose="05000000000000000000" pitchFamily="2" charset="2"/>
              </a:rPr>
              <a:t>创建</a:t>
            </a:r>
            <a:r>
              <a:rPr lang="zh-CN" altLang="en-US" dirty="0" smtClean="0">
                <a:sym typeface="Wingdings" panose="05000000000000000000" pitchFamily="2" charset="2"/>
              </a:rPr>
              <a:t>者、创建时间；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lvl="2"/>
            <a:r>
              <a:rPr lang="zh-CN" altLang="en-US" dirty="0">
                <a:sym typeface="Wingdings" panose="05000000000000000000" pitchFamily="2" charset="2"/>
              </a:rPr>
              <a:t>修改</a:t>
            </a:r>
            <a:r>
              <a:rPr lang="zh-CN" altLang="en-US" dirty="0" smtClean="0">
                <a:sym typeface="Wingdings" panose="05000000000000000000" pitchFamily="2" charset="2"/>
              </a:rPr>
              <a:t>者、修改时间、修改内容；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lvl="2"/>
            <a:r>
              <a:rPr lang="zh-CN" altLang="en-US" dirty="0">
                <a:sym typeface="Wingdings" panose="05000000000000000000" pitchFamily="2" charset="2"/>
              </a:rPr>
              <a:t>版本</a:t>
            </a:r>
            <a:r>
              <a:rPr lang="zh-CN" altLang="en-US" dirty="0" smtClean="0">
                <a:sym typeface="Wingdings" panose="05000000000000000000" pitchFamily="2" charset="2"/>
              </a:rPr>
              <a:t>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5F78-37C6-4C65-901A-C54DD943561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en-US" dirty="0" smtClean="0"/>
              <a:t>©2015-2020 Data Science &amp; Service Center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功能性注释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在序言性注释的基础上，对于程序体中复杂难于理解的程序结构进行局部说明；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主要描述一段程序，必要时对某一段进行说明；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修改代码的同时，对应的功能性注释也要进行修改；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5F78-37C6-4C65-901A-C54DD943561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en-US" dirty="0" smtClean="0"/>
              <a:t>©2015-2020 Data Science &amp; Service Center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015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2015SE</Template>
  <TotalTime>0</TotalTime>
  <Words>1007</Words>
  <Application>WPS 演示</Application>
  <PresentationFormat>宽屏</PresentationFormat>
  <Paragraphs>105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华文细黑</vt:lpstr>
      <vt:lpstr>微软雅黑</vt:lpstr>
      <vt:lpstr>Arial Unicode MS</vt:lpstr>
      <vt:lpstr>Calibri Light</vt:lpstr>
      <vt:lpstr>Calibri</vt:lpstr>
      <vt:lpstr>2015SE</vt:lpstr>
      <vt:lpstr>PowerPoint 演示文稿</vt:lpstr>
      <vt:lpstr>本章内容</vt:lpstr>
      <vt:lpstr>目标与任务</vt:lpstr>
      <vt:lpstr>程序语言的选择</vt:lpstr>
      <vt:lpstr>源程序文档化</vt:lpstr>
      <vt:lpstr>序言性注释</vt:lpstr>
      <vt:lpstr>功能性注释</vt:lpstr>
    </vt:vector>
  </TitlesOfParts>
  <Company>bupt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软件工程 Software Engineering</dc:title>
  <dc:creator>xiao ding</dc:creator>
  <cp:lastModifiedBy>山人</cp:lastModifiedBy>
  <cp:revision>150</cp:revision>
  <dcterms:created xsi:type="dcterms:W3CDTF">2008-02-20T09:21:00Z</dcterms:created>
  <dcterms:modified xsi:type="dcterms:W3CDTF">2025-09-20T05:39:25Z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E38837F4F2644772B826328681464738_12</vt:lpwstr>
  </property>
</Properties>
</file>
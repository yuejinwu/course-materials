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2"/>
  </p:handoutMasterIdLst>
  <p:sldIdLst>
    <p:sldId id="582" r:id="rId3"/>
    <p:sldId id="572" r:id="rId4"/>
    <p:sldId id="575" r:id="rId6"/>
    <p:sldId id="567" r:id="rId7"/>
    <p:sldId id="568" r:id="rId8"/>
    <p:sldId id="569" r:id="rId9"/>
    <p:sldId id="577" r:id="rId10"/>
    <p:sldId id="580" r:id="rId11"/>
  </p:sldIdLst>
  <p:sldSz cx="12192000" cy="6858000"/>
  <p:notesSz cx="6668770" cy="9926320"/>
  <p:defaultTextStyle>
    <a:defPPr>
      <a:defRPr lang="zh-CN"/>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CC00"/>
    <a:srgbClr val="CC0000"/>
    <a:srgbClr val="0099FF"/>
    <a:srgbClr val="0066FF"/>
    <a:srgbClr val="3333CC"/>
    <a:srgbClr val="0000FF"/>
    <a:srgbClr val="FF33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67" autoAdjust="0"/>
    <p:restoredTop sz="78316" autoAdjust="0"/>
  </p:normalViewPr>
  <p:slideViewPr>
    <p:cSldViewPr showGuides="1">
      <p:cViewPr varScale="1">
        <p:scale>
          <a:sx n="129" d="100"/>
          <a:sy n="129" d="100"/>
        </p:scale>
        <p:origin x="1576" y="92"/>
      </p:cViewPr>
      <p:guideLst>
        <p:guide orient="horz" pos="2236"/>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4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4339" name="Rectangle 3"/>
          <p:cNvSpPr>
            <a:spLocks noGrp="1" noChangeArrowheads="1"/>
          </p:cNvSpPr>
          <p:nvPr>
            <p:ph type="dt" sz="quarter" idx="1"/>
          </p:nvPr>
        </p:nvSpPr>
        <p:spPr bwMode="auto">
          <a:xfrm>
            <a:off x="3779838"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4340" name="Rectangle 4"/>
          <p:cNvSpPr>
            <a:spLocks noGrp="1" noChangeArrowheads="1"/>
          </p:cNvSpPr>
          <p:nvPr>
            <p:ph type="ftr" sz="quarter" idx="2"/>
          </p:nvPr>
        </p:nvSpPr>
        <p:spPr bwMode="auto">
          <a:xfrm>
            <a:off x="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4341" name="Rectangle 5"/>
          <p:cNvSpPr>
            <a:spLocks noGrp="1" noChangeArrowheads="1"/>
          </p:cNvSpPr>
          <p:nvPr>
            <p:ph type="sldNum" sz="quarter" idx="3"/>
          </p:nvPr>
        </p:nvSpPr>
        <p:spPr bwMode="auto">
          <a:xfrm>
            <a:off x="3779838"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AC399C5-F505-410D-8CBE-F6D51B1E0D0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316419" name="Rectangle 3"/>
          <p:cNvSpPr>
            <a:spLocks noGrp="1" noChangeArrowheads="1"/>
          </p:cNvSpPr>
          <p:nvPr>
            <p:ph type="dt" idx="1"/>
          </p:nvPr>
        </p:nvSpPr>
        <p:spPr bwMode="auto">
          <a:xfrm>
            <a:off x="377825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1642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6421" name="Rectangle 5"/>
          <p:cNvSpPr>
            <a:spLocks noGrp="1" noChangeArrowheads="1"/>
          </p:cNvSpPr>
          <p:nvPr>
            <p:ph type="body" sz="quarter" idx="3"/>
          </p:nvPr>
        </p:nvSpPr>
        <p:spPr bwMode="auto">
          <a:xfrm>
            <a:off x="666750" y="4714875"/>
            <a:ext cx="53355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16422" name="Rectangle 6"/>
          <p:cNvSpPr>
            <a:spLocks noGrp="1" noChangeArrowheads="1"/>
          </p:cNvSpPr>
          <p:nvPr>
            <p:ph type="ftr" sz="quarter" idx="4"/>
          </p:nvPr>
        </p:nvSpPr>
        <p:spPr bwMode="auto">
          <a:xfrm>
            <a:off x="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16423" name="Rectangle 7"/>
          <p:cNvSpPr>
            <a:spLocks noGrp="1" noChangeArrowheads="1"/>
          </p:cNvSpPr>
          <p:nvPr>
            <p:ph type="sldNum" sz="quarter" idx="5"/>
          </p:nvPr>
        </p:nvSpPr>
        <p:spPr bwMode="auto">
          <a:xfrm>
            <a:off x="377825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AE44EBE-441B-481F-9A2F-52D8EEBCC3A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11" name="标题 10"/>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push/>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副标题 4"/>
          <p:cNvSpPr>
            <a:spLocks noGrp="1"/>
          </p:cNvSpPr>
          <p:nvPr>
            <p:ph type="subTitle" idx="1"/>
          </p:nvPr>
        </p:nvSpPr>
        <p:spPr>
          <a:xfrm>
            <a:off x="980440" y="2479040"/>
            <a:ext cx="9687560" cy="3462655"/>
          </a:xfrm>
        </p:spPr>
        <p:txBody>
          <a:bodyPr>
            <a:normAutofit/>
          </a:bodyPr>
          <a:p>
            <a:pPr marL="285750" indent="-285750" algn="l">
              <a:buFont typeface="Arial" panose="020B0604020202020204" pitchFamily="34" charset="0"/>
              <a:buChar char="•"/>
            </a:pP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次作业</a:t>
            </a:r>
            <a:endPar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buFont typeface="Arial" panose="020B0604020202020204" pitchFamily="34" charset="0"/>
              <a:buChar char="•"/>
            </a:pPr>
            <a:r>
              <a:rPr lang="zh-CN" altLang="en-US" sz="2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需求分析建模（占平时作业的</a:t>
            </a:r>
            <a:r>
              <a:rPr lang="en-US" altLang="zh-CN" sz="2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35%</a:t>
            </a:r>
            <a:r>
              <a:rPr lang="zh-CN" altLang="en-US" sz="2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次作业</a:t>
            </a:r>
            <a:endPar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buFont typeface="Arial" panose="020B0604020202020204" pitchFamily="34" charset="0"/>
              <a:buChar char="•"/>
            </a:pPr>
            <a:r>
              <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软件设计建模（占平时作业的</a:t>
            </a:r>
            <a:r>
              <a:rPr lang="en-US" altLang="zh-CN"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35%</a:t>
            </a:r>
            <a:r>
              <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次作业</a:t>
            </a:r>
            <a:endParaRPr lang="zh-CN" altLang="en-US" sz="32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buFont typeface="Arial" panose="020B0604020202020204" pitchFamily="34" charset="0"/>
              <a:buChar char="•"/>
            </a:pPr>
            <a:r>
              <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软件原型实现（</a:t>
            </a:r>
            <a:r>
              <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占平时作业的</a:t>
            </a:r>
            <a:r>
              <a:rPr lang="en-US" altLang="zh-CN"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30%</a:t>
            </a:r>
            <a:r>
              <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标题 5"/>
          <p:cNvSpPr>
            <a:spLocks noGrp="1"/>
          </p:cNvSpPr>
          <p:nvPr>
            <p:ph type="title"/>
          </p:nvPr>
        </p:nvSpPr>
        <p:spPr/>
        <p:txBody>
          <a:bodyPr/>
          <a:p>
            <a:r>
              <a:rPr lang="zh-CN" altLang="en-US" sz="4000" b="1" dirty="0">
                <a:solidFill>
                  <a:prstClr val="white"/>
                </a:solidFill>
                <a:latin typeface="微软雅黑" panose="020B0503020204020204" pitchFamily="34" charset="-122"/>
                <a:ea typeface="微软雅黑" panose="020B0503020204020204" pitchFamily="34" charset="-122"/>
                <a:sym typeface="+mn-ea"/>
              </a:rPr>
              <a:t>软件工程 </a:t>
            </a:r>
            <a:r>
              <a:rPr lang="en-US" altLang="zh-CN" sz="4000" b="1" dirty="0">
                <a:solidFill>
                  <a:prstClr val="white"/>
                </a:solidFill>
                <a:latin typeface="微软雅黑" panose="020B0503020204020204" pitchFamily="34" charset="-122"/>
                <a:ea typeface="微软雅黑" panose="020B0503020204020204" pitchFamily="34" charset="-122"/>
                <a:sym typeface="+mn-ea"/>
              </a:rPr>
              <a:t>- </a:t>
            </a:r>
            <a:r>
              <a:rPr lang="zh-CN" altLang="en-US" sz="4000" b="1" dirty="0">
                <a:solidFill>
                  <a:prstClr val="white"/>
                </a:solidFill>
                <a:latin typeface="微软雅黑" panose="020B0503020204020204" pitchFamily="34" charset="-122"/>
                <a:ea typeface="微软雅黑" panose="020B0503020204020204" pitchFamily="34" charset="-122"/>
                <a:sym typeface="+mn-ea"/>
              </a:rPr>
              <a:t>作业说明</a:t>
            </a:r>
            <a:endParaRPr lang="zh-CN" altLang="en-US" sz="4000" b="1" dirty="0">
              <a:solidFill>
                <a:prstClr val="white"/>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作业基本说明</a:t>
            </a:r>
            <a:endParaRPr lang="zh-CN" altLang="en-US" dirty="0"/>
          </a:p>
        </p:txBody>
      </p:sp>
      <p:sp>
        <p:nvSpPr>
          <p:cNvPr id="3" name="内容占位符 2"/>
          <p:cNvSpPr>
            <a:spLocks noGrp="1"/>
          </p:cNvSpPr>
          <p:nvPr>
            <p:ph idx="1"/>
          </p:nvPr>
        </p:nvSpPr>
        <p:spPr>
          <a:xfrm>
            <a:off x="407670" y="783590"/>
            <a:ext cx="11377295" cy="5393690"/>
          </a:xfrm>
        </p:spPr>
        <p:txBody>
          <a:bodyPr>
            <a:noAutofit/>
          </a:bodyPr>
          <a:lstStyle/>
          <a:p>
            <a:r>
              <a:rPr lang="zh-CN" altLang="en-US" dirty="0"/>
              <a:t>基本需求：     </a:t>
            </a:r>
            <a:endParaRPr lang="en-US" altLang="zh-CN" dirty="0"/>
          </a:p>
          <a:p>
            <a:pPr lvl="1"/>
            <a:r>
              <a:rPr lang="zh-CN" altLang="en-US" sz="1800" dirty="0"/>
              <a:t>某快捷廉价酒店响应节能绿色环保理念，推行自助计费式中央温控系统，使得入住的客户可以根据要求设定</a:t>
            </a:r>
            <a:r>
              <a:rPr lang="zh-CN" altLang="en-US" sz="1800" dirty="0">
                <a:solidFill>
                  <a:srgbClr val="FF0000"/>
                </a:solidFill>
              </a:rPr>
              <a:t>温度</a:t>
            </a:r>
            <a:r>
              <a:rPr lang="zh-CN" altLang="en-US" sz="1800" dirty="0"/>
              <a:t>和</a:t>
            </a:r>
            <a:r>
              <a:rPr lang="zh-CN" altLang="en-US" sz="1800" dirty="0">
                <a:solidFill>
                  <a:srgbClr val="FF0000"/>
                </a:solidFill>
              </a:rPr>
              <a:t>风速</a:t>
            </a:r>
            <a:r>
              <a:rPr lang="zh-CN" altLang="en-US" sz="1800" dirty="0"/>
              <a:t>的调节，同时可以</a:t>
            </a:r>
            <a:r>
              <a:rPr lang="zh-CN" altLang="en-US" sz="1800" dirty="0">
                <a:solidFill>
                  <a:srgbClr val="FF0000"/>
                </a:solidFill>
              </a:rPr>
              <a:t>显示所需支付的金额</a:t>
            </a:r>
            <a:r>
              <a:rPr lang="zh-CN" altLang="en-US" sz="1800" dirty="0"/>
              <a:t>。客户退房</a:t>
            </a:r>
            <a:r>
              <a:rPr lang="zh-CN" altLang="en-US" sz="1800"/>
              <a:t>时酒店前台须</a:t>
            </a:r>
            <a:r>
              <a:rPr lang="zh-CN" altLang="en-US" sz="1800" dirty="0"/>
              <a:t>出具空调使用的</a:t>
            </a:r>
            <a:r>
              <a:rPr lang="zh-CN" altLang="en-US" sz="1800" dirty="0">
                <a:solidFill>
                  <a:srgbClr val="FF0000"/>
                </a:solidFill>
              </a:rPr>
              <a:t>账单</a:t>
            </a:r>
            <a:r>
              <a:rPr lang="zh-CN" altLang="en-US" sz="1800" dirty="0"/>
              <a:t>及</a:t>
            </a:r>
            <a:r>
              <a:rPr lang="zh-CN" altLang="en-US" sz="1800" dirty="0">
                <a:solidFill>
                  <a:srgbClr val="FF0000"/>
                </a:solidFill>
              </a:rPr>
              <a:t>详单</a:t>
            </a:r>
            <a:r>
              <a:rPr lang="zh-CN" altLang="en-US" sz="1800" dirty="0"/>
              <a:t>。空调运行期间，空调管理员能够</a:t>
            </a:r>
            <a:r>
              <a:rPr lang="zh-CN" altLang="en-US" sz="1800" dirty="0">
                <a:solidFill>
                  <a:srgbClr val="FF0000"/>
                </a:solidFill>
              </a:rPr>
              <a:t>监控</a:t>
            </a:r>
            <a:r>
              <a:rPr lang="zh-CN" altLang="en-US" sz="1800" dirty="0"/>
              <a:t>各房间空调的使用状态，此外，酒店经理在需要的情况下可以查看不同时间范围内的</a:t>
            </a:r>
            <a:r>
              <a:rPr lang="zh-CN" altLang="en-US" sz="1800" dirty="0">
                <a:solidFill>
                  <a:srgbClr val="FF0000"/>
                </a:solidFill>
              </a:rPr>
              <a:t>格式化统计报表</a:t>
            </a:r>
            <a:r>
              <a:rPr lang="zh-CN" altLang="en-US" sz="1800" dirty="0"/>
              <a:t>。</a:t>
            </a:r>
            <a:endParaRPr lang="zh-CN" altLang="en-US" sz="1800" dirty="0"/>
          </a:p>
          <a:p>
            <a:pPr lvl="0"/>
            <a:r>
              <a:rPr lang="zh-CN" altLang="en-US" sz="2000" dirty="0">
                <a:sym typeface="+mn-ea"/>
              </a:rPr>
              <a:t>温控范围</a:t>
            </a:r>
            <a:endParaRPr lang="en-US" altLang="zh-CN" sz="1830" dirty="0"/>
          </a:p>
          <a:p>
            <a:pPr lvl="1"/>
            <a:r>
              <a:rPr lang="zh-CN" altLang="en-US" sz="1800" dirty="0">
                <a:sym typeface="+mn-ea"/>
              </a:rPr>
              <a:t>制冷模式：</a:t>
            </a:r>
            <a:r>
              <a:rPr lang="en-US" altLang="zh-CN" sz="1800" dirty="0">
                <a:sym typeface="+mn-ea"/>
              </a:rPr>
              <a:t>18-25</a:t>
            </a:r>
            <a:r>
              <a:rPr lang="zh-CN" altLang="en-US" sz="1800" dirty="0">
                <a:sym typeface="+mn-ea"/>
              </a:rPr>
              <a:t>度</a:t>
            </a:r>
            <a:endParaRPr lang="en-US" altLang="zh-CN" sz="1800" dirty="0"/>
          </a:p>
          <a:p>
            <a:pPr lvl="1"/>
            <a:r>
              <a:rPr lang="zh-CN" altLang="en-US" sz="1800" dirty="0">
                <a:sym typeface="+mn-ea"/>
              </a:rPr>
              <a:t>制热模式：</a:t>
            </a:r>
            <a:r>
              <a:rPr lang="en-US" altLang="zh-CN" sz="1800" dirty="0">
                <a:sym typeface="+mn-ea"/>
              </a:rPr>
              <a:t>25-30</a:t>
            </a:r>
            <a:r>
              <a:rPr lang="zh-CN" altLang="en-US" sz="1800" dirty="0">
                <a:sym typeface="+mn-ea"/>
              </a:rPr>
              <a:t>度</a:t>
            </a:r>
            <a:endParaRPr lang="en-US" altLang="zh-CN" sz="1800" dirty="0"/>
          </a:p>
          <a:p>
            <a:pPr lvl="1"/>
            <a:r>
              <a:rPr lang="zh-CN" altLang="en-US" sz="1800" dirty="0">
                <a:sym typeface="+mn-ea"/>
              </a:rPr>
              <a:t>缺省温度：</a:t>
            </a:r>
            <a:r>
              <a:rPr lang="en-US" altLang="zh-CN" sz="1800" dirty="0">
                <a:sym typeface="+mn-ea"/>
              </a:rPr>
              <a:t>25</a:t>
            </a:r>
            <a:r>
              <a:rPr lang="zh-CN" altLang="en-US" sz="1800" dirty="0">
                <a:sym typeface="+mn-ea"/>
              </a:rPr>
              <a:t>度</a:t>
            </a:r>
            <a:endParaRPr lang="en-US" altLang="zh-CN" sz="1800" dirty="0"/>
          </a:p>
          <a:p>
            <a:pPr lvl="0"/>
            <a:r>
              <a:rPr lang="zh-CN" altLang="en-US" sz="2000" dirty="0">
                <a:sym typeface="+mn-ea"/>
              </a:rPr>
              <a:t>计费标准：</a:t>
            </a:r>
            <a:r>
              <a:rPr lang="en-US" altLang="zh-CN" sz="2000" dirty="0">
                <a:sym typeface="+mn-ea"/>
              </a:rPr>
              <a:t>1</a:t>
            </a:r>
            <a:r>
              <a:rPr lang="zh-CN" altLang="en-US" sz="2000" dirty="0">
                <a:sym typeface="+mn-ea"/>
              </a:rPr>
              <a:t>元</a:t>
            </a:r>
            <a:r>
              <a:rPr lang="en-US" altLang="zh-CN" sz="2000" dirty="0">
                <a:sym typeface="+mn-ea"/>
              </a:rPr>
              <a:t>/</a:t>
            </a:r>
            <a:r>
              <a:rPr lang="zh-CN" altLang="en-US" sz="2000" dirty="0">
                <a:sym typeface="+mn-ea"/>
              </a:rPr>
              <a:t>度</a:t>
            </a:r>
            <a:endParaRPr lang="en-US" altLang="zh-CN" sz="2000" dirty="0"/>
          </a:p>
          <a:p>
            <a:pPr lvl="0"/>
            <a:r>
              <a:rPr lang="zh-CN" altLang="en-US" sz="2000" dirty="0">
                <a:sym typeface="+mn-ea"/>
              </a:rPr>
              <a:t>耗电标准：</a:t>
            </a:r>
            <a:endParaRPr lang="en-US" altLang="zh-CN" sz="2000" dirty="0"/>
          </a:p>
          <a:p>
            <a:pPr lvl="1"/>
            <a:r>
              <a:rPr lang="zh-CN" altLang="en-US" sz="1800" dirty="0">
                <a:sym typeface="+mn-ea"/>
              </a:rPr>
              <a:t>高风：</a:t>
            </a:r>
            <a:r>
              <a:rPr lang="en-US" altLang="zh-CN" sz="1800" dirty="0">
                <a:sym typeface="+mn-ea"/>
              </a:rPr>
              <a:t>1</a:t>
            </a:r>
            <a:r>
              <a:rPr lang="zh-CN" altLang="en-US" sz="1800" dirty="0">
                <a:sym typeface="+mn-ea"/>
              </a:rPr>
              <a:t>度</a:t>
            </a:r>
            <a:r>
              <a:rPr lang="en-US" altLang="zh-CN" sz="1800" dirty="0">
                <a:sym typeface="+mn-ea"/>
              </a:rPr>
              <a:t>/1</a:t>
            </a:r>
            <a:r>
              <a:rPr lang="zh-CN" altLang="en-US" sz="1800" dirty="0">
                <a:sym typeface="+mn-ea"/>
              </a:rPr>
              <a:t>分钟</a:t>
            </a:r>
            <a:endParaRPr lang="en-US" altLang="zh-CN" sz="1800" dirty="0"/>
          </a:p>
          <a:p>
            <a:pPr lvl="1"/>
            <a:r>
              <a:rPr lang="zh-CN" altLang="en-US" sz="1800" dirty="0">
                <a:sym typeface="+mn-ea"/>
              </a:rPr>
              <a:t>中风：</a:t>
            </a:r>
            <a:r>
              <a:rPr lang="en-US" altLang="zh-CN" sz="1800" dirty="0">
                <a:sym typeface="+mn-ea"/>
              </a:rPr>
              <a:t>1</a:t>
            </a:r>
            <a:r>
              <a:rPr lang="zh-CN" altLang="en-US" sz="1800" dirty="0">
                <a:sym typeface="+mn-ea"/>
              </a:rPr>
              <a:t>度</a:t>
            </a:r>
            <a:r>
              <a:rPr lang="en-US" altLang="zh-CN" sz="1800" dirty="0">
                <a:sym typeface="+mn-ea"/>
              </a:rPr>
              <a:t>/2</a:t>
            </a:r>
            <a:r>
              <a:rPr lang="zh-CN" altLang="en-US" sz="1800" dirty="0">
                <a:sym typeface="+mn-ea"/>
              </a:rPr>
              <a:t>分钟</a:t>
            </a:r>
            <a:endParaRPr lang="en-US" altLang="zh-CN" sz="1800" dirty="0"/>
          </a:p>
          <a:p>
            <a:pPr lvl="1"/>
            <a:r>
              <a:rPr lang="zh-CN" altLang="en-US" sz="1800" dirty="0">
                <a:sym typeface="+mn-ea"/>
              </a:rPr>
              <a:t>低风：</a:t>
            </a:r>
            <a:r>
              <a:rPr lang="en-US" altLang="zh-CN" sz="1800" dirty="0">
                <a:sym typeface="+mn-ea"/>
              </a:rPr>
              <a:t>1</a:t>
            </a:r>
            <a:r>
              <a:rPr lang="zh-CN" altLang="en-US" sz="1800" dirty="0">
                <a:sym typeface="+mn-ea"/>
              </a:rPr>
              <a:t>度</a:t>
            </a:r>
            <a:r>
              <a:rPr lang="en-US" altLang="zh-CN" sz="1800" dirty="0">
                <a:sym typeface="+mn-ea"/>
              </a:rPr>
              <a:t>/3</a:t>
            </a:r>
            <a:r>
              <a:rPr lang="zh-CN" altLang="en-US" sz="1800" dirty="0">
                <a:sym typeface="+mn-ea"/>
              </a:rPr>
              <a:t>分钟</a:t>
            </a:r>
            <a:endParaRPr lang="zh-CN" altLang="en-US" sz="1800" dirty="0">
              <a:sym typeface="+mn-ea"/>
            </a:endParaRPr>
          </a:p>
        </p:txBody>
      </p:sp>
      <p:sp>
        <p:nvSpPr>
          <p:cNvPr id="5" name="文本框 4"/>
          <p:cNvSpPr txBox="1"/>
          <p:nvPr/>
        </p:nvSpPr>
        <p:spPr>
          <a:xfrm>
            <a:off x="3475355" y="2816860"/>
            <a:ext cx="8414385" cy="3351530"/>
          </a:xfrm>
          <a:prstGeom prst="rect">
            <a:avLst/>
          </a:prstGeom>
          <a:noFill/>
        </p:spPr>
        <p:txBody>
          <a:bodyPr wrap="square" rtlCol="0" anchor="t">
            <a:noAutofit/>
          </a:bodyPr>
          <a:p>
            <a:pPr marL="342900" indent="-342900">
              <a:buFont typeface="Arial" panose="020B0604020202020204" pitchFamily="34" charset="0"/>
              <a:buChar char="•"/>
            </a:pPr>
            <a:r>
              <a:rPr lang="zh-CN" altLang="en-US" sz="2000" b="1" dirty="0">
                <a:sym typeface="+mn-ea"/>
              </a:rPr>
              <a:t>温度变化模式：</a:t>
            </a:r>
            <a:endParaRPr lang="en-US" altLang="zh-CN" sz="2000" b="1" dirty="0"/>
          </a:p>
          <a:p>
            <a:pPr marL="742950" lvl="1" indent="-285750">
              <a:buFont typeface="Arial" panose="020B0604020202020204" pitchFamily="34" charset="0"/>
              <a:buChar char="•"/>
            </a:pPr>
            <a:r>
              <a:rPr lang="zh-CN" altLang="en-US" sz="1800" b="1" dirty="0">
                <a:sym typeface="+mn-ea"/>
              </a:rPr>
              <a:t>中风模式下每分钟变化</a:t>
            </a:r>
            <a:r>
              <a:rPr lang="en-US" altLang="zh-CN" sz="1800" b="1" dirty="0">
                <a:sym typeface="+mn-ea"/>
              </a:rPr>
              <a:t>0.5</a:t>
            </a:r>
            <a:r>
              <a:rPr lang="zh-CN" altLang="en-US" sz="1800" b="1" dirty="0">
                <a:sym typeface="+mn-ea"/>
              </a:rPr>
              <a:t>度，高风模式每分钟变化率提高</a:t>
            </a:r>
            <a:r>
              <a:rPr lang="en-US" altLang="zh-CN" sz="1800" b="1" dirty="0">
                <a:sym typeface="+mn-ea"/>
              </a:rPr>
              <a:t>20%</a:t>
            </a:r>
            <a:r>
              <a:rPr lang="zh-CN" altLang="en-US" sz="1800" b="1" dirty="0">
                <a:sym typeface="+mn-ea"/>
              </a:rPr>
              <a:t>，低风模式每分钟变化率减小</a:t>
            </a:r>
            <a:r>
              <a:rPr lang="en-US" altLang="zh-CN" sz="1800" b="1" dirty="0">
                <a:sym typeface="+mn-ea"/>
              </a:rPr>
              <a:t>20%</a:t>
            </a:r>
            <a:r>
              <a:rPr lang="zh-CN" altLang="en-US" sz="1800" b="1" dirty="0">
                <a:sym typeface="+mn-ea"/>
              </a:rPr>
              <a:t>；</a:t>
            </a:r>
            <a:endParaRPr lang="en-US" altLang="zh-CN" sz="1800" b="1" dirty="0"/>
          </a:p>
          <a:p>
            <a:pPr marL="742950" lvl="1" indent="-285750">
              <a:buFont typeface="Arial" panose="020B0604020202020204" pitchFamily="34" charset="0"/>
              <a:buChar char="•"/>
            </a:pPr>
            <a:r>
              <a:rPr lang="zh-CN" altLang="en-US" sz="1800" b="1" dirty="0">
                <a:sym typeface="+mn-ea"/>
              </a:rPr>
              <a:t>房间温度达到目标值以后，客户端自动发送停止送风请求给服务端。此后，当房间温度超过目标温度</a:t>
            </a:r>
            <a:r>
              <a:rPr lang="en-US" altLang="zh-CN" sz="1800" b="1" dirty="0">
                <a:sym typeface="+mn-ea"/>
              </a:rPr>
              <a:t>1</a:t>
            </a:r>
            <a:r>
              <a:rPr lang="zh-CN" altLang="en-US" sz="1800" b="1" dirty="0">
                <a:sym typeface="+mn-ea"/>
              </a:rPr>
              <a:t>度时，重新启动。</a:t>
            </a:r>
            <a:endParaRPr lang="en-US" altLang="zh-CN" sz="1800" b="1" dirty="0"/>
          </a:p>
          <a:p>
            <a:pPr marL="742950" lvl="1" indent="-285750">
              <a:buFont typeface="Arial" panose="020B0604020202020204" pitchFamily="34" charset="0"/>
              <a:buChar char="•"/>
            </a:pPr>
            <a:r>
              <a:rPr lang="zh-CN" altLang="en-US" sz="1800" b="1" dirty="0">
                <a:sym typeface="+mn-ea"/>
              </a:rPr>
              <a:t>关机状态下，每分钟变化</a:t>
            </a:r>
            <a:r>
              <a:rPr lang="en-US" altLang="zh-CN" sz="1800" b="1" dirty="0">
                <a:sym typeface="+mn-ea"/>
              </a:rPr>
              <a:t>0.5</a:t>
            </a:r>
            <a:r>
              <a:rPr lang="zh-CN" altLang="en-US" sz="1800" b="1" dirty="0">
                <a:sym typeface="+mn-ea"/>
              </a:rPr>
              <a:t>度，直到变化到初始温度为止；</a:t>
            </a:r>
            <a:endParaRPr lang="en-US" altLang="zh-CN" sz="1800" b="1" dirty="0"/>
          </a:p>
          <a:p>
            <a:pPr marL="342900" indent="-342900">
              <a:buFont typeface="Arial" panose="020B0604020202020204" pitchFamily="34" charset="0"/>
              <a:buChar char="•"/>
            </a:pPr>
            <a:r>
              <a:rPr lang="zh-CN" altLang="en-US" sz="2000" b="1" dirty="0">
                <a:sym typeface="+mn-ea"/>
              </a:rPr>
              <a:t>客户端具有温度传感器，能实时监测房间温度，并显示在控制面板上。</a:t>
            </a:r>
            <a:endParaRPr lang="en-US" altLang="zh-CN" sz="2000" b="1" dirty="0"/>
          </a:p>
          <a:p>
            <a:pPr marL="342900" indent="-342900">
              <a:buFont typeface="Arial" panose="020B0604020202020204" pitchFamily="34" charset="0"/>
              <a:buChar char="•"/>
            </a:pPr>
            <a:r>
              <a:rPr lang="zh-CN" altLang="en-US" sz="2000" b="1" dirty="0">
                <a:sym typeface="+mn-ea"/>
              </a:rPr>
              <a:t>温度调节按钮连续两次或者多次指令发送的时间间隔小于</a:t>
            </a:r>
            <a:r>
              <a:rPr lang="en-US" altLang="zh-CN" sz="2000" b="1" dirty="0">
                <a:sym typeface="+mn-ea"/>
              </a:rPr>
              <a:t>1</a:t>
            </a:r>
            <a:r>
              <a:rPr lang="zh-CN" altLang="en-US" sz="2000" b="1" dirty="0">
                <a:sym typeface="+mn-ea"/>
              </a:rPr>
              <a:t>秒时，只发送最后</a:t>
            </a:r>
            <a:r>
              <a:rPr lang="en-US" altLang="zh-CN" sz="2000" b="1" dirty="0">
                <a:sym typeface="+mn-ea"/>
              </a:rPr>
              <a:t>1</a:t>
            </a:r>
            <a:r>
              <a:rPr lang="zh-CN" altLang="en-US" sz="2000" b="1" dirty="0">
                <a:sym typeface="+mn-ea"/>
              </a:rPr>
              <a:t>次的指令参数；大于</a:t>
            </a:r>
            <a:r>
              <a:rPr lang="en-US" altLang="zh-CN" sz="2000" b="1" dirty="0">
                <a:sym typeface="+mn-ea"/>
              </a:rPr>
              <a:t>1</a:t>
            </a:r>
            <a:r>
              <a:rPr lang="zh-CN" altLang="en-US" sz="2000" b="1" dirty="0">
                <a:sym typeface="+mn-ea"/>
              </a:rPr>
              <a:t>秒的情况下，将发送两次请求。</a:t>
            </a:r>
            <a:endParaRPr lang="zh-CN" altLang="en-US" sz="2000" b="1" dirty="0">
              <a:sym typeface="+mn-ea"/>
            </a:endParaRP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资源限制</a:t>
            </a:r>
            <a:endParaRPr lang="zh-CN" altLang="en-US" dirty="0"/>
          </a:p>
        </p:txBody>
      </p:sp>
      <p:sp>
        <p:nvSpPr>
          <p:cNvPr id="3" name="内容占位符 2"/>
          <p:cNvSpPr>
            <a:spLocks noGrp="1"/>
          </p:cNvSpPr>
          <p:nvPr>
            <p:ph idx="1"/>
          </p:nvPr>
        </p:nvSpPr>
        <p:spPr>
          <a:xfrm>
            <a:off x="407368" y="908720"/>
            <a:ext cx="11377263" cy="5447631"/>
          </a:xfrm>
        </p:spPr>
        <p:txBody>
          <a:bodyPr>
            <a:noAutofit/>
          </a:bodyPr>
          <a:lstStyle/>
          <a:p>
            <a:pPr marL="514350" indent="-514350">
              <a:buFont typeface="+mj-lt"/>
              <a:buAutoNum type="arabicPeriod"/>
            </a:pPr>
            <a:r>
              <a:rPr lang="zh-CN" altLang="en-US" sz="2800" dirty="0"/>
              <a:t>假设宾馆有</a:t>
            </a:r>
            <a:r>
              <a:rPr lang="en-US" altLang="zh-CN" sz="2800" dirty="0"/>
              <a:t>x</a:t>
            </a:r>
            <a:r>
              <a:rPr lang="zh-CN" altLang="en-US" sz="2800" dirty="0"/>
              <a:t>间客房，由于服务能力受限，中央空调在同一时刻只能为</a:t>
            </a:r>
            <a:r>
              <a:rPr lang="en-US" altLang="zh-CN" sz="2800" dirty="0"/>
              <a:t>y</a:t>
            </a:r>
            <a:r>
              <a:rPr lang="zh-CN" altLang="en-US" sz="2800" dirty="0"/>
              <a:t>间（</a:t>
            </a:r>
            <a:r>
              <a:rPr lang="en-US" altLang="zh-CN" sz="2800" dirty="0"/>
              <a:t>x</a:t>
            </a:r>
            <a:r>
              <a:rPr lang="zh-CN" altLang="en-US" sz="2800" dirty="0"/>
              <a:t>＞</a:t>
            </a:r>
            <a:r>
              <a:rPr lang="en-US" altLang="zh-CN" sz="2800" dirty="0"/>
              <a:t>y</a:t>
            </a:r>
            <a:r>
              <a:rPr lang="zh-CN" altLang="en-US" sz="2800" dirty="0"/>
              <a:t>）提供送风服务。</a:t>
            </a:r>
            <a:endParaRPr lang="en-US" altLang="zh-CN" sz="2800" dirty="0"/>
          </a:p>
          <a:p>
            <a:pPr marL="857250" lvl="1" indent="-514350">
              <a:buFont typeface="+mj-lt"/>
              <a:buAutoNum type="alphaUcPeriod"/>
            </a:pPr>
            <a:r>
              <a:rPr lang="zh-CN" altLang="en-US" sz="2600" dirty="0"/>
              <a:t>为了兼顾公平和效率，需要对中央空调的送风服务进行调度；</a:t>
            </a:r>
            <a:endParaRPr lang="en-US" altLang="zh-CN" sz="2600" dirty="0"/>
          </a:p>
          <a:p>
            <a:pPr marL="857250" lvl="1" indent="-514350">
              <a:buFont typeface="+mj-lt"/>
              <a:buAutoNum type="alphaUcPeriod"/>
            </a:pPr>
            <a:r>
              <a:rPr lang="zh-CN" altLang="en-US" sz="2600" dirty="0"/>
              <a:t>优先级调度</a:t>
            </a:r>
            <a:r>
              <a:rPr lang="en-US" altLang="zh-CN" sz="2600" dirty="0"/>
              <a:t>+</a:t>
            </a:r>
            <a:r>
              <a:rPr lang="zh-CN" altLang="en-US" sz="2600" dirty="0"/>
              <a:t>时间片调度：</a:t>
            </a:r>
            <a:endParaRPr lang="en-US" altLang="zh-CN" sz="2600" dirty="0"/>
          </a:p>
          <a:p>
            <a:pPr marL="1200150" lvl="2" indent="-514350">
              <a:buFont typeface="+mj-lt"/>
              <a:buAutoNum type="alphaLcParenR"/>
            </a:pPr>
            <a:r>
              <a:rPr lang="zh-CN" altLang="en-US" sz="2400" dirty="0"/>
              <a:t>优先级调度：新送风请求的风速若</a:t>
            </a:r>
            <a:r>
              <a:rPr lang="zh-CN" altLang="en-US" sz="2400" dirty="0">
                <a:solidFill>
                  <a:srgbClr val="FF0000"/>
                </a:solidFill>
              </a:rPr>
              <a:t>高于（高风</a:t>
            </a:r>
            <a:r>
              <a:rPr lang="en-US" altLang="zh-CN" sz="2400" dirty="0">
                <a:solidFill>
                  <a:srgbClr val="FF0000"/>
                </a:solidFill>
              </a:rPr>
              <a:t>&gt;</a:t>
            </a:r>
            <a:r>
              <a:rPr lang="zh-CN" altLang="en-US" sz="2400" dirty="0">
                <a:solidFill>
                  <a:srgbClr val="FF0000"/>
                </a:solidFill>
              </a:rPr>
              <a:t>中风</a:t>
            </a:r>
            <a:r>
              <a:rPr lang="en-US" altLang="zh-CN" sz="2400" dirty="0">
                <a:solidFill>
                  <a:srgbClr val="FF0000"/>
                </a:solidFill>
              </a:rPr>
              <a:t>&gt;</a:t>
            </a:r>
            <a:r>
              <a:rPr lang="zh-CN" altLang="en-US" sz="2400" dirty="0">
                <a:solidFill>
                  <a:srgbClr val="FF0000"/>
                </a:solidFill>
              </a:rPr>
              <a:t>低风）</a:t>
            </a:r>
            <a:r>
              <a:rPr lang="zh-CN" altLang="en-US" sz="2400" dirty="0"/>
              <a:t>正在接受服务的某个送风请求，则将立即服务高风速请求；</a:t>
            </a:r>
            <a:endParaRPr lang="en-US" altLang="zh-CN" sz="2400" dirty="0"/>
          </a:p>
          <a:p>
            <a:pPr marL="1200150" lvl="2" indent="-514350">
              <a:buFont typeface="+mj-lt"/>
              <a:buAutoNum type="alphaLcParenR"/>
            </a:pPr>
            <a:r>
              <a:rPr lang="zh-CN" altLang="en-US" sz="2400" dirty="0"/>
              <a:t>时间片调度：若等待服务的送风请求与正在接受服务的送风请求相比，它们所请求的风速</a:t>
            </a:r>
            <a:r>
              <a:rPr lang="zh-CN" altLang="en-US" sz="2400" dirty="0">
                <a:solidFill>
                  <a:srgbClr val="FF0000"/>
                </a:solidFill>
              </a:rPr>
              <a:t>相同</a:t>
            </a:r>
            <a:r>
              <a:rPr lang="zh-CN" altLang="en-US" sz="2400" dirty="0"/>
              <a:t>，则新请求</a:t>
            </a:r>
            <a:r>
              <a:rPr lang="zh-CN" altLang="en-US" sz="2400" dirty="0">
                <a:solidFill>
                  <a:srgbClr val="FF0000"/>
                </a:solidFill>
              </a:rPr>
              <a:t>等待一段时间</a:t>
            </a:r>
            <a:r>
              <a:rPr lang="zh-CN" altLang="en-US" sz="2400" dirty="0"/>
              <a:t>后（</a:t>
            </a:r>
            <a:r>
              <a:rPr lang="en-US" altLang="zh-CN" sz="2400" dirty="0"/>
              <a:t>s</a:t>
            </a:r>
            <a:r>
              <a:rPr lang="zh-CN" altLang="en-US" sz="2400" dirty="0"/>
              <a:t>秒）获得送风服务，获得服务时间最长的房间被</a:t>
            </a:r>
            <a:r>
              <a:rPr lang="zh-CN" altLang="en-US" sz="2400" dirty="0">
                <a:solidFill>
                  <a:srgbClr val="FF0000"/>
                </a:solidFill>
              </a:rPr>
              <a:t>暂停</a:t>
            </a:r>
            <a:r>
              <a:rPr lang="zh-CN" altLang="en-US" sz="2400" dirty="0"/>
              <a:t>送风服务。</a:t>
            </a:r>
            <a:endParaRPr lang="en-US" altLang="zh-CN" sz="2400" dirty="0"/>
          </a:p>
          <a:p>
            <a:pPr marL="857250" lvl="1" indent="-514350">
              <a:buFont typeface="+mj-lt"/>
              <a:buAutoNum type="alphaUcPeriod"/>
            </a:pPr>
            <a:r>
              <a:rPr lang="zh-CN" altLang="en-US" sz="2600" dirty="0"/>
              <a:t>调节风速算作是发起一次新的送风请求，只调温不算新的请求；</a:t>
            </a:r>
            <a:endParaRPr lang="en-US" altLang="zh-CN" sz="2600" dirty="0"/>
          </a:p>
          <a:p>
            <a:pPr marL="685800" lvl="2" indent="0">
              <a:buNone/>
            </a:pPr>
            <a:endParaRPr lang="en-US" altLang="zh-CN" sz="2400" dirty="0"/>
          </a:p>
          <a:p>
            <a:pPr marL="0" indent="0">
              <a:buNone/>
            </a:pPr>
            <a:endParaRPr lang="zh-CN" altLang="en-US" sz="2800" dirty="0"/>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空调服务的理解</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a:t>基于领域模型，可以得知酒店的空调系统由</a:t>
            </a:r>
            <a:r>
              <a:rPr lang="zh-CN" altLang="en-US" b="1" dirty="0">
                <a:solidFill>
                  <a:srgbClr val="C00000"/>
                </a:solidFill>
              </a:rPr>
              <a:t>中央空调</a:t>
            </a:r>
            <a:r>
              <a:rPr lang="zh-CN" altLang="en-US" dirty="0"/>
              <a:t>和</a:t>
            </a:r>
            <a:r>
              <a:rPr lang="zh-CN" altLang="en-US" b="1" dirty="0">
                <a:solidFill>
                  <a:srgbClr val="C00000"/>
                </a:solidFill>
              </a:rPr>
              <a:t>房间的客户端</a:t>
            </a:r>
            <a:r>
              <a:rPr lang="zh-CN" altLang="en-US" dirty="0"/>
              <a:t>组成；</a:t>
            </a:r>
            <a:endParaRPr lang="zh-CN" altLang="en-US" dirty="0"/>
          </a:p>
          <a:p>
            <a:r>
              <a:rPr lang="zh-CN" altLang="en-US" dirty="0"/>
              <a:t>房间的客户端发出请求，中央空调响应请求并提供</a:t>
            </a:r>
            <a:r>
              <a:rPr lang="zh-CN" altLang="en-US" b="1" dirty="0">
                <a:solidFill>
                  <a:srgbClr val="C00000"/>
                </a:solidFill>
              </a:rPr>
              <a:t>空调服务</a:t>
            </a:r>
            <a:r>
              <a:rPr lang="zh-CN" altLang="en-US" dirty="0"/>
              <a:t>和</a:t>
            </a:r>
            <a:r>
              <a:rPr lang="zh-CN" altLang="en-US" b="1" dirty="0">
                <a:solidFill>
                  <a:srgbClr val="C00000"/>
                </a:solidFill>
              </a:rPr>
              <a:t>计费服务</a:t>
            </a:r>
            <a:r>
              <a:rPr lang="zh-CN" altLang="en-US" dirty="0"/>
              <a:t>；</a:t>
            </a:r>
            <a:endParaRPr lang="zh-CN" altLang="en-US" dirty="0"/>
          </a:p>
          <a:p>
            <a:r>
              <a:rPr lang="zh-CN" altLang="en-US" dirty="0"/>
              <a:t>由于假定了空调系统提供的服务限制问题（可以理解为空调的服务能力不够），需要对所有的客房的</a:t>
            </a:r>
            <a:r>
              <a:rPr lang="zh-CN" altLang="en-US" b="1" dirty="0">
                <a:solidFill>
                  <a:srgbClr val="C00000"/>
                </a:solidFill>
              </a:rPr>
              <a:t>温控请求进行调度</a:t>
            </a:r>
            <a:r>
              <a:rPr lang="zh-CN" altLang="en-US" dirty="0"/>
              <a:t>，为此酒店提供空调服务的方式分成两个阶段：</a:t>
            </a:r>
            <a:r>
              <a:rPr lang="zh-CN" altLang="en-US" b="1" dirty="0">
                <a:solidFill>
                  <a:srgbClr val="C00000"/>
                </a:solidFill>
              </a:rPr>
              <a:t>调度对象</a:t>
            </a:r>
            <a:r>
              <a:rPr lang="zh-CN" altLang="en-US" dirty="0"/>
              <a:t>和</a:t>
            </a:r>
            <a:r>
              <a:rPr lang="zh-CN" altLang="en-US" b="1" dirty="0">
                <a:solidFill>
                  <a:srgbClr val="C00000"/>
                </a:solidFill>
              </a:rPr>
              <a:t>服务对象</a:t>
            </a:r>
            <a:r>
              <a:rPr lang="zh-CN" altLang="en-US" dirty="0"/>
              <a:t>；</a:t>
            </a:r>
            <a:endParaRPr lang="zh-CN" altLang="en-US" dirty="0"/>
          </a:p>
          <a:p>
            <a:r>
              <a:rPr lang="zh-CN" altLang="en-US" dirty="0"/>
              <a:t>  </a:t>
            </a:r>
            <a:r>
              <a:rPr lang="zh-CN" altLang="en-US" b="1" u="sng" dirty="0"/>
              <a:t>调度对象的职责</a:t>
            </a:r>
            <a:r>
              <a:rPr lang="zh-CN" altLang="en-US" dirty="0"/>
              <a:t>：</a:t>
            </a:r>
            <a:endParaRPr lang="zh-CN" altLang="en-US" dirty="0"/>
          </a:p>
          <a:p>
            <a:pPr marL="0" indent="0">
              <a:buNone/>
            </a:pPr>
            <a:r>
              <a:rPr lang="zh-CN" altLang="en-US" dirty="0"/>
              <a:t>      </a:t>
            </a:r>
            <a:r>
              <a:rPr lang="en-US" altLang="zh-CN" dirty="0"/>
              <a:t>1</a:t>
            </a:r>
            <a:r>
              <a:rPr lang="zh-CN" altLang="en-US" dirty="0"/>
              <a:t>、接收所有的客房发送过来的请求，判断是否需要调度，然后将请求转发给服务对象；</a:t>
            </a:r>
            <a:endParaRPr lang="zh-CN" altLang="en-US" dirty="0"/>
          </a:p>
          <a:p>
            <a:pPr marL="0" indent="0">
              <a:buNone/>
            </a:pPr>
            <a:r>
              <a:rPr lang="zh-CN" altLang="en-US" dirty="0"/>
              <a:t>      </a:t>
            </a:r>
            <a:r>
              <a:rPr lang="en-US" altLang="zh-CN" dirty="0"/>
              <a:t>2</a:t>
            </a:r>
            <a:r>
              <a:rPr lang="zh-CN" altLang="en-US" dirty="0"/>
              <a:t>、具备获取所有服务对象以及等待队列中请求的状态信息，为此具有提供监视各服务对象的职责；</a:t>
            </a:r>
            <a:endParaRPr lang="zh-CN" altLang="en-US" dirty="0"/>
          </a:p>
          <a:p>
            <a:r>
              <a:rPr lang="zh-CN" altLang="en-US" dirty="0"/>
              <a:t>  </a:t>
            </a:r>
            <a:r>
              <a:rPr lang="zh-CN" altLang="en-US" b="1" u="sng" dirty="0"/>
              <a:t>服务对象的职责</a:t>
            </a:r>
            <a:r>
              <a:rPr lang="zh-CN" altLang="en-US" dirty="0"/>
              <a:t>：</a:t>
            </a:r>
            <a:endParaRPr lang="zh-CN" altLang="en-US" dirty="0"/>
          </a:p>
          <a:p>
            <a:pPr marL="0" indent="0">
              <a:buNone/>
            </a:pPr>
            <a:r>
              <a:rPr lang="zh-CN" altLang="en-US" dirty="0"/>
              <a:t>      </a:t>
            </a:r>
            <a:r>
              <a:rPr lang="en-US" altLang="zh-CN" dirty="0"/>
              <a:t>1</a:t>
            </a:r>
            <a:r>
              <a:rPr lang="zh-CN" altLang="en-US" dirty="0"/>
              <a:t>、处理客房的温控请求，计算</a:t>
            </a:r>
            <a:r>
              <a:rPr lang="zh-CN" altLang="en-US" b="1" dirty="0">
                <a:solidFill>
                  <a:srgbClr val="C00000"/>
                </a:solidFill>
              </a:rPr>
              <a:t>温度变化</a:t>
            </a:r>
            <a:r>
              <a:rPr lang="zh-CN" altLang="en-US" dirty="0"/>
              <a:t>及</a:t>
            </a:r>
            <a:r>
              <a:rPr lang="zh-CN" altLang="en-US" b="1" dirty="0">
                <a:solidFill>
                  <a:srgbClr val="C00000"/>
                </a:solidFill>
              </a:rPr>
              <a:t>费用</a:t>
            </a:r>
            <a:r>
              <a:rPr lang="zh-CN" altLang="en-US" dirty="0"/>
              <a:t>；</a:t>
            </a:r>
            <a:endParaRPr lang="zh-CN" altLang="en-US" dirty="0"/>
          </a:p>
          <a:p>
            <a:pPr marL="0" indent="0">
              <a:buNone/>
            </a:pPr>
            <a:r>
              <a:rPr lang="zh-CN" altLang="en-US" dirty="0"/>
              <a:t>      </a:t>
            </a:r>
            <a:r>
              <a:rPr lang="en-US" altLang="zh-CN" dirty="0"/>
              <a:t>2</a:t>
            </a:r>
            <a:r>
              <a:rPr lang="zh-CN" altLang="en-US" dirty="0"/>
              <a:t>、负责客房</a:t>
            </a:r>
            <a:r>
              <a:rPr lang="zh-CN" altLang="en-US" b="1" dirty="0">
                <a:solidFill>
                  <a:srgbClr val="C00000"/>
                </a:solidFill>
              </a:rPr>
              <a:t>详单</a:t>
            </a:r>
            <a:r>
              <a:rPr lang="zh-CN" altLang="en-US" dirty="0"/>
              <a:t>和</a:t>
            </a:r>
            <a:r>
              <a:rPr lang="zh-CN" altLang="en-US" b="1" dirty="0">
                <a:solidFill>
                  <a:srgbClr val="C00000"/>
                </a:solidFill>
              </a:rPr>
              <a:t>账单</a:t>
            </a:r>
            <a:r>
              <a:rPr lang="zh-CN" altLang="en-US" dirty="0"/>
              <a:t>的生成；</a:t>
            </a:r>
            <a:endParaRPr lang="zh-CN" altLang="en-US" dirty="0"/>
          </a:p>
          <a:p>
            <a:pPr marL="0" indent="0">
              <a:buNone/>
            </a:pPr>
            <a:r>
              <a:rPr lang="zh-CN" altLang="en-US" dirty="0"/>
              <a:t>      </a:t>
            </a:r>
            <a:r>
              <a:rPr lang="en-US" altLang="zh-CN" dirty="0"/>
              <a:t>3</a:t>
            </a:r>
            <a:r>
              <a:rPr lang="zh-CN" altLang="en-US" dirty="0"/>
              <a:t>、负责生成</a:t>
            </a:r>
            <a:r>
              <a:rPr lang="zh-CN" altLang="en-US" b="1" dirty="0">
                <a:solidFill>
                  <a:srgbClr val="C00000"/>
                </a:solidFill>
              </a:rPr>
              <a:t>统计报表</a:t>
            </a:r>
            <a:r>
              <a:rPr lang="zh-CN" altLang="en-US" dirty="0"/>
              <a:t>；（这个职责也可以考虑第三个对象：统计对象）</a:t>
            </a:r>
            <a:endParaRPr lang="zh-CN" altLang="en-US" dirty="0"/>
          </a:p>
          <a:p>
            <a:endParaRPr lang="zh-CN" altLang="en-US" dirty="0"/>
          </a:p>
          <a:p>
            <a:r>
              <a:rPr lang="zh-CN" altLang="en-US" dirty="0"/>
              <a:t>系统的角色是请求发起方；服务方就需要有专门的响应请求方的服务对象（可以是一个服务对象也可以是多个服务对象）；</a:t>
            </a:r>
            <a:endParaRPr lang="zh-CN" altLang="en-US" dirty="0"/>
          </a:p>
          <a:p>
            <a:r>
              <a:rPr lang="zh-CN" altLang="en-US" dirty="0"/>
              <a:t>操作契约就是约定服务对象有哪个或有哪些必须响应请求以及相应请求后的状态（哪些属性值被修改或者文件被创建保存）；</a:t>
            </a:r>
            <a:endParaRPr lang="zh-CN" altLang="en-US" dirty="0"/>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调度策略</a:t>
            </a:r>
            <a:endParaRPr lang="zh-CN" altLang="en-US" dirty="0"/>
          </a:p>
        </p:txBody>
      </p:sp>
      <p:sp>
        <p:nvSpPr>
          <p:cNvPr id="3" name="内容占位符 2"/>
          <p:cNvSpPr>
            <a:spLocks noGrp="1"/>
          </p:cNvSpPr>
          <p:nvPr>
            <p:ph idx="1"/>
          </p:nvPr>
        </p:nvSpPr>
        <p:spPr/>
        <p:txBody>
          <a:bodyPr>
            <a:normAutofit/>
          </a:bodyPr>
          <a:lstStyle/>
          <a:p>
            <a:r>
              <a:rPr lang="zh-CN" altLang="en-US" b="1" dirty="0">
                <a:solidFill>
                  <a:srgbClr val="C00000"/>
                </a:solidFill>
              </a:rPr>
              <a:t>调度对象</a:t>
            </a:r>
            <a:r>
              <a:rPr lang="zh-CN" altLang="en-US" dirty="0"/>
              <a:t>负责接收空调客户端的请求，然后转发给</a:t>
            </a:r>
            <a:r>
              <a:rPr lang="zh-CN" altLang="en-US" b="1" dirty="0">
                <a:solidFill>
                  <a:srgbClr val="C00000"/>
                </a:solidFill>
              </a:rPr>
              <a:t>服务对象</a:t>
            </a:r>
            <a:r>
              <a:rPr lang="zh-CN" altLang="en-US" dirty="0"/>
              <a:t>进行温度计算和计费；</a:t>
            </a:r>
            <a:endParaRPr lang="zh-CN" altLang="en-US" dirty="0"/>
          </a:p>
          <a:p>
            <a:r>
              <a:rPr lang="zh-CN" altLang="en-US" dirty="0"/>
              <a:t>调度对象（可以认为是控制器对象）在系统服务器启动时进行</a:t>
            </a:r>
            <a:r>
              <a:rPr lang="zh-CN" altLang="en-US" b="1" dirty="0"/>
              <a:t>实例化</a:t>
            </a:r>
            <a:r>
              <a:rPr lang="zh-CN" altLang="en-US" dirty="0"/>
              <a:t>和</a:t>
            </a:r>
            <a:r>
              <a:rPr lang="zh-CN" altLang="en-US" b="1" dirty="0"/>
              <a:t>初始化</a:t>
            </a:r>
            <a:r>
              <a:rPr lang="zh-CN" altLang="en-US" dirty="0"/>
              <a:t>，需要创建两个队列：</a:t>
            </a:r>
            <a:endParaRPr lang="zh-CN" altLang="en-US" dirty="0"/>
          </a:p>
          <a:p>
            <a:pPr marL="0" indent="0">
              <a:buNone/>
            </a:pPr>
            <a:r>
              <a:rPr lang="zh-CN" altLang="en-US" dirty="0"/>
              <a:t>   </a:t>
            </a:r>
            <a:r>
              <a:rPr lang="en-US" altLang="zh-CN" dirty="0"/>
              <a:t>1</a:t>
            </a:r>
            <a:r>
              <a:rPr lang="zh-CN" altLang="en-US" dirty="0"/>
              <a:t>、</a:t>
            </a:r>
            <a:r>
              <a:rPr lang="zh-CN" altLang="en-US" b="1" u="sng" dirty="0"/>
              <a:t>服务队列</a:t>
            </a:r>
            <a:r>
              <a:rPr lang="zh-CN" altLang="en-US" dirty="0"/>
              <a:t>：记录房间号和服务对象的</a:t>
            </a:r>
            <a:r>
              <a:rPr lang="en-US" altLang="zh-CN" dirty="0"/>
              <a:t>ID</a:t>
            </a:r>
            <a:r>
              <a:rPr lang="zh-CN" altLang="en-US" dirty="0"/>
              <a:t>，风速以及服务时长；</a:t>
            </a:r>
            <a:endParaRPr lang="zh-CN" altLang="en-US" dirty="0"/>
          </a:p>
          <a:p>
            <a:pPr marL="0" indent="0">
              <a:buNone/>
            </a:pPr>
            <a:r>
              <a:rPr lang="zh-CN" altLang="en-US" dirty="0"/>
              <a:t>   </a:t>
            </a:r>
            <a:r>
              <a:rPr lang="en-US" altLang="zh-CN" dirty="0"/>
              <a:t>2</a:t>
            </a:r>
            <a:r>
              <a:rPr lang="zh-CN" altLang="en-US" dirty="0"/>
              <a:t>、</a:t>
            </a:r>
            <a:r>
              <a:rPr lang="zh-CN" altLang="en-US" b="1" u="sng" dirty="0"/>
              <a:t>等待队列</a:t>
            </a:r>
            <a:r>
              <a:rPr lang="zh-CN" altLang="en-US" dirty="0"/>
              <a:t>：记录房间号、风速和分配的等待服务时长。</a:t>
            </a:r>
            <a:endParaRPr lang="zh-CN" altLang="en-US" dirty="0"/>
          </a:p>
          <a:p>
            <a:endParaRPr lang="zh-CN" altLang="en-US" dirty="0"/>
          </a:p>
          <a:p>
            <a:r>
              <a:rPr lang="zh-CN" altLang="en-US" dirty="0"/>
              <a:t>基本的调度策略为：</a:t>
            </a:r>
            <a:r>
              <a:rPr lang="zh-CN" altLang="en-US" b="1" u="sng" dirty="0">
                <a:solidFill>
                  <a:srgbClr val="C00000"/>
                </a:solidFill>
              </a:rPr>
              <a:t>优先级调度</a:t>
            </a:r>
            <a:r>
              <a:rPr lang="en-US" altLang="zh-CN" b="1" u="sng" dirty="0">
                <a:solidFill>
                  <a:srgbClr val="C00000"/>
                </a:solidFill>
              </a:rPr>
              <a:t>+</a:t>
            </a:r>
            <a:r>
              <a:rPr lang="zh-CN" altLang="en-US" b="1" u="sng" dirty="0">
                <a:solidFill>
                  <a:srgbClr val="C00000"/>
                </a:solidFill>
              </a:rPr>
              <a:t>时间片调度</a:t>
            </a:r>
            <a:r>
              <a:rPr lang="zh-CN" altLang="en-US" dirty="0"/>
              <a:t>。</a:t>
            </a:r>
            <a:endParaRPr lang="zh-CN" altLang="en-US" dirty="0"/>
          </a:p>
          <a:p>
            <a:r>
              <a:rPr lang="zh-CN" altLang="en-US" dirty="0"/>
              <a:t>优先级调度的依据是</a:t>
            </a:r>
            <a:r>
              <a:rPr lang="zh-CN" altLang="en-US" dirty="0">
                <a:solidFill>
                  <a:srgbClr val="C00000"/>
                </a:solidFill>
              </a:rPr>
              <a:t>请求的风速</a:t>
            </a:r>
            <a:r>
              <a:rPr lang="zh-CN" altLang="en-US" dirty="0"/>
              <a:t>，为此调度时首先考虑优先级策略；当所有请求的风速相同时，再进行</a:t>
            </a:r>
            <a:r>
              <a:rPr lang="zh-CN" altLang="en-US" dirty="0">
                <a:solidFill>
                  <a:srgbClr val="C00000"/>
                </a:solidFill>
              </a:rPr>
              <a:t>时间片调度</a:t>
            </a:r>
            <a:r>
              <a:rPr lang="zh-CN" altLang="en-US" dirty="0"/>
              <a:t>；</a:t>
            </a:r>
            <a:endParaRPr lang="zh-CN" altLang="en-US" dirty="0"/>
          </a:p>
          <a:p>
            <a:pPr marL="0" indent="0">
              <a:buNone/>
            </a:pPr>
            <a:endParaRPr lang="zh-CN" altLang="en-US" dirty="0"/>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调度策略</a:t>
            </a:r>
            <a:endParaRPr lang="zh-CN" altLang="en-US" dirty="0"/>
          </a:p>
        </p:txBody>
      </p:sp>
      <p:sp>
        <p:nvSpPr>
          <p:cNvPr id="3" name="内容占位符 2"/>
          <p:cNvSpPr>
            <a:spLocks noGrp="1"/>
          </p:cNvSpPr>
          <p:nvPr>
            <p:ph idx="1"/>
          </p:nvPr>
        </p:nvSpPr>
        <p:spPr>
          <a:xfrm>
            <a:off x="86360" y="211455"/>
            <a:ext cx="12068810" cy="6144895"/>
          </a:xfrm>
        </p:spPr>
        <p:txBody>
          <a:bodyPr>
            <a:noAutofit/>
          </a:bodyPr>
          <a:lstStyle/>
          <a:p>
            <a:pPr marL="0" indent="0">
              <a:buNone/>
            </a:pPr>
            <a:r>
              <a:rPr lang="en-US" altLang="zh-CN" sz="1400" dirty="0"/>
              <a:t>1</a:t>
            </a:r>
            <a:r>
              <a:rPr lang="zh-CN" altLang="en-US" sz="1400" dirty="0"/>
              <a:t>、当</a:t>
            </a:r>
            <a:r>
              <a:rPr lang="zh-CN" altLang="en-US" sz="1400" dirty="0">
                <a:solidFill>
                  <a:srgbClr val="C00000"/>
                </a:solidFill>
              </a:rPr>
              <a:t>服务对象数</a:t>
            </a:r>
            <a:r>
              <a:rPr lang="zh-CN" altLang="en-US" sz="1400" dirty="0"/>
              <a:t>小于</a:t>
            </a:r>
            <a:r>
              <a:rPr lang="zh-CN" altLang="en-US" sz="1400" dirty="0">
                <a:solidFill>
                  <a:srgbClr val="C00000"/>
                </a:solidFill>
              </a:rPr>
              <a:t>服务对象上限</a:t>
            </a:r>
            <a:r>
              <a:rPr lang="zh-CN" altLang="en-US" sz="1400" dirty="0"/>
              <a:t>时，所有请求会被分配</a:t>
            </a:r>
            <a:r>
              <a:rPr lang="en-US" altLang="zh-CN" sz="1400" dirty="0"/>
              <a:t>1</a:t>
            </a:r>
            <a:r>
              <a:rPr lang="zh-CN" altLang="en-US" sz="1400" dirty="0"/>
              <a:t>个服务对象；</a:t>
            </a:r>
            <a:endParaRPr lang="zh-CN" altLang="en-US" sz="1400" dirty="0"/>
          </a:p>
          <a:p>
            <a:pPr marL="0" indent="0">
              <a:buNone/>
            </a:pPr>
            <a:r>
              <a:rPr lang="en-US" altLang="zh-CN" sz="1400" dirty="0"/>
              <a:t>2</a:t>
            </a:r>
            <a:r>
              <a:rPr lang="zh-CN" altLang="en-US" sz="1400" dirty="0"/>
              <a:t>、当服务对象数大于等于服务对象上限时，启动</a:t>
            </a:r>
            <a:r>
              <a:rPr lang="zh-CN" altLang="en-US" sz="1400" dirty="0">
                <a:solidFill>
                  <a:srgbClr val="C00000"/>
                </a:solidFill>
              </a:rPr>
              <a:t>调度策略</a:t>
            </a:r>
            <a:r>
              <a:rPr lang="zh-CN" altLang="en-US" sz="1400" dirty="0"/>
              <a:t>：</a:t>
            </a:r>
            <a:endParaRPr lang="zh-CN" altLang="en-US" sz="1400" dirty="0"/>
          </a:p>
          <a:p>
            <a:pPr marL="0" indent="0">
              <a:buNone/>
            </a:pPr>
            <a:r>
              <a:rPr lang="zh-CN" altLang="en-US" sz="1400" dirty="0"/>
              <a:t>  首先判断是否符合优先级策略：</a:t>
            </a:r>
            <a:r>
              <a:rPr lang="zh-CN" altLang="en-US" sz="1400" u="sng" dirty="0">
                <a:solidFill>
                  <a:srgbClr val="C00000"/>
                </a:solidFill>
              </a:rPr>
              <a:t>请求服务的风速和服务对象的风速的大小</a:t>
            </a:r>
            <a:r>
              <a:rPr lang="zh-CN" altLang="en-US" sz="1400" dirty="0"/>
              <a:t>：</a:t>
            </a:r>
            <a:endParaRPr lang="zh-CN" altLang="en-US" sz="1400" dirty="0"/>
          </a:p>
          <a:p>
            <a:pPr marL="0" indent="0">
              <a:buNone/>
            </a:pPr>
            <a:r>
              <a:rPr lang="zh-CN" altLang="en-US" sz="1400" dirty="0"/>
              <a:t>    </a:t>
            </a:r>
            <a:r>
              <a:rPr lang="en-US" altLang="zh-CN" sz="1400" dirty="0"/>
              <a:t>2.1</a:t>
            </a:r>
            <a:r>
              <a:rPr lang="zh-CN" altLang="en-US" sz="1400" dirty="0"/>
              <a:t>、如果 判断 为 大于，则启动优先级调度策略，再判断有几个服务对象的风速低于请求风速：</a:t>
            </a:r>
            <a:endParaRPr lang="zh-CN" altLang="en-US" sz="1400" dirty="0"/>
          </a:p>
          <a:p>
            <a:pPr marL="0" indent="0">
              <a:buNone/>
            </a:pPr>
            <a:r>
              <a:rPr lang="zh-CN" altLang="en-US" sz="1400" dirty="0"/>
              <a:t>      </a:t>
            </a:r>
            <a:r>
              <a:rPr lang="en-US" altLang="zh-CN" sz="1400" dirty="0"/>
              <a:t>2.1.1 </a:t>
            </a:r>
            <a:r>
              <a:rPr lang="zh-CN" altLang="en-US" sz="1400" i="1" u="sng" dirty="0"/>
              <a:t>如果只有</a:t>
            </a:r>
            <a:r>
              <a:rPr lang="en-US" altLang="zh-CN" sz="1400" i="1" u="sng" dirty="0"/>
              <a:t>1</a:t>
            </a:r>
            <a:r>
              <a:rPr lang="zh-CN" altLang="en-US" sz="1400" i="1" u="sng" dirty="0"/>
              <a:t>个</a:t>
            </a:r>
            <a:r>
              <a:rPr lang="zh-CN" altLang="en-US" sz="1400" dirty="0"/>
              <a:t>，则该房间被放置于等待队列，并被分配等待服务时长</a:t>
            </a:r>
            <a:r>
              <a:rPr lang="en-US" altLang="zh-CN" sz="1400" b="1" dirty="0">
                <a:solidFill>
                  <a:srgbClr val="FF0000"/>
                </a:solidFill>
              </a:rPr>
              <a:t>s</a:t>
            </a:r>
            <a:r>
              <a:rPr lang="zh-CN" altLang="en-US" sz="1400" b="1" dirty="0">
                <a:solidFill>
                  <a:srgbClr val="FF0000"/>
                </a:solidFill>
              </a:rPr>
              <a:t>秒</a:t>
            </a:r>
            <a:r>
              <a:rPr lang="zh-CN" altLang="en-US" sz="1400" dirty="0"/>
              <a:t>；服务对象被释放并被分配给新的请求对象；</a:t>
            </a:r>
            <a:endParaRPr lang="zh-CN" altLang="en-US" sz="1400" dirty="0"/>
          </a:p>
          <a:p>
            <a:pPr marL="0" indent="0">
              <a:buNone/>
            </a:pPr>
            <a:r>
              <a:rPr lang="zh-CN" altLang="en-US" sz="1400" dirty="0"/>
              <a:t>      </a:t>
            </a:r>
            <a:r>
              <a:rPr lang="en-US" altLang="zh-CN" sz="1400" dirty="0"/>
              <a:t>2.1.2 </a:t>
            </a:r>
            <a:r>
              <a:rPr lang="zh-CN" altLang="en-US" sz="1400" i="1" u="sng" dirty="0"/>
              <a:t>如果有多个服务对象的风速相等且低于请求对象</a:t>
            </a:r>
            <a:r>
              <a:rPr lang="zh-CN" altLang="en-US" sz="1400" dirty="0"/>
              <a:t>，则服务时长最大的服务对象被释放并分配给新的请求对象，该房间被放置于等待队列，且分配等待服务时长</a:t>
            </a:r>
            <a:r>
              <a:rPr lang="en-US" altLang="zh-CN" sz="1400" b="1" dirty="0">
                <a:solidFill>
                  <a:srgbClr val="FF0000"/>
                </a:solidFill>
              </a:rPr>
              <a:t>s</a:t>
            </a:r>
            <a:r>
              <a:rPr lang="zh-CN" altLang="en-US" sz="1400" b="1" dirty="0">
                <a:solidFill>
                  <a:srgbClr val="FF0000"/>
                </a:solidFill>
              </a:rPr>
              <a:t>秒</a:t>
            </a:r>
            <a:r>
              <a:rPr lang="zh-CN" altLang="en-US" sz="1400" dirty="0"/>
              <a:t>；</a:t>
            </a:r>
            <a:endParaRPr lang="zh-CN" altLang="en-US" sz="1400" dirty="0"/>
          </a:p>
          <a:p>
            <a:pPr marL="0" indent="0">
              <a:buNone/>
            </a:pPr>
            <a:r>
              <a:rPr lang="zh-CN" altLang="en-US" sz="1400" dirty="0"/>
              <a:t>      </a:t>
            </a:r>
            <a:r>
              <a:rPr lang="en-US" altLang="zh-CN" sz="1400" dirty="0"/>
              <a:t>2.1.3 </a:t>
            </a:r>
            <a:r>
              <a:rPr lang="zh-CN" altLang="en-US" sz="1400" i="1" u="sng" dirty="0"/>
              <a:t>如果多个服务对象的风速低于请求风速，且风速不相等</a:t>
            </a:r>
            <a:r>
              <a:rPr lang="zh-CN" altLang="en-US" sz="1400" dirty="0"/>
              <a:t>，则将风速最低的服务对象释放，该房间被放置于等待队列，分配等待服务时长</a:t>
            </a:r>
            <a:r>
              <a:rPr lang="en-US" altLang="zh-CN" sz="1400" b="1" dirty="0">
                <a:solidFill>
                  <a:srgbClr val="FF0000"/>
                </a:solidFill>
              </a:rPr>
              <a:t>s</a:t>
            </a:r>
            <a:r>
              <a:rPr lang="zh-CN" altLang="en-US" sz="1400" b="1" dirty="0">
                <a:solidFill>
                  <a:srgbClr val="FF0000"/>
                </a:solidFill>
              </a:rPr>
              <a:t>秒</a:t>
            </a:r>
            <a:r>
              <a:rPr lang="zh-CN" altLang="en-US" sz="1400" dirty="0"/>
              <a:t>；</a:t>
            </a:r>
            <a:endParaRPr lang="zh-CN" altLang="en-US" sz="1400" dirty="0"/>
          </a:p>
          <a:p>
            <a:pPr marL="0" indent="0">
              <a:buNone/>
            </a:pPr>
            <a:r>
              <a:rPr lang="zh-CN" altLang="en-US" sz="1400" dirty="0"/>
              <a:t>    </a:t>
            </a:r>
            <a:r>
              <a:rPr lang="en-US" altLang="zh-CN" sz="1400" dirty="0"/>
              <a:t>2.2 </a:t>
            </a:r>
            <a:r>
              <a:rPr lang="zh-CN" altLang="en-US" sz="1400" dirty="0"/>
              <a:t>如果 判断 为</a:t>
            </a:r>
            <a:r>
              <a:rPr lang="en-US" altLang="zh-CN" sz="1400" dirty="0"/>
              <a:t> </a:t>
            </a:r>
            <a:r>
              <a:rPr lang="zh-CN" altLang="en-US" sz="1400" dirty="0"/>
              <a:t>相等，则启动时间片调度策略</a:t>
            </a:r>
            <a:endParaRPr lang="zh-CN" altLang="en-US" sz="1400" dirty="0"/>
          </a:p>
          <a:p>
            <a:pPr marL="0" indent="0">
              <a:buNone/>
            </a:pPr>
            <a:r>
              <a:rPr lang="zh-CN" altLang="en-US" sz="1400" dirty="0"/>
              <a:t>       </a:t>
            </a:r>
            <a:r>
              <a:rPr lang="en-US" altLang="zh-CN" sz="1400" dirty="0"/>
              <a:t>2.2.1 </a:t>
            </a:r>
            <a:r>
              <a:rPr lang="zh-CN" altLang="en-US" sz="1400" dirty="0"/>
              <a:t>将请求对象放置于等待队列，并分配等待服务时长</a:t>
            </a:r>
            <a:r>
              <a:rPr lang="en-US" altLang="zh-CN" sz="1400" b="1" dirty="0">
                <a:solidFill>
                  <a:srgbClr val="FF0000"/>
                </a:solidFill>
              </a:rPr>
              <a:t>s</a:t>
            </a:r>
            <a:r>
              <a:rPr lang="zh-CN" altLang="en-US" sz="1400" b="1" dirty="0">
                <a:solidFill>
                  <a:srgbClr val="FF0000"/>
                </a:solidFill>
              </a:rPr>
              <a:t>秒</a:t>
            </a:r>
            <a:r>
              <a:rPr lang="zh-CN" altLang="en-US" sz="1400" dirty="0"/>
              <a:t>，并倒计时；</a:t>
            </a:r>
            <a:endParaRPr lang="zh-CN" altLang="en-US" sz="1400" dirty="0"/>
          </a:p>
          <a:p>
            <a:pPr marL="0" indent="0">
              <a:buNone/>
            </a:pPr>
            <a:r>
              <a:rPr lang="zh-CN" altLang="en-US" sz="1400" dirty="0"/>
              <a:t>       </a:t>
            </a:r>
            <a:r>
              <a:rPr lang="en-US" altLang="zh-CN" sz="1400" dirty="0"/>
              <a:t>2.2.2 </a:t>
            </a:r>
            <a:r>
              <a:rPr lang="zh-CN" altLang="en-US" sz="1400" dirty="0"/>
              <a:t>在这</a:t>
            </a:r>
            <a:r>
              <a:rPr lang="en-US" altLang="zh-CN" sz="1400" b="1" dirty="0">
                <a:solidFill>
                  <a:srgbClr val="C00000"/>
                </a:solidFill>
              </a:rPr>
              <a:t>s</a:t>
            </a:r>
            <a:r>
              <a:rPr lang="zh-CN" altLang="en-US" sz="1400" b="1" dirty="0">
                <a:solidFill>
                  <a:srgbClr val="C00000"/>
                </a:solidFill>
              </a:rPr>
              <a:t>秒</a:t>
            </a:r>
            <a:r>
              <a:rPr lang="zh-CN" altLang="en-US" sz="1400" dirty="0"/>
              <a:t>期间内，如果没有任何服务状态的变化，当等待服务时长减小到</a:t>
            </a:r>
            <a:r>
              <a:rPr lang="en-US" altLang="zh-CN" sz="1400" dirty="0"/>
              <a:t>0</a:t>
            </a:r>
            <a:r>
              <a:rPr lang="zh-CN" altLang="en-US" sz="1400" dirty="0"/>
              <a:t>时</a:t>
            </a:r>
            <a:endParaRPr lang="zh-CN" altLang="en-US" sz="1400" dirty="0"/>
          </a:p>
          <a:p>
            <a:pPr marL="0" indent="0">
              <a:buNone/>
            </a:pPr>
            <a:r>
              <a:rPr lang="zh-CN" altLang="en-US" sz="1400" dirty="0"/>
              <a:t>          将服务队列中服务时长最大的服务对象释放，该房间被放置于等待队列，且被分配等待服务时长</a:t>
            </a:r>
            <a:r>
              <a:rPr lang="en-US" altLang="zh-CN" sz="1400" b="1" dirty="0">
                <a:solidFill>
                  <a:srgbClr val="FF0000"/>
                </a:solidFill>
              </a:rPr>
              <a:t>s</a:t>
            </a:r>
            <a:r>
              <a:rPr lang="zh-CN" altLang="en-US" sz="1400" b="1" dirty="0">
                <a:solidFill>
                  <a:srgbClr val="FF0000"/>
                </a:solidFill>
              </a:rPr>
              <a:t>秒</a:t>
            </a:r>
            <a:r>
              <a:rPr lang="zh-CN" altLang="en-US" sz="1400" dirty="0"/>
              <a:t>；</a:t>
            </a:r>
            <a:endParaRPr lang="zh-CN" altLang="en-US" sz="1400" dirty="0"/>
          </a:p>
          <a:p>
            <a:pPr marL="0" indent="0">
              <a:buNone/>
            </a:pPr>
            <a:r>
              <a:rPr lang="zh-CN" altLang="en-US" sz="1400" dirty="0"/>
              <a:t>          等待服务对象被分配一个服务对象开始服务；</a:t>
            </a:r>
            <a:endParaRPr lang="zh-CN" altLang="en-US" sz="1400" dirty="0"/>
          </a:p>
          <a:p>
            <a:pPr marL="0" indent="0">
              <a:buNone/>
            </a:pPr>
            <a:r>
              <a:rPr lang="zh-CN" altLang="en-US" sz="1400" dirty="0"/>
              <a:t>       </a:t>
            </a:r>
            <a:r>
              <a:rPr lang="en-US" altLang="zh-CN" sz="1400" dirty="0"/>
              <a:t>2.2.3 </a:t>
            </a:r>
            <a:r>
              <a:rPr lang="zh-CN" altLang="en-US" sz="1400" dirty="0"/>
              <a:t>在这等待的</a:t>
            </a:r>
            <a:r>
              <a:rPr lang="en-US" altLang="zh-CN" sz="1400" dirty="0"/>
              <a:t>s</a:t>
            </a:r>
            <a:r>
              <a:rPr lang="zh-CN" altLang="en-US" sz="1400" dirty="0"/>
              <a:t>秒内，如果有任何</a:t>
            </a:r>
            <a:r>
              <a:rPr lang="en-US" altLang="zh-CN" sz="1400" dirty="0"/>
              <a:t>1</a:t>
            </a:r>
            <a:r>
              <a:rPr lang="zh-CN" altLang="en-US" sz="1400" dirty="0"/>
              <a:t>个服务对象的目标温度到达或关机（意味着服务对象释放）</a:t>
            </a:r>
            <a:endParaRPr lang="zh-CN" altLang="en-US" sz="1400" dirty="0"/>
          </a:p>
          <a:p>
            <a:pPr marL="0" indent="0">
              <a:buNone/>
            </a:pPr>
            <a:r>
              <a:rPr lang="zh-CN" altLang="en-US" sz="1400" dirty="0"/>
              <a:t>          则等待队列中的等待服务时长最久的对象获得服务对象；</a:t>
            </a:r>
            <a:endParaRPr lang="en-US" altLang="zh-CN" sz="1400" dirty="0"/>
          </a:p>
          <a:p>
            <a:pPr marL="0" indent="0">
              <a:buNone/>
            </a:pPr>
            <a:r>
              <a:rPr lang="en-US" altLang="zh-CN" sz="1400" dirty="0"/>
              <a:t>       2.2.4 </a:t>
            </a:r>
            <a:r>
              <a:rPr lang="zh-CN" altLang="en-US" sz="1400" dirty="0"/>
              <a:t>如果在等待期内，有更高风速的请求到达，导致直到</a:t>
            </a:r>
            <a:r>
              <a:rPr lang="en-US" altLang="zh-CN" sz="1400" dirty="0"/>
              <a:t>s</a:t>
            </a:r>
            <a:r>
              <a:rPr lang="zh-CN" altLang="en-US" sz="1400" dirty="0"/>
              <a:t>秒结束仍然没有被调度，则继续等待，但其优先级比同风速的请求中未等待满</a:t>
            </a:r>
            <a:r>
              <a:rPr lang="en-US" altLang="zh-CN" sz="1400" dirty="0"/>
              <a:t>s</a:t>
            </a:r>
            <a:r>
              <a:rPr lang="zh-CN" altLang="en-US" sz="1400" dirty="0"/>
              <a:t>秒的高</a:t>
            </a:r>
            <a:endParaRPr lang="zh-CN" altLang="en-US" sz="1400" dirty="0"/>
          </a:p>
          <a:p>
            <a:pPr marL="0" indent="0">
              <a:buNone/>
            </a:pPr>
            <a:r>
              <a:rPr lang="zh-CN" altLang="en-US" sz="1400" dirty="0"/>
              <a:t>   </a:t>
            </a:r>
            <a:r>
              <a:rPr lang="en-US" altLang="zh-CN" sz="1400" dirty="0"/>
              <a:t>2.3 </a:t>
            </a:r>
            <a:r>
              <a:rPr lang="zh-CN" altLang="en-US" sz="1400" dirty="0"/>
              <a:t>如果 判断 为</a:t>
            </a:r>
            <a:r>
              <a:rPr lang="en-US" altLang="zh-CN" sz="1400" dirty="0"/>
              <a:t> </a:t>
            </a:r>
            <a:r>
              <a:rPr lang="zh-CN" altLang="en-US" sz="1400" dirty="0"/>
              <a:t>小于，则 分配等待时长</a:t>
            </a:r>
            <a:r>
              <a:rPr lang="en-US" altLang="zh-CN" sz="1400" b="1" dirty="0">
                <a:solidFill>
                  <a:srgbClr val="FF0000"/>
                </a:solidFill>
              </a:rPr>
              <a:t>s</a:t>
            </a:r>
            <a:r>
              <a:rPr lang="zh-CN" altLang="en-US" sz="1400" b="1" dirty="0">
                <a:solidFill>
                  <a:srgbClr val="FF0000"/>
                </a:solidFill>
              </a:rPr>
              <a:t>秒，</a:t>
            </a:r>
            <a:r>
              <a:rPr lang="zh-CN" altLang="en-US" sz="1400" dirty="0"/>
              <a:t>且必须等到某个服务对象空闲后，并经过优先级比较后才能得到服务。</a:t>
            </a:r>
            <a:endParaRPr lang="zh-CN" altLang="en-US" sz="1400" dirty="0"/>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第</a:t>
            </a:r>
            <a:r>
              <a:rPr lang="en-US" altLang="zh-CN" dirty="0"/>
              <a:t>1</a:t>
            </a:r>
            <a:r>
              <a:rPr lang="zh-CN" altLang="en-US" dirty="0"/>
              <a:t>次作业要求</a:t>
            </a:r>
            <a:endParaRPr lang="zh-CN" altLang="en-US" dirty="0"/>
          </a:p>
        </p:txBody>
      </p:sp>
      <p:sp>
        <p:nvSpPr>
          <p:cNvPr id="3" name="内容占位符 2"/>
          <p:cNvSpPr>
            <a:spLocks noGrp="1"/>
          </p:cNvSpPr>
          <p:nvPr>
            <p:ph idx="1"/>
          </p:nvPr>
        </p:nvSpPr>
        <p:spPr>
          <a:xfrm>
            <a:off x="407670" y="353060"/>
            <a:ext cx="11574780" cy="6085840"/>
          </a:xfrm>
        </p:spPr>
        <p:txBody>
          <a:bodyPr>
            <a:noAutofit/>
          </a:bodyPr>
          <a:lstStyle/>
          <a:p>
            <a:pPr marL="342900" lvl="1" indent="0">
              <a:buNone/>
            </a:pPr>
            <a:r>
              <a:rPr lang="zh-CN" altLang="en-US" sz="1600" dirty="0">
                <a:sym typeface="+mn-ea"/>
              </a:rPr>
              <a:t>一、领域模型（占本次作业的</a:t>
            </a:r>
            <a:r>
              <a:rPr lang="en-US" altLang="zh-CN" sz="1600" dirty="0">
                <a:sym typeface="+mn-ea"/>
              </a:rPr>
              <a:t>30%</a:t>
            </a:r>
            <a:r>
              <a:rPr lang="zh-CN" altLang="en-US" sz="1600" dirty="0">
                <a:sym typeface="+mn-ea"/>
              </a:rPr>
              <a:t>）</a:t>
            </a:r>
            <a:endParaRPr lang="en-US" altLang="zh-CN" sz="1600" dirty="0"/>
          </a:p>
          <a:p>
            <a:pPr lvl="2"/>
            <a:r>
              <a:rPr lang="zh-CN" altLang="en-US" sz="1600" dirty="0">
                <a:sym typeface="+mn-ea"/>
              </a:rPr>
              <a:t>任务</a:t>
            </a:r>
            <a:r>
              <a:rPr lang="en-US" altLang="zh-CN" sz="1600" dirty="0">
                <a:sym typeface="+mn-ea"/>
              </a:rPr>
              <a:t>1</a:t>
            </a:r>
            <a:r>
              <a:rPr lang="zh-CN" altLang="en-US" sz="1600" dirty="0">
                <a:sym typeface="+mn-ea"/>
              </a:rPr>
              <a:t>：根据业务背景及业务流程的调研结果（不计分作业的内容）给出当前系统（廉价酒店）的核心业务介绍（按照模板要求书写），</a:t>
            </a:r>
            <a:r>
              <a:rPr lang="en-US" altLang="zh-CN" sz="1600" dirty="0">
                <a:sym typeface="+mn-ea"/>
              </a:rPr>
              <a:t>5%</a:t>
            </a:r>
            <a:r>
              <a:rPr lang="zh-CN" altLang="en-US" sz="1600" dirty="0">
                <a:sym typeface="+mn-ea"/>
              </a:rPr>
              <a:t>；</a:t>
            </a:r>
            <a:endParaRPr lang="en-US" altLang="zh-CN" sz="1600" dirty="0"/>
          </a:p>
          <a:p>
            <a:pPr lvl="2"/>
            <a:r>
              <a:rPr lang="zh-CN" altLang="en-US" sz="1600" dirty="0">
                <a:sym typeface="+mn-ea"/>
              </a:rPr>
              <a:t>任务</a:t>
            </a:r>
            <a:r>
              <a:rPr lang="en-US" altLang="zh-CN" sz="1600" dirty="0">
                <a:sym typeface="+mn-ea"/>
              </a:rPr>
              <a:t>2</a:t>
            </a:r>
            <a:r>
              <a:rPr lang="zh-CN" altLang="en-US" sz="1600" dirty="0">
                <a:sym typeface="+mn-ea"/>
              </a:rPr>
              <a:t>：基于上述内容使用</a:t>
            </a:r>
            <a:r>
              <a:rPr lang="en-US" altLang="zh-CN" sz="1600" dirty="0">
                <a:sym typeface="+mn-ea"/>
              </a:rPr>
              <a:t>UML </a:t>
            </a:r>
            <a:r>
              <a:rPr lang="zh-CN" altLang="en-US" sz="1600" dirty="0">
                <a:sym typeface="+mn-ea"/>
              </a:rPr>
              <a:t>活动图，给出当前系统的客户使用空调服务的业务流程：从申请服务开始，到结束一次空调服务，</a:t>
            </a:r>
            <a:r>
              <a:rPr lang="en-US" altLang="zh-CN" sz="1600" dirty="0">
                <a:sym typeface="+mn-ea"/>
              </a:rPr>
              <a:t>10%</a:t>
            </a:r>
            <a:r>
              <a:rPr lang="zh-CN" altLang="en-US" sz="1600" dirty="0">
                <a:sym typeface="+mn-ea"/>
              </a:rPr>
              <a:t>；</a:t>
            </a:r>
            <a:endParaRPr lang="en-US" altLang="zh-CN" sz="1600" dirty="0"/>
          </a:p>
          <a:p>
            <a:pPr lvl="2"/>
            <a:r>
              <a:rPr lang="zh-CN" altLang="en-US" sz="1600" dirty="0">
                <a:sym typeface="+mn-ea"/>
              </a:rPr>
              <a:t>任务</a:t>
            </a:r>
            <a:r>
              <a:rPr lang="en-US" altLang="zh-CN" sz="1600" dirty="0">
                <a:sym typeface="+mn-ea"/>
              </a:rPr>
              <a:t>3</a:t>
            </a:r>
            <a:r>
              <a:rPr lang="zh-CN" altLang="en-US" sz="1600" dirty="0">
                <a:sym typeface="+mn-ea"/>
              </a:rPr>
              <a:t>：基于上述内容使用</a:t>
            </a:r>
            <a:r>
              <a:rPr lang="en-US" altLang="zh-CN" sz="1600" dirty="0">
                <a:sym typeface="+mn-ea"/>
              </a:rPr>
              <a:t>UML </a:t>
            </a:r>
            <a:r>
              <a:rPr lang="zh-CN" altLang="en-US" sz="1600" dirty="0">
                <a:sym typeface="+mn-ea"/>
              </a:rPr>
              <a:t>活动图，给出客户离开酒店进行结账的服务流程，</a:t>
            </a:r>
            <a:r>
              <a:rPr lang="en-US" altLang="zh-CN" sz="1600" dirty="0">
                <a:sym typeface="+mn-ea"/>
              </a:rPr>
              <a:t>5%</a:t>
            </a:r>
            <a:r>
              <a:rPr lang="zh-CN" altLang="en-US" sz="1600" dirty="0">
                <a:sym typeface="+mn-ea"/>
              </a:rPr>
              <a:t>；</a:t>
            </a:r>
            <a:endParaRPr lang="en-US" altLang="zh-CN" sz="1600" dirty="0"/>
          </a:p>
          <a:p>
            <a:pPr lvl="2"/>
            <a:r>
              <a:rPr lang="zh-CN" altLang="en-US" sz="1600" dirty="0">
                <a:sym typeface="+mn-ea"/>
              </a:rPr>
              <a:t>任务</a:t>
            </a:r>
            <a:r>
              <a:rPr lang="en-US" altLang="zh-CN" sz="1600" dirty="0">
                <a:sym typeface="+mn-ea"/>
              </a:rPr>
              <a:t>4</a:t>
            </a:r>
            <a:r>
              <a:rPr lang="zh-CN" altLang="en-US" sz="1600" dirty="0">
                <a:sym typeface="+mn-ea"/>
              </a:rPr>
              <a:t>：基于上述内容使用</a:t>
            </a:r>
            <a:r>
              <a:rPr lang="en-US" altLang="zh-CN" sz="1600" dirty="0">
                <a:sym typeface="+mn-ea"/>
              </a:rPr>
              <a:t>UML </a:t>
            </a:r>
            <a:r>
              <a:rPr lang="zh-CN" altLang="en-US" sz="1600" dirty="0">
                <a:sym typeface="+mn-ea"/>
              </a:rPr>
              <a:t>类图，给出酒店的普特廉价酒店领域模型：描述该酒店提供空调服务所必须具备的概念类及其关系，</a:t>
            </a:r>
            <a:r>
              <a:rPr lang="en-US" altLang="zh-CN" sz="1600" dirty="0">
                <a:sym typeface="+mn-ea"/>
              </a:rPr>
              <a:t>10%</a:t>
            </a:r>
            <a:r>
              <a:rPr lang="zh-CN" altLang="en-US" sz="1600" dirty="0">
                <a:sym typeface="+mn-ea"/>
              </a:rPr>
              <a:t>；</a:t>
            </a:r>
            <a:endParaRPr lang="zh-CN" altLang="en-US" sz="1600" dirty="0"/>
          </a:p>
          <a:p>
            <a:pPr marL="342900" lvl="1" indent="0">
              <a:buNone/>
            </a:pPr>
            <a:r>
              <a:rPr lang="zh-CN" altLang="en-US" sz="1600" dirty="0"/>
              <a:t>二、用例模型（占本次作业的</a:t>
            </a:r>
            <a:r>
              <a:rPr lang="en-US" altLang="zh-CN" sz="1600" dirty="0"/>
              <a:t>55%</a:t>
            </a:r>
            <a:r>
              <a:rPr lang="zh-CN" altLang="en-US" sz="1600" dirty="0"/>
              <a:t>）</a:t>
            </a:r>
            <a:endParaRPr lang="en-US" altLang="zh-CN" sz="1600" dirty="0"/>
          </a:p>
          <a:p>
            <a:pPr lvl="2"/>
            <a:r>
              <a:rPr lang="zh-CN" altLang="en-US" sz="1400" dirty="0"/>
              <a:t>任务</a:t>
            </a:r>
            <a:r>
              <a:rPr lang="en-US" altLang="zh-CN" sz="1400" dirty="0"/>
              <a:t>1</a:t>
            </a:r>
            <a:r>
              <a:rPr lang="zh-CN" altLang="en-US" sz="1400" dirty="0"/>
              <a:t>：确定使用该系统的角色：角色名称及职责描述，</a:t>
            </a:r>
            <a:r>
              <a:rPr lang="en-US" altLang="zh-CN" sz="1400" dirty="0"/>
              <a:t>2%</a:t>
            </a:r>
            <a:r>
              <a:rPr lang="zh-CN" altLang="en-US" sz="1400" dirty="0"/>
              <a:t>；</a:t>
            </a:r>
            <a:endParaRPr lang="en-US" altLang="zh-CN" sz="1400" dirty="0"/>
          </a:p>
          <a:p>
            <a:pPr lvl="2"/>
            <a:r>
              <a:rPr lang="zh-CN" altLang="en-US" sz="1400" dirty="0"/>
              <a:t>任务</a:t>
            </a:r>
            <a:r>
              <a:rPr lang="en-US" altLang="zh-CN" sz="1400" dirty="0"/>
              <a:t>2</a:t>
            </a:r>
            <a:r>
              <a:rPr lang="zh-CN" altLang="en-US" sz="1400" dirty="0"/>
              <a:t>：识别用例，确定每个角色对应的用例（只需要给出基本用例），</a:t>
            </a:r>
            <a:r>
              <a:rPr lang="en-US" altLang="zh-CN" sz="1400" dirty="0"/>
              <a:t>6%</a:t>
            </a:r>
            <a:r>
              <a:rPr lang="zh-CN" altLang="en-US" sz="1400" dirty="0"/>
              <a:t>；</a:t>
            </a:r>
            <a:endParaRPr lang="en-US" altLang="zh-CN" sz="1400" dirty="0"/>
          </a:p>
          <a:p>
            <a:pPr lvl="2"/>
            <a:r>
              <a:rPr lang="zh-CN" altLang="en-US" sz="1400" dirty="0"/>
              <a:t>任务</a:t>
            </a:r>
            <a:r>
              <a:rPr lang="en-US" altLang="zh-CN" sz="1400" dirty="0"/>
              <a:t>3</a:t>
            </a:r>
            <a:r>
              <a:rPr lang="zh-CN" altLang="en-US" sz="1400" dirty="0"/>
              <a:t>：用例图，给出角色对应的用例图，只需要给出基本用例即可，</a:t>
            </a:r>
            <a:r>
              <a:rPr lang="en-US" altLang="zh-CN" sz="1400" dirty="0"/>
              <a:t>7%</a:t>
            </a:r>
            <a:r>
              <a:rPr lang="zh-CN" altLang="en-US" sz="1400" dirty="0"/>
              <a:t>；</a:t>
            </a:r>
            <a:endParaRPr lang="en-US" altLang="zh-CN" sz="1400" dirty="0"/>
          </a:p>
          <a:p>
            <a:pPr lvl="2"/>
            <a:r>
              <a:rPr lang="zh-CN" altLang="en-US" sz="1400" dirty="0"/>
              <a:t>任务</a:t>
            </a:r>
            <a:r>
              <a:rPr lang="en-US" altLang="zh-CN" sz="1400" dirty="0"/>
              <a:t>4</a:t>
            </a:r>
            <a:r>
              <a:rPr lang="zh-CN" altLang="en-US" sz="1400" dirty="0"/>
              <a:t>：</a:t>
            </a:r>
            <a:r>
              <a:rPr lang="en-US" altLang="zh-CN" sz="1400" dirty="0"/>
              <a:t>SSD</a:t>
            </a:r>
            <a:r>
              <a:rPr lang="zh-CN" altLang="en-US" sz="1400" dirty="0"/>
              <a:t>，使用</a:t>
            </a:r>
            <a:r>
              <a:rPr lang="en-US" altLang="zh-CN" sz="1400" dirty="0"/>
              <a:t>UML Sequence Diagram </a:t>
            </a:r>
            <a:r>
              <a:rPr lang="zh-CN" altLang="en-US" sz="1400" dirty="0"/>
              <a:t>给出客户和前台营业员角色对应用例的系统顺序图，</a:t>
            </a:r>
            <a:r>
              <a:rPr lang="en-US" altLang="zh-CN" sz="1400" dirty="0"/>
              <a:t>15%</a:t>
            </a:r>
            <a:r>
              <a:rPr lang="zh-CN" altLang="en-US" sz="1400" dirty="0"/>
              <a:t>。（要求交互的消息以可编程的方式命名，包括参数；如果图中的消息只有中文名称，则需要在一个表格中进行说明）</a:t>
            </a:r>
            <a:endParaRPr lang="en-US" altLang="zh-CN" sz="1400" dirty="0"/>
          </a:p>
          <a:p>
            <a:pPr lvl="2"/>
            <a:r>
              <a:rPr lang="zh-CN" altLang="en-US" sz="1400" dirty="0"/>
              <a:t>任务</a:t>
            </a:r>
            <a:r>
              <a:rPr lang="en-US" altLang="zh-CN" sz="1400" dirty="0"/>
              <a:t>5</a:t>
            </a:r>
            <a:r>
              <a:rPr lang="zh-CN" altLang="en-US" sz="1400" dirty="0"/>
              <a:t>；操作契约，针对</a:t>
            </a:r>
            <a:r>
              <a:rPr lang="en-US" altLang="zh-CN" sz="1400" dirty="0"/>
              <a:t>SSD</a:t>
            </a:r>
            <a:r>
              <a:rPr lang="zh-CN" altLang="en-US" sz="1400" dirty="0"/>
              <a:t>中出现的每个消息（至少要给出开机（</a:t>
            </a:r>
            <a:r>
              <a:rPr lang="en-US" altLang="zh-CN" sz="1400" dirty="0"/>
              <a:t>5</a:t>
            </a:r>
            <a:r>
              <a:rPr lang="zh-CN" altLang="en-US" sz="1400" dirty="0"/>
              <a:t>分）、关机（</a:t>
            </a:r>
            <a:r>
              <a:rPr lang="en-US" altLang="zh-CN" sz="1400" dirty="0"/>
              <a:t>2</a:t>
            </a:r>
            <a:r>
              <a:rPr lang="zh-CN" altLang="en-US" sz="1400" dirty="0"/>
              <a:t>分）、调风（</a:t>
            </a:r>
            <a:r>
              <a:rPr lang="en-US" altLang="zh-CN" sz="1400" dirty="0"/>
              <a:t>3</a:t>
            </a:r>
            <a:r>
              <a:rPr lang="zh-CN" altLang="en-US" sz="1400" dirty="0"/>
              <a:t>分）、调温（</a:t>
            </a:r>
            <a:r>
              <a:rPr lang="en-US" altLang="zh-CN" sz="1400" dirty="0"/>
              <a:t>2</a:t>
            </a:r>
            <a:r>
              <a:rPr lang="zh-CN" altLang="en-US" sz="1400" dirty="0"/>
              <a:t>分）、产生账单和详单（各</a:t>
            </a:r>
            <a:r>
              <a:rPr lang="en-US" altLang="zh-CN" sz="1400" dirty="0"/>
              <a:t>2</a:t>
            </a:r>
            <a:r>
              <a:rPr lang="zh-CN" altLang="en-US" sz="1400" dirty="0"/>
              <a:t>分）、打印账单和详单（各</a:t>
            </a:r>
            <a:r>
              <a:rPr lang="en-US" altLang="zh-CN" sz="1400" dirty="0"/>
              <a:t>2</a:t>
            </a:r>
            <a:r>
              <a:rPr lang="zh-CN" altLang="en-US" sz="1400" dirty="0"/>
              <a:t>分）这几个消息），按照标准的格式（操作契约的规范性要求，</a:t>
            </a:r>
            <a:r>
              <a:rPr lang="en-US" altLang="zh-CN" sz="1400" dirty="0"/>
              <a:t>5</a:t>
            </a:r>
            <a:r>
              <a:rPr lang="zh-CN" altLang="en-US" sz="1400" dirty="0"/>
              <a:t>分）给出对应的操作契约要求的后置条件：</a:t>
            </a:r>
            <a:r>
              <a:rPr lang="en-US" altLang="zh-CN" sz="1400" dirty="0"/>
              <a:t>1</a:t>
            </a:r>
            <a:r>
              <a:rPr lang="zh-CN" altLang="en-US" sz="1400" dirty="0"/>
              <a:t>、对象创建或删除；</a:t>
            </a:r>
            <a:r>
              <a:rPr lang="en-US" altLang="zh-CN" sz="1400" dirty="0"/>
              <a:t>2</a:t>
            </a:r>
            <a:r>
              <a:rPr lang="zh-CN" altLang="en-US" sz="1400" dirty="0"/>
              <a:t>、对象关系的建立或删除；</a:t>
            </a:r>
            <a:r>
              <a:rPr lang="en-US" altLang="zh-CN" sz="1400" dirty="0"/>
              <a:t>3</a:t>
            </a:r>
            <a:r>
              <a:rPr lang="zh-CN" altLang="en-US" sz="1400" dirty="0"/>
              <a:t>、对象属性的修改；</a:t>
            </a:r>
            <a:r>
              <a:rPr lang="en-US" altLang="zh-CN" sz="1400" dirty="0"/>
              <a:t>25%</a:t>
            </a:r>
            <a:r>
              <a:rPr lang="zh-CN" altLang="en-US" sz="1400" dirty="0"/>
              <a:t>。 </a:t>
            </a:r>
            <a:endParaRPr lang="en-US" altLang="zh-CN" sz="1400" dirty="0"/>
          </a:p>
          <a:p>
            <a:pPr marL="342900" lvl="1" indent="0">
              <a:buNone/>
            </a:pPr>
            <a:r>
              <a:rPr lang="zh-CN" altLang="en-US" sz="1600" dirty="0"/>
              <a:t>三、文档规范性要求，按照模板的要求书写文档（占本次作业的</a:t>
            </a:r>
            <a:r>
              <a:rPr lang="en-US" altLang="zh-CN" sz="1600" dirty="0"/>
              <a:t>10%</a:t>
            </a:r>
            <a:r>
              <a:rPr lang="zh-CN" altLang="en-US" sz="1600" dirty="0"/>
              <a:t>）</a:t>
            </a:r>
            <a:endParaRPr lang="en-US" altLang="zh-CN" sz="1600" dirty="0"/>
          </a:p>
          <a:p>
            <a:pPr marL="342900" lvl="1" indent="0">
              <a:buNone/>
            </a:pPr>
            <a:r>
              <a:rPr lang="zh-CN" altLang="en-US" sz="1600" dirty="0"/>
              <a:t>四、工作量统计，按照文档模板中的表格说明填写（占本次作业的</a:t>
            </a:r>
            <a:r>
              <a:rPr lang="en-US" altLang="zh-CN" sz="1600" dirty="0"/>
              <a:t>5%</a:t>
            </a:r>
            <a:r>
              <a:rPr lang="zh-CN" altLang="en-US" sz="1600" dirty="0"/>
              <a:t>）</a:t>
            </a:r>
            <a:endParaRPr lang="zh-CN" altLang="en-US" sz="1600"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2</a:t>
            </a:r>
            <a:r>
              <a:rPr lang="zh-CN" altLang="en-US"/>
              <a:t>次、第</a:t>
            </a:r>
            <a:r>
              <a:rPr lang="en-US" altLang="zh-CN"/>
              <a:t>3</a:t>
            </a:r>
            <a:r>
              <a:rPr lang="zh-CN" altLang="en-US"/>
              <a:t>次作业要求</a:t>
            </a:r>
            <a:endParaRPr lang="zh-CN" altLang="en-US"/>
          </a:p>
        </p:txBody>
      </p:sp>
      <p:sp>
        <p:nvSpPr>
          <p:cNvPr id="3" name="内容占位符 2"/>
          <p:cNvSpPr>
            <a:spLocks noGrp="1"/>
          </p:cNvSpPr>
          <p:nvPr>
            <p:ph idx="1"/>
          </p:nvPr>
        </p:nvSpPr>
        <p:spPr/>
        <p:txBody>
          <a:bodyPr/>
          <a:p>
            <a:r>
              <a:rPr lang="zh-CN" altLang="en-US"/>
              <a:t>第</a:t>
            </a:r>
            <a:r>
              <a:rPr lang="en-US" altLang="zh-CN"/>
              <a:t>2</a:t>
            </a:r>
            <a:r>
              <a:rPr lang="zh-CN" altLang="en-US"/>
              <a:t>次作业（占</a:t>
            </a:r>
            <a:r>
              <a:rPr lang="en-US" altLang="zh-CN"/>
              <a:t>35%</a:t>
            </a:r>
            <a:r>
              <a:rPr lang="zh-CN" altLang="en-US"/>
              <a:t>）</a:t>
            </a:r>
            <a:endParaRPr lang="zh-CN" altLang="en-US"/>
          </a:p>
          <a:p>
            <a:pPr lvl="1"/>
            <a:r>
              <a:rPr lang="zh-CN" altLang="en-US"/>
              <a:t>软件设计建模（以文档形式提交）</a:t>
            </a:r>
            <a:endParaRPr lang="zh-CN" altLang="en-US"/>
          </a:p>
          <a:p>
            <a:pPr lvl="1"/>
            <a:r>
              <a:rPr lang="zh-CN" altLang="en-US"/>
              <a:t>具体细节发布时间在第</a:t>
            </a:r>
            <a:r>
              <a:rPr lang="en-US" altLang="zh-CN"/>
              <a:t>9</a:t>
            </a:r>
            <a:r>
              <a:rPr lang="zh-CN" altLang="en-US"/>
              <a:t>周后</a:t>
            </a:r>
            <a:endParaRPr lang="zh-CN" altLang="en-US"/>
          </a:p>
          <a:p>
            <a:r>
              <a:rPr lang="zh-CN" altLang="en-US"/>
              <a:t>第</a:t>
            </a:r>
            <a:r>
              <a:rPr lang="en-US" altLang="zh-CN"/>
              <a:t>3</a:t>
            </a:r>
            <a:r>
              <a:rPr lang="zh-CN" altLang="en-US"/>
              <a:t>次作业（占</a:t>
            </a:r>
            <a:r>
              <a:rPr lang="en-US" altLang="zh-CN"/>
              <a:t>30%</a:t>
            </a:r>
            <a:r>
              <a:rPr lang="zh-CN" altLang="en-US"/>
              <a:t>）</a:t>
            </a:r>
            <a:endParaRPr lang="zh-CN" altLang="en-US"/>
          </a:p>
          <a:p>
            <a:pPr lvl="1"/>
            <a:r>
              <a:rPr lang="zh-CN" altLang="en-US"/>
              <a:t>软件原型实现（现场验收</a:t>
            </a:r>
            <a:r>
              <a:rPr lang="en-US" altLang="zh-CN"/>
              <a:t>+</a:t>
            </a:r>
            <a:r>
              <a:rPr lang="zh-CN" altLang="en-US"/>
              <a:t>文档提交）</a:t>
            </a:r>
            <a:endParaRPr lang="zh-CN" altLang="en-US"/>
          </a:p>
          <a:p>
            <a:pPr lvl="1"/>
            <a:r>
              <a:rPr lang="zh-CN" altLang="en-US"/>
              <a:t>具体细节发布时间在第</a:t>
            </a:r>
            <a:r>
              <a:rPr lang="en-US" altLang="zh-CN"/>
              <a:t>9</a:t>
            </a:r>
            <a:r>
              <a:rPr lang="zh-CN" altLang="en-US"/>
              <a:t>周后</a:t>
            </a:r>
            <a:endParaRPr lang="zh-CN" altLang="en-US"/>
          </a:p>
          <a:p>
            <a:pPr lvl="1"/>
            <a:r>
              <a:rPr lang="zh-CN" altLang="en-US"/>
              <a:t>有</a:t>
            </a:r>
            <a:r>
              <a:rPr lang="en-US" altLang="zh-CN"/>
              <a:t>2</a:t>
            </a:r>
            <a:r>
              <a:rPr lang="zh-CN" altLang="en-US"/>
              <a:t>次验收机会：第</a:t>
            </a:r>
            <a:r>
              <a:rPr lang="en-US" altLang="zh-CN"/>
              <a:t>14</a:t>
            </a:r>
            <a:r>
              <a:rPr lang="zh-CN" altLang="en-US"/>
              <a:t>周、第</a:t>
            </a:r>
            <a:r>
              <a:rPr lang="en-US" altLang="zh-CN"/>
              <a:t>16</a:t>
            </a:r>
            <a:r>
              <a:rPr lang="zh-CN" altLang="en-US"/>
              <a:t>周</a:t>
            </a:r>
            <a:endParaRPr lang="zh-CN" altLang="en-US"/>
          </a:p>
        </p:txBody>
      </p:sp>
    </p:spTree>
  </p:cSld>
  <p:clrMapOvr>
    <a:masterClrMapping/>
  </p:clrMapOvr>
  <p:transition>
    <p:push/>
  </p:transition>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3117</Words>
  <Application>WPS 演示</Application>
  <PresentationFormat>宽屏</PresentationFormat>
  <Paragraphs>113</Paragraphs>
  <Slides>8</Slides>
  <Notes>8</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8</vt:i4>
      </vt:variant>
    </vt:vector>
  </HeadingPairs>
  <TitlesOfParts>
    <vt:vector size="29" baseType="lpstr">
      <vt:lpstr>Arial</vt:lpstr>
      <vt:lpstr>宋体</vt:lpstr>
      <vt:lpstr>Wingdings</vt:lpstr>
      <vt:lpstr>微软雅黑</vt:lpstr>
      <vt:lpstr>MV Boli</vt:lpstr>
      <vt:lpstr>Segoe UI</vt:lpstr>
      <vt:lpstr>Impact</vt:lpstr>
      <vt:lpstr>Times New Roman</vt:lpstr>
      <vt:lpstr>Arial Unicode MS</vt:lpstr>
      <vt:lpstr>Calibri Light</vt:lpstr>
      <vt:lpstr>Calibri</vt:lpstr>
      <vt:lpstr>华康行楷体 W5</vt:lpstr>
      <vt:lpstr>华光书宋一_CNKI</vt:lpstr>
      <vt:lpstr>华光大黑二_CNKI</vt:lpstr>
      <vt:lpstr>华光幼线_CNKI</vt:lpstr>
      <vt:lpstr>华光报宋_CNKI</vt:lpstr>
      <vt:lpstr>华光标题宋_CNKI</vt:lpstr>
      <vt:lpstr>华光琥珀_CNKI</vt:lpstr>
      <vt:lpstr>华文新魏</vt:lpstr>
      <vt:lpstr>华文细黑</vt:lpstr>
      <vt:lpstr>2015SE</vt:lpstr>
      <vt:lpstr>PowerPoint 演示文稿</vt:lpstr>
      <vt:lpstr>作业基本说明</vt:lpstr>
      <vt:lpstr>课程作业-补充需求</vt:lpstr>
      <vt:lpstr>课程作业-空调服务的理解</vt:lpstr>
      <vt:lpstr>课程作业-调度策略</vt:lpstr>
      <vt:lpstr>课程作业-调度策略</vt:lpstr>
      <vt:lpstr>第1次作业要求</vt:lpstr>
      <vt:lpstr>PowerPoint 演示文稿</vt:lpstr>
    </vt:vector>
  </TitlesOfParts>
  <Company>清华大学计算机系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殷人昆</dc:creator>
  <cp:lastModifiedBy>api</cp:lastModifiedBy>
  <cp:revision>248</cp:revision>
  <dcterms:created xsi:type="dcterms:W3CDTF">1999-04-15T21:26:00Z</dcterms:created>
  <dcterms:modified xsi:type="dcterms:W3CDTF">2025-10-09T01:18:22Z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63529911C38D43058389603A76C0B441_12</vt:lpwstr>
  </property>
  <property fmtid="{D5CDD505-2E9C-101B-9397-08002B2CF9AE}" pid="3" name="KSOProductBuildVer">
    <vt:lpwstr>2052-12.1.0.21915</vt:lpwstr>
  </property>
</Properties>
</file>
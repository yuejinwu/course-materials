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65" r:id="rId4"/>
    <p:sldId id="266" r:id="rId5"/>
    <p:sldId id="267" r:id="rId6"/>
    <p:sldId id="393" r:id="rId7"/>
    <p:sldId id="395" r:id="rId8"/>
    <p:sldId id="392" r:id="rId9"/>
    <p:sldId id="394" r:id="rId10"/>
    <p:sldId id="399" r:id="rId11"/>
    <p:sldId id="462" r:id="rId12"/>
    <p:sldId id="400" r:id="rId13"/>
    <p:sldId id="396" r:id="rId14"/>
    <p:sldId id="401" r:id="rId15"/>
    <p:sldId id="402" r:id="rId16"/>
    <p:sldId id="398" r:id="rId17"/>
    <p:sldId id="403" r:id="rId18"/>
    <p:sldId id="404" r:id="rId19"/>
    <p:sldId id="405" r:id="rId20"/>
    <p:sldId id="406" r:id="rId21"/>
    <p:sldId id="407" r:id="rId22"/>
    <p:sldId id="463" r:id="rId23"/>
    <p:sldId id="408" r:id="rId24"/>
    <p:sldId id="464" r:id="rId25"/>
    <p:sldId id="409" r:id="rId26"/>
    <p:sldId id="465" r:id="rId27"/>
    <p:sldId id="416" r:id="rId28"/>
    <p:sldId id="466" r:id="rId29"/>
    <p:sldId id="417" r:id="rId30"/>
    <p:sldId id="419" r:id="rId31"/>
    <p:sldId id="420" r:id="rId32"/>
    <p:sldId id="467" r:id="rId33"/>
    <p:sldId id="469" r:id="rId34"/>
    <p:sldId id="421" r:id="rId35"/>
    <p:sldId id="422" r:id="rId36"/>
    <p:sldId id="470" r:id="rId37"/>
    <p:sldId id="423" r:id="rId38"/>
    <p:sldId id="471" r:id="rId39"/>
    <p:sldId id="415" r:id="rId40"/>
    <p:sldId id="472" r:id="rId41"/>
    <p:sldId id="424" r:id="rId42"/>
    <p:sldId id="425" r:id="rId43"/>
    <p:sldId id="473" r:id="rId44"/>
    <p:sldId id="410" r:id="rId45"/>
    <p:sldId id="428" r:id="rId46"/>
    <p:sldId id="430" r:id="rId47"/>
    <p:sldId id="474" r:id="rId48"/>
    <p:sldId id="431" r:id="rId49"/>
    <p:sldId id="475" r:id="rId50"/>
    <p:sldId id="427" r:id="rId51"/>
    <p:sldId id="476" r:id="rId52"/>
    <p:sldId id="477" r:id="rId53"/>
    <p:sldId id="432" r:id="rId54"/>
    <p:sldId id="498" r:id="rId55"/>
    <p:sldId id="500" r:id="rId56"/>
    <p:sldId id="411" r:id="rId57"/>
    <p:sldId id="478" r:id="rId58"/>
    <p:sldId id="434" r:id="rId59"/>
    <p:sldId id="435" r:id="rId60"/>
    <p:sldId id="436" r:id="rId61"/>
    <p:sldId id="437" r:id="rId62"/>
    <p:sldId id="433" r:id="rId63"/>
    <p:sldId id="479" r:id="rId64"/>
    <p:sldId id="438" r:id="rId65"/>
    <p:sldId id="412" r:id="rId66"/>
    <p:sldId id="480" r:id="rId67"/>
    <p:sldId id="441" r:id="rId68"/>
    <p:sldId id="440" r:id="rId69"/>
    <p:sldId id="481" r:id="rId70"/>
    <p:sldId id="482" r:id="rId71"/>
    <p:sldId id="444" r:id="rId72"/>
    <p:sldId id="443" r:id="rId73"/>
    <p:sldId id="483" r:id="rId74"/>
    <p:sldId id="439" r:id="rId75"/>
    <p:sldId id="445" r:id="rId76"/>
    <p:sldId id="484" r:id="rId77"/>
    <p:sldId id="446" r:id="rId78"/>
    <p:sldId id="449" r:id="rId79"/>
    <p:sldId id="448" r:id="rId80"/>
    <p:sldId id="450" r:id="rId81"/>
    <p:sldId id="499" r:id="rId82"/>
    <p:sldId id="485" r:id="rId83"/>
    <p:sldId id="451" r:id="rId84"/>
    <p:sldId id="452" r:id="rId85"/>
    <p:sldId id="486" r:id="rId86"/>
    <p:sldId id="488" r:id="rId87"/>
    <p:sldId id="453" r:id="rId88"/>
    <p:sldId id="454" r:id="rId89"/>
    <p:sldId id="413" r:id="rId90"/>
    <p:sldId id="455" r:id="rId91"/>
    <p:sldId id="489" r:id="rId92"/>
    <p:sldId id="457" r:id="rId93"/>
    <p:sldId id="490" r:id="rId94"/>
    <p:sldId id="456" r:id="rId95"/>
    <p:sldId id="493" r:id="rId96"/>
    <p:sldId id="494" r:id="rId97"/>
    <p:sldId id="414" r:id="rId98"/>
    <p:sldId id="458" r:id="rId99"/>
    <p:sldId id="496" r:id="rId100"/>
    <p:sldId id="495" r:id="rId101"/>
    <p:sldId id="460" r:id="rId102"/>
    <p:sldId id="497" r:id="rId103"/>
    <p:sldId id="461" r:id="rId104"/>
    <p:sldId id="273" r:id="rId10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32" autoAdjust="0"/>
    <p:restoredTop sz="94660"/>
  </p:normalViewPr>
  <p:slideViewPr>
    <p:cSldViewPr snapToGrid="0">
      <p:cViewPr varScale="1">
        <p:scale>
          <a:sx n="83" d="100"/>
          <a:sy n="83" d="100"/>
        </p:scale>
        <p:origin x="1253" y="67"/>
      </p:cViewPr>
      <p:guideLst/>
    </p:cSldViewPr>
  </p:slideViewPr>
  <p:notesTextViewPr>
    <p:cViewPr>
      <p:scale>
        <a:sx n="3" d="2"/>
        <a:sy n="3" d="2"/>
      </p:scale>
      <p:origin x="0" y="0"/>
    </p:cViewPr>
  </p:notesTextViewPr>
  <p:sorterViewPr>
    <p:cViewPr>
      <p:scale>
        <a:sx n="125" d="100"/>
        <a:sy n="125" d="100"/>
      </p:scale>
      <p:origin x="0" y="-1946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2370647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3702114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1405371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1618126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2107523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4164852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274223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2115263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3841633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4288931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5ACB3CA-42C1-4D24-85C1-BF890F8BCFD9}" type="datetimeFigureOut">
              <a:rPr lang="zh-CN" altLang="en-US" smtClean="0"/>
              <a:t>2024/9/22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90306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ACB3CA-42C1-4D24-85C1-BF890F8BCFD9}" type="datetimeFigureOut">
              <a:rPr lang="zh-CN" altLang="en-US" smtClean="0"/>
              <a:t>2024/9/22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BD5A00-FA42-4A9C-BBF7-F93A55EB6832}" type="slidenum">
              <a:rPr lang="zh-CN" altLang="en-US" smtClean="0"/>
              <a:t>‹#›</a:t>
            </a:fld>
            <a:endParaRPr lang="zh-CN" altLang="en-US"/>
          </a:p>
        </p:txBody>
      </p:sp>
    </p:spTree>
    <p:extLst>
      <p:ext uri="{BB962C8B-B14F-4D97-AF65-F5344CB8AC3E}">
        <p14:creationId xmlns:p14="http://schemas.microsoft.com/office/powerpoint/2010/main" val="22181294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4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7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95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楷体" panose="02010609060101010101" pitchFamily="49" charset="-122"/>
                <a:ea typeface="楷体" panose="02010609060101010101" pitchFamily="49" charset="-122"/>
              </a:rPr>
              <a:t>数字逻辑与数字系统</a:t>
            </a: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2063813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latin typeface="楷体" panose="02010609060101010101" pitchFamily="49" charset="-122"/>
                <a:ea typeface="楷体" panose="02010609060101010101" pitchFamily="49" charset="-122"/>
              </a:rPr>
              <a:t>第</a:t>
            </a:r>
            <a:r>
              <a:rPr lang="zh-CN" altLang="en-US" dirty="0">
                <a:latin typeface="楷体" panose="02010609060101010101" pitchFamily="49" charset="-122"/>
                <a:ea typeface="楷体" panose="02010609060101010101" pitchFamily="49" charset="-122"/>
              </a:rPr>
              <a:t>二</a:t>
            </a:r>
            <a:r>
              <a:rPr lang="zh-CN" altLang="en-US" dirty="0" smtClean="0">
                <a:latin typeface="楷体" panose="02010609060101010101" pitchFamily="49" charset="-122"/>
                <a:ea typeface="楷体" panose="02010609060101010101" pitchFamily="49" charset="-122"/>
              </a:rPr>
              <a:t>章 组合逻辑</a:t>
            </a:r>
            <a:endParaRPr lang="zh-CN" altLang="en-US" dirty="0">
              <a:latin typeface="楷体" panose="02010609060101010101" pitchFamily="49" charset="-122"/>
              <a:ea typeface="楷体" panose="02010609060101010101" pitchFamily="49" charset="-122"/>
            </a:endParaRP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641641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24981"/>
            <a:ext cx="7886700" cy="1325563"/>
          </a:xfrm>
        </p:spPr>
        <p:txBody>
          <a:bodyPr/>
          <a:lstStyle/>
          <a:p>
            <a:r>
              <a:rPr lang="zh-CN" altLang="en-US" dirty="0" smtClean="0">
                <a:latin typeface="楷体" panose="02010609060101010101" pitchFamily="49" charset="-122"/>
                <a:ea typeface="楷体" panose="02010609060101010101" pitchFamily="49" charset="-122"/>
              </a:rPr>
              <a:t>内容</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450544"/>
            <a:ext cx="7886700" cy="4351338"/>
          </a:xfrm>
        </p:spPr>
        <p:txBody>
          <a:bodyPr/>
          <a:lstStyle/>
          <a:p>
            <a:r>
              <a:rPr lang="zh-CN" altLang="en-US" dirty="0" smtClean="0">
                <a:latin typeface="楷体" panose="02010609060101010101" pitchFamily="49" charset="-122"/>
                <a:ea typeface="楷体" panose="02010609060101010101" pitchFamily="49" charset="-122"/>
              </a:rPr>
              <a:t>概述</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组合逻辑分析</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组合逻辑设计</a:t>
            </a:r>
            <a:endParaRPr lang="en-US" altLang="zh-CN" dirty="0" smtClean="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组合逻辑电路的等价</a:t>
            </a:r>
            <a:r>
              <a:rPr lang="zh-CN" altLang="en-US" dirty="0" smtClean="0">
                <a:latin typeface="楷体" panose="02010609060101010101" pitchFamily="49" charset="-122"/>
                <a:ea typeface="楷体" panose="02010609060101010101" pitchFamily="49" charset="-122"/>
              </a:rPr>
              <a:t>变换</a:t>
            </a:r>
            <a:endParaRPr lang="en-US" altLang="zh-CN" dirty="0" smtClean="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数据选择器与</a:t>
            </a:r>
            <a:r>
              <a:rPr lang="zh-CN" altLang="en-US" dirty="0" smtClean="0">
                <a:latin typeface="楷体" panose="02010609060101010101" pitchFamily="49" charset="-122"/>
                <a:ea typeface="楷体" panose="02010609060101010101" pitchFamily="49" charset="-122"/>
              </a:rPr>
              <a:t>分配器</a:t>
            </a:r>
            <a:endParaRPr lang="en-US" altLang="zh-CN" dirty="0" smtClean="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译码器和</a:t>
            </a:r>
            <a:r>
              <a:rPr lang="zh-CN" altLang="en-US" dirty="0" smtClean="0">
                <a:latin typeface="楷体" panose="02010609060101010101" pitchFamily="49" charset="-122"/>
                <a:ea typeface="楷体" panose="02010609060101010101" pitchFamily="49" charset="-122"/>
              </a:rPr>
              <a:t>编码器</a:t>
            </a:r>
            <a:endParaRPr lang="en-US" altLang="zh-CN" dirty="0" smtClean="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数据比较器和</a:t>
            </a:r>
            <a:r>
              <a:rPr lang="zh-CN" altLang="en-US" dirty="0" smtClean="0">
                <a:latin typeface="楷体" panose="02010609060101010101" pitchFamily="49" charset="-122"/>
                <a:ea typeface="楷体" panose="02010609060101010101" pitchFamily="49" charset="-122"/>
              </a:rPr>
              <a:t>加法器</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奇偶校验器</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26389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8035"/>
            <a:ext cx="7886700" cy="1325563"/>
          </a:xfrm>
        </p:spPr>
        <p:txBody>
          <a:bodyPr/>
          <a:lstStyle/>
          <a:p>
            <a:r>
              <a:rPr lang="zh-CN" altLang="en-US" dirty="0" smtClean="0">
                <a:latin typeface="楷体" panose="02010609060101010101" pitchFamily="49" charset="-122"/>
                <a:ea typeface="楷体" panose="02010609060101010101" pitchFamily="49" charset="-122"/>
              </a:rPr>
              <a:t>概述</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293091"/>
            <a:ext cx="7886700" cy="4883872"/>
          </a:xfrm>
        </p:spPr>
        <p:txBody>
          <a:bodyPr/>
          <a:lstStyle/>
          <a:p>
            <a:pPr>
              <a:lnSpc>
                <a:spcPts val="3500"/>
              </a:lnSpc>
            </a:pPr>
            <a:r>
              <a:rPr lang="zh-CN" altLang="en-US" b="1" dirty="0">
                <a:latin typeface="楷体" panose="02010609060101010101" pitchFamily="49" charset="-122"/>
                <a:ea typeface="楷体" panose="02010609060101010101" pitchFamily="49" charset="-122"/>
              </a:rPr>
              <a:t>数字系统</a:t>
            </a:r>
            <a:r>
              <a:rPr lang="zh-CN" altLang="en-US" dirty="0">
                <a:latin typeface="楷体" panose="02010609060101010101" pitchFamily="49" charset="-122"/>
                <a:ea typeface="楷体" panose="02010609060101010101" pitchFamily="49" charset="-122"/>
              </a:rPr>
              <a:t>是由具有各种功能的</a:t>
            </a:r>
            <a:r>
              <a:rPr lang="zh-CN" altLang="en-US" b="1" dirty="0">
                <a:latin typeface="楷体" panose="02010609060101010101" pitchFamily="49" charset="-122"/>
                <a:ea typeface="楷体" panose="02010609060101010101" pitchFamily="49" charset="-122"/>
              </a:rPr>
              <a:t>逻辑部件</a:t>
            </a:r>
            <a:r>
              <a:rPr lang="zh-CN" altLang="en-US" dirty="0">
                <a:latin typeface="楷体" panose="02010609060101010101" pitchFamily="49" charset="-122"/>
                <a:ea typeface="楷体" panose="02010609060101010101" pitchFamily="49" charset="-122"/>
              </a:rPr>
              <a:t>组成的，这些逻辑部件按其结构可分为</a:t>
            </a:r>
            <a:r>
              <a:rPr lang="zh-CN" altLang="en-US" b="1" dirty="0" smtClean="0">
                <a:solidFill>
                  <a:schemeClr val="accent1"/>
                </a:solidFill>
                <a:latin typeface="楷体" panose="02010609060101010101" pitchFamily="49" charset="-122"/>
                <a:ea typeface="楷体" panose="02010609060101010101" pitchFamily="49" charset="-122"/>
              </a:rPr>
              <a:t>组合逻辑电路</a:t>
            </a:r>
            <a:r>
              <a:rPr lang="zh-CN" altLang="en-US" dirty="0">
                <a:latin typeface="楷体" panose="02010609060101010101" pitchFamily="49" charset="-122"/>
                <a:ea typeface="楷体" panose="02010609060101010101" pitchFamily="49" charset="-122"/>
              </a:rPr>
              <a:t>和</a:t>
            </a:r>
            <a:r>
              <a:rPr lang="zh-CN" altLang="en-US" b="1" dirty="0">
                <a:solidFill>
                  <a:schemeClr val="accent1"/>
                </a:solidFill>
                <a:latin typeface="楷体" panose="02010609060101010101" pitchFamily="49" charset="-122"/>
                <a:ea typeface="楷体" panose="02010609060101010101" pitchFamily="49" charset="-122"/>
              </a:rPr>
              <a:t>时序逻辑电路</a:t>
            </a:r>
            <a:r>
              <a:rPr lang="zh-CN" altLang="en-US" dirty="0">
                <a:latin typeface="楷体" panose="02010609060101010101" pitchFamily="49" charset="-122"/>
                <a:ea typeface="楷体" panose="02010609060101010101" pitchFamily="49" charset="-122"/>
              </a:rPr>
              <a:t>两大类型</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a:lnSpc>
                <a:spcPts val="3500"/>
              </a:lnSpc>
            </a:pPr>
            <a:r>
              <a:rPr lang="zh-CN" altLang="en-US" dirty="0" smtClean="0">
                <a:latin typeface="楷体" panose="02010609060101010101" pitchFamily="49" charset="-122"/>
                <a:ea typeface="楷体" panose="02010609060101010101" pitchFamily="49" charset="-122"/>
              </a:rPr>
              <a:t>由</a:t>
            </a:r>
            <a:r>
              <a:rPr lang="zh-CN" altLang="en-US" dirty="0">
                <a:latin typeface="楷体" panose="02010609060101010101" pitchFamily="49" charset="-122"/>
                <a:ea typeface="楷体" panose="02010609060101010101" pitchFamily="49" charset="-122"/>
              </a:rPr>
              <a:t>各种门电路组合而成且</a:t>
            </a:r>
            <a:r>
              <a:rPr lang="zh-CN" altLang="en-US" b="1" dirty="0">
                <a:latin typeface="楷体" panose="02010609060101010101" pitchFamily="49" charset="-122"/>
                <a:ea typeface="楷体" panose="02010609060101010101" pitchFamily="49" charset="-122"/>
              </a:rPr>
              <a:t>无反馈</a:t>
            </a:r>
            <a:r>
              <a:rPr lang="zh-CN" altLang="en-US" dirty="0">
                <a:latin typeface="楷体" panose="02010609060101010101" pitchFamily="49" charset="-122"/>
                <a:ea typeface="楷体" panose="02010609060101010101" pitchFamily="49" charset="-122"/>
              </a:rPr>
              <a:t>的逻辑电路，称为</a:t>
            </a:r>
            <a:r>
              <a:rPr lang="zh-CN" altLang="en-US" b="1" dirty="0" smtClean="0">
                <a:solidFill>
                  <a:schemeClr val="accent1"/>
                </a:solidFill>
                <a:latin typeface="楷体" panose="02010609060101010101" pitchFamily="49" charset="-122"/>
                <a:ea typeface="楷体" panose="02010609060101010101" pitchFamily="49" charset="-122"/>
              </a:rPr>
              <a:t>组合逻辑电路</a:t>
            </a:r>
            <a:r>
              <a:rPr lang="zh-CN" altLang="en-US" dirty="0">
                <a:latin typeface="楷体" panose="02010609060101010101" pitchFamily="49" charset="-122"/>
                <a:ea typeface="楷体" panose="02010609060101010101" pitchFamily="49" charset="-122"/>
              </a:rPr>
              <a:t>，简称</a:t>
            </a:r>
            <a:r>
              <a:rPr lang="zh-CN" altLang="en-US" b="1" dirty="0">
                <a:solidFill>
                  <a:schemeClr val="accent1"/>
                </a:solidFill>
                <a:latin typeface="楷体" panose="02010609060101010101" pitchFamily="49" charset="-122"/>
                <a:ea typeface="楷体" panose="02010609060101010101" pitchFamily="49" charset="-122"/>
              </a:rPr>
              <a:t>组合逻辑</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a:lnSpc>
                <a:spcPts val="3500"/>
              </a:lnSpc>
            </a:pPr>
            <a:r>
              <a:rPr lang="zh-CN" altLang="en-US" dirty="0" smtClean="0">
                <a:latin typeface="楷体" panose="02010609060101010101" pitchFamily="49" charset="-122"/>
                <a:ea typeface="楷体" panose="02010609060101010101" pitchFamily="49" charset="-122"/>
              </a:rPr>
              <a:t>本章</a:t>
            </a:r>
            <a:r>
              <a:rPr lang="zh-CN" altLang="en-US" dirty="0">
                <a:latin typeface="楷体" panose="02010609060101010101" pitchFamily="49" charset="-122"/>
                <a:ea typeface="楷体" panose="02010609060101010101" pitchFamily="49" charset="-122"/>
              </a:rPr>
              <a:t>介绍组合逻辑的</a:t>
            </a:r>
            <a:r>
              <a:rPr lang="zh-CN" altLang="en-US" b="1" dirty="0">
                <a:latin typeface="楷体" panose="02010609060101010101" pitchFamily="49" charset="-122"/>
                <a:ea typeface="楷体" panose="02010609060101010101" pitchFamily="49" charset="-122"/>
              </a:rPr>
              <a:t>分析方法</a:t>
            </a:r>
            <a:r>
              <a:rPr lang="zh-CN" altLang="en-US" dirty="0">
                <a:latin typeface="楷体" panose="02010609060101010101" pitchFamily="49" charset="-122"/>
                <a:ea typeface="楷体" panose="02010609060101010101" pitchFamily="49" charset="-122"/>
              </a:rPr>
              <a:t>和</a:t>
            </a:r>
            <a:r>
              <a:rPr lang="zh-CN" altLang="en-US" b="1" dirty="0">
                <a:latin typeface="楷体" panose="02010609060101010101" pitchFamily="49" charset="-122"/>
                <a:ea typeface="楷体" panose="02010609060101010101" pitchFamily="49" charset="-122"/>
              </a:rPr>
              <a:t>设计方法</a:t>
            </a:r>
            <a:r>
              <a:rPr lang="zh-CN" altLang="en-US" dirty="0">
                <a:latin typeface="楷体" panose="02010609060101010101" pitchFamily="49" charset="-122"/>
                <a:ea typeface="楷体" panose="02010609060101010101" pitchFamily="49" charset="-122"/>
              </a:rPr>
              <a:t>。在此基础上介绍</a:t>
            </a:r>
            <a:r>
              <a:rPr lang="zh-CN" altLang="en-US" dirty="0" smtClean="0">
                <a:latin typeface="楷体" panose="02010609060101010101" pitchFamily="49" charset="-122"/>
                <a:ea typeface="楷体" panose="02010609060101010101" pitchFamily="49" charset="-122"/>
              </a:rPr>
              <a:t>常用</a:t>
            </a:r>
            <a:r>
              <a:rPr lang="zh-CN" altLang="en-US" dirty="0">
                <a:latin typeface="楷体" panose="02010609060101010101" pitchFamily="49" charset="-122"/>
                <a:ea typeface="楷体" panose="02010609060101010101" pitchFamily="49" charset="-122"/>
              </a:rPr>
              <a:t>的组合逻辑功能构件，它们在工程应用中非常有用。</a:t>
            </a:r>
          </a:p>
        </p:txBody>
      </p:sp>
    </p:spTree>
    <p:extLst>
      <p:ext uri="{BB962C8B-B14F-4D97-AF65-F5344CB8AC3E}">
        <p14:creationId xmlns:p14="http://schemas.microsoft.com/office/powerpoint/2010/main" val="6080319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142132"/>
            <a:ext cx="7886700" cy="5572703"/>
          </a:xfrm>
        </p:spPr>
        <p:txBody>
          <a:bodyPr>
            <a:normAutofit/>
          </a:bodyPr>
          <a:lstStyle/>
          <a:p>
            <a:pPr>
              <a:lnSpc>
                <a:spcPts val="3500"/>
              </a:lnSpc>
            </a:pPr>
            <a:r>
              <a:rPr lang="zh-CN" altLang="en-US" dirty="0">
                <a:latin typeface="楷体" panose="02010609060101010101" pitchFamily="49" charset="-122"/>
                <a:ea typeface="楷体" panose="02010609060101010101" pitchFamily="49" charset="-122"/>
              </a:rPr>
              <a:t>组合逻辑电路在结构上</a:t>
            </a:r>
            <a:r>
              <a:rPr lang="zh-CN" altLang="en-US" b="1" dirty="0">
                <a:latin typeface="楷体" panose="02010609060101010101" pitchFamily="49" charset="-122"/>
                <a:ea typeface="楷体" panose="02010609060101010101" pitchFamily="49" charset="-122"/>
              </a:rPr>
              <a:t>不存在输出到输入的反馈通路</a:t>
            </a:r>
            <a:r>
              <a:rPr lang="zh-CN" altLang="en-US" dirty="0">
                <a:latin typeface="楷体" panose="02010609060101010101" pitchFamily="49" charset="-122"/>
                <a:ea typeface="楷体" panose="02010609060101010101" pitchFamily="49" charset="-122"/>
              </a:rPr>
              <a:t>，因此输出状态不影响输入状态</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a:lnSpc>
                <a:spcPts val="3500"/>
              </a:lnSpc>
            </a:pPr>
            <a:r>
              <a:rPr lang="zh-CN" altLang="en-US" dirty="0" smtClean="0">
                <a:latin typeface="楷体" panose="02010609060101010101" pitchFamily="49" charset="-122"/>
                <a:ea typeface="楷体" panose="02010609060101010101" pitchFamily="49" charset="-122"/>
              </a:rPr>
              <a:t>组合逻辑电路</a:t>
            </a:r>
            <a:r>
              <a:rPr lang="zh-CN" altLang="en-US" dirty="0">
                <a:latin typeface="楷体" panose="02010609060101010101" pitchFamily="49" charset="-122"/>
                <a:ea typeface="楷体" panose="02010609060101010101" pitchFamily="49" charset="-122"/>
              </a:rPr>
              <a:t>的特点是：任意时刻的</a:t>
            </a:r>
            <a:r>
              <a:rPr lang="zh-CN" altLang="en-US" b="1" dirty="0">
                <a:latin typeface="楷体" panose="02010609060101010101" pitchFamily="49" charset="-122"/>
                <a:ea typeface="楷体" panose="02010609060101010101" pitchFamily="49" charset="-122"/>
              </a:rPr>
              <a:t>输出状态取决于该时刻输入信号的状态</a:t>
            </a:r>
            <a:r>
              <a:rPr lang="zh-CN" altLang="en-US" dirty="0">
                <a:latin typeface="楷体" panose="02010609060101010101" pitchFamily="49" charset="-122"/>
                <a:ea typeface="楷体" panose="02010609060101010101" pitchFamily="49" charset="-122"/>
              </a:rPr>
              <a:t>，而与信号</a:t>
            </a:r>
            <a:r>
              <a:rPr lang="zh-CN" altLang="en-US" dirty="0" smtClean="0">
                <a:latin typeface="楷体" panose="02010609060101010101" pitchFamily="49" charset="-122"/>
                <a:ea typeface="楷体" panose="02010609060101010101" pitchFamily="49" charset="-122"/>
              </a:rPr>
              <a:t>作用</a:t>
            </a:r>
            <a:r>
              <a:rPr lang="zh-CN" altLang="en-US" dirty="0">
                <a:latin typeface="楷体" panose="02010609060101010101" pitchFamily="49" charset="-122"/>
                <a:ea typeface="楷体" panose="02010609060101010101" pitchFamily="49" charset="-122"/>
              </a:rPr>
              <a:t>前电路的状态无关</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a:lnSpc>
                <a:spcPts val="3500"/>
              </a:lnSpc>
            </a:pPr>
            <a:r>
              <a:rPr lang="zh-CN" altLang="en-US" dirty="0">
                <a:latin typeface="楷体" panose="02010609060101010101" pitchFamily="49" charset="-122"/>
                <a:ea typeface="楷体" panose="02010609060101010101" pitchFamily="49" charset="-122"/>
              </a:rPr>
              <a:t>所谓</a:t>
            </a:r>
            <a:r>
              <a:rPr lang="zh-CN" altLang="en-US" b="1" dirty="0">
                <a:solidFill>
                  <a:schemeClr val="accent1"/>
                </a:solidFill>
                <a:latin typeface="楷体" panose="02010609060101010101" pitchFamily="49" charset="-122"/>
                <a:ea typeface="楷体" panose="02010609060101010101" pitchFamily="49" charset="-122"/>
              </a:rPr>
              <a:t>组合逻辑分析</a:t>
            </a:r>
            <a:r>
              <a:rPr lang="zh-CN" altLang="en-US" dirty="0">
                <a:latin typeface="楷体" panose="02010609060101010101" pitchFamily="49" charset="-122"/>
                <a:ea typeface="楷体" panose="02010609060101010101" pitchFamily="49" charset="-122"/>
              </a:rPr>
              <a:t>，就是</a:t>
            </a:r>
            <a:r>
              <a:rPr lang="zh-CN" altLang="en-US" b="1" dirty="0">
                <a:latin typeface="楷体" panose="02010609060101010101" pitchFamily="49" charset="-122"/>
                <a:ea typeface="楷体" panose="02010609060101010101" pitchFamily="49" charset="-122"/>
              </a:rPr>
              <a:t>根据已知逻辑电路图</a:t>
            </a:r>
            <a:r>
              <a:rPr lang="zh-CN" altLang="en-US"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找出组合逻辑电路的输入与输出关系</a:t>
            </a:r>
            <a:r>
              <a:rPr lang="zh-CN" altLang="en-US" dirty="0" smtClean="0">
                <a:latin typeface="楷体" panose="02010609060101010101" pitchFamily="49" charset="-122"/>
                <a:ea typeface="楷体" panose="02010609060101010101" pitchFamily="49" charset="-122"/>
              </a:rPr>
              <a:t>，确定</a:t>
            </a:r>
            <a:r>
              <a:rPr lang="zh-CN" altLang="en-US" dirty="0">
                <a:latin typeface="楷体" panose="02010609060101010101" pitchFamily="49" charset="-122"/>
                <a:ea typeface="楷体" panose="02010609060101010101" pitchFamily="49" charset="-122"/>
              </a:rPr>
              <a:t>在什么样的输入取值组合下对应的输出为</a:t>
            </a:r>
            <a:r>
              <a:rPr lang="en-US" altLang="zh-CN" dirty="0">
                <a:latin typeface="楷体" panose="02010609060101010101" pitchFamily="49" charset="-122"/>
                <a:ea typeface="楷体" panose="02010609060101010101" pitchFamily="49" charset="-122"/>
              </a:rPr>
              <a:t>1</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a:lnSpc>
                <a:spcPts val="3500"/>
              </a:lnSpc>
            </a:pPr>
            <a:r>
              <a:rPr lang="zh-CN" altLang="en-US" dirty="0">
                <a:latin typeface="楷体" panose="02010609060101010101" pitchFamily="49" charset="-122"/>
                <a:ea typeface="楷体" panose="02010609060101010101" pitchFamily="49" charset="-122"/>
              </a:rPr>
              <a:t>组合逻辑电路分析的一般过程可以是：阅读组合逻辑电路图→列写布尔表达式、</a:t>
            </a:r>
            <a:r>
              <a:rPr lang="zh-CN" altLang="en-US" dirty="0" smtClean="0">
                <a:latin typeface="楷体" panose="02010609060101010101" pitchFamily="49" charset="-122"/>
                <a:ea typeface="楷体" panose="02010609060101010101" pitchFamily="49" charset="-122"/>
              </a:rPr>
              <a:t>列出真值表</a:t>
            </a:r>
            <a:r>
              <a:rPr lang="zh-CN" altLang="en-US" dirty="0">
                <a:latin typeface="楷体" panose="02010609060101010101" pitchFamily="49" charset="-122"/>
                <a:ea typeface="楷体" panose="02010609060101010101" pitchFamily="49" charset="-122"/>
              </a:rPr>
              <a:t>、画出数字波形图→指出电路的逻辑功能。</a:t>
            </a:r>
            <a:endParaRPr lang="en-US" altLang="zh-CN"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225644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325563"/>
            <a:ext cx="7886700" cy="4351338"/>
          </a:xfrm>
        </p:spPr>
        <p:txBody>
          <a:bodyPr>
            <a:normAutofit/>
          </a:bodyPr>
          <a:lstStyle/>
          <a:p>
            <a:pPr>
              <a:lnSpc>
                <a:spcPts val="3500"/>
              </a:lnSpc>
            </a:pPr>
            <a:r>
              <a:rPr lang="zh-CN" altLang="en-US" dirty="0">
                <a:latin typeface="楷体" panose="02010609060101010101" pitchFamily="49" charset="-122"/>
                <a:ea typeface="楷体" panose="02010609060101010101" pitchFamily="49" charset="-122"/>
              </a:rPr>
              <a:t>实际分析时不一定按照上述步骤按部就班进行</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对于</a:t>
            </a:r>
            <a:r>
              <a:rPr lang="zh-CN" altLang="en-US" dirty="0">
                <a:latin typeface="楷体" panose="02010609060101010101" pitchFamily="49" charset="-122"/>
                <a:ea typeface="楷体" panose="02010609060101010101" pitchFamily="49" charset="-122"/>
              </a:rPr>
              <a:t>较简单的逻辑电路，可以通过</a:t>
            </a:r>
            <a:r>
              <a:rPr lang="zh-CN" altLang="en-US" dirty="0" smtClean="0">
                <a:latin typeface="楷体" panose="02010609060101010101" pitchFamily="49" charset="-122"/>
                <a:ea typeface="楷体" panose="02010609060101010101" pitchFamily="49" charset="-122"/>
              </a:rPr>
              <a:t>“</a:t>
            </a:r>
            <a:r>
              <a:rPr lang="zh-CN" altLang="en-US" b="1" dirty="0" smtClean="0">
                <a:solidFill>
                  <a:schemeClr val="accent1"/>
                </a:solidFill>
                <a:latin typeface="楷体" panose="02010609060101010101" pitchFamily="49" charset="-122"/>
                <a:ea typeface="楷体" panose="02010609060101010101" pitchFamily="49" charset="-122"/>
              </a:rPr>
              <a:t>逐级电平推导</a:t>
            </a:r>
            <a:r>
              <a:rPr lang="zh-CN" altLang="en-US" dirty="0" smtClean="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法由电路直接推知其逻辑功能</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对于</a:t>
            </a:r>
            <a:r>
              <a:rPr lang="zh-CN" altLang="en-US" dirty="0">
                <a:latin typeface="楷体" panose="02010609060101010101" pitchFamily="49" charset="-122"/>
                <a:ea typeface="楷体" panose="02010609060101010101" pitchFamily="49" charset="-122"/>
              </a:rPr>
              <a:t>较复杂的逻辑电路，一般只要列出</a:t>
            </a:r>
            <a:r>
              <a:rPr lang="zh-CN" altLang="en-US" b="1" dirty="0" smtClean="0">
                <a:solidFill>
                  <a:schemeClr val="accent1"/>
                </a:solidFill>
                <a:latin typeface="楷体" panose="02010609060101010101" pitchFamily="49" charset="-122"/>
                <a:ea typeface="楷体" panose="02010609060101010101" pitchFamily="49" charset="-122"/>
              </a:rPr>
              <a:t>逻辑表达式</a:t>
            </a:r>
            <a:r>
              <a:rPr lang="zh-CN" altLang="en-US" dirty="0">
                <a:latin typeface="楷体" panose="02010609060101010101" pitchFamily="49" charset="-122"/>
                <a:ea typeface="楷体" panose="02010609060101010101" pitchFamily="49" charset="-122"/>
              </a:rPr>
              <a:t>，便可从表达式推知该电路所能实现的逻辑功能</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只有</a:t>
            </a:r>
            <a:r>
              <a:rPr lang="zh-CN" altLang="en-US" dirty="0">
                <a:latin typeface="楷体" panose="02010609060101010101" pitchFamily="49" charset="-122"/>
                <a:ea typeface="楷体" panose="02010609060101010101" pitchFamily="49" charset="-122"/>
              </a:rPr>
              <a:t>在迫不得已的情况下，才</a:t>
            </a:r>
            <a:r>
              <a:rPr lang="zh-CN" altLang="en-US" dirty="0" smtClean="0">
                <a:latin typeface="楷体" panose="02010609060101010101" pitchFamily="49" charset="-122"/>
                <a:ea typeface="楷体" panose="02010609060101010101" pitchFamily="49" charset="-122"/>
              </a:rPr>
              <a:t>需要</a:t>
            </a:r>
            <a:r>
              <a:rPr lang="zh-CN" altLang="en-US" dirty="0">
                <a:latin typeface="楷体" panose="02010609060101010101" pitchFamily="49" charset="-122"/>
                <a:ea typeface="楷体" panose="02010609060101010101" pitchFamily="49" charset="-122"/>
              </a:rPr>
              <a:t>列出</a:t>
            </a:r>
            <a:r>
              <a:rPr lang="zh-CN" altLang="en-US" b="1" dirty="0">
                <a:solidFill>
                  <a:schemeClr val="accent1"/>
                </a:solidFill>
                <a:latin typeface="楷体" panose="02010609060101010101" pitchFamily="49" charset="-122"/>
                <a:ea typeface="楷体" panose="02010609060101010101" pitchFamily="49" charset="-122"/>
              </a:rPr>
              <a:t>真值表</a:t>
            </a:r>
            <a:r>
              <a:rPr lang="zh-CN" altLang="en-US" dirty="0">
                <a:latin typeface="楷体" panose="02010609060101010101" pitchFamily="49" charset="-122"/>
                <a:ea typeface="楷体" panose="02010609060101010101" pitchFamily="49" charset="-122"/>
              </a:rPr>
              <a:t>，并从真值表中推知它的逻辑功能</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endParaRPr lang="en-US" altLang="zh-CN" dirty="0" smtClean="0">
              <a:latin typeface="楷体" panose="02010609060101010101" pitchFamily="49" charset="-122"/>
              <a:ea typeface="楷体" panose="02010609060101010101" pitchFamily="49" charset="-122"/>
            </a:endParaRPr>
          </a:p>
          <a:p>
            <a:pPr>
              <a:lnSpc>
                <a:spcPts val="3500"/>
              </a:lnSpc>
            </a:pPr>
            <a:endParaRPr lang="en-US" altLang="zh-CN"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455848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325563"/>
            <a:ext cx="7886700" cy="4351338"/>
          </a:xfrm>
        </p:spPr>
        <p:txBody>
          <a:bodyPr/>
          <a:lstStyle/>
          <a:p>
            <a:pPr>
              <a:lnSpc>
                <a:spcPts val="3500"/>
              </a:lnSpc>
            </a:pPr>
            <a:r>
              <a:rPr lang="zh-CN" altLang="en-US" dirty="0">
                <a:latin typeface="楷体" panose="02010609060101010101" pitchFamily="49" charset="-122"/>
                <a:ea typeface="楷体" panose="02010609060101010101" pitchFamily="49" charset="-122"/>
              </a:rPr>
              <a:t>逐级电平推导</a:t>
            </a:r>
            <a:r>
              <a:rPr lang="zh-CN" altLang="en-US" dirty="0" smtClean="0">
                <a:latin typeface="楷体" panose="02010609060101010101" pitchFamily="49" charset="-122"/>
                <a:ea typeface="楷体" panose="02010609060101010101" pitchFamily="49" charset="-122"/>
              </a:rPr>
              <a:t>法</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逐级电平推导法，是先假定输出为某一值</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逻辑</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或</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然后逐级向前推导，直到</a:t>
            </a:r>
            <a:r>
              <a:rPr lang="zh-CN" altLang="en-US" dirty="0" smtClean="0">
                <a:latin typeface="楷体" panose="02010609060101010101" pitchFamily="49" charset="-122"/>
                <a:ea typeface="楷体" panose="02010609060101010101" pitchFamily="49" charset="-122"/>
              </a:rPr>
              <a:t>推得</a:t>
            </a:r>
            <a:r>
              <a:rPr lang="zh-CN" altLang="en-US" dirty="0">
                <a:latin typeface="楷体" panose="02010609060101010101" pitchFamily="49" charset="-122"/>
                <a:ea typeface="楷体" panose="02010609060101010101" pitchFamily="49" charset="-122"/>
              </a:rPr>
              <a:t>输入的值</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marL="457200" lvl="1" indent="0">
              <a:lnSpc>
                <a:spcPts val="3500"/>
              </a:lnSpc>
              <a:spcBef>
                <a:spcPts val="1800"/>
              </a:spcBef>
              <a:buNone/>
            </a:pPr>
            <a:r>
              <a:rPr lang="en-US" altLang="zh-CN" dirty="0" smtClean="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例</a:t>
            </a:r>
            <a:r>
              <a:rPr lang="en-US" altLang="zh-CN"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分析图</a:t>
            </a:r>
            <a:r>
              <a:rPr lang="en-US" altLang="zh-CN" dirty="0">
                <a:latin typeface="楷体" panose="02010609060101010101" pitchFamily="49" charset="-122"/>
                <a:ea typeface="楷体" panose="02010609060101010101" pitchFamily="49" charset="-122"/>
              </a:rPr>
              <a:t>2.1(a)</a:t>
            </a:r>
            <a:r>
              <a:rPr lang="zh-CN" altLang="en-US" dirty="0">
                <a:latin typeface="楷体" panose="02010609060101010101" pitchFamily="49" charset="-122"/>
                <a:ea typeface="楷体" panose="02010609060101010101" pitchFamily="49" charset="-122"/>
              </a:rPr>
              <a:t>所示电路的逻辑功能</a:t>
            </a:r>
            <a:r>
              <a:rPr lang="zh-CN" altLang="en-US" dirty="0" smtClean="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1138042" y="3501232"/>
            <a:ext cx="6867915" cy="2615585"/>
          </a:xfrm>
          <a:prstGeom prst="rect">
            <a:avLst/>
          </a:prstGeom>
        </p:spPr>
      </p:pic>
    </p:spTree>
    <p:extLst>
      <p:ext uri="{BB962C8B-B14F-4D97-AF65-F5344CB8AC3E}">
        <p14:creationId xmlns:p14="http://schemas.microsoft.com/office/powerpoint/2010/main" val="13197536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606702" y="652571"/>
            <a:ext cx="5879406" cy="2239120"/>
          </a:xfrm>
          <a:prstGeom prst="rect">
            <a:avLst/>
          </a:prstGeom>
        </p:spPr>
      </p:pic>
      <p:sp>
        <p:nvSpPr>
          <p:cNvPr id="7" name="矩形 6"/>
          <p:cNvSpPr/>
          <p:nvPr/>
        </p:nvSpPr>
        <p:spPr>
          <a:xfrm>
            <a:off x="240486" y="76261"/>
            <a:ext cx="5458546" cy="400110"/>
          </a:xfrm>
          <a:prstGeom prst="rect">
            <a:avLst/>
          </a:prstGeom>
        </p:spPr>
        <p:txBody>
          <a:bodyPr wrap="none">
            <a:spAutoFit/>
          </a:bodyPr>
          <a:lstStyle/>
          <a:p>
            <a:r>
              <a:rPr lang="zh-CN" altLang="zh-CN" sz="2000" b="1" spc="-30" dirty="0">
                <a:solidFill>
                  <a:srgbClr val="2374B3"/>
                </a:solidFill>
                <a:latin typeface="楷体" panose="02010609060101010101" pitchFamily="49" charset="-122"/>
                <a:ea typeface="楷体" panose="02010609060101010101" pitchFamily="49" charset="-122"/>
                <a:cs typeface="Arial" panose="020B0604020202020204" pitchFamily="34" charset="0"/>
              </a:rPr>
              <a:t>【例</a:t>
            </a:r>
            <a:r>
              <a:rPr lang="en-US" altLang="zh-CN" sz="2000" b="1" spc="-30" dirty="0">
                <a:solidFill>
                  <a:srgbClr val="2374B3"/>
                </a:solidFill>
                <a:latin typeface="楷体" panose="02010609060101010101" pitchFamily="49" charset="-122"/>
                <a:ea typeface="楷体" panose="02010609060101010101" pitchFamily="49" charset="-122"/>
              </a:rPr>
              <a:t>1</a:t>
            </a:r>
            <a:r>
              <a:rPr lang="zh-CN" altLang="zh-CN" sz="2000" b="1" spc="-30" dirty="0">
                <a:solidFill>
                  <a:srgbClr val="2374B3"/>
                </a:solidFill>
                <a:latin typeface="楷体" panose="02010609060101010101" pitchFamily="49" charset="-122"/>
                <a:ea typeface="楷体" panose="02010609060101010101" pitchFamily="49" charset="-122"/>
                <a:cs typeface="Arial" panose="020B0604020202020204" pitchFamily="34" charset="0"/>
              </a:rPr>
              <a:t>】</a:t>
            </a:r>
            <a:r>
              <a:rPr lang="en-US" altLang="zh-CN" sz="2000" spc="390" dirty="0">
                <a:solidFill>
                  <a:srgbClr val="2374B3"/>
                </a:solidFill>
                <a:latin typeface="楷体" panose="02010609060101010101" pitchFamily="49" charset="-122"/>
                <a:ea typeface="楷体" panose="02010609060101010101" pitchFamily="49" charset="-122"/>
              </a:rPr>
              <a:t>  </a:t>
            </a:r>
            <a:r>
              <a:rPr lang="zh-CN" altLang="zh-CN" sz="2000" spc="-30" dirty="0">
                <a:latin typeface="楷体" panose="02010609060101010101" pitchFamily="49" charset="-122"/>
                <a:ea typeface="楷体" panose="02010609060101010101" pitchFamily="49" charset="-122"/>
                <a:cs typeface="Arial" panose="020B0604020202020204" pitchFamily="34" charset="0"/>
              </a:rPr>
              <a:t>分析图</a:t>
            </a:r>
            <a:r>
              <a:rPr lang="en-US" altLang="zh-CN" sz="2000" spc="-30" dirty="0">
                <a:latin typeface="楷体" panose="02010609060101010101" pitchFamily="49" charset="-122"/>
                <a:ea typeface="楷体" panose="02010609060101010101" pitchFamily="49" charset="-122"/>
              </a:rPr>
              <a:t>2.1(a)</a:t>
            </a:r>
            <a:r>
              <a:rPr lang="zh-CN" altLang="zh-CN" sz="2000" spc="-30" dirty="0">
                <a:latin typeface="楷体" panose="02010609060101010101" pitchFamily="49" charset="-122"/>
                <a:ea typeface="楷体" panose="02010609060101010101" pitchFamily="49" charset="-122"/>
                <a:cs typeface="Arial" panose="020B0604020202020204" pitchFamily="34" charset="0"/>
              </a:rPr>
              <a:t>所示电路的逻辑</a:t>
            </a:r>
            <a:r>
              <a:rPr lang="zh-CN" altLang="zh-CN" sz="2000" spc="-35" dirty="0">
                <a:latin typeface="楷体" panose="02010609060101010101" pitchFamily="49" charset="-122"/>
                <a:ea typeface="楷体" panose="02010609060101010101" pitchFamily="49" charset="-122"/>
                <a:cs typeface="Arial" panose="020B0604020202020204" pitchFamily="34" charset="0"/>
              </a:rPr>
              <a:t>功能。</a:t>
            </a:r>
            <a:endParaRPr lang="zh-CN" altLang="en-US" sz="2000"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8" name="矩形 7"/>
              <p:cNvSpPr/>
              <p:nvPr/>
            </p:nvSpPr>
            <p:spPr>
              <a:xfrm>
                <a:off x="374413" y="2730040"/>
                <a:ext cx="8557151" cy="1015663"/>
              </a:xfrm>
              <a:prstGeom prst="rect">
                <a:avLst/>
              </a:prstGeom>
            </p:spPr>
            <p:txBody>
              <a:bodyPr wrap="square">
                <a:spAutoFit/>
              </a:bodyPr>
              <a:lstStyle/>
              <a:p>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解：</a:t>
                </a:r>
                <a:endParaRPr lang="en-US" altLang="zh-CN" sz="2000" spc="-30" dirty="0" smtClean="0">
                  <a:latin typeface="楷体" panose="02010609060101010101" pitchFamily="49" charset="-122"/>
                  <a:ea typeface="楷体" panose="02010609060101010101" pitchFamily="49" charset="-122"/>
                  <a:cs typeface="Arial" panose="020B0604020202020204" pitchFamily="34" charset="0"/>
                </a:endParaRPr>
              </a:p>
              <a:p>
                <a:endParaRPr lang="en-US" altLang="zh-CN" sz="2000" spc="-30" dirty="0" smtClean="0">
                  <a:latin typeface="楷体" panose="02010609060101010101" pitchFamily="49" charset="-122"/>
                  <a:ea typeface="楷体" panose="02010609060101010101" pitchFamily="49" charset="-122"/>
                  <a:cs typeface="Arial" panose="020B0604020202020204" pitchFamily="34" charset="0"/>
                </a:endParaRPr>
              </a:p>
              <a:p>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欲</a:t>
                </a:r>
                <a:r>
                  <a:rPr lang="zh-CN" altLang="en-US" sz="2000" spc="-30" dirty="0">
                    <a:latin typeface="楷体" panose="02010609060101010101" pitchFamily="49" charset="-122"/>
                    <a:ea typeface="楷体" panose="02010609060101010101" pitchFamily="49" charset="-122"/>
                    <a:cs typeface="Arial" panose="020B0604020202020204" pitchFamily="34" charset="0"/>
                  </a:rPr>
                  <a:t>使</a:t>
                </a:r>
                <a14:m>
                  <m:oMath xmlns:m="http://schemas.openxmlformats.org/officeDocument/2006/math">
                    <m:r>
                      <a:rPr lang="en-US" altLang="zh-CN" sz="2000" i="1" spc="-30" dirty="0" smtClean="0">
                        <a:latin typeface="Cambria Math" panose="02040503050406030204" pitchFamily="18" charset="0"/>
                        <a:ea typeface="楷体" panose="02010609060101010101" pitchFamily="49" charset="-122"/>
                        <a:cs typeface="Arial" panose="020B0604020202020204" pitchFamily="34" charset="0"/>
                      </a:rPr>
                      <m:t>𝐹</m:t>
                    </m:r>
                    <m:r>
                      <a:rPr lang="en-US" altLang="zh-CN" sz="2000" i="1" spc="-30" dirty="0" smtClean="0">
                        <a:latin typeface="Cambria Math" panose="02040503050406030204" pitchFamily="18" charset="0"/>
                        <a:ea typeface="楷体" panose="02010609060101010101" pitchFamily="49" charset="-122"/>
                        <a:cs typeface="Arial" panose="020B0604020202020204" pitchFamily="34" charset="0"/>
                      </a:rPr>
                      <m:t>=1</m:t>
                    </m:r>
                  </m:oMath>
                </a14:m>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 </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根据</a:t>
                </a:r>
                <a:r>
                  <a:rPr lang="zh-CN" altLang="en-US" sz="2000" spc="-30" dirty="0">
                    <a:latin typeface="楷体" panose="02010609060101010101" pitchFamily="49" charset="-122"/>
                    <a:ea typeface="楷体" panose="02010609060101010101" pitchFamily="49" charset="-122"/>
                    <a:cs typeface="Arial" panose="020B0604020202020204" pitchFamily="34" charset="0"/>
                  </a:rPr>
                  <a:t>与非门的逻辑功能，门</a:t>
                </a:r>
                <a:r>
                  <a:rPr lang="en-US" altLang="zh-CN" sz="2000" spc="-30" dirty="0">
                    <a:latin typeface="楷体" panose="02010609060101010101" pitchFamily="49" charset="-122"/>
                    <a:ea typeface="楷体" panose="02010609060101010101" pitchFamily="49" charset="-122"/>
                    <a:cs typeface="Arial" panose="020B0604020202020204" pitchFamily="34" charset="0"/>
                  </a:rPr>
                  <a:t>3</a:t>
                </a:r>
                <a:r>
                  <a:rPr lang="zh-CN" altLang="en-US" sz="2000" spc="-30" dirty="0">
                    <a:latin typeface="楷体" panose="02010609060101010101" pitchFamily="49" charset="-122"/>
                    <a:ea typeface="楷体" panose="02010609060101010101" pitchFamily="49" charset="-122"/>
                    <a:cs typeface="Arial" panose="020B0604020202020204" pitchFamily="34" charset="0"/>
                  </a:rPr>
                  <a:t>的输入</a:t>
                </a:r>
                <a:r>
                  <a:rPr lang="en-US" altLang="zh-CN" sz="2000" spc="-30" dirty="0">
                    <a:latin typeface="楷体" panose="02010609060101010101" pitchFamily="49" charset="-122"/>
                    <a:ea typeface="楷体" panose="02010609060101010101" pitchFamily="49" charset="-122"/>
                    <a:cs typeface="Arial" panose="020B0604020202020204" pitchFamily="34" charset="0"/>
                  </a:rPr>
                  <a:t>x</a:t>
                </a:r>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₁</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和</a:t>
                </a:r>
                <a:r>
                  <a:rPr lang="en-US" altLang="zh-CN" sz="2000" spc="-30" dirty="0">
                    <a:latin typeface="楷体" panose="02010609060101010101" pitchFamily="49" charset="-122"/>
                    <a:ea typeface="楷体" panose="02010609060101010101" pitchFamily="49" charset="-122"/>
                    <a:cs typeface="Arial" panose="020B0604020202020204" pitchFamily="34" charset="0"/>
                  </a:rPr>
                  <a:t>x</a:t>
                </a:r>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₂</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应满足</a:t>
                </a:r>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x</a:t>
                </a:r>
                <a:r>
                  <a:rPr lang="en-US" altLang="zh-CN" sz="2000" spc="-30" dirty="0">
                    <a:latin typeface="楷体" panose="02010609060101010101" pitchFamily="49" charset="-122"/>
                    <a:ea typeface="楷体" panose="02010609060101010101" pitchFamily="49" charset="-122"/>
                    <a:cs typeface="Arial" panose="020B0604020202020204" pitchFamily="34" charset="0"/>
                  </a:rPr>
                  <a:t>₁=</a:t>
                </a:r>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0</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或</a:t>
                </a:r>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x</a:t>
                </a:r>
                <a:r>
                  <a:rPr lang="en-US" altLang="zh-CN" sz="2000" spc="-30" dirty="0">
                    <a:latin typeface="楷体" panose="02010609060101010101" pitchFamily="49" charset="-122"/>
                    <a:ea typeface="楷体" panose="02010609060101010101" pitchFamily="49" charset="-122"/>
                    <a:cs typeface="Arial" panose="020B0604020202020204" pitchFamily="34" charset="0"/>
                  </a:rPr>
                  <a:t>₂=0</a:t>
                </a:r>
                <a:endParaRPr lang="zh-CN" altLang="en-US" sz="2000" dirty="0">
                  <a:latin typeface="楷体" panose="02010609060101010101" pitchFamily="49" charset="-122"/>
                  <a:ea typeface="楷体" panose="02010609060101010101" pitchFamily="49"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374413" y="2730040"/>
                <a:ext cx="8557151" cy="1015663"/>
              </a:xfrm>
              <a:prstGeom prst="rect">
                <a:avLst/>
              </a:prstGeom>
              <a:blipFill>
                <a:blip r:embed="rId3"/>
                <a:stretch>
                  <a:fillRect l="-712" t="-3614" b="-102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74413" y="3745703"/>
                <a:ext cx="8233147" cy="2785378"/>
              </a:xfrm>
              <a:prstGeom prst="rect">
                <a:avLst/>
              </a:prstGeom>
            </p:spPr>
            <p:txBody>
              <a:bodyPr wrap="square">
                <a:spAutoFit/>
              </a:bodyPr>
              <a:lstStyle/>
              <a:p>
                <a:pPr>
                  <a:lnSpc>
                    <a:spcPts val="3500"/>
                  </a:lnSpc>
                </a:pP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进一步向前推导，要使</a:t>
                </a:r>
                <a:r>
                  <a:rPr lang="en-US" altLang="zh-CN" sz="2000" spc="-30" dirty="0">
                    <a:latin typeface="楷体" panose="02010609060101010101" pitchFamily="49" charset="-122"/>
                    <a:ea typeface="楷体" panose="02010609060101010101" pitchFamily="49" charset="-122"/>
                    <a:cs typeface="Arial" panose="020B0604020202020204" pitchFamily="34" charset="0"/>
                  </a:rPr>
                  <a:t>x₁=0, </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门</a:t>
                </a:r>
                <a:r>
                  <a:rPr lang="en-US" altLang="zh-CN" sz="2000" spc="-30" dirty="0">
                    <a:latin typeface="楷体" panose="02010609060101010101" pitchFamily="49" charset="-122"/>
                    <a:ea typeface="楷体" panose="02010609060101010101" pitchFamily="49" charset="-122"/>
                    <a:cs typeface="Arial" panose="020B0604020202020204" pitchFamily="34" charset="0"/>
                  </a:rPr>
                  <a:t>1</a:t>
                </a:r>
                <a:r>
                  <a:rPr lang="zh-CN" altLang="en-US" sz="2000" spc="-30" dirty="0">
                    <a:latin typeface="楷体" panose="02010609060101010101" pitchFamily="49" charset="-122"/>
                    <a:ea typeface="楷体" panose="02010609060101010101" pitchFamily="49" charset="-122"/>
                    <a:cs typeface="Arial" panose="020B0604020202020204" pitchFamily="34" charset="0"/>
                  </a:rPr>
                  <a:t>的输入应</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满足</a:t>
                </a:r>
                <a14:m>
                  <m:oMath xmlns:m="http://schemas.openxmlformats.org/officeDocument/2006/math">
                    <m:r>
                      <a:rPr lang="en-US" altLang="zh-CN" sz="2000" i="1" spc="-30" dirty="0" smtClean="0">
                        <a:latin typeface="Cambria Math" panose="02040503050406030204" pitchFamily="18" charset="0"/>
                        <a:ea typeface="楷体" panose="02010609060101010101" pitchFamily="49" charset="-122"/>
                        <a:cs typeface="Arial" panose="020B0604020202020204" pitchFamily="34" charset="0"/>
                      </a:rPr>
                      <m:t>𝐴</m:t>
                    </m:r>
                    <m:r>
                      <a:rPr lang="en-US" altLang="zh-CN" sz="2000" i="1" spc="-30" dirty="0" smtClean="0">
                        <a:latin typeface="Cambria Math" panose="02040503050406030204" pitchFamily="18" charset="0"/>
                        <a:ea typeface="楷体" panose="02010609060101010101" pitchFamily="49" charset="-122"/>
                        <a:cs typeface="Arial" panose="020B0604020202020204" pitchFamily="34" charset="0"/>
                      </a:rPr>
                      <m:t>=1</m:t>
                    </m:r>
                  </m:oMath>
                </a14:m>
                <a:r>
                  <a:rPr lang="en-US" altLang="zh-CN" sz="2000" spc="-30" dirty="0">
                    <a:latin typeface="楷体" panose="02010609060101010101" pitchFamily="49" charset="-122"/>
                    <a:ea typeface="楷体" panose="02010609060101010101" pitchFamily="49" charset="-122"/>
                    <a:cs typeface="Arial" panose="020B0604020202020204" pitchFamily="34" charset="0"/>
                  </a:rPr>
                  <a:t>,</a:t>
                </a:r>
                <a14:m>
                  <m:oMath xmlns:m="http://schemas.openxmlformats.org/officeDocument/2006/math">
                    <m:r>
                      <a:rPr lang="en-US" altLang="zh-CN" sz="2000" i="1" spc="-30" dirty="0" smtClean="0">
                        <a:latin typeface="Cambria Math" panose="02040503050406030204" pitchFamily="18" charset="0"/>
                        <a:ea typeface="楷体" panose="02010609060101010101" pitchFamily="49" charset="-122"/>
                        <a:cs typeface="Arial" panose="020B0604020202020204" pitchFamily="34" charset="0"/>
                      </a:rPr>
                      <m:t>𝐵</m:t>
                    </m:r>
                    <m:r>
                      <a:rPr lang="en-US" altLang="zh-CN" sz="2000" i="1" spc="-30" dirty="0" smtClean="0">
                        <a:latin typeface="Cambria Math" panose="02040503050406030204" pitchFamily="18" charset="0"/>
                        <a:ea typeface="楷体" panose="02010609060101010101" pitchFamily="49" charset="-122"/>
                        <a:cs typeface="Arial" panose="020B0604020202020204" pitchFamily="34" charset="0"/>
                      </a:rPr>
                      <m:t>=1</m:t>
                    </m:r>
                  </m:oMath>
                </a14:m>
                <a:endParaRPr lang="en-US" altLang="zh-CN" sz="2000" spc="-30" dirty="0" smtClean="0">
                  <a:latin typeface="楷体" panose="02010609060101010101" pitchFamily="49" charset="-122"/>
                  <a:ea typeface="楷体" panose="02010609060101010101" pitchFamily="49" charset="-122"/>
                  <a:cs typeface="Arial" panose="020B0604020202020204" pitchFamily="34" charset="0"/>
                </a:endParaRPr>
              </a:p>
              <a:p>
                <a:pPr eaLnBrk="0">
                  <a:lnSpc>
                    <a:spcPts val="3500"/>
                  </a:lnSpc>
                </a:pPr>
                <a:r>
                  <a:rPr lang="zh-CN" altLang="zh-CN" sz="2000" dirty="0">
                    <a:latin typeface="楷体" panose="02010609060101010101" pitchFamily="49" charset="-122"/>
                    <a:ea typeface="楷体" panose="02010609060101010101" pitchFamily="49" charset="-122"/>
                  </a:rPr>
                  <a:t>同理，要使</a:t>
                </a:r>
                <a:r>
                  <a:rPr lang="en-US" altLang="zh-CN" sz="2000" dirty="0">
                    <a:latin typeface="楷体" panose="02010609060101010101" pitchFamily="49" charset="-122"/>
                    <a:ea typeface="楷体" panose="02010609060101010101" pitchFamily="49" charset="-122"/>
                  </a:rPr>
                  <a:t>x=0, </a:t>
                </a:r>
                <a:r>
                  <a:rPr lang="zh-CN" altLang="zh-CN" sz="2000" dirty="0" smtClean="0">
                    <a:latin typeface="楷体" panose="02010609060101010101" pitchFamily="49" charset="-122"/>
                    <a:ea typeface="楷体" panose="02010609060101010101" pitchFamily="49" charset="-122"/>
                  </a:rPr>
                  <a:t>门</a:t>
                </a:r>
                <a:r>
                  <a:rPr lang="en-US" altLang="zh-CN" sz="2000" dirty="0">
                    <a:latin typeface="楷体" panose="02010609060101010101" pitchFamily="49" charset="-122"/>
                    <a:ea typeface="楷体" panose="02010609060101010101" pitchFamily="49" charset="-122"/>
                  </a:rPr>
                  <a:t>2</a:t>
                </a:r>
                <a:r>
                  <a:rPr lang="zh-CN" altLang="zh-CN" sz="2000" dirty="0">
                    <a:latin typeface="楷体" panose="02010609060101010101" pitchFamily="49" charset="-122"/>
                    <a:ea typeface="楷体" panose="02010609060101010101" pitchFamily="49" charset="-122"/>
                  </a:rPr>
                  <a:t>的输入应</a:t>
                </a:r>
                <a:r>
                  <a:rPr lang="zh-CN" altLang="zh-CN" sz="2000" dirty="0" smtClean="0">
                    <a:latin typeface="楷体" panose="02010609060101010101" pitchFamily="49" charset="-122"/>
                    <a:ea typeface="楷体" panose="02010609060101010101" pitchFamily="49" charset="-122"/>
                  </a:rPr>
                  <a:t>满足</a:t>
                </a:r>
                <a14:m>
                  <m:oMath xmlns:m="http://schemas.openxmlformats.org/officeDocument/2006/math">
                    <m:acc>
                      <m:accPr>
                        <m:chr m:val="̅"/>
                        <m:ctrlPr>
                          <a:rPr lang="en-US" altLang="zh-CN" sz="2000" i="1" dirty="0" smtClean="0">
                            <a:latin typeface="Cambria Math" panose="02040503050406030204" pitchFamily="18" charset="0"/>
                          </a:rPr>
                        </m:ctrlPr>
                      </m:accPr>
                      <m:e>
                        <m:r>
                          <a:rPr lang="en-US" altLang="zh-CN" sz="2000" i="1" dirty="0" smtClean="0">
                            <a:latin typeface="Cambria Math" panose="02040503050406030204" pitchFamily="18" charset="0"/>
                          </a:rPr>
                          <m:t>𝐴</m:t>
                        </m:r>
                        <m:r>
                          <a:rPr lang="en-US" altLang="zh-CN" sz="2000" b="0" i="1" dirty="0" smtClean="0">
                            <a:latin typeface="Cambria Math" panose="02040503050406030204" pitchFamily="18" charset="0"/>
                          </a:rPr>
                          <m:t> </m:t>
                        </m:r>
                      </m:e>
                    </m:acc>
                  </m:oMath>
                </a14:m>
                <a:r>
                  <a:rPr lang="en-US" altLang="zh-CN" sz="2000" dirty="0" smtClean="0">
                    <a:latin typeface="楷体" panose="02010609060101010101" pitchFamily="49" charset="-122"/>
                    <a:ea typeface="楷体" panose="02010609060101010101" pitchFamily="49" charset="-122"/>
                  </a:rPr>
                  <a:t>=1(A=0</a:t>
                </a:r>
                <a:r>
                  <a:rPr lang="en-US" altLang="zh-CN" sz="2000" dirty="0">
                    <a:latin typeface="楷体" panose="02010609060101010101" pitchFamily="49" charset="-122"/>
                    <a:ea typeface="楷体" panose="02010609060101010101" pitchFamily="49" charset="-122"/>
                  </a:rPr>
                  <a:t>), </a:t>
                </a:r>
                <a14:m>
                  <m:oMath xmlns:m="http://schemas.openxmlformats.org/officeDocument/2006/math">
                    <m:acc>
                      <m:accPr>
                        <m:chr m:val="̅"/>
                        <m:ctrlPr>
                          <a:rPr lang="en-US" altLang="zh-CN" sz="2000" i="1" dirty="0">
                            <a:latin typeface="Cambria Math" panose="02040503050406030204" pitchFamily="18" charset="0"/>
                          </a:rPr>
                        </m:ctrlPr>
                      </m:accPr>
                      <m:e>
                        <m:r>
                          <a:rPr lang="en-US" altLang="zh-CN" sz="2000" i="1" dirty="0" smtClean="0">
                            <a:latin typeface="Cambria Math" panose="02040503050406030204" pitchFamily="18" charset="0"/>
                          </a:rPr>
                          <m:t>𝐵</m:t>
                        </m:r>
                      </m:e>
                    </m:acc>
                  </m:oMath>
                </a14:m>
                <a:r>
                  <a:rPr lang="en-US" altLang="zh-CN" sz="2000" dirty="0" smtClean="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1(B=0) </a:t>
                </a:r>
                <a:endParaRPr lang="en-US" altLang="zh-CN" sz="2000" spc="-30" dirty="0">
                  <a:latin typeface="楷体" panose="02010609060101010101" pitchFamily="49" charset="-122"/>
                  <a:ea typeface="楷体" panose="02010609060101010101" pitchFamily="49" charset="-122"/>
                  <a:cs typeface="Arial" panose="020B0604020202020204" pitchFamily="34" charset="0"/>
                </a:endParaRPr>
              </a:p>
              <a:p>
                <a:pPr eaLnBrk="0">
                  <a:lnSpc>
                    <a:spcPts val="3500"/>
                  </a:lnSpc>
                </a:pPr>
                <a:r>
                  <a:rPr lang="zh-CN" altLang="en-US" sz="2000" spc="-30" dirty="0">
                    <a:latin typeface="楷体" panose="02010609060101010101" pitchFamily="49" charset="-122"/>
                    <a:ea typeface="楷体" panose="02010609060101010101" pitchFamily="49" charset="-122"/>
                    <a:cs typeface="Arial" panose="020B0604020202020204" pitchFamily="34" charset="0"/>
                  </a:rPr>
                  <a:t>图</a:t>
                </a:r>
                <a:r>
                  <a:rPr lang="en-US" altLang="zh-CN" sz="2000" spc="-30" dirty="0">
                    <a:latin typeface="楷体" panose="02010609060101010101" pitchFamily="49" charset="-122"/>
                    <a:ea typeface="楷体" panose="02010609060101010101" pitchFamily="49" charset="-122"/>
                    <a:cs typeface="Arial" panose="020B0604020202020204" pitchFamily="34" charset="0"/>
                  </a:rPr>
                  <a:t>2.1(a) </a:t>
                </a:r>
                <a:r>
                  <a:rPr lang="zh-CN" altLang="en-US" sz="2000" spc="-30" dirty="0">
                    <a:latin typeface="楷体" panose="02010609060101010101" pitchFamily="49" charset="-122"/>
                    <a:ea typeface="楷体" panose="02010609060101010101" pitchFamily="49" charset="-122"/>
                    <a:cs typeface="Arial" panose="020B0604020202020204" pitchFamily="34" charset="0"/>
                  </a:rPr>
                  <a:t>所示电路的逻辑功能是：当输入</a:t>
                </a:r>
                <a:r>
                  <a:rPr lang="en-US" altLang="zh-CN" sz="2000" spc="-30" dirty="0">
                    <a:latin typeface="楷体" panose="02010609060101010101" pitchFamily="49" charset="-122"/>
                    <a:ea typeface="楷体" panose="02010609060101010101" pitchFamily="49" charset="-122"/>
                    <a:cs typeface="Arial" panose="020B0604020202020204" pitchFamily="34" charset="0"/>
                  </a:rPr>
                  <a:t>A </a:t>
                </a:r>
                <a:r>
                  <a:rPr lang="zh-CN" altLang="en-US" sz="2000" spc="-30" dirty="0">
                    <a:latin typeface="楷体" panose="02010609060101010101" pitchFamily="49" charset="-122"/>
                    <a:ea typeface="楷体" panose="02010609060101010101" pitchFamily="49" charset="-122"/>
                    <a:cs typeface="Arial" panose="020B0604020202020204" pitchFamily="34" charset="0"/>
                  </a:rPr>
                  <a:t>、</a:t>
                </a:r>
                <a:r>
                  <a:rPr lang="en-US" altLang="zh-CN" sz="2000" spc="-30" dirty="0">
                    <a:latin typeface="楷体" panose="02010609060101010101" pitchFamily="49" charset="-122"/>
                    <a:ea typeface="楷体" panose="02010609060101010101" pitchFamily="49" charset="-122"/>
                    <a:cs typeface="Arial" panose="020B0604020202020204" pitchFamily="34" charset="0"/>
                  </a:rPr>
                  <a:t>B</a:t>
                </a:r>
                <a:r>
                  <a:rPr lang="zh-CN" altLang="en-US" sz="2000" spc="-30" dirty="0">
                    <a:latin typeface="楷体" panose="02010609060101010101" pitchFamily="49" charset="-122"/>
                    <a:ea typeface="楷体" panose="02010609060101010101" pitchFamily="49" charset="-122"/>
                    <a:cs typeface="Arial" panose="020B0604020202020204" pitchFamily="34" charset="0"/>
                  </a:rPr>
                  <a:t>都为</a:t>
                </a:r>
                <a:r>
                  <a:rPr lang="en-US" altLang="zh-CN" sz="2000" spc="-30" dirty="0">
                    <a:latin typeface="楷体" panose="02010609060101010101" pitchFamily="49" charset="-122"/>
                    <a:ea typeface="楷体" panose="02010609060101010101" pitchFamily="49" charset="-122"/>
                    <a:cs typeface="Arial" panose="020B0604020202020204" pitchFamily="34" charset="0"/>
                  </a:rPr>
                  <a:t>1</a:t>
                </a:r>
                <a:r>
                  <a:rPr lang="zh-CN" altLang="en-US" sz="2000" spc="-30" dirty="0">
                    <a:latin typeface="楷体" panose="02010609060101010101" pitchFamily="49" charset="-122"/>
                    <a:ea typeface="楷体" panose="02010609060101010101" pitchFamily="49" charset="-122"/>
                    <a:cs typeface="Arial" panose="020B0604020202020204" pitchFamily="34" charset="0"/>
                  </a:rPr>
                  <a:t>或都为</a:t>
                </a:r>
                <a:r>
                  <a:rPr lang="en-US" altLang="zh-CN" sz="2000" spc="-30" dirty="0">
                    <a:latin typeface="楷体" panose="02010609060101010101" pitchFamily="49" charset="-122"/>
                    <a:ea typeface="楷体" panose="02010609060101010101" pitchFamily="49" charset="-122"/>
                    <a:cs typeface="Arial" panose="020B0604020202020204" pitchFamily="34" charset="0"/>
                  </a:rPr>
                  <a:t>0</a:t>
                </a:r>
                <a:r>
                  <a:rPr lang="zh-CN" altLang="en-US" sz="2000" spc="-30" dirty="0">
                    <a:latin typeface="楷体" panose="02010609060101010101" pitchFamily="49" charset="-122"/>
                    <a:ea typeface="楷体" panose="02010609060101010101" pitchFamily="49" charset="-122"/>
                    <a:cs typeface="Arial" panose="020B0604020202020204" pitchFamily="34" charset="0"/>
                  </a:rPr>
                  <a:t>时，输出</a:t>
                </a:r>
                <a:r>
                  <a:rPr lang="en-US" altLang="zh-CN" sz="2000" i="1" spc="-30" dirty="0">
                    <a:latin typeface="楷体" panose="02010609060101010101" pitchFamily="49" charset="-122"/>
                    <a:ea typeface="楷体" panose="02010609060101010101" pitchFamily="49" charset="-122"/>
                    <a:cs typeface="Arial" panose="020B0604020202020204" pitchFamily="34" charset="0"/>
                  </a:rPr>
                  <a:t>F</a:t>
                </a:r>
                <a:r>
                  <a:rPr lang="en-US" altLang="zh-CN" sz="2000" spc="-30" dirty="0">
                    <a:latin typeface="楷体" panose="02010609060101010101" pitchFamily="49" charset="-122"/>
                    <a:ea typeface="楷体" panose="02010609060101010101" pitchFamily="49" charset="-122"/>
                    <a:cs typeface="Arial" panose="020B0604020202020204" pitchFamily="34" charset="0"/>
                  </a:rPr>
                  <a:t> </a:t>
                </a:r>
                <a:r>
                  <a:rPr lang="zh-CN" altLang="en-US" sz="2000" spc="-30" dirty="0">
                    <a:latin typeface="楷体" panose="02010609060101010101" pitchFamily="49" charset="-122"/>
                    <a:ea typeface="楷体" panose="02010609060101010101" pitchFamily="49" charset="-122"/>
                    <a:cs typeface="Arial" panose="020B0604020202020204" pitchFamily="34" charset="0"/>
                  </a:rPr>
                  <a:t>为</a:t>
                </a:r>
                <a:r>
                  <a:rPr lang="en-US" altLang="zh-CN" sz="2000" spc="-30" dirty="0">
                    <a:latin typeface="楷体" panose="02010609060101010101" pitchFamily="49" charset="-122"/>
                    <a:ea typeface="楷体" panose="02010609060101010101" pitchFamily="49" charset="-122"/>
                    <a:cs typeface="Arial" panose="020B0604020202020204" pitchFamily="34" charset="0"/>
                  </a:rPr>
                  <a:t>1,</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否则 </a:t>
                </a:r>
                <a:r>
                  <a:rPr lang="en-US" altLang="zh-CN" sz="2000" i="1" spc="-30" dirty="0" smtClean="0">
                    <a:latin typeface="楷体" panose="02010609060101010101" pitchFamily="49" charset="-122"/>
                    <a:ea typeface="楷体" panose="02010609060101010101" pitchFamily="49" charset="-122"/>
                    <a:cs typeface="Arial" panose="020B0604020202020204" pitchFamily="34" charset="0"/>
                  </a:rPr>
                  <a:t>F </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为</a:t>
                </a:r>
                <a:r>
                  <a:rPr lang="en-US" altLang="zh-CN" sz="2000" spc="-30" dirty="0">
                    <a:latin typeface="楷体" panose="02010609060101010101" pitchFamily="49" charset="-122"/>
                    <a:ea typeface="楷体" panose="02010609060101010101" pitchFamily="49" charset="-122"/>
                    <a:cs typeface="Arial" panose="020B0604020202020204" pitchFamily="34" charset="0"/>
                  </a:rPr>
                  <a:t>0</a:t>
                </a:r>
                <a:r>
                  <a:rPr lang="zh-CN" altLang="en-US" sz="2000" spc="-30" dirty="0">
                    <a:latin typeface="楷体" panose="02010609060101010101" pitchFamily="49" charset="-122"/>
                    <a:ea typeface="楷体" panose="02010609060101010101" pitchFamily="49" charset="-122"/>
                    <a:cs typeface="Arial" panose="020B0604020202020204" pitchFamily="34" charset="0"/>
                  </a:rPr>
                  <a:t>。这是一个判别两个</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输入 </a:t>
                </a:r>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A </a:t>
                </a:r>
                <a:r>
                  <a:rPr lang="zh-CN" altLang="en-US" sz="2000" spc="-30" dirty="0">
                    <a:latin typeface="楷体" panose="02010609060101010101" pitchFamily="49" charset="-122"/>
                    <a:ea typeface="楷体" panose="02010609060101010101" pitchFamily="49" charset="-122"/>
                    <a:cs typeface="Arial" panose="020B0604020202020204" pitchFamily="34" charset="0"/>
                  </a:rPr>
                  <a:t>和 </a:t>
                </a:r>
                <a:r>
                  <a:rPr lang="en-US" altLang="zh-CN" sz="2000" spc="-30" dirty="0">
                    <a:latin typeface="楷体" panose="02010609060101010101" pitchFamily="49" charset="-122"/>
                    <a:ea typeface="楷体" panose="02010609060101010101" pitchFamily="49" charset="-122"/>
                    <a:cs typeface="Arial" panose="020B0604020202020204" pitchFamily="34" charset="0"/>
                  </a:rPr>
                  <a:t>B </a:t>
                </a:r>
                <a:r>
                  <a:rPr lang="zh-CN" altLang="en-US" sz="2000" spc="-30" dirty="0">
                    <a:latin typeface="楷体" panose="02010609060101010101" pitchFamily="49" charset="-122"/>
                    <a:ea typeface="楷体" panose="02010609060101010101" pitchFamily="49" charset="-122"/>
                    <a:cs typeface="Arial" panose="020B0604020202020204" pitchFamily="34" charset="0"/>
                  </a:rPr>
                  <a:t>是否相等的逻辑电路</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a:t>
                </a:r>
                <a:endParaRPr lang="en-US" altLang="zh-CN" sz="2000" spc="-30" dirty="0">
                  <a:latin typeface="楷体" panose="02010609060101010101" pitchFamily="49" charset="-122"/>
                  <a:ea typeface="楷体" panose="02010609060101010101" pitchFamily="49" charset="-122"/>
                  <a:cs typeface="Arial" panose="020B0604020202020204" pitchFamily="34" charset="0"/>
                </a:endParaRPr>
              </a:p>
              <a:p>
                <a:pPr eaLnBrk="0">
                  <a:lnSpc>
                    <a:spcPts val="3500"/>
                  </a:lnSpc>
                </a:pP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根据</a:t>
                </a:r>
                <a:r>
                  <a:rPr lang="zh-CN" altLang="en-US" sz="2000" spc="-30" dirty="0">
                    <a:latin typeface="楷体" panose="02010609060101010101" pitchFamily="49" charset="-122"/>
                    <a:ea typeface="楷体" panose="02010609060101010101" pitchFamily="49" charset="-122"/>
                    <a:cs typeface="Arial" panose="020B0604020202020204" pitchFamily="34" charset="0"/>
                  </a:rPr>
                  <a:t>同或门的逻辑功能，</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图</a:t>
                </a:r>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2.1(a</a:t>
                </a:r>
                <a:r>
                  <a:rPr lang="en-US" altLang="zh-CN" sz="2000" spc="-30" dirty="0">
                    <a:latin typeface="楷体" panose="02010609060101010101" pitchFamily="49" charset="-122"/>
                    <a:ea typeface="楷体" panose="02010609060101010101" pitchFamily="49" charset="-122"/>
                    <a:cs typeface="Arial" panose="020B0604020202020204" pitchFamily="34" charset="0"/>
                  </a:rPr>
                  <a:t>) </a:t>
                </a:r>
                <a:r>
                  <a:rPr lang="zh-CN" altLang="en-US" sz="2000" spc="-30" dirty="0">
                    <a:latin typeface="楷体" panose="02010609060101010101" pitchFamily="49" charset="-122"/>
                    <a:ea typeface="楷体" panose="02010609060101010101" pitchFamily="49" charset="-122"/>
                    <a:cs typeface="Arial" panose="020B0604020202020204" pitchFamily="34" charset="0"/>
                  </a:rPr>
                  <a:t>所示电路可用一个同或门来代替，如图</a:t>
                </a:r>
                <a:r>
                  <a:rPr lang="en-US" altLang="zh-CN" sz="2000" spc="-30" dirty="0">
                    <a:latin typeface="楷体" panose="02010609060101010101" pitchFamily="49" charset="-122"/>
                    <a:ea typeface="楷体" panose="02010609060101010101" pitchFamily="49" charset="-122"/>
                    <a:cs typeface="Arial" panose="020B0604020202020204" pitchFamily="34" charset="0"/>
                  </a:rPr>
                  <a:t>2.1(b</a:t>
                </a:r>
                <a:r>
                  <a:rPr lang="en-US" altLang="zh-CN" sz="2000" spc="-30" dirty="0" smtClean="0">
                    <a:latin typeface="楷体" panose="02010609060101010101" pitchFamily="49" charset="-122"/>
                    <a:ea typeface="楷体" panose="02010609060101010101" pitchFamily="49" charset="-122"/>
                    <a:cs typeface="Arial" panose="020B0604020202020204" pitchFamily="34" charset="0"/>
                  </a:rPr>
                  <a:t>)</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所</a:t>
                </a:r>
                <a:r>
                  <a:rPr lang="zh-CN" altLang="en-US" sz="2000" spc="-30" dirty="0">
                    <a:latin typeface="楷体" panose="02010609060101010101" pitchFamily="49" charset="-122"/>
                    <a:ea typeface="楷体" panose="02010609060101010101" pitchFamily="49" charset="-122"/>
                    <a:cs typeface="Arial" panose="020B0604020202020204" pitchFamily="34" charset="0"/>
                  </a:rPr>
                  <a:t>示</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a:t>
                </a:r>
                <a:endParaRPr lang="zh-CN" altLang="en-US" sz="2000" spc="-30" dirty="0">
                  <a:latin typeface="楷体" panose="02010609060101010101" pitchFamily="49" charset="-122"/>
                  <a:ea typeface="楷体" panose="02010609060101010101" pitchFamily="49" charset="-122"/>
                  <a:cs typeface="Arial" panose="020B0604020202020204" pitchFamily="34"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374413" y="3745703"/>
                <a:ext cx="8233147" cy="2785378"/>
              </a:xfrm>
              <a:prstGeom prst="rect">
                <a:avLst/>
              </a:prstGeom>
              <a:blipFill>
                <a:blip r:embed="rId4"/>
                <a:stretch>
                  <a:fillRect l="-740" b="-4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06601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095952"/>
            <a:ext cx="7886700" cy="474230"/>
          </a:xfrm>
        </p:spPr>
        <p:txBody>
          <a:bodyPr>
            <a:normAutofit lnSpcReduction="10000"/>
          </a:bodyPr>
          <a:lstStyle/>
          <a:p>
            <a:r>
              <a:rPr lang="zh-CN" altLang="en-US" dirty="0" smtClean="0">
                <a:latin typeface="楷体" panose="02010609060101010101" pitchFamily="49" charset="-122"/>
                <a:ea typeface="楷体" panose="02010609060101010101" pitchFamily="49" charset="-122"/>
              </a:rPr>
              <a:t>列</a:t>
            </a:r>
            <a:r>
              <a:rPr lang="zh-CN" altLang="en-US" dirty="0">
                <a:latin typeface="楷体" panose="02010609060101010101" pitchFamily="49" charset="-122"/>
                <a:ea typeface="楷体" panose="02010609060101010101" pitchFamily="49" charset="-122"/>
              </a:rPr>
              <a:t>写布尔表达式</a:t>
            </a:r>
            <a:r>
              <a:rPr lang="zh-CN" altLang="en-US" dirty="0" smtClean="0">
                <a:latin typeface="楷体" panose="02010609060101010101" pitchFamily="49" charset="-122"/>
                <a:ea typeface="楷体" panose="02010609060101010101" pitchFamily="49" charset="-122"/>
              </a:rPr>
              <a:t>法</a:t>
            </a:r>
            <a:endParaRPr lang="en-US" altLang="zh-CN" dirty="0" smtClean="0">
              <a:latin typeface="楷体" panose="02010609060101010101" pitchFamily="49" charset="-122"/>
              <a:ea typeface="楷体" panose="02010609060101010101" pitchFamily="49" charset="-122"/>
            </a:endParaRPr>
          </a:p>
        </p:txBody>
      </p:sp>
      <p:sp>
        <p:nvSpPr>
          <p:cNvPr id="9" name="矩形 8"/>
          <p:cNvSpPr/>
          <p:nvPr/>
        </p:nvSpPr>
        <p:spPr>
          <a:xfrm>
            <a:off x="383649" y="1642455"/>
            <a:ext cx="5386411" cy="400110"/>
          </a:xfrm>
          <a:prstGeom prst="rect">
            <a:avLst/>
          </a:prstGeom>
        </p:spPr>
        <p:txBody>
          <a:bodyPr wrap="none">
            <a:spAutoFit/>
          </a:bodyPr>
          <a:lstStyle/>
          <a:p>
            <a:r>
              <a:rPr lang="en-US" altLang="zh-CN" sz="2000" b="1" spc="-30" dirty="0">
                <a:latin typeface="楷体" panose="02010609060101010101" pitchFamily="49" charset="-122"/>
                <a:ea typeface="楷体" panose="02010609060101010101" pitchFamily="49" charset="-122"/>
                <a:cs typeface="Arial" panose="020B0604020202020204" pitchFamily="34" charset="0"/>
              </a:rPr>
              <a:t>【</a:t>
            </a:r>
            <a:r>
              <a:rPr lang="zh-CN" altLang="en-US" sz="2000" b="1" spc="-30" dirty="0">
                <a:latin typeface="楷体" panose="02010609060101010101" pitchFamily="49" charset="-122"/>
                <a:ea typeface="楷体" panose="02010609060101010101" pitchFamily="49" charset="-122"/>
                <a:cs typeface="Arial" panose="020B0604020202020204" pitchFamily="34" charset="0"/>
              </a:rPr>
              <a:t>例</a:t>
            </a:r>
            <a:r>
              <a:rPr lang="en-US" altLang="zh-CN" sz="2000" b="1" spc="-30" dirty="0">
                <a:latin typeface="楷体" panose="02010609060101010101" pitchFamily="49" charset="-122"/>
                <a:ea typeface="楷体" panose="02010609060101010101" pitchFamily="49" charset="-122"/>
                <a:cs typeface="Arial" panose="020B0604020202020204" pitchFamily="34" charset="0"/>
              </a:rPr>
              <a:t>2】  </a:t>
            </a:r>
            <a:r>
              <a:rPr lang="zh-CN" altLang="en-US" sz="2000" b="1" spc="-30" dirty="0">
                <a:latin typeface="楷体" panose="02010609060101010101" pitchFamily="49" charset="-122"/>
                <a:ea typeface="楷体" panose="02010609060101010101" pitchFamily="49" charset="-122"/>
                <a:cs typeface="Arial" panose="020B0604020202020204" pitchFamily="34" charset="0"/>
              </a:rPr>
              <a:t>指出图</a:t>
            </a:r>
            <a:r>
              <a:rPr lang="en-US" altLang="zh-CN" sz="2000" b="1" spc="-30" dirty="0">
                <a:latin typeface="楷体" panose="02010609060101010101" pitchFamily="49" charset="-122"/>
                <a:ea typeface="楷体" panose="02010609060101010101" pitchFamily="49" charset="-122"/>
                <a:cs typeface="Arial" panose="020B0604020202020204" pitchFamily="34" charset="0"/>
              </a:rPr>
              <a:t>2.2(a)</a:t>
            </a:r>
            <a:r>
              <a:rPr lang="zh-CN" altLang="en-US" sz="2000" b="1" spc="-30" dirty="0">
                <a:latin typeface="楷体" panose="02010609060101010101" pitchFamily="49" charset="-122"/>
                <a:ea typeface="楷体" panose="02010609060101010101" pitchFamily="49" charset="-122"/>
                <a:cs typeface="Arial" panose="020B0604020202020204" pitchFamily="34" charset="0"/>
              </a:rPr>
              <a:t>所示电路的逻辑功能。</a:t>
            </a:r>
            <a:endParaRPr lang="zh-CN" altLang="en-US" sz="2000"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10" name="矩形 9"/>
              <p:cNvSpPr/>
              <p:nvPr/>
            </p:nvSpPr>
            <p:spPr>
              <a:xfrm>
                <a:off x="383649" y="5029186"/>
                <a:ext cx="8557151" cy="2054409"/>
              </a:xfrm>
              <a:prstGeom prst="rect">
                <a:avLst/>
              </a:prstGeom>
            </p:spPr>
            <p:txBody>
              <a:bodyPr wrap="square">
                <a:spAutoFit/>
              </a:bodyPr>
              <a:lstStyle/>
              <a:p>
                <a:pPr>
                  <a:lnSpc>
                    <a:spcPts val="3500"/>
                  </a:lnSpc>
                </a:pP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解：</a:t>
                </a:r>
                <a:r>
                  <a:rPr lang="en-US" altLang="zh-CN" sz="2000" spc="-30" dirty="0">
                    <a:latin typeface="楷体" panose="02010609060101010101" pitchFamily="49" charset="-122"/>
                    <a:ea typeface="楷体" panose="02010609060101010101" pitchFamily="49" charset="-122"/>
                    <a:cs typeface="Arial" panose="020B0604020202020204" pitchFamily="34" charset="0"/>
                  </a:rPr>
                  <a:t> </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电路</a:t>
                </a:r>
                <a:r>
                  <a:rPr lang="zh-CN" altLang="en-US" sz="2000" spc="-30" dirty="0">
                    <a:latin typeface="楷体" panose="02010609060101010101" pitchFamily="49" charset="-122"/>
                    <a:ea typeface="楷体" panose="02010609060101010101" pitchFamily="49" charset="-122"/>
                    <a:cs typeface="Arial" panose="020B0604020202020204" pitchFamily="34" charset="0"/>
                  </a:rPr>
                  <a:t>采用逐级电平推导法不太方便，故写出它们的布尔表达式进行分析。其</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布尔表达式为</a:t>
                </a:r>
                <a:endParaRPr lang="en-US" altLang="zh-CN" sz="2000" spc="-30" dirty="0" smtClean="0">
                  <a:latin typeface="楷体" panose="02010609060101010101" pitchFamily="49" charset="-122"/>
                  <a:ea typeface="楷体" panose="02010609060101010101" pitchFamily="49" charset="-122"/>
                  <a:cs typeface="Arial" panose="020B0604020202020204" pitchFamily="34" charset="0"/>
                </a:endParaRPr>
              </a:p>
              <a:p>
                <a:pPr>
                  <a:lnSpc>
                    <a:spcPts val="3500"/>
                  </a:lnSpc>
                </a:pPr>
                <a14:m>
                  <m:oMathPara xmlns:m="http://schemas.openxmlformats.org/officeDocument/2006/math">
                    <m:oMathParaPr>
                      <m:jc m:val="centerGroup"/>
                    </m:oMathParaPr>
                    <m:oMath xmlns:m="http://schemas.openxmlformats.org/officeDocument/2006/math">
                      <m:r>
                        <a:rPr lang="en-US" altLang="zh-CN" sz="2000" i="1" dirty="0">
                          <a:latin typeface="Cambria Math" panose="02040503050406030204" pitchFamily="18" charset="0"/>
                        </a:rPr>
                        <m:t>𝐹</m:t>
                      </m:r>
                      <m:r>
                        <a:rPr lang="en-US" altLang="zh-CN" sz="2000" i="1">
                          <a:latin typeface="Cambria Math" panose="02040503050406030204" pitchFamily="18" charset="0"/>
                        </a:rPr>
                        <m:t>=</m:t>
                      </m:r>
                      <m:r>
                        <a:rPr lang="en-US" altLang="zh-CN" sz="2000" b="0" i="1" smtClean="0">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𝐴</m:t>
                              </m:r>
                              <m:r>
                                <a:rPr lang="en-US" altLang="zh-CN" sz="2000" b="0" i="1" smtClean="0">
                                  <a:latin typeface="Cambria Math" panose="02040503050406030204" pitchFamily="18" charset="0"/>
                                </a:rPr>
                                <m:t> </m:t>
                              </m:r>
                            </m:e>
                          </m:acc>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 </m:t>
                              </m:r>
                            </m:e>
                          </m:acc>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 </m:t>
                              </m:r>
                            </m:e>
                          </m:acc>
                        </m:e>
                      </m:acc>
                      <m:r>
                        <a:rPr lang="en-US" altLang="zh-CN" sz="2000" b="0" i="1" smtClean="0">
                          <a:latin typeface="Cambria Math" panose="02040503050406030204" pitchFamily="18" charset="0"/>
                        </a:rPr>
                        <m:t>)</m:t>
                      </m:r>
                      <m:r>
                        <a:rPr lang="en-US" altLang="zh-CN" sz="2000" i="1">
                          <a:latin typeface="Cambria Math" panose="02040503050406030204" pitchFamily="18" charset="0"/>
                        </a:rPr>
                        <m:t>𝐶</m:t>
                      </m:r>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𝐴</m:t>
                              </m:r>
                              <m:r>
                                <a:rPr lang="en-US" altLang="zh-CN" sz="2000" b="0" i="1" smtClean="0">
                                  <a:latin typeface="Cambria Math" panose="02040503050406030204" pitchFamily="18" charset="0"/>
                                </a:rPr>
                                <m:t> </m:t>
                              </m:r>
                            </m:e>
                          </m:acc>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𝐵</m:t>
                              </m:r>
                              <m:r>
                                <a:rPr lang="en-US" altLang="zh-CN" sz="2000" b="0" i="1" smtClean="0">
                                  <a:latin typeface="Cambria Math" panose="02040503050406030204" pitchFamily="18" charset="0"/>
                                </a:rPr>
                                <m:t> </m:t>
                              </m:r>
                            </m:e>
                          </m:acc>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𝐶</m:t>
                              </m:r>
                              <m:r>
                                <a:rPr lang="en-US" altLang="zh-CN" sz="2000" b="0" i="1" smtClean="0">
                                  <a:latin typeface="Cambria Math" panose="02040503050406030204" pitchFamily="18" charset="0"/>
                                </a:rPr>
                                <m:t> </m:t>
                              </m:r>
                            </m:e>
                          </m:acc>
                        </m:e>
                      </m:acc>
                      <m:r>
                        <a:rPr lang="en-US" altLang="zh-CN" sz="2000" i="1">
                          <a:latin typeface="Cambria Math" panose="02040503050406030204" pitchFamily="18" charset="0"/>
                        </a:rPr>
                        <m:t>+</m:t>
                      </m:r>
                      <m:r>
                        <a:rPr lang="en-US" altLang="zh-CN" sz="2000" i="1">
                          <a:latin typeface="Cambria Math" panose="02040503050406030204" pitchFamily="18" charset="0"/>
                        </a:rPr>
                        <m:t>𝐷</m:t>
                      </m:r>
                    </m:oMath>
                  </m:oMathPara>
                </a14:m>
                <a:endParaRPr lang="zh-CN" altLang="en-US" sz="2000" i="1" dirty="0">
                  <a:latin typeface="楷体" panose="02010609060101010101" pitchFamily="49" charset="-122"/>
                  <a:ea typeface="楷体" panose="02010609060101010101" pitchFamily="49" charset="-122"/>
                </a:endParaRPr>
              </a:p>
              <a:p>
                <a:endParaRPr lang="en-US" altLang="zh-CN" sz="2000" spc="-30" dirty="0">
                  <a:latin typeface="楷体" panose="02010609060101010101" pitchFamily="49" charset="-122"/>
                  <a:ea typeface="楷体" panose="02010609060101010101" pitchFamily="49" charset="-122"/>
                  <a:cs typeface="Arial" panose="020B0604020202020204" pitchFamily="34" charset="0"/>
                </a:endParaRPr>
              </a:p>
              <a:p>
                <a:endParaRPr lang="zh-CN" altLang="en-US" sz="2000" dirty="0">
                  <a:latin typeface="楷体" panose="02010609060101010101" pitchFamily="49" charset="-122"/>
                  <a:ea typeface="楷体" panose="02010609060101010101" pitchFamily="49"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383649" y="5029186"/>
                <a:ext cx="8557151" cy="2054409"/>
              </a:xfrm>
              <a:prstGeom prst="rect">
                <a:avLst/>
              </a:prstGeom>
              <a:blipFill>
                <a:blip r:embed="rId2"/>
                <a:stretch>
                  <a:fillRect l="-783"/>
                </a:stretch>
              </a:blipFill>
            </p:spPr>
            <p:txBody>
              <a:bodyPr/>
              <a:lstStyle/>
              <a:p>
                <a:r>
                  <a:rPr lang="zh-CN" altLang="en-US">
                    <a:noFill/>
                  </a:rPr>
                  <a:t> </a:t>
                </a:r>
              </a:p>
            </p:txBody>
          </p:sp>
        </mc:Fallback>
      </mc:AlternateContent>
      <p:pic>
        <p:nvPicPr>
          <p:cNvPr id="12" name="图片 11"/>
          <p:cNvPicPr>
            <a:picLocks noChangeAspect="1"/>
          </p:cNvPicPr>
          <p:nvPr/>
        </p:nvPicPr>
        <p:blipFill>
          <a:blip r:embed="rId3"/>
          <a:stretch>
            <a:fillRect/>
          </a:stretch>
        </p:blipFill>
        <p:spPr>
          <a:xfrm>
            <a:off x="970771" y="2359457"/>
            <a:ext cx="7382905" cy="2572109"/>
          </a:xfrm>
          <a:prstGeom prst="rect">
            <a:avLst/>
          </a:prstGeom>
        </p:spPr>
      </p:pic>
    </p:spTree>
    <p:extLst>
      <p:ext uri="{BB962C8B-B14F-4D97-AF65-F5344CB8AC3E}">
        <p14:creationId xmlns:p14="http://schemas.microsoft.com/office/powerpoint/2010/main" val="13028179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20594" y="155610"/>
            <a:ext cx="5386411" cy="400110"/>
          </a:xfrm>
          <a:prstGeom prst="rect">
            <a:avLst/>
          </a:prstGeom>
        </p:spPr>
        <p:txBody>
          <a:bodyPr wrap="none">
            <a:spAutoFit/>
          </a:bodyPr>
          <a:lstStyle/>
          <a:p>
            <a:r>
              <a:rPr lang="en-US" altLang="zh-CN" sz="2000" b="1" spc="-30" dirty="0">
                <a:latin typeface="楷体" panose="02010609060101010101" pitchFamily="49" charset="-122"/>
                <a:ea typeface="楷体" panose="02010609060101010101" pitchFamily="49" charset="-122"/>
                <a:cs typeface="Arial" panose="020B0604020202020204" pitchFamily="34" charset="0"/>
              </a:rPr>
              <a:t>【</a:t>
            </a:r>
            <a:r>
              <a:rPr lang="zh-CN" altLang="en-US" sz="2000" b="1" spc="-30" dirty="0">
                <a:latin typeface="楷体" panose="02010609060101010101" pitchFamily="49" charset="-122"/>
                <a:ea typeface="楷体" panose="02010609060101010101" pitchFamily="49" charset="-122"/>
                <a:cs typeface="Arial" panose="020B0604020202020204" pitchFamily="34" charset="0"/>
              </a:rPr>
              <a:t>例</a:t>
            </a:r>
            <a:r>
              <a:rPr lang="en-US" altLang="zh-CN" sz="2000" b="1" spc="-30" dirty="0">
                <a:latin typeface="楷体" panose="02010609060101010101" pitchFamily="49" charset="-122"/>
                <a:ea typeface="楷体" panose="02010609060101010101" pitchFamily="49" charset="-122"/>
                <a:cs typeface="Arial" panose="020B0604020202020204" pitchFamily="34" charset="0"/>
              </a:rPr>
              <a:t>2】  </a:t>
            </a:r>
            <a:r>
              <a:rPr lang="zh-CN" altLang="en-US" sz="2000" b="1" spc="-30" dirty="0">
                <a:latin typeface="楷体" panose="02010609060101010101" pitchFamily="49" charset="-122"/>
                <a:ea typeface="楷体" panose="02010609060101010101" pitchFamily="49" charset="-122"/>
                <a:cs typeface="Arial" panose="020B0604020202020204" pitchFamily="34" charset="0"/>
              </a:rPr>
              <a:t>指出图</a:t>
            </a:r>
            <a:r>
              <a:rPr lang="en-US" altLang="zh-CN" sz="2000" b="1" spc="-30" dirty="0">
                <a:latin typeface="楷体" panose="02010609060101010101" pitchFamily="49" charset="-122"/>
                <a:ea typeface="楷体" panose="02010609060101010101" pitchFamily="49" charset="-122"/>
                <a:cs typeface="Arial" panose="020B0604020202020204" pitchFamily="34" charset="0"/>
              </a:rPr>
              <a:t>2.2(a)</a:t>
            </a:r>
            <a:r>
              <a:rPr lang="zh-CN" altLang="en-US" sz="2000" b="1" spc="-30" dirty="0">
                <a:latin typeface="楷体" panose="02010609060101010101" pitchFamily="49" charset="-122"/>
                <a:ea typeface="楷体" panose="02010609060101010101" pitchFamily="49" charset="-122"/>
                <a:cs typeface="Arial" panose="020B0604020202020204" pitchFamily="34" charset="0"/>
              </a:rPr>
              <a:t>所示电路的逻辑功能。</a:t>
            </a:r>
            <a:endParaRPr lang="zh-CN" altLang="en-US" sz="2000"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10" name="矩形 9"/>
              <p:cNvSpPr/>
              <p:nvPr/>
            </p:nvSpPr>
            <p:spPr>
              <a:xfrm>
                <a:off x="245103" y="882058"/>
                <a:ext cx="8557151" cy="5184753"/>
              </a:xfrm>
              <a:prstGeom prst="rect">
                <a:avLst/>
              </a:prstGeom>
            </p:spPr>
            <p:txBody>
              <a:bodyPr wrap="square">
                <a:spAutoFit/>
              </a:bodyPr>
              <a:lstStyle/>
              <a:p>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解：</a:t>
                </a:r>
                <a:r>
                  <a:rPr lang="en-US" altLang="zh-CN" sz="2000" spc="-30" dirty="0">
                    <a:latin typeface="楷体" panose="02010609060101010101" pitchFamily="49" charset="-122"/>
                    <a:ea typeface="楷体" panose="02010609060101010101" pitchFamily="49" charset="-122"/>
                    <a:cs typeface="Arial" panose="020B0604020202020204" pitchFamily="34" charset="0"/>
                  </a:rPr>
                  <a:t> </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电路</a:t>
                </a:r>
                <a:r>
                  <a:rPr lang="zh-CN" altLang="en-US" sz="2000" spc="-30" dirty="0">
                    <a:latin typeface="楷体" panose="02010609060101010101" pitchFamily="49" charset="-122"/>
                    <a:ea typeface="楷体" panose="02010609060101010101" pitchFamily="49" charset="-122"/>
                    <a:cs typeface="Arial" panose="020B0604020202020204" pitchFamily="34" charset="0"/>
                  </a:rPr>
                  <a:t>采用逐级电平推导法不太方便，故写出它们的布尔表达式进行分析。其</a:t>
                </a:r>
                <a:r>
                  <a:rPr lang="zh-CN" altLang="en-US" sz="2000" spc="-30" dirty="0" smtClean="0">
                    <a:latin typeface="楷体" panose="02010609060101010101" pitchFamily="49" charset="-122"/>
                    <a:ea typeface="楷体" panose="02010609060101010101" pitchFamily="49" charset="-122"/>
                    <a:cs typeface="Arial" panose="020B0604020202020204" pitchFamily="34" charset="0"/>
                  </a:rPr>
                  <a:t>布尔表达式为</a:t>
                </a:r>
                <a:endParaRPr lang="en-US" altLang="zh-CN" sz="2000" spc="-30" dirty="0" smtClean="0">
                  <a:latin typeface="楷体" panose="02010609060101010101" pitchFamily="49" charset="-122"/>
                  <a:ea typeface="楷体" panose="02010609060101010101" pitchFamily="49" charset="-122"/>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sz="2000" i="1" dirty="0">
                          <a:latin typeface="Cambria Math" panose="02040503050406030204" pitchFamily="18" charset="0"/>
                        </a:rPr>
                        <m:t>𝐹</m:t>
                      </m:r>
                      <m:r>
                        <a:rPr lang="en-US" altLang="zh-CN" sz="2000" i="1">
                          <a:latin typeface="Cambria Math" panose="02040503050406030204" pitchFamily="18" charset="0"/>
                        </a:rPr>
                        <m:t>=</m:t>
                      </m:r>
                      <m:r>
                        <a:rPr lang="en-US" altLang="zh-CN" sz="2000" b="0" i="1" smtClean="0">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𝐴</m:t>
                              </m:r>
                              <m:r>
                                <a:rPr lang="en-US" altLang="zh-CN" sz="2000" b="0" i="1" smtClean="0">
                                  <a:latin typeface="Cambria Math" panose="02040503050406030204" pitchFamily="18" charset="0"/>
                                </a:rPr>
                                <m:t> </m:t>
                              </m:r>
                            </m:e>
                          </m:acc>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 </m:t>
                              </m:r>
                            </m:e>
                          </m:acc>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 </m:t>
                              </m:r>
                            </m:e>
                          </m:acc>
                        </m:e>
                      </m:acc>
                      <m:r>
                        <a:rPr lang="en-US" altLang="zh-CN" sz="2000" b="0" i="1" smtClean="0">
                          <a:latin typeface="Cambria Math" panose="02040503050406030204" pitchFamily="18" charset="0"/>
                        </a:rPr>
                        <m:t>)</m:t>
                      </m:r>
                      <m:r>
                        <a:rPr lang="en-US" altLang="zh-CN" sz="2000" i="1">
                          <a:latin typeface="Cambria Math" panose="02040503050406030204" pitchFamily="18" charset="0"/>
                        </a:rPr>
                        <m:t>𝐶</m:t>
                      </m:r>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𝐴</m:t>
                              </m:r>
                              <m:r>
                                <a:rPr lang="en-US" altLang="zh-CN" sz="2000" b="0" i="1" smtClean="0">
                                  <a:latin typeface="Cambria Math" panose="02040503050406030204" pitchFamily="18" charset="0"/>
                                </a:rPr>
                                <m:t> </m:t>
                              </m:r>
                            </m:e>
                          </m:acc>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𝐵</m:t>
                              </m:r>
                              <m:r>
                                <a:rPr lang="en-US" altLang="zh-CN" sz="2000" b="0" i="1" smtClean="0">
                                  <a:latin typeface="Cambria Math" panose="02040503050406030204" pitchFamily="18" charset="0"/>
                                </a:rPr>
                                <m:t> </m:t>
                              </m:r>
                            </m:e>
                          </m:acc>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𝐶</m:t>
                              </m:r>
                              <m:r>
                                <a:rPr lang="en-US" altLang="zh-CN" sz="2000" b="0" i="1" smtClean="0">
                                  <a:latin typeface="Cambria Math" panose="02040503050406030204" pitchFamily="18" charset="0"/>
                                </a:rPr>
                                <m:t> </m:t>
                              </m:r>
                            </m:e>
                          </m:acc>
                        </m:e>
                      </m:acc>
                      <m:r>
                        <a:rPr lang="en-US" altLang="zh-CN" sz="2000" i="1">
                          <a:latin typeface="Cambria Math" panose="02040503050406030204" pitchFamily="18" charset="0"/>
                        </a:rPr>
                        <m:t>+</m:t>
                      </m:r>
                      <m:r>
                        <a:rPr lang="en-US" altLang="zh-CN" sz="2000" i="1">
                          <a:latin typeface="Cambria Math" panose="02040503050406030204" pitchFamily="18" charset="0"/>
                        </a:rPr>
                        <m:t>𝐷</m:t>
                      </m:r>
                    </m:oMath>
                  </m:oMathPara>
                </a14:m>
                <a:endParaRPr lang="zh-CN" altLang="en-US" sz="2000" i="1" dirty="0">
                  <a:latin typeface="楷体" panose="02010609060101010101" pitchFamily="49" charset="-122"/>
                  <a:ea typeface="楷体" panose="02010609060101010101" pitchFamily="49" charset="-122"/>
                </a:endParaRPr>
              </a:p>
              <a:p>
                <a:endParaRPr lang="en-US" altLang="zh-CN" sz="2000" spc="-30" dirty="0">
                  <a:latin typeface="楷体" panose="02010609060101010101" pitchFamily="49" charset="-122"/>
                  <a:ea typeface="楷体" panose="02010609060101010101" pitchFamily="49" charset="-122"/>
                  <a:cs typeface="Arial" panose="020B0604020202020204" pitchFamily="34" charset="0"/>
                </a:endParaRPr>
              </a:p>
              <a:p>
                <a:r>
                  <a:rPr lang="zh-CN" altLang="zh-CN" dirty="0">
                    <a:latin typeface="楷体" panose="02010609060101010101" pitchFamily="49" charset="-122"/>
                    <a:ea typeface="楷体" panose="02010609060101010101" pitchFamily="49" charset="-122"/>
                  </a:rPr>
                  <a:t>利用德摩根定律展开后，</a:t>
                </a:r>
              </a:p>
              <a:p>
                <a:pPr marL="803275" defTabSz="493713"/>
                <a14:m>
                  <m:oMath xmlns:m="http://schemas.openxmlformats.org/officeDocument/2006/math">
                    <m:r>
                      <a:rPr lang="en-US" altLang="zh-CN" sz="2000" b="0" i="1" smtClean="0">
                        <a:latin typeface="Cambria Math" panose="02040503050406030204" pitchFamily="18" charset="0"/>
                      </a:rPr>
                      <m:t>𝐹</m:t>
                    </m:r>
                    <m:r>
                      <a:rPr lang="en-US" altLang="zh-CN" sz="2000" b="0" i="1" smtClean="0">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 </m:t>
                            </m:r>
                          </m:e>
                        </m:acc>
                      </m:e>
                    </m:acc>
                    <m:r>
                      <a:rPr lang="en-US" altLang="zh-CN" sz="2000" b="0" i="1" smtClean="0">
                        <a:latin typeface="Cambria Math" panose="02040503050406030204" pitchFamily="18" charset="0"/>
                      </a:rPr>
                      <m:t>+</m:t>
                    </m:r>
                    <m:acc>
                      <m:accPr>
                        <m:chr m:val="̅"/>
                        <m:ctrlPr>
                          <a:rPr lang="en-US" altLang="zh-CN" sz="2000" i="1" smtClean="0">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𝐵</m:t>
                            </m:r>
                            <m:r>
                              <a:rPr lang="en-US" altLang="zh-CN" sz="2000" b="0" i="1" smtClean="0">
                                <a:latin typeface="Cambria Math" panose="02040503050406030204" pitchFamily="18" charset="0"/>
                              </a:rPr>
                              <m:t> </m:t>
                            </m:r>
                          </m:e>
                        </m:acc>
                      </m:e>
                    </m:acc>
                    <m:r>
                      <a:rPr lang="en-US" altLang="zh-CN" sz="2000" b="0" i="1" smtClean="0">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𝐶</m:t>
                            </m:r>
                            <m:r>
                              <a:rPr lang="en-US" altLang="zh-CN" sz="2000" b="0" i="1" smtClean="0">
                                <a:latin typeface="Cambria Math" panose="02040503050406030204" pitchFamily="18" charset="0"/>
                              </a:rPr>
                              <m:t> </m:t>
                            </m:r>
                          </m:e>
                        </m:acc>
                      </m:e>
                    </m:acc>
                    <m:r>
                      <a:rPr lang="en-US" altLang="zh-CN" sz="2000" b="0" i="1" smtClean="0">
                        <a:latin typeface="Cambria Math" panose="02040503050406030204" pitchFamily="18" charset="0"/>
                      </a:rPr>
                      <m:t>)</m:t>
                    </m:r>
                  </m:oMath>
                </a14:m>
                <a:r>
                  <a:rPr lang="en-US" altLang="zh-CN" sz="2000" dirty="0">
                    <a:latin typeface="楷体" panose="02010609060101010101" pitchFamily="49" charset="-122"/>
                    <a:ea typeface="楷体" panose="02010609060101010101" pitchFamily="49" charset="-122"/>
                  </a:rPr>
                  <a:t> </a:t>
                </a:r>
                <a14:m>
                  <m:oMath xmlns:m="http://schemas.openxmlformats.org/officeDocument/2006/math">
                    <m:r>
                      <a:rPr lang="en-US" altLang="zh-CN" sz="2000" i="1">
                        <a:latin typeface="Cambria Math" panose="02040503050406030204" pitchFamily="18" charset="0"/>
                      </a:rPr>
                      <m:t>𝐶</m:t>
                    </m:r>
                    <m:r>
                      <a:rPr lang="en-US" altLang="zh-CN" sz="2000" b="0" i="1" smtClean="0">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𝐴</m:t>
                            </m:r>
                            <m:r>
                              <a:rPr lang="en-US" altLang="zh-CN" sz="2000" b="0" i="1" smtClean="0">
                                <a:latin typeface="Cambria Math" panose="02040503050406030204" pitchFamily="18" charset="0"/>
                              </a:rPr>
                              <m:t> </m:t>
                            </m:r>
                          </m:e>
                        </m:acc>
                      </m:e>
                    </m:acc>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𝐵</m:t>
                            </m:r>
                            <m:r>
                              <a:rPr lang="en-US" altLang="zh-CN" sz="2000" b="0" i="1" smtClean="0">
                                <a:latin typeface="Cambria Math" panose="02040503050406030204" pitchFamily="18" charset="0"/>
                              </a:rPr>
                              <m:t> </m:t>
                            </m:r>
                          </m:e>
                        </m:acc>
                      </m:e>
                    </m:acc>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𝐶</m:t>
                            </m:r>
                            <m:r>
                              <a:rPr lang="en-US" altLang="zh-CN" sz="2000" b="0" i="1" smtClean="0">
                                <a:latin typeface="Cambria Math" panose="02040503050406030204" pitchFamily="18" charset="0"/>
                              </a:rPr>
                              <m:t> </m:t>
                            </m:r>
                          </m:e>
                        </m:acc>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𝐷</m:t>
                    </m:r>
                  </m:oMath>
                </a14:m>
                <a:endParaRPr lang="en-US" altLang="zh-CN" sz="2000" b="0" i="1" dirty="0" smtClean="0">
                  <a:latin typeface="楷体" panose="02010609060101010101" pitchFamily="49" charset="-122"/>
                  <a:ea typeface="楷体" panose="02010609060101010101" pitchFamily="49" charset="-122"/>
                </a:endParaRPr>
              </a:p>
              <a:p>
                <a:pPr marL="1081088" defTabSz="493713"/>
                <a14:m>
                  <m:oMath xmlns:m="http://schemas.openxmlformats.org/officeDocument/2006/math">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𝐶𝐶</m:t>
                    </m:r>
                    <m:r>
                      <a:rPr lang="en-US" altLang="zh-CN" sz="2000" b="0" i="1" smtClean="0">
                        <a:latin typeface="Cambria Math" panose="02040503050406030204" pitchFamily="18" charset="0"/>
                      </a:rPr>
                      <m:t>+</m:t>
                    </m:r>
                    <m:r>
                      <a:rPr lang="en-US" altLang="zh-CN" sz="2000" i="1">
                        <a:latin typeface="Cambria Math" panose="02040503050406030204" pitchFamily="18" charset="0"/>
                      </a:rPr>
                      <m:t>𝐴</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𝐷</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oMath>
                </a14:m>
                <a:r>
                  <a:rPr lang="en-US" altLang="zh-CN" sz="2000" b="0" i="1" dirty="0" smtClean="0">
                    <a:latin typeface="楷体" panose="02010609060101010101" pitchFamily="49" charset="-122"/>
                    <a:ea typeface="楷体" panose="02010609060101010101" pitchFamily="49" charset="-122"/>
                  </a:rPr>
                  <a:t>    </a:t>
                </a:r>
              </a:p>
              <a:p>
                <a:pPr marL="1081088" defTabSz="493713"/>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rPr>
                        <m:t>=</m:t>
                      </m:r>
                      <m:r>
                        <a:rPr lang="en-US" altLang="zh-CN" sz="2000" i="1">
                          <a:latin typeface="Cambria Math" panose="02040503050406030204" pitchFamily="18" charset="0"/>
                        </a:rPr>
                        <m:t>𝐴𝐶</m:t>
                      </m:r>
                      <m:r>
                        <a:rPr lang="en-US" altLang="zh-CN" sz="2000" i="1">
                          <a:latin typeface="Cambria Math" panose="02040503050406030204" pitchFamily="18" charset="0"/>
                        </a:rPr>
                        <m:t>+</m:t>
                      </m:r>
                      <m:r>
                        <a:rPr lang="en-US" altLang="zh-CN" sz="2000" i="1">
                          <a:latin typeface="Cambria Math" panose="02040503050406030204" pitchFamily="18" charset="0"/>
                        </a:rPr>
                        <m:t>𝐵𝐶</m:t>
                      </m:r>
                      <m:r>
                        <a:rPr lang="en-US" altLang="zh-CN" sz="2000" i="1">
                          <a:latin typeface="Cambria Math" panose="02040503050406030204" pitchFamily="18" charset="0"/>
                        </a:rPr>
                        <m:t>+</m:t>
                      </m:r>
                      <m:r>
                        <a:rPr lang="en-US" altLang="zh-CN" sz="2000" b="0" i="1" smtClean="0">
                          <a:latin typeface="Cambria Math" panose="02040503050406030204" pitchFamily="18" charset="0"/>
                        </a:rPr>
                        <m:t>𝐶</m:t>
                      </m:r>
                      <m:r>
                        <a:rPr lang="en-US" altLang="zh-CN" sz="2000" i="1">
                          <a:latin typeface="Cambria Math" panose="02040503050406030204" pitchFamily="18" charset="0"/>
                        </a:rPr>
                        <m:t>+</m:t>
                      </m:r>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𝐵</m:t>
                      </m:r>
                      <m:r>
                        <a:rPr lang="en-US" altLang="zh-CN" sz="2000" i="1">
                          <a:latin typeface="Cambria Math" panose="02040503050406030204" pitchFamily="18" charset="0"/>
                        </a:rPr>
                        <m:t>+</m:t>
                      </m:r>
                      <m:r>
                        <a:rPr lang="en-US" altLang="zh-CN" sz="2000" i="1">
                          <a:latin typeface="Cambria Math" panose="02040503050406030204" pitchFamily="18" charset="0"/>
                        </a:rPr>
                        <m:t>𝐶</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b="0" i="1" smtClean="0">
                          <a:latin typeface="Cambria Math" panose="02040503050406030204" pitchFamily="18" charset="0"/>
                        </a:rPr>
                        <m:t>                           </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𝐶</m:t>
                          </m:r>
                        </m:e>
                      </m:d>
                    </m:oMath>
                  </m:oMathPara>
                </a14:m>
                <a:endParaRPr lang="en-US" altLang="zh-CN" sz="2000" b="0" i="1" dirty="0" smtClean="0">
                  <a:latin typeface="楷体" panose="02010609060101010101" pitchFamily="49" charset="-122"/>
                  <a:ea typeface="楷体" panose="02010609060101010101" pitchFamily="49" charset="-122"/>
                </a:endParaRPr>
              </a:p>
              <a:p>
                <a:pPr marL="1081088" defTabSz="493713"/>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𝐶</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+1</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𝐷</m:t>
                      </m:r>
                      <m:r>
                        <a:rPr lang="en-US" altLang="zh-CN" sz="2000" b="0" i="1" smtClean="0">
                          <a:latin typeface="Cambria Math" panose="02040503050406030204" pitchFamily="18" charset="0"/>
                        </a:rPr>
                        <m:t>                                  </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+1=1</m:t>
                          </m:r>
                        </m:e>
                      </m:d>
                    </m:oMath>
                  </m:oMathPara>
                </a14:m>
                <a:endParaRPr lang="en-US" altLang="zh-CN" sz="2000" b="0" i="1" dirty="0" smtClean="0">
                  <a:latin typeface="楷体" panose="02010609060101010101" pitchFamily="49" charset="-122"/>
                  <a:ea typeface="楷体" panose="02010609060101010101" pitchFamily="49" charset="-122"/>
                </a:endParaRPr>
              </a:p>
              <a:p>
                <a:pPr marL="1081088" defTabSz="493713"/>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𝐷</m:t>
                      </m:r>
                    </m:oMath>
                  </m:oMathPara>
                </a14:m>
                <a:endParaRPr lang="en-US" altLang="zh-CN" sz="2000" b="0" i="1" dirty="0" smtClean="0">
                  <a:latin typeface="楷体" panose="02010609060101010101" pitchFamily="49" charset="-122"/>
                  <a:ea typeface="楷体" panose="02010609060101010101" pitchFamily="49" charset="-122"/>
                </a:endParaRPr>
              </a:p>
              <a:p>
                <a:endParaRPr lang="en-US" altLang="zh-CN" sz="2000" dirty="0" smtClean="0">
                  <a:latin typeface="楷体" panose="02010609060101010101" pitchFamily="49" charset="-122"/>
                  <a:ea typeface="楷体" panose="02010609060101010101" pitchFamily="49" charset="-122"/>
                </a:endParaRPr>
              </a:p>
              <a:p>
                <a:pPr>
                  <a:lnSpc>
                    <a:spcPts val="3500"/>
                  </a:lnSpc>
                </a:pPr>
                <a:r>
                  <a:rPr lang="zh-CN" altLang="zh-CN" sz="2000" dirty="0">
                    <a:latin typeface="楷体" panose="02010609060101010101" pitchFamily="49" charset="-122"/>
                    <a:ea typeface="楷体" panose="02010609060101010101" pitchFamily="49" charset="-122"/>
                  </a:rPr>
                  <a:t>简化后的电路是一个</a:t>
                </a:r>
                <a:r>
                  <a:rPr lang="en-US" altLang="zh-CN" sz="2000" dirty="0">
                    <a:latin typeface="楷体" panose="02010609060101010101" pitchFamily="49" charset="-122"/>
                    <a:ea typeface="楷体" panose="02010609060101010101" pitchFamily="49" charset="-122"/>
                  </a:rPr>
                  <a:t>4</a:t>
                </a:r>
                <a:r>
                  <a:rPr lang="zh-CN" altLang="zh-CN" sz="2000" dirty="0">
                    <a:latin typeface="楷体" panose="02010609060101010101" pitchFamily="49" charset="-122"/>
                    <a:ea typeface="楷体" panose="02010609060101010101" pitchFamily="49" charset="-122"/>
                  </a:rPr>
                  <a:t>输入的或门，见图</a:t>
                </a:r>
                <a:r>
                  <a:rPr lang="en-US" altLang="zh-CN" sz="2000" dirty="0">
                    <a:latin typeface="楷体" panose="02010609060101010101" pitchFamily="49" charset="-122"/>
                    <a:ea typeface="楷体" panose="02010609060101010101" pitchFamily="49" charset="-122"/>
                  </a:rPr>
                  <a:t>2.2(b)</a:t>
                </a:r>
                <a:r>
                  <a:rPr lang="zh-CN" altLang="zh-CN" sz="2000" dirty="0">
                    <a:latin typeface="楷体" panose="02010609060101010101" pitchFamily="49" charset="-122"/>
                    <a:ea typeface="楷体" panose="02010609060101010101" pitchFamily="49" charset="-122"/>
                  </a:rPr>
                  <a:t>所示，它与原来的电路是逻辑等价的。</a:t>
                </a:r>
                <a:r>
                  <a:rPr lang="zh-CN" altLang="zh-CN" sz="2000" dirty="0" smtClean="0">
                    <a:latin typeface="楷体" panose="02010609060101010101" pitchFamily="49" charset="-122"/>
                    <a:ea typeface="楷体" panose="02010609060101010101" pitchFamily="49" charset="-122"/>
                  </a:rPr>
                  <a:t>但其</a:t>
                </a:r>
                <a:r>
                  <a:rPr lang="zh-CN" altLang="zh-CN" sz="2000" dirty="0">
                    <a:latin typeface="楷体" panose="02010609060101010101" pitchFamily="49" charset="-122"/>
                    <a:ea typeface="楷体" panose="02010609060101010101" pitchFamily="49" charset="-122"/>
                  </a:rPr>
                  <a:t>优点是减少了门的数目</a:t>
                </a:r>
                <a:r>
                  <a:rPr lang="en-US" altLang="zh-CN" sz="2000" dirty="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原来</a:t>
                </a:r>
                <a:r>
                  <a:rPr lang="en-US" altLang="zh-CN" sz="2000" dirty="0">
                    <a:latin typeface="楷体" panose="02010609060101010101" pitchFamily="49" charset="-122"/>
                    <a:ea typeface="楷体" panose="02010609060101010101" pitchFamily="49" charset="-122"/>
                  </a:rPr>
                  <a:t>7</a:t>
                </a:r>
                <a:r>
                  <a:rPr lang="zh-CN" altLang="zh-CN" sz="2000" dirty="0">
                    <a:latin typeface="楷体" panose="02010609060101010101" pitchFamily="49" charset="-122"/>
                    <a:ea typeface="楷体" panose="02010609060101010101" pitchFamily="49" charset="-122"/>
                  </a:rPr>
                  <a:t>个，现在</a:t>
                </a:r>
                <a:r>
                  <a:rPr lang="en-US" altLang="zh-CN" sz="2000" dirty="0">
                    <a:latin typeface="楷体" panose="02010609060101010101" pitchFamily="49" charset="-122"/>
                    <a:ea typeface="楷体" panose="02010609060101010101" pitchFamily="49" charset="-122"/>
                  </a:rPr>
                  <a:t>1</a:t>
                </a:r>
                <a:r>
                  <a:rPr lang="zh-CN" altLang="zh-CN" sz="2000" dirty="0" smtClean="0">
                    <a:latin typeface="楷体" panose="02010609060101010101" pitchFamily="49" charset="-122"/>
                    <a:ea typeface="楷体" panose="02010609060101010101" pitchFamily="49" charset="-122"/>
                  </a:rPr>
                  <a:t>个</a:t>
                </a:r>
                <a:r>
                  <a:rPr lang="zh-CN" altLang="en-US" sz="2000" dirty="0">
                    <a:latin typeface="楷体" panose="02010609060101010101" pitchFamily="49" charset="-122"/>
                    <a:ea typeface="楷体" panose="02010609060101010101" pitchFamily="49" charset="-122"/>
                  </a:rPr>
                  <a:t>，</a:t>
                </a:r>
                <a:r>
                  <a:rPr lang="zh-CN" altLang="zh-CN" sz="2000" dirty="0" smtClean="0">
                    <a:latin typeface="楷体" panose="02010609060101010101" pitchFamily="49" charset="-122"/>
                    <a:ea typeface="楷体" panose="02010609060101010101" pitchFamily="49" charset="-122"/>
                  </a:rPr>
                  <a:t>且</a:t>
                </a:r>
                <a:r>
                  <a:rPr lang="zh-CN" altLang="zh-CN" sz="2000" dirty="0">
                    <a:latin typeface="楷体" panose="02010609060101010101" pitchFamily="49" charset="-122"/>
                    <a:ea typeface="楷体" panose="02010609060101010101" pitchFamily="49" charset="-122"/>
                  </a:rPr>
                  <a:t>提高了信号传输的速度</a:t>
                </a:r>
                <a:r>
                  <a:rPr lang="en-US" altLang="zh-CN" sz="2000" dirty="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从</a:t>
                </a:r>
                <a:r>
                  <a:rPr lang="en-US" altLang="zh-CN" sz="2000" dirty="0">
                    <a:latin typeface="楷体" panose="02010609060101010101" pitchFamily="49" charset="-122"/>
                    <a:ea typeface="楷体" panose="02010609060101010101" pitchFamily="49" charset="-122"/>
                  </a:rPr>
                  <a:t>5</a:t>
                </a:r>
                <a:r>
                  <a:rPr lang="zh-CN" altLang="zh-CN" sz="2000" dirty="0">
                    <a:latin typeface="楷体" panose="02010609060101010101" pitchFamily="49" charset="-122"/>
                    <a:ea typeface="楷体" panose="02010609060101010101" pitchFamily="49" charset="-122"/>
                  </a:rPr>
                  <a:t>级门的</a:t>
                </a:r>
                <a:r>
                  <a:rPr lang="zh-CN" altLang="zh-CN" sz="2000" dirty="0" smtClean="0">
                    <a:latin typeface="楷体" panose="02010609060101010101" pitchFamily="49" charset="-122"/>
                    <a:ea typeface="楷体" panose="02010609060101010101" pitchFamily="49" charset="-122"/>
                  </a:rPr>
                  <a:t>延</a:t>
                </a:r>
                <a:r>
                  <a:rPr lang="zh-CN" altLang="en-US" sz="2000" dirty="0">
                    <a:latin typeface="楷体" panose="02010609060101010101" pitchFamily="49" charset="-122"/>
                    <a:ea typeface="楷体" panose="02010609060101010101" pitchFamily="49" charset="-122"/>
                  </a:rPr>
                  <a:t>迟变为</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级门延迟</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a:t>
                </a:r>
                <a:endParaRPr lang="zh-CN" altLang="zh-CN" sz="2000" dirty="0">
                  <a:latin typeface="楷体" panose="02010609060101010101" pitchFamily="49" charset="-122"/>
                  <a:ea typeface="楷体" panose="02010609060101010101" pitchFamily="49" charset="-122"/>
                </a:endParaRPr>
              </a:p>
              <a:p>
                <a:endParaRPr lang="zh-CN" altLang="en-US" sz="2000" dirty="0">
                  <a:latin typeface="楷体" panose="02010609060101010101" pitchFamily="49" charset="-122"/>
                  <a:ea typeface="楷体" panose="02010609060101010101" pitchFamily="49"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245103" y="882058"/>
                <a:ext cx="8557151" cy="5184753"/>
              </a:xfrm>
              <a:prstGeom prst="rect">
                <a:avLst/>
              </a:prstGeom>
              <a:blipFill>
                <a:blip r:embed="rId2"/>
                <a:stretch>
                  <a:fillRect l="-712" t="-7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35116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941675"/>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4948380"/>
            <a:ext cx="7886700" cy="1896630"/>
          </a:xfrm>
        </p:spPr>
        <p:txBody>
          <a:bodyPr/>
          <a:lstStyle/>
          <a:p>
            <a:r>
              <a:rPr lang="zh-CN" altLang="en-US" dirty="0" smtClean="0">
                <a:latin typeface="楷体" panose="02010609060101010101" pitchFamily="49" charset="-122"/>
                <a:ea typeface="楷体" panose="02010609060101010101" pitchFamily="49" charset="-122"/>
              </a:rPr>
              <a:t>数字</a:t>
            </a:r>
            <a:r>
              <a:rPr lang="zh-CN" altLang="en-US" dirty="0">
                <a:latin typeface="楷体" panose="02010609060101010101" pitchFamily="49" charset="-122"/>
                <a:ea typeface="楷体" panose="02010609060101010101" pitchFamily="49" charset="-122"/>
              </a:rPr>
              <a:t>波形图分析</a:t>
            </a:r>
            <a:r>
              <a:rPr lang="zh-CN" altLang="en-US" dirty="0" smtClean="0">
                <a:latin typeface="楷体" panose="02010609060101010101" pitchFamily="49" charset="-122"/>
                <a:ea typeface="楷体" panose="02010609060101010101" pitchFamily="49" charset="-122"/>
              </a:rPr>
              <a:t>法</a:t>
            </a:r>
            <a:endParaRPr lang="en-US" altLang="zh-CN" dirty="0" smtClean="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这种方法是对逻辑门的所有输入变量施以输入波形，逐级画出各个门电路的输出波形</a:t>
            </a:r>
            <a:r>
              <a:rPr lang="zh-CN" altLang="en-US" dirty="0" smtClean="0">
                <a:latin typeface="楷体" panose="02010609060101010101" pitchFamily="49" charset="-122"/>
                <a:ea typeface="楷体" panose="02010609060101010101" pitchFamily="49" charset="-122"/>
              </a:rPr>
              <a:t>，乃至</a:t>
            </a:r>
            <a:r>
              <a:rPr lang="zh-CN" altLang="en-US" dirty="0">
                <a:latin typeface="楷体" panose="02010609060101010101" pitchFamily="49" charset="-122"/>
                <a:ea typeface="楷体" panose="02010609060101010101" pitchFamily="49" charset="-122"/>
              </a:rPr>
              <a:t>画出最后的输出波形。事实上，这种方法与用示波器测量门电路数字波形的方法相一致。</a:t>
            </a:r>
            <a:endParaRPr lang="en-US" altLang="zh-CN" dirty="0" smtClean="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781050" y="1640632"/>
                <a:ext cx="2809993" cy="2677656"/>
              </a:xfrm>
              <a:prstGeom prst="rect">
                <a:avLst/>
              </a:prstGeom>
            </p:spPr>
            <p:txBody>
              <a:bodyPr wrap="square">
                <a:spAutoFit/>
              </a:bodyPr>
              <a:lstStyle/>
              <a:p>
                <a:r>
                  <a:rPr lang="zh-CN" altLang="zh-CN" sz="2400" dirty="0">
                    <a:latin typeface="楷体" panose="02010609060101010101" pitchFamily="49" charset="-122"/>
                    <a:ea typeface="楷体" panose="02010609060101010101" pitchFamily="49" charset="-122"/>
                  </a:rPr>
                  <a:t>【</a:t>
                </a:r>
                <a:r>
                  <a:rPr lang="zh-CN" altLang="en-US" sz="2400" spc="-30" dirty="0" smtClean="0">
                    <a:latin typeface="楷体" panose="02010609060101010101" pitchFamily="49" charset="-122"/>
                    <a:ea typeface="楷体" panose="02010609060101010101" pitchFamily="49" charset="-122"/>
                    <a:cs typeface="Arial" panose="020B0604020202020204" pitchFamily="34" charset="0"/>
                  </a:rPr>
                  <a:t>例</a:t>
                </a:r>
                <a:r>
                  <a:rPr lang="en-US" altLang="zh-CN" sz="2400" spc="-30" dirty="0" smtClean="0">
                    <a:latin typeface="楷体" panose="02010609060101010101" pitchFamily="49" charset="-122"/>
                    <a:ea typeface="楷体" panose="02010609060101010101" pitchFamily="49" charset="-122"/>
                    <a:cs typeface="Arial" panose="020B0604020202020204" pitchFamily="34" charset="0"/>
                  </a:rPr>
                  <a:t>3】  </a:t>
                </a:r>
                <a:r>
                  <a:rPr lang="zh-CN" altLang="en-US" sz="2400" spc="-30" dirty="0">
                    <a:latin typeface="楷体" panose="02010609060101010101" pitchFamily="49" charset="-122"/>
                    <a:ea typeface="楷体" panose="02010609060101010101" pitchFamily="49" charset="-122"/>
                    <a:cs typeface="Arial" panose="020B0604020202020204" pitchFamily="34" charset="0"/>
                  </a:rPr>
                  <a:t>图</a:t>
                </a:r>
                <a:r>
                  <a:rPr lang="en-US" altLang="zh-CN" sz="2400" spc="-30" dirty="0">
                    <a:latin typeface="楷体" panose="02010609060101010101" pitchFamily="49" charset="-122"/>
                    <a:ea typeface="楷体" panose="02010609060101010101" pitchFamily="49" charset="-122"/>
                    <a:cs typeface="Arial" panose="020B0604020202020204" pitchFamily="34" charset="0"/>
                  </a:rPr>
                  <a:t>2.3(a) </a:t>
                </a:r>
                <a:r>
                  <a:rPr lang="zh-CN" altLang="en-US" sz="2400" spc="-30" dirty="0">
                    <a:latin typeface="楷体" panose="02010609060101010101" pitchFamily="49" charset="-122"/>
                    <a:ea typeface="楷体" panose="02010609060101010101" pitchFamily="49" charset="-122"/>
                    <a:cs typeface="Arial" panose="020B0604020202020204" pitchFamily="34" charset="0"/>
                  </a:rPr>
                  <a:t>所示的逻辑电路有</a:t>
                </a:r>
                <a:r>
                  <a:rPr lang="en-US" altLang="zh-CN" sz="2400" spc="-30" dirty="0" smtClean="0">
                    <a:latin typeface="楷体" panose="02010609060101010101" pitchFamily="49" charset="-122"/>
                    <a:ea typeface="楷体" panose="02010609060101010101" pitchFamily="49" charset="-122"/>
                    <a:cs typeface="Arial" panose="020B0604020202020204" pitchFamily="34" charset="0"/>
                  </a:rPr>
                  <a:t>A,B,C,D</a:t>
                </a:r>
                <a:r>
                  <a:rPr lang="zh-CN" altLang="en-US" sz="2400" spc="-30" dirty="0" smtClean="0">
                    <a:latin typeface="楷体" panose="02010609060101010101" pitchFamily="49" charset="-122"/>
                    <a:ea typeface="楷体" panose="02010609060101010101" pitchFamily="49" charset="-122"/>
                    <a:cs typeface="Arial" panose="020B0604020202020204" pitchFamily="34" charset="0"/>
                  </a:rPr>
                  <a:t>四</a:t>
                </a:r>
                <a:r>
                  <a:rPr lang="zh-CN" altLang="en-US" sz="2400" spc="-30" dirty="0">
                    <a:latin typeface="楷体" panose="02010609060101010101" pitchFamily="49" charset="-122"/>
                    <a:ea typeface="楷体" panose="02010609060101010101" pitchFamily="49" charset="-122"/>
                    <a:cs typeface="Arial" panose="020B0604020202020204" pitchFamily="34" charset="0"/>
                  </a:rPr>
                  <a:t>个变量，输入波形如图</a:t>
                </a:r>
                <a:r>
                  <a:rPr lang="en-US" altLang="zh-CN" sz="2400" spc="-30" dirty="0">
                    <a:latin typeface="楷体" panose="02010609060101010101" pitchFamily="49" charset="-122"/>
                    <a:ea typeface="楷体" panose="02010609060101010101" pitchFamily="49" charset="-122"/>
                    <a:cs typeface="Arial" panose="020B0604020202020204" pitchFamily="34" charset="0"/>
                  </a:rPr>
                  <a:t>2.3(b) </a:t>
                </a:r>
                <a:r>
                  <a:rPr lang="zh-CN" altLang="en-US" sz="2400" spc="-30" dirty="0">
                    <a:latin typeface="楷体" panose="02010609060101010101" pitchFamily="49" charset="-122"/>
                    <a:ea typeface="楷体" panose="02010609060101010101" pitchFamily="49" charset="-122"/>
                    <a:cs typeface="Arial" panose="020B0604020202020204" pitchFamily="34" charset="0"/>
                  </a:rPr>
                  <a:t>所示。 画</a:t>
                </a:r>
                <a:r>
                  <a:rPr lang="zh-CN" altLang="en-US" sz="2400" spc="-30" dirty="0" smtClean="0">
                    <a:latin typeface="楷体" panose="02010609060101010101" pitchFamily="49" charset="-122"/>
                    <a:ea typeface="楷体" panose="02010609060101010101" pitchFamily="49" charset="-122"/>
                    <a:cs typeface="Arial" panose="020B0604020202020204" pitchFamily="34" charset="0"/>
                  </a:rPr>
                  <a:t>出</a:t>
                </a:r>
                <a:r>
                  <a:rPr lang="en-US" altLang="zh-CN" sz="2400" spc="-30" dirty="0" smtClean="0">
                    <a:latin typeface="楷体" panose="02010609060101010101" pitchFamily="49" charset="-122"/>
                    <a:ea typeface="楷体" panose="02010609060101010101" pitchFamily="49" charset="-122"/>
                    <a:cs typeface="Arial" panose="020B0604020202020204" pitchFamily="34" charset="0"/>
                  </a:rPr>
                  <a:t>X</a:t>
                </a:r>
                <a:r>
                  <a:rPr lang="en-US" altLang="zh-CN" sz="2400" spc="-30" baseline="-25000" dirty="0" smtClean="0">
                    <a:latin typeface="楷体" panose="02010609060101010101" pitchFamily="49" charset="-122"/>
                    <a:ea typeface="楷体" panose="02010609060101010101" pitchFamily="49" charset="-122"/>
                    <a:cs typeface="Arial" panose="020B0604020202020204" pitchFamily="34" charset="0"/>
                  </a:rPr>
                  <a:t>1</a:t>
                </a:r>
                <a:r>
                  <a:rPr lang="en-US" altLang="zh-CN" sz="2400" spc="-30" dirty="0" smtClean="0">
                    <a:latin typeface="楷体" panose="02010609060101010101" pitchFamily="49" charset="-122"/>
                    <a:ea typeface="楷体" panose="02010609060101010101" pitchFamily="49" charset="-122"/>
                    <a:cs typeface="Arial" panose="020B0604020202020204" pitchFamily="34" charset="0"/>
                  </a:rPr>
                  <a:t>,</a:t>
                </a:r>
                <a:r>
                  <a:rPr lang="en-US" altLang="zh-CN" sz="2400" spc="-30" dirty="0">
                    <a:latin typeface="楷体" panose="02010609060101010101" pitchFamily="49" charset="-122"/>
                    <a:ea typeface="楷体" panose="02010609060101010101" pitchFamily="49" charset="-122"/>
                    <a:cs typeface="Arial" panose="020B0604020202020204" pitchFamily="34" charset="0"/>
                  </a:rPr>
                  <a:t> </a:t>
                </a:r>
                <a:r>
                  <a:rPr lang="en-US" altLang="zh-CN" sz="2400" spc="-30" dirty="0" smtClean="0">
                    <a:latin typeface="楷体" panose="02010609060101010101" pitchFamily="49" charset="-122"/>
                    <a:ea typeface="楷体" panose="02010609060101010101" pitchFamily="49" charset="-122"/>
                    <a:cs typeface="Arial" panose="020B0604020202020204" pitchFamily="34" charset="0"/>
                  </a:rPr>
                  <a:t>X</a:t>
                </a:r>
                <a:r>
                  <a:rPr lang="en-US" altLang="zh-CN" sz="2400" spc="-30" baseline="-25000" dirty="0" smtClean="0">
                    <a:latin typeface="楷体" panose="02010609060101010101" pitchFamily="49" charset="-122"/>
                    <a:ea typeface="楷体" panose="02010609060101010101" pitchFamily="49" charset="-122"/>
                    <a:cs typeface="Arial" panose="020B0604020202020204" pitchFamily="34" charset="0"/>
                  </a:rPr>
                  <a:t>2</a:t>
                </a:r>
                <a:r>
                  <a:rPr lang="en-US" altLang="zh-CN" sz="2400" spc="-30" dirty="0" smtClean="0">
                    <a:latin typeface="楷体" panose="02010609060101010101" pitchFamily="49" charset="-122"/>
                    <a:ea typeface="楷体" panose="02010609060101010101" pitchFamily="49" charset="-122"/>
                    <a:cs typeface="Arial" panose="020B0604020202020204" pitchFamily="34" charset="0"/>
                  </a:rPr>
                  <a:t>, X</a:t>
                </a:r>
                <a:r>
                  <a:rPr lang="en-US" altLang="zh-CN" sz="2400" spc="-30" baseline="-25000" dirty="0" smtClean="0">
                    <a:latin typeface="楷体" panose="02010609060101010101" pitchFamily="49" charset="-122"/>
                    <a:ea typeface="楷体" panose="02010609060101010101" pitchFamily="49" charset="-122"/>
                    <a:cs typeface="Arial" panose="020B0604020202020204" pitchFamily="34" charset="0"/>
                  </a:rPr>
                  <a:t>3</a:t>
                </a:r>
                <a:r>
                  <a:rPr lang="en-US" altLang="zh-CN" sz="2400" spc="-30" dirty="0" smtClean="0">
                    <a:latin typeface="楷体" panose="02010609060101010101" pitchFamily="49" charset="-122"/>
                    <a:ea typeface="楷体" panose="02010609060101010101" pitchFamily="49" charset="-122"/>
                    <a:cs typeface="Arial" panose="020B0604020202020204" pitchFamily="34" charset="0"/>
                  </a:rPr>
                  <a:t>, X</a:t>
                </a:r>
                <a:r>
                  <a:rPr lang="en-US" altLang="zh-CN" sz="2400" spc="-30" baseline="-25000" dirty="0" smtClean="0">
                    <a:latin typeface="楷体" panose="02010609060101010101" pitchFamily="49" charset="-122"/>
                    <a:ea typeface="楷体" panose="02010609060101010101" pitchFamily="49" charset="-122"/>
                    <a:cs typeface="Arial" panose="020B0604020202020204" pitchFamily="34" charset="0"/>
                  </a:rPr>
                  <a:t>4</a:t>
                </a:r>
                <a:r>
                  <a:rPr lang="zh-CN" altLang="en-US" sz="2400" spc="-30" dirty="0" smtClean="0">
                    <a:latin typeface="楷体" panose="02010609060101010101" pitchFamily="49" charset="-122"/>
                    <a:ea typeface="楷体" panose="02010609060101010101" pitchFamily="49" charset="-122"/>
                    <a:cs typeface="Arial" panose="020B0604020202020204" pitchFamily="34" charset="0"/>
                  </a:rPr>
                  <a:t>及</a:t>
                </a:r>
                <a:r>
                  <a:rPr lang="zh-CN" altLang="en-US" sz="2400" spc="-30" dirty="0">
                    <a:latin typeface="楷体" panose="02010609060101010101" pitchFamily="49" charset="-122"/>
                    <a:ea typeface="楷体" panose="02010609060101010101" pitchFamily="49" charset="-122"/>
                    <a:cs typeface="Arial" panose="020B0604020202020204" pitchFamily="34" charset="0"/>
                  </a:rPr>
                  <a:t>最后输出</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𝐹</m:t>
                    </m:r>
                  </m:oMath>
                </a14:m>
                <a:r>
                  <a:rPr lang="en-US" altLang="zh-CN" sz="2400" spc="-30" dirty="0">
                    <a:latin typeface="楷体" panose="02010609060101010101" pitchFamily="49" charset="-122"/>
                    <a:ea typeface="楷体" panose="02010609060101010101" pitchFamily="49" charset="-122"/>
                    <a:cs typeface="Arial" panose="020B0604020202020204" pitchFamily="34" charset="0"/>
                  </a:rPr>
                  <a:t> </a:t>
                </a:r>
                <a:r>
                  <a:rPr lang="zh-CN" altLang="en-US" sz="2400" spc="-30" dirty="0">
                    <a:latin typeface="楷体" panose="02010609060101010101" pitchFamily="49" charset="-122"/>
                    <a:ea typeface="楷体" panose="02010609060101010101" pitchFamily="49" charset="-122"/>
                    <a:cs typeface="Arial" panose="020B0604020202020204" pitchFamily="34" charset="0"/>
                  </a:rPr>
                  <a:t>的数字波形图。</a:t>
                </a:r>
                <a:endParaRPr lang="zh-CN" altLang="en-US"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781050" y="1640632"/>
                <a:ext cx="2809993" cy="2677656"/>
              </a:xfrm>
              <a:prstGeom prst="rect">
                <a:avLst/>
              </a:prstGeom>
              <a:blipFill>
                <a:blip r:embed="rId2"/>
                <a:stretch>
                  <a:fillRect l="-3254" t="-1822" r="-11280" b="-4328"/>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3860657" y="956171"/>
            <a:ext cx="5163271" cy="3677163"/>
          </a:xfrm>
          <a:prstGeom prst="rect">
            <a:avLst/>
          </a:prstGeom>
        </p:spPr>
      </p:pic>
      <p:pic>
        <p:nvPicPr>
          <p:cNvPr id="7" name="图片 6"/>
          <p:cNvPicPr>
            <a:picLocks noChangeAspect="1"/>
          </p:cNvPicPr>
          <p:nvPr/>
        </p:nvPicPr>
        <p:blipFill>
          <a:blip r:embed="rId4"/>
          <a:stretch>
            <a:fillRect/>
          </a:stretch>
        </p:blipFill>
        <p:spPr>
          <a:xfrm>
            <a:off x="5929745" y="4948380"/>
            <a:ext cx="2333951" cy="295316"/>
          </a:xfrm>
          <a:prstGeom prst="rect">
            <a:avLst/>
          </a:prstGeom>
        </p:spPr>
      </p:pic>
      <p:sp>
        <p:nvSpPr>
          <p:cNvPr id="8" name="内容占位符 2"/>
          <p:cNvSpPr txBox="1">
            <a:spLocks/>
          </p:cNvSpPr>
          <p:nvPr/>
        </p:nvSpPr>
        <p:spPr>
          <a:xfrm>
            <a:off x="628650" y="964920"/>
            <a:ext cx="7886700" cy="6515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latin typeface="楷体" panose="02010609060101010101" pitchFamily="49" charset="-122"/>
                <a:ea typeface="楷体" panose="02010609060101010101" pitchFamily="49" charset="-122"/>
              </a:rPr>
              <a:t>数字波形图分析法</a:t>
            </a:r>
            <a:endParaRPr lang="en-US" altLang="zh-CN"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079492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54222" y="864353"/>
            <a:ext cx="3895603" cy="1135939"/>
          </a:xfrm>
          <a:prstGeom prst="rect">
            <a:avLst/>
          </a:prstGeom>
        </p:spPr>
      </p:pic>
      <p:pic>
        <p:nvPicPr>
          <p:cNvPr id="4" name="图片 3"/>
          <p:cNvPicPr>
            <a:picLocks noChangeAspect="1"/>
          </p:cNvPicPr>
          <p:nvPr/>
        </p:nvPicPr>
        <p:blipFill>
          <a:blip r:embed="rId3"/>
          <a:stretch>
            <a:fillRect/>
          </a:stretch>
        </p:blipFill>
        <p:spPr>
          <a:xfrm>
            <a:off x="4160662" y="196273"/>
            <a:ext cx="4701947" cy="4229467"/>
          </a:xfrm>
          <a:prstGeom prst="rect">
            <a:avLst/>
          </a:prstGeom>
        </p:spPr>
      </p:pic>
      <p:pic>
        <p:nvPicPr>
          <p:cNvPr id="5" name="图片 4"/>
          <p:cNvPicPr>
            <a:picLocks noChangeAspect="1"/>
          </p:cNvPicPr>
          <p:nvPr/>
        </p:nvPicPr>
        <p:blipFill>
          <a:blip r:embed="rId4"/>
          <a:stretch>
            <a:fillRect/>
          </a:stretch>
        </p:blipFill>
        <p:spPr>
          <a:xfrm>
            <a:off x="3251199" y="4772890"/>
            <a:ext cx="2333951" cy="295316"/>
          </a:xfrm>
          <a:prstGeom prst="rect">
            <a:avLst/>
          </a:prstGeom>
        </p:spPr>
      </p:pic>
    </p:spTree>
    <p:extLst>
      <p:ext uri="{BB962C8B-B14F-4D97-AF65-F5344CB8AC3E}">
        <p14:creationId xmlns:p14="http://schemas.microsoft.com/office/powerpoint/2010/main" val="35415212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t>2.1 </a:t>
            </a:r>
            <a:r>
              <a:rPr lang="zh-CN" altLang="en-US" dirty="0" smtClean="0"/>
              <a:t>组合逻辑分析</a:t>
            </a:r>
            <a:endParaRPr lang="zh-CN" altLang="en-US" dirty="0"/>
          </a:p>
        </p:txBody>
      </p:sp>
      <p:sp>
        <p:nvSpPr>
          <p:cNvPr id="3" name="内容占位符 2"/>
          <p:cNvSpPr>
            <a:spLocks noGrp="1"/>
          </p:cNvSpPr>
          <p:nvPr>
            <p:ph idx="1"/>
          </p:nvPr>
        </p:nvSpPr>
        <p:spPr>
          <a:xfrm>
            <a:off x="628650" y="1095952"/>
            <a:ext cx="7886700" cy="4351338"/>
          </a:xfrm>
        </p:spPr>
        <p:txBody>
          <a:bodyPr/>
          <a:lstStyle/>
          <a:p>
            <a:r>
              <a:rPr lang="zh-CN" altLang="en-US" dirty="0" smtClean="0">
                <a:latin typeface="楷体" panose="02010609060101010101" pitchFamily="49" charset="-122"/>
                <a:ea typeface="楷体" panose="02010609060101010101" pitchFamily="49" charset="-122"/>
              </a:rPr>
              <a:t>列</a:t>
            </a:r>
            <a:r>
              <a:rPr lang="zh-CN" altLang="en-US" dirty="0">
                <a:latin typeface="楷体" panose="02010609060101010101" pitchFamily="49" charset="-122"/>
                <a:ea typeface="楷体" panose="02010609060101010101" pitchFamily="49" charset="-122"/>
              </a:rPr>
              <a:t>写逻辑电路真值表</a:t>
            </a:r>
            <a:r>
              <a:rPr lang="zh-CN" altLang="en-US" dirty="0" smtClean="0">
                <a:latin typeface="楷体" panose="02010609060101010101" pitchFamily="49" charset="-122"/>
                <a:ea typeface="楷体" panose="02010609060101010101" pitchFamily="49" charset="-122"/>
              </a:rPr>
              <a:t>法</a:t>
            </a:r>
            <a:endParaRPr lang="en-US" altLang="zh-CN" dirty="0">
              <a:latin typeface="楷体" panose="02010609060101010101" pitchFamily="49" charset="-122"/>
              <a:ea typeface="楷体" panose="02010609060101010101" pitchFamily="49" charset="-122"/>
            </a:endParaRPr>
          </a:p>
          <a:p>
            <a:endParaRPr lang="en-US" altLang="zh-CN" dirty="0" smtClean="0">
              <a:latin typeface="楷体" panose="02010609060101010101" pitchFamily="49" charset="-122"/>
              <a:ea typeface="楷体" panose="02010609060101010101" pitchFamily="49" charset="-122"/>
            </a:endParaRPr>
          </a:p>
          <a:p>
            <a:pPr lvl="1"/>
            <a:endParaRPr lang="en-US" altLang="zh-CN" dirty="0" smtClean="0">
              <a:latin typeface="楷体" panose="02010609060101010101" pitchFamily="49" charset="-122"/>
              <a:ea typeface="楷体" panose="02010609060101010101" pitchFamily="49" charset="-122"/>
            </a:endParaRPr>
          </a:p>
        </p:txBody>
      </p:sp>
      <p:sp>
        <p:nvSpPr>
          <p:cNvPr id="4" name="矩形 3"/>
          <p:cNvSpPr/>
          <p:nvPr/>
        </p:nvSpPr>
        <p:spPr>
          <a:xfrm>
            <a:off x="494484" y="1725792"/>
            <a:ext cx="6744475" cy="523220"/>
          </a:xfrm>
          <a:prstGeom prst="rect">
            <a:avLst/>
          </a:prstGeom>
        </p:spPr>
        <p:txBody>
          <a:bodyPr wrap="none">
            <a:spAutoFit/>
          </a:bodyPr>
          <a:lstStyle/>
          <a:p>
            <a:r>
              <a:rPr lang="en-US" altLang="zh-CN" sz="2800" b="1" spc="-30" dirty="0">
                <a:latin typeface="Arial" panose="020B0604020202020204" pitchFamily="34" charset="0"/>
                <a:cs typeface="Arial" panose="020B0604020202020204" pitchFamily="34" charset="0"/>
              </a:rPr>
              <a:t>【</a:t>
            </a:r>
            <a:r>
              <a:rPr lang="zh-CN" altLang="en-US" sz="2800" b="1" spc="-30" dirty="0">
                <a:latin typeface="Arial" panose="020B0604020202020204" pitchFamily="34" charset="0"/>
                <a:cs typeface="Arial" panose="020B0604020202020204" pitchFamily="34" charset="0"/>
              </a:rPr>
              <a:t>例</a:t>
            </a:r>
            <a:r>
              <a:rPr lang="en-US" altLang="zh-CN" sz="2800" b="1" spc="-30" dirty="0">
                <a:latin typeface="Arial" panose="020B0604020202020204" pitchFamily="34" charset="0"/>
                <a:cs typeface="Arial" panose="020B0604020202020204" pitchFamily="34" charset="0"/>
              </a:rPr>
              <a:t>4】  </a:t>
            </a:r>
            <a:r>
              <a:rPr lang="zh-CN" altLang="en-US" sz="2800" b="1" spc="-30" dirty="0">
                <a:latin typeface="Arial" panose="020B0604020202020204" pitchFamily="34" charset="0"/>
                <a:cs typeface="Arial" panose="020B0604020202020204" pitchFamily="34" charset="0"/>
              </a:rPr>
              <a:t>分析图</a:t>
            </a:r>
            <a:r>
              <a:rPr lang="en-US" altLang="zh-CN" sz="2800" b="1" spc="-30" dirty="0">
                <a:latin typeface="Arial" panose="020B0604020202020204" pitchFamily="34" charset="0"/>
                <a:cs typeface="Arial" panose="020B0604020202020204" pitchFamily="34" charset="0"/>
              </a:rPr>
              <a:t>2.4</a:t>
            </a:r>
            <a:r>
              <a:rPr lang="zh-CN" altLang="en-US" sz="2800" b="1" spc="-30" dirty="0">
                <a:latin typeface="Arial" panose="020B0604020202020204" pitchFamily="34" charset="0"/>
                <a:cs typeface="Arial" panose="020B0604020202020204" pitchFamily="34" charset="0"/>
              </a:rPr>
              <a:t>所示电路的逻辑功能。</a:t>
            </a:r>
            <a:endParaRPr lang="zh-CN" altLang="en-US" sz="2800" dirty="0"/>
          </a:p>
        </p:txBody>
      </p:sp>
      <p:pic>
        <p:nvPicPr>
          <p:cNvPr id="5" name="图片 4"/>
          <p:cNvPicPr>
            <a:picLocks noChangeAspect="1"/>
          </p:cNvPicPr>
          <p:nvPr/>
        </p:nvPicPr>
        <p:blipFill>
          <a:blip r:embed="rId2"/>
          <a:stretch>
            <a:fillRect/>
          </a:stretch>
        </p:blipFill>
        <p:spPr>
          <a:xfrm>
            <a:off x="1380665" y="2421515"/>
            <a:ext cx="5701276" cy="3979931"/>
          </a:xfrm>
          <a:prstGeom prst="rect">
            <a:avLst/>
          </a:prstGeom>
        </p:spPr>
      </p:pic>
    </p:spTree>
    <p:extLst>
      <p:ext uri="{BB962C8B-B14F-4D97-AF65-F5344CB8AC3E}">
        <p14:creationId xmlns:p14="http://schemas.microsoft.com/office/powerpoint/2010/main" val="25699613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20594" y="155610"/>
            <a:ext cx="5983048" cy="461665"/>
          </a:xfrm>
          <a:prstGeom prst="rect">
            <a:avLst/>
          </a:prstGeom>
        </p:spPr>
        <p:txBody>
          <a:bodyPr wrap="none">
            <a:spAutoFit/>
          </a:bodyPr>
          <a:lstStyle/>
          <a:p>
            <a:r>
              <a:rPr lang="en-US" altLang="zh-CN" sz="2400" b="1" spc="-30" dirty="0">
                <a:latin typeface="楷体" panose="02010609060101010101" pitchFamily="49" charset="-122"/>
                <a:ea typeface="楷体" panose="02010609060101010101" pitchFamily="49" charset="-122"/>
                <a:cs typeface="Arial" panose="020B0604020202020204" pitchFamily="34" charset="0"/>
              </a:rPr>
              <a:t>【</a:t>
            </a:r>
            <a:r>
              <a:rPr lang="zh-CN" altLang="en-US" sz="2400" b="1" spc="-30" dirty="0">
                <a:latin typeface="楷体" panose="02010609060101010101" pitchFamily="49" charset="-122"/>
                <a:ea typeface="楷体" panose="02010609060101010101" pitchFamily="49" charset="-122"/>
                <a:cs typeface="Arial" panose="020B0604020202020204" pitchFamily="34" charset="0"/>
              </a:rPr>
              <a:t>例</a:t>
            </a:r>
            <a:r>
              <a:rPr lang="en-US" altLang="zh-CN" sz="2400" b="1" spc="-30" dirty="0">
                <a:latin typeface="楷体" panose="02010609060101010101" pitchFamily="49" charset="-122"/>
                <a:ea typeface="楷体" panose="02010609060101010101" pitchFamily="49" charset="-122"/>
                <a:cs typeface="Arial" panose="020B0604020202020204" pitchFamily="34" charset="0"/>
              </a:rPr>
              <a:t>4】  </a:t>
            </a:r>
            <a:r>
              <a:rPr lang="zh-CN" altLang="en-US" sz="2400" b="1" spc="-30" dirty="0">
                <a:latin typeface="楷体" panose="02010609060101010101" pitchFamily="49" charset="-122"/>
                <a:ea typeface="楷体" panose="02010609060101010101" pitchFamily="49" charset="-122"/>
                <a:cs typeface="Arial" panose="020B0604020202020204" pitchFamily="34" charset="0"/>
              </a:rPr>
              <a:t>分析图</a:t>
            </a:r>
            <a:r>
              <a:rPr lang="en-US" altLang="zh-CN" sz="2400" b="1" spc="-30" dirty="0">
                <a:latin typeface="楷体" panose="02010609060101010101" pitchFamily="49" charset="-122"/>
                <a:ea typeface="楷体" panose="02010609060101010101" pitchFamily="49" charset="-122"/>
                <a:cs typeface="Arial" panose="020B0604020202020204" pitchFamily="34" charset="0"/>
              </a:rPr>
              <a:t>2.4</a:t>
            </a:r>
            <a:r>
              <a:rPr lang="zh-CN" altLang="en-US" sz="2400" b="1" spc="-30" dirty="0">
                <a:latin typeface="楷体" panose="02010609060101010101" pitchFamily="49" charset="-122"/>
                <a:ea typeface="楷体" panose="02010609060101010101" pitchFamily="49" charset="-122"/>
                <a:cs typeface="Arial" panose="020B0604020202020204" pitchFamily="34" charset="0"/>
              </a:rPr>
              <a:t>所示电路的逻辑功能。</a:t>
            </a:r>
          </a:p>
        </p:txBody>
      </p:sp>
      <mc:AlternateContent xmlns:mc="http://schemas.openxmlformats.org/markup-compatibility/2006" xmlns:a14="http://schemas.microsoft.com/office/drawing/2010/main">
        <mc:Choice Requires="a14">
          <p:sp>
            <p:nvSpPr>
              <p:cNvPr id="10" name="矩形 9"/>
              <p:cNvSpPr/>
              <p:nvPr/>
            </p:nvSpPr>
            <p:spPr>
              <a:xfrm>
                <a:off x="245103" y="751969"/>
                <a:ext cx="8751115" cy="6107569"/>
              </a:xfrm>
              <a:prstGeom prst="rect">
                <a:avLst/>
              </a:prstGeom>
            </p:spPr>
            <p:txBody>
              <a:bodyPr wrap="square">
                <a:spAutoFit/>
              </a:bodyPr>
              <a:lstStyle/>
              <a:p>
                <a:r>
                  <a:rPr lang="zh-CN" altLang="en-US" sz="2400" spc="-30" dirty="0" smtClean="0">
                    <a:latin typeface="楷体" panose="02010609060101010101" pitchFamily="49" charset="-122"/>
                    <a:ea typeface="楷体" panose="02010609060101010101" pitchFamily="49" charset="-122"/>
                    <a:cs typeface="Arial" panose="020B0604020202020204" pitchFamily="34" charset="0"/>
                  </a:rPr>
                  <a:t>解：该电路比较复杂，因而要一次写出它的输出函数表达式比较困难，故可从输入端开始，逐级分别写出，然后再写出总的输出表达式，如图</a:t>
                </a:r>
                <a:r>
                  <a:rPr lang="en-US" altLang="zh-CN" sz="2400" spc="-30" dirty="0">
                    <a:latin typeface="楷体" panose="02010609060101010101" pitchFamily="49" charset="-122"/>
                    <a:ea typeface="楷体" panose="02010609060101010101" pitchFamily="49" charset="-122"/>
                    <a:cs typeface="Arial" panose="020B0604020202020204" pitchFamily="34" charset="0"/>
                  </a:rPr>
                  <a:t>2.4</a:t>
                </a:r>
                <a:r>
                  <a:rPr lang="zh-CN" altLang="en-US" sz="2400" spc="-30" dirty="0">
                    <a:latin typeface="楷体" panose="02010609060101010101" pitchFamily="49" charset="-122"/>
                    <a:ea typeface="楷体" panose="02010609060101010101" pitchFamily="49" charset="-122"/>
                    <a:cs typeface="Arial" panose="020B0604020202020204" pitchFamily="34" charset="0"/>
                  </a:rPr>
                  <a:t>所示。于是求得</a:t>
                </a:r>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0">
                        <a:latin typeface="Cambria Math" panose="02040503050406030204" pitchFamily="18" charset="0"/>
                      </a:rPr>
                      <m:t> </m:t>
                    </m:r>
                  </m:oMath>
                </a14:m>
                <a:endParaRPr lang="zh-CN" altLang="en-US" sz="2400" dirty="0">
                  <a:latin typeface="楷体" panose="02010609060101010101" pitchFamily="49" charset="-122"/>
                  <a:ea typeface="楷体" panose="02010609060101010101" pitchFamily="49" charset="-122"/>
                </a:endParaRPr>
              </a:p>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𝐹</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b="0" i="1" smtClean="0">
                                  <a:latin typeface="Cambria Math" panose="02040503050406030204" pitchFamily="18" charset="0"/>
                                </a:rPr>
                                <m:t>)</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e>
                          </m:acc>
                          <m:r>
                            <a:rPr lang="en-US" altLang="zh-CN" sz="2400" i="1">
                              <a:latin typeface="Cambria Math" panose="02040503050406030204" pitchFamily="18" charset="0"/>
                            </a:rPr>
                            <m:t>)</m:t>
                          </m:r>
                        </m:e>
                      </m:acc>
                      <m:r>
                        <a:rPr lang="en-US" altLang="zh-CN" sz="2400" i="1">
                          <a:latin typeface="Cambria Math" panose="02040503050406030204" pitchFamily="18" charset="0"/>
                        </a:rPr>
                        <m:t> </m:t>
                      </m:r>
                    </m:oMath>
                  </m:oMathPara>
                </a14:m>
                <a:endParaRPr lang="zh-CN" altLang="en-US" sz="2400" i="1" dirty="0" smtClean="0">
                  <a:latin typeface="楷体" panose="02010609060101010101" pitchFamily="49" charset="-122"/>
                  <a:ea typeface="楷体" panose="02010609060101010101" pitchFamily="49" charset="-122"/>
                </a:endParaRPr>
              </a:p>
              <a:p>
                <a:r>
                  <a:rPr lang="zh-CN" altLang="zh-CN" sz="2400" dirty="0" smtClean="0">
                    <a:latin typeface="楷体" panose="02010609060101010101" pitchFamily="49" charset="-122"/>
                    <a:ea typeface="楷体" panose="02010609060101010101" pitchFamily="49" charset="-122"/>
                  </a:rPr>
                  <a:t>利用</a:t>
                </a:r>
                <a:r>
                  <a:rPr lang="zh-CN" altLang="zh-CN" sz="2400" dirty="0">
                    <a:latin typeface="楷体" panose="02010609060101010101" pitchFamily="49" charset="-122"/>
                    <a:ea typeface="楷体" panose="02010609060101010101" pitchFamily="49" charset="-122"/>
                  </a:rPr>
                  <a:t>德摩根定律展开后，</a:t>
                </a:r>
              </a:p>
              <a:p>
                <a:pPr marL="803275" defTabSz="493713"/>
                <a14:m>
                  <m:oMathPara xmlns:m="http://schemas.openxmlformats.org/officeDocument/2006/math">
                    <m:oMathParaPr>
                      <m:jc m:val="left"/>
                    </m:oMathParaPr>
                    <m:oMath xmlns:m="http://schemas.openxmlformats.org/officeDocument/2006/math">
                      <m:r>
                        <a:rPr lang="en-US" altLang="zh-CN" sz="2400" b="0" i="1" smtClean="0">
                          <a:latin typeface="Cambria Math" panose="02040503050406030204" pitchFamily="18" charset="0"/>
                        </a:rPr>
                        <m:t>𝐹</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i="1" smtClean="0">
                              <a:latin typeface="Cambria Math" panose="02040503050406030204" pitchFamily="18" charset="0"/>
                            </a:rPr>
                            <m:t>𝐴</m:t>
                          </m:r>
                          <m:r>
                            <a:rPr lang="en-US" altLang="zh-CN" sz="2400" i="1">
                              <a:latin typeface="Cambria Math" panose="02040503050406030204" pitchFamily="18" charset="0"/>
                            </a:rPr>
                            <m:t>⊕</m:t>
                          </m:r>
                          <m:r>
                            <a:rPr lang="en-US" altLang="zh-CN" sz="2400" b="0" i="1" smtClean="0">
                              <a:latin typeface="Cambria Math" panose="02040503050406030204" pitchFamily="18" charset="0"/>
                            </a:rPr>
                            <m:t>𝐵</m:t>
                          </m:r>
                        </m:e>
                      </m:d>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𝐵</m:t>
                          </m:r>
                          <m:r>
                            <a:rPr lang="en-US" altLang="zh-CN" sz="2400" i="1">
                              <a:latin typeface="Cambria Math" panose="02040503050406030204" pitchFamily="18" charset="0"/>
                            </a:rPr>
                            <m:t>⊕</m:t>
                          </m:r>
                          <m:r>
                            <a:rPr lang="en-US" altLang="zh-CN" sz="2400" b="0" i="1" smtClean="0">
                              <a:latin typeface="Cambria Math" panose="02040503050406030204" pitchFamily="18" charset="0"/>
                            </a:rPr>
                            <m:t>𝐶</m:t>
                          </m:r>
                        </m:e>
                      </m:d>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b="0" i="1" smtClean="0">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b="0" i="1" smtClean="0">
                          <a:latin typeface="Cambria Math" panose="02040503050406030204" pitchFamily="18" charset="0"/>
                        </a:rPr>
                        <m:t>)</m:t>
                      </m:r>
                    </m:oMath>
                  </m:oMathPara>
                </a14:m>
                <a:endParaRPr lang="en-US" altLang="zh-CN" sz="2400" b="0" i="1" dirty="0" smtClean="0">
                  <a:latin typeface="楷体" panose="02010609060101010101" pitchFamily="49" charset="-122"/>
                  <a:ea typeface="楷体" panose="02010609060101010101" pitchFamily="49" charset="-122"/>
                </a:endParaRPr>
              </a:p>
              <a:p>
                <a:pPr marL="1081088" defTabSz="493713"/>
                <a14:m>
                  <m:oMath xmlns:m="http://schemas.openxmlformats.org/officeDocument/2006/math">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b="0" i="1" smtClean="0">
                        <a:latin typeface="Cambria Math" panose="02040503050406030204" pitchFamily="18" charset="0"/>
                      </a:rPr>
                      <m:t>𝐵</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𝐵</m:t>
                        </m:r>
                        <m:r>
                          <a:rPr lang="en-US" altLang="zh-CN" sz="2400" b="0" i="1" smtClean="0">
                            <a:latin typeface="Cambria Math" panose="02040503050406030204" pitchFamily="18" charset="0"/>
                          </a:rPr>
                          <m:t> </m:t>
                        </m:r>
                      </m:e>
                    </m:acc>
                    <m:r>
                      <m:rPr>
                        <m:sty m:val="p"/>
                      </m:rPr>
                      <a:rPr lang="en-US" altLang="zh-CN" sz="2400" i="1">
                        <a:latin typeface="Cambria Math" panose="02040503050406030204" pitchFamily="18" charset="0"/>
                      </a:rPr>
                      <m:t>C</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oMath>
                </a14:m>
                <a:r>
                  <a:rPr lang="en-US" altLang="zh-CN" sz="2400" b="0" i="1" dirty="0" smtClean="0">
                    <a:latin typeface="楷体" panose="02010609060101010101" pitchFamily="49" charset="-122"/>
                    <a:ea typeface="楷体" panose="02010609060101010101" pitchFamily="49" charset="-122"/>
                  </a:rPr>
                  <a:t> </a:t>
                </a:r>
              </a:p>
              <a:p>
                <a:pPr marL="1081088" defTabSz="493713"/>
                <a14:m>
                  <m:oMathPara xmlns:m="http://schemas.openxmlformats.org/officeDocument/2006/math">
                    <m:oMathParaPr>
                      <m:jc m:val="left"/>
                    </m:oMathParaPr>
                    <m:oMath xmlns:m="http://schemas.openxmlformats.org/officeDocument/2006/math">
                      <m:r>
                        <a:rPr lang="en-US" altLang="zh-CN" sz="2400" b="0" i="1" smtClean="0">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𝐶</m:t>
                      </m:r>
                      <m:r>
                        <a:rPr lang="en-US" altLang="zh-CN" sz="2400" i="1">
                          <a:latin typeface="Cambria Math" panose="02040503050406030204" pitchFamily="18" charset="0"/>
                        </a:rPr>
                        <m:t>+</m:t>
                      </m:r>
                      <m:acc>
                        <m:accPr>
                          <m:chr m:val="̅"/>
                          <m:ctrlPr>
                            <a:rPr lang="en-US" altLang="zh-CN" sz="2400" i="1" smtClean="0">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b="0" i="1" smtClean="0">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𝐶</m:t>
                      </m:r>
                    </m:oMath>
                  </m:oMathPara>
                </a14:m>
                <a:endParaRPr lang="en-US" altLang="zh-CN" sz="2400" i="1" dirty="0" smtClean="0">
                  <a:latin typeface="楷体" panose="02010609060101010101" pitchFamily="49" charset="-122"/>
                  <a:ea typeface="楷体" panose="02010609060101010101" pitchFamily="49" charset="-122"/>
                </a:endParaRPr>
              </a:p>
              <a:p>
                <a:pPr marL="1081088" defTabSz="493713"/>
                <a14:m>
                  <m:oMathPara xmlns:m="http://schemas.openxmlformats.org/officeDocument/2006/math">
                    <m:oMathParaPr>
                      <m:jc m:val="left"/>
                    </m:oMathParaPr>
                    <m:oMath xmlns:m="http://schemas.openxmlformats.org/officeDocument/2006/math">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𝐶</m:t>
                      </m:r>
                    </m:oMath>
                  </m:oMathPara>
                </a14:m>
                <a:endParaRPr lang="en-US" altLang="zh-CN" sz="2400" b="0" i="1" dirty="0" smtClean="0">
                  <a:latin typeface="楷体" panose="02010609060101010101" pitchFamily="49" charset="-122"/>
                  <a:ea typeface="楷体" panose="02010609060101010101" pitchFamily="49" charset="-122"/>
                </a:endParaRPr>
              </a:p>
              <a:p>
                <a:pPr marL="1081088" defTabSz="493713"/>
                <a14:m>
                  <m:oMathPara xmlns:m="http://schemas.openxmlformats.org/officeDocument/2006/math">
                    <m:oMathParaPr>
                      <m:jc m:val="left"/>
                    </m:oMathParaPr>
                    <m:oMath xmlns:m="http://schemas.openxmlformats.org/officeDocument/2006/math">
                      <m:r>
                        <a:rPr lang="en-US" altLang="zh-CN" sz="2400" b="0" i="1" smtClean="0">
                          <a:latin typeface="Cambria Math" panose="02040503050406030204" pitchFamily="18" charset="0"/>
                        </a:rPr>
                        <m:t>=</m:t>
                      </m:r>
                      <m:acc>
                        <m:accPr>
                          <m:chr m:val="̅"/>
                          <m:ctrlPr>
                            <a:rPr lang="en-US" altLang="zh-CN" sz="2400" i="1" smtClean="0">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𝐶</m:t>
                      </m:r>
                      <m:d>
                        <m:dPr>
                          <m:ctrlPr>
                            <a:rPr lang="en-US" altLang="zh-CN" sz="2400" b="0" i="1" smtClean="0">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𝐵</m:t>
                          </m:r>
                        </m:e>
                      </m:d>
                      <m:r>
                        <a:rPr lang="en-US" altLang="zh-CN" sz="2400" b="0" i="1" smtClean="0">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e>
                      </m:d>
                      <m:r>
                        <a:rPr lang="en-US" altLang="zh-CN" sz="2400" i="1">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𝐴</m:t>
                          </m:r>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e>
                      </m:d>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𝐶</m:t>
                      </m:r>
                    </m:oMath>
                  </m:oMathPara>
                </a14:m>
                <a:endParaRPr lang="en-US" altLang="zh-CN" sz="2400" i="1" dirty="0" smtClean="0">
                  <a:latin typeface="Cambria Math" panose="02040503050406030204" pitchFamily="18" charset="0"/>
                </a:endParaRPr>
              </a:p>
              <a:p>
                <a:pPr marL="1081088" defTabSz="493713"/>
                <a14:m>
                  <m:oMath xmlns:m="http://schemas.openxmlformats.org/officeDocument/2006/math">
                    <m:r>
                      <a:rPr lang="en-US" altLang="zh-CN" sz="2400" b="0" i="1" smtClean="0">
                        <a:latin typeface="Cambria Math" panose="02040503050406030204" pitchFamily="18" charset="0"/>
                      </a:rPr>
                      <m:t>=</m:t>
                    </m:r>
                    <m:acc>
                      <m:accPr>
                        <m:chr m:val="̅"/>
                        <m:ctrlPr>
                          <a:rPr lang="en-US" altLang="zh-CN" sz="2400" i="1" smtClean="0">
                            <a:solidFill>
                              <a:srgbClr val="7030A0"/>
                            </a:solidFill>
                            <a:latin typeface="Cambria Math" panose="02040503050406030204" pitchFamily="18" charset="0"/>
                          </a:rPr>
                        </m:ctrlPr>
                      </m:accPr>
                      <m:e>
                        <m:r>
                          <a:rPr lang="en-US" altLang="zh-CN" sz="2400" i="1">
                            <a:solidFill>
                              <a:srgbClr val="7030A0"/>
                            </a:solidFill>
                            <a:latin typeface="Cambria Math" panose="02040503050406030204" pitchFamily="18" charset="0"/>
                          </a:rPr>
                          <m:t>𝐴</m:t>
                        </m:r>
                        <m:r>
                          <a:rPr lang="en-US" altLang="zh-CN" sz="2400" i="1">
                            <a:solidFill>
                              <a:srgbClr val="7030A0"/>
                            </a:solidFill>
                            <a:latin typeface="Cambria Math" panose="02040503050406030204" pitchFamily="18" charset="0"/>
                          </a:rPr>
                          <m:t> </m:t>
                        </m:r>
                      </m:e>
                    </m:acc>
                    <m:r>
                      <a:rPr lang="en-US" altLang="zh-CN" sz="2400" i="1">
                        <a:solidFill>
                          <a:srgbClr val="7030A0"/>
                        </a:solidFill>
                        <a:latin typeface="Cambria Math" panose="02040503050406030204" pitchFamily="18" charset="0"/>
                      </a:rPr>
                      <m:t>𝐵</m:t>
                    </m:r>
                    <m:acc>
                      <m:accPr>
                        <m:chr m:val="̅"/>
                        <m:ctrlPr>
                          <a:rPr lang="en-US" altLang="zh-CN" sz="2400" i="1">
                            <a:solidFill>
                              <a:srgbClr val="7030A0"/>
                            </a:solidFill>
                            <a:latin typeface="Cambria Math" panose="02040503050406030204" pitchFamily="18" charset="0"/>
                          </a:rPr>
                        </m:ctrlPr>
                      </m:accPr>
                      <m:e>
                        <m:r>
                          <a:rPr lang="en-US" altLang="zh-CN" sz="2400" i="1">
                            <a:solidFill>
                              <a:srgbClr val="7030A0"/>
                            </a:solidFill>
                            <a:latin typeface="Cambria Math" panose="02040503050406030204" pitchFamily="18" charset="0"/>
                          </a:rPr>
                          <m:t>𝐶</m:t>
                        </m:r>
                        <m:r>
                          <a:rPr lang="en-US" altLang="zh-CN" sz="2400" i="1">
                            <a:solidFill>
                              <a:srgbClr val="7030A0"/>
                            </a:solidFill>
                            <a:latin typeface="Cambria Math" panose="02040503050406030204" pitchFamily="18" charset="0"/>
                          </a:rPr>
                          <m:t> </m:t>
                        </m:r>
                      </m:e>
                    </m:acc>
                    <m:r>
                      <a:rPr lang="en-US" altLang="zh-CN" sz="2400" b="0" i="1" smtClean="0">
                        <a:latin typeface="Cambria Math" panose="02040503050406030204" pitchFamily="18" charset="0"/>
                      </a:rPr>
                      <m:t>+</m:t>
                    </m:r>
                    <m:acc>
                      <m:accPr>
                        <m:chr m:val="̅"/>
                        <m:ctrlPr>
                          <a:rPr lang="en-US" altLang="zh-CN" sz="2400" i="1" smtClean="0">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𝐴</m:t>
                        </m:r>
                        <m:r>
                          <a:rPr lang="en-US" altLang="zh-CN" sz="2400" i="1">
                            <a:solidFill>
                              <a:srgbClr val="00B0F0"/>
                            </a:solidFill>
                            <a:latin typeface="Cambria Math" panose="02040503050406030204" pitchFamily="18" charset="0"/>
                          </a:rPr>
                          <m:t> </m:t>
                        </m:r>
                      </m:e>
                    </m:acc>
                    <m:acc>
                      <m:accPr>
                        <m:chr m:val="̅"/>
                        <m:ctrlPr>
                          <a:rPr lang="en-US" altLang="zh-CN" sz="2400" i="1">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𝐵</m:t>
                        </m:r>
                        <m:r>
                          <a:rPr lang="en-US" altLang="zh-CN" sz="2400" i="1">
                            <a:solidFill>
                              <a:srgbClr val="00B0F0"/>
                            </a:solidFill>
                            <a:latin typeface="Cambria Math" panose="02040503050406030204" pitchFamily="18" charset="0"/>
                          </a:rPr>
                          <m:t> </m:t>
                        </m:r>
                      </m:e>
                    </m:acc>
                    <m:r>
                      <a:rPr lang="en-US" altLang="zh-CN" sz="2400" i="1">
                        <a:solidFill>
                          <a:srgbClr val="00B0F0"/>
                        </a:solidFill>
                        <a:latin typeface="Cambria Math" panose="02040503050406030204" pitchFamily="18" charset="0"/>
                      </a:rPr>
                      <m:t>𝐶</m:t>
                    </m:r>
                    <m:r>
                      <a:rPr lang="en-US" altLang="zh-CN" sz="2400" b="0" i="1" smtClean="0">
                        <a:latin typeface="Cambria Math" panose="02040503050406030204" pitchFamily="18" charset="0"/>
                      </a:rPr>
                      <m:t>+</m:t>
                    </m:r>
                    <m:acc>
                      <m:accPr>
                        <m:chr m:val="̅"/>
                        <m:ctrlPr>
                          <a:rPr lang="en-US" altLang="zh-CN" sz="2400" i="1" smtClean="0">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𝐴</m:t>
                        </m:r>
                        <m:r>
                          <a:rPr lang="en-US" altLang="zh-CN" sz="2400" i="1">
                            <a:solidFill>
                              <a:srgbClr val="FF0000"/>
                            </a:solidFill>
                            <a:latin typeface="Cambria Math" panose="02040503050406030204" pitchFamily="18" charset="0"/>
                          </a:rPr>
                          <m:t> </m:t>
                        </m:r>
                      </m:e>
                    </m:acc>
                    <m:r>
                      <a:rPr lang="en-US" altLang="zh-CN" sz="2400" i="1">
                        <a:solidFill>
                          <a:srgbClr val="FF0000"/>
                        </a:solidFill>
                        <a:latin typeface="Cambria Math" panose="02040503050406030204" pitchFamily="18" charset="0"/>
                      </a:rPr>
                      <m:t>𝐵𝐶</m:t>
                    </m:r>
                    <m:r>
                      <a:rPr lang="en-US" altLang="zh-CN" sz="2400" b="0" i="1" smtClean="0">
                        <a:latin typeface="Cambria Math" panose="02040503050406030204" pitchFamily="18" charset="0"/>
                      </a:rPr>
                      <m:t>+</m:t>
                    </m:r>
                    <m:r>
                      <a:rPr lang="en-US" altLang="zh-CN" sz="2400" i="1" smtClean="0">
                        <a:solidFill>
                          <a:srgbClr val="00B050"/>
                        </a:solidFill>
                        <a:latin typeface="Cambria Math" panose="02040503050406030204" pitchFamily="18" charset="0"/>
                      </a:rPr>
                      <m:t>𝐴</m:t>
                    </m:r>
                    <m:acc>
                      <m:accPr>
                        <m:chr m:val="̅"/>
                        <m:ctrlPr>
                          <a:rPr lang="en-US" altLang="zh-CN" sz="2400" i="1">
                            <a:solidFill>
                              <a:srgbClr val="00B050"/>
                            </a:solidFill>
                            <a:latin typeface="Cambria Math" panose="02040503050406030204" pitchFamily="18" charset="0"/>
                          </a:rPr>
                        </m:ctrlPr>
                      </m:accPr>
                      <m:e>
                        <m:r>
                          <a:rPr lang="en-US" altLang="zh-CN" sz="2400" i="1">
                            <a:solidFill>
                              <a:srgbClr val="00B050"/>
                            </a:solidFill>
                            <a:latin typeface="Cambria Math" panose="02040503050406030204" pitchFamily="18" charset="0"/>
                          </a:rPr>
                          <m:t>𝐵</m:t>
                        </m:r>
                        <m:r>
                          <a:rPr lang="en-US" altLang="zh-CN" sz="2400" i="1">
                            <a:solidFill>
                              <a:srgbClr val="00B050"/>
                            </a:solidFill>
                            <a:latin typeface="Cambria Math" panose="02040503050406030204" pitchFamily="18" charset="0"/>
                          </a:rPr>
                          <m:t> </m:t>
                        </m:r>
                      </m:e>
                    </m:acc>
                    <m:r>
                      <a:rPr lang="en-US" altLang="zh-CN" sz="2400" i="1">
                        <a:solidFill>
                          <a:srgbClr val="00B050"/>
                        </a:solidFill>
                        <a:latin typeface="Cambria Math" panose="02040503050406030204" pitchFamily="18" charset="0"/>
                      </a:rPr>
                      <m:t>𝐶</m:t>
                    </m:r>
                    <m:r>
                      <a:rPr lang="en-US" altLang="zh-CN" sz="2400" b="0" i="1" smtClean="0">
                        <a:latin typeface="Cambria Math" panose="02040503050406030204" pitchFamily="18" charset="0"/>
                      </a:rPr>
                      <m:t>+</m:t>
                    </m:r>
                    <m:r>
                      <a:rPr lang="en-US" altLang="zh-CN" sz="2400" i="1" smtClean="0">
                        <a:solidFill>
                          <a:schemeClr val="accent2">
                            <a:lumMod val="75000"/>
                          </a:schemeClr>
                        </a:solidFill>
                        <a:latin typeface="Cambria Math" panose="02040503050406030204" pitchFamily="18" charset="0"/>
                      </a:rPr>
                      <m:t>𝐴</m:t>
                    </m:r>
                    <m:acc>
                      <m:accPr>
                        <m:chr m:val="̅"/>
                        <m:ctrlPr>
                          <a:rPr lang="en-US" altLang="zh-CN" sz="2400" i="1">
                            <a:solidFill>
                              <a:schemeClr val="accent2">
                                <a:lumMod val="75000"/>
                              </a:schemeClr>
                            </a:solidFill>
                            <a:latin typeface="Cambria Math" panose="02040503050406030204" pitchFamily="18" charset="0"/>
                          </a:rPr>
                        </m:ctrlPr>
                      </m:accPr>
                      <m:e>
                        <m:r>
                          <a:rPr lang="en-US" altLang="zh-CN" sz="2400" i="1">
                            <a:solidFill>
                              <a:schemeClr val="accent2">
                                <a:lumMod val="75000"/>
                              </a:schemeClr>
                            </a:solidFill>
                            <a:latin typeface="Cambria Math" panose="02040503050406030204" pitchFamily="18" charset="0"/>
                          </a:rPr>
                          <m:t>𝐵</m:t>
                        </m:r>
                      </m:e>
                    </m:acc>
                    <m:acc>
                      <m:accPr>
                        <m:chr m:val="̅"/>
                        <m:ctrlPr>
                          <a:rPr lang="en-US" altLang="zh-CN" sz="2400" i="1">
                            <a:solidFill>
                              <a:schemeClr val="accent2">
                                <a:lumMod val="75000"/>
                              </a:schemeClr>
                            </a:solidFill>
                            <a:latin typeface="Cambria Math" panose="02040503050406030204" pitchFamily="18" charset="0"/>
                          </a:rPr>
                        </m:ctrlPr>
                      </m:accPr>
                      <m:e>
                        <m:r>
                          <a:rPr lang="en-US" altLang="zh-CN" sz="2400" i="1">
                            <a:solidFill>
                              <a:schemeClr val="accent2">
                                <a:lumMod val="75000"/>
                              </a:schemeClr>
                            </a:solidFill>
                            <a:latin typeface="Cambria Math" panose="02040503050406030204" pitchFamily="18" charset="0"/>
                          </a:rPr>
                          <m:t>𝐶</m:t>
                        </m:r>
                        <m:r>
                          <a:rPr lang="en-US" altLang="zh-CN" sz="2400" i="1">
                            <a:solidFill>
                              <a:schemeClr val="accent2">
                                <a:lumMod val="75000"/>
                              </a:schemeClr>
                            </a:solidFill>
                            <a:latin typeface="Cambria Math" panose="02040503050406030204" pitchFamily="18" charset="0"/>
                          </a:rPr>
                          <m:t> </m:t>
                        </m:r>
                      </m:e>
                    </m:acc>
                    <m:r>
                      <a:rPr lang="en-US" altLang="zh-CN" sz="2400" b="0" i="1" smtClean="0">
                        <a:latin typeface="Cambria Math" panose="02040503050406030204" pitchFamily="18" charset="0"/>
                      </a:rPr>
                      <m:t>+</m:t>
                    </m:r>
                  </m:oMath>
                </a14:m>
                <a:r>
                  <a:rPr lang="en-US" altLang="zh-CN" sz="2400" dirty="0"/>
                  <a:t> </a:t>
                </a:r>
                <a14:m>
                  <m:oMath xmlns:m="http://schemas.openxmlformats.org/officeDocument/2006/math">
                    <m:r>
                      <a:rPr lang="en-US" altLang="zh-CN" sz="2400" i="1" smtClean="0">
                        <a:solidFill>
                          <a:srgbClr val="00B050"/>
                        </a:solidFill>
                        <a:latin typeface="Cambria Math" panose="02040503050406030204" pitchFamily="18" charset="0"/>
                      </a:rPr>
                      <m:t>𝐴</m:t>
                    </m:r>
                    <m:acc>
                      <m:accPr>
                        <m:chr m:val="̅"/>
                        <m:ctrlPr>
                          <a:rPr lang="en-US" altLang="zh-CN" sz="2400" i="1">
                            <a:solidFill>
                              <a:srgbClr val="00B050"/>
                            </a:solidFill>
                            <a:latin typeface="Cambria Math" panose="02040503050406030204" pitchFamily="18" charset="0"/>
                          </a:rPr>
                        </m:ctrlPr>
                      </m:accPr>
                      <m:e>
                        <m:r>
                          <a:rPr lang="en-US" altLang="zh-CN" sz="2400" i="1">
                            <a:solidFill>
                              <a:srgbClr val="00B050"/>
                            </a:solidFill>
                            <a:latin typeface="Cambria Math" panose="02040503050406030204" pitchFamily="18" charset="0"/>
                          </a:rPr>
                          <m:t>𝐵</m:t>
                        </m:r>
                        <m:r>
                          <a:rPr lang="en-US" altLang="zh-CN" sz="2400" i="1">
                            <a:solidFill>
                              <a:srgbClr val="00B050"/>
                            </a:solidFill>
                            <a:latin typeface="Cambria Math" panose="02040503050406030204" pitchFamily="18" charset="0"/>
                          </a:rPr>
                          <m:t> </m:t>
                        </m:r>
                      </m:e>
                    </m:acc>
                    <m:r>
                      <a:rPr lang="en-US" altLang="zh-CN" sz="2400" i="1">
                        <a:solidFill>
                          <a:srgbClr val="00B050"/>
                        </a:solidFill>
                        <a:latin typeface="Cambria Math" panose="02040503050406030204" pitchFamily="18" charset="0"/>
                      </a:rPr>
                      <m:t>𝐶</m:t>
                    </m:r>
                    <m:r>
                      <a:rPr lang="en-US" altLang="zh-CN" sz="2400" b="0" i="1" smtClean="0">
                        <a:latin typeface="Cambria Math" panose="02040503050406030204" pitchFamily="18" charset="0"/>
                      </a:rPr>
                      <m:t>+</m:t>
                    </m:r>
                    <m:acc>
                      <m:accPr>
                        <m:chr m:val="̅"/>
                        <m:ctrlPr>
                          <a:rPr lang="en-US" altLang="zh-CN" sz="2400" i="1" smtClean="0">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𝐴</m:t>
                        </m:r>
                        <m:r>
                          <a:rPr lang="en-US" altLang="zh-CN" sz="2400" i="1">
                            <a:solidFill>
                              <a:srgbClr val="00B0F0"/>
                            </a:solidFill>
                            <a:latin typeface="Cambria Math" panose="02040503050406030204" pitchFamily="18" charset="0"/>
                          </a:rPr>
                          <m:t> </m:t>
                        </m:r>
                      </m:e>
                    </m:acc>
                    <m:acc>
                      <m:accPr>
                        <m:chr m:val="̅"/>
                        <m:ctrlPr>
                          <a:rPr lang="en-US" altLang="zh-CN" sz="2400" i="1">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𝐵</m:t>
                        </m:r>
                        <m:r>
                          <a:rPr lang="en-US" altLang="zh-CN" sz="2400" i="1">
                            <a:solidFill>
                              <a:srgbClr val="00B0F0"/>
                            </a:solidFill>
                            <a:latin typeface="Cambria Math" panose="02040503050406030204" pitchFamily="18" charset="0"/>
                          </a:rPr>
                          <m:t> </m:t>
                        </m:r>
                      </m:e>
                    </m:acc>
                    <m:r>
                      <a:rPr lang="en-US" altLang="zh-CN" sz="2400" i="1">
                        <a:solidFill>
                          <a:srgbClr val="00B0F0"/>
                        </a:solidFill>
                        <a:latin typeface="Cambria Math" panose="02040503050406030204" pitchFamily="18" charset="0"/>
                      </a:rPr>
                      <m:t>𝐶</m:t>
                    </m:r>
                  </m:oMath>
                </a14:m>
                <a:endParaRPr lang="en-US" altLang="zh-CN" sz="2400" b="0" i="1" dirty="0" smtClean="0">
                  <a:solidFill>
                    <a:srgbClr val="00B0F0"/>
                  </a:solidFill>
                  <a:latin typeface="楷体" panose="02010609060101010101" pitchFamily="49" charset="-122"/>
                  <a:ea typeface="楷体" panose="02010609060101010101" pitchFamily="49" charset="-122"/>
                </a:endParaRPr>
              </a:p>
              <a:p>
                <a:pPr marL="1081088" defTabSz="493713"/>
                <a14:m>
                  <m:oMath xmlns:m="http://schemas.openxmlformats.org/officeDocument/2006/math">
                    <m:r>
                      <a:rPr lang="en-US" altLang="zh-CN" sz="2400" b="0" i="1" smtClean="0">
                        <a:latin typeface="Cambria Math" panose="02040503050406030204" pitchFamily="18" charset="0"/>
                      </a:rPr>
                      <m:t>=</m:t>
                    </m:r>
                    <m:acc>
                      <m:accPr>
                        <m:chr m:val="̅"/>
                        <m:ctrlPr>
                          <a:rPr lang="en-US" altLang="zh-CN" sz="2400" i="1" smtClean="0">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𝐴</m:t>
                        </m:r>
                        <m:r>
                          <a:rPr lang="en-US" altLang="zh-CN" sz="2400" b="0" i="1" smtClean="0">
                            <a:solidFill>
                              <a:srgbClr val="00B0F0"/>
                            </a:solidFill>
                            <a:latin typeface="Cambria Math" panose="02040503050406030204" pitchFamily="18" charset="0"/>
                          </a:rPr>
                          <m:t> </m:t>
                        </m:r>
                      </m:e>
                    </m:acc>
                    <m:acc>
                      <m:accPr>
                        <m:chr m:val="̅"/>
                        <m:ctrlPr>
                          <a:rPr lang="en-US" altLang="zh-CN" sz="2400" i="1">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𝐵</m:t>
                        </m:r>
                      </m:e>
                    </m:acc>
                    <m:r>
                      <a:rPr lang="en-US" altLang="zh-CN" sz="2400" i="1">
                        <a:solidFill>
                          <a:srgbClr val="00B0F0"/>
                        </a:solidFill>
                        <a:latin typeface="Cambria Math" panose="02040503050406030204" pitchFamily="18" charset="0"/>
                      </a:rPr>
                      <m:t>𝐶</m:t>
                    </m:r>
                    <m:r>
                      <a:rPr lang="en-US" altLang="zh-CN" sz="2400" b="0" i="1" smtClean="0">
                        <a:latin typeface="Cambria Math" panose="02040503050406030204" pitchFamily="18" charset="0"/>
                      </a:rPr>
                      <m:t>+</m:t>
                    </m:r>
                    <m:acc>
                      <m:accPr>
                        <m:chr m:val="̅"/>
                        <m:ctrlPr>
                          <a:rPr lang="en-US" altLang="zh-CN" sz="2400" i="1" smtClean="0">
                            <a:solidFill>
                              <a:srgbClr val="7030A0"/>
                            </a:solidFill>
                            <a:latin typeface="Cambria Math" panose="02040503050406030204" pitchFamily="18" charset="0"/>
                          </a:rPr>
                        </m:ctrlPr>
                      </m:accPr>
                      <m:e>
                        <m:r>
                          <a:rPr lang="en-US" altLang="zh-CN" sz="2400" i="1">
                            <a:solidFill>
                              <a:srgbClr val="7030A0"/>
                            </a:solidFill>
                            <a:latin typeface="Cambria Math" panose="02040503050406030204" pitchFamily="18" charset="0"/>
                          </a:rPr>
                          <m:t>𝐴</m:t>
                        </m:r>
                        <m:r>
                          <a:rPr lang="en-US" altLang="zh-CN" sz="2400" b="0" i="1" smtClean="0">
                            <a:solidFill>
                              <a:srgbClr val="7030A0"/>
                            </a:solidFill>
                            <a:latin typeface="Cambria Math" panose="02040503050406030204" pitchFamily="18" charset="0"/>
                          </a:rPr>
                          <m:t> </m:t>
                        </m:r>
                      </m:e>
                    </m:acc>
                    <m:r>
                      <a:rPr lang="en-US" altLang="zh-CN" sz="2400" i="1">
                        <a:solidFill>
                          <a:srgbClr val="7030A0"/>
                        </a:solidFill>
                        <a:latin typeface="Cambria Math" panose="02040503050406030204" pitchFamily="18" charset="0"/>
                      </a:rPr>
                      <m:t>𝐵</m:t>
                    </m:r>
                    <m:acc>
                      <m:accPr>
                        <m:chr m:val="̅"/>
                        <m:ctrlPr>
                          <a:rPr lang="en-US" altLang="zh-CN" sz="2400" i="1">
                            <a:solidFill>
                              <a:srgbClr val="7030A0"/>
                            </a:solidFill>
                            <a:latin typeface="Cambria Math" panose="02040503050406030204" pitchFamily="18" charset="0"/>
                          </a:rPr>
                        </m:ctrlPr>
                      </m:accPr>
                      <m:e>
                        <m:r>
                          <a:rPr lang="en-US" altLang="zh-CN" sz="2400" i="1">
                            <a:solidFill>
                              <a:srgbClr val="7030A0"/>
                            </a:solidFill>
                            <a:latin typeface="Cambria Math" panose="02040503050406030204" pitchFamily="18" charset="0"/>
                          </a:rPr>
                          <m:t>𝐶</m:t>
                        </m:r>
                        <m:r>
                          <a:rPr lang="en-US" altLang="zh-CN" sz="2400" b="0" i="1" smtClean="0">
                            <a:solidFill>
                              <a:srgbClr val="7030A0"/>
                            </a:solidFill>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smtClean="0">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𝐴</m:t>
                        </m:r>
                        <m:r>
                          <a:rPr lang="en-US" altLang="zh-CN" sz="2400" b="0" i="1" smtClean="0">
                            <a:solidFill>
                              <a:srgbClr val="FF0000"/>
                            </a:solidFill>
                            <a:latin typeface="Cambria Math" panose="02040503050406030204" pitchFamily="18" charset="0"/>
                          </a:rPr>
                          <m:t> </m:t>
                        </m:r>
                      </m:e>
                    </m:acc>
                    <m:r>
                      <a:rPr lang="en-US" altLang="zh-CN" sz="2400" i="1">
                        <a:solidFill>
                          <a:srgbClr val="FF0000"/>
                        </a:solidFill>
                        <a:latin typeface="Cambria Math" panose="02040503050406030204" pitchFamily="18" charset="0"/>
                      </a:rPr>
                      <m:t>𝐵𝐶</m:t>
                    </m:r>
                    <m:r>
                      <a:rPr lang="en-US" altLang="zh-CN" sz="2400" b="0" i="1" smtClean="0">
                        <a:latin typeface="Cambria Math" panose="02040503050406030204" pitchFamily="18" charset="0"/>
                      </a:rPr>
                      <m:t>+</m:t>
                    </m:r>
                    <m:r>
                      <a:rPr lang="en-US" altLang="zh-CN" sz="2400" i="1" smtClean="0">
                        <a:solidFill>
                          <a:schemeClr val="accent2">
                            <a:lumMod val="75000"/>
                          </a:schemeClr>
                        </a:solidFill>
                        <a:latin typeface="Cambria Math" panose="02040503050406030204" pitchFamily="18" charset="0"/>
                      </a:rPr>
                      <m:t>𝐴</m:t>
                    </m:r>
                    <m:acc>
                      <m:accPr>
                        <m:chr m:val="̅"/>
                        <m:ctrlPr>
                          <a:rPr lang="en-US" altLang="zh-CN" sz="2400" i="1">
                            <a:solidFill>
                              <a:schemeClr val="accent2">
                                <a:lumMod val="75000"/>
                              </a:schemeClr>
                            </a:solidFill>
                            <a:latin typeface="Cambria Math" panose="02040503050406030204" pitchFamily="18" charset="0"/>
                          </a:rPr>
                        </m:ctrlPr>
                      </m:accPr>
                      <m:e>
                        <m:r>
                          <a:rPr lang="en-US" altLang="zh-CN" sz="2400" i="1">
                            <a:solidFill>
                              <a:schemeClr val="accent2">
                                <a:lumMod val="75000"/>
                              </a:schemeClr>
                            </a:solidFill>
                            <a:latin typeface="Cambria Math" panose="02040503050406030204" pitchFamily="18" charset="0"/>
                          </a:rPr>
                          <m:t>𝐵</m:t>
                        </m:r>
                      </m:e>
                    </m:acc>
                    <m:acc>
                      <m:accPr>
                        <m:chr m:val="̅"/>
                        <m:ctrlPr>
                          <a:rPr lang="en-US" altLang="zh-CN" sz="2400" i="1">
                            <a:solidFill>
                              <a:schemeClr val="accent2">
                                <a:lumMod val="75000"/>
                              </a:schemeClr>
                            </a:solidFill>
                            <a:latin typeface="Cambria Math" panose="02040503050406030204" pitchFamily="18" charset="0"/>
                          </a:rPr>
                        </m:ctrlPr>
                      </m:accPr>
                      <m:e>
                        <m:r>
                          <a:rPr lang="en-US" altLang="zh-CN" sz="2400" i="1">
                            <a:solidFill>
                              <a:schemeClr val="accent2">
                                <a:lumMod val="75000"/>
                              </a:schemeClr>
                            </a:solidFill>
                            <a:latin typeface="Cambria Math" panose="02040503050406030204" pitchFamily="18" charset="0"/>
                          </a:rPr>
                          <m:t>𝐶</m:t>
                        </m:r>
                        <m:r>
                          <a:rPr lang="en-US" altLang="zh-CN" sz="2400" b="0" i="1" smtClean="0">
                            <a:solidFill>
                              <a:schemeClr val="accent2">
                                <a:lumMod val="75000"/>
                              </a:schemeClr>
                            </a:solidFill>
                            <a:latin typeface="Cambria Math" panose="02040503050406030204" pitchFamily="18" charset="0"/>
                          </a:rPr>
                          <m:t> </m:t>
                        </m:r>
                      </m:e>
                    </m:acc>
                    <m:r>
                      <a:rPr lang="en-US" altLang="zh-CN" sz="2400" b="0" i="1" smtClean="0">
                        <a:latin typeface="Cambria Math" panose="02040503050406030204" pitchFamily="18" charset="0"/>
                      </a:rPr>
                      <m:t>+</m:t>
                    </m:r>
                  </m:oMath>
                </a14:m>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smtClean="0">
                        <a:solidFill>
                          <a:srgbClr val="00B050"/>
                        </a:solidFill>
                        <a:latin typeface="Cambria Math" panose="02040503050406030204" pitchFamily="18" charset="0"/>
                      </a:rPr>
                      <m:t>𝐴</m:t>
                    </m:r>
                    <m:acc>
                      <m:accPr>
                        <m:chr m:val="̅"/>
                        <m:ctrlPr>
                          <a:rPr lang="en-US" altLang="zh-CN" sz="2400" i="1" smtClean="0">
                            <a:solidFill>
                              <a:srgbClr val="00B050"/>
                            </a:solidFill>
                            <a:latin typeface="Cambria Math" panose="02040503050406030204" pitchFamily="18" charset="0"/>
                          </a:rPr>
                        </m:ctrlPr>
                      </m:accPr>
                      <m:e>
                        <m:r>
                          <a:rPr lang="en-US" altLang="zh-CN" sz="2400" i="1">
                            <a:solidFill>
                              <a:srgbClr val="00B050"/>
                            </a:solidFill>
                            <a:latin typeface="Cambria Math" panose="02040503050406030204" pitchFamily="18" charset="0"/>
                          </a:rPr>
                          <m:t>𝐵</m:t>
                        </m:r>
                      </m:e>
                    </m:acc>
                    <m:r>
                      <a:rPr lang="en-US" altLang="zh-CN" sz="2400" i="1">
                        <a:solidFill>
                          <a:srgbClr val="00B050"/>
                        </a:solidFill>
                        <a:latin typeface="Cambria Math" panose="02040503050406030204" pitchFamily="18" charset="0"/>
                      </a:rPr>
                      <m:t>𝐶</m:t>
                    </m:r>
                  </m:oMath>
                </a14:m>
                <a:endParaRPr lang="en-US" altLang="zh-CN" sz="2400" i="1" dirty="0" smtClean="0">
                  <a:solidFill>
                    <a:srgbClr val="00B050"/>
                  </a:solidFill>
                  <a:latin typeface="Cambria Math" panose="02040503050406030204" pitchFamily="18" charset="0"/>
                </a:endParaRPr>
              </a:p>
              <a:p>
                <a:pPr marL="1081088" defTabSz="493713"/>
                <a14:m>
                  <m:oMath xmlns:m="http://schemas.openxmlformats.org/officeDocument/2006/math">
                    <m:r>
                      <a:rPr lang="en-US" altLang="zh-CN" sz="2400" b="0" i="1" smtClean="0">
                        <a:solidFill>
                          <a:srgbClr val="00B050"/>
                        </a:solidFill>
                        <a:latin typeface="Cambria Math" panose="02040503050406030204" pitchFamily="18" charset="0"/>
                      </a:rPr>
                      <m:t>=</m:t>
                    </m:r>
                    <m:r>
                      <a:rPr lang="en-US" altLang="zh-CN" sz="2400" i="1">
                        <a:solidFill>
                          <a:schemeClr val="accent2">
                            <a:lumMod val="75000"/>
                          </a:schemeClr>
                        </a:solidFill>
                        <a:latin typeface="Cambria Math" panose="02040503050406030204" pitchFamily="18" charset="0"/>
                      </a:rPr>
                      <m:t>𝐴</m:t>
                    </m:r>
                    <m:acc>
                      <m:accPr>
                        <m:chr m:val="̅"/>
                        <m:ctrlPr>
                          <a:rPr lang="en-US" altLang="zh-CN" sz="2400" i="1">
                            <a:solidFill>
                              <a:schemeClr val="accent2">
                                <a:lumMod val="75000"/>
                              </a:schemeClr>
                            </a:solidFill>
                            <a:latin typeface="Cambria Math" panose="02040503050406030204" pitchFamily="18" charset="0"/>
                          </a:rPr>
                        </m:ctrlPr>
                      </m:accPr>
                      <m:e>
                        <m:r>
                          <a:rPr lang="en-US" altLang="zh-CN" sz="2400" i="1">
                            <a:solidFill>
                              <a:schemeClr val="accent2">
                                <a:lumMod val="75000"/>
                              </a:schemeClr>
                            </a:solidFill>
                            <a:latin typeface="Cambria Math" panose="02040503050406030204" pitchFamily="18" charset="0"/>
                          </a:rPr>
                          <m:t>𝐵</m:t>
                        </m:r>
                      </m:e>
                    </m:acc>
                    <m:acc>
                      <m:accPr>
                        <m:chr m:val="̅"/>
                        <m:ctrlPr>
                          <a:rPr lang="en-US" altLang="zh-CN" sz="2400" i="1">
                            <a:solidFill>
                              <a:schemeClr val="accent2">
                                <a:lumMod val="75000"/>
                              </a:schemeClr>
                            </a:solidFill>
                            <a:latin typeface="Cambria Math" panose="02040503050406030204" pitchFamily="18" charset="0"/>
                          </a:rPr>
                        </m:ctrlPr>
                      </m:accPr>
                      <m:e>
                        <m:r>
                          <a:rPr lang="en-US" altLang="zh-CN" sz="2400" i="1">
                            <a:solidFill>
                              <a:schemeClr val="accent2">
                                <a:lumMod val="75000"/>
                              </a:schemeClr>
                            </a:solidFill>
                            <a:latin typeface="Cambria Math" panose="02040503050406030204" pitchFamily="18" charset="0"/>
                          </a:rPr>
                          <m:t>𝐶</m:t>
                        </m:r>
                        <m:r>
                          <a:rPr lang="en-US" altLang="zh-CN" sz="2400" i="1">
                            <a:solidFill>
                              <a:schemeClr val="accent2">
                                <a:lumMod val="75000"/>
                              </a:schemeClr>
                            </a:solidFill>
                            <a:latin typeface="Cambria Math" panose="02040503050406030204" pitchFamily="18" charset="0"/>
                          </a:rPr>
                          <m:t> </m:t>
                        </m:r>
                      </m:e>
                    </m:acc>
                    <m:r>
                      <a:rPr lang="en-US" altLang="zh-CN" sz="2400" i="1">
                        <a:latin typeface="Cambria Math" panose="02040503050406030204" pitchFamily="18" charset="0"/>
                      </a:rPr>
                      <m:t>+</m:t>
                    </m:r>
                  </m:oMath>
                </a14:m>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a:solidFill>
                          <a:srgbClr val="00B050"/>
                        </a:solidFill>
                        <a:latin typeface="Cambria Math" panose="02040503050406030204" pitchFamily="18" charset="0"/>
                      </a:rPr>
                      <m:t>𝐴</m:t>
                    </m:r>
                    <m:acc>
                      <m:accPr>
                        <m:chr m:val="̅"/>
                        <m:ctrlPr>
                          <a:rPr lang="en-US" altLang="zh-CN" sz="2400" i="1">
                            <a:solidFill>
                              <a:srgbClr val="00B050"/>
                            </a:solidFill>
                            <a:latin typeface="Cambria Math" panose="02040503050406030204" pitchFamily="18" charset="0"/>
                          </a:rPr>
                        </m:ctrlPr>
                      </m:accPr>
                      <m:e>
                        <m:r>
                          <a:rPr lang="en-US" altLang="zh-CN" sz="2400" i="1">
                            <a:solidFill>
                              <a:srgbClr val="00B050"/>
                            </a:solidFill>
                            <a:latin typeface="Cambria Math" panose="02040503050406030204" pitchFamily="18" charset="0"/>
                          </a:rPr>
                          <m:t>𝐵</m:t>
                        </m:r>
                      </m:e>
                    </m:acc>
                    <m:r>
                      <a:rPr lang="en-US" altLang="zh-CN" sz="2400" i="1">
                        <a:solidFill>
                          <a:srgbClr val="00B050"/>
                        </a:solidFill>
                        <a:latin typeface="Cambria Math" panose="02040503050406030204" pitchFamily="18" charset="0"/>
                      </a:rPr>
                      <m:t>𝐶</m:t>
                    </m:r>
                    <m:r>
                      <a:rPr lang="en-US" altLang="zh-CN" sz="2400" b="0" i="1" smtClean="0">
                        <a:solidFill>
                          <a:srgbClr val="00B050"/>
                        </a:solidFill>
                        <a:latin typeface="Cambria Math" panose="02040503050406030204" pitchFamily="18" charset="0"/>
                      </a:rPr>
                      <m:t>+</m:t>
                    </m:r>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𝐴</m:t>
                        </m:r>
                        <m:r>
                          <a:rPr lang="en-US" altLang="zh-CN" sz="2400" i="1">
                            <a:solidFill>
                              <a:srgbClr val="FF0000"/>
                            </a:solidFill>
                            <a:latin typeface="Cambria Math" panose="02040503050406030204" pitchFamily="18" charset="0"/>
                          </a:rPr>
                          <m:t> </m:t>
                        </m:r>
                      </m:e>
                    </m:acc>
                    <m:r>
                      <a:rPr lang="en-US" altLang="zh-CN" sz="2400" i="1">
                        <a:solidFill>
                          <a:srgbClr val="FF0000"/>
                        </a:solidFill>
                        <a:latin typeface="Cambria Math" panose="02040503050406030204" pitchFamily="18" charset="0"/>
                      </a:rPr>
                      <m:t>𝐵𝐶</m:t>
                    </m:r>
                    <m:r>
                      <a:rPr lang="en-US" altLang="zh-CN" sz="2400" i="1">
                        <a:latin typeface="Cambria Math" panose="02040503050406030204" pitchFamily="18" charset="0"/>
                      </a:rPr>
                      <m:t>+</m:t>
                    </m:r>
                    <m:acc>
                      <m:accPr>
                        <m:chr m:val="̅"/>
                        <m:ctrlPr>
                          <a:rPr lang="en-US" altLang="zh-CN" sz="2400" i="1">
                            <a:solidFill>
                              <a:srgbClr val="7030A0"/>
                            </a:solidFill>
                            <a:latin typeface="Cambria Math" panose="02040503050406030204" pitchFamily="18" charset="0"/>
                          </a:rPr>
                        </m:ctrlPr>
                      </m:accPr>
                      <m:e>
                        <m:r>
                          <a:rPr lang="en-US" altLang="zh-CN" sz="2400" i="1">
                            <a:solidFill>
                              <a:srgbClr val="7030A0"/>
                            </a:solidFill>
                            <a:latin typeface="Cambria Math" panose="02040503050406030204" pitchFamily="18" charset="0"/>
                          </a:rPr>
                          <m:t>𝐴</m:t>
                        </m:r>
                        <m:r>
                          <a:rPr lang="en-US" altLang="zh-CN" sz="2400" i="1">
                            <a:solidFill>
                              <a:srgbClr val="7030A0"/>
                            </a:solidFill>
                            <a:latin typeface="Cambria Math" panose="02040503050406030204" pitchFamily="18" charset="0"/>
                          </a:rPr>
                          <m:t> </m:t>
                        </m:r>
                      </m:e>
                    </m:acc>
                    <m:r>
                      <a:rPr lang="en-US" altLang="zh-CN" sz="2400" i="1">
                        <a:solidFill>
                          <a:srgbClr val="7030A0"/>
                        </a:solidFill>
                        <a:latin typeface="Cambria Math" panose="02040503050406030204" pitchFamily="18" charset="0"/>
                      </a:rPr>
                      <m:t>𝐵</m:t>
                    </m:r>
                    <m:acc>
                      <m:accPr>
                        <m:chr m:val="̅"/>
                        <m:ctrlPr>
                          <a:rPr lang="en-US" altLang="zh-CN" sz="2400" i="1">
                            <a:solidFill>
                              <a:srgbClr val="7030A0"/>
                            </a:solidFill>
                            <a:latin typeface="Cambria Math" panose="02040503050406030204" pitchFamily="18" charset="0"/>
                          </a:rPr>
                        </m:ctrlPr>
                      </m:accPr>
                      <m:e>
                        <m:r>
                          <a:rPr lang="en-US" altLang="zh-CN" sz="2400" i="1">
                            <a:solidFill>
                              <a:srgbClr val="7030A0"/>
                            </a:solidFill>
                            <a:latin typeface="Cambria Math" panose="02040503050406030204" pitchFamily="18" charset="0"/>
                          </a:rPr>
                          <m:t>𝐶</m:t>
                        </m:r>
                        <m:r>
                          <a:rPr lang="en-US" altLang="zh-CN" sz="2400" i="1">
                            <a:solidFill>
                              <a:srgbClr val="7030A0"/>
                            </a:solidFill>
                            <a:latin typeface="Cambria Math" panose="02040503050406030204" pitchFamily="18" charset="0"/>
                          </a:rPr>
                          <m:t> </m:t>
                        </m:r>
                      </m:e>
                    </m:acc>
                    <m:r>
                      <a:rPr lang="en-US" altLang="zh-CN" sz="2400" b="0" i="1" smtClean="0">
                        <a:solidFill>
                          <a:srgbClr val="7030A0"/>
                        </a:solidFill>
                        <a:latin typeface="Cambria Math" panose="02040503050406030204" pitchFamily="18" charset="0"/>
                      </a:rPr>
                      <m:t>+</m:t>
                    </m:r>
                    <m:acc>
                      <m:accPr>
                        <m:chr m:val="̅"/>
                        <m:ctrlPr>
                          <a:rPr lang="en-US" altLang="zh-CN" sz="2400" i="1">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𝐴</m:t>
                        </m:r>
                        <m:r>
                          <a:rPr lang="en-US" altLang="zh-CN" sz="2400" i="1">
                            <a:solidFill>
                              <a:srgbClr val="00B0F0"/>
                            </a:solidFill>
                            <a:latin typeface="Cambria Math" panose="02040503050406030204" pitchFamily="18" charset="0"/>
                          </a:rPr>
                          <m:t> </m:t>
                        </m:r>
                      </m:e>
                    </m:acc>
                    <m:acc>
                      <m:accPr>
                        <m:chr m:val="̅"/>
                        <m:ctrlPr>
                          <a:rPr lang="en-US" altLang="zh-CN" sz="2400" i="1">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𝐵</m:t>
                        </m:r>
                      </m:e>
                    </m:acc>
                    <m:r>
                      <a:rPr lang="en-US" altLang="zh-CN" sz="2400" i="1">
                        <a:solidFill>
                          <a:srgbClr val="00B0F0"/>
                        </a:solidFill>
                        <a:latin typeface="Cambria Math" panose="02040503050406030204" pitchFamily="18" charset="0"/>
                      </a:rPr>
                      <m:t>𝐶</m:t>
                    </m:r>
                    <m:r>
                      <a:rPr lang="en-US" altLang="zh-CN" sz="2400" b="0" i="1" smtClean="0">
                        <a:solidFill>
                          <a:srgbClr val="00B0F0"/>
                        </a:solidFill>
                        <a:latin typeface="Cambria Math" panose="02040503050406030204" pitchFamily="18" charset="0"/>
                      </a:rPr>
                      <m:t>+</m:t>
                    </m:r>
                  </m:oMath>
                </a14:m>
                <a:r>
                  <a:rPr lang="en-US" altLang="zh-CN" sz="2400" dirty="0">
                    <a:solidFill>
                      <a:srgbClr val="00B050"/>
                    </a:solidFill>
                  </a:rPr>
                  <a:t> </a:t>
                </a:r>
                <a14:m>
                  <m:oMath xmlns:m="http://schemas.openxmlformats.org/officeDocument/2006/math">
                    <m:r>
                      <a:rPr lang="en-US" altLang="zh-CN" sz="2400" i="1">
                        <a:solidFill>
                          <a:srgbClr val="00B050"/>
                        </a:solidFill>
                        <a:latin typeface="Cambria Math" panose="02040503050406030204" pitchFamily="18" charset="0"/>
                      </a:rPr>
                      <m:t>𝐴</m:t>
                    </m:r>
                    <m:acc>
                      <m:accPr>
                        <m:chr m:val="̅"/>
                        <m:ctrlPr>
                          <a:rPr lang="en-US" altLang="zh-CN" sz="2400" i="1">
                            <a:solidFill>
                              <a:srgbClr val="00B050"/>
                            </a:solidFill>
                            <a:latin typeface="Cambria Math" panose="02040503050406030204" pitchFamily="18" charset="0"/>
                          </a:rPr>
                        </m:ctrlPr>
                      </m:accPr>
                      <m:e>
                        <m:r>
                          <a:rPr lang="en-US" altLang="zh-CN" sz="2400" i="1">
                            <a:solidFill>
                              <a:srgbClr val="00B050"/>
                            </a:solidFill>
                            <a:latin typeface="Cambria Math" panose="02040503050406030204" pitchFamily="18" charset="0"/>
                          </a:rPr>
                          <m:t>𝐵</m:t>
                        </m:r>
                      </m:e>
                    </m:acc>
                    <m:r>
                      <a:rPr lang="en-US" altLang="zh-CN" sz="2400" i="1">
                        <a:solidFill>
                          <a:srgbClr val="00B050"/>
                        </a:solidFill>
                        <a:latin typeface="Cambria Math" panose="02040503050406030204" pitchFamily="18" charset="0"/>
                      </a:rPr>
                      <m:t>𝐶</m:t>
                    </m:r>
                  </m:oMath>
                </a14:m>
                <a:endParaRPr lang="en-US" altLang="zh-CN" sz="2400" b="0" i="1" dirty="0" smtClean="0">
                  <a:solidFill>
                    <a:srgbClr val="7030A0"/>
                  </a:solidFill>
                  <a:latin typeface="Cambria Math" panose="02040503050406030204" pitchFamily="18" charset="0"/>
                </a:endParaRPr>
              </a:p>
              <a:p>
                <a:pPr marL="1081088" defTabSz="493713"/>
                <a14:m>
                  <m:oMathPara xmlns:m="http://schemas.openxmlformats.org/officeDocument/2006/math">
                    <m:oMathParaPr>
                      <m:jc m:val="left"/>
                    </m:oMathParaPr>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oMath>
                  </m:oMathPara>
                </a14:m>
                <a:endParaRPr lang="en-US" altLang="zh-CN" sz="2400" dirty="0" smtClean="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由此看出，原来的电路不是最简的，它可以用改进的电路来代替，读者可根据最后</a:t>
                </a:r>
                <a:r>
                  <a:rPr lang="zh-CN" altLang="en-US" sz="2400" dirty="0" smtClean="0">
                    <a:latin typeface="楷体" panose="02010609060101010101" pitchFamily="49" charset="-122"/>
                    <a:ea typeface="楷体" panose="02010609060101010101" pitchFamily="49" charset="-122"/>
                  </a:rPr>
                  <a:t>表达式自行</a:t>
                </a:r>
                <a:r>
                  <a:rPr lang="zh-CN" altLang="en-US" sz="2400" dirty="0">
                    <a:latin typeface="楷体" panose="02010609060101010101" pitchFamily="49" charset="-122"/>
                    <a:ea typeface="楷体" panose="02010609060101010101" pitchFamily="49" charset="-122"/>
                  </a:rPr>
                  <a:t>画出。</a:t>
                </a:r>
              </a:p>
            </p:txBody>
          </p:sp>
        </mc:Choice>
        <mc:Fallback xmlns="">
          <p:sp>
            <p:nvSpPr>
              <p:cNvPr id="10" name="矩形 9"/>
              <p:cNvSpPr>
                <a:spLocks noRot="1" noChangeAspect="1" noMove="1" noResize="1" noEditPoints="1" noAdjustHandles="1" noChangeArrowheads="1" noChangeShapeType="1" noTextEdit="1"/>
              </p:cNvSpPr>
              <p:nvPr/>
            </p:nvSpPr>
            <p:spPr>
              <a:xfrm>
                <a:off x="245103" y="751969"/>
                <a:ext cx="8751115" cy="6107569"/>
              </a:xfrm>
              <a:prstGeom prst="rect">
                <a:avLst/>
              </a:prstGeom>
              <a:blipFill>
                <a:blip r:embed="rId2"/>
                <a:stretch>
                  <a:fillRect l="-1045" t="-798" r="-4178" b="-12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255447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20594" y="155610"/>
            <a:ext cx="5983048" cy="461665"/>
          </a:xfrm>
          <a:prstGeom prst="rect">
            <a:avLst/>
          </a:prstGeom>
        </p:spPr>
        <p:txBody>
          <a:bodyPr wrap="none">
            <a:spAutoFit/>
          </a:bodyPr>
          <a:lstStyle/>
          <a:p>
            <a:r>
              <a:rPr lang="en-US" altLang="zh-CN" sz="2400" b="1" spc="-30" dirty="0">
                <a:latin typeface="楷体" panose="02010609060101010101" pitchFamily="49" charset="-122"/>
                <a:ea typeface="楷体" panose="02010609060101010101" pitchFamily="49" charset="-122"/>
                <a:cs typeface="Arial" panose="020B0604020202020204" pitchFamily="34" charset="0"/>
              </a:rPr>
              <a:t>【</a:t>
            </a:r>
            <a:r>
              <a:rPr lang="zh-CN" altLang="en-US" sz="2400" b="1" spc="-30" dirty="0">
                <a:latin typeface="楷体" panose="02010609060101010101" pitchFamily="49" charset="-122"/>
                <a:ea typeface="楷体" panose="02010609060101010101" pitchFamily="49" charset="-122"/>
                <a:cs typeface="Arial" panose="020B0604020202020204" pitchFamily="34" charset="0"/>
              </a:rPr>
              <a:t>例</a:t>
            </a:r>
            <a:r>
              <a:rPr lang="en-US" altLang="zh-CN" sz="2400" b="1" spc="-30" dirty="0">
                <a:latin typeface="楷体" panose="02010609060101010101" pitchFamily="49" charset="-122"/>
                <a:ea typeface="楷体" panose="02010609060101010101" pitchFamily="49" charset="-122"/>
                <a:cs typeface="Arial" panose="020B0604020202020204" pitchFamily="34" charset="0"/>
              </a:rPr>
              <a:t>4】  </a:t>
            </a:r>
            <a:r>
              <a:rPr lang="zh-CN" altLang="en-US" sz="2400" b="1" spc="-30" dirty="0">
                <a:latin typeface="楷体" panose="02010609060101010101" pitchFamily="49" charset="-122"/>
                <a:ea typeface="楷体" panose="02010609060101010101" pitchFamily="49" charset="-122"/>
                <a:cs typeface="Arial" panose="020B0604020202020204" pitchFamily="34" charset="0"/>
              </a:rPr>
              <a:t>分析图</a:t>
            </a:r>
            <a:r>
              <a:rPr lang="en-US" altLang="zh-CN" sz="2400" b="1" spc="-30" dirty="0">
                <a:latin typeface="楷体" panose="02010609060101010101" pitchFamily="49" charset="-122"/>
                <a:ea typeface="楷体" panose="02010609060101010101" pitchFamily="49" charset="-122"/>
                <a:cs typeface="Arial" panose="020B0604020202020204" pitchFamily="34" charset="0"/>
              </a:rPr>
              <a:t>2.4</a:t>
            </a:r>
            <a:r>
              <a:rPr lang="zh-CN" altLang="en-US" sz="2400" b="1" spc="-30" dirty="0">
                <a:latin typeface="楷体" panose="02010609060101010101" pitchFamily="49" charset="-122"/>
                <a:ea typeface="楷体" panose="02010609060101010101" pitchFamily="49" charset="-122"/>
                <a:cs typeface="Arial" panose="020B0604020202020204" pitchFamily="34" charset="0"/>
              </a:rPr>
              <a:t>所示电路的逻辑功能。</a:t>
            </a:r>
          </a:p>
        </p:txBody>
      </p:sp>
      <mc:AlternateContent xmlns:mc="http://schemas.openxmlformats.org/markup-compatibility/2006" xmlns:a14="http://schemas.microsoft.com/office/drawing/2010/main">
        <mc:Choice Requires="a14">
          <p:sp>
            <p:nvSpPr>
              <p:cNvPr id="2" name="矩形 1"/>
              <p:cNvSpPr/>
              <p:nvPr/>
            </p:nvSpPr>
            <p:spPr>
              <a:xfrm>
                <a:off x="420594" y="686000"/>
                <a:ext cx="8266545" cy="2683042"/>
              </a:xfrm>
              <a:prstGeom prst="rect">
                <a:avLst/>
              </a:prstGeom>
            </p:spPr>
            <p:txBody>
              <a:bodyPr wrap="square">
                <a:spAutoFit/>
              </a:bodyPr>
              <a:lstStyle/>
              <a:p>
                <a:pPr marL="803275" defTabSz="493713"/>
                <a14:m>
                  <m:oMathPara xmlns:m="http://schemas.openxmlformats.org/officeDocument/2006/math">
                    <m:oMathParaPr>
                      <m:jc m:val="left"/>
                    </m:oMathParaPr>
                    <m:oMath xmlns:m="http://schemas.openxmlformats.org/officeDocument/2006/math">
                      <m:r>
                        <a:rPr lang="en-US" altLang="zh-CN" sz="2400" i="1" smtClean="0">
                          <a:latin typeface="Cambria Math" panose="02040503050406030204" pitchFamily="18" charset="0"/>
                        </a:rPr>
                        <m:t>𝐹</m:t>
                      </m:r>
                      <m:r>
                        <a:rPr lang="en-US" altLang="zh-CN" sz="2400" i="1" smtClean="0">
                          <a:latin typeface="Cambria Math" panose="02040503050406030204" pitchFamily="18" charset="0"/>
                        </a:rPr>
                        <m:t>=</m:t>
                      </m:r>
                      <m:d>
                        <m:dPr>
                          <m:ctrlPr>
                            <a:rPr lang="en-US" altLang="zh-CN" sz="2400" i="1" smtClean="0">
                              <a:latin typeface="Cambria Math" panose="02040503050406030204" pitchFamily="18" charset="0"/>
                            </a:rPr>
                          </m:ctrlPr>
                        </m:dPr>
                        <m:e>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𝐵</m:t>
                          </m:r>
                        </m:e>
                      </m:d>
                      <m:d>
                        <m:dPr>
                          <m:ctrlPr>
                            <a:rPr lang="en-US" altLang="zh-CN" sz="2400" i="1">
                              <a:latin typeface="Cambria Math" panose="02040503050406030204" pitchFamily="18" charset="0"/>
                            </a:rPr>
                          </m:ctrlPr>
                        </m:dPr>
                        <m:e>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𝐶</m:t>
                          </m:r>
                        </m:e>
                      </m:d>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oMath>
                  </m:oMathPara>
                </a14:m>
                <a:endParaRPr lang="en-US" altLang="zh-CN" sz="2400" i="1" dirty="0">
                  <a:latin typeface="楷体" panose="02010609060101010101" pitchFamily="49" charset="-122"/>
                  <a:ea typeface="楷体" panose="02010609060101010101" pitchFamily="49" charset="-122"/>
                </a:endParaRPr>
              </a:p>
              <a:p>
                <a:pPr marL="1081088" defTabSz="493713"/>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m:rPr>
                        <m:sty m:val="p"/>
                      </m:rPr>
                      <a:rPr lang="en-US" altLang="zh-CN" sz="2400" i="1">
                        <a:latin typeface="Cambria Math" panose="02040503050406030204" pitchFamily="18" charset="0"/>
                      </a:rPr>
                      <m:t>C</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oMath>
                </a14:m>
                <a:r>
                  <a:rPr lang="en-US" altLang="zh-CN" sz="2400" i="1" dirty="0">
                    <a:latin typeface="楷体" panose="02010609060101010101" pitchFamily="49" charset="-122"/>
                    <a:ea typeface="楷体" panose="02010609060101010101" pitchFamily="49" charset="-122"/>
                  </a:rPr>
                  <a:t> </a:t>
                </a:r>
              </a:p>
              <a:p>
                <a:pPr marL="1081088" defTabSz="493713"/>
                <a14:m>
                  <m:oMathPara xmlns:m="http://schemas.openxmlformats.org/officeDocument/2006/math">
                    <m:oMathParaPr>
                      <m:jc m:val="left"/>
                    </m:oMathParaPr>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oMath>
                  </m:oMathPara>
                </a14:m>
                <a:endParaRPr lang="en-US" altLang="zh-CN" sz="2400" i="1" dirty="0">
                  <a:latin typeface="楷体" panose="02010609060101010101" pitchFamily="49" charset="-122"/>
                  <a:ea typeface="楷体" panose="02010609060101010101" pitchFamily="49" charset="-122"/>
                </a:endParaRPr>
              </a:p>
              <a:p>
                <a:pPr marL="1081088" defTabSz="493713"/>
                <a14:m>
                  <m:oMathPara xmlns:m="http://schemas.openxmlformats.org/officeDocument/2006/math">
                    <m:oMathParaPr>
                      <m:jc m:val="left"/>
                    </m:oMathParaPr>
                    <m:oMath xmlns:m="http://schemas.openxmlformats.org/officeDocument/2006/math">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oMath>
                  </m:oMathPara>
                </a14:m>
                <a:endParaRPr lang="en-US" altLang="zh-CN" sz="2400" i="1" dirty="0">
                  <a:latin typeface="楷体" panose="02010609060101010101" pitchFamily="49" charset="-122"/>
                  <a:ea typeface="楷体" panose="02010609060101010101" pitchFamily="49" charset="-122"/>
                </a:endParaRPr>
              </a:p>
              <a:p>
                <a:pPr marL="1081088" defTabSz="493713"/>
                <a14:m>
                  <m:oMathPara xmlns:m="http://schemas.openxmlformats.org/officeDocument/2006/math">
                    <m:oMathParaPr>
                      <m:jc m:val="left"/>
                    </m:oMathParaPr>
                    <m:oMath xmlns:m="http://schemas.openxmlformats.org/officeDocument/2006/math">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rPr>
                        <m:t>𝐶</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m:t>
                      </m:r>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oMath>
                  </m:oMathPara>
                </a14:m>
                <a:endParaRPr lang="en-US" altLang="zh-CN" sz="2400" i="1" dirty="0">
                  <a:latin typeface="楷体" panose="02010609060101010101" pitchFamily="49" charset="-122"/>
                  <a:ea typeface="楷体" panose="02010609060101010101" pitchFamily="49" charset="-122"/>
                </a:endParaRPr>
              </a:p>
              <a:p>
                <a:pPr marL="1081088" defTabSz="493713"/>
                <a14:m>
                  <m:oMath xmlns:m="http://schemas.openxmlformats.org/officeDocument/2006/math">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rPr>
                      <m:t>𝐵𝐶</m:t>
                    </m:r>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oMath>
                </a14:m>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oMath>
                </a14:m>
                <a:endParaRPr lang="en-US" altLang="zh-CN" sz="2400" i="1" dirty="0">
                  <a:latin typeface="楷体" panose="02010609060101010101" pitchFamily="49" charset="-122"/>
                  <a:ea typeface="楷体" panose="02010609060101010101" pitchFamily="49" charset="-122"/>
                </a:endParaRPr>
              </a:p>
              <a:p>
                <a:pPr marL="1081088" defTabSz="493713"/>
                <a14:m>
                  <m:oMathPara xmlns:m="http://schemas.openxmlformats.org/officeDocument/2006/math">
                    <m:oMathParaPr>
                      <m:jc m:val="left"/>
                    </m:oMathParaPr>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𝐵</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oMath>
                  </m:oMathPara>
                </a14:m>
                <a:endParaRPr lang="en-US" altLang="zh-CN" sz="2400" dirty="0" smtClean="0">
                  <a:latin typeface="楷体" panose="02010609060101010101" pitchFamily="49" charset="-122"/>
                  <a:ea typeface="楷体" panose="02010609060101010101" pitchFamily="49"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420594" y="686000"/>
                <a:ext cx="8266545" cy="2683042"/>
              </a:xfrm>
              <a:prstGeom prst="rect">
                <a:avLst/>
              </a:prstGeom>
              <a:blipFill>
                <a:blip r:embed="rId2"/>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4886035" y="3088168"/>
            <a:ext cx="3532571" cy="3698465"/>
          </a:xfrm>
          <a:prstGeom prst="rect">
            <a:avLst/>
          </a:prstGeom>
        </p:spPr>
      </p:pic>
      <mc:AlternateContent xmlns:mc="http://schemas.openxmlformats.org/markup-compatibility/2006" xmlns:a14="http://schemas.microsoft.com/office/drawing/2010/main">
        <mc:Choice Requires="a14">
          <p:sp>
            <p:nvSpPr>
              <p:cNvPr id="4" name="矩形 3"/>
              <p:cNvSpPr/>
              <p:nvPr/>
            </p:nvSpPr>
            <p:spPr>
              <a:xfrm>
                <a:off x="420594" y="3521390"/>
                <a:ext cx="3249131" cy="2677656"/>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表达式倒数第二行变成最小项相加形式，可得出表</a:t>
                </a:r>
                <a:r>
                  <a:rPr lang="en-US" altLang="zh-CN" sz="2400" dirty="0">
                    <a:latin typeface="楷体" panose="02010609060101010101" pitchFamily="49" charset="-122"/>
                    <a:ea typeface="楷体" panose="02010609060101010101" pitchFamily="49" charset="-122"/>
                  </a:rPr>
                  <a:t>2.1</a:t>
                </a:r>
                <a:r>
                  <a:rPr lang="zh-CN" altLang="en-US" sz="2400" dirty="0">
                    <a:latin typeface="楷体" panose="02010609060101010101" pitchFamily="49" charset="-122"/>
                    <a:ea typeface="楷体" panose="02010609060101010101" pitchFamily="49" charset="-122"/>
                  </a:rPr>
                  <a:t>所示的真值表。由表可知，当输入</a:t>
                </a:r>
                <a:r>
                  <a:rPr lang="en-US" altLang="zh-CN" sz="2400" i="1" dirty="0">
                    <a:latin typeface="楷体" panose="02010609060101010101" pitchFamily="49" charset="-122"/>
                    <a:ea typeface="楷体" panose="02010609060101010101" pitchFamily="49" charset="-122"/>
                  </a:rPr>
                  <a:t>ABC</a:t>
                </a:r>
                <a:r>
                  <a:rPr lang="zh-CN" altLang="en-US" sz="2400" dirty="0">
                    <a:latin typeface="楷体" panose="02010609060101010101" pitchFamily="49" charset="-122"/>
                    <a:ea typeface="楷体" panose="02010609060101010101" pitchFamily="49" charset="-122"/>
                  </a:rPr>
                  <a:t>为</a:t>
                </a:r>
                <a:r>
                  <a:rPr lang="en-US" altLang="zh-CN" sz="2400" dirty="0">
                    <a:latin typeface="楷体" panose="02010609060101010101" pitchFamily="49" charset="-122"/>
                    <a:ea typeface="楷体" panose="02010609060101010101" pitchFamily="49" charset="-122"/>
                  </a:rPr>
                  <a:t>001, 010, 011, 100, 101</a:t>
                </a:r>
                <a:r>
                  <a:rPr lang="zh-CN" altLang="en-US" sz="2400" dirty="0">
                    <a:latin typeface="楷体" panose="02010609060101010101" pitchFamily="49" charset="-122"/>
                    <a:ea typeface="楷体" panose="02010609060101010101" pitchFamily="49" charset="-122"/>
                  </a:rPr>
                  <a:t>时，输出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oMath>
                </a14:m>
                <a:r>
                  <a:rPr lang="zh-CN" altLang="en-US" sz="2400" dirty="0" smtClean="0">
                    <a:latin typeface="楷体" panose="02010609060101010101" pitchFamily="49" charset="-122"/>
                    <a:ea typeface="楷体" panose="02010609060101010101" pitchFamily="49" charset="-122"/>
                  </a:rPr>
                  <a:t>为 </a:t>
                </a:r>
                <a:r>
                  <a:rPr lang="en-US" altLang="zh-CN" sz="2400" dirty="0">
                    <a:latin typeface="楷体" panose="02010609060101010101" pitchFamily="49" charset="-122"/>
                    <a:ea typeface="楷体" panose="02010609060101010101" pitchFamily="49" charset="-122"/>
                  </a:rPr>
                  <a:t>1 , </a:t>
                </a:r>
                <a:r>
                  <a:rPr lang="zh-CN" altLang="en-US" sz="2400" dirty="0" smtClean="0">
                    <a:latin typeface="楷体" panose="02010609060101010101" pitchFamily="49" charset="-122"/>
                    <a:ea typeface="楷体" panose="02010609060101010101" pitchFamily="49" charset="-122"/>
                  </a:rPr>
                  <a:t>否则，</a:t>
                </a:r>
                <a:r>
                  <a:rPr lang="en-US" altLang="zh-CN" sz="2400" dirty="0" smtClean="0">
                    <a:ea typeface="楷体" panose="02010609060101010101" pitchFamily="49" charset="-122"/>
                  </a:rPr>
                  <a:t> </a:t>
                </a:r>
                <a14:m>
                  <m:oMath xmlns:m="http://schemas.openxmlformats.org/officeDocument/2006/math">
                    <m:r>
                      <a:rPr lang="en-US" altLang="zh-CN" sz="2400" i="1" dirty="0">
                        <a:latin typeface="Cambria Math" panose="02040503050406030204" pitchFamily="18" charset="0"/>
                        <a:ea typeface="楷体" panose="02010609060101010101" pitchFamily="49" charset="-122"/>
                      </a:rPr>
                      <m:t>𝐹</m:t>
                    </m:r>
                  </m:oMath>
                </a14:m>
                <a:r>
                  <a:rPr lang="zh-CN" altLang="en-US" sz="2400" dirty="0">
                    <a:latin typeface="楷体" panose="02010609060101010101" pitchFamily="49" charset="-122"/>
                    <a:ea typeface="楷体" panose="02010609060101010101" pitchFamily="49" charset="-122"/>
                  </a:rPr>
                  <a:t>为</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a:t>
                </a:r>
              </a:p>
            </p:txBody>
          </p:sp>
        </mc:Choice>
        <mc:Fallback xmlns="">
          <p:sp>
            <p:nvSpPr>
              <p:cNvPr id="4" name="矩形 3"/>
              <p:cNvSpPr>
                <a:spLocks noRot="1" noChangeAspect="1" noMove="1" noResize="1" noEditPoints="1" noAdjustHandles="1" noChangeArrowheads="1" noChangeShapeType="1" noTextEdit="1"/>
              </p:cNvSpPr>
              <p:nvPr/>
            </p:nvSpPr>
            <p:spPr>
              <a:xfrm>
                <a:off x="420594" y="3521390"/>
                <a:ext cx="3249131" cy="2677656"/>
              </a:xfrm>
              <a:prstGeom prst="rect">
                <a:avLst/>
              </a:prstGeom>
              <a:blipFill>
                <a:blip r:embed="rId4"/>
                <a:stretch>
                  <a:fillRect l="-3002" t="-1822" r="-11632" b="-34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815638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095952"/>
            <a:ext cx="7886700" cy="4351338"/>
          </a:xfrm>
        </p:spPr>
        <p:txBody>
          <a:bodyPr/>
          <a:lstStyle/>
          <a:p>
            <a:pPr>
              <a:lnSpc>
                <a:spcPts val="3500"/>
              </a:lnSpc>
            </a:pPr>
            <a:r>
              <a:rPr lang="zh-CN" altLang="en-US" dirty="0" smtClean="0">
                <a:latin typeface="楷体" panose="02010609060101010101" pitchFamily="49" charset="-122"/>
                <a:ea typeface="楷体" panose="02010609060101010101" pitchFamily="49" charset="-122"/>
              </a:rPr>
              <a:t>组合逻辑</a:t>
            </a:r>
            <a:r>
              <a:rPr lang="zh-CN" altLang="en-US" dirty="0">
                <a:latin typeface="楷体" panose="02010609060101010101" pitchFamily="49" charset="-122"/>
                <a:ea typeface="楷体" panose="02010609060101010101" pitchFamily="49" charset="-122"/>
              </a:rPr>
              <a:t>中的竞争</a:t>
            </a:r>
            <a:r>
              <a:rPr lang="zh-CN" altLang="en-US" dirty="0" smtClean="0">
                <a:latin typeface="楷体" panose="02010609060101010101" pitchFamily="49" charset="-122"/>
                <a:ea typeface="楷体" panose="02010609060101010101" pitchFamily="49" charset="-122"/>
              </a:rPr>
              <a:t>冒险</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前面讨论组合逻辑电路时，都是假定输入和输出信号已处于稳定状态下来分析的。</a:t>
            </a:r>
            <a:r>
              <a:rPr lang="zh-CN" altLang="en-US" dirty="0" smtClean="0">
                <a:latin typeface="楷体" panose="02010609060101010101" pitchFamily="49" charset="-122"/>
                <a:ea typeface="楷体" panose="02010609060101010101" pitchFamily="49" charset="-122"/>
              </a:rPr>
              <a:t>下面</a:t>
            </a:r>
            <a:r>
              <a:rPr lang="zh-CN" altLang="en-US" dirty="0">
                <a:latin typeface="楷体" panose="02010609060101010101" pitchFamily="49" charset="-122"/>
                <a:ea typeface="楷体" panose="02010609060101010101" pitchFamily="49" charset="-122"/>
              </a:rPr>
              <a:t>讨论信号在状态转换过程中，有些电路出现的一种现象</a:t>
            </a:r>
            <a:r>
              <a:rPr lang="en-US" altLang="zh-CN" dirty="0">
                <a:latin typeface="楷体" panose="02010609060101010101" pitchFamily="49" charset="-122"/>
                <a:ea typeface="楷体" panose="02010609060101010101" pitchFamily="49" charset="-122"/>
              </a:rPr>
              <a:t>——</a:t>
            </a:r>
            <a:r>
              <a:rPr lang="zh-CN" altLang="en-US" dirty="0">
                <a:solidFill>
                  <a:schemeClr val="accent1"/>
                </a:solidFill>
                <a:latin typeface="楷体" panose="02010609060101010101" pitchFamily="49" charset="-122"/>
                <a:ea typeface="楷体" panose="02010609060101010101" pitchFamily="49" charset="-122"/>
              </a:rPr>
              <a:t>竞争冒险</a:t>
            </a:r>
            <a:r>
              <a:rPr lang="zh-CN" altLang="en-US" dirty="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在组合电路中，当逻辑门有两个互补输入信号同时向相反状态变化时，输出端</a:t>
            </a:r>
            <a:r>
              <a:rPr lang="zh-CN" altLang="en-US" dirty="0">
                <a:solidFill>
                  <a:schemeClr val="accent2">
                    <a:lumMod val="75000"/>
                  </a:schemeClr>
                </a:solidFill>
                <a:latin typeface="楷体" panose="02010609060101010101" pitchFamily="49" charset="-122"/>
                <a:ea typeface="楷体" panose="02010609060101010101" pitchFamily="49" charset="-122"/>
              </a:rPr>
              <a:t>可能</a:t>
            </a:r>
            <a:r>
              <a:rPr lang="zh-CN" altLang="en-US" dirty="0" smtClean="0">
                <a:solidFill>
                  <a:schemeClr val="accent2">
                    <a:lumMod val="75000"/>
                  </a:schemeClr>
                </a:solidFill>
                <a:latin typeface="楷体" panose="02010609060101010101" pitchFamily="49" charset="-122"/>
                <a:ea typeface="楷体" panose="02010609060101010101" pitchFamily="49" charset="-122"/>
              </a:rPr>
              <a:t>产生</a:t>
            </a:r>
            <a:r>
              <a:rPr lang="zh-CN" altLang="en-US" b="1" dirty="0">
                <a:solidFill>
                  <a:schemeClr val="accent1"/>
                </a:solidFill>
                <a:latin typeface="楷体" panose="02010609060101010101" pitchFamily="49" charset="-122"/>
                <a:ea typeface="楷体" panose="02010609060101010101" pitchFamily="49" charset="-122"/>
              </a:rPr>
              <a:t>过渡干扰脉冲</a:t>
            </a:r>
            <a:r>
              <a:rPr lang="zh-CN" altLang="en-US" dirty="0">
                <a:latin typeface="楷体" panose="02010609060101010101" pitchFamily="49" charset="-122"/>
                <a:ea typeface="楷体" panose="02010609060101010101" pitchFamily="49" charset="-122"/>
              </a:rPr>
              <a:t>的现象称为</a:t>
            </a:r>
            <a:r>
              <a:rPr lang="zh-CN" altLang="en-US" b="1" dirty="0">
                <a:solidFill>
                  <a:schemeClr val="accent1"/>
                </a:solidFill>
                <a:latin typeface="楷体" panose="02010609060101010101" pitchFamily="49" charset="-122"/>
                <a:ea typeface="楷体" panose="02010609060101010101" pitchFamily="49" charset="-122"/>
              </a:rPr>
              <a:t>竞争冒险</a:t>
            </a:r>
            <a:r>
              <a:rPr lang="zh-CN" altLang="en-US" dirty="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1145689" y="4324365"/>
            <a:ext cx="7185130" cy="2533635"/>
          </a:xfrm>
          <a:prstGeom prst="rect">
            <a:avLst/>
          </a:prstGeom>
        </p:spPr>
      </p:pic>
      <p:cxnSp>
        <p:nvCxnSpPr>
          <p:cNvPr id="6" name="直接连接符 5"/>
          <p:cNvCxnSpPr/>
          <p:nvPr/>
        </p:nvCxnSpPr>
        <p:spPr>
          <a:xfrm flipV="1">
            <a:off x="5283200" y="6446982"/>
            <a:ext cx="997527" cy="9236"/>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7098145" y="6446982"/>
            <a:ext cx="997527" cy="9236"/>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7999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93305" y="143308"/>
            <a:ext cx="7185130" cy="2533635"/>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295564" y="2776138"/>
                <a:ext cx="8469745" cy="3786421"/>
              </a:xfrm>
              <a:prstGeom prst="rect">
                <a:avLst/>
              </a:prstGeom>
            </p:spPr>
            <p:txBody>
              <a:bodyPr wrap="square">
                <a:spAutoFit/>
              </a:bodyPr>
              <a:lstStyle/>
              <a:p>
                <a:r>
                  <a:rPr lang="zh-CN" altLang="en-US" sz="2400" dirty="0" smtClean="0">
                    <a:latin typeface="楷体" panose="02010609060101010101" pitchFamily="49" charset="-122"/>
                    <a:ea typeface="楷体" panose="02010609060101010101" pitchFamily="49" charset="-122"/>
                  </a:rPr>
                  <a:t>例如，图</a:t>
                </a:r>
                <a:r>
                  <a:rPr lang="en-US" altLang="zh-CN" sz="2400" dirty="0">
                    <a:latin typeface="楷体" panose="02010609060101010101" pitchFamily="49" charset="-122"/>
                    <a:ea typeface="楷体" panose="02010609060101010101" pitchFamily="49" charset="-122"/>
                  </a:rPr>
                  <a:t>2.5(a)</a:t>
                </a:r>
                <a:r>
                  <a:rPr lang="zh-CN" altLang="en-US" sz="2400" dirty="0">
                    <a:latin typeface="楷体" panose="02010609060101010101" pitchFamily="49" charset="-122"/>
                    <a:ea typeface="楷体" panose="02010609060101010101" pitchFamily="49" charset="-122"/>
                  </a:rPr>
                  <a:t>所示电路中，当输入信号</a:t>
                </a:r>
                <a:r>
                  <a:rPr lang="en-US" altLang="zh-CN" sz="2400" dirty="0" smtClean="0">
                    <a:latin typeface="楷体" panose="02010609060101010101" pitchFamily="49" charset="-122"/>
                    <a:ea typeface="楷体" panose="02010609060101010101" pitchFamily="49" charset="-122"/>
                  </a:rPr>
                  <a:t>A</a:t>
                </a:r>
                <a:r>
                  <a:rPr lang="zh-CN" altLang="en-US" sz="2400" dirty="0" smtClean="0">
                    <a:latin typeface="楷体" panose="02010609060101010101" pitchFamily="49" charset="-122"/>
                    <a:ea typeface="楷体" panose="02010609060101010101" pitchFamily="49" charset="-122"/>
                  </a:rPr>
                  <a:t>由</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变为</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时，则与非门</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的两个</a:t>
                </a:r>
                <a:r>
                  <a:rPr lang="zh-CN" altLang="en-US" sz="2400" dirty="0" smtClean="0">
                    <a:latin typeface="楷体" panose="02010609060101010101" pitchFamily="49" charset="-122"/>
                    <a:ea typeface="楷体" panose="02010609060101010101" pitchFamily="49" charset="-122"/>
                  </a:rPr>
                  <a:t>输入信号</a:t>
                </a:r>
                <a:r>
                  <a:rPr lang="zh-CN" altLang="en-US" sz="2400" dirty="0">
                    <a:latin typeface="楷体" panose="02010609060101010101" pitchFamily="49" charset="-122"/>
                    <a:ea typeface="楷体" panose="02010609060101010101" pitchFamily="49" charset="-122"/>
                  </a:rPr>
                  <a:t>中，</a:t>
                </a:r>
                <a:r>
                  <a:rPr lang="en-US" altLang="zh-CN" sz="2400" dirty="0" smtClean="0">
                    <a:latin typeface="楷体" panose="02010609060101010101" pitchFamily="49" charset="-122"/>
                    <a:ea typeface="楷体" panose="02010609060101010101" pitchFamily="49" charset="-122"/>
                  </a:rPr>
                  <a:t>A</a:t>
                </a:r>
                <a:r>
                  <a:rPr lang="zh-CN" altLang="en-US" sz="2400" dirty="0" smtClean="0">
                    <a:latin typeface="楷体" panose="02010609060101010101" pitchFamily="49" charset="-122"/>
                    <a:ea typeface="楷体" panose="02010609060101010101" pitchFamily="49" charset="-122"/>
                  </a:rPr>
                  <a:t>由</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变为</a:t>
                </a:r>
                <a:r>
                  <a:rPr lang="en-US" altLang="zh-CN" sz="2400" dirty="0" smtClean="0">
                    <a:latin typeface="楷体" panose="02010609060101010101" pitchFamily="49" charset="-122"/>
                    <a:ea typeface="楷体" panose="02010609060101010101" pitchFamily="49" charset="-122"/>
                  </a:rPr>
                  <a:t>1</a:t>
                </a:r>
                <a:r>
                  <a:rPr lang="zh-CN" altLang="en-US" sz="2400" dirty="0" smtClean="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B</a:t>
                </a:r>
                <a:r>
                  <a:rPr lang="zh-CN" altLang="en-US" sz="2400" dirty="0" smtClean="0">
                    <a:latin typeface="楷体" panose="02010609060101010101" pitchFamily="49" charset="-122"/>
                    <a:ea typeface="楷体" panose="02010609060101010101" pitchFamily="49" charset="-122"/>
                  </a:rPr>
                  <a:t>则</a:t>
                </a:r>
                <a:r>
                  <a:rPr lang="zh-CN" altLang="en-US" sz="2400" dirty="0">
                    <a:latin typeface="楷体" panose="02010609060101010101" pitchFamily="49" charset="-122"/>
                    <a:ea typeface="楷体" panose="02010609060101010101" pitchFamily="49" charset="-122"/>
                  </a:rPr>
                  <a:t>由</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变为</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。按照电路的表达式，应</a:t>
                </a:r>
                <a:r>
                  <a:rPr lang="zh-CN" altLang="en-US" sz="2400" dirty="0" smtClean="0">
                    <a:latin typeface="楷体" panose="02010609060101010101" pitchFamily="49" charset="-122"/>
                    <a:ea typeface="楷体" panose="02010609060101010101" pitchFamily="49" charset="-122"/>
                  </a:rPr>
                  <a:t>为</a:t>
                </a:r>
                <a:endParaRPr lang="en-US" altLang="zh-CN" sz="2400" dirty="0" smtClean="0">
                  <a:latin typeface="楷体" panose="02010609060101010101" pitchFamily="49" charset="-122"/>
                  <a:ea typeface="楷体" panose="02010609060101010101" pitchFamily="49" charset="-122"/>
                </a:endParaRPr>
              </a:p>
              <a:p>
                <a:pPr marL="803275" defTabSz="493713"/>
                <a:r>
                  <a:rPr lang="en-US" altLang="zh-CN" sz="2400" dirty="0" smtClean="0"/>
                  <a:t>                              </a:t>
                </a:r>
                <a14:m>
                  <m:oMath xmlns:m="http://schemas.openxmlformats.org/officeDocument/2006/math">
                    <m:r>
                      <a:rPr lang="en-US" altLang="zh-CN" sz="2400" i="1">
                        <a:latin typeface="Cambria Math" panose="02040503050406030204" pitchFamily="18" charset="0"/>
                      </a:rPr>
                      <m:t>𝐹</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𝐴𝐵</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𝐴</m:t>
                    </m:r>
                    <m:r>
                      <a:rPr lang="en-US" altLang="zh-CN" sz="2400" b="0" i="1" smtClean="0">
                        <a:latin typeface="Cambria Math" panose="02040503050406030204" pitchFamily="18" charset="0"/>
                      </a:rPr>
                      <m:t>=1</m:t>
                    </m:r>
                  </m:oMath>
                </a14:m>
                <a:endParaRPr lang="en-US" altLang="zh-CN" sz="2400" dirty="0" smtClean="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所以输出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oMath>
                </a14:m>
                <a:r>
                  <a:rPr lang="zh-CN" altLang="en-US" sz="2400" dirty="0" smtClean="0">
                    <a:latin typeface="楷体" panose="02010609060101010101" pitchFamily="49" charset="-122"/>
                    <a:ea typeface="楷体" panose="02010609060101010101" pitchFamily="49" charset="-122"/>
                  </a:rPr>
                  <a:t>应该</a:t>
                </a:r>
                <a:r>
                  <a:rPr lang="zh-CN" altLang="en-US" sz="2400" dirty="0">
                    <a:latin typeface="楷体" panose="02010609060101010101" pitchFamily="49" charset="-122"/>
                    <a:ea typeface="楷体" panose="02010609060101010101" pitchFamily="49" charset="-122"/>
                  </a:rPr>
                  <a:t>恒为</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。但是实际</a:t>
                </a:r>
                <a14:m>
                  <m:oMath xmlns:m="http://schemas.openxmlformats.org/officeDocument/2006/math">
                    <m:r>
                      <a:rPr lang="en-US" altLang="zh-CN" sz="2400" i="1" dirty="0">
                        <a:latin typeface="Cambria Math" panose="02040503050406030204" pitchFamily="18" charset="0"/>
                        <a:ea typeface="楷体" panose="02010609060101010101" pitchFamily="49" charset="-122"/>
                      </a:rPr>
                      <m:t>𝐹</m:t>
                    </m:r>
                  </m:oMath>
                </a14:m>
                <a:r>
                  <a:rPr lang="zh-CN" altLang="en-US" sz="2400" dirty="0" smtClean="0">
                    <a:latin typeface="楷体" panose="02010609060101010101" pitchFamily="49" charset="-122"/>
                    <a:ea typeface="楷体" panose="02010609060101010101" pitchFamily="49" charset="-122"/>
                  </a:rPr>
                  <a:t>信号</a:t>
                </a:r>
                <a:r>
                  <a:rPr lang="zh-CN" altLang="en-US" sz="2400" dirty="0">
                    <a:latin typeface="楷体" panose="02010609060101010101" pitchFamily="49" charset="-122"/>
                    <a:ea typeface="楷体" panose="02010609060101010101" pitchFamily="49" charset="-122"/>
                  </a:rPr>
                  <a:t>却出现了</a:t>
                </a:r>
                <a:r>
                  <a:rPr lang="zh-CN" altLang="en-US" sz="2400" b="1" dirty="0">
                    <a:latin typeface="楷体" panose="02010609060101010101" pitchFamily="49" charset="-122"/>
                    <a:ea typeface="楷体" panose="02010609060101010101" pitchFamily="49" charset="-122"/>
                  </a:rPr>
                  <a:t>负向窄脉冲</a:t>
                </a:r>
                <a:r>
                  <a:rPr lang="zh-CN" altLang="en-US" sz="2400" dirty="0">
                    <a:latin typeface="楷体" panose="02010609060101010101" pitchFamily="49" charset="-122"/>
                    <a:ea typeface="楷体" panose="02010609060101010101" pitchFamily="49" charset="-122"/>
                  </a:rPr>
                  <a:t>，见图</a:t>
                </a:r>
                <a:r>
                  <a:rPr lang="en-US" altLang="zh-CN" sz="2400" dirty="0">
                    <a:latin typeface="楷体" panose="02010609060101010101" pitchFamily="49" charset="-122"/>
                    <a:ea typeface="楷体" panose="02010609060101010101" pitchFamily="49" charset="-122"/>
                  </a:rPr>
                  <a:t>2.5(b)</a:t>
                </a:r>
                <a:r>
                  <a:rPr lang="zh-CN" altLang="en-US" sz="2400" dirty="0">
                    <a:latin typeface="楷体" panose="02010609060101010101" pitchFamily="49" charset="-122"/>
                    <a:ea typeface="楷体" panose="02010609060101010101" pitchFamily="49" charset="-122"/>
                  </a:rPr>
                  <a:t>。这是因为</a:t>
                </a:r>
                <a:r>
                  <a:rPr lang="en-US" altLang="zh-CN" sz="2400" dirty="0" smtClean="0">
                    <a:latin typeface="楷体" panose="02010609060101010101" pitchFamily="49" charset="-122"/>
                    <a:ea typeface="楷体" panose="02010609060101010101" pitchFamily="49" charset="-122"/>
                  </a:rPr>
                  <a:t>B</a:t>
                </a:r>
                <a:r>
                  <a:rPr lang="zh-CN" altLang="en-US" sz="2400" dirty="0" smtClean="0">
                    <a:latin typeface="楷体" panose="02010609060101010101" pitchFamily="49" charset="-122"/>
                    <a:ea typeface="楷体" panose="02010609060101010101" pitchFamily="49" charset="-122"/>
                  </a:rPr>
                  <a:t>是</a:t>
                </a:r>
                <a:r>
                  <a:rPr lang="zh-CN" altLang="en-US" sz="2400" dirty="0">
                    <a:latin typeface="楷体" panose="02010609060101010101" pitchFamily="49" charset="-122"/>
                    <a:ea typeface="楷体" panose="02010609060101010101" pitchFamily="49" charset="-122"/>
                  </a:rPr>
                  <a:t>由</a:t>
                </a:r>
                <a:r>
                  <a:rPr lang="en-US" altLang="zh-CN" sz="2400" dirty="0" smtClean="0">
                    <a:latin typeface="楷体" panose="02010609060101010101" pitchFamily="49" charset="-122"/>
                    <a:ea typeface="楷体" panose="02010609060101010101" pitchFamily="49" charset="-122"/>
                  </a:rPr>
                  <a:t>A</a:t>
                </a:r>
                <a:r>
                  <a:rPr lang="zh-CN" altLang="en-US" sz="2400" dirty="0" smtClean="0">
                    <a:latin typeface="楷体" panose="02010609060101010101" pitchFamily="49" charset="-122"/>
                    <a:ea typeface="楷体" panose="02010609060101010101" pitchFamily="49" charset="-122"/>
                  </a:rPr>
                  <a:t>经</a:t>
                </a:r>
                <a:r>
                  <a:rPr lang="zh-CN" altLang="en-US" sz="2400" dirty="0">
                    <a:latin typeface="楷体" panose="02010609060101010101" pitchFamily="49" charset="-122"/>
                    <a:ea typeface="楷体" panose="02010609060101010101" pitchFamily="49" charset="-122"/>
                  </a:rPr>
                  <a:t>反相器延迟后到达与非门，所以</a:t>
                </a:r>
                <a:r>
                  <a:rPr lang="en-US" altLang="zh-CN" sz="2400" b="1" dirty="0">
                    <a:latin typeface="楷体" panose="02010609060101010101" pitchFamily="49" charset="-122"/>
                    <a:ea typeface="楷体" panose="02010609060101010101" pitchFamily="49" charset="-122"/>
                  </a:rPr>
                  <a:t>B</a:t>
                </a:r>
                <a:r>
                  <a:rPr lang="zh-CN" altLang="en-US" sz="2400" b="1" dirty="0">
                    <a:latin typeface="楷体" panose="02010609060101010101" pitchFamily="49" charset="-122"/>
                    <a:ea typeface="楷体" panose="02010609060101010101" pitchFamily="49" charset="-122"/>
                  </a:rPr>
                  <a:t>的变化落后于</a:t>
                </a:r>
                <a:r>
                  <a:rPr lang="en-US" altLang="zh-CN" sz="2400" b="1" dirty="0">
                    <a:latin typeface="楷体" panose="02010609060101010101" pitchFamily="49" charset="-122"/>
                    <a:ea typeface="楷体" panose="02010609060101010101" pitchFamily="49" charset="-122"/>
                  </a:rPr>
                  <a:t>A</a:t>
                </a:r>
                <a:r>
                  <a:rPr lang="zh-CN" altLang="en-US" sz="2400" b="1" dirty="0">
                    <a:latin typeface="楷体" panose="02010609060101010101" pitchFamily="49" charset="-122"/>
                    <a:ea typeface="楷体" panose="02010609060101010101" pitchFamily="49" charset="-122"/>
                  </a:rPr>
                  <a:t>的变化</a:t>
                </a:r>
                <a:r>
                  <a:rPr lang="zh-CN" altLang="en-US"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当</a:t>
                </a:r>
                <a:r>
                  <a:rPr lang="en-US" altLang="zh-CN" sz="2400" dirty="0" smtClean="0">
                    <a:latin typeface="楷体" panose="02010609060101010101" pitchFamily="49" charset="-122"/>
                    <a:ea typeface="楷体" panose="02010609060101010101" pitchFamily="49" charset="-122"/>
                  </a:rPr>
                  <a:t>A</a:t>
                </a:r>
                <a:r>
                  <a:rPr lang="zh-CN" altLang="en-US" sz="2400" dirty="0" smtClean="0">
                    <a:latin typeface="楷体" panose="02010609060101010101" pitchFamily="49" charset="-122"/>
                    <a:ea typeface="楷体" panose="02010609060101010101" pitchFamily="49" charset="-122"/>
                  </a:rPr>
                  <a:t>上升</a:t>
                </a:r>
                <a:r>
                  <a:rPr lang="zh-CN" altLang="en-US" sz="2400" dirty="0">
                    <a:latin typeface="楷体" panose="02010609060101010101" pitchFamily="49" charset="-122"/>
                    <a:ea typeface="楷体" panose="02010609060101010101" pitchFamily="49" charset="-122"/>
                  </a:rPr>
                  <a:t>为高电平时， </a:t>
                </a:r>
                <a:r>
                  <a:rPr lang="en-US" altLang="zh-CN" sz="2400" dirty="0" smtClean="0">
                    <a:latin typeface="楷体" panose="02010609060101010101" pitchFamily="49" charset="-122"/>
                    <a:ea typeface="楷体" panose="02010609060101010101" pitchFamily="49" charset="-122"/>
                  </a:rPr>
                  <a:t>B</a:t>
                </a:r>
                <a:r>
                  <a:rPr lang="zh-CN" altLang="en-US" sz="2400" dirty="0" smtClean="0">
                    <a:latin typeface="楷体" panose="02010609060101010101" pitchFamily="49" charset="-122"/>
                    <a:ea typeface="楷体" panose="02010609060101010101" pitchFamily="49" charset="-122"/>
                  </a:rPr>
                  <a:t>还</a:t>
                </a:r>
                <a:r>
                  <a:rPr lang="zh-CN" altLang="en-US" sz="2400" dirty="0">
                    <a:latin typeface="楷体" panose="02010609060101010101" pitchFamily="49" charset="-122"/>
                    <a:ea typeface="楷体" panose="02010609060101010101" pitchFamily="49" charset="-122"/>
                  </a:rPr>
                  <a:t>处于高电平状态，</a:t>
                </a:r>
                <a:r>
                  <a:rPr lang="zh-CN" altLang="en-US" sz="2400" b="1" dirty="0">
                    <a:latin typeface="楷体" panose="02010609060101010101" pitchFamily="49" charset="-122"/>
                    <a:ea typeface="楷体" panose="02010609060101010101" pitchFamily="49" charset="-122"/>
                  </a:rPr>
                  <a:t>存在同时为</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的情况</a:t>
                </a:r>
                <a:r>
                  <a:rPr lang="zh-CN" altLang="en-US" sz="2400" dirty="0">
                    <a:latin typeface="楷体" panose="02010609060101010101" pitchFamily="49" charset="-122"/>
                    <a:ea typeface="楷体" panose="02010609060101010101" pitchFamily="49" charset="-122"/>
                  </a:rPr>
                  <a:t>，故与非门传输延迟后，</a:t>
                </a:r>
                <a:r>
                  <a:rPr lang="en-US" altLang="zh-CN" sz="2400" dirty="0">
                    <a:ea typeface="楷体" panose="02010609060101010101" pitchFamily="49" charset="-122"/>
                  </a:rPr>
                  <a:t> </a:t>
                </a:r>
                <a14:m>
                  <m:oMath xmlns:m="http://schemas.openxmlformats.org/officeDocument/2006/math">
                    <m:r>
                      <a:rPr lang="en-US" altLang="zh-CN" sz="2400" i="1" dirty="0">
                        <a:latin typeface="Cambria Math" panose="02040503050406030204" pitchFamily="18" charset="0"/>
                        <a:ea typeface="楷体" panose="02010609060101010101" pitchFamily="49" charset="-122"/>
                      </a:rPr>
                      <m:t>𝐹</m:t>
                    </m:r>
                  </m:oMath>
                </a14:m>
                <a:r>
                  <a:rPr lang="zh-CN" altLang="en-US" sz="2400" b="1" dirty="0" smtClean="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出现了负向</a:t>
                </a:r>
                <a:r>
                  <a:rPr lang="zh-CN" altLang="en-US" sz="2400" b="1" dirty="0" smtClean="0">
                    <a:latin typeface="楷体" panose="02010609060101010101" pitchFamily="49" charset="-122"/>
                    <a:ea typeface="楷体" panose="02010609060101010101" pitchFamily="49" charset="-122"/>
                  </a:rPr>
                  <a:t>过渡性干扰</a:t>
                </a:r>
                <a:r>
                  <a:rPr lang="zh-CN" altLang="en-US" sz="2400" b="1" dirty="0">
                    <a:latin typeface="楷体" panose="02010609060101010101" pitchFamily="49" charset="-122"/>
                    <a:ea typeface="楷体" panose="02010609060101010101" pitchFamily="49" charset="-122"/>
                  </a:rPr>
                  <a:t>脉冲</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r>
                  <a:rPr lang="zh-CN" altLang="en-US" sz="2400" dirty="0" smtClean="0">
                    <a:latin typeface="楷体" panose="02010609060101010101" pitchFamily="49" charset="-122"/>
                    <a:ea typeface="楷体" panose="02010609060101010101" pitchFamily="49" charset="-122"/>
                  </a:rPr>
                  <a:t>通常</a:t>
                </a:r>
                <a:r>
                  <a:rPr lang="zh-CN" altLang="en-US" sz="2400" dirty="0">
                    <a:latin typeface="楷体" panose="02010609060101010101" pitchFamily="49" charset="-122"/>
                    <a:ea typeface="楷体" panose="02010609060101010101" pitchFamily="49" charset="-122"/>
                  </a:rPr>
                  <a:t>把这种</a:t>
                </a:r>
                <a:r>
                  <a:rPr lang="zh-CN" altLang="en-US" sz="2400" b="1" dirty="0">
                    <a:solidFill>
                      <a:schemeClr val="accent1"/>
                    </a:solidFill>
                    <a:latin typeface="楷体" panose="02010609060101010101" pitchFamily="49" charset="-122"/>
                    <a:ea typeface="楷体" panose="02010609060101010101" pitchFamily="49" charset="-122"/>
                  </a:rPr>
                  <a:t>两个互补信号同时向相反状态变化</a:t>
                </a:r>
                <a:r>
                  <a:rPr lang="zh-CN" altLang="en-US" sz="2400" dirty="0">
                    <a:latin typeface="楷体" panose="02010609060101010101" pitchFamily="49" charset="-122"/>
                    <a:ea typeface="楷体" panose="02010609060101010101" pitchFamily="49" charset="-122"/>
                  </a:rPr>
                  <a:t>的现象称为</a:t>
                </a:r>
                <a:r>
                  <a:rPr lang="zh-CN" altLang="en-US" sz="2400" dirty="0">
                    <a:solidFill>
                      <a:schemeClr val="accent1"/>
                    </a:solidFill>
                    <a:latin typeface="楷体" panose="02010609060101010101" pitchFamily="49" charset="-122"/>
                    <a:ea typeface="楷体" panose="02010609060101010101" pitchFamily="49" charset="-122"/>
                  </a:rPr>
                  <a:t>竞争</a:t>
                </a:r>
                <a:r>
                  <a:rPr lang="zh-CN" altLang="en-US" sz="2400" dirty="0">
                    <a:latin typeface="楷体" panose="02010609060101010101" pitchFamily="49" charset="-122"/>
                    <a:ea typeface="楷体" panose="02010609060101010101" pitchFamily="49" charset="-122"/>
                  </a:rPr>
                  <a:t>。</a:t>
                </a:r>
              </a:p>
            </p:txBody>
          </p:sp>
        </mc:Choice>
        <mc:Fallback xmlns="">
          <p:sp>
            <p:nvSpPr>
              <p:cNvPr id="7" name="矩形 6"/>
              <p:cNvSpPr>
                <a:spLocks noRot="1" noChangeAspect="1" noMove="1" noResize="1" noEditPoints="1" noAdjustHandles="1" noChangeArrowheads="1" noChangeShapeType="1" noTextEdit="1"/>
              </p:cNvSpPr>
              <p:nvPr/>
            </p:nvSpPr>
            <p:spPr>
              <a:xfrm>
                <a:off x="295564" y="2776138"/>
                <a:ext cx="8469745" cy="3786421"/>
              </a:xfrm>
              <a:prstGeom prst="rect">
                <a:avLst/>
              </a:prstGeom>
              <a:blipFill>
                <a:blip r:embed="rId3"/>
                <a:stretch>
                  <a:fillRect l="-1079" t="-1286" r="-4317" b="-2572"/>
                </a:stretch>
              </a:blipFill>
            </p:spPr>
            <p:txBody>
              <a:bodyPr/>
              <a:lstStyle/>
              <a:p>
                <a:r>
                  <a:rPr lang="zh-CN" altLang="en-US">
                    <a:noFill/>
                  </a:rPr>
                  <a:t> </a:t>
                </a:r>
              </a:p>
            </p:txBody>
          </p:sp>
        </mc:Fallback>
      </mc:AlternateContent>
      <p:cxnSp>
        <p:nvCxnSpPr>
          <p:cNvPr id="5" name="直接连接符 4"/>
          <p:cNvCxnSpPr/>
          <p:nvPr/>
        </p:nvCxnSpPr>
        <p:spPr>
          <a:xfrm flipV="1">
            <a:off x="4784436" y="2253673"/>
            <a:ext cx="997527" cy="9236"/>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6640945" y="2262909"/>
            <a:ext cx="997527" cy="9236"/>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50513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74832" y="263381"/>
            <a:ext cx="7185130" cy="2533635"/>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420593" y="3133636"/>
                <a:ext cx="8335479" cy="2757165"/>
              </a:xfrm>
              <a:prstGeom prst="rect">
                <a:avLst/>
              </a:prstGeom>
            </p:spPr>
            <p:txBody>
              <a:bodyPr wrap="square">
                <a:spAutoFit/>
              </a:bodyPr>
              <a:lstStyle/>
              <a:p>
                <a:pPr indent="628650">
                  <a:lnSpc>
                    <a:spcPts val="3500"/>
                  </a:lnSpc>
                </a:pPr>
                <a:r>
                  <a:rPr lang="zh-CN" altLang="en-US" sz="2400" dirty="0" smtClean="0">
                    <a:latin typeface="楷体" panose="02010609060101010101" pitchFamily="49" charset="-122"/>
                    <a:ea typeface="楷体" panose="02010609060101010101" pitchFamily="49" charset="-122"/>
                  </a:rPr>
                  <a:t>然而</a:t>
                </a:r>
                <a:r>
                  <a:rPr lang="zh-CN" altLang="en-US" sz="2400" dirty="0">
                    <a:latin typeface="楷体" panose="02010609060101010101" pitchFamily="49" charset="-122"/>
                    <a:ea typeface="楷体" panose="02010609060101010101" pitchFamily="49" charset="-122"/>
                  </a:rPr>
                  <a:t>，存在竞争现象的电路不一定都产生过渡干扰脉冲</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628650"/>
                <a:r>
                  <a:rPr lang="zh-CN" altLang="en-US" sz="2400" b="1" dirty="0" smtClean="0">
                    <a:latin typeface="楷体" panose="02010609060101010101" pitchFamily="49" charset="-122"/>
                    <a:ea typeface="楷体" panose="02010609060101010101" pitchFamily="49" charset="-122"/>
                  </a:rPr>
                  <a:t>例如</a:t>
                </a:r>
                <a:r>
                  <a:rPr lang="zh-CN" altLang="en-US" sz="2400" b="1" dirty="0">
                    <a:latin typeface="楷体" panose="02010609060101010101" pitchFamily="49" charset="-122"/>
                    <a:ea typeface="楷体" panose="02010609060101010101" pitchFamily="49" charset="-122"/>
                  </a:rPr>
                  <a:t>上例中当</a:t>
                </a:r>
                <a:r>
                  <a:rPr lang="zh-CN" altLang="en-US" sz="2400" b="1" dirty="0" smtClean="0">
                    <a:latin typeface="楷体" panose="02010609060101010101" pitchFamily="49" charset="-122"/>
                    <a:ea typeface="楷体" panose="02010609060101010101" pitchFamily="49" charset="-122"/>
                  </a:rPr>
                  <a:t>信号</a:t>
                </a:r>
                <a:r>
                  <a:rPr lang="en-US" altLang="zh-CN" sz="2400" b="1" dirty="0" smtClean="0">
                    <a:latin typeface="楷体" panose="02010609060101010101" pitchFamily="49" charset="-122"/>
                    <a:ea typeface="楷体" panose="02010609060101010101" pitchFamily="49" charset="-122"/>
                  </a:rPr>
                  <a:t>A</a:t>
                </a:r>
                <a:r>
                  <a:rPr lang="zh-CN" altLang="en-US" sz="2400" b="1" dirty="0" smtClean="0">
                    <a:latin typeface="楷体" panose="02010609060101010101" pitchFamily="49" charset="-122"/>
                    <a:ea typeface="楷体" panose="02010609060101010101" pitchFamily="49" charset="-122"/>
                  </a:rPr>
                  <a:t>由</a:t>
                </a:r>
                <a:r>
                  <a:rPr lang="en-US" altLang="zh-CN" sz="2400" b="1" dirty="0" smtClean="0">
                    <a:latin typeface="楷体" panose="02010609060101010101" pitchFamily="49" charset="-122"/>
                    <a:ea typeface="楷体" panose="02010609060101010101" pitchFamily="49" charset="-122"/>
                  </a:rPr>
                  <a:t>1</a:t>
                </a:r>
                <a:r>
                  <a:rPr lang="zh-CN" altLang="en-US" sz="2400" b="1" dirty="0" smtClean="0">
                    <a:latin typeface="楷体" panose="02010609060101010101" pitchFamily="49" charset="-122"/>
                    <a:ea typeface="楷体" panose="02010609060101010101" pitchFamily="49" charset="-122"/>
                  </a:rPr>
                  <a:t>变为</a:t>
                </a:r>
                <a:r>
                  <a:rPr lang="en-US" altLang="zh-CN" sz="2400" b="1" dirty="0">
                    <a:latin typeface="楷体" panose="02010609060101010101" pitchFamily="49" charset="-122"/>
                    <a:ea typeface="楷体" panose="02010609060101010101" pitchFamily="49" charset="-122"/>
                  </a:rPr>
                  <a:t>0</a:t>
                </a:r>
                <a:r>
                  <a:rPr lang="zh-CN" altLang="en-US" sz="2400" b="1" dirty="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，虽然与非门也有向相反状态变化的两个输入信号，但因</a:t>
                </a:r>
                <a:r>
                  <a:rPr lang="en-US" altLang="zh-CN" sz="2400" dirty="0" smtClean="0">
                    <a:latin typeface="楷体" panose="02010609060101010101" pitchFamily="49" charset="-122"/>
                    <a:ea typeface="楷体" panose="02010609060101010101" pitchFamily="49" charset="-122"/>
                  </a:rPr>
                  <a:t>A</a:t>
                </a:r>
                <a:r>
                  <a:rPr lang="zh-CN" altLang="en-US" sz="2400" dirty="0" smtClean="0">
                    <a:latin typeface="楷体" panose="02010609060101010101" pitchFamily="49" charset="-122"/>
                    <a:ea typeface="楷体" panose="02010609060101010101" pitchFamily="49" charset="-122"/>
                  </a:rPr>
                  <a:t>先</a:t>
                </a:r>
                <a:r>
                  <a:rPr lang="zh-CN" altLang="en-US" sz="2400" dirty="0">
                    <a:latin typeface="楷体" panose="02010609060101010101" pitchFamily="49" charset="-122"/>
                    <a:ea typeface="楷体" panose="02010609060101010101" pitchFamily="49" charset="-122"/>
                  </a:rPr>
                  <a:t>由</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变为</a:t>
                </a:r>
                <a:r>
                  <a:rPr lang="en-US" altLang="zh-CN" sz="2400" dirty="0">
                    <a:latin typeface="楷体" panose="02010609060101010101" pitchFamily="49" charset="-122"/>
                    <a:ea typeface="楷体" panose="02010609060101010101" pitchFamily="49" charset="-122"/>
                  </a:rPr>
                  <a:t>0 ,</a:t>
                </a:r>
                <a:r>
                  <a:rPr lang="en-US" altLang="zh-CN" sz="2400" dirty="0" smtClean="0">
                    <a:latin typeface="楷体" panose="02010609060101010101" pitchFamily="49" charset="-122"/>
                    <a:ea typeface="楷体" panose="02010609060101010101" pitchFamily="49" charset="-122"/>
                  </a:rPr>
                  <a:t>B</a:t>
                </a:r>
                <a:r>
                  <a:rPr lang="zh-CN" altLang="en-US" sz="2400" dirty="0" smtClean="0">
                    <a:latin typeface="楷体" panose="02010609060101010101" pitchFamily="49" charset="-122"/>
                    <a:ea typeface="楷体" panose="02010609060101010101" pitchFamily="49" charset="-122"/>
                  </a:rPr>
                  <a:t>后</a:t>
                </a:r>
                <a:r>
                  <a:rPr lang="zh-CN" altLang="en-US" sz="2400" dirty="0">
                    <a:latin typeface="楷体" panose="02010609060101010101" pitchFamily="49" charset="-122"/>
                    <a:ea typeface="楷体" panose="02010609060101010101" pitchFamily="49" charset="-122"/>
                  </a:rPr>
                  <a:t>由</a:t>
                </a:r>
                <a:r>
                  <a:rPr lang="en-US" altLang="zh-CN" sz="2400" dirty="0" smtClean="0">
                    <a:latin typeface="楷体" panose="02010609060101010101" pitchFamily="49" charset="-122"/>
                    <a:ea typeface="楷体" panose="02010609060101010101" pitchFamily="49" charset="-122"/>
                  </a:rPr>
                  <a:t>0</a:t>
                </a:r>
                <a:r>
                  <a:rPr lang="zh-CN" altLang="en-US" sz="2400" dirty="0" smtClean="0">
                    <a:latin typeface="楷体" panose="02010609060101010101" pitchFamily="49" charset="-122"/>
                    <a:ea typeface="楷体" panose="02010609060101010101" pitchFamily="49" charset="-122"/>
                  </a:rPr>
                  <a:t>变为</a:t>
                </a:r>
                <a:r>
                  <a:rPr lang="en-US" altLang="zh-CN" sz="2400"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它们不存在同时为</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的情况</a:t>
                </a:r>
                <a:r>
                  <a:rPr lang="zh-CN" altLang="en-US" sz="2400" dirty="0">
                    <a:latin typeface="楷体" panose="02010609060101010101" pitchFamily="49" charset="-122"/>
                    <a:ea typeface="楷体" panose="02010609060101010101" pitchFamily="49" charset="-122"/>
                  </a:rPr>
                  <a:t>，</a:t>
                </a:r>
                <a:r>
                  <a:rPr lang="zh-CN" altLang="en-US" sz="2400" b="1" dirty="0">
                    <a:latin typeface="楷体" panose="02010609060101010101" pitchFamily="49" charset="-122"/>
                    <a:ea typeface="楷体" panose="02010609060101010101" pitchFamily="49" charset="-122"/>
                  </a:rPr>
                  <a:t>故</a:t>
                </a:r>
                <a14:m>
                  <m:oMath xmlns:m="http://schemas.openxmlformats.org/officeDocument/2006/math">
                    <m:r>
                      <a:rPr lang="en-US" altLang="zh-CN" sz="2400" i="1" dirty="0">
                        <a:latin typeface="Cambria Math" panose="02040503050406030204" pitchFamily="18" charset="0"/>
                        <a:ea typeface="楷体" panose="02010609060101010101" pitchFamily="49" charset="-122"/>
                      </a:rPr>
                      <m:t>𝐹</m:t>
                    </m:r>
                  </m:oMath>
                </a14:m>
                <a:r>
                  <a:rPr lang="zh-CN" altLang="en-US" sz="2400" b="1" dirty="0" smtClean="0">
                    <a:latin typeface="楷体" panose="02010609060101010101" pitchFamily="49" charset="-122"/>
                    <a:ea typeface="楷体" panose="02010609060101010101" pitchFamily="49" charset="-122"/>
                  </a:rPr>
                  <a:t>恒</a:t>
                </a:r>
                <a:r>
                  <a:rPr lang="zh-CN" altLang="en-US" sz="2400" b="1" dirty="0">
                    <a:latin typeface="楷体" panose="02010609060101010101" pitchFamily="49" charset="-122"/>
                    <a:ea typeface="楷体" panose="02010609060101010101" pitchFamily="49" charset="-122"/>
                  </a:rPr>
                  <a:t>为</a:t>
                </a:r>
                <a:r>
                  <a:rPr lang="en-US" altLang="zh-CN" sz="2400" b="1" dirty="0">
                    <a:latin typeface="楷体" panose="02010609060101010101" pitchFamily="49" charset="-122"/>
                    <a:ea typeface="楷体" panose="02010609060101010101" pitchFamily="49" charset="-122"/>
                  </a:rPr>
                  <a:t>1</a:t>
                </a:r>
                <a:r>
                  <a:rPr lang="en-US" altLang="zh-CN" sz="2400" dirty="0">
                    <a:latin typeface="楷体" panose="02010609060101010101" pitchFamily="49" charset="-122"/>
                    <a:ea typeface="楷体" panose="02010609060101010101" pitchFamily="49" charset="-122"/>
                  </a:rPr>
                  <a:t>,</a:t>
                </a:r>
                <a:r>
                  <a:rPr lang="zh-CN" altLang="en-US" sz="2400" b="1" dirty="0">
                    <a:latin typeface="楷体" panose="02010609060101010101" pitchFamily="49" charset="-122"/>
                    <a:ea typeface="楷体" panose="02010609060101010101" pitchFamily="49" charset="-122"/>
                  </a:rPr>
                  <a:t>不会产生干扰脉冲</a:t>
                </a:r>
                <a:r>
                  <a:rPr lang="zh-CN" altLang="en-US" sz="2400" dirty="0">
                    <a:latin typeface="楷体" panose="02010609060101010101" pitchFamily="49" charset="-122"/>
                    <a:ea typeface="楷体" panose="02010609060101010101" pitchFamily="49" charset="-122"/>
                  </a:rPr>
                  <a:t>，见图</a:t>
                </a:r>
                <a:r>
                  <a:rPr lang="en-US" altLang="zh-CN" sz="2400" dirty="0">
                    <a:latin typeface="楷体" panose="02010609060101010101" pitchFamily="49" charset="-122"/>
                    <a:ea typeface="楷体" panose="02010609060101010101" pitchFamily="49" charset="-122"/>
                  </a:rPr>
                  <a:t>2.5(c)</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628650"/>
                <a:r>
                  <a:rPr lang="zh-CN" altLang="en-US" sz="2400" dirty="0" smtClean="0">
                    <a:latin typeface="楷体" panose="02010609060101010101" pitchFamily="49" charset="-122"/>
                    <a:ea typeface="楷体" panose="02010609060101010101" pitchFamily="49" charset="-122"/>
                  </a:rPr>
                  <a:t>可见，</a:t>
                </a:r>
                <a:r>
                  <a:rPr lang="zh-CN" altLang="en-US" sz="2400" b="1" dirty="0" smtClean="0">
                    <a:solidFill>
                      <a:schemeClr val="accent1"/>
                    </a:solidFill>
                    <a:latin typeface="楷体" panose="02010609060101010101" pitchFamily="49" charset="-122"/>
                    <a:ea typeface="楷体" panose="02010609060101010101" pitchFamily="49" charset="-122"/>
                  </a:rPr>
                  <a:t>电路</a:t>
                </a:r>
                <a:r>
                  <a:rPr lang="zh-CN" altLang="en-US" sz="2400" b="1" dirty="0">
                    <a:solidFill>
                      <a:schemeClr val="accent1"/>
                    </a:solidFill>
                    <a:latin typeface="楷体" panose="02010609060101010101" pitchFamily="49" charset="-122"/>
                    <a:ea typeface="楷体" panose="02010609060101010101" pitchFamily="49" charset="-122"/>
                  </a:rPr>
                  <a:t>中有竞争现象只是存在产生过渡干扰脉冲的危险而已</a:t>
                </a:r>
                <a:r>
                  <a:rPr lang="zh-CN" altLang="en-US" sz="2400" dirty="0">
                    <a:latin typeface="楷体" panose="02010609060101010101" pitchFamily="49" charset="-122"/>
                    <a:ea typeface="楷体" panose="02010609060101010101" pitchFamily="49" charset="-122"/>
                  </a:rPr>
                  <a:t>，故称其为</a:t>
                </a:r>
                <a:r>
                  <a:rPr lang="zh-CN" altLang="en-US" sz="2400" dirty="0">
                    <a:solidFill>
                      <a:schemeClr val="accent1"/>
                    </a:solidFill>
                    <a:latin typeface="楷体" panose="02010609060101010101" pitchFamily="49" charset="-122"/>
                    <a:ea typeface="楷体" panose="02010609060101010101" pitchFamily="49" charset="-122"/>
                  </a:rPr>
                  <a:t>竞争冒险</a:t>
                </a:r>
                <a:r>
                  <a:rPr lang="zh-CN" altLang="en-US" sz="2400" dirty="0">
                    <a:latin typeface="楷体" panose="02010609060101010101" pitchFamily="49" charset="-122"/>
                    <a:ea typeface="楷体" panose="02010609060101010101" pitchFamily="49" charset="-122"/>
                  </a:rPr>
                  <a:t>。</a:t>
                </a:r>
              </a:p>
            </p:txBody>
          </p:sp>
        </mc:Choice>
        <mc:Fallback xmlns="">
          <p:sp>
            <p:nvSpPr>
              <p:cNvPr id="7" name="矩形 6"/>
              <p:cNvSpPr>
                <a:spLocks noRot="1" noChangeAspect="1" noMove="1" noResize="1" noEditPoints="1" noAdjustHandles="1" noChangeArrowheads="1" noChangeShapeType="1" noTextEdit="1"/>
              </p:cNvSpPr>
              <p:nvPr/>
            </p:nvSpPr>
            <p:spPr>
              <a:xfrm>
                <a:off x="420593" y="3133636"/>
                <a:ext cx="8335479" cy="2757165"/>
              </a:xfrm>
              <a:prstGeom prst="rect">
                <a:avLst/>
              </a:prstGeom>
              <a:blipFill>
                <a:blip r:embed="rId3"/>
                <a:stretch>
                  <a:fillRect l="-1170" t="-1106" r="-2268" b="-39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91941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108364"/>
            <a:ext cx="7886700" cy="5671127"/>
          </a:xfrm>
        </p:spPr>
        <p:txBody>
          <a:bodyPr>
            <a:normAutofit fontScale="85000" lnSpcReduction="10000"/>
          </a:bodyPr>
          <a:lstStyle/>
          <a:p>
            <a:pPr>
              <a:lnSpc>
                <a:spcPts val="3500"/>
              </a:lnSpc>
            </a:pPr>
            <a:r>
              <a:rPr lang="zh-CN" altLang="en-US" dirty="0" smtClean="0">
                <a:latin typeface="楷体" panose="02010609060101010101" pitchFamily="49" charset="-122"/>
                <a:ea typeface="楷体" panose="02010609060101010101" pitchFamily="49" charset="-122"/>
              </a:rPr>
              <a:t>组合逻辑</a:t>
            </a:r>
            <a:r>
              <a:rPr lang="zh-CN" altLang="en-US" dirty="0">
                <a:latin typeface="楷体" panose="02010609060101010101" pitchFamily="49" charset="-122"/>
                <a:ea typeface="楷体" panose="02010609060101010101" pitchFamily="49" charset="-122"/>
              </a:rPr>
              <a:t>中的竞争</a:t>
            </a:r>
            <a:r>
              <a:rPr lang="zh-CN" altLang="en-US" dirty="0" smtClean="0">
                <a:latin typeface="楷体" panose="02010609060101010101" pitchFamily="49" charset="-122"/>
                <a:ea typeface="楷体" panose="02010609060101010101" pitchFamily="49" charset="-122"/>
              </a:rPr>
              <a:t>冒险</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sz="2800" dirty="0">
                <a:latin typeface="楷体" panose="02010609060101010101" pitchFamily="49" charset="-122"/>
                <a:ea typeface="楷体" panose="02010609060101010101" pitchFamily="49" charset="-122"/>
              </a:rPr>
              <a:t>综上所述，在组合电路中，由于信号通过门的级数不同，或是因为门电路传输延迟</a:t>
            </a:r>
            <a:r>
              <a:rPr lang="zh-CN" altLang="en-US" sz="2800" dirty="0" smtClean="0">
                <a:latin typeface="楷体" panose="02010609060101010101" pitchFamily="49" charset="-122"/>
                <a:ea typeface="楷体" panose="02010609060101010101" pitchFamily="49" charset="-122"/>
              </a:rPr>
              <a:t>时间</a:t>
            </a:r>
            <a:r>
              <a:rPr lang="zh-CN" altLang="en-US" sz="2800" dirty="0">
                <a:latin typeface="楷体" panose="02010609060101010101" pitchFamily="49" charset="-122"/>
                <a:ea typeface="楷体" panose="02010609060101010101" pitchFamily="49" charset="-122"/>
              </a:rPr>
              <a:t>有差异，使得某些门的输入端出现了作用时刻不同的两个互补变化的信号，从而使</a:t>
            </a:r>
            <a:r>
              <a:rPr lang="zh-CN" altLang="en-US" sz="2800" dirty="0" smtClean="0">
                <a:latin typeface="楷体" panose="02010609060101010101" pitchFamily="49" charset="-122"/>
                <a:ea typeface="楷体" panose="02010609060101010101" pitchFamily="49" charset="-122"/>
              </a:rPr>
              <a:t>电路的</a:t>
            </a:r>
            <a:r>
              <a:rPr lang="zh-CN" altLang="en-US" sz="2800" dirty="0">
                <a:latin typeface="楷体" panose="02010609060101010101" pitchFamily="49" charset="-122"/>
                <a:ea typeface="楷体" panose="02010609060101010101" pitchFamily="49" charset="-122"/>
              </a:rPr>
              <a:t>输出可能产生违背稳态下逻辑关系的尖峰脉冲，这就是产生竞争冒险的重要原因</a:t>
            </a:r>
            <a:r>
              <a:rPr lang="zh-CN" altLang="en-US" sz="2800" dirty="0" smtClean="0">
                <a:latin typeface="楷体" panose="02010609060101010101" pitchFamily="49" charset="-122"/>
                <a:ea typeface="楷体" panose="02010609060101010101" pitchFamily="49" charset="-122"/>
              </a:rPr>
              <a:t>之一。</a:t>
            </a:r>
            <a:endParaRPr lang="en-US" altLang="zh-CN" sz="2800" dirty="0" smtClean="0">
              <a:latin typeface="楷体" panose="02010609060101010101" pitchFamily="49" charset="-122"/>
              <a:ea typeface="楷体" panose="02010609060101010101" pitchFamily="49" charset="-122"/>
            </a:endParaRPr>
          </a:p>
          <a:p>
            <a:pPr lvl="1">
              <a:lnSpc>
                <a:spcPts val="3500"/>
              </a:lnSpc>
            </a:pPr>
            <a:r>
              <a:rPr lang="zh-CN" altLang="zh-CN" sz="2800" dirty="0">
                <a:latin typeface="楷体" panose="02010609060101010101" pitchFamily="49" charset="-122"/>
                <a:ea typeface="楷体" panose="02010609060101010101" pitchFamily="49" charset="-122"/>
              </a:rPr>
              <a:t>在复杂的数字电路中，由于各种因素的随机性，很难判断两个互补信号的先后，</a:t>
            </a:r>
            <a:r>
              <a:rPr lang="zh-CN" altLang="zh-CN" sz="2800" b="1" dirty="0" smtClean="0">
                <a:solidFill>
                  <a:schemeClr val="accent1"/>
                </a:solidFill>
                <a:latin typeface="楷体" panose="02010609060101010101" pitchFamily="49" charset="-122"/>
                <a:ea typeface="楷体" panose="02010609060101010101" pitchFamily="49" charset="-122"/>
              </a:rPr>
              <a:t>所以只要</a:t>
            </a:r>
            <a:r>
              <a:rPr lang="zh-CN" altLang="zh-CN" sz="2800" b="1" dirty="0">
                <a:solidFill>
                  <a:schemeClr val="accent1"/>
                </a:solidFill>
                <a:latin typeface="楷体" panose="02010609060101010101" pitchFamily="49" charset="-122"/>
                <a:ea typeface="楷体" panose="02010609060101010101" pitchFamily="49" charset="-122"/>
              </a:rPr>
              <a:t>存在竞争现象，就有可能产生过渡干扰脉冲</a:t>
            </a:r>
            <a:r>
              <a:rPr lang="zh-CN" altLang="zh-CN" sz="2800" dirty="0">
                <a:latin typeface="楷体" panose="02010609060101010101" pitchFamily="49" charset="-122"/>
                <a:ea typeface="楷体" panose="02010609060101010101" pitchFamily="49" charset="-122"/>
              </a:rPr>
              <a:t>。如果电路的负载对尖峰脉冲十分敏感</a:t>
            </a:r>
            <a:r>
              <a:rPr lang="zh-CN" altLang="zh-CN" sz="2800" dirty="0" smtClean="0">
                <a:latin typeface="楷体" panose="02010609060101010101" pitchFamily="49" charset="-122"/>
                <a:ea typeface="楷体" panose="02010609060101010101" pitchFamily="49" charset="-122"/>
              </a:rPr>
              <a:t>，这样</a:t>
            </a:r>
            <a:r>
              <a:rPr lang="zh-CN" altLang="zh-CN" sz="2800" dirty="0">
                <a:latin typeface="楷体" panose="02010609060101010101" pitchFamily="49" charset="-122"/>
                <a:ea typeface="楷体" panose="02010609060101010101" pitchFamily="49" charset="-122"/>
              </a:rPr>
              <a:t>的干扰脉冲就会使负载产生误动作，造成逻辑功能上的错误。因此，</a:t>
            </a:r>
            <a:r>
              <a:rPr lang="zh-CN" altLang="zh-CN" sz="2800" dirty="0">
                <a:solidFill>
                  <a:schemeClr val="accent1"/>
                </a:solidFill>
                <a:latin typeface="楷体" panose="02010609060101010101" pitchFamily="49" charset="-122"/>
                <a:ea typeface="楷体" panose="02010609060101010101" pitchFamily="49" charset="-122"/>
              </a:rPr>
              <a:t>必须采取措施</a:t>
            </a:r>
            <a:r>
              <a:rPr lang="zh-CN" altLang="zh-CN" sz="2800" dirty="0" smtClean="0">
                <a:solidFill>
                  <a:schemeClr val="accent1"/>
                </a:solidFill>
                <a:latin typeface="楷体" panose="02010609060101010101" pitchFamily="49" charset="-122"/>
                <a:ea typeface="楷体" panose="02010609060101010101" pitchFamily="49" charset="-122"/>
              </a:rPr>
              <a:t>消除</a:t>
            </a:r>
            <a:r>
              <a:rPr lang="zh-CN" altLang="zh-CN" sz="2800" dirty="0">
                <a:solidFill>
                  <a:schemeClr val="accent1"/>
                </a:solidFill>
                <a:latin typeface="楷体" panose="02010609060101010101" pitchFamily="49" charset="-122"/>
                <a:ea typeface="楷体" panose="02010609060101010101" pitchFamily="49" charset="-122"/>
              </a:rPr>
              <a:t>竞争冒险现象</a:t>
            </a:r>
            <a:r>
              <a:rPr lang="zh-CN" altLang="zh-CN" sz="2800" dirty="0">
                <a:latin typeface="楷体" panose="02010609060101010101" pitchFamily="49" charset="-122"/>
                <a:ea typeface="楷体" panose="02010609060101010101" pitchFamily="49" charset="-122"/>
              </a:rPr>
              <a:t>。通常采用以下</a:t>
            </a:r>
            <a:r>
              <a:rPr lang="zh-CN" altLang="zh-CN" sz="2800" b="1" dirty="0">
                <a:latin typeface="楷体" panose="02010609060101010101" pitchFamily="49" charset="-122"/>
                <a:ea typeface="楷体" panose="02010609060101010101" pitchFamily="49" charset="-122"/>
              </a:rPr>
              <a:t>两种方法</a:t>
            </a:r>
            <a:r>
              <a:rPr lang="zh-CN" altLang="zh-CN" dirty="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0728552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803564"/>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803565"/>
            <a:ext cx="7886700" cy="3261287"/>
          </a:xfrm>
        </p:spPr>
        <p:txBody>
          <a:bodyPr/>
          <a:lstStyle/>
          <a:p>
            <a:r>
              <a:rPr lang="zh-CN" altLang="en-US" dirty="0" smtClean="0">
                <a:latin typeface="楷体" panose="02010609060101010101" pitchFamily="49" charset="-122"/>
                <a:ea typeface="楷体" panose="02010609060101010101" pitchFamily="49" charset="-122"/>
              </a:rPr>
              <a:t>组合逻辑</a:t>
            </a:r>
            <a:r>
              <a:rPr lang="zh-CN" altLang="en-US" dirty="0">
                <a:latin typeface="楷体" panose="02010609060101010101" pitchFamily="49" charset="-122"/>
                <a:ea typeface="楷体" panose="02010609060101010101" pitchFamily="49" charset="-122"/>
              </a:rPr>
              <a:t>中的竞争</a:t>
            </a:r>
            <a:r>
              <a:rPr lang="zh-CN" altLang="en-US" dirty="0" smtClean="0">
                <a:latin typeface="楷体" panose="02010609060101010101" pitchFamily="49" charset="-122"/>
                <a:ea typeface="楷体" panose="02010609060101010101" pitchFamily="49" charset="-122"/>
              </a:rPr>
              <a:t>冒险</a:t>
            </a:r>
            <a:endParaRPr lang="en-US" altLang="zh-CN" dirty="0" smtClean="0">
              <a:latin typeface="楷体" panose="02010609060101010101" pitchFamily="49" charset="-122"/>
              <a:ea typeface="楷体" panose="02010609060101010101" pitchFamily="49" charset="-122"/>
            </a:endParaRPr>
          </a:p>
          <a:p>
            <a:pPr lvl="1"/>
            <a:r>
              <a:rPr lang="zh-CN" altLang="en-US" b="1" dirty="0">
                <a:latin typeface="楷体" panose="02010609060101010101" pitchFamily="49" charset="-122"/>
                <a:ea typeface="楷体" panose="02010609060101010101" pitchFamily="49" charset="-122"/>
              </a:rPr>
              <a:t>加</a:t>
            </a:r>
            <a:r>
              <a:rPr lang="zh-CN" altLang="en-US" b="1" dirty="0" smtClean="0">
                <a:latin typeface="楷体" panose="02010609060101010101" pitchFamily="49" charset="-122"/>
                <a:ea typeface="楷体" panose="02010609060101010101" pitchFamily="49" charset="-122"/>
              </a:rPr>
              <a:t>选通脉冲</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stretch>
            <a:fillRect/>
          </a:stretch>
        </p:blipFill>
        <p:spPr>
          <a:xfrm>
            <a:off x="961670" y="1686461"/>
            <a:ext cx="6905817" cy="2666985"/>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413496" y="4427337"/>
                <a:ext cx="8490358" cy="2246769"/>
              </a:xfrm>
              <a:prstGeom prst="rect">
                <a:avLst/>
              </a:prstGeom>
            </p:spPr>
            <p:txBody>
              <a:bodyPr wrap="square">
                <a:spAutoFit/>
              </a:bodyPr>
              <a:lstStyle/>
              <a:p>
                <a:r>
                  <a:rPr lang="zh-CN" altLang="zh-CN" sz="2000" dirty="0" smtClean="0">
                    <a:latin typeface="楷体" panose="02010609060101010101" pitchFamily="49" charset="-122"/>
                    <a:ea typeface="楷体" panose="02010609060101010101" pitchFamily="49" charset="-122"/>
                  </a:rPr>
                  <a:t>先来分析图</a:t>
                </a:r>
                <a:r>
                  <a:rPr lang="en-US" altLang="zh-CN" sz="2000" dirty="0">
                    <a:latin typeface="楷体" panose="02010609060101010101" pitchFamily="49" charset="-122"/>
                    <a:ea typeface="楷体" panose="02010609060101010101" pitchFamily="49" charset="-122"/>
                  </a:rPr>
                  <a:t>2.6</a:t>
                </a:r>
                <a:r>
                  <a:rPr lang="zh-CN" altLang="zh-CN" sz="2000" dirty="0">
                    <a:latin typeface="楷体" panose="02010609060101010101" pitchFamily="49" charset="-122"/>
                    <a:ea typeface="楷体" panose="02010609060101010101" pitchFamily="49" charset="-122"/>
                  </a:rPr>
                  <a:t>所示组合电路。由该逻辑电路的门</a:t>
                </a:r>
                <a:r>
                  <a:rPr lang="en-US" altLang="zh-CN" sz="2000" dirty="0">
                    <a:latin typeface="楷体" panose="02010609060101010101" pitchFamily="49" charset="-122"/>
                    <a:ea typeface="楷体" panose="02010609060101010101" pitchFamily="49" charset="-122"/>
                  </a:rPr>
                  <a:t>1</a:t>
                </a:r>
                <a:r>
                  <a:rPr lang="zh-CN" altLang="zh-CN" sz="2000" dirty="0">
                    <a:latin typeface="楷体" panose="02010609060101010101" pitchFamily="49" charset="-122"/>
                    <a:ea typeface="楷体" panose="02010609060101010101" pitchFamily="49" charset="-122"/>
                  </a:rPr>
                  <a:t>、门</a:t>
                </a:r>
                <a:r>
                  <a:rPr lang="en-US" altLang="zh-CN" sz="2000" dirty="0">
                    <a:latin typeface="楷体" panose="02010609060101010101" pitchFamily="49" charset="-122"/>
                    <a:ea typeface="楷体" panose="02010609060101010101" pitchFamily="49" charset="-122"/>
                  </a:rPr>
                  <a:t>2</a:t>
                </a:r>
                <a:r>
                  <a:rPr lang="zh-CN" altLang="zh-CN" sz="2000" dirty="0">
                    <a:latin typeface="楷体" panose="02010609060101010101" pitchFamily="49" charset="-122"/>
                    <a:ea typeface="楷体" panose="02010609060101010101" pitchFamily="49" charset="-122"/>
                  </a:rPr>
                  <a:t>输出加到门</a:t>
                </a:r>
                <a:r>
                  <a:rPr lang="en-US" altLang="zh-CN" sz="2000" dirty="0" smtClean="0">
                    <a:latin typeface="楷体" panose="02010609060101010101" pitchFamily="49" charset="-122"/>
                    <a:ea typeface="楷体" panose="02010609060101010101" pitchFamily="49" charset="-122"/>
                  </a:rPr>
                  <a:t>3</a:t>
                </a:r>
                <a:r>
                  <a:rPr lang="zh-CN" altLang="zh-CN" sz="2000" dirty="0" smtClean="0">
                    <a:latin typeface="楷体" panose="02010609060101010101" pitchFamily="49" charset="-122"/>
                    <a:ea typeface="楷体" panose="02010609060101010101" pitchFamily="49" charset="-122"/>
                  </a:rPr>
                  <a:t>输入</a:t>
                </a:r>
                <a:r>
                  <a:rPr lang="zh-CN" altLang="zh-CN" sz="2000" dirty="0">
                    <a:latin typeface="楷体" panose="02010609060101010101" pitchFamily="49" charset="-122"/>
                    <a:ea typeface="楷体" panose="02010609060101010101" pitchFamily="49" charset="-122"/>
                  </a:rPr>
                  <a:t>端。当</a:t>
                </a:r>
                <a14:m>
                  <m:oMath xmlns:m="http://schemas.openxmlformats.org/officeDocument/2006/math">
                    <m:r>
                      <a:rPr lang="en-US" altLang="zh-CN" sz="2000" i="1" dirty="0" smtClean="0">
                        <a:latin typeface="Cambria Math" panose="02040503050406030204" pitchFamily="18" charset="0"/>
                        <a:ea typeface="楷体" panose="02010609060101010101" pitchFamily="49" charset="-122"/>
                      </a:rPr>
                      <m:t>𝐴</m:t>
                    </m:r>
                    <m:r>
                      <a:rPr lang="en-US" altLang="zh-CN" sz="2000" i="1" dirty="0" smtClean="0">
                        <a:latin typeface="Cambria Math" panose="02040503050406030204" pitchFamily="18" charset="0"/>
                        <a:ea typeface="楷体" panose="02010609060101010101" pitchFamily="49" charset="-122"/>
                      </a:rPr>
                      <m:t>=</m:t>
                    </m:r>
                    <m:r>
                      <a:rPr lang="en-US" altLang="zh-CN" sz="2000" i="1" dirty="0" smtClean="0">
                        <a:latin typeface="Cambria Math" panose="02040503050406030204" pitchFamily="18" charset="0"/>
                        <a:ea typeface="楷体" panose="02010609060101010101" pitchFamily="49" charset="-122"/>
                      </a:rPr>
                      <m:t>𝐶</m:t>
                    </m:r>
                    <m:r>
                      <a:rPr lang="en-US" altLang="zh-CN" sz="2000" i="1" dirty="0" smtClean="0">
                        <a:latin typeface="Cambria Math" panose="02040503050406030204" pitchFamily="18" charset="0"/>
                        <a:ea typeface="楷体" panose="02010609060101010101" pitchFamily="49" charset="-122"/>
                      </a:rPr>
                      <m:t>=1</m:t>
                    </m:r>
                  </m:oMath>
                </a14:m>
                <a:r>
                  <a:rPr lang="zh-CN" altLang="zh-CN" sz="2000" dirty="0">
                    <a:latin typeface="楷体" panose="02010609060101010101" pitchFamily="49" charset="-122"/>
                    <a:ea typeface="楷体" panose="02010609060101010101" pitchFamily="49" charset="-122"/>
                  </a:rPr>
                  <a:t>时，</a:t>
                </a:r>
                <a:r>
                  <a:rPr lang="zh-CN" altLang="zh-CN" sz="2000" b="1" dirty="0" smtClean="0">
                    <a:solidFill>
                      <a:schemeClr val="accent1"/>
                    </a:solidFill>
                    <a:latin typeface="楷体" panose="02010609060101010101" pitchFamily="49" charset="-122"/>
                    <a:ea typeface="楷体" panose="02010609060101010101" pitchFamily="49" charset="-122"/>
                  </a:rPr>
                  <a:t>由于</a:t>
                </a:r>
                <a14:m>
                  <m:oMath xmlns:m="http://schemas.openxmlformats.org/officeDocument/2006/math">
                    <m:r>
                      <a:rPr lang="en-US" altLang="zh-CN" sz="2000" b="1" i="1" smtClean="0">
                        <a:solidFill>
                          <a:schemeClr val="accent1"/>
                        </a:solidFill>
                        <a:latin typeface="Cambria Math" panose="02040503050406030204" pitchFamily="18" charset="0"/>
                      </a:rPr>
                      <m:t>𝑭</m:t>
                    </m:r>
                    <m:r>
                      <a:rPr lang="en-US" altLang="zh-CN" sz="2000" b="1" i="1" smtClean="0">
                        <a:solidFill>
                          <a:schemeClr val="accent1"/>
                        </a:solidFill>
                        <a:latin typeface="Cambria Math" panose="02040503050406030204" pitchFamily="18" charset="0"/>
                      </a:rPr>
                      <m:t>=</m:t>
                    </m:r>
                    <m:acc>
                      <m:accPr>
                        <m:chr m:val="̅"/>
                        <m:ctrlPr>
                          <a:rPr lang="en-US" altLang="zh-CN" sz="2000" b="1" i="1">
                            <a:solidFill>
                              <a:schemeClr val="accent1"/>
                            </a:solidFill>
                            <a:latin typeface="Cambria Math" panose="02040503050406030204" pitchFamily="18" charset="0"/>
                          </a:rPr>
                        </m:ctrlPr>
                      </m:accPr>
                      <m:e>
                        <m:r>
                          <a:rPr lang="en-US" altLang="zh-CN" sz="2000" b="1" i="1">
                            <a:solidFill>
                              <a:schemeClr val="accent1"/>
                            </a:solidFill>
                            <a:latin typeface="Cambria Math" panose="02040503050406030204" pitchFamily="18" charset="0"/>
                          </a:rPr>
                          <m:t>𝑩</m:t>
                        </m:r>
                      </m:e>
                    </m:acc>
                    <m:r>
                      <a:rPr lang="en-US" altLang="zh-CN" sz="2000" b="1" i="1">
                        <a:solidFill>
                          <a:schemeClr val="accent1"/>
                        </a:solidFill>
                        <a:latin typeface="Cambria Math" panose="02040503050406030204" pitchFamily="18" charset="0"/>
                      </a:rPr>
                      <m:t>+</m:t>
                    </m:r>
                    <m:r>
                      <a:rPr lang="en-US" altLang="zh-CN" sz="2000" b="1" i="1" smtClean="0">
                        <a:solidFill>
                          <a:schemeClr val="accent1"/>
                        </a:solidFill>
                        <a:latin typeface="Cambria Math" panose="02040503050406030204" pitchFamily="18" charset="0"/>
                      </a:rPr>
                      <m:t>𝑩</m:t>
                    </m:r>
                  </m:oMath>
                </a14:m>
                <a:r>
                  <a:rPr lang="en-US" altLang="zh-CN" sz="2000" b="1" dirty="0" smtClean="0">
                    <a:solidFill>
                      <a:schemeClr val="accent1"/>
                    </a:solidFill>
                    <a:latin typeface="楷体" panose="02010609060101010101" pitchFamily="49" charset="-122"/>
                    <a:ea typeface="楷体" panose="02010609060101010101" pitchFamily="49" charset="-122"/>
                  </a:rPr>
                  <a:t>, </a:t>
                </a:r>
                <a:r>
                  <a:rPr lang="zh-CN" altLang="zh-CN" sz="2000" b="1" dirty="0" smtClean="0">
                    <a:solidFill>
                      <a:schemeClr val="accent1"/>
                    </a:solidFill>
                    <a:latin typeface="楷体" panose="02010609060101010101" pitchFamily="49" charset="-122"/>
                    <a:ea typeface="楷体" panose="02010609060101010101" pitchFamily="49" charset="-122"/>
                  </a:rPr>
                  <a:t>出现</a:t>
                </a:r>
                <a:r>
                  <a:rPr lang="zh-CN" altLang="zh-CN" sz="2000" b="1" dirty="0">
                    <a:solidFill>
                      <a:schemeClr val="accent1"/>
                    </a:solidFill>
                    <a:latin typeface="楷体" panose="02010609060101010101" pitchFamily="49" charset="-122"/>
                    <a:ea typeface="楷体" panose="02010609060101010101" pitchFamily="49" charset="-122"/>
                  </a:rPr>
                  <a:t>了互补变化的信号</a:t>
                </a:r>
                <a:r>
                  <a:rPr lang="zh-CN" altLang="zh-CN" sz="2000" dirty="0">
                    <a:latin typeface="楷体" panose="02010609060101010101" pitchFamily="49" charset="-122"/>
                    <a:ea typeface="楷体" panose="02010609060101010101" pitchFamily="49" charset="-122"/>
                  </a:rPr>
                  <a:t>，所以存在竞争冒险现象。 </a:t>
                </a:r>
                <a:endParaRPr lang="en-US" altLang="zh-CN" sz="2000" dirty="0" smtClean="0">
                  <a:latin typeface="楷体" panose="02010609060101010101" pitchFamily="49" charset="-122"/>
                  <a:ea typeface="楷体" panose="02010609060101010101" pitchFamily="49" charset="-122"/>
                </a:endParaRPr>
              </a:p>
              <a:p>
                <a:r>
                  <a:rPr lang="zh-CN" altLang="zh-CN" sz="2000" dirty="0" smtClean="0">
                    <a:latin typeface="楷体" panose="02010609060101010101" pitchFamily="49" charset="-122"/>
                    <a:ea typeface="楷体" panose="02010609060101010101" pitchFamily="49" charset="-122"/>
                  </a:rPr>
                  <a:t>为此</a:t>
                </a:r>
                <a:r>
                  <a:rPr lang="zh-CN" altLang="zh-CN" sz="2000" dirty="0">
                    <a:latin typeface="楷体" panose="02010609060101010101" pitchFamily="49" charset="-122"/>
                    <a:ea typeface="楷体" panose="02010609060101010101" pitchFamily="49" charset="-122"/>
                  </a:rPr>
                  <a:t>，</a:t>
                </a:r>
                <a:r>
                  <a:rPr lang="zh-CN" altLang="zh-CN" sz="2000" b="1" dirty="0">
                    <a:solidFill>
                      <a:schemeClr val="accent1"/>
                    </a:solidFill>
                    <a:latin typeface="楷体" panose="02010609060101010101" pitchFamily="49" charset="-122"/>
                    <a:ea typeface="楷体" panose="02010609060101010101" pitchFamily="49" charset="-122"/>
                  </a:rPr>
                  <a:t>在接收了输入信号并且电路达到了新的稳态之后</a:t>
                </a:r>
                <a:r>
                  <a:rPr lang="zh-CN" altLang="zh-CN" sz="2000" dirty="0">
                    <a:latin typeface="楷体" panose="02010609060101010101" pitchFamily="49" charset="-122"/>
                    <a:ea typeface="楷体" panose="02010609060101010101" pitchFamily="49" charset="-122"/>
                  </a:rPr>
                  <a:t>，才</a:t>
                </a:r>
                <a:r>
                  <a:rPr lang="zh-CN" altLang="zh-CN" sz="2000" b="1" dirty="0" smtClean="0">
                    <a:solidFill>
                      <a:srgbClr val="00B050"/>
                    </a:solidFill>
                    <a:latin typeface="楷体" panose="02010609060101010101" pitchFamily="49" charset="-122"/>
                    <a:ea typeface="楷体" panose="02010609060101010101" pitchFamily="49" charset="-122"/>
                  </a:rPr>
                  <a:t>加入选通脉冲 </a:t>
                </a:r>
                <a14:m>
                  <m:oMath xmlns:m="http://schemas.openxmlformats.org/officeDocument/2006/math">
                    <m:r>
                      <a:rPr lang="en-US" altLang="zh-CN" sz="2000" b="1" i="1" dirty="0" smtClean="0">
                        <a:solidFill>
                          <a:srgbClr val="00B050"/>
                        </a:solidFill>
                        <a:latin typeface="Cambria Math" panose="02040503050406030204" pitchFamily="18" charset="0"/>
                        <a:ea typeface="楷体" panose="02010609060101010101" pitchFamily="49" charset="-122"/>
                      </a:rPr>
                      <m:t>𝑷</m:t>
                    </m:r>
                    <m:r>
                      <a:rPr lang="en-US" altLang="zh-CN" sz="2000" b="1" i="1" dirty="0" smtClean="0">
                        <a:solidFill>
                          <a:srgbClr val="00B050"/>
                        </a:solidFill>
                        <a:latin typeface="Cambria Math" panose="02040503050406030204" pitchFamily="18" charset="0"/>
                        <a:ea typeface="楷体" panose="02010609060101010101" pitchFamily="49" charset="-122"/>
                      </a:rPr>
                      <m:t>=</m:t>
                    </m:r>
                    <m:r>
                      <a:rPr lang="en-US" altLang="zh-CN" sz="2000" b="1" i="1" dirty="0" smtClean="0">
                        <a:solidFill>
                          <a:srgbClr val="00B050"/>
                        </a:solidFill>
                        <a:latin typeface="Cambria Math" panose="02040503050406030204" pitchFamily="18" charset="0"/>
                        <a:ea typeface="楷体" panose="02010609060101010101" pitchFamily="49" charset="-122"/>
                      </a:rPr>
                      <m:t>𝟏</m:t>
                    </m:r>
                  </m:oMath>
                </a14:m>
                <a:r>
                  <a:rPr lang="en-US" altLang="zh-CN" sz="2000" dirty="0">
                    <a:latin typeface="楷体" panose="02010609060101010101" pitchFamily="49" charset="-122"/>
                    <a:ea typeface="楷体" panose="02010609060101010101" pitchFamily="49" charset="-122"/>
                  </a:rPr>
                  <a:t>, </a:t>
                </a:r>
                <a:r>
                  <a:rPr lang="zh-CN" altLang="zh-CN" sz="2000" dirty="0">
                    <a:latin typeface="楷体" panose="02010609060101010101" pitchFamily="49" charset="-122"/>
                    <a:ea typeface="楷体" panose="02010609060101010101" pitchFamily="49" charset="-122"/>
                  </a:rPr>
                  <a:t>允许</a:t>
                </a:r>
                <a:r>
                  <a:rPr lang="zh-CN" altLang="zh-CN" sz="2000" dirty="0" smtClean="0">
                    <a:latin typeface="楷体" panose="02010609060101010101" pitchFamily="49" charset="-122"/>
                    <a:ea typeface="楷体" panose="02010609060101010101" pitchFamily="49" charset="-122"/>
                  </a:rPr>
                  <a:t>电路输出</a:t>
                </a:r>
                <a:r>
                  <a:rPr lang="zh-CN" altLang="zh-CN" sz="2000" dirty="0">
                    <a:latin typeface="楷体" panose="02010609060101010101" pitchFamily="49" charset="-122"/>
                    <a:ea typeface="楷体" panose="02010609060101010101" pitchFamily="49" charset="-122"/>
                  </a:rPr>
                  <a:t>。这就避免了竞争冒险的影响。引入选通脉冲的组合电路，</a:t>
                </a:r>
                <a:r>
                  <a:rPr lang="zh-CN" altLang="zh-CN" sz="2000" b="1" dirty="0" smtClean="0">
                    <a:solidFill>
                      <a:schemeClr val="accent1"/>
                    </a:solidFill>
                    <a:latin typeface="楷体" panose="02010609060101010101" pitchFamily="49" charset="-122"/>
                    <a:ea typeface="楷体" panose="02010609060101010101" pitchFamily="49" charset="-122"/>
                  </a:rPr>
                  <a:t>输出信号只在选通脉冲</a:t>
                </a:r>
                <a14:m>
                  <m:oMath xmlns:m="http://schemas.openxmlformats.org/officeDocument/2006/math">
                    <m:r>
                      <a:rPr lang="en-US" altLang="zh-CN" sz="2000" b="1" i="1" dirty="0" smtClean="0">
                        <a:solidFill>
                          <a:schemeClr val="accent1"/>
                        </a:solidFill>
                        <a:latin typeface="Cambria Math" panose="02040503050406030204" pitchFamily="18" charset="0"/>
                        <a:ea typeface="楷体" panose="02010609060101010101" pitchFamily="49" charset="-122"/>
                      </a:rPr>
                      <m:t>𝑷</m:t>
                    </m:r>
                    <m:r>
                      <a:rPr lang="en-US" altLang="zh-CN" sz="2000" b="1" i="1" dirty="0" smtClean="0">
                        <a:solidFill>
                          <a:schemeClr val="accent1"/>
                        </a:solidFill>
                        <a:latin typeface="Cambria Math" panose="02040503050406030204" pitchFamily="18" charset="0"/>
                        <a:ea typeface="楷体" panose="02010609060101010101" pitchFamily="49" charset="-122"/>
                      </a:rPr>
                      <m:t>=</m:t>
                    </m:r>
                    <m:r>
                      <a:rPr lang="en-US" altLang="zh-CN" sz="2000" b="1" i="1" dirty="0" smtClean="0">
                        <a:solidFill>
                          <a:schemeClr val="accent1"/>
                        </a:solidFill>
                        <a:latin typeface="Cambria Math" panose="02040503050406030204" pitchFamily="18" charset="0"/>
                        <a:ea typeface="楷体" panose="02010609060101010101" pitchFamily="49" charset="-122"/>
                      </a:rPr>
                      <m:t>𝟏</m:t>
                    </m:r>
                  </m:oMath>
                </a14:m>
                <a:r>
                  <a:rPr lang="zh-CN" altLang="zh-CN" sz="2000" b="1" dirty="0" smtClean="0">
                    <a:solidFill>
                      <a:schemeClr val="accent1"/>
                    </a:solidFill>
                    <a:latin typeface="楷体" panose="02010609060101010101" pitchFamily="49" charset="-122"/>
                    <a:ea typeface="楷体" panose="02010609060101010101" pitchFamily="49" charset="-122"/>
                  </a:rPr>
                  <a:t>期间</a:t>
                </a:r>
                <a:r>
                  <a:rPr lang="zh-CN" altLang="zh-CN" sz="2000" b="1" dirty="0">
                    <a:solidFill>
                      <a:schemeClr val="accent1"/>
                    </a:solidFill>
                    <a:latin typeface="楷体" panose="02010609060101010101" pitchFamily="49" charset="-122"/>
                    <a:ea typeface="楷体" panose="02010609060101010101" pitchFamily="49" charset="-122"/>
                  </a:rPr>
                  <a:t>才有效</a:t>
                </a:r>
                <a:r>
                  <a:rPr lang="zh-CN" altLang="zh-CN" sz="2000" dirty="0">
                    <a:latin typeface="楷体" panose="02010609060101010101" pitchFamily="49" charset="-122"/>
                    <a:ea typeface="楷体" panose="02010609060101010101" pitchFamily="49" charset="-122"/>
                  </a:rPr>
                  <a:t>，其波形图见图</a:t>
                </a:r>
                <a:r>
                  <a:rPr lang="en-US" altLang="zh-CN" sz="2000" dirty="0">
                    <a:latin typeface="楷体" panose="02010609060101010101" pitchFamily="49" charset="-122"/>
                    <a:ea typeface="楷体" panose="02010609060101010101" pitchFamily="49" charset="-122"/>
                  </a:rPr>
                  <a:t>2.6(b) </a:t>
                </a:r>
                <a:r>
                  <a:rPr lang="zh-CN" altLang="zh-CN" sz="2000" dirty="0" smtClean="0">
                    <a:latin typeface="楷体" panose="02010609060101010101" pitchFamily="49" charset="-122"/>
                    <a:ea typeface="楷体" panose="02010609060101010101" pitchFamily="49" charset="-122"/>
                  </a:rPr>
                  <a:t>。</a:t>
                </a:r>
                <a:endParaRPr lang="en-US" altLang="zh-CN" sz="2000" dirty="0" smtClean="0">
                  <a:latin typeface="楷体" panose="02010609060101010101" pitchFamily="49" charset="-122"/>
                  <a:ea typeface="楷体" panose="02010609060101010101" pitchFamily="49" charset="-122"/>
                </a:endParaRPr>
              </a:p>
              <a:p>
                <a:r>
                  <a:rPr lang="en-US" altLang="zh-CN" sz="2000" b="1" dirty="0" err="1" smtClean="0">
                    <a:solidFill>
                      <a:schemeClr val="accent1"/>
                    </a:solidFill>
                    <a:latin typeface="楷体" panose="02010609060101010101" pitchFamily="49" charset="-122"/>
                    <a:ea typeface="楷体" panose="02010609060101010101" pitchFamily="49" charset="-122"/>
                  </a:rPr>
                  <a:t>选通脉冲法具有通用性</a:t>
                </a:r>
                <a:r>
                  <a:rPr lang="en-US" altLang="zh-CN" sz="2000" dirty="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413496" y="4427337"/>
                <a:ext cx="8490358" cy="2246769"/>
              </a:xfrm>
              <a:prstGeom prst="rect">
                <a:avLst/>
              </a:prstGeom>
              <a:blipFill>
                <a:blip r:embed="rId3"/>
                <a:stretch>
                  <a:fillRect l="-790" t="-1355" r="-359" b="-37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85884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785091"/>
          </a:xfrm>
        </p:spPr>
        <p:txBody>
          <a:bodyPr/>
          <a:lstStyle/>
          <a:p>
            <a:r>
              <a:rPr lang="en-US" altLang="zh-CN" dirty="0" smtClean="0">
                <a:latin typeface="楷体" panose="02010609060101010101" pitchFamily="49" charset="-122"/>
                <a:ea typeface="楷体" panose="02010609060101010101" pitchFamily="49" charset="-122"/>
              </a:rPr>
              <a:t>2.1 </a:t>
            </a:r>
            <a:r>
              <a:rPr lang="zh-CN" altLang="en-US" dirty="0" smtClean="0">
                <a:latin typeface="楷体" panose="02010609060101010101" pitchFamily="49" charset="-122"/>
                <a:ea typeface="楷体" panose="02010609060101010101" pitchFamily="49" charset="-122"/>
              </a:rPr>
              <a:t>组合逻辑分析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785091"/>
            <a:ext cx="7886700" cy="3261287"/>
          </a:xfrm>
        </p:spPr>
        <p:txBody>
          <a:bodyPr/>
          <a:lstStyle/>
          <a:p>
            <a:r>
              <a:rPr lang="zh-CN" altLang="en-US" dirty="0" smtClean="0">
                <a:latin typeface="楷体" panose="02010609060101010101" pitchFamily="49" charset="-122"/>
                <a:ea typeface="楷体" panose="02010609060101010101" pitchFamily="49" charset="-122"/>
              </a:rPr>
              <a:t>组合逻辑</a:t>
            </a:r>
            <a:r>
              <a:rPr lang="zh-CN" altLang="en-US" dirty="0">
                <a:latin typeface="楷体" panose="02010609060101010101" pitchFamily="49" charset="-122"/>
                <a:ea typeface="楷体" panose="02010609060101010101" pitchFamily="49" charset="-122"/>
              </a:rPr>
              <a:t>中的竞争</a:t>
            </a:r>
            <a:r>
              <a:rPr lang="zh-CN" altLang="en-US" dirty="0" smtClean="0">
                <a:latin typeface="楷体" panose="02010609060101010101" pitchFamily="49" charset="-122"/>
                <a:ea typeface="楷体" panose="02010609060101010101" pitchFamily="49" charset="-122"/>
              </a:rPr>
              <a:t>冒险</a:t>
            </a:r>
            <a:endParaRPr lang="en-US" altLang="zh-CN" dirty="0" smtClean="0">
              <a:latin typeface="楷体" panose="02010609060101010101" pitchFamily="49" charset="-122"/>
              <a:ea typeface="楷体" panose="02010609060101010101" pitchFamily="49" charset="-122"/>
            </a:endParaRPr>
          </a:p>
          <a:p>
            <a:pPr lvl="1"/>
            <a:r>
              <a:rPr lang="zh-CN" altLang="en-US" b="1" dirty="0">
                <a:latin typeface="楷体" panose="02010609060101010101" pitchFamily="49" charset="-122"/>
                <a:ea typeface="楷体" panose="02010609060101010101" pitchFamily="49" charset="-122"/>
              </a:rPr>
              <a:t>修改逻辑设计</a:t>
            </a:r>
            <a:r>
              <a:rPr lang="zh-CN" altLang="en-US" dirty="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6" name="矩形 5"/>
              <p:cNvSpPr/>
              <p:nvPr/>
            </p:nvSpPr>
            <p:spPr>
              <a:xfrm>
                <a:off x="951346" y="4196799"/>
                <a:ext cx="7398326" cy="2246769"/>
              </a:xfrm>
              <a:prstGeom prst="rect">
                <a:avLst/>
              </a:prstGeom>
            </p:spPr>
            <p:txBody>
              <a:bodyPr wrap="square">
                <a:spAutoFit/>
              </a:bodyPr>
              <a:lstStyle/>
              <a:p>
                <a:r>
                  <a:rPr lang="zh-CN" altLang="en-US" sz="2000" dirty="0" smtClean="0">
                    <a:latin typeface="楷体" panose="02010609060101010101" pitchFamily="49" charset="-122"/>
                    <a:ea typeface="楷体" panose="02010609060101010101" pitchFamily="49" charset="-122"/>
                  </a:rPr>
                  <a:t>当修改逻辑电路，可以消除某些竞争冒险现象。例如上面分析的电路中，当</a:t>
                </a:r>
                <a:r>
                  <a:rPr lang="en-US" altLang="zh-CN" sz="2000" dirty="0">
                    <a:latin typeface="楷体" panose="02010609060101010101" pitchFamily="49" charset="-122"/>
                    <a:ea typeface="楷体" panose="02010609060101010101" pitchFamily="49" charset="-122"/>
                  </a:rPr>
                  <a:t>A=C=1 </a:t>
                </a:r>
                <a:r>
                  <a:rPr lang="zh-CN" altLang="en-US" sz="2000" dirty="0">
                    <a:latin typeface="楷体" panose="02010609060101010101" pitchFamily="49" charset="-122"/>
                    <a:ea typeface="楷体" panose="02010609060101010101" pitchFamily="49" charset="-122"/>
                  </a:rPr>
                  <a:t>时，由于</a:t>
                </a:r>
                <a14:m>
                  <m:oMath xmlns:m="http://schemas.openxmlformats.org/officeDocument/2006/math">
                    <m:r>
                      <a:rPr lang="en-US" altLang="zh-CN" sz="2000" i="1">
                        <a:latin typeface="Cambria Math" panose="02040503050406030204" pitchFamily="18" charset="0"/>
                      </a:rPr>
                      <m:t>𝐹</m:t>
                    </m:r>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𝐵</m:t>
                        </m:r>
                      </m:e>
                    </m:acc>
                    <m:r>
                      <a:rPr lang="en-US" altLang="zh-CN" sz="2000" i="1">
                        <a:latin typeface="Cambria Math" panose="02040503050406030204" pitchFamily="18" charset="0"/>
                      </a:rPr>
                      <m:t>+</m:t>
                    </m:r>
                    <m:r>
                      <a:rPr lang="en-US" altLang="zh-CN" sz="2000" i="1">
                        <a:latin typeface="Cambria Math" panose="02040503050406030204" pitchFamily="18" charset="0"/>
                      </a:rPr>
                      <m:t>𝐵</m:t>
                    </m:r>
                  </m:oMath>
                </a14:m>
                <a:r>
                  <a:rPr lang="en-US" altLang="zh-CN" sz="2000" dirty="0">
                    <a:latin typeface="楷体" panose="02010609060101010101" pitchFamily="49" charset="-122"/>
                    <a:ea typeface="楷体" panose="02010609060101010101" pitchFamily="49" charset="-122"/>
                  </a:rPr>
                  <a:t>, </a:t>
                </a:r>
                <a:r>
                  <a:rPr lang="zh-CN" altLang="en-US" sz="2000" dirty="0" smtClean="0">
                    <a:latin typeface="楷体" panose="02010609060101010101" pitchFamily="49" charset="-122"/>
                    <a:ea typeface="楷体" panose="02010609060101010101" pitchFamily="49" charset="-122"/>
                  </a:rPr>
                  <a:t>出现</a:t>
                </a:r>
                <a:r>
                  <a:rPr lang="zh-CN" altLang="en-US" sz="2000" dirty="0">
                    <a:latin typeface="楷体" panose="02010609060101010101" pitchFamily="49" charset="-122"/>
                    <a:ea typeface="楷体" panose="02010609060101010101" pitchFamily="49" charset="-122"/>
                  </a:rPr>
                  <a:t>了互补变化的信号，所以存在竞争冒险现象。 为此，我们可以把表达式变换一下，根据常用布尔公式</a:t>
                </a:r>
                <a:r>
                  <a:rPr lang="zh-CN" altLang="en-US" sz="2000" dirty="0" smtClean="0">
                    <a:latin typeface="楷体" panose="02010609060101010101" pitchFamily="49" charset="-122"/>
                    <a:ea typeface="楷体" panose="02010609060101010101" pitchFamily="49" charset="-122"/>
                  </a:rPr>
                  <a:t>可知</a:t>
                </a:r>
                <a:endParaRPr lang="en-US" altLang="zh-CN" sz="2000" dirty="0" smtClean="0">
                  <a:latin typeface="楷体" panose="02010609060101010101" pitchFamily="49" charset="-122"/>
                  <a:ea typeface="楷体" panose="02010609060101010101" pitchFamily="49" charset="-122"/>
                </a:endParaRPr>
              </a:p>
              <a:p>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𝐹</m:t>
                      </m:r>
                      <m:r>
                        <a:rPr lang="en-US" altLang="zh-CN" sz="2000" i="1">
                          <a:latin typeface="Cambria Math" panose="02040503050406030204" pitchFamily="18" charset="0"/>
                        </a:rPr>
                        <m:t>=</m:t>
                      </m:r>
                      <m:r>
                        <a:rPr lang="en-US" altLang="zh-CN" sz="2000" b="0" i="1" smtClean="0">
                          <a:latin typeface="Cambria Math" panose="02040503050406030204" pitchFamily="18" charset="0"/>
                        </a:rPr>
                        <m:t>𝐴</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𝐵</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𝐵</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𝐴𝐶</m:t>
                      </m:r>
                    </m:oMath>
                  </m:oMathPara>
                </a14:m>
                <a:endParaRPr lang="en-US" altLang="zh-CN" sz="2000" dirty="0" smtClean="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上式增加了 </a:t>
                </a:r>
                <a:r>
                  <a:rPr lang="en-US" altLang="zh-CN" sz="2000" dirty="0">
                    <a:latin typeface="楷体" panose="02010609060101010101" pitchFamily="49" charset="-122"/>
                    <a:ea typeface="楷体" panose="02010609060101010101" pitchFamily="49" charset="-122"/>
                  </a:rPr>
                  <a:t>AC </a:t>
                </a:r>
                <a:r>
                  <a:rPr lang="zh-CN" altLang="en-US" sz="2000" dirty="0">
                    <a:latin typeface="楷体" panose="02010609060101010101" pitchFamily="49" charset="-122"/>
                    <a:ea typeface="楷体" panose="02010609060101010101" pitchFamily="49" charset="-122"/>
                  </a:rPr>
                  <a:t>项以后，函数关系不变，但当 </a:t>
                </a:r>
                <a14:m>
                  <m:oMath xmlns:m="http://schemas.openxmlformats.org/officeDocument/2006/math">
                    <m:r>
                      <a:rPr lang="en-US" altLang="zh-CN" sz="2000" i="1" dirty="0" smtClean="0">
                        <a:latin typeface="Cambria Math" panose="02040503050406030204" pitchFamily="18" charset="0"/>
                        <a:ea typeface="楷体" panose="02010609060101010101" pitchFamily="49" charset="-122"/>
                      </a:rPr>
                      <m:t>𝐴</m:t>
                    </m:r>
                    <m:r>
                      <a:rPr lang="en-US" altLang="zh-CN" sz="2000" i="1" dirty="0" smtClean="0">
                        <a:latin typeface="Cambria Math" panose="02040503050406030204" pitchFamily="18" charset="0"/>
                        <a:ea typeface="楷体" panose="02010609060101010101" pitchFamily="49" charset="-122"/>
                      </a:rPr>
                      <m:t>=</m:t>
                    </m:r>
                    <m:r>
                      <a:rPr lang="en-US" altLang="zh-CN" sz="2000" i="1" dirty="0" smtClean="0">
                        <a:latin typeface="Cambria Math" panose="02040503050406030204" pitchFamily="18" charset="0"/>
                        <a:ea typeface="楷体" panose="02010609060101010101" pitchFamily="49" charset="-122"/>
                      </a:rPr>
                      <m:t>𝐶</m:t>
                    </m:r>
                    <m:r>
                      <a:rPr lang="en-US" altLang="zh-CN" sz="2000" i="1" dirty="0" smtClean="0">
                        <a:latin typeface="Cambria Math" panose="02040503050406030204" pitchFamily="18" charset="0"/>
                        <a:ea typeface="楷体" panose="02010609060101010101" pitchFamily="49" charset="-122"/>
                      </a:rPr>
                      <m:t>=1</m:t>
                    </m:r>
                  </m:oMath>
                </a14:m>
                <a:r>
                  <a:rPr lang="zh-CN" altLang="en-US" sz="2000" dirty="0">
                    <a:latin typeface="楷体" panose="02010609060101010101" pitchFamily="49" charset="-122"/>
                    <a:ea typeface="楷体" panose="02010609060101010101" pitchFamily="49" charset="-122"/>
                  </a:rPr>
                  <a:t>时，</a:t>
                </a:r>
                <a:r>
                  <a:rPr lang="zh-CN" altLang="en-US" sz="2000" dirty="0" smtClean="0">
                    <a:latin typeface="楷体" panose="02010609060101010101" pitchFamily="49" charset="-122"/>
                    <a:ea typeface="楷体" panose="02010609060101010101" pitchFamily="49" charset="-122"/>
                  </a:rPr>
                  <a:t>输出 </a:t>
                </a:r>
                <a14:m>
                  <m:oMath xmlns:m="http://schemas.openxmlformats.org/officeDocument/2006/math">
                    <m:r>
                      <a:rPr lang="en-US" altLang="zh-CN" sz="2000" i="1" dirty="0" smtClean="0">
                        <a:latin typeface="Cambria Math" panose="02040503050406030204" pitchFamily="18" charset="0"/>
                        <a:ea typeface="楷体" panose="02010609060101010101" pitchFamily="49" charset="-122"/>
                      </a:rPr>
                      <m:t>𝐹</m:t>
                    </m:r>
                  </m:oMath>
                </a14:m>
                <a:r>
                  <a:rPr lang="en-US" altLang="zh-CN" sz="2000" i="1" dirty="0" smtClean="0">
                    <a:latin typeface="楷体" panose="02010609060101010101" pitchFamily="49" charset="-122"/>
                    <a:ea typeface="楷体" panose="02010609060101010101" pitchFamily="49" charset="-122"/>
                  </a:rPr>
                  <a:t> </a:t>
                </a:r>
                <a:r>
                  <a:rPr lang="zh-CN" altLang="en-US" sz="2000" dirty="0" smtClean="0">
                    <a:latin typeface="楷体" panose="02010609060101010101" pitchFamily="49" charset="-122"/>
                    <a:ea typeface="楷体" panose="02010609060101010101" pitchFamily="49" charset="-122"/>
                  </a:rPr>
                  <a:t>恒</a:t>
                </a:r>
                <a:r>
                  <a:rPr lang="zh-CN" altLang="en-US" sz="2000" dirty="0">
                    <a:latin typeface="楷体" panose="02010609060101010101" pitchFamily="49" charset="-122"/>
                    <a:ea typeface="楷体" panose="02010609060101010101" pitchFamily="49" charset="-122"/>
                  </a:rPr>
                  <a:t>为</a:t>
                </a:r>
                <a:r>
                  <a:rPr lang="en-US" altLang="zh-CN" sz="2000" dirty="0" smtClean="0">
                    <a:latin typeface="楷体" panose="02010609060101010101" pitchFamily="49" charset="-122"/>
                    <a:ea typeface="楷体" panose="02010609060101010101" pitchFamily="49" charset="-122"/>
                  </a:rPr>
                  <a:t>1</a:t>
                </a:r>
                <a:r>
                  <a:rPr lang="zh-CN" altLang="en-US" sz="2000" dirty="0" smtClean="0">
                    <a:latin typeface="楷体" panose="02010609060101010101" pitchFamily="49" charset="-122"/>
                    <a:ea typeface="楷体" panose="02010609060101010101" pitchFamily="49" charset="-122"/>
                  </a:rPr>
                  <a:t>，不再</a:t>
                </a:r>
                <a:r>
                  <a:rPr lang="zh-CN" altLang="en-US" sz="2000" dirty="0">
                    <a:latin typeface="楷体" panose="02010609060101010101" pitchFamily="49" charset="-122"/>
                    <a:ea typeface="楷体" panose="02010609060101010101" pitchFamily="49" charset="-122"/>
                  </a:rPr>
                  <a:t>产生干扰脉冲。修改后的电路如图</a:t>
                </a:r>
                <a:r>
                  <a:rPr lang="en-US" altLang="zh-CN" sz="2000" dirty="0">
                    <a:latin typeface="楷体" panose="02010609060101010101" pitchFamily="49" charset="-122"/>
                    <a:ea typeface="楷体" panose="02010609060101010101" pitchFamily="49" charset="-122"/>
                  </a:rPr>
                  <a:t>2.7</a:t>
                </a:r>
                <a:r>
                  <a:rPr lang="zh-CN" altLang="en-US" sz="2000" dirty="0">
                    <a:latin typeface="楷体" panose="02010609060101010101" pitchFamily="49" charset="-122"/>
                    <a:ea typeface="楷体" panose="02010609060101010101" pitchFamily="49" charset="-122"/>
                  </a:rPr>
                  <a:t>所示。</a:t>
                </a:r>
              </a:p>
            </p:txBody>
          </p:sp>
        </mc:Choice>
        <mc:Fallback xmlns="">
          <p:sp>
            <p:nvSpPr>
              <p:cNvPr id="6" name="矩形 5"/>
              <p:cNvSpPr>
                <a:spLocks noRot="1" noChangeAspect="1" noMove="1" noResize="1" noEditPoints="1" noAdjustHandles="1" noChangeArrowheads="1" noChangeShapeType="1" noTextEdit="1"/>
              </p:cNvSpPr>
              <p:nvPr/>
            </p:nvSpPr>
            <p:spPr>
              <a:xfrm>
                <a:off x="951346" y="4196799"/>
                <a:ext cx="7398326" cy="2246769"/>
              </a:xfrm>
              <a:prstGeom prst="rect">
                <a:avLst/>
              </a:prstGeom>
              <a:blipFill>
                <a:blip r:embed="rId2"/>
                <a:stretch>
                  <a:fillRect l="-824" t="-1355" r="-4283" b="-3252"/>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776513" y="1377491"/>
            <a:ext cx="4454248" cy="2819308"/>
          </a:xfrm>
          <a:prstGeom prst="rect">
            <a:avLst/>
          </a:prstGeom>
        </p:spPr>
      </p:pic>
    </p:spTree>
    <p:extLst>
      <p:ext uri="{BB962C8B-B14F-4D97-AF65-F5344CB8AC3E}">
        <p14:creationId xmlns:p14="http://schemas.microsoft.com/office/powerpoint/2010/main" val="3343468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533236" y="1267751"/>
                <a:ext cx="5394037" cy="2677656"/>
              </a:xfrm>
              <a:prstGeom prst="rect">
                <a:avLst/>
              </a:prstGeom>
            </p:spPr>
            <p:txBody>
              <a:bodyPr wrap="square">
                <a:spAutoFit/>
              </a:bodyPr>
              <a:lstStyle/>
              <a:p>
                <a:pPr marL="442913"/>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pitchFamily="18" charset="0"/>
                        </a:rPr>
                        <m:t>𝐹</m:t>
                      </m:r>
                      <m:r>
                        <a:rPr lang="en-US" altLang="zh-CN" sz="2800" i="1" smtClean="0">
                          <a:latin typeface="Cambria Math" panose="02040503050406030204" pitchFamily="18" charset="0"/>
                        </a:rPr>
                        <m:t>=</m:t>
                      </m:r>
                      <m:r>
                        <a:rPr lang="en-US" altLang="zh-CN" sz="2800" i="1" smtClean="0">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r>
                        <a:rPr lang="en-US" altLang="zh-CN" sz="2800" i="1">
                          <a:latin typeface="Cambria Math" panose="02040503050406030204" pitchFamily="18" charset="0"/>
                        </a:rPr>
                        <m:t>+</m:t>
                      </m:r>
                      <m:r>
                        <a:rPr lang="en-US" altLang="zh-CN" sz="2800" i="1">
                          <a:latin typeface="Cambria Math" panose="02040503050406030204" pitchFamily="18" charset="0"/>
                        </a:rPr>
                        <m:t>𝐵𝐶</m:t>
                      </m:r>
                      <m:r>
                        <a:rPr lang="en-US" altLang="zh-CN" sz="2800" i="1">
                          <a:latin typeface="Cambria Math" panose="02040503050406030204" pitchFamily="18" charset="0"/>
                        </a:rPr>
                        <m:t>+</m:t>
                      </m:r>
                      <m:r>
                        <a:rPr lang="en-US" altLang="zh-CN" sz="2800" i="1">
                          <a:latin typeface="Cambria Math" panose="02040503050406030204" pitchFamily="18" charset="0"/>
                        </a:rPr>
                        <m:t>𝐴𝐶</m:t>
                      </m:r>
                    </m:oMath>
                  </m:oMathPara>
                </a14:m>
                <a:endParaRPr lang="en-US" altLang="zh-CN" sz="2800" i="1" dirty="0" smtClean="0">
                  <a:latin typeface="Cambria Math" panose="02040503050406030204" pitchFamily="18" charset="0"/>
                </a:endParaRPr>
              </a:p>
              <a:p>
                <a:pPr marL="1081088" indent="-638175">
                  <a:tabLst>
                    <a:tab pos="1081088" algn="l"/>
                  </a:tabLst>
                </a:pPr>
                <a14:m>
                  <m:oMath xmlns:m="http://schemas.openxmlformats.org/officeDocument/2006/math">
                    <m:r>
                      <a:rPr lang="en-US" altLang="zh-CN" sz="2800" b="0" i="1" smtClean="0">
                        <a:latin typeface="Cambria Math" panose="02040503050406030204" pitchFamily="18" charset="0"/>
                      </a:rPr>
                      <m:t>=</m:t>
                    </m:r>
                  </m:oMath>
                </a14:m>
                <a:r>
                  <a:rPr lang="en-US" altLang="zh-CN" sz="2800" dirty="0" smtClean="0">
                    <a:latin typeface="楷体" panose="02010609060101010101" pitchFamily="49" charset="-122"/>
                  </a:rPr>
                  <a:t> </a:t>
                </a:r>
                <a14:m>
                  <m:oMath xmlns:m="http://schemas.openxmlformats.org/officeDocument/2006/math">
                    <m:r>
                      <a:rPr lang="en-US" altLang="zh-CN" sz="2800" i="1">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r>
                      <a:rPr lang="en-US" altLang="zh-CN" sz="2800" b="0" i="0" smtClean="0">
                        <a:latin typeface="Cambria Math" panose="02040503050406030204" pitchFamily="18" charset="0"/>
                      </a:rPr>
                      <m:t>+</m:t>
                    </m:r>
                    <m:r>
                      <a:rPr lang="en-US" altLang="zh-CN" sz="2800" b="0" i="1" smtClean="0">
                        <a:latin typeface="Cambria Math" panose="02040503050406030204" pitchFamily="18" charset="0"/>
                      </a:rPr>
                      <m:t>𝐵</m:t>
                    </m:r>
                    <m:r>
                      <a:rPr lang="en-US" altLang="zh-CN" sz="2800" i="1">
                        <a:latin typeface="Cambria Math" panose="02040503050406030204" pitchFamily="18" charset="0"/>
                      </a:rPr>
                      <m:t>𝐶</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𝐵</m:t>
                    </m:r>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r>
                          <a:rPr lang="en-US" altLang="zh-CN" sz="2800" b="0" i="1" smtClean="0">
                            <a:latin typeface="Cambria Math" panose="02040503050406030204" pitchFamily="18" charset="0"/>
                          </a:rPr>
                          <m:t> </m:t>
                        </m:r>
                      </m:e>
                    </m:acc>
                    <m:r>
                      <a:rPr lang="en-US" altLang="zh-CN" sz="2800" b="0" i="1" smtClean="0">
                        <a:latin typeface="Cambria Math" panose="02040503050406030204" pitchFamily="18" charset="0"/>
                      </a:rPr>
                      <m:t>)</m:t>
                    </m:r>
                  </m:oMath>
                </a14:m>
                <a:r>
                  <a:rPr lang="en-US" altLang="zh-CN" sz="2800" dirty="0" smtClean="0"/>
                  <a:t> </a:t>
                </a:r>
                <a14:m>
                  <m:oMath xmlns:m="http://schemas.openxmlformats.org/officeDocument/2006/math">
                    <m:r>
                      <a:rPr lang="en-US" altLang="zh-CN" sz="2800" i="1">
                        <a:latin typeface="Cambria Math" panose="02040503050406030204" pitchFamily="18" charset="0"/>
                      </a:rPr>
                      <m:t>𝐶</m:t>
                    </m:r>
                  </m:oMath>
                </a14:m>
                <a:endParaRPr lang="en-US" altLang="zh-CN" sz="2800" i="1" dirty="0" smtClean="0">
                  <a:latin typeface="Cambria Math" panose="02040503050406030204" pitchFamily="18" charset="0"/>
                </a:endParaRPr>
              </a:p>
              <a:p>
                <a:pPr marL="442913">
                  <a:tabLst>
                    <a:tab pos="442913" algn="l"/>
                  </a:tabLst>
                </a:pPr>
                <a14:m>
                  <m:oMathPara xmlns:m="http://schemas.openxmlformats.org/officeDocument/2006/math">
                    <m:oMathParaPr>
                      <m:jc m:val="left"/>
                    </m:oMathParaPr>
                    <m:oMath xmlns:m="http://schemas.openxmlformats.org/officeDocument/2006/math">
                      <m:r>
                        <a:rPr lang="en-US" altLang="zh-CN" sz="2800" b="0" i="0" smtClean="0">
                          <a:latin typeface="Cambria Math" panose="02040503050406030204" pitchFamily="18" charset="0"/>
                        </a:rPr>
                        <m:t>=</m:t>
                      </m:r>
                      <m:r>
                        <a:rPr lang="en-US" altLang="zh-CN" sz="2800" i="1">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r>
                        <a:rPr lang="en-US" altLang="zh-CN" sz="2800" b="0" i="0" smtClean="0">
                          <a:latin typeface="Cambria Math" panose="02040503050406030204" pitchFamily="18" charset="0"/>
                        </a:rPr>
                        <m:t>+</m:t>
                      </m:r>
                      <m:r>
                        <a:rPr lang="en-US" altLang="zh-CN" sz="2800" i="1">
                          <a:latin typeface="Cambria Math" panose="02040503050406030204" pitchFamily="18" charset="0"/>
                        </a:rPr>
                        <m:t>𝐵𝐶</m:t>
                      </m:r>
                      <m:r>
                        <a:rPr lang="en-US" altLang="zh-CN" sz="2800" b="0" i="0" smtClean="0">
                          <a:latin typeface="Cambria Math" panose="02040503050406030204" pitchFamily="18" charset="0"/>
                        </a:rPr>
                        <m:t>+</m:t>
                      </m:r>
                      <m:r>
                        <a:rPr lang="en-US" altLang="zh-CN" sz="2800" i="1">
                          <a:latin typeface="Cambria Math" panose="02040503050406030204" pitchFamily="18" charset="0"/>
                        </a:rPr>
                        <m:t>𝐴</m:t>
                      </m:r>
                      <m:r>
                        <a:rPr lang="en-US" altLang="zh-CN" sz="2800" b="0" i="1" smtClean="0">
                          <a:latin typeface="Cambria Math" panose="02040503050406030204" pitchFamily="18" charset="0"/>
                        </a:rPr>
                        <m:t>𝐵𝐶</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r>
                            <a:rPr lang="en-US" altLang="zh-CN" sz="2800" i="1">
                              <a:latin typeface="Cambria Math" panose="02040503050406030204" pitchFamily="18" charset="0"/>
                            </a:rPr>
                            <m:t> </m:t>
                          </m:r>
                        </m:e>
                      </m:acc>
                      <m:r>
                        <m:rPr>
                          <m:sty m:val="p"/>
                        </m:rPr>
                        <a:rPr lang="en-US" altLang="zh-CN" sz="2800" i="1" smtClean="0">
                          <a:latin typeface="Cambria Math" panose="02040503050406030204" pitchFamily="18" charset="0"/>
                        </a:rPr>
                        <m:t>C</m:t>
                      </m:r>
                    </m:oMath>
                  </m:oMathPara>
                </a14:m>
                <a:endParaRPr lang="en-US" altLang="zh-CN" sz="2800" i="1" dirty="0" smtClean="0">
                  <a:latin typeface="Cambria Math" panose="02040503050406030204" pitchFamily="18" charset="0"/>
                </a:endParaRPr>
              </a:p>
              <a:p>
                <a:pPr marL="1081088" indent="-638175">
                  <a:tabLst>
                    <a:tab pos="1081088" algn="l"/>
                  </a:tabLst>
                </a:pPr>
                <a14:m>
                  <m:oMath xmlns:m="http://schemas.openxmlformats.org/officeDocument/2006/math">
                    <m:r>
                      <a:rPr lang="en-US" altLang="zh-CN" sz="2800" b="0" i="0" smtClean="0">
                        <a:latin typeface="Cambria Math" panose="02040503050406030204" pitchFamily="18" charset="0"/>
                      </a:rPr>
                      <m:t>=</m:t>
                    </m:r>
                  </m:oMath>
                </a14:m>
                <a:r>
                  <a:rPr lang="en-US" altLang="zh-CN" sz="2800" dirty="0"/>
                  <a:t> </a:t>
                </a:r>
                <a14:m>
                  <m:oMath xmlns:m="http://schemas.openxmlformats.org/officeDocument/2006/math">
                    <m:r>
                      <a:rPr lang="en-US" altLang="zh-CN" sz="2800" i="1">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r>
                      <a:rPr lang="en-US" altLang="zh-CN" sz="2800">
                        <a:latin typeface="Cambria Math" panose="02040503050406030204" pitchFamily="18" charset="0"/>
                      </a:rPr>
                      <m:t>+</m:t>
                    </m:r>
                    <m:r>
                      <a:rPr lang="en-US" altLang="zh-CN" sz="2800" i="1">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r>
                          <a:rPr lang="en-US" altLang="zh-CN" sz="2800" i="1">
                            <a:latin typeface="Cambria Math" panose="02040503050406030204" pitchFamily="18" charset="0"/>
                          </a:rPr>
                          <m:t> </m:t>
                        </m:r>
                      </m:e>
                    </m:acc>
                    <m:r>
                      <m:rPr>
                        <m:sty m:val="p"/>
                      </m:rPr>
                      <a:rPr lang="en-US" altLang="zh-CN" sz="2800" i="1">
                        <a:latin typeface="Cambria Math" panose="02040503050406030204" pitchFamily="18" charset="0"/>
                      </a:rPr>
                      <m:t>C</m:t>
                    </m:r>
                    <m:r>
                      <a:rPr lang="en-US" altLang="zh-CN" sz="2800" b="0" i="1" smtClean="0">
                        <a:latin typeface="Cambria Math" panose="02040503050406030204" pitchFamily="18" charset="0"/>
                      </a:rPr>
                      <m:t>+</m:t>
                    </m:r>
                    <m:r>
                      <a:rPr lang="en-US" altLang="zh-CN" sz="2800" i="1">
                        <a:latin typeface="Cambria Math" panose="02040503050406030204" pitchFamily="18" charset="0"/>
                      </a:rPr>
                      <m:t>𝐵𝐶</m:t>
                    </m:r>
                    <m:r>
                      <a:rPr lang="en-US" altLang="zh-CN" sz="2800" b="0" i="1" smtClean="0">
                        <a:latin typeface="Cambria Math" panose="02040503050406030204" pitchFamily="18" charset="0"/>
                      </a:rPr>
                      <m:t>+</m:t>
                    </m:r>
                    <m:r>
                      <a:rPr lang="en-US" altLang="zh-CN" sz="2800" i="1">
                        <a:latin typeface="Cambria Math" panose="02040503050406030204" pitchFamily="18" charset="0"/>
                      </a:rPr>
                      <m:t>𝐴𝐵𝐶</m:t>
                    </m:r>
                  </m:oMath>
                </a14:m>
                <a:endParaRPr lang="en-US" altLang="zh-CN" sz="2800" i="1" dirty="0" smtClean="0">
                  <a:latin typeface="Cambria Math" panose="02040503050406030204" pitchFamily="18" charset="0"/>
                </a:endParaRPr>
              </a:p>
              <a:p>
                <a:pPr marL="442913">
                  <a:tabLst>
                    <a:tab pos="442913" algn="l"/>
                  </a:tabLst>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r>
                            <a:rPr lang="en-US" altLang="zh-CN" sz="2800" i="1">
                              <a:latin typeface="Cambria Math" panose="02040503050406030204" pitchFamily="18" charset="0"/>
                            </a:rPr>
                            <m:t> </m:t>
                          </m:r>
                        </m:e>
                      </m:acc>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𝐶</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𝐵𝐶</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𝐴</m:t>
                          </m:r>
                        </m:e>
                      </m:d>
                    </m:oMath>
                  </m:oMathPara>
                </a14:m>
                <a:endParaRPr lang="en-US" altLang="zh-CN" sz="2800" b="0" i="1" dirty="0" smtClean="0">
                  <a:latin typeface="Cambria Math" panose="02040503050406030204" pitchFamily="18" charset="0"/>
                </a:endParaRPr>
              </a:p>
              <a:p>
                <a:pPr marL="442913">
                  <a:tabLst>
                    <a:tab pos="442913" algn="l"/>
                  </a:tabLst>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r>
                            <a:rPr lang="en-US" altLang="zh-CN" sz="2800" i="1">
                              <a:latin typeface="Cambria Math" panose="02040503050406030204" pitchFamily="18" charset="0"/>
                            </a:rPr>
                            <m:t> </m:t>
                          </m:r>
                        </m:e>
                      </m:acc>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𝐵𝐶</m:t>
                      </m:r>
                    </m:oMath>
                  </m:oMathPara>
                </a14:m>
                <a:endParaRPr lang="en-US" altLang="zh-CN" sz="2800" b="0" i="1" dirty="0" smtClean="0">
                  <a:latin typeface="Cambria Math" panose="020405030504060302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1533236" y="1267751"/>
                <a:ext cx="5394037" cy="267765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78395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normAutofit/>
          </a:bodyPr>
          <a:lstStyle/>
          <a:p>
            <a:r>
              <a:rPr lang="en-US" altLang="zh-CN" sz="4000" dirty="0" smtClean="0">
                <a:latin typeface="楷体" panose="02010609060101010101" pitchFamily="49" charset="-122"/>
                <a:ea typeface="楷体" panose="02010609060101010101" pitchFamily="49" charset="-122"/>
              </a:rPr>
              <a:t>2.1 </a:t>
            </a:r>
            <a:r>
              <a:rPr lang="zh-CN" altLang="en-US" sz="4000" dirty="0" smtClean="0">
                <a:latin typeface="楷体" panose="02010609060101010101" pitchFamily="49" charset="-122"/>
                <a:ea typeface="楷体" panose="02010609060101010101" pitchFamily="49" charset="-122"/>
              </a:rPr>
              <a:t>组合逻辑分析</a:t>
            </a:r>
            <a:endParaRPr lang="zh-CN" altLang="en-US" sz="4000"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325563"/>
            <a:ext cx="7886700" cy="4362739"/>
          </a:xfrm>
        </p:spPr>
        <p:txBody>
          <a:bodyPr>
            <a:noAutofit/>
          </a:bodyPr>
          <a:lstStyle/>
          <a:p>
            <a:r>
              <a:rPr lang="zh-CN" altLang="en-US" dirty="0" smtClean="0">
                <a:latin typeface="楷体" panose="02010609060101010101" pitchFamily="49" charset="-122"/>
                <a:ea typeface="楷体" panose="02010609060101010101" pitchFamily="49" charset="-122"/>
              </a:rPr>
              <a:t>组合逻辑</a:t>
            </a:r>
            <a:r>
              <a:rPr lang="zh-CN" altLang="en-US" dirty="0">
                <a:latin typeface="楷体" panose="02010609060101010101" pitchFamily="49" charset="-122"/>
                <a:ea typeface="楷体" panose="02010609060101010101" pitchFamily="49" charset="-122"/>
              </a:rPr>
              <a:t>中的竞争</a:t>
            </a:r>
            <a:r>
              <a:rPr lang="zh-CN" altLang="en-US" dirty="0" smtClean="0">
                <a:latin typeface="楷体" panose="02010609060101010101" pitchFamily="49" charset="-122"/>
                <a:ea typeface="楷体" panose="02010609060101010101" pitchFamily="49" charset="-122"/>
              </a:rPr>
              <a:t>冒险</a:t>
            </a:r>
            <a:endParaRPr lang="en-US" altLang="zh-CN" dirty="0" smtClean="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修改逻辑设计</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2"/>
            <a:r>
              <a:rPr lang="zh-CN" altLang="en-US" sz="2400" dirty="0">
                <a:latin typeface="楷体" panose="02010609060101010101" pitchFamily="49" charset="-122"/>
                <a:ea typeface="楷体" panose="02010609060101010101" pitchFamily="49" charset="-122"/>
              </a:rPr>
              <a:t>用增加多余项的办法修改逻辑设计，可以</a:t>
            </a:r>
            <a:r>
              <a:rPr lang="zh-CN" altLang="en-US" sz="2400" dirty="0" smtClean="0">
                <a:latin typeface="楷体" panose="02010609060101010101" pitchFamily="49" charset="-122"/>
                <a:ea typeface="楷体" panose="02010609060101010101" pitchFamily="49" charset="-122"/>
              </a:rPr>
              <a:t>消除</a:t>
            </a:r>
            <a:r>
              <a:rPr lang="zh-CN" altLang="en-US" sz="2400" dirty="0">
                <a:latin typeface="楷体" panose="02010609060101010101" pitchFamily="49" charset="-122"/>
                <a:ea typeface="楷体" panose="02010609060101010101" pitchFamily="49" charset="-122"/>
              </a:rPr>
              <a:t>一些竞争冒险现象。但是这种方法的</a:t>
            </a:r>
            <a:r>
              <a:rPr lang="zh-CN" altLang="en-US" sz="2400" dirty="0" smtClean="0">
                <a:latin typeface="楷体" panose="02010609060101010101" pitchFamily="49" charset="-122"/>
                <a:ea typeface="楷体" panose="02010609060101010101" pitchFamily="49" charset="-122"/>
              </a:rPr>
              <a:t>适用范围是</a:t>
            </a:r>
            <a:r>
              <a:rPr lang="zh-CN" altLang="en-US" sz="2400" dirty="0">
                <a:latin typeface="楷体" panose="02010609060101010101" pitchFamily="49" charset="-122"/>
                <a:ea typeface="楷体" panose="02010609060101010101" pitchFamily="49" charset="-122"/>
              </a:rPr>
              <a:t>有限的</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lvl="2"/>
            <a:r>
              <a:rPr lang="zh-CN" altLang="en-US" sz="2400" dirty="0" smtClean="0">
                <a:latin typeface="楷体" panose="02010609060101010101" pitchFamily="49" charset="-122"/>
                <a:ea typeface="楷体" panose="02010609060101010101" pitchFamily="49" charset="-122"/>
              </a:rPr>
              <a:t>不过</a:t>
            </a:r>
            <a:r>
              <a:rPr lang="zh-CN" altLang="en-US" sz="2400" dirty="0">
                <a:latin typeface="楷体" panose="02010609060101010101" pitchFamily="49" charset="-122"/>
                <a:ea typeface="楷体" panose="02010609060101010101" pitchFamily="49" charset="-122"/>
              </a:rPr>
              <a:t>，只要通过逻辑设计，使得在信号转换时，电路中各个门的输入端只有一个变量改变状态，则输出就不会出现过渡干扰</a:t>
            </a:r>
            <a:r>
              <a:rPr lang="zh-CN" altLang="en-US" sz="2400" dirty="0" smtClean="0">
                <a:latin typeface="楷体" panose="02010609060101010101" pitchFamily="49" charset="-122"/>
                <a:ea typeface="楷体" panose="02010609060101010101" pitchFamily="49" charset="-122"/>
              </a:rPr>
              <a:t>脉冲</a:t>
            </a:r>
            <a:r>
              <a:rPr lang="zh-CN" altLang="en-US" sz="2400" dirty="0">
                <a:latin typeface="楷体" panose="02010609060101010101" pitchFamily="49" charset="-122"/>
                <a:ea typeface="楷体" panose="02010609060101010101" pitchFamily="49" charset="-122"/>
              </a:rPr>
              <a:t>，从而消除了竞争冒险现象</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lvl="2"/>
            <a:r>
              <a:rPr lang="zh-CN" altLang="en-US" sz="2400" dirty="0">
                <a:latin typeface="楷体" panose="02010609060101010101" pitchFamily="49" charset="-122"/>
                <a:ea typeface="楷体" panose="02010609060101010101" pitchFamily="49" charset="-122"/>
              </a:rPr>
              <a:t>竞争冒险并非都是有害的，第</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章中人们利用竞争冒险原理构成了边沿工作的触发器。</a:t>
            </a:r>
            <a:endParaRPr lang="en-US" altLang="zh-CN" sz="2400" dirty="0" smtClean="0">
              <a:latin typeface="楷体" panose="02010609060101010101" pitchFamily="49" charset="-122"/>
              <a:ea typeface="楷体" panose="02010609060101010101" pitchFamily="49" charset="-122"/>
            </a:endParaRPr>
          </a:p>
          <a:p>
            <a:pPr lvl="1"/>
            <a:endParaRPr lang="en-US" altLang="zh-CN"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5030418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1209964"/>
          </a:xfrm>
        </p:spPr>
        <p:txBody>
          <a:bodyPr/>
          <a:lstStyle/>
          <a:p>
            <a:r>
              <a:rPr lang="en-US" altLang="zh-CN" dirty="0">
                <a:latin typeface="楷体" panose="02010609060101010101" pitchFamily="49" charset="-122"/>
                <a:ea typeface="楷体" panose="02010609060101010101" pitchFamily="49" charset="-122"/>
              </a:rPr>
              <a:t>2.2 </a:t>
            </a:r>
            <a:r>
              <a:rPr lang="zh-CN" altLang="en-US" dirty="0">
                <a:latin typeface="楷体" panose="02010609060101010101" pitchFamily="49" charset="-122"/>
                <a:ea typeface="楷体" panose="02010609060101010101" pitchFamily="49" charset="-122"/>
              </a:rPr>
              <a:t>组合逻辑设计</a:t>
            </a:r>
          </a:p>
        </p:txBody>
      </p:sp>
      <p:sp>
        <p:nvSpPr>
          <p:cNvPr id="3" name="内容占位符 2"/>
          <p:cNvSpPr>
            <a:spLocks noGrp="1"/>
          </p:cNvSpPr>
          <p:nvPr>
            <p:ph idx="1"/>
          </p:nvPr>
        </p:nvSpPr>
        <p:spPr>
          <a:xfrm>
            <a:off x="628650" y="1108364"/>
            <a:ext cx="7757968" cy="5749636"/>
          </a:xfrm>
        </p:spPr>
        <p:txBody>
          <a:bodyPr>
            <a:noAutofit/>
          </a:bodyPr>
          <a:lstStyle/>
          <a:p>
            <a:pPr>
              <a:lnSpc>
                <a:spcPts val="3500"/>
              </a:lnSpc>
            </a:pPr>
            <a:r>
              <a:rPr lang="zh-CN" altLang="en-US" dirty="0">
                <a:latin typeface="楷体" panose="02010609060101010101" pitchFamily="49" charset="-122"/>
                <a:ea typeface="楷体" panose="02010609060101010101" pitchFamily="49" charset="-122"/>
              </a:rPr>
              <a:t>组合逻辑设计</a:t>
            </a:r>
            <a:r>
              <a:rPr lang="zh-CN" altLang="en-US" dirty="0" smtClean="0">
                <a:latin typeface="楷体" panose="02010609060101010101" pitchFamily="49" charset="-122"/>
                <a:ea typeface="楷体" panose="02010609060101010101" pitchFamily="49" charset="-122"/>
              </a:rPr>
              <a:t>步骤</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所谓</a:t>
            </a:r>
            <a:r>
              <a:rPr lang="zh-CN" altLang="en-US" dirty="0">
                <a:solidFill>
                  <a:schemeClr val="accent1"/>
                </a:solidFill>
                <a:latin typeface="楷体" panose="02010609060101010101" pitchFamily="49" charset="-122"/>
                <a:ea typeface="楷体" panose="02010609060101010101" pitchFamily="49" charset="-122"/>
              </a:rPr>
              <a:t>组合逻辑设计</a:t>
            </a:r>
            <a:r>
              <a:rPr lang="zh-CN" altLang="en-US" dirty="0">
                <a:latin typeface="楷体" panose="02010609060101010101" pitchFamily="49" charset="-122"/>
                <a:ea typeface="楷体" panose="02010609060101010101" pitchFamily="49" charset="-122"/>
              </a:rPr>
              <a:t>，是指组合逻辑电路的设计，它是根据课题要求确定电路的逻辑</a:t>
            </a:r>
            <a:r>
              <a:rPr lang="zh-CN" altLang="en-US" dirty="0" smtClean="0">
                <a:latin typeface="楷体" panose="02010609060101010101" pitchFamily="49" charset="-122"/>
                <a:ea typeface="楷体" panose="02010609060101010101" pitchFamily="49" charset="-122"/>
              </a:rPr>
              <a:t>功能</a:t>
            </a:r>
            <a:r>
              <a:rPr lang="zh-CN" altLang="en-US" dirty="0">
                <a:latin typeface="楷体" panose="02010609060101010101" pitchFamily="49" charset="-122"/>
                <a:ea typeface="楷体" panose="02010609060101010101" pitchFamily="49" charset="-122"/>
              </a:rPr>
              <a:t>，画出实现该功能的逻辑电路</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可以</a:t>
            </a:r>
            <a:r>
              <a:rPr lang="zh-CN" altLang="en-US" dirty="0">
                <a:latin typeface="楷体" panose="02010609060101010101" pitchFamily="49" charset="-122"/>
                <a:ea typeface="楷体" panose="02010609060101010101" pitchFamily="49" charset="-122"/>
              </a:rPr>
              <a:t>看出，这是组合逻辑分析的逆过程</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进行组合逻辑设计时，其步骤可概括为下列四步</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marL="1371600" lvl="2" indent="-457200">
              <a:lnSpc>
                <a:spcPts val="3500"/>
              </a:lnSpc>
              <a:buFont typeface="+mj-lt"/>
              <a:buAutoNum type="arabicPeriod"/>
            </a:pPr>
            <a:r>
              <a:rPr lang="zh-CN" altLang="en-US" sz="2400" b="1" dirty="0" smtClean="0">
                <a:solidFill>
                  <a:schemeClr val="accent1"/>
                </a:solidFill>
                <a:latin typeface="楷体" panose="02010609060101010101" pitchFamily="49" charset="-122"/>
                <a:ea typeface="楷体" panose="02010609060101010101" pitchFamily="49" charset="-122"/>
              </a:rPr>
              <a:t>逻辑</a:t>
            </a:r>
            <a:r>
              <a:rPr lang="zh-CN" altLang="en-US" sz="2400" b="1" dirty="0">
                <a:solidFill>
                  <a:schemeClr val="accent1"/>
                </a:solidFill>
                <a:latin typeface="楷体" panose="02010609060101010101" pitchFamily="49" charset="-122"/>
                <a:ea typeface="楷体" panose="02010609060101010101" pitchFamily="49" charset="-122"/>
              </a:rPr>
              <a:t>问题的描述</a:t>
            </a:r>
            <a:r>
              <a:rPr lang="zh-CN" altLang="en-US" sz="2400" dirty="0">
                <a:latin typeface="楷体" panose="02010609060101010101" pitchFamily="49" charset="-122"/>
                <a:ea typeface="楷体" panose="02010609060101010101" pitchFamily="49" charset="-122"/>
              </a:rPr>
              <a:t>。这一步的任务是将设计问题转化为一个逻辑问题或算法问题，</a:t>
            </a:r>
            <a:r>
              <a:rPr lang="zh-CN" altLang="en-US" sz="2400" dirty="0" smtClean="0">
                <a:latin typeface="楷体" panose="02010609060101010101" pitchFamily="49" charset="-122"/>
                <a:ea typeface="楷体" panose="02010609060101010101" pitchFamily="49" charset="-122"/>
              </a:rPr>
              <a:t>也就是</a:t>
            </a:r>
            <a:r>
              <a:rPr lang="zh-CN" altLang="en-US" sz="2400" b="1" dirty="0">
                <a:solidFill>
                  <a:schemeClr val="accent1"/>
                </a:solidFill>
                <a:latin typeface="楷体" panose="02010609060101010101" pitchFamily="49" charset="-122"/>
                <a:ea typeface="楷体" panose="02010609060101010101" pitchFamily="49" charset="-122"/>
              </a:rPr>
              <a:t>用逻辑表达式来描述设计要求</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451203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83855"/>
          </a:xfrm>
        </p:spPr>
        <p:txBody>
          <a:bodyPr/>
          <a:lstStyle/>
          <a:p>
            <a:r>
              <a:rPr lang="en-US" altLang="zh-CN" dirty="0"/>
              <a:t>2.2 </a:t>
            </a:r>
            <a:r>
              <a:rPr lang="zh-CN" altLang="en-US" dirty="0"/>
              <a:t>组合逻辑设计</a:t>
            </a:r>
          </a:p>
        </p:txBody>
      </p:sp>
      <p:sp>
        <p:nvSpPr>
          <p:cNvPr id="3" name="内容占位符 2"/>
          <p:cNvSpPr>
            <a:spLocks noGrp="1"/>
          </p:cNvSpPr>
          <p:nvPr>
            <p:ph idx="1"/>
          </p:nvPr>
        </p:nvSpPr>
        <p:spPr>
          <a:xfrm>
            <a:off x="766618" y="1099128"/>
            <a:ext cx="7527637" cy="5749636"/>
          </a:xfrm>
        </p:spPr>
        <p:txBody>
          <a:bodyPr>
            <a:noAutofit/>
          </a:bodyPr>
          <a:lstStyle/>
          <a:p>
            <a:pPr>
              <a:lnSpc>
                <a:spcPts val="3500"/>
              </a:lnSpc>
            </a:pPr>
            <a:r>
              <a:rPr lang="zh-CN" altLang="en-US" sz="2400" dirty="0">
                <a:latin typeface="楷体" panose="02010609060101010101" pitchFamily="49" charset="-122"/>
                <a:ea typeface="楷体" panose="02010609060101010101" pitchFamily="49" charset="-122"/>
              </a:rPr>
              <a:t>组合逻辑设计</a:t>
            </a:r>
            <a:r>
              <a:rPr lang="zh-CN" altLang="en-US" sz="2400" dirty="0" smtClean="0">
                <a:latin typeface="楷体" panose="02010609060101010101" pitchFamily="49" charset="-122"/>
                <a:ea typeface="楷体" panose="02010609060101010101" pitchFamily="49" charset="-122"/>
              </a:rPr>
              <a:t>步骤</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进行组合逻辑设计时，其步骤可概括为下列四步</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marL="1371600" lvl="2" indent="-457200">
              <a:lnSpc>
                <a:spcPts val="3500"/>
              </a:lnSpc>
              <a:buFont typeface="+mj-lt"/>
              <a:buAutoNum type="arabicPeriod" startAt="2"/>
            </a:pPr>
            <a:r>
              <a:rPr lang="zh-CN" altLang="en-US" sz="2400" b="1" dirty="0" smtClean="0">
                <a:solidFill>
                  <a:schemeClr val="accent1"/>
                </a:solidFill>
                <a:latin typeface="楷体" panose="02010609060101010101" pitchFamily="49" charset="-122"/>
                <a:ea typeface="楷体" panose="02010609060101010101" pitchFamily="49" charset="-122"/>
              </a:rPr>
              <a:t>逻辑函数</a:t>
            </a:r>
            <a:r>
              <a:rPr lang="zh-CN" altLang="en-US" sz="2400" b="1" dirty="0">
                <a:solidFill>
                  <a:schemeClr val="accent1"/>
                </a:solidFill>
                <a:latin typeface="楷体" panose="02010609060101010101" pitchFamily="49" charset="-122"/>
                <a:ea typeface="楷体" panose="02010609060101010101" pitchFamily="49" charset="-122"/>
              </a:rPr>
              <a:t>的简化</a:t>
            </a:r>
            <a:r>
              <a:rPr lang="zh-CN" altLang="en-US" sz="2400" dirty="0">
                <a:latin typeface="楷体" panose="02010609060101010101" pitchFamily="49" charset="-122"/>
                <a:ea typeface="楷体" panose="02010609060101010101" pitchFamily="49" charset="-122"/>
              </a:rPr>
              <a:t>。一般说，由第一步所得到的表达式不是函数的最简式。为使所</a:t>
            </a:r>
            <a:r>
              <a:rPr lang="zh-CN" altLang="en-US" sz="2400" dirty="0" smtClean="0">
                <a:latin typeface="楷体" panose="02010609060101010101" pitchFamily="49" charset="-122"/>
                <a:ea typeface="楷体" panose="02010609060101010101" pitchFamily="49" charset="-122"/>
              </a:rPr>
              <a:t>设计</a:t>
            </a:r>
            <a:r>
              <a:rPr lang="zh-CN" altLang="en-US" sz="2400" dirty="0">
                <a:latin typeface="楷体" panose="02010609060101010101" pitchFamily="49" charset="-122"/>
                <a:ea typeface="楷体" panose="02010609060101010101" pitchFamily="49" charset="-122"/>
              </a:rPr>
              <a:t>的电路最简单，需要用第一章所介绍的逻辑函数化简方法，</a:t>
            </a:r>
            <a:r>
              <a:rPr lang="zh-CN" altLang="en-US" sz="2400" b="1" dirty="0">
                <a:solidFill>
                  <a:schemeClr val="accent1"/>
                </a:solidFill>
                <a:latin typeface="楷体" panose="02010609060101010101" pitchFamily="49" charset="-122"/>
                <a:ea typeface="楷体" panose="02010609060101010101" pitchFamily="49" charset="-122"/>
              </a:rPr>
              <a:t>将第一步所得之函数化为</a:t>
            </a:r>
            <a:r>
              <a:rPr lang="zh-CN" altLang="en-US" sz="2400" b="1" dirty="0" smtClean="0">
                <a:solidFill>
                  <a:schemeClr val="accent1"/>
                </a:solidFill>
                <a:latin typeface="楷体" panose="02010609060101010101" pitchFamily="49" charset="-122"/>
                <a:ea typeface="楷体" panose="02010609060101010101" pitchFamily="49" charset="-122"/>
              </a:rPr>
              <a:t>最简</a:t>
            </a:r>
            <a:r>
              <a:rPr lang="zh-CN" altLang="en-US" sz="2400" dirty="0">
                <a:latin typeface="楷体" panose="02010609060101010101" pitchFamily="49" charset="-122"/>
                <a:ea typeface="楷体" panose="02010609060101010101" pitchFamily="49" charset="-122"/>
              </a:rPr>
              <a:t>，以求得描述设计问题的</a:t>
            </a:r>
            <a:r>
              <a:rPr lang="zh-CN" altLang="en-US" sz="2400" b="1" dirty="0">
                <a:solidFill>
                  <a:schemeClr val="accent1"/>
                </a:solidFill>
                <a:latin typeface="楷体" panose="02010609060101010101" pitchFamily="49" charset="-122"/>
                <a:ea typeface="楷体" panose="02010609060101010101" pitchFamily="49" charset="-122"/>
              </a:rPr>
              <a:t>最简与</a:t>
            </a:r>
            <a:r>
              <a:rPr lang="en-US" altLang="zh-CN" sz="2400" b="1" dirty="0">
                <a:solidFill>
                  <a:schemeClr val="accent1"/>
                </a:solidFill>
                <a:latin typeface="楷体" panose="02010609060101010101" pitchFamily="49" charset="-122"/>
                <a:ea typeface="楷体" panose="02010609060101010101" pitchFamily="49" charset="-122"/>
              </a:rPr>
              <a:t>-</a:t>
            </a:r>
            <a:r>
              <a:rPr lang="zh-CN" altLang="en-US" sz="2400" b="1" dirty="0">
                <a:solidFill>
                  <a:schemeClr val="accent1"/>
                </a:solidFill>
                <a:latin typeface="楷体" panose="02010609060101010101" pitchFamily="49" charset="-122"/>
                <a:ea typeface="楷体" panose="02010609060101010101" pitchFamily="49" charset="-122"/>
              </a:rPr>
              <a:t>或表达式</a:t>
            </a:r>
            <a:r>
              <a:rPr lang="zh-CN" altLang="en-US" sz="2400" dirty="0">
                <a:latin typeface="楷体" panose="02010609060101010101" pitchFamily="49" charset="-122"/>
                <a:ea typeface="楷体" panose="02010609060101010101" pitchFamily="49" charset="-122"/>
              </a:rPr>
              <a:t>。</a:t>
            </a:r>
          </a:p>
          <a:p>
            <a:pPr marL="1371600" lvl="2" indent="-457200">
              <a:lnSpc>
                <a:spcPts val="3500"/>
              </a:lnSpc>
              <a:buFont typeface="+mj-lt"/>
              <a:buAutoNum type="arabicPeriod" startAt="2"/>
            </a:pPr>
            <a:r>
              <a:rPr lang="zh-CN" altLang="en-US" sz="2400" b="1" dirty="0" smtClean="0">
                <a:solidFill>
                  <a:schemeClr val="accent1"/>
                </a:solidFill>
                <a:latin typeface="楷体" panose="02010609060101010101" pitchFamily="49" charset="-122"/>
                <a:ea typeface="楷体" panose="02010609060101010101" pitchFamily="49" charset="-122"/>
              </a:rPr>
              <a:t>逻辑函数</a:t>
            </a:r>
            <a:r>
              <a:rPr lang="zh-CN" altLang="en-US" sz="2400" b="1" dirty="0">
                <a:solidFill>
                  <a:schemeClr val="accent1"/>
                </a:solidFill>
                <a:latin typeface="楷体" panose="02010609060101010101" pitchFamily="49" charset="-122"/>
                <a:ea typeface="楷体" panose="02010609060101010101" pitchFamily="49" charset="-122"/>
              </a:rPr>
              <a:t>的变换</a:t>
            </a:r>
            <a:r>
              <a:rPr lang="zh-CN" altLang="en-US" sz="2400" dirty="0">
                <a:latin typeface="楷体" panose="02010609060101010101" pitchFamily="49" charset="-122"/>
                <a:ea typeface="楷体" panose="02010609060101010101" pitchFamily="49" charset="-122"/>
              </a:rPr>
              <a:t>。这一步的任务是根据给定的门电路类型，将第二步所得之最简与</a:t>
            </a:r>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或</a:t>
            </a:r>
            <a:r>
              <a:rPr lang="zh-CN" altLang="en-US" sz="2400" dirty="0">
                <a:latin typeface="楷体" panose="02010609060101010101" pitchFamily="49" charset="-122"/>
                <a:ea typeface="楷体" panose="02010609060101010101" pitchFamily="49" charset="-122"/>
              </a:rPr>
              <a:t>表达式</a:t>
            </a:r>
            <a:r>
              <a:rPr lang="zh-CN" altLang="en-US" sz="2400" b="1" dirty="0">
                <a:solidFill>
                  <a:schemeClr val="accent1"/>
                </a:solidFill>
                <a:latin typeface="楷体" panose="02010609060101010101" pitchFamily="49" charset="-122"/>
                <a:ea typeface="楷体" panose="02010609060101010101" pitchFamily="49" charset="-122"/>
              </a:rPr>
              <a:t>变换为器件所需形式</a:t>
            </a:r>
            <a:r>
              <a:rPr lang="zh-CN" altLang="en-US" sz="2400" dirty="0">
                <a:latin typeface="楷体" panose="02010609060101010101" pitchFamily="49" charset="-122"/>
                <a:ea typeface="楷体" panose="02010609060101010101" pitchFamily="49" charset="-122"/>
              </a:rPr>
              <a:t>，</a:t>
            </a:r>
            <a:r>
              <a:rPr lang="zh-CN" altLang="en-US" sz="2400" b="1" dirty="0">
                <a:solidFill>
                  <a:schemeClr val="accent1"/>
                </a:solidFill>
                <a:latin typeface="楷体" panose="02010609060101010101" pitchFamily="49" charset="-122"/>
                <a:ea typeface="楷体" panose="02010609060101010101" pitchFamily="49" charset="-122"/>
              </a:rPr>
              <a:t>以便能按此形式直接画出逻辑图</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0273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83855"/>
          </a:xfrm>
        </p:spPr>
        <p:txBody>
          <a:bodyPr/>
          <a:lstStyle/>
          <a:p>
            <a:r>
              <a:rPr lang="en-US" altLang="zh-CN" dirty="0"/>
              <a:t>2.2 </a:t>
            </a:r>
            <a:r>
              <a:rPr lang="zh-CN" altLang="en-US" dirty="0"/>
              <a:t>组合逻辑设计</a:t>
            </a:r>
          </a:p>
        </p:txBody>
      </p:sp>
      <p:sp>
        <p:nvSpPr>
          <p:cNvPr id="3" name="内容占位符 2"/>
          <p:cNvSpPr>
            <a:spLocks noGrp="1"/>
          </p:cNvSpPr>
          <p:nvPr>
            <p:ph idx="1"/>
          </p:nvPr>
        </p:nvSpPr>
        <p:spPr>
          <a:xfrm>
            <a:off x="858983" y="1099128"/>
            <a:ext cx="7379854" cy="4488872"/>
          </a:xfrm>
        </p:spPr>
        <p:txBody>
          <a:bodyPr>
            <a:noAutofit/>
          </a:bodyPr>
          <a:lstStyle/>
          <a:p>
            <a:pPr>
              <a:lnSpc>
                <a:spcPts val="3500"/>
              </a:lnSpc>
            </a:pPr>
            <a:r>
              <a:rPr lang="zh-CN" altLang="en-US" sz="2400" dirty="0">
                <a:latin typeface="楷体" panose="02010609060101010101" pitchFamily="49" charset="-122"/>
                <a:ea typeface="楷体" panose="02010609060101010101" pitchFamily="49" charset="-122"/>
              </a:rPr>
              <a:t>组合逻辑设计</a:t>
            </a:r>
            <a:r>
              <a:rPr lang="zh-CN" altLang="en-US" sz="2400" dirty="0" smtClean="0">
                <a:latin typeface="楷体" panose="02010609060101010101" pitchFamily="49" charset="-122"/>
                <a:ea typeface="楷体" panose="02010609060101010101" pitchFamily="49" charset="-122"/>
              </a:rPr>
              <a:t>步骤</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进行组合逻辑设计时，其步骤可概括为下列四步</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marL="1371600" lvl="2" indent="-457200">
              <a:lnSpc>
                <a:spcPts val="3500"/>
              </a:lnSpc>
              <a:buFont typeface="+mj-lt"/>
              <a:buAutoNum type="arabicPeriod" startAt="4"/>
            </a:pPr>
            <a:r>
              <a:rPr lang="zh-CN" altLang="en-US" sz="2400" b="1" dirty="0" smtClean="0">
                <a:solidFill>
                  <a:schemeClr val="accent1"/>
                </a:solidFill>
                <a:latin typeface="楷体" panose="02010609060101010101" pitchFamily="49" charset="-122"/>
                <a:ea typeface="楷体" panose="02010609060101010101" pitchFamily="49" charset="-122"/>
              </a:rPr>
              <a:t>画</a:t>
            </a:r>
            <a:r>
              <a:rPr lang="zh-CN" altLang="en-US" sz="2400" b="1" dirty="0">
                <a:solidFill>
                  <a:schemeClr val="accent1"/>
                </a:solidFill>
                <a:latin typeface="楷体" panose="02010609060101010101" pitchFamily="49" charset="-122"/>
                <a:ea typeface="楷体" panose="02010609060101010101" pitchFamily="49" charset="-122"/>
              </a:rPr>
              <a:t>逻辑图</a:t>
            </a:r>
            <a:r>
              <a:rPr lang="zh-CN" altLang="en-US" sz="2400" dirty="0">
                <a:latin typeface="楷体" panose="02010609060101010101" pitchFamily="49" charset="-122"/>
                <a:ea typeface="楷体" panose="02010609060101010101" pitchFamily="49" charset="-122"/>
              </a:rPr>
              <a:t>，并</a:t>
            </a:r>
            <a:r>
              <a:rPr lang="zh-CN" altLang="en-US" sz="2400" b="1" dirty="0">
                <a:solidFill>
                  <a:schemeClr val="accent1"/>
                </a:solidFill>
                <a:latin typeface="楷体" panose="02010609060101010101" pitchFamily="49" charset="-122"/>
                <a:ea typeface="楷体" panose="02010609060101010101" pitchFamily="49" charset="-122"/>
              </a:rPr>
              <a:t>考虑实际工程问题</a:t>
            </a:r>
            <a:r>
              <a:rPr lang="zh-CN" altLang="en-US" sz="2400" dirty="0">
                <a:latin typeface="楷体" panose="02010609060101010101" pitchFamily="49" charset="-122"/>
                <a:ea typeface="楷体" panose="02010609060101010101" pitchFamily="49" charset="-122"/>
              </a:rPr>
              <a:t>。包括门电路的</a:t>
            </a:r>
            <a:r>
              <a:rPr lang="zh-CN" altLang="en-US" sz="2400" b="1" dirty="0">
                <a:solidFill>
                  <a:schemeClr val="accent1"/>
                </a:solidFill>
                <a:latin typeface="楷体" panose="02010609060101010101" pitchFamily="49" charset="-122"/>
                <a:ea typeface="楷体" panose="02010609060101010101" pitchFamily="49" charset="-122"/>
              </a:rPr>
              <a:t>扇出系数</a:t>
            </a:r>
            <a:r>
              <a:rPr lang="zh-CN" altLang="en-US" sz="2400" dirty="0">
                <a:latin typeface="楷体" panose="02010609060101010101" pitchFamily="49" charset="-122"/>
                <a:ea typeface="楷体" panose="02010609060101010101" pitchFamily="49" charset="-122"/>
              </a:rPr>
              <a:t>是否满足集成电路的</a:t>
            </a:r>
            <a:r>
              <a:rPr lang="zh-CN" altLang="en-US" sz="2400" dirty="0" smtClean="0">
                <a:latin typeface="楷体" panose="02010609060101010101" pitchFamily="49" charset="-122"/>
                <a:ea typeface="楷体" panose="02010609060101010101" pitchFamily="49" charset="-122"/>
              </a:rPr>
              <a:t>技术指标</a:t>
            </a:r>
            <a:r>
              <a:rPr lang="zh-CN" altLang="en-US" sz="2400" dirty="0">
                <a:latin typeface="楷体" panose="02010609060101010101" pitchFamily="49" charset="-122"/>
                <a:ea typeface="楷体" panose="02010609060101010101" pitchFamily="49" charset="-122"/>
              </a:rPr>
              <a:t>，整个电路的</a:t>
            </a:r>
            <a:r>
              <a:rPr lang="zh-CN" altLang="en-US" sz="2400" b="1" dirty="0">
                <a:solidFill>
                  <a:schemeClr val="accent1"/>
                </a:solidFill>
                <a:latin typeface="楷体" panose="02010609060101010101" pitchFamily="49" charset="-122"/>
                <a:ea typeface="楷体" panose="02010609060101010101" pitchFamily="49" charset="-122"/>
              </a:rPr>
              <a:t>传输延迟</a:t>
            </a:r>
            <a:r>
              <a:rPr lang="zh-CN" altLang="en-US" sz="2400" dirty="0">
                <a:latin typeface="楷体" panose="02010609060101010101" pitchFamily="49" charset="-122"/>
                <a:ea typeface="楷体" panose="02010609060101010101" pitchFamily="49" charset="-122"/>
              </a:rPr>
              <a:t>是否满足设计要求，所设计的电路中</a:t>
            </a:r>
            <a:r>
              <a:rPr lang="zh-CN" altLang="en-US" sz="2400" b="1" dirty="0">
                <a:solidFill>
                  <a:schemeClr val="accent1"/>
                </a:solidFill>
                <a:latin typeface="楷体" panose="02010609060101010101" pitchFamily="49" charset="-122"/>
                <a:ea typeface="楷体" panose="02010609060101010101" pitchFamily="49" charset="-122"/>
              </a:rPr>
              <a:t>是否存在竞争冒险现象</a:t>
            </a:r>
            <a:r>
              <a:rPr lang="zh-CN" altLang="en-US" sz="2400" dirty="0">
                <a:latin typeface="楷体" panose="02010609060101010101" pitchFamily="49" charset="-122"/>
                <a:ea typeface="楷体" panose="02010609060101010101" pitchFamily="49" charset="-122"/>
              </a:rPr>
              <a:t>等</a:t>
            </a:r>
            <a:r>
              <a:rPr lang="zh-CN" altLang="en-US" sz="2400" dirty="0" smtClean="0">
                <a:latin typeface="楷体" panose="02010609060101010101" pitchFamily="49" charset="-122"/>
                <a:ea typeface="楷体" panose="02010609060101010101" pitchFamily="49" charset="-122"/>
              </a:rPr>
              <a:t>，并</a:t>
            </a:r>
            <a:r>
              <a:rPr lang="zh-CN" altLang="en-US" sz="2400" dirty="0">
                <a:latin typeface="楷体" panose="02010609060101010101" pitchFamily="49" charset="-122"/>
                <a:ea typeface="楷体" panose="02010609060101010101" pitchFamily="49" charset="-122"/>
              </a:rPr>
              <a:t>最后</a:t>
            </a:r>
            <a:r>
              <a:rPr lang="zh-CN" altLang="en-US" sz="2400" b="1" dirty="0">
                <a:solidFill>
                  <a:schemeClr val="accent1"/>
                </a:solidFill>
                <a:latin typeface="楷体" panose="02010609060101010101" pitchFamily="49" charset="-122"/>
                <a:ea typeface="楷体" panose="02010609060101010101" pitchFamily="49" charset="-122"/>
              </a:rPr>
              <a:t>选定合适的集成电路器件</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632248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1163781"/>
          </a:xfrm>
        </p:spPr>
        <p:txBody>
          <a:bodyPr/>
          <a:lstStyle/>
          <a:p>
            <a:r>
              <a:rPr lang="en-US" altLang="zh-CN" dirty="0">
                <a:latin typeface="楷体" panose="02010609060101010101" pitchFamily="49" charset="-122"/>
                <a:ea typeface="楷体" panose="02010609060101010101" pitchFamily="49" charset="-122"/>
              </a:rPr>
              <a:t>2.2 </a:t>
            </a:r>
            <a:r>
              <a:rPr lang="zh-CN" altLang="en-US" dirty="0">
                <a:latin typeface="楷体" panose="02010609060101010101" pitchFamily="49" charset="-122"/>
                <a:ea typeface="楷体" panose="02010609060101010101" pitchFamily="49" charset="-122"/>
              </a:rPr>
              <a:t>组合逻辑设计</a:t>
            </a:r>
          </a:p>
        </p:txBody>
      </p:sp>
      <p:sp>
        <p:nvSpPr>
          <p:cNvPr id="3" name="内容占位符 2"/>
          <p:cNvSpPr>
            <a:spLocks noGrp="1"/>
          </p:cNvSpPr>
          <p:nvPr>
            <p:ph idx="1"/>
          </p:nvPr>
        </p:nvSpPr>
        <p:spPr>
          <a:xfrm>
            <a:off x="628650" y="1293090"/>
            <a:ext cx="7886700" cy="5403273"/>
          </a:xfrm>
        </p:spPr>
        <p:txBody>
          <a:bodyPr>
            <a:normAutofit/>
          </a:bodyPr>
          <a:lstStyle/>
          <a:p>
            <a:pPr>
              <a:lnSpc>
                <a:spcPts val="3500"/>
              </a:lnSpc>
            </a:pPr>
            <a:r>
              <a:rPr lang="zh-CN" altLang="en-US" sz="2400" dirty="0" smtClean="0">
                <a:latin typeface="楷体" panose="02010609060101010101" pitchFamily="49" charset="-122"/>
                <a:ea typeface="楷体" panose="02010609060101010101" pitchFamily="49" charset="-122"/>
              </a:rPr>
              <a:t>逻辑</a:t>
            </a:r>
            <a:r>
              <a:rPr lang="zh-CN" altLang="en-US" sz="2400" dirty="0">
                <a:latin typeface="楷体" panose="02010609060101010101" pitchFamily="49" charset="-122"/>
                <a:ea typeface="楷体" panose="02010609060101010101" pitchFamily="49" charset="-122"/>
              </a:rPr>
              <a:t>问题的</a:t>
            </a:r>
            <a:r>
              <a:rPr lang="zh-CN" altLang="en-US" sz="2400" dirty="0" smtClean="0">
                <a:latin typeface="楷体" panose="02010609060101010101" pitchFamily="49" charset="-122"/>
                <a:ea typeface="楷体" panose="02010609060101010101" pitchFamily="49" charset="-122"/>
              </a:rPr>
              <a:t>描述</a:t>
            </a:r>
            <a:endParaRPr lang="en-US" altLang="zh-CN" sz="2400"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设计组合逻辑电路时，其设计要求往往以文字描述的形式给出。例如，设计一电路</a:t>
            </a:r>
            <a:r>
              <a:rPr lang="zh-CN" altLang="en-US" dirty="0" smtClean="0">
                <a:latin typeface="楷体" panose="02010609060101010101" pitchFamily="49" charset="-122"/>
                <a:ea typeface="楷体" panose="02010609060101010101" pitchFamily="49" charset="-122"/>
              </a:rPr>
              <a:t>，将</a:t>
            </a:r>
            <a:r>
              <a:rPr lang="en-US" altLang="zh-CN" dirty="0">
                <a:latin typeface="楷体" panose="02010609060101010101" pitchFamily="49" charset="-122"/>
                <a:ea typeface="楷体" panose="02010609060101010101" pitchFamily="49" charset="-122"/>
              </a:rPr>
              <a:t>8421</a:t>
            </a:r>
            <a:r>
              <a:rPr lang="zh-CN" altLang="en-US" dirty="0">
                <a:latin typeface="楷体" panose="02010609060101010101" pitchFamily="49" charset="-122"/>
                <a:ea typeface="楷体" panose="02010609060101010101" pitchFamily="49" charset="-122"/>
              </a:rPr>
              <a:t>码转换为余</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码；设计一电路，以比较两个数的大小，等等</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要设计出这些电路，</a:t>
            </a:r>
            <a:r>
              <a:rPr lang="zh-CN" altLang="en-US" b="1" dirty="0">
                <a:solidFill>
                  <a:schemeClr val="accent1"/>
                </a:solidFill>
                <a:latin typeface="楷体" panose="02010609060101010101" pitchFamily="49" charset="-122"/>
                <a:ea typeface="楷体" panose="02010609060101010101" pitchFamily="49" charset="-122"/>
              </a:rPr>
              <a:t>必须把文字描述的设计要求，抽象为一个</a:t>
            </a:r>
            <a:r>
              <a:rPr lang="zh-CN" altLang="en-US" b="1" dirty="0">
                <a:solidFill>
                  <a:srgbClr val="00B0F0"/>
                </a:solidFill>
                <a:latin typeface="楷体" panose="02010609060101010101" pitchFamily="49" charset="-122"/>
                <a:ea typeface="楷体" panose="02010609060101010101" pitchFamily="49" charset="-122"/>
              </a:rPr>
              <a:t>逻辑表达式</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zh-CN" sz="2400" b="1" dirty="0" smtClean="0">
                <a:latin typeface="楷体" panose="02010609060101010101" pitchFamily="49" charset="-122"/>
                <a:ea typeface="楷体" panose="02010609060101010101" pitchFamily="49" charset="-122"/>
              </a:rPr>
              <a:t>这一</a:t>
            </a:r>
            <a:r>
              <a:rPr lang="zh-CN" altLang="zh-CN" sz="2400" b="1" dirty="0">
                <a:latin typeface="楷体" panose="02010609060101010101" pitchFamily="49" charset="-122"/>
                <a:ea typeface="楷体" panose="02010609060101010101" pitchFamily="49" charset="-122"/>
              </a:rPr>
              <a:t>步对初学者来讲有一定难度，但这是完成组合电路设计的第一步，也是最重要的一步</a:t>
            </a:r>
            <a:r>
              <a:rPr lang="zh-CN" altLang="zh-CN"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lvl="2">
              <a:lnSpc>
                <a:spcPts val="3500"/>
              </a:lnSpc>
            </a:pPr>
            <a:r>
              <a:rPr lang="zh-CN" altLang="en-US" sz="2400" dirty="0">
                <a:latin typeface="楷体" panose="02010609060101010101" pitchFamily="49" charset="-122"/>
                <a:ea typeface="楷体" panose="02010609060101010101" pitchFamily="49" charset="-122"/>
              </a:rPr>
              <a:t>因为，这一步所得的逻辑表达式如果出错，下面的步骤即使正确，其最后结果也是错误的</a:t>
            </a:r>
            <a:r>
              <a:rPr lang="zh-CN" altLang="en-US" sz="2400" dirty="0" smtClean="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37926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2.2 </a:t>
            </a:r>
            <a:r>
              <a:rPr lang="zh-CN" altLang="en-US" dirty="0">
                <a:latin typeface="楷体" panose="02010609060101010101" pitchFamily="49" charset="-122"/>
                <a:ea typeface="楷体" panose="02010609060101010101" pitchFamily="49" charset="-122"/>
              </a:rPr>
              <a:t>组合逻辑设计</a:t>
            </a:r>
          </a:p>
        </p:txBody>
      </p:sp>
      <p:sp>
        <p:nvSpPr>
          <p:cNvPr id="3" name="内容占位符 2"/>
          <p:cNvSpPr>
            <a:spLocks noGrp="1"/>
          </p:cNvSpPr>
          <p:nvPr>
            <p:ph idx="1"/>
          </p:nvPr>
        </p:nvSpPr>
        <p:spPr>
          <a:xfrm>
            <a:off x="849745" y="1108364"/>
            <a:ext cx="7296728" cy="5551054"/>
          </a:xfrm>
        </p:spPr>
        <p:txBody>
          <a:bodyPr>
            <a:normAutofit/>
          </a:bodyPr>
          <a:lstStyle/>
          <a:p>
            <a:pPr>
              <a:lnSpc>
                <a:spcPts val="3500"/>
              </a:lnSpc>
            </a:pPr>
            <a:r>
              <a:rPr lang="zh-CN" altLang="en-US" dirty="0" smtClean="0">
                <a:latin typeface="楷体" panose="02010609060101010101" pitchFamily="49" charset="-122"/>
                <a:ea typeface="楷体" panose="02010609060101010101" pitchFamily="49" charset="-122"/>
              </a:rPr>
              <a:t>逻辑</a:t>
            </a:r>
            <a:r>
              <a:rPr lang="zh-CN" altLang="en-US" dirty="0">
                <a:latin typeface="楷体" panose="02010609060101010101" pitchFamily="49" charset="-122"/>
                <a:ea typeface="楷体" panose="02010609060101010101" pitchFamily="49" charset="-122"/>
              </a:rPr>
              <a:t>问题的</a:t>
            </a:r>
            <a:r>
              <a:rPr lang="zh-CN" altLang="en-US" dirty="0" smtClean="0">
                <a:latin typeface="楷体" panose="02010609060101010101" pitchFamily="49" charset="-122"/>
                <a:ea typeface="楷体" panose="02010609060101010101" pitchFamily="49" charset="-122"/>
              </a:rPr>
              <a:t>描述</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b="1" dirty="0" smtClean="0">
                <a:solidFill>
                  <a:schemeClr val="accent1"/>
                </a:solidFill>
                <a:latin typeface="楷体" panose="02010609060101010101" pitchFamily="49" charset="-122"/>
                <a:ea typeface="楷体" panose="02010609060101010101" pitchFamily="49" charset="-122"/>
              </a:rPr>
              <a:t>如何</a:t>
            </a:r>
            <a:r>
              <a:rPr lang="zh-CN" altLang="en-US" b="1" dirty="0">
                <a:solidFill>
                  <a:schemeClr val="accent1"/>
                </a:solidFill>
                <a:latin typeface="楷体" panose="02010609060101010101" pitchFamily="49" charset="-122"/>
                <a:ea typeface="楷体" panose="02010609060101010101" pitchFamily="49" charset="-122"/>
              </a:rPr>
              <a:t>从文字描述的设计要求抽象为一个逻辑表达式</a:t>
            </a:r>
            <a:r>
              <a:rPr lang="zh-CN" altLang="en-US" b="1" dirty="0" smtClean="0">
                <a:solidFill>
                  <a:schemeClr val="accent1"/>
                </a:solidFill>
                <a:latin typeface="楷体" panose="02010609060101010101" pitchFamily="49" charset="-122"/>
                <a:ea typeface="楷体" panose="02010609060101010101" pitchFamily="49" charset="-122"/>
              </a:rPr>
              <a:t>，至今</a:t>
            </a:r>
            <a:r>
              <a:rPr lang="zh-CN" altLang="en-US" b="1" dirty="0">
                <a:solidFill>
                  <a:schemeClr val="accent1"/>
                </a:solidFill>
                <a:latin typeface="楷体" panose="02010609060101010101" pitchFamily="49" charset="-122"/>
                <a:ea typeface="楷体" panose="02010609060101010101" pitchFamily="49" charset="-122"/>
              </a:rPr>
              <a:t>尚无系统的方法</a:t>
            </a:r>
            <a:r>
              <a:rPr lang="zh-CN" altLang="en-US" b="1" dirty="0" smtClean="0">
                <a:solidFill>
                  <a:schemeClr val="accent1"/>
                </a:solidFill>
                <a:latin typeface="楷体" panose="02010609060101010101" pitchFamily="49" charset="-122"/>
                <a:ea typeface="楷体" panose="02010609060101010101" pitchFamily="49" charset="-122"/>
              </a:rPr>
              <a:t>。</a:t>
            </a:r>
            <a:endParaRPr lang="en-US" altLang="zh-CN" b="1" dirty="0" smtClean="0">
              <a:solidFill>
                <a:schemeClr val="accent1"/>
              </a:solidFill>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目前</a:t>
            </a:r>
            <a:r>
              <a:rPr lang="zh-CN" altLang="en-US" dirty="0">
                <a:latin typeface="楷体" panose="02010609060101010101" pitchFamily="49" charset="-122"/>
                <a:ea typeface="楷体" panose="02010609060101010101" pitchFamily="49" charset="-122"/>
              </a:rPr>
              <a:t>采用的方法仍以设计者的经验为基础，通常的思路是，先由</a:t>
            </a:r>
            <a:r>
              <a:rPr lang="zh-CN" altLang="en-US" dirty="0" smtClean="0">
                <a:latin typeface="楷体" panose="02010609060101010101" pitchFamily="49" charset="-122"/>
                <a:ea typeface="楷体" panose="02010609060101010101" pitchFamily="49" charset="-122"/>
              </a:rPr>
              <a:t>文字</a:t>
            </a:r>
            <a:r>
              <a:rPr lang="zh-CN" altLang="en-US" dirty="0">
                <a:latin typeface="楷体" panose="02010609060101010101" pitchFamily="49" charset="-122"/>
                <a:ea typeface="楷体" panose="02010609060101010101" pitchFamily="49" charset="-122"/>
              </a:rPr>
              <a:t>描述的设计要求</a:t>
            </a:r>
            <a:r>
              <a:rPr lang="zh-CN" altLang="en-US" b="1" dirty="0">
                <a:solidFill>
                  <a:schemeClr val="accent1"/>
                </a:solidFill>
                <a:latin typeface="楷体" panose="02010609060101010101" pitchFamily="49" charset="-122"/>
                <a:ea typeface="楷体" panose="02010609060101010101" pitchFamily="49" charset="-122"/>
              </a:rPr>
              <a:t>建立所设计电路的输入、输出真值表</a:t>
            </a:r>
            <a:r>
              <a:rPr lang="zh-CN" altLang="en-US" dirty="0">
                <a:latin typeface="楷体" panose="02010609060101010101" pitchFamily="49" charset="-122"/>
                <a:ea typeface="楷体" panose="02010609060101010101" pitchFamily="49" charset="-122"/>
              </a:rPr>
              <a:t>，然后</a:t>
            </a:r>
            <a:r>
              <a:rPr lang="zh-CN" altLang="en-US" b="1" dirty="0">
                <a:solidFill>
                  <a:schemeClr val="accent1"/>
                </a:solidFill>
                <a:latin typeface="楷体" panose="02010609060101010101" pitchFamily="49" charset="-122"/>
                <a:ea typeface="楷体" panose="02010609060101010101" pitchFamily="49" charset="-122"/>
              </a:rPr>
              <a:t>由真值表建立逻辑表达式</a:t>
            </a:r>
            <a:r>
              <a:rPr lang="zh-CN" altLang="en-US" dirty="0" smtClean="0">
                <a:latin typeface="楷体" panose="02010609060101010101" pitchFamily="49" charset="-122"/>
                <a:ea typeface="楷体" panose="02010609060101010101" pitchFamily="49" charset="-122"/>
              </a:rPr>
              <a:t>。对于</a:t>
            </a:r>
            <a:r>
              <a:rPr lang="zh-CN" altLang="en-US" dirty="0">
                <a:latin typeface="楷体" panose="02010609060101010101" pitchFamily="49" charset="-122"/>
                <a:ea typeface="楷体" panose="02010609060101010101" pitchFamily="49" charset="-122"/>
              </a:rPr>
              <a:t>变量较多的情况，可设法建立简化真值表，</a:t>
            </a:r>
            <a:r>
              <a:rPr lang="zh-CN" altLang="en-US" dirty="0">
                <a:solidFill>
                  <a:schemeClr val="accent1"/>
                </a:solidFill>
                <a:latin typeface="楷体" panose="02010609060101010101" pitchFamily="49" charset="-122"/>
                <a:ea typeface="楷体" panose="02010609060101010101" pitchFamily="49" charset="-122"/>
              </a:rPr>
              <a:t>也可由</a:t>
            </a:r>
            <a:r>
              <a:rPr lang="zh-CN" altLang="en-US" b="1" dirty="0">
                <a:solidFill>
                  <a:srgbClr val="00B0F0"/>
                </a:solidFill>
                <a:latin typeface="楷体" panose="02010609060101010101" pitchFamily="49" charset="-122"/>
                <a:ea typeface="楷体" panose="02010609060101010101" pitchFamily="49" charset="-122"/>
              </a:rPr>
              <a:t>设计要求</a:t>
            </a:r>
            <a:r>
              <a:rPr lang="zh-CN" altLang="en-US" dirty="0">
                <a:solidFill>
                  <a:schemeClr val="accent1"/>
                </a:solidFill>
                <a:latin typeface="楷体" panose="02010609060101010101" pitchFamily="49" charset="-122"/>
                <a:ea typeface="楷体" panose="02010609060101010101" pitchFamily="49" charset="-122"/>
              </a:rPr>
              <a:t>直接</a:t>
            </a:r>
            <a:r>
              <a:rPr lang="zh-CN" altLang="en-US" dirty="0">
                <a:solidFill>
                  <a:srgbClr val="00B0F0"/>
                </a:solidFill>
                <a:latin typeface="楷体" panose="02010609060101010101" pitchFamily="49" charset="-122"/>
                <a:ea typeface="楷体" panose="02010609060101010101" pitchFamily="49" charset="-122"/>
              </a:rPr>
              <a:t>建立逻辑表达式</a:t>
            </a:r>
            <a:r>
              <a:rPr lang="zh-CN" altLang="en-US"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12228688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48145" y="144420"/>
            <a:ext cx="5957455" cy="929742"/>
          </a:xfrm>
          <a:prstGeom prst="rect">
            <a:avLst/>
          </a:prstGeom>
        </p:spPr>
        <p:txBody>
          <a:bodyPr wrap="square">
            <a:spAutoFit/>
          </a:bodyPr>
          <a:lstStyle/>
          <a:p>
            <a:pPr>
              <a:lnSpc>
                <a:spcPts val="3500"/>
              </a:lnSpc>
            </a:pPr>
            <a:r>
              <a:rPr lang="en-US" altLang="zh-CN" sz="2400" b="1" spc="-30" dirty="0">
                <a:latin typeface="楷体" panose="02010609060101010101" pitchFamily="49" charset="-122"/>
                <a:ea typeface="楷体" panose="02010609060101010101" pitchFamily="49" charset="-122"/>
                <a:cs typeface="Arial" panose="020B0604020202020204" pitchFamily="34" charset="0"/>
              </a:rPr>
              <a:t>【 </a:t>
            </a:r>
            <a:r>
              <a:rPr lang="zh-CN" altLang="en-US" sz="2400" b="1" spc="-30" dirty="0">
                <a:latin typeface="楷体" panose="02010609060101010101" pitchFamily="49" charset="-122"/>
                <a:ea typeface="楷体" panose="02010609060101010101" pitchFamily="49" charset="-122"/>
                <a:cs typeface="Arial" panose="020B0604020202020204" pitchFamily="34" charset="0"/>
              </a:rPr>
              <a:t>例 </a:t>
            </a:r>
            <a:r>
              <a:rPr lang="en-US" altLang="zh-CN" sz="2400" b="1" spc="-30" dirty="0">
                <a:latin typeface="楷体" panose="02010609060101010101" pitchFamily="49" charset="-122"/>
                <a:ea typeface="楷体" panose="02010609060101010101" pitchFamily="49" charset="-122"/>
                <a:cs typeface="Arial" panose="020B0604020202020204" pitchFamily="34" charset="0"/>
              </a:rPr>
              <a:t>5 】 </a:t>
            </a:r>
            <a:r>
              <a:rPr lang="zh-CN" altLang="en-US" sz="2400" b="1" spc="-30" dirty="0">
                <a:latin typeface="楷体" panose="02010609060101010101" pitchFamily="49" charset="-122"/>
                <a:ea typeface="楷体" panose="02010609060101010101" pitchFamily="49" charset="-122"/>
                <a:cs typeface="Arial" panose="020B0604020202020204" pitchFamily="34" charset="0"/>
              </a:rPr>
              <a:t>设计一个多数表决逻辑电路，以判别</a:t>
            </a:r>
            <a:r>
              <a:rPr lang="en-US" altLang="zh-CN" sz="2400" b="1" spc="-30" dirty="0">
                <a:latin typeface="楷体" panose="02010609060101010101" pitchFamily="49" charset="-122"/>
                <a:ea typeface="楷体" panose="02010609060101010101" pitchFamily="49" charset="-122"/>
                <a:cs typeface="Arial" panose="020B0604020202020204" pitchFamily="34" charset="0"/>
              </a:rPr>
              <a:t>A,B,C </a:t>
            </a:r>
            <a:r>
              <a:rPr lang="zh-CN" altLang="en-US" sz="2400" b="1" spc="-30" dirty="0" smtClean="0">
                <a:latin typeface="楷体" panose="02010609060101010101" pitchFamily="49" charset="-122"/>
                <a:ea typeface="楷体" panose="02010609060101010101" pitchFamily="49" charset="-122"/>
                <a:cs typeface="Arial" panose="020B0604020202020204" pitchFamily="34" charset="0"/>
              </a:rPr>
              <a:t>三</a:t>
            </a:r>
            <a:r>
              <a:rPr lang="zh-CN" altLang="en-US" sz="2400" b="1" spc="-30" dirty="0">
                <a:latin typeface="楷体" panose="02010609060101010101" pitchFamily="49" charset="-122"/>
                <a:ea typeface="楷体" panose="02010609060101010101" pitchFamily="49" charset="-122"/>
                <a:cs typeface="Arial" panose="020B0604020202020204" pitchFamily="34" charset="0"/>
              </a:rPr>
              <a:t>人中是否为多数赞同。</a:t>
            </a:r>
          </a:p>
        </p:txBody>
      </p:sp>
      <mc:AlternateContent xmlns:mc="http://schemas.openxmlformats.org/markup-compatibility/2006" xmlns:a14="http://schemas.microsoft.com/office/drawing/2010/main">
        <mc:Choice Requires="a14">
          <p:sp>
            <p:nvSpPr>
              <p:cNvPr id="4" name="矩形 3"/>
              <p:cNvSpPr/>
              <p:nvPr/>
            </p:nvSpPr>
            <p:spPr>
              <a:xfrm>
                <a:off x="748145" y="1097837"/>
                <a:ext cx="7749310" cy="2336537"/>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解：</a:t>
                </a:r>
                <a:r>
                  <a:rPr lang="zh-CN" altLang="en-US" sz="2400" b="1" dirty="0" smtClean="0">
                    <a:latin typeface="楷体" panose="02010609060101010101" pitchFamily="49" charset="-122"/>
                    <a:ea typeface="楷体" panose="02010609060101010101" pitchFamily="49" charset="-122"/>
                  </a:rPr>
                  <a:t>该</a:t>
                </a:r>
                <a:r>
                  <a:rPr lang="zh-CN" altLang="en-US" sz="2400" b="1" dirty="0">
                    <a:latin typeface="楷体" panose="02010609060101010101" pitchFamily="49" charset="-122"/>
                    <a:ea typeface="楷体" panose="02010609060101010101" pitchFamily="49" charset="-122"/>
                  </a:rPr>
                  <a:t>电路的输入是</a:t>
                </a:r>
                <a:r>
                  <a:rPr lang="en-US" altLang="zh-CN" sz="2400" b="1" dirty="0" smtClean="0">
                    <a:latin typeface="楷体" panose="02010609060101010101" pitchFamily="49" charset="-122"/>
                    <a:ea typeface="楷体" panose="02010609060101010101" pitchFamily="49" charset="-122"/>
                  </a:rPr>
                  <a:t>A,B,C</a:t>
                </a:r>
                <a:r>
                  <a:rPr lang="zh-CN" altLang="en-US" sz="2400" b="1" dirty="0" smtClean="0">
                    <a:latin typeface="楷体" panose="02010609060101010101" pitchFamily="49" charset="-122"/>
                    <a:ea typeface="楷体" panose="02010609060101010101" pitchFamily="49" charset="-122"/>
                  </a:rPr>
                  <a:t>三</a:t>
                </a:r>
                <a:r>
                  <a:rPr lang="zh-CN" altLang="en-US" sz="2400" b="1" dirty="0">
                    <a:latin typeface="楷体" panose="02010609060101010101" pitchFamily="49" charset="-122"/>
                    <a:ea typeface="楷体" panose="02010609060101010101" pitchFamily="49" charset="-122"/>
                  </a:rPr>
                  <a:t>人的“赞同”或“反对”</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输出是“多数赞同”或</a:t>
                </a:r>
                <a:r>
                  <a:rPr lang="zh-CN" altLang="en-US" sz="2400" dirty="0" smtClean="0">
                    <a:latin typeface="楷体" panose="02010609060101010101" pitchFamily="49" charset="-122"/>
                    <a:ea typeface="楷体" panose="02010609060101010101" pitchFamily="49" charset="-122"/>
                  </a:rPr>
                  <a:t>“多数反对”</a:t>
                </a:r>
                <a:r>
                  <a:rPr lang="zh-CN" altLang="en-US" sz="2400" dirty="0">
                    <a:latin typeface="楷体" panose="02010609060101010101" pitchFamily="49" charset="-122"/>
                    <a:ea typeface="楷体" panose="02010609060101010101" pitchFamily="49" charset="-122"/>
                  </a:rPr>
                  <a:t>。显然，输入和输出只有两种可能状态，故可用逻辑函数来描述。</a:t>
                </a:r>
                <a:r>
                  <a:rPr lang="zh-CN" altLang="en-US" sz="2400" dirty="0" smtClean="0">
                    <a:latin typeface="楷体" panose="02010609060101010101" pitchFamily="49" charset="-122"/>
                    <a:ea typeface="楷体" panose="02010609060101010101" pitchFamily="49" charset="-122"/>
                  </a:rPr>
                  <a:t>设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oMath>
                </a14:m>
                <a:r>
                  <a:rPr lang="en-US" altLang="zh-CN" sz="2400" i="1"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为</a:t>
                </a:r>
                <a:r>
                  <a:rPr lang="en-US" altLang="zh-CN" sz="2400" dirty="0" smtClean="0">
                    <a:latin typeface="楷体" panose="02010609060101010101" pitchFamily="49" charset="-122"/>
                    <a:ea typeface="楷体" panose="02010609060101010101" pitchFamily="49" charset="-122"/>
                  </a:rPr>
                  <a:t>A,B,C </a:t>
                </a:r>
                <a:r>
                  <a:rPr lang="zh-CN" altLang="en-US" sz="2400" dirty="0">
                    <a:latin typeface="楷体" panose="02010609060101010101" pitchFamily="49" charset="-122"/>
                    <a:ea typeface="楷体" panose="02010609060101010101" pitchFamily="49" charset="-122"/>
                  </a:rPr>
                  <a:t>的函数，可表示</a:t>
                </a:r>
                <a:r>
                  <a:rPr lang="zh-CN" altLang="en-US" sz="2400" dirty="0" smtClean="0">
                    <a:latin typeface="楷体" panose="02010609060101010101" pitchFamily="49" charset="-122"/>
                    <a:ea typeface="楷体" panose="02010609060101010101" pitchFamily="49" charset="-122"/>
                  </a:rPr>
                  <a:t>为</a:t>
                </a:r>
                <a:endParaRPr lang="en-US" altLang="zh-CN" sz="2400" dirty="0" smtClean="0">
                  <a:latin typeface="楷体" panose="02010609060101010101" pitchFamily="49" charset="-122"/>
                  <a:ea typeface="楷体" panose="02010609060101010101" pitchFamily="49" charset="-122"/>
                </a:endParaRPr>
              </a:p>
              <a:p>
                <a:pPr marL="1163638">
                  <a:lnSpc>
                    <a:spcPts val="3500"/>
                  </a:lnSpc>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𝐹</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𝑓</m:t>
                      </m:r>
                      <m:r>
                        <a:rPr lang="en-US" altLang="zh-CN" sz="2400" i="1" dirty="0">
                          <a:latin typeface="Cambria Math" panose="02040503050406030204" pitchFamily="18" charset="0"/>
                        </a:rPr>
                        <m:t>(</m:t>
                      </m:r>
                      <m:r>
                        <a:rPr lang="en-US" altLang="zh-CN" sz="2400" i="1" dirty="0">
                          <a:latin typeface="Cambria Math" panose="02040503050406030204" pitchFamily="18" charset="0"/>
                        </a:rPr>
                        <m:t>𝐴</m:t>
                      </m:r>
                      <m:r>
                        <a:rPr lang="en-US" altLang="zh-CN" sz="2400" i="1" dirty="0">
                          <a:latin typeface="Cambria Math" panose="02040503050406030204" pitchFamily="18" charset="0"/>
                        </a:rPr>
                        <m:t>,</m:t>
                      </m:r>
                      <m:r>
                        <a:rPr lang="en-US" altLang="zh-CN" sz="2400" i="1" dirty="0">
                          <a:latin typeface="Cambria Math" panose="02040503050406030204" pitchFamily="18" charset="0"/>
                        </a:rPr>
                        <m:t>𝐵</m:t>
                      </m:r>
                      <m:r>
                        <a:rPr lang="en-US" altLang="zh-CN" sz="2400" i="1" dirty="0">
                          <a:latin typeface="Cambria Math" panose="02040503050406030204" pitchFamily="18" charset="0"/>
                        </a:rPr>
                        <m:t>,</m:t>
                      </m:r>
                      <m:r>
                        <a:rPr lang="en-US" altLang="zh-CN" sz="2400" i="1" dirty="0">
                          <a:latin typeface="Cambria Math" panose="02040503050406030204" pitchFamily="18" charset="0"/>
                        </a:rPr>
                        <m:t>𝐶</m:t>
                      </m:r>
                      <m:r>
                        <a:rPr lang="en-US" altLang="zh-CN" sz="2400" i="1" dirty="0">
                          <a:latin typeface="Cambria Math" panose="02040503050406030204" pitchFamily="18" charset="0"/>
                        </a:rPr>
                        <m:t>)</m:t>
                      </m:r>
                    </m:oMath>
                  </m:oMathPara>
                </a14:m>
                <a:endParaRPr lang="en-US" altLang="zh-CN"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748145" y="1097837"/>
                <a:ext cx="7749310" cy="2336537"/>
              </a:xfrm>
              <a:prstGeom prst="rect">
                <a:avLst/>
              </a:prstGeom>
              <a:blipFill>
                <a:blip r:embed="rId2"/>
                <a:stretch>
                  <a:fillRect l="-1259" t="-1305" r="-472"/>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5649748" y="2692953"/>
            <a:ext cx="3309525" cy="3624719"/>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563418" y="3461698"/>
                <a:ext cx="5086330" cy="3234219"/>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这一关系可用图</a:t>
                </a:r>
                <a:r>
                  <a:rPr lang="en-US" altLang="zh-CN" sz="2400" dirty="0">
                    <a:latin typeface="楷体" panose="02010609060101010101" pitchFamily="49" charset="-122"/>
                    <a:ea typeface="楷体" panose="02010609060101010101" pitchFamily="49" charset="-122"/>
                  </a:rPr>
                  <a:t>2.8</a:t>
                </a:r>
                <a:r>
                  <a:rPr lang="zh-CN" altLang="en-US" sz="2400" dirty="0">
                    <a:latin typeface="楷体" panose="02010609060101010101" pitchFamily="49" charset="-122"/>
                    <a:ea typeface="楷体" panose="02010609060101010101" pitchFamily="49" charset="-122"/>
                  </a:rPr>
                  <a:t>来示意。图中</a:t>
                </a:r>
                <a:r>
                  <a:rPr lang="en-US" altLang="zh-CN" sz="2400" dirty="0" smtClean="0">
                    <a:latin typeface="楷体" panose="02010609060101010101" pitchFamily="49" charset="-122"/>
                    <a:ea typeface="楷体" panose="02010609060101010101" pitchFamily="49" charset="-122"/>
                  </a:rPr>
                  <a:t>A,B,C</a:t>
                </a:r>
                <a:r>
                  <a:rPr lang="zh-CN" altLang="en-US" sz="2400" dirty="0" smtClean="0">
                    <a:latin typeface="楷体" panose="02010609060101010101" pitchFamily="49" charset="-122"/>
                    <a:ea typeface="楷体" panose="02010609060101010101" pitchFamily="49" charset="-122"/>
                  </a:rPr>
                  <a:t>表示</a:t>
                </a:r>
                <a:r>
                  <a:rPr lang="zh-CN" altLang="en-US" sz="2400" dirty="0">
                    <a:latin typeface="楷体" panose="02010609060101010101" pitchFamily="49" charset="-122"/>
                    <a:ea typeface="楷体" panose="02010609060101010101" pitchFamily="49" charset="-122"/>
                  </a:rPr>
                  <a:t>输入，</a:t>
                </a:r>
                <a:r>
                  <a:rPr lang="zh-CN" altLang="en-US" sz="2400" b="1" dirty="0">
                    <a:solidFill>
                      <a:srgbClr val="00B0F0"/>
                    </a:solidFill>
                    <a:latin typeface="楷体" panose="02010609060101010101" pitchFamily="49" charset="-122"/>
                    <a:ea typeface="楷体" panose="02010609060101010101" pitchFamily="49" charset="-122"/>
                  </a:rPr>
                  <a:t>某人赞成时其输入为</a:t>
                </a:r>
                <a:r>
                  <a:rPr lang="en-US" altLang="zh-CN" sz="2400" b="1" dirty="0" smtClean="0">
                    <a:solidFill>
                      <a:srgbClr val="00B0F0"/>
                    </a:solidFill>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否则为</a:t>
                </a:r>
                <a:r>
                  <a:rPr lang="en-US" altLang="zh-CN" sz="2400" dirty="0" smtClean="0">
                    <a:latin typeface="楷体" panose="02010609060101010101" pitchFamily="49" charset="-122"/>
                    <a:ea typeface="楷体" panose="02010609060101010101" pitchFamily="49" charset="-122"/>
                  </a:rPr>
                  <a:t>0</a:t>
                </a:r>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oMath>
                </a14:m>
                <a:r>
                  <a:rPr lang="zh-CN" altLang="en-US" sz="2400" dirty="0" smtClean="0">
                    <a:latin typeface="楷体" panose="02010609060101010101" pitchFamily="49" charset="-122"/>
                    <a:ea typeface="楷体" panose="02010609060101010101" pitchFamily="49" charset="-122"/>
                  </a:rPr>
                  <a:t>表示结果，多数人</a:t>
                </a:r>
                <a:r>
                  <a:rPr lang="zh-CN" altLang="en-US" sz="2400" dirty="0">
                    <a:latin typeface="楷体" panose="02010609060101010101" pitchFamily="49" charset="-122"/>
                    <a:ea typeface="楷体" panose="02010609060101010101" pitchFamily="49" charset="-122"/>
                  </a:rPr>
                  <a:t>赞同时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=1</m:t>
                    </m:r>
                  </m:oMath>
                </a14:m>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多数人反对时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=0</m:t>
                    </m:r>
                  </m:oMath>
                </a14:m>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zh-CN" sz="2400" dirty="0">
                    <a:latin typeface="楷体" panose="02010609060101010101" pitchFamily="49" charset="-122"/>
                    <a:ea typeface="楷体" panose="02010609060101010101" pitchFamily="49" charset="-122"/>
                  </a:rPr>
                  <a:t>实际应用中可用灯亮与灯灭</a:t>
                </a:r>
                <a:r>
                  <a:rPr lang="zh-CN" altLang="zh-CN" sz="2400" dirty="0" smtClean="0">
                    <a:latin typeface="楷体" panose="02010609060101010101" pitchFamily="49" charset="-122"/>
                    <a:ea typeface="楷体" panose="02010609060101010101" pitchFamily="49" charset="-122"/>
                  </a:rPr>
                  <a:t>来显示</a:t>
                </a:r>
                <a:r>
                  <a:rPr lang="zh-CN" altLang="zh-CN" sz="2400" dirty="0">
                    <a:latin typeface="楷体" panose="02010609060101010101" pitchFamily="49" charset="-122"/>
                    <a:ea typeface="楷体" panose="02010609060101010101" pitchFamily="49" charset="-122"/>
                  </a:rPr>
                  <a:t>表决结果，用二进制开关来作为</a:t>
                </a:r>
                <a:r>
                  <a:rPr lang="en-US" altLang="zh-CN" sz="2400" dirty="0" smtClean="0">
                    <a:latin typeface="楷体" panose="02010609060101010101" pitchFamily="49" charset="-122"/>
                    <a:ea typeface="楷体" panose="02010609060101010101" pitchFamily="49" charset="-122"/>
                  </a:rPr>
                  <a:t>A,B,C</a:t>
                </a:r>
                <a:r>
                  <a:rPr lang="zh-CN" altLang="zh-CN" sz="2400" dirty="0" smtClean="0">
                    <a:latin typeface="楷体" panose="02010609060101010101" pitchFamily="49" charset="-122"/>
                    <a:ea typeface="楷体" panose="02010609060101010101" pitchFamily="49" charset="-122"/>
                  </a:rPr>
                  <a:t>三</a:t>
                </a:r>
                <a:r>
                  <a:rPr lang="zh-CN" altLang="zh-CN" sz="2400" dirty="0">
                    <a:latin typeface="楷体" panose="02010609060101010101" pitchFamily="49" charset="-122"/>
                    <a:ea typeface="楷体" panose="02010609060101010101" pitchFamily="49" charset="-122"/>
                  </a:rPr>
                  <a:t>人的投票输入。</a:t>
                </a:r>
                <a:endParaRPr lang="zh-CN" altLang="en-US" sz="2400" dirty="0">
                  <a:latin typeface="楷体" panose="02010609060101010101" pitchFamily="49" charset="-122"/>
                  <a:ea typeface="楷体" panose="02010609060101010101" pitchFamily="49"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563418" y="3461698"/>
                <a:ext cx="5086330" cy="3234219"/>
              </a:xfrm>
              <a:prstGeom prst="rect">
                <a:avLst/>
              </a:prstGeom>
              <a:blipFill>
                <a:blip r:embed="rId4"/>
                <a:stretch>
                  <a:fillRect l="-1796" t="-943" r="-1317" b="-15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71517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11199" y="182857"/>
            <a:ext cx="5809673" cy="929742"/>
          </a:xfrm>
          <a:prstGeom prst="rect">
            <a:avLst/>
          </a:prstGeom>
        </p:spPr>
        <p:txBody>
          <a:bodyPr wrap="square">
            <a:spAutoFit/>
          </a:bodyPr>
          <a:lstStyle/>
          <a:p>
            <a:pPr>
              <a:lnSpc>
                <a:spcPts val="3500"/>
              </a:lnSpc>
            </a:pPr>
            <a:r>
              <a:rPr lang="en-US" altLang="zh-CN" sz="2400" b="1" spc="-30" dirty="0">
                <a:latin typeface="楷体" panose="02010609060101010101" pitchFamily="49" charset="-122"/>
                <a:ea typeface="楷体" panose="02010609060101010101" pitchFamily="49" charset="-122"/>
                <a:cs typeface="Arial" panose="020B0604020202020204" pitchFamily="34" charset="0"/>
              </a:rPr>
              <a:t>【 </a:t>
            </a:r>
            <a:r>
              <a:rPr lang="zh-CN" altLang="en-US" sz="2400" b="1" spc="-30" dirty="0">
                <a:latin typeface="楷体" panose="02010609060101010101" pitchFamily="49" charset="-122"/>
                <a:ea typeface="楷体" panose="02010609060101010101" pitchFamily="49" charset="-122"/>
                <a:cs typeface="Arial" panose="020B0604020202020204" pitchFamily="34" charset="0"/>
              </a:rPr>
              <a:t>例 </a:t>
            </a:r>
            <a:r>
              <a:rPr lang="en-US" altLang="zh-CN" sz="2400" b="1" spc="-30" dirty="0">
                <a:latin typeface="楷体" panose="02010609060101010101" pitchFamily="49" charset="-122"/>
                <a:ea typeface="楷体" panose="02010609060101010101" pitchFamily="49" charset="-122"/>
                <a:cs typeface="Arial" panose="020B0604020202020204" pitchFamily="34" charset="0"/>
              </a:rPr>
              <a:t>5 】 </a:t>
            </a:r>
            <a:r>
              <a:rPr lang="zh-CN" altLang="en-US" sz="2400" b="1" spc="-30" dirty="0">
                <a:latin typeface="楷体" panose="02010609060101010101" pitchFamily="49" charset="-122"/>
                <a:ea typeface="楷体" panose="02010609060101010101" pitchFamily="49" charset="-122"/>
                <a:cs typeface="Arial" panose="020B0604020202020204" pitchFamily="34" charset="0"/>
              </a:rPr>
              <a:t>设计一个多数表决逻辑电路，以判别</a:t>
            </a:r>
            <a:r>
              <a:rPr lang="en-US" altLang="zh-CN" sz="2400" b="1" spc="-30" dirty="0">
                <a:latin typeface="楷体" panose="02010609060101010101" pitchFamily="49" charset="-122"/>
                <a:ea typeface="楷体" panose="02010609060101010101" pitchFamily="49" charset="-122"/>
                <a:cs typeface="Arial" panose="020B0604020202020204" pitchFamily="34" charset="0"/>
              </a:rPr>
              <a:t>A,B,C </a:t>
            </a:r>
            <a:r>
              <a:rPr lang="zh-CN" altLang="en-US" sz="2400" b="1" spc="-30" dirty="0" smtClean="0">
                <a:latin typeface="楷体" panose="02010609060101010101" pitchFamily="49" charset="-122"/>
                <a:ea typeface="楷体" panose="02010609060101010101" pitchFamily="49" charset="-122"/>
                <a:cs typeface="Arial" panose="020B0604020202020204" pitchFamily="34" charset="0"/>
              </a:rPr>
              <a:t>三</a:t>
            </a:r>
            <a:r>
              <a:rPr lang="zh-CN" altLang="en-US" sz="2400" b="1" spc="-30" dirty="0">
                <a:latin typeface="楷体" panose="02010609060101010101" pitchFamily="49" charset="-122"/>
                <a:ea typeface="楷体" panose="02010609060101010101" pitchFamily="49" charset="-122"/>
                <a:cs typeface="Arial" panose="020B0604020202020204" pitchFamily="34" charset="0"/>
              </a:rPr>
              <a:t>人中是否为多数赞同。</a:t>
            </a:r>
          </a:p>
        </p:txBody>
      </p:sp>
      <mc:AlternateContent xmlns:mc="http://schemas.openxmlformats.org/markup-compatibility/2006" xmlns:a14="http://schemas.microsoft.com/office/drawing/2010/main">
        <mc:Choice Requires="a14">
          <p:sp>
            <p:nvSpPr>
              <p:cNvPr id="7" name="矩形 6"/>
              <p:cNvSpPr/>
              <p:nvPr/>
            </p:nvSpPr>
            <p:spPr>
              <a:xfrm>
                <a:off x="458398" y="1406391"/>
                <a:ext cx="4188030" cy="2725105"/>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根据题意，当</a:t>
                </a:r>
                <a:r>
                  <a:rPr lang="en-US" altLang="zh-CN" sz="2400" dirty="0">
                    <a:latin typeface="楷体" panose="02010609060101010101" pitchFamily="49" charset="-122"/>
                    <a:ea typeface="楷体" panose="02010609060101010101" pitchFamily="49" charset="-122"/>
                  </a:rPr>
                  <a:t>A,B,C </a:t>
                </a:r>
                <a:r>
                  <a:rPr lang="zh-CN" altLang="en-US" sz="2400" dirty="0">
                    <a:latin typeface="楷体" panose="02010609060101010101" pitchFamily="49" charset="-122"/>
                    <a:ea typeface="楷体" panose="02010609060101010101" pitchFamily="49" charset="-122"/>
                  </a:rPr>
                  <a:t>三个输入中有两个或两个以上为</a:t>
                </a:r>
                <a:r>
                  <a:rPr lang="en-US" altLang="zh-CN" sz="2400" b="1" dirty="0">
                    <a:solidFill>
                      <a:srgbClr val="00B0F0"/>
                    </a:solidFill>
                    <a:latin typeface="楷体" panose="02010609060101010101" pitchFamily="49" charset="-122"/>
                    <a:ea typeface="楷体" panose="02010609060101010101" pitchFamily="49" charset="-122"/>
                  </a:rPr>
                  <a:t>1(</a:t>
                </a:r>
                <a:r>
                  <a:rPr lang="zh-CN" altLang="en-US" sz="2400" b="1" dirty="0">
                    <a:solidFill>
                      <a:srgbClr val="00B0F0"/>
                    </a:solidFill>
                    <a:latin typeface="楷体" panose="02010609060101010101" pitchFamily="49" charset="-122"/>
                    <a:ea typeface="楷体" panose="02010609060101010101" pitchFamily="49" charset="-122"/>
                  </a:rPr>
                  <a:t>多数赞同</a:t>
                </a:r>
                <a:r>
                  <a:rPr lang="en-US" altLang="zh-CN" sz="2400" b="1" dirty="0">
                    <a:solidFill>
                      <a:srgbClr val="00B0F0"/>
                    </a:solidFill>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时，输出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oMath>
                </a14:m>
                <a:r>
                  <a:rPr lang="zh-CN" altLang="en-US" sz="2400" dirty="0" smtClean="0">
                    <a:latin typeface="楷体" panose="02010609060101010101" pitchFamily="49" charset="-122"/>
                    <a:ea typeface="楷体" panose="02010609060101010101" pitchFamily="49" charset="-122"/>
                  </a:rPr>
                  <a:t>应</a:t>
                </a:r>
                <a:r>
                  <a:rPr lang="zh-CN" altLang="en-US" sz="2400" dirty="0">
                    <a:latin typeface="楷体" panose="02010609060101010101" pitchFamily="49" charset="-122"/>
                    <a:ea typeface="楷体" panose="02010609060101010101" pitchFamily="49" charset="-122"/>
                  </a:rPr>
                  <a:t>为</a:t>
                </a:r>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反之，</a:t>
                </a:r>
                <a:r>
                  <a:rPr lang="en-US" altLang="zh-CN" sz="2400" dirty="0">
                    <a:ea typeface="楷体" panose="02010609060101010101" pitchFamily="49" charset="-122"/>
                  </a:rPr>
                  <a:t> </a:t>
                </a:r>
                <a14:m>
                  <m:oMath xmlns:m="http://schemas.openxmlformats.org/officeDocument/2006/math">
                    <m:r>
                      <a:rPr lang="en-US" altLang="zh-CN" sz="2400" i="1" dirty="0">
                        <a:latin typeface="Cambria Math" panose="02040503050406030204" pitchFamily="18" charset="0"/>
                        <a:ea typeface="楷体" panose="02010609060101010101" pitchFamily="49" charset="-122"/>
                      </a:rPr>
                      <m:t>𝐹</m:t>
                    </m:r>
                  </m:oMath>
                </a14:m>
                <a:r>
                  <a:rPr lang="zh-CN" altLang="en-US" sz="2400" dirty="0" smtClean="0">
                    <a:latin typeface="楷体" panose="02010609060101010101" pitchFamily="49" charset="-122"/>
                    <a:ea typeface="楷体" panose="02010609060101010101" pitchFamily="49" charset="-122"/>
                  </a:rPr>
                  <a:t>应</a:t>
                </a:r>
                <a:r>
                  <a:rPr lang="zh-CN" altLang="en-US" sz="2400" dirty="0">
                    <a:latin typeface="楷体" panose="02010609060101010101" pitchFamily="49" charset="-122"/>
                    <a:ea typeface="楷体" panose="02010609060101010101" pitchFamily="49" charset="-122"/>
                  </a:rPr>
                  <a:t>为</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。由此可列出所要设计电路的真值表，如表</a:t>
                </a:r>
                <a:r>
                  <a:rPr lang="en-US" altLang="zh-CN" sz="2400" dirty="0">
                    <a:latin typeface="楷体" panose="02010609060101010101" pitchFamily="49" charset="-122"/>
                    <a:ea typeface="楷体" panose="02010609060101010101" pitchFamily="49" charset="-122"/>
                  </a:rPr>
                  <a:t>2.2</a:t>
                </a:r>
                <a:r>
                  <a:rPr lang="zh-CN" altLang="en-US" sz="2400" dirty="0">
                    <a:latin typeface="楷体" panose="02010609060101010101" pitchFamily="49" charset="-122"/>
                    <a:ea typeface="楷体" panose="02010609060101010101" pitchFamily="49" charset="-122"/>
                  </a:rPr>
                  <a:t>所示</a:t>
                </a:r>
                <a:r>
                  <a:rPr lang="zh-CN" altLang="en-US" sz="2400" dirty="0" smtClean="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458398" y="1406391"/>
                <a:ext cx="4188030" cy="2725105"/>
              </a:xfrm>
              <a:prstGeom prst="rect">
                <a:avLst/>
              </a:prstGeom>
              <a:blipFill>
                <a:blip r:embed="rId2"/>
                <a:stretch>
                  <a:fillRect l="-2183" t="-1119" r="-9607" b="-4027"/>
                </a:stretch>
              </a:blipFill>
            </p:spPr>
            <p:txBody>
              <a:bodyPr/>
              <a:lstStyle/>
              <a:p>
                <a:r>
                  <a:rPr lang="zh-CN" altLang="en-US">
                    <a:noFill/>
                  </a:rPr>
                  <a:t> </a:t>
                </a:r>
              </a:p>
            </p:txBody>
          </p:sp>
        </mc:Fallback>
      </mc:AlternateContent>
      <p:pic>
        <p:nvPicPr>
          <p:cNvPr id="2" name="图片 1"/>
          <p:cNvPicPr>
            <a:picLocks noChangeAspect="1"/>
          </p:cNvPicPr>
          <p:nvPr/>
        </p:nvPicPr>
        <p:blipFill>
          <a:blip r:embed="rId3"/>
          <a:stretch>
            <a:fillRect/>
          </a:stretch>
        </p:blipFill>
        <p:spPr>
          <a:xfrm>
            <a:off x="5166343" y="1321330"/>
            <a:ext cx="3839111" cy="3038899"/>
          </a:xfrm>
          <a:prstGeom prst="rect">
            <a:avLst/>
          </a:prstGeom>
        </p:spPr>
      </p:pic>
      <p:sp>
        <p:nvSpPr>
          <p:cNvPr id="3" name="矩形 2"/>
          <p:cNvSpPr/>
          <p:nvPr/>
        </p:nvSpPr>
        <p:spPr>
          <a:xfrm>
            <a:off x="381184" y="5555979"/>
            <a:ext cx="7476830" cy="929742"/>
          </a:xfrm>
          <a:prstGeom prst="rect">
            <a:avLst/>
          </a:prstGeom>
        </p:spPr>
        <p:txBody>
          <a:bodyPr wrap="square">
            <a:spAutoFit/>
          </a:bodyPr>
          <a:lstStyle/>
          <a:p>
            <a:pPr marL="895350" indent="-895350">
              <a:lnSpc>
                <a:spcPts val="3500"/>
              </a:lnSpc>
            </a:pPr>
            <a:r>
              <a:rPr lang="zh-CN" altLang="zh-CN" sz="2400" spc="-45" dirty="0">
                <a:solidFill>
                  <a:srgbClr val="056AC3"/>
                </a:solidFill>
                <a:latin typeface="楷体" panose="02010609060101010101" pitchFamily="49" charset="-122"/>
                <a:ea typeface="楷体" panose="02010609060101010101" pitchFamily="49" charset="-122"/>
                <a:cs typeface="Arial" panose="020B0604020202020204" pitchFamily="34" charset="0"/>
              </a:rPr>
              <a:t>结语</a:t>
            </a:r>
            <a:r>
              <a:rPr lang="en-US" altLang="zh-CN" sz="2400" spc="-45" dirty="0">
                <a:solidFill>
                  <a:srgbClr val="056AC3"/>
                </a:solidFill>
                <a:latin typeface="楷体" panose="02010609060101010101" pitchFamily="49" charset="-122"/>
                <a:ea typeface="楷体" panose="02010609060101010101" pitchFamily="49" charset="-122"/>
              </a:rPr>
              <a:t>  </a:t>
            </a:r>
            <a:r>
              <a:rPr lang="zh-CN" altLang="zh-CN" sz="2400" spc="-45" dirty="0">
                <a:latin typeface="楷体" panose="02010609060101010101" pitchFamily="49" charset="-122"/>
                <a:ea typeface="楷体" panose="02010609060101010101" pitchFamily="49" charset="-122"/>
                <a:cs typeface="Arial" panose="020B0604020202020204" pitchFamily="34" charset="0"/>
              </a:rPr>
              <a:t>本例通过真值表列出逻辑表达式，而真值表则是根据设计要求建立的。</a:t>
            </a:r>
            <a:r>
              <a:rPr lang="zh-CN" altLang="zh-CN" sz="2400" spc="25" dirty="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381184" y="4360229"/>
                <a:ext cx="8566727" cy="1356012"/>
              </a:xfrm>
              <a:prstGeom prst="rect">
                <a:avLst/>
              </a:prstGeom>
            </p:spPr>
            <p:txBody>
              <a:bodyPr wrap="square">
                <a:spAutoFit/>
              </a:bodyPr>
              <a:lstStyle/>
              <a:p>
                <a:pPr>
                  <a:spcBef>
                    <a:spcPts val="2400"/>
                  </a:spcBef>
                </a:pPr>
                <a:r>
                  <a:rPr lang="zh-CN" altLang="en-US" sz="2400" dirty="0">
                    <a:latin typeface="楷体" panose="02010609060101010101" pitchFamily="49" charset="-122"/>
                    <a:ea typeface="楷体" panose="02010609060101010101" pitchFamily="49" charset="-122"/>
                  </a:rPr>
                  <a:t>由表</a:t>
                </a:r>
                <a:r>
                  <a:rPr lang="en-US" altLang="zh-CN" sz="2400" dirty="0">
                    <a:latin typeface="楷体" panose="02010609060101010101" pitchFamily="49" charset="-122"/>
                    <a:ea typeface="楷体" panose="02010609060101010101" pitchFamily="49" charset="-122"/>
                  </a:rPr>
                  <a:t>2.2,</a:t>
                </a:r>
                <a:r>
                  <a:rPr lang="zh-CN" altLang="en-US" sz="2400" dirty="0">
                    <a:latin typeface="楷体" panose="02010609060101010101" pitchFamily="49" charset="-122"/>
                    <a:ea typeface="楷体" panose="02010609060101010101" pitchFamily="49" charset="-122"/>
                  </a:rPr>
                  <a:t>可列出</a:t>
                </a:r>
                <a14:m>
                  <m:oMath xmlns:m="http://schemas.openxmlformats.org/officeDocument/2006/math">
                    <m:r>
                      <a:rPr lang="en-US" altLang="zh-CN" sz="2400" i="1" dirty="0">
                        <a:latin typeface="Cambria Math" panose="02040503050406030204" pitchFamily="18" charset="0"/>
                        <a:ea typeface="楷体" panose="02010609060101010101" pitchFamily="49" charset="-122"/>
                      </a:rPr>
                      <m:t>𝐹</m:t>
                    </m:r>
                  </m:oMath>
                </a14:m>
                <a:r>
                  <a:rPr lang="zh-CN" altLang="en-US" sz="2400" dirty="0">
                    <a:latin typeface="楷体" panose="02010609060101010101" pitchFamily="49" charset="-122"/>
                    <a:ea typeface="楷体" panose="02010609060101010101" pitchFamily="49" charset="-122"/>
                  </a:rPr>
                  <a:t>的</a:t>
                </a:r>
                <a:r>
                  <a:rPr lang="zh-CN" altLang="en-US" sz="2400" b="1" dirty="0">
                    <a:latin typeface="楷体" panose="02010609060101010101" pitchFamily="49" charset="-122"/>
                    <a:ea typeface="楷体" panose="02010609060101010101" pitchFamily="49" charset="-122"/>
                  </a:rPr>
                  <a:t>最小项</a:t>
                </a:r>
                <a:r>
                  <a:rPr lang="zh-CN" altLang="en-US" sz="2400" dirty="0">
                    <a:latin typeface="楷体" panose="02010609060101010101" pitchFamily="49" charset="-122"/>
                    <a:ea typeface="楷体" panose="02010609060101010101" pitchFamily="49" charset="-122"/>
                  </a:rPr>
                  <a:t>表达式如下：</a:t>
                </a:r>
                <a:endParaRPr lang="en-US" altLang="zh-CN" sz="2400" dirty="0">
                  <a:latin typeface="楷体" panose="02010609060101010101" pitchFamily="49" charset="-122"/>
                  <a:ea typeface="楷体" panose="02010609060101010101" pitchFamily="49" charset="-122"/>
                </a:endParaRPr>
              </a:p>
              <a:p>
                <a:pPr marL="720725"/>
                <a14:m>
                  <m:oMathPara xmlns:m="http://schemas.openxmlformats.org/officeDocument/2006/math">
                    <m:oMathParaPr>
                      <m:jc m:val="left"/>
                    </m:oMathParaPr>
                    <m:oMath xmlns:m="http://schemas.openxmlformats.org/officeDocument/2006/math">
                      <m:r>
                        <a:rPr lang="en-US" altLang="zh-CN" sz="2400" i="1" dirty="0">
                          <a:latin typeface="Cambria Math" panose="02040503050406030204" pitchFamily="18" charset="0"/>
                        </a:rPr>
                        <m:t>𝐹</m:t>
                      </m:r>
                      <m:r>
                        <a:rPr lang="en-US" altLang="zh-CN" sz="2400" i="1" dirty="0">
                          <a:latin typeface="Cambria Math" panose="02040503050406030204" pitchFamily="18" charset="0"/>
                        </a:rPr>
                        <m:t>=</m:t>
                      </m:r>
                      <m:nary>
                        <m:naryPr>
                          <m:chr m:val="∑"/>
                          <m:subHide m:val="on"/>
                          <m:supHide m:val="on"/>
                          <m:ctrlPr>
                            <a:rPr lang="en-US" altLang="zh-CN" sz="2400" i="1">
                              <a:latin typeface="Cambria Math" panose="02040503050406030204" pitchFamily="18" charset="0"/>
                            </a:rPr>
                          </m:ctrlPr>
                        </m:naryPr>
                        <m:sub/>
                        <m:sup/>
                        <m:e>
                          <m:r>
                            <a:rPr lang="en-US" altLang="zh-CN" sz="2400" i="1">
                              <a:latin typeface="Cambria Math" panose="02040503050406030204" pitchFamily="18" charset="0"/>
                            </a:rPr>
                            <m:t>𝑚</m:t>
                          </m:r>
                        </m:e>
                      </m:nary>
                      <m:d>
                        <m:dPr>
                          <m:ctrlPr>
                            <a:rPr lang="en-US" altLang="zh-CN" sz="2400" i="1">
                              <a:latin typeface="Cambria Math" panose="02040503050406030204" pitchFamily="18" charset="0"/>
                            </a:rPr>
                          </m:ctrlPr>
                        </m:dPr>
                        <m:e>
                          <m:r>
                            <a:rPr lang="en-US" altLang="zh-CN" sz="2400" i="1">
                              <a:latin typeface="Cambria Math" panose="02040503050406030204" pitchFamily="18" charset="0"/>
                            </a:rPr>
                            <m:t>3,5,6,7</m:t>
                          </m:r>
                        </m:e>
                      </m:d>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i="1">
                              <a:latin typeface="Cambria Math" panose="02040503050406030204" pitchFamily="18" charset="0"/>
                            </a:rPr>
                            <m:t> </m:t>
                          </m:r>
                        </m:e>
                      </m:acc>
                      <m:r>
                        <a:rPr lang="en-US" altLang="zh-CN" sz="2400" i="1">
                          <a:latin typeface="Cambria Math" panose="02040503050406030204" pitchFamily="18" charset="0"/>
                        </a:rPr>
                        <m:t>𝐵𝐶</m:t>
                      </m:r>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𝐴𝐵</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r>
                            <a:rPr lang="en-US" altLang="zh-CN" sz="2400" i="1">
                              <a:latin typeface="Cambria Math" panose="02040503050406030204" pitchFamily="18" charset="0"/>
                            </a:rPr>
                            <m:t> </m:t>
                          </m:r>
                        </m:e>
                      </m:acc>
                      <m:r>
                        <a:rPr lang="en-US" altLang="zh-CN" sz="2400" i="1">
                          <a:latin typeface="Cambria Math" panose="02040503050406030204" pitchFamily="18" charset="0"/>
                        </a:rPr>
                        <m:t>+</m:t>
                      </m:r>
                      <m:r>
                        <a:rPr lang="en-US" altLang="zh-CN" sz="2400" i="1">
                          <a:latin typeface="Cambria Math" panose="02040503050406030204" pitchFamily="18" charset="0"/>
                        </a:rPr>
                        <m:t>𝐴𝐵𝐶</m:t>
                      </m:r>
                    </m:oMath>
                  </m:oMathPara>
                </a14:m>
                <a:endParaRPr lang="en-US" altLang="zh-CN"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381184" y="4360229"/>
                <a:ext cx="8566727" cy="1356012"/>
              </a:xfrm>
              <a:prstGeom prst="rect">
                <a:avLst/>
              </a:prstGeom>
              <a:blipFill>
                <a:blip r:embed="rId4"/>
                <a:stretch>
                  <a:fillRect l="-1139" t="-49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907760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矩形 8"/>
              <p:cNvSpPr/>
              <p:nvPr/>
            </p:nvSpPr>
            <p:spPr>
              <a:xfrm>
                <a:off x="382402" y="0"/>
                <a:ext cx="6332434" cy="990015"/>
              </a:xfrm>
              <a:prstGeom prst="rect">
                <a:avLst/>
              </a:prstGeom>
            </p:spPr>
            <p:txBody>
              <a:bodyPr wrap="square">
                <a:spAutoFit/>
              </a:bodyPr>
              <a:lstStyle/>
              <a:p>
                <a:pPr>
                  <a:lnSpc>
                    <a:spcPts val="3500"/>
                  </a:lnSpc>
                </a:pPr>
                <a:r>
                  <a:rPr lang="en-US" altLang="zh-CN" sz="2400" b="1" spc="-30" dirty="0">
                    <a:latin typeface="楷体" panose="02010609060101010101" pitchFamily="49" charset="-122"/>
                    <a:ea typeface="楷体" panose="02010609060101010101" pitchFamily="49" charset="-122"/>
                    <a:cs typeface="Arial" panose="020B0604020202020204" pitchFamily="34" charset="0"/>
                  </a:rPr>
                  <a:t>【</a:t>
                </a:r>
                <a:r>
                  <a:rPr lang="zh-CN" altLang="en-US" sz="2400" b="1" spc="-30" dirty="0">
                    <a:latin typeface="楷体" panose="02010609060101010101" pitchFamily="49" charset="-122"/>
                    <a:ea typeface="楷体" panose="02010609060101010101" pitchFamily="49" charset="-122"/>
                    <a:cs typeface="Arial" panose="020B0604020202020204" pitchFamily="34" charset="0"/>
                  </a:rPr>
                  <a:t>例</a:t>
                </a:r>
                <a:r>
                  <a:rPr lang="en-US" altLang="zh-CN" sz="2400" b="1" spc="-30" dirty="0">
                    <a:latin typeface="楷体" panose="02010609060101010101" pitchFamily="49" charset="-122"/>
                    <a:ea typeface="楷体" panose="02010609060101010101" pitchFamily="49" charset="-122"/>
                    <a:cs typeface="Arial" panose="020B0604020202020204" pitchFamily="34" charset="0"/>
                  </a:rPr>
                  <a:t>6】   </a:t>
                </a:r>
                <a:r>
                  <a:rPr lang="zh-CN" altLang="en-US" sz="2400" b="1" spc="-30" dirty="0">
                    <a:latin typeface="楷体" panose="02010609060101010101" pitchFamily="49" charset="-122"/>
                    <a:ea typeface="楷体" panose="02010609060101010101" pitchFamily="49" charset="-122"/>
                    <a:cs typeface="Arial" panose="020B0604020202020204" pitchFamily="34" charset="0"/>
                  </a:rPr>
                  <a:t>已知</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𝑿</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𝒙</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𝟏</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𝒙</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𝟐</m:t>
                    </m:r>
                  </m:oMath>
                </a14:m>
                <a:r>
                  <a:rPr lang="zh-CN" altLang="en-US" sz="2400" b="1" spc="-30" dirty="0" smtClean="0">
                    <a:latin typeface="楷体" panose="02010609060101010101" pitchFamily="49" charset="-122"/>
                    <a:ea typeface="楷体" panose="02010609060101010101" pitchFamily="49" charset="-122"/>
                    <a:cs typeface="Arial" panose="020B0604020202020204" pitchFamily="34" charset="0"/>
                  </a:rPr>
                  <a:t>和 </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𝒀</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𝒚</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𝟏</m:t>
                    </m:r>
                    <m:r>
                      <a:rPr lang="en-US" altLang="zh-CN" sz="2400" b="1" i="1" spc="-30" dirty="0">
                        <a:latin typeface="Cambria Math" panose="02040503050406030204" pitchFamily="18" charset="0"/>
                        <a:ea typeface="楷体" panose="02010609060101010101" pitchFamily="49" charset="-122"/>
                        <a:cs typeface="Arial" panose="020B0604020202020204" pitchFamily="34" charset="0"/>
                      </a:rPr>
                      <m:t>𝒚</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𝟐</m:t>
                    </m:r>
                  </m:oMath>
                </a14:m>
                <a:r>
                  <a:rPr lang="zh-CN" altLang="en-US" sz="2400" b="1" spc="-30" dirty="0" smtClean="0">
                    <a:latin typeface="楷体" panose="02010609060101010101" pitchFamily="49" charset="-122"/>
                    <a:ea typeface="楷体" panose="02010609060101010101" pitchFamily="49" charset="-122"/>
                    <a:cs typeface="Arial" panose="020B0604020202020204" pitchFamily="34" charset="0"/>
                  </a:rPr>
                  <a:t>是</a:t>
                </a:r>
                <a:r>
                  <a:rPr lang="zh-CN" altLang="en-US" sz="2400" b="1" spc="-30" dirty="0">
                    <a:latin typeface="楷体" panose="02010609060101010101" pitchFamily="49" charset="-122"/>
                    <a:ea typeface="楷体" panose="02010609060101010101" pitchFamily="49" charset="-122"/>
                    <a:cs typeface="Arial" panose="020B0604020202020204" pitchFamily="34" charset="0"/>
                  </a:rPr>
                  <a:t>两个正整数，写出判别</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𝑿</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&gt;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𝒀</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 </m:t>
                    </m:r>
                  </m:oMath>
                </a14:m>
                <a:r>
                  <a:rPr lang="zh-CN" altLang="en-US" sz="2400" b="1" spc="-30" dirty="0">
                    <a:latin typeface="楷体" panose="02010609060101010101" pitchFamily="49" charset="-122"/>
                    <a:ea typeface="楷体" panose="02010609060101010101" pitchFamily="49" charset="-122"/>
                    <a:cs typeface="Arial" panose="020B0604020202020204" pitchFamily="34" charset="0"/>
                  </a:rPr>
                  <a:t>的逻辑表达式。</a:t>
                </a:r>
              </a:p>
            </p:txBody>
          </p:sp>
        </mc:Choice>
        <mc:Fallback xmlns="">
          <p:sp>
            <p:nvSpPr>
              <p:cNvPr id="9" name="矩形 8"/>
              <p:cNvSpPr>
                <a:spLocks noRot="1" noChangeAspect="1" noMove="1" noResize="1" noEditPoints="1" noAdjustHandles="1" noChangeArrowheads="1" noChangeShapeType="1" noTextEdit="1"/>
              </p:cNvSpPr>
              <p:nvPr/>
            </p:nvSpPr>
            <p:spPr>
              <a:xfrm>
                <a:off x="382402" y="0"/>
                <a:ext cx="6332434" cy="990015"/>
              </a:xfrm>
              <a:prstGeom prst="rect">
                <a:avLst/>
              </a:prstGeom>
              <a:blipFill>
                <a:blip r:embed="rId2"/>
                <a:stretch>
                  <a:fillRect l="-1540" t="-3086" r="-1251"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02566" y="1146679"/>
                <a:ext cx="4732399" cy="3234219"/>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解：在设计“</a:t>
                </a:r>
                <a:r>
                  <a:rPr lang="en-US" altLang="zh-CN" sz="2400" dirty="0" smtClean="0">
                    <a:latin typeface="楷体" panose="02010609060101010101" pitchFamily="49" charset="-122"/>
                    <a:ea typeface="楷体" panose="02010609060101010101" pitchFamily="49" charset="-122"/>
                  </a:rPr>
                  <a:t>X</a:t>
                </a:r>
                <a:r>
                  <a:rPr lang="zh-CN" altLang="en-US" sz="2400" dirty="0" smtClean="0">
                    <a:latin typeface="楷体" panose="02010609060101010101" pitchFamily="49" charset="-122"/>
                    <a:ea typeface="楷体" panose="02010609060101010101" pitchFamily="49" charset="-122"/>
                  </a:rPr>
                  <a:t>是否</a:t>
                </a:r>
                <a:r>
                  <a:rPr lang="zh-CN" altLang="en-US" sz="2400" dirty="0">
                    <a:latin typeface="楷体" panose="02010609060101010101" pitchFamily="49" charset="-122"/>
                    <a:ea typeface="楷体" panose="02010609060101010101" pitchFamily="49" charset="-122"/>
                  </a:rPr>
                  <a:t>大于</a:t>
                </a:r>
                <a:r>
                  <a:rPr lang="en-US" altLang="zh-CN" sz="2400" dirty="0">
                    <a:latin typeface="楷体" panose="02010609060101010101" pitchFamily="49" charset="-122"/>
                    <a:ea typeface="楷体" panose="02010609060101010101" pitchFamily="49" charset="-122"/>
                  </a:rPr>
                  <a:t>Y”</a:t>
                </a:r>
                <a:r>
                  <a:rPr lang="zh-CN" altLang="en-US" sz="2400" dirty="0">
                    <a:latin typeface="楷体" panose="02010609060101010101" pitchFamily="49" charset="-122"/>
                    <a:ea typeface="楷体" panose="02010609060101010101" pitchFamily="49" charset="-122"/>
                  </a:rPr>
                  <a:t>的判别电路时，首先要列出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𝑋</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𝑌</m:t>
                    </m:r>
                  </m:oMath>
                </a14:m>
                <a:r>
                  <a:rPr lang="zh-CN" altLang="en-US" sz="2400" dirty="0" smtClean="0">
                    <a:latin typeface="楷体" panose="02010609060101010101" pitchFamily="49" charset="-122"/>
                    <a:ea typeface="楷体" panose="02010609060101010101" pitchFamily="49" charset="-122"/>
                  </a:rPr>
                  <a:t>的</a:t>
                </a:r>
                <a:r>
                  <a:rPr lang="zh-CN" altLang="en-US" sz="2400" dirty="0">
                    <a:latin typeface="楷体" panose="02010609060101010101" pitchFamily="49" charset="-122"/>
                    <a:ea typeface="楷体" panose="02010609060101010101" pitchFamily="49" charset="-122"/>
                  </a:rPr>
                  <a:t>逻辑表达式。该</a:t>
                </a:r>
                <a:r>
                  <a:rPr lang="zh-CN" altLang="en-US" sz="2400" dirty="0" smtClean="0">
                    <a:latin typeface="楷体" panose="02010609060101010101" pitchFamily="49" charset="-122"/>
                    <a:ea typeface="楷体" panose="02010609060101010101" pitchFamily="49" charset="-122"/>
                  </a:rPr>
                  <a:t>判别电路</a:t>
                </a:r>
                <a:r>
                  <a:rPr lang="zh-CN" altLang="en-US" sz="2400" dirty="0">
                    <a:latin typeface="楷体" panose="02010609060101010101" pitchFamily="49" charset="-122"/>
                    <a:ea typeface="楷体" panose="02010609060101010101" pitchFamily="49" charset="-122"/>
                  </a:rPr>
                  <a:t>应有</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个输入变量</a:t>
                </a:r>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dirty="0" smtClean="0">
                        <a:latin typeface="Cambria Math" panose="02040503050406030204" pitchFamily="18" charset="0"/>
                        <a:ea typeface="楷体" panose="02010609060101010101" pitchFamily="49" charset="-122"/>
                      </a:rPr>
                      <m:t>,</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 </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r>
                      <a:rPr lang="en-US" altLang="zh-CN" sz="2400" i="1" dirty="0" smtClean="0">
                        <a:latin typeface="Cambria Math" panose="02040503050406030204" pitchFamily="18" charset="0"/>
                        <a:ea typeface="楷体" panose="02010609060101010101" pitchFamily="49" charset="-122"/>
                      </a:rPr>
                      <m:t>,</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 </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dirty="0" smtClean="0">
                        <a:latin typeface="Cambria Math" panose="02040503050406030204" pitchFamily="18" charset="0"/>
                        <a:ea typeface="楷体" panose="02010609060101010101" pitchFamily="49" charset="-122"/>
                      </a:rPr>
                      <m:t>,</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 </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oMath>
                </a14:m>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输出</a:t>
                </a:r>
                <a:r>
                  <a:rPr lang="zh-CN" altLang="en-US" sz="2400" dirty="0">
                    <a:latin typeface="楷体" panose="02010609060101010101" pitchFamily="49" charset="-122"/>
                    <a:ea typeface="楷体" panose="02010609060101010101" pitchFamily="49" charset="-122"/>
                  </a:rPr>
                  <a:t>为一个标志信号</a:t>
                </a:r>
                <a14:m>
                  <m:oMath xmlns:m="http://schemas.openxmlformats.org/officeDocument/2006/math">
                    <m:r>
                      <a:rPr lang="en-US" altLang="zh-CN" sz="2400" i="1" dirty="0">
                        <a:latin typeface="Cambria Math" panose="02040503050406030204" pitchFamily="18" charset="0"/>
                        <a:ea typeface="楷体" panose="02010609060101010101" pitchFamily="49" charset="-122"/>
                      </a:rPr>
                      <m:t>𝐹</m:t>
                    </m:r>
                  </m:oMath>
                </a14:m>
                <a:r>
                  <a:rPr lang="en-US" altLang="zh-CN" sz="2400" dirty="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它</a:t>
                </a:r>
                <a:r>
                  <a:rPr lang="zh-CN" altLang="en-US" sz="2400" dirty="0">
                    <a:latin typeface="楷体" panose="02010609060101010101" pitchFamily="49" charset="-122"/>
                    <a:ea typeface="楷体" panose="02010609060101010101" pitchFamily="49" charset="-122"/>
                  </a:rPr>
                  <a:t>将表明</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𝑋</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𝑌</m:t>
                    </m:r>
                  </m:oMath>
                </a14:m>
                <a:r>
                  <a:rPr lang="zh-CN" altLang="en-US" sz="2400" dirty="0" smtClean="0">
                    <a:latin typeface="楷体" panose="02010609060101010101" pitchFamily="49" charset="-122"/>
                    <a:ea typeface="楷体" panose="02010609060101010101" pitchFamily="49" charset="-122"/>
                  </a:rPr>
                  <a:t>还是</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𝑋</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𝑌</m:t>
                    </m:r>
                  </m:oMath>
                </a14:m>
                <a:r>
                  <a:rPr lang="zh-CN" altLang="en-US" sz="2400" dirty="0">
                    <a:latin typeface="楷体" panose="02010609060101010101" pitchFamily="49" charset="-122"/>
                    <a:ea typeface="楷体" panose="02010609060101010101" pitchFamily="49" charset="-122"/>
                  </a:rPr>
                  <a:t>。 图</a:t>
                </a:r>
                <a:r>
                  <a:rPr lang="en-US" altLang="zh-CN" sz="2400" dirty="0" smtClean="0">
                    <a:latin typeface="楷体" panose="02010609060101010101" pitchFamily="49" charset="-122"/>
                    <a:ea typeface="楷体" panose="02010609060101010101" pitchFamily="49" charset="-122"/>
                  </a:rPr>
                  <a:t>2.9</a:t>
                </a:r>
                <a:r>
                  <a:rPr lang="zh-CN" altLang="en-US" sz="2400" dirty="0">
                    <a:latin typeface="楷体" panose="02010609060101010101" pitchFamily="49" charset="-122"/>
                    <a:ea typeface="楷体" panose="02010609060101010101" pitchFamily="49" charset="-122"/>
                  </a:rPr>
                  <a:t>示出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𝑋</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𝑌</m:t>
                    </m:r>
                    <m:r>
                      <a:rPr lang="en-US" altLang="zh-CN" sz="2400" i="1" dirty="0" smtClean="0">
                        <a:latin typeface="Cambria Math" panose="02040503050406030204" pitchFamily="18" charset="0"/>
                        <a:ea typeface="楷体" panose="02010609060101010101" pitchFamily="49" charset="-122"/>
                      </a:rPr>
                      <m:t> </m:t>
                    </m:r>
                  </m:oMath>
                </a14:m>
                <a:r>
                  <a:rPr lang="zh-CN" altLang="en-US" sz="2400" dirty="0">
                    <a:latin typeface="楷体" panose="02010609060101010101" pitchFamily="49" charset="-122"/>
                    <a:ea typeface="楷体" panose="02010609060101010101" pitchFamily="49" charset="-122"/>
                  </a:rPr>
                  <a:t>的判别电路框图</a:t>
                </a:r>
                <a:r>
                  <a:rPr lang="zh-CN" altLang="en-US" sz="2400" dirty="0" smtClean="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402566" y="1146679"/>
                <a:ext cx="4732399" cy="3234219"/>
              </a:xfrm>
              <a:prstGeom prst="rect">
                <a:avLst/>
              </a:prstGeom>
              <a:blipFill>
                <a:blip r:embed="rId3"/>
                <a:stretch>
                  <a:fillRect l="-1933" t="-942" b="-13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02566" y="4380898"/>
                <a:ext cx="4305383" cy="1438855"/>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由题意知</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r>
                      <a:rPr lang="en-US" altLang="zh-CN" sz="2400" i="1" dirty="0" smtClean="0">
                        <a:latin typeface="Cambria Math" panose="02040503050406030204" pitchFamily="18" charset="0"/>
                        <a:ea typeface="楷体" panose="02010609060101010101" pitchFamily="49" charset="-122"/>
                      </a:rPr>
                      <m:t>&gt;</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r>
                      <a:rPr lang="en-US" altLang="zh-CN" sz="2400" i="1" dirty="0" smtClean="0">
                        <a:latin typeface="Cambria Math" panose="02040503050406030204" pitchFamily="18" charset="0"/>
                        <a:ea typeface="楷体" panose="02010609060101010101" pitchFamily="49" charset="-122"/>
                      </a:rPr>
                      <m:t>≤</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oMath>
                </a14:m>
                <a:r>
                  <a:rPr lang="zh-CN" altLang="en-US" sz="2400" dirty="0" smtClean="0">
                    <a:latin typeface="楷体" panose="02010609060101010101" pitchFamily="49" charset="-122"/>
                    <a:ea typeface="楷体" panose="02010609060101010101" pitchFamily="49" charset="-122"/>
                  </a:rPr>
                  <a:t> 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=0</m:t>
                    </m:r>
                  </m:oMath>
                </a14:m>
                <a:r>
                  <a:rPr lang="zh-CN" altLang="en-US" sz="2400" dirty="0">
                    <a:latin typeface="楷体" panose="02010609060101010101" pitchFamily="49" charset="-122"/>
                    <a:ea typeface="楷体" panose="02010609060101010101" pitchFamily="49" charset="-122"/>
                  </a:rPr>
                  <a:t>。</a:t>
                </a:r>
              </a:p>
            </p:txBody>
          </p:sp>
        </mc:Choice>
        <mc:Fallback xmlns="">
          <p:sp>
            <p:nvSpPr>
              <p:cNvPr id="7" name="矩形 6"/>
              <p:cNvSpPr>
                <a:spLocks noRot="1" noChangeAspect="1" noMove="1" noResize="1" noEditPoints="1" noAdjustHandles="1" noChangeArrowheads="1" noChangeShapeType="1" noTextEdit="1"/>
              </p:cNvSpPr>
              <p:nvPr/>
            </p:nvSpPr>
            <p:spPr>
              <a:xfrm>
                <a:off x="402566" y="4380898"/>
                <a:ext cx="4305383" cy="1438855"/>
              </a:xfrm>
              <a:prstGeom prst="rect">
                <a:avLst/>
              </a:prstGeom>
              <a:blipFill>
                <a:blip r:embed="rId4"/>
                <a:stretch>
                  <a:fillRect l="-2125" t="-2119" b="-4661"/>
                </a:stretch>
              </a:blipFill>
            </p:spPr>
            <p:txBody>
              <a:bodyPr/>
              <a:lstStyle/>
              <a:p>
                <a:r>
                  <a:rPr lang="zh-CN" altLang="en-US">
                    <a:noFill/>
                  </a:rPr>
                  <a:t> </a:t>
                </a:r>
              </a:p>
            </p:txBody>
          </p:sp>
        </mc:Fallback>
      </mc:AlternateContent>
      <p:pic>
        <p:nvPicPr>
          <p:cNvPr id="2" name="图片 1"/>
          <p:cNvPicPr>
            <a:picLocks noChangeAspect="1"/>
          </p:cNvPicPr>
          <p:nvPr/>
        </p:nvPicPr>
        <p:blipFill>
          <a:blip r:embed="rId5"/>
          <a:stretch>
            <a:fillRect/>
          </a:stretch>
        </p:blipFill>
        <p:spPr>
          <a:xfrm>
            <a:off x="5708073" y="495007"/>
            <a:ext cx="3127064" cy="3462534"/>
          </a:xfrm>
          <a:prstGeom prst="rect">
            <a:avLst/>
          </a:prstGeom>
        </p:spPr>
      </p:pic>
      <p:pic>
        <p:nvPicPr>
          <p:cNvPr id="5" name="图片 4"/>
          <p:cNvPicPr>
            <a:picLocks noChangeAspect="1"/>
          </p:cNvPicPr>
          <p:nvPr/>
        </p:nvPicPr>
        <p:blipFill>
          <a:blip r:embed="rId6"/>
          <a:stretch>
            <a:fillRect/>
          </a:stretch>
        </p:blipFill>
        <p:spPr>
          <a:xfrm>
            <a:off x="4987183" y="4114205"/>
            <a:ext cx="4008582" cy="2229774"/>
          </a:xfrm>
          <a:prstGeom prst="rect">
            <a:avLst/>
          </a:prstGeom>
        </p:spPr>
      </p:pic>
    </p:spTree>
    <p:extLst>
      <p:ext uri="{BB962C8B-B14F-4D97-AF65-F5344CB8AC3E}">
        <p14:creationId xmlns:p14="http://schemas.microsoft.com/office/powerpoint/2010/main" val="22968560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480291" y="990015"/>
                <a:ext cx="7989453" cy="3683060"/>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比较</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zh-CN" altLang="en-US" sz="2400" dirty="0" smtClean="0">
                    <a:latin typeface="楷体" panose="02010609060101010101" pitchFamily="49" charset="-122"/>
                    <a:ea typeface="楷体" panose="02010609060101010101" pitchFamily="49" charset="-122"/>
                  </a:rPr>
                  <a:t>和</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en-US" altLang="zh-CN" sz="2400" dirty="0" smtClean="0">
                    <a:latin typeface="楷体" panose="02010609060101010101" pitchFamily="49" charset="-122"/>
                    <a:ea typeface="楷体" panose="02010609060101010101" pitchFamily="49" charset="-122"/>
                  </a:rPr>
                  <a:t>,</a:t>
                </a:r>
              </a:p>
              <a:p>
                <a:pPr marL="457200" indent="-457200">
                  <a:lnSpc>
                    <a:spcPts val="3500"/>
                  </a:lnSpc>
                  <a:buFont typeface="+mj-lt"/>
                  <a:buAutoNum type="arabicPeriod"/>
                </a:pPr>
                <a:r>
                  <a:rPr lang="zh-CN" altLang="en-US" sz="2400" dirty="0" smtClean="0">
                    <a:latin typeface="楷体" panose="02010609060101010101" pitchFamily="49" charset="-122"/>
                    <a:ea typeface="楷体" panose="02010609060101010101" pitchFamily="49" charset="-122"/>
                  </a:rPr>
                  <a:t>当</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𝑥</m:t>
                    </m:r>
                    <m:r>
                      <a:rPr lang="en-US" altLang="zh-CN" sz="2400" i="1" dirty="0" smtClean="0">
                        <a:latin typeface="Cambria Math" panose="02040503050406030204" pitchFamily="18" charset="0"/>
                        <a:ea typeface="楷体" panose="02010609060101010101" pitchFamily="49" charset="-122"/>
                      </a:rPr>
                      <m:t>₁=1</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𝑦</m:t>
                    </m:r>
                    <m:r>
                      <a:rPr lang="en-US" altLang="zh-CN" sz="2400" i="1" dirty="0">
                        <a:latin typeface="Cambria Math" panose="02040503050406030204" pitchFamily="18" charset="0"/>
                        <a:ea typeface="楷体" panose="02010609060101010101" pitchFamily="49" charset="-122"/>
                      </a:rPr>
                      <m:t>₁=0</m:t>
                    </m:r>
                  </m:oMath>
                </a14:m>
                <a:r>
                  <a:rPr lang="zh-CN" altLang="en-US" sz="2400" dirty="0" smtClean="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不管</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zh-CN" altLang="en-US" sz="2400" dirty="0" smtClean="0">
                    <a:latin typeface="楷体" panose="02010609060101010101" pitchFamily="49" charset="-122"/>
                    <a:ea typeface="楷体" panose="02010609060101010101" pitchFamily="49" charset="-122"/>
                  </a:rPr>
                  <a:t>和 </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zh-CN" altLang="en-US" sz="2400" dirty="0" smtClean="0">
                    <a:latin typeface="楷体" panose="02010609060101010101" pitchFamily="49" charset="-122"/>
                    <a:ea typeface="楷体" panose="02010609060101010101" pitchFamily="49" charset="-122"/>
                  </a:rPr>
                  <a:t>为何</a:t>
                </a:r>
                <a:r>
                  <a:rPr lang="zh-CN" altLang="en-US" sz="2400" dirty="0">
                    <a:latin typeface="楷体" panose="02010609060101010101" pitchFamily="49" charset="-122"/>
                    <a:ea typeface="楷体" panose="02010609060101010101" pitchFamily="49" charset="-122"/>
                  </a:rPr>
                  <a:t>值，总</a:t>
                </a:r>
                <a:r>
                  <a:rPr lang="zh-CN" altLang="en-US" sz="2400" dirty="0" smtClean="0">
                    <a:latin typeface="楷体" panose="02010609060101010101" pitchFamily="49" charset="-122"/>
                    <a:ea typeface="楷体" panose="02010609060101010101" pitchFamily="49" charset="-122"/>
                  </a:rPr>
                  <a:t>满足</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r>
                      <a:rPr lang="en-US" altLang="zh-CN" sz="2400" i="1" dirty="0">
                        <a:latin typeface="Cambria Math" panose="02040503050406030204" pitchFamily="18" charset="0"/>
                        <a:ea typeface="楷体" panose="02010609060101010101" pitchFamily="49" charset="-122"/>
                      </a:rPr>
                      <m:t>&gt;</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en-US" altLang="zh-CN" sz="2400" dirty="0" smtClean="0">
                    <a:latin typeface="楷体" panose="02010609060101010101" pitchFamily="49" charset="-122"/>
                    <a:ea typeface="楷体" panose="02010609060101010101" pitchFamily="49" charset="-122"/>
                  </a:rPr>
                  <a:t>; </a:t>
                </a:r>
              </a:p>
              <a:p>
                <a:pPr marL="457200" indent="-457200">
                  <a:lnSpc>
                    <a:spcPts val="3500"/>
                  </a:lnSpc>
                  <a:buFont typeface="+mj-lt"/>
                  <a:buAutoNum type="arabicPeriod"/>
                </a:pPr>
                <a:r>
                  <a:rPr lang="zh-CN" altLang="en-US" sz="2400" dirty="0" smtClean="0">
                    <a:latin typeface="楷体" panose="02010609060101010101" pitchFamily="49" charset="-122"/>
                    <a:ea typeface="楷体" panose="02010609060101010101" pitchFamily="49" charset="-122"/>
                  </a:rPr>
                  <a:t>当</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𝑥</m:t>
                    </m:r>
                    <m:r>
                      <a:rPr lang="en-US" altLang="zh-CN" sz="2400" i="1" dirty="0" smtClean="0">
                        <a:latin typeface="Cambria Math" panose="02040503050406030204" pitchFamily="18" charset="0"/>
                        <a:ea typeface="楷体" panose="02010609060101010101" pitchFamily="49" charset="-122"/>
                      </a:rPr>
                      <m:t>₁=</m:t>
                    </m:r>
                    <m:r>
                      <a:rPr lang="en-US" altLang="zh-CN" sz="2400" i="1" dirty="0">
                        <a:latin typeface="Cambria Math" panose="02040503050406030204" pitchFamily="18" charset="0"/>
                        <a:ea typeface="楷体" panose="02010609060101010101" pitchFamily="49" charset="-122"/>
                      </a:rPr>
                      <m:t>𝑦</m:t>
                    </m:r>
                    <m:r>
                      <a:rPr lang="en-US" altLang="zh-CN" sz="2400" i="1" dirty="0">
                        <a:latin typeface="Cambria Math" panose="02040503050406030204" pitchFamily="18" charset="0"/>
                        <a:ea typeface="楷体" panose="02010609060101010101" pitchFamily="49" charset="-122"/>
                      </a:rPr>
                      <m:t>₁</m:t>
                    </m:r>
                  </m:oMath>
                </a14:m>
                <a:r>
                  <a:rPr lang="zh-CN" altLang="en-US" sz="2400" dirty="0" smtClean="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，只有</a:t>
                </a:r>
                <a:r>
                  <a:rPr lang="zh-CN" altLang="en-US" sz="2400" dirty="0" smtClean="0">
                    <a:latin typeface="楷体" panose="02010609060101010101" pitchFamily="49" charset="-122"/>
                    <a:ea typeface="楷体" panose="02010609060101010101" pitchFamily="49" charset="-122"/>
                  </a:rPr>
                  <a:t>在</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r>
                      <a:rPr lang="en-US" altLang="zh-CN" sz="2400" i="1" dirty="0" smtClean="0">
                        <a:latin typeface="Cambria Math" panose="02040503050406030204" pitchFamily="18" charset="0"/>
                        <a:ea typeface="楷体" panose="02010609060101010101" pitchFamily="49" charset="-122"/>
                      </a:rPr>
                      <m:t>=1</m:t>
                    </m:r>
                  </m:oMath>
                </a14:m>
                <a:r>
                  <a:rPr lang="en-US" altLang="zh-CN" sz="2400" dirty="0" smtClean="0">
                    <a:latin typeface="楷体" panose="02010609060101010101" pitchFamily="49" charset="-122"/>
                    <a:ea typeface="楷体" panose="02010609060101010101" pitchFamily="49" charset="-122"/>
                  </a:rPr>
                  <a:t>,</a:t>
                </a:r>
                <a:r>
                  <a:rPr lang="en-US" altLang="zh-CN" sz="2400" spc="-30" dirty="0" smtClean="0">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r>
                      <a:rPr lang="en-US" altLang="zh-CN" sz="2400" i="1" dirty="0" smtClean="0">
                        <a:latin typeface="Cambria Math" panose="02040503050406030204" pitchFamily="18" charset="0"/>
                        <a:ea typeface="楷体" panose="02010609060101010101" pitchFamily="49" charset="-122"/>
                      </a:rPr>
                      <m:t>=0</m:t>
                    </m:r>
                  </m:oMath>
                </a14:m>
                <a:r>
                  <a:rPr lang="zh-CN" altLang="en-US" sz="2400" dirty="0">
                    <a:latin typeface="楷体" panose="02010609060101010101" pitchFamily="49" charset="-122"/>
                    <a:ea typeface="楷体" panose="02010609060101010101" pitchFamily="49" charset="-122"/>
                  </a:rPr>
                  <a:t>的情况下才</a:t>
                </a:r>
                <a:r>
                  <a:rPr lang="zh-CN" altLang="en-US" sz="2400" dirty="0" smtClean="0">
                    <a:latin typeface="楷体" panose="02010609060101010101" pitchFamily="49" charset="-122"/>
                    <a:ea typeface="楷体" panose="02010609060101010101" pitchFamily="49" charset="-122"/>
                  </a:rPr>
                  <a:t>满足</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r>
                      <a:rPr lang="en-US" altLang="zh-CN" sz="2400" i="1" dirty="0">
                        <a:latin typeface="Cambria Math" panose="02040503050406030204" pitchFamily="18" charset="0"/>
                        <a:ea typeface="楷体" panose="02010609060101010101" pitchFamily="49" charset="-122"/>
                      </a:rPr>
                      <m:t>&gt;</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en-US" altLang="zh-CN" sz="2400" dirty="0" smtClean="0">
                    <a:latin typeface="楷体" panose="02010609060101010101" pitchFamily="49" charset="-122"/>
                    <a:ea typeface="楷体" panose="02010609060101010101" pitchFamily="49" charset="-122"/>
                  </a:rPr>
                  <a:t>;</a:t>
                </a:r>
              </a:p>
              <a:p>
                <a:pPr marL="457200" indent="-457200">
                  <a:lnSpc>
                    <a:spcPts val="3500"/>
                  </a:lnSpc>
                  <a:buFont typeface="+mj-lt"/>
                  <a:buAutoNum type="arabicPeriod"/>
                </a:pPr>
                <a:r>
                  <a:rPr lang="zh-CN" altLang="en-US" sz="2400" dirty="0" smtClean="0">
                    <a:latin typeface="楷体" panose="02010609060101010101" pitchFamily="49" charset="-122"/>
                    <a:ea typeface="楷体" panose="02010609060101010101" pitchFamily="49" charset="-122"/>
                  </a:rPr>
                  <a:t>当</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2 </m:t>
                    </m:r>
                    <m:r>
                      <a:rPr lang="en-US" altLang="zh-CN" sz="2400" i="1" dirty="0" smtClean="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11</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r>
                      <a:rPr lang="en-US" altLang="zh-CN" sz="2400" i="1" dirty="0" smtClean="0">
                        <a:latin typeface="Cambria Math" panose="02040503050406030204" pitchFamily="18" charset="0"/>
                        <a:ea typeface="楷体" panose="02010609060101010101" pitchFamily="49" charset="-122"/>
                      </a:rPr>
                      <m:t>=10</m:t>
                    </m:r>
                  </m:oMath>
                </a14:m>
                <a:r>
                  <a:rPr lang="zh-CN" altLang="en-US" sz="2400" dirty="0" smtClean="0">
                    <a:latin typeface="楷体" panose="02010609060101010101" pitchFamily="49" charset="-122"/>
                    <a:ea typeface="楷体" panose="02010609060101010101" pitchFamily="49" charset="-122"/>
                  </a:rPr>
                  <a:t>时，</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r>
                      <a:rPr lang="en-US" altLang="zh-CN" sz="2400" i="1" dirty="0" smtClean="0">
                        <a:latin typeface="Cambria Math" panose="02040503050406030204" pitchFamily="18" charset="0"/>
                        <a:ea typeface="楷体" panose="02010609060101010101" pitchFamily="49" charset="-122"/>
                      </a:rPr>
                      <m:t>&gt;</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oMath>
                </a14:m>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marL="457200" indent="-457200">
                  <a:lnSpc>
                    <a:spcPts val="3500"/>
                  </a:lnSpc>
                  <a:buFont typeface="+mj-lt"/>
                  <a:buAutoNum type="arabicPeriod"/>
                </a:pPr>
                <a:r>
                  <a:rPr lang="zh-CN" altLang="en-US" sz="2400" dirty="0" smtClean="0">
                    <a:latin typeface="楷体" panose="02010609060101010101" pitchFamily="49" charset="-122"/>
                    <a:ea typeface="楷体" panose="02010609060101010101" pitchFamily="49" charset="-122"/>
                  </a:rPr>
                  <a:t>除上述</a:t>
                </a:r>
                <a:r>
                  <a:rPr lang="zh-CN" altLang="en-US" sz="2400" dirty="0">
                    <a:latin typeface="楷体" panose="02010609060101010101" pitchFamily="49" charset="-122"/>
                    <a:ea typeface="楷体" panose="02010609060101010101" pitchFamily="49" charset="-122"/>
                  </a:rPr>
                  <a:t>情况外</a:t>
                </a:r>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zh-CN" altLang="en-US" sz="2400" dirty="0" smtClean="0">
                    <a:latin typeface="楷体" panose="02010609060101010101" pitchFamily="49" charset="-122"/>
                    <a:ea typeface="楷体" panose="02010609060101010101" pitchFamily="49" charset="-122"/>
                  </a:rPr>
                  <a:t>总是</a:t>
                </a:r>
                <a:r>
                  <a:rPr lang="zh-CN" altLang="en-US" sz="2400" dirty="0">
                    <a:latin typeface="楷体" panose="02010609060101010101" pitchFamily="49" charset="-122"/>
                    <a:ea typeface="楷体" panose="02010609060101010101" pitchFamily="49" charset="-122"/>
                  </a:rPr>
                  <a:t>小于</a:t>
                </a:r>
                <a:r>
                  <a:rPr lang="zh-CN" altLang="en-US" sz="2400" dirty="0" smtClean="0">
                    <a:latin typeface="楷体" panose="02010609060101010101" pitchFamily="49" charset="-122"/>
                    <a:ea typeface="楷体" panose="02010609060101010101" pitchFamily="49" charset="-122"/>
                  </a:rPr>
                  <a:t>等于</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a:latin typeface="Cambria Math" panose="02040503050406030204" pitchFamily="18" charset="0"/>
                        <a:ea typeface="楷体" panose="02010609060101010101" pitchFamily="49" charset="-122"/>
                        <a:cs typeface="Arial" panose="020B0604020202020204" pitchFamily="34" charset="0"/>
                      </a:rPr>
                      <m:t>2</m:t>
                    </m:r>
                  </m:oMath>
                </a14:m>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en-US" sz="2400" dirty="0" smtClean="0">
                    <a:latin typeface="楷体" panose="02010609060101010101" pitchFamily="49" charset="-122"/>
                    <a:ea typeface="楷体" panose="02010609060101010101" pitchFamily="49" charset="-122"/>
                  </a:rPr>
                  <a:t>于是</a:t>
                </a:r>
                <a:r>
                  <a:rPr lang="zh-CN" altLang="en-US" sz="2400" dirty="0">
                    <a:latin typeface="楷体" panose="02010609060101010101" pitchFamily="49" charset="-122"/>
                    <a:ea typeface="楷体" panose="02010609060101010101" pitchFamily="49" charset="-122"/>
                  </a:rPr>
                  <a:t>列出使</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a:latin typeface="楷体" panose="02010609060101010101" pitchFamily="49" charset="-122"/>
                    <a:ea typeface="楷体" panose="02010609060101010101" pitchFamily="49" charset="-122"/>
                  </a:rPr>
                  <a:t>的变量取值组合，如表</a:t>
                </a:r>
                <a:r>
                  <a:rPr lang="en-US" altLang="zh-CN" sz="2400" dirty="0">
                    <a:latin typeface="楷体" panose="02010609060101010101" pitchFamily="49" charset="-122"/>
                    <a:ea typeface="楷体" panose="02010609060101010101" pitchFamily="49" charset="-122"/>
                  </a:rPr>
                  <a:t>2.3</a:t>
                </a:r>
                <a:r>
                  <a:rPr lang="zh-CN" altLang="en-US" sz="2400" dirty="0">
                    <a:latin typeface="楷体" panose="02010609060101010101" pitchFamily="49" charset="-122"/>
                    <a:ea typeface="楷体" panose="02010609060101010101" pitchFamily="49" charset="-122"/>
                  </a:rPr>
                  <a:t>所示</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480291" y="990015"/>
                <a:ext cx="7989453" cy="3683060"/>
              </a:xfrm>
              <a:prstGeom prst="rect">
                <a:avLst/>
              </a:prstGeom>
              <a:blipFill>
                <a:blip r:embed="rId2"/>
                <a:stretch>
                  <a:fillRect l="-1221" t="-826" b="-9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82402" y="0"/>
                <a:ext cx="6332434" cy="990015"/>
              </a:xfrm>
              <a:prstGeom prst="rect">
                <a:avLst/>
              </a:prstGeom>
            </p:spPr>
            <p:txBody>
              <a:bodyPr wrap="square">
                <a:spAutoFit/>
              </a:bodyPr>
              <a:lstStyle/>
              <a:p>
                <a:pPr>
                  <a:lnSpc>
                    <a:spcPts val="3500"/>
                  </a:lnSpc>
                </a:pPr>
                <a:r>
                  <a:rPr lang="en-US" altLang="zh-CN" sz="2400" b="1" spc="-30" dirty="0">
                    <a:latin typeface="楷体" panose="02010609060101010101" pitchFamily="49" charset="-122"/>
                    <a:ea typeface="楷体" panose="02010609060101010101" pitchFamily="49" charset="-122"/>
                    <a:cs typeface="Arial" panose="020B0604020202020204" pitchFamily="34" charset="0"/>
                  </a:rPr>
                  <a:t>【</a:t>
                </a:r>
                <a:r>
                  <a:rPr lang="zh-CN" altLang="en-US" sz="2400" b="1" spc="-30" dirty="0">
                    <a:latin typeface="楷体" panose="02010609060101010101" pitchFamily="49" charset="-122"/>
                    <a:ea typeface="楷体" panose="02010609060101010101" pitchFamily="49" charset="-122"/>
                    <a:cs typeface="Arial" panose="020B0604020202020204" pitchFamily="34" charset="0"/>
                  </a:rPr>
                  <a:t>例</a:t>
                </a:r>
                <a:r>
                  <a:rPr lang="en-US" altLang="zh-CN" sz="2400" b="1" spc="-30" dirty="0">
                    <a:latin typeface="楷体" panose="02010609060101010101" pitchFamily="49" charset="-122"/>
                    <a:ea typeface="楷体" panose="02010609060101010101" pitchFamily="49" charset="-122"/>
                    <a:cs typeface="Arial" panose="020B0604020202020204" pitchFamily="34" charset="0"/>
                  </a:rPr>
                  <a:t>6】   </a:t>
                </a:r>
                <a:r>
                  <a:rPr lang="zh-CN" altLang="en-US" sz="2400" b="1" spc="-30" dirty="0">
                    <a:latin typeface="楷体" panose="02010609060101010101" pitchFamily="49" charset="-122"/>
                    <a:ea typeface="楷体" panose="02010609060101010101" pitchFamily="49" charset="-122"/>
                    <a:cs typeface="Arial" panose="020B0604020202020204" pitchFamily="34" charset="0"/>
                  </a:rPr>
                  <a:t>已知</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𝑿</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𝒙</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𝟏</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𝒙</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𝟐</m:t>
                    </m:r>
                  </m:oMath>
                </a14:m>
                <a:r>
                  <a:rPr lang="zh-CN" altLang="en-US" sz="2400" b="1" spc="-30" dirty="0" smtClean="0">
                    <a:latin typeface="楷体" panose="02010609060101010101" pitchFamily="49" charset="-122"/>
                    <a:ea typeface="楷体" panose="02010609060101010101" pitchFamily="49" charset="-122"/>
                    <a:cs typeface="Arial" panose="020B0604020202020204" pitchFamily="34" charset="0"/>
                  </a:rPr>
                  <a:t>和 </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𝒀</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𝒚</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𝟏</m:t>
                    </m:r>
                    <m:r>
                      <a:rPr lang="en-US" altLang="zh-CN" sz="2400" b="1" i="1" spc="-30" dirty="0">
                        <a:latin typeface="Cambria Math" panose="02040503050406030204" pitchFamily="18" charset="0"/>
                        <a:ea typeface="楷体" panose="02010609060101010101" pitchFamily="49" charset="-122"/>
                        <a:cs typeface="Arial" panose="020B0604020202020204" pitchFamily="34" charset="0"/>
                      </a:rPr>
                      <m:t>𝒚</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𝟐</m:t>
                    </m:r>
                  </m:oMath>
                </a14:m>
                <a:r>
                  <a:rPr lang="zh-CN" altLang="en-US" sz="2400" b="1" spc="-30" dirty="0" smtClean="0">
                    <a:latin typeface="楷体" panose="02010609060101010101" pitchFamily="49" charset="-122"/>
                    <a:ea typeface="楷体" panose="02010609060101010101" pitchFamily="49" charset="-122"/>
                    <a:cs typeface="Arial" panose="020B0604020202020204" pitchFamily="34" charset="0"/>
                  </a:rPr>
                  <a:t>是</a:t>
                </a:r>
                <a:r>
                  <a:rPr lang="zh-CN" altLang="en-US" sz="2400" b="1" spc="-30" dirty="0">
                    <a:latin typeface="楷体" panose="02010609060101010101" pitchFamily="49" charset="-122"/>
                    <a:ea typeface="楷体" panose="02010609060101010101" pitchFamily="49" charset="-122"/>
                    <a:cs typeface="Arial" panose="020B0604020202020204" pitchFamily="34" charset="0"/>
                  </a:rPr>
                  <a:t>两个正整数，写出判别</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𝑿</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&gt;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𝒀</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 </m:t>
                    </m:r>
                  </m:oMath>
                </a14:m>
                <a:r>
                  <a:rPr lang="zh-CN" altLang="en-US" sz="2400" b="1" spc="-30" dirty="0">
                    <a:latin typeface="楷体" panose="02010609060101010101" pitchFamily="49" charset="-122"/>
                    <a:ea typeface="楷体" panose="02010609060101010101" pitchFamily="49" charset="-122"/>
                    <a:cs typeface="Arial" panose="020B0604020202020204" pitchFamily="34" charset="0"/>
                  </a:rPr>
                  <a:t>的逻辑表达式。</a:t>
                </a:r>
              </a:p>
            </p:txBody>
          </p:sp>
        </mc:Choice>
        <mc:Fallback xmlns="">
          <p:sp>
            <p:nvSpPr>
              <p:cNvPr id="8" name="矩形 7"/>
              <p:cNvSpPr>
                <a:spLocks noRot="1" noChangeAspect="1" noMove="1" noResize="1" noEditPoints="1" noAdjustHandles="1" noChangeArrowheads="1" noChangeShapeType="1" noTextEdit="1"/>
              </p:cNvSpPr>
              <p:nvPr/>
            </p:nvSpPr>
            <p:spPr>
              <a:xfrm>
                <a:off x="382402" y="0"/>
                <a:ext cx="6332434" cy="990015"/>
              </a:xfrm>
              <a:prstGeom prst="rect">
                <a:avLst/>
              </a:prstGeom>
              <a:blipFill>
                <a:blip r:embed="rId3"/>
                <a:stretch>
                  <a:fillRect l="-1540" t="-3086" r="-1251" b="-74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65263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480291" y="990015"/>
                <a:ext cx="7989453" cy="1887696"/>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于是</a:t>
                </a:r>
                <a:r>
                  <a:rPr lang="zh-CN" altLang="en-US" sz="2400" dirty="0">
                    <a:latin typeface="楷体" panose="02010609060101010101" pitchFamily="49" charset="-122"/>
                    <a:ea typeface="楷体" panose="02010609060101010101" pitchFamily="49" charset="-122"/>
                  </a:rPr>
                  <a:t>列出使</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a:latin typeface="楷体" panose="02010609060101010101" pitchFamily="49" charset="-122"/>
                    <a:ea typeface="楷体" panose="02010609060101010101" pitchFamily="49" charset="-122"/>
                  </a:rPr>
                  <a:t>的变量取值组合，如表</a:t>
                </a:r>
                <a:r>
                  <a:rPr lang="en-US" altLang="zh-CN" sz="2400" dirty="0">
                    <a:latin typeface="楷体" panose="02010609060101010101" pitchFamily="49" charset="-122"/>
                    <a:ea typeface="楷体" panose="02010609060101010101" pitchFamily="49" charset="-122"/>
                  </a:rPr>
                  <a:t>2.3</a:t>
                </a:r>
                <a:r>
                  <a:rPr lang="zh-CN" altLang="en-US" sz="2400" dirty="0">
                    <a:latin typeface="楷体" panose="02010609060101010101" pitchFamily="49" charset="-122"/>
                    <a:ea typeface="楷体" panose="02010609060101010101" pitchFamily="49" charset="-122"/>
                  </a:rPr>
                  <a:t>所示</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en-US" sz="2400" dirty="0" smtClean="0">
                    <a:latin typeface="楷体" panose="02010609060101010101" pitchFamily="49" charset="-122"/>
                    <a:ea typeface="楷体" panose="02010609060101010101" pitchFamily="49" charset="-122"/>
                  </a:rPr>
                  <a:t>与完整</a:t>
                </a:r>
                <a:r>
                  <a:rPr lang="zh-CN" altLang="en-US" sz="2400" dirty="0">
                    <a:latin typeface="楷体" panose="02010609060101010101" pitchFamily="49" charset="-122"/>
                    <a:ea typeface="楷体" panose="02010609060101010101" pitchFamily="49" charset="-122"/>
                  </a:rPr>
                  <a:t>的真值表比较，我们把只包含</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a:latin typeface="楷体" panose="02010609060101010101" pitchFamily="49" charset="-122"/>
                    <a:ea typeface="楷体" panose="02010609060101010101" pitchFamily="49" charset="-122"/>
                  </a:rPr>
                  <a:t>的真值表称为简化真值表。表中的“</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符号，</a:t>
                </a:r>
                <a:r>
                  <a:rPr lang="zh-CN" altLang="en-US" sz="2400" dirty="0" smtClean="0">
                    <a:latin typeface="楷体" panose="02010609060101010101" pitchFamily="49" charset="-122"/>
                    <a:ea typeface="楷体" panose="02010609060101010101" pitchFamily="49" charset="-122"/>
                  </a:rPr>
                  <a:t>表示变量</a:t>
                </a:r>
                <a:r>
                  <a:rPr lang="zh-CN" altLang="en-US" sz="2400" dirty="0">
                    <a:latin typeface="楷体" panose="02010609060101010101" pitchFamily="49" charset="-122"/>
                    <a:ea typeface="楷体" panose="02010609060101010101" pitchFamily="49" charset="-122"/>
                  </a:rPr>
                  <a:t>随意取值</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或</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均可</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p>
            </p:txBody>
          </p:sp>
        </mc:Choice>
        <mc:Fallback xmlns="">
          <p:sp>
            <p:nvSpPr>
              <p:cNvPr id="3" name="矩形 2"/>
              <p:cNvSpPr>
                <a:spLocks noRot="1" noChangeAspect="1" noMove="1" noResize="1" noEditPoints="1" noAdjustHandles="1" noChangeArrowheads="1" noChangeShapeType="1" noTextEdit="1"/>
              </p:cNvSpPr>
              <p:nvPr/>
            </p:nvSpPr>
            <p:spPr>
              <a:xfrm>
                <a:off x="480291" y="990015"/>
                <a:ext cx="7989453" cy="1887696"/>
              </a:xfrm>
              <a:prstGeom prst="rect">
                <a:avLst/>
              </a:prstGeom>
              <a:blipFill>
                <a:blip r:embed="rId2"/>
                <a:stretch>
                  <a:fillRect l="-1221" t="-1613" r="-763" b="-29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82402" y="0"/>
                <a:ext cx="6332434" cy="990015"/>
              </a:xfrm>
              <a:prstGeom prst="rect">
                <a:avLst/>
              </a:prstGeom>
            </p:spPr>
            <p:txBody>
              <a:bodyPr wrap="square">
                <a:spAutoFit/>
              </a:bodyPr>
              <a:lstStyle/>
              <a:p>
                <a:pPr>
                  <a:lnSpc>
                    <a:spcPts val="3500"/>
                  </a:lnSpc>
                </a:pPr>
                <a:r>
                  <a:rPr lang="en-US" altLang="zh-CN" sz="2400" b="1" spc="-30" dirty="0">
                    <a:latin typeface="楷体" panose="02010609060101010101" pitchFamily="49" charset="-122"/>
                    <a:ea typeface="楷体" panose="02010609060101010101" pitchFamily="49" charset="-122"/>
                    <a:cs typeface="Arial" panose="020B0604020202020204" pitchFamily="34" charset="0"/>
                  </a:rPr>
                  <a:t>【</a:t>
                </a:r>
                <a:r>
                  <a:rPr lang="zh-CN" altLang="en-US" sz="2400" b="1" spc="-30" dirty="0">
                    <a:latin typeface="楷体" panose="02010609060101010101" pitchFamily="49" charset="-122"/>
                    <a:ea typeface="楷体" panose="02010609060101010101" pitchFamily="49" charset="-122"/>
                    <a:cs typeface="Arial" panose="020B0604020202020204" pitchFamily="34" charset="0"/>
                  </a:rPr>
                  <a:t>例</a:t>
                </a:r>
                <a:r>
                  <a:rPr lang="en-US" altLang="zh-CN" sz="2400" b="1" spc="-30" dirty="0">
                    <a:latin typeface="楷体" panose="02010609060101010101" pitchFamily="49" charset="-122"/>
                    <a:ea typeface="楷体" panose="02010609060101010101" pitchFamily="49" charset="-122"/>
                    <a:cs typeface="Arial" panose="020B0604020202020204" pitchFamily="34" charset="0"/>
                  </a:rPr>
                  <a:t>6】   </a:t>
                </a:r>
                <a:r>
                  <a:rPr lang="zh-CN" altLang="en-US" sz="2400" b="1" spc="-30" dirty="0">
                    <a:latin typeface="楷体" panose="02010609060101010101" pitchFamily="49" charset="-122"/>
                    <a:ea typeface="楷体" panose="02010609060101010101" pitchFamily="49" charset="-122"/>
                    <a:cs typeface="Arial" panose="020B0604020202020204" pitchFamily="34" charset="0"/>
                  </a:rPr>
                  <a:t>已知</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𝑿</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𝒙</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𝟏</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𝒙</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𝟐</m:t>
                    </m:r>
                  </m:oMath>
                </a14:m>
                <a:r>
                  <a:rPr lang="zh-CN" altLang="en-US" sz="2400" b="1" spc="-30" dirty="0" smtClean="0">
                    <a:latin typeface="楷体" panose="02010609060101010101" pitchFamily="49" charset="-122"/>
                    <a:ea typeface="楷体" panose="02010609060101010101" pitchFamily="49" charset="-122"/>
                    <a:cs typeface="Arial" panose="020B0604020202020204" pitchFamily="34" charset="0"/>
                  </a:rPr>
                  <a:t>和 </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𝒀</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𝒚</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𝟏</m:t>
                    </m:r>
                    <m:r>
                      <a:rPr lang="en-US" altLang="zh-CN" sz="2400" b="1" i="1" spc="-30" dirty="0">
                        <a:latin typeface="Cambria Math" panose="02040503050406030204" pitchFamily="18" charset="0"/>
                        <a:ea typeface="楷体" panose="02010609060101010101" pitchFamily="49" charset="-122"/>
                        <a:cs typeface="Arial" panose="020B0604020202020204" pitchFamily="34" charset="0"/>
                      </a:rPr>
                      <m:t>𝒚</m:t>
                    </m:r>
                    <m:r>
                      <a:rPr lang="en-US" altLang="zh-CN" sz="2400" b="1" i="1" spc="-30" baseline="-25000" dirty="0" smtClean="0">
                        <a:latin typeface="Cambria Math" panose="02040503050406030204" pitchFamily="18" charset="0"/>
                        <a:ea typeface="楷体" panose="02010609060101010101" pitchFamily="49" charset="-122"/>
                        <a:cs typeface="Arial" panose="020B0604020202020204" pitchFamily="34" charset="0"/>
                      </a:rPr>
                      <m:t>𝟐</m:t>
                    </m:r>
                  </m:oMath>
                </a14:m>
                <a:r>
                  <a:rPr lang="zh-CN" altLang="en-US" sz="2400" b="1" spc="-30" dirty="0" smtClean="0">
                    <a:latin typeface="楷体" panose="02010609060101010101" pitchFamily="49" charset="-122"/>
                    <a:ea typeface="楷体" panose="02010609060101010101" pitchFamily="49" charset="-122"/>
                    <a:cs typeface="Arial" panose="020B0604020202020204" pitchFamily="34" charset="0"/>
                  </a:rPr>
                  <a:t>是</a:t>
                </a:r>
                <a:r>
                  <a:rPr lang="zh-CN" altLang="en-US" sz="2400" b="1" spc="-30" dirty="0">
                    <a:latin typeface="楷体" panose="02010609060101010101" pitchFamily="49" charset="-122"/>
                    <a:ea typeface="楷体" panose="02010609060101010101" pitchFamily="49" charset="-122"/>
                    <a:cs typeface="Arial" panose="020B0604020202020204" pitchFamily="34" charset="0"/>
                  </a:rPr>
                  <a:t>两个正整数，写出判别</a:t>
                </a:r>
                <a14:m>
                  <m:oMath xmlns:m="http://schemas.openxmlformats.org/officeDocument/2006/math">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𝑿</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&gt;</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𝒀</m:t>
                    </m:r>
                    <m:r>
                      <a:rPr lang="en-US" altLang="zh-CN" sz="2400" b="1" i="1" spc="-30" dirty="0" smtClean="0">
                        <a:latin typeface="Cambria Math" panose="02040503050406030204" pitchFamily="18" charset="0"/>
                        <a:ea typeface="楷体" panose="02010609060101010101" pitchFamily="49" charset="-122"/>
                        <a:cs typeface="Arial" panose="020B0604020202020204" pitchFamily="34" charset="0"/>
                      </a:rPr>
                      <m:t> </m:t>
                    </m:r>
                  </m:oMath>
                </a14:m>
                <a:r>
                  <a:rPr lang="zh-CN" altLang="en-US" sz="2400" b="1" spc="-30" dirty="0">
                    <a:latin typeface="楷体" panose="02010609060101010101" pitchFamily="49" charset="-122"/>
                    <a:ea typeface="楷体" panose="02010609060101010101" pitchFamily="49" charset="-122"/>
                    <a:cs typeface="Arial" panose="020B0604020202020204" pitchFamily="34" charset="0"/>
                  </a:rPr>
                  <a:t>的逻辑表达式。</a:t>
                </a:r>
              </a:p>
            </p:txBody>
          </p:sp>
        </mc:Choice>
        <mc:Fallback xmlns="">
          <p:sp>
            <p:nvSpPr>
              <p:cNvPr id="8" name="矩形 7"/>
              <p:cNvSpPr>
                <a:spLocks noRot="1" noChangeAspect="1" noMove="1" noResize="1" noEditPoints="1" noAdjustHandles="1" noChangeArrowheads="1" noChangeShapeType="1" noTextEdit="1"/>
              </p:cNvSpPr>
              <p:nvPr/>
            </p:nvSpPr>
            <p:spPr>
              <a:xfrm>
                <a:off x="382402" y="0"/>
                <a:ext cx="6332434" cy="990015"/>
              </a:xfrm>
              <a:prstGeom prst="rect">
                <a:avLst/>
              </a:prstGeom>
              <a:blipFill>
                <a:blip r:embed="rId3"/>
                <a:stretch>
                  <a:fillRect l="-1540" t="-3086" r="-1251" b="-7407"/>
                </a:stretch>
              </a:blipFill>
            </p:spPr>
            <p:txBody>
              <a:bodyPr/>
              <a:lstStyle/>
              <a:p>
                <a:r>
                  <a:rPr lang="zh-CN" altLang="en-US">
                    <a:noFill/>
                  </a:rPr>
                  <a:t> </a:t>
                </a:r>
              </a:p>
            </p:txBody>
          </p:sp>
        </mc:Fallback>
      </mc:AlternateContent>
      <p:pic>
        <p:nvPicPr>
          <p:cNvPr id="2" name="图片 1"/>
          <p:cNvPicPr>
            <a:picLocks noChangeAspect="1"/>
          </p:cNvPicPr>
          <p:nvPr/>
        </p:nvPicPr>
        <p:blipFill>
          <a:blip r:embed="rId4"/>
          <a:stretch>
            <a:fillRect/>
          </a:stretch>
        </p:blipFill>
        <p:spPr>
          <a:xfrm>
            <a:off x="939030" y="2711457"/>
            <a:ext cx="7071973" cy="3848433"/>
          </a:xfrm>
          <a:prstGeom prst="rect">
            <a:avLst/>
          </a:prstGeom>
        </p:spPr>
      </p:pic>
    </p:spTree>
    <p:extLst>
      <p:ext uri="{BB962C8B-B14F-4D97-AF65-F5344CB8AC3E}">
        <p14:creationId xmlns:p14="http://schemas.microsoft.com/office/powerpoint/2010/main" val="21891516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367628" y="734301"/>
                <a:ext cx="8520546" cy="4632037"/>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由表</a:t>
                </a:r>
                <a:r>
                  <a:rPr lang="en-US" altLang="zh-CN" sz="2400" dirty="0">
                    <a:latin typeface="楷体" panose="02010609060101010101" pitchFamily="49" charset="-122"/>
                    <a:ea typeface="楷体" panose="02010609060101010101" pitchFamily="49" charset="-122"/>
                  </a:rPr>
                  <a:t>2.3</a:t>
                </a:r>
                <a:r>
                  <a:rPr lang="zh-CN" altLang="en-US" sz="2400" dirty="0">
                    <a:latin typeface="楷体" panose="02010609060101010101" pitchFamily="49" charset="-122"/>
                    <a:ea typeface="楷体" panose="02010609060101010101" pitchFamily="49" charset="-122"/>
                  </a:rPr>
                  <a:t>看出，要使</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=1</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𝑥</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1</m:t>
                    </m:r>
                    <m:r>
                      <a:rPr lang="en-US" altLang="zh-CN" sz="2400" i="1" spc="-30" dirty="0" smtClean="0">
                        <a:latin typeface="Cambria Math" panose="02040503050406030204" pitchFamily="18" charset="0"/>
                        <a:ea typeface="楷体" panose="02010609060101010101" pitchFamily="49" charset="-122"/>
                        <a:cs typeface="Arial" panose="020B0604020202020204" pitchFamily="34" charset="0"/>
                      </a:rPr>
                      <m:t>𝑦</m:t>
                    </m:r>
                    <m:r>
                      <a:rPr lang="en-US" altLang="zh-CN" sz="2400" i="1" spc="-30" baseline="-25000" dirty="0" smtClean="0">
                        <a:latin typeface="Cambria Math" panose="02040503050406030204" pitchFamily="18" charset="0"/>
                        <a:ea typeface="楷体" panose="02010609060101010101" pitchFamily="49" charset="-122"/>
                        <a:cs typeface="Arial" panose="020B0604020202020204" pitchFamily="34" charset="0"/>
                      </a:rPr>
                      <m:t>2</m:t>
                    </m:r>
                  </m:oMath>
                </a14:m>
                <a:r>
                  <a:rPr lang="zh-CN" altLang="en-US" sz="2400" dirty="0" smtClean="0">
                    <a:latin typeface="楷体" panose="02010609060101010101" pitchFamily="49" charset="-122"/>
                    <a:ea typeface="楷体" panose="02010609060101010101" pitchFamily="49" charset="-122"/>
                  </a:rPr>
                  <a:t>的</a:t>
                </a:r>
                <a:r>
                  <a:rPr lang="zh-CN" altLang="en-US" sz="2400" dirty="0">
                    <a:latin typeface="楷体" panose="02010609060101010101" pitchFamily="49" charset="-122"/>
                    <a:ea typeface="楷体" panose="02010609060101010101" pitchFamily="49" charset="-122"/>
                  </a:rPr>
                  <a:t>取值应</a:t>
                </a:r>
                <a:r>
                  <a:rPr lang="zh-CN" altLang="en-US" sz="2400" dirty="0" smtClean="0">
                    <a:latin typeface="楷体" panose="02010609060101010101" pitchFamily="49" charset="-122"/>
                    <a:ea typeface="楷体" panose="02010609060101010101" pitchFamily="49" charset="-122"/>
                  </a:rPr>
                  <a:t>为：</a:t>
                </a:r>
                <a:r>
                  <a:rPr lang="en-US" altLang="zh-CN" sz="2400" dirty="0" smtClean="0">
                    <a:latin typeface="楷体" panose="02010609060101010101" pitchFamily="49" charset="-122"/>
                    <a:ea typeface="楷体" panose="02010609060101010101" pitchFamily="49" charset="-122"/>
                  </a:rPr>
                  <a:t>1X0X, 0100, 1110</a:t>
                </a:r>
              </a:p>
              <a:p>
                <a:endParaRPr lang="en-US" altLang="zh-CN" sz="2400" dirty="0">
                  <a:latin typeface="楷体" panose="02010609060101010101" pitchFamily="49" charset="-122"/>
                  <a:ea typeface="楷体" panose="02010609060101010101" pitchFamily="49" charset="-122"/>
                </a:endParaRPr>
              </a:p>
              <a:p>
                <a:r>
                  <a:rPr lang="en-US" altLang="zh-CN" sz="2400" dirty="0" err="1" smtClean="0">
                    <a:latin typeface="楷体" panose="02010609060101010101" pitchFamily="49" charset="-122"/>
                    <a:ea typeface="楷体" panose="02010609060101010101" pitchFamily="49" charset="-122"/>
                  </a:rPr>
                  <a:t>它们对应的</a:t>
                </a:r>
                <a:r>
                  <a:rPr lang="en-US" altLang="zh-CN" sz="2400" b="1" dirty="0" err="1" smtClean="0">
                    <a:solidFill>
                      <a:srgbClr val="00B0F0"/>
                    </a:solidFill>
                    <a:latin typeface="楷体" panose="02010609060101010101" pitchFamily="49" charset="-122"/>
                    <a:ea typeface="楷体" panose="02010609060101010101" pitchFamily="49" charset="-122"/>
                  </a:rPr>
                  <a:t>乘积项</a:t>
                </a:r>
                <a:r>
                  <a:rPr lang="en-US" altLang="zh-CN" sz="2400" dirty="0" err="1" smtClean="0">
                    <a:latin typeface="楷体" panose="02010609060101010101" pitchFamily="49" charset="-122"/>
                    <a:ea typeface="楷体" panose="02010609060101010101" pitchFamily="49" charset="-122"/>
                  </a:rPr>
                  <a:t>为</a:t>
                </a:r>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r>
                      <m:rPr>
                        <m:sty m:val="p"/>
                      </m:rPr>
                      <a:rPr lang="en-US" altLang="zh-CN" sz="2400" i="1" dirty="0">
                        <a:latin typeface="Cambria Math" panose="02040503050406030204" pitchFamily="18" charset="0"/>
                      </a:rPr>
                      <m:t>x</m:t>
                    </m:r>
                    <m:r>
                      <a:rPr lang="en-US" altLang="zh-CN" sz="2400" b="0" i="1" baseline="-25000" dirty="0" smtClean="0">
                        <a:latin typeface="Cambria Math" panose="02040503050406030204" pitchFamily="18" charset="0"/>
                      </a:rPr>
                      <m:t>1</m:t>
                    </m:r>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𝑦</m:t>
                            </m:r>
                          </m:e>
                        </m:acc>
                      </m:e>
                      <m:sub>
                        <m:r>
                          <a:rPr lang="en-US" altLang="zh-CN" sz="2400" b="0" i="1" smtClean="0">
                            <a:latin typeface="Cambria Math" panose="02040503050406030204" pitchFamily="18" charset="0"/>
                          </a:rPr>
                          <m:t>1</m:t>
                        </m:r>
                      </m:sub>
                    </m:sSub>
                    <m:r>
                      <a:rPr lang="en-US" altLang="zh-CN" sz="2400" b="0" i="0" smtClean="0">
                        <a:latin typeface="Cambria Math" panose="02040503050406030204" pitchFamily="18" charset="0"/>
                      </a:rPr>
                      <m:t>,</m:t>
                    </m:r>
                    <m:sSub>
                      <m:sSubPr>
                        <m:ctrlPr>
                          <a:rPr lang="en-US" altLang="zh-CN" sz="2400" i="1">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 </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𝑥</m:t>
                            </m:r>
                          </m:e>
                        </m:acc>
                      </m:e>
                      <m:sub>
                        <m:r>
                          <a:rPr lang="en-US" altLang="zh-CN" sz="2400" i="1">
                            <a:latin typeface="Cambria Math" panose="02040503050406030204" pitchFamily="18" charset="0"/>
                          </a:rPr>
                          <m:t>1</m:t>
                        </m:r>
                      </m:sub>
                    </m:sSub>
                    <m:r>
                      <m:rPr>
                        <m:sty m:val="p"/>
                      </m:rPr>
                      <a:rPr lang="en-US" altLang="zh-CN" sz="2400" i="1" dirty="0">
                        <a:latin typeface="Cambria Math" panose="02040503050406030204" pitchFamily="18" charset="0"/>
                      </a:rPr>
                      <m:t>x</m:t>
                    </m:r>
                    <m:r>
                      <a:rPr lang="en-US" altLang="zh-CN" sz="2400" b="0" i="1" baseline="-25000" dirty="0" smtClean="0">
                        <a:latin typeface="Cambria Math" panose="02040503050406030204" pitchFamily="18" charset="0"/>
                      </a:rPr>
                      <m:t>2</m:t>
                    </m:r>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b="0" i="1" smtClean="0">
                            <a:latin typeface="Cambria Math" panose="02040503050406030204" pitchFamily="18" charset="0"/>
                          </a:rPr>
                          <m:t>2</m:t>
                        </m:r>
                      </m:sub>
                    </m:sSub>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b="0" i="0" dirty="0" smtClean="0">
                        <a:latin typeface="Cambria Math" panose="02040503050406030204" pitchFamily="18" charset="0"/>
                      </a:rPr>
                      <m:t>  </m:t>
                    </m:r>
                    <m:r>
                      <a:rPr lang="en-US" altLang="zh-CN" sz="2400" b="0" i="1" dirty="0" smtClean="0">
                        <a:latin typeface="Cambria Math" panose="02040503050406030204" pitchFamily="18" charset="0"/>
                      </a:rPr>
                      <m:t> </m:t>
                    </m:r>
                    <m:r>
                      <m:rPr>
                        <m:sty m:val="p"/>
                      </m:rPr>
                      <a:rPr lang="en-US" altLang="zh-CN" sz="2400" i="1" dirty="0">
                        <a:latin typeface="Cambria Math" panose="02040503050406030204" pitchFamily="18" charset="0"/>
                      </a:rPr>
                      <m:t>x</m:t>
                    </m:r>
                    <m:r>
                      <a:rPr lang="en-US" altLang="zh-CN" sz="2400" b="0" i="1" baseline="-25000" dirty="0" smtClean="0">
                        <a:latin typeface="Cambria Math" panose="02040503050406030204" pitchFamily="18" charset="0"/>
                      </a:rPr>
                      <m:t>1</m:t>
                    </m:r>
                    <m:r>
                      <m:rPr>
                        <m:sty m:val="p"/>
                      </m:rPr>
                      <a:rPr lang="en-US" altLang="zh-CN" sz="2400" i="1" dirty="0">
                        <a:latin typeface="Cambria Math" panose="02040503050406030204" pitchFamily="18" charset="0"/>
                      </a:rPr>
                      <m:t>x</m:t>
                    </m:r>
                    <m:r>
                      <a:rPr lang="en-US" altLang="zh-CN" sz="2400" i="1" baseline="-25000" dirty="0">
                        <a:latin typeface="Cambria Math" panose="02040503050406030204" pitchFamily="18" charset="0"/>
                      </a:rPr>
                      <m:t>2</m:t>
                    </m:r>
                    <m:r>
                      <a:rPr lang="en-US" altLang="zh-CN" sz="2400" b="0" i="1" dirty="0" smtClean="0">
                        <a:latin typeface="Cambria Math" panose="02040503050406030204" pitchFamily="18" charset="0"/>
                      </a:rPr>
                      <m:t>𝑦</m:t>
                    </m:r>
                    <m:r>
                      <a:rPr lang="en-US" altLang="zh-CN" sz="2400" b="0" i="1" baseline="-25000" dirty="0" smtClean="0">
                        <a:latin typeface="Cambria Math" panose="02040503050406030204" pitchFamily="18" charset="0"/>
                      </a:rPr>
                      <m:t>1</m:t>
                    </m:r>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b="0" i="1" smtClean="0">
                            <a:latin typeface="Cambria Math" panose="02040503050406030204" pitchFamily="18" charset="0"/>
                          </a:rPr>
                          <m:t>2</m:t>
                        </m:r>
                      </m:sub>
                    </m:sSub>
                  </m:oMath>
                </a14:m>
                <a:endParaRPr lang="en-US" altLang="zh-CN" sz="2400" dirty="0" smtClean="0">
                  <a:latin typeface="楷体" panose="02010609060101010101" pitchFamily="49" charset="-122"/>
                  <a:ea typeface="楷体" panose="02010609060101010101" pitchFamily="49" charset="-122"/>
                </a:endParaRPr>
              </a:p>
              <a:p>
                <a:endParaRPr lang="en-US" altLang="zh-CN" sz="2400" dirty="0" smtClean="0">
                  <a:latin typeface="楷体" panose="02010609060101010101" pitchFamily="49" charset="-122"/>
                  <a:ea typeface="楷体" panose="02010609060101010101" pitchFamily="49" charset="-122"/>
                </a:endParaRPr>
              </a:p>
              <a:p>
                <a:r>
                  <a:rPr lang="en-US" altLang="zh-CN" sz="2400" dirty="0" smtClean="0">
                    <a:latin typeface="楷体" panose="02010609060101010101" pitchFamily="49" charset="-122"/>
                    <a:ea typeface="楷体" panose="02010609060101010101" pitchFamily="49" charset="-122"/>
                  </a:rPr>
                  <a:t>故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 </m:t>
                    </m:r>
                  </m:oMath>
                </a14:m>
                <a:r>
                  <a:rPr lang="en-US" altLang="zh-CN" sz="2400" dirty="0" err="1" smtClean="0">
                    <a:latin typeface="楷体" panose="02010609060101010101" pitchFamily="49" charset="-122"/>
                    <a:ea typeface="楷体" panose="02010609060101010101" pitchFamily="49" charset="-122"/>
                  </a:rPr>
                  <a:t>的逻辑表达式为</a:t>
                </a:r>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dirty="0">
                        <a:latin typeface="Cambria Math" panose="02040503050406030204" pitchFamily="18" charset="0"/>
                      </a:rPr>
                      <m:t>𝐹</m:t>
                    </m:r>
                    <m:r>
                      <a:rPr lang="en-US" altLang="zh-CN" sz="2400" i="1" dirty="0">
                        <a:latin typeface="Cambria Math" panose="02040503050406030204" pitchFamily="18" charset="0"/>
                      </a:rPr>
                      <m:t>=</m:t>
                    </m:r>
                    <m:r>
                      <m:rPr>
                        <m:sty m:val="p"/>
                      </m:rPr>
                      <a:rPr lang="en-US" altLang="zh-CN" sz="2400" i="1" dirty="0">
                        <a:latin typeface="Cambria Math" panose="02040503050406030204" pitchFamily="18" charset="0"/>
                      </a:rPr>
                      <m:t>x</m:t>
                    </m:r>
                    <m:r>
                      <a:rPr lang="en-US" altLang="zh-CN" sz="2400" i="1" baseline="-25000" dirty="0">
                        <a:latin typeface="Cambria Math" panose="02040503050406030204" pitchFamily="18" charset="0"/>
                      </a:rPr>
                      <m:t>1</m:t>
                    </m:r>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ea typeface="楷体" panose="02010609060101010101" pitchFamily="49" charset="-122"/>
                          </a:rPr>
                        </m:ctrlPr>
                      </m:sSubPr>
                      <m:e>
                        <m:r>
                          <a:rPr lang="en-US" altLang="zh-CN" sz="2400" i="1">
                            <a:latin typeface="Cambria Math" panose="02040503050406030204" pitchFamily="18" charset="0"/>
                            <a:ea typeface="楷体" panose="02010609060101010101" pitchFamily="49" charset="-122"/>
                          </a:rPr>
                          <m:t> </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e>
                      <m:sub>
                        <m:r>
                          <a:rPr lang="en-US" altLang="zh-CN" sz="2400" i="1">
                            <a:latin typeface="Cambria Math" panose="02040503050406030204" pitchFamily="18" charset="0"/>
                          </a:rPr>
                          <m:t>1</m:t>
                        </m:r>
                      </m:sub>
                    </m:sSub>
                    <m:r>
                      <m:rPr>
                        <m:sty m:val="p"/>
                      </m:rPr>
                      <a:rPr lang="en-US" altLang="zh-CN" sz="2400" i="1" dirty="0">
                        <a:latin typeface="Cambria Math" panose="02040503050406030204" pitchFamily="18" charset="0"/>
                      </a:rPr>
                      <m:t>x</m:t>
                    </m:r>
                    <m:r>
                      <a:rPr lang="en-US" altLang="zh-CN" sz="2400" i="1" baseline="-25000" dirty="0">
                        <a:latin typeface="Cambria Math" panose="02040503050406030204" pitchFamily="18" charset="0"/>
                      </a:rPr>
                      <m:t>2</m:t>
                    </m:r>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r>
                      <m:rPr>
                        <m:sty m:val="p"/>
                      </m:rPr>
                      <a:rPr lang="en-US" altLang="zh-CN" sz="2400" i="1" dirty="0">
                        <a:latin typeface="Cambria Math" panose="02040503050406030204" pitchFamily="18" charset="0"/>
                      </a:rPr>
                      <m:t>x</m:t>
                    </m:r>
                    <m:r>
                      <a:rPr lang="en-US" altLang="zh-CN" sz="2400" i="1" baseline="-25000" dirty="0">
                        <a:latin typeface="Cambria Math" panose="02040503050406030204" pitchFamily="18" charset="0"/>
                      </a:rPr>
                      <m:t>1</m:t>
                    </m:r>
                    <m:r>
                      <m:rPr>
                        <m:sty m:val="p"/>
                      </m:rPr>
                      <a:rPr lang="en-US" altLang="zh-CN" sz="2400" i="1" dirty="0">
                        <a:latin typeface="Cambria Math" panose="02040503050406030204" pitchFamily="18" charset="0"/>
                      </a:rPr>
                      <m:t>x</m:t>
                    </m:r>
                    <m:r>
                      <a:rPr lang="en-US" altLang="zh-CN" sz="2400" i="1" baseline="-25000" dirty="0">
                        <a:latin typeface="Cambria Math" panose="02040503050406030204" pitchFamily="18" charset="0"/>
                      </a:rPr>
                      <m:t>2</m:t>
                    </m:r>
                    <m:r>
                      <a:rPr lang="en-US" altLang="zh-CN" sz="2400" i="1" dirty="0">
                        <a:latin typeface="Cambria Math" panose="02040503050406030204" pitchFamily="18" charset="0"/>
                      </a:rPr>
                      <m:t>𝑦</m:t>
                    </m:r>
                    <m:r>
                      <a:rPr lang="en-US" altLang="zh-CN" sz="2400" i="1" baseline="-25000" dirty="0">
                        <a:latin typeface="Cambria Math" panose="02040503050406030204" pitchFamily="18" charset="0"/>
                      </a:rPr>
                      <m:t>1</m:t>
                    </m:r>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i="1">
                            <a:latin typeface="Cambria Math" panose="02040503050406030204" pitchFamily="18" charset="0"/>
                          </a:rPr>
                          <m:t>2</m:t>
                        </m:r>
                      </m:sub>
                    </m:sSub>
                  </m:oMath>
                </a14:m>
                <a:endParaRPr lang="en-US" altLang="zh-CN" sz="2400" i="1" dirty="0">
                  <a:latin typeface="楷体" panose="02010609060101010101" pitchFamily="49" charset="-122"/>
                  <a:ea typeface="楷体" panose="02010609060101010101" pitchFamily="49" charset="-122"/>
                </a:endParaRPr>
              </a:p>
              <a:p>
                <a:endParaRPr lang="zh-CN" altLang="zh-CN" sz="2400" dirty="0">
                  <a:latin typeface="楷体" panose="02010609060101010101" pitchFamily="49" charset="-122"/>
                  <a:ea typeface="楷体" panose="02010609060101010101" pitchFamily="49" charset="-122"/>
                </a:endParaRPr>
              </a:p>
              <a:p>
                <a:pPr>
                  <a:lnSpc>
                    <a:spcPts val="3500"/>
                  </a:lnSpc>
                </a:pPr>
                <a:r>
                  <a:rPr lang="zh-CN" altLang="en-US" sz="2400" dirty="0" smtClean="0">
                    <a:latin typeface="楷体" panose="02010609060101010101" pitchFamily="49" charset="-122"/>
                    <a:ea typeface="楷体" panose="02010609060101010101" pitchFamily="49" charset="-122"/>
                  </a:rPr>
                  <a:t>结语：本</a:t>
                </a:r>
                <a:r>
                  <a:rPr lang="zh-CN" altLang="en-US" sz="2400" dirty="0">
                    <a:latin typeface="楷体" panose="02010609060101010101" pitchFamily="49" charset="-122"/>
                    <a:ea typeface="楷体" panose="02010609060101010101" pitchFamily="49" charset="-122"/>
                  </a:rPr>
                  <a:t>例通过简化真值表列出逻辑表达式，而简化真值表是通过对设计要求的</a:t>
                </a:r>
                <a:r>
                  <a:rPr lang="zh-CN" altLang="en-US" sz="2400" dirty="0" smtClean="0">
                    <a:latin typeface="楷体" panose="02010609060101010101" pitchFamily="49" charset="-122"/>
                    <a:ea typeface="楷体" panose="02010609060101010101" pitchFamily="49" charset="-122"/>
                  </a:rPr>
                  <a:t>分析建立</a:t>
                </a:r>
                <a:r>
                  <a:rPr lang="zh-CN" altLang="en-US" sz="2400" dirty="0">
                    <a:latin typeface="楷体" panose="02010609060101010101" pitchFamily="49" charset="-122"/>
                    <a:ea typeface="楷体" panose="02010609060101010101" pitchFamily="49" charset="-122"/>
                  </a:rPr>
                  <a:t>的</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endParaRPr lang="en-US" altLang="zh-CN" sz="2400" dirty="0">
                  <a:latin typeface="楷体" panose="02010609060101010101" pitchFamily="49" charset="-122"/>
                  <a:ea typeface="楷体" panose="02010609060101010101" pitchFamily="49" charset="-122"/>
                </a:endParaRPr>
              </a:p>
              <a:p>
                <a:pPr>
                  <a:lnSpc>
                    <a:spcPts val="3500"/>
                  </a:lnSpc>
                </a:pPr>
                <a:endParaRPr lang="zh-CN" altLang="en-US" sz="2400" dirty="0">
                  <a:latin typeface="楷体" panose="02010609060101010101" pitchFamily="49" charset="-122"/>
                  <a:ea typeface="楷体" panose="02010609060101010101" pitchFamily="49"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367628" y="734301"/>
                <a:ext cx="8520546" cy="4632037"/>
              </a:xfrm>
              <a:prstGeom prst="rect">
                <a:avLst/>
              </a:prstGeom>
              <a:blipFill>
                <a:blip r:embed="rId2"/>
                <a:stretch>
                  <a:fillRect l="-1073" t="-658" r="-19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69883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86910" y="255447"/>
            <a:ext cx="5156960" cy="2677656"/>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【例7</a:t>
            </a:r>
            <a:r>
              <a:rPr lang="en-US" altLang="zh-CN" sz="2400" dirty="0" smtClean="0">
                <a:latin typeface="楷体" panose="02010609060101010101" pitchFamily="49" charset="-122"/>
                <a:ea typeface="楷体" panose="02010609060101010101" pitchFamily="49" charset="-122"/>
              </a:rPr>
              <a:t>】 </a:t>
            </a:r>
            <a:r>
              <a:rPr lang="zh-CN" altLang="en-US" sz="2400" spc="-30" dirty="0" smtClean="0">
                <a:latin typeface="楷体" panose="02010609060101010101" pitchFamily="49" charset="-122"/>
                <a:ea typeface="楷体" panose="02010609060101010101" pitchFamily="49" charset="-122"/>
                <a:cs typeface="Arial" panose="020B0604020202020204" pitchFamily="34" charset="0"/>
              </a:rPr>
              <a:t>某</a:t>
            </a:r>
            <a:r>
              <a:rPr lang="zh-CN" altLang="en-US" sz="2400" spc="-30" dirty="0">
                <a:latin typeface="楷体" panose="02010609060101010101" pitchFamily="49" charset="-122"/>
                <a:ea typeface="楷体" panose="02010609060101010101" pitchFamily="49" charset="-122"/>
                <a:cs typeface="Arial" panose="020B0604020202020204" pitchFamily="34" charset="0"/>
              </a:rPr>
              <a:t>民航客机的安全起飞装置在同时满足下列条件时，发出允许滑跑信号：①</a:t>
            </a:r>
            <a:r>
              <a:rPr lang="zh-CN" altLang="en-US" sz="2400" spc="-30" dirty="0" smtClean="0">
                <a:latin typeface="楷体" panose="02010609060101010101" pitchFamily="49" charset="-122"/>
                <a:ea typeface="楷体" panose="02010609060101010101" pitchFamily="49" charset="-122"/>
                <a:cs typeface="Arial" panose="020B0604020202020204" pitchFamily="34" charset="0"/>
              </a:rPr>
              <a:t>发动机</a:t>
            </a:r>
            <a:r>
              <a:rPr lang="zh-CN" altLang="en-US" sz="2400" spc="-30" dirty="0">
                <a:latin typeface="楷体" panose="02010609060101010101" pitchFamily="49" charset="-122"/>
                <a:ea typeface="楷体" panose="02010609060101010101" pitchFamily="49" charset="-122"/>
                <a:cs typeface="Arial" panose="020B0604020202020204" pitchFamily="34" charset="0"/>
              </a:rPr>
              <a:t>开关接通；②飞行员入座，且座位保险带已扣上；③乘客入座，且座位保险带已扣</a:t>
            </a:r>
            <a:r>
              <a:rPr lang="zh-CN" altLang="en-US" sz="2400" spc="-30" dirty="0" smtClean="0">
                <a:latin typeface="楷体" panose="02010609060101010101" pitchFamily="49" charset="-122"/>
                <a:ea typeface="楷体" panose="02010609060101010101" pitchFamily="49" charset="-122"/>
                <a:cs typeface="Arial" panose="020B0604020202020204" pitchFamily="34" charset="0"/>
              </a:rPr>
              <a:t>上，或</a:t>
            </a:r>
            <a:r>
              <a:rPr lang="zh-CN" altLang="en-US" sz="2400" spc="-30" dirty="0">
                <a:latin typeface="楷体" panose="02010609060101010101" pitchFamily="49" charset="-122"/>
                <a:ea typeface="楷体" panose="02010609060101010101" pitchFamily="49" charset="-122"/>
                <a:cs typeface="Arial" panose="020B0604020202020204" pitchFamily="34" charset="0"/>
              </a:rPr>
              <a:t>座位上无乘客。试写出允许发出滑跑信号的逻辑表达式。</a:t>
            </a:r>
          </a:p>
        </p:txBody>
      </p:sp>
      <mc:AlternateContent xmlns:mc="http://schemas.openxmlformats.org/markup-compatibility/2006" xmlns:a14="http://schemas.microsoft.com/office/drawing/2010/main">
        <mc:Choice Requires="a14">
          <p:sp>
            <p:nvSpPr>
              <p:cNvPr id="4" name="矩形 3"/>
              <p:cNvSpPr/>
              <p:nvPr/>
            </p:nvSpPr>
            <p:spPr>
              <a:xfrm>
                <a:off x="415637" y="3045603"/>
                <a:ext cx="8377381" cy="3785652"/>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解</a:t>
                </a:r>
                <a:r>
                  <a:rPr lang="zh-CN" altLang="en-US"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 </a:t>
                </a:r>
                <a:r>
                  <a:rPr lang="en-US" altLang="zh-CN" sz="2400" dirty="0" err="1">
                    <a:latin typeface="楷体" panose="02010609060101010101" pitchFamily="49" charset="-122"/>
                    <a:ea typeface="楷体" panose="02010609060101010101" pitchFamily="49" charset="-122"/>
                  </a:rPr>
                  <a:t>该装置的输入变量有</a:t>
                </a:r>
                <a:r>
                  <a:rPr lang="en-US" altLang="zh-CN" sz="2400" dirty="0" smtClean="0">
                    <a:latin typeface="楷体" panose="02010609060101010101" pitchFamily="49" charset="-122"/>
                    <a:ea typeface="楷体" panose="02010609060101010101" pitchFamily="49" charset="-122"/>
                  </a:rPr>
                  <a:t>：</a:t>
                </a:r>
              </a:p>
              <a:p>
                <a:pPr marL="1000125" indent="-457200" eaLnBrk="0">
                  <a:buFont typeface="+mj-lt"/>
                  <a:buAutoNum type="arabicPeriod"/>
                </a:pPr>
                <a:r>
                  <a:rPr lang="en-US" altLang="zh-CN" sz="2400" dirty="0" err="1">
                    <a:latin typeface="楷体" panose="02010609060101010101" pitchFamily="49" charset="-122"/>
                    <a:ea typeface="楷体" panose="02010609060101010101" pitchFamily="49" charset="-122"/>
                  </a:rPr>
                  <a:t>发动机启动信号S</a:t>
                </a:r>
                <a:r>
                  <a:rPr lang="en-US" altLang="zh-CN" sz="2400" dirty="0">
                    <a:latin typeface="楷体" panose="02010609060101010101" pitchFamily="49" charset="-122"/>
                    <a:ea typeface="楷体" panose="02010609060101010101" pitchFamily="49" charset="-122"/>
                  </a:rPr>
                  <a:t>(</a:t>
                </a:r>
                <a:r>
                  <a:rPr lang="en-US" altLang="zh-CN" sz="2400" dirty="0" err="1">
                    <a:latin typeface="楷体" panose="02010609060101010101" pitchFamily="49" charset="-122"/>
                    <a:ea typeface="楷体" panose="02010609060101010101" pitchFamily="49" charset="-122"/>
                  </a:rPr>
                  <a:t>发动机启动时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𝑆</m:t>
                    </m:r>
                    <m:r>
                      <a:rPr lang="en-US" altLang="zh-CN" sz="2400" i="1" dirty="0">
                        <a:latin typeface="Cambria Math" panose="02040503050406030204" pitchFamily="18" charset="0"/>
                        <a:ea typeface="楷体" panose="02010609060101010101" pitchFamily="49" charset="-122"/>
                      </a:rPr>
                      <m:t>=1</m:t>
                    </m:r>
                  </m:oMath>
                </a14:m>
                <a:r>
                  <a:rPr lang="en-US" altLang="zh-CN" sz="2400" dirty="0" smtClean="0">
                    <a:latin typeface="楷体" panose="02010609060101010101" pitchFamily="49" charset="-122"/>
                    <a:ea typeface="楷体" panose="02010609060101010101" pitchFamily="49" charset="-122"/>
                  </a:rPr>
                  <a:t>);</a:t>
                </a:r>
              </a:p>
              <a:p>
                <a:pPr marL="1000125" indent="-457200" eaLnBrk="0">
                  <a:buFont typeface="+mj-lt"/>
                  <a:buAutoNum type="arabicPeriod"/>
                </a:pPr>
                <a:r>
                  <a:rPr lang="zh-CN" altLang="en-US" sz="2400" dirty="0">
                    <a:latin typeface="楷体" panose="02010609060101010101" pitchFamily="49" charset="-122"/>
                    <a:ea typeface="楷体" panose="02010609060101010101" pitchFamily="49" charset="-122"/>
                  </a:rPr>
                  <a:t>飞行员入座信号</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飞行员入座时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m:t>
                    </m:r>
                    <m:r>
                      <a:rPr lang="en-US" altLang="zh-CN" sz="2400" i="1" dirty="0" smtClean="0">
                        <a:latin typeface="Cambria Math" panose="02040503050406030204" pitchFamily="18" charset="0"/>
                        <a:ea typeface="楷体" panose="02010609060101010101" pitchFamily="49" charset="-122"/>
                      </a:rPr>
                      <m:t>=1</m:t>
                    </m:r>
                  </m:oMath>
                </a14:m>
                <a:r>
                  <a:rPr lang="en-US" altLang="zh-CN" sz="2400" dirty="0" smtClean="0">
                    <a:latin typeface="楷体" panose="02010609060101010101" pitchFamily="49" charset="-122"/>
                    <a:ea typeface="楷体" panose="02010609060101010101" pitchFamily="49" charset="-122"/>
                  </a:rPr>
                  <a:t>);</a:t>
                </a:r>
              </a:p>
              <a:p>
                <a:pPr marL="1000125" indent="-457200" eaLnBrk="0">
                  <a:buFont typeface="+mj-lt"/>
                  <a:buAutoNum type="arabicPeriod"/>
                </a:pPr>
                <a:r>
                  <a:rPr lang="zh-CN" altLang="en-US" sz="2400" dirty="0">
                    <a:latin typeface="楷体" panose="02010609060101010101" pitchFamily="49" charset="-122"/>
                    <a:ea typeface="楷体" panose="02010609060101010101" pitchFamily="49" charset="-122"/>
                  </a:rPr>
                  <a:t>飞行员座位保险带已扣上信号 </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飞行员座位保险带扣 上时，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dirty="0" smtClean="0">
                        <a:latin typeface="Cambria Math" panose="02040503050406030204" pitchFamily="18" charset="0"/>
                        <a:ea typeface="楷体" panose="02010609060101010101" pitchFamily="49" charset="-122"/>
                      </a:rPr>
                      <m:t>=1</m:t>
                    </m:r>
                  </m:oMath>
                </a14:m>
                <a:r>
                  <a:rPr lang="en-US" altLang="zh-CN" sz="2400" dirty="0" smtClean="0">
                    <a:latin typeface="楷体" panose="02010609060101010101" pitchFamily="49" charset="-122"/>
                    <a:ea typeface="楷体" panose="02010609060101010101" pitchFamily="49" charset="-122"/>
                  </a:rPr>
                  <a:t>);</a:t>
                </a:r>
              </a:p>
              <a:p>
                <a:pPr marL="1000125" indent="-457200" eaLnBrk="0">
                  <a:buFont typeface="+mj-lt"/>
                  <a:buAutoNum type="arabicPeriod"/>
                </a:pPr>
                <a:r>
                  <a:rPr lang="zh-CN" altLang="en-US" sz="2400" dirty="0">
                    <a:latin typeface="楷体" panose="02010609060101010101" pitchFamily="49" charset="-122"/>
                    <a:ea typeface="楷体" panose="02010609060101010101" pitchFamily="49" charset="-122"/>
                  </a:rPr>
                  <a:t>乘客座位状态信号</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𝑀</m:t>
                    </m:r>
                    <m:r>
                      <a:rPr lang="en-US" altLang="zh-CN" sz="2400" i="1" baseline="-25000" dirty="0" err="1"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有乘客</a:t>
                </a:r>
                <a:r>
                  <a:rPr lang="zh-CN" altLang="en-US" sz="2400" dirty="0" smtClean="0">
                    <a:latin typeface="楷体" panose="02010609060101010101" pitchFamily="49" charset="-122"/>
                    <a:ea typeface="楷体" panose="02010609060101010101" pitchFamily="49" charset="-122"/>
                  </a:rPr>
                  <a:t>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𝑀</m:t>
                    </m:r>
                    <m:r>
                      <a:rPr lang="en-US" altLang="zh-CN" sz="2400" i="1" baseline="-25000" dirty="0" err="1" smtClean="0">
                        <a:latin typeface="Cambria Math" panose="02040503050406030204" pitchFamily="18" charset="0"/>
                        <a:ea typeface="楷体" panose="02010609060101010101" pitchFamily="49" charset="-122"/>
                      </a:rPr>
                      <m:t>𝑖</m:t>
                    </m:r>
                    <m:r>
                      <a:rPr lang="en-US" altLang="zh-CN" sz="2400" i="1" dirty="0" smtClean="0">
                        <a:latin typeface="Cambria Math" panose="02040503050406030204" pitchFamily="18" charset="0"/>
                        <a:ea typeface="楷体" panose="02010609060101010101" pitchFamily="49" charset="-122"/>
                      </a:rPr>
                      <m:t>=1</m:t>
                    </m:r>
                  </m:oMath>
                </a14:m>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无乘客</a:t>
                </a:r>
                <a:r>
                  <a:rPr lang="zh-CN" altLang="en-US" sz="2400" dirty="0" smtClean="0">
                    <a:latin typeface="楷体" panose="02010609060101010101" pitchFamily="49" charset="-122"/>
                    <a:ea typeface="楷体" panose="02010609060101010101" pitchFamily="49" charset="-122"/>
                  </a:rPr>
                  <a:t>时</a:t>
                </a:r>
                <a:r>
                  <a:rPr lang="en-US" altLang="zh-CN" sz="2400" i="0" dirty="0" err="1" smtClean="0">
                    <a:latin typeface="+mj-lt"/>
                    <a:ea typeface="楷体" panose="02010609060101010101" pitchFamily="49" charset="-122"/>
                  </a:rPr>
                  <a:t>M</a:t>
                </a:r>
                <a:r>
                  <a:rPr lang="en-US" altLang="zh-CN" sz="2400" i="0" baseline="-25000" dirty="0" err="1" smtClean="0">
                    <a:latin typeface="+mj-lt"/>
                    <a:ea typeface="楷体" panose="02010609060101010101" pitchFamily="49" charset="-122"/>
                  </a:rPr>
                  <a:t>i</a:t>
                </a:r>
                <a:r>
                  <a:rPr lang="en-US" altLang="zh-CN" sz="2400" i="0" baseline="-25000" dirty="0" smtClean="0">
                    <a:latin typeface="+mj-lt"/>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=0,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𝑖</m:t>
                    </m:r>
                  </m:oMath>
                </a14:m>
                <a:r>
                  <a:rPr lang="en-US" altLang="zh-CN" sz="2400" dirty="0">
                    <a:latin typeface="楷体" panose="02010609060101010101" pitchFamily="49" charset="-122"/>
                    <a:ea typeface="楷体" panose="02010609060101010101" pitchFamily="49" charset="-122"/>
                  </a:rPr>
                  <a:t>=1,2,3,…,n</a:t>
                </a:r>
                <a:r>
                  <a:rPr lang="en-US" altLang="zh-CN" sz="2400" dirty="0" smtClean="0">
                    <a:latin typeface="楷体" panose="02010609060101010101" pitchFamily="49" charset="-122"/>
                    <a:ea typeface="楷体" panose="02010609060101010101" pitchFamily="49" charset="-122"/>
                  </a:rPr>
                  <a:t>);</a:t>
                </a:r>
              </a:p>
              <a:p>
                <a:pPr marL="1000125" indent="-457200" eaLnBrk="0">
                  <a:buFont typeface="+mj-lt"/>
                  <a:buAutoNum type="arabicPeriod"/>
                </a:pPr>
                <a:r>
                  <a:rPr lang="zh-CN" altLang="en-US" sz="2400" dirty="0">
                    <a:latin typeface="楷体" panose="02010609060101010101" pitchFamily="49" charset="-122"/>
                    <a:ea typeface="楷体" panose="02010609060101010101" pitchFamily="49" charset="-122"/>
                  </a:rPr>
                  <a:t>乘客座位保险带扣上信号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𝑁</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乘客座位保险带扣上</a:t>
                </a:r>
                <a:r>
                  <a:rPr lang="zh-CN" altLang="en-US" sz="2400" dirty="0" smtClean="0">
                    <a:latin typeface="楷体" panose="02010609060101010101" pitchFamily="49" charset="-122"/>
                    <a:ea typeface="楷体" panose="02010609060101010101" pitchFamily="49" charset="-122"/>
                  </a:rPr>
                  <a:t>时</a:t>
                </a:r>
                <a14:m>
                  <m:oMath xmlns:m="http://schemas.openxmlformats.org/officeDocument/2006/math">
                    <m:r>
                      <a:rPr lang="en-US" altLang="zh-CN" sz="2400" i="1" dirty="0">
                        <a:latin typeface="Cambria Math" panose="02040503050406030204" pitchFamily="18" charset="0"/>
                        <a:ea typeface="楷体" panose="02010609060101010101" pitchFamily="49" charset="-122"/>
                      </a:rPr>
                      <m:t>𝑁</m:t>
                    </m:r>
                    <m:r>
                      <a:rPr lang="en-US" altLang="zh-CN" sz="2400" i="1" baseline="-25000" dirty="0">
                        <a:latin typeface="Cambria Math" panose="02040503050406030204" pitchFamily="18" charset="0"/>
                        <a:ea typeface="楷体" panose="02010609060101010101" pitchFamily="49" charset="-122"/>
                      </a:rPr>
                      <m:t>𝑖</m:t>
                    </m:r>
                    <m:r>
                      <a:rPr lang="en-US" altLang="zh-CN" sz="2400" i="1" dirty="0" smtClean="0">
                        <a:latin typeface="Cambria Math" panose="02040503050406030204" pitchFamily="18" charset="0"/>
                        <a:ea typeface="楷体" panose="02010609060101010101" pitchFamily="49" charset="-122"/>
                      </a:rPr>
                      <m:t>=1</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=1,2,3</a:t>
                </a:r>
                <a:r>
                  <a:rPr lang="en-US" altLang="zh-CN" sz="2400" dirty="0">
                    <a:latin typeface="楷体" panose="02010609060101010101" pitchFamily="49" charset="-122"/>
                    <a:ea typeface="楷体" panose="02010609060101010101" pitchFamily="49" charset="-122"/>
                  </a:rPr>
                  <a:t>,…,n)</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marL="1000125" indent="-457200" eaLnBrk="0">
                  <a:buFont typeface="+mj-lt"/>
                  <a:buAutoNum type="arabicPeriod"/>
                </a:pPr>
                <a:endParaRPr lang="en-US" altLang="zh-CN"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415637" y="3045603"/>
                <a:ext cx="8377381" cy="3785652"/>
              </a:xfrm>
              <a:prstGeom prst="rect">
                <a:avLst/>
              </a:prstGeom>
              <a:blipFill>
                <a:blip r:embed="rId2"/>
                <a:stretch>
                  <a:fillRect l="-1092" t="-1288" r="-801"/>
                </a:stretch>
              </a:blipFill>
            </p:spPr>
            <p:txBody>
              <a:bodyPr/>
              <a:lstStyle/>
              <a:p>
                <a:r>
                  <a:rPr lang="zh-CN" altLang="en-US">
                    <a:noFill/>
                  </a:rPr>
                  <a:t> </a:t>
                </a:r>
              </a:p>
            </p:txBody>
          </p:sp>
        </mc:Fallback>
      </mc:AlternateContent>
      <p:grpSp>
        <p:nvGrpSpPr>
          <p:cNvPr id="5" name="组合 4"/>
          <p:cNvGrpSpPr/>
          <p:nvPr/>
        </p:nvGrpSpPr>
        <p:grpSpPr>
          <a:xfrm>
            <a:off x="5545828" y="299847"/>
            <a:ext cx="3335298" cy="2942397"/>
            <a:chOff x="5545828" y="299847"/>
            <a:chExt cx="3335298" cy="2942397"/>
          </a:xfrm>
        </p:grpSpPr>
        <p:pic>
          <p:nvPicPr>
            <p:cNvPr id="2" name="图片 1"/>
            <p:cNvPicPr>
              <a:picLocks noChangeAspect="1"/>
            </p:cNvPicPr>
            <p:nvPr/>
          </p:nvPicPr>
          <p:blipFill>
            <a:blip r:embed="rId3"/>
            <a:stretch>
              <a:fillRect/>
            </a:stretch>
          </p:blipFill>
          <p:spPr>
            <a:xfrm>
              <a:off x="5756817" y="299847"/>
              <a:ext cx="2913321" cy="2475732"/>
            </a:xfrm>
            <a:prstGeom prst="rect">
              <a:avLst/>
            </a:prstGeom>
          </p:spPr>
        </p:pic>
        <p:pic>
          <p:nvPicPr>
            <p:cNvPr id="3" name="图片 2"/>
            <p:cNvPicPr>
              <a:picLocks noChangeAspect="1"/>
            </p:cNvPicPr>
            <p:nvPr/>
          </p:nvPicPr>
          <p:blipFill>
            <a:blip r:embed="rId4"/>
            <a:stretch>
              <a:fillRect/>
            </a:stretch>
          </p:blipFill>
          <p:spPr>
            <a:xfrm>
              <a:off x="5545828" y="2989041"/>
              <a:ext cx="3335298" cy="253203"/>
            </a:xfrm>
            <a:prstGeom prst="rect">
              <a:avLst/>
            </a:prstGeom>
          </p:spPr>
        </p:pic>
      </p:grpSp>
    </p:spTree>
    <p:extLst>
      <p:ext uri="{BB962C8B-B14F-4D97-AF65-F5344CB8AC3E}">
        <p14:creationId xmlns:p14="http://schemas.microsoft.com/office/powerpoint/2010/main" val="39726870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p:cNvSpPr/>
              <p:nvPr/>
            </p:nvSpPr>
            <p:spPr>
              <a:xfrm>
                <a:off x="536188" y="634803"/>
                <a:ext cx="8139979" cy="990015"/>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该装置的输出变量为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oMath>
                </a14:m>
                <a:r>
                  <a:rPr lang="zh-CN" altLang="en-US" sz="2400" dirty="0">
                    <a:latin typeface="楷体" panose="02010609060101010101" pitchFamily="49" charset="-122"/>
                    <a:ea typeface="楷体" panose="02010609060101010101" pitchFamily="49" charset="-122"/>
                  </a:rPr>
                  <a:t>。显然，当允许飞机滑跑的条件满足时，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=1</m:t>
                    </m:r>
                  </m:oMath>
                </a14:m>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。该装置的逻辑组成框图如图</a:t>
                </a:r>
                <a:r>
                  <a:rPr lang="en-US" altLang="zh-CN" sz="2400" dirty="0">
                    <a:latin typeface="楷体" panose="02010609060101010101" pitchFamily="49" charset="-122"/>
                    <a:ea typeface="楷体" panose="02010609060101010101" pitchFamily="49" charset="-122"/>
                  </a:rPr>
                  <a:t>2.10</a:t>
                </a:r>
                <a:r>
                  <a:rPr lang="zh-CN" altLang="en-US" sz="2400" dirty="0">
                    <a:latin typeface="楷体" panose="02010609060101010101" pitchFamily="49" charset="-122"/>
                    <a:ea typeface="楷体" panose="02010609060101010101" pitchFamily="49" charset="-122"/>
                  </a:rPr>
                  <a:t>所示。</a:t>
                </a:r>
              </a:p>
            </p:txBody>
          </p:sp>
        </mc:Choice>
        <mc:Fallback xmlns="">
          <p:sp>
            <p:nvSpPr>
              <p:cNvPr id="8" name="矩形 7"/>
              <p:cNvSpPr>
                <a:spLocks noRot="1" noChangeAspect="1" noMove="1" noResize="1" noEditPoints="1" noAdjustHandles="1" noChangeArrowheads="1" noChangeShapeType="1" noTextEdit="1"/>
              </p:cNvSpPr>
              <p:nvPr/>
            </p:nvSpPr>
            <p:spPr>
              <a:xfrm>
                <a:off x="536188" y="634803"/>
                <a:ext cx="8139979" cy="990015"/>
              </a:xfrm>
              <a:prstGeom prst="rect">
                <a:avLst/>
              </a:prstGeom>
              <a:blipFill>
                <a:blip r:embed="rId2"/>
                <a:stretch>
                  <a:fillRect l="-1199" t="-3067" b="-67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536188" y="1794494"/>
                <a:ext cx="8237589" cy="1887696"/>
              </a:xfrm>
              <a:prstGeom prst="rect">
                <a:avLst/>
              </a:prstGeom>
            </p:spPr>
            <p:txBody>
              <a:bodyPr wrap="square">
                <a:spAutoFit/>
              </a:bodyPr>
              <a:lstStyle/>
              <a:p>
                <a:pPr>
                  <a:lnSpc>
                    <a:spcPts val="3500"/>
                  </a:lnSpc>
                </a:pPr>
                <a:r>
                  <a:rPr lang="en-US" altLang="zh-CN" sz="2400" dirty="0" smtClean="0">
                    <a:latin typeface="楷体" panose="02010609060101010101" pitchFamily="49" charset="-122"/>
                    <a:ea typeface="楷体" panose="02010609060101010101" pitchFamily="49" charset="-122"/>
                  </a:rPr>
                  <a:t>由此可列出下列逻辑表达式</a:t>
                </a:r>
                <a:r>
                  <a:rPr lang="en-US" altLang="zh-CN" sz="2400" dirty="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14:m>
                  <m:oMathPara xmlns:m="http://schemas.openxmlformats.org/officeDocument/2006/math">
                    <m:oMathParaPr>
                      <m:jc m:val="left"/>
                    </m:oMathParaPr>
                    <m:oMath xmlns:m="http://schemas.openxmlformats.org/officeDocument/2006/math">
                      <m:r>
                        <a:rPr lang="en-US" altLang="zh-CN" sz="2400" i="1" dirty="0">
                          <a:latin typeface="Cambria Math" panose="02040503050406030204" pitchFamily="18" charset="0"/>
                        </a:rPr>
                        <m:t>𝐹</m:t>
                      </m:r>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𝑆</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𝐴</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𝐵</m:t>
                          </m:r>
                          <m:r>
                            <a:rPr lang="en-US" altLang="zh-CN" sz="2400" b="0" i="1" dirty="0" smtClean="0">
                              <a:latin typeface="Cambria Math" panose="02040503050406030204" pitchFamily="18" charset="0"/>
                            </a:rPr>
                            <m:t>,</m:t>
                          </m:r>
                          <m:r>
                            <a:rPr lang="en-US" altLang="zh-CN" sz="2400" i="1" dirty="0">
                              <a:latin typeface="Cambria Math" panose="02040503050406030204" pitchFamily="18" charset="0"/>
                              <a:ea typeface="楷体" panose="02010609060101010101" pitchFamily="49" charset="-122"/>
                            </a:rPr>
                            <m:t>𝑀</m:t>
                          </m:r>
                          <m:r>
                            <a:rPr lang="en-US" altLang="zh-CN" sz="2400" i="1" baseline="-25000" dirty="0" err="1">
                              <a:latin typeface="Cambria Math" panose="02040503050406030204" pitchFamily="18" charset="0"/>
                              <a:ea typeface="楷体" panose="02010609060101010101" pitchFamily="49" charset="-122"/>
                            </a:rPr>
                            <m:t>𝑖</m:t>
                          </m:r>
                          <m:r>
                            <a:rPr lang="en-US" altLang="zh-CN" sz="2400" b="0" i="1" dirty="0" smtClean="0">
                              <a:latin typeface="Cambria Math" panose="02040503050406030204" pitchFamily="18" charset="0"/>
                            </a:rPr>
                            <m:t>,</m:t>
                          </m:r>
                          <m:r>
                            <a:rPr lang="en-US" altLang="zh-CN" sz="2400" i="1" dirty="0">
                              <a:latin typeface="Cambria Math" panose="02040503050406030204" pitchFamily="18" charset="0"/>
                              <a:ea typeface="楷体" panose="02010609060101010101" pitchFamily="49" charset="-122"/>
                            </a:rPr>
                            <m:t>𝑁</m:t>
                          </m:r>
                          <m:r>
                            <a:rPr lang="en-US" altLang="zh-CN" sz="2400" i="1" baseline="-25000" dirty="0">
                              <a:latin typeface="Cambria Math" panose="02040503050406030204" pitchFamily="18" charset="0"/>
                              <a:ea typeface="楷体" panose="02010609060101010101" pitchFamily="49" charset="-122"/>
                            </a:rPr>
                            <m:t>𝑖</m:t>
                          </m:r>
                        </m:e>
                      </m:d>
                    </m:oMath>
                  </m:oMathPara>
                </a14:m>
                <a:endParaRPr lang="en-US" altLang="zh-CN" sz="2400" b="0" i="1" dirty="0" smtClean="0">
                  <a:latin typeface="Cambria Math" panose="02040503050406030204" pitchFamily="18" charset="0"/>
                </a:endParaRPr>
              </a:p>
              <a:p>
                <a:pPr>
                  <a:lnSpc>
                    <a:spcPts val="3500"/>
                  </a:lnSpc>
                </a:pPr>
                <a14:m>
                  <m:oMathPara xmlns:m="http://schemas.openxmlformats.org/officeDocument/2006/math">
                    <m:oMathParaPr>
                      <m:jc m:val="left"/>
                    </m:oMathParaPr>
                    <m:oMath xmlns:m="http://schemas.openxmlformats.org/officeDocument/2006/math">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𝑆</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𝐴</m:t>
                      </m:r>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𝐵</m:t>
                      </m:r>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𝑀</m:t>
                          </m:r>
                          <m:r>
                            <a:rPr lang="en-US" altLang="zh-CN" sz="2400" b="0" i="1" baseline="-25000" dirty="0" smtClean="0">
                              <a:latin typeface="Cambria Math" panose="02040503050406030204" pitchFamily="18" charset="0"/>
                            </a:rPr>
                            <m:t>1</m:t>
                          </m:r>
                          <m:r>
                            <a:rPr lang="en-US" altLang="zh-CN" sz="2400" i="1" dirty="0">
                              <a:latin typeface="Cambria Math" panose="02040503050406030204" pitchFamily="18" charset="0"/>
                            </a:rPr>
                            <m:t>𝑁</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𝑀</m:t>
                              </m:r>
                            </m:e>
                          </m:acc>
                          <m:r>
                            <a:rPr lang="en-US" altLang="zh-CN" sz="2400" b="0" i="1" baseline="-25000" smtClean="0">
                              <a:latin typeface="Cambria Math" panose="02040503050406030204" pitchFamily="18" charset="0"/>
                            </a:rPr>
                            <m:t>1</m:t>
                          </m:r>
                        </m:e>
                      </m:d>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𝑀</m:t>
                          </m:r>
                          <m:r>
                            <a:rPr lang="en-US" altLang="zh-CN" sz="2400" b="0" i="1" baseline="-25000" dirty="0" smtClean="0">
                              <a:latin typeface="Cambria Math" panose="02040503050406030204" pitchFamily="18" charset="0"/>
                            </a:rPr>
                            <m:t>2</m:t>
                          </m:r>
                          <m:r>
                            <a:rPr lang="en-US" altLang="zh-CN" sz="2400" i="1" dirty="0">
                              <a:latin typeface="Cambria Math" panose="02040503050406030204" pitchFamily="18" charset="0"/>
                            </a:rPr>
                            <m:t>𝑁</m:t>
                          </m:r>
                          <m:r>
                            <a:rPr lang="en-US" altLang="zh-CN" sz="2400" b="0" i="1" baseline="-25000" dirty="0" smtClean="0">
                              <a:latin typeface="Cambria Math" panose="02040503050406030204" pitchFamily="18" charset="0"/>
                            </a:rPr>
                            <m:t>2</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𝑀</m:t>
                              </m:r>
                            </m:e>
                          </m:acc>
                          <m:r>
                            <a:rPr lang="en-US" altLang="zh-CN" sz="2400" b="0" i="1" baseline="-25000" smtClean="0">
                              <a:latin typeface="Cambria Math" panose="02040503050406030204" pitchFamily="18" charset="0"/>
                            </a:rPr>
                            <m:t>2</m:t>
                          </m:r>
                        </m:e>
                      </m:d>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m:t>
                      </m:r>
                      <m:d>
                        <m:dPr>
                          <m:ctrlPr>
                            <a:rPr lang="en-US" altLang="zh-CN" sz="2400" b="0" i="1" dirty="0" smtClean="0">
                              <a:latin typeface="Cambria Math" panose="02040503050406030204" pitchFamily="18" charset="0"/>
                            </a:rPr>
                          </m:ctrlPr>
                        </m:dPr>
                        <m:e>
                          <m:r>
                            <a:rPr lang="en-US" altLang="zh-CN" sz="2400" i="1" dirty="0">
                              <a:latin typeface="Cambria Math" panose="02040503050406030204" pitchFamily="18" charset="0"/>
                            </a:rPr>
                            <m:t>𝑀</m:t>
                          </m:r>
                          <m:r>
                            <a:rPr lang="en-US" altLang="zh-CN" sz="2400" b="0" i="1" baseline="-25000" dirty="0" smtClean="0">
                              <a:latin typeface="Cambria Math" panose="02040503050406030204" pitchFamily="18" charset="0"/>
                            </a:rPr>
                            <m:t>𝑛</m:t>
                          </m:r>
                          <m:r>
                            <a:rPr lang="en-US" altLang="zh-CN" sz="2400" i="1" dirty="0">
                              <a:latin typeface="Cambria Math" panose="02040503050406030204" pitchFamily="18" charset="0"/>
                            </a:rPr>
                            <m:t>𝑁</m:t>
                          </m:r>
                          <m:r>
                            <a:rPr lang="en-US" altLang="zh-CN" sz="2400" b="0" i="1" baseline="-25000" dirty="0" smtClean="0">
                              <a:latin typeface="Cambria Math" panose="02040503050406030204" pitchFamily="18" charset="0"/>
                            </a:rPr>
                            <m:t>𝑛</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𝑀</m:t>
                              </m:r>
                            </m:e>
                          </m:acc>
                          <m:r>
                            <m:rPr>
                              <m:sty m:val="p"/>
                            </m:rPr>
                            <a:rPr lang="en-US" altLang="zh-CN" sz="2400" i="1" baseline="-25000" smtClean="0">
                              <a:latin typeface="Cambria Math" panose="02040503050406030204" pitchFamily="18" charset="0"/>
                            </a:rPr>
                            <m:t>n</m:t>
                          </m:r>
                        </m:e>
                      </m:d>
                    </m:oMath>
                  </m:oMathPara>
                </a14:m>
                <a:endParaRPr lang="en-US" altLang="zh-CN" sz="2400" i="1" baseline="-25000" dirty="0" smtClean="0">
                  <a:latin typeface="楷体" panose="02010609060101010101" pitchFamily="49" charset="-122"/>
                  <a:ea typeface="楷体" panose="02010609060101010101" pitchFamily="49" charset="-122"/>
                </a:endParaRPr>
              </a:p>
              <a:p>
                <a:pPr>
                  <a:lnSpc>
                    <a:spcPts val="3500"/>
                  </a:lnSpc>
                </a:pPr>
                <a14:m>
                  <m:oMath xmlns:m="http://schemas.openxmlformats.org/officeDocument/2006/math">
                    <m:r>
                      <a:rPr lang="en-US" altLang="zh-CN" sz="2400" b="0" i="1" dirty="0" smtClean="0">
                        <a:latin typeface="Cambria Math" panose="02040503050406030204" pitchFamily="18" charset="0"/>
                      </a:rPr>
                      <m:t>=</m:t>
                    </m:r>
                  </m:oMath>
                </a14:m>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dirty="0">
                        <a:latin typeface="Cambria Math" panose="02040503050406030204" pitchFamily="18" charset="0"/>
                      </a:rPr>
                      <m:t>𝑆𝐴𝐵</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𝑁</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𝑀</m:t>
                            </m:r>
                          </m:e>
                        </m:acc>
                        <m:r>
                          <a:rPr lang="en-US" altLang="zh-CN" sz="2400" i="1" baseline="-25000">
                            <a:latin typeface="Cambria Math" panose="02040503050406030204" pitchFamily="18" charset="0"/>
                          </a:rPr>
                          <m:t>1</m:t>
                        </m:r>
                      </m:e>
                    </m:d>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𝑁</m:t>
                        </m:r>
                        <m:r>
                          <a:rPr lang="en-US" altLang="zh-CN" sz="2400" i="1" baseline="-25000" dirty="0">
                            <a:latin typeface="Cambria Math" panose="02040503050406030204" pitchFamily="18" charset="0"/>
                          </a:rPr>
                          <m:t>2</m:t>
                        </m:r>
                        <m:r>
                          <a:rPr lang="en-US" altLang="zh-CN" sz="2400" i="1" dirty="0">
                            <a:latin typeface="Cambria Math" panose="02040503050406030204" pitchFamily="18" charset="0"/>
                          </a:rPr>
                          <m:t>+</m:t>
                        </m:r>
                        <m:acc>
                          <m:accPr>
                            <m:chr m:val="̅"/>
                            <m:ctrlPr>
                              <a:rPr lang="en-US" altLang="zh-CN" sz="2400" i="1" smtClean="0">
                                <a:latin typeface="Cambria Math" panose="02040503050406030204" pitchFamily="18" charset="0"/>
                              </a:rPr>
                            </m:ctrlPr>
                          </m:accPr>
                          <m:e>
                            <m:r>
                              <a:rPr lang="en-US" altLang="zh-CN" sz="2400" i="1">
                                <a:latin typeface="Cambria Math" panose="02040503050406030204" pitchFamily="18" charset="0"/>
                              </a:rPr>
                              <m:t>𝑀</m:t>
                            </m:r>
                          </m:e>
                        </m:acc>
                        <m:r>
                          <a:rPr lang="en-US" altLang="zh-CN" sz="2400" i="1" baseline="-25000">
                            <a:latin typeface="Cambria Math" panose="02040503050406030204" pitchFamily="18" charset="0"/>
                          </a:rPr>
                          <m:t>2</m:t>
                        </m:r>
                      </m:e>
                    </m:d>
                    <m:r>
                      <a:rPr lang="en-US" altLang="zh-CN" sz="2400" i="1" dirty="0">
                        <a:latin typeface="Cambria Math" panose="02040503050406030204" pitchFamily="18" charset="0"/>
                      </a:rPr>
                      <m:t>⋅⋅⋅</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𝑁</m:t>
                        </m:r>
                        <m:r>
                          <a:rPr lang="en-US" altLang="zh-CN" sz="2400" i="1" baseline="-25000" dirty="0">
                            <a:latin typeface="Cambria Math" panose="02040503050406030204" pitchFamily="18" charset="0"/>
                          </a:rPr>
                          <m:t>𝑛</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𝑀</m:t>
                            </m:r>
                          </m:e>
                        </m:acc>
                        <m:r>
                          <m:rPr>
                            <m:sty m:val="p"/>
                          </m:rPr>
                          <a:rPr lang="en-US" altLang="zh-CN" sz="2400" i="1" baseline="-25000">
                            <a:latin typeface="Cambria Math" panose="02040503050406030204" pitchFamily="18" charset="0"/>
                          </a:rPr>
                          <m:t>n</m:t>
                        </m:r>
                      </m:e>
                    </m:d>
                  </m:oMath>
                </a14:m>
                <a:endParaRPr lang="en-US" altLang="zh-CN" sz="2400" dirty="0" smtClean="0">
                  <a:latin typeface="楷体" panose="02010609060101010101" pitchFamily="49" charset="-122"/>
                  <a:ea typeface="楷体" panose="02010609060101010101" pitchFamily="49"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536188" y="1794494"/>
                <a:ext cx="8237589" cy="1887696"/>
              </a:xfrm>
              <a:prstGeom prst="rect">
                <a:avLst/>
              </a:prstGeom>
              <a:blipFill>
                <a:blip r:embed="rId3"/>
                <a:stretch>
                  <a:fillRect l="-1184" t="-16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123096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86690" y="421702"/>
            <a:ext cx="7010400" cy="4131900"/>
          </a:xfrm>
          <a:prstGeom prst="rect">
            <a:avLst/>
          </a:prstGeom>
        </p:spPr>
        <p:txBody>
          <a:bodyPr wrap="square">
            <a:spAutoFit/>
          </a:bodyPr>
          <a:lstStyle/>
          <a:p>
            <a:pPr>
              <a:lnSpc>
                <a:spcPts val="3500"/>
              </a:lnSpc>
            </a:pP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8】  </a:t>
            </a:r>
            <a:r>
              <a:rPr lang="zh-CN" altLang="en-US" sz="2400" dirty="0">
                <a:latin typeface="楷体" panose="02010609060101010101" pitchFamily="49" charset="-122"/>
                <a:ea typeface="楷体" panose="02010609060101010101" pitchFamily="49" charset="-122"/>
              </a:rPr>
              <a:t>一架飞机的监视部件，其逻辑电路要求飞机着陆之前指示两翼和机头下面</a:t>
            </a:r>
            <a:r>
              <a:rPr lang="zh-CN" altLang="en-US" sz="2400" dirty="0" smtClean="0">
                <a:latin typeface="楷体" panose="02010609060101010101" pitchFamily="49" charset="-122"/>
                <a:ea typeface="楷体" panose="02010609060101010101" pitchFamily="49" charset="-122"/>
              </a:rPr>
              <a:t>三个</a:t>
            </a:r>
            <a:r>
              <a:rPr lang="zh-CN" altLang="en-US" sz="2400" dirty="0">
                <a:latin typeface="楷体" panose="02010609060101010101" pitchFamily="49" charset="-122"/>
                <a:ea typeface="楷体" panose="02010609060101010101" pitchFamily="49" charset="-122"/>
              </a:rPr>
              <a:t>起落架所处的状态：</a:t>
            </a:r>
            <a:r>
              <a:rPr lang="zh-CN" altLang="en-US" sz="2400" b="1" dirty="0">
                <a:latin typeface="楷体" panose="02010609060101010101" pitchFamily="49" charset="-122"/>
                <a:ea typeface="楷体" panose="02010609060101010101" pitchFamily="49" charset="-122"/>
              </a:rPr>
              <a:t>某个起落架放下时，它的传感器产生一个低电平</a:t>
            </a:r>
            <a:r>
              <a:rPr lang="zh-CN" altLang="en-US" sz="2400" dirty="0">
                <a:latin typeface="楷体" panose="02010609060101010101" pitchFamily="49" charset="-122"/>
                <a:ea typeface="楷体" panose="02010609060101010101" pitchFamily="49" charset="-122"/>
              </a:rPr>
              <a:t>；某个起落架</a:t>
            </a:r>
            <a:r>
              <a:rPr lang="zh-CN" altLang="en-US" sz="2400" dirty="0" smtClean="0">
                <a:latin typeface="楷体" panose="02010609060101010101" pitchFamily="49" charset="-122"/>
                <a:ea typeface="楷体" panose="02010609060101010101" pitchFamily="49" charset="-122"/>
              </a:rPr>
              <a:t>收回时</a:t>
            </a:r>
            <a:r>
              <a:rPr lang="zh-CN" altLang="en-US" sz="2400" dirty="0">
                <a:latin typeface="楷体" panose="02010609060101010101" pitchFamily="49" charset="-122"/>
                <a:ea typeface="楷体" panose="02010609060101010101" pitchFamily="49" charset="-122"/>
              </a:rPr>
              <a:t>，它的传感器产生一个高电平。当驾驶员按下“起落架放下”开关准备着陆时，如果三个起落架严格同时放下，则绿色指示灯闪亮，飞机可以降落；如果三个起落架中任何一</a:t>
            </a:r>
            <a:r>
              <a:rPr lang="zh-CN" altLang="en-US" sz="2400" dirty="0" smtClean="0">
                <a:latin typeface="楷体" panose="02010609060101010101" pitchFamily="49" charset="-122"/>
                <a:ea typeface="楷体" panose="02010609060101010101" pitchFamily="49" charset="-122"/>
              </a:rPr>
              <a:t>个未</a:t>
            </a:r>
            <a:r>
              <a:rPr lang="zh-CN" altLang="en-US" sz="2400" dirty="0">
                <a:latin typeface="楷体" panose="02010609060101010101" pitchFamily="49" charset="-122"/>
                <a:ea typeface="楷体" panose="02010609060101010101" pitchFamily="49" charset="-122"/>
              </a:rPr>
              <a:t>放下，则红色指示灯闪亮，警告驾驶员不能</a:t>
            </a:r>
            <a:r>
              <a:rPr lang="zh-CN" altLang="en-US" sz="2400" dirty="0" smtClean="0">
                <a:latin typeface="楷体" panose="02010609060101010101" pitchFamily="49" charset="-122"/>
                <a:ea typeface="楷体" panose="02010609060101010101" pitchFamily="49" charset="-122"/>
              </a:rPr>
              <a:t>降落。</a:t>
            </a:r>
            <a:r>
              <a:rPr lang="en-US" altLang="zh-CN" sz="2400" dirty="0" err="1">
                <a:latin typeface="楷体" panose="02010609060101010101" pitchFamily="49" charset="-122"/>
                <a:ea typeface="楷体" panose="02010609060101010101" pitchFamily="49" charset="-122"/>
              </a:rPr>
              <a:t>请设计满足上述要求的逻辑电路</a:t>
            </a:r>
            <a:r>
              <a:rPr lang="en-US" altLang="zh-CN" sz="2400" dirty="0" smtClean="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9096222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419347" y="646034"/>
                <a:ext cx="4392799" cy="4156522"/>
              </a:xfrm>
              <a:prstGeom prst="rect">
                <a:avLst/>
              </a:prstGeom>
            </p:spPr>
            <p:txBody>
              <a:bodyPr wrap="square">
                <a:spAutoFit/>
              </a:bodyPr>
              <a:lstStyle/>
              <a:p>
                <a:r>
                  <a:rPr lang="zh-CN" altLang="en-US" sz="2400" dirty="0" smtClean="0">
                    <a:latin typeface="楷体" panose="02010609060101010101" pitchFamily="49" charset="-122"/>
                    <a:ea typeface="楷体" panose="02010609060101010101" pitchFamily="49" charset="-122"/>
                  </a:rPr>
                  <a:t>解：</a:t>
                </a:r>
                <a:r>
                  <a:rPr lang="en-US" altLang="zh-CN" sz="2400" dirty="0" err="1" smtClean="0">
                    <a:latin typeface="楷体" panose="02010609060101010101" pitchFamily="49" charset="-122"/>
                    <a:ea typeface="楷体" panose="02010609060101010101" pitchFamily="49" charset="-122"/>
                  </a:rPr>
                  <a:t>设两个机翼下面的起落传感器分别为A和B</a:t>
                </a:r>
                <a:r>
                  <a:rPr lang="en-US" altLang="zh-CN" sz="2400" dirty="0">
                    <a:latin typeface="楷体" panose="02010609060101010101" pitchFamily="49" charset="-122"/>
                    <a:ea typeface="楷体" panose="02010609060101010101" pitchFamily="49" charset="-122"/>
                  </a:rPr>
                  <a:t>, </a:t>
                </a:r>
                <a:r>
                  <a:rPr lang="en-US" altLang="zh-CN" sz="2400" dirty="0" err="1" smtClean="0">
                    <a:latin typeface="楷体" panose="02010609060101010101" pitchFamily="49" charset="-122"/>
                    <a:ea typeface="楷体" panose="02010609060101010101" pitchFamily="49" charset="-122"/>
                  </a:rPr>
                  <a:t>机头下面的传感器为</a:t>
                </a:r>
                <a:r>
                  <a:rPr lang="en-US" altLang="zh-CN" sz="2400" dirty="0" err="1">
                    <a:latin typeface="楷体" panose="02010609060101010101" pitchFamily="49" charset="-122"/>
                    <a:ea typeface="楷体" panose="02010609060101010101" pitchFamily="49" charset="-122"/>
                  </a:rPr>
                  <a:t>C</a:t>
                </a:r>
                <a:r>
                  <a:rPr lang="en-US" altLang="zh-CN" sz="2400" dirty="0">
                    <a:latin typeface="楷体" panose="02010609060101010101" pitchFamily="49" charset="-122"/>
                    <a:ea typeface="楷体" panose="02010609060101010101" pitchFamily="49" charset="-122"/>
                  </a:rPr>
                  <a:t>,  </a:t>
                </a:r>
                <a:r>
                  <a:rPr lang="en-US" altLang="zh-CN" sz="2400" dirty="0" err="1">
                    <a:latin typeface="楷体" panose="02010609060101010101" pitchFamily="49" charset="-122"/>
                    <a:ea typeface="楷体" panose="02010609060101010101" pitchFamily="49" charset="-122"/>
                  </a:rPr>
                  <a:t>绿灯闪亮的条件为</a:t>
                </a:r>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solidFill>
                          <a:schemeClr val="tx1"/>
                        </a:solidFill>
                        <a:latin typeface="Cambria Math" panose="02040503050406030204" pitchFamily="18" charset="0"/>
                        <a:ea typeface="楷体" panose="02010609060101010101" pitchFamily="49" charset="-122"/>
                      </a:rPr>
                      <m:t>=1</m:t>
                    </m:r>
                  </m:oMath>
                </a14:m>
                <a:r>
                  <a:rPr lang="en-US" altLang="zh-CN" sz="2400" dirty="0" smtClean="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 </a:t>
                </a:r>
                <a:r>
                  <a:rPr lang="en-US" altLang="zh-CN" sz="2400" dirty="0" err="1" smtClean="0">
                    <a:latin typeface="楷体" panose="02010609060101010101" pitchFamily="49" charset="-122"/>
                    <a:ea typeface="楷体" panose="02010609060101010101" pitchFamily="49" charset="-122"/>
                  </a:rPr>
                  <a:t>红灯闪亮的条件为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baseline="-25000" dirty="0" smtClean="0">
                        <a:solidFill>
                          <a:schemeClr val="tx1"/>
                        </a:solidFill>
                        <a:latin typeface="Cambria Math" panose="02040503050406030204" pitchFamily="18" charset="0"/>
                        <a:ea typeface="楷体" panose="02010609060101010101" pitchFamily="49" charset="-122"/>
                      </a:rPr>
                      <m:t>2</m:t>
                    </m:r>
                    <m:r>
                      <a:rPr lang="en-US" altLang="zh-CN" sz="2400" i="1" dirty="0" smtClean="0">
                        <a:solidFill>
                          <a:schemeClr val="tx1"/>
                        </a:solidFill>
                        <a:latin typeface="Cambria Math" panose="02040503050406030204" pitchFamily="18" charset="0"/>
                        <a:ea typeface="楷体" panose="02010609060101010101" pitchFamily="49" charset="-122"/>
                      </a:rPr>
                      <m:t>=0</m:t>
                    </m:r>
                  </m:oMath>
                </a14:m>
                <a:r>
                  <a:rPr lang="en-US" altLang="zh-CN" sz="2400" dirty="0" smtClean="0">
                    <a:solidFill>
                      <a:schemeClr val="tx1"/>
                    </a:solidFill>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 </a:t>
                </a:r>
                <a:r>
                  <a:rPr lang="en-US" altLang="zh-CN" sz="2400" dirty="0" err="1" smtClean="0">
                    <a:latin typeface="楷体" panose="02010609060101010101" pitchFamily="49" charset="-122"/>
                    <a:ea typeface="楷体" panose="02010609060101010101" pitchFamily="49" charset="-122"/>
                  </a:rPr>
                  <a:t>二者互相排斥</a:t>
                </a:r>
                <a:r>
                  <a:rPr lang="en-US" altLang="zh-CN" sz="2400" dirty="0" smtClean="0">
                    <a:latin typeface="楷体" panose="02010609060101010101" pitchFamily="49" charset="-122"/>
                    <a:ea typeface="楷体" panose="02010609060101010101" pitchFamily="49" charset="-122"/>
                  </a:rPr>
                  <a:t>:</a:t>
                </a:r>
              </a:p>
              <a:p>
                <a:endParaRPr lang="en-US" altLang="zh-CN" sz="2400" i="1" dirty="0">
                  <a:latin typeface="楷体" panose="02010609060101010101" pitchFamily="49" charset="-122"/>
                  <a:ea typeface="楷体" panose="02010609060101010101" pitchFamily="49" charset="-122"/>
                </a:endParaRPr>
              </a:p>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𝐹</m:t>
                      </m:r>
                      <m:r>
                        <a:rPr lang="en-US" altLang="zh-CN" sz="2400" b="0" i="1" baseline="-25000" dirty="0" smtClean="0">
                          <a:latin typeface="Cambria Math" panose="02040503050406030204" pitchFamily="18" charset="0"/>
                        </a:rPr>
                        <m:t>1</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𝐵</m:t>
                          </m:r>
                        </m:e>
                      </m:acc>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𝐶</m:t>
                          </m:r>
                          <m:r>
                            <a:rPr lang="en-US" altLang="zh-CN" sz="2400" b="0" i="1" smtClean="0">
                              <a:latin typeface="Cambria Math" panose="02040503050406030204" pitchFamily="18" charset="0"/>
                            </a:rPr>
                            <m:t> </m:t>
                          </m:r>
                        </m:e>
                      </m:acc>
                    </m:oMath>
                  </m:oMathPara>
                </a14:m>
                <a:endParaRPr lang="en-US" altLang="zh-CN" sz="2400" dirty="0" smtClean="0">
                  <a:latin typeface="楷体" panose="02010609060101010101" pitchFamily="49" charset="-122"/>
                  <a:ea typeface="楷体" panose="02010609060101010101" pitchFamily="49" charset="-122"/>
                </a:endParaRPr>
              </a:p>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𝐹</m:t>
                      </m:r>
                      <m:r>
                        <a:rPr lang="en-US" altLang="zh-CN" sz="2400" b="0" i="1" baseline="-25000" dirty="0" smtClean="0">
                          <a:latin typeface="Cambria Math" panose="02040503050406030204" pitchFamily="18" charset="0"/>
                        </a:rPr>
                        <m:t>2</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m:t>
                          </m:r>
                          <m:r>
                            <m:rPr>
                              <m:sty m:val="p"/>
                            </m:rPr>
                            <a:rPr lang="en-US" altLang="zh-CN" sz="2400" i="1">
                              <a:latin typeface="Cambria Math" panose="02040503050406030204" pitchFamily="18" charset="0"/>
                            </a:rPr>
                            <m:t>B</m:t>
                          </m:r>
                          <m:r>
                            <a:rPr lang="en-US" altLang="zh-CN" sz="2400" i="1">
                              <a:latin typeface="Cambria Math" panose="02040503050406030204" pitchFamily="18" charset="0"/>
                            </a:rPr>
                            <m:t>+</m:t>
                          </m:r>
                          <m:r>
                            <m:rPr>
                              <m:sty m:val="p"/>
                            </m:rPr>
                            <a:rPr lang="en-US" altLang="zh-CN" sz="2400" i="1">
                              <a:latin typeface="Cambria Math" panose="02040503050406030204" pitchFamily="18" charset="0"/>
                            </a:rPr>
                            <m:t>C</m:t>
                          </m:r>
                        </m:e>
                      </m:acc>
                    </m:oMath>
                  </m:oMathPara>
                </a14:m>
                <a:endParaRPr lang="en-US" altLang="zh-CN" sz="2400" dirty="0">
                  <a:latin typeface="楷体" panose="02010609060101010101" pitchFamily="49" charset="-122"/>
                  <a:ea typeface="楷体" panose="02010609060101010101" pitchFamily="49" charset="-122"/>
                </a:endParaRPr>
              </a:p>
              <a:p>
                <a:endParaRPr lang="en-US" altLang="zh-CN" sz="2400" dirty="0" smtClean="0">
                  <a:latin typeface="楷体" panose="02010609060101010101" pitchFamily="49" charset="-122"/>
                  <a:ea typeface="楷体" panose="02010609060101010101" pitchFamily="49" charset="-122"/>
                </a:endParaRPr>
              </a:p>
              <a:p>
                <a:r>
                  <a:rPr lang="zh-CN" altLang="en-US" sz="2400" dirty="0" smtClean="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2.11</a:t>
                </a:r>
                <a:r>
                  <a:rPr lang="zh-CN" altLang="en-US" sz="2400" dirty="0">
                    <a:latin typeface="楷体" panose="02010609060101010101" pitchFamily="49" charset="-122"/>
                    <a:ea typeface="楷体" panose="02010609060101010101" pitchFamily="49" charset="-122"/>
                  </a:rPr>
                  <a:t>示出了安全降落监视装置逻辑电路图。</a:t>
                </a:r>
                <a:endParaRPr lang="en-US" altLang="zh-CN"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419347" y="646034"/>
                <a:ext cx="4392799" cy="4156522"/>
              </a:xfrm>
              <a:prstGeom prst="rect">
                <a:avLst/>
              </a:prstGeom>
              <a:blipFill>
                <a:blip r:embed="rId2"/>
                <a:stretch>
                  <a:fillRect l="-2222" t="-1173" b="-2346"/>
                </a:stretch>
              </a:blipFill>
            </p:spPr>
            <p:txBody>
              <a:bodyPr/>
              <a:lstStyle/>
              <a:p>
                <a:r>
                  <a:rPr lang="zh-CN" altLang="en-US">
                    <a:noFill/>
                  </a:rPr>
                  <a:t> </a:t>
                </a:r>
              </a:p>
            </p:txBody>
          </p:sp>
        </mc:Fallback>
      </mc:AlternateContent>
      <p:sp>
        <p:nvSpPr>
          <p:cNvPr id="8" name="矩形 7"/>
          <p:cNvSpPr/>
          <p:nvPr/>
        </p:nvSpPr>
        <p:spPr>
          <a:xfrm>
            <a:off x="419347" y="5226020"/>
            <a:ext cx="8317976" cy="929742"/>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结语：例</a:t>
            </a:r>
            <a:r>
              <a:rPr lang="en-US" altLang="zh-CN" sz="2400" dirty="0">
                <a:latin typeface="楷体" panose="02010609060101010101" pitchFamily="49" charset="-122"/>
                <a:ea typeface="楷体" panose="02010609060101010101" pitchFamily="49" charset="-122"/>
              </a:rPr>
              <a:t>7</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中逻辑表达式是通过对</a:t>
            </a:r>
            <a:r>
              <a:rPr lang="zh-CN" altLang="en-US" sz="2400" dirty="0" smtClean="0">
                <a:latin typeface="楷体" panose="02010609060101010101" pitchFamily="49" charset="-122"/>
                <a:ea typeface="楷体" panose="02010609060101010101" pitchFamily="49" charset="-122"/>
              </a:rPr>
              <a:t>设计需求</a:t>
            </a:r>
            <a:r>
              <a:rPr lang="zh-CN" altLang="en-US" sz="2400" dirty="0">
                <a:latin typeface="楷体" panose="02010609060101010101" pitchFamily="49" charset="-122"/>
                <a:ea typeface="楷体" panose="02010609060101010101" pitchFamily="49" charset="-122"/>
              </a:rPr>
              <a:t>的分析直接列出的，既不通过真值表，也不通过简化真值表。</a:t>
            </a:r>
          </a:p>
        </p:txBody>
      </p:sp>
      <p:pic>
        <p:nvPicPr>
          <p:cNvPr id="2" name="图片 1"/>
          <p:cNvPicPr>
            <a:picLocks noChangeAspect="1"/>
          </p:cNvPicPr>
          <p:nvPr/>
        </p:nvPicPr>
        <p:blipFill>
          <a:blip r:embed="rId3"/>
          <a:stretch>
            <a:fillRect/>
          </a:stretch>
        </p:blipFill>
        <p:spPr>
          <a:xfrm>
            <a:off x="5166906" y="646034"/>
            <a:ext cx="3570417" cy="3203365"/>
          </a:xfrm>
          <a:prstGeom prst="rect">
            <a:avLst/>
          </a:prstGeom>
        </p:spPr>
      </p:pic>
    </p:spTree>
    <p:extLst>
      <p:ext uri="{BB962C8B-B14F-4D97-AF65-F5344CB8AC3E}">
        <p14:creationId xmlns:p14="http://schemas.microsoft.com/office/powerpoint/2010/main" val="9832648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2.2 </a:t>
            </a:r>
            <a:r>
              <a:rPr lang="zh-CN" altLang="en-US" dirty="0">
                <a:latin typeface="楷体" panose="02010609060101010101" pitchFamily="49" charset="-122"/>
                <a:ea typeface="楷体" panose="02010609060101010101" pitchFamily="49" charset="-122"/>
              </a:rPr>
              <a:t>组合逻辑设计</a:t>
            </a:r>
          </a:p>
        </p:txBody>
      </p:sp>
      <p:sp>
        <p:nvSpPr>
          <p:cNvPr id="3" name="内容占位符 2"/>
          <p:cNvSpPr>
            <a:spLocks noGrp="1"/>
          </p:cNvSpPr>
          <p:nvPr>
            <p:ph idx="1"/>
          </p:nvPr>
        </p:nvSpPr>
        <p:spPr>
          <a:xfrm>
            <a:off x="891309" y="1325562"/>
            <a:ext cx="7361382" cy="4207019"/>
          </a:xfrm>
        </p:spPr>
        <p:txBody>
          <a:bodyPr>
            <a:noAutofit/>
          </a:bodyPr>
          <a:lstStyle/>
          <a:p>
            <a:pPr>
              <a:lnSpc>
                <a:spcPts val="3500"/>
              </a:lnSpc>
            </a:pPr>
            <a:r>
              <a:rPr lang="zh-CN" altLang="en-US" dirty="0" smtClean="0">
                <a:latin typeface="楷体" panose="02010609060101010101" pitchFamily="49" charset="-122"/>
                <a:ea typeface="楷体" panose="02010609060101010101" pitchFamily="49" charset="-122"/>
              </a:rPr>
              <a:t>利用</a:t>
            </a:r>
            <a:r>
              <a:rPr lang="zh-CN" altLang="en-US" dirty="0">
                <a:latin typeface="楷体" panose="02010609060101010101" pitchFamily="49" charset="-122"/>
                <a:ea typeface="楷体" panose="02010609060101010101" pitchFamily="49" charset="-122"/>
              </a:rPr>
              <a:t>任意项的</a:t>
            </a:r>
            <a:r>
              <a:rPr lang="zh-CN" altLang="en-US" dirty="0" smtClean="0">
                <a:latin typeface="楷体" panose="02010609060101010101" pitchFamily="49" charset="-122"/>
                <a:ea typeface="楷体" panose="02010609060101010101" pitchFamily="49" charset="-122"/>
              </a:rPr>
              <a:t>逻辑设计</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b="1" dirty="0" smtClean="0">
                <a:solidFill>
                  <a:schemeClr val="accent1"/>
                </a:solidFill>
                <a:latin typeface="楷体" panose="02010609060101010101" pitchFamily="49" charset="-122"/>
                <a:ea typeface="楷体" panose="02010609060101010101" pitchFamily="49" charset="-122"/>
              </a:rPr>
              <a:t>任意项</a:t>
            </a:r>
            <a:r>
              <a:rPr lang="zh-CN" altLang="en-US" dirty="0" smtClean="0">
                <a:solidFill>
                  <a:schemeClr val="accent1"/>
                </a:solidFill>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从</a:t>
            </a:r>
            <a:r>
              <a:rPr lang="zh-CN" altLang="en-US" dirty="0">
                <a:latin typeface="楷体" panose="02010609060101010101" pitchFamily="49" charset="-122"/>
                <a:ea typeface="楷体" panose="02010609060101010101" pitchFamily="49" charset="-122"/>
              </a:rPr>
              <a:t>约束方程推得的逻辑值为</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的最小项，也称</a:t>
            </a:r>
            <a:r>
              <a:rPr lang="zh-CN" altLang="en-US" b="1" dirty="0">
                <a:solidFill>
                  <a:schemeClr val="accent1"/>
                </a:solidFill>
                <a:latin typeface="楷体" panose="02010609060101010101" pitchFamily="49" charset="-122"/>
                <a:ea typeface="楷体" panose="02010609060101010101" pitchFamily="49" charset="-122"/>
              </a:rPr>
              <a:t>无关项</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b="1" dirty="0" smtClean="0">
                <a:latin typeface="楷体" panose="02010609060101010101" pitchFamily="49" charset="-122"/>
                <a:ea typeface="楷体" panose="02010609060101010101" pitchFamily="49" charset="-122"/>
              </a:rPr>
              <a:t>可“任意”</a:t>
            </a:r>
            <a:r>
              <a:rPr lang="zh-CN" altLang="en-US" b="1" dirty="0">
                <a:latin typeface="楷体" panose="02010609060101010101" pitchFamily="49" charset="-122"/>
                <a:ea typeface="楷体" panose="02010609060101010101" pitchFamily="49" charset="-122"/>
              </a:rPr>
              <a:t>地在逻辑表达式中</a:t>
            </a:r>
            <a:r>
              <a:rPr lang="zh-CN" altLang="en-US" b="1" dirty="0" smtClean="0">
                <a:latin typeface="楷体" panose="02010609060101010101" pitchFamily="49" charset="-122"/>
                <a:ea typeface="楷体" panose="02010609060101010101" pitchFamily="49" charset="-122"/>
              </a:rPr>
              <a:t>加入</a:t>
            </a:r>
            <a:r>
              <a:rPr lang="zh-CN" altLang="en-US" b="1" dirty="0">
                <a:latin typeface="楷体" panose="02010609060101010101" pitchFamily="49" charset="-122"/>
                <a:ea typeface="楷体" panose="02010609060101010101" pitchFamily="49" charset="-122"/>
              </a:rPr>
              <a:t>任意项</a:t>
            </a:r>
            <a:r>
              <a:rPr lang="zh-CN" altLang="en-US" dirty="0" smtClean="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使其逻辑表达式为更简单</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如何</a:t>
            </a:r>
            <a:r>
              <a:rPr lang="zh-CN" altLang="en-US" dirty="0">
                <a:latin typeface="楷体" panose="02010609060101010101" pitchFamily="49" charset="-122"/>
                <a:ea typeface="楷体" panose="02010609060101010101" pitchFamily="49" charset="-122"/>
              </a:rPr>
              <a:t>判断</a:t>
            </a:r>
            <a:r>
              <a:rPr lang="zh-CN" altLang="en-US" dirty="0" smtClean="0">
                <a:latin typeface="楷体" panose="02010609060101010101" pitchFamily="49" charset="-122"/>
                <a:ea typeface="楷体" panose="02010609060101010101" pitchFamily="49" charset="-122"/>
              </a:rPr>
              <a:t>所要</a:t>
            </a:r>
            <a:r>
              <a:rPr lang="zh-CN" altLang="en-US" dirty="0">
                <a:latin typeface="楷体" panose="02010609060101010101" pitchFamily="49" charset="-122"/>
                <a:ea typeface="楷体" panose="02010609060101010101" pitchFamily="49" charset="-122"/>
              </a:rPr>
              <a:t>设计的电路是否存在</a:t>
            </a:r>
            <a:r>
              <a:rPr lang="zh-CN" altLang="en-US" dirty="0" smtClean="0">
                <a:latin typeface="楷体" panose="02010609060101010101" pitchFamily="49" charset="-122"/>
                <a:ea typeface="楷体" panose="02010609060101010101" pitchFamily="49" charset="-122"/>
              </a:rPr>
              <a:t>约束条件</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如何</a:t>
            </a:r>
            <a:r>
              <a:rPr lang="zh-CN" altLang="en-US" dirty="0">
                <a:latin typeface="楷体" panose="02010609060101010101" pitchFamily="49" charset="-122"/>
                <a:ea typeface="楷体" panose="02010609060101010101" pitchFamily="49" charset="-122"/>
              </a:rPr>
              <a:t>找出任意</a:t>
            </a:r>
            <a:r>
              <a:rPr lang="zh-CN" altLang="en-US" dirty="0" smtClean="0">
                <a:latin typeface="楷体" panose="02010609060101010101" pitchFamily="49" charset="-122"/>
                <a:ea typeface="楷体" panose="02010609060101010101" pitchFamily="49" charset="-122"/>
              </a:rPr>
              <a:t>项？如何</a:t>
            </a:r>
            <a:r>
              <a:rPr lang="zh-CN" altLang="en-US" dirty="0">
                <a:latin typeface="楷体" panose="02010609060101010101" pitchFamily="49" charset="-122"/>
                <a:ea typeface="楷体" panose="02010609060101010101" pitchFamily="49" charset="-122"/>
              </a:rPr>
              <a:t>利用任意项进行</a:t>
            </a:r>
            <a:r>
              <a:rPr lang="zh-CN" altLang="en-US" dirty="0" smtClean="0">
                <a:latin typeface="楷体" panose="02010609060101010101" pitchFamily="49" charset="-122"/>
                <a:ea typeface="楷体" panose="02010609060101010101" pitchFamily="49" charset="-122"/>
              </a:rPr>
              <a:t>设计？</a:t>
            </a:r>
            <a:endParaRPr lang="en-US" altLang="zh-CN" dirty="0" smtClean="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2721293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2.2 </a:t>
            </a:r>
            <a:r>
              <a:rPr lang="zh-CN" altLang="en-US" dirty="0">
                <a:latin typeface="楷体" panose="02010609060101010101" pitchFamily="49" charset="-122"/>
                <a:ea typeface="楷体" panose="02010609060101010101" pitchFamily="49" charset="-122"/>
              </a:rPr>
              <a:t>组合逻辑设计</a:t>
            </a:r>
          </a:p>
        </p:txBody>
      </p:sp>
      <mc:AlternateContent xmlns:mc="http://schemas.openxmlformats.org/markup-compatibility/2006" xmlns:a14="http://schemas.microsoft.com/office/drawing/2010/main">
        <mc:Choice Requires="a14">
          <p:sp>
            <p:nvSpPr>
              <p:cNvPr id="5" name="矩形 4"/>
              <p:cNvSpPr/>
              <p:nvPr/>
            </p:nvSpPr>
            <p:spPr>
              <a:xfrm>
                <a:off x="785090" y="1168545"/>
                <a:ext cx="7222836" cy="4580741"/>
              </a:xfrm>
              <a:prstGeom prst="rect">
                <a:avLst/>
              </a:prstGeom>
            </p:spPr>
            <p:txBody>
              <a:bodyPr wrap="square">
                <a:spAutoFit/>
              </a:bodyPr>
              <a:lstStyle/>
              <a:p>
                <a:pPr>
                  <a:lnSpc>
                    <a:spcPts val="3500"/>
                  </a:lnSpc>
                </a:pPr>
                <a:r>
                  <a:rPr lang="en-US" altLang="zh-CN"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9</a:t>
                </a:r>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用</a:t>
                </a:r>
                <a:r>
                  <a:rPr lang="zh-CN" altLang="en-US" sz="2400" dirty="0">
                    <a:latin typeface="楷体" panose="02010609060101010101" pitchFamily="49" charset="-122"/>
                    <a:ea typeface="楷体" panose="02010609060101010101" pitchFamily="49" charset="-122"/>
                  </a:rPr>
                  <a:t>与非门设计一个判别电路，以判别</a:t>
                </a:r>
                <a:r>
                  <a:rPr lang="en-US" altLang="zh-CN" sz="2400" dirty="0" smtClean="0">
                    <a:latin typeface="楷体" panose="02010609060101010101" pitchFamily="49" charset="-122"/>
                    <a:ea typeface="楷体" panose="02010609060101010101" pitchFamily="49" charset="-122"/>
                  </a:rPr>
                  <a:t>8421</a:t>
                </a:r>
                <a:r>
                  <a:rPr lang="zh-CN" altLang="en-US" sz="2400" dirty="0" smtClean="0">
                    <a:latin typeface="楷体" panose="02010609060101010101" pitchFamily="49" charset="-122"/>
                    <a:ea typeface="楷体" panose="02010609060101010101" pitchFamily="49" charset="-122"/>
                  </a:rPr>
                  <a:t>码</a:t>
                </a:r>
                <a:r>
                  <a:rPr lang="zh-CN" altLang="en-US" sz="2400" dirty="0">
                    <a:latin typeface="楷体" panose="02010609060101010101" pitchFamily="49" charset="-122"/>
                    <a:ea typeface="楷体" panose="02010609060101010101" pitchFamily="49" charset="-122"/>
                  </a:rPr>
                  <a:t>所表示的十进制数之值是否</a:t>
                </a:r>
                <a:r>
                  <a:rPr lang="zh-CN" altLang="en-US" sz="2400" dirty="0" smtClean="0">
                    <a:latin typeface="楷体" panose="02010609060101010101" pitchFamily="49" charset="-122"/>
                    <a:ea typeface="楷体" panose="02010609060101010101" pitchFamily="49" charset="-122"/>
                  </a:rPr>
                  <a:t>大于</a:t>
                </a:r>
                <a:r>
                  <a:rPr lang="zh-CN" altLang="en-US" sz="2400" dirty="0">
                    <a:latin typeface="楷体" panose="02010609060101010101" pitchFamily="49" charset="-122"/>
                    <a:ea typeface="楷体" panose="02010609060101010101" pitchFamily="49" charset="-122"/>
                  </a:rPr>
                  <a:t>等于</a:t>
                </a:r>
                <a:r>
                  <a:rPr lang="en-US" altLang="zh-CN" sz="2400" dirty="0">
                    <a:latin typeface="楷体" panose="02010609060101010101" pitchFamily="49" charset="-122"/>
                    <a:ea typeface="楷体" panose="02010609060101010101" pitchFamily="49" charset="-122"/>
                  </a:rPr>
                  <a:t>5</a:t>
                </a:r>
                <a:r>
                  <a:rPr lang="zh-CN" altLang="en-US" sz="2400" dirty="0" smtClean="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a:lnSpc>
                    <a:spcPts val="3500"/>
                  </a:lnSpc>
                </a:pPr>
                <a:r>
                  <a:rPr lang="zh-CN" altLang="zh-CN" sz="2400" dirty="0" smtClean="0">
                    <a:latin typeface="楷体" panose="02010609060101010101" pitchFamily="49" charset="-122"/>
                    <a:ea typeface="楷体" panose="02010609060101010101" pitchFamily="49" charset="-122"/>
                  </a:rPr>
                  <a:t>解</a:t>
                </a:r>
                <a:r>
                  <a:rPr lang="zh-CN" altLang="en-US" sz="2400" dirty="0" smtClean="0">
                    <a:latin typeface="楷体" panose="02010609060101010101" pitchFamily="49" charset="-122"/>
                    <a:ea typeface="楷体" panose="02010609060101010101" pitchFamily="49" charset="-122"/>
                  </a:rPr>
                  <a:t>：</a:t>
                </a:r>
                <a:r>
                  <a:rPr lang="zh-CN" altLang="zh-CN" sz="2400" dirty="0" smtClean="0">
                    <a:latin typeface="楷体" panose="02010609060101010101" pitchFamily="49" charset="-122"/>
                    <a:ea typeface="楷体" panose="02010609060101010101" pitchFamily="49" charset="-122"/>
                  </a:rPr>
                  <a:t>由</a:t>
                </a:r>
                <a:r>
                  <a:rPr lang="zh-CN" altLang="zh-CN" sz="2400" dirty="0">
                    <a:latin typeface="楷体" panose="02010609060101010101" pitchFamily="49" charset="-122"/>
                    <a:ea typeface="楷体" panose="02010609060101010101" pitchFamily="49" charset="-122"/>
                  </a:rPr>
                  <a:t>题意可知，该判别电路输入变量为</a:t>
                </a:r>
                <a:r>
                  <a:rPr lang="en-US" altLang="zh-CN" sz="2400" dirty="0">
                    <a:latin typeface="楷体" panose="02010609060101010101" pitchFamily="49" charset="-122"/>
                    <a:ea typeface="楷体" panose="02010609060101010101" pitchFamily="49" charset="-122"/>
                  </a:rPr>
                  <a:t>8421</a:t>
                </a:r>
                <a:r>
                  <a:rPr lang="zh-CN" altLang="zh-CN" sz="2400" dirty="0">
                    <a:latin typeface="楷体" panose="02010609060101010101" pitchFamily="49" charset="-122"/>
                    <a:ea typeface="楷体" panose="02010609060101010101" pitchFamily="49" charset="-122"/>
                  </a:rPr>
                  <a:t>码，设为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m:t>
                    </m:r>
                    <m:r>
                      <a:rPr lang="zh-CN" altLang="en-US"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𝐵</m:t>
                    </m:r>
                    <m:r>
                      <a:rPr lang="zh-CN" altLang="en-US"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𝐶</m:t>
                    </m:r>
                    <m:r>
                      <a:rPr lang="zh-CN" altLang="en-US"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𝐷</m:t>
                    </m:r>
                  </m:oMath>
                </a14:m>
                <a:r>
                  <a:rPr lang="zh-CN" altLang="en-US" sz="2400" dirty="0" smtClean="0">
                    <a:latin typeface="楷体" panose="02010609060101010101" pitchFamily="49" charset="-122"/>
                    <a:ea typeface="楷体" panose="02010609060101010101" pitchFamily="49" charset="-122"/>
                  </a:rPr>
                  <a:t>，</a:t>
                </a:r>
                <a:r>
                  <a:rPr lang="zh-CN" altLang="zh-CN" sz="2400" dirty="0" smtClean="0">
                    <a:latin typeface="楷体" panose="02010609060101010101" pitchFamily="49" charset="-122"/>
                    <a:ea typeface="楷体" panose="02010609060101010101" pitchFamily="49" charset="-122"/>
                  </a:rPr>
                  <a:t>输出</a:t>
                </a:r>
                <a:r>
                  <a:rPr lang="zh-CN" altLang="zh-CN" sz="2400" dirty="0">
                    <a:latin typeface="楷体" panose="02010609060101010101" pitchFamily="49" charset="-122"/>
                    <a:ea typeface="楷体" panose="02010609060101010101" pitchFamily="49" charset="-122"/>
                  </a:rPr>
                  <a:t>函数为</a:t>
                </a:r>
                <a:r>
                  <a:rPr lang="en-US" altLang="zh-CN" sz="2400" dirty="0" smtClean="0">
                    <a:latin typeface="楷体" panose="02010609060101010101" pitchFamily="49" charset="-122"/>
                    <a:ea typeface="楷体" panose="02010609060101010101" pitchFamily="49" charset="-122"/>
                  </a:rPr>
                  <a:t>F</a:t>
                </a:r>
                <a:r>
                  <a:rPr lang="zh-CN" altLang="en-US" sz="2400" dirty="0" smtClean="0">
                    <a:latin typeface="楷体" panose="02010609060101010101" pitchFamily="49" charset="-122"/>
                    <a:ea typeface="楷体" panose="02010609060101010101" pitchFamily="49" charset="-122"/>
                  </a:rPr>
                  <a:t>，当</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𝐴𝐵𝐶𝐷</m:t>
                    </m:r>
                    <m:r>
                      <a:rPr lang="en-US" altLang="zh-CN" sz="2400" i="1" dirty="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0101</m:t>
                    </m:r>
                  </m:oMath>
                </a14:m>
                <a:r>
                  <a:rPr lang="zh-CN" altLang="zh-CN" sz="2400" dirty="0" smtClean="0">
                    <a:latin typeface="楷体" panose="02010609060101010101" pitchFamily="49" charset="-122"/>
                    <a:ea typeface="楷体" panose="02010609060101010101" pitchFamily="49" charset="-122"/>
                  </a:rPr>
                  <a:t>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smtClean="0">
                    <a:latin typeface="楷体" panose="02010609060101010101" pitchFamily="49" charset="-122"/>
                    <a:ea typeface="楷体" panose="02010609060101010101" pitchFamily="49" charset="-122"/>
                  </a:rPr>
                  <a:t>；当</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𝐴𝐵𝐶𝐷</m:t>
                    </m:r>
                    <m:r>
                      <a:rPr lang="en-US" altLang="zh-CN" sz="2400" i="1" dirty="0">
                        <a:latin typeface="Cambria Math" panose="02040503050406030204" pitchFamily="18" charset="0"/>
                        <a:ea typeface="楷体" panose="02010609060101010101" pitchFamily="49" charset="-122"/>
                      </a:rPr>
                      <m:t>&lt;</m:t>
                    </m:r>
                    <m:r>
                      <a:rPr lang="en-US" altLang="zh-CN" sz="2400" i="1" dirty="0" smtClean="0">
                        <a:latin typeface="Cambria Math" panose="02040503050406030204" pitchFamily="18" charset="0"/>
                        <a:ea typeface="楷体" panose="02010609060101010101" pitchFamily="49" charset="-122"/>
                      </a:rPr>
                      <m:t>0101</m:t>
                    </m:r>
                  </m:oMath>
                </a14:m>
                <a:r>
                  <a:rPr lang="zh-CN" altLang="zh-CN" sz="2400" dirty="0" smtClean="0">
                    <a:latin typeface="楷体" panose="02010609060101010101" pitchFamily="49" charset="-122"/>
                    <a:ea typeface="楷体" panose="02010609060101010101" pitchFamily="49" charset="-122"/>
                  </a:rPr>
                  <a:t>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dirty="0" smtClean="0">
                        <a:latin typeface="Cambria Math" panose="02040503050406030204" pitchFamily="18" charset="0"/>
                        <a:ea typeface="楷体" panose="02010609060101010101" pitchFamily="49" charset="-122"/>
                      </a:rPr>
                      <m:t>=0</m:t>
                    </m:r>
                  </m:oMath>
                </a14:m>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en-US" sz="2400" b="1" dirty="0" smtClean="0">
                    <a:latin typeface="楷体" panose="02010609060101010101" pitchFamily="49" charset="-122"/>
                    <a:ea typeface="楷体" panose="02010609060101010101" pitchFamily="49" charset="-122"/>
                  </a:rPr>
                  <a:t>因为</a:t>
                </a:r>
                <a14:m>
                  <m:oMath xmlns:m="http://schemas.openxmlformats.org/officeDocument/2006/math">
                    <m:r>
                      <a:rPr lang="en-US" altLang="zh-CN" sz="2400" b="1" i="1" dirty="0" smtClean="0">
                        <a:latin typeface="Cambria Math" panose="02040503050406030204" pitchFamily="18" charset="0"/>
                        <a:ea typeface="楷体" panose="02010609060101010101" pitchFamily="49" charset="-122"/>
                      </a:rPr>
                      <m:t>𝑨𝑩𝑪𝑫</m:t>
                    </m:r>
                  </m:oMath>
                </a14:m>
                <a:r>
                  <a:rPr lang="zh-CN" altLang="zh-CN" sz="2400" b="1" dirty="0">
                    <a:latin typeface="楷体" panose="02010609060101010101" pitchFamily="49" charset="-122"/>
                    <a:ea typeface="楷体" panose="02010609060101010101" pitchFamily="49" charset="-122"/>
                  </a:rPr>
                  <a:t>的取值不可能为</a:t>
                </a:r>
                <a:r>
                  <a:rPr lang="en-US" altLang="zh-CN" sz="2400" b="1" dirty="0">
                    <a:latin typeface="楷体" panose="02010609060101010101" pitchFamily="49" charset="-122"/>
                    <a:ea typeface="楷体" panose="02010609060101010101" pitchFamily="49" charset="-122"/>
                  </a:rPr>
                  <a:t>1010</a:t>
                </a:r>
                <a:r>
                  <a:rPr lang="zh-CN" altLang="zh-CN" sz="2400" b="1" dirty="0">
                    <a:latin typeface="楷体" panose="02010609060101010101" pitchFamily="49" charset="-122"/>
                    <a:ea typeface="楷体" panose="02010609060101010101" pitchFamily="49" charset="-122"/>
                  </a:rPr>
                  <a:t>～</a:t>
                </a:r>
                <a:r>
                  <a:rPr lang="en-US" altLang="zh-CN" sz="2400" b="1" dirty="0" smtClean="0">
                    <a:latin typeface="楷体" panose="02010609060101010101" pitchFamily="49" charset="-122"/>
                    <a:ea typeface="楷体" panose="02010609060101010101" pitchFamily="49" charset="-122"/>
                  </a:rPr>
                  <a:t>1111</a:t>
                </a:r>
                <a:r>
                  <a:rPr lang="zh-CN" altLang="en-US" sz="2400" dirty="0" smtClean="0">
                    <a:latin typeface="楷体" panose="02010609060101010101" pitchFamily="49" charset="-122"/>
                    <a:ea typeface="楷体" panose="02010609060101010101" pitchFamily="49" charset="-122"/>
                  </a:rPr>
                  <a:t>，</a:t>
                </a:r>
                <a:r>
                  <a:rPr lang="zh-CN" altLang="zh-CN" sz="2400" dirty="0" smtClean="0">
                    <a:latin typeface="楷体" panose="02010609060101010101" pitchFamily="49" charset="-122"/>
                    <a:ea typeface="楷体" panose="02010609060101010101" pitchFamily="49" charset="-122"/>
                  </a:rPr>
                  <a:t>故</a:t>
                </a:r>
                <a:r>
                  <a:rPr lang="zh-CN" altLang="zh-CN" sz="2400" dirty="0">
                    <a:latin typeface="楷体" panose="02010609060101010101" pitchFamily="49" charset="-122"/>
                    <a:ea typeface="楷体" panose="02010609060101010101" pitchFamily="49" charset="-122"/>
                  </a:rPr>
                  <a:t>其约束</a:t>
                </a:r>
                <a:r>
                  <a:rPr lang="zh-CN" altLang="zh-CN" sz="2400" dirty="0" smtClean="0">
                    <a:latin typeface="楷体" panose="02010609060101010101" pitchFamily="49" charset="-122"/>
                    <a:ea typeface="楷体" panose="02010609060101010101" pitchFamily="49" charset="-122"/>
                  </a:rPr>
                  <a:t>方程为</a:t>
                </a:r>
                <a:endParaRPr lang="en-US" altLang="zh-CN" sz="2400" dirty="0">
                  <a:latin typeface="楷体" panose="02010609060101010101" pitchFamily="49" charset="-122"/>
                  <a:ea typeface="楷体" panose="02010609060101010101" pitchFamily="49" charset="-122"/>
                </a:endParaRPr>
              </a:p>
              <a:p>
                <a:pPr>
                  <a:lnSpc>
                    <a:spcPts val="3500"/>
                  </a:lnSpc>
                </a:pPr>
                <a14:m>
                  <m:oMathPara xmlns:m="http://schemas.openxmlformats.org/officeDocument/2006/math">
                    <m:oMathParaPr>
                      <m:jc m:val="centerGroup"/>
                    </m:oMathParaPr>
                    <m:oMath xmlns:m="http://schemas.openxmlformats.org/officeDocument/2006/math">
                      <m:nary>
                        <m:naryPr>
                          <m:chr m:val="∑"/>
                          <m:subHide m:val="on"/>
                          <m:supHide m:val="on"/>
                          <m:ctrlPr>
                            <a:rPr lang="en-US" altLang="zh-CN" sz="2400" i="1" smtClean="0">
                              <a:latin typeface="Cambria Math" panose="02040503050406030204" pitchFamily="18" charset="0"/>
                            </a:rPr>
                          </m:ctrlPr>
                        </m:naryPr>
                        <m:sub/>
                        <m:sup/>
                        <m:e>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10</m:t>
                              </m:r>
                              <m:r>
                                <a:rPr lang="en-US" altLang="zh-CN" sz="2400" i="1">
                                  <a:latin typeface="Cambria Math" panose="02040503050406030204" pitchFamily="18" charset="0"/>
                                </a:rPr>
                                <m:t>,</m:t>
                              </m:r>
                              <m:r>
                                <a:rPr lang="en-US" altLang="zh-CN" sz="2400" b="0" i="1" smtClean="0">
                                  <a:latin typeface="Cambria Math" panose="02040503050406030204" pitchFamily="18" charset="0"/>
                                </a:rPr>
                                <m:t>11</m:t>
                              </m:r>
                              <m:r>
                                <a:rPr lang="en-US" altLang="zh-CN" sz="2400" i="1">
                                  <a:latin typeface="Cambria Math" panose="02040503050406030204" pitchFamily="18" charset="0"/>
                                </a:rPr>
                                <m:t>,</m:t>
                              </m:r>
                              <m:r>
                                <a:rPr lang="en-US" altLang="zh-CN" sz="2400" b="0" i="1" smtClean="0">
                                  <a:latin typeface="Cambria Math" panose="02040503050406030204" pitchFamily="18" charset="0"/>
                                </a:rPr>
                                <m:t>12</m:t>
                              </m:r>
                              <m:r>
                                <a:rPr lang="en-US" altLang="zh-CN" sz="2400" i="1">
                                  <a:latin typeface="Cambria Math" panose="02040503050406030204" pitchFamily="18" charset="0"/>
                                </a:rPr>
                                <m:t>,</m:t>
                              </m:r>
                              <m:r>
                                <a:rPr lang="en-US" altLang="zh-CN" sz="2400" b="0" i="1" smtClean="0">
                                  <a:latin typeface="Cambria Math" panose="02040503050406030204" pitchFamily="18" charset="0"/>
                                </a:rPr>
                                <m:t>13,14,15</m:t>
                              </m:r>
                            </m:e>
                          </m:d>
                        </m:e>
                      </m:nary>
                      <m:r>
                        <a:rPr lang="en-US" altLang="zh-CN" sz="2400" b="0" i="1" smtClean="0">
                          <a:latin typeface="Cambria Math" panose="02040503050406030204" pitchFamily="18" charset="0"/>
                        </a:rPr>
                        <m:t>=0</m:t>
                      </m:r>
                    </m:oMath>
                  </m:oMathPara>
                </a14:m>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zh-CN" sz="2400" dirty="0">
                    <a:latin typeface="楷体" panose="02010609060101010101" pitchFamily="49" charset="-122"/>
                    <a:ea typeface="楷体" panose="02010609060101010101" pitchFamily="49" charset="-122"/>
                  </a:rPr>
                  <a:t>即具有下列可利用的任意项：</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𝑚</m:t>
                    </m:r>
                    <m:r>
                      <a:rPr lang="en-US" altLang="zh-CN" sz="2400" i="1" baseline="-25000" dirty="0">
                        <a:latin typeface="Cambria Math" panose="02040503050406030204" pitchFamily="18" charset="0"/>
                        <a:ea typeface="楷体" panose="02010609060101010101" pitchFamily="49" charset="-122"/>
                      </a:rPr>
                      <m:t>10</m:t>
                    </m:r>
                    <m:r>
                      <a:rPr lang="en-US" altLang="zh-CN" sz="2400" i="1" dirty="0">
                        <a:latin typeface="Cambria Math" panose="02040503050406030204" pitchFamily="18" charset="0"/>
                        <a:ea typeface="楷体" panose="02010609060101010101" pitchFamily="49" charset="-122"/>
                      </a:rPr>
                      <m:t>=0</m:t>
                    </m:r>
                  </m:oMath>
                </a14:m>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𝑚</m:t>
                    </m:r>
                    <m:r>
                      <a:rPr lang="en-US" altLang="zh-CN" sz="2400" i="1" baseline="-25000" dirty="0">
                        <a:latin typeface="Cambria Math" panose="02040503050406030204" pitchFamily="18" charset="0"/>
                        <a:ea typeface="楷体" panose="02010609060101010101" pitchFamily="49" charset="-122"/>
                      </a:rPr>
                      <m:t>11</m:t>
                    </m:r>
                    <m:r>
                      <a:rPr lang="en-US" altLang="zh-CN" sz="2400" i="1" dirty="0">
                        <a:latin typeface="Cambria Math" panose="02040503050406030204" pitchFamily="18" charset="0"/>
                        <a:ea typeface="楷体" panose="02010609060101010101" pitchFamily="49" charset="-122"/>
                      </a:rPr>
                      <m:t>=0</m:t>
                    </m:r>
                  </m:oMath>
                </a14:m>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𝑚</m:t>
                    </m:r>
                    <m:r>
                      <a:rPr lang="en-US" altLang="zh-CN" sz="2400" i="1" baseline="-25000" dirty="0" smtClean="0">
                        <a:latin typeface="Cambria Math" panose="02040503050406030204" pitchFamily="18" charset="0"/>
                        <a:ea typeface="楷体" panose="02010609060101010101" pitchFamily="49" charset="-122"/>
                      </a:rPr>
                      <m:t>12</m:t>
                    </m:r>
                    <m:r>
                      <a:rPr lang="en-US" altLang="zh-CN" sz="2400" i="1" dirty="0" smtClean="0">
                        <a:latin typeface="Cambria Math" panose="02040503050406030204" pitchFamily="18" charset="0"/>
                        <a:ea typeface="楷体" panose="02010609060101010101" pitchFamily="49" charset="-122"/>
                      </a:rPr>
                      <m:t>=0</m:t>
                    </m:r>
                  </m:oMath>
                </a14:m>
                <a:r>
                  <a:rPr lang="en-US" altLang="zh-CN" sz="2400" dirty="0" smtClean="0">
                    <a:latin typeface="楷体" panose="02010609060101010101" pitchFamily="49" charset="-122"/>
                    <a:ea typeface="楷体" panose="02010609060101010101" pitchFamily="49" charset="-122"/>
                  </a:rPr>
                  <a:t>, m</a:t>
                </a:r>
                <a:r>
                  <a:rPr lang="en-US" altLang="zh-CN" sz="2400" baseline="-25000" dirty="0" smtClean="0">
                    <a:latin typeface="楷体" panose="02010609060101010101" pitchFamily="49" charset="-122"/>
                    <a:ea typeface="楷体" panose="02010609060101010101" pitchFamily="49" charset="-122"/>
                  </a:rPr>
                  <a:t>13</a:t>
                </a:r>
                <a:r>
                  <a:rPr lang="en-US" altLang="zh-CN" sz="2400" dirty="0" smtClean="0">
                    <a:latin typeface="楷体" panose="02010609060101010101" pitchFamily="49" charset="-122"/>
                    <a:ea typeface="楷体" panose="02010609060101010101" pitchFamily="49" charset="-122"/>
                  </a:rPr>
                  <a:t>=0,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𝑚</m:t>
                    </m:r>
                    <m:r>
                      <a:rPr lang="en-US" altLang="zh-CN" sz="2400" i="1" baseline="-25000" dirty="0">
                        <a:latin typeface="Cambria Math" panose="02040503050406030204" pitchFamily="18" charset="0"/>
                        <a:ea typeface="楷体" panose="02010609060101010101" pitchFamily="49" charset="-122"/>
                      </a:rPr>
                      <m:t>14</m:t>
                    </m:r>
                    <m:r>
                      <a:rPr lang="en-US" altLang="zh-CN" sz="2400" i="1" dirty="0">
                        <a:latin typeface="Cambria Math" panose="02040503050406030204" pitchFamily="18" charset="0"/>
                        <a:ea typeface="楷体" panose="02010609060101010101" pitchFamily="49" charset="-122"/>
                      </a:rPr>
                      <m:t>=0</m:t>
                    </m:r>
                  </m:oMath>
                </a14:m>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𝑚</m:t>
                    </m:r>
                    <m:r>
                      <a:rPr lang="en-US" altLang="zh-CN" sz="2400" i="1" baseline="-25000" dirty="0">
                        <a:latin typeface="Cambria Math" panose="02040503050406030204" pitchFamily="18" charset="0"/>
                        <a:ea typeface="楷体" panose="02010609060101010101" pitchFamily="49" charset="-122"/>
                      </a:rPr>
                      <m:t>15</m:t>
                    </m:r>
                  </m:oMath>
                </a14:m>
                <a:r>
                  <a:rPr lang="en-US" altLang="zh-CN" sz="2400" dirty="0" smtClean="0">
                    <a:latin typeface="楷体" panose="02010609060101010101" pitchFamily="49" charset="-122"/>
                    <a:ea typeface="楷体" panose="02010609060101010101" pitchFamily="49" charset="-122"/>
                  </a:rPr>
                  <a:t>=0</a:t>
                </a:r>
                <a:endParaRPr lang="en-US" altLang="zh-CN" sz="2400" dirty="0">
                  <a:latin typeface="楷体" panose="02010609060101010101" pitchFamily="49" charset="-122"/>
                  <a:ea typeface="楷体" panose="02010609060101010101" pitchFamily="49"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785090" y="1168545"/>
                <a:ext cx="7222836" cy="4580741"/>
              </a:xfrm>
              <a:prstGeom prst="rect">
                <a:avLst/>
              </a:prstGeom>
              <a:blipFill>
                <a:blip r:embed="rId2"/>
                <a:stretch>
                  <a:fillRect l="-1350" t="-666" r="-5485" b="-214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571124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p:cNvSpPr/>
              <p:nvPr/>
            </p:nvSpPr>
            <p:spPr>
              <a:xfrm>
                <a:off x="236371" y="634205"/>
                <a:ext cx="5526476" cy="5594032"/>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由此</a:t>
                </a:r>
                <a:r>
                  <a:rPr lang="zh-CN" altLang="en-US" sz="2400" dirty="0">
                    <a:latin typeface="楷体" panose="02010609060101010101" pitchFamily="49" charset="-122"/>
                    <a:ea typeface="楷体" panose="02010609060101010101" pitchFamily="49" charset="-122"/>
                  </a:rPr>
                  <a:t>，可列出所要设计电路的真值表，如表</a:t>
                </a:r>
                <a:r>
                  <a:rPr lang="en-US" altLang="zh-CN" sz="2400" dirty="0">
                    <a:latin typeface="楷体" panose="02010609060101010101" pitchFamily="49" charset="-122"/>
                    <a:ea typeface="楷体" panose="02010609060101010101" pitchFamily="49" charset="-122"/>
                  </a:rPr>
                  <a:t>2.4</a:t>
                </a:r>
                <a:r>
                  <a:rPr lang="zh-CN" altLang="en-US" sz="2400" dirty="0">
                    <a:latin typeface="楷体" panose="02010609060101010101" pitchFamily="49" charset="-122"/>
                    <a:ea typeface="楷体" panose="02010609060101010101" pitchFamily="49" charset="-122"/>
                  </a:rPr>
                  <a:t>所示。表中当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𝐴𝐵𝐶𝐷</m:t>
                    </m:r>
                  </m:oMath>
                </a14:m>
                <a:r>
                  <a:rPr lang="zh-CN" altLang="en-US" sz="2400" dirty="0">
                    <a:latin typeface="楷体" panose="02010609060101010101" pitchFamily="49" charset="-122"/>
                    <a:ea typeface="楷体" panose="02010609060101010101" pitchFamily="49" charset="-122"/>
                  </a:rPr>
                  <a:t>取值为</a:t>
                </a:r>
                <a:r>
                  <a:rPr lang="en-US" altLang="zh-CN" sz="2400" dirty="0">
                    <a:latin typeface="楷体" panose="02010609060101010101" pitchFamily="49" charset="-122"/>
                    <a:ea typeface="楷体" panose="02010609060101010101" pitchFamily="49" charset="-122"/>
                  </a:rPr>
                  <a:t>1010</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1111</a:t>
                </a:r>
                <a:r>
                  <a:rPr lang="zh-CN" altLang="en-US" sz="2400" dirty="0">
                    <a:latin typeface="楷体" panose="02010609060101010101" pitchFamily="49" charset="-122"/>
                    <a:ea typeface="楷体" panose="02010609060101010101" pitchFamily="49" charset="-122"/>
                  </a:rPr>
                  <a:t>时，函数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oMath>
                </a14:m>
                <a:r>
                  <a:rPr lang="zh-CN" altLang="en-US" sz="2400" dirty="0">
                    <a:latin typeface="楷体" panose="02010609060101010101" pitchFamily="49" charset="-122"/>
                    <a:ea typeface="楷体" panose="02010609060101010101" pitchFamily="49" charset="-122"/>
                  </a:rPr>
                  <a:t>值填“</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r>
                      <m:rPr>
                        <m:nor/>
                      </m:rPr>
                      <a:rPr lang="en-US" altLang="zh-CN" sz="2400" dirty="0">
                        <a:latin typeface="楷体" panose="02010609060101010101" pitchFamily="49" charset="-122"/>
                        <a:ea typeface="楷体" panose="02010609060101010101" pitchFamily="49" charset="-122"/>
                      </a:rPr>
                      <m:t> </m:t>
                    </m:r>
                  </m:oMath>
                </a14:m>
                <a:r>
                  <a:rPr lang="en-US" altLang="zh-CN" sz="2400" dirty="0">
                    <a:latin typeface="楷体" panose="02010609060101010101" pitchFamily="49" charset="-122"/>
                    <a:ea typeface="楷体" panose="02010609060101010101" pitchFamily="49" charset="-122"/>
                  </a:rPr>
                  <a:t>”,</a:t>
                </a:r>
                <a:r>
                  <a:rPr lang="zh-CN" altLang="en-US" sz="2400" b="1" dirty="0">
                    <a:solidFill>
                      <a:schemeClr val="accent1"/>
                    </a:solidFill>
                    <a:latin typeface="楷体" panose="02010609060101010101" pitchFamily="49" charset="-122"/>
                    <a:ea typeface="楷体" panose="02010609060101010101" pitchFamily="49" charset="-122"/>
                  </a:rPr>
                  <a:t>以表示它</a:t>
                </a:r>
                <a:r>
                  <a:rPr lang="zh-CN" altLang="en-US" sz="2400" b="1" dirty="0" smtClean="0">
                    <a:solidFill>
                      <a:schemeClr val="accent1"/>
                    </a:solidFill>
                    <a:latin typeface="楷体" panose="02010609060101010101" pitchFamily="49" charset="-122"/>
                    <a:ea typeface="楷体" panose="02010609060101010101" pitchFamily="49" charset="-122"/>
                  </a:rPr>
                  <a:t>所对应</a:t>
                </a:r>
                <a:r>
                  <a:rPr lang="zh-CN" altLang="en-US" sz="2400" b="1" dirty="0">
                    <a:solidFill>
                      <a:schemeClr val="accent1"/>
                    </a:solidFill>
                    <a:latin typeface="楷体" panose="02010609060101010101" pitchFamily="49" charset="-122"/>
                    <a:ea typeface="楷体" panose="02010609060101010101" pitchFamily="49" charset="-122"/>
                  </a:rPr>
                  <a:t>的输入变量取值是不会出现</a:t>
                </a:r>
                <a:r>
                  <a:rPr lang="zh-CN" altLang="en-US" sz="2400" dirty="0">
                    <a:latin typeface="楷体" panose="02010609060101010101" pitchFamily="49" charset="-122"/>
                    <a:ea typeface="楷体" panose="02010609060101010101" pitchFamily="49" charset="-122"/>
                  </a:rPr>
                  <a:t>。由真值表列出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oMath>
                </a14:m>
                <a:r>
                  <a:rPr lang="zh-CN" altLang="en-US" sz="2400" dirty="0" smtClean="0">
                    <a:latin typeface="楷体" panose="02010609060101010101" pitchFamily="49" charset="-122"/>
                    <a:ea typeface="楷体" panose="02010609060101010101" pitchFamily="49" charset="-122"/>
                  </a:rPr>
                  <a:t>的逻辑表达式</a:t>
                </a:r>
                <a:r>
                  <a:rPr lang="zh-CN" altLang="en-US" sz="2400" dirty="0">
                    <a:latin typeface="楷体" panose="02010609060101010101" pitchFamily="49" charset="-122"/>
                    <a:ea typeface="楷体" panose="02010609060101010101" pitchFamily="49" charset="-122"/>
                  </a:rPr>
                  <a:t>为</a:t>
                </a:r>
              </a:p>
              <a:p>
                <a:pPr marL="534988" indent="-534988"/>
                <a14:m>
                  <m:oMathPara xmlns:m="http://schemas.openxmlformats.org/officeDocument/2006/math">
                    <m:oMathParaPr>
                      <m:jc m:val="left"/>
                    </m:oMathParaPr>
                    <m:oMath xmlns:m="http://schemas.openxmlformats.org/officeDocument/2006/math">
                      <m:r>
                        <a:rPr lang="en-US" altLang="zh-CN" sz="2400" i="1" dirty="0">
                          <a:latin typeface="Cambria Math" panose="02040503050406030204" pitchFamily="18" charset="0"/>
                        </a:rPr>
                        <m:t>𝐹</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𝐴</m:t>
                          </m:r>
                          <m:r>
                            <a:rPr lang="en-US" altLang="zh-CN" sz="2400" i="1" dirty="0">
                              <a:latin typeface="Cambria Math" panose="02040503050406030204" pitchFamily="18" charset="0"/>
                            </a:rPr>
                            <m:t>,</m:t>
                          </m:r>
                          <m:r>
                            <a:rPr lang="en-US" altLang="zh-CN" sz="2400" i="1" dirty="0">
                              <a:latin typeface="Cambria Math" panose="02040503050406030204" pitchFamily="18" charset="0"/>
                            </a:rPr>
                            <m:t>𝐵</m:t>
                          </m:r>
                          <m:r>
                            <a:rPr lang="en-US" altLang="zh-CN" sz="2400" i="1" dirty="0">
                              <a:latin typeface="Cambria Math" panose="02040503050406030204" pitchFamily="18" charset="0"/>
                            </a:rPr>
                            <m:t>,</m:t>
                          </m:r>
                          <m:r>
                            <a:rPr lang="en-US" altLang="zh-CN" sz="2400" i="1" dirty="0">
                              <a:latin typeface="Cambria Math" panose="02040503050406030204" pitchFamily="18" charset="0"/>
                            </a:rPr>
                            <m:t>𝐶</m:t>
                          </m:r>
                          <m:r>
                            <a:rPr lang="en-US" altLang="zh-CN" sz="2400" i="1" dirty="0">
                              <a:latin typeface="Cambria Math" panose="02040503050406030204" pitchFamily="18" charset="0"/>
                            </a:rPr>
                            <m:t>,</m:t>
                          </m:r>
                          <m:r>
                            <a:rPr lang="en-US" altLang="zh-CN" sz="2400" i="1" dirty="0">
                              <a:latin typeface="Cambria Math" panose="02040503050406030204" pitchFamily="18" charset="0"/>
                            </a:rPr>
                            <m:t>𝐷</m:t>
                          </m:r>
                        </m:e>
                      </m:d>
                      <m:r>
                        <a:rPr lang="en-US" altLang="zh-CN" sz="2400" i="1" dirty="0">
                          <a:latin typeface="Cambria Math" panose="02040503050406030204" pitchFamily="18" charset="0"/>
                        </a:rPr>
                        <m:t>=</m:t>
                      </m:r>
                      <m:nary>
                        <m:naryPr>
                          <m:chr m:val="∑"/>
                          <m:subHide m:val="on"/>
                          <m:supHide m:val="on"/>
                          <m:ctrlPr>
                            <a:rPr lang="en-US" altLang="zh-CN" sz="2400" i="1">
                              <a:latin typeface="Cambria Math" panose="02040503050406030204" pitchFamily="18" charset="0"/>
                            </a:rPr>
                          </m:ctrlPr>
                        </m:naryPr>
                        <m:sub/>
                        <m:sup/>
                        <m:e>
                          <m:r>
                            <a:rPr lang="en-US" altLang="zh-CN" sz="2400" i="1">
                              <a:latin typeface="Cambria Math" panose="02040503050406030204" pitchFamily="18" charset="0"/>
                            </a:rPr>
                            <m:t>𝑚</m:t>
                          </m:r>
                        </m:e>
                      </m:nary>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5</m:t>
                          </m:r>
                          <m:r>
                            <a:rPr lang="en-US" altLang="zh-CN" sz="2400" i="1">
                              <a:latin typeface="Cambria Math" panose="02040503050406030204" pitchFamily="18" charset="0"/>
                            </a:rPr>
                            <m:t>,</m:t>
                          </m:r>
                          <m:r>
                            <a:rPr lang="en-US" altLang="zh-CN" sz="2400" b="0" i="1" smtClean="0">
                              <a:latin typeface="Cambria Math" panose="02040503050406030204" pitchFamily="18" charset="0"/>
                            </a:rPr>
                            <m:t>6</m:t>
                          </m:r>
                          <m:r>
                            <a:rPr lang="en-US" altLang="zh-CN" sz="2400" i="1">
                              <a:latin typeface="Cambria Math" panose="02040503050406030204" pitchFamily="18" charset="0"/>
                            </a:rPr>
                            <m:t>,</m:t>
                          </m:r>
                          <m:r>
                            <a:rPr lang="en-US" altLang="zh-CN" sz="2400" b="0" i="1" smtClean="0">
                              <a:latin typeface="Cambria Math" panose="02040503050406030204" pitchFamily="18" charset="0"/>
                            </a:rPr>
                            <m:t>7</m:t>
                          </m:r>
                          <m:r>
                            <a:rPr lang="en-US" altLang="zh-CN" sz="2400" i="1">
                              <a:latin typeface="Cambria Math" panose="02040503050406030204" pitchFamily="18" charset="0"/>
                            </a:rPr>
                            <m:t>,</m:t>
                          </m:r>
                          <m:r>
                            <a:rPr lang="en-US" altLang="zh-CN" sz="2400" b="0" i="1" smtClean="0">
                              <a:latin typeface="Cambria Math" panose="02040503050406030204" pitchFamily="18" charset="0"/>
                            </a:rPr>
                            <m:t>8</m:t>
                          </m:r>
                          <m:r>
                            <a:rPr lang="en-US" altLang="zh-CN" sz="2400" i="1">
                              <a:latin typeface="Cambria Math" panose="02040503050406030204" pitchFamily="18" charset="0"/>
                            </a:rPr>
                            <m:t>,</m:t>
                          </m:r>
                          <m:r>
                            <a:rPr lang="en-US" altLang="zh-CN" sz="2400" b="0" i="1" smtClean="0">
                              <a:latin typeface="Cambria Math" panose="02040503050406030204" pitchFamily="18" charset="0"/>
                            </a:rPr>
                            <m:t>9</m:t>
                          </m:r>
                        </m:e>
                      </m:d>
                      <m:r>
                        <a:rPr lang="en-US" altLang="zh-CN" sz="2400" i="1" smtClean="0">
                          <a:latin typeface="Cambria Math" panose="02040503050406030204" pitchFamily="18" charset="0"/>
                        </a:rPr>
                        <m:t>+</m:t>
                      </m:r>
                      <m:nary>
                        <m:naryPr>
                          <m:chr m:val="∑"/>
                          <m:subHide m:val="on"/>
                          <m:supHide m:val="on"/>
                          <m:ctrlPr>
                            <a:rPr lang="en-US" altLang="zh-CN" sz="2400" i="1">
                              <a:latin typeface="Cambria Math" panose="02040503050406030204" pitchFamily="18" charset="0"/>
                            </a:rPr>
                          </m:ctrlPr>
                        </m:naryPr>
                        <m:sub/>
                        <m:sup/>
                        <m:e>
                          <m:r>
                            <a:rPr lang="en-US" altLang="zh-CN" sz="2400" i="1">
                              <a:latin typeface="Cambria Math" panose="02040503050406030204" pitchFamily="18" charset="0"/>
                              <a:ea typeface="Cambria Math" panose="02040503050406030204" pitchFamily="18" charset="0"/>
                            </a:rPr>
                            <m:t>∅</m:t>
                          </m:r>
                          <m:r>
                            <m:rPr>
                              <m:nor/>
                            </m:rPr>
                            <a:rPr lang="en-US" altLang="zh-CN" sz="2400" dirty="0">
                              <a:latin typeface="楷体" panose="02010609060101010101" pitchFamily="49" charset="-122"/>
                              <a:ea typeface="楷体" panose="02010609060101010101" pitchFamily="49" charset="-122"/>
                            </a:rPr>
                            <m:t> </m:t>
                          </m:r>
                        </m:e>
                      </m:nary>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10,11</m:t>
                          </m:r>
                          <m:r>
                            <a:rPr lang="en-US" altLang="zh-CN" sz="2400" i="1">
                              <a:latin typeface="Cambria Math" panose="02040503050406030204" pitchFamily="18" charset="0"/>
                            </a:rPr>
                            <m:t>,12,13,14.15</m:t>
                          </m:r>
                        </m:e>
                      </m:d>
                    </m:oMath>
                  </m:oMathPara>
                </a14:m>
                <a:endParaRPr lang="en-US" altLang="zh-CN" sz="2400" dirty="0" smtClean="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式中，</a:t>
                </a:r>
                <a14:m>
                  <m:oMath xmlns:m="http://schemas.openxmlformats.org/officeDocument/2006/math">
                    <m:nary>
                      <m:naryPr>
                        <m:chr m:val="∑"/>
                        <m:subHide m:val="on"/>
                        <m:supHide m:val="on"/>
                        <m:ctrlPr>
                          <a:rPr lang="en-US" altLang="zh-CN" sz="2400" b="1" i="1" smtClean="0">
                            <a:solidFill>
                              <a:srgbClr val="00B0F0"/>
                            </a:solidFill>
                            <a:latin typeface="Cambria Math" panose="02040503050406030204" pitchFamily="18" charset="0"/>
                          </a:rPr>
                        </m:ctrlPr>
                      </m:naryPr>
                      <m:sub/>
                      <m:sup/>
                      <m:e>
                        <m:r>
                          <a:rPr lang="en-US" altLang="zh-CN" sz="2400" b="1" i="1">
                            <a:solidFill>
                              <a:srgbClr val="00B0F0"/>
                            </a:solidFill>
                            <a:latin typeface="Cambria Math" panose="02040503050406030204" pitchFamily="18" charset="0"/>
                            <a:ea typeface="Cambria Math" panose="02040503050406030204" pitchFamily="18" charset="0"/>
                          </a:rPr>
                          <m:t>∅</m:t>
                        </m:r>
                        <m:r>
                          <m:rPr>
                            <m:nor/>
                          </m:rPr>
                          <a:rPr lang="en-US" altLang="zh-CN" sz="2400" b="1" dirty="0">
                            <a:solidFill>
                              <a:srgbClr val="00B0F0"/>
                            </a:solidFill>
                            <a:latin typeface="楷体" panose="02010609060101010101" pitchFamily="49" charset="-122"/>
                            <a:ea typeface="楷体" panose="02010609060101010101" pitchFamily="49" charset="-122"/>
                          </a:rPr>
                          <m:t> </m:t>
                        </m:r>
                      </m:e>
                    </m:nary>
                  </m:oMath>
                </a14:m>
                <a:r>
                  <a:rPr lang="en-US" altLang="zh-CN" sz="2400" b="1" dirty="0">
                    <a:solidFill>
                      <a:srgbClr val="00B0F0"/>
                    </a:solidFill>
                    <a:latin typeface="楷体" panose="02010609060101010101" pitchFamily="49" charset="-122"/>
                    <a:ea typeface="楷体" panose="02010609060101010101" pitchFamily="49" charset="-122"/>
                  </a:rPr>
                  <a:t> </a:t>
                </a:r>
                <a:r>
                  <a:rPr lang="zh-CN" altLang="en-US" sz="2400" b="1" dirty="0">
                    <a:solidFill>
                      <a:srgbClr val="00B0F0"/>
                    </a:solidFill>
                    <a:latin typeface="楷体" panose="02010609060101010101" pitchFamily="49" charset="-122"/>
                    <a:ea typeface="楷体" panose="02010609060101010101" pitchFamily="49" charset="-122"/>
                  </a:rPr>
                  <a:t>部分是</a:t>
                </a:r>
                <a:r>
                  <a:rPr lang="zh-CN" altLang="en-US" sz="2400" b="1" dirty="0" smtClean="0">
                    <a:solidFill>
                      <a:srgbClr val="00B0F0"/>
                    </a:solidFill>
                    <a:latin typeface="楷体" panose="02010609060101010101" pitchFamily="49" charset="-122"/>
                    <a:ea typeface="楷体" panose="02010609060101010101" pitchFamily="49" charset="-122"/>
                  </a:rPr>
                  <a:t>“任意项”</a:t>
                </a:r>
                <a:r>
                  <a:rPr lang="zh-CN" altLang="en-US" sz="2400" dirty="0" smtClean="0">
                    <a:latin typeface="楷体" panose="02010609060101010101" pitchFamily="49" charset="-122"/>
                    <a:ea typeface="楷体" panose="02010609060101010101" pitchFamily="49" charset="-122"/>
                  </a:rPr>
                  <a:t>，</a:t>
                </a:r>
                <a:r>
                  <a:rPr lang="zh-CN" altLang="en-US" sz="2400" b="1" dirty="0" smtClean="0">
                    <a:solidFill>
                      <a:srgbClr val="00B0F0"/>
                    </a:solidFill>
                    <a:latin typeface="楷体" panose="02010609060101010101" pitchFamily="49" charset="-122"/>
                    <a:ea typeface="楷体" panose="02010609060101010101" pitchFamily="49" charset="-122"/>
                  </a:rPr>
                  <a:t>可</a:t>
                </a:r>
                <a:r>
                  <a:rPr lang="zh-CN" altLang="en-US" sz="2400" b="1" dirty="0">
                    <a:solidFill>
                      <a:srgbClr val="00B0F0"/>
                    </a:solidFill>
                    <a:latin typeface="楷体" panose="02010609060101010101" pitchFamily="49" charset="-122"/>
                    <a:ea typeface="楷体" panose="02010609060101010101" pitchFamily="49" charset="-122"/>
                  </a:rPr>
                  <a:t>根据化简需要引入其中</a:t>
                </a:r>
                <a:r>
                  <a:rPr lang="zh-CN" altLang="en-US" sz="2400" b="1" dirty="0" smtClean="0">
                    <a:solidFill>
                      <a:srgbClr val="00B0F0"/>
                    </a:solidFill>
                    <a:latin typeface="楷体" panose="02010609060101010101" pitchFamily="49" charset="-122"/>
                    <a:ea typeface="楷体" panose="02010609060101010101" pitchFamily="49" charset="-122"/>
                  </a:rPr>
                  <a:t>若干项</a:t>
                </a:r>
                <a:r>
                  <a:rPr lang="zh-CN" altLang="en-US" sz="2400" b="1" dirty="0">
                    <a:solidFill>
                      <a:srgbClr val="00B0F0"/>
                    </a:solidFill>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因为其值取为</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引入后不会改变原函数的逻辑值。</a:t>
                </a:r>
              </a:p>
            </p:txBody>
          </p:sp>
        </mc:Choice>
        <mc:Fallback xmlns="">
          <p:sp>
            <p:nvSpPr>
              <p:cNvPr id="7" name="矩形 6"/>
              <p:cNvSpPr>
                <a:spLocks noRot="1" noChangeAspect="1" noMove="1" noResize="1" noEditPoints="1" noAdjustHandles="1" noChangeArrowheads="1" noChangeShapeType="1" noTextEdit="1"/>
              </p:cNvSpPr>
              <p:nvPr/>
            </p:nvSpPr>
            <p:spPr>
              <a:xfrm>
                <a:off x="236371" y="634205"/>
                <a:ext cx="5526476" cy="5594032"/>
              </a:xfrm>
              <a:prstGeom prst="rect">
                <a:avLst/>
              </a:prstGeom>
              <a:blipFill>
                <a:blip r:embed="rId2"/>
                <a:stretch>
                  <a:fillRect l="-1766" t="-545" r="-4746" b="-2397"/>
                </a:stretch>
              </a:blipFill>
            </p:spPr>
            <p:txBody>
              <a:bodyPr/>
              <a:lstStyle/>
              <a:p>
                <a:r>
                  <a:rPr lang="zh-CN" altLang="en-US">
                    <a:noFill/>
                  </a:rPr>
                  <a:t> </a:t>
                </a:r>
              </a:p>
            </p:txBody>
          </p:sp>
        </mc:Fallback>
      </mc:AlternateContent>
      <p:pic>
        <p:nvPicPr>
          <p:cNvPr id="2" name="图片 1"/>
          <p:cNvPicPr>
            <a:picLocks noChangeAspect="1"/>
          </p:cNvPicPr>
          <p:nvPr/>
        </p:nvPicPr>
        <p:blipFill>
          <a:blip r:embed="rId3"/>
          <a:stretch>
            <a:fillRect/>
          </a:stretch>
        </p:blipFill>
        <p:spPr>
          <a:xfrm>
            <a:off x="5762847" y="264385"/>
            <a:ext cx="3051544" cy="6515194"/>
          </a:xfrm>
          <a:prstGeom prst="rect">
            <a:avLst/>
          </a:prstGeom>
        </p:spPr>
      </p:pic>
    </p:spTree>
    <p:extLst>
      <p:ext uri="{BB962C8B-B14F-4D97-AF65-F5344CB8AC3E}">
        <p14:creationId xmlns:p14="http://schemas.microsoft.com/office/powerpoint/2010/main" val="400134625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p:cNvSpPr/>
              <p:nvPr/>
            </p:nvSpPr>
            <p:spPr>
              <a:xfrm>
                <a:off x="324949" y="277264"/>
                <a:ext cx="4742822" cy="3234219"/>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现用卡诺图进行简化，如图</a:t>
                </a:r>
                <a:r>
                  <a:rPr lang="en-US" altLang="zh-CN" sz="2400" dirty="0">
                    <a:latin typeface="楷体" panose="02010609060101010101" pitchFamily="49" charset="-122"/>
                    <a:ea typeface="楷体" panose="02010609060101010101" pitchFamily="49" charset="-122"/>
                  </a:rPr>
                  <a:t>2.12</a:t>
                </a:r>
                <a:r>
                  <a:rPr lang="zh-CN" altLang="en-US" sz="2400" dirty="0">
                    <a:latin typeface="楷体" panose="02010609060101010101" pitchFamily="49" charset="-122"/>
                    <a:ea typeface="楷体" panose="02010609060101010101" pitchFamily="49" charset="-122"/>
                  </a:rPr>
                  <a:t>所示。图中数字</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9 </a:t>
                </a:r>
                <a:r>
                  <a:rPr lang="zh-CN" altLang="en-US" sz="2400" dirty="0">
                    <a:latin typeface="楷体" panose="02010609060101010101" pitchFamily="49" charset="-122"/>
                    <a:ea typeface="楷体" panose="02010609060101010101" pitchFamily="49" charset="-122"/>
                  </a:rPr>
                  <a:t>是组成</a:t>
                </a:r>
                <a:r>
                  <a:rPr lang="en-US" altLang="zh-CN" sz="2400" dirty="0" smtClean="0">
                    <a:latin typeface="楷体" panose="02010609060101010101" pitchFamily="49" charset="-122"/>
                    <a:ea typeface="楷体" panose="02010609060101010101" pitchFamily="49" charset="-122"/>
                  </a:rPr>
                  <a:t>F</a:t>
                </a:r>
                <a:r>
                  <a:rPr lang="zh-CN" altLang="en-US" sz="2400" dirty="0" smtClean="0">
                    <a:latin typeface="楷体" panose="02010609060101010101" pitchFamily="49" charset="-122"/>
                    <a:ea typeface="楷体" panose="02010609060101010101" pitchFamily="49" charset="-122"/>
                  </a:rPr>
                  <a:t>的</a:t>
                </a:r>
                <a:r>
                  <a:rPr lang="zh-CN" altLang="en-US" sz="2400" dirty="0">
                    <a:latin typeface="楷体" panose="02010609060101010101" pitchFamily="49" charset="-122"/>
                    <a:ea typeface="楷体" panose="02010609060101010101" pitchFamily="49" charset="-122"/>
                  </a:rPr>
                  <a:t>各个最小项，</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zh-CN" altLang="en-US" sz="2400" dirty="0">
                    <a:latin typeface="楷体" panose="02010609060101010101" pitchFamily="49" charset="-122"/>
                    <a:ea typeface="楷体" panose="02010609060101010101" pitchFamily="49" charset="-122"/>
                  </a:rPr>
                  <a:t>是任意项。</a:t>
                </a:r>
                <a:r>
                  <a:rPr lang="zh-CN" altLang="en-US" sz="2400" b="1" dirty="0" smtClean="0">
                    <a:solidFill>
                      <a:srgbClr val="00B0F0"/>
                    </a:solidFill>
                    <a:latin typeface="楷体" panose="02010609060101010101" pitchFamily="49" charset="-122"/>
                    <a:ea typeface="楷体" panose="02010609060101010101" pitchFamily="49" charset="-122"/>
                  </a:rPr>
                  <a:t>根据化简需要，可将</a:t>
                </a:r>
                <a14:m>
                  <m:oMath xmlns:m="http://schemas.openxmlformats.org/officeDocument/2006/math">
                    <m:r>
                      <a:rPr lang="en-US" altLang="zh-CN" sz="2400" b="1" i="1">
                        <a:solidFill>
                          <a:srgbClr val="00B0F0"/>
                        </a:solidFill>
                        <a:latin typeface="Cambria Math" panose="02040503050406030204" pitchFamily="18" charset="0"/>
                        <a:ea typeface="Cambria Math" panose="02040503050406030204" pitchFamily="18" charset="0"/>
                      </a:rPr>
                      <m:t>∅</m:t>
                    </m:r>
                  </m:oMath>
                </a14:m>
                <a:r>
                  <a:rPr lang="zh-CN" altLang="en-US" sz="2400" b="1" dirty="0">
                    <a:solidFill>
                      <a:srgbClr val="00B0F0"/>
                    </a:solidFill>
                    <a:latin typeface="楷体" panose="02010609060101010101" pitchFamily="49" charset="-122"/>
                    <a:ea typeface="楷体" panose="02010609060101010101" pitchFamily="49" charset="-122"/>
                  </a:rPr>
                  <a:t>与最小项圈成一个尽可能大的圈，且</a:t>
                </a:r>
                <a14:m>
                  <m:oMath xmlns:m="http://schemas.openxmlformats.org/officeDocument/2006/math">
                    <m:r>
                      <a:rPr lang="en-US" altLang="zh-CN" sz="2400" b="1" i="1">
                        <a:solidFill>
                          <a:srgbClr val="00B0F0"/>
                        </a:solidFill>
                        <a:latin typeface="Cambria Math" panose="02040503050406030204" pitchFamily="18" charset="0"/>
                        <a:ea typeface="Cambria Math" panose="02040503050406030204" pitchFamily="18" charset="0"/>
                      </a:rPr>
                      <m:t>∅</m:t>
                    </m:r>
                  </m:oMath>
                </a14:m>
                <a:r>
                  <a:rPr lang="zh-CN" altLang="en-US" sz="2400" b="1" dirty="0">
                    <a:solidFill>
                      <a:srgbClr val="00B0F0"/>
                    </a:solidFill>
                    <a:latin typeface="楷体" panose="02010609060101010101" pitchFamily="49" charset="-122"/>
                    <a:ea typeface="楷体" panose="02010609060101010101" pitchFamily="49" charset="-122"/>
                  </a:rPr>
                  <a:t>可多次被圈</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zh-CN" sz="2400" dirty="0">
                    <a:latin typeface="楷体" panose="02010609060101010101" pitchFamily="49" charset="-122"/>
                    <a:ea typeface="楷体" panose="02010609060101010101" pitchFamily="49" charset="-122"/>
                  </a:rPr>
                  <a:t>由此可得简化结果</a:t>
                </a:r>
                <a:r>
                  <a:rPr lang="zh-CN" altLang="zh-CN" sz="2400" dirty="0" smtClean="0">
                    <a:latin typeface="楷体" panose="02010609060101010101" pitchFamily="49" charset="-122"/>
                    <a:ea typeface="楷体" panose="02010609060101010101" pitchFamily="49" charset="-122"/>
                  </a:rPr>
                  <a:t>为</a:t>
                </a:r>
                <a:r>
                  <a:rPr lang="zh-CN" altLang="en-US" sz="2400" dirty="0" smtClean="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pPr>
                  <a:lnSpc>
                    <a:spcPts val="3500"/>
                  </a:lnSpc>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𝐹</m:t>
                      </m:r>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𝐵𝐷</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𝐵𝐶</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𝐴</m:t>
                      </m:r>
                    </m:oMath>
                  </m:oMathPara>
                </a14:m>
                <a:endParaRPr lang="en-US" altLang="zh-CN" sz="2400" i="1" dirty="0" smtClean="0">
                  <a:latin typeface="楷体" panose="02010609060101010101" pitchFamily="49" charset="-122"/>
                  <a:ea typeface="楷体" panose="02010609060101010101" pitchFamily="49"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324949" y="277264"/>
                <a:ext cx="4742822" cy="3234219"/>
              </a:xfrm>
              <a:prstGeom prst="rect">
                <a:avLst/>
              </a:prstGeom>
              <a:blipFill>
                <a:blip r:embed="rId2"/>
                <a:stretch>
                  <a:fillRect l="-1928" t="-942" r="-514"/>
                </a:stretch>
              </a:blipFill>
            </p:spPr>
            <p:txBody>
              <a:bodyPr/>
              <a:lstStyle/>
              <a:p>
                <a:r>
                  <a:rPr lang="zh-CN" altLang="en-US">
                    <a:noFill/>
                  </a:rPr>
                  <a:t> </a:t>
                </a:r>
              </a:p>
            </p:txBody>
          </p:sp>
        </mc:Fallback>
      </mc:AlternateContent>
      <p:pic>
        <p:nvPicPr>
          <p:cNvPr id="2" name="图片 1"/>
          <p:cNvPicPr>
            <a:picLocks noChangeAspect="1"/>
          </p:cNvPicPr>
          <p:nvPr/>
        </p:nvPicPr>
        <p:blipFill>
          <a:blip r:embed="rId3"/>
          <a:stretch>
            <a:fillRect/>
          </a:stretch>
        </p:blipFill>
        <p:spPr>
          <a:xfrm>
            <a:off x="5303713" y="156118"/>
            <a:ext cx="3486620" cy="3476513"/>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324949" y="3850077"/>
                <a:ext cx="8144188" cy="1887696"/>
              </a:xfrm>
              <a:prstGeom prst="rect">
                <a:avLst/>
              </a:prstGeom>
            </p:spPr>
            <p:txBody>
              <a:bodyPr wrap="square">
                <a:spAutoFit/>
              </a:bodyPr>
              <a:lstStyle/>
              <a:p>
                <a:pPr>
                  <a:lnSpc>
                    <a:spcPts val="3500"/>
                  </a:lnSpc>
                </a:pPr>
                <a:r>
                  <a:rPr lang="zh-CN" altLang="zh-CN" sz="2400" dirty="0" smtClean="0">
                    <a:latin typeface="楷体" panose="02010609060101010101" pitchFamily="49" charset="-122"/>
                    <a:ea typeface="楷体" panose="02010609060101010101" pitchFamily="49" charset="-122"/>
                  </a:rPr>
                  <a:t>本题要求用与非门实现，故将上式变换为如下的与非</a:t>
                </a:r>
                <a:r>
                  <a:rPr lang="en-US" altLang="zh-CN"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与非表达式</a:t>
                </a:r>
                <a:r>
                  <a:rPr lang="zh-CN" altLang="zh-CN" sz="2400" dirty="0" smtClean="0">
                    <a:latin typeface="楷体" panose="02010609060101010101" pitchFamily="49" charset="-122"/>
                    <a:ea typeface="楷体" panose="02010609060101010101" pitchFamily="49" charset="-122"/>
                  </a:rPr>
                  <a:t>：</a:t>
                </a:r>
                <a:endParaRPr lang="en-US" altLang="zh-CN" sz="2400" i="1" dirty="0" smtClean="0">
                  <a:latin typeface="楷体" panose="02010609060101010101" pitchFamily="49" charset="-122"/>
                  <a:ea typeface="楷体" panose="02010609060101010101" pitchFamily="49" charset="-122"/>
                </a:endParaRPr>
              </a:p>
              <a:p>
                <a:pPr>
                  <a:lnSpc>
                    <a:spcPts val="3500"/>
                  </a:lnSpc>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𝐹</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𝐵𝐷</m:t>
                              </m:r>
                              <m:r>
                                <a:rPr lang="en-US" altLang="zh-CN" sz="2400" i="1">
                                  <a:latin typeface="Cambria Math" panose="02040503050406030204" pitchFamily="18" charset="0"/>
                                </a:rPr>
                                <m:t>+</m:t>
                              </m:r>
                              <m:r>
                                <a:rPr lang="en-US" altLang="zh-CN" sz="2400" i="1">
                                  <a:latin typeface="Cambria Math" panose="02040503050406030204" pitchFamily="18" charset="0"/>
                                </a:rPr>
                                <m:t>𝐵𝐶</m:t>
                              </m:r>
                              <m:r>
                                <a:rPr lang="en-US" altLang="zh-CN" sz="2400" i="1">
                                  <a:latin typeface="Cambria Math" panose="02040503050406030204" pitchFamily="18" charset="0"/>
                                </a:rPr>
                                <m:t>+</m:t>
                              </m:r>
                              <m:r>
                                <a:rPr lang="en-US" altLang="zh-CN" sz="2400" i="1">
                                  <a:latin typeface="Cambria Math" panose="02040503050406030204" pitchFamily="18" charset="0"/>
                                </a:rPr>
                                <m:t>𝐴</m:t>
                              </m:r>
                            </m:e>
                          </m:acc>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𝐵𝐷</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𝐵𝐶</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e>
                      </m:acc>
                    </m:oMath>
                  </m:oMathPara>
                </a14:m>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zh-CN" sz="2400" dirty="0" smtClean="0">
                    <a:latin typeface="楷体" panose="02010609060101010101" pitchFamily="49" charset="-122"/>
                    <a:ea typeface="楷体" panose="02010609060101010101" pitchFamily="49" charset="-122"/>
                  </a:rPr>
                  <a:t>由此</a:t>
                </a:r>
                <a:r>
                  <a:rPr lang="zh-CN" altLang="zh-CN" sz="2400" dirty="0">
                    <a:latin typeface="楷体" panose="02010609060101010101" pitchFamily="49" charset="-122"/>
                    <a:ea typeface="楷体" panose="02010609060101010101" pitchFamily="49" charset="-122"/>
                  </a:rPr>
                  <a:t>可画出图</a:t>
                </a:r>
                <a:r>
                  <a:rPr lang="en-US" altLang="zh-CN" sz="2400" dirty="0">
                    <a:latin typeface="楷体" panose="02010609060101010101" pitchFamily="49" charset="-122"/>
                    <a:ea typeface="楷体" panose="02010609060101010101" pitchFamily="49" charset="-122"/>
                  </a:rPr>
                  <a:t>2.13</a:t>
                </a:r>
                <a:r>
                  <a:rPr lang="zh-CN" altLang="zh-CN" sz="2400" dirty="0">
                    <a:latin typeface="楷体" panose="02010609060101010101" pitchFamily="49" charset="-122"/>
                    <a:ea typeface="楷体" panose="02010609060101010101" pitchFamily="49" charset="-122"/>
                  </a:rPr>
                  <a:t>所示的判别电路逻辑图</a:t>
                </a:r>
                <a:r>
                  <a:rPr lang="zh-CN" altLang="zh-CN" sz="2400" dirty="0" smtClean="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324949" y="3850077"/>
                <a:ext cx="8144188" cy="1887696"/>
              </a:xfrm>
              <a:prstGeom prst="rect">
                <a:avLst/>
              </a:prstGeom>
              <a:blipFill>
                <a:blip r:embed="rId4"/>
                <a:stretch>
                  <a:fillRect l="-1123" t="-1618" b="-32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324949" y="5767473"/>
                <a:ext cx="8560433" cy="830997"/>
              </a:xfrm>
              <a:prstGeom prst="rect">
                <a:avLst/>
              </a:prstGeom>
              <a:noFill/>
            </p:spPr>
            <p:txBody>
              <a:bodyPr wrap="square" rtlCol="0">
                <a:spAutoFit/>
              </a:bodyPr>
              <a:lstStyle/>
              <a:p>
                <a:r>
                  <a:rPr lang="zh-CN" altLang="en-US" sz="2400" b="1" dirty="0"/>
                  <a:t>想一想</a:t>
                </a:r>
                <a:r>
                  <a:rPr lang="zh-CN" altLang="en-US" sz="2400" b="1" dirty="0" smtClean="0"/>
                  <a:t>：如果某一时刻此电路的一个输入是</a:t>
                </a:r>
                <a14:m>
                  <m:oMath xmlns:m="http://schemas.openxmlformats.org/officeDocument/2006/math">
                    <m:r>
                      <a:rPr lang="en-US" altLang="zh-CN" sz="2400" b="1" i="1" dirty="0" smtClean="0">
                        <a:latin typeface="Cambria Math" panose="02040503050406030204" pitchFamily="18" charset="0"/>
                      </a:rPr>
                      <m:t>𝑨𝑩𝑪𝑫</m:t>
                    </m:r>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𝟏𝟎𝟏𝟏</m:t>
                    </m:r>
                  </m:oMath>
                </a14:m>
                <a:r>
                  <a:rPr lang="zh-CN" altLang="en-US" sz="2400" b="1" dirty="0" smtClean="0"/>
                  <a:t>，这个电路的输出会是怎样的？这个电路的输出是否会是错误的？</a:t>
                </a:r>
                <a:endParaRPr lang="zh-CN" altLang="en-US" sz="2400" b="1" dirty="0"/>
              </a:p>
            </p:txBody>
          </p:sp>
        </mc:Choice>
        <mc:Fallback xmlns="">
          <p:sp>
            <p:nvSpPr>
              <p:cNvPr id="4" name="文本框 3"/>
              <p:cNvSpPr txBox="1">
                <a:spLocks noRot="1" noChangeAspect="1" noMove="1" noResize="1" noEditPoints="1" noAdjustHandles="1" noChangeArrowheads="1" noChangeShapeType="1" noTextEdit="1"/>
              </p:cNvSpPr>
              <p:nvPr/>
            </p:nvSpPr>
            <p:spPr>
              <a:xfrm>
                <a:off x="324949" y="5767473"/>
                <a:ext cx="8560433" cy="830997"/>
              </a:xfrm>
              <a:prstGeom prst="rect">
                <a:avLst/>
              </a:prstGeom>
              <a:blipFill>
                <a:blip r:embed="rId5"/>
                <a:stretch>
                  <a:fillRect l="-1068" t="-5147" r="-996" b="-169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613293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2.3 </a:t>
            </a:r>
            <a:r>
              <a:rPr lang="en-US" altLang="zh-CN" dirty="0" err="1">
                <a:latin typeface="楷体" panose="02010609060101010101" pitchFamily="49" charset="-122"/>
                <a:ea typeface="楷体" panose="02010609060101010101" pitchFamily="49" charset="-122"/>
              </a:rPr>
              <a:t>组合逻辑电路的等价变换</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77091" y="1154545"/>
            <a:ext cx="8534400" cy="5022418"/>
          </a:xfrm>
        </p:spPr>
        <p:txBody>
          <a:bodyPr/>
          <a:lstStyle/>
          <a:p>
            <a:pPr>
              <a:lnSpc>
                <a:spcPts val="3500"/>
              </a:lnSpc>
            </a:pPr>
            <a:r>
              <a:rPr lang="zh-CN" altLang="zh-CN" dirty="0" smtClean="0">
                <a:latin typeface="楷体" panose="02010609060101010101" pitchFamily="49" charset="-122"/>
                <a:ea typeface="楷体" panose="02010609060101010101" pitchFamily="49" charset="-122"/>
              </a:rPr>
              <a:t>德摩根定律的应用</a:t>
            </a:r>
            <a:endParaRPr lang="en-US" altLang="zh-CN" dirty="0" smtClean="0">
              <a:latin typeface="楷体" panose="02010609060101010101" pitchFamily="49" charset="-122"/>
              <a:ea typeface="楷体" panose="02010609060101010101" pitchFamily="49" charset="-122"/>
            </a:endParaRPr>
          </a:p>
          <a:p>
            <a:pPr lvl="1"/>
            <a:endParaRPr lang="zh-CN" altLang="zh-CN" dirty="0">
              <a:latin typeface="楷体" panose="02010609060101010101" pitchFamily="49" charset="-122"/>
              <a:ea typeface="楷体" panose="02010609060101010101" pitchFamily="49" charset="-122"/>
            </a:endParaRPr>
          </a:p>
          <a:p>
            <a:endParaRPr lang="en-US" altLang="zh-CN" dirty="0" smtClean="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501816" y="1563453"/>
            <a:ext cx="8309675" cy="4225659"/>
          </a:xfrm>
          <a:prstGeom prst="rect">
            <a:avLst/>
          </a:prstGeom>
        </p:spPr>
      </p:pic>
      <p:sp>
        <p:nvSpPr>
          <p:cNvPr id="6" name="文本框 5"/>
          <p:cNvSpPr txBox="1"/>
          <p:nvPr/>
        </p:nvSpPr>
        <p:spPr>
          <a:xfrm>
            <a:off x="583705" y="6124206"/>
            <a:ext cx="8145895" cy="461665"/>
          </a:xfrm>
          <a:prstGeom prst="rect">
            <a:avLst/>
          </a:prstGeom>
          <a:noFill/>
        </p:spPr>
        <p:txBody>
          <a:bodyPr wrap="square" rtlCol="0">
            <a:spAutoFit/>
          </a:bodyPr>
          <a:lstStyle/>
          <a:p>
            <a:r>
              <a:rPr lang="zh-CN" altLang="en-US" sz="2400" dirty="0" smtClean="0">
                <a:latin typeface="+mn-ea"/>
              </a:rPr>
              <a:t>思考题：你能画出数字波形图，对图逻辑电路进行证明吗？</a:t>
            </a:r>
            <a:endParaRPr lang="zh-CN" altLang="en-US" sz="2400" dirty="0">
              <a:latin typeface="+mn-ea"/>
            </a:endParaRPr>
          </a:p>
        </p:txBody>
      </p:sp>
    </p:spTree>
    <p:extLst>
      <p:ext uri="{BB962C8B-B14F-4D97-AF65-F5344CB8AC3E}">
        <p14:creationId xmlns:p14="http://schemas.microsoft.com/office/powerpoint/2010/main" val="2125667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2.3 </a:t>
            </a:r>
            <a:r>
              <a:rPr lang="en-US" altLang="zh-CN" dirty="0" err="1">
                <a:latin typeface="楷体" panose="02010609060101010101" pitchFamily="49" charset="-122"/>
                <a:ea typeface="楷体" panose="02010609060101010101" pitchFamily="49" charset="-122"/>
              </a:rPr>
              <a:t>组合逻辑电路的等价变换</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38909" y="1154545"/>
                <a:ext cx="7444509" cy="5022418"/>
              </a:xfrm>
            </p:spPr>
            <p:txBody>
              <a:bodyPr/>
              <a:lstStyle/>
              <a:p>
                <a:pPr>
                  <a:lnSpc>
                    <a:spcPts val="3500"/>
                  </a:lnSpc>
                </a:pPr>
                <a:r>
                  <a:rPr lang="zh-CN" altLang="zh-CN" dirty="0" smtClean="0">
                    <a:latin typeface="楷体" panose="02010609060101010101" pitchFamily="49" charset="-122"/>
                    <a:ea typeface="楷体" panose="02010609060101010101" pitchFamily="49" charset="-122"/>
                  </a:rPr>
                  <a:t>德摩根定律的应用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zh-CN" dirty="0">
                    <a:latin typeface="楷体" panose="02010609060101010101" pitchFamily="49" charset="-122"/>
                    <a:ea typeface="楷体" panose="02010609060101010101" pitchFamily="49" charset="-122"/>
                  </a:rPr>
                  <a:t>图</a:t>
                </a:r>
                <a:r>
                  <a:rPr lang="en-US" altLang="zh-CN" dirty="0">
                    <a:latin typeface="楷体" panose="02010609060101010101" pitchFamily="49" charset="-122"/>
                    <a:ea typeface="楷体" panose="02010609060101010101" pitchFamily="49" charset="-122"/>
                  </a:rPr>
                  <a:t>2.14</a:t>
                </a:r>
                <a:r>
                  <a:rPr lang="zh-CN" altLang="zh-CN" dirty="0">
                    <a:latin typeface="楷体" panose="02010609060101010101" pitchFamily="49" charset="-122"/>
                    <a:ea typeface="楷体" panose="02010609060101010101" pitchFamily="49" charset="-122"/>
                  </a:rPr>
                  <a:t>上部画出了</a:t>
                </a:r>
                <a:r>
                  <a:rPr lang="zh-CN" altLang="zh-CN" b="1" dirty="0">
                    <a:solidFill>
                      <a:schemeClr val="accent1"/>
                    </a:solidFill>
                    <a:latin typeface="楷体" panose="02010609060101010101" pitchFamily="49" charset="-122"/>
                    <a:ea typeface="楷体" panose="02010609060101010101" pitchFamily="49" charset="-122"/>
                  </a:rPr>
                  <a:t>与非门</a:t>
                </a:r>
                <a:r>
                  <a:rPr lang="en-US" altLang="zh-CN" dirty="0">
                    <a:latin typeface="楷体" panose="02010609060101010101" pitchFamily="49" charset="-122"/>
                    <a:ea typeface="楷体" panose="02010609060101010101" pitchFamily="49" charset="-122"/>
                  </a:rPr>
                  <a:t>(NAND) </a:t>
                </a:r>
                <a:r>
                  <a:rPr lang="zh-CN" altLang="zh-CN" dirty="0">
                    <a:latin typeface="楷体" panose="02010609060101010101" pitchFamily="49" charset="-122"/>
                    <a:ea typeface="楷体" panose="02010609060101010101" pitchFamily="49" charset="-122"/>
                  </a:rPr>
                  <a:t>和</a:t>
                </a:r>
                <a:r>
                  <a:rPr lang="zh-CN" altLang="zh-CN" b="1" dirty="0">
                    <a:solidFill>
                      <a:schemeClr val="accent1"/>
                    </a:solidFill>
                    <a:latin typeface="楷体" panose="02010609060101010101" pitchFamily="49" charset="-122"/>
                    <a:ea typeface="楷体" panose="02010609060101010101" pitchFamily="49" charset="-122"/>
                  </a:rPr>
                  <a:t>非或门</a:t>
                </a:r>
                <a:r>
                  <a:rPr lang="en-US" altLang="zh-CN" dirty="0">
                    <a:latin typeface="楷体" panose="02010609060101010101" pitchFamily="49" charset="-122"/>
                    <a:ea typeface="楷体" panose="02010609060101010101" pitchFamily="49" charset="-122"/>
                  </a:rPr>
                  <a:t>(Negative-OR),</a:t>
                </a:r>
                <a:r>
                  <a:rPr lang="zh-CN" altLang="zh-CN" dirty="0">
                    <a:latin typeface="楷体" panose="02010609060101010101" pitchFamily="49" charset="-122"/>
                    <a:ea typeface="楷体" panose="02010609060101010101" pitchFamily="49" charset="-122"/>
                  </a:rPr>
                  <a:t>它们在逻辑上是等价的， 即</a:t>
                </a:r>
                <a:r>
                  <a:rPr lang="zh-CN" altLang="zh-CN" b="1" dirty="0">
                    <a:solidFill>
                      <a:schemeClr val="accent1"/>
                    </a:solidFill>
                    <a:latin typeface="楷体" panose="02010609060101010101" pitchFamily="49" charset="-122"/>
                    <a:ea typeface="楷体" panose="02010609060101010101" pitchFamily="49" charset="-122"/>
                  </a:rPr>
                  <a:t>与非门</a:t>
                </a:r>
                <a:r>
                  <a:rPr lang="zh-CN" altLang="zh-CN" b="1" dirty="0">
                    <a:latin typeface="楷体" panose="02010609060101010101" pitchFamily="49" charset="-122"/>
                    <a:ea typeface="楷体" panose="02010609060101010101" pitchFamily="49" charset="-122"/>
                  </a:rPr>
                  <a:t>等价于</a:t>
                </a:r>
                <a:r>
                  <a:rPr lang="zh-CN" altLang="zh-CN" b="1" dirty="0">
                    <a:solidFill>
                      <a:schemeClr val="accent1"/>
                    </a:solidFill>
                    <a:latin typeface="楷体" panose="02010609060101010101" pitchFamily="49" charset="-122"/>
                    <a:ea typeface="楷体" panose="02010609060101010101" pitchFamily="49" charset="-122"/>
                  </a:rPr>
                  <a:t>非或门</a:t>
                </a:r>
                <a:r>
                  <a:rPr lang="zh-CN" altLang="zh-CN"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zh-CN" sz="2400" dirty="0" smtClean="0">
                    <a:latin typeface="楷体" panose="02010609060101010101" pitchFamily="49" charset="-122"/>
                    <a:ea typeface="楷体" panose="02010609060101010101" pitchFamily="49" charset="-122"/>
                  </a:rPr>
                  <a:t>这</a:t>
                </a:r>
                <a:r>
                  <a:rPr lang="zh-CN" altLang="zh-CN" sz="2400" dirty="0">
                    <a:latin typeface="楷体" panose="02010609060101010101" pitchFamily="49" charset="-122"/>
                    <a:ea typeface="楷体" panose="02010609060101010101" pitchFamily="49" charset="-122"/>
                  </a:rPr>
                  <a:t>可以用德摩根定律</a:t>
                </a:r>
                <a:r>
                  <a:rPr lang="zh-CN" altLang="zh-CN" sz="2400" dirty="0" smtClean="0">
                    <a:latin typeface="楷体" panose="02010609060101010101" pitchFamily="49" charset="-122"/>
                    <a:ea typeface="楷体" panose="02010609060101010101" pitchFamily="49" charset="-122"/>
                  </a:rPr>
                  <a:t>证明</a:t>
                </a:r>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𝐴𝐵</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𝐵</m:t>
                        </m:r>
                      </m:e>
                    </m:acc>
                  </m:oMath>
                </a14:m>
                <a:endParaRPr lang="en-US" altLang="zh-CN" sz="2400" i="1" dirty="0" smtClean="0">
                  <a:latin typeface="楷体" panose="02010609060101010101" pitchFamily="49" charset="-122"/>
                  <a:ea typeface="楷体" panose="02010609060101010101" pitchFamily="49" charset="-122"/>
                </a:endParaRPr>
              </a:p>
              <a:p>
                <a:pPr lvl="2">
                  <a:lnSpc>
                    <a:spcPts val="3500"/>
                  </a:lnSpc>
                </a:pPr>
                <a:r>
                  <a:rPr lang="zh-CN" altLang="en-US" sz="2400" dirty="0">
                    <a:latin typeface="楷体" panose="02010609060101010101" pitchFamily="49" charset="-122"/>
                    <a:ea typeface="楷体" panose="02010609060101010101" pitchFamily="49" charset="-122"/>
                  </a:rPr>
                  <a:t>右边列出了真值表，我们看到这两个逻辑门的输入输出完全一致。</a:t>
                </a:r>
                <a:endParaRPr lang="en-US" altLang="zh-CN" sz="2400" dirty="0" smtClean="0">
                  <a:latin typeface="楷体" panose="02010609060101010101" pitchFamily="49" charset="-122"/>
                  <a:ea typeface="楷体" panose="02010609060101010101" pitchFamily="49" charset="-122"/>
                </a:endParaRPr>
              </a:p>
              <a:p>
                <a:pPr lvl="1"/>
                <a:endParaRPr lang="zh-CN" altLang="zh-CN" dirty="0">
                  <a:latin typeface="楷体" panose="02010609060101010101" pitchFamily="49" charset="-122"/>
                  <a:ea typeface="楷体" panose="02010609060101010101" pitchFamily="49" charset="-122"/>
                </a:endParaRPr>
              </a:p>
              <a:p>
                <a:endParaRPr lang="en-US" altLang="zh-CN" dirty="0" smtClean="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38909" y="1154545"/>
                <a:ext cx="7444509" cy="5022418"/>
              </a:xfrm>
              <a:blipFill>
                <a:blip r:embed="rId2"/>
                <a:stretch>
                  <a:fillRect l="-1474" t="-1820" r="-11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18733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pPr>
              <a:lnSpc>
                <a:spcPts val="3500"/>
              </a:lnSpc>
            </a:pPr>
            <a:r>
              <a:rPr lang="en-US" altLang="zh-CN" dirty="0">
                <a:latin typeface="楷体" panose="02010609060101010101" pitchFamily="49" charset="-122"/>
                <a:ea typeface="楷体" panose="02010609060101010101" pitchFamily="49" charset="-122"/>
              </a:rPr>
              <a:t>2.3 </a:t>
            </a:r>
            <a:r>
              <a:rPr lang="en-US" altLang="zh-CN" dirty="0" err="1">
                <a:latin typeface="楷体" panose="02010609060101010101" pitchFamily="49" charset="-122"/>
                <a:ea typeface="楷体" panose="02010609060101010101" pitchFamily="49" charset="-122"/>
              </a:rPr>
              <a:t>组合逻辑电路的等价变换</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154544"/>
            <a:ext cx="7886700" cy="5139929"/>
          </a:xfrm>
        </p:spPr>
        <p:txBody>
          <a:bodyPr>
            <a:normAutofit/>
          </a:bodyPr>
          <a:lstStyle/>
          <a:p>
            <a:pPr>
              <a:lnSpc>
                <a:spcPts val="3500"/>
              </a:lnSpc>
            </a:pPr>
            <a:r>
              <a:rPr lang="zh-CN" altLang="en-US" dirty="0" smtClean="0">
                <a:latin typeface="楷体" panose="02010609060101010101" pitchFamily="49" charset="-122"/>
                <a:ea typeface="楷体" panose="02010609060101010101" pitchFamily="49" charset="-122"/>
              </a:rPr>
              <a:t>与非门</a:t>
            </a:r>
            <a:r>
              <a:rPr lang="zh-CN" altLang="en-US" dirty="0">
                <a:latin typeface="楷体" panose="02010609060101010101" pitchFamily="49" charset="-122"/>
                <a:ea typeface="楷体" panose="02010609060101010101" pitchFamily="49" charset="-122"/>
              </a:rPr>
              <a:t>、或非门作为通用</a:t>
            </a:r>
            <a:r>
              <a:rPr lang="zh-CN" altLang="en-US" dirty="0" smtClean="0">
                <a:latin typeface="楷体" panose="02010609060101010101" pitchFamily="49" charset="-122"/>
                <a:ea typeface="楷体" panose="02010609060101010101" pitchFamily="49" charset="-122"/>
              </a:rPr>
              <a:t>元件</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一</a:t>
            </a:r>
            <a:r>
              <a:rPr lang="zh-CN" altLang="en-US" dirty="0">
                <a:latin typeface="楷体" panose="02010609060101010101" pitchFamily="49" charset="-122"/>
                <a:ea typeface="楷体" panose="02010609060101010101" pitchFamily="49" charset="-122"/>
              </a:rPr>
              <a:t>个逻辑函数，可以用“与非门”实现，可以用“或非门”实现</a:t>
            </a:r>
            <a:r>
              <a:rPr lang="zh-CN" altLang="en-US" dirty="0" smtClean="0">
                <a:latin typeface="楷体" panose="02010609060101010101" pitchFamily="49" charset="-122"/>
                <a:ea typeface="楷体" panose="02010609060101010101" pitchFamily="49" charset="-122"/>
              </a:rPr>
              <a:t>，也</a:t>
            </a:r>
            <a:r>
              <a:rPr lang="zh-CN" altLang="en-US" dirty="0">
                <a:latin typeface="楷体" panose="02010609060101010101" pitchFamily="49" charset="-122"/>
                <a:ea typeface="楷体" panose="02010609060101010101" pitchFamily="49" charset="-122"/>
              </a:rPr>
              <a:t>可以用“与或非门”实现</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这种</a:t>
            </a:r>
            <a:r>
              <a:rPr lang="zh-CN" altLang="en-US" dirty="0">
                <a:latin typeface="楷体" panose="02010609060101010101" pitchFamily="49" charset="-122"/>
                <a:ea typeface="楷体" panose="02010609060101010101" pitchFamily="49" charset="-122"/>
              </a:rPr>
              <a:t>逻辑变换带来了很大灵活性。但我们要考虑的是</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en-US" sz="2400" dirty="0" smtClean="0">
                <a:latin typeface="楷体" panose="02010609060101010101" pitchFamily="49" charset="-122"/>
                <a:ea typeface="楷体" panose="02010609060101010101" pitchFamily="49" charset="-122"/>
              </a:rPr>
              <a:t>手头</a:t>
            </a:r>
            <a:r>
              <a:rPr lang="zh-CN" altLang="en-US" sz="2400" dirty="0">
                <a:latin typeface="楷体" panose="02010609060101010101" pitchFamily="49" charset="-122"/>
                <a:ea typeface="楷体" panose="02010609060101010101" pitchFamily="49" charset="-122"/>
              </a:rPr>
              <a:t>有什么</a:t>
            </a:r>
            <a:r>
              <a:rPr lang="zh-CN" altLang="en-US" sz="2400" dirty="0" smtClean="0">
                <a:latin typeface="楷体" panose="02010609060101010101" pitchFamily="49" charset="-122"/>
                <a:ea typeface="楷体" panose="02010609060101010101" pitchFamily="49" charset="-122"/>
              </a:rPr>
              <a:t>逻辑器件？</a:t>
            </a:r>
            <a:endParaRPr lang="en-US" altLang="zh-CN" sz="2400" dirty="0" smtClean="0">
              <a:latin typeface="楷体" panose="02010609060101010101" pitchFamily="49" charset="-122"/>
              <a:ea typeface="楷体" panose="02010609060101010101" pitchFamily="49" charset="-122"/>
            </a:endParaRPr>
          </a:p>
          <a:p>
            <a:pPr lvl="2">
              <a:lnSpc>
                <a:spcPts val="3500"/>
              </a:lnSpc>
            </a:pPr>
            <a:r>
              <a:rPr lang="zh-CN" altLang="en-US" sz="2400" dirty="0" smtClean="0">
                <a:latin typeface="楷体" panose="02010609060101010101" pitchFamily="49" charset="-122"/>
                <a:ea typeface="楷体" panose="02010609060101010101" pitchFamily="49" charset="-122"/>
              </a:rPr>
              <a:t>设计</a:t>
            </a:r>
            <a:r>
              <a:rPr lang="zh-CN" altLang="en-US" sz="2400" dirty="0">
                <a:latin typeface="楷体" panose="02010609060101010101" pitchFamily="49" charset="-122"/>
                <a:ea typeface="楷体" panose="02010609060101010101" pitchFamily="49" charset="-122"/>
              </a:rPr>
              <a:t>中以节省器件为目标</a:t>
            </a:r>
            <a:r>
              <a:rPr lang="zh-CN" altLang="en-US" sz="2400" dirty="0" smtClean="0">
                <a:latin typeface="楷体" panose="02010609060101010101" pitchFamily="49" charset="-122"/>
                <a:ea typeface="楷体" panose="02010609060101010101" pitchFamily="49" charset="-122"/>
              </a:rPr>
              <a:t>，还是</a:t>
            </a:r>
            <a:r>
              <a:rPr lang="zh-CN" altLang="en-US" sz="2400" dirty="0">
                <a:latin typeface="楷体" panose="02010609060101010101" pitchFamily="49" charset="-122"/>
                <a:ea typeface="楷体" panose="02010609060101010101" pitchFamily="49" charset="-122"/>
              </a:rPr>
              <a:t>提高工作速度为目标</a:t>
            </a:r>
            <a:r>
              <a:rPr lang="en-US" altLang="zh-CN" sz="2400" dirty="0" smtClean="0">
                <a:latin typeface="楷体" panose="02010609060101010101" pitchFamily="49" charset="-122"/>
                <a:ea typeface="楷体" panose="02010609060101010101" pitchFamily="49" charset="-122"/>
              </a:rPr>
              <a:t>?</a:t>
            </a:r>
          </a:p>
          <a:p>
            <a:pPr lvl="2">
              <a:lnSpc>
                <a:spcPts val="3500"/>
              </a:lnSpc>
            </a:pPr>
            <a:r>
              <a:rPr lang="zh-CN" altLang="en-US" sz="2400" dirty="0" smtClean="0">
                <a:latin typeface="楷体" panose="02010609060101010101" pitchFamily="49" charset="-122"/>
                <a:ea typeface="楷体" panose="02010609060101010101" pitchFamily="49" charset="-122"/>
              </a:rPr>
              <a:t>特别是</a:t>
            </a:r>
            <a:r>
              <a:rPr lang="zh-CN" altLang="en-US" sz="2400" dirty="0">
                <a:latin typeface="楷体" panose="02010609060101010101" pitchFamily="49" charset="-122"/>
                <a:ea typeface="楷体" panose="02010609060101010101" pitchFamily="49" charset="-122"/>
              </a:rPr>
              <a:t>要</a:t>
            </a:r>
            <a:r>
              <a:rPr lang="zh-CN" altLang="en-US" sz="2400" dirty="0" smtClean="0">
                <a:latin typeface="楷体" panose="02010609060101010101" pitchFamily="49" charset="-122"/>
                <a:ea typeface="楷体" panose="02010609060101010101" pitchFamily="49" charset="-122"/>
              </a:rPr>
              <a:t>考虑信号</a:t>
            </a:r>
            <a:r>
              <a:rPr lang="zh-CN" altLang="en-US" sz="2400" dirty="0">
                <a:latin typeface="楷体" panose="02010609060101010101" pitchFamily="49" charset="-122"/>
                <a:ea typeface="楷体" panose="02010609060101010101" pitchFamily="49" charset="-122"/>
              </a:rPr>
              <a:t>经过门的级数越多，传输延迟时间就越长</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endParaRPr lang="en-US" altLang="zh-CN"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26627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082861" y="627475"/>
            <a:ext cx="6663656" cy="4646303"/>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551390" y="5290770"/>
                <a:ext cx="6375883" cy="889346"/>
              </a:xfrm>
              <a:prstGeom prst="rect">
                <a:avLst/>
              </a:prstGeom>
            </p:spPr>
            <p:txBody>
              <a:bodyPr wrap="square">
                <a:spAutoFit/>
              </a:bodyPr>
              <a:lstStyle/>
              <a:p>
                <a:r>
                  <a:rPr lang="zh-CN" altLang="en-US" sz="2400" dirty="0" smtClean="0">
                    <a:latin typeface="楷体" panose="02010609060101010101" pitchFamily="49" charset="-122"/>
                    <a:ea typeface="楷体" panose="02010609060101010101" pitchFamily="49" charset="-122"/>
                  </a:rPr>
                  <a:t>信号</a:t>
                </a:r>
                <a:r>
                  <a:rPr lang="zh-CN" altLang="en-US" sz="2400" dirty="0">
                    <a:latin typeface="楷体" panose="02010609060101010101" pitchFamily="49" charset="-122"/>
                    <a:ea typeface="楷体" panose="02010609060101010101" pitchFamily="49" charset="-122"/>
                  </a:rPr>
                  <a:t>每经过一级与非门，延迟时间为一</a:t>
                </a:r>
                <a:r>
                  <a:rPr lang="zh-CN" altLang="en-US" sz="2400" dirty="0" smtClean="0">
                    <a:latin typeface="楷体" panose="02010609060101010101" pitchFamily="49" charset="-122"/>
                    <a:ea typeface="楷体" panose="02010609060101010101" pitchFamily="49" charset="-122"/>
                  </a:rPr>
                  <a:t>个</a:t>
                </a:r>
                <a14:m>
                  <m:oMath xmlns:m="http://schemas.openxmlformats.org/officeDocument/2006/math">
                    <m:sSub>
                      <m:sSubPr>
                        <m:ctrlPr>
                          <a:rPr lang="en-US" altLang="zh-CN" sz="2400" i="1" smtClean="0">
                            <a:latin typeface="Cambria Math" panose="02040503050406030204" pitchFamily="18" charset="0"/>
                            <a:ea typeface="楷体" panose="02010609060101010101" pitchFamily="49" charset="-122"/>
                          </a:rPr>
                        </m:ctrlPr>
                      </m:sSubPr>
                      <m:e>
                        <m:acc>
                          <m:accPr>
                            <m:chr m:val="̅"/>
                            <m:ctrlPr>
                              <a:rPr lang="en-US" altLang="zh-CN" sz="2400" i="1" smtClean="0">
                                <a:latin typeface="Cambria Math" panose="02040503050406030204" pitchFamily="18" charset="0"/>
                              </a:rPr>
                            </m:ctrlPr>
                          </m:accPr>
                          <m:e>
                            <m:r>
                              <a:rPr lang="en-US" altLang="zh-CN" sz="2400" i="1" smtClean="0">
                                <a:latin typeface="Cambria Math" panose="02040503050406030204" pitchFamily="18" charset="0"/>
                              </a:rPr>
                              <m:t>𝑡</m:t>
                            </m:r>
                          </m:e>
                        </m:acc>
                      </m:e>
                      <m:sub>
                        <m:r>
                          <a:rPr lang="en-US" altLang="zh-CN" sz="2400" b="0" i="1" smtClean="0">
                            <a:latin typeface="Cambria Math" panose="02040503050406030204" pitchFamily="18" charset="0"/>
                            <a:ea typeface="楷体" panose="02010609060101010101" pitchFamily="49" charset="-122"/>
                          </a:rPr>
                          <m:t>𝑦</m:t>
                        </m:r>
                      </m:sub>
                    </m:sSub>
                  </m:oMath>
                </a14:m>
                <a:r>
                  <a:rPr lang="zh-CN" altLang="en-US"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因此在</a:t>
                </a:r>
                <a:r>
                  <a:rPr lang="en-US" altLang="zh-CN" sz="2400" dirty="0">
                    <a:latin typeface="楷体" panose="02010609060101010101" pitchFamily="49" charset="-122"/>
                    <a:ea typeface="楷体" panose="02010609060101010101" pitchFamily="49" charset="-122"/>
                  </a:rPr>
                  <a:t>(b</a:t>
                </a:r>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(c)</a:t>
                </a:r>
                <a:r>
                  <a:rPr lang="zh-CN" altLang="en-US" sz="2400" dirty="0">
                    <a:latin typeface="楷体" panose="02010609060101010101" pitchFamily="49" charset="-122"/>
                    <a:ea typeface="楷体" panose="02010609060101010101" pitchFamily="49" charset="-122"/>
                  </a:rPr>
                  <a:t>情况下</a:t>
                </a:r>
                <a:r>
                  <a:rPr lang="zh-CN" altLang="en-US" sz="2400" dirty="0" smtClean="0">
                    <a:latin typeface="楷体" panose="02010609060101010101" pitchFamily="49" charset="-122"/>
                    <a:ea typeface="楷体" panose="02010609060101010101" pitchFamily="49" charset="-122"/>
                  </a:rPr>
                  <a:t>，传输延迟为 </a:t>
                </a:r>
                <a:r>
                  <a:rPr lang="en-US" altLang="zh-CN" sz="2400" dirty="0" smtClean="0">
                    <a:latin typeface="楷体" panose="02010609060101010101" pitchFamily="49" charset="-122"/>
                    <a:ea typeface="楷体" panose="02010609060101010101" pitchFamily="49" charset="-122"/>
                  </a:rPr>
                  <a:t>2</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𝑡</m:t>
                            </m:r>
                          </m:e>
                        </m:acc>
                      </m:e>
                      <m:sub>
                        <m:r>
                          <a:rPr lang="en-US" altLang="zh-CN" sz="2400" i="1">
                            <a:latin typeface="Cambria Math" panose="02040503050406030204" pitchFamily="18" charset="0"/>
                            <a:ea typeface="楷体" panose="02010609060101010101" pitchFamily="49" charset="-122"/>
                          </a:rPr>
                          <m:t>𝑦</m:t>
                        </m:r>
                      </m:sub>
                    </m:sSub>
                  </m:oMath>
                </a14:m>
                <a:endParaRPr lang="zh-CN" altLang="en-US" sz="2400" dirty="0">
                  <a:latin typeface="楷体" panose="02010609060101010101" pitchFamily="49" charset="-122"/>
                  <a:ea typeface="楷体" panose="02010609060101010101" pitchFamily="49"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551390" y="5290770"/>
                <a:ext cx="6375883" cy="889346"/>
              </a:xfrm>
              <a:prstGeom prst="rect">
                <a:avLst/>
              </a:prstGeom>
              <a:blipFill>
                <a:blip r:embed="rId3"/>
                <a:stretch>
                  <a:fillRect l="-1434" t="-7534" b="-8904"/>
                </a:stretch>
              </a:blipFill>
            </p:spPr>
            <p:txBody>
              <a:bodyPr/>
              <a:lstStyle/>
              <a:p>
                <a:r>
                  <a:rPr lang="zh-CN" altLang="en-US">
                    <a:noFill/>
                  </a:rPr>
                  <a:t> </a:t>
                </a:r>
              </a:p>
            </p:txBody>
          </p:sp>
        </mc:Fallback>
      </mc:AlternateContent>
      <p:sp>
        <p:nvSpPr>
          <p:cNvPr id="9" name="矩形 8"/>
          <p:cNvSpPr/>
          <p:nvPr/>
        </p:nvSpPr>
        <p:spPr>
          <a:xfrm>
            <a:off x="493663" y="165810"/>
            <a:ext cx="7984836" cy="461665"/>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10】  </a:t>
            </a:r>
            <a:r>
              <a:rPr lang="zh-CN" altLang="en-US" sz="2400" dirty="0">
                <a:latin typeface="楷体" panose="02010609060101010101" pitchFamily="49" charset="-122"/>
                <a:ea typeface="楷体" panose="02010609060101010101" pitchFamily="49" charset="-122"/>
              </a:rPr>
              <a:t>与非门作为通用元件，如图</a:t>
            </a:r>
            <a:r>
              <a:rPr lang="en-US" altLang="zh-CN" sz="2400" dirty="0">
                <a:latin typeface="楷体" panose="02010609060101010101" pitchFamily="49" charset="-122"/>
                <a:ea typeface="楷体" panose="02010609060101010101" pitchFamily="49" charset="-122"/>
              </a:rPr>
              <a:t>2.15</a:t>
            </a:r>
            <a:r>
              <a:rPr lang="zh-CN" altLang="en-US" sz="2400" dirty="0">
                <a:latin typeface="楷体" panose="02010609060101010101" pitchFamily="49" charset="-122"/>
                <a:ea typeface="楷体" panose="02010609060101010101" pitchFamily="49" charset="-122"/>
              </a:rPr>
              <a:t>所示。</a:t>
            </a:r>
          </a:p>
        </p:txBody>
      </p:sp>
      <mc:AlternateContent xmlns:mc="http://schemas.openxmlformats.org/markup-compatibility/2006" xmlns:a14="http://schemas.microsoft.com/office/drawing/2010/main">
        <mc:Choice Requires="a14">
          <p:sp>
            <p:nvSpPr>
              <p:cNvPr id="10" name="矩形 9"/>
              <p:cNvSpPr/>
              <p:nvPr/>
            </p:nvSpPr>
            <p:spPr>
              <a:xfrm>
                <a:off x="551390" y="6312640"/>
                <a:ext cx="6314164" cy="462434"/>
              </a:xfrm>
              <a:prstGeom prst="rect">
                <a:avLst/>
              </a:prstGeom>
            </p:spPr>
            <p:txBody>
              <a:bodyPr wrap="none">
                <a:spAutoFit/>
              </a:bodyPr>
              <a:lstStyle/>
              <a:p>
                <a:r>
                  <a:rPr lang="en-US" altLang="zh-CN" sz="2400" spc="-190" dirty="0" smtClean="0">
                    <a:latin typeface="+mn-ea"/>
                    <a:cs typeface="黑体" panose="02010609060101010101" pitchFamily="49" charset="-122"/>
                  </a:rPr>
                  <a:t>思考题</a:t>
                </a:r>
                <a:r>
                  <a:rPr lang="en-US" altLang="zh-CN" sz="2400" spc="630" dirty="0">
                    <a:latin typeface="+mn-ea"/>
                    <a:cs typeface="黑体" panose="02010609060101010101" pitchFamily="49" charset="-122"/>
                  </a:rPr>
                  <a:t> </a:t>
                </a:r>
                <a:r>
                  <a:rPr lang="en-US" altLang="zh-CN" sz="2400" spc="-190" dirty="0" err="1">
                    <a:latin typeface="+mn-ea"/>
                    <a:cs typeface="Arial" panose="020B0604020202020204" pitchFamily="34" charset="0"/>
                  </a:rPr>
                  <a:t>你能利用</a:t>
                </a:r>
                <a:r>
                  <a:rPr lang="en-US" altLang="zh-CN" sz="2400" b="1" spc="-190" dirty="0" err="1">
                    <a:latin typeface="+mn-ea"/>
                    <a:cs typeface="Arial" panose="020B0604020202020204" pitchFamily="34" charset="0"/>
                  </a:rPr>
                  <a:t>与非门</a:t>
                </a:r>
                <a:r>
                  <a:rPr lang="en-US" altLang="zh-CN" sz="2400" spc="-190" dirty="0" err="1">
                    <a:latin typeface="+mn-ea"/>
                    <a:cs typeface="Arial" panose="020B0604020202020204" pitchFamily="34" charset="0"/>
                  </a:rPr>
                  <a:t>实现</a:t>
                </a:r>
                <a14:m>
                  <m:oMath xmlns:m="http://schemas.openxmlformats.org/officeDocument/2006/math">
                    <m:r>
                      <a:rPr lang="en-US" altLang="zh-CN" sz="2400" b="0" i="0" smtClean="0">
                        <a:latin typeface="Cambria Math" panose="02040503050406030204" pitchFamily="18" charset="0"/>
                      </a:rPr>
                      <m:t> </m:t>
                    </m:r>
                    <m:r>
                      <a:rPr lang="en-US" altLang="zh-CN" sz="2400" b="0" i="1" smtClean="0">
                        <a:latin typeface="Cambria Math" panose="02040503050406030204" pitchFamily="18" charset="0"/>
                      </a:rPr>
                      <m:t>𝐹</m:t>
                    </m:r>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𝐵</m:t>
                    </m:r>
                  </m:oMath>
                </a14:m>
                <a:r>
                  <a:rPr lang="en-US" altLang="zh-CN" sz="2400" spc="-190" dirty="0" smtClean="0">
                    <a:latin typeface="+mn-ea"/>
                    <a:cs typeface="Arial" panose="020B0604020202020204" pitchFamily="34" charset="0"/>
                  </a:rPr>
                  <a:t>逻辑吗</a:t>
                </a:r>
                <a:r>
                  <a:rPr lang="en-US" altLang="zh-CN" sz="2400" spc="-190" dirty="0">
                    <a:latin typeface="+mn-ea"/>
                  </a:rPr>
                  <a:t>?</a:t>
                </a:r>
                <a:endParaRPr lang="zh-CN" altLang="en-US" sz="2400" dirty="0">
                  <a:latin typeface="+mn-ea"/>
                </a:endParaRPr>
              </a:p>
            </p:txBody>
          </p:sp>
        </mc:Choice>
        <mc:Fallback xmlns="">
          <p:sp>
            <p:nvSpPr>
              <p:cNvPr id="10" name="矩形 9"/>
              <p:cNvSpPr>
                <a:spLocks noRot="1" noChangeAspect="1" noMove="1" noResize="1" noEditPoints="1" noAdjustHandles="1" noChangeArrowheads="1" noChangeShapeType="1" noTextEdit="1"/>
              </p:cNvSpPr>
              <p:nvPr/>
            </p:nvSpPr>
            <p:spPr>
              <a:xfrm>
                <a:off x="551390" y="6312640"/>
                <a:ext cx="6314164" cy="462434"/>
              </a:xfrm>
              <a:prstGeom prst="rect">
                <a:avLst/>
              </a:prstGeom>
              <a:blipFill>
                <a:blip r:embed="rId4"/>
                <a:stretch>
                  <a:fillRect l="-1448" t="-9333" b="-32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922021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2689063" y="1535319"/>
                <a:ext cx="1873398" cy="258865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pitchFamily="18" charset="0"/>
                        </a:rPr>
                        <m:t>𝐹</m:t>
                      </m:r>
                      <m:r>
                        <a:rPr lang="en-US" altLang="zh-CN" sz="2800" i="1" smtClean="0">
                          <a:latin typeface="Cambria Math" panose="02040503050406030204" pitchFamily="18" charset="0"/>
                        </a:rPr>
                        <m:t>=</m:t>
                      </m:r>
                      <m:acc>
                        <m:accPr>
                          <m:chr m:val="̅"/>
                          <m:ctrlPr>
                            <a:rPr lang="en-US" altLang="zh-CN" sz="2800" i="1" smtClean="0">
                              <a:latin typeface="Cambria Math" panose="02040503050406030204" pitchFamily="18" charset="0"/>
                            </a:rPr>
                          </m:ctrlPr>
                        </m:acc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𝐹</m:t>
                              </m:r>
                            </m:e>
                          </m:acc>
                        </m:e>
                      </m:acc>
                    </m:oMath>
                  </m:oMathPara>
                </a14:m>
                <a:endParaRPr lang="en-US" altLang="zh-CN" sz="2800"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r>
                                    <a:rPr lang="en-US" altLang="zh-CN" sz="2800" i="1">
                                      <a:latin typeface="Cambria Math" panose="02040503050406030204" pitchFamily="18" charset="0"/>
                                    </a:rPr>
                                    <m:t> </m:t>
                                  </m:r>
                                </m:e>
                              </m:acc>
                              <m:r>
                                <a:rPr lang="en-US" altLang="zh-CN" sz="2800" i="1">
                                  <a:latin typeface="Cambria Math" panose="02040503050406030204" pitchFamily="18" charset="0"/>
                                </a:rPr>
                                <m:t>+</m:t>
                              </m:r>
                              <m:r>
                                <a:rPr lang="en-US" altLang="zh-CN" sz="2800" i="1">
                                  <a:latin typeface="Cambria Math" panose="02040503050406030204" pitchFamily="18" charset="0"/>
                                </a:rPr>
                                <m:t>𝐵</m:t>
                              </m:r>
                            </m:e>
                          </m:acc>
                        </m:e>
                      </m:acc>
                    </m:oMath>
                  </m:oMathPara>
                </a14:m>
                <a:endParaRPr lang="en-US" altLang="zh-CN" sz="2800"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r>
                                    <a:rPr lang="en-US" altLang="zh-CN" sz="2800" i="1">
                                      <a:latin typeface="Cambria Math" panose="02040503050406030204" pitchFamily="18" charset="0"/>
                                    </a:rPr>
                                    <m:t> </m:t>
                                  </m:r>
                                </m:e>
                              </m:acc>
                            </m:e>
                          </m:acc>
                          <m:r>
                            <a:rPr lang="en-US" altLang="zh-CN" sz="2800" i="1">
                              <a:latin typeface="Cambria Math" panose="02040503050406030204" pitchFamily="18" charset="0"/>
                              <a:ea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e>
                      </m:acc>
                    </m:oMath>
                  </m:oMathPara>
                </a14:m>
                <a:endParaRPr lang="en-US" altLang="zh-CN" sz="2800"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𝐴</m:t>
                          </m:r>
                          <m:r>
                            <a:rPr lang="en-US" altLang="zh-CN" sz="2800" i="1">
                              <a:latin typeface="Cambria Math" panose="02040503050406030204" pitchFamily="18" charset="0"/>
                              <a:ea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𝐵</m:t>
                              </m:r>
                            </m:e>
                          </m:acc>
                        </m:e>
                      </m:acc>
                    </m:oMath>
                  </m:oMathPara>
                </a14:m>
                <a:endParaRPr lang="en-US" altLang="zh-CN" sz="2800" i="1" dirty="0" smtClean="0">
                  <a:latin typeface="Cambria Math" panose="02040503050406030204" pitchFamily="18" charset="0"/>
                </a:endParaRPr>
              </a:p>
              <a:p>
                <a:endParaRPr lang="en-US" altLang="zh-CN" sz="2800" i="1" dirty="0">
                  <a:latin typeface="Cambria Math" panose="020405030504060302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2689063" y="1535319"/>
                <a:ext cx="1873398" cy="2588657"/>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7013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p:cNvSpPr/>
              <p:nvPr/>
            </p:nvSpPr>
            <p:spPr>
              <a:xfrm>
                <a:off x="572655" y="6015243"/>
                <a:ext cx="7869382" cy="462434"/>
              </a:xfrm>
              <a:prstGeom prst="rect">
                <a:avLst/>
              </a:prstGeom>
            </p:spPr>
            <p:txBody>
              <a:bodyPr wrap="square">
                <a:spAutoFit/>
              </a:bodyPr>
              <a:lstStyle/>
              <a:p>
                <a:r>
                  <a:rPr lang="en-US" altLang="zh-CN" sz="2400" spc="-190" dirty="0" smtClean="0">
                    <a:latin typeface="+mn-ea"/>
                    <a:cs typeface="黑体" panose="02010609060101010101" pitchFamily="49" charset="-122"/>
                  </a:rPr>
                  <a:t>思考题</a:t>
                </a:r>
                <a:r>
                  <a:rPr lang="en-US" altLang="zh-CN" sz="2400" spc="630" dirty="0">
                    <a:latin typeface="+mn-ea"/>
                    <a:cs typeface="黑体" panose="02010609060101010101" pitchFamily="49" charset="-122"/>
                  </a:rPr>
                  <a:t> </a:t>
                </a:r>
                <a:r>
                  <a:rPr lang="en-US" altLang="zh-CN" sz="2400" spc="-190" dirty="0" err="1">
                    <a:latin typeface="+mn-ea"/>
                    <a:cs typeface="Arial" panose="020B0604020202020204" pitchFamily="34" charset="0"/>
                  </a:rPr>
                  <a:t>你能利用</a:t>
                </a:r>
                <a:r>
                  <a:rPr lang="zh-CN" altLang="en-US" sz="2400" b="1" spc="-190" dirty="0">
                    <a:latin typeface="+mn-ea"/>
                    <a:cs typeface="Arial" panose="020B0604020202020204" pitchFamily="34" charset="0"/>
                  </a:rPr>
                  <a:t>或非</a:t>
                </a:r>
                <a:r>
                  <a:rPr lang="en-US" altLang="zh-CN" sz="2400" b="1" spc="-190" dirty="0" err="1">
                    <a:latin typeface="+mn-ea"/>
                    <a:cs typeface="Arial" panose="020B0604020202020204" pitchFamily="34" charset="0"/>
                  </a:rPr>
                  <a:t>门</a:t>
                </a:r>
                <a:r>
                  <a:rPr lang="en-US" altLang="zh-CN" sz="2400" spc="-190" dirty="0" err="1">
                    <a:latin typeface="+mn-ea"/>
                    <a:cs typeface="Arial" panose="020B0604020202020204" pitchFamily="34" charset="0"/>
                  </a:rPr>
                  <a:t>实现</a:t>
                </a:r>
                <a14:m>
                  <m:oMath xmlns:m="http://schemas.openxmlformats.org/officeDocument/2006/math">
                    <m:r>
                      <a:rPr lang="en-US" altLang="zh-CN" sz="2400">
                        <a:latin typeface="Cambria Math" panose="02040503050406030204" pitchFamily="18" charset="0"/>
                      </a:rPr>
                      <m:t> </m:t>
                    </m:r>
                    <m:r>
                      <a:rPr lang="en-US" altLang="zh-CN" sz="2400" i="1">
                        <a:latin typeface="Cambria Math" panose="02040503050406030204" pitchFamily="18" charset="0"/>
                      </a:rPr>
                      <m:t>𝐹</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r>
                          <a:rPr lang="en-US" altLang="zh-CN" sz="2400" b="0" i="1" smtClean="0">
                            <a:latin typeface="Cambria Math" panose="02040503050406030204" pitchFamily="18" charset="0"/>
                          </a:rPr>
                          <m:t> </m:t>
                        </m:r>
                      </m:e>
                    </m:acc>
                    <m:r>
                      <a:rPr lang="en-US" altLang="zh-CN" sz="2400" i="1">
                        <a:latin typeface="Cambria Math" panose="02040503050406030204" pitchFamily="18" charset="0"/>
                      </a:rPr>
                      <m:t>+</m:t>
                    </m:r>
                    <m:r>
                      <a:rPr lang="en-US" altLang="zh-CN" sz="2400" i="1">
                        <a:latin typeface="Cambria Math" panose="02040503050406030204" pitchFamily="18" charset="0"/>
                      </a:rPr>
                      <m:t>𝐵</m:t>
                    </m:r>
                  </m:oMath>
                </a14:m>
                <a:r>
                  <a:rPr lang="en-US" altLang="zh-CN" sz="2400" spc="-190" dirty="0">
                    <a:latin typeface="+mn-ea"/>
                    <a:cs typeface="Arial" panose="020B0604020202020204" pitchFamily="34" charset="0"/>
                  </a:rPr>
                  <a:t>逻辑吗</a:t>
                </a:r>
                <a:r>
                  <a:rPr lang="en-US" altLang="zh-CN" sz="2400" spc="-190" dirty="0">
                    <a:latin typeface="+mn-ea"/>
                  </a:rPr>
                  <a:t>?</a:t>
                </a:r>
                <a:endParaRPr lang="zh-CN" altLang="en-US" sz="2400" dirty="0">
                  <a:latin typeface="+mn-ea"/>
                </a:endParaRPr>
              </a:p>
            </p:txBody>
          </p:sp>
        </mc:Choice>
        <mc:Fallback xmlns="">
          <p:sp>
            <p:nvSpPr>
              <p:cNvPr id="7" name="矩形 6"/>
              <p:cNvSpPr>
                <a:spLocks noRot="1" noChangeAspect="1" noMove="1" noResize="1" noEditPoints="1" noAdjustHandles="1" noChangeArrowheads="1" noChangeShapeType="1" noTextEdit="1"/>
              </p:cNvSpPr>
              <p:nvPr/>
            </p:nvSpPr>
            <p:spPr>
              <a:xfrm>
                <a:off x="572655" y="6015243"/>
                <a:ext cx="7869382" cy="462434"/>
              </a:xfrm>
              <a:prstGeom prst="rect">
                <a:avLst/>
              </a:prstGeom>
              <a:blipFill>
                <a:blip r:embed="rId2"/>
                <a:stretch>
                  <a:fillRect l="-1239" t="-9211" b="-30263"/>
                </a:stretch>
              </a:blipFill>
            </p:spPr>
            <p:txBody>
              <a:bodyPr/>
              <a:lstStyle/>
              <a:p>
                <a:r>
                  <a:rPr lang="zh-CN" altLang="en-US">
                    <a:noFill/>
                  </a:rPr>
                  <a:t> </a:t>
                </a:r>
              </a:p>
            </p:txBody>
          </p:sp>
        </mc:Fallback>
      </mc:AlternateContent>
      <p:sp>
        <p:nvSpPr>
          <p:cNvPr id="9" name="矩形 8"/>
          <p:cNvSpPr/>
          <p:nvPr/>
        </p:nvSpPr>
        <p:spPr>
          <a:xfrm>
            <a:off x="514928" y="240238"/>
            <a:ext cx="7984836" cy="461665"/>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11】  </a:t>
            </a:r>
            <a:r>
              <a:rPr lang="zh-CN" altLang="en-US" sz="2400" dirty="0">
                <a:latin typeface="楷体" panose="02010609060101010101" pitchFamily="49" charset="-122"/>
                <a:ea typeface="楷体" panose="02010609060101010101" pitchFamily="49" charset="-122"/>
              </a:rPr>
              <a:t>或非门作为通用元件，如图</a:t>
            </a:r>
            <a:r>
              <a:rPr lang="en-US" altLang="zh-CN" sz="2400" dirty="0">
                <a:latin typeface="楷体" panose="02010609060101010101" pitchFamily="49" charset="-122"/>
                <a:ea typeface="楷体" panose="02010609060101010101" pitchFamily="49" charset="-122"/>
              </a:rPr>
              <a:t>2.16</a:t>
            </a:r>
            <a:r>
              <a:rPr lang="zh-CN" altLang="en-US" sz="2400" dirty="0">
                <a:latin typeface="楷体" panose="02010609060101010101" pitchFamily="49" charset="-122"/>
                <a:ea typeface="楷体" panose="02010609060101010101" pitchFamily="49" charset="-122"/>
              </a:rPr>
              <a:t>所示。</a:t>
            </a:r>
          </a:p>
        </p:txBody>
      </p:sp>
      <p:pic>
        <p:nvPicPr>
          <p:cNvPr id="2" name="图片 1"/>
          <p:cNvPicPr>
            <a:picLocks noChangeAspect="1"/>
          </p:cNvPicPr>
          <p:nvPr/>
        </p:nvPicPr>
        <p:blipFill>
          <a:blip r:embed="rId3"/>
          <a:stretch>
            <a:fillRect/>
          </a:stretch>
        </p:blipFill>
        <p:spPr>
          <a:xfrm>
            <a:off x="1150299" y="794259"/>
            <a:ext cx="7006510" cy="4877197"/>
          </a:xfrm>
          <a:prstGeom prst="rect">
            <a:avLst/>
          </a:prstGeom>
        </p:spPr>
      </p:pic>
    </p:spTree>
    <p:extLst>
      <p:ext uri="{BB962C8B-B14F-4D97-AF65-F5344CB8AC3E}">
        <p14:creationId xmlns:p14="http://schemas.microsoft.com/office/powerpoint/2010/main" val="31485849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782872" y="3190278"/>
                <a:ext cx="1525226" cy="1374735"/>
              </a:xfrm>
              <a:prstGeom prst="rect">
                <a:avLst/>
              </a:prstGeom>
            </p:spPr>
            <p:txBody>
              <a:bodyPr wrap="none">
                <a:spAutoFit/>
              </a:bodyPr>
              <a:lstStyle/>
              <a:p>
                <a:pPr>
                  <a:lnSpc>
                    <a:spcPts val="5000"/>
                  </a:lnSpc>
                </a:pPr>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pitchFamily="18" charset="0"/>
                        </a:rPr>
                        <m:t>𝐹</m:t>
                      </m:r>
                      <m:r>
                        <a:rPr lang="en-US" altLang="zh-CN" sz="2800" i="1" smtClean="0">
                          <a:latin typeface="Cambria Math" panose="02040503050406030204" pitchFamily="18" charset="0"/>
                        </a:rPr>
                        <m:t>=</m:t>
                      </m:r>
                      <m:acc>
                        <m:accPr>
                          <m:chr m:val="̅"/>
                          <m:ctrlPr>
                            <a:rPr lang="en-US" altLang="zh-CN" sz="2800" i="1" smtClean="0">
                              <a:latin typeface="Cambria Math" panose="02040503050406030204" pitchFamily="18" charset="0"/>
                            </a:rPr>
                          </m:ctrlPr>
                        </m:acc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𝐹</m:t>
                              </m:r>
                            </m:e>
                          </m:acc>
                        </m:e>
                      </m:acc>
                    </m:oMath>
                  </m:oMathPara>
                </a14:m>
                <a:endParaRPr lang="en-US" altLang="zh-CN" sz="2800" i="1" dirty="0" smtClean="0">
                  <a:latin typeface="Cambria Math" panose="02040503050406030204" pitchFamily="18" charset="0"/>
                </a:endParaRPr>
              </a:p>
              <a:p>
                <a:pPr>
                  <a:lnSpc>
                    <a:spcPts val="5000"/>
                  </a:lnSpc>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𝐹</m:t>
                              </m:r>
                            </m:e>
                          </m:acc>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𝐹</m:t>
                              </m:r>
                            </m:e>
                          </m:acc>
                        </m:e>
                      </m:acc>
                    </m:oMath>
                  </m:oMathPara>
                </a14:m>
                <a:endParaRPr lang="en-US" altLang="zh-CN" sz="2800" i="1" dirty="0">
                  <a:latin typeface="Cambria Math" panose="020405030504060302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1782872" y="3190278"/>
                <a:ext cx="1525226" cy="137473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782872" y="636422"/>
                <a:ext cx="2274469" cy="2015936"/>
              </a:xfrm>
              <a:prstGeom prst="rect">
                <a:avLst/>
              </a:prstGeom>
            </p:spPr>
            <p:txBody>
              <a:bodyPr wrap="none">
                <a:spAutoFit/>
              </a:bodyPr>
              <a:lstStyle/>
              <a:p>
                <a:pPr>
                  <a:lnSpc>
                    <a:spcPts val="5000"/>
                  </a:lnSpc>
                  <a:spcBef>
                    <a:spcPts val="2400"/>
                  </a:spcBef>
                </a:pPr>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pitchFamily="18" charset="0"/>
                        </a:rPr>
                        <m:t>𝐹</m:t>
                      </m:r>
                      <m:r>
                        <a:rPr lang="en-US" altLang="zh-CN" sz="2800" i="1" smtClean="0">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r>
                            <a:rPr lang="en-US" altLang="zh-CN" sz="2800" b="0" i="1" smtClean="0">
                              <a:latin typeface="Cambria Math" panose="02040503050406030204" pitchFamily="18" charset="0"/>
                            </a:rPr>
                            <m:t> </m:t>
                          </m:r>
                        </m:e>
                      </m:acc>
                      <m:r>
                        <a:rPr lang="en-US" altLang="zh-CN" sz="2800" i="1">
                          <a:latin typeface="Cambria Math" panose="02040503050406030204" pitchFamily="18" charset="0"/>
                        </a:rPr>
                        <m:t>+</m:t>
                      </m:r>
                      <m:r>
                        <a:rPr lang="en-US" altLang="zh-CN" sz="2800" i="1">
                          <a:latin typeface="Cambria Math" panose="02040503050406030204" pitchFamily="18" charset="0"/>
                        </a:rPr>
                        <m:t>𝐵</m:t>
                      </m:r>
                    </m:oMath>
                  </m:oMathPara>
                </a14:m>
                <a:endParaRPr lang="en-US" altLang="zh-CN" sz="2800" dirty="0" smtClean="0"/>
              </a:p>
              <a:p>
                <a:pPr>
                  <a:lnSpc>
                    <a:spcPts val="5000"/>
                  </a:lnSpc>
                  <a:spcBef>
                    <a:spcPts val="2400"/>
                  </a:spcBef>
                </a:pPr>
                <a14:m>
                  <m:oMathPara xmlns:m="http://schemas.openxmlformats.org/officeDocument/2006/math">
                    <m:oMathParaPr>
                      <m:jc m:val="left"/>
                    </m:oMathParaPr>
                    <m:oMath xmlns:m="http://schemas.openxmlformats.org/officeDocument/2006/math">
                      <m:acc>
                        <m:accPr>
                          <m:chr m:val="̅"/>
                          <m:ctrlPr>
                            <a:rPr lang="en-US" altLang="zh-CN" sz="2800" i="1" smtClean="0">
                              <a:latin typeface="Cambria Math" panose="02040503050406030204" pitchFamily="18" charset="0"/>
                            </a:rPr>
                          </m:ctrlPr>
                        </m:accPr>
                        <m:e>
                          <m:r>
                            <a:rPr lang="en-US" altLang="zh-CN" sz="2800" i="1">
                              <a:latin typeface="Cambria Math" panose="02040503050406030204" pitchFamily="18" charset="0"/>
                            </a:rPr>
                            <m:t>𝐹</m:t>
                          </m:r>
                          <m:r>
                            <a:rPr lang="en-US" altLang="zh-CN" sz="2800" i="1">
                              <a:latin typeface="Cambria Math" panose="02040503050406030204" pitchFamily="18" charset="0"/>
                            </a:rPr>
                            <m:t> </m:t>
                          </m:r>
                        </m:e>
                      </m:acc>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r>
                                <a:rPr lang="en-US" altLang="zh-CN" sz="2800" i="1">
                                  <a:latin typeface="Cambria Math" panose="02040503050406030204" pitchFamily="18" charset="0"/>
                                </a:rPr>
                                <m:t> </m:t>
                              </m:r>
                            </m:e>
                          </m:acc>
                          <m:r>
                            <a:rPr lang="en-US" altLang="zh-CN" sz="2800" i="1">
                              <a:latin typeface="Cambria Math" panose="02040503050406030204" pitchFamily="18" charset="0"/>
                            </a:rPr>
                            <m:t>+</m:t>
                          </m:r>
                          <m:r>
                            <a:rPr lang="en-US" altLang="zh-CN" sz="2800" i="1">
                              <a:latin typeface="Cambria Math" panose="02040503050406030204" pitchFamily="18" charset="0"/>
                            </a:rPr>
                            <m:t>𝐵</m:t>
                          </m:r>
                        </m:e>
                      </m:acc>
                    </m:oMath>
                  </m:oMathPara>
                </a14:m>
                <a:endParaRPr lang="en-US" altLang="zh-CN" sz="2800" i="1" dirty="0" smtClean="0">
                  <a:latin typeface="Cambria Math" panose="02040503050406030204" pitchFamily="18" charset="0"/>
                </a:endParaRPr>
              </a:p>
              <a:p>
                <a:pPr>
                  <a:lnSpc>
                    <a:spcPts val="5000"/>
                  </a:lnSpc>
                  <a:spcBef>
                    <a:spcPts val="2400"/>
                  </a:spcBef>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r>
                                <a:rPr lang="en-US" altLang="zh-CN" sz="2800" b="0" i="1" smtClean="0">
                                  <a:latin typeface="Cambria Math" panose="02040503050406030204" pitchFamily="18" charset="0"/>
                                </a:rPr>
                                <m:t>+</m:t>
                              </m:r>
                              <m:r>
                                <a:rPr lang="en-US" altLang="zh-CN" sz="2800" i="1">
                                  <a:latin typeface="Cambria Math" panose="02040503050406030204" pitchFamily="18" charset="0"/>
                                </a:rPr>
                                <m:t>𝐴</m:t>
                              </m:r>
                              <m:r>
                                <a:rPr lang="en-US" altLang="zh-CN" sz="2800" i="1" smtClean="0">
                                  <a:latin typeface="Cambria Math" panose="02040503050406030204" pitchFamily="18" charset="0"/>
                                </a:rPr>
                                <m:t> </m:t>
                              </m:r>
                            </m:e>
                          </m:acc>
                          <m:r>
                            <a:rPr lang="en-US" altLang="zh-CN" sz="2800" i="1">
                              <a:latin typeface="Cambria Math" panose="02040503050406030204" pitchFamily="18" charset="0"/>
                            </a:rPr>
                            <m:t>+</m:t>
                          </m:r>
                          <m:r>
                            <a:rPr lang="en-US" altLang="zh-CN" sz="2800" i="1">
                              <a:latin typeface="Cambria Math" panose="02040503050406030204" pitchFamily="18" charset="0"/>
                            </a:rPr>
                            <m:t>𝐵</m:t>
                          </m:r>
                        </m:e>
                      </m:acc>
                    </m:oMath>
                  </m:oMathPara>
                </a14:m>
                <a:endParaRPr lang="en-US" altLang="zh-CN" sz="2800" dirty="0"/>
              </a:p>
            </p:txBody>
          </p:sp>
        </mc:Choice>
        <mc:Fallback xmlns="">
          <p:sp>
            <p:nvSpPr>
              <p:cNvPr id="3" name="矩形 2"/>
              <p:cNvSpPr>
                <a:spLocks noRot="1" noChangeAspect="1" noMove="1" noResize="1" noEditPoints="1" noAdjustHandles="1" noChangeArrowheads="1" noChangeShapeType="1" noTextEdit="1"/>
              </p:cNvSpPr>
              <p:nvPr/>
            </p:nvSpPr>
            <p:spPr>
              <a:xfrm>
                <a:off x="1782872" y="636422"/>
                <a:ext cx="2274469" cy="201593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82116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2.3 </a:t>
            </a:r>
            <a:r>
              <a:rPr lang="en-US" altLang="zh-CN" dirty="0" err="1">
                <a:latin typeface="楷体" panose="02010609060101010101" pitchFamily="49" charset="-122"/>
                <a:ea typeface="楷体" panose="02010609060101010101" pitchFamily="49" charset="-122"/>
              </a:rPr>
              <a:t>组合逻辑电路的等价变换</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154545"/>
            <a:ext cx="7886700" cy="5022418"/>
          </a:xfrm>
        </p:spPr>
        <p:txBody>
          <a:bodyPr/>
          <a:lstStyle/>
          <a:p>
            <a:r>
              <a:rPr lang="zh-CN" altLang="en-US" dirty="0" smtClean="0">
                <a:latin typeface="楷体" panose="02010609060101010101" pitchFamily="49" charset="-122"/>
                <a:ea typeface="楷体" panose="02010609060101010101" pitchFamily="49" charset="-122"/>
              </a:rPr>
              <a:t>利用</a:t>
            </a:r>
            <a:r>
              <a:rPr lang="zh-CN" altLang="en-US" b="1" dirty="0">
                <a:latin typeface="楷体" panose="02010609060101010101" pitchFamily="49" charset="-122"/>
                <a:ea typeface="楷体" panose="02010609060101010101" pitchFamily="49" charset="-122"/>
              </a:rPr>
              <a:t>与非门</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非或门</a:t>
            </a:r>
            <a:r>
              <a:rPr lang="zh-CN" altLang="en-US" dirty="0">
                <a:latin typeface="楷体" panose="02010609060101010101" pitchFamily="49" charset="-122"/>
                <a:ea typeface="楷体" panose="02010609060101010101" pitchFamily="49" charset="-122"/>
              </a:rPr>
              <a:t>进行等价</a:t>
            </a:r>
            <a:r>
              <a:rPr lang="zh-CN" altLang="en-US" dirty="0" smtClean="0">
                <a:latin typeface="楷体" panose="02010609060101010101" pitchFamily="49" charset="-122"/>
                <a:ea typeface="楷体" panose="02010609060101010101" pitchFamily="49" charset="-122"/>
              </a:rPr>
              <a:t>变换</a:t>
            </a:r>
            <a:endParaRPr lang="en-US" altLang="zh-CN" dirty="0" smtClean="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363502" y="1935603"/>
            <a:ext cx="8658176" cy="2451339"/>
          </a:xfrm>
          <a:prstGeom prst="rect">
            <a:avLst/>
          </a:prstGeom>
        </p:spPr>
      </p:pic>
    </p:spTree>
    <p:extLst>
      <p:ext uri="{BB962C8B-B14F-4D97-AF65-F5344CB8AC3E}">
        <p14:creationId xmlns:p14="http://schemas.microsoft.com/office/powerpoint/2010/main" val="40112554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2.3 </a:t>
            </a:r>
            <a:r>
              <a:rPr lang="en-US" altLang="zh-CN" dirty="0" err="1">
                <a:latin typeface="楷体" panose="02010609060101010101" pitchFamily="49" charset="-122"/>
                <a:ea typeface="楷体" panose="02010609060101010101" pitchFamily="49" charset="-122"/>
              </a:rPr>
              <a:t>组合逻辑电路的等价变换</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925286" y="1154545"/>
            <a:ext cx="7336971" cy="5022418"/>
          </a:xfrm>
        </p:spPr>
        <p:txBody>
          <a:bodyPr>
            <a:normAutofit/>
          </a:bodyPr>
          <a:lstStyle/>
          <a:p>
            <a:pPr>
              <a:lnSpc>
                <a:spcPts val="3500"/>
              </a:lnSpc>
            </a:pPr>
            <a:r>
              <a:rPr lang="zh-CN" altLang="en-US" dirty="0" smtClean="0">
                <a:latin typeface="楷体" panose="02010609060101010101" pitchFamily="49" charset="-122"/>
                <a:ea typeface="楷体" panose="02010609060101010101" pitchFamily="49" charset="-122"/>
              </a:rPr>
              <a:t>利用</a:t>
            </a:r>
            <a:r>
              <a:rPr lang="zh-CN" altLang="en-US" dirty="0">
                <a:latin typeface="楷体" panose="02010609060101010101" pitchFamily="49" charset="-122"/>
                <a:ea typeface="楷体" panose="02010609060101010101" pitchFamily="49" charset="-122"/>
              </a:rPr>
              <a:t>与非门</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非或门进行等价</a:t>
            </a:r>
            <a:r>
              <a:rPr lang="zh-CN" altLang="en-US" dirty="0" smtClean="0">
                <a:latin typeface="楷体" panose="02010609060101010101" pitchFamily="49" charset="-122"/>
                <a:ea typeface="楷体" panose="02010609060101010101" pitchFamily="49" charset="-122"/>
              </a:rPr>
              <a:t>变换</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sz="2800" dirty="0">
                <a:latin typeface="楷体" panose="02010609060101010101" pitchFamily="49" charset="-122"/>
                <a:ea typeface="楷体" panose="02010609060101010101" pitchFamily="49" charset="-122"/>
              </a:rPr>
              <a:t>图</a:t>
            </a:r>
            <a:r>
              <a:rPr lang="en-US" altLang="zh-CN" sz="2800" dirty="0" smtClean="0">
                <a:latin typeface="楷体" panose="02010609060101010101" pitchFamily="49" charset="-122"/>
                <a:ea typeface="楷体" panose="02010609060101010101" pitchFamily="49" charset="-122"/>
              </a:rPr>
              <a:t>2.17</a:t>
            </a:r>
            <a:r>
              <a:rPr lang="zh-CN" altLang="en-US" sz="2800" dirty="0" smtClean="0">
                <a:latin typeface="楷体" panose="02010609060101010101" pitchFamily="49" charset="-122"/>
                <a:ea typeface="楷体" panose="02010609060101010101" pitchFamily="49" charset="-122"/>
              </a:rPr>
              <a:t>：利用</a:t>
            </a:r>
            <a:r>
              <a:rPr lang="zh-CN" altLang="en-US" sz="2800" dirty="0">
                <a:latin typeface="楷体" panose="02010609060101010101" pitchFamily="49" charset="-122"/>
                <a:ea typeface="楷体" panose="02010609060101010101" pitchFamily="49" charset="-122"/>
              </a:rPr>
              <a:t>与非门</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非或门进行等价变换的例子。左边的逻辑门电路实现与</a:t>
            </a:r>
            <a:r>
              <a:rPr lang="zh-CN" altLang="en-US" sz="2800" dirty="0" smtClean="0">
                <a:latin typeface="楷体" panose="02010609060101010101" pitchFamily="49" charset="-122"/>
                <a:ea typeface="楷体" panose="02010609060101010101" pitchFamily="49" charset="-122"/>
              </a:rPr>
              <a:t>或运算</a:t>
            </a:r>
            <a:r>
              <a:rPr lang="zh-CN" altLang="en-US" sz="2800" dirty="0">
                <a:latin typeface="楷体" panose="02010609060101010101" pitchFamily="49" charset="-122"/>
                <a:ea typeface="楷体" panose="02010609060101010101" pitchFamily="49" charset="-122"/>
              </a:rPr>
              <a:t>，中间输出与输入带两个小圆圈符号，它表示“非”运算，连续两个非，可以将非符号</a:t>
            </a:r>
            <a:r>
              <a:rPr lang="en-US" altLang="zh-CN" sz="2800" dirty="0">
                <a:latin typeface="楷体" panose="02010609060101010101" pitchFamily="49" charset="-122"/>
                <a:ea typeface="楷体" panose="02010609060101010101" pitchFamily="49" charset="-122"/>
              </a:rPr>
              <a:t>(</a:t>
            </a:r>
            <a:r>
              <a:rPr lang="zh-CN" altLang="en-US" sz="2800" dirty="0" smtClean="0">
                <a:latin typeface="楷体" panose="02010609060101010101" pitchFamily="49" charset="-122"/>
                <a:ea typeface="楷体" panose="02010609060101010101" pitchFamily="49" charset="-122"/>
              </a:rPr>
              <a:t>小圆圈</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取消，因此等价于右边的逻辑电路</a:t>
            </a:r>
            <a:r>
              <a:rPr lang="zh-CN" altLang="en-US" sz="2800" dirty="0" smtClean="0">
                <a:latin typeface="楷体" panose="02010609060101010101" pitchFamily="49" charset="-122"/>
                <a:ea typeface="楷体" panose="02010609060101010101" pitchFamily="49" charset="-122"/>
              </a:rPr>
              <a:t>。</a:t>
            </a:r>
            <a:endParaRPr lang="en-US" altLang="zh-CN" sz="2800" dirty="0" smtClean="0">
              <a:latin typeface="楷体" panose="02010609060101010101" pitchFamily="49" charset="-122"/>
              <a:ea typeface="楷体" panose="02010609060101010101" pitchFamily="49" charset="-122"/>
            </a:endParaRPr>
          </a:p>
          <a:p>
            <a:pPr lvl="1">
              <a:lnSpc>
                <a:spcPts val="3500"/>
              </a:lnSpc>
            </a:pPr>
            <a:r>
              <a:rPr lang="zh-CN" altLang="en-US" sz="2800" dirty="0" smtClean="0">
                <a:latin typeface="楷体" panose="02010609060101010101" pitchFamily="49" charset="-122"/>
                <a:ea typeface="楷体" panose="02010609060101010101" pitchFamily="49" charset="-122"/>
              </a:rPr>
              <a:t>右边</a:t>
            </a:r>
            <a:r>
              <a:rPr lang="zh-CN" altLang="en-US" sz="2800" dirty="0">
                <a:latin typeface="楷体" panose="02010609060101010101" pitchFamily="49" charset="-122"/>
                <a:ea typeface="楷体" panose="02010609060101010101" pitchFamily="49" charset="-122"/>
              </a:rPr>
              <a:t>逻辑电路的传输速度快</a:t>
            </a: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倍。</a:t>
            </a:r>
            <a:endParaRPr lang="en-US" altLang="zh-CN" sz="2800" dirty="0" smtClean="0">
              <a:latin typeface="楷体" panose="02010609060101010101" pitchFamily="49" charset="-122"/>
              <a:ea typeface="楷体" panose="02010609060101010101" pitchFamily="49" charset="-122"/>
            </a:endParaRPr>
          </a:p>
          <a:p>
            <a:pPr>
              <a:lnSpc>
                <a:spcPts val="3500"/>
              </a:lnSpc>
            </a:pP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6" name="矩形 5"/>
              <p:cNvSpPr/>
              <p:nvPr/>
            </p:nvSpPr>
            <p:spPr>
              <a:xfrm>
                <a:off x="1330036" y="5333692"/>
                <a:ext cx="6105237" cy="954107"/>
              </a:xfrm>
              <a:prstGeom prst="rect">
                <a:avLst/>
              </a:prstGeom>
            </p:spPr>
            <p:txBody>
              <a:bodyPr wrap="square">
                <a:spAutoFit/>
              </a:bodyPr>
              <a:lstStyle/>
              <a:p>
                <a:r>
                  <a:rPr lang="zh-CN" altLang="en-US" sz="2800" dirty="0" smtClean="0">
                    <a:latin typeface="+mn-ea"/>
                  </a:rPr>
                  <a:t>思考题  </a:t>
                </a:r>
                <a:r>
                  <a:rPr lang="zh-CN" altLang="en-US" sz="2800" dirty="0">
                    <a:latin typeface="+mn-ea"/>
                  </a:rPr>
                  <a:t>你能利用与非门</a:t>
                </a:r>
                <a:r>
                  <a:rPr lang="en-US" altLang="zh-CN" sz="2800" dirty="0">
                    <a:latin typeface="+mn-ea"/>
                  </a:rPr>
                  <a:t>/</a:t>
                </a:r>
                <a:r>
                  <a:rPr lang="zh-CN" altLang="en-US" sz="2800" dirty="0">
                    <a:latin typeface="+mn-ea"/>
                  </a:rPr>
                  <a:t>非或门实现</a:t>
                </a:r>
                <a14:m>
                  <m:oMath xmlns:m="http://schemas.openxmlformats.org/officeDocument/2006/math">
                    <m:r>
                      <a:rPr lang="en-US" altLang="zh-CN" sz="2800" i="1" dirty="0" smtClean="0">
                        <a:latin typeface="Cambria Math" panose="02040503050406030204" pitchFamily="18" charset="0"/>
                      </a:rPr>
                      <m:t>𝐹</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𝐴𝐵𝐶</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𝐷𝐸𝐹</m:t>
                    </m:r>
                  </m:oMath>
                </a14:m>
                <a:r>
                  <a:rPr lang="zh-CN" altLang="en-US" sz="2800" dirty="0" smtClean="0">
                    <a:latin typeface="+mn-ea"/>
                  </a:rPr>
                  <a:t>逻辑</a:t>
                </a:r>
                <a:r>
                  <a:rPr lang="zh-CN" altLang="en-US" sz="2800" dirty="0">
                    <a:latin typeface="+mn-ea"/>
                  </a:rPr>
                  <a:t>吗</a:t>
                </a:r>
                <a:r>
                  <a:rPr lang="en-US" altLang="zh-CN" sz="2800" dirty="0">
                    <a:latin typeface="+mn-ea"/>
                  </a:rPr>
                  <a:t>?</a:t>
                </a:r>
                <a:endParaRPr lang="zh-CN" altLang="en-US" sz="2800" dirty="0">
                  <a:latin typeface="+mn-ea"/>
                </a:endParaRPr>
              </a:p>
            </p:txBody>
          </p:sp>
        </mc:Choice>
        <mc:Fallback xmlns="">
          <p:sp>
            <p:nvSpPr>
              <p:cNvPr id="6" name="矩形 5"/>
              <p:cNvSpPr>
                <a:spLocks noRot="1" noChangeAspect="1" noMove="1" noResize="1" noEditPoints="1" noAdjustHandles="1" noChangeArrowheads="1" noChangeShapeType="1" noTextEdit="1"/>
              </p:cNvSpPr>
              <p:nvPr/>
            </p:nvSpPr>
            <p:spPr>
              <a:xfrm>
                <a:off x="1330036" y="5333692"/>
                <a:ext cx="6105237" cy="954107"/>
              </a:xfrm>
              <a:prstGeom prst="rect">
                <a:avLst/>
              </a:prstGeom>
              <a:blipFill>
                <a:blip r:embed="rId2"/>
                <a:stretch>
                  <a:fillRect l="-1996" t="-7692" b="-173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730771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2.3 </a:t>
            </a:r>
            <a:r>
              <a:rPr lang="en-US" altLang="zh-CN" dirty="0" err="1">
                <a:latin typeface="楷体" panose="02010609060101010101" pitchFamily="49" charset="-122"/>
                <a:ea typeface="楷体" panose="02010609060101010101" pitchFamily="49" charset="-122"/>
              </a:rPr>
              <a:t>组合逻辑电路的等价变换</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154544"/>
                <a:ext cx="7579179" cy="1663695"/>
              </a:xfrm>
            </p:spPr>
            <p:txBody>
              <a:bodyPr>
                <a:noAutofit/>
              </a:bodyPr>
              <a:lstStyle/>
              <a:p>
                <a:pPr>
                  <a:lnSpc>
                    <a:spcPts val="3500"/>
                  </a:lnSpc>
                </a:pPr>
                <a:r>
                  <a:rPr lang="zh-CN" altLang="en-US" dirty="0" smtClean="0">
                    <a:latin typeface="楷体" panose="02010609060101010101" pitchFamily="49" charset="-122"/>
                    <a:ea typeface="楷体" panose="02010609060101010101" pitchFamily="49" charset="-122"/>
                  </a:rPr>
                  <a:t>逻辑函数</a:t>
                </a:r>
                <a:r>
                  <a:rPr lang="zh-CN" altLang="en-US" dirty="0">
                    <a:latin typeface="楷体" panose="02010609060101010101" pitchFamily="49" charset="-122"/>
                    <a:ea typeface="楷体" panose="02010609060101010101" pitchFamily="49" charset="-122"/>
                  </a:rPr>
                  <a:t>的“与或非”门</a:t>
                </a:r>
                <a:r>
                  <a:rPr lang="zh-CN" altLang="en-US" dirty="0" smtClean="0">
                    <a:latin typeface="楷体" panose="02010609060101010101" pitchFamily="49" charset="-122"/>
                    <a:ea typeface="楷体" panose="02010609060101010101" pitchFamily="49" charset="-122"/>
                  </a:rPr>
                  <a:t>实现</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sz="2800" dirty="0">
                    <a:latin typeface="楷体" panose="02010609060101010101" pitchFamily="49" charset="-122"/>
                    <a:ea typeface="楷体" panose="02010609060101010101" pitchFamily="49" charset="-122"/>
                  </a:rPr>
                  <a:t>将最简“与或”表达式变换为“与或非”表达式的方法有两种：一是对</a:t>
                </a:r>
                <a14:m>
                  <m:oMath xmlns:m="http://schemas.openxmlformats.org/officeDocument/2006/math">
                    <m:r>
                      <a:rPr lang="en-US" altLang="zh-CN" sz="2800" i="1" dirty="0" smtClean="0">
                        <a:latin typeface="Cambria Math" panose="02040503050406030204" pitchFamily="18" charset="0"/>
                        <a:ea typeface="楷体" panose="02010609060101010101" pitchFamily="49" charset="-122"/>
                      </a:rPr>
                      <m:t>𝐹</m:t>
                    </m:r>
                    <m:r>
                      <a:rPr lang="en-US" altLang="zh-CN" sz="2800" i="1" dirty="0" smtClean="0">
                        <a:latin typeface="Cambria Math" panose="02040503050406030204" pitchFamily="18" charset="0"/>
                        <a:ea typeface="楷体" panose="02010609060101010101" pitchFamily="49" charset="-122"/>
                      </a:rPr>
                      <m:t> </m:t>
                    </m:r>
                  </m:oMath>
                </a14:m>
                <a:r>
                  <a:rPr lang="zh-CN" altLang="en-US" sz="2800" dirty="0" smtClean="0">
                    <a:latin typeface="楷体" panose="02010609060101010101" pitchFamily="49" charset="-122"/>
                    <a:ea typeface="楷体" panose="02010609060101010101" pitchFamily="49" charset="-122"/>
                  </a:rPr>
                  <a:t>两</a:t>
                </a:r>
                <a:r>
                  <a:rPr lang="zh-CN" altLang="en-US" sz="2800" dirty="0">
                    <a:latin typeface="楷体" panose="02010609060101010101" pitchFamily="49" charset="-122"/>
                    <a:ea typeface="楷体" panose="02010609060101010101" pitchFamily="49" charset="-122"/>
                  </a:rPr>
                  <a:t>次求反</a:t>
                </a:r>
                <a:r>
                  <a:rPr lang="zh-CN" altLang="en-US" sz="2800" dirty="0" smtClean="0">
                    <a:latin typeface="楷体" panose="02010609060101010101" pitchFamily="49" charset="-122"/>
                    <a:ea typeface="楷体" panose="02010609060101010101" pitchFamily="49" charset="-122"/>
                  </a:rPr>
                  <a:t>；二</a:t>
                </a:r>
                <a:r>
                  <a:rPr lang="zh-CN" altLang="en-US" sz="2800" dirty="0">
                    <a:latin typeface="楷体" panose="02010609060101010101" pitchFamily="49" charset="-122"/>
                    <a:ea typeface="楷体" panose="02010609060101010101" pitchFamily="49" charset="-122"/>
                  </a:rPr>
                  <a:t>是对</a:t>
                </a:r>
                <a14:m>
                  <m:oMath xmlns:m="http://schemas.openxmlformats.org/officeDocument/2006/math">
                    <m:acc>
                      <m:accPr>
                        <m:chr m:val="̅"/>
                        <m:ctrlPr>
                          <a:rPr lang="en-US" altLang="zh-CN" sz="2800" i="1">
                            <a:latin typeface="Cambria Math" panose="02040503050406030204" pitchFamily="18" charset="0"/>
                          </a:rPr>
                        </m:ctrlPr>
                      </m:accPr>
                      <m:e>
                        <m:r>
                          <a:rPr lang="en-US" altLang="zh-CN" sz="2800" i="1" smtClean="0">
                            <a:latin typeface="Cambria Math" panose="02040503050406030204" pitchFamily="18" charset="0"/>
                          </a:rPr>
                          <m:t>𝐹</m:t>
                        </m:r>
                      </m:e>
                    </m:acc>
                  </m:oMath>
                </a14:m>
                <a:r>
                  <a:rPr lang="zh-CN" altLang="en-US" sz="2800" dirty="0">
                    <a:latin typeface="楷体" panose="02010609060101010101" pitchFamily="49" charset="-122"/>
                    <a:ea typeface="楷体" panose="02010609060101010101" pitchFamily="49" charset="-122"/>
                  </a:rPr>
                  <a:t> 一次求反</a:t>
                </a:r>
                <a:r>
                  <a:rPr lang="zh-CN" altLang="en-US" sz="2800" dirty="0" smtClean="0">
                    <a:latin typeface="楷体" panose="02010609060101010101" pitchFamily="49" charset="-122"/>
                    <a:ea typeface="楷体" panose="02010609060101010101" pitchFamily="49" charset="-122"/>
                  </a:rPr>
                  <a:t>。</a:t>
                </a:r>
                <a:endParaRPr lang="en-US" altLang="zh-CN" sz="2800" dirty="0" smtClean="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154544"/>
                <a:ext cx="7579179" cy="1663695"/>
              </a:xfrm>
              <a:blipFill>
                <a:blip r:embed="rId2"/>
                <a:stretch>
                  <a:fillRect l="-1448" t="-5495" r="-1689" b="-234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521153" y="3295073"/>
                <a:ext cx="8101693" cy="3154710"/>
              </a:xfrm>
              <a:prstGeom prst="rect">
                <a:avLst/>
              </a:prstGeom>
            </p:spPr>
            <p:txBody>
              <a:bodyPr wrap="square">
                <a:spAutoFit/>
              </a:bodyPr>
              <a:lstStyle/>
              <a:p>
                <a:pPr>
                  <a:lnSpc>
                    <a:spcPts val="3500"/>
                  </a:lnSpc>
                </a:pPr>
                <a:r>
                  <a:rPr lang="en-US" altLang="zh-CN"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12】 </a:t>
                </a:r>
                <a:r>
                  <a:rPr lang="zh-CN" altLang="en-US" sz="2800" dirty="0">
                    <a:latin typeface="楷体" panose="02010609060101010101" pitchFamily="49" charset="-122"/>
                    <a:ea typeface="楷体" panose="02010609060101010101" pitchFamily="49" charset="-122"/>
                  </a:rPr>
                  <a:t>用与或非门实现函数</a:t>
                </a:r>
                <a14:m>
                  <m:oMath xmlns:m="http://schemas.openxmlformats.org/officeDocument/2006/math">
                    <m:r>
                      <a:rPr lang="en-US" altLang="zh-CN" sz="2800" b="0" i="0" dirty="0" smtClean="0">
                        <a:latin typeface="Cambria Math" panose="02040503050406030204" pitchFamily="18" charset="0"/>
                      </a:rPr>
                      <m:t> </m:t>
                    </m:r>
                    <m:r>
                      <a:rPr lang="en-US" altLang="zh-CN" sz="2800" i="1" dirty="0" smtClean="0">
                        <a:latin typeface="Cambria Math" panose="02040503050406030204" pitchFamily="18" charset="0"/>
                      </a:rPr>
                      <m:t>𝐹</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smtClean="0">
                            <a:latin typeface="Cambria Math" panose="02040503050406030204" pitchFamily="18" charset="0"/>
                          </a:rPr>
                          <m:t>𝐵</m:t>
                        </m:r>
                      </m:e>
                    </m:acc>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𝐵</m:t>
                    </m:r>
                    <m:acc>
                      <m:accPr>
                        <m:chr m:val="̅"/>
                        <m:ctrlPr>
                          <a:rPr lang="en-US" altLang="zh-CN" sz="2800" i="1" smtClean="0">
                            <a:latin typeface="Cambria Math" panose="02040503050406030204" pitchFamily="18" charset="0"/>
                          </a:rPr>
                        </m:ctrlPr>
                      </m:accPr>
                      <m:e>
                        <m:r>
                          <a:rPr lang="en-US" altLang="zh-CN" sz="2800" b="0" i="1" smtClean="0">
                            <a:latin typeface="Cambria Math" panose="02040503050406030204" pitchFamily="18" charset="0"/>
                          </a:rPr>
                          <m:t>𝐶</m:t>
                        </m:r>
                        <m:r>
                          <a:rPr lang="en-US" altLang="zh-CN" sz="2800" b="0" i="1" smtClean="0">
                            <a:latin typeface="Cambria Math" panose="02040503050406030204" pitchFamily="18" charset="0"/>
                          </a:rPr>
                          <m:t> </m:t>
                        </m:r>
                      </m:e>
                    </m:acc>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𝐶</m:t>
                    </m:r>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𝐴</m:t>
                        </m:r>
                        <m:r>
                          <a:rPr lang="en-US" altLang="zh-CN" sz="2800" b="0" i="1" smtClean="0">
                            <a:latin typeface="Cambria Math" panose="02040503050406030204" pitchFamily="18" charset="0"/>
                          </a:rPr>
                          <m:t> </m:t>
                        </m:r>
                      </m:e>
                    </m:acc>
                  </m:oMath>
                </a14:m>
                <a:endParaRPr lang="en-US" altLang="zh-CN" sz="2800" i="1" dirty="0" smtClean="0">
                  <a:latin typeface="楷体" panose="02010609060101010101" pitchFamily="49" charset="-122"/>
                  <a:ea typeface="楷体" panose="02010609060101010101" pitchFamily="49" charset="-122"/>
                </a:endParaRPr>
              </a:p>
              <a:p>
                <a:pPr>
                  <a:lnSpc>
                    <a:spcPts val="3500"/>
                  </a:lnSpc>
                </a:pPr>
                <a:r>
                  <a:rPr lang="zh-CN" altLang="en-US" sz="2800" dirty="0" smtClean="0">
                    <a:latin typeface="楷体" panose="02010609060101010101" pitchFamily="49" charset="-122"/>
                    <a:ea typeface="楷体" panose="02010609060101010101" pitchFamily="49" charset="-122"/>
                  </a:rPr>
                  <a:t>解：（</a:t>
                </a:r>
                <a:r>
                  <a:rPr lang="en-US" altLang="zh-CN" sz="2800" dirty="0" smtClean="0">
                    <a:latin typeface="楷体" panose="02010609060101010101" pitchFamily="49" charset="-122"/>
                    <a:ea typeface="楷体" panose="02010609060101010101" pitchFamily="49" charset="-122"/>
                  </a:rPr>
                  <a:t>1</a:t>
                </a:r>
                <a:r>
                  <a:rPr lang="zh-CN" altLang="en-US" sz="2800" dirty="0" smtClean="0">
                    <a:latin typeface="楷体" panose="02010609060101010101" pitchFamily="49" charset="-122"/>
                    <a:ea typeface="楷体" panose="02010609060101010101" pitchFamily="49" charset="-122"/>
                  </a:rPr>
                  <a:t>）</a:t>
                </a:r>
                <a:r>
                  <a:rPr lang="en-US" altLang="zh-CN" sz="2800" dirty="0"/>
                  <a:t> </a:t>
                </a:r>
                <a14:m>
                  <m:oMath xmlns:m="http://schemas.openxmlformats.org/officeDocument/2006/math">
                    <m:r>
                      <a:rPr lang="en-US" altLang="zh-CN" sz="2800" i="1" dirty="0">
                        <a:latin typeface="Cambria Math" panose="02040503050406030204" pitchFamily="18" charset="0"/>
                      </a:rPr>
                      <m:t>𝐹</m:t>
                    </m:r>
                  </m:oMath>
                </a14:m>
                <a:r>
                  <a:rPr lang="zh-CN" altLang="en-US" sz="2800" dirty="0" smtClean="0">
                    <a:latin typeface="楷体" panose="02010609060101010101" pitchFamily="49" charset="-122"/>
                    <a:ea typeface="楷体" panose="02010609060101010101" pitchFamily="49" charset="-122"/>
                  </a:rPr>
                  <a:t>两次</a:t>
                </a:r>
                <a:r>
                  <a:rPr lang="zh-CN" altLang="en-US" sz="2800" dirty="0">
                    <a:latin typeface="楷体" panose="02010609060101010101" pitchFamily="49" charset="-122"/>
                    <a:ea typeface="楷体" panose="02010609060101010101" pitchFamily="49" charset="-122"/>
                  </a:rPr>
                  <a:t>求反，可</a:t>
                </a:r>
                <a:r>
                  <a:rPr lang="zh-CN" altLang="en-US" sz="2800" dirty="0" smtClean="0">
                    <a:latin typeface="楷体" panose="02010609060101010101" pitchFamily="49" charset="-122"/>
                    <a:ea typeface="楷体" panose="02010609060101010101" pitchFamily="49" charset="-122"/>
                  </a:rPr>
                  <a:t>得：</a:t>
                </a:r>
                <a:endParaRPr lang="en-US" altLang="zh-CN" sz="2800" dirty="0" smtClean="0">
                  <a:latin typeface="楷体" panose="02010609060101010101" pitchFamily="49" charset="-122"/>
                  <a:ea typeface="楷体" panose="02010609060101010101" pitchFamily="49" charset="-122"/>
                </a:endParaRPr>
              </a:p>
              <a:p>
                <a:pPr>
                  <a:lnSpc>
                    <a:spcPts val="3500"/>
                  </a:lnSpc>
                </a:pPr>
                <a:endParaRPr lang="en-US" altLang="zh-CN" sz="2800" dirty="0" smtClean="0">
                  <a:latin typeface="楷体" panose="02010609060101010101" pitchFamily="49" charset="-122"/>
                  <a:ea typeface="楷体" panose="02010609060101010101" pitchFamily="49" charset="-122"/>
                </a:endParaRPr>
              </a:p>
              <a:p>
                <a:pPr>
                  <a:lnSpc>
                    <a:spcPts val="3500"/>
                  </a:lnSpc>
                </a:pPr>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𝐹</m:t>
                      </m:r>
                      <m:r>
                        <a:rPr lang="en-US" altLang="zh-CN" sz="2800" i="1" dirty="0">
                          <a:latin typeface="Cambria Math" panose="02040503050406030204" pitchFamily="18" charset="0"/>
                        </a:rPr>
                        <m:t>=</m:t>
                      </m:r>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r>
                                <m:rPr>
                                  <m:sty m:val="p"/>
                                </m:rPr>
                                <a:rPr lang="en-US" altLang="zh-CN" sz="2800" i="1" smtClean="0">
                                  <a:latin typeface="Cambria Math" panose="02040503050406030204" pitchFamily="18" charset="0"/>
                                </a:rPr>
                                <m:t>A</m:t>
                              </m:r>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𝐵</m:t>
                                  </m:r>
                                </m:e>
                              </m:acc>
                              <m:r>
                                <a:rPr lang="en-US" altLang="zh-CN" sz="2800" i="1" dirty="0">
                                  <a:latin typeface="Cambria Math" panose="02040503050406030204" pitchFamily="18" charset="0"/>
                                </a:rPr>
                                <m:t>+</m:t>
                              </m:r>
                              <m:r>
                                <a:rPr lang="en-US" altLang="zh-CN" sz="2800" i="1" dirty="0">
                                  <a:latin typeface="Cambria Math" panose="02040503050406030204" pitchFamily="18" charset="0"/>
                                </a:rPr>
                                <m:t>𝐵</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𝐶</m:t>
                                  </m:r>
                                  <m:r>
                                    <a:rPr lang="en-US" altLang="zh-CN" sz="2800" b="0" i="1" smtClean="0">
                                      <a:latin typeface="Cambria Math" panose="02040503050406030204" pitchFamily="18" charset="0"/>
                                    </a:rPr>
                                    <m:t> </m:t>
                                  </m:r>
                                </m:e>
                              </m:acc>
                              <m:r>
                                <a:rPr lang="en-US" altLang="zh-CN" sz="2800" i="1" dirty="0">
                                  <a:latin typeface="Cambria Math" panose="02040503050406030204" pitchFamily="18" charset="0"/>
                                </a:rPr>
                                <m:t>+</m:t>
                              </m:r>
                              <m:r>
                                <a:rPr lang="en-US" altLang="zh-CN" sz="2800" i="1" dirty="0">
                                  <a:latin typeface="Cambria Math" panose="02040503050406030204" pitchFamily="18" charset="0"/>
                                </a:rPr>
                                <m:t>𝐶</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r>
                                    <a:rPr lang="en-US" altLang="zh-CN" sz="2800" b="0" i="1" smtClean="0">
                                      <a:latin typeface="Cambria Math" panose="02040503050406030204" pitchFamily="18" charset="0"/>
                                    </a:rPr>
                                    <m:t> </m:t>
                                  </m:r>
                                </m:e>
                              </m:acc>
                            </m:e>
                          </m:acc>
                        </m:e>
                      </m:acc>
                    </m:oMath>
                  </m:oMathPara>
                </a14:m>
                <a:endParaRPr lang="en-US" altLang="zh-CN" sz="2800" dirty="0" smtClean="0">
                  <a:latin typeface="楷体" panose="02010609060101010101" pitchFamily="49" charset="-122"/>
                  <a:ea typeface="楷体" panose="02010609060101010101" pitchFamily="49" charset="-122"/>
                </a:endParaRPr>
              </a:p>
              <a:p>
                <a:pPr marL="1081088">
                  <a:lnSpc>
                    <a:spcPts val="3500"/>
                  </a:lnSpc>
                </a:pPr>
                <a:endParaRPr lang="en-US" altLang="zh-CN" sz="2800" dirty="0" smtClean="0">
                  <a:latin typeface="楷体" panose="02010609060101010101" pitchFamily="49" charset="-122"/>
                  <a:ea typeface="楷体" panose="02010609060101010101" pitchFamily="49" charset="-122"/>
                </a:endParaRPr>
              </a:p>
              <a:p>
                <a:pPr marL="1081088">
                  <a:lnSpc>
                    <a:spcPts val="3500"/>
                  </a:lnSpc>
                </a:pPr>
                <a:r>
                  <a:rPr lang="zh-CN" altLang="en-US" sz="2800" dirty="0" smtClean="0">
                    <a:latin typeface="楷体" panose="02010609060101010101" pitchFamily="49" charset="-122"/>
                    <a:ea typeface="楷体" panose="02010609060101010101" pitchFamily="49" charset="-122"/>
                  </a:rPr>
                  <a:t>由</a:t>
                </a:r>
                <a:r>
                  <a:rPr lang="zh-CN" altLang="en-US" sz="2800" dirty="0">
                    <a:latin typeface="楷体" panose="02010609060101010101" pitchFamily="49" charset="-122"/>
                    <a:ea typeface="楷体" panose="02010609060101010101" pitchFamily="49" charset="-122"/>
                  </a:rPr>
                  <a:t>该式画出的逻辑图示于图</a:t>
                </a:r>
                <a:r>
                  <a:rPr lang="en-US" altLang="zh-CN" sz="2800" dirty="0">
                    <a:latin typeface="楷体" panose="02010609060101010101" pitchFamily="49" charset="-122"/>
                    <a:ea typeface="楷体" panose="02010609060101010101" pitchFamily="49" charset="-122"/>
                  </a:rPr>
                  <a:t>2.18(a)</a:t>
                </a:r>
                <a:r>
                  <a:rPr lang="zh-CN" altLang="en-US" sz="2800" dirty="0">
                    <a:latin typeface="楷体" panose="02010609060101010101" pitchFamily="49" charset="-122"/>
                    <a:ea typeface="楷体" panose="02010609060101010101" pitchFamily="49" charset="-122"/>
                  </a:rPr>
                  <a:t>。</a:t>
                </a:r>
                <a:endParaRPr lang="en-US" altLang="zh-CN" sz="2800" dirty="0" smtClean="0">
                  <a:latin typeface="楷体" panose="02010609060101010101" pitchFamily="49" charset="-122"/>
                  <a:ea typeface="楷体" panose="02010609060101010101" pitchFamily="49" charset="-122"/>
                </a:endParaRPr>
              </a:p>
              <a:p>
                <a:pPr marL="534988"/>
                <a:endParaRPr lang="zh-CN" altLang="en-US"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521153" y="3295073"/>
                <a:ext cx="8101693" cy="3154710"/>
              </a:xfrm>
              <a:prstGeom prst="rect">
                <a:avLst/>
              </a:prstGeom>
              <a:blipFill>
                <a:blip r:embed="rId3"/>
                <a:stretch>
                  <a:fillRect l="-1504" t="-30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52686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latin typeface="楷体" panose="02010609060101010101" pitchFamily="49" charset="-122"/>
                <a:ea typeface="楷体" panose="02010609060101010101" pitchFamily="49" charset="-122"/>
              </a:rPr>
              <a:t>2.3 </a:t>
            </a:r>
            <a:r>
              <a:rPr lang="en-US" altLang="zh-CN" dirty="0" err="1">
                <a:latin typeface="楷体" panose="02010609060101010101" pitchFamily="49" charset="-122"/>
                <a:ea typeface="楷体" panose="02010609060101010101" pitchFamily="49" charset="-122"/>
              </a:rPr>
              <a:t>组合逻辑电路的等价变换</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154545"/>
                <a:ext cx="7886700" cy="1302328"/>
              </a:xfrm>
            </p:spPr>
            <p:txBody>
              <a:bodyPr/>
              <a:lstStyle/>
              <a:p>
                <a:r>
                  <a:rPr lang="zh-CN" altLang="en-US" dirty="0" smtClean="0">
                    <a:latin typeface="楷体" panose="02010609060101010101" pitchFamily="49" charset="-122"/>
                    <a:ea typeface="楷体" panose="02010609060101010101" pitchFamily="49" charset="-122"/>
                  </a:rPr>
                  <a:t>逻辑函数</a:t>
                </a:r>
                <a:r>
                  <a:rPr lang="zh-CN" altLang="en-US" dirty="0">
                    <a:latin typeface="楷体" panose="02010609060101010101" pitchFamily="49" charset="-122"/>
                    <a:ea typeface="楷体" panose="02010609060101010101" pitchFamily="49" charset="-122"/>
                  </a:rPr>
                  <a:t>的“与或非”门</a:t>
                </a:r>
                <a:r>
                  <a:rPr lang="zh-CN" altLang="en-US" dirty="0" smtClean="0">
                    <a:latin typeface="楷体" panose="02010609060101010101" pitchFamily="49" charset="-122"/>
                    <a:ea typeface="楷体" panose="02010609060101010101" pitchFamily="49" charset="-122"/>
                  </a:rPr>
                  <a:t>实现</a:t>
                </a:r>
                <a:endParaRPr lang="en-US" altLang="zh-CN" dirty="0" smtClean="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将最简“与或”表达式变换为“与或非”表达式的方法有两种：一是对</a:t>
                </a:r>
                <a:r>
                  <a:rPr lang="en-US" altLang="zh-CN" dirty="0" smtClean="0">
                    <a:latin typeface="楷体" panose="02010609060101010101" pitchFamily="49" charset="-122"/>
                    <a:ea typeface="楷体" panose="02010609060101010101" pitchFamily="49" charset="-122"/>
                  </a:rPr>
                  <a:t>F</a:t>
                </a:r>
                <a:r>
                  <a:rPr lang="zh-CN" altLang="en-US" dirty="0" smtClean="0">
                    <a:latin typeface="楷体" panose="02010609060101010101" pitchFamily="49" charset="-122"/>
                    <a:ea typeface="楷体" panose="02010609060101010101" pitchFamily="49" charset="-122"/>
                  </a:rPr>
                  <a:t>两</a:t>
                </a:r>
                <a:r>
                  <a:rPr lang="zh-CN" altLang="en-US" dirty="0">
                    <a:latin typeface="楷体" panose="02010609060101010101" pitchFamily="49" charset="-122"/>
                    <a:ea typeface="楷体" panose="02010609060101010101" pitchFamily="49" charset="-122"/>
                  </a:rPr>
                  <a:t>次求反</a:t>
                </a:r>
                <a:r>
                  <a:rPr lang="zh-CN" altLang="en-US" dirty="0" smtClean="0">
                    <a:latin typeface="楷体" panose="02010609060101010101" pitchFamily="49" charset="-122"/>
                    <a:ea typeface="楷体" panose="02010609060101010101" pitchFamily="49" charset="-122"/>
                  </a:rPr>
                  <a:t>；二</a:t>
                </a:r>
                <a:r>
                  <a:rPr lang="zh-CN" altLang="en-US" dirty="0">
                    <a:latin typeface="楷体" panose="02010609060101010101" pitchFamily="49" charset="-122"/>
                    <a:ea typeface="楷体" panose="02010609060101010101" pitchFamily="49" charset="-122"/>
                  </a:rPr>
                  <a:t>是对</a:t>
                </a:r>
                <a14:m>
                  <m:oMath xmlns:m="http://schemas.openxmlformats.org/officeDocument/2006/math">
                    <m:acc>
                      <m:accPr>
                        <m:chr m:val="̅"/>
                        <m:ctrlPr>
                          <a:rPr lang="en-US" altLang="zh-CN" i="1">
                            <a:latin typeface="Cambria Math" panose="02040503050406030204" pitchFamily="18" charset="0"/>
                          </a:rPr>
                        </m:ctrlPr>
                      </m:accPr>
                      <m:e>
                        <m:r>
                          <m:rPr>
                            <m:sty m:val="p"/>
                          </m:rPr>
                          <a:rPr lang="en-US" altLang="zh-CN" i="1" smtClean="0">
                            <a:latin typeface="Cambria Math" panose="02040503050406030204" pitchFamily="18" charset="0"/>
                          </a:rPr>
                          <m:t>F</m:t>
                        </m:r>
                      </m:e>
                    </m:acc>
                  </m:oMath>
                </a14:m>
                <a:r>
                  <a:rPr lang="zh-CN" altLang="en-US" dirty="0">
                    <a:latin typeface="楷体" panose="02010609060101010101" pitchFamily="49" charset="-122"/>
                    <a:ea typeface="楷体" panose="02010609060101010101" pitchFamily="49" charset="-122"/>
                  </a:rPr>
                  <a:t> 一次求反</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154545"/>
                <a:ext cx="7886700" cy="1302328"/>
              </a:xfrm>
              <a:blipFill>
                <a:blip r:embed="rId2"/>
                <a:stretch>
                  <a:fillRect l="-1391" t="-7944" r="-1159" b="-1402"/>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628650" y="2782333"/>
            <a:ext cx="8297379" cy="2879068"/>
          </a:xfrm>
          <a:prstGeom prst="rect">
            <a:avLst/>
          </a:prstGeom>
        </p:spPr>
      </p:pic>
    </p:spTree>
    <p:extLst>
      <p:ext uri="{BB962C8B-B14F-4D97-AF65-F5344CB8AC3E}">
        <p14:creationId xmlns:p14="http://schemas.microsoft.com/office/powerpoint/2010/main" val="1609915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895927"/>
          </a:xfrm>
        </p:spPr>
        <p:txBody>
          <a:bodyPr/>
          <a:lstStyle/>
          <a:p>
            <a:r>
              <a:rPr lang="en-US" altLang="zh-CN" dirty="0">
                <a:latin typeface="楷体" panose="02010609060101010101" pitchFamily="49" charset="-122"/>
                <a:ea typeface="楷体" panose="02010609060101010101" pitchFamily="49" charset="-122"/>
              </a:rPr>
              <a:t>2.3 </a:t>
            </a:r>
            <a:r>
              <a:rPr lang="en-US" altLang="zh-CN" dirty="0" err="1">
                <a:latin typeface="楷体" panose="02010609060101010101" pitchFamily="49" charset="-122"/>
                <a:ea typeface="楷体" panose="02010609060101010101" pitchFamily="49" charset="-122"/>
              </a:rPr>
              <a:t>组合逻辑电路的等价变换</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420543" y="895927"/>
                <a:ext cx="8302914" cy="5350183"/>
              </a:xfrm>
              <a:prstGeom prst="rect">
                <a:avLst/>
              </a:prstGeom>
            </p:spPr>
            <p:txBody>
              <a:bodyPr wrap="square">
                <a:spAutoFit/>
              </a:bodyPr>
              <a:lstStyle/>
              <a:p>
                <a:pPr>
                  <a:lnSpc>
                    <a:spcPts val="3500"/>
                  </a:lnSpc>
                </a:pPr>
                <a:r>
                  <a:rPr lang="en-US" altLang="zh-CN" sz="2800" dirty="0" smtClean="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例</a:t>
                </a:r>
                <a:r>
                  <a:rPr lang="en-US" altLang="zh-CN" sz="2800" dirty="0">
                    <a:latin typeface="楷体" panose="02010609060101010101" pitchFamily="49" charset="-122"/>
                    <a:ea typeface="楷体" panose="02010609060101010101" pitchFamily="49" charset="-122"/>
                  </a:rPr>
                  <a:t>12】 </a:t>
                </a:r>
                <a:r>
                  <a:rPr lang="zh-CN" altLang="en-US" sz="2800" dirty="0">
                    <a:latin typeface="楷体" panose="02010609060101010101" pitchFamily="49" charset="-122"/>
                    <a:ea typeface="楷体" panose="02010609060101010101" pitchFamily="49" charset="-122"/>
                  </a:rPr>
                  <a:t>用与或非门实现函数</a:t>
                </a:r>
                <a14:m>
                  <m:oMath xmlns:m="http://schemas.openxmlformats.org/officeDocument/2006/math">
                    <m:r>
                      <a:rPr lang="en-US" altLang="zh-CN" sz="2800" b="0" i="0" dirty="0" smtClean="0">
                        <a:latin typeface="Cambria Math" panose="02040503050406030204" pitchFamily="18" charset="0"/>
                      </a:rPr>
                      <m:t> </m:t>
                    </m:r>
                    <m:r>
                      <a:rPr lang="en-US" altLang="zh-CN" sz="2800" i="1" dirty="0" smtClean="0">
                        <a:latin typeface="Cambria Math" panose="02040503050406030204" pitchFamily="18" charset="0"/>
                      </a:rPr>
                      <m:t>𝐹</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smtClean="0">
                            <a:latin typeface="Cambria Math" panose="02040503050406030204" pitchFamily="18" charset="0"/>
                          </a:rPr>
                          <m:t>𝐵</m:t>
                        </m:r>
                      </m:e>
                    </m:acc>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𝐵</m:t>
                    </m:r>
                    <m:acc>
                      <m:accPr>
                        <m:chr m:val="̅"/>
                        <m:ctrlPr>
                          <a:rPr lang="en-US" altLang="zh-CN" sz="2800" i="1" smtClean="0">
                            <a:latin typeface="Cambria Math" panose="02040503050406030204" pitchFamily="18" charset="0"/>
                          </a:rPr>
                        </m:ctrlPr>
                      </m:accPr>
                      <m:e>
                        <m:r>
                          <a:rPr lang="en-US" altLang="zh-CN" sz="2800" b="0" i="1" smtClean="0">
                            <a:latin typeface="Cambria Math" panose="02040503050406030204" pitchFamily="18" charset="0"/>
                          </a:rPr>
                          <m:t>𝐶</m:t>
                        </m:r>
                        <m:r>
                          <a:rPr lang="en-US" altLang="zh-CN" sz="2800" b="0" i="1" smtClean="0">
                            <a:latin typeface="Cambria Math" panose="02040503050406030204" pitchFamily="18" charset="0"/>
                          </a:rPr>
                          <m:t> </m:t>
                        </m:r>
                      </m:e>
                    </m:acc>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𝐶</m:t>
                    </m:r>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𝐴</m:t>
                        </m:r>
                        <m:r>
                          <a:rPr lang="en-US" altLang="zh-CN" sz="2800" b="0" i="1" smtClean="0">
                            <a:latin typeface="Cambria Math" panose="02040503050406030204" pitchFamily="18" charset="0"/>
                          </a:rPr>
                          <m:t> </m:t>
                        </m:r>
                      </m:e>
                    </m:acc>
                  </m:oMath>
                </a14:m>
                <a:endParaRPr lang="en-US" altLang="zh-CN" sz="2800" i="1" dirty="0" smtClean="0">
                  <a:latin typeface="楷体" panose="02010609060101010101" pitchFamily="49" charset="-122"/>
                  <a:ea typeface="楷体" panose="02010609060101010101" pitchFamily="49" charset="-122"/>
                </a:endParaRPr>
              </a:p>
              <a:p>
                <a:pPr>
                  <a:lnSpc>
                    <a:spcPts val="3500"/>
                  </a:lnSpc>
                  <a:spcBef>
                    <a:spcPts val="2400"/>
                  </a:spcBef>
                </a:pPr>
                <a:r>
                  <a:rPr lang="zh-CN" altLang="en-US" sz="2800" dirty="0" smtClean="0">
                    <a:latin typeface="楷体" panose="02010609060101010101" pitchFamily="49" charset="-122"/>
                    <a:ea typeface="楷体" panose="02010609060101010101" pitchFamily="49" charset="-122"/>
                  </a:rPr>
                  <a:t>解：（</a:t>
                </a:r>
                <a:r>
                  <a:rPr lang="en-US" altLang="zh-CN" sz="2800" dirty="0" smtClean="0">
                    <a:latin typeface="楷体" panose="02010609060101010101" pitchFamily="49" charset="-122"/>
                    <a:ea typeface="楷体" panose="02010609060101010101" pitchFamily="49" charset="-122"/>
                  </a:rPr>
                  <a:t>2</a:t>
                </a:r>
                <a:r>
                  <a:rPr lang="zh-CN" altLang="en-US" sz="2800" dirty="0" smtClean="0">
                    <a:latin typeface="楷体" panose="02010609060101010101" pitchFamily="49" charset="-122"/>
                    <a:ea typeface="楷体" panose="02010609060101010101" pitchFamily="49" charset="-122"/>
                  </a:rPr>
                  <a:t>）</a:t>
                </a:r>
                <a14:m>
                  <m:oMath xmlns:m="http://schemas.openxmlformats.org/officeDocument/2006/math">
                    <m:acc>
                      <m:accPr>
                        <m:chr m:val="̅"/>
                        <m:ctrlPr>
                          <a:rPr lang="en-US" altLang="zh-CN" sz="2800" i="1" smtClean="0">
                            <a:latin typeface="Cambria Math" panose="02040503050406030204" pitchFamily="18" charset="0"/>
                          </a:rPr>
                        </m:ctrlPr>
                      </m:accPr>
                      <m:e>
                        <m:r>
                          <a:rPr lang="en-US" altLang="zh-CN" sz="2800" i="1">
                            <a:latin typeface="Cambria Math" panose="02040503050406030204" pitchFamily="18" charset="0"/>
                          </a:rPr>
                          <m:t>𝐹</m:t>
                        </m:r>
                      </m:e>
                    </m:acc>
                  </m:oMath>
                </a14:m>
                <a:r>
                  <a:rPr lang="zh-CN" altLang="en-US" sz="2800" dirty="0" smtClean="0">
                    <a:latin typeface="楷体" panose="02010609060101010101" pitchFamily="49" charset="-122"/>
                    <a:ea typeface="楷体" panose="02010609060101010101" pitchFamily="49" charset="-122"/>
                  </a:rPr>
                  <a:t>一次</a:t>
                </a:r>
                <a:r>
                  <a:rPr lang="zh-CN" altLang="en-US" sz="2800" dirty="0">
                    <a:latin typeface="楷体" panose="02010609060101010101" pitchFamily="49" charset="-122"/>
                    <a:ea typeface="楷体" panose="02010609060101010101" pitchFamily="49" charset="-122"/>
                  </a:rPr>
                  <a:t>求反，可得</a:t>
                </a:r>
                <a:r>
                  <a:rPr lang="zh-CN" altLang="en-US" sz="2800" dirty="0" smtClean="0">
                    <a:latin typeface="楷体" panose="02010609060101010101" pitchFamily="49" charset="-122"/>
                    <a:ea typeface="楷体" panose="02010609060101010101" pitchFamily="49" charset="-122"/>
                  </a:rPr>
                  <a:t>：</a:t>
                </a:r>
                <a:endParaRPr lang="en-US" altLang="zh-CN" sz="2800" dirty="0" smtClean="0">
                  <a:latin typeface="楷体" panose="02010609060101010101" pitchFamily="49" charset="-122"/>
                  <a:ea typeface="楷体" panose="02010609060101010101" pitchFamily="49" charset="-122"/>
                </a:endParaRPr>
              </a:p>
              <a:p>
                <a:pPr marL="1081088">
                  <a:lnSpc>
                    <a:spcPts val="3500"/>
                  </a:lnSpc>
                </a:pPr>
                <a14:m>
                  <m:oMathPara xmlns:m="http://schemas.openxmlformats.org/officeDocument/2006/math">
                    <m:oMathParaPr>
                      <m:jc m:val="left"/>
                    </m:oMathParaPr>
                    <m:oMath xmlns:m="http://schemas.openxmlformats.org/officeDocument/2006/math">
                      <m:acc>
                        <m:accPr>
                          <m:chr m:val="̅"/>
                          <m:ctrlPr>
                            <a:rPr lang="en-US" altLang="zh-CN" sz="2800" i="1" smtClean="0">
                              <a:solidFill>
                                <a:schemeClr val="tx1"/>
                              </a:solidFill>
                              <a:latin typeface="Cambria Math" panose="02040503050406030204" pitchFamily="18" charset="0"/>
                            </a:rPr>
                          </m:ctrlPr>
                        </m:accPr>
                        <m:e>
                          <m:r>
                            <a:rPr lang="en-US" altLang="zh-CN" sz="2800" i="1">
                              <a:solidFill>
                                <a:schemeClr val="tx1"/>
                              </a:solidFill>
                              <a:latin typeface="Cambria Math" panose="02040503050406030204" pitchFamily="18" charset="0"/>
                            </a:rPr>
                            <m:t>𝐹</m:t>
                          </m:r>
                        </m:e>
                      </m:acc>
                      <m:r>
                        <a:rPr lang="en-US" altLang="zh-CN" sz="2800" i="1" dirty="0">
                          <a:solidFill>
                            <a:schemeClr val="tx1"/>
                          </a:solidFill>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smtClean="0">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𝐵</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𝐶</m:t>
                              </m:r>
                              <m:r>
                                <a:rPr lang="en-US" altLang="zh-CN" sz="2800" b="0" i="1" smtClean="0">
                                  <a:latin typeface="Cambria Math" panose="02040503050406030204" pitchFamily="18" charset="0"/>
                                </a:rPr>
                                <m:t> </m:t>
                              </m:r>
                            </m:e>
                          </m:acc>
                          <m:r>
                            <a:rPr lang="en-US" altLang="zh-CN" sz="2800" i="1">
                              <a:latin typeface="Cambria Math" panose="02040503050406030204" pitchFamily="18" charset="0"/>
                            </a:rPr>
                            <m:t>+</m:t>
                          </m:r>
                          <m:r>
                            <a:rPr lang="en-US" altLang="zh-CN" sz="2800" b="0" i="1" smtClean="0">
                              <a:latin typeface="Cambria Math" panose="02040503050406030204" pitchFamily="18" charset="0"/>
                            </a:rPr>
                            <m:t>𝐶</m:t>
                          </m:r>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𝐴</m:t>
                              </m:r>
                              <m:r>
                                <a:rPr lang="en-US" altLang="zh-CN" sz="2800" b="0" i="1" smtClean="0">
                                  <a:latin typeface="Cambria Math" panose="02040503050406030204" pitchFamily="18" charset="0"/>
                                </a:rPr>
                                <m:t> </m:t>
                              </m:r>
                            </m:e>
                          </m:acc>
                        </m:e>
                      </m:acc>
                    </m:oMath>
                  </m:oMathPara>
                </a14:m>
                <a:endParaRPr lang="en-US" altLang="zh-CN" sz="2800" b="0" i="1" dirty="0" smtClean="0">
                  <a:latin typeface="Cambria Math" panose="02040503050406030204" pitchFamily="18" charset="0"/>
                </a:endParaRPr>
              </a:p>
              <a:p>
                <a:pPr marL="1081088">
                  <a:lnSpc>
                    <a:spcPts val="3500"/>
                  </a:lnSpc>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e>
                      </m:acc>
                      <m:r>
                        <a:rPr lang="en-US" altLang="zh-CN" sz="2800" i="1">
                          <a:latin typeface="Cambria Math" panose="02040503050406030204" pitchFamily="18" charset="0"/>
                          <a:ea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𝐶</m:t>
                              </m:r>
                              <m:r>
                                <a:rPr lang="en-US" altLang="zh-CN" sz="2800" i="1">
                                  <a:latin typeface="Cambria Math" panose="02040503050406030204" pitchFamily="18" charset="0"/>
                                </a:rPr>
                                <m:t> </m:t>
                              </m:r>
                            </m:e>
                          </m:acc>
                        </m:e>
                      </m:acc>
                      <m:r>
                        <a:rPr lang="en-US" altLang="zh-CN" sz="2800" i="1">
                          <a:latin typeface="Cambria Math" panose="02040503050406030204" pitchFamily="18" charset="0"/>
                          <a:ea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𝐶</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r>
                                <a:rPr lang="en-US" altLang="zh-CN" sz="2800" i="1">
                                  <a:latin typeface="Cambria Math" panose="02040503050406030204" pitchFamily="18" charset="0"/>
                                </a:rPr>
                                <m:t> </m:t>
                              </m:r>
                            </m:e>
                          </m:acc>
                        </m:e>
                      </m:acc>
                    </m:oMath>
                  </m:oMathPara>
                </a14:m>
                <a:endParaRPr lang="en-US" altLang="zh-CN" sz="2800" b="0" i="1" dirty="0" smtClean="0">
                  <a:latin typeface="Cambria Math" panose="02040503050406030204" pitchFamily="18" charset="0"/>
                </a:endParaRPr>
              </a:p>
              <a:p>
                <a:pPr marL="1081088">
                  <a:lnSpc>
                    <a:spcPts val="3500"/>
                  </a:lnSpc>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𝐴</m:t>
                          </m:r>
                          <m:r>
                            <a:rPr lang="en-US" altLang="zh-CN" sz="2800" b="0" i="1" smtClean="0">
                              <a:latin typeface="Cambria Math" panose="02040503050406030204" pitchFamily="18" charset="0"/>
                            </a:rPr>
                            <m:t> </m:t>
                          </m:r>
                        </m:e>
                      </m:acc>
                      <m:r>
                        <a:rPr lang="en-US" altLang="zh-CN" sz="2800" b="0" i="1" smtClean="0">
                          <a:latin typeface="Cambria Math" panose="02040503050406030204" pitchFamily="18" charset="0"/>
                        </a:rPr>
                        <m:t>+</m:t>
                      </m:r>
                      <m:r>
                        <a:rPr lang="en-US" altLang="zh-CN" sz="2800" i="1">
                          <a:latin typeface="Cambria Math" panose="02040503050406030204" pitchFamily="18" charset="0"/>
                        </a:rPr>
                        <m:t>𝐵</m:t>
                      </m:r>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𝐵</m:t>
                          </m:r>
                        </m:e>
                      </m:acc>
                      <m:r>
                        <a:rPr lang="en-US" altLang="zh-CN" sz="2800" i="1">
                          <a:latin typeface="Cambria Math" panose="02040503050406030204" pitchFamily="18" charset="0"/>
                        </a:rPr>
                        <m:t>+</m:t>
                      </m:r>
                      <m:r>
                        <a:rPr lang="en-US" altLang="zh-CN" sz="2800" b="0" i="1" smtClean="0">
                          <a:latin typeface="Cambria Math" panose="02040503050406030204" pitchFamily="18" charset="0"/>
                        </a:rPr>
                        <m:t>𝐶</m:t>
                      </m:r>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𝐶</m:t>
                          </m:r>
                        </m:e>
                      </m:acc>
                      <m:r>
                        <a:rPr lang="en-US" altLang="zh-CN" sz="2800" i="1">
                          <a:latin typeface="Cambria Math" panose="02040503050406030204" pitchFamily="18" charset="0"/>
                        </a:rPr>
                        <m:t>+</m:t>
                      </m:r>
                      <m:r>
                        <a:rPr lang="en-US" altLang="zh-CN" sz="2800" b="0" i="1" smtClean="0">
                          <a:latin typeface="Cambria Math" panose="02040503050406030204" pitchFamily="18" charset="0"/>
                        </a:rPr>
                        <m:t>𝐴</m:t>
                      </m:r>
                      <m:r>
                        <a:rPr lang="en-US" altLang="zh-CN" sz="2800" i="1">
                          <a:latin typeface="Cambria Math" panose="02040503050406030204" pitchFamily="18" charset="0"/>
                        </a:rPr>
                        <m:t>)</m:t>
                      </m:r>
                    </m:oMath>
                  </m:oMathPara>
                </a14:m>
                <a:endParaRPr lang="en-US" altLang="zh-CN" sz="2800" b="0" i="1" dirty="0" smtClean="0">
                  <a:latin typeface="Cambria Math" panose="02040503050406030204" pitchFamily="18" charset="0"/>
                </a:endParaRPr>
              </a:p>
              <a:p>
                <a:pPr marL="1081088">
                  <a:lnSpc>
                    <a:spcPts val="3500"/>
                  </a:lnSpc>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r>
                            <a:rPr lang="en-US" altLang="zh-CN" sz="2800" b="0" i="1" smtClean="0">
                              <a:latin typeface="Cambria Math" panose="02040503050406030204" pitchFamily="18" charset="0"/>
                            </a:rPr>
                            <m:t> </m:t>
                          </m:r>
                        </m:e>
                      </m:acc>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𝐵</m:t>
                          </m:r>
                          <m:r>
                            <a:rPr lang="en-US" altLang="zh-CN" sz="2800" b="0" i="1" smtClean="0">
                              <a:latin typeface="Cambria Math" panose="02040503050406030204" pitchFamily="18" charset="0"/>
                            </a:rPr>
                            <m:t> </m:t>
                          </m:r>
                        </m:e>
                      </m:acc>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𝐶</m:t>
                          </m:r>
                          <m:r>
                            <a:rPr lang="en-US" altLang="zh-CN" sz="2800" b="0" i="1" smtClean="0">
                              <a:latin typeface="Cambria Math" panose="02040503050406030204" pitchFamily="18" charset="0"/>
                            </a:rPr>
                            <m:t> </m:t>
                          </m:r>
                        </m:e>
                      </m:acc>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𝐴𝐵𝐶</m:t>
                      </m:r>
                    </m:oMath>
                  </m:oMathPara>
                </a14:m>
                <a:endParaRPr lang="en-US" altLang="zh-CN" sz="2800" i="1" dirty="0" smtClean="0">
                  <a:latin typeface="楷体" panose="02010609060101010101" pitchFamily="49" charset="-122"/>
                  <a:ea typeface="楷体" panose="02010609060101010101" pitchFamily="49" charset="-122"/>
                </a:endParaRPr>
              </a:p>
              <a:p>
                <a:pPr marL="1081088">
                  <a:lnSpc>
                    <a:spcPts val="3500"/>
                  </a:lnSpc>
                </a:pPr>
                <a:endParaRPr lang="en-US" altLang="zh-CN" sz="2800" i="1" dirty="0">
                  <a:latin typeface="楷体" panose="02010609060101010101" pitchFamily="49" charset="-122"/>
                  <a:ea typeface="楷体" panose="02010609060101010101" pitchFamily="49" charset="-122"/>
                </a:endParaRPr>
              </a:p>
              <a:p>
                <a:pPr marL="1081088">
                  <a:lnSpc>
                    <a:spcPts val="3500"/>
                  </a:lnSpc>
                </a:pPr>
                <a14:m>
                  <m:oMath xmlns:m="http://schemas.openxmlformats.org/officeDocument/2006/math">
                    <m:r>
                      <a:rPr lang="en-US" altLang="zh-CN" sz="2800" b="0" i="1" smtClean="0">
                        <a:solidFill>
                          <a:schemeClr val="tx1"/>
                        </a:solidFill>
                        <a:latin typeface="Cambria Math" panose="02040503050406030204" pitchFamily="18" charset="0"/>
                      </a:rPr>
                      <m:t>𝐹</m:t>
                    </m:r>
                    <m:r>
                      <a:rPr lang="en-US" altLang="zh-CN" sz="2800" b="0" i="1" smtClean="0">
                        <a:solidFill>
                          <a:schemeClr val="tx1"/>
                        </a:solidFill>
                        <a:latin typeface="Cambria Math" panose="02040503050406030204" pitchFamily="18" charset="0"/>
                      </a:rPr>
                      <m:t>=</m:t>
                    </m:r>
                    <m:acc>
                      <m:accPr>
                        <m:chr m:val="̅"/>
                        <m:ctrlPr>
                          <a:rPr lang="en-US" altLang="zh-CN" sz="2800" i="1" smtClean="0">
                            <a:solidFill>
                              <a:schemeClr val="tx1"/>
                            </a:solidFill>
                            <a:latin typeface="Cambria Math" panose="02040503050406030204" pitchFamily="18" charset="0"/>
                          </a:rPr>
                        </m:ctrlPr>
                      </m:accPr>
                      <m:e>
                        <m:acc>
                          <m:accPr>
                            <m:chr m:val="̅"/>
                            <m:ctrlPr>
                              <a:rPr lang="en-US" altLang="zh-CN" sz="2800" i="1">
                                <a:solidFill>
                                  <a:schemeClr val="tx1"/>
                                </a:solidFill>
                                <a:latin typeface="Cambria Math" panose="02040503050406030204" pitchFamily="18" charset="0"/>
                              </a:rPr>
                            </m:ctrlPr>
                          </m:accPr>
                          <m:e>
                            <m:r>
                              <a:rPr lang="en-US" altLang="zh-CN" sz="2800" i="1">
                                <a:solidFill>
                                  <a:schemeClr val="tx1"/>
                                </a:solidFill>
                                <a:latin typeface="Cambria Math" panose="02040503050406030204" pitchFamily="18" charset="0"/>
                              </a:rPr>
                              <m:t>𝐹</m:t>
                            </m:r>
                          </m:e>
                        </m:acc>
                      </m:e>
                    </m:acc>
                    <m:r>
                      <a:rPr lang="en-US" altLang="zh-CN" sz="2800" b="0" i="1" smtClean="0">
                        <a:solidFill>
                          <a:schemeClr val="tx1"/>
                        </a:solidFill>
                        <a:latin typeface="Cambria Math" panose="02040503050406030204" pitchFamily="18" charset="0"/>
                      </a:rPr>
                      <m:t>=</m:t>
                    </m:r>
                  </m:oMath>
                </a14:m>
                <a:r>
                  <a:rPr lang="en-US" altLang="zh-CN" sz="2800" dirty="0" smtClean="0">
                    <a:latin typeface="楷体" panose="02010609060101010101" pitchFamily="49" charset="-122"/>
                    <a:ea typeface="楷体" panose="02010609060101010101" pitchFamily="49" charset="-122"/>
                  </a:rPr>
                  <a:t> </a:t>
                </a:r>
                <a14:m>
                  <m:oMath xmlns:m="http://schemas.openxmlformats.org/officeDocument/2006/math">
                    <m:acc>
                      <m:accPr>
                        <m:chr m:val="̅"/>
                        <m:ctrlPr>
                          <a:rPr lang="en-US" altLang="zh-CN" sz="2800" i="1">
                            <a:latin typeface="Cambria Math" panose="02040503050406030204" pitchFamily="18" charset="0"/>
                          </a:rPr>
                        </m:ctrlPr>
                      </m:accPr>
                      <m:e>
                        <m:acc>
                          <m:accPr>
                            <m:chr m:val="̅"/>
                            <m:ctrlPr>
                              <a:rPr lang="en-US" altLang="zh-CN" sz="2800" i="1">
                                <a:latin typeface="Cambria Math" panose="02040503050406030204" pitchFamily="18" charset="0"/>
                              </a:rPr>
                            </m:ctrlPr>
                          </m:accPr>
                          <m:e>
                            <m:r>
                              <m:rPr>
                                <m:sty m:val="p"/>
                              </m:rPr>
                              <a:rPr lang="en-US" altLang="zh-CN" sz="2800" i="1">
                                <a:latin typeface="Cambria Math" panose="02040503050406030204" pitchFamily="18" charset="0"/>
                              </a:rPr>
                              <m:t>A</m:t>
                            </m:r>
                          </m:e>
                        </m:acc>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r>
                              <a:rPr lang="en-US" altLang="zh-CN" sz="2800" b="0" i="1" smtClean="0">
                                <a:latin typeface="Cambria Math" panose="02040503050406030204" pitchFamily="18" charset="0"/>
                              </a:rPr>
                              <m:t> </m:t>
                            </m:r>
                          </m:e>
                        </m:acc>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𝐶</m:t>
                            </m:r>
                            <m:r>
                              <a:rPr lang="en-US" altLang="zh-CN" sz="2800" b="0" i="1" smtClean="0">
                                <a:latin typeface="Cambria Math" panose="02040503050406030204" pitchFamily="18" charset="0"/>
                              </a:rPr>
                              <m:t> </m:t>
                            </m:r>
                          </m:e>
                        </m:acc>
                        <m:r>
                          <a:rPr lang="en-US" altLang="zh-CN" sz="2800" i="1">
                            <a:latin typeface="Cambria Math" panose="02040503050406030204" pitchFamily="18" charset="0"/>
                          </a:rPr>
                          <m:t>+</m:t>
                        </m:r>
                        <m:r>
                          <a:rPr lang="en-US" altLang="zh-CN" sz="2800" b="0" i="1" smtClean="0">
                            <a:latin typeface="Cambria Math" panose="02040503050406030204" pitchFamily="18" charset="0"/>
                          </a:rPr>
                          <m:t>𝐴𝐵𝐶</m:t>
                        </m:r>
                      </m:e>
                    </m:acc>
                  </m:oMath>
                </a14:m>
                <a:endParaRPr lang="en-US" altLang="zh-CN" sz="2800" dirty="0" smtClean="0">
                  <a:latin typeface="楷体" panose="02010609060101010101" pitchFamily="49" charset="-122"/>
                  <a:ea typeface="楷体" panose="02010609060101010101" pitchFamily="49" charset="-122"/>
                </a:endParaRPr>
              </a:p>
              <a:p>
                <a:pPr marL="1081088">
                  <a:lnSpc>
                    <a:spcPts val="3500"/>
                  </a:lnSpc>
                  <a:spcBef>
                    <a:spcPts val="2400"/>
                  </a:spcBef>
                </a:pPr>
                <a:r>
                  <a:rPr lang="zh-CN" altLang="en-US" sz="2800" dirty="0" smtClean="0">
                    <a:latin typeface="楷体" panose="02010609060101010101" pitchFamily="49" charset="-122"/>
                    <a:ea typeface="楷体" panose="02010609060101010101" pitchFamily="49" charset="-122"/>
                  </a:rPr>
                  <a:t>该</a:t>
                </a:r>
                <a:r>
                  <a:rPr lang="zh-CN" altLang="en-US" sz="2800" dirty="0">
                    <a:latin typeface="楷体" panose="02010609060101010101" pitchFamily="49" charset="-122"/>
                    <a:ea typeface="楷体" panose="02010609060101010101" pitchFamily="49" charset="-122"/>
                  </a:rPr>
                  <a:t>式画出的逻辑图示于图</a:t>
                </a:r>
                <a:r>
                  <a:rPr lang="en-US" altLang="zh-CN" sz="2800" dirty="0" smtClean="0">
                    <a:latin typeface="楷体" panose="02010609060101010101" pitchFamily="49" charset="-122"/>
                    <a:ea typeface="楷体" panose="02010609060101010101" pitchFamily="49" charset="-122"/>
                  </a:rPr>
                  <a:t>2.18(b)</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nSpc>
                    <a:spcPts val="3500"/>
                  </a:lnSpc>
                </a:pPr>
                <a:endParaRPr lang="zh-CN" altLang="en-US"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420543" y="895927"/>
                <a:ext cx="8302914" cy="5350183"/>
              </a:xfrm>
              <a:prstGeom prst="rect">
                <a:avLst/>
              </a:prstGeom>
              <a:blipFill>
                <a:blip r:embed="rId2"/>
                <a:stretch>
                  <a:fillRect l="-1542" t="-1822"/>
                </a:stretch>
              </a:blipFill>
            </p:spPr>
            <p:txBody>
              <a:bodyPr/>
              <a:lstStyle/>
              <a:p>
                <a:r>
                  <a:rPr lang="zh-CN" altLang="en-US">
                    <a:noFill/>
                  </a:rPr>
                  <a:t> </a:t>
                </a:r>
              </a:p>
            </p:txBody>
          </p:sp>
        </mc:Fallback>
      </mc:AlternateContent>
      <p:sp>
        <p:nvSpPr>
          <p:cNvPr id="6" name="矩形 5"/>
          <p:cNvSpPr/>
          <p:nvPr/>
        </p:nvSpPr>
        <p:spPr>
          <a:xfrm>
            <a:off x="1122052" y="5769056"/>
            <a:ext cx="7042316" cy="954107"/>
          </a:xfrm>
          <a:prstGeom prst="rect">
            <a:avLst/>
          </a:prstGeom>
        </p:spPr>
        <p:txBody>
          <a:bodyPr wrap="square">
            <a:spAutoFit/>
          </a:bodyPr>
          <a:lstStyle/>
          <a:p>
            <a:r>
              <a:rPr lang="zh-CN" altLang="en-US" sz="2800" dirty="0">
                <a:latin typeface="楷体" panose="02010609060101010101" pitchFamily="49" charset="-122"/>
                <a:ea typeface="楷体" panose="02010609060101010101" pitchFamily="49" charset="-122"/>
              </a:rPr>
              <a:t>比较可知，第二种方法所得之结果速度快，信号传输只经过两级门。</a:t>
            </a:r>
          </a:p>
        </p:txBody>
      </p:sp>
    </p:spTree>
    <p:extLst>
      <p:ext uri="{BB962C8B-B14F-4D97-AF65-F5344CB8AC3E}">
        <p14:creationId xmlns:p14="http://schemas.microsoft.com/office/powerpoint/2010/main" val="342350657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362362" y="981564"/>
            <a:ext cx="6377709" cy="1438855"/>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随着中大规模集成电路和可编程逻辑器件的出现和成本的降低，追求最少门数将</a:t>
            </a:r>
            <a:r>
              <a:rPr lang="zh-CN" altLang="en-US" sz="2400" dirty="0" smtClean="0">
                <a:latin typeface="楷体" panose="02010609060101010101" pitchFamily="49" charset="-122"/>
                <a:ea typeface="楷体" panose="02010609060101010101" pitchFamily="49" charset="-122"/>
              </a:rPr>
              <a:t>不再成为</a:t>
            </a:r>
            <a:r>
              <a:rPr lang="zh-CN" altLang="en-US" sz="2400" dirty="0">
                <a:latin typeface="楷体" panose="02010609060101010101" pitchFamily="49" charset="-122"/>
                <a:ea typeface="楷体" panose="02010609060101010101" pitchFamily="49" charset="-122"/>
              </a:rPr>
              <a:t>最优设计指标，而转为追求集成块数的减少。</a:t>
            </a:r>
          </a:p>
        </p:txBody>
      </p:sp>
    </p:spTree>
    <p:extLst>
      <p:ext uri="{BB962C8B-B14F-4D97-AF65-F5344CB8AC3E}">
        <p14:creationId xmlns:p14="http://schemas.microsoft.com/office/powerpoint/2010/main" val="26286166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2.4 </a:t>
            </a:r>
            <a:r>
              <a:rPr lang="en-US" altLang="zh-CN" dirty="0" err="1">
                <a:latin typeface="楷体" panose="02010609060101010101" pitchFamily="49" charset="-122"/>
                <a:ea typeface="楷体" panose="02010609060101010101" pitchFamily="49" charset="-122"/>
              </a:rPr>
              <a:t>数据选择器与分配器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237673"/>
            <a:ext cx="7886700" cy="4939290"/>
          </a:xfrm>
        </p:spPr>
        <p:txBody>
          <a:bodyPr>
            <a:normAutofit/>
          </a:bodyPr>
          <a:lstStyle/>
          <a:p>
            <a:pPr>
              <a:lnSpc>
                <a:spcPts val="3500"/>
              </a:lnSpc>
            </a:pPr>
            <a:r>
              <a:rPr lang="en-US" altLang="zh-CN" dirty="0" err="1" smtClean="0">
                <a:latin typeface="楷体" panose="02010609060101010101" pitchFamily="49" charset="-122"/>
                <a:ea typeface="楷体" panose="02010609060101010101" pitchFamily="49" charset="-122"/>
              </a:rPr>
              <a:t>数据选择器</a:t>
            </a:r>
            <a:endParaRPr lang="en-US" altLang="zh-CN" dirty="0" smtClean="0">
              <a:latin typeface="楷体" panose="02010609060101010101" pitchFamily="49" charset="-122"/>
              <a:ea typeface="楷体" panose="02010609060101010101" pitchFamily="49" charset="-122"/>
            </a:endParaRPr>
          </a:p>
          <a:p>
            <a:pPr lvl="1">
              <a:lnSpc>
                <a:spcPts val="3500"/>
              </a:lnSpc>
            </a:pPr>
            <a:r>
              <a:rPr lang="en-US" altLang="zh-CN" sz="2800" dirty="0" err="1">
                <a:solidFill>
                  <a:schemeClr val="accent1"/>
                </a:solidFill>
                <a:latin typeface="楷体" panose="02010609060101010101" pitchFamily="49" charset="-122"/>
                <a:ea typeface="楷体" panose="02010609060101010101" pitchFamily="49" charset="-122"/>
              </a:rPr>
              <a:t>数据选择器</a:t>
            </a:r>
            <a:r>
              <a:rPr lang="en-US" altLang="zh-CN" sz="2800" dirty="0">
                <a:solidFill>
                  <a:schemeClr val="accent1"/>
                </a:solidFill>
                <a:latin typeface="楷体" panose="02010609060101010101" pitchFamily="49" charset="-122"/>
                <a:ea typeface="楷体" panose="02010609060101010101" pitchFamily="49" charset="-122"/>
              </a:rPr>
              <a:t>(MUX</a:t>
            </a:r>
            <a:r>
              <a:rPr lang="en-US" altLang="zh-CN" sz="2800" dirty="0" smtClean="0">
                <a:solidFill>
                  <a:schemeClr val="accent1"/>
                </a:solidFill>
                <a:latin typeface="楷体" panose="02010609060101010101" pitchFamily="49" charset="-122"/>
                <a:ea typeface="楷体" panose="02010609060101010101" pitchFamily="49" charset="-122"/>
              </a:rPr>
              <a:t>):</a:t>
            </a:r>
            <a:r>
              <a:rPr lang="en-US" altLang="zh-CN" sz="2800" dirty="0" err="1" smtClean="0">
                <a:latin typeface="楷体" panose="02010609060101010101" pitchFamily="49" charset="-122"/>
                <a:ea typeface="楷体" panose="02010609060101010101" pitchFamily="49" charset="-122"/>
              </a:rPr>
              <a:t>又称</a:t>
            </a:r>
            <a:r>
              <a:rPr lang="zh-CN" altLang="en-US" sz="2800" dirty="0" smtClean="0">
                <a:latin typeface="楷体" panose="02010609060101010101" pitchFamily="49" charset="-122"/>
                <a:ea typeface="楷体" panose="02010609060101010101" pitchFamily="49" charset="-122"/>
              </a:rPr>
              <a:t>为</a:t>
            </a:r>
            <a:r>
              <a:rPr lang="en-US" altLang="zh-CN" sz="2800" dirty="0" err="1" smtClean="0">
                <a:solidFill>
                  <a:schemeClr val="accent1"/>
                </a:solidFill>
                <a:latin typeface="楷体" panose="02010609060101010101" pitchFamily="49" charset="-122"/>
                <a:ea typeface="楷体" panose="02010609060101010101" pitchFamily="49" charset="-122"/>
              </a:rPr>
              <a:t>多路转换器</a:t>
            </a:r>
            <a:r>
              <a:rPr lang="en-US" altLang="zh-CN" sz="2800" dirty="0" err="1" smtClean="0">
                <a:latin typeface="楷体" panose="02010609060101010101" pitchFamily="49" charset="-122"/>
                <a:ea typeface="楷体" panose="02010609060101010101" pitchFamily="49" charset="-122"/>
              </a:rPr>
              <a:t>或</a:t>
            </a:r>
            <a:r>
              <a:rPr lang="en-US" altLang="zh-CN" sz="2800" dirty="0" err="1" smtClean="0">
                <a:solidFill>
                  <a:schemeClr val="accent1"/>
                </a:solidFill>
                <a:latin typeface="楷体" panose="02010609060101010101" pitchFamily="49" charset="-122"/>
                <a:ea typeface="楷体" panose="02010609060101010101" pitchFamily="49" charset="-122"/>
              </a:rPr>
              <a:t>多路开关</a:t>
            </a:r>
            <a:r>
              <a:rPr lang="en-US" altLang="zh-CN" sz="2800" dirty="0" err="1" smtClean="0">
                <a:latin typeface="楷体" panose="02010609060101010101" pitchFamily="49" charset="-122"/>
                <a:ea typeface="楷体" panose="02010609060101010101" pitchFamily="49" charset="-122"/>
              </a:rPr>
              <a:t>，是一种</a:t>
            </a:r>
            <a:r>
              <a:rPr lang="en-US" altLang="zh-CN" sz="2800" b="1" dirty="0" err="1" smtClean="0">
                <a:latin typeface="楷体" panose="02010609060101010101" pitchFamily="49" charset="-122"/>
                <a:ea typeface="楷体" panose="02010609060101010101" pitchFamily="49" charset="-122"/>
              </a:rPr>
              <a:t>多路输入</a:t>
            </a:r>
            <a:r>
              <a:rPr lang="en-US" altLang="zh-CN" sz="2800" dirty="0" err="1">
                <a:latin typeface="楷体" panose="02010609060101010101" pitchFamily="49" charset="-122"/>
                <a:ea typeface="楷体" panose="02010609060101010101" pitchFamily="49" charset="-122"/>
              </a:rPr>
              <a:t>、</a:t>
            </a:r>
            <a:r>
              <a:rPr lang="en-US" altLang="zh-CN" sz="2800" b="1" dirty="0" err="1" smtClean="0">
                <a:latin typeface="楷体" panose="02010609060101010101" pitchFamily="49" charset="-122"/>
                <a:ea typeface="楷体" panose="02010609060101010101" pitchFamily="49" charset="-122"/>
              </a:rPr>
              <a:t>单路输出</a:t>
            </a:r>
            <a:r>
              <a:rPr lang="en-US" altLang="zh-CN" sz="2800" dirty="0" err="1" smtClean="0">
                <a:latin typeface="楷体" panose="02010609060101010101" pitchFamily="49" charset="-122"/>
                <a:ea typeface="楷体" panose="02010609060101010101" pitchFamily="49" charset="-122"/>
              </a:rPr>
              <a:t>的标准</a:t>
            </a:r>
            <a:r>
              <a:rPr lang="zh-CN" altLang="en-US" sz="2800" dirty="0">
                <a:latin typeface="楷体" panose="02010609060101010101" pitchFamily="49" charset="-122"/>
                <a:ea typeface="楷体" panose="02010609060101010101" pitchFamily="49" charset="-122"/>
              </a:rPr>
              <a:t>化逻辑构件</a:t>
            </a:r>
            <a:r>
              <a:rPr lang="zh-CN" altLang="en-US" sz="2800" dirty="0" smtClean="0">
                <a:latin typeface="楷体" panose="02010609060101010101" pitchFamily="49" charset="-122"/>
                <a:ea typeface="楷体" panose="02010609060101010101" pitchFamily="49" charset="-122"/>
              </a:rPr>
              <a:t>。</a:t>
            </a:r>
            <a:endParaRPr lang="en-US" altLang="zh-CN" sz="2800" dirty="0" smtClean="0">
              <a:latin typeface="楷体" panose="02010609060101010101" pitchFamily="49" charset="-122"/>
              <a:ea typeface="楷体" panose="02010609060101010101" pitchFamily="49" charset="-122"/>
            </a:endParaRPr>
          </a:p>
          <a:p>
            <a:pPr lvl="1">
              <a:lnSpc>
                <a:spcPts val="3500"/>
              </a:lnSpc>
            </a:pPr>
            <a:r>
              <a:rPr lang="zh-CN" altLang="en-US" sz="2800" b="1" dirty="0" smtClean="0">
                <a:latin typeface="楷体" panose="02010609060101010101" pitchFamily="49" charset="-122"/>
                <a:ea typeface="楷体" panose="02010609060101010101" pitchFamily="49" charset="-122"/>
              </a:rPr>
              <a:t>其</a:t>
            </a:r>
            <a:r>
              <a:rPr lang="zh-CN" altLang="en-US" sz="2800" b="1" dirty="0">
                <a:latin typeface="楷体" panose="02010609060101010101" pitchFamily="49" charset="-122"/>
                <a:ea typeface="楷体" panose="02010609060101010101" pitchFamily="49" charset="-122"/>
              </a:rPr>
              <a:t>输出等于哪一路输入，取决于控制信号</a:t>
            </a:r>
            <a:r>
              <a:rPr lang="zh-CN" altLang="en-US" sz="2800" b="1" dirty="0" smtClean="0">
                <a:latin typeface="楷体" panose="02010609060101010101" pitchFamily="49" charset="-122"/>
                <a:ea typeface="楷体" panose="02010609060101010101" pitchFamily="49" charset="-122"/>
              </a:rPr>
              <a:t>。</a:t>
            </a:r>
            <a:endParaRPr lang="en-US" altLang="zh-CN" sz="2800" b="1" dirty="0" smtClean="0">
              <a:latin typeface="楷体" panose="02010609060101010101" pitchFamily="49" charset="-122"/>
              <a:ea typeface="楷体" panose="02010609060101010101" pitchFamily="49" charset="-122"/>
            </a:endParaRPr>
          </a:p>
          <a:p>
            <a:pPr lvl="1">
              <a:lnSpc>
                <a:spcPts val="3500"/>
              </a:lnSpc>
            </a:pPr>
            <a:r>
              <a:rPr lang="en-US" altLang="zh-CN" sz="2800" dirty="0" smtClean="0">
                <a:latin typeface="楷体" panose="02010609060101010101" pitchFamily="49" charset="-122"/>
                <a:ea typeface="楷体" panose="02010609060101010101" pitchFamily="49" charset="-122"/>
              </a:rPr>
              <a:t>MUX</a:t>
            </a:r>
            <a:r>
              <a:rPr lang="zh-CN" altLang="en-US" sz="2800" dirty="0" smtClean="0">
                <a:latin typeface="楷体" panose="02010609060101010101" pitchFamily="49" charset="-122"/>
                <a:ea typeface="楷体" panose="02010609060101010101" pitchFamily="49" charset="-122"/>
              </a:rPr>
              <a:t>通常</a:t>
            </a:r>
            <a:r>
              <a:rPr lang="zh-CN" altLang="en-US" sz="2800" dirty="0">
                <a:latin typeface="楷体" panose="02010609060101010101" pitchFamily="49" charset="-122"/>
                <a:ea typeface="楷体" panose="02010609060101010101" pitchFamily="49" charset="-122"/>
              </a:rPr>
              <a:t>有二选一、四选</a:t>
            </a:r>
            <a:r>
              <a:rPr lang="zh-CN" altLang="en-US" sz="2800" dirty="0" smtClean="0">
                <a:latin typeface="楷体" panose="02010609060101010101" pitchFamily="49" charset="-122"/>
                <a:ea typeface="楷体" panose="02010609060101010101" pitchFamily="49" charset="-122"/>
              </a:rPr>
              <a:t>一、八选</a:t>
            </a:r>
            <a:r>
              <a:rPr lang="zh-CN" altLang="en-US" sz="2800" dirty="0">
                <a:latin typeface="楷体" panose="02010609060101010101" pitchFamily="49" charset="-122"/>
                <a:ea typeface="楷体" panose="02010609060101010101" pitchFamily="49" charset="-122"/>
              </a:rPr>
              <a:t>一、十六选一等多种。</a:t>
            </a:r>
            <a:endParaRPr lang="en-US" altLang="zh-CN" sz="2800"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2789025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2.4 </a:t>
            </a:r>
            <a:r>
              <a:rPr lang="en-US" altLang="zh-CN" dirty="0" err="1">
                <a:latin typeface="楷体" panose="02010609060101010101" pitchFamily="49" charset="-122"/>
                <a:ea typeface="楷体" panose="02010609060101010101" pitchFamily="49" charset="-122"/>
              </a:rPr>
              <a:t>数据选择器与分配器</a:t>
            </a:r>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647961" y="1533565"/>
            <a:ext cx="8148382" cy="4312063"/>
          </a:xfrm>
          <a:prstGeom prst="rect">
            <a:avLst/>
          </a:prstGeom>
        </p:spPr>
      </p:pic>
    </p:spTree>
    <p:extLst>
      <p:ext uri="{BB962C8B-B14F-4D97-AF65-F5344CB8AC3E}">
        <p14:creationId xmlns:p14="http://schemas.microsoft.com/office/powerpoint/2010/main" val="6554063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2.4 </a:t>
            </a:r>
            <a:r>
              <a:rPr lang="en-US" altLang="zh-CN" dirty="0" err="1">
                <a:latin typeface="楷体" panose="02010609060101010101" pitchFamily="49" charset="-122"/>
                <a:ea typeface="楷体" panose="02010609060101010101" pitchFamily="49" charset="-122"/>
              </a:rPr>
              <a:t>数据选择器与分配器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4332039"/>
            <a:ext cx="7886700" cy="2500890"/>
          </a:xfrm>
        </p:spPr>
        <p:txBody>
          <a:bodyPr/>
          <a:lstStyle/>
          <a:p>
            <a:pPr>
              <a:lnSpc>
                <a:spcPts val="3500"/>
              </a:lnSpc>
            </a:pPr>
            <a:r>
              <a:rPr lang="en-US" altLang="zh-CN" dirty="0" err="1" smtClean="0">
                <a:latin typeface="楷体" panose="02010609060101010101" pitchFamily="49" charset="-122"/>
                <a:ea typeface="楷体" panose="02010609060101010101" pitchFamily="49" charset="-122"/>
              </a:rPr>
              <a:t>数据选择器</a:t>
            </a:r>
            <a:endParaRPr lang="en-US" altLang="zh-CN" dirty="0" smtClean="0">
              <a:latin typeface="楷体" panose="02010609060101010101" pitchFamily="49" charset="-122"/>
              <a:ea typeface="楷体" panose="02010609060101010101" pitchFamily="49" charset="-122"/>
            </a:endParaRPr>
          </a:p>
          <a:p>
            <a:pPr lvl="1">
              <a:lnSpc>
                <a:spcPts val="3500"/>
              </a:lnSpc>
            </a:pPr>
            <a:r>
              <a:rPr lang="en-US" altLang="zh-CN" dirty="0">
                <a:latin typeface="楷体" panose="02010609060101010101" pitchFamily="49" charset="-122"/>
                <a:ea typeface="楷体" panose="02010609060101010101" pitchFamily="49" charset="-122"/>
              </a:rPr>
              <a:t>图2.19示出</a:t>
            </a:r>
            <a:r>
              <a:rPr lang="en-US" altLang="zh-CN" dirty="0" smtClean="0">
                <a:latin typeface="楷体" panose="02010609060101010101" pitchFamily="49" charset="-122"/>
                <a:ea typeface="楷体" panose="02010609060101010101" pitchFamily="49" charset="-122"/>
              </a:rPr>
              <a:t>74LS153四选一多路选择器的功能框图</a:t>
            </a:r>
            <a:r>
              <a:rPr lang="en-US" altLang="zh-CN" dirty="0">
                <a:latin typeface="楷体" panose="02010609060101010101" pitchFamily="49" charset="-122"/>
                <a:ea typeface="楷体" panose="02010609060101010101" pitchFamily="49" charset="-122"/>
              </a:rPr>
              <a:t>(a) </a:t>
            </a:r>
            <a:r>
              <a:rPr lang="en-US" altLang="zh-CN" dirty="0" err="1" smtClean="0">
                <a:latin typeface="楷体" panose="02010609060101010101" pitchFamily="49" charset="-122"/>
                <a:ea typeface="楷体" panose="02010609060101010101" pitchFamily="49" charset="-122"/>
              </a:rPr>
              <a:t>与逻辑图</a:t>
            </a:r>
            <a:r>
              <a:rPr lang="en-US" altLang="zh-CN" dirty="0" smtClean="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b) </a:t>
            </a:r>
            <a:r>
              <a:rPr lang="en-US" altLang="zh-CN" dirty="0" smtClean="0">
                <a:latin typeface="楷体" panose="02010609060101010101" pitchFamily="49" charset="-122"/>
                <a:ea typeface="楷体" panose="02010609060101010101" pitchFamily="49" charset="-122"/>
              </a:rPr>
              <a:t>。</a:t>
            </a:r>
          </a:p>
          <a:p>
            <a:pPr lvl="1">
              <a:lnSpc>
                <a:spcPts val="3500"/>
              </a:lnSpc>
            </a:pPr>
            <a:r>
              <a:rPr lang="en-US" altLang="zh-CN" dirty="0" smtClean="0">
                <a:latin typeface="楷体" panose="02010609060101010101" pitchFamily="49" charset="-122"/>
                <a:ea typeface="楷体" panose="02010609060101010101" pitchFamily="49" charset="-122"/>
              </a:rPr>
              <a:t>逻辑功能如表</a:t>
            </a:r>
            <a:r>
              <a:rPr lang="en-US" altLang="zh-CN" dirty="0">
                <a:latin typeface="楷体" panose="02010609060101010101" pitchFamily="49" charset="-122"/>
                <a:ea typeface="楷体" panose="02010609060101010101" pitchFamily="49" charset="-122"/>
              </a:rPr>
              <a:t>2.5所示。表中符号×为任意状态，1为高电平，0为低电平。</a:t>
            </a:r>
            <a:endParaRPr lang="en-US" altLang="zh-CN" dirty="0" smtClean="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stretch>
            <a:fillRect/>
          </a:stretch>
        </p:blipFill>
        <p:spPr>
          <a:xfrm>
            <a:off x="1771445" y="1091397"/>
            <a:ext cx="5601110" cy="3240642"/>
          </a:xfrm>
          <a:prstGeom prst="rect">
            <a:avLst/>
          </a:prstGeom>
        </p:spPr>
      </p:pic>
    </p:spTree>
    <p:extLst>
      <p:ext uri="{BB962C8B-B14F-4D97-AF65-F5344CB8AC3E}">
        <p14:creationId xmlns:p14="http://schemas.microsoft.com/office/powerpoint/2010/main" val="55226063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2.4 </a:t>
            </a:r>
            <a:r>
              <a:rPr lang="en-US" altLang="zh-CN" dirty="0" err="1">
                <a:latin typeface="楷体" panose="02010609060101010101" pitchFamily="49" charset="-122"/>
                <a:ea typeface="楷体" panose="02010609060101010101" pitchFamily="49" charset="-122"/>
              </a:rPr>
              <a:t>数据选择器与分配器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237673"/>
            <a:ext cx="7886700" cy="2835563"/>
          </a:xfrm>
        </p:spPr>
        <p:txBody>
          <a:bodyPr/>
          <a:lstStyle/>
          <a:p>
            <a:r>
              <a:rPr lang="en-US" altLang="zh-CN" dirty="0" err="1" smtClean="0">
                <a:latin typeface="楷体" panose="02010609060101010101" pitchFamily="49" charset="-122"/>
                <a:ea typeface="楷体" panose="02010609060101010101" pitchFamily="49" charset="-122"/>
              </a:rPr>
              <a:t>数据选择器</a:t>
            </a:r>
            <a:endParaRPr lang="en-US" altLang="zh-CN" dirty="0" smtClean="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861319" y="2107973"/>
                <a:ext cx="8032968" cy="2238946"/>
              </a:xfrm>
              <a:prstGeom prst="rect">
                <a:avLst/>
              </a:prstGeom>
            </p:spPr>
            <p:txBody>
              <a:bodyPr wrap="none">
                <a:spAutoFit/>
              </a:bodyPr>
              <a:lstStyle/>
              <a:p>
                <a:pPr>
                  <a:lnSpc>
                    <a:spcPct val="150000"/>
                  </a:lnSpc>
                </a:pPr>
                <a:r>
                  <a:rPr lang="en-US" altLang="zh-CN" sz="2400" dirty="0" smtClean="0">
                    <a:latin typeface="楷体" panose="02010609060101010101" pitchFamily="49" charset="-122"/>
                    <a:ea typeface="楷体" panose="02010609060101010101" pitchFamily="49" charset="-122"/>
                  </a:rPr>
                  <a:t>由图2.19,可列出4路数据选择器的输出函数表达式如下:</a:t>
                </a:r>
              </a:p>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𝑌</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𝑆</m:t>
                          </m:r>
                          <m:r>
                            <a:rPr lang="en-US" altLang="zh-CN" sz="2400" b="0" i="1" baseline="-25000" smtClean="0">
                              <a:latin typeface="Cambria Math" panose="02040503050406030204" pitchFamily="18" charset="0"/>
                            </a:rPr>
                            <m:t>1</m:t>
                          </m:r>
                        </m:e>
                      </m:acc>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𝑆</m:t>
                          </m:r>
                          <m:r>
                            <a:rPr lang="en-US" altLang="zh-CN" sz="2400" b="0" i="1" baseline="-25000" smtClean="0">
                              <a:latin typeface="Cambria Math" panose="02040503050406030204" pitchFamily="18" charset="0"/>
                            </a:rPr>
                            <m:t>0</m:t>
                          </m:r>
                        </m:e>
                      </m:acc>
                      <m:r>
                        <a:rPr lang="en-US" altLang="zh-CN" sz="2400" b="0" i="1" smtClean="0">
                          <a:latin typeface="Cambria Math" panose="02040503050406030204" pitchFamily="18" charset="0"/>
                        </a:rPr>
                        <m:t>𝐷</m:t>
                      </m:r>
                      <m:r>
                        <a:rPr lang="en-US" altLang="zh-CN" sz="2400" b="0" i="1" baseline="-25000" smtClean="0">
                          <a:latin typeface="Cambria Math" panose="02040503050406030204" pitchFamily="18" charset="0"/>
                        </a:rPr>
                        <m:t>0</m:t>
                      </m:r>
                      <m:r>
                        <a:rPr lang="en-US" altLang="zh-CN" sz="2400" i="1" dirty="0">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𝑆</m:t>
                          </m:r>
                          <m:r>
                            <a:rPr lang="en-US" altLang="zh-CN" sz="2400" i="1" baseline="-25000">
                              <a:latin typeface="Cambria Math" panose="02040503050406030204" pitchFamily="18" charset="0"/>
                            </a:rPr>
                            <m:t>1</m:t>
                          </m:r>
                        </m:e>
                      </m:acc>
                      <m:r>
                        <a:rPr lang="en-US" altLang="zh-CN" sz="2400" b="0" i="1" smtClean="0">
                          <a:latin typeface="Cambria Math" panose="02040503050406030204" pitchFamily="18" charset="0"/>
                        </a:rPr>
                        <m:t>𝑆</m:t>
                      </m:r>
                      <m:r>
                        <a:rPr lang="en-US" altLang="zh-CN" sz="2400" b="0" i="1" baseline="-25000" smtClean="0">
                          <a:latin typeface="Cambria Math" panose="02040503050406030204" pitchFamily="18" charset="0"/>
                        </a:rPr>
                        <m:t>0</m:t>
                      </m:r>
                      <m:r>
                        <a:rPr lang="en-US" altLang="zh-CN" sz="2400" i="1">
                          <a:latin typeface="Cambria Math" panose="02040503050406030204" pitchFamily="18" charset="0"/>
                        </a:rPr>
                        <m:t>𝐷</m:t>
                      </m:r>
                      <m:r>
                        <a:rPr lang="en-US" altLang="zh-CN" sz="2400" b="0" i="1" baseline="-25000" smtClean="0">
                          <a:latin typeface="Cambria Math" panose="02040503050406030204" pitchFamily="18" charset="0"/>
                        </a:rPr>
                        <m:t>1</m:t>
                      </m:r>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𝑆</m:t>
                      </m:r>
                      <m:r>
                        <a:rPr lang="en-US" altLang="zh-CN" sz="2400" b="0" i="1" baseline="-25000" dirty="0" smtClean="0">
                          <a:latin typeface="Cambria Math" panose="02040503050406030204" pitchFamily="18" charset="0"/>
                        </a:rPr>
                        <m:t>1</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𝑆</m:t>
                          </m:r>
                          <m:r>
                            <a:rPr lang="en-US" altLang="zh-CN" sz="2400" i="1" baseline="-25000">
                              <a:latin typeface="Cambria Math" panose="02040503050406030204" pitchFamily="18" charset="0"/>
                            </a:rPr>
                            <m:t>0</m:t>
                          </m:r>
                        </m:e>
                      </m:acc>
                      <m:r>
                        <a:rPr lang="en-US" altLang="zh-CN" sz="2400" i="1">
                          <a:latin typeface="Cambria Math" panose="02040503050406030204" pitchFamily="18" charset="0"/>
                        </a:rPr>
                        <m:t>𝐷</m:t>
                      </m:r>
                      <m:r>
                        <a:rPr lang="en-US" altLang="zh-CN" sz="2400" b="0" i="1" baseline="-25000" smtClean="0">
                          <a:latin typeface="Cambria Math" panose="02040503050406030204" pitchFamily="18" charset="0"/>
                        </a:rPr>
                        <m:t>2</m:t>
                      </m:r>
                      <m:r>
                        <a:rPr lang="en-US" altLang="zh-CN" sz="2400" i="1" dirty="0">
                          <a:latin typeface="Cambria Math" panose="02040503050406030204" pitchFamily="18" charset="0"/>
                        </a:rPr>
                        <m:t>+</m:t>
                      </m:r>
                      <m:r>
                        <a:rPr lang="en-US" altLang="zh-CN" sz="2400" i="1" smtClean="0">
                          <a:latin typeface="Cambria Math" panose="02040503050406030204" pitchFamily="18" charset="0"/>
                        </a:rPr>
                        <m:t>𝑆</m:t>
                      </m:r>
                      <m:r>
                        <a:rPr lang="en-US" altLang="zh-CN" sz="2400" b="0" i="1" baseline="-25000" smtClean="0">
                          <a:latin typeface="Cambria Math" panose="02040503050406030204" pitchFamily="18" charset="0"/>
                        </a:rPr>
                        <m:t>1</m:t>
                      </m:r>
                      <m:r>
                        <a:rPr lang="en-US" altLang="zh-CN" sz="2400" b="0" i="1" smtClean="0">
                          <a:latin typeface="Cambria Math" panose="02040503050406030204" pitchFamily="18" charset="0"/>
                        </a:rPr>
                        <m:t>𝑆</m:t>
                      </m:r>
                      <m:r>
                        <a:rPr lang="en-US" altLang="zh-CN" sz="2400" b="0" i="1" baseline="-25000" smtClean="0">
                          <a:latin typeface="Cambria Math" panose="02040503050406030204" pitchFamily="18" charset="0"/>
                        </a:rPr>
                        <m:t>0</m:t>
                      </m:r>
                      <m:r>
                        <a:rPr lang="en-US" altLang="zh-CN" sz="2400" i="1">
                          <a:latin typeface="Cambria Math" panose="02040503050406030204" pitchFamily="18" charset="0"/>
                        </a:rPr>
                        <m:t>𝐷</m:t>
                      </m:r>
                      <m:r>
                        <a:rPr lang="en-US" altLang="zh-CN" sz="2400" b="0" i="1" baseline="-25000" smtClean="0">
                          <a:latin typeface="Cambria Math" panose="02040503050406030204" pitchFamily="18" charset="0"/>
                        </a:rPr>
                        <m:t>3</m:t>
                      </m:r>
                      <m:r>
                        <a:rPr lang="en-US" altLang="zh-CN" sz="2400" i="1" dirty="0">
                          <a:latin typeface="Cambria Math" panose="02040503050406030204" pitchFamily="18" charset="0"/>
                        </a:rPr>
                        <m:t>=</m:t>
                      </m:r>
                      <m:nary>
                        <m:naryPr>
                          <m:chr m:val="∑"/>
                          <m:ctrlPr>
                            <a:rPr lang="en-US" altLang="zh-CN" sz="2400" i="1" dirty="0" smtClean="0">
                              <a:latin typeface="Cambria Math" panose="02040503050406030204" pitchFamily="18" charset="0"/>
                            </a:rPr>
                          </m:ctrlPr>
                        </m:naryPr>
                        <m:sub>
                          <m:r>
                            <m:rPr>
                              <m:brk m:alnAt="23"/>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=0</m:t>
                          </m:r>
                        </m:sub>
                        <m:sup>
                          <m:r>
                            <a:rPr lang="en-US" altLang="zh-CN" sz="2400" b="0" i="1" dirty="0" smtClean="0">
                              <a:latin typeface="Cambria Math" panose="02040503050406030204" pitchFamily="18" charset="0"/>
                            </a:rPr>
                            <m:t>3</m:t>
                          </m:r>
                        </m:sup>
                        <m:e>
                          <m:r>
                            <a:rPr lang="en-US" altLang="zh-CN" sz="2400" b="0" i="1" dirty="0" smtClean="0">
                              <a:latin typeface="Cambria Math" panose="02040503050406030204" pitchFamily="18" charset="0"/>
                            </a:rPr>
                            <m:t>𝑚</m:t>
                          </m:r>
                          <m:r>
                            <a:rPr lang="en-US" altLang="zh-CN" sz="2400" b="0" i="1" baseline="-25000" dirty="0" smtClean="0">
                              <a:latin typeface="Cambria Math" panose="02040503050406030204" pitchFamily="18" charset="0"/>
                            </a:rPr>
                            <m:t>𝑖</m:t>
                          </m:r>
                          <m:r>
                            <a:rPr lang="en-US" altLang="zh-CN" sz="2400" b="0" i="1" dirty="0" smtClean="0">
                              <a:latin typeface="Cambria Math" panose="02040503050406030204" pitchFamily="18" charset="0"/>
                            </a:rPr>
                            <m:t>𝐷</m:t>
                          </m:r>
                          <m:r>
                            <a:rPr lang="en-US" altLang="zh-CN" sz="2400" b="0" i="1" baseline="-25000" dirty="0" smtClean="0">
                              <a:latin typeface="Cambria Math" panose="02040503050406030204" pitchFamily="18" charset="0"/>
                            </a:rPr>
                            <m:t>𝑖</m:t>
                          </m:r>
                        </m:e>
                      </m:nary>
                    </m:oMath>
                  </m:oMathPara>
                </a14:m>
                <a:endParaRPr lang="en-US" altLang="zh-CN" sz="2400" dirty="0" smtClean="0">
                  <a:latin typeface="楷体" panose="02010609060101010101" pitchFamily="49" charset="-122"/>
                  <a:ea typeface="楷体" panose="02010609060101010101" pitchFamily="49" charset="-122"/>
                </a:endParaRPr>
              </a:p>
              <a:p>
                <a:pPr>
                  <a:lnSpc>
                    <a:spcPct val="150000"/>
                  </a:lnSpc>
                </a:pPr>
                <a:r>
                  <a:rPr lang="zh-CN" altLang="en-US" sz="2400" dirty="0">
                    <a:latin typeface="楷体" panose="02010609060101010101" pitchFamily="49" charset="-122"/>
                    <a:ea typeface="楷体" panose="02010609060101010101" pitchFamily="49" charset="-122"/>
                  </a:rPr>
                  <a:t>式</a:t>
                </a:r>
                <a:r>
                  <a:rPr lang="zh-CN" altLang="en-US" sz="2400" dirty="0" smtClean="0">
                    <a:latin typeface="楷体" panose="02010609060101010101" pitchFamily="49" charset="-122"/>
                    <a:ea typeface="楷体" panose="02010609060101010101" pitchFamily="49" charset="-122"/>
                  </a:rPr>
                  <a:t>中，</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𝑚</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𝑖</m:t>
                    </m:r>
                    <m:r>
                      <a:rPr lang="en-US" altLang="zh-CN" sz="2400" i="1" dirty="0" smtClean="0">
                        <a:latin typeface="Cambria Math" panose="02040503050406030204" pitchFamily="18" charset="0"/>
                        <a:ea typeface="楷体" panose="02010609060101010101" pitchFamily="49" charset="-122"/>
                      </a:rPr>
                      <m:t>=0,1,2,3</m:t>
                    </m:r>
                  </m:oMath>
                </a14:m>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是两个地址输入</a:t>
                </a:r>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𝑆</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latin typeface="Cambria Math" panose="02040503050406030204" pitchFamily="18" charset="0"/>
                        <a:ea typeface="楷体" panose="02010609060101010101" pitchFamily="49" charset="-122"/>
                      </a:rPr>
                      <m:t>, </m:t>
                    </m:r>
                    <m:r>
                      <a:rPr lang="en-US" altLang="zh-CN" sz="2400" i="1" dirty="0" smtClean="0">
                        <a:latin typeface="Cambria Math" panose="02040503050406030204" pitchFamily="18" charset="0"/>
                        <a:ea typeface="楷体" panose="02010609060101010101" pitchFamily="49" charset="-122"/>
                      </a:rPr>
                      <m:t>𝑆</m:t>
                    </m:r>
                    <m:r>
                      <a:rPr lang="en-US" altLang="zh-CN" sz="2400" i="1" baseline="-25000" dirty="0" smtClean="0">
                        <a:latin typeface="Cambria Math" panose="02040503050406030204" pitchFamily="18" charset="0"/>
                        <a:ea typeface="楷体" panose="02010609060101010101" pitchFamily="49" charset="-122"/>
                      </a:rPr>
                      <m:t>0</m:t>
                    </m:r>
                  </m:oMath>
                </a14:m>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的</a:t>
                </a:r>
                <a:r>
                  <a:rPr lang="en-US" altLang="zh-CN" sz="2400" dirty="0" smtClean="0">
                    <a:latin typeface="楷体" panose="02010609060101010101" pitchFamily="49" charset="-122"/>
                    <a:ea typeface="楷体" panose="02010609060101010101" pitchFamily="49" charset="-122"/>
                  </a:rPr>
                  <a:t>4</a:t>
                </a:r>
                <a:r>
                  <a:rPr lang="zh-CN" altLang="en-US" sz="2400" dirty="0" smtClean="0">
                    <a:latin typeface="楷体" panose="02010609060101010101" pitchFamily="49" charset="-122"/>
                    <a:ea typeface="楷体" panose="02010609060101010101" pitchFamily="49" charset="-122"/>
                  </a:rPr>
                  <a:t>个最小项</a:t>
                </a:r>
                <a:endParaRPr lang="zh-CN" altLang="en-US"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861319" y="2107973"/>
                <a:ext cx="8032968" cy="2238946"/>
              </a:xfrm>
              <a:prstGeom prst="rect">
                <a:avLst/>
              </a:prstGeom>
              <a:blipFill>
                <a:blip r:embed="rId2"/>
                <a:stretch>
                  <a:fillRect l="-1138" b="-13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1740710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42846" y="1046554"/>
            <a:ext cx="4160113" cy="400110"/>
          </a:xfrm>
          <a:prstGeom prst="rect">
            <a:avLst/>
          </a:prstGeom>
        </p:spPr>
        <p:txBody>
          <a:bodyPr wrap="none">
            <a:spAutoFit/>
          </a:bodyPr>
          <a:lstStyle/>
          <a:p>
            <a:r>
              <a:rPr lang="zh-CN" altLang="en-US" sz="2000" dirty="0" smtClean="0">
                <a:latin typeface="楷体" panose="02010609060101010101" pitchFamily="49" charset="-122"/>
                <a:ea typeface="楷体" panose="02010609060101010101" pitchFamily="49" charset="-122"/>
              </a:rPr>
              <a:t>解：</a:t>
            </a:r>
            <a:r>
              <a:rPr lang="en-US" altLang="zh-CN" sz="2000" dirty="0" smtClean="0">
                <a:latin typeface="楷体" panose="02010609060101010101" pitchFamily="49" charset="-122"/>
                <a:ea typeface="楷体" panose="02010609060101010101" pitchFamily="49" charset="-122"/>
              </a:rPr>
              <a:t>MUX</a:t>
            </a:r>
            <a:r>
              <a:rPr lang="zh-CN" altLang="en-US" sz="2000" dirty="0" smtClean="0">
                <a:latin typeface="楷体" panose="02010609060101010101" pitchFamily="49" charset="-122"/>
                <a:ea typeface="楷体" panose="02010609060101010101" pitchFamily="49" charset="-122"/>
              </a:rPr>
              <a:t>输出</a:t>
            </a:r>
            <a:r>
              <a:rPr lang="en-US" altLang="zh-CN" sz="2000" dirty="0" smtClean="0">
                <a:latin typeface="楷体" panose="02010609060101010101" pitchFamily="49" charset="-122"/>
                <a:ea typeface="楷体" panose="02010609060101010101" pitchFamily="49" charset="-122"/>
              </a:rPr>
              <a:t>Y</a:t>
            </a:r>
            <a:r>
              <a:rPr lang="zh-CN" altLang="en-US" sz="2000" dirty="0" smtClean="0">
                <a:latin typeface="楷体" panose="02010609060101010101" pitchFamily="49" charset="-122"/>
                <a:ea typeface="楷体" panose="02010609060101010101" pitchFamily="49" charset="-122"/>
              </a:rPr>
              <a:t>的</a:t>
            </a:r>
            <a:r>
              <a:rPr lang="zh-CN" altLang="en-US" sz="2000" dirty="0">
                <a:latin typeface="楷体" panose="02010609060101010101" pitchFamily="49" charset="-122"/>
                <a:ea typeface="楷体" panose="02010609060101010101" pitchFamily="49" charset="-122"/>
              </a:rPr>
              <a:t>波形见图</a:t>
            </a:r>
            <a:r>
              <a:rPr lang="en-US" altLang="zh-CN" sz="2000" dirty="0">
                <a:latin typeface="楷体" panose="02010609060101010101" pitchFamily="49" charset="-122"/>
                <a:ea typeface="楷体" panose="02010609060101010101" pitchFamily="49" charset="-122"/>
              </a:rPr>
              <a:t>2.20(b)</a:t>
            </a:r>
            <a:r>
              <a:rPr lang="zh-CN" altLang="en-US" sz="2000" dirty="0">
                <a:latin typeface="楷体" panose="02010609060101010101" pitchFamily="49" charset="-122"/>
                <a:ea typeface="楷体" panose="02010609060101010101" pitchFamily="49" charset="-122"/>
              </a:rPr>
              <a:t>。</a:t>
            </a:r>
          </a:p>
        </p:txBody>
      </p:sp>
      <p:sp>
        <p:nvSpPr>
          <p:cNvPr id="7" name="矩形 6"/>
          <p:cNvSpPr/>
          <p:nvPr/>
        </p:nvSpPr>
        <p:spPr>
          <a:xfrm>
            <a:off x="842846" y="125468"/>
            <a:ext cx="6635339" cy="921086"/>
          </a:xfrm>
          <a:prstGeom prst="rect">
            <a:avLst/>
          </a:prstGeom>
        </p:spPr>
        <p:txBody>
          <a:bodyPr wrap="square">
            <a:spAutoFit/>
          </a:bodyPr>
          <a:lstStyle/>
          <a:p>
            <a:pPr>
              <a:lnSpc>
                <a:spcPts val="3500"/>
              </a:lnSpc>
            </a:pP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例</a:t>
            </a:r>
            <a:r>
              <a:rPr lang="en-US" altLang="zh-CN" sz="2000" dirty="0">
                <a:latin typeface="楷体" panose="02010609060101010101" pitchFamily="49" charset="-122"/>
                <a:ea typeface="楷体" panose="02010609060101010101" pitchFamily="49" charset="-122"/>
              </a:rPr>
              <a:t>13】  </a:t>
            </a:r>
            <a:r>
              <a:rPr lang="zh-CN" altLang="en-US" sz="2000" dirty="0">
                <a:latin typeface="楷体" panose="02010609060101010101" pitchFamily="49" charset="-122"/>
                <a:ea typeface="楷体" panose="02010609060101010101" pitchFamily="49" charset="-122"/>
              </a:rPr>
              <a:t>四选一</a:t>
            </a:r>
            <a:r>
              <a:rPr lang="en-US" altLang="zh-CN" sz="2000" dirty="0">
                <a:latin typeface="楷体" panose="02010609060101010101" pitchFamily="49" charset="-122"/>
                <a:ea typeface="楷体" panose="02010609060101010101" pitchFamily="49" charset="-122"/>
              </a:rPr>
              <a:t>MUX </a:t>
            </a:r>
            <a:r>
              <a:rPr lang="zh-CN" altLang="en-US" sz="2000" dirty="0">
                <a:latin typeface="楷体" panose="02010609060101010101" pitchFamily="49" charset="-122"/>
                <a:ea typeface="楷体" panose="02010609060101010101" pitchFamily="49" charset="-122"/>
              </a:rPr>
              <a:t>的数字输入波形见图</a:t>
            </a:r>
            <a:r>
              <a:rPr lang="en-US" altLang="zh-CN" sz="2000" dirty="0">
                <a:latin typeface="楷体" panose="02010609060101010101" pitchFamily="49" charset="-122"/>
                <a:ea typeface="楷体" panose="02010609060101010101" pitchFamily="49" charset="-122"/>
              </a:rPr>
              <a:t>2.20(a) </a:t>
            </a:r>
            <a:r>
              <a:rPr lang="zh-CN" altLang="en-US" sz="2000" dirty="0">
                <a:latin typeface="楷体" panose="02010609060101010101" pitchFamily="49" charset="-122"/>
                <a:ea typeface="楷体" panose="02010609060101010101" pitchFamily="49" charset="-122"/>
              </a:rPr>
              <a:t>所示。画出其输出波形。</a:t>
            </a:r>
          </a:p>
        </p:txBody>
      </p:sp>
      <p:pic>
        <p:nvPicPr>
          <p:cNvPr id="8" name="图片 7"/>
          <p:cNvPicPr>
            <a:picLocks noChangeAspect="1"/>
          </p:cNvPicPr>
          <p:nvPr/>
        </p:nvPicPr>
        <p:blipFill>
          <a:blip r:embed="rId2"/>
          <a:stretch>
            <a:fillRect/>
          </a:stretch>
        </p:blipFill>
        <p:spPr>
          <a:xfrm>
            <a:off x="1579211" y="1606530"/>
            <a:ext cx="5606680" cy="4957710"/>
          </a:xfrm>
          <a:prstGeom prst="rect">
            <a:avLst/>
          </a:prstGeom>
        </p:spPr>
      </p:pic>
    </p:spTree>
    <p:extLst>
      <p:ext uri="{BB962C8B-B14F-4D97-AF65-F5344CB8AC3E}">
        <p14:creationId xmlns:p14="http://schemas.microsoft.com/office/powerpoint/2010/main" val="333657830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2.4 </a:t>
            </a:r>
            <a:r>
              <a:rPr lang="en-US" altLang="zh-CN" dirty="0" err="1">
                <a:latin typeface="楷体" panose="02010609060101010101" pitchFamily="49" charset="-122"/>
                <a:ea typeface="楷体" panose="02010609060101010101" pitchFamily="49" charset="-122"/>
              </a:rPr>
              <a:t>数据选择器与分配器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237673"/>
            <a:ext cx="7886700" cy="2835563"/>
          </a:xfrm>
        </p:spPr>
        <p:txBody>
          <a:bodyPr/>
          <a:lstStyle/>
          <a:p>
            <a:r>
              <a:rPr lang="en-US" altLang="zh-CN" dirty="0" err="1" smtClean="0">
                <a:latin typeface="楷体" panose="02010609060101010101" pitchFamily="49" charset="-122"/>
                <a:ea typeface="楷体" panose="02010609060101010101" pitchFamily="49" charset="-122"/>
              </a:rPr>
              <a:t>数据选择器</a:t>
            </a:r>
            <a:endParaRPr lang="en-US" altLang="zh-CN" dirty="0" smtClean="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852082" y="1840119"/>
                <a:ext cx="7248208" cy="3373039"/>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对八选一</a:t>
                </a:r>
                <a:r>
                  <a:rPr lang="en-US" altLang="zh-CN" sz="2400" dirty="0">
                    <a:latin typeface="楷体" panose="02010609060101010101" pitchFamily="49" charset="-122"/>
                    <a:ea typeface="楷体" panose="02010609060101010101" pitchFamily="49" charset="-122"/>
                  </a:rPr>
                  <a:t>MUX,  </a:t>
                </a:r>
                <a:r>
                  <a:rPr lang="zh-CN" altLang="en-US" sz="2400" dirty="0">
                    <a:latin typeface="楷体" panose="02010609060101010101" pitchFamily="49" charset="-122"/>
                    <a:ea typeface="楷体" panose="02010609060101010101" pitchFamily="49" charset="-122"/>
                  </a:rPr>
                  <a:t>则有</a:t>
                </a:r>
                <a:r>
                  <a:rPr lang="en-US" altLang="zh-CN" sz="2400" dirty="0" smtClean="0">
                    <a:latin typeface="楷体" panose="02010609060101010101" pitchFamily="49" charset="-122"/>
                    <a:ea typeface="楷体" panose="02010609060101010101" pitchFamily="49" charset="-122"/>
                  </a:rPr>
                  <a:t>:</a:t>
                </a:r>
              </a:p>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𝑌</m:t>
                      </m:r>
                      <m:r>
                        <a:rPr lang="en-US" altLang="zh-CN" sz="2400" i="1" dirty="0">
                          <a:latin typeface="Cambria Math" panose="02040503050406030204" pitchFamily="18" charset="0"/>
                        </a:rPr>
                        <m:t>=</m:t>
                      </m:r>
                      <m:nary>
                        <m:naryPr>
                          <m:chr m:val="∑"/>
                          <m:ctrlPr>
                            <a:rPr lang="en-US" altLang="zh-CN" sz="2400" i="1" dirty="0" smtClean="0">
                              <a:latin typeface="Cambria Math" panose="02040503050406030204" pitchFamily="18" charset="0"/>
                            </a:rPr>
                          </m:ctrlPr>
                        </m:naryPr>
                        <m:sub>
                          <m:r>
                            <m:rPr>
                              <m:brk m:alnAt="23"/>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=0</m:t>
                          </m:r>
                        </m:sub>
                        <m:sup>
                          <m:r>
                            <a:rPr lang="en-US" altLang="zh-CN" sz="2400" b="0" i="1" dirty="0" smtClean="0">
                              <a:latin typeface="Cambria Math" panose="02040503050406030204" pitchFamily="18" charset="0"/>
                            </a:rPr>
                            <m:t>7</m:t>
                          </m:r>
                        </m:sup>
                        <m:e>
                          <m:r>
                            <a:rPr lang="en-US" altLang="zh-CN" sz="2400" b="0" i="1" dirty="0" smtClean="0">
                              <a:latin typeface="Cambria Math" panose="02040503050406030204" pitchFamily="18" charset="0"/>
                            </a:rPr>
                            <m:t>𝑚</m:t>
                          </m:r>
                          <m:r>
                            <a:rPr lang="en-US" altLang="zh-CN" sz="2400" b="0" i="1" baseline="-25000" dirty="0" smtClean="0">
                              <a:latin typeface="Cambria Math" panose="02040503050406030204" pitchFamily="18" charset="0"/>
                            </a:rPr>
                            <m:t>𝑖</m:t>
                          </m:r>
                          <m:r>
                            <a:rPr lang="en-US" altLang="zh-CN" sz="2400" b="0" i="1" dirty="0" smtClean="0">
                              <a:latin typeface="Cambria Math" panose="02040503050406030204" pitchFamily="18" charset="0"/>
                            </a:rPr>
                            <m:t>𝐷</m:t>
                          </m:r>
                          <m:r>
                            <a:rPr lang="en-US" altLang="zh-CN" sz="2400" b="0" i="1" baseline="-25000" dirty="0" smtClean="0">
                              <a:latin typeface="Cambria Math" panose="02040503050406030204" pitchFamily="18" charset="0"/>
                            </a:rPr>
                            <m:t>𝑖</m:t>
                          </m:r>
                        </m:e>
                      </m:nary>
                    </m:oMath>
                  </m:oMathPara>
                </a14:m>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en-US" sz="2400" dirty="0" smtClean="0">
                    <a:latin typeface="楷体" panose="02010609060101010101" pitchFamily="49" charset="-122"/>
                    <a:ea typeface="楷体" panose="02010609060101010101" pitchFamily="49" charset="-122"/>
                  </a:rPr>
                  <a:t>式中，</a:t>
                </a:r>
                <a:r>
                  <a:rPr lang="en-US" altLang="zh-CN" sz="2400" dirty="0">
                    <a:latin typeface="楷体" panose="02010609060101010101" pitchFamily="49" charset="-122"/>
                    <a:ea typeface="楷体" panose="02010609060101010101" pitchFamily="49" charset="-122"/>
                  </a:rPr>
                  <a:t> </a:t>
                </a:r>
                <a:endParaRPr lang="en-US" altLang="zh-CN" sz="2400" dirty="0" smtClean="0">
                  <a:latin typeface="楷体" panose="02010609060101010101" pitchFamily="49" charset="-122"/>
                  <a:ea typeface="楷体" panose="02010609060101010101" pitchFamily="49" charset="-122"/>
                </a:endParaRPr>
              </a:p>
              <a:p>
                <a:pPr marL="628650">
                  <a:lnSpc>
                    <a:spcPts val="3500"/>
                  </a:lnSpc>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𝑖</m:t>
                    </m:r>
                    <m:r>
                      <a:rPr lang="en-US" altLang="zh-CN" sz="2400" i="1" dirty="0" smtClean="0">
                        <a:latin typeface="Cambria Math" panose="02040503050406030204" pitchFamily="18" charset="0"/>
                        <a:ea typeface="楷体" panose="02010609060101010101" pitchFamily="49" charset="-122"/>
                      </a:rPr>
                      <m:t>=0,1,2,…,7</m:t>
                    </m:r>
                  </m:oMath>
                </a14:m>
                <a:r>
                  <a:rPr lang="en-US" altLang="zh-CN"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是</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路选择器的</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个数据输入</a:t>
                </a:r>
                <a:r>
                  <a:rPr lang="zh-CN" altLang="en-US" sz="2400" dirty="0" smtClean="0">
                    <a:latin typeface="楷体" panose="02010609060101010101" pitchFamily="49" charset="-122"/>
                    <a:ea typeface="楷体" panose="02010609060101010101" pitchFamily="49" charset="-122"/>
                  </a:rPr>
                  <a:t>端</a:t>
                </a:r>
                <a:r>
                  <a:rPr lang="en-US" altLang="zh-CN" sz="2400" dirty="0" smtClean="0">
                    <a:latin typeface="楷体" panose="02010609060101010101" pitchFamily="49" charset="-122"/>
                    <a:ea typeface="楷体" panose="02010609060101010101" pitchFamily="49" charset="-122"/>
                  </a:rPr>
                  <a:t>,</a:t>
                </a:r>
              </a:p>
              <a:p>
                <a:pPr marL="628650">
                  <a:lnSpc>
                    <a:spcPts val="3500"/>
                  </a:lnSpc>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𝑚</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𝑖</m:t>
                    </m:r>
                    <m:r>
                      <a:rPr lang="en-US" altLang="zh-CN" sz="2400" i="1" dirty="0" smtClean="0">
                        <a:latin typeface="Cambria Math" panose="02040503050406030204" pitchFamily="18" charset="0"/>
                        <a:ea typeface="楷体" panose="02010609060101010101" pitchFamily="49" charset="-122"/>
                      </a:rPr>
                      <m:t>=0,1,2,…,7</m:t>
                    </m:r>
                  </m:oMath>
                </a14:m>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是</a:t>
                </a:r>
                <a:r>
                  <a:rPr lang="zh-CN" altLang="en-US" sz="2400" dirty="0">
                    <a:latin typeface="楷体" panose="02010609060101010101" pitchFamily="49" charset="-122"/>
                    <a:ea typeface="楷体" panose="02010609060101010101" pitchFamily="49" charset="-122"/>
                  </a:rPr>
                  <a:t>三</a:t>
                </a:r>
                <a:r>
                  <a:rPr lang="zh-CN" altLang="en-US" sz="2400" dirty="0" smtClean="0">
                    <a:latin typeface="楷体" panose="02010609060101010101" pitchFamily="49" charset="-122"/>
                    <a:ea typeface="楷体" panose="02010609060101010101" pitchFamily="49" charset="-122"/>
                  </a:rPr>
                  <a:t>个地址输入</a:t>
                </a:r>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𝑆</m:t>
                    </m:r>
                    <m:r>
                      <a:rPr lang="en-US" altLang="zh-CN" sz="2400" i="1" baseline="-25000" dirty="0" smtClean="0">
                        <a:latin typeface="Cambria Math" panose="02040503050406030204" pitchFamily="18" charset="0"/>
                        <a:ea typeface="楷体" panose="02010609060101010101" pitchFamily="49" charset="-122"/>
                      </a:rPr>
                      <m:t>2</m:t>
                    </m:r>
                    <m:r>
                      <a:rPr lang="en-US" altLang="zh-CN" sz="2400" i="1" dirty="0" smtClean="0">
                        <a:latin typeface="Cambria Math" panose="02040503050406030204" pitchFamily="18" charset="0"/>
                        <a:ea typeface="楷体" panose="02010609060101010101" pitchFamily="49" charset="-122"/>
                      </a:rPr>
                      <m:t>,  </m:t>
                    </m:r>
                    <m:r>
                      <a:rPr lang="en-US" altLang="zh-CN" sz="2400" i="1" dirty="0" smtClean="0">
                        <a:latin typeface="Cambria Math" panose="02040503050406030204" pitchFamily="18" charset="0"/>
                        <a:ea typeface="楷体" panose="02010609060101010101" pitchFamily="49" charset="-122"/>
                      </a:rPr>
                      <m:t>𝑆</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latin typeface="Cambria Math" panose="02040503050406030204" pitchFamily="18" charset="0"/>
                        <a:ea typeface="楷体" panose="02010609060101010101" pitchFamily="49" charset="-122"/>
                      </a:rPr>
                      <m:t>, </m:t>
                    </m:r>
                    <m:r>
                      <a:rPr lang="en-US" altLang="zh-CN" sz="2400" i="1" dirty="0" smtClean="0">
                        <a:latin typeface="Cambria Math" panose="02040503050406030204" pitchFamily="18" charset="0"/>
                        <a:ea typeface="楷体" panose="02010609060101010101" pitchFamily="49" charset="-122"/>
                      </a:rPr>
                      <m:t>𝑆</m:t>
                    </m:r>
                    <m:r>
                      <a:rPr lang="en-US" altLang="zh-CN" sz="2400" i="1" baseline="-25000" dirty="0" smtClean="0">
                        <a:latin typeface="Cambria Math" panose="02040503050406030204" pitchFamily="18" charset="0"/>
                        <a:ea typeface="楷体" panose="02010609060101010101" pitchFamily="49" charset="-122"/>
                      </a:rPr>
                      <m:t>0</m:t>
                    </m:r>
                  </m:oMath>
                </a14:m>
                <a:r>
                  <a:rPr lang="en-US" altLang="zh-CN"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的</a:t>
                </a:r>
                <a:r>
                  <a:rPr lang="en-US" altLang="zh-CN" sz="2400" dirty="0">
                    <a:latin typeface="楷体" panose="02010609060101010101" pitchFamily="49" charset="-122"/>
                    <a:ea typeface="楷体" panose="02010609060101010101" pitchFamily="49" charset="-122"/>
                  </a:rPr>
                  <a:t>8</a:t>
                </a:r>
                <a:r>
                  <a:rPr lang="zh-CN" altLang="en-US" sz="2400" dirty="0" smtClean="0">
                    <a:latin typeface="楷体" panose="02010609060101010101" pitchFamily="49" charset="-122"/>
                    <a:ea typeface="楷体" panose="02010609060101010101" pitchFamily="49" charset="-122"/>
                  </a:rPr>
                  <a:t>个最小项</a:t>
                </a:r>
                <a:endParaRPr lang="zh-CN" altLang="en-US" sz="2400" dirty="0">
                  <a:latin typeface="楷体" panose="02010609060101010101" pitchFamily="49" charset="-122"/>
                  <a:ea typeface="楷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852082" y="1840119"/>
                <a:ext cx="7248208" cy="3373039"/>
              </a:xfrm>
              <a:prstGeom prst="rect">
                <a:avLst/>
              </a:prstGeom>
              <a:blipFill>
                <a:blip r:embed="rId2"/>
                <a:stretch>
                  <a:fillRect l="-1346" t="-904" r="-3364" b="-1447"/>
                </a:stretch>
              </a:blipFill>
            </p:spPr>
            <p:txBody>
              <a:bodyPr/>
              <a:lstStyle/>
              <a:p>
                <a:r>
                  <a:rPr lang="zh-CN" altLang="en-US">
                    <a:noFill/>
                  </a:rPr>
                  <a:t> </a:t>
                </a:r>
              </a:p>
            </p:txBody>
          </p:sp>
        </mc:Fallback>
      </mc:AlternateContent>
      <p:sp>
        <p:nvSpPr>
          <p:cNvPr id="5" name="矩形 4"/>
          <p:cNvSpPr/>
          <p:nvPr/>
        </p:nvSpPr>
        <p:spPr>
          <a:xfrm>
            <a:off x="1407330" y="5213158"/>
            <a:ext cx="6782026" cy="1200329"/>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多路选择器是一种通用性很强的标准化功能构件，它除了在数据通路的设计中用作多路开关外，还可以实现分时多路转换。</a:t>
            </a:r>
          </a:p>
        </p:txBody>
      </p:sp>
    </p:spTree>
    <p:extLst>
      <p:ext uri="{BB962C8B-B14F-4D97-AF65-F5344CB8AC3E}">
        <p14:creationId xmlns:p14="http://schemas.microsoft.com/office/powerpoint/2010/main" val="186447535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2.4 </a:t>
            </a:r>
            <a:r>
              <a:rPr lang="en-US" altLang="zh-CN" dirty="0" err="1">
                <a:latin typeface="楷体" panose="02010609060101010101" pitchFamily="49" charset="-122"/>
                <a:ea typeface="楷体" panose="02010609060101010101" pitchFamily="49" charset="-122"/>
              </a:rPr>
              <a:t>数据选择器与分配器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071418"/>
            <a:ext cx="7886700" cy="5105545"/>
          </a:xfrm>
        </p:spPr>
        <p:txBody>
          <a:bodyPr/>
          <a:lstStyle/>
          <a:p>
            <a:pPr>
              <a:lnSpc>
                <a:spcPts val="3500"/>
              </a:lnSpc>
            </a:pPr>
            <a:r>
              <a:rPr lang="en-US" altLang="zh-CN" dirty="0" err="1" smtClean="0">
                <a:latin typeface="楷体" panose="02010609060101010101" pitchFamily="49" charset="-122"/>
                <a:ea typeface="楷体" panose="02010609060101010101" pitchFamily="49" charset="-122"/>
              </a:rPr>
              <a:t>数据分配器</a:t>
            </a:r>
            <a:endParaRPr lang="en-US" altLang="zh-CN" dirty="0" smtClean="0">
              <a:latin typeface="楷体" panose="02010609060101010101" pitchFamily="49" charset="-122"/>
              <a:ea typeface="楷体" panose="02010609060101010101" pitchFamily="49" charset="-122"/>
            </a:endParaRPr>
          </a:p>
          <a:p>
            <a:pPr lvl="1">
              <a:lnSpc>
                <a:spcPts val="3500"/>
              </a:lnSpc>
            </a:pPr>
            <a:r>
              <a:rPr lang="en-US" altLang="zh-CN" dirty="0" err="1" smtClean="0">
                <a:solidFill>
                  <a:schemeClr val="accent1"/>
                </a:solidFill>
                <a:latin typeface="楷体" panose="02010609060101010101" pitchFamily="49" charset="-122"/>
                <a:ea typeface="楷体" panose="02010609060101010101" pitchFamily="49" charset="-122"/>
              </a:rPr>
              <a:t>数据分配器</a:t>
            </a:r>
            <a:r>
              <a:rPr lang="en-US" altLang="zh-CN" dirty="0" smtClean="0">
                <a:solidFill>
                  <a:schemeClr val="accent1"/>
                </a:solidFill>
                <a:latin typeface="楷体" panose="02010609060101010101" pitchFamily="49" charset="-122"/>
                <a:ea typeface="楷体" panose="02010609060101010101" pitchFamily="49" charset="-122"/>
              </a:rPr>
              <a:t>(DMUX)</a:t>
            </a:r>
            <a:r>
              <a:rPr lang="en-US" altLang="zh-CN" dirty="0" err="1" smtClean="0">
                <a:latin typeface="楷体" panose="02010609060101010101" pitchFamily="49" charset="-122"/>
                <a:ea typeface="楷体" panose="02010609060101010101" pitchFamily="49" charset="-122"/>
              </a:rPr>
              <a:t>的功能与多路选择器相反，它是一种单路输入、多路输出的逻辑构件，</a:t>
            </a:r>
            <a:r>
              <a:rPr lang="en-US" altLang="zh-CN" b="1" dirty="0" err="1" smtClean="0">
                <a:latin typeface="楷体" panose="02010609060101010101" pitchFamily="49" charset="-122"/>
                <a:ea typeface="楷体" panose="02010609060101010101" pitchFamily="49" charset="-122"/>
              </a:rPr>
              <a:t>从哪一路输出则取决于当时的地址控制端输入</a:t>
            </a:r>
            <a:r>
              <a:rPr lang="en-US" altLang="zh-CN" dirty="0" smtClean="0">
                <a:latin typeface="楷体" panose="02010609060101010101" pitchFamily="49" charset="-122"/>
                <a:ea typeface="楷体" panose="02010609060101010101" pitchFamily="49" charset="-122"/>
              </a:rPr>
              <a:t>。</a:t>
            </a:r>
            <a:endParaRPr lang="zh-CN" altLang="zh-CN" dirty="0" smtClean="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991526" y="2980758"/>
            <a:ext cx="7523824" cy="2653238"/>
          </a:xfrm>
          <a:prstGeom prst="rect">
            <a:avLst/>
          </a:prstGeom>
        </p:spPr>
      </p:pic>
      <p:sp>
        <p:nvSpPr>
          <p:cNvPr id="6" name="矩形 5"/>
          <p:cNvSpPr/>
          <p:nvPr/>
        </p:nvSpPr>
        <p:spPr>
          <a:xfrm>
            <a:off x="1491929" y="5860748"/>
            <a:ext cx="6523017" cy="830997"/>
          </a:xfrm>
          <a:prstGeom prst="rect">
            <a:avLst/>
          </a:prstGeom>
        </p:spPr>
        <p:txBody>
          <a:bodyPr wrap="square">
            <a:spAutoFit/>
          </a:bodyPr>
          <a:lstStyle/>
          <a:p>
            <a:r>
              <a:rPr lang="zh-CN" altLang="en-US" sz="2400" b="1" dirty="0" smtClean="0">
                <a:latin typeface="楷体" panose="02010609060101010101" pitchFamily="49" charset="-122"/>
                <a:ea typeface="楷体" panose="02010609060101010101" pitchFamily="49" charset="-122"/>
              </a:rPr>
              <a:t>思考题：根据功能表</a:t>
            </a:r>
            <a:r>
              <a:rPr lang="en-US" altLang="zh-CN" sz="2400" b="1" dirty="0" smtClean="0">
                <a:latin typeface="楷体" panose="02010609060101010101" pitchFamily="49" charset="-122"/>
                <a:ea typeface="楷体" panose="02010609060101010101" pitchFamily="49" charset="-122"/>
              </a:rPr>
              <a:t>2.6</a:t>
            </a:r>
            <a:r>
              <a:rPr lang="zh-CN" altLang="en-US" sz="2400" b="1" dirty="0" smtClean="0">
                <a:latin typeface="楷体" panose="02010609060101010101" pitchFamily="49" charset="-122"/>
                <a:ea typeface="楷体" panose="02010609060101010101" pitchFamily="49" charset="-122"/>
              </a:rPr>
              <a:t>，你能设计</a:t>
            </a:r>
            <a:r>
              <a:rPr lang="en-US" altLang="zh-CN" sz="2400" b="1" dirty="0" smtClean="0">
                <a:latin typeface="楷体" panose="02010609060101010101" pitchFamily="49" charset="-122"/>
                <a:ea typeface="楷体" panose="02010609060101010101" pitchFamily="49" charset="-122"/>
              </a:rPr>
              <a:t>1</a:t>
            </a:r>
            <a:r>
              <a:rPr lang="zh-CN" altLang="en-US" sz="2400" b="1" dirty="0" smtClean="0">
                <a:latin typeface="楷体" panose="02010609060101010101" pitchFamily="49" charset="-122"/>
                <a:ea typeface="楷体" panose="02010609060101010101" pitchFamily="49" charset="-122"/>
              </a:rPr>
              <a:t>线</a:t>
            </a:r>
            <a:r>
              <a:rPr lang="en-US" altLang="zh-CN" sz="2400" b="1" dirty="0" smtClean="0">
                <a:latin typeface="楷体" panose="02010609060101010101" pitchFamily="49" charset="-122"/>
                <a:ea typeface="楷体" panose="02010609060101010101" pitchFamily="49" charset="-122"/>
              </a:rPr>
              <a:t>-4</a:t>
            </a:r>
            <a:r>
              <a:rPr lang="zh-CN" altLang="en-US" sz="2400" b="1" dirty="0" smtClean="0">
                <a:latin typeface="楷体" panose="02010609060101010101" pitchFamily="49" charset="-122"/>
                <a:ea typeface="楷体" panose="02010609060101010101" pitchFamily="49" charset="-122"/>
              </a:rPr>
              <a:t>线</a:t>
            </a:r>
            <a:r>
              <a:rPr lang="en-US" altLang="zh-CN" sz="2400" b="1" dirty="0" smtClean="0">
                <a:latin typeface="楷体" panose="02010609060101010101" pitchFamily="49" charset="-122"/>
                <a:ea typeface="楷体" panose="02010609060101010101" pitchFamily="49" charset="-122"/>
              </a:rPr>
              <a:t>DMUX</a:t>
            </a:r>
            <a:r>
              <a:rPr lang="zh-CN" altLang="en-US" sz="2400" b="1" dirty="0" smtClean="0">
                <a:latin typeface="楷体" panose="02010609060101010101" pitchFamily="49" charset="-122"/>
                <a:ea typeface="楷体" panose="02010609060101010101" pitchFamily="49" charset="-122"/>
              </a:rPr>
              <a:t>内部逻辑电路图吗</a:t>
            </a:r>
            <a:r>
              <a:rPr lang="en-US" altLang="zh-CN" sz="2400" b="1" dirty="0" smtClean="0">
                <a:latin typeface="楷体" panose="02010609060101010101" pitchFamily="49" charset="-122"/>
                <a:ea typeface="楷体" panose="02010609060101010101" pitchFamily="49" charset="-122"/>
              </a:rPr>
              <a:t>?</a:t>
            </a:r>
            <a:endParaRPr lang="zh-CN" altLang="en-US" sz="24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43749299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smtClean="0">
                <a:latin typeface="楷体" panose="02010609060101010101" pitchFamily="49" charset="-122"/>
                <a:ea typeface="楷体" panose="02010609060101010101" pitchFamily="49" charset="-122"/>
              </a:rPr>
              <a:t>2.4 </a:t>
            </a:r>
            <a:r>
              <a:rPr lang="en-US" altLang="zh-CN" dirty="0" err="1">
                <a:latin typeface="楷体" panose="02010609060101010101" pitchFamily="49" charset="-122"/>
                <a:ea typeface="楷体" panose="02010609060101010101" pitchFamily="49" charset="-122"/>
              </a:rPr>
              <a:t>数据选择器与分配器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071418"/>
                <a:ext cx="7886700" cy="5105545"/>
              </a:xfrm>
            </p:spPr>
            <p:txBody>
              <a:bodyPr/>
              <a:lstStyle/>
              <a:p>
                <a:pPr>
                  <a:lnSpc>
                    <a:spcPts val="3500"/>
                  </a:lnSpc>
                </a:pPr>
                <a:r>
                  <a:rPr lang="en-US" altLang="zh-CN" dirty="0" err="1" smtClean="0">
                    <a:latin typeface="楷体" panose="02010609060101010101" pitchFamily="49" charset="-122"/>
                    <a:ea typeface="楷体" panose="02010609060101010101" pitchFamily="49" charset="-122"/>
                  </a:rPr>
                  <a:t>数据分配器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图</a:t>
                </a:r>
                <a:r>
                  <a:rPr lang="en-US" altLang="zh-CN" dirty="0" smtClean="0">
                    <a:latin typeface="楷体" panose="02010609060101010101" pitchFamily="49" charset="-122"/>
                    <a:ea typeface="楷体" panose="02010609060101010101" pitchFamily="49" charset="-122"/>
                  </a:rPr>
                  <a:t>2.21</a:t>
                </a:r>
                <a:r>
                  <a:rPr lang="zh-CN" altLang="en-US" dirty="0" smtClean="0">
                    <a:latin typeface="楷体" panose="02010609060101010101" pitchFamily="49" charset="-122"/>
                    <a:ea typeface="楷体" panose="02010609060101010101" pitchFamily="49" charset="-122"/>
                  </a:rPr>
                  <a:t>为</a:t>
                </a:r>
                <a:r>
                  <a:rPr lang="en-US" altLang="zh-CN" dirty="0" smtClean="0">
                    <a:latin typeface="楷体" panose="02010609060101010101" pitchFamily="49" charset="-122"/>
                    <a:ea typeface="楷体" panose="02010609060101010101" pitchFamily="49" charset="-122"/>
                  </a:rPr>
                  <a:t>1</a:t>
                </a:r>
                <a:r>
                  <a:rPr lang="zh-CN" altLang="en-US" dirty="0" smtClean="0">
                    <a:latin typeface="楷体" panose="02010609060101010101" pitchFamily="49" charset="-122"/>
                    <a:ea typeface="楷体" panose="02010609060101010101" pitchFamily="49" charset="-122"/>
                  </a:rPr>
                  <a:t>线</a:t>
                </a:r>
                <a:r>
                  <a:rPr lang="en-US" altLang="zh-CN" dirty="0" smtClean="0">
                    <a:latin typeface="楷体" panose="02010609060101010101" pitchFamily="49" charset="-122"/>
                    <a:ea typeface="楷体" panose="02010609060101010101" pitchFamily="49" charset="-122"/>
                  </a:rPr>
                  <a:t>-4</a:t>
                </a:r>
                <a:r>
                  <a:rPr lang="zh-CN" altLang="en-US" dirty="0" smtClean="0">
                    <a:latin typeface="楷体" panose="02010609060101010101" pitchFamily="49" charset="-122"/>
                    <a:ea typeface="楷体" panose="02010609060101010101" pitchFamily="49" charset="-122"/>
                  </a:rPr>
                  <a:t>线数据分配器的功能框图，图中</a:t>
                </a:r>
                <a:r>
                  <a:rPr lang="en-US" altLang="zh-CN" dirty="0" smtClean="0">
                    <a:latin typeface="楷体" panose="02010609060101010101" pitchFamily="49" charset="-122"/>
                    <a:ea typeface="楷体" panose="02010609060101010101" pitchFamily="49" charset="-122"/>
                  </a:rPr>
                  <a:t>D</a:t>
                </a:r>
                <a:r>
                  <a:rPr lang="zh-CN" altLang="en-US" dirty="0" smtClean="0">
                    <a:latin typeface="楷体" panose="02010609060101010101" pitchFamily="49" charset="-122"/>
                    <a:ea typeface="楷体" panose="02010609060101010101" pitchFamily="49" charset="-122"/>
                  </a:rPr>
                  <a:t>为数据输入端，</a:t>
                </a:r>
                <a:r>
                  <a:rPr lang="en-US" altLang="zh-CN" dirty="0" smtClean="0">
                    <a:latin typeface="楷体" panose="02010609060101010101" pitchFamily="49" charset="-122"/>
                    <a:ea typeface="楷体" panose="02010609060101010101" pitchFamily="49" charset="-122"/>
                  </a:rPr>
                  <a:t>S</a:t>
                </a:r>
                <a:r>
                  <a:rPr lang="en-US" altLang="zh-CN" baseline="-25000" dirty="0" smtClean="0">
                    <a:latin typeface="楷体" panose="02010609060101010101" pitchFamily="49" charset="-122"/>
                    <a:ea typeface="楷体" panose="02010609060101010101" pitchFamily="49" charset="-122"/>
                  </a:rPr>
                  <a:t>1</a:t>
                </a:r>
                <a:r>
                  <a:rPr lang="en-US" altLang="zh-CN" dirty="0" smtClean="0">
                    <a:latin typeface="楷体" panose="02010609060101010101" pitchFamily="49" charset="-122"/>
                    <a:ea typeface="楷体" panose="02010609060101010101" pitchFamily="49" charset="-122"/>
                  </a:rPr>
                  <a:t>,S</a:t>
                </a:r>
                <a:r>
                  <a:rPr lang="en-US" altLang="zh-CN" baseline="-25000" dirty="0" smtClean="0">
                    <a:latin typeface="楷体" panose="02010609060101010101" pitchFamily="49" charset="-122"/>
                    <a:ea typeface="楷体" panose="02010609060101010101" pitchFamily="49" charset="-122"/>
                  </a:rPr>
                  <a:t>0</a:t>
                </a:r>
                <a:r>
                  <a:rPr lang="zh-CN" altLang="en-US" dirty="0" smtClean="0">
                    <a:latin typeface="楷体" panose="02010609060101010101" pitchFamily="49" charset="-122"/>
                    <a:ea typeface="楷体" panose="02010609060101010101" pitchFamily="49" charset="-122"/>
                  </a:rPr>
                  <a:t>为选择控制输入端，</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𝑓</m:t>
                    </m:r>
                    <m:r>
                      <a:rPr lang="en-US" altLang="zh-CN" i="1" baseline="-25000" dirty="0" smtClean="0">
                        <a:latin typeface="Cambria Math" panose="02040503050406030204" pitchFamily="18" charset="0"/>
                        <a:ea typeface="楷体" panose="02010609060101010101" pitchFamily="49" charset="-122"/>
                      </a:rPr>
                      <m:t>0</m:t>
                    </m:r>
                  </m:oMath>
                </a14:m>
                <a:r>
                  <a:rPr lang="zh-CN" altLang="en-US" dirty="0" smtClean="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𝑓</m:t>
                    </m:r>
                    <m:r>
                      <a:rPr lang="en-US" altLang="zh-CN" i="1" baseline="-25000" dirty="0" smtClean="0">
                        <a:latin typeface="Cambria Math" panose="02040503050406030204" pitchFamily="18" charset="0"/>
                        <a:ea typeface="楷体" panose="02010609060101010101" pitchFamily="49" charset="-122"/>
                      </a:rPr>
                      <m:t>3</m:t>
                    </m:r>
                  </m:oMath>
                </a14:m>
                <a:r>
                  <a:rPr lang="zh-CN" altLang="en-US" dirty="0" smtClean="0">
                    <a:latin typeface="楷体" panose="02010609060101010101" pitchFamily="49" charset="-122"/>
                    <a:ea typeface="楷体" panose="02010609060101010101" pitchFamily="49" charset="-122"/>
                  </a:rPr>
                  <a:t>为数据输出端。其逻辑功能示于表</a:t>
                </a:r>
                <a:r>
                  <a:rPr lang="en-US" altLang="zh-CN" dirty="0" smtClean="0">
                    <a:latin typeface="楷体" panose="02010609060101010101" pitchFamily="49" charset="-122"/>
                    <a:ea typeface="楷体" panose="02010609060101010101" pitchFamily="49" charset="-122"/>
                  </a:rPr>
                  <a:t>2.6</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071418"/>
                <a:ext cx="7886700" cy="5105545"/>
              </a:xfrm>
              <a:blipFill>
                <a:blip r:embed="rId2"/>
                <a:stretch>
                  <a:fillRect l="-1391" t="-1912" r="-1159"/>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823243" y="3233058"/>
            <a:ext cx="7776126" cy="2742211"/>
          </a:xfrm>
          <a:prstGeom prst="rect">
            <a:avLst/>
          </a:prstGeom>
        </p:spPr>
      </p:pic>
    </p:spTree>
    <p:extLst>
      <p:ext uri="{BB962C8B-B14F-4D97-AF65-F5344CB8AC3E}">
        <p14:creationId xmlns:p14="http://schemas.microsoft.com/office/powerpoint/2010/main" val="228331760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13737" y="257754"/>
            <a:ext cx="7652657" cy="990015"/>
          </a:xfrm>
          <a:prstGeom prst="rect">
            <a:avLst/>
          </a:prstGeom>
        </p:spPr>
        <p:txBody>
          <a:bodyPr wrap="square">
            <a:spAutoFit/>
          </a:bodyPr>
          <a:lstStyle/>
          <a:p>
            <a:pPr>
              <a:lnSpc>
                <a:spcPts val="3500"/>
              </a:lnSpc>
            </a:pPr>
            <a:r>
              <a:rPr lang="en-US" altLang="zh-CN" sz="2400" dirty="0">
                <a:latin typeface="楷体" panose="02010609060101010101" pitchFamily="49" charset="-122"/>
                <a:ea typeface="楷体" panose="02010609060101010101" pitchFamily="49" charset="-122"/>
              </a:rPr>
              <a:t>【例14】  利用数据选择器和数据分配器，画出实现8</a:t>
            </a:r>
            <a:r>
              <a:rPr lang="en-US" altLang="zh-CN" sz="2400" dirty="0" smtClean="0">
                <a:latin typeface="楷体" panose="02010609060101010101" pitchFamily="49" charset="-122"/>
                <a:ea typeface="楷体" panose="02010609060101010101" pitchFamily="49" charset="-122"/>
              </a:rPr>
              <a:t>路数据传输的</a:t>
            </a:r>
            <a:r>
              <a:rPr lang="en-US" altLang="zh-CN" sz="2400" b="1" dirty="0" smtClean="0">
                <a:solidFill>
                  <a:schemeClr val="accent1"/>
                </a:solidFill>
                <a:latin typeface="楷体" panose="02010609060101010101" pitchFamily="49" charset="-122"/>
                <a:ea typeface="楷体" panose="02010609060101010101" pitchFamily="49" charset="-122"/>
              </a:rPr>
              <a:t>逻辑示意图</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pic>
        <p:nvPicPr>
          <p:cNvPr id="2" name="图片 1"/>
          <p:cNvPicPr>
            <a:picLocks noChangeAspect="1"/>
          </p:cNvPicPr>
          <p:nvPr/>
        </p:nvPicPr>
        <p:blipFill>
          <a:blip r:embed="rId2"/>
          <a:stretch>
            <a:fillRect/>
          </a:stretch>
        </p:blipFill>
        <p:spPr>
          <a:xfrm>
            <a:off x="1775817" y="1330675"/>
            <a:ext cx="5528496" cy="4209196"/>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1590816" y="5899870"/>
                <a:ext cx="6434326" cy="541174"/>
              </a:xfrm>
              <a:prstGeom prst="rect">
                <a:avLst/>
              </a:prstGeom>
            </p:spPr>
            <p:txBody>
              <a:bodyPr wrap="none">
                <a:spAutoFit/>
              </a:bodyPr>
              <a:lstStyle/>
              <a:p>
                <a:pPr>
                  <a:lnSpc>
                    <a:spcPts val="3500"/>
                  </a:lnSpc>
                </a:pPr>
                <a:r>
                  <a:rPr lang="zh-CN" altLang="en-US" sz="2400" dirty="0">
                    <a:latin typeface="楷体" panose="02010609060101010101" pitchFamily="49" charset="-122"/>
                    <a:ea typeface="楷体" panose="02010609060101010101" pitchFamily="49" charset="-122"/>
                  </a:rPr>
                  <a:t>例如，当</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𝐴𝐵𝐶</m:t>
                    </m:r>
                    <m:r>
                      <a:rPr lang="en-US" altLang="zh-CN" sz="2400" i="1" dirty="0" smtClean="0">
                        <a:latin typeface="Cambria Math" panose="02040503050406030204" pitchFamily="18" charset="0"/>
                        <a:ea typeface="楷体" panose="02010609060101010101" pitchFamily="49" charset="-122"/>
                      </a:rPr>
                      <m:t>=101</m:t>
                    </m:r>
                  </m:oMath>
                </a14:m>
                <a:r>
                  <a:rPr lang="zh-CN" altLang="en-US" sz="2400" dirty="0">
                    <a:latin typeface="楷体" panose="02010609060101010101" pitchFamily="49" charset="-122"/>
                    <a:ea typeface="楷体" panose="02010609060101010101" pitchFamily="49" charset="-122"/>
                  </a:rPr>
                  <a:t>时，实现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dirty="0" smtClean="0">
                        <a:latin typeface="Cambria Math" panose="02040503050406030204" pitchFamily="18" charset="0"/>
                        <a:ea typeface="楷体" panose="02010609060101010101" pitchFamily="49" charset="-122"/>
                      </a:rPr>
                      <m:t>₅→</m:t>
                    </m:r>
                    <m:r>
                      <a:rPr lang="en-US" altLang="zh-CN" sz="2400" i="1" dirty="0" smtClean="0">
                        <a:latin typeface="Cambria Math" panose="02040503050406030204" pitchFamily="18" charset="0"/>
                        <a:ea typeface="楷体" panose="02010609060101010101" pitchFamily="49" charset="-122"/>
                      </a:rPr>
                      <m:t>𝑓</m:t>
                    </m:r>
                    <m:r>
                      <a:rPr lang="en-US" altLang="zh-CN" sz="2400" i="1" baseline="-25000" dirty="0">
                        <a:latin typeface="Cambria Math" panose="02040503050406030204" pitchFamily="18" charset="0"/>
                        <a:ea typeface="楷体" panose="02010609060101010101" pitchFamily="49" charset="-122"/>
                      </a:rPr>
                      <m:t>5</m:t>
                    </m:r>
                  </m:oMath>
                </a14:m>
                <a:r>
                  <a:rPr lang="zh-CN" altLang="en-US" sz="2400" dirty="0">
                    <a:latin typeface="楷体" panose="02010609060101010101" pitchFamily="49" charset="-122"/>
                    <a:ea typeface="楷体" panose="02010609060101010101" pitchFamily="49" charset="-122"/>
                  </a:rPr>
                  <a:t>的传输。</a:t>
                </a:r>
              </a:p>
            </p:txBody>
          </p:sp>
        </mc:Choice>
        <mc:Fallback xmlns="">
          <p:sp>
            <p:nvSpPr>
              <p:cNvPr id="3" name="矩形 2"/>
              <p:cNvSpPr>
                <a:spLocks noRot="1" noChangeAspect="1" noMove="1" noResize="1" noEditPoints="1" noAdjustHandles="1" noChangeArrowheads="1" noChangeShapeType="1" noTextEdit="1"/>
              </p:cNvSpPr>
              <p:nvPr/>
            </p:nvSpPr>
            <p:spPr>
              <a:xfrm>
                <a:off x="1590816" y="5899870"/>
                <a:ext cx="6434326" cy="541174"/>
              </a:xfrm>
              <a:prstGeom prst="rect">
                <a:avLst/>
              </a:prstGeom>
              <a:blipFill>
                <a:blip r:embed="rId3"/>
                <a:stretch>
                  <a:fillRect l="-1517" t="-5618" r="-569" b="-134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846935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1016000" y="1145309"/>
            <a:ext cx="6890327" cy="5031654"/>
          </a:xfrm>
        </p:spPr>
        <p:txBody>
          <a:bodyPr/>
          <a:lstStyle/>
          <a:p>
            <a:pPr>
              <a:lnSpc>
                <a:spcPts val="3500"/>
              </a:lnSpc>
            </a:pPr>
            <a:r>
              <a:rPr lang="zh-CN" altLang="en-US" dirty="0" smtClean="0">
                <a:latin typeface="楷体" panose="02010609060101010101" pitchFamily="49" charset="-122"/>
                <a:ea typeface="楷体" panose="02010609060101010101" pitchFamily="49" charset="-122"/>
              </a:rPr>
              <a:t>译码器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实现译码功能的组合逻辑电路称为</a:t>
            </a:r>
            <a:r>
              <a:rPr lang="zh-CN" altLang="en-US" b="1" dirty="0" smtClean="0">
                <a:solidFill>
                  <a:schemeClr val="accent1"/>
                </a:solidFill>
                <a:latin typeface="楷体" panose="02010609060101010101" pitchFamily="49" charset="-122"/>
                <a:ea typeface="楷体" panose="02010609060101010101" pitchFamily="49" charset="-122"/>
              </a:rPr>
              <a:t>译码器</a:t>
            </a:r>
            <a:endParaRPr lang="en-US" altLang="zh-CN" dirty="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译码器</a:t>
            </a:r>
            <a:r>
              <a:rPr lang="zh-CN" altLang="en-US" dirty="0" smtClean="0">
                <a:latin typeface="楷体" panose="02010609060101010101" pitchFamily="49" charset="-122"/>
                <a:ea typeface="楷体" panose="02010609060101010101" pitchFamily="49" charset="-122"/>
              </a:rPr>
              <a:t>的</a:t>
            </a:r>
            <a:r>
              <a:rPr lang="zh-CN" altLang="en-US" dirty="0">
                <a:latin typeface="楷体" panose="02010609060101010101" pitchFamily="49" charset="-122"/>
                <a:ea typeface="楷体" panose="02010609060101010101" pitchFamily="49" charset="-122"/>
              </a:rPr>
              <a:t>输入是一组二进制代码，输出是一</a:t>
            </a:r>
            <a:r>
              <a:rPr lang="zh-CN" altLang="en-US" dirty="0" smtClean="0">
                <a:latin typeface="楷体" panose="02010609060101010101" pitchFamily="49" charset="-122"/>
                <a:ea typeface="楷体" panose="02010609060101010101" pitchFamily="49" charset="-122"/>
              </a:rPr>
              <a:t>组高低</a:t>
            </a:r>
            <a:r>
              <a:rPr lang="zh-CN" altLang="en-US" dirty="0">
                <a:latin typeface="楷体" panose="02010609060101010101" pitchFamily="49" charset="-122"/>
                <a:ea typeface="楷体" panose="02010609060101010101" pitchFamily="49" charset="-122"/>
              </a:rPr>
              <a:t>电平信号。</a:t>
            </a:r>
            <a:r>
              <a:rPr lang="zh-CN" altLang="en-US" b="1" dirty="0">
                <a:latin typeface="楷体" panose="02010609060101010101" pitchFamily="49" charset="-122"/>
                <a:ea typeface="楷体" panose="02010609060101010101" pitchFamily="49" charset="-122"/>
              </a:rPr>
              <a:t>每输入一组不同的代码，</a:t>
            </a:r>
            <a:r>
              <a:rPr lang="zh-CN" altLang="en-US" b="1" dirty="0">
                <a:solidFill>
                  <a:srgbClr val="00B0F0"/>
                </a:solidFill>
                <a:latin typeface="楷体" panose="02010609060101010101" pitchFamily="49" charset="-122"/>
                <a:ea typeface="楷体" panose="02010609060101010101" pitchFamily="49" charset="-122"/>
              </a:rPr>
              <a:t>只有一个输出呈现有效状态</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因此</a:t>
            </a:r>
            <a:r>
              <a:rPr lang="zh-CN" altLang="en-US" dirty="0">
                <a:latin typeface="楷体" panose="02010609060101010101" pitchFamily="49" charset="-122"/>
                <a:ea typeface="楷体" panose="02010609060101010101" pitchFamily="49" charset="-122"/>
              </a:rPr>
              <a:t>通常称为</a:t>
            </a:r>
            <a:r>
              <a:rPr lang="zh-CN" altLang="en-US" dirty="0">
                <a:solidFill>
                  <a:schemeClr val="accent1"/>
                </a:solidFill>
                <a:latin typeface="楷体" panose="02010609060101010101" pitchFamily="49" charset="-122"/>
                <a:ea typeface="楷体" panose="02010609060101010101" pitchFamily="49" charset="-122"/>
              </a:rPr>
              <a:t>多</a:t>
            </a:r>
            <a:r>
              <a:rPr lang="zh-CN" altLang="en-US" dirty="0" smtClean="0">
                <a:solidFill>
                  <a:schemeClr val="accent1"/>
                </a:solidFill>
                <a:latin typeface="楷体" panose="02010609060101010101" pitchFamily="49" charset="-122"/>
                <a:ea typeface="楷体" panose="02010609060101010101" pitchFamily="49" charset="-122"/>
              </a:rPr>
              <a:t>一译码器</a:t>
            </a:r>
            <a:r>
              <a:rPr lang="zh-CN" altLang="en-US"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它是数字系统中最常用的逻辑构件之一</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50755524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6" name="矩形 5"/>
              <p:cNvSpPr/>
              <p:nvPr/>
            </p:nvSpPr>
            <p:spPr>
              <a:xfrm>
                <a:off x="1679363" y="5269743"/>
                <a:ext cx="5785271" cy="1378583"/>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思考题：计算机</a:t>
                </a:r>
                <a:r>
                  <a:rPr lang="zh-CN" altLang="en-US" sz="2400" dirty="0">
                    <a:latin typeface="楷体" panose="02010609060101010101" pitchFamily="49" charset="-122"/>
                    <a:ea typeface="楷体" panose="02010609060101010101" pitchFamily="49" charset="-122"/>
                  </a:rPr>
                  <a:t>最多连接</a:t>
                </a:r>
                <a:r>
                  <a:rPr lang="en-US" altLang="zh-CN" sz="2400" dirty="0">
                    <a:latin typeface="楷体" panose="02010609060101010101" pitchFamily="49" charset="-122"/>
                    <a:ea typeface="楷体" panose="02010609060101010101" pitchFamily="49" charset="-122"/>
                  </a:rPr>
                  <a:t>256</a:t>
                </a:r>
                <a:r>
                  <a:rPr lang="zh-CN" altLang="en-US" sz="2400" dirty="0">
                    <a:latin typeface="楷体" panose="02010609060101010101" pitchFamily="49" charset="-122"/>
                    <a:ea typeface="楷体" panose="02010609060101010101" pitchFamily="49" charset="-122"/>
                  </a:rPr>
                  <a:t>个外部设备，故用</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位设备地址</a:t>
                </a:r>
                <a14:m>
                  <m:oMath xmlns:m="http://schemas.openxmlformats.org/officeDocument/2006/math">
                    <m:sSub>
                      <m:sSubPr>
                        <m:ctrlPr>
                          <a:rPr lang="en-US" altLang="zh-CN" sz="2400" i="1" dirty="0">
                            <a:latin typeface="Cambria Math" panose="02040503050406030204" pitchFamily="18" charset="0"/>
                            <a:ea typeface="楷体" panose="02010609060101010101" pitchFamily="49" charset="-122"/>
                          </a:rPr>
                        </m:ctrlPr>
                      </m:sSubPr>
                      <m:e>
                        <m:r>
                          <a:rPr lang="en-US" altLang="zh-CN" sz="2400" i="1" dirty="0">
                            <a:latin typeface="Cambria Math" panose="02040503050406030204" pitchFamily="18" charset="0"/>
                            <a:ea typeface="楷体" panose="02010609060101010101" pitchFamily="49" charset="-122"/>
                          </a:rPr>
                          <m:t>𝐴</m:t>
                        </m:r>
                      </m:e>
                      <m:sub>
                        <m:r>
                          <a:rPr lang="en-US" altLang="zh-CN" sz="2400" b="0" i="1" dirty="0" smtClean="0">
                            <a:latin typeface="Cambria Math" panose="02040503050406030204" pitchFamily="18" charset="0"/>
                            <a:ea typeface="楷体" panose="02010609060101010101" pitchFamily="49" charset="-122"/>
                          </a:rPr>
                          <m:t>7</m:t>
                        </m:r>
                      </m:sub>
                    </m:sSub>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i="1" dirty="0">
                            <a:latin typeface="Cambria Math" panose="02040503050406030204" pitchFamily="18" charset="0"/>
                            <a:ea typeface="楷体" panose="02010609060101010101" pitchFamily="49" charset="-122"/>
                          </a:rPr>
                        </m:ctrlPr>
                      </m:sSubPr>
                      <m:e>
                        <m:r>
                          <a:rPr lang="en-US" altLang="zh-CN" sz="2400" i="1" dirty="0">
                            <a:latin typeface="Cambria Math" panose="02040503050406030204" pitchFamily="18" charset="0"/>
                            <a:ea typeface="楷体" panose="02010609060101010101" pitchFamily="49" charset="-122"/>
                          </a:rPr>
                          <m:t>𝐴</m:t>
                        </m:r>
                      </m:e>
                      <m:sub>
                        <m:r>
                          <a:rPr lang="en-US" altLang="zh-CN" sz="2400" i="1" dirty="0">
                            <a:latin typeface="Cambria Math" panose="02040503050406030204" pitchFamily="18" charset="0"/>
                            <a:ea typeface="楷体" panose="02010609060101010101" pitchFamily="49" charset="-122"/>
                          </a:rPr>
                          <m:t>0</m:t>
                        </m:r>
                      </m:sub>
                    </m:sSub>
                  </m:oMath>
                </a14:m>
                <a:r>
                  <a:rPr lang="zh-CN" altLang="en-US" sz="2400" dirty="0" smtClean="0">
                    <a:latin typeface="楷体" panose="02010609060101010101" pitchFamily="49" charset="-122"/>
                    <a:ea typeface="楷体" panose="02010609060101010101" pitchFamily="49" charset="-122"/>
                  </a:rPr>
                  <a:t>译码</a:t>
                </a:r>
                <a:r>
                  <a:rPr lang="zh-CN" altLang="en-US" sz="2400" dirty="0">
                    <a:latin typeface="楷体" panose="02010609060101010101" pitchFamily="49" charset="-122"/>
                    <a:ea typeface="楷体" panose="02010609060101010101" pitchFamily="49" charset="-122"/>
                  </a:rPr>
                  <a:t>来确定</a:t>
                </a:r>
                <a:r>
                  <a:rPr lang="zh-CN" altLang="en-US" sz="2400" dirty="0" smtClean="0">
                    <a:latin typeface="楷体" panose="02010609060101010101" pitchFamily="49" charset="-122"/>
                    <a:ea typeface="楷体" panose="02010609060101010101" pitchFamily="49" charset="-122"/>
                  </a:rPr>
                  <a:t>选中某</a:t>
                </a:r>
                <a:r>
                  <a:rPr lang="zh-CN" altLang="en-US" sz="2400" dirty="0">
                    <a:latin typeface="楷体" panose="02010609060101010101" pitchFamily="49" charset="-122"/>
                    <a:ea typeface="楷体" panose="02010609060101010101" pitchFamily="49" charset="-122"/>
                  </a:rPr>
                  <a:t>一外设，请提出一种译码器方案。</a:t>
                </a:r>
              </a:p>
            </p:txBody>
          </p:sp>
        </mc:Choice>
        <mc:Fallback xmlns="">
          <p:sp>
            <p:nvSpPr>
              <p:cNvPr id="6" name="矩形 5"/>
              <p:cNvSpPr>
                <a:spLocks noRot="1" noChangeAspect="1" noMove="1" noResize="1" noEditPoints="1" noAdjustHandles="1" noChangeArrowheads="1" noChangeShapeType="1" noTextEdit="1"/>
              </p:cNvSpPr>
              <p:nvPr/>
            </p:nvSpPr>
            <p:spPr>
              <a:xfrm>
                <a:off x="1679363" y="5269743"/>
                <a:ext cx="5785271" cy="1378583"/>
              </a:xfrm>
              <a:prstGeom prst="rect">
                <a:avLst/>
              </a:prstGeom>
              <a:blipFill>
                <a:blip r:embed="rId2"/>
                <a:stretch>
                  <a:fillRect l="-1579" t="-2203" r="-2211" b="-8811"/>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189697" y="1088704"/>
            <a:ext cx="8764601" cy="4181039"/>
          </a:xfrm>
          <a:prstGeom prst="rect">
            <a:avLst/>
          </a:prstGeom>
        </p:spPr>
      </p:pic>
    </p:spTree>
    <p:extLst>
      <p:ext uri="{BB962C8B-B14F-4D97-AF65-F5344CB8AC3E}">
        <p14:creationId xmlns:p14="http://schemas.microsoft.com/office/powerpoint/2010/main" val="117581221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14034" y="483758"/>
            <a:ext cx="8620119" cy="4383805"/>
          </a:xfrm>
          <a:prstGeom prst="rect">
            <a:avLst/>
          </a:prstGeom>
        </p:spPr>
      </p:pic>
    </p:spTree>
    <p:extLst>
      <p:ext uri="{BB962C8B-B14F-4D97-AF65-F5344CB8AC3E}">
        <p14:creationId xmlns:p14="http://schemas.microsoft.com/office/powerpoint/2010/main" val="104544904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095315"/>
                <a:ext cx="7647132" cy="5643418"/>
              </a:xfrm>
            </p:spPr>
            <p:txBody>
              <a:bodyPr>
                <a:normAutofit/>
              </a:bodyPr>
              <a:lstStyle/>
              <a:p>
                <a:pPr>
                  <a:lnSpc>
                    <a:spcPts val="3500"/>
                  </a:lnSpc>
                </a:pPr>
                <a:r>
                  <a:rPr lang="zh-CN" altLang="en-US" dirty="0" smtClean="0">
                    <a:latin typeface="楷体" panose="02010609060101010101" pitchFamily="49" charset="-122"/>
                    <a:ea typeface="楷体" panose="02010609060101010101" pitchFamily="49" charset="-122"/>
                  </a:rPr>
                  <a:t>译码器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常用</a:t>
                </a:r>
                <a:r>
                  <a:rPr lang="zh-CN" altLang="en-US" dirty="0">
                    <a:latin typeface="楷体" panose="02010609060101010101" pitchFamily="49" charset="-122"/>
                    <a:ea typeface="楷体" panose="02010609060101010101" pitchFamily="49" charset="-122"/>
                  </a:rPr>
                  <a:t>的译码器集成组件有：双</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线</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线译码器，</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线</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线译码器，</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线</a:t>
                </a:r>
                <a:r>
                  <a:rPr lang="en-US" altLang="zh-CN" dirty="0">
                    <a:latin typeface="楷体" panose="02010609060101010101" pitchFamily="49" charset="-122"/>
                    <a:ea typeface="楷体" panose="02010609060101010101" pitchFamily="49" charset="-122"/>
                  </a:rPr>
                  <a:t>-16</a:t>
                </a:r>
                <a:r>
                  <a:rPr lang="zh-CN" altLang="en-US" dirty="0">
                    <a:latin typeface="楷体" panose="02010609060101010101" pitchFamily="49" charset="-122"/>
                    <a:ea typeface="楷体" panose="02010609060101010101" pitchFamily="49" charset="-122"/>
                  </a:rPr>
                  <a:t>线</a:t>
                </a:r>
                <a:r>
                  <a:rPr lang="zh-CN" altLang="en-US" dirty="0" smtClean="0">
                    <a:latin typeface="楷体" panose="02010609060101010101" pitchFamily="49" charset="-122"/>
                    <a:ea typeface="楷体" panose="02010609060101010101" pitchFamily="49" charset="-122"/>
                  </a:rPr>
                  <a:t>译码器和</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线</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线译码器等，其中</a:t>
                </a:r>
                <a:r>
                  <a:rPr lang="en-US" altLang="zh-CN" b="1" dirty="0">
                    <a:latin typeface="楷体" panose="02010609060101010101" pitchFamily="49" charset="-122"/>
                    <a:ea typeface="楷体" panose="02010609060101010101" pitchFamily="49" charset="-122"/>
                  </a:rPr>
                  <a:t>4</a:t>
                </a:r>
                <a:r>
                  <a:rPr lang="zh-CN" altLang="en-US" b="1" dirty="0">
                    <a:latin typeface="楷体" panose="02010609060101010101" pitchFamily="49" charset="-122"/>
                    <a:ea typeface="楷体" panose="02010609060101010101" pitchFamily="49" charset="-122"/>
                  </a:rPr>
                  <a:t>线</a:t>
                </a:r>
                <a:r>
                  <a:rPr lang="en-US" altLang="zh-CN" b="1" dirty="0">
                    <a:latin typeface="楷体" panose="02010609060101010101" pitchFamily="49" charset="-122"/>
                    <a:ea typeface="楷体" panose="02010609060101010101" pitchFamily="49" charset="-122"/>
                  </a:rPr>
                  <a:t>-10</a:t>
                </a:r>
                <a:r>
                  <a:rPr lang="zh-CN" altLang="en-US" b="1" dirty="0">
                    <a:latin typeface="楷体" panose="02010609060101010101" pitchFamily="49" charset="-122"/>
                    <a:ea typeface="楷体" panose="02010609060101010101" pitchFamily="49" charset="-122"/>
                  </a:rPr>
                  <a:t>线译码器用于</a:t>
                </a:r>
                <a:r>
                  <a:rPr lang="en-US" altLang="zh-CN" b="1" dirty="0">
                    <a:latin typeface="楷体" panose="02010609060101010101" pitchFamily="49" charset="-122"/>
                    <a:ea typeface="楷体" panose="02010609060101010101" pitchFamily="49" charset="-122"/>
                  </a:rPr>
                  <a:t>BCD</a:t>
                </a:r>
                <a:r>
                  <a:rPr lang="zh-CN" altLang="en-US" b="1" dirty="0">
                    <a:latin typeface="楷体" panose="02010609060101010101" pitchFamily="49" charset="-122"/>
                    <a:ea typeface="楷体" panose="02010609060101010101" pitchFamily="49" charset="-122"/>
                  </a:rPr>
                  <a:t>码译码</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en-US" altLang="zh-CN" dirty="0">
                    <a:latin typeface="楷体" panose="02010609060101010101" pitchFamily="49" charset="-122"/>
                    <a:ea typeface="楷体" panose="02010609060101010101" pitchFamily="49" charset="-122"/>
                  </a:rPr>
                  <a:t>3</a:t>
                </a:r>
                <a:r>
                  <a:rPr lang="zh-CN" altLang="zh-CN" dirty="0">
                    <a:latin typeface="楷体" panose="02010609060101010101" pitchFamily="49" charset="-122"/>
                    <a:ea typeface="楷体" panose="02010609060101010101" pitchFamily="49" charset="-122"/>
                  </a:rPr>
                  <a:t>线</a:t>
                </a:r>
                <a:r>
                  <a:rPr lang="en-US" altLang="zh-CN" dirty="0">
                    <a:latin typeface="楷体" panose="02010609060101010101" pitchFamily="49" charset="-122"/>
                    <a:ea typeface="楷体" panose="02010609060101010101" pitchFamily="49" charset="-122"/>
                  </a:rPr>
                  <a:t>-8</a:t>
                </a:r>
                <a:r>
                  <a:rPr lang="zh-CN" altLang="zh-CN" dirty="0">
                    <a:latin typeface="楷体" panose="02010609060101010101" pitchFamily="49" charset="-122"/>
                    <a:ea typeface="楷体" panose="02010609060101010101" pitchFamily="49" charset="-122"/>
                  </a:rPr>
                  <a:t>线译码器和</a:t>
                </a:r>
                <a:r>
                  <a:rPr lang="en-US" altLang="zh-CN" dirty="0">
                    <a:latin typeface="楷体" panose="02010609060101010101" pitchFamily="49" charset="-122"/>
                    <a:ea typeface="楷体" panose="02010609060101010101" pitchFamily="49" charset="-122"/>
                  </a:rPr>
                  <a:t>2</a:t>
                </a:r>
                <a:r>
                  <a:rPr lang="zh-CN" altLang="zh-CN" dirty="0">
                    <a:latin typeface="楷体" panose="02010609060101010101" pitchFamily="49" charset="-122"/>
                    <a:ea typeface="楷体" panose="02010609060101010101" pitchFamily="49" charset="-122"/>
                  </a:rPr>
                  <a:t>线</a:t>
                </a:r>
                <a:r>
                  <a:rPr lang="en-US" altLang="zh-CN" dirty="0">
                    <a:latin typeface="楷体" panose="02010609060101010101" pitchFamily="49" charset="-122"/>
                    <a:ea typeface="楷体" panose="02010609060101010101" pitchFamily="49" charset="-122"/>
                  </a:rPr>
                  <a:t>-4</a:t>
                </a:r>
                <a:r>
                  <a:rPr lang="zh-CN" altLang="zh-CN" dirty="0">
                    <a:latin typeface="楷体" panose="02010609060101010101" pitchFamily="49" charset="-122"/>
                    <a:ea typeface="楷体" panose="02010609060101010101" pitchFamily="49" charset="-122"/>
                  </a:rPr>
                  <a:t>线</a:t>
                </a:r>
                <a:r>
                  <a:rPr lang="zh-CN" altLang="zh-CN" dirty="0" smtClean="0">
                    <a:latin typeface="楷体" panose="02010609060101010101" pitchFamily="49" charset="-122"/>
                    <a:ea typeface="楷体" panose="02010609060101010101" pitchFamily="49" charset="-122"/>
                  </a:rPr>
                  <a:t>译码器</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en-US" sz="2400" dirty="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2.23(a) </a:t>
                </a:r>
                <a:r>
                  <a:rPr lang="zh-CN" altLang="en-US" sz="2400" dirty="0">
                    <a:latin typeface="楷体" panose="02010609060101010101" pitchFamily="49" charset="-122"/>
                    <a:ea typeface="楷体" panose="02010609060101010101" pitchFamily="49" charset="-122"/>
                  </a:rPr>
                  <a:t>示出了</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线</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线译码器的逻辑电路图。它有三个数据输入端</a:t>
                </a:r>
                <a:r>
                  <a:rPr lang="en-US" altLang="zh-CN" sz="2400" dirty="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2</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0</m:t>
                    </m:r>
                  </m:oMath>
                </a14:m>
                <a:r>
                  <a:rPr lang="en-US" altLang="zh-CN" sz="2400" dirty="0" smtClean="0">
                    <a:latin typeface="楷体" panose="02010609060101010101" pitchFamily="49" charset="-122"/>
                    <a:ea typeface="楷体" panose="02010609060101010101" pitchFamily="49" charset="-122"/>
                  </a:rPr>
                  <a:t>), 8</a:t>
                </a:r>
                <a:r>
                  <a:rPr lang="zh-CN" altLang="en-US" sz="2400" dirty="0" smtClean="0">
                    <a:latin typeface="楷体" panose="02010609060101010101" pitchFamily="49" charset="-122"/>
                    <a:ea typeface="楷体" panose="02010609060101010101" pitchFamily="49" charset="-122"/>
                  </a:rPr>
                  <a:t>个</a:t>
                </a:r>
                <a:r>
                  <a:rPr lang="zh-CN" altLang="en-US" sz="2400" dirty="0">
                    <a:latin typeface="楷体" panose="02010609060101010101" pitchFamily="49" charset="-122"/>
                    <a:ea typeface="楷体" panose="02010609060101010101" pitchFamily="49" charset="-122"/>
                  </a:rPr>
                  <a:t>输出端</a:t>
                </a:r>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i="1" smtClean="0">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𝑌</m:t>
                            </m:r>
                          </m:e>
                        </m:acc>
                      </m:e>
                      <m:sub>
                        <m:r>
                          <a:rPr lang="en-US" altLang="zh-CN" sz="2400" b="0" i="1" smtClean="0">
                            <a:latin typeface="Cambria Math" panose="02040503050406030204" pitchFamily="18" charset="0"/>
                            <a:ea typeface="楷体" panose="02010609060101010101" pitchFamily="49" charset="-122"/>
                          </a:rPr>
                          <m:t>0</m:t>
                        </m:r>
                      </m:sub>
                    </m:sSub>
                  </m:oMath>
                </a14:m>
                <a:r>
                  <a:rPr lang="en-US" altLang="zh-CN" sz="2400" dirty="0" smtClean="0">
                    <a:latin typeface="+mn-ea"/>
                  </a:rPr>
                  <a:t>~</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𝑌</m:t>
                            </m:r>
                          </m:e>
                        </m:acc>
                      </m:e>
                      <m:sub>
                        <m:r>
                          <a:rPr lang="en-US" altLang="zh-CN" sz="2400" b="0" i="1" smtClean="0">
                            <a:latin typeface="Cambria Math" panose="02040503050406030204" pitchFamily="18" charset="0"/>
                          </a:rPr>
                          <m:t>7</m:t>
                        </m:r>
                      </m:sub>
                    </m:sSub>
                  </m:oMath>
                </a14:m>
                <a:r>
                  <a:rPr lang="en-US" altLang="zh-CN" sz="2400" dirty="0" smtClean="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另有</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个使能输入端</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一个高电平有效和两个低电平有效</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。其功能</a:t>
                </a:r>
                <a:r>
                  <a:rPr lang="zh-CN" altLang="en-US" sz="2400" dirty="0" smtClean="0">
                    <a:latin typeface="楷体" panose="02010609060101010101" pitchFamily="49" charset="-122"/>
                    <a:ea typeface="楷体" panose="02010609060101010101" pitchFamily="49" charset="-122"/>
                  </a:rPr>
                  <a:t>表如</a:t>
                </a:r>
                <a:r>
                  <a:rPr lang="zh-CN" altLang="en-US" sz="2400" dirty="0">
                    <a:latin typeface="楷体" panose="02010609060101010101" pitchFamily="49" charset="-122"/>
                    <a:ea typeface="楷体" panose="02010609060101010101" pitchFamily="49" charset="-122"/>
                  </a:rPr>
                  <a:t>表</a:t>
                </a:r>
                <a:r>
                  <a:rPr lang="en-US" altLang="zh-CN" sz="2400" dirty="0">
                    <a:latin typeface="楷体" panose="02010609060101010101" pitchFamily="49" charset="-122"/>
                    <a:ea typeface="楷体" panose="02010609060101010101" pitchFamily="49" charset="-122"/>
                  </a:rPr>
                  <a:t>2.7</a:t>
                </a:r>
                <a:r>
                  <a:rPr lang="zh-CN" altLang="en-US" sz="2400" dirty="0">
                    <a:latin typeface="楷体" panose="02010609060101010101" pitchFamily="49" charset="-122"/>
                    <a:ea typeface="楷体" panose="02010609060101010101" pitchFamily="49" charset="-122"/>
                  </a:rPr>
                  <a:t>所示</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095315"/>
                <a:ext cx="7647132" cy="5643418"/>
              </a:xfrm>
              <a:blipFill>
                <a:blip r:embed="rId2"/>
                <a:stretch>
                  <a:fillRect l="-1434" t="-1730" r="-43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2875693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1" y="993715"/>
                <a:ext cx="7794914" cy="5643418"/>
              </a:xfrm>
            </p:spPr>
            <p:txBody>
              <a:bodyPr>
                <a:normAutofit/>
              </a:bodyPr>
              <a:lstStyle/>
              <a:p>
                <a:r>
                  <a:rPr lang="zh-CN" altLang="en-US" dirty="0" smtClean="0">
                    <a:latin typeface="楷体" panose="02010609060101010101" pitchFamily="49" charset="-122"/>
                    <a:ea typeface="楷体" panose="02010609060101010101" pitchFamily="49" charset="-122"/>
                  </a:rPr>
                  <a:t>译码器</a:t>
                </a:r>
                <a:endParaRPr lang="en-US" altLang="zh-CN" dirty="0" smtClean="0">
                  <a:latin typeface="楷体" panose="02010609060101010101" pitchFamily="49" charset="-122"/>
                  <a:ea typeface="楷体" panose="02010609060101010101" pitchFamily="49" charset="-122"/>
                </a:endParaRPr>
              </a:p>
              <a:p>
                <a:pPr lvl="1">
                  <a:lnSpc>
                    <a:spcPts val="3500"/>
                  </a:lnSpc>
                </a:pPr>
                <a:r>
                  <a:rPr lang="en-US" altLang="zh-CN" dirty="0" smtClean="0">
                    <a:latin typeface="楷体" panose="02010609060101010101" pitchFamily="49" charset="-122"/>
                    <a:ea typeface="楷体" panose="02010609060101010101" pitchFamily="49" charset="-122"/>
                  </a:rPr>
                  <a:t>3</a:t>
                </a:r>
                <a:r>
                  <a:rPr lang="zh-CN" altLang="zh-CN" dirty="0">
                    <a:latin typeface="楷体" panose="02010609060101010101" pitchFamily="49" charset="-122"/>
                    <a:ea typeface="楷体" panose="02010609060101010101" pitchFamily="49" charset="-122"/>
                  </a:rPr>
                  <a:t>线</a:t>
                </a:r>
                <a:r>
                  <a:rPr lang="en-US" altLang="zh-CN" dirty="0">
                    <a:latin typeface="楷体" panose="02010609060101010101" pitchFamily="49" charset="-122"/>
                    <a:ea typeface="楷体" panose="02010609060101010101" pitchFamily="49" charset="-122"/>
                  </a:rPr>
                  <a:t>-8</a:t>
                </a:r>
                <a:r>
                  <a:rPr lang="zh-CN" altLang="zh-CN" dirty="0">
                    <a:latin typeface="楷体" panose="02010609060101010101" pitchFamily="49" charset="-122"/>
                    <a:ea typeface="楷体" panose="02010609060101010101" pitchFamily="49" charset="-122"/>
                  </a:rPr>
                  <a:t>线译码器和</a:t>
                </a:r>
                <a:r>
                  <a:rPr lang="en-US" altLang="zh-CN" dirty="0">
                    <a:latin typeface="楷体" panose="02010609060101010101" pitchFamily="49" charset="-122"/>
                    <a:ea typeface="楷体" panose="02010609060101010101" pitchFamily="49" charset="-122"/>
                  </a:rPr>
                  <a:t>2</a:t>
                </a:r>
                <a:r>
                  <a:rPr lang="zh-CN" altLang="zh-CN" dirty="0">
                    <a:latin typeface="楷体" panose="02010609060101010101" pitchFamily="49" charset="-122"/>
                    <a:ea typeface="楷体" panose="02010609060101010101" pitchFamily="49" charset="-122"/>
                  </a:rPr>
                  <a:t>线</a:t>
                </a:r>
                <a:r>
                  <a:rPr lang="en-US" altLang="zh-CN" dirty="0">
                    <a:latin typeface="楷体" panose="02010609060101010101" pitchFamily="49" charset="-122"/>
                    <a:ea typeface="楷体" panose="02010609060101010101" pitchFamily="49" charset="-122"/>
                  </a:rPr>
                  <a:t>-4</a:t>
                </a:r>
                <a:r>
                  <a:rPr lang="zh-CN" altLang="zh-CN" dirty="0">
                    <a:latin typeface="楷体" panose="02010609060101010101" pitchFamily="49" charset="-122"/>
                    <a:ea typeface="楷体" panose="02010609060101010101" pitchFamily="49" charset="-122"/>
                  </a:rPr>
                  <a:t>线</a:t>
                </a:r>
                <a:r>
                  <a:rPr lang="zh-CN" altLang="zh-CN" dirty="0" smtClean="0">
                    <a:latin typeface="楷体" panose="02010609060101010101" pitchFamily="49" charset="-122"/>
                    <a:ea typeface="楷体" panose="02010609060101010101" pitchFamily="49" charset="-122"/>
                  </a:rPr>
                  <a:t>译码器</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en-US" sz="2400" dirty="0" smtClean="0">
                    <a:latin typeface="楷体" panose="02010609060101010101" pitchFamily="49" charset="-122"/>
                    <a:ea typeface="楷体" panose="02010609060101010101" pitchFamily="49" charset="-122"/>
                  </a:rPr>
                  <a:t>译码器</a:t>
                </a:r>
                <a:r>
                  <a:rPr lang="zh-CN" altLang="en-US" sz="2400" dirty="0">
                    <a:latin typeface="楷体" panose="02010609060101010101" pitchFamily="49" charset="-122"/>
                    <a:ea typeface="楷体" panose="02010609060101010101" pitchFamily="49" charset="-122"/>
                  </a:rPr>
                  <a:t>可对</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线中的某一线进行译码，究竟译哪条线，</a:t>
                </a:r>
                <a:r>
                  <a:rPr lang="zh-CN" altLang="en-US" sz="2400" dirty="0" smtClean="0">
                    <a:latin typeface="楷体" panose="02010609060101010101" pitchFamily="49" charset="-122"/>
                    <a:ea typeface="楷体" panose="02010609060101010101" pitchFamily="49" charset="-122"/>
                  </a:rPr>
                  <a:t>要看</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0</m:t>
                    </m:r>
                  </m:oMath>
                </a14:m>
                <a:r>
                  <a:rPr lang="zh-CN" altLang="en-US" sz="2400" dirty="0" smtClean="0">
                    <a:latin typeface="楷体" panose="02010609060101010101" pitchFamily="49" charset="-122"/>
                    <a:ea typeface="楷体" panose="02010609060101010101" pitchFamily="49" charset="-122"/>
                  </a:rPr>
                  <a:t>三</a:t>
                </a:r>
                <a:r>
                  <a:rPr lang="zh-CN" altLang="en-US" sz="2400" dirty="0">
                    <a:latin typeface="楷体" panose="02010609060101010101" pitchFamily="49" charset="-122"/>
                    <a:ea typeface="楷体" panose="02010609060101010101" pitchFamily="49" charset="-122"/>
                  </a:rPr>
                  <a:t>个数据输入和</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𝐺</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latin typeface="Cambria Math" panose="02040503050406030204" pitchFamily="18" charset="0"/>
                        <a:ea typeface="楷体" panose="02010609060101010101" pitchFamily="49" charset="-122"/>
                      </a:rPr>
                      <m:t>, </m:t>
                    </m:r>
                    <m:r>
                      <a:rPr lang="en-US" altLang="zh-CN" sz="2400" i="1" dirty="0" smtClean="0">
                        <a:latin typeface="Cambria Math" panose="02040503050406030204" pitchFamily="18" charset="0"/>
                        <a:ea typeface="楷体" panose="02010609060101010101" pitchFamily="49" charset="-122"/>
                      </a:rPr>
                      <m:t>𝐺</m:t>
                    </m:r>
                    <m:r>
                      <a:rPr lang="en-US" altLang="zh-CN" sz="2400" i="1" baseline="-25000" dirty="0" smtClean="0">
                        <a:latin typeface="Cambria Math" panose="02040503050406030204" pitchFamily="18" charset="0"/>
                        <a:ea typeface="楷体" panose="02010609060101010101" pitchFamily="49" charset="-122"/>
                      </a:rPr>
                      <m:t>2</m:t>
                    </m:r>
                    <m:r>
                      <a:rPr lang="en-US" altLang="zh-CN" sz="2400" i="1" baseline="-25000" dirty="0" smtClean="0">
                        <a:latin typeface="Cambria Math" panose="02040503050406030204" pitchFamily="18" charset="0"/>
                        <a:ea typeface="楷体" panose="02010609060101010101" pitchFamily="49" charset="-122"/>
                      </a:rPr>
                      <m:t>𝐴</m:t>
                    </m:r>
                    <m:r>
                      <a:rPr lang="en-US" altLang="zh-CN" sz="2400" i="1" dirty="0" smtClean="0">
                        <a:latin typeface="Cambria Math" panose="02040503050406030204" pitchFamily="18" charset="0"/>
                        <a:ea typeface="楷体" panose="02010609060101010101" pitchFamily="49" charset="-122"/>
                      </a:rPr>
                      <m:t>, </m:t>
                    </m:r>
                    <m:r>
                      <a:rPr lang="en-US" altLang="zh-CN" sz="2400" i="1" dirty="0" smtClean="0">
                        <a:latin typeface="Cambria Math" panose="02040503050406030204" pitchFamily="18" charset="0"/>
                        <a:ea typeface="楷体" panose="02010609060101010101" pitchFamily="49" charset="-122"/>
                      </a:rPr>
                      <m:t>𝐺</m:t>
                    </m:r>
                    <m:r>
                      <a:rPr lang="en-US" altLang="zh-CN" sz="2400" i="1" baseline="-25000" dirty="0" smtClean="0">
                        <a:latin typeface="Cambria Math" panose="02040503050406030204" pitchFamily="18" charset="0"/>
                        <a:ea typeface="楷体" panose="02010609060101010101" pitchFamily="49" charset="-122"/>
                      </a:rPr>
                      <m:t>2</m:t>
                    </m:r>
                    <m:r>
                      <a:rPr lang="en-US" altLang="zh-CN" sz="2400" i="1" baseline="-25000" dirty="0" smtClean="0">
                        <a:latin typeface="Cambria Math" panose="02040503050406030204" pitchFamily="18" charset="0"/>
                        <a:ea typeface="楷体" panose="02010609060101010101" pitchFamily="49" charset="-122"/>
                      </a:rPr>
                      <m:t>𝐵</m:t>
                    </m:r>
                    <m:r>
                      <a:rPr lang="en-US" altLang="zh-CN" sz="2400" i="1" baseline="-25000" dirty="0" smtClean="0">
                        <a:latin typeface="Cambria Math" panose="02040503050406030204" pitchFamily="18" charset="0"/>
                        <a:ea typeface="楷体" panose="02010609060101010101" pitchFamily="49" charset="-122"/>
                      </a:rPr>
                      <m:t> </m:t>
                    </m:r>
                  </m:oMath>
                </a14:m>
                <a:r>
                  <a:rPr lang="zh-CN" altLang="en-US" sz="2400" dirty="0">
                    <a:latin typeface="楷体" panose="02010609060101010101" pitchFamily="49" charset="-122"/>
                    <a:ea typeface="楷体" panose="02010609060101010101" pitchFamily="49" charset="-122"/>
                  </a:rPr>
                  <a:t>三个</a:t>
                </a:r>
                <a:r>
                  <a:rPr lang="zh-CN" altLang="en-US" sz="2400" b="1" dirty="0">
                    <a:latin typeface="楷体" panose="02010609060101010101" pitchFamily="49" charset="-122"/>
                    <a:ea typeface="楷体" panose="02010609060101010101" pitchFamily="49" charset="-122"/>
                  </a:rPr>
                  <a:t>使能输入</a:t>
                </a:r>
                <a:r>
                  <a:rPr lang="zh-CN" altLang="en-US" sz="2400" dirty="0">
                    <a:latin typeface="楷体" panose="02010609060101010101" pitchFamily="49" charset="-122"/>
                    <a:ea typeface="楷体" panose="02010609060101010101" pitchFamily="49" charset="-122"/>
                  </a:rPr>
                  <a:t>的条件而定</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lvl="2">
                  <a:lnSpc>
                    <a:spcPts val="3500"/>
                  </a:lnSpc>
                </a:pPr>
                <a:r>
                  <a:rPr lang="zh-CN" altLang="en-US" sz="2400" dirty="0" smtClean="0">
                    <a:latin typeface="楷体" panose="02010609060101010101" pitchFamily="49" charset="-122"/>
                    <a:ea typeface="楷体" panose="02010609060101010101" pitchFamily="49" charset="-122"/>
                  </a:rPr>
                  <a:t>在</a:t>
                </a:r>
                <a:r>
                  <a:rPr lang="zh-CN" altLang="en-US" sz="2400" dirty="0">
                    <a:latin typeface="楷体" panose="02010609060101010101" pitchFamily="49" charset="-122"/>
                    <a:ea typeface="楷体" panose="02010609060101010101" pitchFamily="49" charset="-122"/>
                  </a:rPr>
                  <a:t>作为译码器使用时</a:t>
                </a:r>
                <a:r>
                  <a:rPr lang="zh-CN" altLang="en-US" sz="2400" dirty="0" smtClean="0">
                    <a:latin typeface="楷体" panose="02010609060101010101" pitchFamily="49" charset="-122"/>
                    <a:ea typeface="楷体" panose="02010609060101010101" pitchFamily="49" charset="-122"/>
                  </a:rPr>
                  <a:t>，使</a:t>
                </a:r>
                <a:r>
                  <a:rPr lang="zh-CN" altLang="en-US" sz="2400" dirty="0">
                    <a:latin typeface="楷体" panose="02010609060101010101" pitchFamily="49" charset="-122"/>
                    <a:ea typeface="楷体" panose="02010609060101010101" pitchFamily="49" charset="-122"/>
                  </a:rPr>
                  <a:t>能端必须满足</a:t>
                </a:r>
                <a14:m>
                  <m:oMath xmlns:m="http://schemas.openxmlformats.org/officeDocument/2006/math">
                    <m:r>
                      <a:rPr lang="en-US" altLang="zh-CN" sz="2400" i="1" dirty="0" smtClean="0">
                        <a:latin typeface="Cambria Math" panose="02040503050406030204" pitchFamily="18" charset="0"/>
                      </a:rPr>
                      <m:t>𝐺</m:t>
                    </m:r>
                    <m:r>
                      <a:rPr lang="en-US" altLang="zh-CN" sz="2400" i="1" baseline="-25000" dirty="0">
                        <a:latin typeface="Cambria Math" panose="02040503050406030204" pitchFamily="18" charset="0"/>
                      </a:rPr>
                      <m:t>1 </m:t>
                    </m:r>
                    <m:r>
                      <a:rPr lang="en-US" altLang="zh-CN" sz="2400" i="1" dirty="0" smtClean="0">
                        <a:latin typeface="Cambria Math" panose="02040503050406030204" pitchFamily="18" charset="0"/>
                      </a:rPr>
                      <m:t>=1</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b="0" i="0" dirty="0" smtClean="0">
                        <a:latin typeface="Cambria Math" panose="02040503050406030204" pitchFamily="18" charset="0"/>
                      </a:rPr>
                      <m:t>  </m:t>
                    </m:r>
                    <m:r>
                      <a:rPr lang="en-US" altLang="zh-CN" sz="2400" i="1" dirty="0" smtClean="0">
                        <a:latin typeface="Cambria Math" panose="02040503050406030204" pitchFamily="18" charset="0"/>
                      </a:rPr>
                      <m:t>𝐺</m:t>
                    </m:r>
                    <m:r>
                      <a:rPr lang="en-US" altLang="zh-CN" sz="2400" i="1" baseline="-25000" dirty="0" smtClean="0">
                        <a:latin typeface="Cambria Math" panose="02040503050406030204" pitchFamily="18" charset="0"/>
                      </a:rPr>
                      <m:t>2</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𝐺</m:t>
                    </m:r>
                    <m:r>
                      <a:rPr lang="en-US" altLang="zh-CN" sz="2400" i="1" baseline="-25000" dirty="0" smtClean="0">
                        <a:latin typeface="Cambria Math" panose="02040503050406030204" pitchFamily="18" charset="0"/>
                      </a:rPr>
                      <m:t>2</m:t>
                    </m:r>
                    <m:r>
                      <a:rPr lang="en-US" altLang="zh-CN" sz="2400" i="1" baseline="-25000" dirty="0" smtClean="0">
                        <a:latin typeface="Cambria Math" panose="02040503050406030204" pitchFamily="18" charset="0"/>
                      </a:rPr>
                      <m:t>𝐴</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𝐺</m:t>
                    </m:r>
                    <m:r>
                      <a:rPr lang="en-US" altLang="zh-CN" sz="2400" i="1" baseline="-25000" dirty="0" smtClean="0">
                        <a:latin typeface="Cambria Math" panose="02040503050406030204" pitchFamily="18" charset="0"/>
                      </a:rPr>
                      <m:t>2</m:t>
                    </m:r>
                    <m:r>
                      <a:rPr lang="en-US" altLang="zh-CN" sz="2400" i="1" baseline="-25000" dirty="0" smtClean="0">
                        <a:latin typeface="Cambria Math" panose="02040503050406030204" pitchFamily="18" charset="0"/>
                      </a:rPr>
                      <m:t>𝐵</m:t>
                    </m:r>
                    <m:r>
                      <a:rPr lang="en-US" altLang="zh-CN" sz="2400" i="1" dirty="0" smtClean="0">
                        <a:latin typeface="Cambria Math" panose="02040503050406030204" pitchFamily="18" charset="0"/>
                      </a:rPr>
                      <m:t>=0 </m:t>
                    </m:r>
                  </m:oMath>
                </a14:m>
                <a:r>
                  <a:rPr lang="zh-CN" altLang="en-US" sz="2400" dirty="0" smtClean="0">
                    <a:latin typeface="楷体" panose="02010609060101010101" pitchFamily="49" charset="-122"/>
                    <a:ea typeface="楷体" panose="02010609060101010101" pitchFamily="49" charset="-122"/>
                  </a:rPr>
                  <a:t>的</a:t>
                </a:r>
                <a:r>
                  <a:rPr lang="zh-CN" altLang="en-US" sz="2400" dirty="0">
                    <a:latin typeface="楷体" panose="02010609060101010101" pitchFamily="49" charset="-122"/>
                    <a:ea typeface="楷体" panose="02010609060101010101" pitchFamily="49" charset="-122"/>
                  </a:rPr>
                  <a:t>条件。当某一线输出为低电平时，对应的一组</a:t>
                </a:r>
                <a:r>
                  <a:rPr lang="zh-CN" altLang="en-US" sz="2400" dirty="0" smtClean="0">
                    <a:latin typeface="楷体" panose="02010609060101010101" pitchFamily="49" charset="-122"/>
                    <a:ea typeface="楷体" panose="02010609060101010101" pitchFamily="49" charset="-122"/>
                  </a:rPr>
                  <a:t>数据</a:t>
                </a:r>
                <a:r>
                  <a:rPr lang="zh-CN" altLang="en-US" sz="2400" dirty="0">
                    <a:latin typeface="楷体" panose="02010609060101010101" pitchFamily="49" charset="-122"/>
                    <a:ea typeface="楷体" panose="02010609060101010101" pitchFamily="49" charset="-122"/>
                  </a:rPr>
                  <a:t>线输入信号被译码</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lvl="2">
                  <a:lnSpc>
                    <a:spcPts val="3500"/>
                  </a:lnSpc>
                </a:pPr>
                <a:r>
                  <a:rPr lang="zh-CN" altLang="en-US" sz="2400" dirty="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2.23(b</a:t>
                </a:r>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示</a:t>
                </a:r>
                <a:r>
                  <a:rPr lang="zh-CN" altLang="en-US" sz="2400" dirty="0">
                    <a:latin typeface="楷体" panose="02010609060101010101" pitchFamily="49" charset="-122"/>
                    <a:ea typeface="楷体" panose="02010609060101010101" pitchFamily="49" charset="-122"/>
                  </a:rPr>
                  <a:t>出了</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线</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线译码器的逻辑图，在一个封装的芯片中有两个独立的</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线</a:t>
                </a:r>
                <a:r>
                  <a:rPr lang="en-US" altLang="zh-CN" sz="2400" dirty="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4</a:t>
                </a:r>
                <a:r>
                  <a:rPr lang="zh-CN" altLang="en-US" sz="2400" dirty="0" smtClean="0">
                    <a:latin typeface="楷体" panose="02010609060101010101" pitchFamily="49" charset="-122"/>
                    <a:ea typeface="楷体" panose="02010609060101010101" pitchFamily="49" charset="-122"/>
                  </a:rPr>
                  <a:t>线</a:t>
                </a:r>
                <a:r>
                  <a:rPr lang="zh-CN" altLang="en-US" sz="2400" dirty="0">
                    <a:latin typeface="楷体" panose="02010609060101010101" pitchFamily="49" charset="-122"/>
                    <a:ea typeface="楷体" panose="02010609060101010101" pitchFamily="49" charset="-122"/>
                  </a:rPr>
                  <a:t>译码器</a:t>
                </a:r>
                <a:r>
                  <a:rPr lang="zh-CN" altLang="en-US"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 2</a:t>
                </a:r>
                <a:r>
                  <a:rPr lang="zh-CN" altLang="en-US" sz="2400" dirty="0">
                    <a:latin typeface="楷体" panose="02010609060101010101" pitchFamily="49" charset="-122"/>
                    <a:ea typeface="楷体" panose="02010609060101010101" pitchFamily="49" charset="-122"/>
                  </a:rPr>
                  <a:t>线</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线译码器只有一个使能输入端</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𝐺</m:t>
                    </m:r>
                  </m:oMath>
                </a14:m>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其工作原理与</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线</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线译码器类似。</a:t>
                </a:r>
                <a:endParaRPr lang="zh-CN" altLang="zh-CN" sz="2400" dirty="0">
                  <a:latin typeface="楷体" panose="02010609060101010101" pitchFamily="49" charset="-122"/>
                  <a:ea typeface="楷体" panose="02010609060101010101" pitchFamily="49" charset="-122"/>
                </a:endParaRPr>
              </a:p>
              <a:p>
                <a:pPr lvl="1"/>
                <a:endParaRPr lang="en-US" altLang="zh-CN" dirty="0" smtClean="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1" y="993715"/>
                <a:ext cx="7794914" cy="5643418"/>
              </a:xfrm>
              <a:blipFill>
                <a:blip r:embed="rId2"/>
                <a:stretch>
                  <a:fillRect l="-1407" t="-1836" r="-2346" b="-9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1865762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923636"/>
          </a:xfrm>
        </p:spPr>
        <p:txBody>
          <a:bodyPr/>
          <a:lstStyle/>
          <a:p>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452581" y="3838515"/>
            <a:ext cx="8062769" cy="3107230"/>
          </a:xfrm>
        </p:spPr>
        <p:txBody>
          <a:bodyPr>
            <a:normAutofit fontScale="92500"/>
          </a:bodyPr>
          <a:lstStyle/>
          <a:p>
            <a:pPr>
              <a:lnSpc>
                <a:spcPts val="3500"/>
              </a:lnSpc>
            </a:pPr>
            <a:r>
              <a:rPr lang="zh-CN" altLang="en-US" dirty="0" smtClean="0">
                <a:latin typeface="楷体" panose="02010609060101010101" pitchFamily="49" charset="-122"/>
                <a:ea typeface="楷体" panose="02010609060101010101" pitchFamily="49" charset="-122"/>
              </a:rPr>
              <a:t>译码器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七段数字译码显示</a:t>
            </a:r>
            <a:r>
              <a:rPr lang="zh-CN" altLang="en-US" dirty="0" smtClean="0">
                <a:latin typeface="楷体" panose="02010609060101010101" pitchFamily="49" charset="-122"/>
                <a:ea typeface="楷体" panose="02010609060101010101" pitchFamily="49" charset="-122"/>
              </a:rPr>
              <a:t>系统</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en-US" sz="2400" dirty="0">
                <a:latin typeface="楷体" panose="02010609060101010101" pitchFamily="49" charset="-122"/>
                <a:ea typeface="楷体" panose="02010609060101010101" pitchFamily="49" charset="-122"/>
              </a:rPr>
              <a:t>在数字系统中</a:t>
            </a:r>
            <a:r>
              <a:rPr lang="zh-CN" altLang="en-US" sz="2400" dirty="0" smtClean="0">
                <a:latin typeface="楷体" panose="02010609060101010101" pitchFamily="49" charset="-122"/>
                <a:ea typeface="楷体" panose="02010609060101010101" pitchFamily="49" charset="-122"/>
              </a:rPr>
              <a:t>，常</a:t>
            </a:r>
            <a:r>
              <a:rPr lang="zh-CN" altLang="en-US" sz="2400" dirty="0">
                <a:latin typeface="楷体" panose="02010609060101010101" pitchFamily="49" charset="-122"/>
                <a:ea typeface="楷体" panose="02010609060101010101" pitchFamily="49" charset="-122"/>
              </a:rPr>
              <a:t>采用简易数字显示电路，将测量或运算结果用数码直接</a:t>
            </a:r>
            <a:r>
              <a:rPr lang="zh-CN" altLang="en-US" sz="2400" dirty="0" smtClean="0">
                <a:latin typeface="楷体" panose="02010609060101010101" pitchFamily="49" charset="-122"/>
                <a:ea typeface="楷体" panose="02010609060101010101" pitchFamily="49" charset="-122"/>
              </a:rPr>
              <a:t>显示出来</a:t>
            </a:r>
            <a:r>
              <a:rPr lang="zh-CN" altLang="en-US" sz="2400" dirty="0">
                <a:latin typeface="楷体" panose="02010609060101010101" pitchFamily="49" charset="-122"/>
                <a:ea typeface="楷体" panose="02010609060101010101" pitchFamily="49" charset="-122"/>
              </a:rPr>
              <a:t>，以便监视系统工作情况</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lvl="2">
              <a:lnSpc>
                <a:spcPts val="3500"/>
              </a:lnSpc>
            </a:pPr>
            <a:r>
              <a:rPr lang="zh-CN" altLang="en-US" sz="2400" dirty="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2.24</a:t>
            </a:r>
            <a:r>
              <a:rPr lang="zh-CN" altLang="en-US" sz="2400" dirty="0">
                <a:latin typeface="楷体" panose="02010609060101010101" pitchFamily="49" charset="-122"/>
                <a:ea typeface="楷体" panose="02010609060101010101" pitchFamily="49" charset="-122"/>
              </a:rPr>
              <a:t>是采用</a:t>
            </a:r>
            <a:r>
              <a:rPr lang="zh-CN" altLang="en-US" sz="2400" b="1" dirty="0">
                <a:latin typeface="楷体" panose="02010609060101010101" pitchFamily="49" charset="-122"/>
                <a:ea typeface="楷体" panose="02010609060101010101" pitchFamily="49" charset="-122"/>
              </a:rPr>
              <a:t>七段荧光数码管</a:t>
            </a:r>
            <a:r>
              <a:rPr lang="zh-CN" altLang="en-US" sz="2400" dirty="0">
                <a:latin typeface="楷体" panose="02010609060101010101" pitchFamily="49" charset="-122"/>
                <a:ea typeface="楷体" panose="02010609060101010101" pitchFamily="49" charset="-122"/>
              </a:rPr>
              <a:t>的显示系统，它由</a:t>
            </a:r>
            <a:r>
              <a:rPr lang="zh-CN" altLang="en-US" sz="2400" b="1" dirty="0">
                <a:latin typeface="楷体" panose="02010609060101010101" pitchFamily="49" charset="-122"/>
                <a:ea typeface="楷体" panose="02010609060101010101" pitchFamily="49" charset="-122"/>
              </a:rPr>
              <a:t>译码</a:t>
            </a:r>
            <a:r>
              <a:rPr lang="en-US" altLang="zh-CN" sz="2400" b="1" dirty="0">
                <a:latin typeface="楷体" panose="02010609060101010101" pitchFamily="49" charset="-122"/>
                <a:ea typeface="楷体" panose="02010609060101010101" pitchFamily="49" charset="-122"/>
              </a:rPr>
              <a:t>/</a:t>
            </a:r>
            <a:r>
              <a:rPr lang="zh-CN" altLang="en-US" sz="2400" b="1" dirty="0">
                <a:latin typeface="楷体" panose="02010609060101010101" pitchFamily="49" charset="-122"/>
                <a:ea typeface="楷体" panose="02010609060101010101" pitchFamily="49" charset="-122"/>
              </a:rPr>
              <a:t>驱动器</a:t>
            </a:r>
            <a:r>
              <a:rPr lang="en-US" altLang="zh-CN" sz="2400" b="1" dirty="0" smtClean="0">
                <a:latin typeface="楷体" panose="02010609060101010101" pitchFamily="49" charset="-122"/>
                <a:ea typeface="楷体" panose="02010609060101010101" pitchFamily="49" charset="-122"/>
              </a:rPr>
              <a:t>74LS48</a:t>
            </a:r>
            <a:r>
              <a:rPr lang="zh-CN" altLang="en-US" sz="2400" dirty="0" smtClean="0">
                <a:latin typeface="楷体" panose="02010609060101010101" pitchFamily="49" charset="-122"/>
                <a:ea typeface="楷体" panose="02010609060101010101" pitchFamily="49" charset="-122"/>
              </a:rPr>
              <a:t>和</a:t>
            </a:r>
            <a:r>
              <a:rPr lang="zh-CN" altLang="en-US" sz="2400" b="1" dirty="0">
                <a:latin typeface="楷体" panose="02010609060101010101" pitchFamily="49" charset="-122"/>
                <a:ea typeface="楷体" panose="02010609060101010101" pitchFamily="49" charset="-122"/>
              </a:rPr>
              <a:t>共阴极荧光数码管</a:t>
            </a:r>
            <a:r>
              <a:rPr lang="en-US" altLang="zh-CN" sz="2400" b="1" dirty="0">
                <a:latin typeface="楷体" panose="02010609060101010101" pitchFamily="49" charset="-122"/>
                <a:ea typeface="楷体" panose="02010609060101010101" pitchFamily="49" charset="-122"/>
              </a:rPr>
              <a:t>BS201A </a:t>
            </a:r>
            <a:r>
              <a:rPr lang="zh-CN" altLang="en-US" sz="2400" dirty="0">
                <a:latin typeface="楷体" panose="02010609060101010101" pitchFamily="49" charset="-122"/>
                <a:ea typeface="楷体" panose="02010609060101010101" pitchFamily="49" charset="-122"/>
              </a:rPr>
              <a:t>组成</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674155" y="837107"/>
            <a:ext cx="7795689" cy="2918281"/>
          </a:xfrm>
          <a:prstGeom prst="rect">
            <a:avLst/>
          </a:prstGeom>
        </p:spPr>
      </p:pic>
    </p:spTree>
    <p:extLst>
      <p:ext uri="{BB962C8B-B14F-4D97-AF65-F5344CB8AC3E}">
        <p14:creationId xmlns:p14="http://schemas.microsoft.com/office/powerpoint/2010/main" val="67347963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38545" y="292858"/>
            <a:ext cx="8848437" cy="4611651"/>
            <a:chOff x="431996" y="763913"/>
            <a:chExt cx="8292695" cy="3918922"/>
          </a:xfrm>
        </p:grpSpPr>
        <p:pic>
          <p:nvPicPr>
            <p:cNvPr id="4" name="图片 3"/>
            <p:cNvPicPr>
              <a:picLocks noChangeAspect="1"/>
            </p:cNvPicPr>
            <p:nvPr/>
          </p:nvPicPr>
          <p:blipFill>
            <a:blip r:embed="rId2"/>
            <a:stretch>
              <a:fillRect/>
            </a:stretch>
          </p:blipFill>
          <p:spPr>
            <a:xfrm>
              <a:off x="452152" y="1993596"/>
              <a:ext cx="8252385" cy="2689239"/>
            </a:xfrm>
            <a:prstGeom prst="rect">
              <a:avLst/>
            </a:prstGeom>
          </p:spPr>
        </p:pic>
        <p:pic>
          <p:nvPicPr>
            <p:cNvPr id="5" name="图片 4"/>
            <p:cNvPicPr>
              <a:picLocks noChangeAspect="1"/>
            </p:cNvPicPr>
            <p:nvPr/>
          </p:nvPicPr>
          <p:blipFill>
            <a:blip r:embed="rId3"/>
            <a:stretch>
              <a:fillRect/>
            </a:stretch>
          </p:blipFill>
          <p:spPr>
            <a:xfrm>
              <a:off x="431996" y="763913"/>
              <a:ext cx="8292695" cy="1868451"/>
            </a:xfrm>
            <a:prstGeom prst="rect">
              <a:avLst/>
            </a:prstGeom>
          </p:spPr>
        </p:pic>
      </p:grpSp>
    </p:spTree>
    <p:extLst>
      <p:ext uri="{BB962C8B-B14F-4D97-AF65-F5344CB8AC3E}">
        <p14:creationId xmlns:p14="http://schemas.microsoft.com/office/powerpoint/2010/main" val="4775486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pPr>
              <a:lnSpc>
                <a:spcPts val="3500"/>
              </a:lnSpc>
            </a:pPr>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1" y="993715"/>
                <a:ext cx="7794914" cy="5643418"/>
              </a:xfrm>
            </p:spPr>
            <p:txBody>
              <a:bodyPr>
                <a:normAutofit/>
              </a:bodyPr>
              <a:lstStyle/>
              <a:p>
                <a:pPr>
                  <a:lnSpc>
                    <a:spcPts val="3500"/>
                  </a:lnSpc>
                </a:pPr>
                <a:r>
                  <a:rPr lang="zh-CN" altLang="en-US" dirty="0" smtClean="0">
                    <a:latin typeface="楷体" panose="02010609060101010101" pitchFamily="49" charset="-122"/>
                    <a:ea typeface="楷体" panose="02010609060101010101" pitchFamily="49" charset="-122"/>
                  </a:rPr>
                  <a:t>译码器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七段数字译码显示</a:t>
                </a:r>
                <a:r>
                  <a:rPr lang="zh-CN" altLang="en-US" dirty="0" smtClean="0">
                    <a:latin typeface="楷体" panose="02010609060101010101" pitchFamily="49" charset="-122"/>
                    <a:ea typeface="楷体" panose="02010609060101010101" pitchFamily="49" charset="-122"/>
                  </a:rPr>
                  <a:t>系统</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en-US" dirty="0">
                    <a:latin typeface="楷体" panose="02010609060101010101" pitchFamily="49" charset="-122"/>
                    <a:ea typeface="楷体" panose="02010609060101010101" pitchFamily="49" charset="-122"/>
                  </a:rPr>
                  <a:t>荧光数码管是分段式半导体显示器件，</a:t>
                </a:r>
                <a:r>
                  <a:rPr lang="en-US" altLang="zh-CN" dirty="0">
                    <a:latin typeface="楷体" panose="02010609060101010101" pitchFamily="49" charset="-122"/>
                    <a:ea typeface="楷体" panose="02010609060101010101" pitchFamily="49" charset="-122"/>
                  </a:rPr>
                  <a:t>7</a:t>
                </a:r>
                <a:r>
                  <a:rPr lang="zh-CN" altLang="en-US" dirty="0" smtClean="0">
                    <a:latin typeface="楷体" panose="02010609060101010101" pitchFamily="49" charset="-122"/>
                    <a:ea typeface="楷体" panose="02010609060101010101" pitchFamily="49" charset="-122"/>
                  </a:rPr>
                  <a:t>个</a:t>
                </a:r>
                <a:r>
                  <a:rPr lang="zh-CN" altLang="en-US" b="1" dirty="0" smtClean="0">
                    <a:latin typeface="楷体" panose="02010609060101010101" pitchFamily="49" charset="-122"/>
                    <a:ea typeface="楷体" panose="02010609060101010101" pitchFamily="49" charset="-122"/>
                  </a:rPr>
                  <a:t>发光二极管</a:t>
                </a:r>
                <a:r>
                  <a:rPr lang="zh-CN" altLang="en-US" dirty="0" smtClean="0">
                    <a:latin typeface="楷体" panose="02010609060101010101" pitchFamily="49" charset="-122"/>
                    <a:ea typeface="楷体" panose="02010609060101010101" pitchFamily="49" charset="-122"/>
                  </a:rPr>
                  <a:t>组成</a:t>
                </a:r>
                <a:r>
                  <a:rPr lang="en-US" altLang="zh-CN" dirty="0" smtClean="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个发光段。当外加</a:t>
                </a:r>
                <a:r>
                  <a:rPr lang="zh-CN" altLang="en-US" dirty="0" smtClean="0">
                    <a:latin typeface="楷体" panose="02010609060101010101" pitchFamily="49" charset="-122"/>
                    <a:ea typeface="楷体" panose="02010609060101010101" pitchFamily="49" charset="-122"/>
                  </a:rPr>
                  <a:t>正向电压</a:t>
                </a:r>
                <a:r>
                  <a:rPr lang="zh-CN" altLang="en-US" dirty="0">
                    <a:latin typeface="楷体" panose="02010609060101010101" pitchFamily="49" charset="-122"/>
                    <a:ea typeface="楷体" panose="02010609060101010101" pitchFamily="49" charset="-122"/>
                  </a:rPr>
                  <a:t>时，发光二极管可以将电能转换成光能，从而发出清晰悦目的光线</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en-US" dirty="0" smtClean="0">
                    <a:latin typeface="楷体" panose="02010609060101010101" pitchFamily="49" charset="-122"/>
                    <a:ea typeface="楷体" panose="02010609060101010101" pitchFamily="49" charset="-122"/>
                  </a:rPr>
                  <a:t>发光二极管显示电路</a:t>
                </a:r>
                <a:r>
                  <a:rPr lang="zh-CN" altLang="en-US" dirty="0">
                    <a:latin typeface="楷体" panose="02010609060101010101" pitchFamily="49" charset="-122"/>
                    <a:ea typeface="楷体" panose="02010609060101010101" pitchFamily="49" charset="-122"/>
                  </a:rPr>
                  <a:t>有两种连接方式： 一种是</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个发光二极管共用一个阳极，称为</a:t>
                </a:r>
                <a:r>
                  <a:rPr lang="zh-CN" altLang="en-US" b="1" dirty="0">
                    <a:latin typeface="楷体" panose="02010609060101010101" pitchFamily="49" charset="-122"/>
                    <a:ea typeface="楷体" panose="02010609060101010101" pitchFamily="49" charset="-122"/>
                  </a:rPr>
                  <a:t>共阳极电路</a:t>
                </a:r>
                <a:r>
                  <a:rPr lang="zh-CN" altLang="en-US" dirty="0">
                    <a:latin typeface="楷体" panose="02010609060101010101" pitchFamily="49" charset="-122"/>
                    <a:ea typeface="楷体" panose="02010609060101010101" pitchFamily="49" charset="-122"/>
                  </a:rPr>
                  <a:t>。另一种是 </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个发光二极管共用一个阴极，称为</a:t>
                </a:r>
                <a:r>
                  <a:rPr lang="zh-CN" altLang="en-US" b="1" dirty="0">
                    <a:latin typeface="楷体" panose="02010609060101010101" pitchFamily="49" charset="-122"/>
                    <a:ea typeface="楷体" panose="02010609060101010101" pitchFamily="49" charset="-122"/>
                  </a:rPr>
                  <a:t>共阴极电路</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2">
                  <a:lnSpc>
                    <a:spcPts val="3500"/>
                  </a:lnSpc>
                </a:pPr>
                <a:r>
                  <a:rPr lang="zh-CN" altLang="en-US" dirty="0" smtClean="0">
                    <a:latin typeface="楷体" panose="02010609060101010101" pitchFamily="49" charset="-122"/>
                    <a:ea typeface="楷体" panose="02010609060101010101" pitchFamily="49" charset="-122"/>
                  </a:rPr>
                  <a:t>如</a:t>
                </a:r>
                <a:r>
                  <a:rPr lang="zh-CN" altLang="en-US" dirty="0">
                    <a:latin typeface="楷体" panose="02010609060101010101" pitchFamily="49" charset="-122"/>
                    <a:ea typeface="楷体" panose="02010609060101010101" pitchFamily="49" charset="-122"/>
                  </a:rPr>
                  <a:t>图</a:t>
                </a:r>
                <a:r>
                  <a:rPr lang="en-US" altLang="zh-CN" dirty="0" smtClean="0">
                    <a:latin typeface="楷体" panose="02010609060101010101" pitchFamily="49" charset="-122"/>
                    <a:ea typeface="楷体" panose="02010609060101010101" pitchFamily="49" charset="-122"/>
                  </a:rPr>
                  <a:t>2.25</a:t>
                </a:r>
                <a:r>
                  <a:rPr lang="zh-CN" altLang="en-US" dirty="0">
                    <a:latin typeface="楷体" panose="02010609060101010101" pitchFamily="49" charset="-122"/>
                    <a:ea typeface="楷体" panose="02010609060101010101" pitchFamily="49" charset="-122"/>
                  </a:rPr>
                  <a:t>所示。</a:t>
                </a:r>
                <a:r>
                  <a:rPr lang="en-US" altLang="zh-CN" dirty="0" smtClean="0">
                    <a:latin typeface="楷体" panose="02010609060101010101" pitchFamily="49" charset="-122"/>
                    <a:ea typeface="楷体" panose="02010609060101010101" pitchFamily="49" charset="-122"/>
                  </a:rPr>
                  <a:t>BS201A</a:t>
                </a:r>
                <a:r>
                  <a:rPr lang="zh-CN" altLang="en-US" dirty="0" smtClean="0">
                    <a:latin typeface="楷体" panose="02010609060101010101" pitchFamily="49" charset="-122"/>
                    <a:ea typeface="楷体" panose="02010609060101010101" pitchFamily="49" charset="-122"/>
                  </a:rPr>
                  <a:t>采用</a:t>
                </a:r>
                <a:r>
                  <a:rPr lang="zh-CN" altLang="en-US" dirty="0">
                    <a:latin typeface="楷体" panose="02010609060101010101" pitchFamily="49" charset="-122"/>
                    <a:ea typeface="楷体" panose="02010609060101010101" pitchFamily="49" charset="-122"/>
                  </a:rPr>
                  <a:t>了共</a:t>
                </a:r>
                <a:r>
                  <a:rPr lang="zh-CN" altLang="en-US" dirty="0" smtClean="0">
                    <a:latin typeface="楷体" panose="02010609060101010101" pitchFamily="49" charset="-122"/>
                    <a:ea typeface="楷体" panose="02010609060101010101" pitchFamily="49" charset="-122"/>
                  </a:rPr>
                  <a:t>阴极电路</a:t>
                </a:r>
                <a:r>
                  <a:rPr lang="zh-CN" altLang="en-US" dirty="0">
                    <a:latin typeface="楷体" panose="02010609060101010101" pitchFamily="49" charset="-122"/>
                    <a:ea typeface="楷体" panose="02010609060101010101" pitchFamily="49" charset="-122"/>
                  </a:rPr>
                  <a:t>，故</a:t>
                </a:r>
                <a:r>
                  <a:rPr lang="zh-CN" altLang="en-US" b="1" dirty="0">
                    <a:latin typeface="楷体" panose="02010609060101010101" pitchFamily="49" charset="-122"/>
                    <a:ea typeface="楷体" panose="02010609060101010101" pitchFamily="49" charset="-122"/>
                  </a:rPr>
                  <a:t>译码器的输出</a:t>
                </a:r>
                <a14:m>
                  <m:oMath xmlns:m="http://schemas.openxmlformats.org/officeDocument/2006/math">
                    <m:r>
                      <a:rPr lang="en-US" altLang="zh-CN" b="1" i="1" dirty="0" smtClean="0">
                        <a:latin typeface="Cambria Math" panose="02040503050406030204" pitchFamily="18" charset="0"/>
                        <a:ea typeface="楷体" panose="02010609060101010101" pitchFamily="49" charset="-122"/>
                      </a:rPr>
                      <m:t>𝒂</m:t>
                    </m:r>
                    <m:r>
                      <a:rPr lang="en-US" altLang="zh-CN" b="1" i="1" dirty="0" smtClean="0">
                        <a:latin typeface="Cambria Math" panose="02040503050406030204" pitchFamily="18" charset="0"/>
                        <a:ea typeface="楷体" panose="02010609060101010101" pitchFamily="49" charset="-122"/>
                      </a:rPr>
                      <m:t>~</m:t>
                    </m:r>
                    <m:r>
                      <a:rPr lang="en-US" altLang="zh-CN" b="1" i="1" dirty="0" smtClean="0">
                        <a:latin typeface="Cambria Math" panose="02040503050406030204" pitchFamily="18" charset="0"/>
                        <a:ea typeface="楷体" panose="02010609060101010101" pitchFamily="49" charset="-122"/>
                      </a:rPr>
                      <m:t>𝒈</m:t>
                    </m:r>
                    <m:r>
                      <a:rPr lang="en-US" altLang="zh-CN" b="1" i="1" dirty="0">
                        <a:latin typeface="Cambria Math" panose="02040503050406030204" pitchFamily="18" charset="0"/>
                        <a:ea typeface="楷体" panose="02010609060101010101" pitchFamily="49" charset="-122"/>
                      </a:rPr>
                      <m:t> </m:t>
                    </m:r>
                  </m:oMath>
                </a14:m>
                <a:r>
                  <a:rPr lang="zh-CN" altLang="en-US" b="1" dirty="0" smtClean="0">
                    <a:latin typeface="楷体" panose="02010609060101010101" pitchFamily="49" charset="-122"/>
                    <a:ea typeface="楷体" panose="02010609060101010101" pitchFamily="49" charset="-122"/>
                  </a:rPr>
                  <a:t>分别</a:t>
                </a:r>
                <a:r>
                  <a:rPr lang="zh-CN" altLang="en-US" b="1" dirty="0">
                    <a:latin typeface="楷体" panose="02010609060101010101" pitchFamily="49" charset="-122"/>
                    <a:ea typeface="楷体" panose="02010609060101010101" pitchFamily="49" charset="-122"/>
                  </a:rPr>
                  <a:t>加到</a:t>
                </a:r>
                <a:r>
                  <a:rPr lang="en-US" altLang="zh-CN" b="1" dirty="0">
                    <a:latin typeface="楷体" panose="02010609060101010101" pitchFamily="49" charset="-122"/>
                    <a:ea typeface="楷体" panose="02010609060101010101" pitchFamily="49" charset="-122"/>
                  </a:rPr>
                  <a:t>7</a:t>
                </a:r>
                <a:r>
                  <a:rPr lang="zh-CN" altLang="en-US" b="1" dirty="0">
                    <a:latin typeface="楷体" panose="02010609060101010101" pitchFamily="49" charset="-122"/>
                    <a:ea typeface="楷体" panose="02010609060101010101" pitchFamily="49" charset="-122"/>
                  </a:rPr>
                  <a:t>个阳极上</a:t>
                </a:r>
                <a:r>
                  <a:rPr lang="zh-CN" altLang="en-US" dirty="0">
                    <a:latin typeface="楷体" panose="02010609060101010101" pitchFamily="49" charset="-122"/>
                    <a:ea typeface="楷体" panose="02010609060101010101" pitchFamily="49" charset="-122"/>
                  </a:rPr>
                  <a:t>，但只有在阳极上呈高电平的二极管导</a:t>
                </a:r>
                <a:r>
                  <a:rPr lang="zh-CN" altLang="en-US" dirty="0" smtClean="0">
                    <a:latin typeface="楷体" panose="02010609060101010101" pitchFamily="49" charset="-122"/>
                    <a:ea typeface="楷体" panose="02010609060101010101" pitchFamily="49" charset="-122"/>
                  </a:rPr>
                  <a:t>通发光</a:t>
                </a:r>
                <a:r>
                  <a:rPr lang="zh-CN" altLang="en-US" dirty="0">
                    <a:latin typeface="楷体" panose="02010609060101010101" pitchFamily="49" charset="-122"/>
                    <a:ea typeface="楷体" panose="02010609060101010101" pitchFamily="49" charset="-122"/>
                  </a:rPr>
                  <a:t>，显示</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中相应的十进制数字</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1" y="993715"/>
                <a:ext cx="7794914" cy="5643418"/>
              </a:xfrm>
              <a:blipFill>
                <a:blip r:embed="rId2"/>
                <a:stretch>
                  <a:fillRect l="-1407" t="-16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055085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pPr>
              <a:lnSpc>
                <a:spcPts val="3500"/>
              </a:lnSpc>
            </a:pPr>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993715"/>
                <a:ext cx="8265968" cy="5643418"/>
              </a:xfrm>
            </p:spPr>
            <p:txBody>
              <a:bodyPr>
                <a:normAutofit/>
              </a:bodyPr>
              <a:lstStyle/>
              <a:p>
                <a:pPr>
                  <a:lnSpc>
                    <a:spcPts val="3500"/>
                  </a:lnSpc>
                </a:pPr>
                <a:r>
                  <a:rPr lang="zh-CN" altLang="en-US" dirty="0" smtClean="0">
                    <a:latin typeface="楷体" panose="02010609060101010101" pitchFamily="49" charset="-122"/>
                    <a:ea typeface="楷体" panose="02010609060101010101" pitchFamily="49" charset="-122"/>
                  </a:rPr>
                  <a:t>译码器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七段数字译码显示</a:t>
                </a:r>
                <a:r>
                  <a:rPr lang="zh-CN" altLang="en-US" dirty="0" smtClean="0">
                    <a:latin typeface="楷体" panose="02010609060101010101" pitchFamily="49" charset="-122"/>
                    <a:ea typeface="楷体" panose="02010609060101010101" pitchFamily="49" charset="-122"/>
                  </a:rPr>
                  <a:t>系统</a:t>
                </a:r>
                <a:endParaRPr lang="en-US" altLang="zh-CN" dirty="0" smtClean="0">
                  <a:latin typeface="楷体" panose="02010609060101010101" pitchFamily="49" charset="-122"/>
                  <a:ea typeface="楷体" panose="02010609060101010101" pitchFamily="49" charset="-122"/>
                </a:endParaRPr>
              </a:p>
              <a:p>
                <a:pPr lvl="2">
                  <a:lnSpc>
                    <a:spcPts val="3500"/>
                  </a:lnSpc>
                </a:pPr>
                <a:r>
                  <a:rPr lang="en-US" altLang="zh-CN" sz="2400" dirty="0" smtClean="0">
                    <a:latin typeface="楷体" panose="02010609060101010101" pitchFamily="49" charset="-122"/>
                    <a:ea typeface="楷体" panose="02010609060101010101" pitchFamily="49" charset="-122"/>
                  </a:rPr>
                  <a:t>74LS48</a:t>
                </a:r>
                <a:r>
                  <a:rPr lang="zh-CN" altLang="en-US" sz="2400" dirty="0" smtClean="0">
                    <a:latin typeface="楷体" panose="02010609060101010101" pitchFamily="49" charset="-122"/>
                    <a:ea typeface="楷体" panose="02010609060101010101" pitchFamily="49" charset="-122"/>
                  </a:rPr>
                  <a:t>是</a:t>
                </a:r>
                <a:r>
                  <a:rPr lang="zh-CN" altLang="en-US" sz="2400" dirty="0">
                    <a:latin typeface="楷体" panose="02010609060101010101" pitchFamily="49" charset="-122"/>
                    <a:ea typeface="楷体" panose="02010609060101010101" pitchFamily="49" charset="-122"/>
                  </a:rPr>
                  <a:t>中规模</a:t>
                </a:r>
                <a:r>
                  <a:rPr lang="en-US" altLang="zh-CN" sz="2400" dirty="0">
                    <a:latin typeface="楷体" panose="02010609060101010101" pitchFamily="49" charset="-122"/>
                    <a:ea typeface="楷体" panose="02010609060101010101" pitchFamily="49" charset="-122"/>
                  </a:rPr>
                  <a:t>BCD </a:t>
                </a:r>
                <a:r>
                  <a:rPr lang="zh-CN" altLang="en-US" sz="2400" dirty="0">
                    <a:latin typeface="楷体" panose="02010609060101010101" pitchFamily="49" charset="-122"/>
                    <a:ea typeface="楷体" panose="02010609060101010101" pitchFamily="49" charset="-122"/>
                  </a:rPr>
                  <a:t>码七段显示译码</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驱动器，可提供较大的电流流过发光二极管。 </a:t>
                </a:r>
                <a:endParaRPr lang="en-US" altLang="zh-CN" sz="2400" dirty="0" smtClean="0">
                  <a:latin typeface="楷体" panose="02010609060101010101" pitchFamily="49" charset="-122"/>
                  <a:ea typeface="楷体" panose="02010609060101010101" pitchFamily="49" charset="-122"/>
                </a:endParaRPr>
              </a:p>
              <a:p>
                <a:pPr lvl="2">
                  <a:lnSpc>
                    <a:spcPts val="3500"/>
                  </a:lnSpc>
                </a:pPr>
                <a:r>
                  <a:rPr lang="zh-CN" altLang="en-US" sz="2400" dirty="0" smtClean="0">
                    <a:latin typeface="楷体" panose="02010609060101010101" pitchFamily="49" charset="-122"/>
                    <a:ea typeface="楷体" panose="02010609060101010101" pitchFamily="49" charset="-122"/>
                  </a:rPr>
                  <a:t>表</a:t>
                </a:r>
                <a:r>
                  <a:rPr lang="en-US" altLang="zh-CN" sz="2400" dirty="0">
                    <a:latin typeface="楷体" panose="02010609060101010101" pitchFamily="49" charset="-122"/>
                    <a:ea typeface="楷体" panose="02010609060101010101" pitchFamily="49" charset="-122"/>
                  </a:rPr>
                  <a:t>2.8</a:t>
                </a:r>
                <a:r>
                  <a:rPr lang="zh-CN" altLang="en-US" sz="2400" dirty="0">
                    <a:latin typeface="楷体" panose="02010609060101010101" pitchFamily="49" charset="-122"/>
                    <a:ea typeface="楷体" panose="02010609060101010101" pitchFamily="49" charset="-122"/>
                  </a:rPr>
                  <a:t>列出了</a:t>
                </a:r>
                <a:r>
                  <a:rPr lang="en-US" altLang="zh-CN" sz="2400" dirty="0">
                    <a:latin typeface="楷体" panose="02010609060101010101" pitchFamily="49" charset="-122"/>
                    <a:ea typeface="楷体" panose="02010609060101010101" pitchFamily="49" charset="-122"/>
                  </a:rPr>
                  <a:t>74LS48</a:t>
                </a:r>
                <a:r>
                  <a:rPr lang="zh-CN" altLang="en-US" sz="2400" dirty="0">
                    <a:latin typeface="楷体" panose="02010609060101010101" pitchFamily="49" charset="-122"/>
                    <a:ea typeface="楷体" panose="02010609060101010101" pitchFamily="49" charset="-122"/>
                  </a:rPr>
                  <a:t>的译码功能表。</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个输入信号</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3</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0</m:t>
                    </m:r>
                  </m:oMath>
                </a14:m>
                <a:r>
                  <a:rPr lang="en-US" altLang="zh-CN" sz="2400" dirty="0" smtClean="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对应四位二进制码输入；</a:t>
                </a:r>
                <a:r>
                  <a:rPr lang="en-US" altLang="zh-CN" sz="2400" dirty="0">
                    <a:latin typeface="楷体" panose="02010609060101010101" pitchFamily="49" charset="-122"/>
                    <a:ea typeface="楷体" panose="02010609060101010101" pitchFamily="49" charset="-122"/>
                  </a:rPr>
                  <a:t>7</a:t>
                </a:r>
                <a:r>
                  <a:rPr lang="zh-CN" altLang="en-US" sz="2400" dirty="0" smtClean="0">
                    <a:latin typeface="楷体" panose="02010609060101010101" pitchFamily="49" charset="-122"/>
                    <a:ea typeface="楷体" panose="02010609060101010101" pitchFamily="49" charset="-122"/>
                  </a:rPr>
                  <a:t>个输出信号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zh-CN" altLang="en-US"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𝑔</m:t>
                    </m:r>
                  </m:oMath>
                </a14:m>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对应</a:t>
                </a:r>
                <a:r>
                  <a:rPr lang="zh-CN" altLang="en-US" sz="2400" dirty="0">
                    <a:latin typeface="楷体" panose="02010609060101010101" pitchFamily="49" charset="-122"/>
                    <a:ea typeface="楷体" panose="02010609060101010101" pitchFamily="49" charset="-122"/>
                  </a:rPr>
                  <a:t>七段字形。译码输出为</a:t>
                </a:r>
                <a:r>
                  <a:rPr lang="en-US" altLang="zh-CN" sz="2400" dirty="0" smtClean="0">
                    <a:latin typeface="楷体" panose="02010609060101010101" pitchFamily="49" charset="-122"/>
                    <a:ea typeface="楷体" panose="02010609060101010101" pitchFamily="49" charset="-122"/>
                  </a:rPr>
                  <a:t>1</a:t>
                </a:r>
                <a:r>
                  <a:rPr lang="zh-CN" altLang="en-US" sz="2400" dirty="0" smtClean="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，荧光数码管的相应字段点亮。例如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3</m:t>
                    </m:r>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2</m:t>
                    </m:r>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smtClean="0">
                        <a:latin typeface="Cambria Math" panose="02040503050406030204" pitchFamily="18" charset="0"/>
                        <a:ea typeface="楷体" panose="02010609060101010101" pitchFamily="49" charset="-122"/>
                      </a:rPr>
                      <m:t>0</m:t>
                    </m:r>
                    <m:r>
                      <a:rPr lang="en-US" altLang="zh-CN" sz="2400" i="1" dirty="0" smtClean="0">
                        <a:latin typeface="Cambria Math" panose="02040503050406030204" pitchFamily="18" charset="0"/>
                        <a:ea typeface="楷体" panose="02010609060101010101" pitchFamily="49" charset="-122"/>
                      </a:rPr>
                      <m:t>=0001</m:t>
                    </m:r>
                  </m:oMath>
                </a14:m>
                <a:r>
                  <a:rPr lang="zh-CN" altLang="en-US" sz="2400" dirty="0">
                    <a:latin typeface="楷体" panose="02010609060101010101" pitchFamily="49" charset="-122"/>
                    <a:ea typeface="楷体" panose="02010609060101010101" pitchFamily="49" charset="-122"/>
                  </a:rPr>
                  <a:t>时译码器输出</a:t>
                </a:r>
                <a:r>
                  <a:rPr lang="en-US" altLang="zh-CN" sz="2400" dirty="0" smtClean="0">
                    <a:latin typeface="楷体" panose="02010609060101010101" pitchFamily="49" charset="-122"/>
                    <a:ea typeface="楷体" panose="02010609060101010101" pitchFamily="49" charset="-122"/>
                  </a:rPr>
                  <a:t>b</a:t>
                </a:r>
                <a:r>
                  <a:rPr lang="zh-CN" altLang="en-US" sz="2400" dirty="0" smtClean="0">
                    <a:latin typeface="楷体" panose="02010609060101010101" pitchFamily="49" charset="-122"/>
                    <a:ea typeface="楷体" panose="02010609060101010101" pitchFamily="49" charset="-122"/>
                  </a:rPr>
                  <a:t>和</a:t>
                </a:r>
                <a:r>
                  <a:rPr lang="en-US" altLang="zh-CN" sz="2400" dirty="0" smtClean="0">
                    <a:latin typeface="楷体" panose="02010609060101010101" pitchFamily="49" charset="-122"/>
                    <a:ea typeface="楷体" panose="02010609060101010101" pitchFamily="49" charset="-122"/>
                  </a:rPr>
                  <a:t>c</a:t>
                </a:r>
                <a:r>
                  <a:rPr lang="zh-CN" altLang="en-US" sz="2400" dirty="0" smtClean="0">
                    <a:latin typeface="楷体" panose="02010609060101010101" pitchFamily="49" charset="-122"/>
                    <a:ea typeface="楷体" panose="02010609060101010101" pitchFamily="49" charset="-122"/>
                  </a:rPr>
                  <a:t>为</a:t>
                </a:r>
                <a:r>
                  <a:rPr lang="en-US" altLang="zh-CN" sz="2400" dirty="0" smtClean="0">
                    <a:latin typeface="楷体" panose="02010609060101010101" pitchFamily="49" charset="-122"/>
                    <a:ea typeface="楷体" panose="02010609060101010101" pitchFamily="49" charset="-122"/>
                  </a:rPr>
                  <a:t>1</a:t>
                </a:r>
                <a:r>
                  <a:rPr lang="zh-CN" altLang="en-US" sz="2400" dirty="0" smtClean="0">
                    <a:latin typeface="楷体" panose="02010609060101010101" pitchFamily="49" charset="-122"/>
                    <a:ea typeface="楷体" panose="02010609060101010101" pitchFamily="49" charset="-122"/>
                  </a:rPr>
                  <a:t>，故将</a:t>
                </a:r>
                <a:r>
                  <a:rPr lang="en-US" altLang="zh-CN" sz="2400" dirty="0" smtClean="0">
                    <a:latin typeface="楷体" panose="02010609060101010101" pitchFamily="49" charset="-122"/>
                    <a:ea typeface="楷体" panose="02010609060101010101" pitchFamily="49" charset="-122"/>
                  </a:rPr>
                  <a:t>b</a:t>
                </a:r>
                <a:r>
                  <a:rPr lang="zh-CN" altLang="en-US" sz="2400" dirty="0" smtClean="0">
                    <a:latin typeface="楷体" panose="02010609060101010101" pitchFamily="49" charset="-122"/>
                    <a:ea typeface="楷体" panose="02010609060101010101" pitchFamily="49" charset="-122"/>
                  </a:rPr>
                  <a:t>段</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c </a:t>
                </a:r>
                <a:r>
                  <a:rPr lang="zh-CN" altLang="en-US" sz="2400" dirty="0">
                    <a:latin typeface="楷体" panose="02010609060101010101" pitchFamily="49" charset="-122"/>
                    <a:ea typeface="楷体" panose="02010609060101010101" pitchFamily="49" charset="-122"/>
                  </a:rPr>
                  <a:t>段点亮，显示数字“</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。当</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0</m:t>
                    </m:r>
                    <m:r>
                      <a:rPr lang="en-US" altLang="zh-CN" sz="2400" i="1" dirty="0" smtClean="0">
                        <a:latin typeface="Cambria Math" panose="02040503050406030204" pitchFamily="18" charset="0"/>
                        <a:ea typeface="楷体" panose="02010609060101010101" pitchFamily="49" charset="-122"/>
                      </a:rPr>
                      <m:t>=0101</m:t>
                    </m:r>
                  </m:oMath>
                </a14:m>
                <a:r>
                  <a:rPr lang="zh-CN" altLang="en-US" sz="2400" dirty="0">
                    <a:latin typeface="楷体" panose="02010609060101010101" pitchFamily="49" charset="-122"/>
                    <a:ea typeface="楷体" panose="02010609060101010101" pitchFamily="49" charset="-122"/>
                  </a:rPr>
                  <a:t>时译码器输出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𝑐</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𝑑</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𝑓</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𝑔</m:t>
                    </m:r>
                  </m:oMath>
                </a14:m>
                <a:r>
                  <a:rPr lang="zh-CN" altLang="en-US" sz="2400" dirty="0" smtClean="0">
                    <a:latin typeface="楷体" panose="02010609060101010101" pitchFamily="49" charset="-122"/>
                    <a:ea typeface="楷体" panose="02010609060101010101" pitchFamily="49" charset="-122"/>
                  </a:rPr>
                  <a:t>为</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故将对应的各段点亮，显示数字“</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993715"/>
                <a:ext cx="8265968" cy="5643418"/>
              </a:xfrm>
              <a:blipFill>
                <a:blip r:embed="rId2"/>
                <a:stretch>
                  <a:fillRect l="-1327" t="-1620" r="-39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106244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951344"/>
          </a:xfrm>
        </p:spPr>
        <p:txBody>
          <a:bodyPr/>
          <a:lstStyle/>
          <a:p>
            <a:r>
              <a:rPr lang="en-US" altLang="zh-CN" dirty="0">
                <a:latin typeface="楷体" panose="02010609060101010101" pitchFamily="49" charset="-122"/>
                <a:ea typeface="楷体" panose="02010609060101010101" pitchFamily="49" charset="-122"/>
              </a:rPr>
              <a:t>2.5 </a:t>
            </a:r>
            <a:r>
              <a:rPr lang="en-US" altLang="zh-CN" dirty="0" err="1" smtClean="0">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49" y="4054763"/>
            <a:ext cx="7647133" cy="2664691"/>
          </a:xfrm>
        </p:spPr>
        <p:txBody>
          <a:bodyPr>
            <a:noAutofit/>
          </a:bodyPr>
          <a:lstStyle/>
          <a:p>
            <a:pPr>
              <a:lnSpc>
                <a:spcPts val="3500"/>
              </a:lnSpc>
            </a:pPr>
            <a:r>
              <a:rPr lang="zh-CN" altLang="en-US" sz="2400" dirty="0" smtClean="0">
                <a:latin typeface="楷体" panose="02010609060101010101" pitchFamily="49" charset="-122"/>
                <a:ea typeface="楷体" panose="02010609060101010101" pitchFamily="49" charset="-122"/>
              </a:rPr>
              <a:t>编码器</a:t>
            </a:r>
            <a:endParaRPr lang="en-US" altLang="zh-CN" sz="2400" dirty="0" smtClean="0">
              <a:latin typeface="楷体" panose="02010609060101010101" pitchFamily="49" charset="-122"/>
              <a:ea typeface="楷体" panose="02010609060101010101" pitchFamily="49" charset="-122"/>
            </a:endParaRPr>
          </a:p>
          <a:p>
            <a:pPr lvl="1">
              <a:lnSpc>
                <a:spcPts val="3500"/>
              </a:lnSpc>
            </a:pPr>
            <a:r>
              <a:rPr lang="zh-CN" altLang="zh-CN" dirty="0">
                <a:latin typeface="楷体" panose="02010609060101010101" pitchFamily="49" charset="-122"/>
                <a:ea typeface="楷体" panose="02010609060101010101" pitchFamily="49" charset="-122"/>
              </a:rPr>
              <a:t>在数字系统中，要对所处理的信息或数据赋予二进制代码，称为</a:t>
            </a:r>
            <a:r>
              <a:rPr lang="zh-CN" altLang="zh-CN" dirty="0">
                <a:solidFill>
                  <a:schemeClr val="accent1"/>
                </a:solidFill>
                <a:latin typeface="楷体" panose="02010609060101010101" pitchFamily="49" charset="-122"/>
                <a:ea typeface="楷体" panose="02010609060101010101" pitchFamily="49" charset="-122"/>
              </a:rPr>
              <a:t>编码</a:t>
            </a:r>
            <a:r>
              <a:rPr lang="zh-CN" altLang="zh-CN" dirty="0">
                <a:latin typeface="楷体" panose="02010609060101010101" pitchFamily="49" charset="-122"/>
                <a:ea typeface="楷体" panose="02010609060101010101" pitchFamily="49" charset="-122"/>
              </a:rPr>
              <a:t>。用来完成</a:t>
            </a:r>
            <a:r>
              <a:rPr lang="zh-CN" altLang="zh-CN" dirty="0" smtClean="0">
                <a:latin typeface="楷体" panose="02010609060101010101" pitchFamily="49" charset="-122"/>
                <a:ea typeface="楷体" panose="02010609060101010101" pitchFamily="49" charset="-122"/>
              </a:rPr>
              <a:t>编码工作</a:t>
            </a:r>
            <a:r>
              <a:rPr lang="zh-CN" altLang="zh-CN" dirty="0">
                <a:latin typeface="楷体" panose="02010609060101010101" pitchFamily="49" charset="-122"/>
                <a:ea typeface="楷体" panose="02010609060101010101" pitchFamily="49" charset="-122"/>
              </a:rPr>
              <a:t>的电路就称为</a:t>
            </a:r>
            <a:r>
              <a:rPr lang="zh-CN" altLang="zh-CN" dirty="0">
                <a:solidFill>
                  <a:schemeClr val="accent1"/>
                </a:solidFill>
                <a:latin typeface="楷体" panose="02010609060101010101" pitchFamily="49" charset="-122"/>
                <a:ea typeface="楷体" panose="02010609060101010101" pitchFamily="49" charset="-122"/>
              </a:rPr>
              <a:t>编码器</a:t>
            </a:r>
            <a:r>
              <a:rPr lang="zh-CN" altLang="zh-CN" dirty="0">
                <a:latin typeface="楷体" panose="02010609060101010101" pitchFamily="49" charset="-122"/>
                <a:ea typeface="楷体" panose="02010609060101010101" pitchFamily="49" charset="-122"/>
              </a:rPr>
              <a:t>。前述的译码器实现的是</a:t>
            </a:r>
            <a:r>
              <a:rPr lang="en-US" altLang="zh-CN"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多对一</a:t>
            </a:r>
            <a:r>
              <a:rPr lang="en-US" altLang="zh-CN"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译码，而编码器则</a:t>
            </a:r>
            <a:r>
              <a:rPr lang="zh-CN" altLang="zh-CN" dirty="0" smtClean="0">
                <a:latin typeface="楷体" panose="02010609060101010101" pitchFamily="49" charset="-122"/>
                <a:ea typeface="楷体" panose="02010609060101010101" pitchFamily="49" charset="-122"/>
              </a:rPr>
              <a:t>实现</a:t>
            </a:r>
            <a:r>
              <a:rPr lang="en-US" altLang="zh-CN" dirty="0" smtClean="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一对多</a:t>
            </a:r>
            <a:r>
              <a:rPr lang="en-US" altLang="zh-CN"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译码</a:t>
            </a:r>
            <a:r>
              <a:rPr lang="zh-CN" altLang="zh-CN" dirty="0" smtClean="0">
                <a:latin typeface="楷体" panose="02010609060101010101" pitchFamily="49" charset="-122"/>
                <a:ea typeface="楷体" panose="02010609060101010101" pitchFamily="49" charset="-122"/>
              </a:rPr>
              <a:t>。</a:t>
            </a:r>
          </a:p>
          <a:p>
            <a:pPr lvl="1">
              <a:lnSpc>
                <a:spcPts val="3500"/>
              </a:lnSpc>
            </a:pPr>
            <a:r>
              <a:rPr lang="zh-CN" altLang="en-US" dirty="0" smtClean="0">
                <a:latin typeface="楷体" panose="02010609060101010101" pitchFamily="49" charset="-122"/>
                <a:ea typeface="楷体" panose="02010609060101010101" pitchFamily="49" charset="-122"/>
              </a:rPr>
              <a:t>普通编码器</a:t>
            </a:r>
            <a:endParaRPr lang="en-US" altLang="zh-CN" dirty="0" smtClean="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1194267" y="871367"/>
            <a:ext cx="7183115" cy="3167774"/>
          </a:xfrm>
          <a:prstGeom prst="rect">
            <a:avLst/>
          </a:prstGeom>
        </p:spPr>
      </p:pic>
    </p:spTree>
    <p:extLst>
      <p:ext uri="{BB962C8B-B14F-4D97-AF65-F5344CB8AC3E}">
        <p14:creationId xmlns:p14="http://schemas.microsoft.com/office/powerpoint/2010/main" val="385215769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p:grpSp>
        <p:nvGrpSpPr>
          <p:cNvPr id="8" name="组合 7"/>
          <p:cNvGrpSpPr/>
          <p:nvPr/>
        </p:nvGrpSpPr>
        <p:grpSpPr>
          <a:xfrm>
            <a:off x="285750" y="1110632"/>
            <a:ext cx="8608868" cy="4052495"/>
            <a:chOff x="1268515" y="3116191"/>
            <a:chExt cx="6773220" cy="3102231"/>
          </a:xfrm>
        </p:grpSpPr>
        <p:pic>
          <p:nvPicPr>
            <p:cNvPr id="5" name="图片 4"/>
            <p:cNvPicPr>
              <a:picLocks noChangeAspect="1"/>
            </p:cNvPicPr>
            <p:nvPr/>
          </p:nvPicPr>
          <p:blipFill>
            <a:blip r:embed="rId2"/>
            <a:stretch>
              <a:fillRect/>
            </a:stretch>
          </p:blipFill>
          <p:spPr>
            <a:xfrm>
              <a:off x="1287568" y="3116191"/>
              <a:ext cx="6735115" cy="2191056"/>
            </a:xfrm>
            <a:prstGeom prst="rect">
              <a:avLst/>
            </a:prstGeom>
          </p:spPr>
        </p:pic>
        <p:pic>
          <p:nvPicPr>
            <p:cNvPr id="7" name="图片 6"/>
            <p:cNvPicPr>
              <a:picLocks noChangeAspect="1"/>
            </p:cNvPicPr>
            <p:nvPr/>
          </p:nvPicPr>
          <p:blipFill>
            <a:blip r:embed="rId3"/>
            <a:stretch>
              <a:fillRect/>
            </a:stretch>
          </p:blipFill>
          <p:spPr>
            <a:xfrm>
              <a:off x="1268515" y="5265789"/>
              <a:ext cx="6773220" cy="952633"/>
            </a:xfrm>
            <a:prstGeom prst="rect">
              <a:avLst/>
            </a:prstGeom>
          </p:spPr>
        </p:pic>
      </p:grpSp>
      <mc:AlternateContent xmlns:mc="http://schemas.openxmlformats.org/markup-compatibility/2006" xmlns:a14="http://schemas.microsoft.com/office/drawing/2010/main">
        <mc:Choice Requires="a14">
          <p:sp>
            <p:nvSpPr>
              <p:cNvPr id="9" name="矩形 8"/>
              <p:cNvSpPr/>
              <p:nvPr/>
            </p:nvSpPr>
            <p:spPr>
              <a:xfrm>
                <a:off x="628650" y="5083476"/>
                <a:ext cx="7264618" cy="1887696"/>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2.26</a:t>
                </a:r>
                <a:r>
                  <a:rPr lang="zh-CN" altLang="en-US" sz="2400" dirty="0">
                    <a:latin typeface="楷体" panose="02010609060101010101" pitchFamily="49" charset="-122"/>
                    <a:ea typeface="楷体" panose="02010609060101010101" pitchFamily="49" charset="-122"/>
                  </a:rPr>
                  <a:t>所示为一个普通编码器的结构框图</a:t>
                </a:r>
                <a:r>
                  <a:rPr lang="en-US" altLang="zh-CN" sz="2400" dirty="0">
                    <a:latin typeface="楷体" panose="02010609060101010101" pitchFamily="49" charset="-122"/>
                    <a:ea typeface="楷体" panose="02010609060101010101" pitchFamily="49" charset="-122"/>
                  </a:rPr>
                  <a:t>(a</a:t>
                </a:r>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和</a:t>
                </a:r>
                <a:r>
                  <a:rPr lang="zh-CN" altLang="en-US" sz="2400" dirty="0">
                    <a:latin typeface="楷体" panose="02010609060101010101" pitchFamily="49" charset="-122"/>
                    <a:ea typeface="楷体" panose="02010609060101010101" pitchFamily="49" charset="-122"/>
                  </a:rPr>
                  <a:t>逻辑图</a:t>
                </a:r>
                <a:r>
                  <a:rPr lang="en-US" altLang="zh-CN" sz="2400" dirty="0">
                    <a:latin typeface="楷体" panose="02010609060101010101" pitchFamily="49" charset="-122"/>
                    <a:ea typeface="楷体" panose="02010609060101010101" pitchFamily="49" charset="-122"/>
                  </a:rPr>
                  <a:t>(b) </a:t>
                </a:r>
                <a:r>
                  <a:rPr lang="zh-CN" altLang="en-US" sz="2400" dirty="0" smtClean="0">
                    <a:latin typeface="楷体" panose="02010609060101010101" pitchFamily="49" charset="-122"/>
                    <a:ea typeface="楷体" panose="02010609060101010101" pitchFamily="49" charset="-122"/>
                  </a:rPr>
                  <a:t>。编码器</a:t>
                </a:r>
                <a:r>
                  <a:rPr lang="zh-CN" altLang="en-US" sz="2400" dirty="0">
                    <a:latin typeface="楷体" panose="02010609060101010101" pitchFamily="49" charset="-122"/>
                    <a:ea typeface="楷体" panose="02010609060101010101" pitchFamily="49" charset="-122"/>
                  </a:rPr>
                  <a:t>的每个输入端可连接一个代表十进制数符的信号。有</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条输出线，组成</a:t>
                </a:r>
                <a:r>
                  <a:rPr lang="en-US" altLang="zh-CN" sz="2400" dirty="0" smtClean="0">
                    <a:latin typeface="楷体" panose="02010609060101010101" pitchFamily="49" charset="-122"/>
                    <a:ea typeface="楷体" panose="02010609060101010101" pitchFamily="49" charset="-122"/>
                  </a:rPr>
                  <a:t>BCD</a:t>
                </a:r>
                <a:r>
                  <a:rPr lang="zh-CN" altLang="en-US" sz="2400" dirty="0" smtClean="0">
                    <a:latin typeface="楷体" panose="02010609060101010101" pitchFamily="49" charset="-122"/>
                    <a:ea typeface="楷体" panose="02010609060101010101" pitchFamily="49" charset="-122"/>
                  </a:rPr>
                  <a:t>码</a:t>
                </a:r>
                <a:r>
                  <a:rPr lang="zh-CN" altLang="en-US" sz="2400" dirty="0">
                    <a:latin typeface="楷体" panose="02010609060101010101" pitchFamily="49" charset="-122"/>
                    <a:ea typeface="楷体" panose="02010609060101010101" pitchFamily="49" charset="-122"/>
                  </a:rPr>
                  <a:t>，其中</a:t>
                </a:r>
                <a14:m>
                  <m:oMath xmlns:m="http://schemas.openxmlformats.org/officeDocument/2006/math">
                    <m:r>
                      <a:rPr lang="en-US" altLang="zh-CN" sz="2400" i="1" dirty="0">
                        <a:latin typeface="Cambria Math" panose="02040503050406030204" pitchFamily="18" charset="0"/>
                      </a:rPr>
                      <m:t>𝐷</m:t>
                    </m:r>
                    <m:r>
                      <a:rPr lang="en-US" altLang="zh-CN" sz="2400" i="1" baseline="-25000" dirty="0">
                        <a:latin typeface="Cambria Math" panose="02040503050406030204" pitchFamily="18" charset="0"/>
                      </a:rPr>
                      <m:t>3</m:t>
                    </m:r>
                  </m:oMath>
                </a14:m>
                <a:r>
                  <a:rPr lang="zh-CN" altLang="en-US" sz="2400" dirty="0" smtClean="0">
                    <a:latin typeface="楷体" panose="02010609060101010101" pitchFamily="49" charset="-122"/>
                    <a:ea typeface="楷体" panose="02010609060101010101" pitchFamily="49" charset="-122"/>
                  </a:rPr>
                  <a:t>为</a:t>
                </a:r>
                <a:r>
                  <a:rPr lang="zh-CN" altLang="en-US" sz="2400" dirty="0">
                    <a:latin typeface="楷体" panose="02010609060101010101" pitchFamily="49" charset="-122"/>
                    <a:ea typeface="楷体" panose="02010609060101010101" pitchFamily="49" charset="-122"/>
                  </a:rPr>
                  <a:t>高位，</a:t>
                </a:r>
                <a14:m>
                  <m:oMath xmlns:m="http://schemas.openxmlformats.org/officeDocument/2006/math">
                    <m:r>
                      <a:rPr lang="en-US" altLang="zh-CN" sz="2400" i="1" dirty="0">
                        <a:latin typeface="Cambria Math" panose="02040503050406030204" pitchFamily="18" charset="0"/>
                      </a:rPr>
                      <m:t>𝐷</m:t>
                    </m:r>
                    <m:r>
                      <a:rPr lang="en-US" altLang="zh-CN" sz="2400" i="1" baseline="-25000" dirty="0">
                        <a:latin typeface="Cambria Math" panose="02040503050406030204" pitchFamily="18" charset="0"/>
                      </a:rPr>
                      <m:t>0</m:t>
                    </m:r>
                  </m:oMath>
                </a14:m>
                <a:r>
                  <a:rPr lang="zh-CN" altLang="en-US" sz="2400" dirty="0">
                    <a:latin typeface="楷体" panose="02010609060101010101" pitchFamily="49" charset="-122"/>
                    <a:ea typeface="楷体" panose="02010609060101010101" pitchFamily="49" charset="-122"/>
                  </a:rPr>
                  <a:t>为低位。 真值表如表</a:t>
                </a:r>
                <a:r>
                  <a:rPr lang="en-US" altLang="zh-CN" sz="2400" dirty="0">
                    <a:latin typeface="楷体" panose="02010609060101010101" pitchFamily="49" charset="-122"/>
                    <a:ea typeface="楷体" panose="02010609060101010101" pitchFamily="49" charset="-122"/>
                  </a:rPr>
                  <a:t>2.9</a:t>
                </a:r>
                <a:r>
                  <a:rPr lang="zh-CN" altLang="en-US" sz="2400" dirty="0">
                    <a:latin typeface="楷体" panose="02010609060101010101" pitchFamily="49" charset="-122"/>
                    <a:ea typeface="楷体" panose="02010609060101010101" pitchFamily="49" charset="-122"/>
                  </a:rPr>
                  <a:t>所示。</a:t>
                </a:r>
              </a:p>
            </p:txBody>
          </p:sp>
        </mc:Choice>
        <mc:Fallback xmlns="">
          <p:sp>
            <p:nvSpPr>
              <p:cNvPr id="9" name="矩形 8"/>
              <p:cNvSpPr>
                <a:spLocks noRot="1" noChangeAspect="1" noMove="1" noResize="1" noEditPoints="1" noAdjustHandles="1" noChangeArrowheads="1" noChangeShapeType="1" noTextEdit="1"/>
              </p:cNvSpPr>
              <p:nvPr/>
            </p:nvSpPr>
            <p:spPr>
              <a:xfrm>
                <a:off x="628650" y="5083476"/>
                <a:ext cx="7264618" cy="1887696"/>
              </a:xfrm>
              <a:prstGeom prst="rect">
                <a:avLst/>
              </a:prstGeom>
              <a:blipFill>
                <a:blip r:embed="rId4"/>
                <a:stretch>
                  <a:fillRect l="-1258" t="-1613" r="-587" b="-29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4340962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9" name="矩形 8"/>
              <p:cNvSpPr/>
              <p:nvPr/>
            </p:nvSpPr>
            <p:spPr>
              <a:xfrm>
                <a:off x="1727257" y="1038878"/>
                <a:ext cx="5167529" cy="2785378"/>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由真值表可以写出</a:t>
                </a:r>
                <a:r>
                  <a:rPr lang="en-US" altLang="zh-CN" sz="2400" dirty="0">
                    <a:latin typeface="楷体" panose="02010609060101010101" pitchFamily="49" charset="-122"/>
                    <a:ea typeface="楷体" panose="02010609060101010101" pitchFamily="49" charset="-122"/>
                  </a:rPr>
                  <a:t>BCD </a:t>
                </a:r>
                <a:r>
                  <a:rPr lang="zh-CN" altLang="en-US" sz="2400" dirty="0">
                    <a:latin typeface="楷体" panose="02010609060101010101" pitchFamily="49" charset="-122"/>
                    <a:ea typeface="楷体" panose="02010609060101010101" pitchFamily="49" charset="-122"/>
                  </a:rPr>
                  <a:t>码输出函数的表达式</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marL="534988" indent="-534988">
                  <a:lnSpc>
                    <a:spcPts val="3500"/>
                  </a:lnSpc>
                </a:pPr>
                <a14:m>
                  <m:oMathPara xmlns:m="http://schemas.openxmlformats.org/officeDocument/2006/math">
                    <m:oMathParaPr>
                      <m:jc m:val="left"/>
                    </m:oMathParaPr>
                    <m:oMath xmlns:m="http://schemas.openxmlformats.org/officeDocument/2006/math">
                      <m:r>
                        <a:rPr lang="en-US" altLang="zh-CN" sz="2400" i="1" dirty="0" smtClean="0">
                          <a:latin typeface="Cambria Math" panose="02040503050406030204" pitchFamily="18" charset="0"/>
                        </a:rPr>
                        <m:t>𝐷</m:t>
                      </m:r>
                      <m:r>
                        <a:rPr lang="en-US" altLang="zh-CN" sz="2400" i="1" baseline="-25000" dirty="0" smtClean="0">
                          <a:latin typeface="Cambria Math" panose="02040503050406030204" pitchFamily="18" charset="0"/>
                        </a:rPr>
                        <m:t>3</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𝐼</m:t>
                      </m:r>
                      <m:r>
                        <a:rPr lang="en-US" altLang="zh-CN" sz="2400" i="1" baseline="-25000" dirty="0" smtClean="0">
                          <a:latin typeface="Cambria Math" panose="02040503050406030204" pitchFamily="18" charset="0"/>
                        </a:rPr>
                        <m:t>8</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𝐼</m:t>
                      </m:r>
                      <m:r>
                        <a:rPr lang="en-US" altLang="zh-CN" sz="2400" i="1" baseline="-25000" dirty="0" smtClean="0">
                          <a:latin typeface="Cambria Math" panose="02040503050406030204" pitchFamily="18" charset="0"/>
                        </a:rPr>
                        <m:t>9</m:t>
                      </m:r>
                    </m:oMath>
                  </m:oMathPara>
                </a14:m>
                <a:endParaRPr lang="en-US" altLang="zh-CN" sz="2400" baseline="-25000" dirty="0" smtClean="0">
                  <a:latin typeface="楷体" panose="02010609060101010101" pitchFamily="49" charset="-122"/>
                  <a:ea typeface="楷体" panose="02010609060101010101" pitchFamily="49" charset="-122"/>
                </a:endParaRPr>
              </a:p>
              <a:p>
                <a:pPr marL="534988" indent="-534988">
                  <a:lnSpc>
                    <a:spcPts val="3500"/>
                  </a:lnSpc>
                </a:pPr>
                <a14:m>
                  <m:oMathPara xmlns:m="http://schemas.openxmlformats.org/officeDocument/2006/math">
                    <m:oMathParaPr>
                      <m:jc m:val="left"/>
                    </m:oMathParaPr>
                    <m:oMath xmlns:m="http://schemas.openxmlformats.org/officeDocument/2006/math">
                      <m:r>
                        <a:rPr lang="en-US" altLang="zh-CN" sz="2400" i="1" dirty="0">
                          <a:latin typeface="Cambria Math" panose="02040503050406030204" pitchFamily="18" charset="0"/>
                        </a:rPr>
                        <m:t>𝐷</m:t>
                      </m:r>
                      <m:r>
                        <a:rPr lang="en-US" altLang="zh-CN" sz="2400" b="0" i="1" baseline="-25000" dirty="0" smtClean="0">
                          <a:latin typeface="Cambria Math" panose="02040503050406030204" pitchFamily="18" charset="0"/>
                        </a:rPr>
                        <m:t>2</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4</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5</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6</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7</m:t>
                      </m:r>
                    </m:oMath>
                  </m:oMathPara>
                </a14:m>
                <a:endParaRPr lang="en-US" altLang="zh-CN" sz="2400" baseline="-25000" dirty="0" smtClean="0">
                  <a:latin typeface="楷体" panose="02010609060101010101" pitchFamily="49" charset="-122"/>
                  <a:ea typeface="楷体" panose="02010609060101010101" pitchFamily="49" charset="-122"/>
                </a:endParaRPr>
              </a:p>
              <a:p>
                <a:pPr marL="534988" indent="-534988">
                  <a:lnSpc>
                    <a:spcPts val="3500"/>
                  </a:lnSpc>
                </a:pPr>
                <a14:m>
                  <m:oMathPara xmlns:m="http://schemas.openxmlformats.org/officeDocument/2006/math">
                    <m:oMathParaPr>
                      <m:jc m:val="left"/>
                    </m:oMathParaPr>
                    <m:oMath xmlns:m="http://schemas.openxmlformats.org/officeDocument/2006/math">
                      <m:r>
                        <a:rPr lang="en-US" altLang="zh-CN" sz="2400" i="1" dirty="0">
                          <a:latin typeface="Cambria Math" panose="02040503050406030204" pitchFamily="18" charset="0"/>
                        </a:rPr>
                        <m:t>𝐷</m:t>
                      </m:r>
                      <m:r>
                        <a:rPr lang="en-US" altLang="zh-CN" sz="2400" b="0" i="1" baseline="-25000" dirty="0" smtClean="0">
                          <a:latin typeface="Cambria Math" panose="02040503050406030204" pitchFamily="18" charset="0"/>
                        </a:rPr>
                        <m:t>1</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2</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3</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6</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i="1" baseline="-25000" dirty="0">
                          <a:latin typeface="Cambria Math" panose="02040503050406030204" pitchFamily="18" charset="0"/>
                        </a:rPr>
                        <m:t>7</m:t>
                      </m:r>
                    </m:oMath>
                  </m:oMathPara>
                </a14:m>
                <a:endParaRPr lang="en-US" altLang="zh-CN" sz="2400" baseline="-25000" dirty="0" smtClean="0">
                  <a:latin typeface="楷体" panose="02010609060101010101" pitchFamily="49" charset="-122"/>
                  <a:ea typeface="楷体" panose="02010609060101010101" pitchFamily="49" charset="-122"/>
                </a:endParaRPr>
              </a:p>
              <a:p>
                <a:pPr marL="534988" indent="-534988">
                  <a:lnSpc>
                    <a:spcPts val="3500"/>
                  </a:lnSpc>
                </a:pPr>
                <a14:m>
                  <m:oMathPara xmlns:m="http://schemas.openxmlformats.org/officeDocument/2006/math">
                    <m:oMathParaPr>
                      <m:jc m:val="left"/>
                    </m:oMathParaPr>
                    <m:oMath xmlns:m="http://schemas.openxmlformats.org/officeDocument/2006/math">
                      <m:r>
                        <a:rPr lang="en-US" altLang="zh-CN" sz="2400" i="1" dirty="0">
                          <a:latin typeface="Cambria Math" panose="02040503050406030204" pitchFamily="18" charset="0"/>
                        </a:rPr>
                        <m:t>𝐷</m:t>
                      </m:r>
                      <m:r>
                        <a:rPr lang="en-US" altLang="zh-CN" sz="2400" b="0" i="1" baseline="-25000" dirty="0" smtClean="0">
                          <a:latin typeface="Cambria Math" panose="02040503050406030204" pitchFamily="18" charset="0"/>
                        </a:rPr>
                        <m:t>0</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1</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3</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5</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i="1" baseline="-25000" dirty="0">
                          <a:latin typeface="Cambria Math" panose="02040503050406030204" pitchFamily="18" charset="0"/>
                        </a:rPr>
                        <m:t>7</m:t>
                      </m:r>
                      <m:r>
                        <a:rPr lang="en-US" altLang="zh-CN" sz="2400" i="1" dirty="0">
                          <a:latin typeface="Cambria Math" panose="02040503050406030204" pitchFamily="18" charset="0"/>
                        </a:rPr>
                        <m:t>+</m:t>
                      </m:r>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9</m:t>
                      </m:r>
                    </m:oMath>
                  </m:oMathPara>
                </a14:m>
                <a:endParaRPr lang="en-US" altLang="zh-CN" sz="2400" baseline="-25000" dirty="0">
                  <a:latin typeface="楷体" panose="02010609060101010101" pitchFamily="49" charset="-122"/>
                  <a:ea typeface="楷体" panose="02010609060101010101" pitchFamily="49"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1727257" y="1038878"/>
                <a:ext cx="5167529" cy="2785378"/>
              </a:xfrm>
              <a:prstGeom prst="rect">
                <a:avLst/>
              </a:prstGeom>
              <a:blipFill>
                <a:blip r:embed="rId2"/>
                <a:stretch>
                  <a:fillRect l="-1769" t="-10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727257" y="3824256"/>
                <a:ext cx="6092440" cy="2785378"/>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当某一条输入线上有信号</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时，电路将输出与该十进制数相对应的二进制码</a:t>
                </a:r>
                <a:r>
                  <a:rPr lang="zh-CN" altLang="en-US" sz="2400" dirty="0" smtClean="0">
                    <a:latin typeface="楷体" panose="02010609060101010101" pitchFamily="49" charset="-122"/>
                    <a:ea typeface="楷体" panose="02010609060101010101" pitchFamily="49" charset="-122"/>
                  </a:rPr>
                  <a:t>。当</a:t>
                </a:r>
                <a14:m>
                  <m:oMath xmlns:m="http://schemas.openxmlformats.org/officeDocument/2006/math">
                    <m:r>
                      <a:rPr lang="en-US" altLang="zh-CN" sz="2400" i="1" dirty="0">
                        <a:latin typeface="Cambria Math" panose="02040503050406030204" pitchFamily="18" charset="0"/>
                      </a:rPr>
                      <m:t>𝐼</m:t>
                    </m:r>
                    <m:r>
                      <a:rPr lang="en-US" altLang="zh-CN" sz="2400" i="1" baseline="-25000" dirty="0">
                        <a:latin typeface="Cambria Math" panose="02040503050406030204" pitchFamily="18" charset="0"/>
                      </a:rPr>
                      <m:t>6</m:t>
                    </m:r>
                  </m:oMath>
                </a14:m>
                <a:r>
                  <a:rPr lang="zh-CN" altLang="en-US" sz="2400" dirty="0">
                    <a:latin typeface="楷体" panose="02010609060101010101" pitchFamily="49" charset="-122"/>
                    <a:ea typeface="楷体" panose="02010609060101010101" pitchFamily="49" charset="-122"/>
                  </a:rPr>
                  <a:t>线上有信号</a:t>
                </a:r>
                <a:r>
                  <a:rPr lang="en-US" altLang="zh-CN" sz="2400" dirty="0">
                    <a:latin typeface="楷体" panose="02010609060101010101" pitchFamily="49" charset="-122"/>
                    <a:ea typeface="楷体" panose="02010609060101010101" pitchFamily="49" charset="-122"/>
                  </a:rPr>
                  <a:t>1 </a:t>
                </a:r>
                <a:r>
                  <a:rPr lang="zh-CN" altLang="en-US" sz="2400" dirty="0" smtClean="0">
                    <a:latin typeface="楷体" panose="02010609060101010101" pitchFamily="49" charset="-122"/>
                    <a:ea typeface="楷体" panose="02010609060101010101" pitchFamily="49" charset="-122"/>
                  </a:rPr>
                  <a:t>时，</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0</m:t>
                    </m:r>
                    <m:r>
                      <a:rPr lang="zh-CN" altLang="en-US" sz="2400" i="1" dirty="0">
                        <a:latin typeface="Cambria Math" panose="02040503050406030204" pitchFamily="18" charset="0"/>
                        <a:ea typeface="楷体" panose="02010609060101010101" pitchFamily="49" charset="-122"/>
                      </a:rPr>
                      <m:t> </m:t>
                    </m:r>
                  </m:oMath>
                </a14:m>
                <a:r>
                  <a:rPr lang="zh-CN" altLang="en-US" sz="2400" dirty="0">
                    <a:latin typeface="楷体" panose="02010609060101010101" pitchFamily="49" charset="-122"/>
                    <a:ea typeface="楷体" panose="02010609060101010101" pitchFamily="49" charset="-122"/>
                  </a:rPr>
                  <a:t>输出</a:t>
                </a:r>
                <a:r>
                  <a:rPr lang="en-US" altLang="zh-CN" sz="2400" dirty="0">
                    <a:latin typeface="楷体" panose="02010609060101010101" pitchFamily="49" charset="-122"/>
                    <a:ea typeface="楷体" panose="02010609060101010101" pitchFamily="49" charset="-122"/>
                  </a:rPr>
                  <a:t>0110=(6)</a:t>
                </a:r>
                <a:r>
                  <a:rPr lang="en-US" altLang="zh-CN" sz="2400" baseline="-25000" dirty="0">
                    <a:latin typeface="楷体" panose="02010609060101010101" pitchFamily="49" charset="-122"/>
                    <a:ea typeface="楷体" panose="02010609060101010101" pitchFamily="49" charset="-122"/>
                  </a:rPr>
                  <a:t>10</a:t>
                </a:r>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而</a:t>
                </a:r>
                <a:r>
                  <a:rPr lang="zh-CN" altLang="en-US" sz="2400" dirty="0">
                    <a:latin typeface="楷体" panose="02010609060101010101" pitchFamily="49" charset="-122"/>
                    <a:ea typeface="楷体" panose="02010609060101010101" pitchFamily="49" charset="-122"/>
                  </a:rPr>
                  <a:t>当</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𝐼</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𝐼</m:t>
                    </m:r>
                    <m:r>
                      <a:rPr lang="en-US" altLang="zh-CN" sz="2400" i="1" baseline="-25000" dirty="0">
                        <a:latin typeface="Cambria Math" panose="02040503050406030204" pitchFamily="18" charset="0"/>
                        <a:ea typeface="楷体" panose="02010609060101010101" pitchFamily="49" charset="-122"/>
                      </a:rPr>
                      <m:t>9</m:t>
                    </m:r>
                    <m:r>
                      <a:rPr lang="en-US" altLang="zh-CN" sz="2400" i="1" dirty="0">
                        <a:latin typeface="Cambria Math" panose="02040503050406030204" pitchFamily="18" charset="0"/>
                        <a:ea typeface="楷体" panose="02010609060101010101" pitchFamily="49" charset="-122"/>
                      </a:rPr>
                      <m:t> </m:t>
                    </m:r>
                  </m:oMath>
                </a14:m>
                <a:r>
                  <a:rPr lang="zh-CN" altLang="en-US" sz="2400" dirty="0">
                    <a:latin typeface="楷体" panose="02010609060101010101" pitchFamily="49" charset="-122"/>
                    <a:ea typeface="楷体" panose="02010609060101010101" pitchFamily="49" charset="-122"/>
                  </a:rPr>
                  <a:t>线都无信号时</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均为</a:t>
                </a:r>
                <a:r>
                  <a:rPr lang="en-US" altLang="zh-CN" sz="2400" dirty="0">
                    <a:latin typeface="楷体" panose="02010609060101010101" pitchFamily="49" charset="-122"/>
                    <a:ea typeface="楷体" panose="02010609060101010101" pitchFamily="49" charset="-122"/>
                  </a:rPr>
                  <a:t>0),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0</m:t>
                    </m:r>
                  </m:oMath>
                </a14:m>
                <a:r>
                  <a:rPr lang="zh-CN" altLang="en-US" sz="2400" dirty="0">
                    <a:latin typeface="楷体" panose="02010609060101010101" pitchFamily="49" charset="-122"/>
                    <a:ea typeface="楷体" panose="02010609060101010101" pitchFamily="49" charset="-122"/>
                  </a:rPr>
                  <a:t>输出为</a:t>
                </a:r>
                <a:r>
                  <a:rPr lang="en-US" altLang="zh-CN" sz="2400" dirty="0">
                    <a:latin typeface="楷体" panose="02010609060101010101" pitchFamily="49" charset="-122"/>
                    <a:ea typeface="楷体" panose="02010609060101010101" pitchFamily="49" charset="-122"/>
                  </a:rPr>
                  <a:t>0000</a:t>
                </a:r>
                <a:r>
                  <a:rPr lang="zh-CN" altLang="en-US" sz="2400" dirty="0">
                    <a:latin typeface="楷体" panose="02010609060101010101" pitchFamily="49" charset="-122"/>
                    <a:ea typeface="楷体" panose="02010609060101010101" pitchFamily="49" charset="-122"/>
                  </a:rPr>
                  <a:t>。因此该电路是将十进制数符</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9</a:t>
                </a:r>
                <a:r>
                  <a:rPr lang="zh-CN" altLang="en-US" sz="2400" dirty="0" smtClean="0">
                    <a:latin typeface="楷体" panose="02010609060101010101" pitchFamily="49" charset="-122"/>
                    <a:ea typeface="楷体" panose="02010609060101010101" pitchFamily="49" charset="-122"/>
                  </a:rPr>
                  <a:t>编成</a:t>
                </a:r>
                <a:r>
                  <a:rPr lang="en-US" altLang="zh-CN" sz="2400" dirty="0" smtClean="0">
                    <a:latin typeface="楷体" panose="02010609060101010101" pitchFamily="49" charset="-122"/>
                    <a:ea typeface="楷体" panose="02010609060101010101" pitchFamily="49" charset="-122"/>
                  </a:rPr>
                  <a:t>BCD </a:t>
                </a:r>
                <a:r>
                  <a:rPr lang="zh-CN" altLang="en-US" sz="2400" dirty="0">
                    <a:latin typeface="楷体" panose="02010609060101010101" pitchFamily="49" charset="-122"/>
                    <a:ea typeface="楷体" panose="02010609060101010101" pitchFamily="49" charset="-122"/>
                  </a:rPr>
                  <a:t>码的编码电路。</a:t>
                </a:r>
              </a:p>
            </p:txBody>
          </p:sp>
        </mc:Choice>
        <mc:Fallback xmlns="">
          <p:sp>
            <p:nvSpPr>
              <p:cNvPr id="10" name="矩形 9"/>
              <p:cNvSpPr>
                <a:spLocks noRot="1" noChangeAspect="1" noMove="1" noResize="1" noEditPoints="1" noAdjustHandles="1" noChangeArrowheads="1" noChangeShapeType="1" noTextEdit="1"/>
              </p:cNvSpPr>
              <p:nvPr/>
            </p:nvSpPr>
            <p:spPr>
              <a:xfrm>
                <a:off x="1727257" y="3824256"/>
                <a:ext cx="6092440" cy="2785378"/>
              </a:xfrm>
              <a:prstGeom prst="rect">
                <a:avLst/>
              </a:prstGeom>
              <a:blipFill>
                <a:blip r:embed="rId3"/>
                <a:stretch>
                  <a:fillRect l="-1500" t="-1094" r="-600" b="-17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5116366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93091"/>
          </a:xfrm>
        </p:spPr>
        <p:txBody>
          <a:bodyPr/>
          <a:lstStyle/>
          <a:p>
            <a:r>
              <a:rPr lang="en-US" altLang="zh-CN" dirty="0">
                <a:latin typeface="楷体" panose="02010609060101010101" pitchFamily="49" charset="-122"/>
                <a:ea typeface="楷体" panose="02010609060101010101" pitchFamily="49" charset="-122"/>
              </a:rPr>
              <a:t>2.5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译码器和编码器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145308"/>
            <a:ext cx="7886700" cy="5712691"/>
          </a:xfrm>
        </p:spPr>
        <p:txBody>
          <a:bodyPr>
            <a:normAutofit/>
          </a:bodyPr>
          <a:lstStyle/>
          <a:p>
            <a:pPr>
              <a:lnSpc>
                <a:spcPts val="3400"/>
              </a:lnSpc>
            </a:pPr>
            <a:r>
              <a:rPr lang="zh-CN" altLang="en-US" sz="2400" dirty="0" smtClean="0">
                <a:latin typeface="楷体" panose="02010609060101010101" pitchFamily="49" charset="-122"/>
                <a:ea typeface="楷体" panose="02010609060101010101" pitchFamily="49" charset="-122"/>
              </a:rPr>
              <a:t>编码器</a:t>
            </a:r>
            <a:endParaRPr lang="en-US" altLang="zh-CN" sz="2400" dirty="0" smtClean="0">
              <a:latin typeface="楷体" panose="02010609060101010101" pitchFamily="49" charset="-122"/>
              <a:ea typeface="楷体" panose="02010609060101010101" pitchFamily="49" charset="-122"/>
            </a:endParaRPr>
          </a:p>
          <a:p>
            <a:pPr lvl="1">
              <a:lnSpc>
                <a:spcPts val="3400"/>
              </a:lnSpc>
            </a:pPr>
            <a:r>
              <a:rPr lang="zh-CN" altLang="en-US" dirty="0">
                <a:latin typeface="楷体" panose="02010609060101010101" pitchFamily="49" charset="-122"/>
                <a:ea typeface="楷体" panose="02010609060101010101" pitchFamily="49" charset="-122"/>
              </a:rPr>
              <a:t>优先</a:t>
            </a:r>
            <a:r>
              <a:rPr lang="zh-CN" altLang="en-US" dirty="0" smtClean="0">
                <a:latin typeface="楷体" panose="02010609060101010101" pitchFamily="49" charset="-122"/>
                <a:ea typeface="楷体" panose="02010609060101010101" pitchFamily="49" charset="-122"/>
              </a:rPr>
              <a:t>编码器</a:t>
            </a:r>
            <a:endParaRPr lang="en-US" altLang="zh-CN" dirty="0" smtClean="0">
              <a:latin typeface="楷体" panose="02010609060101010101" pitchFamily="49" charset="-122"/>
              <a:ea typeface="楷体" panose="02010609060101010101" pitchFamily="49" charset="-122"/>
            </a:endParaRPr>
          </a:p>
          <a:p>
            <a:pPr lvl="2">
              <a:lnSpc>
                <a:spcPts val="3400"/>
              </a:lnSpc>
            </a:pPr>
            <a:r>
              <a:rPr lang="zh-CN" altLang="zh-CN" sz="2400" dirty="0">
                <a:latin typeface="楷体" panose="02010609060101010101" pitchFamily="49" charset="-122"/>
                <a:ea typeface="楷体" panose="02010609060101010101" pitchFamily="49" charset="-122"/>
              </a:rPr>
              <a:t>普通编码器对输入线是有限制的，即在任意一时刻所有输入线中只允许一个输入线</a:t>
            </a:r>
            <a:r>
              <a:rPr lang="zh-CN" altLang="zh-CN" sz="2400" dirty="0" smtClean="0">
                <a:latin typeface="楷体" panose="02010609060101010101" pitchFamily="49" charset="-122"/>
                <a:ea typeface="楷体" panose="02010609060101010101" pitchFamily="49" charset="-122"/>
              </a:rPr>
              <a:t>上有</a:t>
            </a:r>
            <a:r>
              <a:rPr lang="zh-CN" altLang="zh-CN" sz="2400" dirty="0">
                <a:latin typeface="楷体" panose="02010609060101010101" pitchFamily="49" charset="-122"/>
                <a:ea typeface="楷体" panose="02010609060101010101" pitchFamily="49" charset="-122"/>
              </a:rPr>
              <a:t>信号，否则编码器将发生混乱。为了解决这一问题，可采用优先编码器，它允许多个</a:t>
            </a:r>
            <a:r>
              <a:rPr lang="zh-CN" altLang="zh-CN" sz="2400" dirty="0" smtClean="0">
                <a:latin typeface="楷体" panose="02010609060101010101" pitchFamily="49" charset="-122"/>
                <a:ea typeface="楷体" panose="02010609060101010101" pitchFamily="49" charset="-122"/>
              </a:rPr>
              <a:t>输入信号</a:t>
            </a:r>
            <a:r>
              <a:rPr lang="zh-CN" altLang="zh-CN" sz="2400" dirty="0">
                <a:latin typeface="楷体" panose="02010609060101010101" pitchFamily="49" charset="-122"/>
                <a:ea typeface="楷体" panose="02010609060101010101" pitchFamily="49" charset="-122"/>
              </a:rPr>
              <a:t>同时有效</a:t>
            </a:r>
            <a:r>
              <a:rPr lang="zh-CN" altLang="zh-CN"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lvl="2">
              <a:lnSpc>
                <a:spcPts val="3400"/>
              </a:lnSpc>
            </a:pPr>
            <a:r>
              <a:rPr lang="zh-CN" altLang="en-US" sz="2400" dirty="0">
                <a:latin typeface="楷体" panose="02010609060101010101" pitchFamily="49" charset="-122"/>
                <a:ea typeface="楷体" panose="02010609060101010101" pitchFamily="49" charset="-122"/>
              </a:rPr>
              <a:t>设计时预先对所有输入按优先顺序进行排队，当多个输入同时有效时</a:t>
            </a:r>
            <a:r>
              <a:rPr lang="zh-CN" altLang="en-US" sz="2400" dirty="0" smtClean="0">
                <a:latin typeface="楷体" panose="02010609060101010101" pitchFamily="49" charset="-122"/>
                <a:ea typeface="楷体" panose="02010609060101010101" pitchFamily="49" charset="-122"/>
              </a:rPr>
              <a:t>，只</a:t>
            </a:r>
            <a:r>
              <a:rPr lang="zh-CN" altLang="en-US" sz="2400" dirty="0">
                <a:latin typeface="楷体" panose="02010609060101010101" pitchFamily="49" charset="-122"/>
                <a:ea typeface="楷体" panose="02010609060101010101" pitchFamily="49" charset="-122"/>
              </a:rPr>
              <a:t>对其中优先级别最高的输入信号编码，而对级别较低的输入信号不予理睬</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lvl="2"/>
            <a:endParaRPr lang="zh-CN" altLang="en-US" dirty="0">
              <a:latin typeface="楷体" panose="02010609060101010101" pitchFamily="49" charset="-122"/>
              <a:ea typeface="楷体" panose="02010609060101010101" pitchFamily="49" charset="-122"/>
            </a:endParaRPr>
          </a:p>
          <a:p>
            <a:pPr lvl="2"/>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6319396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52095" y="1180709"/>
            <a:ext cx="8628871" cy="3835054"/>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273006" y="4919008"/>
                <a:ext cx="8707960" cy="1938992"/>
              </a:xfrm>
              <a:prstGeom prst="rect">
                <a:avLst/>
              </a:prstGeom>
            </p:spPr>
            <p:txBody>
              <a:bodyPr wrap="square">
                <a:spAutoFit/>
              </a:bodyPr>
              <a:lstStyle/>
              <a:p>
                <a:r>
                  <a:rPr lang="zh-CN" altLang="en-US" sz="2400" dirty="0" smtClean="0">
                    <a:latin typeface="楷体" panose="02010609060101010101" pitchFamily="49" charset="-122"/>
                    <a:ea typeface="楷体" panose="02010609060101010101" pitchFamily="49" charset="-122"/>
                  </a:rPr>
                  <a:t>从功能表看出，输入输出的有效信号都是低</a:t>
                </a:r>
                <a:r>
                  <a:rPr lang="zh-CN" altLang="en-US" sz="2400" dirty="0">
                    <a:latin typeface="楷体" panose="02010609060101010101" pitchFamily="49" charset="-122"/>
                    <a:ea typeface="楷体" panose="02010609060101010101" pitchFamily="49" charset="-122"/>
                  </a:rPr>
                  <a:t>电平。在输入中，角标越大，优先级越高，</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𝐼</m:t>
                            </m:r>
                          </m:e>
                        </m:acc>
                      </m:e>
                      <m:sub>
                        <m:r>
                          <a:rPr lang="en-US" altLang="zh-CN" sz="2400" i="1">
                            <a:latin typeface="Cambria Math" panose="02040503050406030204" pitchFamily="18" charset="0"/>
                          </a:rPr>
                          <m:t>7</m:t>
                        </m:r>
                      </m:sub>
                    </m:sSub>
                  </m:oMath>
                </a14:m>
                <a:r>
                  <a:rPr lang="zh-CN" altLang="en-US" sz="2400" dirty="0" smtClean="0">
                    <a:latin typeface="楷体" panose="02010609060101010101" pitchFamily="49" charset="-122"/>
                    <a:ea typeface="楷体" panose="02010609060101010101" pitchFamily="49" charset="-122"/>
                  </a:rPr>
                  <a:t>优先级</a:t>
                </a:r>
                <a:r>
                  <a:rPr lang="zh-CN" altLang="en-US" sz="2400" dirty="0">
                    <a:latin typeface="楷体" panose="02010609060101010101" pitchFamily="49" charset="-122"/>
                    <a:ea typeface="楷体" panose="02010609060101010101" pitchFamily="49" charset="-122"/>
                  </a:rPr>
                  <a:t>最高。当</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𝐼</m:t>
                            </m:r>
                          </m:e>
                        </m:acc>
                      </m:e>
                      <m:sub>
                        <m:r>
                          <a:rPr lang="en-US" altLang="zh-CN" sz="2400" i="1">
                            <a:latin typeface="Cambria Math" panose="02040503050406030204" pitchFamily="18" charset="0"/>
                          </a:rPr>
                          <m:t>7</m:t>
                        </m:r>
                      </m:sub>
                    </m:sSub>
                  </m:oMath>
                </a14:m>
                <a:r>
                  <a:rPr lang="en-US" altLang="zh-CN" sz="2400" dirty="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0</a:t>
                </a:r>
                <a:r>
                  <a:rPr lang="zh-CN" altLang="en-US" sz="2400" dirty="0" smtClean="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，不管其他输入</a:t>
                </a:r>
                <a:r>
                  <a:rPr lang="zh-CN" altLang="en-US" sz="2400" dirty="0" smtClean="0">
                    <a:latin typeface="楷体" panose="02010609060101010101" pitchFamily="49" charset="-122"/>
                    <a:ea typeface="楷体" panose="02010609060101010101" pitchFamily="49" charset="-122"/>
                  </a:rPr>
                  <a:t>是什么</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都是对</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𝐼</m:t>
                            </m:r>
                          </m:e>
                        </m:acc>
                      </m:e>
                      <m:sub>
                        <m:r>
                          <a:rPr lang="en-US" altLang="zh-CN" sz="2400" i="1">
                            <a:latin typeface="Cambria Math" panose="02040503050406030204" pitchFamily="18" charset="0"/>
                          </a:rPr>
                          <m:t>7</m:t>
                        </m:r>
                      </m:sub>
                    </m:sSub>
                  </m:oMath>
                </a14:m>
                <a:r>
                  <a:rPr lang="zh-CN" altLang="en-US" sz="2400" dirty="0" smtClean="0">
                    <a:latin typeface="楷体" panose="02010609060101010101" pitchFamily="49" charset="-122"/>
                    <a:ea typeface="楷体" panose="02010609060101010101" pitchFamily="49" charset="-122"/>
                  </a:rPr>
                  <a:t>编码，</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𝐷</m:t>
                            </m:r>
                          </m:e>
                        </m:acc>
                      </m:e>
                      <m:sub>
                        <m:r>
                          <a:rPr lang="en-US" altLang="zh-CN" sz="2400" b="0" i="1" smtClean="0">
                            <a:latin typeface="Cambria Math" panose="02040503050406030204" pitchFamily="18" charset="0"/>
                          </a:rPr>
                          <m:t>2</m:t>
                        </m:r>
                      </m:sub>
                    </m:sSub>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𝐷</m:t>
                            </m:r>
                          </m:e>
                        </m:acc>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𝐷</m:t>
                            </m:r>
                          </m:e>
                        </m:acc>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r>
                      <a:rPr lang="en-US" altLang="zh-CN" sz="2400" b="0" i="0" smtClean="0">
                        <a:latin typeface="Cambria Math" panose="02040503050406030204" pitchFamily="18" charset="0"/>
                      </a:rPr>
                      <m:t>000</m:t>
                    </m:r>
                  </m:oMath>
                </a14:m>
                <a:r>
                  <a:rPr lang="en-US" altLang="zh-CN" sz="2400" dirty="0" smtClean="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𝐼</m:t>
                            </m:r>
                          </m:e>
                        </m:acc>
                      </m:e>
                      <m:sub>
                        <m:r>
                          <a:rPr lang="en-US" altLang="zh-CN" sz="2400" i="1">
                            <a:latin typeface="Cambria Math" panose="02040503050406030204" pitchFamily="18" charset="0"/>
                          </a:rPr>
                          <m:t>7</m:t>
                        </m:r>
                      </m:sub>
                    </m:sSub>
                  </m:oMath>
                </a14:m>
                <a:r>
                  <a:rPr lang="zh-CN" altLang="en-US" sz="2400" dirty="0" smtClean="0">
                    <a:latin typeface="楷体" panose="02010609060101010101" pitchFamily="49" charset="-122"/>
                    <a:ea typeface="楷体" panose="02010609060101010101" pitchFamily="49" charset="-122"/>
                  </a:rPr>
                  <a:t>的反码</a:t>
                </a:r>
                <a:r>
                  <a:rPr lang="en-US" altLang="zh-CN"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即</a:t>
                </a:r>
                <a14:m>
                  <m:oMath xmlns:m="http://schemas.openxmlformats.org/officeDocument/2006/math">
                    <m:r>
                      <a:rPr lang="en-US" altLang="zh-CN" sz="2400" i="1" dirty="0">
                        <a:latin typeface="Cambria Math" panose="02040503050406030204" pitchFamily="18" charset="0"/>
                      </a:rPr>
                      <m:t>𝐼</m:t>
                    </m:r>
                    <m:r>
                      <a:rPr lang="en-US" altLang="zh-CN" sz="2400" i="1" baseline="-25000" dirty="0">
                        <a:latin typeface="Cambria Math" panose="02040503050406030204" pitchFamily="18" charset="0"/>
                      </a:rPr>
                      <m:t>7 </m:t>
                    </m:r>
                  </m:oMath>
                </a14:m>
                <a:r>
                  <a:rPr lang="en-US" altLang="zh-CN" sz="2400" dirty="0" smtClean="0">
                    <a:latin typeface="楷体" panose="02010609060101010101" pitchFamily="49" charset="-122"/>
                    <a:ea typeface="楷体" panose="02010609060101010101" pitchFamily="49" charset="-122"/>
                  </a:rPr>
                  <a:t>=111 </a:t>
                </a:r>
                <a:r>
                  <a:rPr lang="zh-CN" altLang="en-US" sz="2400" dirty="0">
                    <a:latin typeface="楷体" panose="02010609060101010101" pitchFamily="49" charset="-122"/>
                    <a:ea typeface="楷体" panose="02010609060101010101" pitchFamily="49" charset="-122"/>
                  </a:rPr>
                  <a:t>。当</a:t>
                </a:r>
                <a:r>
                  <a:rPr lang="zh-CN" altLang="en-US" sz="2400" dirty="0" smtClean="0">
                    <a:latin typeface="楷体" panose="02010609060101010101" pitchFamily="49" charset="-122"/>
                    <a:ea typeface="楷体" panose="02010609060101010101" pitchFamily="49" charset="-122"/>
                  </a:rPr>
                  <a:t>输入</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𝐼</m:t>
                            </m:r>
                          </m:e>
                        </m:acc>
                      </m:e>
                      <m:sub>
                        <m:r>
                          <a:rPr lang="en-US" altLang="zh-CN" sz="2400" i="1">
                            <a:latin typeface="Cambria Math" panose="02040503050406030204" pitchFamily="18" charset="0"/>
                          </a:rPr>
                          <m:t>7</m:t>
                        </m:r>
                      </m:sub>
                    </m:sSub>
                  </m:oMath>
                </a14:m>
                <a:r>
                  <a:rPr lang="en-US" altLang="zh-CN"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𝐼</m:t>
                            </m:r>
                          </m:e>
                        </m:acc>
                      </m:e>
                      <m:sub>
                        <m:r>
                          <a:rPr lang="en-US" altLang="zh-CN" sz="2400" b="0" i="1" smtClean="0">
                            <a:latin typeface="Cambria Math" panose="02040503050406030204" pitchFamily="18" charset="0"/>
                          </a:rPr>
                          <m:t>6</m:t>
                        </m:r>
                      </m:sub>
                    </m:sSub>
                  </m:oMath>
                </a14:m>
                <a:r>
                  <a:rPr lang="en-US" altLang="zh-CN" sz="2400" dirty="0" smtClean="0">
                    <a:latin typeface="楷体" panose="02010609060101010101" pitchFamily="49" charset="-122"/>
                    <a:ea typeface="楷体" panose="02010609060101010101" pitchFamily="49" charset="-122"/>
                  </a:rPr>
                  <a:t>=0</a:t>
                </a:r>
                <a:r>
                  <a:rPr lang="zh-CN" altLang="en-US" sz="2400" dirty="0" smtClean="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不管其他</a:t>
                </a:r>
                <a:r>
                  <a:rPr lang="zh-CN" altLang="en-US" sz="2400" dirty="0">
                    <a:latin typeface="楷体" panose="02010609060101010101" pitchFamily="49" charset="-122"/>
                    <a:ea typeface="楷体" panose="02010609060101010101" pitchFamily="49" charset="-122"/>
                  </a:rPr>
                  <a:t>输入是什么</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都是对</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𝐼</m:t>
                            </m:r>
                          </m:e>
                        </m:acc>
                      </m:e>
                      <m:sub>
                        <m:r>
                          <a:rPr lang="en-US" altLang="zh-CN" sz="2400" i="1">
                            <a:latin typeface="Cambria Math" panose="02040503050406030204" pitchFamily="18" charset="0"/>
                          </a:rPr>
                          <m:t>6</m:t>
                        </m:r>
                      </m:sub>
                    </m:sSub>
                  </m:oMath>
                </a14:m>
                <a:r>
                  <a:rPr lang="zh-CN" altLang="en-US" sz="2400" dirty="0" smtClean="0">
                    <a:latin typeface="楷体" panose="02010609060101010101" pitchFamily="49" charset="-122"/>
                    <a:ea typeface="楷体" panose="02010609060101010101" pitchFamily="49" charset="-122"/>
                  </a:rPr>
                  <a:t>编码 </a:t>
                </a:r>
                <a:r>
                  <a:rPr lang="zh-CN" altLang="en-US" sz="2400"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𝐷</m:t>
                            </m:r>
                          </m:e>
                        </m:acc>
                      </m:e>
                      <m:sub>
                        <m:r>
                          <a:rPr lang="en-US" altLang="zh-CN" sz="2400" i="1">
                            <a:latin typeface="Cambria Math" panose="02040503050406030204" pitchFamily="18" charset="0"/>
                          </a:rPr>
                          <m:t>2</m:t>
                        </m:r>
                      </m:sub>
                    </m:sSub>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𝐷</m:t>
                            </m:r>
                          </m:e>
                        </m:acc>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𝐷</m:t>
                            </m:r>
                          </m:e>
                        </m:acc>
                      </m:e>
                      <m:sub>
                        <m:r>
                          <a:rPr lang="en-US" altLang="zh-CN" sz="2400" i="1">
                            <a:latin typeface="Cambria Math" panose="02040503050406030204" pitchFamily="18" charset="0"/>
                          </a:rPr>
                          <m:t>0</m:t>
                        </m:r>
                      </m:sub>
                    </m:sSub>
                    <m:r>
                      <a:rPr lang="en-US" altLang="zh-CN" sz="2400" b="0" i="0" smtClean="0">
                        <a:latin typeface="Cambria Math" panose="02040503050406030204" pitchFamily="18" charset="0"/>
                      </a:rPr>
                      <m:t>=001</m:t>
                    </m:r>
                  </m:oMath>
                </a14:m>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即</a:t>
                </a:r>
                <a14:m>
                  <m:oMath xmlns:m="http://schemas.openxmlformats.org/officeDocument/2006/math">
                    <m:r>
                      <a:rPr lang="en-US" altLang="zh-CN" sz="2400" i="1" dirty="0">
                        <a:latin typeface="Cambria Math" panose="02040503050406030204" pitchFamily="18" charset="0"/>
                      </a:rPr>
                      <m:t>𝐼</m:t>
                    </m:r>
                    <m:r>
                      <a:rPr lang="en-US" altLang="zh-CN" sz="2400" b="0" i="1" baseline="-25000" dirty="0" smtClean="0">
                        <a:latin typeface="Cambria Math" panose="02040503050406030204" pitchFamily="18" charset="0"/>
                      </a:rPr>
                      <m:t>6</m:t>
                    </m:r>
                  </m:oMath>
                </a14:m>
                <a:r>
                  <a:rPr lang="en-US" altLang="zh-CN" sz="2400" dirty="0">
                    <a:latin typeface="楷体" panose="02010609060101010101" pitchFamily="49" charset="-122"/>
                    <a:ea typeface="楷体" panose="02010609060101010101" pitchFamily="49" charset="-122"/>
                  </a:rPr>
                  <a:t>=110</a:t>
                </a:r>
                <a:r>
                  <a:rPr lang="zh-CN" altLang="en-US" sz="2400" dirty="0">
                    <a:latin typeface="楷体" panose="02010609060101010101" pitchFamily="49" charset="-122"/>
                    <a:ea typeface="楷体" panose="02010609060101010101" pitchFamily="49" charset="-122"/>
                  </a:rPr>
                  <a:t>。其余类推。</a:t>
                </a:r>
              </a:p>
            </p:txBody>
          </p:sp>
        </mc:Choice>
        <mc:Fallback xmlns="">
          <p:sp>
            <p:nvSpPr>
              <p:cNvPr id="3" name="矩形 2"/>
              <p:cNvSpPr>
                <a:spLocks noRot="1" noChangeAspect="1" noMove="1" noResize="1" noEditPoints="1" noAdjustHandles="1" noChangeArrowheads="1" noChangeShapeType="1" noTextEdit="1"/>
              </p:cNvSpPr>
              <p:nvPr/>
            </p:nvSpPr>
            <p:spPr>
              <a:xfrm>
                <a:off x="273006" y="4919008"/>
                <a:ext cx="8707960" cy="1938992"/>
              </a:xfrm>
              <a:prstGeom prst="rect">
                <a:avLst/>
              </a:prstGeom>
              <a:blipFill>
                <a:blip r:embed="rId3"/>
                <a:stretch>
                  <a:fillRect l="-1120" t="-2516" r="-4552" b="-5346"/>
                </a:stretch>
              </a:blipFill>
            </p:spPr>
            <p:txBody>
              <a:bodyPr/>
              <a:lstStyle/>
              <a:p>
                <a:r>
                  <a:rPr lang="zh-CN" altLang="en-US">
                    <a:noFill/>
                  </a:rPr>
                  <a:t> </a:t>
                </a:r>
              </a:p>
            </p:txBody>
          </p:sp>
        </mc:Fallback>
      </mc:AlternateContent>
      <p:sp>
        <p:nvSpPr>
          <p:cNvPr id="4" name="矩形 3"/>
          <p:cNvSpPr/>
          <p:nvPr/>
        </p:nvSpPr>
        <p:spPr>
          <a:xfrm>
            <a:off x="352095" y="308218"/>
            <a:ext cx="8203325" cy="990015"/>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表</a:t>
            </a:r>
            <a:r>
              <a:rPr lang="en-US" altLang="zh-CN" sz="2400" dirty="0">
                <a:latin typeface="楷体" panose="02010609060101010101" pitchFamily="49" charset="-122"/>
                <a:ea typeface="楷体" panose="02010609060101010101" pitchFamily="49" charset="-122"/>
              </a:rPr>
              <a:t>2.10</a:t>
            </a:r>
            <a:r>
              <a:rPr lang="zh-CN" altLang="en-US" sz="2400" dirty="0">
                <a:latin typeface="楷体" panose="02010609060101010101" pitchFamily="49" charset="-122"/>
                <a:ea typeface="楷体" panose="02010609060101010101" pitchFamily="49" charset="-122"/>
              </a:rPr>
              <a:t>列出了</a:t>
            </a:r>
            <a:r>
              <a:rPr lang="zh-CN" altLang="en-US" sz="2400" b="1" dirty="0">
                <a:latin typeface="楷体" panose="02010609060101010101" pitchFamily="49" charset="-122"/>
                <a:ea typeface="楷体" panose="02010609060101010101" pitchFamily="49" charset="-122"/>
              </a:rPr>
              <a:t>优先编码器</a:t>
            </a:r>
            <a:r>
              <a:rPr lang="en-US" altLang="zh-CN" sz="2400" b="1" dirty="0" smtClean="0">
                <a:latin typeface="楷体" panose="02010609060101010101" pitchFamily="49" charset="-122"/>
                <a:ea typeface="楷体" panose="02010609060101010101" pitchFamily="49" charset="-122"/>
              </a:rPr>
              <a:t>74LS148</a:t>
            </a:r>
            <a:r>
              <a:rPr lang="zh-CN" altLang="en-US" sz="2400" dirty="0" smtClean="0">
                <a:latin typeface="楷体" panose="02010609060101010101" pitchFamily="49" charset="-122"/>
                <a:ea typeface="楷体" panose="02010609060101010101" pitchFamily="49" charset="-122"/>
              </a:rPr>
              <a:t>功能</a:t>
            </a:r>
            <a:r>
              <a:rPr lang="zh-CN" altLang="en-US" sz="2400" dirty="0">
                <a:latin typeface="楷体" panose="02010609060101010101" pitchFamily="49" charset="-122"/>
                <a:ea typeface="楷体" panose="02010609060101010101" pitchFamily="49" charset="-122"/>
              </a:rPr>
              <a:t>表，它是</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线</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线编码器。</a:t>
            </a:r>
            <a:r>
              <a:rPr lang="zh-CN" altLang="en-US" sz="2400" dirty="0" smtClean="0">
                <a:latin typeface="楷体" panose="02010609060101010101" pitchFamily="49" charset="-122"/>
                <a:ea typeface="楷体" panose="02010609060101010101" pitchFamily="49" charset="-122"/>
              </a:rPr>
              <a:t>其中</a:t>
            </a:r>
            <a:r>
              <a:rPr lang="en-US" altLang="zh-CN" sz="2400" dirty="0" smtClean="0">
                <a:latin typeface="楷体" panose="02010609060101010101" pitchFamily="49" charset="-122"/>
                <a:ea typeface="楷体" panose="02010609060101010101" pitchFamily="49" charset="-122"/>
              </a:rPr>
              <a:t>EI,EO</a:t>
            </a:r>
            <a:r>
              <a:rPr lang="zh-CN" altLang="en-US" sz="2400" dirty="0" smtClean="0">
                <a:latin typeface="楷体" panose="02010609060101010101" pitchFamily="49" charset="-122"/>
                <a:ea typeface="楷体" panose="02010609060101010101" pitchFamily="49" charset="-122"/>
              </a:rPr>
              <a:t>两</a:t>
            </a:r>
            <a:r>
              <a:rPr lang="zh-CN" altLang="en-US" sz="2400" dirty="0">
                <a:latin typeface="楷体" panose="02010609060101010101" pitchFamily="49" charset="-122"/>
                <a:ea typeface="楷体" panose="02010609060101010101" pitchFamily="49" charset="-122"/>
              </a:rPr>
              <a:t>个信号端用来扩展用。</a:t>
            </a:r>
          </a:p>
        </p:txBody>
      </p:sp>
    </p:spTree>
    <p:extLst>
      <p:ext uri="{BB962C8B-B14F-4D97-AF65-F5344CB8AC3E}">
        <p14:creationId xmlns:p14="http://schemas.microsoft.com/office/powerpoint/2010/main" val="160056616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03563" y="5053208"/>
            <a:ext cx="7656946" cy="1438855"/>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2.27</a:t>
            </a:r>
            <a:r>
              <a:rPr lang="zh-CN" altLang="en-US" sz="2400" dirty="0">
                <a:latin typeface="楷体" panose="02010609060101010101" pitchFamily="49" charset="-122"/>
                <a:ea typeface="楷体" panose="02010609060101010101" pitchFamily="49" charset="-122"/>
              </a:rPr>
              <a:t>画出了</a:t>
            </a:r>
            <a:r>
              <a:rPr lang="en-US" altLang="zh-CN" sz="2400" dirty="0">
                <a:latin typeface="楷体" panose="02010609060101010101" pitchFamily="49" charset="-122"/>
                <a:ea typeface="楷体" panose="02010609060101010101" pitchFamily="49" charset="-122"/>
              </a:rPr>
              <a:t>74LS148 </a:t>
            </a:r>
            <a:r>
              <a:rPr lang="zh-CN" altLang="en-US" sz="2400" dirty="0">
                <a:latin typeface="楷体" panose="02010609060101010101" pitchFamily="49" charset="-122"/>
                <a:ea typeface="楷体" panose="02010609060101010101" pitchFamily="49" charset="-122"/>
              </a:rPr>
              <a:t>的逻辑符号</a:t>
            </a:r>
            <a:r>
              <a:rPr lang="zh-CN" altLang="en-US" sz="2400" dirty="0" smtClean="0">
                <a:latin typeface="楷体" panose="02010609060101010101" pitchFamily="49" charset="-122"/>
                <a:ea typeface="楷体" panose="02010609060101010101" pitchFamily="49" charset="-122"/>
              </a:rPr>
              <a:t>及其扩展</a:t>
            </a:r>
            <a:r>
              <a:rPr lang="zh-CN" altLang="en-US" sz="2400" dirty="0">
                <a:latin typeface="楷体" panose="02010609060101010101" pitchFamily="49" charset="-122"/>
                <a:ea typeface="楷体" panose="02010609060101010101" pitchFamily="49" charset="-122"/>
              </a:rPr>
              <a:t>连接图，其中</a:t>
            </a:r>
            <a:r>
              <a:rPr lang="en-US" altLang="zh-CN" sz="2400" dirty="0" smtClean="0">
                <a:latin typeface="楷体" panose="02010609060101010101" pitchFamily="49" charset="-122"/>
                <a:ea typeface="楷体" panose="02010609060101010101" pitchFamily="49" charset="-122"/>
              </a:rPr>
              <a:t>EI</a:t>
            </a:r>
            <a:r>
              <a:rPr lang="zh-CN" altLang="en-US" sz="2400" dirty="0" smtClean="0">
                <a:latin typeface="楷体" panose="02010609060101010101" pitchFamily="49" charset="-122"/>
                <a:ea typeface="楷体" panose="02010609060101010101" pitchFamily="49" charset="-122"/>
              </a:rPr>
              <a:t>为</a:t>
            </a:r>
            <a:r>
              <a:rPr lang="zh-CN" altLang="en-US" sz="2400" dirty="0">
                <a:latin typeface="楷体" panose="02010609060101010101" pitchFamily="49" charset="-122"/>
                <a:ea typeface="楷体" panose="02010609060101010101" pitchFamily="49" charset="-122"/>
              </a:rPr>
              <a:t>允许输入，</a:t>
            </a:r>
            <a:r>
              <a:rPr lang="en-US" altLang="zh-CN" sz="2400" dirty="0" smtClean="0">
                <a:latin typeface="楷体" panose="02010609060101010101" pitchFamily="49" charset="-122"/>
                <a:ea typeface="楷体" panose="02010609060101010101" pitchFamily="49" charset="-122"/>
              </a:rPr>
              <a:t>EO</a:t>
            </a:r>
            <a:r>
              <a:rPr lang="zh-CN" altLang="en-US" sz="2400" dirty="0" smtClean="0">
                <a:latin typeface="楷体" panose="02010609060101010101" pitchFamily="49" charset="-122"/>
                <a:ea typeface="楷体" panose="02010609060101010101" pitchFamily="49" charset="-122"/>
              </a:rPr>
              <a:t>为允许输出</a:t>
            </a:r>
            <a:r>
              <a:rPr lang="zh-CN" altLang="en-US" sz="2400" dirty="0">
                <a:latin typeface="楷体" panose="02010609060101010101" pitchFamily="49" charset="-122"/>
                <a:ea typeface="楷体" panose="02010609060101010101" pitchFamily="49" charset="-122"/>
              </a:rPr>
              <a:t>。两片</a:t>
            </a:r>
            <a:r>
              <a:rPr lang="en-US" altLang="zh-CN" sz="2400" dirty="0">
                <a:latin typeface="楷体" panose="02010609060101010101" pitchFamily="49" charset="-122"/>
                <a:ea typeface="楷体" panose="02010609060101010101" pitchFamily="49" charset="-122"/>
              </a:rPr>
              <a:t>74LS148</a:t>
            </a:r>
            <a:r>
              <a:rPr lang="zh-CN" altLang="en-US" sz="2400" dirty="0">
                <a:latin typeface="楷体" panose="02010609060101010101" pitchFamily="49" charset="-122"/>
                <a:ea typeface="楷体" panose="02010609060101010101" pitchFamily="49" charset="-122"/>
              </a:rPr>
              <a:t>扩展成</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线</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线优先</a:t>
            </a:r>
            <a:r>
              <a:rPr lang="zh-CN" altLang="en-US" sz="2400" dirty="0" smtClean="0">
                <a:latin typeface="楷体" panose="02010609060101010101" pitchFamily="49" charset="-122"/>
                <a:ea typeface="楷体" panose="02010609060101010101" pitchFamily="49" charset="-122"/>
              </a:rPr>
              <a:t>编码器</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原码输出</a:t>
            </a:r>
            <a:r>
              <a:rPr lang="en-US" altLang="zh-CN" sz="2400"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stretch>
            <a:fillRect/>
          </a:stretch>
        </p:blipFill>
        <p:spPr>
          <a:xfrm>
            <a:off x="1968249" y="184950"/>
            <a:ext cx="5148426" cy="4667738"/>
          </a:xfrm>
          <a:prstGeom prst="rect">
            <a:avLst/>
          </a:prstGeom>
        </p:spPr>
      </p:pic>
    </p:spTree>
    <p:extLst>
      <p:ext uri="{BB962C8B-B14F-4D97-AF65-F5344CB8AC3E}">
        <p14:creationId xmlns:p14="http://schemas.microsoft.com/office/powerpoint/2010/main" val="399716220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71311" y="71171"/>
            <a:ext cx="6340197" cy="461665"/>
          </a:xfrm>
          <a:prstGeom prst="rect">
            <a:avLst/>
          </a:prstGeom>
        </p:spPr>
        <p:txBody>
          <a:bodyPr wrap="none">
            <a:spAutoFit/>
          </a:bodyPr>
          <a:lstStyle/>
          <a:p>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15】  </a:t>
            </a:r>
            <a:r>
              <a:rPr lang="zh-CN" altLang="en-US" sz="2400" dirty="0">
                <a:latin typeface="楷体" panose="02010609060101010101" pitchFamily="49" charset="-122"/>
                <a:ea typeface="楷体" panose="02010609060101010101" pitchFamily="49" charset="-122"/>
              </a:rPr>
              <a:t>设计十进制数字键盘的编码逻辑。</a:t>
            </a:r>
          </a:p>
        </p:txBody>
      </p:sp>
      <p:pic>
        <p:nvPicPr>
          <p:cNvPr id="5" name="图片 4"/>
          <p:cNvPicPr>
            <a:picLocks noChangeAspect="1"/>
          </p:cNvPicPr>
          <p:nvPr/>
        </p:nvPicPr>
        <p:blipFill>
          <a:blip r:embed="rId2"/>
          <a:stretch>
            <a:fillRect/>
          </a:stretch>
        </p:blipFill>
        <p:spPr>
          <a:xfrm>
            <a:off x="1377661" y="756471"/>
            <a:ext cx="6419471" cy="5076772"/>
          </a:xfrm>
          <a:prstGeom prst="rect">
            <a:avLst/>
          </a:prstGeom>
        </p:spPr>
      </p:pic>
    </p:spTree>
    <p:extLst>
      <p:ext uri="{BB962C8B-B14F-4D97-AF65-F5344CB8AC3E}">
        <p14:creationId xmlns:p14="http://schemas.microsoft.com/office/powerpoint/2010/main" val="285752621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71311" y="71171"/>
            <a:ext cx="6340197" cy="461665"/>
          </a:xfrm>
          <a:prstGeom prst="rect">
            <a:avLst/>
          </a:prstGeom>
        </p:spPr>
        <p:txBody>
          <a:bodyPr wrap="none">
            <a:spAutoFit/>
          </a:bodyPr>
          <a:lstStyle/>
          <a:p>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15】  </a:t>
            </a:r>
            <a:r>
              <a:rPr lang="zh-CN" altLang="en-US" sz="2400" dirty="0">
                <a:latin typeface="楷体" panose="02010609060101010101" pitchFamily="49" charset="-122"/>
                <a:ea typeface="楷体" panose="02010609060101010101" pitchFamily="49" charset="-122"/>
              </a:rPr>
              <a:t>设计十进制数字键盘的编码逻辑。</a:t>
            </a:r>
          </a:p>
        </p:txBody>
      </p:sp>
      <p:pic>
        <p:nvPicPr>
          <p:cNvPr id="2" name="图片 1"/>
          <p:cNvPicPr>
            <a:picLocks noChangeAspect="1"/>
          </p:cNvPicPr>
          <p:nvPr/>
        </p:nvPicPr>
        <p:blipFill>
          <a:blip r:embed="rId2"/>
          <a:stretch>
            <a:fillRect/>
          </a:stretch>
        </p:blipFill>
        <p:spPr>
          <a:xfrm>
            <a:off x="1080654" y="748436"/>
            <a:ext cx="7163498" cy="5718759"/>
          </a:xfrm>
          <a:prstGeom prst="rect">
            <a:avLst/>
          </a:prstGeom>
        </p:spPr>
      </p:pic>
    </p:spTree>
    <p:extLst>
      <p:ext uri="{BB962C8B-B14F-4D97-AF65-F5344CB8AC3E}">
        <p14:creationId xmlns:p14="http://schemas.microsoft.com/office/powerpoint/2010/main" val="27448535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99202" y="92192"/>
            <a:ext cx="6340197" cy="480901"/>
          </a:xfrm>
          <a:prstGeom prst="rect">
            <a:avLst/>
          </a:prstGeom>
        </p:spPr>
        <p:txBody>
          <a:bodyPr wrap="none">
            <a:spAutoFit/>
          </a:bodyPr>
          <a:lstStyle/>
          <a:p>
            <a:pPr>
              <a:lnSpc>
                <a:spcPts val="3500"/>
              </a:lnSpc>
            </a:pP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15】  </a:t>
            </a:r>
            <a:r>
              <a:rPr lang="zh-CN" altLang="en-US" sz="2400" dirty="0">
                <a:latin typeface="楷体" panose="02010609060101010101" pitchFamily="49" charset="-122"/>
                <a:ea typeface="楷体" panose="02010609060101010101" pitchFamily="49" charset="-122"/>
              </a:rPr>
              <a:t>设计十进制数字键盘的编码逻辑。</a:t>
            </a:r>
          </a:p>
        </p:txBody>
      </p:sp>
      <mc:AlternateContent xmlns:mc="http://schemas.openxmlformats.org/markup-compatibility/2006" xmlns:a14="http://schemas.microsoft.com/office/drawing/2010/main">
        <mc:Choice Requires="a14">
          <p:sp>
            <p:nvSpPr>
              <p:cNvPr id="4" name="矩形 3"/>
              <p:cNvSpPr/>
              <p:nvPr/>
            </p:nvSpPr>
            <p:spPr>
              <a:xfrm>
                <a:off x="999202" y="692785"/>
                <a:ext cx="7461626" cy="5029582"/>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解</a:t>
                </a:r>
                <a:r>
                  <a:rPr lang="zh-CN" altLang="en-US" sz="2400" dirty="0" smtClean="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2.28</a:t>
                </a:r>
                <a:r>
                  <a:rPr lang="zh-CN" altLang="en-US" sz="2400" dirty="0">
                    <a:latin typeface="楷体" panose="02010609060101010101" pitchFamily="49" charset="-122"/>
                    <a:ea typeface="楷体" panose="02010609060101010101" pitchFamily="49" charset="-122"/>
                  </a:rPr>
                  <a:t>画出了十进制数字键盘的编码逻辑</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628650">
                  <a:lnSpc>
                    <a:spcPts val="3500"/>
                  </a:lnSpc>
                </a:pPr>
                <a:r>
                  <a:rPr lang="zh-CN" altLang="en-US" sz="2400" dirty="0" smtClean="0">
                    <a:latin typeface="楷体" panose="02010609060101010101" pitchFamily="49" charset="-122"/>
                    <a:ea typeface="楷体" panose="02010609060101010101" pitchFamily="49" charset="-122"/>
                  </a:rPr>
                  <a:t>键盘</a:t>
                </a:r>
                <a:r>
                  <a:rPr lang="zh-CN" altLang="en-US" sz="2400" dirty="0">
                    <a:latin typeface="楷体" panose="02010609060101010101" pitchFamily="49" charset="-122"/>
                    <a:ea typeface="楷体" panose="02010609060101010101" pitchFamily="49" charset="-122"/>
                  </a:rPr>
                  <a:t>上有</a:t>
                </a:r>
                <a:r>
                  <a:rPr lang="en-US" altLang="zh-CN" sz="2400" dirty="0">
                    <a:latin typeface="楷体" panose="02010609060101010101" pitchFamily="49" charset="-122"/>
                    <a:ea typeface="楷体" panose="02010609060101010101" pitchFamily="49" charset="-122"/>
                  </a:rPr>
                  <a:t>10</a:t>
                </a:r>
                <a:r>
                  <a:rPr lang="zh-CN" altLang="en-US" sz="2400" dirty="0">
                    <a:latin typeface="楷体" panose="02010609060101010101" pitchFamily="49" charset="-122"/>
                    <a:ea typeface="楷体" panose="02010609060101010101" pitchFamily="49" charset="-122"/>
                  </a:rPr>
                  <a:t>个数字按键，每一个</a:t>
                </a:r>
                <a:r>
                  <a:rPr lang="zh-CN" altLang="en-US" sz="2400" dirty="0" smtClean="0">
                    <a:latin typeface="楷体" panose="02010609060101010101" pitchFamily="49" charset="-122"/>
                    <a:ea typeface="楷体" panose="02010609060101010101" pitchFamily="49" charset="-122"/>
                  </a:rPr>
                  <a:t>十进制数字</a:t>
                </a:r>
                <a:r>
                  <a:rPr lang="zh-CN" altLang="en-US" sz="2400" dirty="0">
                    <a:latin typeface="楷体" panose="02010609060101010101" pitchFamily="49" charset="-122"/>
                    <a:ea typeface="楷体" panose="02010609060101010101" pitchFamily="49" charset="-122"/>
                  </a:rPr>
                  <a:t>代表一个二进制按键开关</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628650">
                  <a:lnSpc>
                    <a:spcPts val="3500"/>
                  </a:lnSpc>
                </a:pPr>
                <a:r>
                  <a:rPr lang="zh-CN" altLang="en-US" sz="2400" dirty="0" smtClean="0">
                    <a:latin typeface="楷体" panose="02010609060101010101" pitchFamily="49" charset="-122"/>
                    <a:ea typeface="楷体" panose="02010609060101010101" pitchFamily="49" charset="-122"/>
                  </a:rPr>
                  <a:t>二进制</a:t>
                </a:r>
                <a:r>
                  <a:rPr lang="zh-CN" altLang="en-US" sz="2400" dirty="0">
                    <a:latin typeface="楷体" panose="02010609060101010101" pitchFamily="49" charset="-122"/>
                    <a:ea typeface="楷体" panose="02010609060101010101" pitchFamily="49" charset="-122"/>
                  </a:rPr>
                  <a:t>按键开关通过一个电阻连接到直流电源</a:t>
                </a:r>
                <a:r>
                  <a:rPr lang="en-US" altLang="zh-CN" sz="2400" dirty="0">
                    <a:latin typeface="楷体" panose="02010609060101010101" pitchFamily="49" charset="-122"/>
                    <a:ea typeface="楷体" panose="02010609060101010101" pitchFamily="49" charset="-122"/>
                  </a:rPr>
                  <a:t>+V</a:t>
                </a:r>
                <a:r>
                  <a:rPr lang="zh-CN" altLang="en-US" sz="2400" dirty="0">
                    <a:latin typeface="楷体" panose="02010609060101010101" pitchFamily="49" charset="-122"/>
                    <a:ea typeface="楷体" panose="02010609060101010101" pitchFamily="49" charset="-122"/>
                  </a:rPr>
                  <a:t>上</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628650">
                  <a:lnSpc>
                    <a:spcPts val="3500"/>
                  </a:lnSpc>
                </a:pPr>
                <a:r>
                  <a:rPr lang="zh-CN" altLang="en-US" sz="2400" dirty="0" smtClean="0">
                    <a:latin typeface="楷体" panose="02010609060101010101" pitchFamily="49" charset="-122"/>
                    <a:ea typeface="楷体" panose="02010609060101010101" pitchFamily="49" charset="-122"/>
                  </a:rPr>
                  <a:t>当</a:t>
                </a:r>
                <a:r>
                  <a:rPr lang="zh-CN" altLang="en-US" sz="2400" dirty="0">
                    <a:latin typeface="楷体" panose="02010609060101010101" pitchFamily="49" charset="-122"/>
                    <a:ea typeface="楷体" panose="02010609060101010101" pitchFamily="49" charset="-122"/>
                  </a:rPr>
                  <a:t>某一个二进制按键开关按下时</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例如十进制数“</a:t>
                </a:r>
                <a:r>
                  <a:rPr lang="en-US" altLang="zh-CN" sz="2400" dirty="0">
                    <a:latin typeface="楷体" panose="02010609060101010101" pitchFamily="49" charset="-122"/>
                    <a:ea typeface="楷体" panose="02010609060101010101" pitchFamily="49" charset="-122"/>
                  </a:rPr>
                  <a:t>9”) </a:t>
                </a:r>
                <a:r>
                  <a:rPr lang="en-US" altLang="zh-CN" sz="2400" dirty="0" smtClean="0">
                    <a:latin typeface="楷体" panose="02010609060101010101" pitchFamily="49" charset="-122"/>
                    <a:ea typeface="楷体" panose="02010609060101010101" pitchFamily="49" charset="-122"/>
                  </a:rPr>
                  <a:t>I</a:t>
                </a:r>
                <a:r>
                  <a:rPr lang="en-US" altLang="zh-CN" sz="2400" baseline="-25000" dirty="0" smtClean="0">
                    <a:latin typeface="楷体" panose="02010609060101010101" pitchFamily="49" charset="-122"/>
                    <a:ea typeface="楷体" panose="02010609060101010101" pitchFamily="49" charset="-122"/>
                  </a:rPr>
                  <a:t>9</a:t>
                </a:r>
                <a:r>
                  <a:rPr lang="zh-CN" altLang="en-US" sz="2400" dirty="0" smtClean="0">
                    <a:latin typeface="楷体" panose="02010609060101010101" pitchFamily="49" charset="-122"/>
                    <a:ea typeface="楷体" panose="02010609060101010101" pitchFamily="49" charset="-122"/>
                  </a:rPr>
                  <a:t>线</a:t>
                </a:r>
                <a:r>
                  <a:rPr lang="zh-CN" altLang="en-US" sz="2400" dirty="0">
                    <a:latin typeface="楷体" panose="02010609060101010101" pitchFamily="49" charset="-122"/>
                    <a:ea typeface="楷体" panose="02010609060101010101" pitchFamily="49" charset="-122"/>
                  </a:rPr>
                  <a:t>上产生一个低电平，而其他的</a:t>
                </a:r>
                <a:r>
                  <a:rPr lang="zh-CN" altLang="en-US" sz="2400" dirty="0" smtClean="0">
                    <a:latin typeface="楷体" panose="02010609060101010101" pitchFamily="49" charset="-122"/>
                    <a:ea typeface="楷体" panose="02010609060101010101" pitchFamily="49" charset="-122"/>
                  </a:rPr>
                  <a:t>输入</a:t>
                </a:r>
                <a:r>
                  <a:rPr lang="zh-CN" altLang="en-US" sz="2400" dirty="0">
                    <a:latin typeface="楷体" panose="02010609060101010101" pitchFamily="49" charset="-122"/>
                    <a:ea typeface="楷体" panose="02010609060101010101" pitchFamily="49" charset="-122"/>
                  </a:rPr>
                  <a:t>线均为高电平</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628650">
                  <a:lnSpc>
                    <a:spcPts val="3500"/>
                  </a:lnSpc>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𝐼</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𝐼</m:t>
                    </m:r>
                    <m:r>
                      <a:rPr lang="en-US" altLang="zh-CN" sz="2400" i="1" baseline="-25000" dirty="0" smtClean="0">
                        <a:latin typeface="Cambria Math" panose="02040503050406030204" pitchFamily="18" charset="0"/>
                        <a:ea typeface="楷体" panose="02010609060101010101" pitchFamily="49" charset="-122"/>
                      </a:rPr>
                      <m:t>9</m:t>
                    </m:r>
                  </m:oMath>
                </a14:m>
                <a:r>
                  <a:rPr lang="zh-CN" altLang="en-US" sz="2400" dirty="0" smtClean="0">
                    <a:latin typeface="楷体" panose="02010609060101010101" pitchFamily="49" charset="-122"/>
                    <a:ea typeface="楷体" panose="02010609060101010101" pitchFamily="49" charset="-122"/>
                  </a:rPr>
                  <a:t>输入信号</a:t>
                </a:r>
                <a:r>
                  <a:rPr lang="zh-CN" altLang="en-US" sz="2400" dirty="0">
                    <a:latin typeface="楷体" panose="02010609060101010101" pitchFamily="49" charset="-122"/>
                    <a:ea typeface="楷体" panose="02010609060101010101" pitchFamily="49" charset="-122"/>
                  </a:rPr>
                  <a:t>同时送至优先编码器</a:t>
                </a:r>
                <a:r>
                  <a:rPr lang="en-US" altLang="zh-CN" sz="2400" dirty="0">
                    <a:latin typeface="楷体" panose="02010609060101010101" pitchFamily="49" charset="-122"/>
                    <a:ea typeface="楷体" panose="02010609060101010101" pitchFamily="49" charset="-122"/>
                  </a:rPr>
                  <a:t>74HC147</a:t>
                </a:r>
                <a:r>
                  <a:rPr lang="zh-CN" altLang="en-US" sz="2400" dirty="0">
                    <a:latin typeface="楷体" panose="02010609060101010101" pitchFamily="49" charset="-122"/>
                    <a:ea typeface="楷体" panose="02010609060101010101" pitchFamily="49" charset="-122"/>
                  </a:rPr>
                  <a:t>进行编码，最后输出</a:t>
                </a:r>
                <a:r>
                  <a:rPr lang="en-US" altLang="zh-CN" sz="2400" dirty="0" smtClean="0">
                    <a:latin typeface="楷体" panose="02010609060101010101" pitchFamily="49" charset="-122"/>
                    <a:ea typeface="楷体" panose="02010609060101010101" pitchFamily="49" charset="-122"/>
                  </a:rPr>
                  <a:t>BCD</a:t>
                </a:r>
                <a:r>
                  <a:rPr lang="zh-CN" altLang="en-US" sz="2400" dirty="0" smtClean="0">
                    <a:latin typeface="楷体" panose="02010609060101010101" pitchFamily="49" charset="-122"/>
                    <a:ea typeface="楷体" panose="02010609060101010101" pitchFamily="49" charset="-122"/>
                  </a:rPr>
                  <a:t>码</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0</m:t>
                    </m:r>
                  </m:oMath>
                </a14:m>
                <a:r>
                  <a:rPr lang="zh-CN" altLang="en-US" sz="2400" dirty="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0110</m:t>
                    </m:r>
                  </m:oMath>
                </a14:m>
                <a:r>
                  <a:rPr lang="en-US" altLang="zh-CN"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反码值</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其原码为</a:t>
                </a:r>
                <a:r>
                  <a:rPr lang="en-US" altLang="zh-CN" sz="2400" dirty="0" smtClean="0">
                    <a:latin typeface="楷体" panose="02010609060101010101" pitchFamily="49" charset="-122"/>
                    <a:ea typeface="楷体" panose="02010609060101010101" pitchFamily="49" charset="-122"/>
                  </a:rPr>
                  <a:t>1001</a:t>
                </a:r>
                <a:r>
                  <a:rPr lang="zh-CN" altLang="en-US" sz="2400" dirty="0" smtClean="0">
                    <a:latin typeface="楷体" panose="02010609060101010101" pitchFamily="49" charset="-122"/>
                    <a:ea typeface="楷体" panose="02010609060101010101" pitchFamily="49" charset="-122"/>
                  </a:rPr>
                  <a:t>，即</a:t>
                </a:r>
                <a:r>
                  <a:rPr lang="zh-CN" altLang="en-US" sz="2400" dirty="0">
                    <a:latin typeface="楷体" panose="02010609060101010101" pitchFamily="49" charset="-122"/>
                    <a:ea typeface="楷体" panose="02010609060101010101" pitchFamily="49" charset="-122"/>
                  </a:rPr>
                  <a:t>完成十进制数“</a:t>
                </a:r>
                <a:r>
                  <a:rPr lang="en-US"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的编码。</a:t>
                </a:r>
              </a:p>
            </p:txBody>
          </p:sp>
        </mc:Choice>
        <mc:Fallback xmlns="">
          <p:sp>
            <p:nvSpPr>
              <p:cNvPr id="4" name="矩形 3"/>
              <p:cNvSpPr>
                <a:spLocks noRot="1" noChangeAspect="1" noMove="1" noResize="1" noEditPoints="1" noAdjustHandles="1" noChangeArrowheads="1" noChangeShapeType="1" noTextEdit="1"/>
              </p:cNvSpPr>
              <p:nvPr/>
            </p:nvSpPr>
            <p:spPr>
              <a:xfrm>
                <a:off x="999202" y="692785"/>
                <a:ext cx="7461626" cy="5029582"/>
              </a:xfrm>
              <a:prstGeom prst="rect">
                <a:avLst/>
              </a:prstGeom>
              <a:blipFill>
                <a:blip r:embed="rId2"/>
                <a:stretch>
                  <a:fillRect l="-1307" t="-606" r="-817" b="-606"/>
                </a:stretch>
              </a:blipFill>
            </p:spPr>
            <p:txBody>
              <a:bodyPr/>
              <a:lstStyle/>
              <a:p>
                <a:r>
                  <a:rPr lang="zh-CN" altLang="en-US">
                    <a:noFill/>
                  </a:rPr>
                  <a:t> </a:t>
                </a:r>
              </a:p>
            </p:txBody>
          </p:sp>
        </mc:Fallback>
      </mc:AlternateContent>
      <p:sp>
        <p:nvSpPr>
          <p:cNvPr id="6" name="矩形 5"/>
          <p:cNvSpPr/>
          <p:nvPr/>
        </p:nvSpPr>
        <p:spPr>
          <a:xfrm>
            <a:off x="555856" y="5990222"/>
            <a:ext cx="7803053" cy="541174"/>
          </a:xfrm>
          <a:prstGeom prst="rect">
            <a:avLst/>
          </a:prstGeom>
        </p:spPr>
        <p:txBody>
          <a:bodyPr wrap="square">
            <a:spAutoFit/>
          </a:bodyPr>
          <a:lstStyle/>
          <a:p>
            <a:pPr>
              <a:lnSpc>
                <a:spcPts val="3500"/>
              </a:lnSpc>
            </a:pPr>
            <a:r>
              <a:rPr lang="zh-CN" altLang="en-US" sz="2400" dirty="0" smtClean="0">
                <a:latin typeface="+mn-ea"/>
              </a:rPr>
              <a:t>思考题</a:t>
            </a:r>
            <a:r>
              <a:rPr lang="zh-CN" altLang="en-US" sz="2400" dirty="0">
                <a:latin typeface="+mn-ea"/>
              </a:rPr>
              <a:t>：</a:t>
            </a:r>
            <a:r>
              <a:rPr lang="zh-CN" altLang="en-US" sz="2400" dirty="0" smtClean="0">
                <a:latin typeface="+mn-ea"/>
              </a:rPr>
              <a:t>为什么十进制数字“</a:t>
            </a:r>
            <a:r>
              <a:rPr lang="en-US" altLang="zh-CN" sz="2400" dirty="0" smtClean="0">
                <a:latin typeface="+mn-ea"/>
              </a:rPr>
              <a:t>0”</a:t>
            </a:r>
            <a:r>
              <a:rPr lang="zh-CN" altLang="en-US" sz="2400" dirty="0" smtClean="0">
                <a:latin typeface="+mn-ea"/>
              </a:rPr>
              <a:t>的键盘信号</a:t>
            </a:r>
            <a:r>
              <a:rPr lang="en-US" altLang="zh-CN" sz="2400" dirty="0" smtClean="0">
                <a:latin typeface="+mn-ea"/>
              </a:rPr>
              <a:t>I</a:t>
            </a:r>
            <a:r>
              <a:rPr lang="en-US" altLang="zh-CN" sz="2400" baseline="-25000" dirty="0" smtClean="0">
                <a:latin typeface="+mn-ea"/>
              </a:rPr>
              <a:t>0</a:t>
            </a:r>
            <a:r>
              <a:rPr lang="zh-CN" altLang="en-US" sz="2400" dirty="0" smtClean="0">
                <a:latin typeface="+mn-ea"/>
              </a:rPr>
              <a:t>不送到编码器</a:t>
            </a:r>
            <a:r>
              <a:rPr lang="en-US" altLang="zh-CN" sz="2400" dirty="0" smtClean="0">
                <a:latin typeface="+mn-ea"/>
              </a:rPr>
              <a:t>?</a:t>
            </a:r>
            <a:endParaRPr lang="zh-CN" altLang="en-US" sz="2400" dirty="0">
              <a:latin typeface="+mn-ea"/>
            </a:endParaRPr>
          </a:p>
        </p:txBody>
      </p:sp>
    </p:spTree>
    <p:extLst>
      <p:ext uri="{BB962C8B-B14F-4D97-AF65-F5344CB8AC3E}">
        <p14:creationId xmlns:p14="http://schemas.microsoft.com/office/powerpoint/2010/main" val="55048719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858982"/>
          </a:xfrm>
        </p:spPr>
        <p:txBody>
          <a:bodyPr/>
          <a:lstStyle/>
          <a:p>
            <a:r>
              <a:rPr lang="en-US" altLang="zh-CN" dirty="0">
                <a:latin typeface="楷体" panose="02010609060101010101" pitchFamily="49" charset="-122"/>
                <a:ea typeface="楷体" panose="02010609060101010101" pitchFamily="49" charset="-122"/>
              </a:rPr>
              <a:t>2.6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数据比较器和加法器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4362048"/>
            <a:ext cx="8099714" cy="2495952"/>
          </a:xfrm>
        </p:spPr>
        <p:txBody>
          <a:bodyPr>
            <a:normAutofit/>
          </a:bodyPr>
          <a:lstStyle/>
          <a:p>
            <a:pPr>
              <a:lnSpc>
                <a:spcPts val="3500"/>
              </a:lnSpc>
            </a:pPr>
            <a:r>
              <a:rPr lang="zh-CN" altLang="en-US" dirty="0">
                <a:latin typeface="楷体" panose="02010609060101010101" pitchFamily="49" charset="-122"/>
                <a:ea typeface="楷体" panose="02010609060101010101" pitchFamily="49" charset="-122"/>
              </a:rPr>
              <a:t>数据</a:t>
            </a:r>
            <a:r>
              <a:rPr lang="zh-CN" altLang="en-US" dirty="0" smtClean="0">
                <a:latin typeface="楷体" panose="02010609060101010101" pitchFamily="49" charset="-122"/>
                <a:ea typeface="楷体" panose="02010609060101010101" pitchFamily="49" charset="-122"/>
              </a:rPr>
              <a:t>比较器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在数字系统中，经常需要比较两个数的大小，这两个数可以是二进制数，也可以是</a:t>
            </a:r>
            <a:r>
              <a:rPr lang="zh-CN" altLang="en-US" dirty="0" smtClean="0">
                <a:latin typeface="楷体" panose="02010609060101010101" pitchFamily="49" charset="-122"/>
                <a:ea typeface="楷体" panose="02010609060101010101" pitchFamily="49" charset="-122"/>
              </a:rPr>
              <a:t>其他</a:t>
            </a:r>
            <a:r>
              <a:rPr lang="zh-CN" altLang="en-US" dirty="0">
                <a:latin typeface="楷体" panose="02010609060101010101" pitchFamily="49" charset="-122"/>
                <a:ea typeface="楷体" panose="02010609060101010101" pitchFamily="49" charset="-122"/>
              </a:rPr>
              <a:t>进制数的代码。如果是其他进制数，先要转换成二进制数。用来完成两组二进制数码</a:t>
            </a:r>
            <a:r>
              <a:rPr lang="zh-CN" altLang="en-US" dirty="0" smtClean="0">
                <a:latin typeface="楷体" panose="02010609060101010101" pitchFamily="49" charset="-122"/>
                <a:ea typeface="楷体" panose="02010609060101010101" pitchFamily="49" charset="-122"/>
              </a:rPr>
              <a:t>大小</a:t>
            </a:r>
            <a:r>
              <a:rPr lang="zh-CN" altLang="en-US" dirty="0">
                <a:latin typeface="楷体" panose="02010609060101010101" pitchFamily="49" charset="-122"/>
                <a:ea typeface="楷体" panose="02010609060101010101" pitchFamily="49" charset="-122"/>
              </a:rPr>
              <a:t>比较的逻辑电路，称为</a:t>
            </a:r>
            <a:r>
              <a:rPr lang="zh-CN" altLang="en-US" b="1" dirty="0">
                <a:solidFill>
                  <a:schemeClr val="accent1"/>
                </a:solidFill>
                <a:latin typeface="楷体" panose="02010609060101010101" pitchFamily="49" charset="-122"/>
                <a:ea typeface="楷体" panose="02010609060101010101" pitchFamily="49" charset="-122"/>
              </a:rPr>
              <a:t>数据比较器</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1223495" y="858983"/>
            <a:ext cx="6396505" cy="3503065"/>
          </a:xfrm>
          <a:prstGeom prst="rect">
            <a:avLst/>
          </a:prstGeom>
        </p:spPr>
      </p:pic>
    </p:spTree>
    <p:extLst>
      <p:ext uri="{BB962C8B-B14F-4D97-AF65-F5344CB8AC3E}">
        <p14:creationId xmlns:p14="http://schemas.microsoft.com/office/powerpoint/2010/main" val="297709240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00727"/>
          </a:xfrm>
        </p:spPr>
        <p:txBody>
          <a:bodyPr/>
          <a:lstStyle/>
          <a:p>
            <a:r>
              <a:rPr lang="en-US" altLang="zh-CN" dirty="0">
                <a:latin typeface="楷体" panose="02010609060101010101" pitchFamily="49" charset="-122"/>
                <a:ea typeface="楷体" panose="02010609060101010101" pitchFamily="49" charset="-122"/>
              </a:rPr>
              <a:t>2.6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数据比较器和加法器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108363"/>
                <a:ext cx="7886700" cy="5430981"/>
              </a:xfrm>
            </p:spPr>
            <p:txBody>
              <a:bodyPr/>
              <a:lstStyle/>
              <a:p>
                <a:pPr>
                  <a:lnSpc>
                    <a:spcPts val="3500"/>
                  </a:lnSpc>
                </a:pPr>
                <a:r>
                  <a:rPr lang="zh-CN" altLang="en-US" dirty="0" smtClean="0">
                    <a:latin typeface="楷体" panose="02010609060101010101" pitchFamily="49" charset="-122"/>
                    <a:ea typeface="楷体" panose="02010609060101010101" pitchFamily="49" charset="-122"/>
                  </a:rPr>
                  <a:t>数据比较器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图</a:t>
                </a:r>
                <a:r>
                  <a:rPr lang="en-US" altLang="zh-CN" dirty="0">
                    <a:latin typeface="楷体" panose="02010609060101010101" pitchFamily="49" charset="-122"/>
                    <a:ea typeface="楷体" panose="02010609060101010101" pitchFamily="49" charset="-122"/>
                  </a:rPr>
                  <a:t>2.29(a) </a:t>
                </a:r>
                <a:r>
                  <a:rPr lang="zh-CN" altLang="en-US" dirty="0">
                    <a:latin typeface="楷体" panose="02010609060101010101" pitchFamily="49" charset="-122"/>
                    <a:ea typeface="楷体" panose="02010609060101010101" pitchFamily="49" charset="-122"/>
                  </a:rPr>
                  <a:t>所示为</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位数据比较器</a:t>
                </a:r>
                <a:r>
                  <a:rPr lang="en-US" altLang="zh-CN" dirty="0">
                    <a:latin typeface="楷体" panose="02010609060101010101" pitchFamily="49" charset="-122"/>
                    <a:ea typeface="楷体" panose="02010609060101010101" pitchFamily="49" charset="-122"/>
                  </a:rPr>
                  <a:t>(COMP)</a:t>
                </a:r>
                <a:r>
                  <a:rPr lang="zh-CN" altLang="en-US" dirty="0">
                    <a:latin typeface="楷体" panose="02010609060101010101" pitchFamily="49" charset="-122"/>
                    <a:ea typeface="楷体" panose="02010609060101010101" pitchFamily="49" charset="-122"/>
                  </a:rPr>
                  <a:t>的逻辑功能框图。输入的一组二进制数</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𝐴</m:t>
                    </m:r>
                    <m:r>
                      <a:rPr lang="en-US" altLang="zh-CN" i="1" baseline="-25000" dirty="0" smtClean="0">
                        <a:latin typeface="Cambria Math" panose="02040503050406030204" pitchFamily="18" charset="0"/>
                        <a:ea typeface="楷体" panose="02010609060101010101" pitchFamily="49" charset="-122"/>
                      </a:rPr>
                      <m:t>3</m:t>
                    </m:r>
                    <m:r>
                      <a:rPr lang="en-US" altLang="zh-CN" i="1" dirty="0" smtClean="0">
                        <a:latin typeface="Cambria Math" panose="02040503050406030204" pitchFamily="18" charset="0"/>
                        <a:ea typeface="楷体" panose="02010609060101010101" pitchFamily="49" charset="-122"/>
                      </a:rPr>
                      <m:t>𝐴</m:t>
                    </m:r>
                    <m:r>
                      <a:rPr lang="en-US" altLang="zh-CN" i="1" baseline="-25000" dirty="0" smtClean="0">
                        <a:latin typeface="Cambria Math" panose="02040503050406030204" pitchFamily="18" charset="0"/>
                        <a:ea typeface="楷体" panose="02010609060101010101" pitchFamily="49" charset="-122"/>
                      </a:rPr>
                      <m:t>2</m:t>
                    </m:r>
                    <m:r>
                      <a:rPr lang="en-US" altLang="zh-CN" i="1" dirty="0" smtClean="0">
                        <a:latin typeface="Cambria Math" panose="02040503050406030204" pitchFamily="18" charset="0"/>
                        <a:ea typeface="楷体" panose="02010609060101010101" pitchFamily="49" charset="-122"/>
                      </a:rPr>
                      <m:t>𝐴</m:t>
                    </m:r>
                    <m:r>
                      <a:rPr lang="en-US" altLang="zh-CN" i="1" baseline="-25000" dirty="0" smtClean="0">
                        <a:latin typeface="Cambria Math" panose="02040503050406030204" pitchFamily="18" charset="0"/>
                        <a:ea typeface="楷体" panose="02010609060101010101" pitchFamily="49" charset="-122"/>
                      </a:rPr>
                      <m:t>1</m:t>
                    </m:r>
                    <m:r>
                      <a:rPr lang="en-US" altLang="zh-CN" i="1" dirty="0" smtClean="0">
                        <a:latin typeface="Cambria Math" panose="02040503050406030204" pitchFamily="18" charset="0"/>
                        <a:ea typeface="楷体" panose="02010609060101010101" pitchFamily="49" charset="-122"/>
                      </a:rPr>
                      <m:t>𝐴</m:t>
                    </m:r>
                    <m:r>
                      <a:rPr lang="en-US" altLang="zh-CN" i="1" baseline="-25000" dirty="0" smtClean="0">
                        <a:latin typeface="Cambria Math" panose="02040503050406030204" pitchFamily="18" charset="0"/>
                        <a:ea typeface="楷体" panose="02010609060101010101" pitchFamily="49" charset="-122"/>
                      </a:rPr>
                      <m:t>0</m:t>
                    </m:r>
                  </m:oMath>
                </a14:m>
                <a:r>
                  <a:rPr lang="en-US" altLang="zh-CN" dirty="0" smtClean="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𝐴</m:t>
                    </m:r>
                    <m:r>
                      <a:rPr lang="en-US" altLang="zh-CN" i="1" baseline="-25000" dirty="0">
                        <a:latin typeface="Cambria Math" panose="02040503050406030204" pitchFamily="18" charset="0"/>
                        <a:ea typeface="楷体" panose="02010609060101010101" pitchFamily="49" charset="-122"/>
                      </a:rPr>
                      <m:t>3</m:t>
                    </m:r>
                  </m:oMath>
                </a14:m>
                <a:r>
                  <a:rPr lang="zh-CN" altLang="en-US" dirty="0" smtClean="0">
                    <a:latin typeface="楷体" panose="02010609060101010101" pitchFamily="49" charset="-122"/>
                    <a:ea typeface="楷体" panose="02010609060101010101" pitchFamily="49" charset="-122"/>
                  </a:rPr>
                  <a:t>为</a:t>
                </a:r>
                <a:r>
                  <a:rPr lang="zh-CN" altLang="en-US" dirty="0">
                    <a:latin typeface="楷体" panose="02010609060101010101" pitchFamily="49" charset="-122"/>
                    <a:ea typeface="楷体" panose="02010609060101010101" pitchFamily="49" charset="-122"/>
                  </a:rPr>
                  <a:t>高位</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另一组二进制数</a:t>
                </a:r>
                <a:r>
                  <a:rPr lang="zh-CN" altLang="en-US" dirty="0" smtClean="0">
                    <a:latin typeface="楷体" panose="02010609060101010101" pitchFamily="49" charset="-122"/>
                    <a:ea typeface="楷体" panose="02010609060101010101" pitchFamily="49" charset="-122"/>
                  </a:rPr>
                  <a:t>为</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3</m:t>
                    </m:r>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2</m:t>
                    </m:r>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1</m:t>
                    </m:r>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0</m:t>
                    </m:r>
                  </m:oMath>
                </a14:m>
                <a:r>
                  <a:rPr lang="en-US" altLang="zh-CN" dirty="0" smtClean="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3</m:t>
                    </m:r>
                  </m:oMath>
                </a14:m>
                <a:r>
                  <a:rPr lang="zh-CN" altLang="en-US" dirty="0" smtClean="0">
                    <a:latin typeface="楷体" panose="02010609060101010101" pitchFamily="49" charset="-122"/>
                    <a:ea typeface="楷体" panose="02010609060101010101" pitchFamily="49" charset="-122"/>
                  </a:rPr>
                  <a:t>为</a:t>
                </a:r>
                <a:r>
                  <a:rPr lang="zh-CN" altLang="en-US" dirty="0">
                    <a:latin typeface="楷体" panose="02010609060101010101" pitchFamily="49" charset="-122"/>
                    <a:ea typeface="楷体" panose="02010609060101010101" pitchFamily="49" charset="-122"/>
                  </a:rPr>
                  <a:t>高位</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。两组数比较的结果，</a:t>
                </a:r>
                <a:r>
                  <a:rPr lang="zh-CN" altLang="en-US" dirty="0" smtClean="0">
                    <a:latin typeface="楷体" panose="02010609060101010101" pitchFamily="49" charset="-122"/>
                    <a:ea typeface="楷体" panose="02010609060101010101" pitchFamily="49" charset="-122"/>
                  </a:rPr>
                  <a:t>只能是</a:t>
                </a:r>
                <a:r>
                  <a:rPr lang="zh-CN" altLang="en-US" dirty="0">
                    <a:latin typeface="楷体" panose="02010609060101010101" pitchFamily="49" charset="-122"/>
                    <a:ea typeface="楷体" panose="02010609060101010101" pitchFamily="49" charset="-122"/>
                  </a:rPr>
                  <a:t>输出</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𝐴</m:t>
                    </m:r>
                    <m:r>
                      <a:rPr lang="en-US" altLang="zh-CN" i="1" dirty="0" smtClean="0">
                        <a:latin typeface="Cambria Math" panose="02040503050406030204" pitchFamily="18" charset="0"/>
                        <a:ea typeface="楷体" panose="02010609060101010101" pitchFamily="49" charset="-122"/>
                      </a:rPr>
                      <m:t>&gt;</m:t>
                    </m:r>
                    <m:r>
                      <a:rPr lang="en-US" altLang="zh-CN" i="1" dirty="0" smtClean="0">
                        <a:latin typeface="Cambria Math" panose="02040503050406030204" pitchFamily="18" charset="0"/>
                        <a:ea typeface="楷体" panose="02010609060101010101" pitchFamily="49" charset="-122"/>
                      </a:rPr>
                      <m:t>𝐵</m:t>
                    </m:r>
                  </m:oMath>
                </a14:m>
                <a:r>
                  <a:rPr lang="zh-CN" altLang="en-US" dirty="0" smtClean="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𝐴</m:t>
                    </m:r>
                    <m:r>
                      <a:rPr lang="en-US" altLang="zh-CN" i="1" dirty="0" smtClean="0">
                        <a:latin typeface="Cambria Math" panose="02040503050406030204" pitchFamily="18" charset="0"/>
                        <a:ea typeface="楷体" panose="02010609060101010101" pitchFamily="49" charset="-122"/>
                      </a:rPr>
                      <m:t>=</m:t>
                    </m:r>
                    <m:r>
                      <a:rPr lang="en-US" altLang="zh-CN" i="1" dirty="0" smtClean="0">
                        <a:latin typeface="Cambria Math" panose="02040503050406030204" pitchFamily="18" charset="0"/>
                        <a:ea typeface="楷体" panose="02010609060101010101" pitchFamily="49" charset="-122"/>
                      </a:rPr>
                      <m:t>𝐵</m:t>
                    </m:r>
                  </m:oMath>
                </a14:m>
                <a:r>
                  <a:rPr lang="zh-CN" altLang="en-US" dirty="0" smtClean="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𝐴</m:t>
                    </m:r>
                    <m:r>
                      <a:rPr lang="en-US" altLang="zh-CN" i="1" dirty="0" smtClean="0">
                        <a:latin typeface="Cambria Math" panose="02040503050406030204" pitchFamily="18" charset="0"/>
                        <a:ea typeface="楷体" panose="02010609060101010101" pitchFamily="49" charset="-122"/>
                      </a:rPr>
                      <m:t>&lt;</m:t>
                    </m:r>
                    <m:r>
                      <a:rPr lang="en-US" altLang="zh-CN" i="1" dirty="0" smtClean="0">
                        <a:latin typeface="Cambria Math" panose="02040503050406030204" pitchFamily="18" charset="0"/>
                        <a:ea typeface="楷体" panose="02010609060101010101" pitchFamily="49" charset="-122"/>
                      </a:rPr>
                      <m:t>𝐵</m:t>
                    </m:r>
                  </m:oMath>
                </a14:m>
                <a:r>
                  <a:rPr lang="zh-CN" altLang="en-US" dirty="0" smtClean="0">
                    <a:latin typeface="楷体" panose="02010609060101010101" pitchFamily="49" charset="-122"/>
                    <a:ea typeface="楷体" panose="02010609060101010101" pitchFamily="49" charset="-122"/>
                  </a:rPr>
                  <a:t>三</a:t>
                </a:r>
                <a:r>
                  <a:rPr lang="zh-CN" altLang="en-US" dirty="0">
                    <a:latin typeface="楷体" panose="02010609060101010101" pitchFamily="49" charset="-122"/>
                    <a:ea typeface="楷体" panose="02010609060101010101" pitchFamily="49" charset="-122"/>
                  </a:rPr>
                  <a:t>种情况中的一种。例如 </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3</m:t>
                    </m:r>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2</m:t>
                    </m:r>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1</m:t>
                    </m:r>
                    <m:r>
                      <a:rPr lang="en-US" altLang="zh-CN" i="1" dirty="0" smtClean="0">
                        <a:latin typeface="Cambria Math" panose="02040503050406030204" pitchFamily="18" charset="0"/>
                        <a:ea typeface="楷体" panose="02010609060101010101" pitchFamily="49" charset="-122"/>
                      </a:rPr>
                      <m:t>𝐵</m:t>
                    </m:r>
                    <m:r>
                      <a:rPr lang="en-US" altLang="zh-CN" i="1" baseline="-25000" dirty="0" smtClean="0">
                        <a:latin typeface="Cambria Math" panose="02040503050406030204" pitchFamily="18" charset="0"/>
                        <a:ea typeface="楷体" panose="02010609060101010101" pitchFamily="49" charset="-122"/>
                      </a:rPr>
                      <m:t>0</m:t>
                    </m:r>
                    <m:r>
                      <a:rPr lang="en-US" altLang="zh-CN" i="1" dirty="0" smtClean="0">
                        <a:latin typeface="Cambria Math" panose="02040503050406030204" pitchFamily="18" charset="0"/>
                        <a:ea typeface="楷体" panose="02010609060101010101" pitchFamily="49" charset="-122"/>
                      </a:rPr>
                      <m:t>=0111</m:t>
                    </m:r>
                  </m:oMath>
                </a14:m>
                <a:r>
                  <a:rPr lang="zh-CN" altLang="en-US" dirty="0" smtClean="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𝐴</m:t>
                    </m:r>
                    <m:r>
                      <a:rPr lang="en-US" altLang="zh-CN" i="1" baseline="-25000" dirty="0" smtClean="0">
                        <a:latin typeface="Cambria Math" panose="02040503050406030204" pitchFamily="18" charset="0"/>
                        <a:ea typeface="楷体" panose="02010609060101010101" pitchFamily="49" charset="-122"/>
                      </a:rPr>
                      <m:t>3</m:t>
                    </m:r>
                    <m:r>
                      <a:rPr lang="en-US" altLang="zh-CN" i="1" dirty="0" smtClean="0">
                        <a:latin typeface="Cambria Math" panose="02040503050406030204" pitchFamily="18" charset="0"/>
                        <a:ea typeface="楷体" panose="02010609060101010101" pitchFamily="49" charset="-122"/>
                      </a:rPr>
                      <m:t>𝐴</m:t>
                    </m:r>
                    <m:r>
                      <a:rPr lang="en-US" altLang="zh-CN" i="1" baseline="-25000" dirty="0" smtClean="0">
                        <a:latin typeface="Cambria Math" panose="02040503050406030204" pitchFamily="18" charset="0"/>
                        <a:ea typeface="楷体" panose="02010609060101010101" pitchFamily="49" charset="-122"/>
                      </a:rPr>
                      <m:t>2</m:t>
                    </m:r>
                    <m:r>
                      <a:rPr lang="en-US" altLang="zh-CN" i="1" dirty="0" smtClean="0">
                        <a:latin typeface="Cambria Math" panose="02040503050406030204" pitchFamily="18" charset="0"/>
                        <a:ea typeface="楷体" panose="02010609060101010101" pitchFamily="49" charset="-122"/>
                      </a:rPr>
                      <m:t>𝐴</m:t>
                    </m:r>
                    <m:r>
                      <a:rPr lang="en-US" altLang="zh-CN" i="1" baseline="-25000" dirty="0" smtClean="0">
                        <a:latin typeface="Cambria Math" panose="02040503050406030204" pitchFamily="18" charset="0"/>
                        <a:ea typeface="楷体" panose="02010609060101010101" pitchFamily="49" charset="-122"/>
                      </a:rPr>
                      <m:t>1</m:t>
                    </m:r>
                    <m:r>
                      <a:rPr lang="en-US" altLang="zh-CN" i="1" dirty="0" smtClean="0">
                        <a:latin typeface="Cambria Math" panose="02040503050406030204" pitchFamily="18" charset="0"/>
                        <a:ea typeface="楷体" panose="02010609060101010101" pitchFamily="49" charset="-122"/>
                      </a:rPr>
                      <m:t>𝐴</m:t>
                    </m:r>
                    <m:r>
                      <a:rPr lang="en-US" altLang="zh-CN" i="1" baseline="-25000" dirty="0" smtClean="0">
                        <a:latin typeface="Cambria Math" panose="02040503050406030204" pitchFamily="18" charset="0"/>
                        <a:ea typeface="楷体" panose="02010609060101010101" pitchFamily="49" charset="-122"/>
                      </a:rPr>
                      <m:t>0</m:t>
                    </m:r>
                    <m:r>
                      <a:rPr lang="en-US" altLang="zh-CN" i="1" dirty="0" smtClean="0">
                        <a:latin typeface="Cambria Math" panose="02040503050406030204" pitchFamily="18" charset="0"/>
                        <a:ea typeface="楷体" panose="02010609060101010101" pitchFamily="49" charset="-122"/>
                      </a:rPr>
                      <m:t>=0011</m:t>
                    </m:r>
                  </m:oMath>
                </a14:m>
                <a:r>
                  <a:rPr lang="en-US" altLang="zh-CN"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则</a:t>
                </a:r>
                <a:r>
                  <a:rPr lang="zh-CN" altLang="en-US" dirty="0" smtClean="0">
                    <a:solidFill>
                      <a:schemeClr val="accent1"/>
                    </a:solidFill>
                    <a:latin typeface="楷体" panose="02010609060101010101" pitchFamily="49" charset="-122"/>
                    <a:ea typeface="楷体" panose="02010609060101010101" pitchFamily="49" charset="-122"/>
                  </a:rPr>
                  <a:t>输</a:t>
                </a:r>
                <a:r>
                  <a:rPr lang="zh-CN" altLang="en-US" dirty="0">
                    <a:solidFill>
                      <a:schemeClr val="accent1"/>
                    </a:solidFill>
                    <a:latin typeface="楷体" panose="02010609060101010101" pitchFamily="49" charset="-122"/>
                    <a:ea typeface="楷体" panose="02010609060101010101" pitchFamily="49" charset="-122"/>
                  </a:rPr>
                  <a:t>出</a:t>
                </a:r>
                <a14:m>
                  <m:oMath xmlns:m="http://schemas.openxmlformats.org/officeDocument/2006/math">
                    <m:r>
                      <a:rPr lang="en-US" altLang="zh-CN" b="0" i="1" dirty="0" smtClean="0">
                        <a:solidFill>
                          <a:schemeClr val="accent1"/>
                        </a:solidFill>
                        <a:latin typeface="Cambria Math" panose="02040503050406030204" pitchFamily="18" charset="0"/>
                        <a:ea typeface="楷体" panose="02010609060101010101" pitchFamily="49" charset="-122"/>
                      </a:rPr>
                      <m:t>𝐴</m:t>
                    </m:r>
                    <m:r>
                      <a:rPr lang="en-US" altLang="zh-CN" b="0" i="1" dirty="0" smtClean="0">
                        <a:solidFill>
                          <a:schemeClr val="accent1"/>
                        </a:solidFill>
                        <a:latin typeface="Cambria Math" panose="02040503050406030204" pitchFamily="18" charset="0"/>
                        <a:ea typeface="楷体" panose="02010609060101010101" pitchFamily="49" charset="-122"/>
                      </a:rPr>
                      <m:t>&lt;</m:t>
                    </m:r>
                    <m:r>
                      <a:rPr lang="en-US" altLang="zh-CN" b="0" i="1" dirty="0" smtClean="0">
                        <a:solidFill>
                          <a:schemeClr val="accent1"/>
                        </a:solidFill>
                        <a:latin typeface="Cambria Math" panose="02040503050406030204" pitchFamily="18" charset="0"/>
                        <a:ea typeface="楷体" panose="02010609060101010101" pitchFamily="49" charset="-122"/>
                      </a:rPr>
                      <m:t>𝐵</m:t>
                    </m:r>
                  </m:oMath>
                </a14:m>
                <a:r>
                  <a:rPr lang="zh-CN" altLang="en-US" dirty="0">
                    <a:solidFill>
                      <a:schemeClr val="accent1"/>
                    </a:solidFill>
                    <a:latin typeface="楷体" panose="02010609060101010101" pitchFamily="49" charset="-122"/>
                    <a:ea typeface="楷体" panose="02010609060101010101" pitchFamily="49" charset="-122"/>
                  </a:rPr>
                  <a:t>端</a:t>
                </a:r>
                <a:r>
                  <a:rPr lang="zh-CN" altLang="en-US" dirty="0">
                    <a:latin typeface="楷体" panose="02010609060101010101" pitchFamily="49" charset="-122"/>
                    <a:ea typeface="楷体" panose="02010609060101010101" pitchFamily="49" charset="-122"/>
                  </a:rPr>
                  <a:t>为高电平，</a:t>
                </a:r>
                <a14:m>
                  <m:oMath xmlns:m="http://schemas.openxmlformats.org/officeDocument/2006/math">
                    <m:r>
                      <a:rPr lang="en-US" altLang="zh-CN" i="1" dirty="0" smtClean="0">
                        <a:solidFill>
                          <a:schemeClr val="accent1"/>
                        </a:solidFill>
                        <a:latin typeface="Cambria Math" panose="02040503050406030204" pitchFamily="18" charset="0"/>
                        <a:ea typeface="楷体" panose="02010609060101010101" pitchFamily="49" charset="-122"/>
                      </a:rPr>
                      <m:t>𝐴</m:t>
                    </m:r>
                    <m:r>
                      <a:rPr lang="en-US" altLang="zh-CN" i="1" dirty="0" smtClean="0">
                        <a:solidFill>
                          <a:schemeClr val="accent1"/>
                        </a:solidFill>
                        <a:latin typeface="Cambria Math" panose="02040503050406030204" pitchFamily="18" charset="0"/>
                        <a:ea typeface="楷体" panose="02010609060101010101" pitchFamily="49" charset="-122"/>
                      </a:rPr>
                      <m:t>=</m:t>
                    </m:r>
                    <m:r>
                      <a:rPr lang="en-US" altLang="zh-CN" i="1" dirty="0" smtClean="0">
                        <a:solidFill>
                          <a:schemeClr val="accent1"/>
                        </a:solidFill>
                        <a:latin typeface="Cambria Math" panose="02040503050406030204" pitchFamily="18" charset="0"/>
                        <a:ea typeface="楷体" panose="02010609060101010101" pitchFamily="49" charset="-122"/>
                      </a:rPr>
                      <m:t>𝐵</m:t>
                    </m:r>
                  </m:oMath>
                </a14:m>
                <a:r>
                  <a:rPr lang="zh-CN" altLang="en-US" dirty="0">
                    <a:solidFill>
                      <a:schemeClr val="accent1"/>
                    </a:solidFill>
                    <a:latin typeface="楷体" panose="02010609060101010101" pitchFamily="49" charset="-122"/>
                    <a:ea typeface="楷体" panose="02010609060101010101" pitchFamily="49" charset="-122"/>
                  </a:rPr>
                  <a:t>端</a:t>
                </a:r>
                <a:r>
                  <a:rPr lang="zh-CN" altLang="en-US" dirty="0">
                    <a:latin typeface="楷体" panose="02010609060101010101" pitchFamily="49" charset="-122"/>
                    <a:ea typeface="楷体" panose="02010609060101010101" pitchFamily="49" charset="-122"/>
                  </a:rPr>
                  <a:t>和</a:t>
                </a:r>
                <a14:m>
                  <m:oMath xmlns:m="http://schemas.openxmlformats.org/officeDocument/2006/math">
                    <m:r>
                      <a:rPr lang="en-US" altLang="zh-CN" i="1" dirty="0" smtClean="0">
                        <a:solidFill>
                          <a:schemeClr val="accent1"/>
                        </a:solidFill>
                        <a:latin typeface="Cambria Math" panose="02040503050406030204" pitchFamily="18" charset="0"/>
                        <a:ea typeface="楷体" panose="02010609060101010101" pitchFamily="49" charset="-122"/>
                      </a:rPr>
                      <m:t>𝐴</m:t>
                    </m:r>
                    <m:r>
                      <a:rPr lang="en-US" altLang="zh-CN" i="1" dirty="0" smtClean="0">
                        <a:solidFill>
                          <a:schemeClr val="accent1"/>
                        </a:solidFill>
                        <a:latin typeface="Cambria Math" panose="02040503050406030204" pitchFamily="18" charset="0"/>
                        <a:ea typeface="楷体" panose="02010609060101010101" pitchFamily="49" charset="-122"/>
                      </a:rPr>
                      <m:t>&gt;</m:t>
                    </m:r>
                    <m:r>
                      <a:rPr lang="en-US" altLang="zh-CN" i="1" dirty="0" smtClean="0">
                        <a:solidFill>
                          <a:schemeClr val="accent1"/>
                        </a:solidFill>
                        <a:latin typeface="Cambria Math" panose="02040503050406030204" pitchFamily="18" charset="0"/>
                        <a:ea typeface="楷体" panose="02010609060101010101" pitchFamily="49" charset="-122"/>
                      </a:rPr>
                      <m:t>𝐵</m:t>
                    </m:r>
                  </m:oMath>
                </a14:m>
                <a:r>
                  <a:rPr lang="zh-CN" altLang="en-US" dirty="0">
                    <a:solidFill>
                      <a:schemeClr val="accent1"/>
                    </a:solidFill>
                    <a:latin typeface="楷体" panose="02010609060101010101" pitchFamily="49" charset="-122"/>
                    <a:ea typeface="楷体" panose="02010609060101010101" pitchFamily="49" charset="-122"/>
                  </a:rPr>
                  <a:t>端</a:t>
                </a:r>
                <a:r>
                  <a:rPr lang="zh-CN" altLang="en-US" dirty="0">
                    <a:latin typeface="楷体" panose="02010609060101010101" pitchFamily="49" charset="-122"/>
                    <a:ea typeface="楷体" panose="02010609060101010101" pitchFamily="49" charset="-122"/>
                  </a:rPr>
                  <a:t>为低电平</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图</a:t>
                </a:r>
                <a:r>
                  <a:rPr lang="en-US" altLang="zh-CN" dirty="0">
                    <a:latin typeface="楷体" panose="02010609060101010101" pitchFamily="49" charset="-122"/>
                    <a:ea typeface="楷体" panose="02010609060101010101" pitchFamily="49" charset="-122"/>
                  </a:rPr>
                  <a:t>2.29(b)</a:t>
                </a:r>
                <a:r>
                  <a:rPr lang="zh-CN" altLang="en-US" dirty="0">
                    <a:latin typeface="楷体" panose="02010609060101010101" pitchFamily="49" charset="-122"/>
                    <a:ea typeface="楷体" panose="02010609060101010101" pitchFamily="49" charset="-122"/>
                  </a:rPr>
                  <a:t>是</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位比较器</a:t>
                </a:r>
                <a:r>
                  <a:rPr lang="en-US" altLang="zh-CN" dirty="0">
                    <a:latin typeface="楷体" panose="02010609060101010101" pitchFamily="49" charset="-122"/>
                    <a:ea typeface="楷体" panose="02010609060101010101" pitchFamily="49" charset="-122"/>
                  </a:rPr>
                  <a:t>74HC85</a:t>
                </a:r>
                <a:r>
                  <a:rPr lang="zh-CN" altLang="en-US" dirty="0">
                    <a:latin typeface="楷体" panose="02010609060101010101" pitchFamily="49" charset="-122"/>
                    <a:ea typeface="楷体" panose="02010609060101010101" pitchFamily="49" charset="-122"/>
                  </a:rPr>
                  <a:t>的逻辑符号与引脚图。它是</a:t>
                </a:r>
                <a:r>
                  <a:rPr lang="en-US" altLang="zh-CN" dirty="0">
                    <a:latin typeface="楷体" panose="02010609060101010101" pitchFamily="49" charset="-122"/>
                    <a:ea typeface="楷体" panose="02010609060101010101" pitchFamily="49" charset="-122"/>
                  </a:rPr>
                  <a:t>16</a:t>
                </a:r>
                <a:r>
                  <a:rPr lang="zh-CN" altLang="en-US" dirty="0">
                    <a:latin typeface="楷体" panose="02010609060101010101" pitchFamily="49" charset="-122"/>
                    <a:ea typeface="楷体" panose="02010609060101010101" pitchFamily="49" charset="-122"/>
                  </a:rPr>
                  <a:t>脚的封装，引脚编号列在外边括号内</a:t>
                </a:r>
                <a:r>
                  <a:rPr lang="zh-CN" altLang="en-US" dirty="0" smtClean="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108363"/>
                <a:ext cx="7886700" cy="5430981"/>
              </a:xfrm>
              <a:blipFill>
                <a:blip r:embed="rId2"/>
                <a:stretch>
                  <a:fillRect l="-1391" t="-1796" r="-11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3424865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265860" y="156462"/>
            <a:ext cx="8593805" cy="4378592"/>
          </a:xfrm>
          <a:prstGeom prst="rect">
            <a:avLst/>
          </a:prstGeom>
        </p:spPr>
      </p:pic>
      <p:sp>
        <p:nvSpPr>
          <p:cNvPr id="7" name="矩形 6"/>
          <p:cNvSpPr/>
          <p:nvPr/>
        </p:nvSpPr>
        <p:spPr>
          <a:xfrm>
            <a:off x="1542472" y="4629927"/>
            <a:ext cx="6410036" cy="1378583"/>
          </a:xfrm>
          <a:prstGeom prst="rect">
            <a:avLst/>
          </a:prstGeom>
        </p:spPr>
        <p:txBody>
          <a:bodyPr wrap="square">
            <a:spAutoFit/>
          </a:bodyPr>
          <a:lstStyle/>
          <a:p>
            <a:pPr>
              <a:lnSpc>
                <a:spcPts val="3500"/>
              </a:lnSpc>
            </a:pPr>
            <a:r>
              <a:rPr lang="zh-CN" altLang="en-US" sz="2400" dirty="0">
                <a:latin typeface="楷体" panose="02010609060101010101" pitchFamily="49" charset="-122"/>
                <a:ea typeface="楷体" panose="02010609060101010101" pitchFamily="49" charset="-122"/>
              </a:rPr>
              <a:t>表</a:t>
            </a:r>
            <a:r>
              <a:rPr lang="en-US" altLang="zh-CN" sz="2400" dirty="0">
                <a:latin typeface="楷体" panose="02010609060101010101" pitchFamily="49" charset="-122"/>
                <a:ea typeface="楷体" panose="02010609060101010101" pitchFamily="49" charset="-122"/>
              </a:rPr>
              <a:t>2.11</a:t>
            </a:r>
            <a:r>
              <a:rPr lang="zh-CN" altLang="en-US" sz="2400" dirty="0">
                <a:latin typeface="楷体" panose="02010609060101010101" pitchFamily="49" charset="-122"/>
                <a:ea typeface="楷体" panose="02010609060101010101" pitchFamily="49" charset="-122"/>
              </a:rPr>
              <a:t>列出</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位比较器</a:t>
            </a:r>
            <a:r>
              <a:rPr lang="en-US" altLang="zh-CN" sz="2400" dirty="0">
                <a:latin typeface="楷体" panose="02010609060101010101" pitchFamily="49" charset="-122"/>
                <a:ea typeface="楷体" panose="02010609060101010101" pitchFamily="49" charset="-122"/>
              </a:rPr>
              <a:t>74HC85</a:t>
            </a:r>
            <a:r>
              <a:rPr lang="zh-CN" altLang="en-US" sz="2400" dirty="0">
                <a:latin typeface="楷体" panose="02010609060101010101" pitchFamily="49" charset="-122"/>
                <a:ea typeface="楷体" panose="02010609060101010101" pitchFamily="49" charset="-122"/>
              </a:rPr>
              <a:t>的功能表</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en-US" sz="2400" dirty="0" smtClean="0">
                <a:latin typeface="楷体" panose="02010609060101010101" pitchFamily="49" charset="-122"/>
                <a:ea typeface="楷体" panose="02010609060101010101" pitchFamily="49" charset="-122"/>
              </a:rPr>
              <a:t>从</a:t>
            </a:r>
            <a:r>
              <a:rPr lang="zh-CN" altLang="en-US" sz="2400" dirty="0">
                <a:latin typeface="楷体" panose="02010609060101010101" pitchFamily="49" charset="-122"/>
                <a:ea typeface="楷体" panose="02010609060101010101" pitchFamily="49" charset="-122"/>
              </a:rPr>
              <a:t>功能表看出，当两个</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位数比较时，先比较最高位，最高位相同时比较次高位，依此类推。</a:t>
            </a:r>
          </a:p>
        </p:txBody>
      </p:sp>
    </p:spTree>
    <p:extLst>
      <p:ext uri="{BB962C8B-B14F-4D97-AF65-F5344CB8AC3E}">
        <p14:creationId xmlns:p14="http://schemas.microsoft.com/office/powerpoint/2010/main" val="362316642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p:nvPr/>
            </p:nvSpPr>
            <p:spPr>
              <a:xfrm>
                <a:off x="905165" y="487946"/>
                <a:ext cx="7001164" cy="3683060"/>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例如：</a:t>
                </a:r>
                <a:endParaRPr lang="en-US" altLang="zh-CN" sz="2400" dirty="0" smtClean="0">
                  <a:latin typeface="楷体" panose="02010609060101010101" pitchFamily="49" charset="-122"/>
                  <a:ea typeface="楷体" panose="02010609060101010101" pitchFamily="49" charset="-122"/>
                </a:endParaRPr>
              </a:p>
              <a:p>
                <a:pPr marL="989013" indent="-546100">
                  <a:lnSpc>
                    <a:spcPts val="3500"/>
                  </a:lnSpc>
                  <a:buFont typeface="Wingdings" panose="05000000000000000000" pitchFamily="2" charset="2"/>
                  <a:buChar char="l"/>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3</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3</m:t>
                    </m:r>
                    <m:r>
                      <a:rPr lang="en-US" altLang="zh-CN" sz="2400" i="1" dirty="0" smtClean="0">
                        <a:latin typeface="Cambria Math" panose="02040503050406030204" pitchFamily="18" charset="0"/>
                        <a:ea typeface="楷体" panose="02010609060101010101" pitchFamily="49" charset="-122"/>
                      </a:rPr>
                      <m:t> </m:t>
                    </m:r>
                  </m:oMath>
                </a14:m>
                <a:r>
                  <a:rPr lang="zh-CN" altLang="en-US" sz="2400" dirty="0">
                    <a:latin typeface="楷体" panose="02010609060101010101" pitchFamily="49" charset="-122"/>
                    <a:ea typeface="楷体" panose="02010609060101010101" pitchFamily="49" charset="-122"/>
                  </a:rPr>
                  <a:t>时，不管其他输入如何，必有输出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𝐴</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𝐵</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marL="989013" indent="-546100">
                  <a:lnSpc>
                    <a:spcPts val="3500"/>
                  </a:lnSpc>
                  <a:buFont typeface="Wingdings" panose="05000000000000000000" pitchFamily="2" charset="2"/>
                  <a:buChar char="l"/>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3</m:t>
                    </m:r>
                    <m:r>
                      <a:rPr lang="en-US" altLang="zh-CN" sz="2400" i="1" dirty="0" smtClean="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𝑏</m:t>
                    </m:r>
                    <m:r>
                      <a:rPr lang="en-US" altLang="zh-CN" sz="2400" i="1" baseline="-25000" dirty="0">
                        <a:latin typeface="Cambria Math" panose="02040503050406030204" pitchFamily="18" charset="0"/>
                        <a:ea typeface="楷体" panose="02010609060101010101" pitchFamily="49" charset="-122"/>
                      </a:rPr>
                      <m:t>3</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2</m:t>
                    </m:r>
                  </m:oMath>
                </a14:m>
                <a:r>
                  <a:rPr lang="zh-CN" altLang="en-US" sz="2400" dirty="0" smtClean="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，必有输出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𝐴</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𝐵</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a:latin typeface="楷体" panose="02010609060101010101" pitchFamily="49" charset="-122"/>
                    <a:ea typeface="楷体" panose="02010609060101010101" pitchFamily="49" charset="-122"/>
                  </a:rPr>
                  <a:t>。</a:t>
                </a:r>
              </a:p>
              <a:p>
                <a:pPr marL="989013" indent="-546100">
                  <a:lnSpc>
                    <a:spcPts val="3500"/>
                  </a:lnSpc>
                  <a:buFont typeface="Wingdings" panose="05000000000000000000" pitchFamily="2" charset="2"/>
                  <a:buChar char="l"/>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3</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3</m:t>
                    </m:r>
                  </m:oMath>
                </a14:m>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2</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2</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1</m:t>
                    </m:r>
                  </m:oMath>
                </a14:m>
                <a:r>
                  <a:rPr lang="zh-CN" altLang="en-US" sz="2400" dirty="0" smtClean="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，必有输出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𝐴</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𝐵</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a:latin typeface="楷体" panose="02010609060101010101" pitchFamily="49" charset="-122"/>
                    <a:ea typeface="楷体" panose="02010609060101010101" pitchFamily="49" charset="-122"/>
                  </a:rPr>
                  <a:t>。</a:t>
                </a:r>
              </a:p>
              <a:p>
                <a:pPr marL="989013" indent="-546100">
                  <a:lnSpc>
                    <a:spcPts val="3500"/>
                  </a:lnSpc>
                  <a:buFont typeface="Wingdings" panose="05000000000000000000" pitchFamily="2" charset="2"/>
                  <a:buChar char="l"/>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3</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3</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2</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2</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1</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1</m:t>
                    </m:r>
                  </m:oMath>
                </a14:m>
                <a:r>
                  <a:rPr lang="en-US" altLang="zh-CN" sz="24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baseline="-25000" dirty="0" smtClean="0">
                        <a:latin typeface="Cambria Math" panose="02040503050406030204" pitchFamily="18" charset="0"/>
                        <a:ea typeface="楷体" panose="02010609060101010101" pitchFamily="49" charset="-122"/>
                      </a:rPr>
                      <m:t>0</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𝑏</m:t>
                    </m:r>
                    <m:r>
                      <a:rPr lang="en-US" altLang="zh-CN" sz="2400" i="1" baseline="-25000" dirty="0" smtClean="0">
                        <a:latin typeface="Cambria Math" panose="02040503050406030204" pitchFamily="18" charset="0"/>
                        <a:ea typeface="楷体" panose="02010609060101010101" pitchFamily="49" charset="-122"/>
                      </a:rPr>
                      <m:t>0</m:t>
                    </m:r>
                  </m:oMath>
                </a14:m>
                <a:r>
                  <a:rPr lang="zh-CN" altLang="en-US" sz="2400" dirty="0" smtClean="0">
                    <a:latin typeface="楷体" panose="02010609060101010101" pitchFamily="49" charset="-122"/>
                    <a:ea typeface="楷体" panose="02010609060101010101" pitchFamily="49" charset="-122"/>
                  </a:rPr>
                  <a:t>时，</a:t>
                </a:r>
                <a:r>
                  <a:rPr lang="zh-CN" altLang="en-US" sz="2400" dirty="0">
                    <a:latin typeface="楷体" panose="02010609060101010101" pitchFamily="49" charset="-122"/>
                    <a:ea typeface="楷体" panose="02010609060101010101" pitchFamily="49" charset="-122"/>
                  </a:rPr>
                  <a:t>必有输出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𝐴</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𝐵</m:t>
                    </m:r>
                    <m:r>
                      <a:rPr lang="en-US" altLang="zh-CN" sz="2400" i="1" dirty="0" smtClean="0">
                        <a:latin typeface="Cambria Math" panose="02040503050406030204" pitchFamily="18" charset="0"/>
                        <a:ea typeface="楷体" panose="02010609060101010101" pitchFamily="49" charset="-122"/>
                      </a:rPr>
                      <m:t>)=1</m:t>
                    </m:r>
                  </m:oMath>
                </a14:m>
                <a:r>
                  <a:rPr lang="zh-CN" altLang="en-US" sz="2400" dirty="0">
                    <a:latin typeface="楷体" panose="02010609060101010101" pitchFamily="49" charset="-122"/>
                    <a:ea typeface="楷体" panose="02010609060101010101" pitchFamily="49" charset="-122"/>
                  </a:rPr>
                  <a:t>。</a:t>
                </a:r>
              </a:p>
            </p:txBody>
          </p:sp>
        </mc:Choice>
        <mc:Fallback xmlns="">
          <p:sp>
            <p:nvSpPr>
              <p:cNvPr id="5" name="矩形 4"/>
              <p:cNvSpPr>
                <a:spLocks noRot="1" noChangeAspect="1" noMove="1" noResize="1" noEditPoints="1" noAdjustHandles="1" noChangeArrowheads="1" noChangeShapeType="1" noTextEdit="1"/>
              </p:cNvSpPr>
              <p:nvPr/>
            </p:nvSpPr>
            <p:spPr>
              <a:xfrm>
                <a:off x="905165" y="487946"/>
                <a:ext cx="7001164" cy="3683060"/>
              </a:xfrm>
              <a:prstGeom prst="rect">
                <a:avLst/>
              </a:prstGeom>
              <a:blipFill>
                <a:blip r:embed="rId2"/>
                <a:stretch>
                  <a:fillRect l="-1305" t="-828" r="-5657" b="-11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9992847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1116036" y="295564"/>
                <a:ext cx="7196691" cy="5029582"/>
              </a:xfrm>
              <a:prstGeom prst="rect">
                <a:avLst/>
              </a:prstGeom>
            </p:spPr>
            <p:txBody>
              <a:bodyPr wrap="square">
                <a:spAutoFit/>
              </a:bodyPr>
              <a:lstStyle/>
              <a:p>
                <a:pPr indent="534988">
                  <a:lnSpc>
                    <a:spcPts val="3500"/>
                  </a:lnSpc>
                </a:pPr>
                <a:r>
                  <a:rPr lang="zh-CN" altLang="en-US" sz="2400" dirty="0">
                    <a:latin typeface="楷体" panose="02010609060101010101" pitchFamily="49" charset="-122"/>
                    <a:ea typeface="楷体" panose="02010609060101010101" pitchFamily="49" charset="-122"/>
                  </a:rPr>
                  <a:t>功能表的最下面三行表示，比较输出还与级联输入有关</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534988">
                  <a:lnSpc>
                    <a:spcPts val="3500"/>
                  </a:lnSpc>
                </a:pPr>
                <a:r>
                  <a:rPr lang="zh-CN" altLang="en-US" sz="2400" dirty="0" smtClean="0">
                    <a:latin typeface="楷体" panose="02010609060101010101" pitchFamily="49" charset="-122"/>
                    <a:ea typeface="楷体" panose="02010609060101010101" pitchFamily="49" charset="-122"/>
                  </a:rPr>
                  <a:t>在</a:t>
                </a:r>
                <a:r>
                  <a:rPr lang="zh-CN" altLang="en-US" sz="2400" dirty="0">
                    <a:latin typeface="楷体" panose="02010609060101010101" pitchFamily="49" charset="-122"/>
                    <a:ea typeface="楷体" panose="02010609060101010101" pitchFamily="49" charset="-122"/>
                  </a:rPr>
                  <a:t>进行</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位数比较时，</a:t>
                </a:r>
                <a:r>
                  <a:rPr lang="zh-CN" altLang="en-US" sz="2400" dirty="0" smtClean="0">
                    <a:latin typeface="楷体" panose="02010609060101010101" pitchFamily="49" charset="-122"/>
                    <a:ea typeface="楷体" panose="02010609060101010101" pitchFamily="49" charset="-122"/>
                  </a:rPr>
                  <a:t>必须将</a:t>
                </a:r>
                <a:r>
                  <a:rPr lang="zh-CN" altLang="en-US" sz="2400" dirty="0" smtClean="0">
                    <a:solidFill>
                      <a:schemeClr val="accent1"/>
                    </a:solidFill>
                    <a:latin typeface="楷体" panose="02010609060101010101" pitchFamily="49" charset="-122"/>
                    <a:ea typeface="楷体" panose="02010609060101010101" pitchFamily="49" charset="-122"/>
                  </a:rPr>
                  <a:t>级联输入</a:t>
                </a:r>
                <a14:m>
                  <m:oMath xmlns:m="http://schemas.openxmlformats.org/officeDocument/2006/math">
                    <m:r>
                      <a:rPr lang="en-US" altLang="zh-CN" sz="2400" i="1" dirty="0" smtClean="0">
                        <a:solidFill>
                          <a:schemeClr val="accent1"/>
                        </a:solidFill>
                        <a:latin typeface="Cambria Math" panose="02040503050406030204" pitchFamily="18" charset="0"/>
                        <a:ea typeface="楷体" panose="02010609060101010101" pitchFamily="49" charset="-122"/>
                      </a:rPr>
                      <m:t>𝑎</m:t>
                    </m:r>
                    <m:r>
                      <a:rPr lang="en-US" altLang="zh-CN" sz="2400" i="1" dirty="0" smtClean="0">
                        <a:solidFill>
                          <a:schemeClr val="accent1"/>
                        </a:solidFill>
                        <a:latin typeface="Cambria Math" panose="02040503050406030204" pitchFamily="18" charset="0"/>
                        <a:ea typeface="楷体" panose="02010609060101010101" pitchFamily="49" charset="-122"/>
                      </a:rPr>
                      <m:t>&lt;</m:t>
                    </m:r>
                    <m:r>
                      <a:rPr lang="en-US" altLang="zh-CN" sz="2400" i="1" dirty="0" smtClean="0">
                        <a:solidFill>
                          <a:schemeClr val="accent1"/>
                        </a:solidFill>
                        <a:latin typeface="Cambria Math" panose="02040503050406030204" pitchFamily="18" charset="0"/>
                        <a:ea typeface="楷体" panose="02010609060101010101" pitchFamily="49" charset="-122"/>
                      </a:rPr>
                      <m:t>𝑏</m:t>
                    </m:r>
                  </m:oMath>
                </a14:m>
                <a:r>
                  <a:rPr lang="zh-CN" altLang="en-US" sz="2400" dirty="0" smtClean="0">
                    <a:solidFill>
                      <a:schemeClr val="accent1"/>
                    </a:solidFill>
                    <a:latin typeface="楷体" panose="02010609060101010101" pitchFamily="49" charset="-122"/>
                    <a:ea typeface="楷体" panose="02010609060101010101" pitchFamily="49" charset="-122"/>
                  </a:rPr>
                  <a:t>和</a:t>
                </a:r>
                <a14:m>
                  <m:oMath xmlns:m="http://schemas.openxmlformats.org/officeDocument/2006/math">
                    <m:r>
                      <a:rPr lang="en-US" altLang="zh-CN" sz="2400" i="1" dirty="0" smtClean="0">
                        <a:solidFill>
                          <a:schemeClr val="accent1"/>
                        </a:solidFill>
                        <a:latin typeface="Cambria Math" panose="02040503050406030204" pitchFamily="18" charset="0"/>
                        <a:ea typeface="楷体" panose="02010609060101010101" pitchFamily="49" charset="-122"/>
                      </a:rPr>
                      <m:t>𝑎</m:t>
                    </m:r>
                    <m:r>
                      <a:rPr lang="en-US" altLang="zh-CN" sz="2400" i="1" dirty="0" smtClean="0">
                        <a:solidFill>
                          <a:schemeClr val="accent1"/>
                        </a:solidFill>
                        <a:latin typeface="Cambria Math" panose="02040503050406030204" pitchFamily="18" charset="0"/>
                        <a:ea typeface="楷体" panose="02010609060101010101" pitchFamily="49" charset="-122"/>
                      </a:rPr>
                      <m:t>&gt;</m:t>
                    </m:r>
                    <m:r>
                      <a:rPr lang="en-US" altLang="zh-CN" sz="2400" i="1" dirty="0" smtClean="0">
                        <a:solidFill>
                          <a:schemeClr val="accent1"/>
                        </a:solidFill>
                        <a:latin typeface="Cambria Math" panose="02040503050406030204" pitchFamily="18" charset="0"/>
                        <a:ea typeface="楷体" panose="02010609060101010101" pitchFamily="49" charset="-122"/>
                      </a:rPr>
                      <m:t>𝑏</m:t>
                    </m:r>
                  </m:oMath>
                </a14:m>
                <a:r>
                  <a:rPr lang="zh-CN" altLang="en-US" sz="2400" dirty="0" smtClean="0">
                    <a:latin typeface="楷体" panose="02010609060101010101" pitchFamily="49" charset="-122"/>
                    <a:ea typeface="楷体" panose="02010609060101010101" pitchFamily="49" charset="-122"/>
                  </a:rPr>
                  <a:t>接地 </a:t>
                </a:r>
                <a:r>
                  <a:rPr lang="zh-CN" altLang="en-US" sz="2400" dirty="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solidFill>
                          <a:schemeClr val="accent1"/>
                        </a:solidFill>
                        <a:latin typeface="Cambria Math" panose="02040503050406030204" pitchFamily="18" charset="0"/>
                        <a:ea typeface="楷体" panose="02010609060101010101" pitchFamily="49" charset="-122"/>
                      </a:rPr>
                      <m:t>𝑎</m:t>
                    </m:r>
                    <m:r>
                      <a:rPr lang="en-US" altLang="zh-CN" sz="2400" i="1" dirty="0" smtClean="0">
                        <a:solidFill>
                          <a:schemeClr val="accent1"/>
                        </a:solidFill>
                        <a:latin typeface="Cambria Math" panose="02040503050406030204" pitchFamily="18" charset="0"/>
                        <a:ea typeface="楷体" panose="02010609060101010101" pitchFamily="49" charset="-122"/>
                      </a:rPr>
                      <m:t>=</m:t>
                    </m:r>
                    <m:r>
                      <a:rPr lang="en-US" altLang="zh-CN" sz="2400" i="1" dirty="0" smtClean="0">
                        <a:solidFill>
                          <a:schemeClr val="accent1"/>
                        </a:solidFill>
                        <a:latin typeface="Cambria Math" panose="02040503050406030204" pitchFamily="18" charset="0"/>
                        <a:ea typeface="楷体" panose="02010609060101010101" pitchFamily="49" charset="-122"/>
                      </a:rPr>
                      <m:t>𝑏</m:t>
                    </m:r>
                  </m:oMath>
                </a14:m>
                <a:r>
                  <a:rPr lang="zh-CN" altLang="en-US" sz="2400" dirty="0" smtClean="0">
                    <a:latin typeface="楷体" panose="02010609060101010101" pitchFamily="49" charset="-122"/>
                    <a:ea typeface="楷体" panose="02010609060101010101" pitchFamily="49" charset="-122"/>
                  </a:rPr>
                  <a:t>接</a:t>
                </a:r>
                <a:r>
                  <a:rPr lang="zh-CN" altLang="en-US" sz="2400" dirty="0">
                    <a:latin typeface="楷体" panose="02010609060101010101" pitchFamily="49" charset="-122"/>
                    <a:ea typeface="楷体" panose="02010609060101010101" pitchFamily="49" charset="-122"/>
                  </a:rPr>
                  <a:t>高电平。级联输入端用于</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位比较器的扩展</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534988">
                  <a:lnSpc>
                    <a:spcPts val="3500"/>
                  </a:lnSpc>
                </a:pPr>
                <a:r>
                  <a:rPr lang="zh-CN" altLang="en-US" sz="2400" dirty="0">
                    <a:latin typeface="楷体" panose="02010609060101010101" pitchFamily="49" charset="-122"/>
                    <a:ea typeface="楷体" panose="02010609060101010101" pitchFamily="49" charset="-122"/>
                  </a:rPr>
                  <a:t>当比较位数超过</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位时，可以将两片或多片</a:t>
                </a:r>
                <a:r>
                  <a:rPr lang="en-US" altLang="zh-CN" sz="2400" dirty="0">
                    <a:latin typeface="楷体" panose="02010609060101010101" pitchFamily="49" charset="-122"/>
                    <a:ea typeface="楷体" panose="02010609060101010101" pitchFamily="49" charset="-122"/>
                  </a:rPr>
                  <a:t>74HC85 </a:t>
                </a:r>
                <a:r>
                  <a:rPr lang="zh-CN" altLang="en-US" sz="2400" dirty="0">
                    <a:latin typeface="楷体" panose="02010609060101010101" pitchFamily="49" charset="-122"/>
                    <a:ea typeface="楷体" panose="02010609060101010101" pitchFamily="49" charset="-122"/>
                  </a:rPr>
                  <a:t>级联使用。例如，将两片</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a:t>
                </a:r>
                <a:r>
                  <a:rPr lang="zh-CN" altLang="en-US" sz="2400" dirty="0" smtClean="0">
                    <a:latin typeface="楷体" panose="02010609060101010101" pitchFamily="49" charset="-122"/>
                    <a:ea typeface="楷体" panose="02010609060101010101" pitchFamily="49" charset="-122"/>
                  </a:rPr>
                  <a:t>比较器</a:t>
                </a:r>
                <a:r>
                  <a:rPr lang="zh-CN" altLang="en-US" sz="2400" dirty="0">
                    <a:latin typeface="楷体" panose="02010609060101010101" pitchFamily="49" charset="-122"/>
                    <a:ea typeface="楷体" panose="02010609060101010101" pitchFamily="49" charset="-122"/>
                  </a:rPr>
                  <a:t>组成</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位比较器，此时，低</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位和高</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位输入信号，分别加到两个比较器的输入端</a:t>
                </a:r>
                <a:r>
                  <a:rPr lang="zh-CN" altLang="en-US" sz="2400" dirty="0" smtClean="0">
                    <a:latin typeface="楷体" panose="02010609060101010101" pitchFamily="49" charset="-122"/>
                    <a:ea typeface="楷体" panose="02010609060101010101" pitchFamily="49" charset="-122"/>
                  </a:rPr>
                  <a:t>，</a:t>
                </a:r>
                <a:r>
                  <a:rPr lang="zh-CN" altLang="en-US" sz="2400" b="1" dirty="0" smtClean="0">
                    <a:latin typeface="楷体" panose="02010609060101010101" pitchFamily="49" charset="-122"/>
                    <a:ea typeface="楷体" panose="02010609060101010101" pitchFamily="49" charset="-122"/>
                  </a:rPr>
                  <a:t>低</a:t>
                </a:r>
                <a:r>
                  <a:rPr lang="en-US" altLang="zh-CN" sz="2400" b="1" dirty="0">
                    <a:latin typeface="楷体" panose="02010609060101010101" pitchFamily="49" charset="-122"/>
                    <a:ea typeface="楷体" panose="02010609060101010101" pitchFamily="49" charset="-122"/>
                  </a:rPr>
                  <a:t>4</a:t>
                </a:r>
                <a:r>
                  <a:rPr lang="zh-CN" altLang="en-US" sz="2400" b="1" dirty="0">
                    <a:latin typeface="楷体" panose="02010609060101010101" pitchFamily="49" charset="-122"/>
                    <a:ea typeface="楷体" panose="02010609060101010101" pitchFamily="49" charset="-122"/>
                  </a:rPr>
                  <a:t>位比较器的三个输出</a:t>
                </a:r>
                <a:r>
                  <a:rPr lang="zh-CN" altLang="en-US" sz="2400" dirty="0">
                    <a:latin typeface="楷体" panose="02010609060101010101" pitchFamily="49" charset="-122"/>
                    <a:ea typeface="楷体" panose="02010609060101010101" pitchFamily="49" charset="-122"/>
                  </a:rPr>
                  <a:t>分别对应接到</a:t>
                </a:r>
                <a:r>
                  <a:rPr lang="zh-CN" altLang="en-US" sz="2400" b="1" dirty="0">
                    <a:latin typeface="楷体" panose="02010609060101010101" pitchFamily="49" charset="-122"/>
                    <a:ea typeface="楷体" panose="02010609060101010101" pitchFamily="49" charset="-122"/>
                  </a:rPr>
                  <a:t>高</a:t>
                </a:r>
                <a:r>
                  <a:rPr lang="en-US" altLang="zh-CN" sz="2400" b="1" dirty="0">
                    <a:latin typeface="楷体" panose="02010609060101010101" pitchFamily="49" charset="-122"/>
                    <a:ea typeface="楷体" panose="02010609060101010101" pitchFamily="49" charset="-122"/>
                  </a:rPr>
                  <a:t>4</a:t>
                </a:r>
                <a:r>
                  <a:rPr lang="zh-CN" altLang="en-US" sz="2400" b="1" dirty="0">
                    <a:latin typeface="楷体" panose="02010609060101010101" pitchFamily="49" charset="-122"/>
                    <a:ea typeface="楷体" panose="02010609060101010101" pitchFamily="49" charset="-122"/>
                  </a:rPr>
                  <a:t>位比较器的三个级联输入端</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dirty="0" smtClean="0">
                        <a:latin typeface="Cambria Math" panose="02040503050406030204" pitchFamily="18" charset="0"/>
                        <a:ea typeface="楷体" panose="02010609060101010101" pitchFamily="49" charset="-122"/>
                      </a:rPr>
                      <m:t>&gt;</m:t>
                    </m:r>
                    <m:r>
                      <a:rPr lang="en-US" altLang="zh-CN" sz="2400" i="1" dirty="0" smtClean="0">
                        <a:latin typeface="Cambria Math" panose="02040503050406030204" pitchFamily="18" charset="0"/>
                        <a:ea typeface="楷体" panose="02010609060101010101" pitchFamily="49" charset="-122"/>
                      </a:rPr>
                      <m:t>𝑏</m:t>
                    </m:r>
                  </m:oMath>
                </a14:m>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dirty="0" smtClean="0">
                        <a:latin typeface="Cambria Math" panose="02040503050406030204" pitchFamily="18" charset="0"/>
                        <a:ea typeface="楷体" panose="02010609060101010101" pitchFamily="49" charset="-122"/>
                      </a:rPr>
                      <m:t>=</m:t>
                    </m:r>
                    <m:r>
                      <a:rPr lang="en-US" altLang="zh-CN" sz="2400" i="1" dirty="0" smtClean="0">
                        <a:latin typeface="Cambria Math" panose="02040503050406030204" pitchFamily="18" charset="0"/>
                        <a:ea typeface="楷体" panose="02010609060101010101" pitchFamily="49" charset="-122"/>
                      </a:rPr>
                      <m:t>𝑏</m:t>
                    </m:r>
                  </m:oMath>
                </a14:m>
                <a:r>
                  <a:rPr lang="zh-CN" altLang="en-US"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𝑎</m:t>
                    </m:r>
                    <m:r>
                      <a:rPr lang="en-US" altLang="zh-CN" sz="2400" i="1" dirty="0" smtClean="0">
                        <a:latin typeface="Cambria Math" panose="02040503050406030204" pitchFamily="18" charset="0"/>
                        <a:ea typeface="楷体" panose="02010609060101010101" pitchFamily="49" charset="-122"/>
                      </a:rPr>
                      <m:t>&lt;</m:t>
                    </m:r>
                    <m:r>
                      <a:rPr lang="en-US" altLang="zh-CN" sz="2400" i="1" dirty="0" smtClean="0">
                        <a:latin typeface="Cambria Math" panose="02040503050406030204" pitchFamily="18" charset="0"/>
                        <a:ea typeface="楷体" panose="02010609060101010101" pitchFamily="49" charset="-122"/>
                      </a:rPr>
                      <m:t>𝑏</m:t>
                    </m:r>
                  </m:oMath>
                </a14:m>
                <a:r>
                  <a:rPr lang="zh-CN" altLang="en-US" sz="2400" dirty="0">
                    <a:latin typeface="楷体" panose="02010609060101010101" pitchFamily="49" charset="-122"/>
                    <a:ea typeface="楷体" panose="02010609060101010101" pitchFamily="49" charset="-122"/>
                  </a:rPr>
                  <a:t>。 比较结果则由</a:t>
                </a:r>
                <a:r>
                  <a:rPr lang="zh-CN" altLang="en-US" sz="2400" dirty="0">
                    <a:solidFill>
                      <a:schemeClr val="accent1"/>
                    </a:solidFill>
                    <a:latin typeface="楷体" panose="02010609060101010101" pitchFamily="49" charset="-122"/>
                    <a:ea typeface="楷体" panose="02010609060101010101" pitchFamily="49" charset="-122"/>
                  </a:rPr>
                  <a:t>高</a:t>
                </a:r>
                <a:r>
                  <a:rPr lang="en-US" altLang="zh-CN" sz="2400" dirty="0">
                    <a:solidFill>
                      <a:schemeClr val="accent1"/>
                    </a:solidFill>
                    <a:latin typeface="楷体" panose="02010609060101010101" pitchFamily="49" charset="-122"/>
                    <a:ea typeface="楷体" panose="02010609060101010101" pitchFamily="49" charset="-122"/>
                  </a:rPr>
                  <a:t>4</a:t>
                </a:r>
                <a:r>
                  <a:rPr lang="zh-CN" altLang="en-US" sz="2400" dirty="0">
                    <a:solidFill>
                      <a:schemeClr val="accent1"/>
                    </a:solidFill>
                    <a:latin typeface="楷体" panose="02010609060101010101" pitchFamily="49" charset="-122"/>
                    <a:ea typeface="楷体" panose="02010609060101010101" pitchFamily="49" charset="-122"/>
                  </a:rPr>
                  <a:t>位比较器输出端</a:t>
                </a:r>
                <a:r>
                  <a:rPr lang="zh-CN" altLang="en-US" sz="2400" dirty="0">
                    <a:latin typeface="楷体" panose="02010609060101010101" pitchFamily="49" charset="-122"/>
                    <a:ea typeface="楷体" panose="02010609060101010101" pitchFamily="49" charset="-122"/>
                  </a:rPr>
                  <a:t>输出</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1116036" y="295564"/>
                <a:ext cx="7196691" cy="5029582"/>
              </a:xfrm>
              <a:prstGeom prst="rect">
                <a:avLst/>
              </a:prstGeom>
              <a:blipFill>
                <a:blip r:embed="rId2"/>
                <a:stretch>
                  <a:fillRect l="-1270" t="-605" r="-5588" b="-4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7215803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42119" y="233279"/>
            <a:ext cx="6340197" cy="461665"/>
          </a:xfrm>
          <a:prstGeom prst="rect">
            <a:avLst/>
          </a:prstGeom>
        </p:spPr>
        <p:txBody>
          <a:bodyPr wrap="none">
            <a:spAutoFit/>
          </a:bodyPr>
          <a:lstStyle/>
          <a:p>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16】 </a:t>
            </a:r>
            <a:r>
              <a:rPr lang="zh-CN" altLang="en-US" sz="2400" dirty="0">
                <a:latin typeface="楷体" panose="02010609060101010101" pitchFamily="49" charset="-122"/>
                <a:ea typeface="楷体" panose="02010609060101010101" pitchFamily="49" charset="-122"/>
              </a:rPr>
              <a:t>使用</a:t>
            </a:r>
            <a:r>
              <a:rPr lang="en-US" altLang="zh-CN" sz="2400" dirty="0">
                <a:latin typeface="楷体" panose="02010609060101010101" pitchFamily="49" charset="-122"/>
                <a:ea typeface="楷体" panose="02010609060101010101" pitchFamily="49" charset="-122"/>
              </a:rPr>
              <a:t>74HC85</a:t>
            </a:r>
            <a:r>
              <a:rPr lang="zh-CN" altLang="en-US" sz="2400" dirty="0">
                <a:latin typeface="楷体" panose="02010609060101010101" pitchFamily="49" charset="-122"/>
                <a:ea typeface="楷体" panose="02010609060101010101" pitchFamily="49" charset="-122"/>
              </a:rPr>
              <a:t>比较器组成</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位比较器。</a:t>
            </a:r>
          </a:p>
        </p:txBody>
      </p:sp>
      <p:sp>
        <p:nvSpPr>
          <p:cNvPr id="4" name="矩形 3"/>
          <p:cNvSpPr/>
          <p:nvPr/>
        </p:nvSpPr>
        <p:spPr>
          <a:xfrm>
            <a:off x="1361365" y="5070703"/>
            <a:ext cx="5777346" cy="929742"/>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解：需要</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片</a:t>
            </a:r>
            <a:r>
              <a:rPr lang="en-US" altLang="zh-CN" sz="2400" dirty="0">
                <a:latin typeface="楷体" panose="02010609060101010101" pitchFamily="49" charset="-122"/>
                <a:ea typeface="楷体" panose="02010609060101010101" pitchFamily="49" charset="-122"/>
              </a:rPr>
              <a:t>74HC85</a:t>
            </a:r>
            <a:r>
              <a:rPr lang="zh-CN" altLang="en-US" sz="2400" dirty="0">
                <a:latin typeface="楷体" panose="02010609060101010101" pitchFamily="49" charset="-122"/>
                <a:ea typeface="楷体" panose="02010609060101010101" pitchFamily="49" charset="-122"/>
              </a:rPr>
              <a:t>比较器，才能组成</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位比较器。它们的级联扩展见图</a:t>
            </a:r>
            <a:r>
              <a:rPr lang="en-US" altLang="zh-CN" sz="2400" dirty="0">
                <a:latin typeface="楷体" panose="02010609060101010101" pitchFamily="49" charset="-122"/>
                <a:ea typeface="楷体" panose="02010609060101010101" pitchFamily="49" charset="-122"/>
              </a:rPr>
              <a:t>2.30</a:t>
            </a:r>
            <a:r>
              <a:rPr lang="zh-CN" altLang="en-US" sz="2400" dirty="0">
                <a:latin typeface="楷体" panose="02010609060101010101" pitchFamily="49" charset="-122"/>
                <a:ea typeface="楷体" panose="02010609060101010101" pitchFamily="49" charset="-122"/>
              </a:rPr>
              <a:t>所示</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stretch>
            <a:fillRect/>
          </a:stretch>
        </p:blipFill>
        <p:spPr>
          <a:xfrm>
            <a:off x="1513854" y="835258"/>
            <a:ext cx="5877745" cy="4058216"/>
          </a:xfrm>
          <a:prstGeom prst="rect">
            <a:avLst/>
          </a:prstGeom>
        </p:spPr>
      </p:pic>
      <p:sp>
        <p:nvSpPr>
          <p:cNvPr id="6" name="矩形 5"/>
          <p:cNvSpPr/>
          <p:nvPr/>
        </p:nvSpPr>
        <p:spPr>
          <a:xfrm>
            <a:off x="1359571" y="6185457"/>
            <a:ext cx="6311343" cy="461665"/>
          </a:xfrm>
          <a:prstGeom prst="rect">
            <a:avLst/>
          </a:prstGeom>
        </p:spPr>
        <p:txBody>
          <a:bodyPr wrap="none">
            <a:spAutoFit/>
          </a:bodyPr>
          <a:lstStyle/>
          <a:p>
            <a:r>
              <a:rPr lang="zh-CN" altLang="en-US" sz="2400" dirty="0" smtClean="0">
                <a:latin typeface="+mn-ea"/>
              </a:rPr>
              <a:t>思考题：你</a:t>
            </a:r>
            <a:r>
              <a:rPr lang="zh-CN" altLang="en-US" sz="2400" dirty="0">
                <a:latin typeface="+mn-ea"/>
              </a:rPr>
              <a:t>能利用</a:t>
            </a:r>
            <a:r>
              <a:rPr lang="en-US" altLang="zh-CN" sz="2400" dirty="0">
                <a:latin typeface="+mn-ea"/>
              </a:rPr>
              <a:t>74HC85</a:t>
            </a:r>
            <a:r>
              <a:rPr lang="zh-CN" altLang="en-US" sz="2400" dirty="0">
                <a:latin typeface="+mn-ea"/>
              </a:rPr>
              <a:t>组成</a:t>
            </a:r>
            <a:r>
              <a:rPr lang="en-US" altLang="zh-CN" sz="2400" dirty="0">
                <a:latin typeface="+mn-ea"/>
              </a:rPr>
              <a:t>16</a:t>
            </a:r>
            <a:r>
              <a:rPr lang="zh-CN" altLang="en-US" sz="2400" dirty="0">
                <a:latin typeface="+mn-ea"/>
              </a:rPr>
              <a:t>位比较器吗</a:t>
            </a:r>
            <a:r>
              <a:rPr lang="en-US" altLang="zh-CN" sz="2400" dirty="0">
                <a:latin typeface="+mn-ea"/>
              </a:rPr>
              <a:t>?</a:t>
            </a:r>
            <a:endParaRPr lang="zh-CN" altLang="en-US" sz="2400" dirty="0">
              <a:latin typeface="+mn-ea"/>
            </a:endParaRPr>
          </a:p>
        </p:txBody>
      </p:sp>
    </p:spTree>
    <p:extLst>
      <p:ext uri="{BB962C8B-B14F-4D97-AF65-F5344CB8AC3E}">
        <p14:creationId xmlns:p14="http://schemas.microsoft.com/office/powerpoint/2010/main" val="22561171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988291"/>
          </a:xfrm>
        </p:spPr>
        <p:txBody>
          <a:bodyPr/>
          <a:lstStyle/>
          <a:p>
            <a:r>
              <a:rPr lang="en-US" altLang="zh-CN" dirty="0">
                <a:latin typeface="楷体" panose="02010609060101010101" pitchFamily="49" charset="-122"/>
                <a:ea typeface="楷体" panose="02010609060101010101" pitchFamily="49" charset="-122"/>
              </a:rPr>
              <a:t>2.6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数据比较器和加法器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4454091"/>
            <a:ext cx="7886700" cy="2168382"/>
          </a:xfrm>
        </p:spPr>
        <p:txBody>
          <a:bodyPr/>
          <a:lstStyle/>
          <a:p>
            <a:r>
              <a:rPr lang="zh-CN" altLang="zh-CN" dirty="0" smtClean="0">
                <a:latin typeface="楷体" panose="02010609060101010101" pitchFamily="49" charset="-122"/>
                <a:ea typeface="楷体" panose="02010609060101010101" pitchFamily="49" charset="-122"/>
              </a:rPr>
              <a:t>加法器</a:t>
            </a:r>
            <a:endParaRPr lang="en-US" altLang="zh-CN" dirty="0" smtClean="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加法器是计算机或其他数字系统中对二进制数进行运算处理的组合逻辑构件。按</a:t>
            </a:r>
            <a:r>
              <a:rPr lang="zh-CN" altLang="en-US" dirty="0" smtClean="0">
                <a:latin typeface="楷体" panose="02010609060101010101" pitchFamily="49" charset="-122"/>
                <a:ea typeface="楷体" panose="02010609060101010101" pitchFamily="49" charset="-122"/>
              </a:rPr>
              <a:t>进位信号</a:t>
            </a:r>
            <a:r>
              <a:rPr lang="zh-CN" altLang="en-US" dirty="0">
                <a:latin typeface="楷体" panose="02010609060101010101" pitchFamily="49" charset="-122"/>
                <a:ea typeface="楷体" panose="02010609060101010101" pitchFamily="49" charset="-122"/>
              </a:rPr>
              <a:t>产生的方法不同，可分为串行加法器和并行加法器两种</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串行加法器</a:t>
            </a:r>
            <a:endParaRPr lang="en-US" altLang="zh-CN" dirty="0" smtClean="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408994" y="1049320"/>
            <a:ext cx="8326012" cy="3343742"/>
          </a:xfrm>
          <a:prstGeom prst="rect">
            <a:avLst/>
          </a:prstGeom>
        </p:spPr>
      </p:pic>
    </p:spTree>
    <p:extLst>
      <p:ext uri="{BB962C8B-B14F-4D97-AF65-F5344CB8AC3E}">
        <p14:creationId xmlns:p14="http://schemas.microsoft.com/office/powerpoint/2010/main" val="110592013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988291"/>
          </a:xfrm>
        </p:spPr>
        <p:txBody>
          <a:bodyPr/>
          <a:lstStyle/>
          <a:p>
            <a:r>
              <a:rPr lang="en-US" altLang="zh-CN" dirty="0">
                <a:latin typeface="楷体" panose="02010609060101010101" pitchFamily="49" charset="-122"/>
                <a:ea typeface="楷体" panose="02010609060101010101" pitchFamily="49" charset="-122"/>
              </a:rPr>
              <a:t>2.6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数据比较器和加法器</a:t>
            </a:r>
            <a:endParaRPr lang="zh-CN" altLang="en-US"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stretch>
            <a:fillRect/>
          </a:stretch>
        </p:blipFill>
        <p:spPr>
          <a:xfrm>
            <a:off x="435978" y="988291"/>
            <a:ext cx="4189964" cy="4599709"/>
          </a:xfrm>
          <a:prstGeom prst="rect">
            <a:avLst/>
          </a:prstGeom>
        </p:spPr>
      </p:pic>
      <mc:AlternateContent xmlns:mc="http://schemas.openxmlformats.org/markup-compatibility/2006" xmlns:a14="http://schemas.microsoft.com/office/drawing/2010/main">
        <mc:Choice Requires="a14">
          <p:sp>
            <p:nvSpPr>
              <p:cNvPr id="8" name="矩形 7"/>
              <p:cNvSpPr/>
              <p:nvPr/>
            </p:nvSpPr>
            <p:spPr>
              <a:xfrm>
                <a:off x="4922981" y="1456100"/>
                <a:ext cx="4073237" cy="4131900"/>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串行加法器逻辑结构如图</a:t>
                </a:r>
                <a:r>
                  <a:rPr lang="en-US" altLang="zh-CN" sz="2400" dirty="0">
                    <a:latin typeface="楷体" panose="02010609060101010101" pitchFamily="49" charset="-122"/>
                    <a:ea typeface="楷体" panose="02010609060101010101" pitchFamily="49" charset="-122"/>
                  </a:rPr>
                  <a:t>2.31(a) </a:t>
                </a:r>
                <a:r>
                  <a:rPr lang="zh-CN" altLang="en-US" sz="2400" dirty="0">
                    <a:latin typeface="楷体" panose="02010609060101010101" pitchFamily="49" charset="-122"/>
                    <a:ea typeface="楷体" panose="02010609060101010101" pitchFamily="49" charset="-122"/>
                  </a:rPr>
                  <a:t>所示，它由多个全加器</a:t>
                </a:r>
                <a:r>
                  <a:rPr lang="en-US" altLang="zh-CN" sz="2400" dirty="0">
                    <a:latin typeface="楷体" panose="02010609060101010101" pitchFamily="49" charset="-122"/>
                    <a:ea typeface="楷体" panose="02010609060101010101" pitchFamily="49" charset="-122"/>
                  </a:rPr>
                  <a:t>(FA) </a:t>
                </a:r>
                <a:r>
                  <a:rPr lang="zh-CN" altLang="en-US" sz="2400" dirty="0">
                    <a:latin typeface="楷体" panose="02010609060101010101" pitchFamily="49" charset="-122"/>
                    <a:ea typeface="楷体" panose="02010609060101010101" pitchFamily="49" charset="-122"/>
                  </a:rPr>
                  <a:t>串行连接而成。每一</a:t>
                </a:r>
                <a:r>
                  <a:rPr lang="zh-CN" altLang="en-US" sz="2400" dirty="0" smtClean="0">
                    <a:latin typeface="楷体" panose="02010609060101010101" pitchFamily="49" charset="-122"/>
                    <a:ea typeface="楷体" panose="02010609060101010101" pitchFamily="49" charset="-122"/>
                  </a:rPr>
                  <a:t>个</a:t>
                </a:r>
                <a:r>
                  <a:rPr lang="en-US" altLang="zh-CN" sz="2400" dirty="0" smtClean="0">
                    <a:latin typeface="楷体" panose="02010609060101010101" pitchFamily="49" charset="-122"/>
                    <a:ea typeface="楷体" panose="02010609060101010101" pitchFamily="49" charset="-122"/>
                  </a:rPr>
                  <a:t>FA</a:t>
                </a:r>
                <a:r>
                  <a:rPr lang="zh-CN" altLang="en-US" sz="2400" dirty="0" smtClean="0">
                    <a:latin typeface="楷体" panose="02010609060101010101" pitchFamily="49" charset="-122"/>
                    <a:ea typeface="楷体" panose="02010609060101010101" pitchFamily="49" charset="-122"/>
                  </a:rPr>
                  <a:t>是</a:t>
                </a:r>
                <a:r>
                  <a:rPr lang="zh-CN" altLang="en-US" sz="2400" dirty="0">
                    <a:latin typeface="楷体" panose="02010609060101010101" pitchFamily="49" charset="-122"/>
                    <a:ea typeface="楷体" panose="02010609060101010101" pitchFamily="49" charset="-122"/>
                  </a:rPr>
                  <a:t>一位加法器，有三个输入</a:t>
                </a:r>
                <a:r>
                  <a:rPr lang="en-US" altLang="zh-CN"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加数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被加数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低位</a:t>
                </a:r>
                <a:r>
                  <a:rPr lang="zh-CN" altLang="en-US" sz="2400" dirty="0">
                    <a:latin typeface="楷体" panose="02010609060101010101" pitchFamily="49" charset="-122"/>
                    <a:ea typeface="楷体" panose="02010609060101010101" pitchFamily="49" charset="-122"/>
                  </a:rPr>
                  <a:t>的进位</a:t>
                </a:r>
                <a:r>
                  <a:rPr lang="zh-CN" altLang="en-US" sz="2400" dirty="0" smtClean="0">
                    <a:latin typeface="楷体" panose="02010609060101010101" pitchFamily="49" charset="-122"/>
                    <a:ea typeface="楷体" panose="02010609060101010101" pitchFamily="49" charset="-122"/>
                  </a:rPr>
                  <a:t>信号</a:t>
                </a:r>
                <a14:m>
                  <m:oMath xmlns:m="http://schemas.openxmlformats.org/officeDocument/2006/math">
                    <m:sSub>
                      <m:sSubPr>
                        <m:ctrlPr>
                          <a:rPr lang="en-US" altLang="zh-CN" sz="2400" i="1" dirty="0" smtClean="0">
                            <a:latin typeface="Cambria Math" panose="02040503050406030204" pitchFamily="18" charset="0"/>
                            <a:ea typeface="楷体" panose="02010609060101010101" pitchFamily="49" charset="-122"/>
                          </a:rPr>
                        </m:ctrlPr>
                      </m:sSubPr>
                      <m:e>
                        <m:r>
                          <a:rPr lang="en-US" altLang="zh-CN" sz="2400" i="1" dirty="0">
                            <a:latin typeface="Cambria Math" panose="02040503050406030204" pitchFamily="18" charset="0"/>
                            <a:ea typeface="楷体" panose="02010609060101010101" pitchFamily="49" charset="-122"/>
                          </a:rPr>
                          <m:t>𝐶</m:t>
                        </m:r>
                      </m:e>
                      <m:sub>
                        <m:r>
                          <a:rPr lang="en-US" altLang="zh-CN" sz="2400" b="0" i="1" dirty="0" smtClean="0">
                            <a:latin typeface="Cambria Math" panose="02040503050406030204" pitchFamily="18" charset="0"/>
                            <a:ea typeface="楷体" panose="02010609060101010101" pitchFamily="49" charset="-122"/>
                          </a:rPr>
                          <m:t>𝑖</m:t>
                        </m:r>
                        <m:r>
                          <a:rPr lang="en-US" altLang="zh-CN" sz="2400" b="0" i="1" dirty="0" smtClean="0">
                            <a:latin typeface="Cambria Math" panose="02040503050406030204" pitchFamily="18" charset="0"/>
                            <a:ea typeface="楷体" panose="02010609060101010101" pitchFamily="49" charset="-122"/>
                          </a:rPr>
                          <m:t>−1</m:t>
                        </m:r>
                      </m:sub>
                    </m:sSub>
                  </m:oMath>
                </a14:m>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两</a:t>
                </a:r>
                <a:r>
                  <a:rPr lang="zh-CN" altLang="en-US" sz="2400" dirty="0">
                    <a:latin typeface="楷体" panose="02010609060101010101" pitchFamily="49" charset="-122"/>
                    <a:ea typeface="楷体" panose="02010609060101010101" pitchFamily="49" charset="-122"/>
                  </a:rPr>
                  <a:t>个输出</a:t>
                </a:r>
                <a:r>
                  <a:rPr lang="en-US" altLang="zh-CN"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和数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𝑆</m:t>
                    </m:r>
                    <m:r>
                      <a:rPr lang="en-US" altLang="zh-CN" sz="2400" i="1" baseline="-25000" dirty="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向</a:t>
                </a:r>
                <a:r>
                  <a:rPr lang="zh-CN" altLang="en-US" sz="2400" dirty="0">
                    <a:latin typeface="楷体" panose="02010609060101010101" pitchFamily="49" charset="-122"/>
                    <a:ea typeface="楷体" panose="02010609060101010101" pitchFamily="49" charset="-122"/>
                  </a:rPr>
                  <a:t>高位的进位</a:t>
                </a:r>
                <a:r>
                  <a:rPr lang="zh-CN" altLang="en-US" sz="2400" dirty="0" smtClean="0">
                    <a:latin typeface="楷体" panose="02010609060101010101" pitchFamily="49" charset="-122"/>
                    <a:ea typeface="楷体" panose="02010609060101010101" pitchFamily="49" charset="-122"/>
                  </a:rPr>
                  <a:t>信号</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其</a:t>
                </a:r>
                <a:r>
                  <a:rPr lang="zh-CN" altLang="en-US" sz="2400" dirty="0">
                    <a:latin typeface="楷体" panose="02010609060101010101" pitchFamily="49" charset="-122"/>
                    <a:ea typeface="楷体" panose="02010609060101010101" pitchFamily="49" charset="-122"/>
                  </a:rPr>
                  <a:t>真值表如表</a:t>
                </a:r>
                <a:r>
                  <a:rPr lang="en-US" altLang="zh-CN" sz="2400" dirty="0">
                    <a:latin typeface="楷体" panose="02010609060101010101" pitchFamily="49" charset="-122"/>
                    <a:ea typeface="楷体" panose="02010609060101010101" pitchFamily="49" charset="-122"/>
                  </a:rPr>
                  <a:t>2.12</a:t>
                </a:r>
                <a:r>
                  <a:rPr lang="zh-CN" altLang="en-US" sz="2400" dirty="0">
                    <a:latin typeface="楷体" panose="02010609060101010101" pitchFamily="49" charset="-122"/>
                    <a:ea typeface="楷体" panose="02010609060101010101" pitchFamily="49" charset="-122"/>
                  </a:rPr>
                  <a:t>所示。</a:t>
                </a:r>
              </a:p>
            </p:txBody>
          </p:sp>
        </mc:Choice>
        <mc:Fallback xmlns="">
          <p:sp>
            <p:nvSpPr>
              <p:cNvPr id="8" name="矩形 7"/>
              <p:cNvSpPr>
                <a:spLocks noRot="1" noChangeAspect="1" noMove="1" noResize="1" noEditPoints="1" noAdjustHandles="1" noChangeArrowheads="1" noChangeShapeType="1" noTextEdit="1"/>
              </p:cNvSpPr>
              <p:nvPr/>
            </p:nvSpPr>
            <p:spPr>
              <a:xfrm>
                <a:off x="4922981" y="1456100"/>
                <a:ext cx="4073237" cy="4131900"/>
              </a:xfrm>
              <a:prstGeom prst="rect">
                <a:avLst/>
              </a:prstGeom>
              <a:blipFill>
                <a:blip r:embed="rId3"/>
                <a:stretch>
                  <a:fillRect l="-2395" t="-737" r="-299" b="-8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878981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00727"/>
          </a:xfrm>
        </p:spPr>
        <p:txBody>
          <a:bodyPr/>
          <a:lstStyle/>
          <a:p>
            <a:r>
              <a:rPr lang="en-US" altLang="zh-CN" dirty="0">
                <a:latin typeface="楷体" panose="02010609060101010101" pitchFamily="49" charset="-122"/>
                <a:ea typeface="楷体" panose="02010609060101010101" pitchFamily="49" charset="-122"/>
              </a:rPr>
              <a:t>2.6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数据比较器和加法器</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946741" y="4705637"/>
                <a:ext cx="6580896" cy="1267911"/>
              </a:xfrm>
              <a:prstGeom prst="rect">
                <a:avLst/>
              </a:prstGeom>
            </p:spPr>
            <p:txBody>
              <a:bodyPr wrap="square">
                <a:spAutoFit/>
              </a:bodyPr>
              <a:lstStyle/>
              <a:p>
                <a:r>
                  <a:rPr lang="zh-CN" altLang="en-US" sz="2400" dirty="0" smtClean="0">
                    <a:latin typeface="+mn-ea"/>
                  </a:rPr>
                  <a:t>思考题：假设</a:t>
                </a:r>
                <a:r>
                  <a:rPr lang="zh-CN" altLang="en-US" sz="2400" dirty="0">
                    <a:latin typeface="+mn-ea"/>
                  </a:rPr>
                  <a:t>与门、或门延迟</a:t>
                </a:r>
                <a:r>
                  <a:rPr lang="zh-CN" altLang="en-US" sz="2400" dirty="0" smtClean="0">
                    <a:latin typeface="+mn-ea"/>
                  </a:rPr>
                  <a:t>时间</a:t>
                </a:r>
                <a14:m>
                  <m:oMath xmlns:m="http://schemas.openxmlformats.org/officeDocument/2006/math">
                    <m:sSub>
                      <m:sSubPr>
                        <m:ctrlPr>
                          <a:rPr lang="en-US" altLang="zh-CN" sz="2400" i="1" smtClean="0">
                            <a:latin typeface="Cambria Math" panose="02040503050406030204" pitchFamily="18" charset="0"/>
                            <a:ea typeface="楷体" panose="02010609060101010101" pitchFamily="49" charset="-122"/>
                          </a:rPr>
                        </m:ctrlPr>
                      </m:sSubPr>
                      <m:e>
                        <m:acc>
                          <m:accPr>
                            <m:chr m:val="̅"/>
                            <m:ctrlPr>
                              <a:rPr lang="en-US" altLang="zh-CN" sz="2400" i="1" smtClean="0">
                                <a:latin typeface="Cambria Math" panose="02040503050406030204" pitchFamily="18" charset="0"/>
                              </a:rPr>
                            </m:ctrlPr>
                          </m:accPr>
                          <m:e>
                            <m:r>
                              <a:rPr lang="en-US" altLang="zh-CN" sz="2400" b="0" i="1" smtClean="0">
                                <a:latin typeface="Cambria Math" panose="02040503050406030204" pitchFamily="18" charset="0"/>
                              </a:rPr>
                              <m:t>𝑡</m:t>
                            </m:r>
                          </m:e>
                        </m:acc>
                      </m:e>
                      <m:sub>
                        <m:r>
                          <a:rPr lang="en-US" altLang="zh-CN" sz="2400" b="0" i="1" smtClean="0">
                            <a:latin typeface="Cambria Math" panose="02040503050406030204" pitchFamily="18" charset="0"/>
                          </a:rPr>
                          <m:t>𝑦</m:t>
                        </m:r>
                      </m:sub>
                    </m:sSub>
                    <m:r>
                      <a:rPr lang="en-US" altLang="zh-CN" sz="2400" i="1" dirty="0" smtClean="0">
                        <a:latin typeface="Cambria Math" panose="02040503050406030204" pitchFamily="18" charset="0"/>
                      </a:rPr>
                      <m:t>=10</m:t>
                    </m:r>
                    <m:r>
                      <a:rPr lang="en-US" altLang="zh-CN" sz="2400" i="1" dirty="0" smtClean="0">
                        <a:latin typeface="Cambria Math" panose="02040503050406030204" pitchFamily="18" charset="0"/>
                      </a:rPr>
                      <m:t>𝑛𝑠</m:t>
                    </m:r>
                  </m:oMath>
                </a14:m>
                <a:r>
                  <a:rPr lang="zh-CN" altLang="en-US" sz="2400" dirty="0" smtClean="0">
                    <a:latin typeface="+mn-ea"/>
                  </a:rPr>
                  <a:t>，异或门延迟</a:t>
                </a:r>
                <a:r>
                  <a:rPr lang="zh-CN" altLang="en-US" sz="2400" dirty="0">
                    <a:latin typeface="+mn-ea"/>
                  </a:rPr>
                  <a:t>时间</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𝑡</m:t>
                            </m:r>
                          </m:e>
                        </m:acc>
                      </m:e>
                      <m:sub>
                        <m:r>
                          <a:rPr lang="en-US" altLang="zh-CN" sz="2400" i="1">
                            <a:latin typeface="Cambria Math" panose="02040503050406030204" pitchFamily="18" charset="0"/>
                          </a:rPr>
                          <m:t>𝑦</m:t>
                        </m:r>
                      </m:sub>
                    </m:sSub>
                  </m:oMath>
                </a14:m>
                <a:r>
                  <a:rPr lang="en-US" altLang="zh-CN" sz="2400" dirty="0">
                    <a:latin typeface="+mn-ea"/>
                  </a:rPr>
                  <a:t>=30ns,  </a:t>
                </a:r>
                <a:r>
                  <a:rPr lang="zh-CN" altLang="en-US" sz="2400" dirty="0">
                    <a:latin typeface="+mn-ea"/>
                  </a:rPr>
                  <a:t>串行加法器位数</a:t>
                </a:r>
                <a:r>
                  <a:rPr lang="en-US" altLang="zh-CN" sz="2400" dirty="0">
                    <a:latin typeface="+mn-ea"/>
                  </a:rPr>
                  <a:t>32</a:t>
                </a:r>
                <a:r>
                  <a:rPr lang="zh-CN" altLang="en-US" sz="2400" dirty="0">
                    <a:latin typeface="+mn-ea"/>
                  </a:rPr>
                  <a:t>位，完成一次</a:t>
                </a:r>
                <a:r>
                  <a:rPr lang="zh-CN" altLang="en-US" sz="2400" dirty="0" smtClean="0">
                    <a:latin typeface="+mn-ea"/>
                  </a:rPr>
                  <a:t>加法运算</a:t>
                </a:r>
                <a:r>
                  <a:rPr lang="zh-CN" altLang="en-US" sz="2400" dirty="0">
                    <a:latin typeface="+mn-ea"/>
                  </a:rPr>
                  <a:t>的时间是多少</a:t>
                </a:r>
                <a:r>
                  <a:rPr lang="en-US" altLang="zh-CN" sz="2400" dirty="0">
                    <a:latin typeface="+mn-ea"/>
                  </a:rPr>
                  <a:t>?</a:t>
                </a:r>
                <a:endParaRPr lang="zh-CN" altLang="en-US" sz="2400" dirty="0">
                  <a:latin typeface="+mn-ea"/>
                </a:endParaRPr>
              </a:p>
            </p:txBody>
          </p:sp>
        </mc:Choice>
        <mc:Fallback xmlns="">
          <p:sp>
            <p:nvSpPr>
              <p:cNvPr id="4" name="矩形 3"/>
              <p:cNvSpPr>
                <a:spLocks noRot="1" noChangeAspect="1" noMove="1" noResize="1" noEditPoints="1" noAdjustHandles="1" noChangeArrowheads="1" noChangeShapeType="1" noTextEdit="1"/>
              </p:cNvSpPr>
              <p:nvPr/>
            </p:nvSpPr>
            <p:spPr>
              <a:xfrm>
                <a:off x="946741" y="4705637"/>
                <a:ext cx="6580896" cy="1267911"/>
              </a:xfrm>
              <a:prstGeom prst="rect">
                <a:avLst/>
              </a:prstGeom>
              <a:blipFill>
                <a:blip r:embed="rId2"/>
                <a:stretch>
                  <a:fillRect l="-1389" t="-2885" r="-6019" b="-9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914408" y="1200727"/>
                <a:ext cx="6918027" cy="3234219"/>
              </a:xfrm>
              <a:prstGeom prst="rect">
                <a:avLst/>
              </a:prstGeom>
            </p:spPr>
            <p:txBody>
              <a:bodyPr wrap="square">
                <a:spAutoFit/>
              </a:bodyPr>
              <a:lstStyle/>
              <a:p>
                <a:pPr>
                  <a:lnSpc>
                    <a:spcPts val="3500"/>
                  </a:lnSpc>
                </a:pPr>
                <a:r>
                  <a:rPr lang="zh-CN" altLang="en-US" sz="2400" dirty="0" smtClean="0">
                    <a:latin typeface="楷体" panose="02010609060101010101" pitchFamily="49" charset="-122"/>
                    <a:ea typeface="楷体" panose="02010609060101010101" pitchFamily="49" charset="-122"/>
                  </a:rPr>
                  <a:t>从真值表可得到一位全加器</a:t>
                </a:r>
                <a:r>
                  <a:rPr lang="en-US" altLang="zh-CN" sz="2400" dirty="0" smtClean="0">
                    <a:latin typeface="楷体" panose="02010609060101010101" pitchFamily="49" charset="-122"/>
                    <a:ea typeface="楷体" panose="02010609060101010101" pitchFamily="49" charset="-122"/>
                  </a:rPr>
                  <a:t>FA</a:t>
                </a:r>
                <a:r>
                  <a:rPr lang="zh-CN" altLang="en-US" sz="2400" dirty="0" smtClean="0">
                    <a:latin typeface="楷体" panose="02010609060101010101" pitchFamily="49" charset="-122"/>
                    <a:ea typeface="楷体" panose="02010609060101010101" pitchFamily="49" charset="-122"/>
                  </a:rPr>
                  <a:t>的</a:t>
                </a:r>
                <a:r>
                  <a:rPr lang="zh-CN" altLang="zh-CN" sz="2400" dirty="0" smtClean="0">
                    <a:latin typeface="楷体" panose="02010609060101010101" pitchFamily="49" charset="-122"/>
                    <a:ea typeface="楷体" panose="02010609060101010101" pitchFamily="49" charset="-122"/>
                  </a:rPr>
                  <a:t>逻辑表达式</a:t>
                </a:r>
                <a:r>
                  <a:rPr lang="zh-CN" altLang="en-US" sz="2400" dirty="0" smtClean="0">
                    <a:latin typeface="楷体" panose="02010609060101010101" pitchFamily="49" charset="-122"/>
                    <a:ea typeface="楷体" panose="02010609060101010101" pitchFamily="49" charset="-122"/>
                  </a:rPr>
                  <a:t>：</a:t>
                </a:r>
                <a:endParaRPr lang="en-US" altLang="zh-CN" sz="2400" i="1" dirty="0" smtClean="0">
                  <a:latin typeface="楷体" panose="02010609060101010101" pitchFamily="49" charset="-122"/>
                  <a:ea typeface="楷体" panose="02010609060101010101" pitchFamily="49" charset="-122"/>
                </a:endParaRPr>
              </a:p>
              <a:p>
                <a:pPr marL="534988">
                  <a:lnSpc>
                    <a:spcPts val="3500"/>
                  </a:lnSpc>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𝑆</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i="1" baseline="-25000" dirty="0" smtClean="0">
                    <a:latin typeface="楷体" panose="02010609060101010101" pitchFamily="49" charset="-122"/>
                    <a:ea typeface="楷体" panose="02010609060101010101" pitchFamily="49" charset="-122"/>
                  </a:rPr>
                  <a:t> </a:t>
                </a:r>
                <a14:m>
                  <m:oMath xmlns:m="http://schemas.openxmlformats.org/officeDocument/2006/math">
                    <m:r>
                      <a:rPr lang="en-US" altLang="zh-CN" sz="2400" smtClean="0">
                        <a:latin typeface="Cambria Math" panose="02040503050406030204" pitchFamily="18" charset="0"/>
                      </a:rPr>
                      <m:t>⊕</m:t>
                    </m:r>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smtClean="0">
                        <a:latin typeface="Cambria Math" panose="02040503050406030204" pitchFamily="18" charset="0"/>
                        <a:ea typeface="楷体" panose="02010609060101010101" pitchFamily="49" charset="-122"/>
                      </a:rPr>
                      <m:t>𝑖</m:t>
                    </m:r>
                    <m:r>
                      <a:rPr lang="en-US" altLang="zh-CN" sz="2400">
                        <a:latin typeface="Cambria Math" panose="02040503050406030204" pitchFamily="18" charset="0"/>
                      </a:rPr>
                      <m:t>⊕</m:t>
                    </m:r>
                  </m:oMath>
                </a14:m>
                <a:r>
                  <a:rPr lang="en-US" altLang="zh-CN" sz="2400" dirty="0">
                    <a:ea typeface="楷体" panose="02010609060101010101" pitchFamily="49" charset="-122"/>
                  </a:rPr>
                  <a:t> </a:t>
                </a:r>
                <a14:m>
                  <m:oMath xmlns:m="http://schemas.openxmlformats.org/officeDocument/2006/math">
                    <m:sSub>
                      <m:sSubPr>
                        <m:ctrlPr>
                          <a:rPr lang="en-US" altLang="zh-CN" sz="2400" i="1" dirty="0" smtClean="0">
                            <a:latin typeface="Cambria Math" panose="02040503050406030204" pitchFamily="18" charset="0"/>
                            <a:ea typeface="楷体" panose="02010609060101010101" pitchFamily="49" charset="-122"/>
                          </a:rPr>
                        </m:ctrlPr>
                      </m:sSubPr>
                      <m:e>
                        <m:r>
                          <a:rPr lang="en-US" altLang="zh-CN" sz="2400" b="0" i="1" dirty="0" smtClean="0">
                            <a:latin typeface="Cambria Math" panose="02040503050406030204" pitchFamily="18" charset="0"/>
                            <a:ea typeface="楷体" panose="02010609060101010101" pitchFamily="49" charset="-122"/>
                          </a:rPr>
                          <m:t>𝐶</m:t>
                        </m:r>
                      </m:e>
                      <m:sub>
                        <m:r>
                          <a:rPr lang="en-US" altLang="zh-CN" sz="2400" b="0" i="1" dirty="0" smtClean="0">
                            <a:latin typeface="Cambria Math" panose="02040503050406030204" pitchFamily="18" charset="0"/>
                            <a:ea typeface="楷体" panose="02010609060101010101" pitchFamily="49" charset="-122"/>
                          </a:rPr>
                          <m:t>𝑖</m:t>
                        </m:r>
                        <m:r>
                          <a:rPr lang="en-US" altLang="zh-CN" sz="2400" b="0" i="1" dirty="0" smtClean="0">
                            <a:latin typeface="Cambria Math" panose="02040503050406030204" pitchFamily="18" charset="0"/>
                            <a:ea typeface="楷体" panose="02010609060101010101" pitchFamily="49" charset="-122"/>
                          </a:rPr>
                          <m:t>−1</m:t>
                        </m:r>
                      </m:sub>
                    </m:sSub>
                  </m:oMath>
                </a14:m>
                <a:endParaRPr lang="en-US" altLang="zh-CN" sz="2400" dirty="0" smtClean="0">
                  <a:ea typeface="楷体" panose="02010609060101010101" pitchFamily="49" charset="-122"/>
                </a:endParaRPr>
              </a:p>
              <a:p>
                <a:pPr marL="534988">
                  <a:lnSpc>
                    <a:spcPts val="3500"/>
                  </a:lnSpc>
                </a:pP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m:t>
                    </m:r>
                    <m:r>
                      <a:rPr lang="en-US" altLang="zh-CN" sz="2400" i="1" baseline="-25000" dirty="0" err="1" smtClean="0">
                        <a:latin typeface="Cambria Math" panose="02040503050406030204" pitchFamily="18" charset="0"/>
                        <a:ea typeface="楷体" panose="02010609060101010101" pitchFamily="49" charset="-122"/>
                      </a:rPr>
                      <m:t>𝑖</m:t>
                    </m:r>
                    <m:r>
                      <a:rPr lang="en-US" altLang="zh-CN" sz="2400" i="1" dirty="0" err="1" smtClean="0">
                        <a:latin typeface="Cambria Math" panose="02040503050406030204" pitchFamily="18" charset="0"/>
                        <a:ea typeface="楷体" panose="02010609060101010101" pitchFamily="49" charset="-122"/>
                      </a:rPr>
                      <m:t>𝐵</m:t>
                    </m:r>
                    <m:r>
                      <a:rPr lang="en-US" altLang="zh-CN" sz="2400" i="1" baseline="-25000" dirty="0" err="1" smtClean="0">
                        <a:latin typeface="Cambria Math" panose="02040503050406030204" pitchFamily="18" charset="0"/>
                        <a:ea typeface="楷体" panose="02010609060101010101" pitchFamily="49" charset="-122"/>
                      </a:rPr>
                      <m:t>𝑖</m:t>
                    </m:r>
                    <m:r>
                      <a:rPr lang="en-US" altLang="zh-CN" sz="2400" b="0" i="0" smtClean="0">
                        <a:latin typeface="Cambria Math" panose="02040503050406030204" pitchFamily="18" charset="0"/>
                      </a:rPr>
                      <m:t>+</m:t>
                    </m:r>
                    <m:r>
                      <a:rPr lang="en-US" altLang="zh-CN" sz="2400" i="1" dirty="0" smtClean="0">
                        <a:latin typeface="Cambria Math" panose="02040503050406030204" pitchFamily="18" charset="0"/>
                        <a:ea typeface="楷体" panose="02010609060101010101" pitchFamily="49" charset="-122"/>
                      </a:rPr>
                      <m:t>𝐴</m:t>
                    </m:r>
                    <m:r>
                      <a:rPr lang="en-US" altLang="zh-CN" sz="2400" i="1" baseline="-25000" dirty="0" smtClean="0">
                        <a:latin typeface="Cambria Math" panose="02040503050406030204" pitchFamily="18" charset="0"/>
                        <a:ea typeface="楷体" panose="02010609060101010101" pitchFamily="49" charset="-122"/>
                      </a:rPr>
                      <m:t>𝑖</m:t>
                    </m:r>
                    <m:sSub>
                      <m:sSubPr>
                        <m:ctrlPr>
                          <a:rPr lang="en-US" altLang="zh-CN" sz="2400" i="1" dirty="0">
                            <a:latin typeface="Cambria Math" panose="02040503050406030204" pitchFamily="18" charset="0"/>
                            <a:ea typeface="楷体" panose="02010609060101010101" pitchFamily="49" charset="-122"/>
                          </a:rPr>
                        </m:ctrlPr>
                      </m:sSubPr>
                      <m:e>
                        <m:r>
                          <a:rPr lang="en-US" altLang="zh-CN" sz="2400" i="1" dirty="0">
                            <a:latin typeface="Cambria Math" panose="02040503050406030204" pitchFamily="18" charset="0"/>
                            <a:ea typeface="楷体" panose="02010609060101010101" pitchFamily="49" charset="-122"/>
                          </a:rPr>
                          <m:t>𝐶</m:t>
                        </m:r>
                      </m:e>
                      <m:sub>
                        <m:r>
                          <a:rPr lang="en-US" altLang="zh-CN" sz="2400" i="1" dirty="0">
                            <a:latin typeface="Cambria Math" panose="02040503050406030204" pitchFamily="18" charset="0"/>
                            <a:ea typeface="楷体" panose="02010609060101010101" pitchFamily="49" charset="-122"/>
                          </a:rPr>
                          <m:t>𝑖</m:t>
                        </m:r>
                        <m:r>
                          <a:rPr lang="en-US" altLang="zh-CN" sz="2400" i="1" dirty="0">
                            <a:latin typeface="Cambria Math" panose="02040503050406030204" pitchFamily="18" charset="0"/>
                            <a:ea typeface="楷体" panose="02010609060101010101" pitchFamily="49" charset="-122"/>
                          </a:rPr>
                          <m:t>−1</m:t>
                        </m:r>
                      </m:sub>
                    </m:sSub>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smtClean="0">
                        <a:latin typeface="Cambria Math" panose="02040503050406030204" pitchFamily="18" charset="0"/>
                        <a:ea typeface="楷体" panose="02010609060101010101" pitchFamily="49" charset="-122"/>
                      </a:rPr>
                      <m:t>𝑖</m:t>
                    </m:r>
                    <m:sSub>
                      <m:sSubPr>
                        <m:ctrlPr>
                          <a:rPr lang="en-US" altLang="zh-CN" sz="2400" i="1" dirty="0">
                            <a:latin typeface="Cambria Math" panose="02040503050406030204" pitchFamily="18" charset="0"/>
                            <a:ea typeface="楷体" panose="02010609060101010101" pitchFamily="49" charset="-122"/>
                          </a:rPr>
                        </m:ctrlPr>
                      </m:sSubPr>
                      <m:e>
                        <m:r>
                          <a:rPr lang="en-US" altLang="zh-CN" sz="2400" i="1" dirty="0">
                            <a:latin typeface="Cambria Math" panose="02040503050406030204" pitchFamily="18" charset="0"/>
                            <a:ea typeface="楷体" panose="02010609060101010101" pitchFamily="49" charset="-122"/>
                          </a:rPr>
                          <m:t>𝐶</m:t>
                        </m:r>
                      </m:e>
                      <m:sub>
                        <m:r>
                          <a:rPr lang="en-US" altLang="zh-CN" sz="2400" i="1" dirty="0">
                            <a:latin typeface="Cambria Math" panose="02040503050406030204" pitchFamily="18" charset="0"/>
                            <a:ea typeface="楷体" panose="02010609060101010101" pitchFamily="49" charset="-122"/>
                          </a:rPr>
                          <m:t>𝑖</m:t>
                        </m:r>
                        <m:r>
                          <a:rPr lang="en-US" altLang="zh-CN" sz="2400" i="1" dirty="0">
                            <a:latin typeface="Cambria Math" panose="02040503050406030204" pitchFamily="18" charset="0"/>
                            <a:ea typeface="楷体" panose="02010609060101010101" pitchFamily="49" charset="-122"/>
                          </a:rPr>
                          <m:t>−1</m:t>
                        </m:r>
                      </m:sub>
                    </m:sSub>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m:t>
                    </m:r>
                    <m:r>
                      <a:rPr lang="en-US" altLang="zh-CN" sz="2400" i="1" baseline="-25000" dirty="0" smtClean="0">
                        <a:latin typeface="Cambria Math" panose="02040503050406030204" pitchFamily="18" charset="0"/>
                        <a:ea typeface="楷体" panose="02010609060101010101" pitchFamily="49" charset="-122"/>
                      </a:rPr>
                      <m:t>𝑖</m:t>
                    </m:r>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smtClean="0">
                        <a:latin typeface="Cambria Math" panose="02040503050406030204" pitchFamily="18" charset="0"/>
                        <a:ea typeface="楷体" panose="02010609060101010101" pitchFamily="49" charset="-122"/>
                      </a:rPr>
                      <m:t>𝑖</m:t>
                    </m:r>
                    <m:r>
                      <a:rPr lang="en-US" altLang="zh-CN" sz="2400">
                        <a:latin typeface="Cambria Math" panose="02040503050406030204" pitchFamily="18" charset="0"/>
                      </a:rPr>
                      <m:t>+</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𝐴</m:t>
                    </m:r>
                    <m:r>
                      <a:rPr lang="en-US" altLang="zh-CN" sz="2400" i="1" baseline="-25000" dirty="0">
                        <a:latin typeface="Cambria Math" panose="02040503050406030204" pitchFamily="18" charset="0"/>
                        <a:ea typeface="楷体" panose="02010609060101010101" pitchFamily="49" charset="-122"/>
                      </a:rPr>
                      <m:t>𝑖</m:t>
                    </m:r>
                    <m:r>
                      <a:rPr lang="en-US" altLang="zh-CN" sz="2400" i="1" baseline="-25000" dirty="0">
                        <a:latin typeface="Cambria Math" panose="02040503050406030204" pitchFamily="18" charset="0"/>
                        <a:ea typeface="楷体" panose="02010609060101010101" pitchFamily="49" charset="-122"/>
                      </a:rPr>
                      <m:t> </m:t>
                    </m:r>
                    <m:r>
                      <a:rPr lang="en-US" altLang="zh-CN" sz="2400">
                        <a:latin typeface="Cambria Math" panose="02040503050406030204" pitchFamily="18" charset="0"/>
                      </a:rPr>
                      <m:t>⊕</m:t>
                    </m:r>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smtClean="0">
                        <a:latin typeface="Cambria Math" panose="02040503050406030204" pitchFamily="18" charset="0"/>
                        <a:ea typeface="楷体" panose="02010609060101010101" pitchFamily="49" charset="-122"/>
                      </a:rPr>
                      <m:t>𝑖</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i="1" dirty="0">
                            <a:latin typeface="Cambria Math" panose="02040503050406030204" pitchFamily="18" charset="0"/>
                            <a:ea typeface="楷体" panose="02010609060101010101" pitchFamily="49" charset="-122"/>
                          </a:rPr>
                        </m:ctrlPr>
                      </m:sSubPr>
                      <m:e>
                        <m:r>
                          <a:rPr lang="en-US" altLang="zh-CN" sz="2400" i="1" dirty="0">
                            <a:latin typeface="Cambria Math" panose="02040503050406030204" pitchFamily="18" charset="0"/>
                            <a:ea typeface="楷体" panose="02010609060101010101" pitchFamily="49" charset="-122"/>
                          </a:rPr>
                          <m:t>𝐶</m:t>
                        </m:r>
                      </m:e>
                      <m:sub>
                        <m:r>
                          <a:rPr lang="en-US" altLang="zh-CN" sz="2400" i="1" dirty="0">
                            <a:latin typeface="Cambria Math" panose="02040503050406030204" pitchFamily="18" charset="0"/>
                            <a:ea typeface="楷体" panose="02010609060101010101" pitchFamily="49" charset="-122"/>
                          </a:rPr>
                          <m:t>𝑖</m:t>
                        </m:r>
                        <m:r>
                          <a:rPr lang="en-US" altLang="zh-CN" sz="2400" i="1" dirty="0">
                            <a:latin typeface="Cambria Math" panose="02040503050406030204" pitchFamily="18" charset="0"/>
                            <a:ea typeface="楷体" panose="02010609060101010101" pitchFamily="49" charset="-122"/>
                          </a:rPr>
                          <m:t>−1</m:t>
                        </m:r>
                      </m:sub>
                    </m:sSub>
                  </m:oMath>
                </a14:m>
                <a:endParaRPr lang="en-US" altLang="zh-CN" sz="2400" dirty="0">
                  <a:latin typeface="楷体" panose="02010609060101010101" pitchFamily="49" charset="-122"/>
                  <a:ea typeface="楷体" panose="02010609060101010101" pitchFamily="49" charset="-122"/>
                </a:endParaRPr>
              </a:p>
              <a:p>
                <a:pPr>
                  <a:lnSpc>
                    <a:spcPts val="3500"/>
                  </a:lnSpc>
                </a:pPr>
                <a:endParaRPr lang="en-US" altLang="zh-CN" sz="2400" dirty="0" smtClean="0">
                  <a:latin typeface="楷体" panose="02010609060101010101" pitchFamily="49" charset="-122"/>
                  <a:ea typeface="楷体" panose="02010609060101010101" pitchFamily="49" charset="-122"/>
                </a:endParaRPr>
              </a:p>
              <a:p>
                <a:pPr>
                  <a:lnSpc>
                    <a:spcPts val="3500"/>
                  </a:lnSpc>
                </a:pPr>
                <a:r>
                  <a:rPr lang="zh-CN" altLang="en-US" sz="2400" dirty="0" smtClean="0">
                    <a:latin typeface="楷体" panose="02010609060101010101" pitchFamily="49" charset="-122"/>
                    <a:ea typeface="楷体" panose="02010609060101010101" pitchFamily="49" charset="-122"/>
                  </a:rPr>
                  <a:t>采用异或门、二输入与门、二输入或门三种器件，可画出</a:t>
                </a:r>
                <a:r>
                  <a:rPr lang="zh-CN" altLang="en-US" sz="2400" b="1" dirty="0" smtClean="0">
                    <a:latin typeface="楷体" panose="02010609060101010101" pitchFamily="49" charset="-122"/>
                    <a:ea typeface="楷体" panose="02010609060101010101" pitchFamily="49" charset="-122"/>
                  </a:rPr>
                  <a:t>一</a:t>
                </a:r>
                <a:r>
                  <a:rPr lang="zh-CN" altLang="en-US" sz="2400" b="1" dirty="0">
                    <a:latin typeface="楷体" panose="02010609060101010101" pitchFamily="49" charset="-122"/>
                    <a:ea typeface="楷体" panose="02010609060101010101" pitchFamily="49" charset="-122"/>
                  </a:rPr>
                  <a:t>位</a:t>
                </a:r>
                <a:r>
                  <a:rPr lang="zh-CN" altLang="en-US" sz="2400" b="1" dirty="0" smtClean="0">
                    <a:latin typeface="楷体" panose="02010609060101010101" pitchFamily="49" charset="-122"/>
                    <a:ea typeface="楷体" panose="02010609060101010101" pitchFamily="49" charset="-122"/>
                  </a:rPr>
                  <a:t>全加器</a:t>
                </a:r>
                <a:r>
                  <a:rPr lang="en-US" altLang="zh-CN" sz="2400" dirty="0" smtClean="0">
                    <a:latin typeface="楷体" panose="02010609060101010101" pitchFamily="49" charset="-122"/>
                    <a:ea typeface="楷体" panose="02010609060101010101" pitchFamily="49" charset="-122"/>
                  </a:rPr>
                  <a:t>FA</a:t>
                </a:r>
                <a:r>
                  <a:rPr lang="zh-CN" altLang="en-US" sz="2400" dirty="0" smtClean="0">
                    <a:latin typeface="楷体" panose="02010609060101010101" pitchFamily="49" charset="-122"/>
                    <a:ea typeface="楷体" panose="02010609060101010101" pitchFamily="49" charset="-122"/>
                  </a:rPr>
                  <a:t>的</a:t>
                </a:r>
                <a:r>
                  <a:rPr lang="zh-CN" altLang="en-US" sz="2400" dirty="0">
                    <a:latin typeface="楷体" panose="02010609060101010101" pitchFamily="49" charset="-122"/>
                    <a:ea typeface="楷体" panose="02010609060101010101" pitchFamily="49" charset="-122"/>
                  </a:rPr>
                  <a:t>逻辑电路图，如图</a:t>
                </a:r>
                <a:r>
                  <a:rPr lang="en-US" altLang="zh-CN" sz="2400" dirty="0">
                    <a:latin typeface="楷体" panose="02010609060101010101" pitchFamily="49" charset="-122"/>
                    <a:ea typeface="楷体" panose="02010609060101010101" pitchFamily="49" charset="-122"/>
                  </a:rPr>
                  <a:t>2.31(b) </a:t>
                </a:r>
                <a:r>
                  <a:rPr lang="zh-CN" altLang="en-US" sz="2400" dirty="0">
                    <a:latin typeface="楷体" panose="02010609060101010101" pitchFamily="49" charset="-122"/>
                    <a:ea typeface="楷体" panose="02010609060101010101" pitchFamily="49" charset="-122"/>
                  </a:rPr>
                  <a:t>所示。</a:t>
                </a:r>
              </a:p>
            </p:txBody>
          </p:sp>
        </mc:Choice>
        <mc:Fallback xmlns="">
          <p:sp>
            <p:nvSpPr>
              <p:cNvPr id="8" name="矩形 7"/>
              <p:cNvSpPr>
                <a:spLocks noRot="1" noChangeAspect="1" noMove="1" noResize="1" noEditPoints="1" noAdjustHandles="1" noChangeArrowheads="1" noChangeShapeType="1" noTextEdit="1"/>
              </p:cNvSpPr>
              <p:nvPr/>
            </p:nvSpPr>
            <p:spPr>
              <a:xfrm>
                <a:off x="914408" y="1200727"/>
                <a:ext cx="6918027" cy="3234219"/>
              </a:xfrm>
              <a:prstGeom prst="rect">
                <a:avLst/>
              </a:prstGeom>
              <a:blipFill>
                <a:blip r:embed="rId3"/>
                <a:stretch>
                  <a:fillRect l="-1322" t="-942" r="-1057" b="-13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100709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00727"/>
          </a:xfrm>
        </p:spPr>
        <p:txBody>
          <a:bodyPr/>
          <a:lstStyle/>
          <a:p>
            <a:r>
              <a:rPr lang="en-US" altLang="zh-CN" dirty="0">
                <a:latin typeface="楷体" panose="02010609060101010101" pitchFamily="49" charset="-122"/>
                <a:ea typeface="楷体" panose="02010609060101010101" pitchFamily="49" charset="-122"/>
              </a:rPr>
              <a:t>2.6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数据比较器和加法器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77455" y="1071418"/>
            <a:ext cx="7324436" cy="5105546"/>
          </a:xfrm>
        </p:spPr>
        <p:txBody>
          <a:bodyPr/>
          <a:lstStyle/>
          <a:p>
            <a:pPr>
              <a:lnSpc>
                <a:spcPts val="3500"/>
              </a:lnSpc>
            </a:pPr>
            <a:r>
              <a:rPr lang="zh-CN" altLang="zh-CN" dirty="0" smtClean="0">
                <a:latin typeface="楷体" panose="02010609060101010101" pitchFamily="49" charset="-122"/>
                <a:ea typeface="楷体" panose="02010609060101010101" pitchFamily="49" charset="-122"/>
              </a:rPr>
              <a:t>加法器</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zh-CN" sz="2800" dirty="0" smtClean="0">
                <a:latin typeface="楷体" panose="02010609060101010101" pitchFamily="49" charset="-122"/>
                <a:ea typeface="楷体" panose="02010609060101010101" pitchFamily="49" charset="-122"/>
              </a:rPr>
              <a:t>并行加法器</a:t>
            </a:r>
            <a:endParaRPr lang="en-US" altLang="zh-CN" sz="2800" dirty="0" smtClean="0">
              <a:latin typeface="楷体" panose="02010609060101010101" pitchFamily="49" charset="-122"/>
              <a:ea typeface="楷体" panose="02010609060101010101" pitchFamily="49" charset="-122"/>
            </a:endParaRPr>
          </a:p>
          <a:p>
            <a:pPr lvl="2">
              <a:lnSpc>
                <a:spcPts val="3500"/>
              </a:lnSpc>
            </a:pPr>
            <a:r>
              <a:rPr lang="zh-CN" altLang="en-US" sz="2800" dirty="0" smtClean="0">
                <a:latin typeface="楷体" panose="02010609060101010101" pitchFamily="49" charset="-122"/>
                <a:ea typeface="楷体" panose="02010609060101010101" pitchFamily="49" charset="-122"/>
              </a:rPr>
              <a:t>串行加法器须</a:t>
            </a:r>
            <a:r>
              <a:rPr lang="zh-CN" altLang="en-US" sz="2800" dirty="0">
                <a:latin typeface="楷体" panose="02010609060101010101" pitchFamily="49" charset="-122"/>
                <a:ea typeface="楷体" panose="02010609060101010101" pitchFamily="49" charset="-122"/>
              </a:rPr>
              <a:t>将低位全加器产生的进位信号逐位</a:t>
            </a:r>
            <a:r>
              <a:rPr lang="zh-CN" altLang="en-US" sz="2800" dirty="0" smtClean="0">
                <a:latin typeface="楷体" panose="02010609060101010101" pitchFamily="49" charset="-122"/>
                <a:ea typeface="楷体" panose="02010609060101010101" pitchFamily="49" charset="-122"/>
              </a:rPr>
              <a:t>向高</a:t>
            </a:r>
            <a:r>
              <a:rPr lang="zh-CN" altLang="en-US" sz="2800" dirty="0">
                <a:latin typeface="楷体" panose="02010609060101010101" pitchFamily="49" charset="-122"/>
                <a:ea typeface="楷体" panose="02010609060101010101" pitchFamily="49" charset="-122"/>
              </a:rPr>
              <a:t>一位全加器上传递。因此，加法器求和的最高位输出</a:t>
            </a:r>
            <a:r>
              <a:rPr lang="zh-CN" altLang="en-US" sz="2800" dirty="0" smtClean="0">
                <a:latin typeface="楷体" panose="02010609060101010101" pitchFamily="49" charset="-122"/>
                <a:ea typeface="楷体" panose="02010609060101010101" pitchFamily="49" charset="-122"/>
              </a:rPr>
              <a:t>必须</a:t>
            </a:r>
            <a:r>
              <a:rPr lang="zh-CN" altLang="en-US" sz="2800" dirty="0">
                <a:latin typeface="楷体" panose="02010609060101010101" pitchFamily="49" charset="-122"/>
                <a:ea typeface="楷体" panose="02010609060101010101" pitchFamily="49" charset="-122"/>
              </a:rPr>
              <a:t>等到各位进位信号逐位传递后才能形成，工作速度</a:t>
            </a:r>
            <a:r>
              <a:rPr lang="zh-CN" altLang="en-US" sz="2800" dirty="0" smtClean="0">
                <a:latin typeface="楷体" panose="02010609060101010101" pitchFamily="49" charset="-122"/>
                <a:ea typeface="楷体" panose="02010609060101010101" pitchFamily="49" charset="-122"/>
              </a:rPr>
              <a:t>很慢。</a:t>
            </a:r>
            <a:endParaRPr lang="en-US" altLang="zh-CN" sz="2800" dirty="0" smtClean="0">
              <a:latin typeface="楷体" panose="02010609060101010101" pitchFamily="49" charset="-122"/>
              <a:ea typeface="楷体" panose="02010609060101010101" pitchFamily="49" charset="-122"/>
            </a:endParaRPr>
          </a:p>
          <a:p>
            <a:pPr lvl="2">
              <a:lnSpc>
                <a:spcPts val="3500"/>
              </a:lnSpc>
            </a:pPr>
            <a:r>
              <a:rPr lang="zh-CN" altLang="en-US" sz="2800" dirty="0" smtClean="0">
                <a:latin typeface="楷体" panose="02010609060101010101" pitchFamily="49" charset="-122"/>
                <a:ea typeface="楷体" panose="02010609060101010101" pitchFamily="49" charset="-122"/>
              </a:rPr>
              <a:t>为了</a:t>
            </a:r>
            <a:r>
              <a:rPr lang="zh-CN" altLang="en-US" sz="2800" dirty="0">
                <a:latin typeface="楷体" panose="02010609060101010101" pitchFamily="49" charset="-122"/>
                <a:ea typeface="楷体" panose="02010609060101010101" pitchFamily="49" charset="-122"/>
              </a:rPr>
              <a:t>提高工作速度，可采用</a:t>
            </a:r>
            <a:r>
              <a:rPr lang="en-US" altLang="zh-CN" sz="2800" dirty="0">
                <a:latin typeface="楷体" panose="02010609060101010101" pitchFamily="49" charset="-122"/>
                <a:ea typeface="楷体" panose="02010609060101010101" pitchFamily="49" charset="-122"/>
              </a:rPr>
              <a:t>4</a:t>
            </a:r>
            <a:r>
              <a:rPr lang="zh-CN" altLang="en-US" sz="2800" dirty="0">
                <a:latin typeface="楷体" panose="02010609060101010101" pitchFamily="49" charset="-122"/>
                <a:ea typeface="楷体" panose="02010609060101010101" pitchFamily="49" charset="-122"/>
              </a:rPr>
              <a:t>位</a:t>
            </a:r>
            <a:r>
              <a:rPr lang="zh-CN" altLang="en-US" sz="2800" b="1" dirty="0">
                <a:latin typeface="楷体" panose="02010609060101010101" pitchFamily="49" charset="-122"/>
                <a:ea typeface="楷体" panose="02010609060101010101" pitchFamily="49" charset="-122"/>
              </a:rPr>
              <a:t>超前进位</a:t>
            </a:r>
            <a:r>
              <a:rPr lang="zh-CN" altLang="en-US" sz="2800" b="1" dirty="0" smtClean="0">
                <a:latin typeface="楷体" panose="02010609060101010101" pitchFamily="49" charset="-122"/>
                <a:ea typeface="楷体" panose="02010609060101010101" pitchFamily="49" charset="-122"/>
              </a:rPr>
              <a:t>并行加法器</a:t>
            </a:r>
            <a:r>
              <a:rPr lang="en-US" altLang="zh-CN" sz="2800" dirty="0" smtClean="0">
                <a:latin typeface="楷体" panose="02010609060101010101" pitchFamily="49" charset="-122"/>
                <a:ea typeface="楷体" panose="02010609060101010101" pitchFamily="49" charset="-122"/>
              </a:rPr>
              <a:t>74LS283, </a:t>
            </a:r>
            <a:r>
              <a:rPr lang="zh-CN" altLang="en-US" sz="2800" dirty="0" smtClean="0">
                <a:latin typeface="楷体" panose="02010609060101010101" pitchFamily="49" charset="-122"/>
                <a:ea typeface="楷体" panose="02010609060101010101" pitchFamily="49" charset="-122"/>
              </a:rPr>
              <a:t>其逻辑图示于图</a:t>
            </a:r>
            <a:r>
              <a:rPr lang="en-US" altLang="zh-CN" sz="2800" dirty="0" smtClean="0">
                <a:latin typeface="楷体" panose="02010609060101010101" pitchFamily="49" charset="-122"/>
                <a:ea typeface="楷体" panose="02010609060101010101" pitchFamily="49" charset="-122"/>
              </a:rPr>
              <a:t>2.32</a:t>
            </a:r>
            <a:r>
              <a:rPr lang="zh-CN" altLang="en-US" sz="2800" dirty="0" smtClean="0">
                <a:latin typeface="楷体" panose="02010609060101010101" pitchFamily="49" charset="-122"/>
                <a:ea typeface="楷体" panose="02010609060101010101" pitchFamily="49" charset="-122"/>
              </a:rPr>
              <a:t>。</a:t>
            </a:r>
          </a:p>
          <a:p>
            <a:pPr lvl="1"/>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3989327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200727"/>
          </a:xfrm>
        </p:spPr>
        <p:txBody>
          <a:bodyPr/>
          <a:lstStyle/>
          <a:p>
            <a:r>
              <a:rPr lang="en-US" altLang="zh-CN" dirty="0">
                <a:latin typeface="楷体" panose="02010609060101010101" pitchFamily="49" charset="-122"/>
                <a:ea typeface="楷体" panose="02010609060101010101" pitchFamily="49" charset="-122"/>
              </a:rPr>
              <a:t>2.6 </a:t>
            </a:r>
            <a:r>
              <a:rPr lang="zh-CN" altLang="zh-CN" dirty="0">
                <a:latin typeface="楷体" panose="02010609060101010101" pitchFamily="49" charset="-122"/>
                <a:ea typeface="楷体" panose="02010609060101010101" pitchFamily="49" charset="-122"/>
              </a:rPr>
              <a:t> </a:t>
            </a:r>
            <a:r>
              <a:rPr lang="en-US" altLang="zh-CN" dirty="0" err="1">
                <a:latin typeface="楷体" panose="02010609060101010101" pitchFamily="49" charset="-122"/>
                <a:ea typeface="楷体" panose="02010609060101010101" pitchFamily="49" charset="-122"/>
              </a:rPr>
              <a:t>数据比较器和加法器</a:t>
            </a:r>
            <a:endParaRPr lang="zh-CN" altLang="en-US"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stretch>
            <a:fillRect/>
          </a:stretch>
        </p:blipFill>
        <p:spPr>
          <a:xfrm>
            <a:off x="905568" y="1200727"/>
            <a:ext cx="6843740" cy="5172427"/>
          </a:xfrm>
          <a:prstGeom prst="rect">
            <a:avLst/>
          </a:prstGeom>
        </p:spPr>
      </p:pic>
    </p:spTree>
    <p:extLst>
      <p:ext uri="{BB962C8B-B14F-4D97-AF65-F5344CB8AC3E}">
        <p14:creationId xmlns:p14="http://schemas.microsoft.com/office/powerpoint/2010/main" val="293610540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5"/>
              <p:cNvSpPr/>
              <p:nvPr/>
            </p:nvSpPr>
            <p:spPr>
              <a:xfrm>
                <a:off x="743526" y="64655"/>
                <a:ext cx="8132619" cy="5509200"/>
              </a:xfrm>
              <a:prstGeom prst="rect">
                <a:avLst/>
              </a:prstGeom>
            </p:spPr>
            <p:txBody>
              <a:bodyPr wrap="square">
                <a:spAutoFit/>
              </a:bodyPr>
              <a:lstStyle/>
              <a:p>
                <a:r>
                  <a:rPr lang="zh-CN" altLang="zh-CN" sz="2800" dirty="0" smtClean="0">
                    <a:latin typeface="楷体" panose="02010609060101010101" pitchFamily="49" charset="-122"/>
                    <a:ea typeface="楷体" panose="02010609060101010101" pitchFamily="49" charset="-122"/>
                  </a:rPr>
                  <a:t>并行加法器</a:t>
                </a:r>
                <a:r>
                  <a:rPr lang="en-US" altLang="zh-CN" sz="2800" dirty="0" smtClean="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pPr>
                  <a:lnSpc>
                    <a:spcPts val="4000"/>
                  </a:lnSpc>
                </a:pPr>
                <a:r>
                  <a:rPr lang="zh-CN" altLang="en-US" sz="2400" dirty="0" smtClean="0">
                    <a:latin typeface="楷体" panose="02010609060101010101" pitchFamily="49" charset="-122"/>
                    <a:ea typeface="楷体" panose="02010609060101010101" pitchFamily="49" charset="-122"/>
                  </a:rPr>
                  <a:t>设两个加数 </a:t>
                </a:r>
                <a14:m>
                  <m:oMath xmlns:m="http://schemas.openxmlformats.org/officeDocument/2006/math">
                    <m:r>
                      <a:rPr lang="en-US" altLang="zh-CN" sz="2400" b="0" i="1" dirty="0" smtClean="0">
                        <a:latin typeface="Cambria Math" panose="02040503050406030204" pitchFamily="18" charset="0"/>
                        <a:ea typeface="楷体" panose="02010609060101010101" pitchFamily="49" charset="-122"/>
                      </a:rPr>
                      <m:t>𝐴</m:t>
                    </m:r>
                    <m:r>
                      <a:rPr lang="en-US" altLang="zh-CN" sz="2400" b="0" i="0" dirty="0" smtClean="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𝐴</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𝐴</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𝐴</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𝐴</m:t>
                    </m:r>
                    <m:r>
                      <a:rPr lang="en-US" altLang="zh-CN" sz="2400" i="1" baseline="-25000" dirty="0">
                        <a:latin typeface="Cambria Math" panose="02040503050406030204" pitchFamily="18" charset="0"/>
                        <a:ea typeface="楷体" panose="02010609060101010101" pitchFamily="49" charset="-122"/>
                      </a:rPr>
                      <m:t>0 </m:t>
                    </m:r>
                  </m:oMath>
                </a14:m>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US" altLang="zh-CN" sz="2400" b="0" i="1" dirty="0" smtClean="0">
                        <a:latin typeface="Cambria Math" panose="02040503050406030204" pitchFamily="18" charset="0"/>
                        <a:ea typeface="楷体" panose="02010609060101010101" pitchFamily="49" charset="-122"/>
                      </a:rPr>
                      <m:t>𝐵</m:t>
                    </m:r>
                    <m:r>
                      <a:rPr lang="en-US" altLang="zh-CN" sz="2400" dirty="0">
                        <a:latin typeface="Cambria Math" panose="02040503050406030204" pitchFamily="18" charset="0"/>
                        <a:ea typeface="楷体" panose="02010609060101010101" pitchFamily="49" charset="-122"/>
                      </a:rPr>
                      <m:t>=</m:t>
                    </m:r>
                    <m:r>
                      <a:rPr lang="en-US" altLang="zh-CN" sz="2400" b="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3</m:t>
                    </m:r>
                    <m:r>
                      <a:rPr lang="en-US" altLang="zh-CN" sz="2400" b="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2</m:t>
                    </m:r>
                    <m:r>
                      <a:rPr lang="en-US" altLang="zh-CN" sz="2400" b="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1</m:t>
                    </m:r>
                    <m:r>
                      <a:rPr lang="en-US" altLang="zh-CN" sz="2400" b="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0</m:t>
                    </m:r>
                  </m:oMath>
                </a14:m>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，并行加法器表达式如下</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𝑆</m:t>
                    </m:r>
                    <m:r>
                      <a:rPr lang="en-US" altLang="zh-CN" sz="2400" i="1" baseline="-25000" dirty="0" smtClean="0">
                        <a:latin typeface="Cambria Math" panose="02040503050406030204" pitchFamily="18" charset="0"/>
                        <a:ea typeface="Cambria Math" panose="02040503050406030204" pitchFamily="18" charset="0"/>
                      </a:rPr>
                      <m:t>1</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0</m:t>
                    </m:r>
                    <m:r>
                      <a:rPr lang="en-US" altLang="zh-CN" sz="2400" i="1" dirty="0" smtClean="0">
                        <a:latin typeface="Cambria Math" panose="02040503050406030204" pitchFamily="18" charset="0"/>
                        <a:ea typeface="Cambria Math" panose="02040503050406030204" pitchFamily="18" charset="0"/>
                      </a:rPr>
                      <m:t> </m:t>
                    </m:r>
                  </m:oMath>
                </a14:m>
                <a:r>
                  <a:rPr lang="en-US" altLang="zh-CN" sz="2400" i="1" dirty="0" smtClean="0">
                    <a:latin typeface="Cambria Math" panose="02040503050406030204" pitchFamily="18" charset="0"/>
                    <a:ea typeface="Cambria Math" panose="02040503050406030204" pitchFamily="18" charset="0"/>
                  </a:rPr>
                  <a:t>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1</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1</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a:rPr lang="en-US" altLang="zh-CN" sz="2400" i="1" smtClean="0">
                        <a:latin typeface="Cambria Math" panose="02040503050406030204" pitchFamily="18" charset="0"/>
                        <a:ea typeface="Cambria Math" panose="02040503050406030204" pitchFamily="18" charset="0"/>
                      </a:rPr>
                      <m:t> </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1</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0</m:t>
                    </m:r>
                  </m:oMath>
                </a14:m>
                <a:endParaRPr lang="en-US" altLang="zh-CN" sz="2400" i="1" baseline="-25000" dirty="0" smtClean="0">
                  <a:latin typeface="Cambria Math" panose="02040503050406030204" pitchFamily="18" charset="0"/>
                  <a:ea typeface="Cambria Math" panose="02040503050406030204" pitchFamily="18" charset="0"/>
                </a:endParaRP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𝑆</m:t>
                    </m:r>
                    <m:r>
                      <a:rPr lang="en-US" altLang="zh-CN" sz="2400" i="1" baseline="-25000" dirty="0" smtClean="0">
                        <a:latin typeface="Cambria Math" panose="02040503050406030204" pitchFamily="18" charset="0"/>
                        <a:ea typeface="Cambria Math" panose="02040503050406030204" pitchFamily="18" charset="0"/>
                      </a:rPr>
                      <m:t>2</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2</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2</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1</m:t>
                    </m:r>
                  </m:oMath>
                </a14:m>
                <a:r>
                  <a:rPr lang="en-US" altLang="zh-CN" sz="2400" i="1" dirty="0" smtClean="0">
                    <a:latin typeface="Cambria Math" panose="02040503050406030204" pitchFamily="18" charset="0"/>
                    <a:ea typeface="Cambria Math" panose="02040503050406030204" pitchFamily="18" charset="0"/>
                  </a:rPr>
                  <a:t>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2</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2</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2</m:t>
                    </m:r>
                    <m:r>
                      <a:rPr lang="en-US" altLang="zh-CN" sz="240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 </m:t>
                    </m:r>
                  </m:oMath>
                </a14:m>
                <a:r>
                  <a:rPr lang="en-US" altLang="zh-CN" sz="2400" dirty="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2</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2</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1</m:t>
                    </m:r>
                  </m:oMath>
                </a14:m>
                <a:endParaRPr lang="en-US" altLang="zh-CN" sz="2400" i="1" baseline="-25000" dirty="0" smtClean="0">
                  <a:latin typeface="Cambria Math" panose="02040503050406030204" pitchFamily="18" charset="0"/>
                  <a:ea typeface="Cambria Math" panose="02040503050406030204" pitchFamily="18" charset="0"/>
                </a:endParaRP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𝑆</m:t>
                    </m:r>
                    <m:r>
                      <a:rPr lang="en-US" altLang="zh-CN" sz="2400" i="1" baseline="-25000" dirty="0" smtClean="0">
                        <a:latin typeface="Cambria Math" panose="02040503050406030204" pitchFamily="18" charset="0"/>
                        <a:ea typeface="Cambria Math" panose="02040503050406030204" pitchFamily="18" charset="0"/>
                      </a:rPr>
                      <m:t>3</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3</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3</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2</m:t>
                    </m:r>
                  </m:oMath>
                </a14:m>
                <a:r>
                  <a:rPr lang="en-US" altLang="zh-CN" sz="2400" i="1" dirty="0" smtClean="0">
                    <a:latin typeface="Cambria Math" panose="02040503050406030204" pitchFamily="18" charset="0"/>
                    <a:ea typeface="Cambria Math" panose="02040503050406030204" pitchFamily="18" charset="0"/>
                  </a:rPr>
                  <a:t>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3</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3</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3</m:t>
                    </m:r>
                    <m:r>
                      <a:rPr lang="en-US" altLang="zh-CN" sz="240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 </m:t>
                    </m:r>
                  </m:oMath>
                </a14:m>
                <a:r>
                  <a:rPr lang="en-US" altLang="zh-CN" sz="2400" dirty="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3</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3</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2</m:t>
                    </m:r>
                  </m:oMath>
                </a14:m>
                <a:endParaRPr lang="en-US" altLang="zh-CN" sz="2400" i="1" baseline="-25000" dirty="0" smtClean="0">
                  <a:latin typeface="Cambria Math" panose="02040503050406030204" pitchFamily="18" charset="0"/>
                  <a:ea typeface="Cambria Math" panose="02040503050406030204" pitchFamily="18" charset="0"/>
                </a:endParaRP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𝑆</m:t>
                    </m:r>
                    <m:r>
                      <a:rPr lang="en-US" altLang="zh-CN" sz="2400" i="1" baseline="-25000" dirty="0" smtClean="0">
                        <a:latin typeface="Cambria Math" panose="02040503050406030204" pitchFamily="18" charset="0"/>
                        <a:ea typeface="Cambria Math" panose="02040503050406030204" pitchFamily="18" charset="0"/>
                      </a:rPr>
                      <m:t>4</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4</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4</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3</m:t>
                    </m:r>
                    <m:r>
                      <a:rPr lang="en-US" altLang="zh-CN" sz="2400" i="1" dirty="0" smtClean="0">
                        <a:latin typeface="Cambria Math" panose="02040503050406030204" pitchFamily="18" charset="0"/>
                        <a:ea typeface="Cambria Math" panose="02040503050406030204" pitchFamily="18" charset="0"/>
                      </a:rPr>
                      <m:t> </m:t>
                    </m:r>
                  </m:oMath>
                </a14:m>
                <a:r>
                  <a:rPr lang="en-US" altLang="zh-CN" sz="2400" i="1" dirty="0" smtClean="0">
                    <a:latin typeface="Cambria Math" panose="02040503050406030204" pitchFamily="18" charset="0"/>
                    <a:ea typeface="Cambria Math" panose="02040503050406030204" pitchFamily="18" charset="0"/>
                  </a:rPr>
                  <a:t>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4</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4</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4</m:t>
                    </m:r>
                    <m:r>
                      <a:rPr lang="en-US" altLang="zh-CN" sz="240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 </m:t>
                    </m:r>
                  </m:oMath>
                </a14:m>
                <a:r>
                  <a:rPr lang="en-US" altLang="zh-CN" sz="2400" dirty="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4</m:t>
                    </m:r>
                    <m:r>
                      <a:rPr lang="en-US" altLang="zh-CN" sz="240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4</m:t>
                    </m:r>
                  </m:oMath>
                </a14:m>
                <a:r>
                  <a:rPr lang="en-US" altLang="zh-CN" sz="2400" dirty="0" smtClean="0">
                    <a:latin typeface="Cambria Math" panose="02040503050406030204" pitchFamily="18" charset="0"/>
                    <a:ea typeface="Cambria Math" panose="02040503050406030204" pitchFamily="18" charset="0"/>
                  </a:rPr>
                  <a:t>)</a:t>
                </a:r>
                <a:r>
                  <a:rPr lang="en-US" altLang="zh-CN" sz="2400" i="1" dirty="0" smtClean="0">
                    <a:latin typeface="Cambria Math" panose="02040503050406030204" pitchFamily="18" charset="0"/>
                    <a:ea typeface="Cambria Math" panose="02040503050406030204" pitchFamily="18" charset="0"/>
                  </a:rPr>
                  <a:t>C</a:t>
                </a:r>
                <a:r>
                  <a:rPr lang="en-US" altLang="zh-CN" sz="2400" i="1" baseline="-25000" dirty="0" smtClean="0">
                    <a:latin typeface="Cambria Math" panose="02040503050406030204" pitchFamily="18" charset="0"/>
                    <a:ea typeface="Cambria Math" panose="02040503050406030204" pitchFamily="18" charset="0"/>
                  </a:rPr>
                  <a:t>3</a:t>
                </a:r>
                <a:endParaRPr lang="en-US" altLang="zh-CN" sz="2400" dirty="0">
                  <a:latin typeface="Cambria Math" panose="02040503050406030204" pitchFamily="18" charset="0"/>
                  <a:ea typeface="Cambria Math" panose="02040503050406030204" pitchFamily="18" charset="0"/>
                </a:endParaRPr>
              </a:p>
              <a:p>
                <a:pPr>
                  <a:lnSpc>
                    <a:spcPts val="4000"/>
                  </a:lnSpc>
                </a:pPr>
                <a:r>
                  <a:rPr lang="zh-CN" altLang="zh-CN" sz="2400" dirty="0" smtClean="0">
                    <a:latin typeface="楷体" panose="02010609060101010101" pitchFamily="49" charset="-122"/>
                    <a:ea typeface="楷体" panose="02010609060101010101" pitchFamily="49" charset="-122"/>
                  </a:rPr>
                  <a:t>设 </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𝐺</m:t>
                    </m:r>
                    <m:r>
                      <a:rPr lang="en-US" altLang="zh-CN" sz="2400" i="1" baseline="-25000" dirty="0" err="1" smtClean="0">
                        <a:latin typeface="Cambria Math" panose="02040503050406030204" pitchFamily="18" charset="0"/>
                        <a:ea typeface="楷体" panose="02010609060101010101" pitchFamily="49" charset="-122"/>
                      </a:rPr>
                      <m:t>𝑖</m:t>
                    </m:r>
                  </m:oMath>
                </a14:m>
                <a:r>
                  <a:rPr lang="zh-CN" altLang="zh-CN" sz="2400" dirty="0" smtClean="0">
                    <a:latin typeface="楷体" panose="02010609060101010101" pitchFamily="49" charset="-122"/>
                    <a:ea typeface="楷体" panose="02010609060101010101" pitchFamily="49" charset="-122"/>
                  </a:rPr>
                  <a:t>为进位生成项，</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𝑃</m:t>
                    </m:r>
                    <m:r>
                      <a:rPr lang="en-US" altLang="zh-CN" sz="2400" i="1" baseline="-25000" dirty="0" smtClean="0">
                        <a:latin typeface="Cambria Math" panose="02040503050406030204" pitchFamily="18" charset="0"/>
                        <a:ea typeface="楷体" panose="02010609060101010101" pitchFamily="49" charset="-122"/>
                      </a:rPr>
                      <m:t>𝑖</m:t>
                    </m:r>
                  </m:oMath>
                </a14:m>
                <a:r>
                  <a:rPr lang="zh-CN" altLang="zh-CN" sz="2400" dirty="0" smtClean="0">
                    <a:latin typeface="楷体" panose="02010609060101010101" pitchFamily="49" charset="-122"/>
                    <a:ea typeface="楷体" panose="02010609060101010101" pitchFamily="49" charset="-122"/>
                  </a:rPr>
                  <a:t>为进位传递项，即有</a:t>
                </a:r>
                <a:r>
                  <a:rPr lang="en-US" altLang="zh-CN" sz="2400" dirty="0" smtClean="0">
                    <a:latin typeface="楷体" panose="02010609060101010101" pitchFamily="49" charset="-122"/>
                    <a:ea typeface="楷体" panose="02010609060101010101" pitchFamily="49" charset="-122"/>
                  </a:rPr>
                  <a:t>:           </a:t>
                </a: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𝐺</m:t>
                    </m:r>
                    <m:r>
                      <a:rPr lang="en-US" altLang="zh-CN" sz="2400" i="1" baseline="-25000" dirty="0" err="1" smtClean="0">
                        <a:latin typeface="Cambria Math" panose="02040503050406030204" pitchFamily="18" charset="0"/>
                        <a:ea typeface="Cambria Math" panose="02040503050406030204" pitchFamily="18" charset="0"/>
                      </a:rPr>
                      <m:t>𝑖</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err="1" smtClean="0">
                        <a:latin typeface="Cambria Math" panose="02040503050406030204" pitchFamily="18" charset="0"/>
                        <a:ea typeface="Cambria Math" panose="02040503050406030204" pitchFamily="18" charset="0"/>
                      </a:rPr>
                      <m:t>𝑖</m:t>
                    </m:r>
                    <m:r>
                      <a:rPr lang="en-US" altLang="zh-CN" sz="2400" i="1" dirty="0" err="1" smtClean="0">
                        <a:latin typeface="Cambria Math" panose="02040503050406030204" pitchFamily="18" charset="0"/>
                        <a:ea typeface="Cambria Math" panose="02040503050406030204" pitchFamily="18" charset="0"/>
                      </a:rPr>
                      <m:t>𝐵</m:t>
                    </m:r>
                    <m:r>
                      <a:rPr lang="en-US" altLang="zh-CN" sz="2400" i="1" baseline="-25000" dirty="0" err="1" smtClean="0">
                        <a:latin typeface="Cambria Math" panose="02040503050406030204" pitchFamily="18" charset="0"/>
                        <a:ea typeface="Cambria Math" panose="02040503050406030204" pitchFamily="18" charset="0"/>
                      </a:rPr>
                      <m:t>𝑖</m:t>
                    </m:r>
                    <m:r>
                      <a:rPr lang="en-US" altLang="zh-CN" sz="2400" i="1" dirty="0">
                        <a:latin typeface="Cambria Math" panose="02040503050406030204" pitchFamily="18" charset="0"/>
                        <a:ea typeface="Cambria Math" panose="02040503050406030204" pitchFamily="18" charset="0"/>
                      </a:rPr>
                      <m:t> </m:t>
                    </m:r>
                  </m:oMath>
                </a14:m>
                <a:r>
                  <a:rPr lang="en-US" altLang="zh-CN" sz="2400" dirty="0" smtClean="0">
                    <a:latin typeface="Cambria Math" panose="02040503050406030204" pitchFamily="18" charset="0"/>
                    <a:ea typeface="Cambria Math" panose="02040503050406030204" pitchFamily="18" charset="0"/>
                  </a:rPr>
                  <a:t>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𝑃</m:t>
                    </m:r>
                    <m:r>
                      <a:rPr lang="en-US" altLang="zh-CN" sz="2400" i="1" baseline="-25000" dirty="0" smtClean="0">
                        <a:latin typeface="Cambria Math" panose="02040503050406030204" pitchFamily="18" charset="0"/>
                        <a:ea typeface="Cambria Math" panose="02040503050406030204" pitchFamily="18" charset="0"/>
                      </a:rPr>
                      <m:t>𝑖</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𝐴</m:t>
                    </m:r>
                    <m:r>
                      <a:rPr lang="en-US" altLang="zh-CN" sz="2400" i="1" baseline="-25000" dirty="0" smtClean="0">
                        <a:latin typeface="Cambria Math" panose="02040503050406030204" pitchFamily="18" charset="0"/>
                        <a:ea typeface="Cambria Math" panose="02040503050406030204" pitchFamily="18" charset="0"/>
                      </a:rPr>
                      <m:t>𝑖</m:t>
                    </m:r>
                    <m:r>
                      <a:rPr lang="en-US" altLang="zh-CN" sz="2400" b="0" i="1" smtClean="0">
                        <a:latin typeface="Cambria Math" panose="02040503050406030204" pitchFamily="18" charset="0"/>
                        <a:ea typeface="Cambria Math" panose="02040503050406030204" pitchFamily="18" charset="0"/>
                      </a:rPr>
                      <m:t> </m:t>
                    </m:r>
                    <m:r>
                      <a:rPr lang="en-US" altLang="zh-CN" sz="2400">
                        <a:latin typeface="Cambria Math" panose="02040503050406030204" pitchFamily="18" charset="0"/>
                        <a:ea typeface="Cambria Math" panose="02040503050406030204" pitchFamily="18" charset="0"/>
                      </a:rPr>
                      <m:t>⊕</m:t>
                    </m:r>
                    <m:r>
                      <a:rPr lang="en-US" altLang="zh-CN" sz="2400" b="0" i="0" smtClean="0">
                        <a:latin typeface="Cambria Math" panose="02040503050406030204" pitchFamily="18" charset="0"/>
                        <a:ea typeface="Cambria Math" panose="02040503050406030204" pitchFamily="18" charset="0"/>
                      </a:rPr>
                      <m:t> </m:t>
                    </m:r>
                    <m:r>
                      <a:rPr lang="en-US" altLang="zh-CN" sz="2400" i="1" dirty="0" smtClean="0">
                        <a:latin typeface="Cambria Math" panose="02040503050406030204" pitchFamily="18" charset="0"/>
                        <a:ea typeface="Cambria Math" panose="02040503050406030204" pitchFamily="18" charset="0"/>
                      </a:rPr>
                      <m:t>𝐵</m:t>
                    </m:r>
                    <m:r>
                      <a:rPr lang="en-US" altLang="zh-CN" sz="2400" i="1" baseline="-25000" dirty="0" smtClean="0">
                        <a:latin typeface="Cambria Math" panose="02040503050406030204" pitchFamily="18" charset="0"/>
                        <a:ea typeface="Cambria Math" panose="02040503050406030204" pitchFamily="18" charset="0"/>
                      </a:rPr>
                      <m:t>𝑖</m:t>
                    </m:r>
                  </m:oMath>
                </a14:m>
                <a:endParaRPr lang="en-US" altLang="zh-CN" sz="2400" dirty="0" smtClean="0">
                  <a:latin typeface="Cambria Math" panose="02040503050406030204" pitchFamily="18" charset="0"/>
                  <a:ea typeface="Cambria Math" panose="02040503050406030204" pitchFamily="18" charset="0"/>
                </a:endParaRPr>
              </a:p>
              <a:p>
                <a:pPr>
                  <a:lnSpc>
                    <a:spcPts val="4000"/>
                  </a:lnSpc>
                </a:pPr>
                <a:r>
                  <a:rPr lang="zh-CN" altLang="en-US" sz="2400" dirty="0" smtClean="0">
                    <a:latin typeface="楷体" panose="02010609060101010101" pitchFamily="49" charset="-122"/>
                    <a:ea typeface="楷体" panose="02010609060101010101" pitchFamily="49" charset="-122"/>
                  </a:rPr>
                  <a:t>则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𝑖</m:t>
                    </m:r>
                    <m:r>
                      <a:rPr lang="en-US" altLang="zh-CN" sz="2400" i="1" baseline="-25000" dirty="0" smtClean="0">
                        <a:latin typeface="Cambria Math" panose="02040503050406030204" pitchFamily="18" charset="0"/>
                        <a:ea typeface="Cambria Math" panose="02040503050406030204" pitchFamily="18" charset="0"/>
                      </a:rPr>
                      <m:t> </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𝐺</m:t>
                    </m:r>
                    <m:r>
                      <a:rPr lang="en-US" altLang="zh-CN" sz="2400" i="1" baseline="-25000" dirty="0" smtClean="0">
                        <a:latin typeface="Cambria Math" panose="02040503050406030204" pitchFamily="18" charset="0"/>
                        <a:ea typeface="Cambria Math" panose="02040503050406030204" pitchFamily="18" charset="0"/>
                      </a:rPr>
                      <m:t>𝑖</m:t>
                    </m:r>
                    <m:r>
                      <a:rPr lang="en-US" altLang="zh-CN" sz="240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ea typeface="Cambria Math" panose="02040503050406030204" pitchFamily="18" charset="0"/>
                      </a:rPr>
                      <m:t>𝑃</m:t>
                    </m:r>
                    <m:r>
                      <a:rPr lang="en-US" altLang="zh-CN" sz="2400" i="1" baseline="-25000" dirty="0">
                        <a:latin typeface="Cambria Math" panose="02040503050406030204" pitchFamily="18" charset="0"/>
                        <a:ea typeface="Cambria Math" panose="02040503050406030204" pitchFamily="18" charset="0"/>
                      </a:rPr>
                      <m:t>𝑖</m:t>
                    </m:r>
                    <m:sSub>
                      <m:sSubPr>
                        <m:ctrlPr>
                          <a:rPr lang="en-US" altLang="zh-CN" sz="2400" i="1" dirty="0">
                            <a:latin typeface="Cambria Math" panose="02040503050406030204" pitchFamily="18" charset="0"/>
                            <a:ea typeface="楷体" panose="02010609060101010101" pitchFamily="49" charset="-122"/>
                          </a:rPr>
                        </m:ctrlPr>
                      </m:sSubPr>
                      <m:e>
                        <m:r>
                          <a:rPr lang="en-US" altLang="zh-CN" sz="2400" i="1" dirty="0">
                            <a:latin typeface="Cambria Math" panose="02040503050406030204" pitchFamily="18" charset="0"/>
                            <a:ea typeface="楷体" panose="02010609060101010101" pitchFamily="49" charset="-122"/>
                          </a:rPr>
                          <m:t>𝐶</m:t>
                        </m:r>
                      </m:e>
                      <m:sub>
                        <m:r>
                          <a:rPr lang="en-US" altLang="zh-CN" sz="2400" i="1" dirty="0">
                            <a:latin typeface="Cambria Math" panose="02040503050406030204" pitchFamily="18" charset="0"/>
                            <a:ea typeface="楷体" panose="02010609060101010101" pitchFamily="49" charset="-122"/>
                          </a:rPr>
                          <m:t>𝑖</m:t>
                        </m:r>
                        <m:r>
                          <a:rPr lang="en-US" altLang="zh-CN" sz="2400" i="1" dirty="0">
                            <a:latin typeface="Cambria Math" panose="02040503050406030204" pitchFamily="18" charset="0"/>
                            <a:ea typeface="楷体" panose="02010609060101010101" pitchFamily="49" charset="-122"/>
                          </a:rPr>
                          <m:t>−1</m:t>
                        </m:r>
                      </m:sub>
                    </m:sSub>
                  </m:oMath>
                </a14:m>
                <a:endParaRPr lang="en-US" altLang="zh-CN" sz="2400" dirty="0">
                  <a:latin typeface="Cambria Math" panose="02040503050406030204" pitchFamily="18" charset="0"/>
                  <a:ea typeface="Cambria Math" panose="020405030504060302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743526" y="64655"/>
                <a:ext cx="8132619" cy="5509200"/>
              </a:xfrm>
              <a:prstGeom prst="rect">
                <a:avLst/>
              </a:prstGeom>
              <a:blipFill>
                <a:blip r:embed="rId2"/>
                <a:stretch>
                  <a:fillRect l="-1574" t="-1218" b="-5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7025576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5"/>
              <p:cNvSpPr/>
              <p:nvPr/>
            </p:nvSpPr>
            <p:spPr>
              <a:xfrm>
                <a:off x="614218" y="0"/>
                <a:ext cx="8529782" cy="4708981"/>
              </a:xfrm>
              <a:prstGeom prst="rect">
                <a:avLst/>
              </a:prstGeom>
            </p:spPr>
            <p:txBody>
              <a:bodyPr wrap="square">
                <a:spAutoFit/>
              </a:bodyPr>
              <a:lstStyle/>
              <a:p>
                <a:pPr>
                  <a:lnSpc>
                    <a:spcPts val="4000"/>
                  </a:lnSpc>
                </a:pPr>
                <a:r>
                  <a:rPr lang="zh-CN" altLang="en-US" sz="2400" dirty="0" smtClean="0">
                    <a:latin typeface="楷体" panose="02010609060101010101" pitchFamily="49" charset="-122"/>
                    <a:ea typeface="楷体" panose="02010609060101010101" pitchFamily="49" charset="-122"/>
                  </a:rPr>
                  <a:t>采用</a:t>
                </a:r>
                <a:r>
                  <a:rPr lang="zh-CN" altLang="en-US" sz="2400" dirty="0">
                    <a:latin typeface="楷体" panose="02010609060101010101" pitchFamily="49" charset="-122"/>
                    <a:ea typeface="楷体" panose="02010609060101010101" pitchFamily="49" charset="-122"/>
                  </a:rPr>
                  <a:t>递推公式，进位表达式</a:t>
                </a:r>
                <a:r>
                  <a:rPr lang="zh-CN" altLang="en-US" sz="2400" dirty="0" smtClean="0">
                    <a:latin typeface="楷体" panose="02010609060101010101" pitchFamily="49" charset="-122"/>
                    <a:ea typeface="楷体" panose="02010609060101010101" pitchFamily="49" charset="-122"/>
                  </a:rPr>
                  <a:t>变为：</a:t>
                </a:r>
                <a:endParaRPr lang="en-US" altLang="zh-CN" sz="2400" dirty="0" smtClean="0">
                  <a:latin typeface="楷体" panose="02010609060101010101" pitchFamily="49" charset="-122"/>
                  <a:ea typeface="楷体" panose="02010609060101010101" pitchFamily="49" charset="-122"/>
                </a:endParaRP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1</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𝐺</m:t>
                    </m:r>
                    <m:r>
                      <a:rPr lang="en-US" altLang="zh-CN" sz="2400" i="1" baseline="-25000" dirty="0" smtClean="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1</m:t>
                    </m:r>
                    <m:r>
                      <a:rPr lang="en-US" altLang="zh-CN" sz="2400" b="0" i="1" baseline="-25000" dirty="0" smtClean="0">
                        <a:latin typeface="Cambria Math" panose="02040503050406030204" pitchFamily="18" charset="0"/>
                        <a:ea typeface="Cambria Math" panose="02040503050406030204" pitchFamily="18" charset="0"/>
                      </a:rPr>
                      <m:t> </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0</m:t>
                    </m:r>
                  </m:oMath>
                </a14:m>
                <a:endParaRPr lang="en-US" altLang="zh-CN" sz="2400" i="1" baseline="-25000" dirty="0" smtClean="0">
                  <a:latin typeface="Cambria Math" panose="02040503050406030204" pitchFamily="18" charset="0"/>
                  <a:ea typeface="Cambria Math" panose="02040503050406030204" pitchFamily="18" charset="0"/>
                </a:endParaRP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2</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𝐺</m:t>
                    </m:r>
                    <m:r>
                      <a:rPr lang="en-US" altLang="zh-CN" sz="2400" i="1" baseline="-25000" dirty="0" smtClean="0">
                        <a:latin typeface="Cambria Math" panose="02040503050406030204" pitchFamily="18" charset="0"/>
                        <a:ea typeface="Cambria Math" panose="02040503050406030204" pitchFamily="18" charset="0"/>
                      </a:rPr>
                      <m:t>2</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2</m:t>
                    </m:r>
                    <m:r>
                      <a:rPr lang="en-US" altLang="zh-CN" sz="2400" b="0" i="1" baseline="-25000" dirty="0" smtClean="0">
                        <a:latin typeface="Cambria Math" panose="02040503050406030204" pitchFamily="18" charset="0"/>
                        <a:ea typeface="Cambria Math" panose="02040503050406030204" pitchFamily="18" charset="0"/>
                      </a:rPr>
                      <m:t> </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1</m:t>
                    </m:r>
                  </m:oMath>
                </a14:m>
                <a:r>
                  <a:rPr lang="en-US" altLang="zh-CN" sz="2400" i="1" baseline="-25000" dirty="0" smtClean="0">
                    <a:latin typeface="Cambria Math" panose="02040503050406030204" pitchFamily="18" charset="0"/>
                    <a:ea typeface="Cambria Math" panose="02040503050406030204" pitchFamily="18" charset="0"/>
                  </a:rPr>
                  <a:t> </a:t>
                </a:r>
                <a:r>
                  <a:rPr lang="en-US" altLang="zh-CN" sz="2400" dirty="0" smtClean="0">
                    <a:latin typeface="Cambria Math" panose="02040503050406030204" pitchFamily="18" charset="0"/>
                    <a:ea typeface="Cambria Math" panose="02040503050406030204" pitchFamily="18" charset="0"/>
                  </a:rPr>
                  <a:t>=</a:t>
                </a:r>
                <a:r>
                  <a:rPr lang="en-US" altLang="zh-CN" sz="2400" i="1" dirty="0">
                    <a:latin typeface="Cambria Math" panose="02040503050406030204" pitchFamily="18" charset="0"/>
                    <a:ea typeface="Cambria Math" panose="02040503050406030204" pitchFamily="18" charset="0"/>
                  </a:rPr>
                  <a:t>G</a:t>
                </a:r>
                <a:r>
                  <a:rPr lang="en-US" altLang="zh-CN" sz="2400" i="1" baseline="-25000" dirty="0">
                    <a:latin typeface="Cambria Math" panose="02040503050406030204" pitchFamily="18" charset="0"/>
                    <a:ea typeface="Cambria Math" panose="02040503050406030204" pitchFamily="18" charset="0"/>
                  </a:rPr>
                  <a:t>2</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smtClean="0">
                    <a:latin typeface="Cambria Math" panose="02040503050406030204" pitchFamily="18" charset="0"/>
                    <a:ea typeface="Cambria Math" panose="02040503050406030204" pitchFamily="18" charset="0"/>
                  </a:rPr>
                  <a:t>P</a:t>
                </a:r>
                <a:r>
                  <a:rPr lang="en-US" altLang="zh-CN" sz="2400" i="1" baseline="-25000" dirty="0" smtClean="0">
                    <a:latin typeface="Cambria Math" panose="02040503050406030204" pitchFamily="18" charset="0"/>
                    <a:ea typeface="Cambria Math" panose="02040503050406030204" pitchFamily="18" charset="0"/>
                  </a:rPr>
                  <a:t>2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𝐺</m:t>
                    </m:r>
                    <m:r>
                      <a:rPr lang="en-US" altLang="zh-CN" sz="2400" i="1" baseline="-25000" dirty="0" smtClean="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2</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1</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a:latin typeface="Cambria Math" panose="02040503050406030204" pitchFamily="18" charset="0"/>
                        <a:ea typeface="Cambria Math" panose="02040503050406030204" pitchFamily="18" charset="0"/>
                      </a:rPr>
                      <m:t>0</m:t>
                    </m:r>
                  </m:oMath>
                </a14:m>
                <a:endParaRPr lang="en-US" altLang="zh-CN" sz="2400" i="1" baseline="-25000" dirty="0">
                  <a:latin typeface="Cambria Math" panose="02040503050406030204" pitchFamily="18" charset="0"/>
                  <a:ea typeface="Cambria Math" panose="02040503050406030204" pitchFamily="18" charset="0"/>
                </a:endParaRP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3</m:t>
                    </m:r>
                  </m:oMath>
                </a14:m>
                <a:r>
                  <a:rPr lang="en-US" altLang="zh-CN" sz="2400" dirty="0" smtClean="0">
                    <a:latin typeface="Cambria Math" panose="02040503050406030204" pitchFamily="18" charset="0"/>
                    <a:ea typeface="Cambria Math" panose="02040503050406030204" pitchFamily="18" charset="0"/>
                  </a:rPr>
                  <a:t>=</a:t>
                </a:r>
                <a:r>
                  <a:rPr lang="en-US" altLang="zh-CN" sz="2400" i="1" dirty="0" smtClean="0">
                    <a:latin typeface="Cambria Math" panose="02040503050406030204" pitchFamily="18" charset="0"/>
                    <a:ea typeface="Cambria Math" panose="02040503050406030204" pitchFamily="18" charset="0"/>
                  </a:rPr>
                  <a:t>G</a:t>
                </a:r>
                <a:r>
                  <a:rPr lang="en-US" altLang="zh-CN" sz="2400" i="1" baseline="-25000" dirty="0" smtClean="0">
                    <a:latin typeface="Cambria Math" panose="02040503050406030204" pitchFamily="18" charset="0"/>
                    <a:ea typeface="Cambria Math" panose="02040503050406030204" pitchFamily="18" charset="0"/>
                  </a:rPr>
                  <a:t>3</a:t>
                </a:r>
                <a14:m>
                  <m:oMath xmlns:m="http://schemas.openxmlformats.org/officeDocument/2006/math">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3</m:t>
                    </m:r>
                    <m:r>
                      <a:rPr lang="en-US" altLang="zh-CN" sz="2400" b="0" i="1" baseline="-25000" dirty="0" smtClean="0">
                        <a:latin typeface="Cambria Math" panose="02040503050406030204" pitchFamily="18" charset="0"/>
                        <a:ea typeface="Cambria Math" panose="02040503050406030204" pitchFamily="18" charset="0"/>
                      </a:rPr>
                      <m:t> </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2 </m:t>
                    </m:r>
                  </m:oMath>
                </a14:m>
                <a:r>
                  <a:rPr lang="en-US" altLang="zh-CN" sz="2400" dirty="0">
                    <a:latin typeface="Cambria Math" panose="02040503050406030204" pitchFamily="18" charset="0"/>
                    <a:ea typeface="Cambria Math" panose="02040503050406030204" pitchFamily="18" charset="0"/>
                  </a:rPr>
                  <a:t>=</a:t>
                </a:r>
                <a:r>
                  <a:rPr lang="en-US" altLang="zh-CN" sz="2400" i="1" dirty="0">
                    <a:latin typeface="Cambria Math" panose="02040503050406030204" pitchFamily="18" charset="0"/>
                    <a:ea typeface="Cambria Math" panose="02040503050406030204" pitchFamily="18" charset="0"/>
                  </a:rPr>
                  <a:t>G</a:t>
                </a:r>
                <a:r>
                  <a:rPr lang="en-US" altLang="zh-CN" sz="2400" i="1" baseline="-25000" dirty="0" smtClean="0">
                    <a:latin typeface="Cambria Math" panose="02040503050406030204" pitchFamily="18" charset="0"/>
                    <a:ea typeface="Cambria Math" panose="02040503050406030204" pitchFamily="18" charset="0"/>
                  </a:rPr>
                  <a:t>3</a:t>
                </a:r>
                <a14:m>
                  <m:oMath xmlns:m="http://schemas.openxmlformats.org/officeDocument/2006/math">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3</m:t>
                    </m:r>
                  </m:oMath>
                </a14:m>
                <a:r>
                  <a:rPr lang="en-US" altLang="zh-CN" sz="2400" i="1" dirty="0">
                    <a:latin typeface="Cambria Math" panose="02040503050406030204" pitchFamily="18" charset="0"/>
                    <a:ea typeface="Cambria Math" panose="02040503050406030204" pitchFamily="18" charset="0"/>
                  </a:rPr>
                  <a:t>G</a:t>
                </a:r>
                <a:r>
                  <a:rPr lang="en-US" altLang="zh-CN" sz="2400" i="1" baseline="-25000" dirty="0" smtClean="0">
                    <a:latin typeface="Cambria Math" panose="02040503050406030204" pitchFamily="18" charset="0"/>
                    <a:ea typeface="Cambria Math" panose="02040503050406030204" pitchFamily="18" charset="0"/>
                  </a:rPr>
                  <a:t>2</a:t>
                </a:r>
                <a14:m>
                  <m:oMath xmlns:m="http://schemas.openxmlformats.org/officeDocument/2006/math">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3</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2</m:t>
                    </m:r>
                    <m:r>
                      <m:rPr>
                        <m:nor/>
                      </m:rPr>
                      <a:rPr lang="en-US" altLang="zh-CN" sz="2400" i="1" dirty="0">
                        <a:latin typeface="Cambria Math" panose="02040503050406030204" pitchFamily="18" charset="0"/>
                        <a:ea typeface="Cambria Math" panose="02040503050406030204" pitchFamily="18" charset="0"/>
                      </a:rPr>
                      <m:t>G</m:t>
                    </m:r>
                    <m:r>
                      <m:rPr>
                        <m:nor/>
                      </m:rPr>
                      <a:rPr lang="en-US" altLang="zh-CN" sz="2400" b="0" i="1" baseline="-25000" dirty="0" smtClean="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3</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2</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1</m:t>
                    </m:r>
                  </m:oMath>
                </a14:m>
                <a:r>
                  <a:rPr lang="en-US" altLang="zh-CN" sz="2400" i="1" dirty="0">
                    <a:latin typeface="Cambria Math" panose="02040503050406030204" pitchFamily="18" charset="0"/>
                    <a:ea typeface="Cambria Math" panose="02040503050406030204" pitchFamily="18" charset="0"/>
                  </a:rPr>
                  <a:t>C</a:t>
                </a:r>
                <a:r>
                  <a:rPr lang="en-US" altLang="zh-CN" sz="2400" i="1" baseline="-25000" dirty="0">
                    <a:latin typeface="Cambria Math" panose="02040503050406030204" pitchFamily="18" charset="0"/>
                    <a:ea typeface="Cambria Math" panose="02040503050406030204" pitchFamily="18" charset="0"/>
                  </a:rPr>
                  <a:t>0</a:t>
                </a: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a:latin typeface="Cambria Math" panose="02040503050406030204" pitchFamily="18" charset="0"/>
                        <a:ea typeface="Cambria Math" panose="02040503050406030204" pitchFamily="18" charset="0"/>
                      </a:rPr>
                      <m:t>4</m:t>
                    </m:r>
                  </m:oMath>
                </a14:m>
                <a:r>
                  <a:rPr lang="en-US" altLang="zh-CN" sz="2400" dirty="0" smtClean="0">
                    <a:latin typeface="Cambria Math" panose="02040503050406030204" pitchFamily="18" charset="0"/>
                    <a:ea typeface="Cambria Math" panose="02040503050406030204" pitchFamily="18" charset="0"/>
                  </a:rPr>
                  <a:t>=</a:t>
                </a:r>
                <a:r>
                  <a:rPr lang="en-US" altLang="zh-CN" sz="2400" i="1" dirty="0" smtClean="0">
                    <a:latin typeface="Cambria Math" panose="02040503050406030204" pitchFamily="18" charset="0"/>
                    <a:ea typeface="Cambria Math" panose="02040503050406030204" pitchFamily="18" charset="0"/>
                  </a:rPr>
                  <a:t>G</a:t>
                </a:r>
                <a:r>
                  <a:rPr lang="en-US" altLang="zh-CN" sz="2400" i="1" baseline="-25000" dirty="0" smtClean="0">
                    <a:latin typeface="Cambria Math" panose="02040503050406030204" pitchFamily="18" charset="0"/>
                    <a:ea typeface="Cambria Math" panose="02040503050406030204" pitchFamily="18" charset="0"/>
                  </a:rPr>
                  <a:t>4</a:t>
                </a:r>
                <a14:m>
                  <m:oMath xmlns:m="http://schemas.openxmlformats.org/officeDocument/2006/math">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4 </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3 </m:t>
                    </m:r>
                  </m:oMath>
                </a14:m>
                <a:r>
                  <a:rPr lang="en-US" altLang="zh-CN" sz="2400" dirty="0">
                    <a:latin typeface="Cambria Math" panose="02040503050406030204" pitchFamily="18" charset="0"/>
                    <a:ea typeface="Cambria Math" panose="02040503050406030204" pitchFamily="18" charset="0"/>
                  </a:rPr>
                  <a:t>=</a:t>
                </a:r>
                <a:r>
                  <a:rPr lang="en-US" altLang="zh-CN" sz="2400" i="1" dirty="0">
                    <a:latin typeface="Cambria Math" panose="02040503050406030204" pitchFamily="18" charset="0"/>
                    <a:ea typeface="Cambria Math" panose="02040503050406030204" pitchFamily="18" charset="0"/>
                  </a:rPr>
                  <a:t>G</a:t>
                </a:r>
                <a:r>
                  <a:rPr lang="en-US" altLang="zh-CN" sz="2400" i="1" baseline="-25000" dirty="0" smtClean="0">
                    <a:latin typeface="Cambria Math" panose="02040503050406030204" pitchFamily="18" charset="0"/>
                    <a:ea typeface="Cambria Math" panose="02040503050406030204" pitchFamily="18" charset="0"/>
                  </a:rPr>
                  <a:t>4</a:t>
                </a:r>
                <a14:m>
                  <m:oMath xmlns:m="http://schemas.openxmlformats.org/officeDocument/2006/math">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4</m:t>
                    </m:r>
                  </m:oMath>
                </a14:m>
                <a:r>
                  <a:rPr lang="en-US" altLang="zh-CN" sz="2400" i="1" dirty="0">
                    <a:latin typeface="Cambria Math" panose="02040503050406030204" pitchFamily="18" charset="0"/>
                    <a:ea typeface="Cambria Math" panose="02040503050406030204" pitchFamily="18" charset="0"/>
                  </a:rPr>
                  <a:t>G</a:t>
                </a:r>
                <a:r>
                  <a:rPr lang="en-US" altLang="zh-CN" sz="2400" i="1" baseline="-25000" dirty="0" smtClean="0">
                    <a:latin typeface="Cambria Math" panose="02040503050406030204" pitchFamily="18" charset="0"/>
                    <a:ea typeface="Cambria Math" panose="02040503050406030204" pitchFamily="18" charset="0"/>
                  </a:rPr>
                  <a:t>3</a:t>
                </a:r>
                <a14:m>
                  <m:oMath xmlns:m="http://schemas.openxmlformats.org/officeDocument/2006/math">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4</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3</m:t>
                    </m:r>
                    <m:r>
                      <m:rPr>
                        <m:nor/>
                      </m:rPr>
                      <a:rPr lang="en-US" altLang="zh-CN" sz="2400" i="1" dirty="0">
                        <a:latin typeface="Cambria Math" panose="02040503050406030204" pitchFamily="18" charset="0"/>
                        <a:ea typeface="Cambria Math" panose="02040503050406030204" pitchFamily="18" charset="0"/>
                      </a:rPr>
                      <m:t>G</m:t>
                    </m:r>
                    <m:r>
                      <m:rPr>
                        <m:nor/>
                      </m:rPr>
                      <a:rPr lang="en-US" altLang="zh-CN" sz="2400" b="0" i="1" baseline="-25000" dirty="0" smtClean="0">
                        <a:latin typeface="Cambria Math" panose="02040503050406030204" pitchFamily="18" charset="0"/>
                        <a:ea typeface="Cambria Math" panose="02040503050406030204" pitchFamily="18" charset="0"/>
                      </a:rPr>
                      <m:t>2</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4</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b="0" i="1" baseline="-25000" dirty="0" smtClean="0">
                        <a:latin typeface="Cambria Math" panose="02040503050406030204" pitchFamily="18" charset="0"/>
                        <a:ea typeface="Cambria Math" panose="02040503050406030204" pitchFamily="18" charset="0"/>
                      </a:rPr>
                      <m:t>3</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2</m:t>
                    </m:r>
                    <m:r>
                      <m:rPr>
                        <m:nor/>
                      </m:rPr>
                      <a:rPr lang="en-US" altLang="zh-CN" sz="2400" i="1" dirty="0" smtClean="0">
                        <a:latin typeface="Cambria Math" panose="02040503050406030204" pitchFamily="18" charset="0"/>
                        <a:ea typeface="Cambria Math" panose="02040503050406030204" pitchFamily="18" charset="0"/>
                      </a:rPr>
                      <m:t>G</m:t>
                    </m:r>
                    <m:r>
                      <m:rPr>
                        <m:nor/>
                      </m:rPr>
                      <a:rPr lang="en-US" altLang="zh-CN" sz="2400" b="0" i="1" baseline="-25000" dirty="0" smtClean="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4</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3</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2</m:t>
                    </m:r>
                    <m:r>
                      <m:rPr>
                        <m:nor/>
                      </m:rPr>
                      <a:rPr lang="en-US" altLang="zh-CN" sz="2400" i="1" dirty="0">
                        <a:latin typeface="Cambria Math" panose="02040503050406030204" pitchFamily="18" charset="0"/>
                        <a:ea typeface="Cambria Math" panose="02040503050406030204" pitchFamily="18" charset="0"/>
                      </a:rPr>
                      <m:t>P</m:t>
                    </m:r>
                    <m:r>
                      <m:rPr>
                        <m:nor/>
                      </m:rPr>
                      <a:rPr lang="en-US" altLang="zh-CN" sz="2400" i="1" baseline="-25000" dirty="0">
                        <a:latin typeface="Cambria Math" panose="02040503050406030204" pitchFamily="18" charset="0"/>
                        <a:ea typeface="Cambria Math" panose="02040503050406030204" pitchFamily="18" charset="0"/>
                      </a:rPr>
                      <m:t>1</m:t>
                    </m:r>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0</m:t>
                    </m:r>
                  </m:oMath>
                </a14:m>
                <a:endParaRPr lang="en-US" altLang="zh-CN" sz="2400" i="1" baseline="-25000" dirty="0" smtClean="0">
                  <a:latin typeface="Cambria Math" panose="02040503050406030204" pitchFamily="18" charset="0"/>
                  <a:ea typeface="Cambria Math" panose="02040503050406030204" pitchFamily="18" charset="0"/>
                </a:endParaRPr>
              </a:p>
              <a:p>
                <a:pPr>
                  <a:lnSpc>
                    <a:spcPts val="4000"/>
                  </a:lnSpc>
                </a:pPr>
                <a:r>
                  <a:rPr lang="zh-CN" altLang="en-US" sz="2400" dirty="0">
                    <a:latin typeface="楷体" panose="02010609060101010101" pitchFamily="49" charset="-122"/>
                    <a:ea typeface="楷体" panose="02010609060101010101" pitchFamily="49" charset="-122"/>
                  </a:rPr>
                  <a:t>各位和的输出</a:t>
                </a:r>
                <a:r>
                  <a:rPr lang="zh-CN" altLang="en-US" sz="2400" dirty="0" smtClean="0">
                    <a:latin typeface="楷体" panose="02010609060101010101" pitchFamily="49" charset="-122"/>
                    <a:ea typeface="楷体" panose="02010609060101010101" pitchFamily="49" charset="-122"/>
                  </a:rPr>
                  <a:t>为：</a:t>
                </a:r>
                <a:endParaRPr lang="en-US" altLang="zh-CN" sz="2400" dirty="0" smtClean="0">
                  <a:latin typeface="楷体" panose="02010609060101010101" pitchFamily="49" charset="-122"/>
                  <a:ea typeface="楷体" panose="02010609060101010101" pitchFamily="49" charset="-122"/>
                </a:endParaRPr>
              </a:p>
              <a:p>
                <a:pPr marL="534988">
                  <a:lnSpc>
                    <a:spcPts val="40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𝑆</m:t>
                    </m:r>
                    <m:r>
                      <a:rPr lang="en-US" altLang="zh-CN" sz="2400" i="1" baseline="-25000" dirty="0" smtClean="0">
                        <a:latin typeface="Cambria Math" panose="02040503050406030204" pitchFamily="18" charset="0"/>
                        <a:ea typeface="Cambria Math" panose="02040503050406030204" pitchFamily="18" charset="0"/>
                      </a:rPr>
                      <m:t>𝑖</m:t>
                    </m:r>
                  </m:oMath>
                </a14:m>
                <a:r>
                  <a:rPr lang="en-US" altLang="zh-CN" sz="2400" dirty="0" smtClean="0">
                    <a:latin typeface="Cambria Math" panose="02040503050406030204" pitchFamily="18" charset="0"/>
                    <a:ea typeface="Cambria Math" panose="02040503050406030204" pitchFamily="18" charset="0"/>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𝑃</m:t>
                    </m:r>
                    <m:r>
                      <a:rPr lang="en-US" altLang="zh-CN" sz="2400" i="1" baseline="-25000" dirty="0" smtClean="0">
                        <a:latin typeface="Cambria Math" panose="02040503050406030204" pitchFamily="18" charset="0"/>
                        <a:ea typeface="Cambria Math" panose="02040503050406030204" pitchFamily="18" charset="0"/>
                      </a:rPr>
                      <m:t>𝑖</m:t>
                    </m:r>
                    <m:r>
                      <a:rPr lang="en-US" altLang="zh-CN" sz="2400" i="1" baseline="-25000" dirty="0" smtClean="0">
                        <a:latin typeface="Cambria Math" panose="02040503050406030204" pitchFamily="18" charset="0"/>
                        <a:ea typeface="Cambria Math" panose="02040503050406030204" pitchFamily="18" charset="0"/>
                      </a:rPr>
                      <m:t> </m:t>
                    </m:r>
                    <m:r>
                      <a:rPr lang="en-US" altLang="zh-CN" sz="2400">
                        <a:latin typeface="Cambria Math" panose="02040503050406030204" pitchFamily="18" charset="0"/>
                        <a:ea typeface="Cambria Math" panose="02040503050406030204" pitchFamily="18" charset="0"/>
                      </a:rPr>
                      <m:t>⊕</m:t>
                    </m:r>
                    <m:sSub>
                      <m:sSubPr>
                        <m:ctrlPr>
                          <a:rPr lang="en-US" altLang="zh-CN" sz="2400" i="1" dirty="0">
                            <a:latin typeface="Cambria Math" panose="02040503050406030204" pitchFamily="18" charset="0"/>
                            <a:ea typeface="楷体" panose="02010609060101010101" pitchFamily="49" charset="-122"/>
                          </a:rPr>
                        </m:ctrlPr>
                      </m:sSubPr>
                      <m:e>
                        <m:r>
                          <a:rPr lang="en-US" altLang="zh-CN" sz="2400" i="1" dirty="0">
                            <a:latin typeface="Cambria Math" panose="02040503050406030204" pitchFamily="18" charset="0"/>
                            <a:ea typeface="楷体" panose="02010609060101010101" pitchFamily="49" charset="-122"/>
                          </a:rPr>
                          <m:t>𝐶</m:t>
                        </m:r>
                      </m:e>
                      <m:sub>
                        <m:r>
                          <a:rPr lang="en-US" altLang="zh-CN" sz="2400" i="1" dirty="0">
                            <a:latin typeface="Cambria Math" panose="02040503050406030204" pitchFamily="18" charset="0"/>
                            <a:ea typeface="楷体" panose="02010609060101010101" pitchFamily="49" charset="-122"/>
                          </a:rPr>
                          <m:t>𝑖</m:t>
                        </m:r>
                        <m:r>
                          <a:rPr lang="en-US" altLang="zh-CN" sz="2400" i="1" dirty="0">
                            <a:latin typeface="Cambria Math" panose="02040503050406030204" pitchFamily="18" charset="0"/>
                            <a:ea typeface="楷体" panose="02010609060101010101" pitchFamily="49" charset="-122"/>
                          </a:rPr>
                          <m:t>−1</m:t>
                        </m:r>
                      </m:sub>
                    </m:sSub>
                  </m:oMath>
                </a14:m>
                <a:endParaRPr lang="en-US" altLang="zh-CN" sz="2400" dirty="0" smtClean="0">
                  <a:latin typeface="楷体" panose="02010609060101010101" pitchFamily="49" charset="-122"/>
                  <a:ea typeface="楷体" panose="02010609060101010101" pitchFamily="49" charset="-122"/>
                </a:endParaRPr>
              </a:p>
              <a:p>
                <a:pPr marL="534988">
                  <a:lnSpc>
                    <a:spcPts val="4000"/>
                  </a:lnSpc>
                </a:pPr>
                <a:r>
                  <a:rPr lang="zh-CN" altLang="en-US" sz="2400" dirty="0" smtClean="0">
                    <a:latin typeface="楷体" panose="02010609060101010101" pitchFamily="49" charset="-122"/>
                    <a:ea typeface="楷体" panose="02010609060101010101" pitchFamily="49" charset="-122"/>
                  </a:rPr>
                  <a:t>进位</a:t>
                </a:r>
                <a:r>
                  <a:rPr lang="zh-CN" altLang="en-US" sz="2400" dirty="0">
                    <a:latin typeface="楷体" panose="02010609060101010101" pitchFamily="49" charset="-122"/>
                    <a:ea typeface="楷体" panose="02010609060101010101" pitchFamily="49" charset="-122"/>
                  </a:rPr>
                  <a:t>表达式表明，最低位的进位信号</a:t>
                </a:r>
                <a14:m>
                  <m:oMath xmlns:m="http://schemas.openxmlformats.org/officeDocument/2006/math">
                    <m:r>
                      <a:rPr lang="zh-CN" altLang="en-US" sz="2400" i="1" dirty="0" smtClean="0">
                        <a:latin typeface="Cambria Math" panose="02040503050406030204" pitchFamily="18" charset="0"/>
                        <a:ea typeface="楷体" panose="02010609060101010101" pitchFamily="49" charset="-122"/>
                      </a:rPr>
                      <m:t> </m:t>
                    </m:r>
                    <m:r>
                      <a:rPr lang="en-US" altLang="zh-CN" sz="2400" i="1" dirty="0">
                        <a:latin typeface="Cambria Math" panose="02040503050406030204" pitchFamily="18" charset="0"/>
                        <a:ea typeface="Cambria Math" panose="02040503050406030204" pitchFamily="18" charset="0"/>
                      </a:rPr>
                      <m:t>𝐶</m:t>
                    </m:r>
                    <m:r>
                      <a:rPr lang="en-US" altLang="zh-CN" sz="2400" i="1" baseline="-25000" dirty="0">
                        <a:latin typeface="Cambria Math" panose="02040503050406030204" pitchFamily="18" charset="0"/>
                        <a:ea typeface="Cambria Math" panose="02040503050406030204" pitchFamily="18" charset="0"/>
                      </a:rPr>
                      <m:t>0</m:t>
                    </m:r>
                  </m:oMath>
                </a14:m>
                <a:r>
                  <a:rPr lang="zh-CN" altLang="en-US" sz="2400" dirty="0" smtClean="0">
                    <a:latin typeface="楷体" panose="02010609060101010101" pitchFamily="49" charset="-122"/>
                    <a:ea typeface="楷体" panose="02010609060101010101" pitchFamily="49" charset="-122"/>
                  </a:rPr>
                  <a:t>可以</a:t>
                </a:r>
                <a:r>
                  <a:rPr lang="zh-CN" altLang="en-US" sz="2400" dirty="0">
                    <a:latin typeface="楷体" panose="02010609060101010101" pitchFamily="49" charset="-122"/>
                    <a:ea typeface="楷体" panose="02010609060101010101" pitchFamily="49" charset="-122"/>
                  </a:rPr>
                  <a:t>超前传送到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𝐶</m:t>
                    </m:r>
                    <m:r>
                      <a:rPr lang="en-US" altLang="zh-CN" sz="2400" i="1" baseline="-25000" dirty="0" smtClean="0">
                        <a:latin typeface="Cambria Math" panose="02040503050406030204" pitchFamily="18" charset="0"/>
                        <a:ea typeface="Cambria Math" panose="02040503050406030204" pitchFamily="18" charset="0"/>
                      </a:rPr>
                      <m:t>4 </m:t>
                    </m:r>
                  </m:oMath>
                </a14:m>
                <a:r>
                  <a:rPr lang="en-US" altLang="zh-CN" sz="2400" dirty="0" smtClean="0">
                    <a:latin typeface="楷体" panose="02010609060101010101" pitchFamily="49" charset="-122"/>
                    <a:ea typeface="楷体" panose="02010609060101010101" pitchFamily="49" charset="-122"/>
                  </a:rPr>
                  <a:t>,</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𝑆</m:t>
                    </m:r>
                    <m:r>
                      <a:rPr lang="en-US" altLang="zh-CN" sz="2400" i="1" baseline="-25000" dirty="0" smtClean="0">
                        <a:latin typeface="Cambria Math" panose="02040503050406030204" pitchFamily="18" charset="0"/>
                        <a:ea typeface="Cambria Math" panose="02040503050406030204" pitchFamily="18" charset="0"/>
                      </a:rPr>
                      <m:t>4</m:t>
                    </m:r>
                  </m:oMath>
                </a14:m>
                <a:r>
                  <a:rPr lang="zh-CN" altLang="en-US" sz="2400" dirty="0" smtClean="0">
                    <a:latin typeface="楷体" panose="02010609060101010101" pitchFamily="49" charset="-122"/>
                    <a:ea typeface="楷体" panose="02010609060101010101" pitchFamily="49" charset="-122"/>
                  </a:rPr>
                  <a:t>等</a:t>
                </a:r>
                <a:r>
                  <a:rPr lang="zh-CN" altLang="en-US" sz="2400" dirty="0">
                    <a:latin typeface="楷体" panose="02010609060101010101" pitchFamily="49" charset="-122"/>
                    <a:ea typeface="楷体" panose="02010609060101010101" pitchFamily="49" charset="-122"/>
                  </a:rPr>
                  <a:t>各位上，从而</a:t>
                </a:r>
                <a:r>
                  <a:rPr lang="zh-CN" altLang="en-US" sz="2400" dirty="0" smtClean="0">
                    <a:latin typeface="楷体" panose="02010609060101010101" pitchFamily="49" charset="-122"/>
                    <a:ea typeface="楷体" panose="02010609060101010101" pitchFamily="49" charset="-122"/>
                  </a:rPr>
                  <a:t>大大加快</a:t>
                </a:r>
                <a:r>
                  <a:rPr lang="zh-CN" altLang="en-US" sz="2400" dirty="0">
                    <a:latin typeface="楷体" panose="02010609060101010101" pitchFamily="49" charset="-122"/>
                    <a:ea typeface="楷体" panose="02010609060101010101" pitchFamily="49" charset="-122"/>
                  </a:rPr>
                  <a:t>了进位信号的传递时间</a:t>
                </a:r>
                <a:endParaRPr lang="en-US" altLang="zh-CN" sz="2400" dirty="0" smtClean="0">
                  <a:latin typeface="楷体" panose="02010609060101010101" pitchFamily="49" charset="-122"/>
                  <a:ea typeface="楷体" panose="02010609060101010101" pitchFamily="49"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614218" y="0"/>
                <a:ext cx="8529782" cy="4708981"/>
              </a:xfrm>
              <a:prstGeom prst="rect">
                <a:avLst/>
              </a:prstGeom>
              <a:blipFill>
                <a:blip r:embed="rId2"/>
                <a:stretch>
                  <a:fillRect l="-1144" b="-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614218" y="5352059"/>
                <a:ext cx="7624619" cy="960006"/>
              </a:xfrm>
              <a:prstGeom prst="rect">
                <a:avLst/>
              </a:prstGeom>
            </p:spPr>
            <p:txBody>
              <a:bodyPr wrap="square">
                <a:spAutoFit/>
              </a:bodyPr>
              <a:lstStyle/>
              <a:p>
                <a:pPr>
                  <a:lnSpc>
                    <a:spcPts val="3500"/>
                  </a:lnSpc>
                </a:pPr>
                <a:r>
                  <a:rPr lang="zh-CN" altLang="en-US" sz="2400" dirty="0" smtClean="0">
                    <a:latin typeface="+mn-ea"/>
                  </a:rPr>
                  <a:t>思考题：与门</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𝑡</m:t>
                            </m:r>
                          </m:e>
                        </m:acc>
                      </m:e>
                      <m:sub>
                        <m:r>
                          <a:rPr lang="en-US" altLang="zh-CN" sz="2400" i="1">
                            <a:latin typeface="Cambria Math" panose="02040503050406030204" pitchFamily="18" charset="0"/>
                          </a:rPr>
                          <m:t>𝑦</m:t>
                        </m:r>
                      </m:sub>
                    </m:sSub>
                  </m:oMath>
                </a14:m>
                <a:r>
                  <a:rPr lang="en-US" altLang="zh-CN" sz="2400" dirty="0">
                    <a:latin typeface="+mn-ea"/>
                  </a:rPr>
                  <a:t>=10ns, </a:t>
                </a:r>
                <a:r>
                  <a:rPr lang="zh-CN" altLang="en-US" sz="2400" dirty="0">
                    <a:latin typeface="+mn-ea"/>
                  </a:rPr>
                  <a:t>或非门</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𝑡</m:t>
                            </m:r>
                          </m:e>
                        </m:acc>
                      </m:e>
                      <m:sub>
                        <m:r>
                          <a:rPr lang="en-US" altLang="zh-CN" sz="2400" i="1">
                            <a:latin typeface="Cambria Math" panose="02040503050406030204" pitchFamily="18" charset="0"/>
                          </a:rPr>
                          <m:t>𝑦</m:t>
                        </m:r>
                      </m:sub>
                    </m:sSub>
                  </m:oMath>
                </a14:m>
                <a:r>
                  <a:rPr lang="en-US" altLang="zh-CN" sz="2400" dirty="0">
                    <a:latin typeface="+mn-ea"/>
                  </a:rPr>
                  <a:t>=20ns,   </a:t>
                </a:r>
                <a:r>
                  <a:rPr lang="zh-CN" altLang="en-US" sz="2400" dirty="0">
                    <a:latin typeface="+mn-ea"/>
                  </a:rPr>
                  <a:t>异或门</a:t>
                </a:r>
                <a14:m>
                  <m:oMath xmlns:m="http://schemas.openxmlformats.org/officeDocument/2006/math">
                    <m:sSub>
                      <m:sSubPr>
                        <m:ctrlPr>
                          <a:rPr lang="en-US" altLang="zh-CN" sz="2400" i="1">
                            <a:latin typeface="Cambria Math" panose="02040503050406030204" pitchFamily="18" charset="0"/>
                            <a:ea typeface="楷体" panose="02010609060101010101" pitchFamily="49" charset="-122"/>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𝑡</m:t>
                            </m:r>
                          </m:e>
                        </m:acc>
                      </m:e>
                      <m:sub>
                        <m:r>
                          <a:rPr lang="en-US" altLang="zh-CN" sz="2400" i="1">
                            <a:latin typeface="Cambria Math" panose="02040503050406030204" pitchFamily="18" charset="0"/>
                          </a:rPr>
                          <m:t>𝑦</m:t>
                        </m:r>
                      </m:sub>
                    </m:sSub>
                  </m:oMath>
                </a14:m>
                <a:r>
                  <a:rPr lang="en-US" altLang="zh-CN" sz="2400" dirty="0">
                    <a:latin typeface="+mn-ea"/>
                  </a:rPr>
                  <a:t>=30ns,  </a:t>
                </a:r>
                <a:r>
                  <a:rPr lang="zh-CN" altLang="en-US" sz="2400" dirty="0">
                    <a:latin typeface="+mn-ea"/>
                  </a:rPr>
                  <a:t>并行加法器位数</a:t>
                </a:r>
                <a:r>
                  <a:rPr lang="en-US" altLang="zh-CN" sz="2400" dirty="0">
                    <a:latin typeface="+mn-ea"/>
                  </a:rPr>
                  <a:t>4</a:t>
                </a:r>
                <a:r>
                  <a:rPr lang="zh-CN" altLang="en-US" sz="2400" dirty="0">
                    <a:latin typeface="+mn-ea"/>
                  </a:rPr>
                  <a:t>位，</a:t>
                </a:r>
                <a:r>
                  <a:rPr lang="zh-CN" altLang="en-US" sz="2400" dirty="0" smtClean="0">
                    <a:latin typeface="+mn-ea"/>
                  </a:rPr>
                  <a:t>完成一</a:t>
                </a:r>
                <a:r>
                  <a:rPr lang="zh-CN" altLang="en-US" sz="2400" dirty="0">
                    <a:latin typeface="+mn-ea"/>
                  </a:rPr>
                  <a:t>次加法运算的时间是多少</a:t>
                </a:r>
                <a:r>
                  <a:rPr lang="en-US" altLang="zh-CN" sz="2400" dirty="0">
                    <a:latin typeface="+mn-ea"/>
                  </a:rPr>
                  <a:t>?</a:t>
                </a:r>
                <a:endParaRPr lang="zh-CN" altLang="en-US" sz="2400" dirty="0">
                  <a:latin typeface="+mn-ea"/>
                </a:endParaRPr>
              </a:p>
            </p:txBody>
          </p:sp>
        </mc:Choice>
        <mc:Fallback xmlns="">
          <p:sp>
            <p:nvSpPr>
              <p:cNvPr id="9" name="矩形 8"/>
              <p:cNvSpPr>
                <a:spLocks noRot="1" noChangeAspect="1" noMove="1" noResize="1" noEditPoints="1" noAdjustHandles="1" noChangeArrowheads="1" noChangeShapeType="1" noTextEdit="1"/>
              </p:cNvSpPr>
              <p:nvPr/>
            </p:nvSpPr>
            <p:spPr>
              <a:xfrm>
                <a:off x="614218" y="5352059"/>
                <a:ext cx="7624619" cy="960006"/>
              </a:xfrm>
              <a:prstGeom prst="rect">
                <a:avLst/>
              </a:prstGeom>
              <a:blipFill>
                <a:blip r:embed="rId3"/>
                <a:stretch>
                  <a:fillRect l="-1279" r="-4317" b="-146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2579153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1209964"/>
          </a:xfrm>
        </p:spPr>
        <p:txBody>
          <a:bodyPr/>
          <a:lstStyle/>
          <a:p>
            <a:r>
              <a:rPr lang="en-US" altLang="zh-CN" dirty="0">
                <a:latin typeface="楷体" panose="02010609060101010101" pitchFamily="49" charset="-122"/>
                <a:ea typeface="楷体" panose="02010609060101010101" pitchFamily="49" charset="-122"/>
              </a:rPr>
              <a:t>2.7  </a:t>
            </a:r>
            <a:r>
              <a:rPr lang="en-US" altLang="zh-CN" dirty="0" err="1">
                <a:latin typeface="楷体" panose="02010609060101010101" pitchFamily="49" charset="-122"/>
                <a:ea typeface="楷体" panose="02010609060101010101" pitchFamily="49" charset="-122"/>
              </a:rPr>
              <a:t>奇偶校验器</a:t>
            </a:r>
            <a:r>
              <a:rPr lang="en-US" altLang="zh-CN"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997527" y="1025238"/>
            <a:ext cx="7102764" cy="4230254"/>
          </a:xfrm>
        </p:spPr>
        <p:txBody>
          <a:bodyPr>
            <a:normAutofit/>
          </a:bodyPr>
          <a:lstStyle/>
          <a:p>
            <a:pPr>
              <a:lnSpc>
                <a:spcPts val="3500"/>
              </a:lnSpc>
            </a:pPr>
            <a:r>
              <a:rPr lang="zh-CN" altLang="en-US" dirty="0">
                <a:latin typeface="楷体" panose="02010609060101010101" pitchFamily="49" charset="-122"/>
                <a:ea typeface="楷体" panose="02010609060101010101" pitchFamily="49" charset="-122"/>
              </a:rPr>
              <a:t>奇偶校验的</a:t>
            </a:r>
            <a:r>
              <a:rPr lang="zh-CN" altLang="en-US" dirty="0" smtClean="0">
                <a:latin typeface="楷体" panose="02010609060101010101" pitchFamily="49" charset="-122"/>
                <a:ea typeface="楷体" panose="02010609060101010101" pitchFamily="49" charset="-122"/>
              </a:rPr>
              <a:t>基本原理</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在数字通信中，二进制信息的传输可能出现差错</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变</a:t>
            </a:r>
            <a:r>
              <a:rPr lang="en-US" altLang="zh-CN" dirty="0">
                <a:latin typeface="楷体" panose="02010609060101010101" pitchFamily="49" charset="-122"/>
                <a:ea typeface="楷体" panose="02010609060101010101" pitchFamily="49" charset="-122"/>
              </a:rPr>
              <a:t>0,0</a:t>
            </a:r>
            <a:r>
              <a:rPr lang="zh-CN" altLang="en-US" dirty="0">
                <a:latin typeface="楷体" panose="02010609060101010101" pitchFamily="49" charset="-122"/>
                <a:ea typeface="楷体" panose="02010609060101010101" pitchFamily="49" charset="-122"/>
              </a:rPr>
              <a:t>变</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。为了检验这种错误，常用的方法是一个字节的数据附加一个校验位，使</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的个数成奇数</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奇校验</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或偶数</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偶校验</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为了在所给的代码中产生或校验奇偶的正确性，经常应用这样一个基本原理：</a:t>
            </a:r>
            <a:r>
              <a:rPr lang="zh-CN" altLang="en-US" dirty="0">
                <a:solidFill>
                  <a:schemeClr val="accent1"/>
                </a:solidFill>
                <a:latin typeface="楷体" panose="02010609060101010101" pitchFamily="49" charset="-122"/>
                <a:ea typeface="楷体" panose="02010609060101010101" pitchFamily="49" charset="-122"/>
              </a:rPr>
              <a:t>偶数个</a:t>
            </a:r>
            <a:r>
              <a:rPr lang="en-US" altLang="zh-CN" dirty="0">
                <a:solidFill>
                  <a:schemeClr val="accent1"/>
                </a:solidFill>
                <a:latin typeface="楷体" panose="02010609060101010101" pitchFamily="49" charset="-122"/>
                <a:ea typeface="楷体" panose="02010609060101010101" pitchFamily="49" charset="-122"/>
              </a:rPr>
              <a:t>1,</a:t>
            </a:r>
            <a:r>
              <a:rPr lang="zh-CN" altLang="en-US" dirty="0">
                <a:solidFill>
                  <a:schemeClr val="accent1"/>
                </a:solidFill>
                <a:latin typeface="楷体" panose="02010609060101010101" pitchFamily="49" charset="-122"/>
                <a:ea typeface="楷体" panose="02010609060101010101" pitchFamily="49" charset="-122"/>
              </a:rPr>
              <a:t>它的和数总是</a:t>
            </a:r>
            <a:r>
              <a:rPr lang="en-US" altLang="zh-CN" dirty="0">
                <a:solidFill>
                  <a:schemeClr val="accent1"/>
                </a:solidFill>
                <a:latin typeface="楷体" panose="02010609060101010101" pitchFamily="49" charset="-122"/>
                <a:ea typeface="楷体" panose="02010609060101010101" pitchFamily="49" charset="-122"/>
              </a:rPr>
              <a:t>0;</a:t>
            </a:r>
            <a:r>
              <a:rPr lang="zh-CN" altLang="en-US" dirty="0">
                <a:solidFill>
                  <a:schemeClr val="accent1"/>
                </a:solidFill>
                <a:latin typeface="楷体" panose="02010609060101010101" pitchFamily="49" charset="-122"/>
                <a:ea typeface="楷体" panose="02010609060101010101" pitchFamily="49" charset="-122"/>
              </a:rPr>
              <a:t>奇数个</a:t>
            </a:r>
            <a:r>
              <a:rPr lang="en-US" altLang="zh-CN" dirty="0">
                <a:solidFill>
                  <a:schemeClr val="accent1"/>
                </a:solidFill>
                <a:latin typeface="楷体" panose="02010609060101010101" pitchFamily="49" charset="-122"/>
                <a:ea typeface="楷体" panose="02010609060101010101" pitchFamily="49" charset="-122"/>
              </a:rPr>
              <a:t>1,</a:t>
            </a:r>
            <a:r>
              <a:rPr lang="zh-CN" altLang="en-US" dirty="0">
                <a:solidFill>
                  <a:schemeClr val="accent1"/>
                </a:solidFill>
                <a:latin typeface="楷体" panose="02010609060101010101" pitchFamily="49" charset="-122"/>
                <a:ea typeface="楷体" panose="02010609060101010101" pitchFamily="49" charset="-122"/>
              </a:rPr>
              <a:t>它的和数总是</a:t>
            </a:r>
            <a:r>
              <a:rPr lang="en-US" altLang="zh-CN" dirty="0">
                <a:solidFill>
                  <a:schemeClr val="accent1"/>
                </a:solidFill>
                <a:latin typeface="楷体" panose="02010609060101010101" pitchFamily="49" charset="-122"/>
                <a:ea typeface="楷体" panose="02010609060101010101" pitchFamily="49" charset="-122"/>
              </a:rPr>
              <a:t>1</a:t>
            </a:r>
            <a:r>
              <a:rPr lang="zh-CN" altLang="en-US" dirty="0" smtClean="0">
                <a:solidFill>
                  <a:schemeClr val="accent1"/>
                </a:solidFill>
                <a:latin typeface="楷体" panose="02010609060101010101" pitchFamily="49" charset="-122"/>
                <a:ea typeface="楷体" panose="02010609060101010101" pitchFamily="49" charset="-122"/>
              </a:rPr>
              <a:t>。</a:t>
            </a:r>
            <a:endParaRPr lang="en-US" altLang="zh-CN" dirty="0">
              <a:solidFill>
                <a:schemeClr val="accent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60666455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1209964"/>
          </a:xfrm>
        </p:spPr>
        <p:txBody>
          <a:bodyPr/>
          <a:lstStyle/>
          <a:p>
            <a:r>
              <a:rPr lang="en-US" altLang="zh-CN" dirty="0">
                <a:latin typeface="楷体" panose="02010609060101010101" pitchFamily="49" charset="-122"/>
                <a:ea typeface="楷体" panose="02010609060101010101" pitchFamily="49" charset="-122"/>
              </a:rPr>
              <a:t>2.7  </a:t>
            </a:r>
            <a:r>
              <a:rPr lang="en-US" altLang="zh-CN" dirty="0" err="1">
                <a:latin typeface="楷体" panose="02010609060101010101" pitchFamily="49" charset="-122"/>
                <a:ea typeface="楷体" panose="02010609060101010101" pitchFamily="49" charset="-122"/>
              </a:rPr>
              <a:t>奇偶校验器</a:t>
            </a:r>
            <a:r>
              <a:rPr lang="en-US" altLang="zh-CN"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3941618"/>
            <a:ext cx="7886700" cy="5832763"/>
          </a:xfrm>
        </p:spPr>
        <p:txBody>
          <a:bodyPr>
            <a:normAutofit/>
          </a:bodyPr>
          <a:lstStyle/>
          <a:p>
            <a:pPr>
              <a:lnSpc>
                <a:spcPts val="3500"/>
              </a:lnSpc>
            </a:pPr>
            <a:r>
              <a:rPr lang="zh-CN" altLang="en-US" dirty="0">
                <a:latin typeface="楷体" panose="02010609060101010101" pitchFamily="49" charset="-122"/>
                <a:ea typeface="楷体" panose="02010609060101010101" pitchFamily="49" charset="-122"/>
              </a:rPr>
              <a:t>奇偶校验的</a:t>
            </a:r>
            <a:r>
              <a:rPr lang="zh-CN" altLang="en-US" dirty="0" smtClean="0">
                <a:latin typeface="楷体" panose="02010609060101010101" pitchFamily="49" charset="-122"/>
                <a:ea typeface="楷体" panose="02010609060101010101" pitchFamily="49" charset="-122"/>
              </a:rPr>
              <a:t>基本原理</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因此</a:t>
            </a:r>
            <a:r>
              <a:rPr lang="zh-CN" altLang="en-US" dirty="0">
                <a:latin typeface="楷体" panose="02010609060101010101" pitchFamily="49" charset="-122"/>
                <a:ea typeface="楷体" panose="02010609060101010101" pitchFamily="49" charset="-122"/>
              </a:rPr>
              <a:t>，根据所给的代码中全部位数相加的和数来进行奇校验或偶校验。</a:t>
            </a:r>
            <a:endParaRPr lang="en-US" altLang="zh-CN" dirty="0">
              <a:latin typeface="楷体" panose="02010609060101010101" pitchFamily="49" charset="-122"/>
              <a:ea typeface="楷体" panose="02010609060101010101" pitchFamily="49" charset="-122"/>
            </a:endParaRPr>
          </a:p>
          <a:p>
            <a:pPr lvl="2">
              <a:lnSpc>
                <a:spcPts val="3500"/>
              </a:lnSpc>
            </a:pPr>
            <a:r>
              <a:rPr lang="en-US" altLang="zh-CN" sz="2400" dirty="0" smtClean="0">
                <a:latin typeface="楷体" panose="02010609060101010101" pitchFamily="49" charset="-122"/>
                <a:ea typeface="楷体" panose="02010609060101010101" pitchFamily="49" charset="-122"/>
              </a:rPr>
              <a:t>2</a:t>
            </a:r>
            <a:r>
              <a:rPr lang="zh-CN" altLang="en-US" sz="2400" dirty="0" smtClean="0">
                <a:latin typeface="楷体" panose="02010609060101010101" pitchFamily="49" charset="-122"/>
                <a:ea typeface="楷体" panose="02010609060101010101" pitchFamily="49" charset="-122"/>
              </a:rPr>
              <a:t>比特</a:t>
            </a:r>
            <a:r>
              <a:rPr lang="zh-CN" altLang="en-US" sz="2400" dirty="0">
                <a:latin typeface="楷体" panose="02010609060101010101" pitchFamily="49" charset="-122"/>
                <a:ea typeface="楷体" panose="02010609060101010101" pitchFamily="49" charset="-122"/>
              </a:rPr>
              <a:t>求和可用</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个异或门来产生，</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比特求和可用</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个异或门来产生</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a:p>
            <a:endParaRPr lang="zh-CN" altLang="en-US" dirty="0" smtClean="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2"/>
          <a:stretch>
            <a:fillRect/>
          </a:stretch>
        </p:blipFill>
        <p:spPr>
          <a:xfrm>
            <a:off x="1053523" y="1209965"/>
            <a:ext cx="7039957" cy="2543530"/>
          </a:xfrm>
          <a:prstGeom prst="rect">
            <a:avLst/>
          </a:prstGeom>
        </p:spPr>
      </p:pic>
    </p:spTree>
    <p:extLst>
      <p:ext uri="{BB962C8B-B14F-4D97-AF65-F5344CB8AC3E}">
        <p14:creationId xmlns:p14="http://schemas.microsoft.com/office/powerpoint/2010/main" val="105531304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1209964"/>
          </a:xfrm>
        </p:spPr>
        <p:txBody>
          <a:bodyPr/>
          <a:lstStyle/>
          <a:p>
            <a:r>
              <a:rPr lang="en-US" altLang="zh-CN" dirty="0">
                <a:latin typeface="楷体" panose="02010609060101010101" pitchFamily="49" charset="-122"/>
                <a:ea typeface="楷体" panose="02010609060101010101" pitchFamily="49" charset="-122"/>
              </a:rPr>
              <a:t>2.7  </a:t>
            </a:r>
            <a:r>
              <a:rPr lang="en-US" altLang="zh-CN" dirty="0" err="1">
                <a:latin typeface="楷体" panose="02010609060101010101" pitchFamily="49" charset="-122"/>
                <a:ea typeface="楷体" panose="02010609060101010101" pitchFamily="49" charset="-122"/>
              </a:rPr>
              <a:t>奇偶校验器</a:t>
            </a:r>
            <a:r>
              <a:rPr lang="en-US" altLang="zh-CN"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045527" y="1089892"/>
                <a:ext cx="4469822" cy="5070763"/>
              </a:xfrm>
            </p:spPr>
            <p:txBody>
              <a:bodyPr>
                <a:normAutofit/>
              </a:bodyPr>
              <a:lstStyle/>
              <a:p>
                <a:pPr marL="360363" lvl="1" indent="-360363">
                  <a:lnSpc>
                    <a:spcPts val="3500"/>
                  </a:lnSpc>
                </a:pPr>
                <a:r>
                  <a:rPr lang="zh-CN" altLang="en-US" dirty="0" smtClean="0">
                    <a:latin typeface="楷体" panose="02010609060101010101" pitchFamily="49" charset="-122"/>
                    <a:ea typeface="楷体" panose="02010609060101010101" pitchFamily="49" charset="-122"/>
                  </a:rPr>
                  <a:t>图</a:t>
                </a:r>
                <a:r>
                  <a:rPr lang="en-US" altLang="zh-CN" dirty="0">
                    <a:latin typeface="楷体" panose="02010609060101010101" pitchFamily="49" charset="-122"/>
                    <a:ea typeface="楷体" panose="02010609060101010101" pitchFamily="49" charset="-122"/>
                  </a:rPr>
                  <a:t>2.34</a:t>
                </a:r>
                <a:r>
                  <a:rPr lang="zh-CN" altLang="en-US" dirty="0">
                    <a:latin typeface="楷体" panose="02010609060101010101" pitchFamily="49" charset="-122"/>
                    <a:ea typeface="楷体" panose="02010609060101010101" pitchFamily="49" charset="-122"/>
                  </a:rPr>
                  <a:t>示出芯片</a:t>
                </a:r>
                <a:r>
                  <a:rPr lang="en-US" altLang="zh-CN" dirty="0" smtClean="0">
                    <a:latin typeface="楷体" panose="02010609060101010101" pitchFamily="49" charset="-122"/>
                    <a:ea typeface="楷体" panose="02010609060101010101" pitchFamily="49" charset="-122"/>
                  </a:rPr>
                  <a:t>74LS280</a:t>
                </a:r>
                <a:r>
                  <a:rPr lang="zh-CN" altLang="en-US" dirty="0" smtClean="0">
                    <a:latin typeface="楷体" panose="02010609060101010101" pitchFamily="49" charset="-122"/>
                    <a:ea typeface="楷体" panose="02010609060101010101" pitchFamily="49" charset="-122"/>
                  </a:rPr>
                  <a:t>奇偶</a:t>
                </a:r>
                <a:r>
                  <a:rPr lang="zh-CN" altLang="en-US" dirty="0">
                    <a:latin typeface="楷体" panose="02010609060101010101" pitchFamily="49" charset="-122"/>
                    <a:ea typeface="楷体" panose="02010609060101010101" pitchFamily="49" charset="-122"/>
                  </a:rPr>
                  <a:t>数校验发生器</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校验器的</a:t>
                </a:r>
                <a:r>
                  <a:rPr lang="zh-CN" altLang="en-US" b="1" dirty="0">
                    <a:latin typeface="楷体" panose="02010609060101010101" pitchFamily="49" charset="-122"/>
                    <a:ea typeface="楷体" panose="02010609060101010101" pitchFamily="49" charset="-122"/>
                  </a:rPr>
                  <a:t>逻辑框图</a:t>
                </a:r>
                <a:r>
                  <a:rPr lang="zh-CN" altLang="en-US" dirty="0">
                    <a:latin typeface="楷体" panose="02010609060101010101" pitchFamily="49" charset="-122"/>
                    <a:ea typeface="楷体" panose="02010609060101010101" pitchFamily="49" charset="-122"/>
                  </a:rPr>
                  <a:t>，它用于</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位的码组 </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个数据位</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𝐼</m:t>
                    </m:r>
                    <m:r>
                      <a:rPr lang="en-US" altLang="zh-CN" i="1" baseline="-25000" dirty="0" smtClean="0">
                        <a:latin typeface="Cambria Math" panose="02040503050406030204" pitchFamily="18" charset="0"/>
                        <a:ea typeface="楷体" panose="02010609060101010101" pitchFamily="49" charset="-122"/>
                      </a:rPr>
                      <m:t>0</m:t>
                    </m:r>
                    <m:r>
                      <a:rPr lang="en-US" altLang="zh-CN" i="1" dirty="0" smtClean="0">
                        <a:latin typeface="Cambria Math" panose="02040503050406030204" pitchFamily="18" charset="0"/>
                        <a:ea typeface="楷体" panose="02010609060101010101" pitchFamily="49" charset="-122"/>
                      </a:rPr>
                      <m:t>~</m:t>
                    </m:r>
                    <m:r>
                      <a:rPr lang="en-US" altLang="zh-CN" i="1" dirty="0" smtClean="0">
                        <a:latin typeface="Cambria Math" panose="02040503050406030204" pitchFamily="18" charset="0"/>
                        <a:ea typeface="楷体" panose="02010609060101010101" pitchFamily="49" charset="-122"/>
                      </a:rPr>
                      <m:t>𝐼</m:t>
                    </m:r>
                    <m:r>
                      <a:rPr lang="en-US" altLang="zh-CN" i="1" baseline="-25000" dirty="0" smtClean="0">
                        <a:latin typeface="Cambria Math" panose="02040503050406030204" pitchFamily="18" charset="0"/>
                        <a:ea typeface="楷体" panose="02010609060101010101" pitchFamily="49" charset="-122"/>
                      </a:rPr>
                      <m:t>7</m:t>
                    </m:r>
                  </m:oMath>
                </a14:m>
                <a:r>
                  <a:rPr lang="zh-CN" altLang="en-US" dirty="0" smtClean="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个校验位</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𝐼</m:t>
                    </m:r>
                    <m:r>
                      <a:rPr lang="en-US" altLang="zh-CN" i="1" baseline="-25000" dirty="0" smtClean="0">
                        <a:latin typeface="Cambria Math" panose="02040503050406030204" pitchFamily="18" charset="0"/>
                        <a:ea typeface="楷体" panose="02010609060101010101" pitchFamily="49" charset="-122"/>
                      </a:rPr>
                      <m:t>8</m:t>
                    </m:r>
                  </m:oMath>
                </a14:m>
                <a:r>
                  <a:rPr lang="en-US" altLang="zh-CN" dirty="0" smtClean="0">
                    <a:latin typeface="楷体" panose="02010609060101010101" pitchFamily="49" charset="-122"/>
                    <a:ea typeface="楷体" panose="02010609060101010101" pitchFamily="49" charset="-122"/>
                  </a:rPr>
                  <a:t>),  </a:t>
                </a:r>
                <a:r>
                  <a:rPr lang="zh-CN" altLang="en-US" dirty="0" smtClean="0">
                    <a:latin typeface="楷体" panose="02010609060101010101" pitchFamily="49" charset="-122"/>
                    <a:ea typeface="楷体" panose="02010609060101010101" pitchFamily="49" charset="-122"/>
                  </a:rPr>
                  <a:t>有</a:t>
                </a:r>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个输出</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err="1">
                        <a:latin typeface="Cambria Math" panose="02040503050406030204" pitchFamily="18" charset="0"/>
                        <a:ea typeface="楷体" panose="02010609060101010101" pitchFamily="49" charset="-122"/>
                      </a:rPr>
                      <m:t>𝑒𝑣</m:t>
                    </m:r>
                  </m:oMath>
                </a14:m>
                <a:r>
                  <a:rPr lang="zh-CN" altLang="en-US" dirty="0">
                    <a:latin typeface="楷体" panose="02010609060101010101" pitchFamily="49" charset="-122"/>
                    <a:ea typeface="楷体" panose="02010609060101010101" pitchFamily="49" charset="-122"/>
                  </a:rPr>
                  <a:t>和</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err="1">
                        <a:latin typeface="Cambria Math" panose="02040503050406030204" pitchFamily="18" charset="0"/>
                        <a:ea typeface="楷体" panose="02010609060101010101" pitchFamily="49" charset="-122"/>
                      </a:rPr>
                      <m:t>𝑜𝑑</m:t>
                    </m:r>
                  </m:oMath>
                </a14:m>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marL="360363" lvl="1" indent="-360363">
                  <a:lnSpc>
                    <a:spcPts val="3500"/>
                  </a:lnSpc>
                </a:pPr>
                <a:r>
                  <a:rPr lang="zh-CN" altLang="en-US" dirty="0" smtClean="0">
                    <a:latin typeface="楷体" panose="02010609060101010101" pitchFamily="49" charset="-122"/>
                    <a:ea typeface="楷体" panose="02010609060101010101" pitchFamily="49" charset="-122"/>
                  </a:rPr>
                  <a:t>当</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个输入中</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的个数为</a:t>
                </a:r>
                <a:r>
                  <a:rPr lang="zh-CN" altLang="en-US" dirty="0" smtClean="0">
                    <a:latin typeface="楷体" panose="02010609060101010101" pitchFamily="49" charset="-122"/>
                    <a:ea typeface="楷体" panose="02010609060101010101" pitchFamily="49" charset="-122"/>
                  </a:rPr>
                  <a:t>奇数</a:t>
                </a:r>
                <a:r>
                  <a:rPr lang="zh-CN" altLang="en-US" dirty="0">
                    <a:latin typeface="楷体" panose="02010609060101010101" pitchFamily="49" charset="-122"/>
                    <a:ea typeface="楷体" panose="02010609060101010101" pitchFamily="49" charset="-122"/>
                  </a:rPr>
                  <a:t>时</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err="1" smtClean="0">
                        <a:latin typeface="Cambria Math" panose="02040503050406030204" pitchFamily="18" charset="0"/>
                        <a:ea typeface="楷体" panose="02010609060101010101" pitchFamily="49" charset="-122"/>
                      </a:rPr>
                      <m:t>𝑜𝑑</m:t>
                    </m:r>
                    <m:r>
                      <a:rPr lang="en-US" altLang="zh-CN" i="1" dirty="0" smtClean="0">
                        <a:latin typeface="Cambria Math" panose="02040503050406030204" pitchFamily="18" charset="0"/>
                        <a:ea typeface="楷体" panose="02010609060101010101" pitchFamily="49" charset="-122"/>
                      </a:rPr>
                      <m:t>=1</m:t>
                    </m:r>
                  </m:oMath>
                </a14:m>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高电平</a:t>
                </a:r>
                <a:r>
                  <a:rPr lang="en-US" altLang="zh-CN" dirty="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err="1">
                        <a:latin typeface="Cambria Math" panose="02040503050406030204" pitchFamily="18" charset="0"/>
                        <a:ea typeface="楷体" panose="02010609060101010101" pitchFamily="49" charset="-122"/>
                      </a:rPr>
                      <m:t>𝑒𝑣</m:t>
                    </m:r>
                  </m:oMath>
                </a14:m>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低电平</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当</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个输入中</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的个数为偶数时</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err="1" smtClean="0">
                        <a:latin typeface="Cambria Math" panose="02040503050406030204" pitchFamily="18" charset="0"/>
                        <a:ea typeface="楷体" panose="02010609060101010101" pitchFamily="49" charset="-122"/>
                      </a:rPr>
                      <m:t>𝑒𝑣</m:t>
                    </m:r>
                    <m:r>
                      <a:rPr lang="en-US" altLang="zh-CN" i="1" dirty="0" smtClean="0">
                        <a:latin typeface="Cambria Math" panose="02040503050406030204" pitchFamily="18" charset="0"/>
                        <a:ea typeface="楷体" panose="02010609060101010101" pitchFamily="49" charset="-122"/>
                      </a:rPr>
                      <m:t>=1</m:t>
                    </m:r>
                  </m:oMath>
                </a14:m>
                <a:r>
                  <a:rPr lang="en-US" altLang="zh-CN" dirty="0" smtClean="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smtClean="0">
                        <a:latin typeface="Cambria Math" panose="02040503050406030204" pitchFamily="18" charset="0"/>
                        <a:ea typeface="楷体" panose="02010609060101010101" pitchFamily="49" charset="-122"/>
                      </a:rPr>
                      <m:t>𝑜𝑑</m:t>
                    </m:r>
                  </m:oMath>
                </a14:m>
                <a:r>
                  <a:rPr lang="en-US" altLang="zh-CN" dirty="0" smtClean="0">
                    <a:latin typeface="楷体" panose="02010609060101010101" pitchFamily="49" charset="-122"/>
                    <a:ea typeface="楷体" panose="02010609060101010101" pitchFamily="49" charset="-122"/>
                  </a:rPr>
                  <a:t>=0</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045527" y="1089892"/>
                <a:ext cx="4469822" cy="5070763"/>
              </a:xfrm>
              <a:blipFill>
                <a:blip r:embed="rId2"/>
                <a:stretch>
                  <a:fillRect l="-1910" t="-601"/>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319734" y="1453080"/>
            <a:ext cx="3578009" cy="3783938"/>
          </a:xfrm>
          <a:prstGeom prst="rect">
            <a:avLst/>
          </a:prstGeom>
        </p:spPr>
      </p:pic>
    </p:spTree>
    <p:extLst>
      <p:ext uri="{BB962C8B-B14F-4D97-AF65-F5344CB8AC3E}">
        <p14:creationId xmlns:p14="http://schemas.microsoft.com/office/powerpoint/2010/main" val="246748967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1209964"/>
          </a:xfrm>
        </p:spPr>
        <p:txBody>
          <a:bodyPr/>
          <a:lstStyle/>
          <a:p>
            <a:r>
              <a:rPr lang="en-US" altLang="zh-CN" dirty="0">
                <a:latin typeface="楷体" panose="02010609060101010101" pitchFamily="49" charset="-122"/>
                <a:ea typeface="楷体" panose="02010609060101010101" pitchFamily="49" charset="-122"/>
              </a:rPr>
              <a:t>2.7  </a:t>
            </a:r>
            <a:r>
              <a:rPr lang="en-US" altLang="zh-CN" dirty="0" err="1">
                <a:latin typeface="楷体" panose="02010609060101010101" pitchFamily="49" charset="-122"/>
                <a:ea typeface="楷体" panose="02010609060101010101" pitchFamily="49" charset="-122"/>
              </a:rPr>
              <a:t>奇偶校验器</a:t>
            </a:r>
            <a:r>
              <a:rPr lang="en-US" altLang="zh-CN"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897744" y="1089892"/>
                <a:ext cx="4617605" cy="5768108"/>
              </a:xfrm>
            </p:spPr>
            <p:txBody>
              <a:bodyPr>
                <a:normAutofit fontScale="92500"/>
              </a:bodyPr>
              <a:lstStyle/>
              <a:p>
                <a:pPr>
                  <a:lnSpc>
                    <a:spcPts val="3500"/>
                  </a:lnSpc>
                </a:pPr>
                <a:r>
                  <a:rPr lang="zh-CN" altLang="zh-CN" dirty="0" smtClean="0">
                    <a:latin typeface="楷体" panose="02010609060101010101" pitchFamily="49" charset="-122"/>
                    <a:ea typeface="楷体" panose="02010609060101010101" pitchFamily="49" charset="-122"/>
                  </a:rPr>
                  <a:t>具有</a:t>
                </a:r>
                <a:r>
                  <a:rPr lang="zh-CN" altLang="zh-CN" dirty="0">
                    <a:latin typeface="楷体" panose="02010609060101010101" pitchFamily="49" charset="-122"/>
                    <a:ea typeface="楷体" panose="02010609060101010101" pitchFamily="49" charset="-122"/>
                  </a:rPr>
                  <a:t>奇偶校验的数据</a:t>
                </a:r>
                <a:r>
                  <a:rPr lang="zh-CN" altLang="zh-CN" dirty="0" smtClean="0">
                    <a:latin typeface="楷体" panose="02010609060101010101" pitchFamily="49" charset="-122"/>
                    <a:ea typeface="楷体" panose="02010609060101010101" pitchFamily="49" charset="-122"/>
                  </a:rPr>
                  <a:t>传输</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a:latin typeface="楷体" panose="02010609060101010101" pitchFamily="49" charset="-122"/>
                    <a:ea typeface="楷体" panose="02010609060101010101" pitchFamily="49" charset="-122"/>
                  </a:rPr>
                  <a:t>图</a:t>
                </a:r>
                <a:r>
                  <a:rPr lang="en-US" altLang="zh-CN" dirty="0">
                    <a:latin typeface="楷体" panose="02010609060101010101" pitchFamily="49" charset="-122"/>
                    <a:ea typeface="楷体" panose="02010609060101010101" pitchFamily="49" charset="-122"/>
                  </a:rPr>
                  <a:t>2.34</a:t>
                </a:r>
                <a:r>
                  <a:rPr lang="zh-CN" altLang="en-US" dirty="0">
                    <a:latin typeface="楷体" panose="02010609060101010101" pitchFamily="49" charset="-122"/>
                    <a:ea typeface="楷体" panose="02010609060101010101" pitchFamily="49" charset="-122"/>
                  </a:rPr>
                  <a:t>示出芯片</a:t>
                </a:r>
                <a:r>
                  <a:rPr lang="en-US" altLang="zh-CN" dirty="0">
                    <a:latin typeface="楷体" panose="02010609060101010101" pitchFamily="49" charset="-122"/>
                    <a:ea typeface="楷体" panose="02010609060101010101" pitchFamily="49" charset="-122"/>
                  </a:rPr>
                  <a:t>74LS280 </a:t>
                </a:r>
                <a:r>
                  <a:rPr lang="zh-CN" altLang="en-US" dirty="0">
                    <a:latin typeface="楷体" panose="02010609060101010101" pitchFamily="49" charset="-122"/>
                    <a:ea typeface="楷体" panose="02010609060101010101" pitchFamily="49" charset="-122"/>
                  </a:rPr>
                  <a:t>奇偶数校验发生器</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校验器的逻辑框图，它用于</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位的码组 </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个数据位</a:t>
                </a:r>
                <a:r>
                  <a:rPr lang="en-US" altLang="zh-CN" dirty="0" smtClean="0">
                    <a:latin typeface="楷体" panose="02010609060101010101" pitchFamily="49" charset="-122"/>
                    <a:ea typeface="楷体" panose="02010609060101010101" pitchFamily="49" charset="-122"/>
                  </a:rPr>
                  <a:t>I</a:t>
                </a:r>
                <a:r>
                  <a:rPr lang="en-US" altLang="zh-CN" baseline="-25000" dirty="0" smtClean="0">
                    <a:latin typeface="楷体" panose="02010609060101010101" pitchFamily="49" charset="-122"/>
                    <a:ea typeface="楷体" panose="02010609060101010101" pitchFamily="49" charset="-122"/>
                  </a:rPr>
                  <a:t>0</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m:t>
                    </m:r>
                  </m:oMath>
                </a14:m>
                <a:r>
                  <a:rPr lang="en-US" altLang="zh-CN" dirty="0" smtClean="0">
                    <a:latin typeface="楷体" panose="02010609060101010101" pitchFamily="49" charset="-122"/>
                    <a:ea typeface="楷体" panose="02010609060101010101" pitchFamily="49" charset="-122"/>
                  </a:rPr>
                  <a:t>I</a:t>
                </a:r>
                <a:r>
                  <a:rPr lang="en-US" altLang="zh-CN" baseline="-25000" dirty="0" smtClean="0">
                    <a:latin typeface="楷体" panose="02010609060101010101" pitchFamily="49" charset="-122"/>
                    <a:ea typeface="楷体" panose="02010609060101010101" pitchFamily="49" charset="-122"/>
                  </a:rPr>
                  <a:t>7</a:t>
                </a:r>
                <a:r>
                  <a:rPr lang="zh-CN" altLang="en-US" dirty="0" smtClean="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个校验位</a:t>
                </a:r>
                <a:r>
                  <a:rPr lang="en-US" altLang="zh-CN" dirty="0" smtClean="0">
                    <a:latin typeface="楷体" panose="02010609060101010101" pitchFamily="49" charset="-122"/>
                    <a:ea typeface="楷体" panose="02010609060101010101" pitchFamily="49" charset="-122"/>
                  </a:rPr>
                  <a:t>I</a:t>
                </a:r>
                <a:r>
                  <a:rPr lang="en-US" altLang="zh-CN" baseline="-25000" dirty="0" smtClean="0">
                    <a:latin typeface="楷体" panose="02010609060101010101" pitchFamily="49" charset="-122"/>
                    <a:ea typeface="楷体" panose="02010609060101010101" pitchFamily="49" charset="-122"/>
                  </a:rPr>
                  <a:t>8</a:t>
                </a:r>
                <a:r>
                  <a:rPr lang="en-US" altLang="zh-CN" dirty="0" smtClean="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有 </a:t>
                </a:r>
                <a:r>
                  <a:rPr lang="en-US" altLang="zh-CN" dirty="0">
                    <a:latin typeface="楷体" panose="02010609060101010101" pitchFamily="49" charset="-122"/>
                    <a:ea typeface="楷体" panose="02010609060101010101" pitchFamily="49" charset="-122"/>
                  </a:rPr>
                  <a:t>2 </a:t>
                </a:r>
                <a:r>
                  <a:rPr lang="zh-CN" altLang="en-US" dirty="0" smtClean="0">
                    <a:latin typeface="楷体" panose="02010609060101010101" pitchFamily="49" charset="-122"/>
                    <a:ea typeface="楷体" panose="02010609060101010101" pitchFamily="49" charset="-122"/>
                  </a:rPr>
                  <a:t>个输出</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err="1">
                        <a:latin typeface="Cambria Math" panose="02040503050406030204" pitchFamily="18" charset="0"/>
                        <a:ea typeface="楷体" panose="02010609060101010101" pitchFamily="49" charset="-122"/>
                      </a:rPr>
                      <m:t>𝑒𝑣</m:t>
                    </m:r>
                  </m:oMath>
                </a14:m>
                <a:r>
                  <a:rPr lang="zh-CN" altLang="en-US" dirty="0">
                    <a:latin typeface="楷体" panose="02010609060101010101" pitchFamily="49" charset="-122"/>
                    <a:ea typeface="楷体" panose="02010609060101010101" pitchFamily="49" charset="-122"/>
                  </a:rPr>
                  <a:t>和</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a:latin typeface="Cambria Math" panose="02040503050406030204" pitchFamily="18" charset="0"/>
                        <a:ea typeface="楷体" panose="02010609060101010101" pitchFamily="49" charset="-122"/>
                      </a:rPr>
                      <m:t>𝑜𝑑</m:t>
                    </m:r>
                  </m:oMath>
                </a14:m>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dirty="0" smtClean="0">
                    <a:latin typeface="楷体" panose="02010609060101010101" pitchFamily="49" charset="-122"/>
                    <a:ea typeface="楷体" panose="02010609060101010101" pitchFamily="49" charset="-122"/>
                  </a:rPr>
                  <a:t>当</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个输入中</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的个数为</a:t>
                </a:r>
                <a:r>
                  <a:rPr lang="zh-CN" altLang="en-US" dirty="0" smtClean="0">
                    <a:latin typeface="楷体" panose="02010609060101010101" pitchFamily="49" charset="-122"/>
                    <a:ea typeface="楷体" panose="02010609060101010101" pitchFamily="49" charset="-122"/>
                  </a:rPr>
                  <a:t>奇数</a:t>
                </a:r>
                <a:r>
                  <a:rPr lang="zh-CN" altLang="en-US" dirty="0">
                    <a:latin typeface="楷体" panose="02010609060101010101" pitchFamily="49" charset="-122"/>
                    <a:ea typeface="楷体" panose="02010609060101010101" pitchFamily="49" charset="-122"/>
                  </a:rPr>
                  <a:t>时</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smtClean="0">
                        <a:latin typeface="Cambria Math" panose="02040503050406030204" pitchFamily="18" charset="0"/>
                        <a:ea typeface="楷体" panose="02010609060101010101" pitchFamily="49" charset="-122"/>
                      </a:rPr>
                      <m:t>𝑜𝑑</m:t>
                    </m:r>
                  </m:oMath>
                </a14:m>
                <a:r>
                  <a:rPr lang="en-US" altLang="zh-CN" dirty="0" smtClean="0">
                    <a:latin typeface="楷体" panose="02010609060101010101" pitchFamily="49" charset="-122"/>
                    <a:ea typeface="楷体" panose="02010609060101010101" pitchFamily="49" charset="-122"/>
                  </a:rPr>
                  <a:t>=1</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高电平</a:t>
                </a:r>
                <a:r>
                  <a:rPr lang="en-US" altLang="zh-CN" dirty="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err="1">
                        <a:latin typeface="Cambria Math" panose="02040503050406030204" pitchFamily="18" charset="0"/>
                        <a:ea typeface="楷体" panose="02010609060101010101" pitchFamily="49" charset="-122"/>
                      </a:rPr>
                      <m:t>𝑒𝑣</m:t>
                    </m:r>
                  </m:oMath>
                </a14:m>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低电平</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当</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个输入中</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的个数为偶数时</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err="1" smtClean="0">
                        <a:latin typeface="Cambria Math" panose="02040503050406030204" pitchFamily="18" charset="0"/>
                        <a:ea typeface="楷体" panose="02010609060101010101" pitchFamily="49" charset="-122"/>
                      </a:rPr>
                      <m:t>𝑒𝑣</m:t>
                    </m:r>
                  </m:oMath>
                </a14:m>
                <a:r>
                  <a:rPr lang="en-US" altLang="zh-CN" dirty="0" smtClean="0">
                    <a:latin typeface="楷体" panose="02010609060101010101" pitchFamily="49" charset="-122"/>
                    <a:ea typeface="楷体" panose="02010609060101010101" pitchFamily="49" charset="-122"/>
                  </a:rPr>
                  <a:t>=1,</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𝐹</m:t>
                    </m:r>
                    <m:r>
                      <a:rPr lang="en-US" altLang="zh-CN" i="1" baseline="-25000" dirty="0" smtClean="0">
                        <a:latin typeface="Cambria Math" panose="02040503050406030204" pitchFamily="18" charset="0"/>
                        <a:ea typeface="楷体" panose="02010609060101010101" pitchFamily="49" charset="-122"/>
                      </a:rPr>
                      <m:t>𝑜𝑑</m:t>
                    </m:r>
                  </m:oMath>
                </a14:m>
                <a:r>
                  <a:rPr lang="en-US" altLang="zh-CN" dirty="0" smtClean="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显然</a:t>
                </a:r>
                <a:r>
                  <a:rPr lang="zh-CN" altLang="en-US" dirty="0">
                    <a:latin typeface="楷体" panose="02010609060101010101" pitchFamily="49" charset="-122"/>
                    <a:ea typeface="楷体" panose="02010609060101010101" pitchFamily="49" charset="-122"/>
                  </a:rPr>
                  <a:t>这两个监督输出信号是互斥的</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897744" y="1089892"/>
                <a:ext cx="4617605" cy="5768108"/>
              </a:xfrm>
              <a:blipFill>
                <a:blip r:embed="rId2"/>
                <a:stretch>
                  <a:fillRect l="-1979" t="-951" r="-4485"/>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319734" y="1453080"/>
            <a:ext cx="3578009" cy="3783938"/>
          </a:xfrm>
          <a:prstGeom prst="rect">
            <a:avLst/>
          </a:prstGeom>
        </p:spPr>
      </p:pic>
    </p:spTree>
    <p:extLst>
      <p:ext uri="{BB962C8B-B14F-4D97-AF65-F5344CB8AC3E}">
        <p14:creationId xmlns:p14="http://schemas.microsoft.com/office/powerpoint/2010/main" val="38472116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1209964"/>
          </a:xfrm>
        </p:spPr>
        <p:txBody>
          <a:bodyPr/>
          <a:lstStyle/>
          <a:p>
            <a:r>
              <a:rPr lang="en-US" altLang="zh-CN" dirty="0">
                <a:latin typeface="楷体" panose="02010609060101010101" pitchFamily="49" charset="-122"/>
                <a:ea typeface="楷体" panose="02010609060101010101" pitchFamily="49" charset="-122"/>
              </a:rPr>
              <a:t>2.7  </a:t>
            </a:r>
            <a:r>
              <a:rPr lang="en-US" altLang="zh-CN" dirty="0" err="1">
                <a:latin typeface="楷体" panose="02010609060101010101" pitchFamily="49" charset="-122"/>
                <a:ea typeface="楷体" panose="02010609060101010101" pitchFamily="49" charset="-122"/>
              </a:rPr>
              <a:t>奇偶校验器</a:t>
            </a:r>
            <a:r>
              <a:rPr lang="en-US" altLang="zh-CN"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stretch>
            <a:fillRect/>
          </a:stretch>
        </p:blipFill>
        <p:spPr>
          <a:xfrm>
            <a:off x="1017780" y="1209965"/>
            <a:ext cx="7108439" cy="3574471"/>
          </a:xfrm>
          <a:prstGeom prst="rect">
            <a:avLst/>
          </a:prstGeom>
        </p:spPr>
      </p:pic>
    </p:spTree>
    <p:extLst>
      <p:ext uri="{BB962C8B-B14F-4D97-AF65-F5344CB8AC3E}">
        <p14:creationId xmlns:p14="http://schemas.microsoft.com/office/powerpoint/2010/main" val="247544883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43379" y="298361"/>
            <a:ext cx="8444977" cy="5114148"/>
          </a:xfrm>
          <a:prstGeom prst="rect">
            <a:avLst/>
          </a:prstGeom>
        </p:spPr>
      </p:pic>
    </p:spTree>
    <p:extLst>
      <p:ext uri="{BB962C8B-B14F-4D97-AF65-F5344CB8AC3E}">
        <p14:creationId xmlns:p14="http://schemas.microsoft.com/office/powerpoint/2010/main" val="15516517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928255" y="482938"/>
                <a:ext cx="7208981" cy="5927264"/>
              </a:xfrm>
              <a:prstGeom prst="rect">
                <a:avLst/>
              </a:prstGeom>
            </p:spPr>
            <p:txBody>
              <a:bodyPr wrap="square">
                <a:spAutoFit/>
              </a:bodyPr>
              <a:lstStyle/>
              <a:p>
                <a:pPr>
                  <a:lnSpc>
                    <a:spcPts val="3500"/>
                  </a:lnSpc>
                </a:pPr>
                <a:r>
                  <a:rPr lang="zh-CN" altLang="zh-CN" sz="2400" spc="85" dirty="0" smtClean="0">
                    <a:latin typeface="楷体" panose="02010609060101010101" pitchFamily="49" charset="-122"/>
                    <a:ea typeface="楷体" panose="02010609060101010101" pitchFamily="49" charset="-122"/>
                    <a:cs typeface="Arial" panose="020B0604020202020204" pitchFamily="34" charset="0"/>
                  </a:rPr>
                  <a:t>【例</a:t>
                </a:r>
                <a:r>
                  <a:rPr lang="en-US" altLang="zh-CN" sz="2400" spc="85" dirty="0">
                    <a:latin typeface="楷体" panose="02010609060101010101" pitchFamily="49" charset="-122"/>
                    <a:ea typeface="楷体" panose="02010609060101010101" pitchFamily="49" charset="-122"/>
                  </a:rPr>
                  <a:t>17</a:t>
                </a:r>
                <a:r>
                  <a:rPr lang="zh-CN" altLang="zh-CN" sz="2400" spc="85" dirty="0">
                    <a:latin typeface="楷体" panose="02010609060101010101" pitchFamily="49" charset="-122"/>
                    <a:ea typeface="楷体" panose="02010609060101010101" pitchFamily="49" charset="-122"/>
                    <a:cs typeface="Arial" panose="020B0604020202020204" pitchFamily="34" charset="0"/>
                  </a:rPr>
                  <a:t>】图</a:t>
                </a:r>
                <a:r>
                  <a:rPr lang="en-US" altLang="zh-CN" sz="2400" spc="85" dirty="0">
                    <a:latin typeface="楷体" panose="02010609060101010101" pitchFamily="49" charset="-122"/>
                    <a:ea typeface="楷体" panose="02010609060101010101" pitchFamily="49" charset="-122"/>
                  </a:rPr>
                  <a:t>2.35</a:t>
                </a:r>
                <a:r>
                  <a:rPr lang="zh-CN" altLang="zh-CN" sz="2400" spc="85" dirty="0">
                    <a:latin typeface="楷体" panose="02010609060101010101" pitchFamily="49" charset="-122"/>
                    <a:ea typeface="楷体" panose="02010609060101010101" pitchFamily="49" charset="-122"/>
                    <a:cs typeface="Arial" panose="020B0604020202020204" pitchFamily="34" charset="0"/>
                  </a:rPr>
                  <a:t>所示为利用两片</a:t>
                </a:r>
                <a:r>
                  <a:rPr lang="en-US" altLang="zh-CN" sz="2400" spc="85" dirty="0">
                    <a:latin typeface="楷体" panose="02010609060101010101" pitchFamily="49" charset="-122"/>
                    <a:ea typeface="楷体" panose="02010609060101010101" pitchFamily="49" charset="-122"/>
                  </a:rPr>
                  <a:t>9</a:t>
                </a:r>
                <a:r>
                  <a:rPr lang="zh-CN" altLang="zh-CN" sz="2400" spc="85" dirty="0">
                    <a:latin typeface="楷体" panose="02010609060101010101" pitchFamily="49" charset="-122"/>
                    <a:ea typeface="楷体" panose="02010609060101010101" pitchFamily="49" charset="-122"/>
                    <a:cs typeface="Arial" panose="020B0604020202020204" pitchFamily="34" charset="0"/>
                  </a:rPr>
                  <a:t>位奇偶校验器</a:t>
                </a:r>
                <a:r>
                  <a:rPr lang="en-US" altLang="zh-CN" sz="2400" spc="85" dirty="0" smtClean="0">
                    <a:latin typeface="楷体" panose="02010609060101010101" pitchFamily="49" charset="-122"/>
                    <a:ea typeface="楷体" panose="02010609060101010101" pitchFamily="49" charset="-122"/>
                  </a:rPr>
                  <a:t>74</a:t>
                </a:r>
                <a:r>
                  <a:rPr lang="en-US" altLang="zh-CN" sz="2400" dirty="0" smtClean="0">
                    <a:latin typeface="楷体" panose="02010609060101010101" pitchFamily="49" charset="-122"/>
                    <a:ea typeface="楷体" panose="02010609060101010101" pitchFamily="49" charset="-122"/>
                  </a:rPr>
                  <a:t>LS</a:t>
                </a:r>
                <a:r>
                  <a:rPr lang="en-US" altLang="zh-CN" sz="2400" spc="85" dirty="0" smtClean="0">
                    <a:latin typeface="楷体" panose="02010609060101010101" pitchFamily="49" charset="-122"/>
                    <a:ea typeface="楷体" panose="02010609060101010101" pitchFamily="49" charset="-122"/>
                  </a:rPr>
                  <a:t>2</a:t>
                </a:r>
                <a:r>
                  <a:rPr lang="en-US" altLang="zh-CN" sz="2400" spc="80" dirty="0" smtClean="0">
                    <a:latin typeface="楷体" panose="02010609060101010101" pitchFamily="49" charset="-122"/>
                    <a:ea typeface="楷体" panose="02010609060101010101" pitchFamily="49" charset="-122"/>
                  </a:rPr>
                  <a:t>80</a:t>
                </a:r>
                <a:r>
                  <a:rPr lang="zh-CN" altLang="zh-CN" sz="2400" spc="80" dirty="0" smtClean="0">
                    <a:latin typeface="楷体" panose="02010609060101010101" pitchFamily="49" charset="-122"/>
                    <a:ea typeface="楷体" panose="02010609060101010101" pitchFamily="49" charset="-122"/>
                    <a:cs typeface="Arial" panose="020B0604020202020204" pitchFamily="34" charset="0"/>
                  </a:rPr>
                  <a:t>实现</a:t>
                </a:r>
                <a:r>
                  <a:rPr lang="en-US" altLang="zh-CN" sz="2400" b="1" spc="80" dirty="0">
                    <a:latin typeface="楷体" panose="02010609060101010101" pitchFamily="49" charset="-122"/>
                    <a:ea typeface="楷体" panose="02010609060101010101" pitchFamily="49" charset="-122"/>
                  </a:rPr>
                  <a:t>8</a:t>
                </a:r>
                <a:r>
                  <a:rPr lang="zh-CN" altLang="zh-CN" sz="2400" b="1" spc="80" dirty="0">
                    <a:latin typeface="楷体" panose="02010609060101010101" pitchFamily="49" charset="-122"/>
                    <a:ea typeface="楷体" panose="02010609060101010101" pitchFamily="49" charset="-122"/>
                    <a:cs typeface="Arial" panose="020B0604020202020204" pitchFamily="34" charset="0"/>
                  </a:rPr>
                  <a:t>位数据传输的系统</a:t>
                </a:r>
                <a:r>
                  <a:rPr lang="zh-CN" altLang="zh-CN" sz="2400" spc="80" dirty="0" smtClean="0">
                    <a:latin typeface="楷体" panose="02010609060101010101" pitchFamily="49" charset="-122"/>
                    <a:ea typeface="楷体" panose="02010609060101010101" pitchFamily="49" charset="-122"/>
                    <a:cs typeface="Arial" panose="020B0604020202020204" pitchFamily="34" charset="0"/>
                  </a:rPr>
                  <a:t>。</a:t>
                </a:r>
                <a:r>
                  <a:rPr lang="zh-CN" altLang="zh-CN" sz="2400" spc="-40" dirty="0" smtClean="0">
                    <a:latin typeface="楷体" panose="02010609060101010101" pitchFamily="49" charset="-122"/>
                    <a:ea typeface="楷体" panose="02010609060101010101" pitchFamily="49" charset="-122"/>
                    <a:cs typeface="Arial" panose="020B0604020202020204" pitchFamily="34" charset="0"/>
                  </a:rPr>
                  <a:t>在</a:t>
                </a:r>
                <a:r>
                  <a:rPr lang="zh-CN" altLang="zh-CN" sz="2400" spc="-40" dirty="0">
                    <a:latin typeface="楷体" panose="02010609060101010101" pitchFamily="49" charset="-122"/>
                    <a:ea typeface="楷体" panose="02010609060101010101" pitchFamily="49" charset="-122"/>
                    <a:cs typeface="Arial" panose="020B0604020202020204" pitchFamily="34" charset="0"/>
                  </a:rPr>
                  <a:t>信号的发送端发送的信息码由两部分组成，一部分是原来</a:t>
                </a:r>
                <a:r>
                  <a:rPr lang="zh-CN" altLang="zh-CN" sz="2400" spc="-40" dirty="0" smtClean="0">
                    <a:latin typeface="楷体" panose="02010609060101010101" pitchFamily="49" charset="-122"/>
                    <a:ea typeface="楷体" panose="02010609060101010101" pitchFamily="49" charset="-122"/>
                    <a:cs typeface="Arial" panose="020B0604020202020204" pitchFamily="34" charset="0"/>
                  </a:rPr>
                  <a:t>信息码</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𝐼</m:t>
                    </m:r>
                    <m:r>
                      <a:rPr lang="en-US" altLang="zh-CN" sz="2400" i="1" baseline="-25000" dirty="0">
                        <a:latin typeface="Cambria Math" panose="02040503050406030204" pitchFamily="18" charset="0"/>
                        <a:ea typeface="楷体" panose="02010609060101010101" pitchFamily="49" charset="-122"/>
                      </a:rPr>
                      <m:t>0</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𝐼</m:t>
                    </m:r>
                    <m:r>
                      <a:rPr lang="en-US" altLang="zh-CN" sz="2400" i="1" baseline="-25000" dirty="0">
                        <a:latin typeface="Cambria Math" panose="02040503050406030204" pitchFamily="18" charset="0"/>
                        <a:ea typeface="楷体" panose="02010609060101010101" pitchFamily="49" charset="-122"/>
                      </a:rPr>
                      <m:t>7</m:t>
                    </m:r>
                  </m:oMath>
                </a14:m>
                <a:r>
                  <a:rPr lang="en-US" altLang="zh-CN" sz="2400" spc="-40" dirty="0" smtClean="0">
                    <a:latin typeface="楷体" panose="02010609060101010101" pitchFamily="49" charset="-122"/>
                    <a:ea typeface="楷体" panose="02010609060101010101" pitchFamily="49" charset="-122"/>
                  </a:rPr>
                  <a:t>,</a:t>
                </a:r>
                <a:r>
                  <a:rPr lang="zh-CN" altLang="zh-CN" sz="2400" spc="-40" dirty="0">
                    <a:latin typeface="楷体" panose="02010609060101010101" pitchFamily="49" charset="-122"/>
                    <a:ea typeface="楷体" panose="02010609060101010101" pitchFamily="49" charset="-122"/>
                    <a:cs typeface="Arial" panose="020B0604020202020204" pitchFamily="34" charset="0"/>
                  </a:rPr>
                  <a:t>另一部分是一</a:t>
                </a:r>
                <a:r>
                  <a:rPr lang="zh-CN" altLang="zh-CN" sz="2400" spc="-40" dirty="0" smtClean="0">
                    <a:latin typeface="楷体" panose="02010609060101010101" pitchFamily="49" charset="-122"/>
                    <a:ea typeface="楷体" panose="02010609060101010101" pitchFamily="49" charset="-122"/>
                    <a:cs typeface="Arial" panose="020B0604020202020204" pitchFamily="34" charset="0"/>
                  </a:rPr>
                  <a:t>位</a:t>
                </a:r>
                <a:r>
                  <a:rPr lang="zh-CN" altLang="zh-CN" sz="2400" spc="65" dirty="0" smtClean="0">
                    <a:latin typeface="楷体" panose="02010609060101010101" pitchFamily="49" charset="-122"/>
                    <a:ea typeface="楷体" panose="02010609060101010101" pitchFamily="49" charset="-122"/>
                    <a:cs typeface="Arial" panose="020B0604020202020204" pitchFamily="34" charset="0"/>
                  </a:rPr>
                  <a:t>校验位</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𝐼</m:t>
                    </m:r>
                    <m:r>
                      <a:rPr lang="en-US" altLang="zh-CN" sz="2400" i="1" baseline="-25000" dirty="0" smtClean="0">
                        <a:latin typeface="Cambria Math" panose="02040503050406030204" pitchFamily="18" charset="0"/>
                        <a:ea typeface="楷体" panose="02010609060101010101" pitchFamily="49" charset="-122"/>
                      </a:rPr>
                      <m:t>8</m:t>
                    </m:r>
                  </m:oMath>
                </a14:m>
                <a:r>
                  <a:rPr lang="zh-CN" altLang="zh-CN" sz="2400" spc="65" dirty="0" smtClean="0">
                    <a:latin typeface="楷体" panose="02010609060101010101" pitchFamily="49" charset="-122"/>
                    <a:ea typeface="楷体" panose="02010609060101010101" pitchFamily="49" charset="-122"/>
                    <a:cs typeface="Arial" panose="020B0604020202020204" pitchFamily="34" charset="0"/>
                  </a:rPr>
                  <a:t>。</a:t>
                </a:r>
                <a:r>
                  <a:rPr lang="zh-CN" altLang="zh-CN" sz="2400" spc="65" dirty="0">
                    <a:latin typeface="楷体" panose="02010609060101010101" pitchFamily="49" charset="-122"/>
                    <a:ea typeface="楷体" panose="02010609060101010101" pitchFamily="49" charset="-122"/>
                    <a:cs typeface="Arial" panose="020B0604020202020204" pitchFamily="34" charset="0"/>
                  </a:rPr>
                  <a:t>此处采用奇校验</a:t>
                </a:r>
                <a:r>
                  <a:rPr lang="en-US" altLang="zh-CN" sz="2400" spc="65"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8 </a:t>
                </a:r>
                <a:r>
                  <a:rPr lang="en-US" altLang="zh-CN" sz="2400" spc="65" dirty="0" smtClean="0">
                    <a:latin typeface="楷体" panose="02010609060101010101" pitchFamily="49" charset="-122"/>
                    <a:ea typeface="楷体" panose="02010609060101010101" pitchFamily="49" charset="-122"/>
                  </a:rPr>
                  <a:t>=</a:t>
                </a:r>
                <a:r>
                  <a:rPr lang="en-US" altLang="zh-CN" sz="2400" spc="65" dirty="0">
                    <a:latin typeface="楷体" panose="02010609060101010101" pitchFamily="49" charset="-122"/>
                    <a:ea typeface="楷体" panose="02010609060101010101" pitchFamily="49" charset="-122"/>
                  </a:rPr>
                  <a:t>1</a:t>
                </a:r>
                <a:r>
                  <a:rPr lang="en-US" altLang="zh-CN" sz="2400" spc="65" dirty="0" smtClean="0">
                    <a:latin typeface="楷体" panose="02010609060101010101" pitchFamily="49" charset="-122"/>
                    <a:ea typeface="楷体" panose="02010609060101010101" pitchFamily="49" charset="-122"/>
                  </a:rPr>
                  <a:t>),</a:t>
                </a:r>
                <a:r>
                  <a:rPr lang="zh-CN" altLang="zh-CN" sz="2400" spc="65" dirty="0" smtClean="0">
                    <a:latin typeface="楷体" panose="02010609060101010101" pitchFamily="49" charset="-122"/>
                    <a:ea typeface="楷体" panose="02010609060101010101" pitchFamily="49" charset="-122"/>
                    <a:cs typeface="Arial" panose="020B0604020202020204" pitchFamily="34" charset="0"/>
                  </a:rPr>
                  <a:t>因此</a:t>
                </a:r>
                <a:r>
                  <a:rPr lang="zh-CN" altLang="zh-CN" sz="2400" spc="65" dirty="0">
                    <a:latin typeface="楷体" panose="02010609060101010101" pitchFamily="49" charset="-122"/>
                    <a:ea typeface="楷体" panose="02010609060101010101" pitchFamily="49" charset="-122"/>
                    <a:cs typeface="Arial" panose="020B0604020202020204" pitchFamily="34" charset="0"/>
                  </a:rPr>
                  <a:t>发送端的</a:t>
                </a:r>
                <a:r>
                  <a:rPr lang="en-US" altLang="zh-CN" sz="2400" spc="65" dirty="0">
                    <a:latin typeface="楷体" panose="02010609060101010101" pitchFamily="49" charset="-122"/>
                    <a:ea typeface="楷体" panose="02010609060101010101" pitchFamily="49" charset="-122"/>
                  </a:rPr>
                  <a:t>74</a:t>
                </a:r>
                <a:r>
                  <a:rPr lang="en-US" altLang="zh-CN" sz="2400" dirty="0">
                    <a:latin typeface="楷体" panose="02010609060101010101" pitchFamily="49" charset="-122"/>
                    <a:ea typeface="楷体" panose="02010609060101010101" pitchFamily="49" charset="-122"/>
                  </a:rPr>
                  <a:t>LS</a:t>
                </a:r>
                <a:r>
                  <a:rPr lang="en-US" altLang="zh-CN" sz="2400" spc="65" dirty="0">
                    <a:latin typeface="楷体" panose="02010609060101010101" pitchFamily="49" charset="-122"/>
                    <a:ea typeface="楷体" panose="02010609060101010101" pitchFamily="49" charset="-122"/>
                  </a:rPr>
                  <a:t>280</a:t>
                </a:r>
                <a:r>
                  <a:rPr lang="zh-CN" altLang="zh-CN" sz="2400" spc="65" dirty="0">
                    <a:latin typeface="楷体" panose="02010609060101010101" pitchFamily="49" charset="-122"/>
                    <a:ea typeface="楷体" panose="02010609060101010101" pitchFamily="49" charset="-122"/>
                    <a:cs typeface="Arial" panose="020B0604020202020204" pitchFamily="34" charset="0"/>
                  </a:rPr>
                  <a:t>芯片用来产生</a:t>
                </a:r>
                <a:r>
                  <a:rPr lang="en-US" altLang="zh-CN" sz="2400" spc="65" dirty="0">
                    <a:latin typeface="楷体" panose="02010609060101010101" pitchFamily="49" charset="-122"/>
                    <a:ea typeface="楷体" panose="02010609060101010101" pitchFamily="49" charset="-122"/>
                  </a:rPr>
                  <a:t>9</a:t>
                </a:r>
                <a:r>
                  <a:rPr lang="zh-CN" altLang="zh-CN" sz="2400" spc="65" dirty="0">
                    <a:latin typeface="楷体" panose="02010609060101010101" pitchFamily="49" charset="-122"/>
                    <a:ea typeface="楷体" panose="02010609060101010101" pitchFamily="49" charset="-122"/>
                    <a:cs typeface="Arial" panose="020B0604020202020204" pitchFamily="34" charset="0"/>
                  </a:rPr>
                  <a:t>位码组中的</a:t>
                </a:r>
                <a:r>
                  <a:rPr lang="zh-CN" altLang="zh-CN" sz="2400" spc="65" dirty="0" smtClean="0">
                    <a:latin typeface="楷体" panose="02010609060101010101" pitchFamily="49" charset="-122"/>
                    <a:ea typeface="楷体" panose="02010609060101010101" pitchFamily="49" charset="-122"/>
                    <a:cs typeface="Arial" panose="020B0604020202020204" pitchFamily="34" charset="0"/>
                  </a:rPr>
                  <a:t>奇</a:t>
                </a:r>
                <a:r>
                  <a:rPr lang="zh-CN" altLang="zh-CN" sz="2400" spc="-30" dirty="0" smtClean="0">
                    <a:latin typeface="楷体" panose="02010609060101010101" pitchFamily="49" charset="-122"/>
                    <a:ea typeface="楷体" panose="02010609060101010101" pitchFamily="49" charset="-122"/>
                    <a:cs typeface="Arial" panose="020B0604020202020204" pitchFamily="34" charset="0"/>
                  </a:rPr>
                  <a:t>监督</a:t>
                </a:r>
                <a:r>
                  <a:rPr lang="zh-CN" altLang="zh-CN" sz="2400" spc="-30" dirty="0">
                    <a:latin typeface="楷体" panose="02010609060101010101" pitchFamily="49" charset="-122"/>
                    <a:ea typeface="楷体" panose="02010609060101010101" pitchFamily="49" charset="-122"/>
                    <a:cs typeface="Arial" panose="020B0604020202020204" pitchFamily="34" charset="0"/>
                  </a:rPr>
                  <a:t>位</a:t>
                </a:r>
                <a14:m>
                  <m:oMath xmlns:m="http://schemas.openxmlformats.org/officeDocument/2006/math">
                    <m:r>
                      <a:rPr lang="en-US" altLang="zh-CN" sz="2400" i="1" dirty="0">
                        <a:latin typeface="Cambria Math" panose="02040503050406030204" pitchFamily="18" charset="0"/>
                        <a:ea typeface="Cambria Math" panose="02040503050406030204" pitchFamily="18" charset="0"/>
                      </a:rPr>
                      <m:t>𝐹</m:t>
                    </m:r>
                    <m:r>
                      <a:rPr lang="en-US" altLang="zh-CN" sz="2400" i="1" baseline="-25000" dirty="0">
                        <a:latin typeface="Cambria Math" panose="02040503050406030204" pitchFamily="18" charset="0"/>
                        <a:ea typeface="Cambria Math" panose="02040503050406030204" pitchFamily="18" charset="0"/>
                      </a:rPr>
                      <m:t>𝑜𝑑</m:t>
                    </m:r>
                  </m:oMath>
                </a14:m>
                <a:r>
                  <a:rPr lang="zh-CN" altLang="zh-CN" sz="2400" spc="-30" dirty="0">
                    <a:latin typeface="楷体" panose="02010609060101010101" pitchFamily="49" charset="-122"/>
                    <a:ea typeface="楷体" panose="02010609060101010101" pitchFamily="49" charset="-122"/>
                    <a:cs typeface="Arial" panose="020B0604020202020204" pitchFamily="34" charset="0"/>
                  </a:rPr>
                  <a:t>信号</a:t>
                </a:r>
                <a:r>
                  <a:rPr lang="zh-CN" altLang="zh-CN" sz="2400" spc="-30" dirty="0" smtClean="0">
                    <a:latin typeface="楷体" panose="02010609060101010101" pitchFamily="49" charset="-122"/>
                    <a:ea typeface="楷体" panose="02010609060101010101" pitchFamily="49" charset="-122"/>
                    <a:cs typeface="Arial" panose="020B0604020202020204" pitchFamily="34" charset="0"/>
                  </a:rPr>
                  <a:t>：</a:t>
                </a:r>
                <a:endParaRPr lang="en-US" altLang="zh-CN" sz="2400" spc="-30" dirty="0" smtClean="0">
                  <a:latin typeface="楷体" panose="02010609060101010101" pitchFamily="49" charset="-122"/>
                  <a:ea typeface="楷体" panose="02010609060101010101" pitchFamily="49" charset="-122"/>
                  <a:cs typeface="Arial" panose="020B0604020202020204" pitchFamily="34" charset="0"/>
                </a:endParaRPr>
              </a:p>
              <a:p>
                <a:pPr marL="534988">
                  <a:lnSpc>
                    <a:spcPts val="35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𝐹</m:t>
                    </m:r>
                    <m:r>
                      <a:rPr lang="en-US" altLang="zh-CN" sz="2400" i="1" baseline="-25000" dirty="0" smtClean="0">
                        <a:latin typeface="Cambria Math" panose="02040503050406030204" pitchFamily="18" charset="0"/>
                        <a:ea typeface="Cambria Math" panose="02040503050406030204" pitchFamily="18" charset="0"/>
                      </a:rPr>
                      <m:t>𝑜𝑑</m:t>
                    </m:r>
                    <m:r>
                      <a:rPr lang="en-US" altLang="zh-CN" sz="2400" i="1" baseline="-25000" dirty="0" smtClean="0">
                        <a:latin typeface="Cambria Math" panose="02040503050406030204" pitchFamily="18" charset="0"/>
                        <a:ea typeface="Cambria Math" panose="02040503050406030204" pitchFamily="18" charset="0"/>
                      </a:rPr>
                      <m:t> </m:t>
                    </m:r>
                  </m:oMath>
                </a14:m>
                <a:r>
                  <a:rPr lang="en-US" altLang="zh-CN" sz="2400" dirty="0" smtClean="0">
                    <a:latin typeface="Cambria Math" panose="02040503050406030204" pitchFamily="18" charset="0"/>
                    <a:ea typeface="Cambria Math" panose="02040503050406030204" pitchFamily="18" charset="0"/>
                  </a:rPr>
                  <a:t>=(</a:t>
                </a:r>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0 </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a:latin typeface="Cambria Math" panose="02040503050406030204" pitchFamily="18" charset="0"/>
                    <a:ea typeface="Cambria Math" panose="02040503050406030204" pitchFamily="18" charset="0"/>
                  </a:rPr>
                  <a:t>1</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a:latin typeface="Cambria Math" panose="02040503050406030204" pitchFamily="18" charset="0"/>
                    <a:ea typeface="Cambria Math" panose="02040503050406030204" pitchFamily="18" charset="0"/>
                  </a:rPr>
                  <a:t> </a:t>
                </a:r>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2 </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3</a:t>
                </a:r>
                <a:r>
                  <a:rPr lang="en-US" altLang="zh-CN" sz="2400" i="1" dirty="0" smtClean="0">
                    <a:latin typeface="Cambria Math" panose="02040503050406030204" pitchFamily="18" charset="0"/>
                    <a:ea typeface="Cambria Math" panose="02040503050406030204" pitchFamily="18" charset="0"/>
                  </a:rPr>
                  <a:t> </a:t>
                </a:r>
                <a:r>
                  <a:rPr lang="en-US" altLang="zh-CN" sz="2400" i="1" baseline="-25000" dirty="0">
                    <a:latin typeface="Cambria Math" panose="02040503050406030204" pitchFamily="18" charset="0"/>
                    <a:ea typeface="Cambria Math" panose="02040503050406030204" pitchFamily="18" charset="0"/>
                  </a:rPr>
                  <a:t> </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3 </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4 </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a:latin typeface="Cambria Math" panose="02040503050406030204" pitchFamily="18" charset="0"/>
                    <a:ea typeface="Cambria Math" panose="02040503050406030204" pitchFamily="18" charset="0"/>
                  </a:rPr>
                  <a:t> </a:t>
                </a:r>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5 </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6</a:t>
                </a:r>
                <a:r>
                  <a:rPr lang="en-US" altLang="zh-CN" sz="2400" dirty="0">
                    <a:latin typeface="Cambria Math" panose="02040503050406030204" pitchFamily="18" charset="0"/>
                    <a:ea typeface="Cambria Math" panose="02040503050406030204" pitchFamily="18" charset="0"/>
                  </a:rPr>
                  <a:t> </a:t>
                </a:r>
                <a14:m>
                  <m:oMath xmlns:m="http://schemas.openxmlformats.org/officeDocument/2006/math">
                    <m:r>
                      <a:rPr lang="en-US" altLang="zh-CN" sz="2400">
                        <a:latin typeface="Cambria Math" panose="02040503050406030204" pitchFamily="18" charset="0"/>
                        <a:ea typeface="Cambria Math" panose="02040503050406030204" pitchFamily="18" charset="0"/>
                      </a:rPr>
                      <m:t>⊕</m:t>
                    </m:r>
                  </m:oMath>
                </a14:m>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7</a:t>
                </a:r>
                <a:r>
                  <a:rPr lang="en-US" altLang="zh-CN" sz="2400" dirty="0" smtClean="0">
                    <a:latin typeface="Cambria Math" panose="02040503050406030204" pitchFamily="18" charset="0"/>
                    <a:ea typeface="Cambria Math" panose="02040503050406030204" pitchFamily="18" charset="0"/>
                  </a:rPr>
                  <a:t>) </a:t>
                </a:r>
                <a14:m>
                  <m:oMath xmlns:m="http://schemas.openxmlformats.org/officeDocument/2006/math">
                    <m:r>
                      <a:rPr lang="en-US" altLang="zh-CN" sz="240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 </m:t>
                    </m:r>
                  </m:oMath>
                </a14:m>
                <a:r>
                  <a:rPr lang="en-US" altLang="zh-CN" sz="2400" i="1" dirty="0" smtClean="0">
                    <a:latin typeface="Cambria Math" panose="02040503050406030204" pitchFamily="18" charset="0"/>
                    <a:ea typeface="Cambria Math" panose="02040503050406030204" pitchFamily="18" charset="0"/>
                  </a:rPr>
                  <a:t>I</a:t>
                </a:r>
                <a:r>
                  <a:rPr lang="en-US" altLang="zh-CN" sz="2400" i="1" baseline="-25000" dirty="0" smtClean="0">
                    <a:latin typeface="Cambria Math" panose="02040503050406030204" pitchFamily="18" charset="0"/>
                    <a:ea typeface="Cambria Math" panose="02040503050406030204" pitchFamily="18" charset="0"/>
                  </a:rPr>
                  <a:t>8</a:t>
                </a:r>
                <a:endParaRPr lang="en-US" altLang="zh-CN" sz="2400" dirty="0">
                  <a:latin typeface="Cambria Math" panose="02040503050406030204" pitchFamily="18" charset="0"/>
                  <a:ea typeface="楷体" panose="02010609060101010101" pitchFamily="49" charset="-122"/>
                </a:endParaRPr>
              </a:p>
              <a:p>
                <a:pPr>
                  <a:lnSpc>
                    <a:spcPts val="3500"/>
                  </a:lnSpc>
                </a:pPr>
                <a:endParaRPr lang="en-US" altLang="zh-CN" sz="2400" spc="85" dirty="0" smtClean="0">
                  <a:latin typeface="楷体" panose="02010609060101010101" pitchFamily="49" charset="-122"/>
                  <a:ea typeface="楷体" panose="02010609060101010101" pitchFamily="49" charset="-122"/>
                </a:endParaRPr>
              </a:p>
              <a:p>
                <a:pPr>
                  <a:lnSpc>
                    <a:spcPts val="3500"/>
                  </a:lnSpc>
                </a:pPr>
                <a14:m>
                  <m:oMath xmlns:m="http://schemas.openxmlformats.org/officeDocument/2006/math">
                    <m:r>
                      <a:rPr lang="en-US" altLang="zh-CN" sz="2400" i="1" dirty="0">
                        <a:latin typeface="Cambria Math" panose="02040503050406030204" pitchFamily="18" charset="0"/>
                        <a:ea typeface="Cambria Math" panose="02040503050406030204" pitchFamily="18" charset="0"/>
                      </a:rPr>
                      <m:t>𝐹</m:t>
                    </m:r>
                    <m:r>
                      <a:rPr lang="en-US" altLang="zh-CN" sz="2400" i="1" baseline="-25000" dirty="0">
                        <a:latin typeface="Cambria Math" panose="02040503050406030204" pitchFamily="18" charset="0"/>
                        <a:ea typeface="Cambria Math" panose="02040503050406030204" pitchFamily="18" charset="0"/>
                      </a:rPr>
                      <m:t>𝑜𝑑</m:t>
                    </m:r>
                  </m:oMath>
                </a14:m>
                <a:r>
                  <a:rPr lang="zh-CN" altLang="zh-CN" sz="2400" spc="85" dirty="0" smtClean="0">
                    <a:latin typeface="楷体" panose="02010609060101010101" pitchFamily="49" charset="-122"/>
                    <a:ea typeface="楷体" panose="02010609060101010101" pitchFamily="49" charset="-122"/>
                  </a:rPr>
                  <a:t>的取值使</a:t>
                </a:r>
                <a:r>
                  <a:rPr lang="en-US" altLang="zh-CN" sz="2400" spc="85" dirty="0" smtClean="0">
                    <a:latin typeface="楷体" panose="02010609060101010101" pitchFamily="49" charset="-122"/>
                    <a:ea typeface="楷体" panose="02010609060101010101" pitchFamily="49" charset="-122"/>
                  </a:rPr>
                  <a:t>9</a:t>
                </a:r>
                <a:r>
                  <a:rPr lang="zh-CN" altLang="zh-CN" sz="2400" spc="85" dirty="0" smtClean="0">
                    <a:latin typeface="楷体" panose="02010609060101010101" pitchFamily="49" charset="-122"/>
                    <a:ea typeface="楷体" panose="02010609060101010101" pitchFamily="49" charset="-122"/>
                  </a:rPr>
                  <a:t>位码组中</a:t>
                </a:r>
                <a:r>
                  <a:rPr lang="en-US" altLang="zh-CN" sz="2400" spc="85" dirty="0" smtClean="0">
                    <a:latin typeface="楷体" panose="02010609060101010101" pitchFamily="49" charset="-122"/>
                    <a:ea typeface="楷体" panose="02010609060101010101" pitchFamily="49" charset="-122"/>
                  </a:rPr>
                  <a:t>1</a:t>
                </a:r>
                <a:r>
                  <a:rPr lang="zh-CN" altLang="zh-CN" sz="2400" spc="85" dirty="0" smtClean="0">
                    <a:latin typeface="楷体" panose="02010609060101010101" pitchFamily="49" charset="-122"/>
                    <a:ea typeface="楷体" panose="02010609060101010101" pitchFamily="49" charset="-122"/>
                  </a:rPr>
                  <a:t>的个数成奇数，</a:t>
                </a:r>
                <a:endParaRPr lang="en-US" altLang="zh-CN" sz="2400" spc="85" dirty="0" smtClean="0">
                  <a:latin typeface="楷体" panose="02010609060101010101" pitchFamily="49" charset="-122"/>
                  <a:ea typeface="楷体" panose="02010609060101010101" pitchFamily="49" charset="-122"/>
                </a:endParaRPr>
              </a:p>
              <a:p>
                <a:pPr>
                  <a:lnSpc>
                    <a:spcPts val="3500"/>
                  </a:lnSpc>
                </a:pPr>
                <a:r>
                  <a:rPr lang="zh-CN" altLang="zh-CN" sz="2400" spc="85" dirty="0" smtClean="0">
                    <a:latin typeface="楷体" panose="02010609060101010101" pitchFamily="49" charset="-122"/>
                    <a:ea typeface="楷体" panose="02010609060101010101" pitchFamily="49" charset="-122"/>
                  </a:rPr>
                  <a:t>即按</a:t>
                </a:r>
                <a:r>
                  <a:rPr lang="en-US" altLang="zh-CN" sz="2400" spc="85" dirty="0" smtClean="0">
                    <a:latin typeface="楷体" panose="02010609060101010101" pitchFamily="49" charset="-122"/>
                    <a:ea typeface="楷体" panose="02010609060101010101" pitchFamily="49" charset="-122"/>
                  </a:rPr>
                  <a:t>74LS280</a:t>
                </a:r>
                <a:r>
                  <a:rPr lang="zh-CN" altLang="zh-CN" sz="2400" spc="85" dirty="0" smtClean="0">
                    <a:latin typeface="楷体" panose="02010609060101010101" pitchFamily="49" charset="-122"/>
                    <a:ea typeface="楷体" panose="02010609060101010101" pitchFamily="49" charset="-122"/>
                  </a:rPr>
                  <a:t>功能表：</a:t>
                </a:r>
                <a:endParaRPr lang="en-US" altLang="zh-CN" sz="2400" spc="85" dirty="0" smtClean="0">
                  <a:latin typeface="楷体" panose="02010609060101010101" pitchFamily="49" charset="-122"/>
                  <a:ea typeface="楷体" panose="02010609060101010101" pitchFamily="49" charset="-122"/>
                </a:endParaRPr>
              </a:p>
              <a:p>
                <a:pPr marL="628650" eaLnBrk="0">
                  <a:lnSpc>
                    <a:spcPts val="3500"/>
                  </a:lnSpc>
                </a:pPr>
                <a:r>
                  <a:rPr lang="en-US" altLang="zh-CN" sz="2400" spc="85" dirty="0" smtClean="0">
                    <a:latin typeface="楷体" panose="02010609060101010101" pitchFamily="49" charset="-122"/>
                    <a:ea typeface="楷体" panose="02010609060101010101" pitchFamily="49" charset="-122"/>
                  </a:rPr>
                  <a:t>9</a:t>
                </a:r>
                <a:r>
                  <a:rPr lang="zh-CN" altLang="zh-CN" sz="2400" spc="85" dirty="0" smtClean="0">
                    <a:latin typeface="楷体" panose="02010609060101010101" pitchFamily="49" charset="-122"/>
                    <a:ea typeface="楷体" panose="02010609060101010101" pitchFamily="49" charset="-122"/>
                  </a:rPr>
                  <a:t>位码组中</a:t>
                </a:r>
                <a:r>
                  <a:rPr lang="en-US" altLang="zh-CN" sz="2400" spc="85" dirty="0" smtClean="0">
                    <a:latin typeface="楷体" panose="02010609060101010101" pitchFamily="49" charset="-122"/>
                    <a:ea typeface="楷体" panose="02010609060101010101" pitchFamily="49" charset="-122"/>
                  </a:rPr>
                  <a:t>1</a:t>
                </a:r>
                <a:r>
                  <a:rPr lang="zh-CN" altLang="zh-CN" sz="2400" spc="85" dirty="0" smtClean="0">
                    <a:latin typeface="楷体" panose="02010609060101010101" pitchFamily="49" charset="-122"/>
                    <a:ea typeface="楷体" panose="02010609060101010101" pitchFamily="49" charset="-122"/>
                  </a:rPr>
                  <a:t>的个数为奇数时，</a:t>
                </a:r>
                <a14:m>
                  <m:oMath xmlns:m="http://schemas.openxmlformats.org/officeDocument/2006/math">
                    <m:r>
                      <a:rPr lang="en-US" altLang="zh-CN" sz="2400" i="1" dirty="0">
                        <a:latin typeface="Cambria Math" panose="02040503050406030204" pitchFamily="18" charset="0"/>
                        <a:ea typeface="Cambria Math" panose="02040503050406030204" pitchFamily="18" charset="0"/>
                      </a:rPr>
                      <m:t>𝐹</m:t>
                    </m:r>
                    <m:r>
                      <a:rPr lang="en-US" altLang="zh-CN" sz="2400" i="1" baseline="-25000" dirty="0">
                        <a:latin typeface="Cambria Math" panose="02040503050406030204" pitchFamily="18" charset="0"/>
                        <a:ea typeface="Cambria Math" panose="02040503050406030204" pitchFamily="18" charset="0"/>
                      </a:rPr>
                      <m:t>𝑜𝑑</m:t>
                    </m:r>
                    <m:r>
                      <a:rPr lang="en-US" altLang="zh-CN" sz="2400" i="1" baseline="-25000" dirty="0">
                        <a:latin typeface="Cambria Math" panose="02040503050406030204" pitchFamily="18" charset="0"/>
                        <a:ea typeface="Cambria Math" panose="02040503050406030204" pitchFamily="18" charset="0"/>
                      </a:rPr>
                      <m:t> </m:t>
                    </m:r>
                  </m:oMath>
                </a14:m>
                <a:r>
                  <a:rPr lang="en-US" altLang="zh-CN" sz="2400" spc="85" dirty="0" smtClean="0">
                    <a:latin typeface="楷体" panose="02010609060101010101" pitchFamily="49" charset="-122"/>
                    <a:ea typeface="楷体" panose="02010609060101010101" pitchFamily="49" charset="-122"/>
                  </a:rPr>
                  <a:t>=1</a:t>
                </a:r>
                <a:endParaRPr lang="zh-CN" altLang="zh-CN" sz="2400" spc="85" dirty="0" smtClean="0">
                  <a:latin typeface="楷体" panose="02010609060101010101" pitchFamily="49" charset="-122"/>
                  <a:ea typeface="楷体" panose="02010609060101010101" pitchFamily="49" charset="-122"/>
                </a:endParaRPr>
              </a:p>
              <a:p>
                <a:pPr marL="628650" eaLnBrk="0">
                  <a:lnSpc>
                    <a:spcPts val="3500"/>
                  </a:lnSpc>
                </a:pPr>
                <a:r>
                  <a:rPr lang="en-US" altLang="zh-CN" sz="2400" spc="85" dirty="0" smtClean="0">
                    <a:latin typeface="楷体" panose="02010609060101010101" pitchFamily="49" charset="-122"/>
                    <a:ea typeface="楷体" panose="02010609060101010101" pitchFamily="49" charset="-122"/>
                  </a:rPr>
                  <a:t>9</a:t>
                </a:r>
                <a:r>
                  <a:rPr lang="zh-CN" altLang="zh-CN" sz="2400" spc="85" dirty="0" smtClean="0">
                    <a:latin typeface="楷体" panose="02010609060101010101" pitchFamily="49" charset="-122"/>
                    <a:ea typeface="楷体" panose="02010609060101010101" pitchFamily="49" charset="-122"/>
                  </a:rPr>
                  <a:t>位码组中</a:t>
                </a:r>
                <a:r>
                  <a:rPr lang="en-US" altLang="zh-CN" sz="2400" spc="85" dirty="0" smtClean="0">
                    <a:latin typeface="楷体" panose="02010609060101010101" pitchFamily="49" charset="-122"/>
                    <a:ea typeface="楷体" panose="02010609060101010101" pitchFamily="49" charset="-122"/>
                  </a:rPr>
                  <a:t>1</a:t>
                </a:r>
                <a:r>
                  <a:rPr lang="zh-CN" altLang="zh-CN" sz="2400" spc="85" dirty="0" smtClean="0">
                    <a:latin typeface="楷体" panose="02010609060101010101" pitchFamily="49" charset="-122"/>
                    <a:ea typeface="楷体" panose="02010609060101010101" pitchFamily="49" charset="-122"/>
                  </a:rPr>
                  <a:t>的个数为偶数时，</a:t>
                </a:r>
                <a14:m>
                  <m:oMath xmlns:m="http://schemas.openxmlformats.org/officeDocument/2006/math">
                    <m:r>
                      <a:rPr lang="en-US" altLang="zh-CN" sz="2400" i="1" dirty="0">
                        <a:latin typeface="Cambria Math" panose="02040503050406030204" pitchFamily="18" charset="0"/>
                        <a:ea typeface="Cambria Math" panose="02040503050406030204" pitchFamily="18" charset="0"/>
                      </a:rPr>
                      <m:t>𝐹</m:t>
                    </m:r>
                    <m:r>
                      <a:rPr lang="en-US" altLang="zh-CN" sz="2400" i="1" baseline="-25000" dirty="0">
                        <a:latin typeface="Cambria Math" panose="02040503050406030204" pitchFamily="18" charset="0"/>
                        <a:ea typeface="Cambria Math" panose="02040503050406030204" pitchFamily="18" charset="0"/>
                      </a:rPr>
                      <m:t>𝑜𝑑</m:t>
                    </m:r>
                  </m:oMath>
                </a14:m>
                <a:r>
                  <a:rPr lang="en-US" altLang="zh-CN" sz="2400" spc="85" dirty="0" smtClean="0">
                    <a:latin typeface="楷体" panose="02010609060101010101" pitchFamily="49" charset="-122"/>
                    <a:ea typeface="楷体" panose="02010609060101010101" pitchFamily="49" charset="-122"/>
                  </a:rPr>
                  <a:t>=0</a:t>
                </a:r>
                <a:endParaRPr lang="zh-CN" altLang="zh-CN" sz="2400" spc="85" dirty="0" smtClean="0">
                  <a:latin typeface="楷体" panose="02010609060101010101" pitchFamily="49" charset="-122"/>
                  <a:ea typeface="楷体" panose="02010609060101010101" pitchFamily="49" charset="-122"/>
                </a:endParaRPr>
              </a:p>
              <a:p>
                <a:pPr>
                  <a:lnSpc>
                    <a:spcPts val="3500"/>
                  </a:lnSpc>
                </a:pPr>
                <a:endParaRPr lang="en-US" altLang="zh-CN" sz="2400" i="1" baseline="-25000" dirty="0" smtClean="0">
                  <a:latin typeface="Cambria Math" panose="02040503050406030204" pitchFamily="18" charset="0"/>
                  <a:ea typeface="Cambria Math" panose="020405030504060302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928255" y="482938"/>
                <a:ext cx="7208981" cy="5927264"/>
              </a:xfrm>
              <a:prstGeom prst="rect">
                <a:avLst/>
              </a:prstGeom>
              <a:blipFill>
                <a:blip r:embed="rId2"/>
                <a:stretch>
                  <a:fillRect l="-1268" t="-514" r="-16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547601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683490" y="85665"/>
                <a:ext cx="7934038" cy="5940088"/>
              </a:xfrm>
              <a:prstGeom prst="rect">
                <a:avLst/>
              </a:prstGeom>
            </p:spPr>
            <p:txBody>
              <a:bodyPr wrap="square">
                <a:spAutoFit/>
              </a:bodyPr>
              <a:lstStyle/>
              <a:p>
                <a:pPr indent="534988">
                  <a:lnSpc>
                    <a:spcPts val="3500"/>
                  </a:lnSpc>
                </a:pPr>
                <a:r>
                  <a:rPr lang="zh-CN" altLang="zh-CN" sz="2400" dirty="0" smtClean="0">
                    <a:latin typeface="楷体" panose="02010609060101010101" pitchFamily="49" charset="-122"/>
                    <a:ea typeface="楷体" panose="02010609060101010101" pitchFamily="49" charset="-122"/>
                  </a:rPr>
                  <a:t>在</a:t>
                </a:r>
                <a:r>
                  <a:rPr lang="zh-CN" altLang="zh-CN" sz="2400" dirty="0">
                    <a:latin typeface="楷体" panose="02010609060101010101" pitchFamily="49" charset="-122"/>
                    <a:ea typeface="楷体" panose="02010609060101010101" pitchFamily="49" charset="-122"/>
                  </a:rPr>
                  <a:t>接收端，第二片</a:t>
                </a:r>
                <a:r>
                  <a:rPr lang="en-US" altLang="zh-CN" sz="2400" dirty="0">
                    <a:latin typeface="楷体" panose="02010609060101010101" pitchFamily="49" charset="-122"/>
                    <a:ea typeface="楷体" panose="02010609060101010101" pitchFamily="49" charset="-122"/>
                  </a:rPr>
                  <a:t>74LS280 </a:t>
                </a:r>
                <a:r>
                  <a:rPr lang="zh-CN" altLang="zh-CN" sz="2400" dirty="0">
                    <a:latin typeface="楷体" panose="02010609060101010101" pitchFamily="49" charset="-122"/>
                    <a:ea typeface="楷体" panose="02010609060101010101" pitchFamily="49" charset="-122"/>
                  </a:rPr>
                  <a:t>对接收的</a:t>
                </a:r>
                <a:r>
                  <a:rPr lang="en-US" altLang="zh-CN" sz="2400" dirty="0">
                    <a:latin typeface="楷体" panose="02010609060101010101" pitchFamily="49" charset="-122"/>
                    <a:ea typeface="楷体" panose="02010609060101010101" pitchFamily="49" charset="-122"/>
                  </a:rPr>
                  <a:t>9</a:t>
                </a:r>
                <a:r>
                  <a:rPr lang="zh-CN" altLang="zh-CN" sz="2400" dirty="0">
                    <a:latin typeface="楷体" panose="02010609060101010101" pitchFamily="49" charset="-122"/>
                    <a:ea typeface="楷体" panose="02010609060101010101" pitchFamily="49" charset="-122"/>
                  </a:rPr>
                  <a:t>位码组进行奇校验，产生</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baseline="-25000" dirty="0" err="1" smtClean="0">
                        <a:latin typeface="Cambria Math" panose="02040503050406030204" pitchFamily="18" charset="0"/>
                        <a:ea typeface="楷体" panose="02010609060101010101" pitchFamily="49" charset="-122"/>
                      </a:rPr>
                      <m:t>𝑒𝑣</m:t>
                    </m:r>
                  </m:oMath>
                </a14:m>
                <a:r>
                  <a:rPr lang="zh-CN" altLang="zh-CN" sz="2400" dirty="0" smtClean="0">
                    <a:latin typeface="楷体" panose="02010609060101010101" pitchFamily="49" charset="-122"/>
                    <a:ea typeface="楷体" panose="02010609060101010101" pitchFamily="49" charset="-122"/>
                  </a:rPr>
                  <a:t>判别</a:t>
                </a:r>
                <a:r>
                  <a:rPr lang="zh-CN" altLang="zh-CN" sz="2400" dirty="0">
                    <a:latin typeface="楷体" panose="02010609060101010101" pitchFamily="49" charset="-122"/>
                    <a:ea typeface="楷体" panose="02010609060101010101" pitchFamily="49" charset="-122"/>
                  </a:rPr>
                  <a:t>信号，以</a:t>
                </a:r>
                <a:r>
                  <a:rPr lang="zh-CN" altLang="zh-CN" sz="2400" dirty="0" smtClean="0">
                    <a:latin typeface="楷体" panose="02010609060101010101" pitchFamily="49" charset="-122"/>
                    <a:ea typeface="楷体" panose="02010609060101010101" pitchFamily="49" charset="-122"/>
                  </a:rPr>
                  <a:t>判定</a:t>
                </a:r>
                <a:r>
                  <a:rPr lang="zh-CN" altLang="zh-CN" sz="2400" dirty="0">
                    <a:latin typeface="楷体" panose="02010609060101010101" pitchFamily="49" charset="-122"/>
                    <a:ea typeface="楷体" panose="02010609060101010101" pitchFamily="49" charset="-122"/>
                  </a:rPr>
                  <a:t>传输是否出错</a:t>
                </a:r>
                <a:r>
                  <a:rPr lang="zh-CN" altLang="zh-CN"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534988">
                  <a:lnSpc>
                    <a:spcPts val="3500"/>
                  </a:lnSpc>
                </a:pP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𝐹</m:t>
                    </m:r>
                    <m:r>
                      <a:rPr lang="en-US" altLang="zh-CN" sz="2400" i="1" baseline="-25000" dirty="0" err="1" smtClean="0">
                        <a:latin typeface="Cambria Math" panose="02040503050406030204" pitchFamily="18" charset="0"/>
                        <a:ea typeface="Cambria Math" panose="02040503050406030204" pitchFamily="18" charset="0"/>
                      </a:rPr>
                      <m:t>𝑒𝑣</m:t>
                    </m:r>
                  </m:oMath>
                </a14:m>
                <a:r>
                  <a:rPr lang="en-US" altLang="zh-CN" sz="2400" dirty="0" smtClean="0">
                    <a:latin typeface="Cambria Math" panose="02040503050406030204" pitchFamily="18" charset="0"/>
                    <a:ea typeface="Cambria Math" panose="02040503050406030204" pitchFamily="18" charset="0"/>
                  </a:rPr>
                  <a:t>= </a:t>
                </a:r>
                <a14:m>
                  <m:oMath xmlns:m="http://schemas.openxmlformats.org/officeDocument/2006/math">
                    <m:acc>
                      <m:accPr>
                        <m:chr m:val="̅"/>
                        <m:ctrlPr>
                          <a:rPr lang="en-US" altLang="zh-CN" sz="2400" i="1" smtClean="0">
                            <a:latin typeface="Cambria Math" panose="02040503050406030204" pitchFamily="18" charset="0"/>
                            <a:ea typeface="Cambria Math" panose="02040503050406030204" pitchFamily="18" charset="0"/>
                          </a:rPr>
                        </m:ctrlPr>
                      </m:accPr>
                      <m:e>
                        <m:sSub>
                          <m:sSubPr>
                            <m:ctrlPr>
                              <a:rPr lang="en-US" altLang="zh-CN" sz="240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m:t>
                            </m:r>
                            <m:r>
                              <a:rPr lang="en-US" altLang="zh-CN" sz="2400" i="1" smtClean="0">
                                <a:latin typeface="Cambria Math" panose="02040503050406030204" pitchFamily="18" charset="0"/>
                                <a:ea typeface="Cambria Math" panose="02040503050406030204" pitchFamily="18" charset="0"/>
                              </a:rPr>
                              <m:t>𝐼</m:t>
                            </m:r>
                          </m:e>
                          <m:sub>
                            <m:r>
                              <a:rPr lang="en-US" altLang="zh-CN" sz="2400" i="0" smtClean="0">
                                <a:latin typeface="Cambria Math" panose="02040503050406030204" pitchFamily="18" charset="0"/>
                                <a:ea typeface="Cambria Math" panose="02040503050406030204" pitchFamily="18" charset="0"/>
                              </a:rPr>
                              <m:t>0</m:t>
                            </m:r>
                          </m:sub>
                        </m:sSub>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1</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2</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3</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3</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4</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5</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6</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7</m:t>
                        </m:r>
                        <m:r>
                          <a:rPr lang="en-US" altLang="zh-CN" sz="2400" b="0" i="1" smtClean="0">
                            <a:latin typeface="Cambria Math" panose="02040503050406030204" pitchFamily="18" charset="0"/>
                            <a:ea typeface="Cambria Math" panose="02040503050406030204" pitchFamily="18" charset="0"/>
                          </a:rPr>
                          <m:t>)</m:t>
                        </m:r>
                        <m:r>
                          <a:rPr lang="en-US" altLang="zh-CN" sz="2400">
                            <a:latin typeface="Cambria Math" panose="02040503050406030204" pitchFamily="18" charset="0"/>
                            <a:ea typeface="Cambria Math" panose="02040503050406030204" pitchFamily="18" charset="0"/>
                          </a:rPr>
                          <m:t>⊕</m:t>
                        </m:r>
                        <m:r>
                          <m:rPr>
                            <m:nor/>
                          </m:rPr>
                          <a:rPr lang="en-US" altLang="zh-CN" sz="2400" i="1" dirty="0">
                            <a:latin typeface="Cambria Math" panose="02040503050406030204" pitchFamily="18" charset="0"/>
                            <a:ea typeface="Cambria Math" panose="02040503050406030204" pitchFamily="18" charset="0"/>
                          </a:rPr>
                          <m:t>I</m:t>
                        </m:r>
                        <m:r>
                          <m:rPr>
                            <m:nor/>
                          </m:rPr>
                          <a:rPr lang="en-US" altLang="zh-CN" sz="2400" i="1" baseline="-25000" dirty="0">
                            <a:latin typeface="Cambria Math" panose="02040503050406030204" pitchFamily="18" charset="0"/>
                            <a:ea typeface="Cambria Math" panose="02040503050406030204" pitchFamily="18" charset="0"/>
                          </a:rPr>
                          <m:t>8</m:t>
                        </m:r>
                      </m:e>
                    </m:acc>
                  </m:oMath>
                </a14:m>
                <a:endParaRPr lang="en-US" altLang="zh-CN" sz="2400" dirty="0">
                  <a:latin typeface="Cambria Math" panose="02040503050406030204" pitchFamily="18" charset="0"/>
                  <a:ea typeface="Cambria Math" panose="02040503050406030204" pitchFamily="18" charset="0"/>
                </a:endParaRPr>
              </a:p>
              <a:p>
                <a:pPr indent="534988">
                  <a:lnSpc>
                    <a:spcPts val="3500"/>
                  </a:lnSpc>
                </a:pPr>
                <a:endParaRPr lang="en-US" altLang="zh-CN" sz="2400" dirty="0" smtClean="0">
                  <a:latin typeface="楷体" panose="02010609060101010101" pitchFamily="49" charset="-122"/>
                  <a:ea typeface="楷体" panose="02010609060101010101" pitchFamily="49" charset="-122"/>
                </a:endParaRPr>
              </a:p>
              <a:p>
                <a:pPr indent="534988">
                  <a:lnSpc>
                    <a:spcPts val="3500"/>
                  </a:lnSpc>
                </a:pPr>
                <a:r>
                  <a:rPr lang="zh-CN" altLang="en-US" sz="2400" dirty="0" smtClean="0">
                    <a:latin typeface="楷体" panose="02010609060101010101" pitchFamily="49" charset="-122"/>
                    <a:ea typeface="楷体" panose="02010609060101010101" pitchFamily="49" charset="-122"/>
                  </a:rPr>
                  <a:t>如果</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baseline="-25000" dirty="0" err="1">
                        <a:latin typeface="Cambria Math" panose="02040503050406030204" pitchFamily="18" charset="0"/>
                        <a:ea typeface="楷体" panose="02010609060101010101" pitchFamily="49" charset="-122"/>
                      </a:rPr>
                      <m:t>𝑒𝑣</m:t>
                    </m:r>
                    <m:r>
                      <a:rPr lang="en-US" altLang="zh-CN" sz="2400" i="1" baseline="-25000" dirty="0">
                        <a:latin typeface="Cambria Math" panose="02040503050406030204" pitchFamily="18" charset="0"/>
                        <a:ea typeface="楷体" panose="02010609060101010101" pitchFamily="49" charset="-122"/>
                      </a:rPr>
                      <m:t> </m:t>
                    </m:r>
                  </m:oMath>
                </a14:m>
                <a:r>
                  <a:rPr lang="en-US" altLang="zh-CN"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0, </a:t>
                </a:r>
                <a:r>
                  <a:rPr lang="zh-CN" altLang="en-US" sz="2400" dirty="0">
                    <a:latin typeface="楷体" panose="02010609060101010101" pitchFamily="49" charset="-122"/>
                    <a:ea typeface="楷体" panose="02010609060101010101" pitchFamily="49" charset="-122"/>
                  </a:rPr>
                  <a:t>表明码组中</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的个数为奇数，传送正确。</a:t>
                </a:r>
              </a:p>
              <a:p>
                <a:pPr indent="534988">
                  <a:lnSpc>
                    <a:spcPts val="3500"/>
                  </a:lnSpc>
                </a:pPr>
                <a:r>
                  <a:rPr lang="zh-CN" altLang="en-US" sz="2400" dirty="0" smtClean="0">
                    <a:latin typeface="楷体" panose="02010609060101010101" pitchFamily="49" charset="-122"/>
                    <a:ea typeface="楷体" panose="02010609060101010101" pitchFamily="49" charset="-122"/>
                  </a:rPr>
                  <a:t>如果</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𝐹</m:t>
                    </m:r>
                    <m:r>
                      <a:rPr lang="en-US" altLang="zh-CN" sz="2400" i="1" baseline="-25000" dirty="0" err="1">
                        <a:latin typeface="Cambria Math" panose="02040503050406030204" pitchFamily="18" charset="0"/>
                        <a:ea typeface="楷体" panose="02010609060101010101" pitchFamily="49" charset="-122"/>
                      </a:rPr>
                      <m:t>𝑒</m:t>
                    </m:r>
                    <m:r>
                      <a:rPr lang="en-US" altLang="zh-CN" sz="2400" i="1" baseline="-25000" dirty="0" smtClean="0">
                        <a:latin typeface="Cambria Math" panose="02040503050406030204" pitchFamily="18" charset="0"/>
                        <a:ea typeface="楷体" panose="02010609060101010101" pitchFamily="49" charset="-122"/>
                      </a:rPr>
                      <m:t>𝑣</m:t>
                    </m:r>
                    <m:r>
                      <a:rPr lang="en-US" altLang="zh-CN" sz="2400" i="1" baseline="-25000" dirty="0" smtClean="0">
                        <a:latin typeface="Cambria Math" panose="02040503050406030204" pitchFamily="18" charset="0"/>
                        <a:ea typeface="楷体" panose="02010609060101010101" pitchFamily="49" charset="-122"/>
                      </a:rPr>
                      <m:t> </m:t>
                    </m:r>
                  </m:oMath>
                </a14:m>
                <a:r>
                  <a:rPr lang="en-US" altLang="zh-CN"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表明码组中</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的个数不是奇数，传送错误</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534988">
                  <a:lnSpc>
                    <a:spcPts val="3500"/>
                  </a:lnSpc>
                  <a:spcBef>
                    <a:spcPts val="1800"/>
                  </a:spcBef>
                </a:pPr>
                <a:r>
                  <a:rPr lang="zh-CN" altLang="en-US" sz="2400" dirty="0" smtClean="0">
                    <a:latin typeface="楷体" panose="02010609060101010101" pitchFamily="49" charset="-122"/>
                    <a:ea typeface="楷体" panose="02010609060101010101" pitchFamily="49" charset="-122"/>
                  </a:rPr>
                  <a:t>奇偶校验</a:t>
                </a:r>
                <a:r>
                  <a:rPr lang="zh-CN" altLang="en-US" sz="2400" dirty="0">
                    <a:latin typeface="楷体" panose="02010609060101010101" pitchFamily="49" charset="-122"/>
                    <a:ea typeface="楷体" panose="02010609060101010101" pitchFamily="49" charset="-122"/>
                  </a:rPr>
                  <a:t>时，如果有两位同时出错，则不能检测。不过两位同时出错的概率很小，</a:t>
                </a:r>
                <a:r>
                  <a:rPr lang="zh-CN" altLang="en-US" sz="2400" dirty="0" smtClean="0">
                    <a:latin typeface="楷体" panose="02010609060101010101" pitchFamily="49" charset="-122"/>
                    <a:ea typeface="楷体" panose="02010609060101010101" pitchFamily="49" charset="-122"/>
                  </a:rPr>
                  <a:t>故奇偶校验</a:t>
                </a:r>
                <a:r>
                  <a:rPr lang="zh-CN" altLang="en-US" sz="2400" dirty="0">
                    <a:latin typeface="楷体" panose="02010609060101010101" pitchFamily="49" charset="-122"/>
                    <a:ea typeface="楷体" panose="02010609060101010101" pitchFamily="49" charset="-122"/>
                  </a:rPr>
                  <a:t>被广泛应用</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indent="534988">
                  <a:lnSpc>
                    <a:spcPts val="3500"/>
                  </a:lnSpc>
                  <a:spcBef>
                    <a:spcPts val="1800"/>
                  </a:spcBef>
                </a:pPr>
                <a:r>
                  <a:rPr lang="en-US" altLang="zh-CN" sz="2400" dirty="0" smtClean="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位奇偶校验器</a:t>
                </a:r>
                <a:r>
                  <a:rPr lang="en-US" altLang="zh-CN" sz="2400" dirty="0">
                    <a:latin typeface="楷体" panose="02010609060101010101" pitchFamily="49" charset="-122"/>
                    <a:ea typeface="楷体" panose="02010609060101010101" pitchFamily="49" charset="-122"/>
                  </a:rPr>
                  <a:t>74LS280 </a:t>
                </a:r>
                <a:r>
                  <a:rPr lang="zh-CN" altLang="en-US" sz="2400" dirty="0">
                    <a:latin typeface="楷体" panose="02010609060101010101" pitchFamily="49" charset="-122"/>
                    <a:ea typeface="楷体" panose="02010609060101010101" pitchFamily="49" charset="-122"/>
                  </a:rPr>
                  <a:t>既适用于奇校验，也适用于偶校验；既用于校验位的产生</a:t>
                </a:r>
                <a:r>
                  <a:rPr lang="zh-CN" altLang="en-US" sz="2400" dirty="0" smtClean="0">
                    <a:latin typeface="楷体" panose="02010609060101010101" pitchFamily="49" charset="-122"/>
                    <a:ea typeface="楷体" panose="02010609060101010101" pitchFamily="49" charset="-122"/>
                  </a:rPr>
                  <a:t>，也</a:t>
                </a:r>
                <a:r>
                  <a:rPr lang="zh-CN" altLang="en-US" sz="2400" dirty="0">
                    <a:latin typeface="楷体" panose="02010609060101010101" pitchFamily="49" charset="-122"/>
                    <a:ea typeface="楷体" panose="02010609060101010101" pitchFamily="49" charset="-122"/>
                  </a:rPr>
                  <a:t>用于奇偶性的校验。其功能列于表</a:t>
                </a:r>
                <a:r>
                  <a:rPr lang="en-US" altLang="zh-CN" sz="2400" dirty="0">
                    <a:latin typeface="楷体" panose="02010609060101010101" pitchFamily="49" charset="-122"/>
                    <a:ea typeface="楷体" panose="02010609060101010101" pitchFamily="49" charset="-122"/>
                  </a:rPr>
                  <a:t>2.13</a:t>
                </a:r>
                <a:r>
                  <a:rPr lang="zh-CN" altLang="en-US" sz="2400" dirty="0">
                    <a:latin typeface="楷体" panose="02010609060101010101" pitchFamily="49" charset="-122"/>
                    <a:ea typeface="楷体" panose="02010609060101010101" pitchFamily="49" charset="-122"/>
                  </a:rPr>
                  <a:t>中。</a:t>
                </a:r>
                <a:endParaRPr lang="en-US" altLang="zh-CN" sz="2400" dirty="0">
                  <a:latin typeface="楷体" panose="02010609060101010101" pitchFamily="49" charset="-122"/>
                  <a:ea typeface="楷体" panose="02010609060101010101" pitchFamily="49" charset="-122"/>
                </a:endParaRPr>
              </a:p>
              <a:p>
                <a:pPr>
                  <a:lnSpc>
                    <a:spcPts val="3500"/>
                  </a:lnSpc>
                </a:pPr>
                <a:endParaRPr lang="en-US" altLang="zh-CN" sz="2400" dirty="0" smtClean="0">
                  <a:latin typeface="楷体" panose="02010609060101010101" pitchFamily="49" charset="-122"/>
                  <a:ea typeface="楷体" panose="02010609060101010101" pitchFamily="49"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683490" y="85665"/>
                <a:ext cx="7934038" cy="5940088"/>
              </a:xfrm>
              <a:prstGeom prst="rect">
                <a:avLst/>
              </a:prstGeom>
              <a:blipFill>
                <a:blip r:embed="rId2"/>
                <a:stretch>
                  <a:fillRect l="-1152" t="-513" r="-4992"/>
                </a:stretch>
              </a:blipFill>
            </p:spPr>
            <p:txBody>
              <a:bodyPr/>
              <a:lstStyle/>
              <a:p>
                <a:r>
                  <a:rPr lang="zh-CN" altLang="en-US">
                    <a:noFill/>
                  </a:rPr>
                  <a:t> </a:t>
                </a:r>
              </a:p>
            </p:txBody>
          </p:sp>
        </mc:Fallback>
      </mc:AlternateContent>
      <p:sp>
        <p:nvSpPr>
          <p:cNvPr id="5" name="矩形 4"/>
          <p:cNvSpPr/>
          <p:nvPr/>
        </p:nvSpPr>
        <p:spPr>
          <a:xfrm>
            <a:off x="1739295" y="6101551"/>
            <a:ext cx="5822428" cy="461665"/>
          </a:xfrm>
          <a:prstGeom prst="rect">
            <a:avLst/>
          </a:prstGeom>
        </p:spPr>
        <p:txBody>
          <a:bodyPr wrap="none">
            <a:spAutoFit/>
          </a:bodyPr>
          <a:lstStyle/>
          <a:p>
            <a:r>
              <a:rPr lang="zh-CN" altLang="en-US" sz="2400" dirty="0"/>
              <a:t>思考题 你能画出</a:t>
            </a:r>
            <a:r>
              <a:rPr lang="en-US" altLang="zh-CN" sz="2400" dirty="0"/>
              <a:t>74LS280 </a:t>
            </a:r>
            <a:r>
              <a:rPr lang="zh-CN" altLang="en-US" sz="2400" dirty="0"/>
              <a:t>的内部逻辑图吗</a:t>
            </a:r>
            <a:r>
              <a:rPr lang="en-US" altLang="zh-CN" sz="2400" dirty="0"/>
              <a:t>?</a:t>
            </a:r>
            <a:endParaRPr lang="zh-CN" altLang="en-US" sz="2400" dirty="0"/>
          </a:p>
        </p:txBody>
      </p:sp>
    </p:spTree>
    <p:extLst>
      <p:ext uri="{BB962C8B-B14F-4D97-AF65-F5344CB8AC3E}">
        <p14:creationId xmlns:p14="http://schemas.microsoft.com/office/powerpoint/2010/main" val="179360847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016001"/>
          </a:xfrm>
        </p:spPr>
        <p:txBody>
          <a:bodyPr>
            <a:normAutofit/>
          </a:bodyPr>
          <a:lstStyle/>
          <a:p>
            <a:r>
              <a:rPr lang="zh-CN" altLang="en-US" dirty="0" smtClean="0">
                <a:latin typeface="楷体" panose="02010609060101010101" pitchFamily="49" charset="-122"/>
                <a:ea typeface="楷体" panose="02010609060101010101" pitchFamily="49" charset="-122"/>
              </a:rPr>
              <a:t>小结</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628650" y="1016001"/>
            <a:ext cx="7886700" cy="4692072"/>
          </a:xfrm>
        </p:spPr>
        <p:txBody>
          <a:bodyPr>
            <a:normAutofit/>
          </a:bodyPr>
          <a:lstStyle/>
          <a:p>
            <a:pPr>
              <a:lnSpc>
                <a:spcPts val="3500"/>
              </a:lnSpc>
            </a:pPr>
            <a:r>
              <a:rPr lang="zh-CN" altLang="en-US" dirty="0" smtClean="0">
                <a:latin typeface="楷体" panose="02010609060101010101" pitchFamily="49" charset="-122"/>
                <a:ea typeface="楷体" panose="02010609060101010101" pitchFamily="49" charset="-122"/>
              </a:rPr>
              <a:t>组合逻辑电路、</a:t>
            </a:r>
            <a:r>
              <a:rPr lang="zh-CN" altLang="en-US" smtClean="0">
                <a:latin typeface="楷体" panose="02010609060101010101" pitchFamily="49" charset="-122"/>
                <a:ea typeface="楷体" panose="02010609060101010101" pitchFamily="49" charset="-122"/>
              </a:rPr>
              <a:t>时序逻辑电路</a:t>
            </a:r>
            <a:endParaRPr lang="zh-CN" altLang="en-US" dirty="0">
              <a:latin typeface="楷体" panose="02010609060101010101" pitchFamily="49" charset="-122"/>
              <a:ea typeface="楷体" panose="02010609060101010101" pitchFamily="49" charset="-122"/>
            </a:endParaRPr>
          </a:p>
          <a:p>
            <a:pPr>
              <a:lnSpc>
                <a:spcPts val="3500"/>
              </a:lnSpc>
            </a:pPr>
            <a:r>
              <a:rPr lang="zh-CN" altLang="en-US" dirty="0">
                <a:latin typeface="楷体" panose="02010609060101010101" pitchFamily="49" charset="-122"/>
                <a:ea typeface="楷体" panose="02010609060101010101" pitchFamily="49" charset="-122"/>
              </a:rPr>
              <a:t>组合逻辑</a:t>
            </a:r>
            <a:r>
              <a:rPr lang="zh-CN" altLang="en-US" dirty="0" smtClean="0">
                <a:latin typeface="楷体" panose="02010609060101010101" pitchFamily="49" charset="-122"/>
                <a:ea typeface="楷体" panose="02010609060101010101" pitchFamily="49" charset="-122"/>
              </a:rPr>
              <a:t>分析</a:t>
            </a:r>
            <a:endParaRPr lang="en-US" altLang="zh-CN" dirty="0" smtClean="0">
              <a:latin typeface="楷体" panose="02010609060101010101" pitchFamily="49" charset="-122"/>
              <a:ea typeface="楷体" panose="02010609060101010101" pitchFamily="49" charset="-122"/>
            </a:endParaRPr>
          </a:p>
          <a:p>
            <a:pPr>
              <a:lnSpc>
                <a:spcPts val="3500"/>
              </a:lnSpc>
            </a:pPr>
            <a:r>
              <a:rPr lang="en-US" altLang="zh-CN" dirty="0" err="1">
                <a:latin typeface="楷体" panose="02010609060101010101" pitchFamily="49" charset="-122"/>
                <a:ea typeface="楷体" panose="02010609060101010101" pitchFamily="49" charset="-122"/>
              </a:rPr>
              <a:t>组合逻辑电路的等价变换</a:t>
            </a:r>
            <a:endParaRPr lang="en-US" altLang="zh-CN" dirty="0">
              <a:latin typeface="楷体" panose="02010609060101010101" pitchFamily="49" charset="-122"/>
              <a:ea typeface="楷体" panose="02010609060101010101" pitchFamily="49" charset="-122"/>
            </a:endParaRPr>
          </a:p>
          <a:p>
            <a:pPr>
              <a:lnSpc>
                <a:spcPts val="3500"/>
              </a:lnSpc>
            </a:pPr>
            <a:r>
              <a:rPr lang="zh-CN" altLang="en-US" dirty="0" smtClean="0">
                <a:latin typeface="楷体" panose="02010609060101010101" pitchFamily="49" charset="-122"/>
                <a:ea typeface="楷体" panose="02010609060101010101" pitchFamily="49" charset="-122"/>
              </a:rPr>
              <a:t>组合逻辑设计</a:t>
            </a:r>
            <a:endParaRPr lang="zh-CN" altLang="en-US" dirty="0">
              <a:latin typeface="楷体" panose="02010609060101010101" pitchFamily="49" charset="-122"/>
              <a:ea typeface="楷体" panose="02010609060101010101" pitchFamily="49" charset="-122"/>
            </a:endParaRPr>
          </a:p>
          <a:p>
            <a:pPr>
              <a:lnSpc>
                <a:spcPts val="3500"/>
              </a:lnSpc>
            </a:pPr>
            <a:r>
              <a:rPr lang="zh-CN" altLang="en-US" dirty="0">
                <a:latin typeface="楷体" panose="02010609060101010101" pitchFamily="49" charset="-122"/>
                <a:ea typeface="楷体" panose="02010609060101010101" pitchFamily="49" charset="-122"/>
              </a:rPr>
              <a:t>常用的标准组合逻辑</a:t>
            </a:r>
            <a:r>
              <a:rPr lang="zh-CN" altLang="en-US" dirty="0" smtClean="0">
                <a:latin typeface="楷体" panose="02010609060101010101" pitchFamily="49" charset="-122"/>
                <a:ea typeface="楷体" panose="02010609060101010101" pitchFamily="49" charset="-122"/>
              </a:rPr>
              <a:t>构件：</a:t>
            </a:r>
            <a:endParaRPr lang="en-US" altLang="zh-CN" dirty="0" smtClean="0">
              <a:latin typeface="楷体" panose="02010609060101010101" pitchFamily="49" charset="-122"/>
              <a:ea typeface="楷体" panose="02010609060101010101" pitchFamily="49" charset="-122"/>
            </a:endParaRPr>
          </a:p>
          <a:p>
            <a:pPr lvl="1">
              <a:lnSpc>
                <a:spcPts val="3500"/>
              </a:lnSpc>
            </a:pPr>
            <a:r>
              <a:rPr lang="zh-CN" altLang="en-US" sz="2800" dirty="0" smtClean="0">
                <a:latin typeface="楷体" panose="02010609060101010101" pitchFamily="49" charset="-122"/>
                <a:ea typeface="楷体" panose="02010609060101010101" pitchFamily="49" charset="-122"/>
              </a:rPr>
              <a:t>数据</a:t>
            </a:r>
            <a:r>
              <a:rPr lang="zh-CN" altLang="en-US" sz="2800" dirty="0">
                <a:latin typeface="楷体" panose="02010609060101010101" pitchFamily="49" charset="-122"/>
                <a:ea typeface="楷体" panose="02010609060101010101" pitchFamily="49" charset="-122"/>
              </a:rPr>
              <a:t>选择器、数据分配器、译码器、编码器</a:t>
            </a:r>
            <a:r>
              <a:rPr lang="zh-CN" altLang="en-US" sz="2800" dirty="0" smtClean="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数据</a:t>
            </a:r>
            <a:r>
              <a:rPr lang="zh-CN" altLang="en-US" sz="2800" dirty="0" smtClean="0">
                <a:latin typeface="楷体" panose="02010609060101010101" pitchFamily="49" charset="-122"/>
                <a:ea typeface="楷体" panose="02010609060101010101" pitchFamily="49" charset="-122"/>
              </a:rPr>
              <a:t>比较器、加法器</a:t>
            </a:r>
            <a:r>
              <a:rPr lang="zh-CN" altLang="en-US" sz="2800" dirty="0">
                <a:latin typeface="楷体" panose="02010609060101010101" pitchFamily="49" charset="-122"/>
                <a:ea typeface="楷体" panose="02010609060101010101" pitchFamily="49" charset="-122"/>
              </a:rPr>
              <a:t>、奇偶校验器等</a:t>
            </a:r>
            <a:r>
              <a:rPr lang="zh-CN" altLang="en-US" sz="2800" dirty="0" smtClean="0">
                <a:latin typeface="楷体" panose="02010609060101010101" pitchFamily="49" charset="-122"/>
                <a:ea typeface="楷体" panose="02010609060101010101" pitchFamily="49" charset="-122"/>
              </a:rPr>
              <a:t>。</a:t>
            </a:r>
            <a:endParaRPr lang="en-US" altLang="zh-CN" sz="2800" dirty="0" smtClean="0">
              <a:latin typeface="楷体" panose="02010609060101010101" pitchFamily="49" charset="-122"/>
              <a:ea typeface="楷体" panose="02010609060101010101" pitchFamily="49" charset="-122"/>
            </a:endParaRPr>
          </a:p>
          <a:p>
            <a:pPr marL="0" indent="0">
              <a:lnSpc>
                <a:spcPts val="3500"/>
              </a:lnSpc>
              <a:buNone/>
            </a:pP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117683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3314</TotalTime>
  <Words>9526</Words>
  <Application>Microsoft Office PowerPoint</Application>
  <PresentationFormat>全屏显示(4:3)</PresentationFormat>
  <Paragraphs>477</Paragraphs>
  <Slides>104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104</vt:i4>
      </vt:variant>
    </vt:vector>
  </HeadingPairs>
  <TitlesOfParts>
    <vt:vector size="114" baseType="lpstr">
      <vt:lpstr>等线</vt:lpstr>
      <vt:lpstr>等线 Light</vt:lpstr>
      <vt:lpstr>黑体</vt:lpstr>
      <vt:lpstr>楷体</vt:lpstr>
      <vt:lpstr>Arial</vt:lpstr>
      <vt:lpstr>Calibri</vt:lpstr>
      <vt:lpstr>Calibri Light</vt:lpstr>
      <vt:lpstr>Cambria Math</vt:lpstr>
      <vt:lpstr>Wingdings</vt:lpstr>
      <vt:lpstr>Office 主题​​</vt:lpstr>
      <vt:lpstr>数字逻辑与数字系统</vt:lpstr>
      <vt:lpstr>第二章 组合逻辑</vt:lpstr>
      <vt:lpstr>内容</vt:lpstr>
      <vt:lpstr>概述</vt:lpstr>
      <vt:lpstr>2.1 组合逻辑分析</vt:lpstr>
      <vt:lpstr>2.1 组合逻辑分析</vt:lpstr>
      <vt:lpstr>2.1 组合逻辑分析</vt:lpstr>
      <vt:lpstr>PowerPoint 演示文稿</vt:lpstr>
      <vt:lpstr>2.1 组合逻辑分析</vt:lpstr>
      <vt:lpstr>PowerPoint 演示文稿</vt:lpstr>
      <vt:lpstr>2.1 组合逻辑分析</vt:lpstr>
      <vt:lpstr>PowerPoint 演示文稿</vt:lpstr>
      <vt:lpstr>2.1 组合逻辑分析</vt:lpstr>
      <vt:lpstr>PowerPoint 演示文稿</vt:lpstr>
      <vt:lpstr>PowerPoint 演示文稿</vt:lpstr>
      <vt:lpstr>2.1 组合逻辑分析</vt:lpstr>
      <vt:lpstr>PowerPoint 演示文稿</vt:lpstr>
      <vt:lpstr>PowerPoint 演示文稿</vt:lpstr>
      <vt:lpstr>2.1 组合逻辑分析</vt:lpstr>
      <vt:lpstr>2.1 组合逻辑分析</vt:lpstr>
      <vt:lpstr>2.1 组合逻辑分析</vt:lpstr>
      <vt:lpstr>PowerPoint 演示文稿</vt:lpstr>
      <vt:lpstr>2.1 组合逻辑分析</vt:lpstr>
      <vt:lpstr>2.2 组合逻辑设计</vt:lpstr>
      <vt:lpstr>2.2 组合逻辑设计</vt:lpstr>
      <vt:lpstr>2.2 组合逻辑设计</vt:lpstr>
      <vt:lpstr>2.2 组合逻辑设计</vt:lpstr>
      <vt:lpstr>2.2 组合逻辑设计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 组合逻辑设计</vt:lpstr>
      <vt:lpstr>2.2 组合逻辑设计</vt:lpstr>
      <vt:lpstr>PowerPoint 演示文稿</vt:lpstr>
      <vt:lpstr>PowerPoint 演示文稿</vt:lpstr>
      <vt:lpstr>2.3 组合逻辑电路的等价变换</vt:lpstr>
      <vt:lpstr>2.3 组合逻辑电路的等价变换</vt:lpstr>
      <vt:lpstr>2.3 组合逻辑电路的等价变换</vt:lpstr>
      <vt:lpstr>PowerPoint 演示文稿</vt:lpstr>
      <vt:lpstr>PowerPoint 演示文稿</vt:lpstr>
      <vt:lpstr>PowerPoint 演示文稿</vt:lpstr>
      <vt:lpstr>PowerPoint 演示文稿</vt:lpstr>
      <vt:lpstr>2.3 组合逻辑电路的等价变换</vt:lpstr>
      <vt:lpstr>2.3 组合逻辑电路的等价变换</vt:lpstr>
      <vt:lpstr>2.3 组合逻辑电路的等价变换</vt:lpstr>
      <vt:lpstr>2.3 组合逻辑电路的等价变换</vt:lpstr>
      <vt:lpstr>2.3 组合逻辑电路的等价变换</vt:lpstr>
      <vt:lpstr>PowerPoint 演示文稿</vt:lpstr>
      <vt:lpstr>2.4 数据选择器与分配器</vt:lpstr>
      <vt:lpstr>2.4 数据选择器与分配器</vt:lpstr>
      <vt:lpstr>2.4 数据选择器与分配器</vt:lpstr>
      <vt:lpstr>2.4 数据选择器与分配器</vt:lpstr>
      <vt:lpstr>PowerPoint 演示文稿</vt:lpstr>
      <vt:lpstr>2.4 数据选择器与分配器</vt:lpstr>
      <vt:lpstr>2.4 数据选择器与分配器</vt:lpstr>
      <vt:lpstr>2.4 数据选择器与分配器</vt:lpstr>
      <vt:lpstr>PowerPoint 演示文稿</vt:lpstr>
      <vt:lpstr>2.5  译码器和编码器</vt:lpstr>
      <vt:lpstr>2.5  译码器和编码器</vt:lpstr>
      <vt:lpstr>PowerPoint 演示文稿</vt:lpstr>
      <vt:lpstr>2.5  译码器和编码器</vt:lpstr>
      <vt:lpstr>2.5  译码器和编码器</vt:lpstr>
      <vt:lpstr>2.5  译码器和编码器</vt:lpstr>
      <vt:lpstr>PowerPoint 演示文稿</vt:lpstr>
      <vt:lpstr>2.5  译码器和编码器</vt:lpstr>
      <vt:lpstr>2.5  译码器和编码器</vt:lpstr>
      <vt:lpstr>2.5 译码器和编码器</vt:lpstr>
      <vt:lpstr>2.5  译码器和编码器</vt:lpstr>
      <vt:lpstr>2.5  译码器和编码器</vt:lpstr>
      <vt:lpstr>2.5  译码器和编码器</vt:lpstr>
      <vt:lpstr>PowerPoint 演示文稿</vt:lpstr>
      <vt:lpstr>PowerPoint 演示文稿</vt:lpstr>
      <vt:lpstr>PowerPoint 演示文稿</vt:lpstr>
      <vt:lpstr>PowerPoint 演示文稿</vt:lpstr>
      <vt:lpstr>PowerPoint 演示文稿</vt:lpstr>
      <vt:lpstr>2.6  数据比较器和加法器</vt:lpstr>
      <vt:lpstr>2.6  数据比较器和加法器</vt:lpstr>
      <vt:lpstr>PowerPoint 演示文稿</vt:lpstr>
      <vt:lpstr>PowerPoint 演示文稿</vt:lpstr>
      <vt:lpstr>PowerPoint 演示文稿</vt:lpstr>
      <vt:lpstr>PowerPoint 演示文稿</vt:lpstr>
      <vt:lpstr>2.6  数据比较器和加法器</vt:lpstr>
      <vt:lpstr>2.6  数据比较器和加法器</vt:lpstr>
      <vt:lpstr>2.6  数据比较器和加法器</vt:lpstr>
      <vt:lpstr>2.6  数据比较器和加法器</vt:lpstr>
      <vt:lpstr>2.6  数据比较器和加法器</vt:lpstr>
      <vt:lpstr>PowerPoint 演示文稿</vt:lpstr>
      <vt:lpstr>PowerPoint 演示文稿</vt:lpstr>
      <vt:lpstr>2.7  奇偶校验器 </vt:lpstr>
      <vt:lpstr>2.7  奇偶校验器 </vt:lpstr>
      <vt:lpstr>2.7  奇偶校验器 </vt:lpstr>
      <vt:lpstr>2.7  奇偶校验器 </vt:lpstr>
      <vt:lpstr>2.7  奇偶校验器 </vt:lpstr>
      <vt:lpstr>PowerPoint 演示文稿</vt:lpstr>
      <vt:lpstr>PowerPoint 演示文稿</vt:lpstr>
      <vt:lpstr>PowerPoint 演示文稿</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数字逻辑与数字系统</dc:title>
  <dc:creator>bj-i7</dc:creator>
  <cp:lastModifiedBy>bj-i7</cp:lastModifiedBy>
  <cp:revision>869</cp:revision>
  <dcterms:created xsi:type="dcterms:W3CDTF">2024-07-19T04:10:38Z</dcterms:created>
  <dcterms:modified xsi:type="dcterms:W3CDTF">2024-09-22T04:47:49Z</dcterms:modified>
</cp:coreProperties>
</file>